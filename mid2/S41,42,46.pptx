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3"/>
  </p:notesMasterIdLst>
  <p:sldIdLst>
    <p:sldId id="397" r:id="rId5"/>
    <p:sldId id="398" r:id="rId6"/>
    <p:sldId id="375" r:id="rId7"/>
    <p:sldId id="376" r:id="rId8"/>
    <p:sldId id="377" r:id="rId9"/>
    <p:sldId id="379" r:id="rId10"/>
    <p:sldId id="380" r:id="rId11"/>
    <p:sldId id="381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92" r:id="rId22"/>
    <p:sldId id="393" r:id="rId23"/>
    <p:sldId id="394" r:id="rId24"/>
    <p:sldId id="395" r:id="rId25"/>
    <p:sldId id="396" r:id="rId26"/>
    <p:sldId id="404" r:id="rId27"/>
    <p:sldId id="403" r:id="rId28"/>
    <p:sldId id="402" r:id="rId29"/>
    <p:sldId id="401" r:id="rId30"/>
    <p:sldId id="399" r:id="rId31"/>
    <p:sldId id="400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18" autoAdjust="0"/>
    <p:restoredTop sz="94689"/>
  </p:normalViewPr>
  <p:slideViewPr>
    <p:cSldViewPr snapToGrid="0">
      <p:cViewPr>
        <p:scale>
          <a:sx n="70" d="100"/>
          <a:sy n="70" d="100"/>
        </p:scale>
        <p:origin x="-372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11/4/2023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514350" y="5791200"/>
            <a:ext cx="41148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49225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11/4/2023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3" y="4"/>
            <a:ext cx="5467351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316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xmlns="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xmlns="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ecs.northwestern.edu/~haizhou/357/lec1.pdf" TargetMode="External"/><Relationship Id="rId2" Type="http://schemas.openxmlformats.org/officeDocument/2006/relationships/hyperlink" Target="https://rajeev2007.github.io/VLSI/0072460539cmo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onlinecourses.nptel.ac.in/noc21_ee09/preview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6" name="Google Shape;476;p16"/>
          <p:cNvSpPr txBox="1"/>
          <p:nvPr/>
        </p:nvSpPr>
        <p:spPr>
          <a:xfrm>
            <a:off x="6095999" y="2143674"/>
            <a:ext cx="6178213" cy="2800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VLSI 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Design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22EC2211A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algn="ctr"/>
            <a:r>
              <a:rPr lang="en-US" sz="3600" b="1" dirty="0">
                <a:solidFill>
                  <a:srgbClr val="FF0000"/>
                </a:solidFill>
              </a:rPr>
              <a:t>Overview of VLSI Semi-Custom Design Flow</a:t>
            </a:r>
            <a:endParaRPr lang="en-US" sz="32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xmlns="" id="{B9F0C376-F4D3-1950-3474-EFF28411BDC6}"/>
              </a:ext>
            </a:extLst>
          </p:cNvPr>
          <p:cNvSpPr/>
          <p:nvPr/>
        </p:nvSpPr>
        <p:spPr>
          <a:xfrm>
            <a:off x="7014779" y="1108741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7127255" y="975660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xmlns="" id="{7153E61F-4441-DBE3-3DFF-6E9EF6C48D23}"/>
              </a:ext>
            </a:extLst>
          </p:cNvPr>
          <p:cNvSpPr/>
          <p:nvPr/>
        </p:nvSpPr>
        <p:spPr>
          <a:xfrm>
            <a:off x="8140386" y="5389971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</a:t>
            </a:r>
            <a:r>
              <a:rPr lang="en-US" sz="2400" dirty="0" smtClean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41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pic>
        <p:nvPicPr>
          <p:cNvPr id="3" name="Google Shape;464;p16">
            <a:extLst>
              <a:ext uri="{FF2B5EF4-FFF2-40B4-BE49-F238E27FC236}">
                <a16:creationId xmlns:a16="http://schemas.microsoft.com/office/drawing/2014/main" xmlns="" id="{1492D8B8-3FD5-B4E8-5CFD-0F131D565884}"/>
              </a:ext>
            </a:extLst>
          </p:cNvPr>
          <p:cNvPicPr preferRelativeResize="0"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373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7C61438-200D-827A-D4DD-5B5127AFA187}"/>
              </a:ext>
            </a:extLst>
          </p:cNvPr>
          <p:cNvSpPr txBox="1"/>
          <p:nvPr/>
        </p:nvSpPr>
        <p:spPr>
          <a:xfrm>
            <a:off x="1828800" y="803217"/>
            <a:ext cx="8810622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dirty="0" smtClean="0">
                <a:latin typeface="Poppins"/>
                <a:cs typeface="Poppins"/>
              </a:rPr>
              <a:t>semicustom design flow of VLSI 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xmlns="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</a:t>
            </a:r>
            <a:r>
              <a:rPr lang="en-US" sz="1600" b="0" i="0" dirty="0" smtClean="0">
                <a:effectLst/>
                <a:latin typeface="Arial" panose="020B0604020202020204" pitchFamily="34" charset="0"/>
              </a:rPr>
              <a:t>design hierarchy of VLSI semic</a:t>
            </a:r>
            <a:r>
              <a:rPr lang="en-US" sz="1600" dirty="0" smtClean="0">
                <a:latin typeface="Arial" panose="020B0604020202020204" pitchFamily="34" charset="0"/>
              </a:rPr>
              <a:t>ustom design flow.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the </a:t>
            </a:r>
            <a:r>
              <a:rPr lang="en-US" sz="1600" dirty="0" smtClean="0">
                <a:latin typeface="Arial" panose="020B0604020202020204" pitchFamily="34" charset="0"/>
              </a:rPr>
              <a:t>process of RTL synthesis in digital VLSI flow.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Sketch the </a:t>
            </a:r>
            <a:r>
              <a:rPr lang="en-US" sz="1600" dirty="0" smtClean="0">
                <a:latin typeface="Arial" panose="020B0604020202020204" pitchFamily="34" charset="0"/>
              </a:rPr>
              <a:t>pros and cons of ASIC and FPGA flows.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xmlns="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xmlns="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xmlns="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xmlns="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Demonstrate the design hierarchy of VLSI semicustom design flow.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Describe the process of RTL synthesis in digital VLSI flow.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Sketch the pros and cons of ASIC and FPGA flows.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8683991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036" y="269349"/>
            <a:ext cx="10515600" cy="1325563"/>
          </a:xfrm>
        </p:spPr>
        <p:txBody>
          <a:bodyPr/>
          <a:lstStyle/>
          <a:p>
            <a:r>
              <a:rPr lang="en-US" dirty="0" smtClean="0"/>
              <a:t>Semi-Custom Design Flow (ASIC Flow)</a:t>
            </a:r>
            <a:endParaRPr lang="en-US" dirty="0"/>
          </a:p>
        </p:txBody>
      </p:sp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/>
          <a:stretch/>
        </p:blipFill>
        <p:spPr>
          <a:xfrm>
            <a:off x="2593074" y="1064526"/>
            <a:ext cx="7426585" cy="5491696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2415654" y="5295331"/>
            <a:ext cx="5158853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71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458036" y="269349"/>
            <a:ext cx="10515600" cy="1325563"/>
          </a:xfrm>
        </p:spPr>
        <p:txBody>
          <a:bodyPr/>
          <a:lstStyle/>
          <a:p>
            <a:r>
              <a:rPr lang="en-US" dirty="0" smtClean="0"/>
              <a:t>Semi-Custom Design Flow (ASIC Flow)</a:t>
            </a: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pic>
        <p:nvPicPr>
          <p:cNvPr id="6" name="Picture 109"/>
          <p:cNvPicPr/>
          <p:nvPr/>
        </p:nvPicPr>
        <p:blipFill>
          <a:blip r:embed="rId3"/>
          <a:srcRect b="13759"/>
          <a:stretch/>
        </p:blipFill>
        <p:spPr>
          <a:xfrm>
            <a:off x="2465339" y="1474963"/>
            <a:ext cx="6395040" cy="452016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7673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/>
        </p:blipFill>
        <p:spPr>
          <a:xfrm>
            <a:off x="2630321" y="269349"/>
            <a:ext cx="8725756" cy="6184604"/>
          </a:xfrm>
          <a:prstGeom prst="rect">
            <a:avLst/>
          </a:prstGeom>
          <a:ln w="0">
            <a:noFill/>
          </a:ln>
        </p:spPr>
      </p:pic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029820" y="5171063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293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029820" y="5171063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/>
        </p:blipFill>
        <p:spPr>
          <a:xfrm>
            <a:off x="2787593" y="152400"/>
            <a:ext cx="8260920" cy="5853451"/>
          </a:xfrm>
          <a:prstGeom prst="rect">
            <a:avLst/>
          </a:prstGeom>
          <a:ln w="0">
            <a:noFill/>
          </a:ln>
        </p:spPr>
      </p:pic>
      <p:sp>
        <p:nvSpPr>
          <p:cNvPr id="9" name="Rectangle 8"/>
          <p:cNvSpPr/>
          <p:nvPr/>
        </p:nvSpPr>
        <p:spPr>
          <a:xfrm>
            <a:off x="2291402" y="4641075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99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425605" y="4600968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10" name="Picture 9"/>
          <p:cNvPicPr/>
          <p:nvPr/>
        </p:nvPicPr>
        <p:blipFill>
          <a:blip r:embed="rId3"/>
          <a:stretch/>
        </p:blipFill>
        <p:spPr>
          <a:xfrm>
            <a:off x="3128787" y="269348"/>
            <a:ext cx="8080920" cy="5994974"/>
          </a:xfrm>
          <a:prstGeom prst="rect">
            <a:avLst/>
          </a:prstGeom>
          <a:ln w="0">
            <a:noFill/>
          </a:ln>
        </p:spPr>
      </p:pic>
      <p:sp>
        <p:nvSpPr>
          <p:cNvPr id="9" name="Rectangle 8"/>
          <p:cNvSpPr/>
          <p:nvPr/>
        </p:nvSpPr>
        <p:spPr>
          <a:xfrm>
            <a:off x="2425605" y="4899546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8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21891" y="4620662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/>
          <p:nvPr/>
        </p:nvPicPr>
        <p:blipFill>
          <a:blip r:embed="rId3"/>
          <a:stretch/>
        </p:blipFill>
        <p:spPr>
          <a:xfrm>
            <a:off x="3133074" y="150125"/>
            <a:ext cx="8270280" cy="5810982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2425605" y="4600968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5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21891" y="4620662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/>
          <p:nvPr/>
        </p:nvPicPr>
        <p:blipFill>
          <a:blip r:embed="rId3"/>
          <a:stretch/>
        </p:blipFill>
        <p:spPr>
          <a:xfrm>
            <a:off x="2900634" y="199264"/>
            <a:ext cx="7826505" cy="5766480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2900634" y="4600968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4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77760" y="360000"/>
            <a:ext cx="395208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Introduction Synthesis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27400" y="1623960"/>
            <a:ext cx="10340640" cy="448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Definition: Converting HDL design to Gate level Netlist</a:t>
            </a: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Goal: Generate synthesized GLN and SDC for the specified logic design</a:t>
            </a: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Three Major steps included:</a:t>
            </a: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Translation</a:t>
            </a: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Mapping</a:t>
            </a: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6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26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Optimization</a:t>
            </a:r>
            <a:endParaRPr lang="en-US" sz="2600" b="0" strike="noStrike" spc="-1" dirty="0">
              <a:latin typeface="Arial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305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1960189" y="295920"/>
            <a:ext cx="5384520" cy="47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IN" sz="2800" b="1" strike="noStrike" spc="-1">
                <a:solidFill>
                  <a:srgbClr val="000000"/>
                </a:solidFill>
                <a:latin typeface="Calibri"/>
                <a:ea typeface="DejaVu Sans"/>
              </a:rPr>
              <a:t>Three Major Steps in Synthesis</a:t>
            </a:r>
            <a:endParaRPr lang="en-US" sz="2800" b="0" strike="noStrike" spc="-1">
              <a:latin typeface="Arial"/>
            </a:endParaRPr>
          </a:p>
        </p:txBody>
      </p:sp>
      <p:pic>
        <p:nvPicPr>
          <p:cNvPr id="5" name="Picture 27"/>
          <p:cNvPicPr/>
          <p:nvPr/>
        </p:nvPicPr>
        <p:blipFill>
          <a:blip r:embed="rId2"/>
          <a:srcRect t="11487"/>
          <a:stretch/>
        </p:blipFill>
        <p:spPr>
          <a:xfrm>
            <a:off x="1744549" y="1042920"/>
            <a:ext cx="10250640" cy="5426640"/>
          </a:xfrm>
          <a:prstGeom prst="rect">
            <a:avLst/>
          </a:prstGeom>
          <a:ln w="0">
            <a:noFill/>
          </a:ln>
        </p:spPr>
      </p:pic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095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71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/>
        </p:blipFill>
        <p:spPr>
          <a:xfrm>
            <a:off x="3320216" y="136478"/>
            <a:ext cx="8620920" cy="6241207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3320216" y="5012909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02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/>
        </p:blipFill>
        <p:spPr>
          <a:xfrm>
            <a:off x="2427298" y="341194"/>
            <a:ext cx="9133920" cy="6307920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2591072" y="5284338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04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/>
        </p:blipFill>
        <p:spPr>
          <a:xfrm>
            <a:off x="3296848" y="869425"/>
            <a:ext cx="7730640" cy="5408280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3296848" y="4956527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8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/>
        </p:blipFill>
        <p:spPr>
          <a:xfrm>
            <a:off x="3296848" y="869425"/>
            <a:ext cx="7730640" cy="5408280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3296848" y="4956527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3"/>
          <a:stretch/>
        </p:blipFill>
        <p:spPr>
          <a:xfrm>
            <a:off x="2860120" y="269349"/>
            <a:ext cx="9134280" cy="6290293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2860120" y="5203583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3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/>
        </p:blipFill>
        <p:spPr>
          <a:xfrm>
            <a:off x="4224894" y="382137"/>
            <a:ext cx="7539475" cy="6377685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4224894" y="5395046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77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/>
        </p:blipFill>
        <p:spPr>
          <a:xfrm>
            <a:off x="3280622" y="118797"/>
            <a:ext cx="8630640" cy="6473071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3403452" y="5227092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06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3"/>
          <a:stretch/>
        </p:blipFill>
        <p:spPr>
          <a:xfrm>
            <a:off x="3744646" y="119011"/>
            <a:ext cx="8260920" cy="5651640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3744646" y="4676478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9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/>
        </p:blipFill>
        <p:spPr>
          <a:xfrm>
            <a:off x="3162585" y="209614"/>
            <a:ext cx="8260920" cy="5831640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3266975" y="4676478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61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3"/>
          <a:stretch/>
        </p:blipFill>
        <p:spPr>
          <a:xfrm>
            <a:off x="3595123" y="427225"/>
            <a:ext cx="7720920" cy="5905335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3717351" y="4967784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69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051" y="269349"/>
            <a:ext cx="1990725" cy="600076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5146" y="979033"/>
            <a:ext cx="2581701" cy="1325563"/>
          </a:xfrm>
        </p:spPr>
        <p:txBody>
          <a:bodyPr/>
          <a:lstStyle/>
          <a:p>
            <a:r>
              <a:rPr lang="en-US" dirty="0" smtClean="0"/>
              <a:t>ASIC Flow</a:t>
            </a:r>
            <a:endParaRPr lang="en-US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/>
        </p:blipFill>
        <p:spPr>
          <a:xfrm>
            <a:off x="2975348" y="210726"/>
            <a:ext cx="8270640" cy="5912007"/>
          </a:xfrm>
          <a:prstGeom prst="rect">
            <a:avLst/>
          </a:prstGeom>
          <a:ln w="0">
            <a:noFill/>
          </a:ln>
        </p:spPr>
      </p:pic>
      <p:sp>
        <p:nvSpPr>
          <p:cNvPr id="5" name="Rectangle 4"/>
          <p:cNvSpPr/>
          <p:nvPr/>
        </p:nvSpPr>
        <p:spPr>
          <a:xfrm>
            <a:off x="2975348" y="4967784"/>
            <a:ext cx="5967768" cy="136477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39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18B84F3E-0BAB-4FEE-A20F-074E440ADCC6}"/>
              </a:ext>
            </a:extLst>
          </p:cNvPr>
          <p:cNvSpPr/>
          <p:nvPr/>
        </p:nvSpPr>
        <p:spPr>
          <a:xfrm>
            <a:off x="2103950" y="282109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ACTIVITIES/ CASE STUDIES/ IMPORTANT FACTS RELATED TO THE SESSION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143000" y="1504798"/>
            <a:ext cx="10086536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Activities:</a:t>
            </a:r>
          </a:p>
          <a:p>
            <a:pPr>
              <a:lnSpc>
                <a:spcPct val="150000"/>
              </a:lnSpc>
            </a:pPr>
            <a:r>
              <a:rPr lang="en-US" dirty="0"/>
              <a:t>"Analyzing the historical development of VLSI semi-custom design flow, discuss its impact on design efficiency and product outcomes. Illustrate the transition from fully custom to semi-custom design methodologies, highlighting the advantages, challenges, and key elements influencing the design process. Provide examples showcasing the successful application and significance of semi-custom design flow in the VLSI industry."</a:t>
            </a: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9792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533400" y="1066800"/>
            <a:ext cx="1135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session summarizes the overview of VLSI semicustom design flow.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45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xmlns="" id="{AE3D0AA7-0A5F-7BD6-7BC7-1D38F326B8B4}"/>
              </a:ext>
            </a:extLst>
          </p:cNvPr>
          <p:cNvSpPr/>
          <p:nvPr/>
        </p:nvSpPr>
        <p:spPr>
          <a:xfrm>
            <a:off x="991966" y="814712"/>
            <a:ext cx="10172210" cy="1776088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What defines VLSI semi-custom design flow?</a:t>
            </a:r>
          </a:p>
          <a:p>
            <a:pPr lvl="0"/>
            <a:endParaRPr lang="en-US" sz="1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a) Exclusively uses custom layout for each transistor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b) </a:t>
            </a:r>
            <a:r>
              <a:rPr lang="en-US" sz="1400" b="1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Incorporates both pre-designed cells and custom-designed blocks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c) Involves only standard cell-based design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d) Focuses solely on behavioral descriptions of the design</a:t>
            </a:r>
            <a:endParaRPr sz="1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3" name="Google Shape;502;p17">
            <a:extLst>
              <a:ext uri="{FF2B5EF4-FFF2-40B4-BE49-F238E27FC236}">
                <a16:creationId xmlns:a16="http://schemas.microsoft.com/office/drawing/2014/main" xmlns="" id="{85A295FE-5838-D2E0-5A99-9F2C7B3953A7}"/>
              </a:ext>
            </a:extLst>
          </p:cNvPr>
          <p:cNvSpPr/>
          <p:nvPr/>
        </p:nvSpPr>
        <p:spPr>
          <a:xfrm>
            <a:off x="991966" y="2805436"/>
            <a:ext cx="10172210" cy="1604608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What is a significant characteristic of semi-custom design flow in VLSI?</a:t>
            </a:r>
          </a:p>
          <a:p>
            <a:pPr lvl="0"/>
            <a:endParaRPr lang="en-US" sz="1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a) Utilizes a fully custom-designed layout for every chip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b) Incorporates entirely standard cell libraries without customization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c) </a:t>
            </a:r>
            <a:r>
              <a:rPr lang="en-US" sz="1400" b="1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Mixes standard cells with partially custom-designed blocks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d) Relies only on fixed, unmodifiable pre-designed blocks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9" name="Google Shape;502;p17">
            <a:extLst>
              <a:ext uri="{FF2B5EF4-FFF2-40B4-BE49-F238E27FC236}">
                <a16:creationId xmlns:a16="http://schemas.microsoft.com/office/drawing/2014/main" xmlns="" id="{7AFF6DBB-A30E-CFC8-E11F-34A34807802E}"/>
              </a:ext>
            </a:extLst>
          </p:cNvPr>
          <p:cNvSpPr/>
          <p:nvPr/>
        </p:nvSpPr>
        <p:spPr>
          <a:xfrm>
            <a:off x="991966" y="4620198"/>
            <a:ext cx="10172210" cy="1604608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Which stage in the VLSI semi-custom design flow involves the integration of both pre-designed cells and custom-designed blocks?</a:t>
            </a:r>
          </a:p>
          <a:p>
            <a:pPr lvl="0"/>
            <a:endParaRPr lang="en-US" sz="14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a) Physical design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b) Logic synthesis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c) Floorplanning</a:t>
            </a:r>
          </a:p>
          <a:p>
            <a:pPr lvl="0"/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d) </a:t>
            </a:r>
            <a:r>
              <a:rPr lang="en-US" sz="1400" b="1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Behavioral synthesis</a:t>
            </a:r>
            <a:endParaRPr sz="1600" b="1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02816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3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16" y="600076"/>
            <a:ext cx="11987284" cy="5896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fundamental principles of VLSI semi-custom design flow. How does it differ from full custom and ASIC design methodologies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Discuss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stages involved in VLSI semi-custom design flow, including circuit partitioning, standard cell placement, routing, and verification. How do these stages contribute to the creation of semi-custom VLSI designs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the key advantages and limitations of the semi-custom design approach in VLSI? How does it strike a balance between design flexibility and efficiency compared to other design methodologies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Detail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role of standard cells and pre-designed logic modules in the semi-custom design flow. How do these components enhance design efficiency and reduce time-to-market for VLSI products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 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Considering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current technological trends, how has the VLSI semi-custom design flow evolved to address the challenges of increasingly complex designs and shrinking process nodes? What new methodologies or tools have emerged to optimize the semi-custom design process in contemporary VLSI design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262193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xmlns="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3899" y="600076"/>
            <a:ext cx="11655187" cy="583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 Books: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dirty="0" smtClean="0"/>
              <a:t>N</a:t>
            </a:r>
            <a:r>
              <a:rPr lang="en-US" dirty="0"/>
              <a:t>. H. E. </a:t>
            </a:r>
            <a:r>
              <a:rPr lang="en-US" dirty="0" err="1"/>
              <a:t>Weste</a:t>
            </a:r>
            <a:r>
              <a:rPr lang="en-US" dirty="0"/>
              <a:t> and C. Harris - Principles of CMOS VLSI Design: A System Perspective, 3rd Edition, Pearson Education </a:t>
            </a:r>
            <a:r>
              <a:rPr lang="en-US" dirty="0" smtClean="0"/>
              <a:t>2007</a:t>
            </a:r>
          </a:p>
          <a:p>
            <a:endParaRPr lang="en-US" dirty="0"/>
          </a:p>
          <a:p>
            <a:r>
              <a:rPr lang="en-US" dirty="0"/>
              <a:t>2. J. </a:t>
            </a:r>
            <a:r>
              <a:rPr lang="en-US" dirty="0" err="1"/>
              <a:t>Rabaey</a:t>
            </a:r>
            <a:r>
              <a:rPr lang="en-US" dirty="0"/>
              <a:t>, A. </a:t>
            </a:r>
            <a:r>
              <a:rPr lang="en-US" dirty="0" err="1"/>
              <a:t>Chandrakasan</a:t>
            </a:r>
            <a:r>
              <a:rPr lang="en-US" dirty="0"/>
              <a:t> and B. Nikolic, Digital Integrated Circuits: A Design Perspective, 2nd Edition, Prentice Hall 2004.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en-US" sz="18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Books: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</a:pPr>
            <a:r>
              <a:rPr lang="en-US" dirty="0" smtClean="0"/>
              <a:t>Douglas </a:t>
            </a:r>
            <a:r>
              <a:rPr lang="en-US" dirty="0"/>
              <a:t>A</a:t>
            </a:r>
            <a:r>
              <a:rPr lang="en-US" dirty="0" smtClean="0"/>
              <a:t>.</a:t>
            </a:r>
            <a:r>
              <a:rPr lang="en-US" dirty="0"/>
              <a:t> </a:t>
            </a:r>
            <a:r>
              <a:rPr lang="en-US" dirty="0" err="1" smtClean="0"/>
              <a:t>Pucknell</a:t>
            </a:r>
            <a:r>
              <a:rPr lang="en-US" dirty="0" smtClean="0"/>
              <a:t> </a:t>
            </a:r>
            <a:r>
              <a:rPr lang="en-US" dirty="0"/>
              <a:t>and Kamran </a:t>
            </a:r>
            <a:r>
              <a:rPr lang="en-US" dirty="0" err="1"/>
              <a:t>Eshraghian</a:t>
            </a:r>
            <a:r>
              <a:rPr lang="en-US" dirty="0"/>
              <a:t> - Basic VLSI design. Prentice-Hall, Inc., 1994</a:t>
            </a:r>
            <a:r>
              <a:rPr lang="en-US" dirty="0" smtClean="0"/>
              <a:t>.</a:t>
            </a:r>
          </a:p>
          <a:p>
            <a:pPr lvl="0"/>
            <a:endParaRPr lang="en-US" dirty="0"/>
          </a:p>
          <a:p>
            <a:pPr lvl="0"/>
            <a:r>
              <a:rPr lang="en-US" dirty="0" smtClean="0"/>
              <a:t>2. Sung Mo</a:t>
            </a:r>
            <a:r>
              <a:rPr lang="en-US" dirty="0"/>
              <a:t> </a:t>
            </a:r>
            <a:r>
              <a:rPr lang="en-US" dirty="0" smtClean="0"/>
              <a:t>Kang </a:t>
            </a:r>
            <a:r>
              <a:rPr lang="en-US" dirty="0"/>
              <a:t>and Yusuf </a:t>
            </a:r>
            <a:r>
              <a:rPr lang="en-US" dirty="0" err="1"/>
              <a:t>Leblebici</a:t>
            </a:r>
            <a:r>
              <a:rPr lang="en-US" dirty="0"/>
              <a:t>- CMOS digital integrated circuits, </a:t>
            </a:r>
            <a:r>
              <a:rPr lang="en-US" dirty="0" err="1"/>
              <a:t>MacGraw</a:t>
            </a:r>
            <a:r>
              <a:rPr lang="en-US" dirty="0"/>
              <a:t>-Hill, 2003</a:t>
            </a:r>
          </a:p>
          <a:p>
            <a:pPr algn="just">
              <a:spcAft>
                <a:spcPts val="1000"/>
              </a:spcAft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dirty="0" smtClean="0">
                <a:hlinkClick r:id="rId2"/>
              </a:rPr>
              <a:t>rajeev2007.github.io/VLSI/0072460539cmos.pdf </a:t>
            </a:r>
            <a:endParaRPr lang="en-US" dirty="0" smtClean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u="sng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http://www.eecs.northwestern.edu/~</a:t>
            </a:r>
            <a:r>
              <a:rPr lang="en-US" u="sng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haizhou/357/lec1.pdf</a:t>
            </a:r>
            <a:endParaRPr lang="en-US" u="sng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AutoNum type="arabicPeriod"/>
            </a:pPr>
            <a:r>
              <a:rPr lang="en-US" dirty="0" smtClean="0"/>
              <a:t> </a:t>
            </a: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onlinecourses.nptel.ac.in/noc21_ee09/preview</a:t>
            </a:r>
            <a:endParaRPr lang="en-US" dirty="0" smtClean="0"/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17293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</a:t>
            </a:r>
            <a:r>
              <a:rPr lang="en-US" sz="2400" b="1" dirty="0" smtClean="0">
                <a:latin typeface="Poppins" pitchFamily="2" charset="77"/>
                <a:cs typeface="Poppins" pitchFamily="2" charset="77"/>
              </a:rPr>
              <a:t>–VLSI Design (22EC2211A)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075950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2819</TotalTime>
  <Words>725</Words>
  <Application>Microsoft Office PowerPoint</Application>
  <PresentationFormat>Custom</PresentationFormat>
  <Paragraphs>109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1_Office Theme</vt:lpstr>
      <vt:lpstr>PowerPoint Presentation</vt:lpstr>
      <vt:lpstr>PowerPoint Presentation</vt:lpstr>
      <vt:lpstr>Semi-Custom Design Flow (ASIC Flow)</vt:lpstr>
      <vt:lpstr>Semi-Custom Design Flow (ASIC Flow)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ASIC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Debajit</cp:lastModifiedBy>
  <cp:revision>203</cp:revision>
  <dcterms:created xsi:type="dcterms:W3CDTF">2020-02-08T09:57:44Z</dcterms:created>
  <dcterms:modified xsi:type="dcterms:W3CDTF">2023-11-04T11:18:50Z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