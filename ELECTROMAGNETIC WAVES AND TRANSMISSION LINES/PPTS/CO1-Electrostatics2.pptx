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8" r:id="rId2"/>
    <p:sldId id="266" r:id="rId3"/>
    <p:sldId id="262" r:id="rId4"/>
    <p:sldId id="259" r:id="rId5"/>
    <p:sldId id="257" r:id="rId6"/>
    <p:sldId id="261" r:id="rId7"/>
    <p:sldId id="260" r:id="rId8"/>
    <p:sldId id="263" r:id="rId9"/>
    <p:sldId id="305" r:id="rId10"/>
    <p:sldId id="304" r:id="rId11"/>
    <p:sldId id="306" r:id="rId12"/>
    <p:sldId id="264" r:id="rId13"/>
    <p:sldId id="268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307" r:id="rId32"/>
    <p:sldId id="308" r:id="rId33"/>
    <p:sldId id="309" r:id="rId34"/>
    <p:sldId id="310" r:id="rId35"/>
    <p:sldId id="29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303" r:id="rId44"/>
    <p:sldId id="296" r:id="rId45"/>
    <p:sldId id="297" r:id="rId46"/>
    <p:sldId id="299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 Sree Madhuri" initials="ASM" lastIdx="2" clrIdx="0">
    <p:extLst>
      <p:ext uri="{19B8F6BF-5375-455C-9EA6-DF929625EA0E}">
        <p15:presenceInfo xmlns:p15="http://schemas.microsoft.com/office/powerpoint/2012/main" userId="A Sree Madhuri" providerId="None"/>
      </p:ext>
    </p:extLst>
  </p:cmAuthor>
  <p:cmAuthor id="2" name=" " initials="" lastIdx="3" clrIdx="1">
    <p:extLst>
      <p:ext uri="{19B8F6BF-5375-455C-9EA6-DF929625EA0E}">
        <p15:presenceInfo xmlns:p15="http://schemas.microsoft.com/office/powerpoint/2012/main" userId="bfd08c75ecc58a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B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5065" autoAdjust="0"/>
  </p:normalViewPr>
  <p:slideViewPr>
    <p:cSldViewPr snapToGrid="0" showGuides="1">
      <p:cViewPr varScale="1">
        <p:scale>
          <a:sx n="79" d="100"/>
          <a:sy n="79" d="100"/>
        </p:scale>
        <p:origin x="758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30T10:00:15.19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30T10:00:15.69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BB5469-8BA2-4DE8-BB30-EA8158473D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8E95-A4C0-4603-AAE3-7CC1CDE865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41F21-889D-42BD-8A80-60D4555547FB}" type="datetimeFigureOut">
              <a:rPr lang="en-IN" smtClean="0"/>
              <a:t>18-02-2025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3C21AFF-3BAA-4F4B-A638-E1C87082F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73F944-0511-4ABF-BEDA-52D6DD843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63AC3-1E78-4E7B-9605-920FB52788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2A9CD-143B-44D8-A032-9FD1FF17E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83AD4-32CC-47C5-A180-B2B854E6EF6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83AD4-32CC-47C5-A180-B2B854E6EF6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53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17AD-9204-45A8-A35D-92BE9C52F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79838-D402-43CA-B310-4B24B0AB4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27DB6-391F-4AAF-89AC-8301C7B9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16F4F-FC37-4773-A5BE-A9F4A6BF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C8C04-BA2B-45A9-868D-0D2E00E0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324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062E-EB14-41C1-91AC-93DE8D9E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78AC4-BD27-4A3D-A83E-555E6A5C4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E4DD7-960D-47E2-83B4-B0FFD0D6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F2F67-B6F0-4ED2-BA07-35EA36F9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719D9-88D1-4E52-B760-5CF48127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24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1C65-A168-432A-B4AE-029B2D55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0BFCE-131A-48CA-BF90-D9C7AF056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D5021-CA97-478F-8DD4-D5252B32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F7497-A1DF-4092-9D80-074DE18C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04D7-0905-4CDF-9B68-FD89B212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41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5C19-5BED-4B21-B77D-352BAC36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03E4-7FAA-4712-8A83-51B832E30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8CDD9-1002-46E0-8194-85ACC655A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BA0CF-B823-4A7D-9260-6EFA9920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59FAE-592F-462E-85CD-31B697C0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44E6A-467F-4840-A031-0E59119F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01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71CF-940B-4B98-B4DD-5C68BBFF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3A308-362E-455C-A86E-D12B33618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00DF7-694A-4767-9832-10B60CAFB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EF3D-3444-46DA-881D-69351BB9E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520E9-DFE6-43DD-86D8-DF51D0610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D108D-F6DA-4D12-A113-9852A989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DC2AC-1422-4E7B-B162-D1F48F83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ECAAE-0F46-4126-BC7C-3A688822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0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1B28-44CA-4947-ABEE-C8DC5C4E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FC7D1-C39B-4324-8227-0ED79155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8CBB7-3DAD-4F54-840A-92DAF4C0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D5A95-7C0A-4254-B84E-0B2859F9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17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F50AD-C8A8-4905-BE42-4D5E0BA6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1F66A-6FFB-4505-9B1B-33494439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05AFD-468F-4D5D-A312-47D99D75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82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D284-9831-491C-A4F3-46752027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68BB-C953-405E-B3E9-11A9BD030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DE9FD-0830-4B6A-BD62-E54B9F295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4B671-B91B-4726-B118-8C5F89D2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628E3-113B-4BD6-922B-24B7AE86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780DC-A23B-434A-A099-02C5474C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68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7DF-F2A6-424F-9FF8-E65D4F5D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C7086-7459-4836-9B9F-F19750EAE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C035F-42AB-4DA2-BD58-418E6199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AE9DD-EEE3-4B74-B2B7-6F318F4E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9821E-F3CD-4E45-BC41-6FDAB7BC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FE8D1-EA04-4CB4-97D3-C24454B0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4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1A1-912C-484E-BE9B-0DC1FE81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0D886-8081-4224-A5E2-BC1381603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FC694-9C4A-4AED-8140-5A740946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E11EA-BCA5-4F66-B234-0C09DDA9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1B314-EC09-4452-A290-6BE0CB28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43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12939-97F1-4FBB-A1AD-13BA3FC0E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4A003-650B-4C11-B53E-CB758C1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A0E0-E231-4A67-BF6E-F2B717EC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304E3-BC23-4F03-A192-7B9543D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DB9A-318D-4433-B6B3-BAA3AA97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64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F8A437-41E5-438A-B2B8-C2C495B6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9F76F-BC14-4549-A516-85CA690B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4EC56-8502-4F57-B5E8-BB2E74AE5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765BE-20B6-493B-8752-921F839EBCC4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D9643-CE56-4D0C-9149-179859283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DA4FA-6DCE-47A8-9253-2C160FA13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5CBFA-E425-490B-9433-1EB59C3EB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7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1100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0.png"/><Relationship Id="rId7" Type="http://schemas.openxmlformats.org/officeDocument/2006/relationships/image" Target="../media/image14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customXml" Target="../ink/ink2.xml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50.png"/><Relationship Id="rId7" Type="http://schemas.openxmlformats.org/officeDocument/2006/relationships/image" Target="../media/image89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4" Type="http://schemas.openxmlformats.org/officeDocument/2006/relationships/image" Target="../media/image860.png"/><Relationship Id="rId9" Type="http://schemas.openxmlformats.org/officeDocument/2006/relationships/image" Target="../media/image1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2.png"/><Relationship Id="rId5" Type="http://schemas.openxmlformats.org/officeDocument/2006/relationships/image" Target="../media/image95.png"/><Relationship Id="rId10" Type="http://schemas.openxmlformats.org/officeDocument/2006/relationships/image" Target="../media/image101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2" Type="http://schemas.openxmlformats.org/officeDocument/2006/relationships/image" Target="../media/image12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2.png"/><Relationship Id="rId5" Type="http://schemas.openxmlformats.org/officeDocument/2006/relationships/image" Target="../media/image114.png"/><Relationship Id="rId15" Type="http://schemas.openxmlformats.org/officeDocument/2006/relationships/image" Target="../media/image126.png"/><Relationship Id="rId10" Type="http://schemas.openxmlformats.org/officeDocument/2006/relationships/image" Target="../media/image119.png"/><Relationship Id="rId9" Type="http://schemas.openxmlformats.org/officeDocument/2006/relationships/image" Target="../media/image118.png"/><Relationship Id="rId14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10" Type="http://schemas.openxmlformats.org/officeDocument/2006/relationships/image" Target="../media/image137.png"/><Relationship Id="rId4" Type="http://schemas.openxmlformats.org/officeDocument/2006/relationships/image" Target="../media/image129.png"/><Relationship Id="rId9" Type="http://schemas.openxmlformats.org/officeDocument/2006/relationships/image" Target="../media/image1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6.png"/><Relationship Id="rId3" Type="http://schemas.openxmlformats.org/officeDocument/2006/relationships/image" Target="../media/image151.png"/><Relationship Id="rId21" Type="http://schemas.openxmlformats.org/officeDocument/2006/relationships/image" Target="../media/image171.png"/><Relationship Id="rId34" Type="http://schemas.openxmlformats.org/officeDocument/2006/relationships/image" Target="../media/image184.png"/><Relationship Id="rId12" Type="http://schemas.openxmlformats.org/officeDocument/2006/relationships/image" Target="../media/image161.png"/><Relationship Id="rId33" Type="http://schemas.openxmlformats.org/officeDocument/2006/relationships/image" Target="../media/image183.png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4.png"/><Relationship Id="rId32" Type="http://schemas.openxmlformats.org/officeDocument/2006/relationships/image" Target="../media/image182.png"/><Relationship Id="rId15" Type="http://schemas.openxmlformats.org/officeDocument/2006/relationships/image" Target="../media/image164.png"/><Relationship Id="rId23" Type="http://schemas.openxmlformats.org/officeDocument/2006/relationships/image" Target="../media/image173.png"/><Relationship Id="rId28" Type="http://schemas.openxmlformats.org/officeDocument/2006/relationships/image" Target="../media/image178.png"/><Relationship Id="rId31" Type="http://schemas.openxmlformats.org/officeDocument/2006/relationships/image" Target="../media/image181.png"/><Relationship Id="rId22" Type="http://schemas.openxmlformats.org/officeDocument/2006/relationships/image" Target="../media/image172.png"/><Relationship Id="rId30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8" Type="http://schemas.openxmlformats.org/officeDocument/2006/relationships/image" Target="../media/image201.png"/><Relationship Id="rId17" Type="http://schemas.openxmlformats.org/officeDocument/2006/relationships/image" Target="../media/image200.png"/><Relationship Id="rId16" Type="http://schemas.openxmlformats.org/officeDocument/2006/relationships/image" Target="../media/image19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4.png"/><Relationship Id="rId5" Type="http://schemas.openxmlformats.org/officeDocument/2006/relationships/image" Target="../media/image188.png"/><Relationship Id="rId15" Type="http://schemas.openxmlformats.org/officeDocument/2006/relationships/image" Target="../media/image198.png"/><Relationship Id="rId19" Type="http://schemas.openxmlformats.org/officeDocument/2006/relationships/image" Target="../media/image202.png"/><Relationship Id="rId14" Type="http://schemas.openxmlformats.org/officeDocument/2006/relationships/image" Target="../media/image197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8" Type="http://schemas.openxmlformats.org/officeDocument/2006/relationships/image" Target="../media/image198.png"/><Relationship Id="rId3" Type="http://schemas.openxmlformats.org/officeDocument/2006/relationships/image" Target="../media/image203.png"/><Relationship Id="rId7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08.png"/><Relationship Id="rId5" Type="http://schemas.openxmlformats.org/officeDocument/2006/relationships/image" Target="../media/image204.png"/><Relationship Id="rId10" Type="http://schemas.openxmlformats.org/officeDocument/2006/relationships/image" Target="../media/image207.png"/><Relationship Id="rId4" Type="http://schemas.openxmlformats.org/officeDocument/2006/relationships/image" Target="../media/image200.png"/><Relationship Id="rId9" Type="http://schemas.openxmlformats.org/officeDocument/2006/relationships/image" Target="../media/image20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211.png"/><Relationship Id="rId12" Type="http://schemas.openxmlformats.org/officeDocument/2006/relationships/image" Target="../media/image215.png"/><Relationship Id="rId7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14.png"/><Relationship Id="rId5" Type="http://schemas.openxmlformats.org/officeDocument/2006/relationships/image" Target="../media/image212.png"/><Relationship Id="rId10" Type="http://schemas.openxmlformats.org/officeDocument/2006/relationships/image" Target="../media/image213.png"/><Relationship Id="rId4" Type="http://schemas.openxmlformats.org/officeDocument/2006/relationships/image" Target="../media/image200.png"/><Relationship Id="rId9" Type="http://schemas.openxmlformats.org/officeDocument/2006/relationships/image" Target="../media/image20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oleObject" Target="../embeddings/oleObject1.bin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15" Type="http://schemas.openxmlformats.org/officeDocument/2006/relationships/image" Target="../media/image229.png"/><Relationship Id="rId10" Type="http://schemas.openxmlformats.org/officeDocument/2006/relationships/image" Target="../media/image224.png"/><Relationship Id="rId9" Type="http://schemas.openxmlformats.org/officeDocument/2006/relationships/image" Target="../media/image2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2" Type="http://schemas.openxmlformats.org/officeDocument/2006/relationships/image" Target="../media/image243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51.png"/><Relationship Id="rId12" Type="http://schemas.openxmlformats.org/officeDocument/2006/relationships/image" Target="../media/image2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11" Type="http://schemas.openxmlformats.org/officeDocument/2006/relationships/image" Target="../media/image255.png"/><Relationship Id="rId5" Type="http://schemas.openxmlformats.org/officeDocument/2006/relationships/image" Target="../media/image249.png"/><Relationship Id="rId10" Type="http://schemas.openxmlformats.org/officeDocument/2006/relationships/image" Target="../media/image254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53.png"/><Relationship Id="rId18" Type="http://schemas.openxmlformats.org/officeDocument/2006/relationships/image" Target="../media/image162.png"/><Relationship Id="rId3" Type="http://schemas.openxmlformats.org/officeDocument/2006/relationships/image" Target="../media/image112.png"/><Relationship Id="rId7" Type="http://schemas.openxmlformats.org/officeDocument/2006/relationships/image" Target="../media/image117.png"/><Relationship Id="rId12" Type="http://schemas.openxmlformats.org/officeDocument/2006/relationships/image" Target="../media/image152.png"/><Relationship Id="rId17" Type="http://schemas.openxmlformats.org/officeDocument/2006/relationships/image" Target="../media/image158.png"/><Relationship Id="rId2" Type="http://schemas.openxmlformats.org/officeDocument/2006/relationships/image" Target="../media/image87.png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49.png"/><Relationship Id="rId5" Type="http://schemas.openxmlformats.org/officeDocument/2006/relationships/image" Target="../media/image115.png"/><Relationship Id="rId15" Type="http://schemas.openxmlformats.org/officeDocument/2006/relationships/image" Target="../media/image156.png"/><Relationship Id="rId10" Type="http://schemas.openxmlformats.org/officeDocument/2006/relationships/image" Target="../media/image144.png"/><Relationship Id="rId19" Type="http://schemas.openxmlformats.org/officeDocument/2006/relationships/image" Target="../media/image163.png"/><Relationship Id="rId4" Type="http://schemas.openxmlformats.org/officeDocument/2006/relationships/image" Target="../media/image113.png"/><Relationship Id="rId9" Type="http://schemas.openxmlformats.org/officeDocument/2006/relationships/image" Target="../media/image132.png"/><Relationship Id="rId14" Type="http://schemas.openxmlformats.org/officeDocument/2006/relationships/image" Target="../media/image1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0.png"/><Relationship Id="rId13" Type="http://schemas.openxmlformats.org/officeDocument/2006/relationships/image" Target="../media/image1530.png"/><Relationship Id="rId3" Type="http://schemas.openxmlformats.org/officeDocument/2006/relationships/image" Target="../media/image1150.png"/><Relationship Id="rId7" Type="http://schemas.openxmlformats.org/officeDocument/2006/relationships/image" Target="../media/image1280.png"/><Relationship Id="rId12" Type="http://schemas.openxmlformats.org/officeDocument/2006/relationships/image" Target="../media/image15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0.png"/><Relationship Id="rId11" Type="http://schemas.openxmlformats.org/officeDocument/2006/relationships/image" Target="../media/image1520.png"/><Relationship Id="rId5" Type="http://schemas.openxmlformats.org/officeDocument/2006/relationships/image" Target="../media/image1160.png"/><Relationship Id="rId10" Type="http://schemas.openxmlformats.org/officeDocument/2006/relationships/image" Target="../media/image1490.png"/><Relationship Id="rId4" Type="http://schemas.openxmlformats.org/officeDocument/2006/relationships/image" Target="../media/image1130.png"/><Relationship Id="rId9" Type="http://schemas.openxmlformats.org/officeDocument/2006/relationships/image" Target="../media/image144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9.png"/><Relationship Id="rId3" Type="http://schemas.openxmlformats.org/officeDocument/2006/relationships/image" Target="../media/image1570.png"/><Relationship Id="rId7" Type="http://schemas.openxmlformats.org/officeDocument/2006/relationships/image" Target="../media/image166.png"/><Relationship Id="rId12" Type="http://schemas.openxmlformats.org/officeDocument/2006/relationships/image" Target="../media/image177.png"/><Relationship Id="rId2" Type="http://schemas.openxmlformats.org/officeDocument/2006/relationships/image" Target="../media/image1560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0.png"/><Relationship Id="rId11" Type="http://schemas.openxmlformats.org/officeDocument/2006/relationships/image" Target="../media/image175.png"/><Relationship Id="rId5" Type="http://schemas.openxmlformats.org/officeDocument/2006/relationships/image" Target="../media/image1620.png"/><Relationship Id="rId15" Type="http://schemas.openxmlformats.org/officeDocument/2006/relationships/image" Target="../media/image186.png"/><Relationship Id="rId10" Type="http://schemas.openxmlformats.org/officeDocument/2006/relationships/image" Target="../media/image169.png"/><Relationship Id="rId4" Type="http://schemas.openxmlformats.org/officeDocument/2006/relationships/image" Target="../media/image1580.png"/><Relationship Id="rId9" Type="http://schemas.openxmlformats.org/officeDocument/2006/relationships/image" Target="../media/image168.png"/><Relationship Id="rId14" Type="http://schemas.openxmlformats.org/officeDocument/2006/relationships/image" Target="../media/image18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25.png"/><Relationship Id="rId18" Type="http://schemas.openxmlformats.org/officeDocument/2006/relationships/image" Target="../media/image238.png"/><Relationship Id="rId3" Type="http://schemas.openxmlformats.org/officeDocument/2006/relationships/image" Target="../media/image190.png"/><Relationship Id="rId21" Type="http://schemas.openxmlformats.org/officeDocument/2006/relationships/image" Target="../media/image252.png"/><Relationship Id="rId7" Type="http://schemas.openxmlformats.org/officeDocument/2006/relationships/image" Target="../media/image196.png"/><Relationship Id="rId12" Type="http://schemas.openxmlformats.org/officeDocument/2006/relationships/image" Target="../media/image221.png"/><Relationship Id="rId17" Type="http://schemas.openxmlformats.org/officeDocument/2006/relationships/image" Target="../media/image234.png"/><Relationship Id="rId2" Type="http://schemas.openxmlformats.org/officeDocument/2006/relationships/image" Target="../media/image189.png"/><Relationship Id="rId16" Type="http://schemas.openxmlformats.org/officeDocument/2006/relationships/image" Target="../media/image228.png"/><Relationship Id="rId20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11" Type="http://schemas.openxmlformats.org/officeDocument/2006/relationships/image" Target="../media/image220.png"/><Relationship Id="rId24" Type="http://schemas.openxmlformats.org/officeDocument/2006/relationships/image" Target="../media/image264.png"/><Relationship Id="rId5" Type="http://schemas.openxmlformats.org/officeDocument/2006/relationships/image" Target="../media/image193.png"/><Relationship Id="rId15" Type="http://schemas.openxmlformats.org/officeDocument/2006/relationships/image" Target="../media/image227.png"/><Relationship Id="rId23" Type="http://schemas.openxmlformats.org/officeDocument/2006/relationships/image" Target="../media/image263.png"/><Relationship Id="rId10" Type="http://schemas.openxmlformats.org/officeDocument/2006/relationships/image" Target="../media/image217.png"/><Relationship Id="rId19" Type="http://schemas.openxmlformats.org/officeDocument/2006/relationships/image" Target="../media/image246.png"/><Relationship Id="rId4" Type="http://schemas.openxmlformats.org/officeDocument/2006/relationships/image" Target="../media/image192.png"/><Relationship Id="rId9" Type="http://schemas.openxmlformats.org/officeDocument/2006/relationships/image" Target="../media/image209.png"/><Relationship Id="rId14" Type="http://schemas.openxmlformats.org/officeDocument/2006/relationships/image" Target="../media/image226.png"/><Relationship Id="rId22" Type="http://schemas.openxmlformats.org/officeDocument/2006/relationships/image" Target="../media/image26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image" Target="../media/image272.png"/><Relationship Id="rId3" Type="http://schemas.openxmlformats.org/officeDocument/2006/relationships/image" Target="../media/image1580.png"/><Relationship Id="rId7" Type="http://schemas.openxmlformats.org/officeDocument/2006/relationships/image" Target="../media/image1630.png"/><Relationship Id="rId12" Type="http://schemas.openxmlformats.org/officeDocument/2006/relationships/image" Target="../media/image271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11" Type="http://schemas.openxmlformats.org/officeDocument/2006/relationships/image" Target="../media/image270.png"/><Relationship Id="rId5" Type="http://schemas.openxmlformats.org/officeDocument/2006/relationships/image" Target="../media/image266.png"/><Relationship Id="rId10" Type="http://schemas.openxmlformats.org/officeDocument/2006/relationships/image" Target="../media/image269.png"/><Relationship Id="rId4" Type="http://schemas.openxmlformats.org/officeDocument/2006/relationships/image" Target="../media/image1620.png"/><Relationship Id="rId9" Type="http://schemas.openxmlformats.org/officeDocument/2006/relationships/image" Target="../media/image26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3" Type="http://schemas.openxmlformats.org/officeDocument/2006/relationships/image" Target="../media/image265.png"/><Relationship Id="rId7" Type="http://schemas.openxmlformats.org/officeDocument/2006/relationships/image" Target="../media/image275.png"/><Relationship Id="rId12" Type="http://schemas.openxmlformats.org/officeDocument/2006/relationships/image" Target="../media/image280.png"/><Relationship Id="rId2" Type="http://schemas.openxmlformats.org/officeDocument/2006/relationships/image" Target="../media/image273.png"/><Relationship Id="rId16" Type="http://schemas.openxmlformats.org/officeDocument/2006/relationships/image" Target="../media/image2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11" Type="http://schemas.openxmlformats.org/officeDocument/2006/relationships/image" Target="../media/image279.png"/><Relationship Id="rId5" Type="http://schemas.openxmlformats.org/officeDocument/2006/relationships/image" Target="../media/image187.png"/><Relationship Id="rId15" Type="http://schemas.openxmlformats.org/officeDocument/2006/relationships/image" Target="../media/image283.png"/><Relationship Id="rId10" Type="http://schemas.openxmlformats.org/officeDocument/2006/relationships/image" Target="../media/image278.png"/><Relationship Id="rId4" Type="http://schemas.openxmlformats.org/officeDocument/2006/relationships/image" Target="../media/image274.png"/><Relationship Id="rId9" Type="http://schemas.openxmlformats.org/officeDocument/2006/relationships/image" Target="../media/image277.png"/><Relationship Id="rId14" Type="http://schemas.openxmlformats.org/officeDocument/2006/relationships/image" Target="../media/image28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13" Type="http://schemas.openxmlformats.org/officeDocument/2006/relationships/image" Target="../media/image292.png"/><Relationship Id="rId3" Type="http://schemas.openxmlformats.org/officeDocument/2006/relationships/image" Target="../media/image120.png"/><Relationship Id="rId7" Type="http://schemas.openxmlformats.org/officeDocument/2006/relationships/image" Target="../media/image286.png"/><Relationship Id="rId12" Type="http://schemas.openxmlformats.org/officeDocument/2006/relationships/image" Target="../media/image291.png"/><Relationship Id="rId17" Type="http://schemas.openxmlformats.org/officeDocument/2006/relationships/image" Target="../media/image296.png"/><Relationship Id="rId2" Type="http://schemas.openxmlformats.org/officeDocument/2006/relationships/image" Target="../media/image100.png"/><Relationship Id="rId16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5.png"/><Relationship Id="rId11" Type="http://schemas.openxmlformats.org/officeDocument/2006/relationships/image" Target="../media/image290.png"/><Relationship Id="rId5" Type="http://schemas.openxmlformats.org/officeDocument/2006/relationships/image" Target="../media/image216.png"/><Relationship Id="rId15" Type="http://schemas.openxmlformats.org/officeDocument/2006/relationships/image" Target="../media/image294.png"/><Relationship Id="rId10" Type="http://schemas.openxmlformats.org/officeDocument/2006/relationships/image" Target="../media/image289.png"/><Relationship Id="rId4" Type="http://schemas.openxmlformats.org/officeDocument/2006/relationships/image" Target="../media/image121.png"/><Relationship Id="rId9" Type="http://schemas.openxmlformats.org/officeDocument/2006/relationships/image" Target="../media/image288.png"/><Relationship Id="rId14" Type="http://schemas.openxmlformats.org/officeDocument/2006/relationships/image" Target="../media/image29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0.png"/><Relationship Id="rId7" Type="http://schemas.openxmlformats.org/officeDocument/2006/relationships/image" Target="../media/image2941.png"/><Relationship Id="rId2" Type="http://schemas.openxmlformats.org/officeDocument/2006/relationships/image" Target="../media/image28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30.png"/><Relationship Id="rId5" Type="http://schemas.openxmlformats.org/officeDocument/2006/relationships/image" Target="../media/image2920.png"/><Relationship Id="rId4" Type="http://schemas.openxmlformats.org/officeDocument/2006/relationships/image" Target="../media/image29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image" Target="../media/image2950.png"/><Relationship Id="rId7" Type="http://schemas.openxmlformats.org/officeDocument/2006/relationships/image" Target="../media/image2990.png"/><Relationship Id="rId2" Type="http://schemas.openxmlformats.org/officeDocument/2006/relationships/image" Target="../media/image29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image" Target="../media/image2970.png"/><Relationship Id="rId4" Type="http://schemas.openxmlformats.org/officeDocument/2006/relationships/image" Target="../media/image2960.png"/><Relationship Id="rId9" Type="http://schemas.openxmlformats.org/officeDocument/2006/relationships/image" Target="../media/image30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046C6-F6DB-4D00-8767-2AE4EB464AED}"/>
              </a:ext>
            </a:extLst>
          </p:cNvPr>
          <p:cNvSpPr txBox="1"/>
          <p:nvPr/>
        </p:nvSpPr>
        <p:spPr>
          <a:xfrm>
            <a:off x="247429" y="17686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ELECTRIC FIELD INTENSITY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FA9DA7-D2C8-4816-9CBE-5D035482A83E}"/>
              </a:ext>
            </a:extLst>
          </p:cNvPr>
          <p:cNvCxnSpPr/>
          <p:nvPr/>
        </p:nvCxnSpPr>
        <p:spPr>
          <a:xfrm flipV="1">
            <a:off x="1707788" y="3622147"/>
            <a:ext cx="2337848" cy="22058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31598E-5E20-4346-A508-DD727E948AB6}"/>
              </a:ext>
            </a:extLst>
          </p:cNvPr>
          <p:cNvCxnSpPr>
            <a:cxnSpLocks/>
          </p:cNvCxnSpPr>
          <p:nvPr/>
        </p:nvCxnSpPr>
        <p:spPr>
          <a:xfrm>
            <a:off x="3159516" y="4470559"/>
            <a:ext cx="1206631" cy="8955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1B588E0-7646-4D75-9637-A498322C5F90}"/>
              </a:ext>
            </a:extLst>
          </p:cNvPr>
          <p:cNvSpPr/>
          <p:nvPr/>
        </p:nvSpPr>
        <p:spPr>
          <a:xfrm>
            <a:off x="4366147" y="536610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34D32-EBAF-463F-9961-0E83C5568713}"/>
                  </a:ext>
                </a:extLst>
              </p:cNvPr>
              <p:cNvSpPr txBox="1"/>
              <p:nvPr/>
            </p:nvSpPr>
            <p:spPr>
              <a:xfrm>
                <a:off x="4897941" y="3909459"/>
                <a:ext cx="2950590" cy="116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𝑑𝑙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34D32-EBAF-463F-9961-0E83C556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941" y="3909459"/>
                <a:ext cx="2950590" cy="1163204"/>
              </a:xfrm>
              <a:prstGeom prst="rect">
                <a:avLst/>
              </a:prstGeom>
              <a:blipFill>
                <a:blip r:embed="rId2"/>
                <a:stretch>
                  <a:fillRect l="-1653" b="-31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555F79-5E79-463A-9584-3E7FC2435CF4}"/>
              </a:ext>
            </a:extLst>
          </p:cNvPr>
          <p:cNvCxnSpPr>
            <a:cxnSpLocks/>
          </p:cNvCxnSpPr>
          <p:nvPr/>
        </p:nvCxnSpPr>
        <p:spPr>
          <a:xfrm>
            <a:off x="4413281" y="5411825"/>
            <a:ext cx="375755" cy="276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3B753A-1366-4A5E-8ADC-B6EF4EB4D7FB}"/>
              </a:ext>
            </a:extLst>
          </p:cNvPr>
          <p:cNvSpPr txBox="1"/>
          <p:nvPr/>
        </p:nvSpPr>
        <p:spPr>
          <a:xfrm>
            <a:off x="3677990" y="4545974"/>
            <a:ext cx="9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379650-8F7C-4959-9D2E-B8790FBF8B68}"/>
                  </a:ext>
                </a:extLst>
              </p:cNvPr>
              <p:cNvSpPr txBox="1"/>
              <p:nvPr/>
            </p:nvSpPr>
            <p:spPr>
              <a:xfrm>
                <a:off x="4299271" y="5482487"/>
                <a:ext cx="4689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b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379650-8F7C-4959-9D2E-B8790FBF8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271" y="5482487"/>
                <a:ext cx="468983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ylinder 2">
            <a:extLst>
              <a:ext uri="{FF2B5EF4-FFF2-40B4-BE49-F238E27FC236}">
                <a16:creationId xmlns:a16="http://schemas.microsoft.com/office/drawing/2014/main" id="{8E871A41-4B1F-49D7-B068-3A85CBAAD2FE}"/>
              </a:ext>
            </a:extLst>
          </p:cNvPr>
          <p:cNvSpPr/>
          <p:nvPr/>
        </p:nvSpPr>
        <p:spPr>
          <a:xfrm rot="18856702">
            <a:off x="3101009" y="4432853"/>
            <a:ext cx="99391" cy="7951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A5CB92-E666-4395-9868-F068747842C0}"/>
                  </a:ext>
                </a:extLst>
              </p:cNvPr>
              <p:cNvSpPr txBox="1"/>
              <p:nvPr/>
            </p:nvSpPr>
            <p:spPr>
              <a:xfrm>
                <a:off x="2134428" y="4059343"/>
                <a:ext cx="14436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IN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 </a:t>
                </a:r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A5CB92-E666-4395-9868-F06874784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428" y="4059343"/>
                <a:ext cx="1443659" cy="369332"/>
              </a:xfrm>
              <a:prstGeom prst="rect">
                <a:avLst/>
              </a:prstGeom>
              <a:blipFill>
                <a:blip r:embed="rId6"/>
                <a:stretch>
                  <a:fillRect l="-337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CEEBDE-C649-4071-A1BA-1FAB1667CAC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2288" b="9513"/>
          <a:stretch/>
        </p:blipFill>
        <p:spPr>
          <a:xfrm>
            <a:off x="2007705" y="1388995"/>
            <a:ext cx="1252330" cy="1065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91D298-4B4C-4160-AE3B-90FD8032446A}"/>
              </a:ext>
            </a:extLst>
          </p:cNvPr>
          <p:cNvSpPr txBox="1"/>
          <p:nvPr/>
        </p:nvSpPr>
        <p:spPr>
          <a:xfrm>
            <a:off x="276940" y="785191"/>
            <a:ext cx="348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charge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Represented by 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0A37B9-0740-494E-A116-A7DF52B081E3}"/>
                  </a:ext>
                </a:extLst>
              </p:cNvPr>
              <p:cNvSpPr txBox="1"/>
              <p:nvPr/>
            </p:nvSpPr>
            <p:spPr>
              <a:xfrm>
                <a:off x="5199427" y="1169572"/>
                <a:ext cx="2950590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0A37B9-0740-494E-A116-A7DF52B08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27" y="1169572"/>
                <a:ext cx="2950590" cy="485774"/>
              </a:xfrm>
              <a:prstGeom prst="rect">
                <a:avLst/>
              </a:prstGeom>
              <a:blipFill>
                <a:blip r:embed="rId8"/>
                <a:stretch>
                  <a:fillRect l="-1860" b="-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37B29C1B-53F9-4229-8507-19B4EFD46FFA}"/>
              </a:ext>
            </a:extLst>
          </p:cNvPr>
          <p:cNvSpPr/>
          <p:nvPr/>
        </p:nvSpPr>
        <p:spPr>
          <a:xfrm rot="285200" flipV="1">
            <a:off x="5237923" y="1037648"/>
            <a:ext cx="49696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8134DB-8CAD-44E7-BE12-4E99BFCD948E}"/>
              </a:ext>
            </a:extLst>
          </p:cNvPr>
          <p:cNvCxnSpPr>
            <a:cxnSpLocks/>
          </p:cNvCxnSpPr>
          <p:nvPr/>
        </p:nvCxnSpPr>
        <p:spPr>
          <a:xfrm flipV="1">
            <a:off x="2832652" y="1063487"/>
            <a:ext cx="2415209" cy="87464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2DEEAEB-5F10-4AA3-BF50-9B438D0C152E}"/>
              </a:ext>
            </a:extLst>
          </p:cNvPr>
          <p:cNvSpPr txBox="1"/>
          <p:nvPr/>
        </p:nvSpPr>
        <p:spPr>
          <a:xfrm>
            <a:off x="3995530" y="1083364"/>
            <a:ext cx="125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49054B-CCDB-486B-917B-5574133777C4}"/>
              </a:ext>
            </a:extLst>
          </p:cNvPr>
          <p:cNvCxnSpPr>
            <a:cxnSpLocks/>
          </p:cNvCxnSpPr>
          <p:nvPr/>
        </p:nvCxnSpPr>
        <p:spPr>
          <a:xfrm flipV="1">
            <a:off x="5300634" y="844826"/>
            <a:ext cx="493879" cy="19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F50597-64DB-4D05-BD13-85AE45807C6C}"/>
                  </a:ext>
                </a:extLst>
              </p:cNvPr>
              <p:cNvSpPr txBox="1"/>
              <p:nvPr/>
            </p:nvSpPr>
            <p:spPr>
              <a:xfrm>
                <a:off x="5215558" y="560768"/>
                <a:ext cx="5789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F50597-64DB-4D05-BD13-85AE45807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58" y="560768"/>
                <a:ext cx="57895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E60B7F-941C-4223-9A85-97354A17A68A}"/>
                  </a:ext>
                </a:extLst>
              </p:cNvPr>
              <p:cNvSpPr txBox="1"/>
              <p:nvPr/>
            </p:nvSpPr>
            <p:spPr>
              <a:xfrm>
                <a:off x="261278" y="3084444"/>
                <a:ext cx="3488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charge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E60B7F-941C-4223-9A85-97354A17A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8" y="3084444"/>
                <a:ext cx="3488635" cy="369332"/>
              </a:xfrm>
              <a:prstGeom prst="rect">
                <a:avLst/>
              </a:prstGeom>
              <a:blipFill>
                <a:blip r:embed="rId10"/>
                <a:stretch>
                  <a:fillRect l="-1573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9D772F-7CB2-49B1-AE9B-AA253FAE6E4A}"/>
                  </a:ext>
                </a:extLst>
              </p:cNvPr>
              <p:cNvSpPr txBox="1"/>
              <p:nvPr/>
            </p:nvSpPr>
            <p:spPr>
              <a:xfrm>
                <a:off x="5722454" y="5501943"/>
                <a:ext cx="6097656" cy="491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𝒏𝒊𝒕𝒊𝒂𝒍</m:t>
                        </m:r>
                      </m:sub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𝑭𝒊𝒏𝒂𝒍</m:t>
                        </m:r>
                      </m:sup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𝒅𝑬</m:t>
                        </m:r>
                      </m:e>
                    </m:nary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9D772F-7CB2-49B1-AE9B-AA253FAE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454" y="5501943"/>
                <a:ext cx="6097656" cy="491353"/>
              </a:xfrm>
              <a:prstGeom prst="rect">
                <a:avLst/>
              </a:prstGeom>
              <a:blipFill>
                <a:blip r:embed="rId11"/>
                <a:stretch>
                  <a:fillRect l="-900" t="-98750" b="-161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6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1" grpId="0"/>
      <p:bldP spid="13" grpId="0"/>
      <p:bldP spid="14" grpId="0"/>
      <p:bldP spid="3" grpId="0" animBg="1"/>
      <p:bldP spid="17" grpId="0"/>
      <p:bldP spid="6" grpId="0"/>
      <p:bldP spid="19" grpId="0"/>
      <p:bldP spid="15" grpId="0" animBg="1"/>
      <p:bldP spid="23" grpId="0"/>
      <p:bldP spid="31" grpId="0"/>
      <p:bldP spid="32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A8F4EB-D3D1-4DFC-9100-B0B84DC19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8388"/>
            <a:ext cx="3800475" cy="2047875"/>
          </a:xfrm>
          <a:prstGeom prst="rect">
            <a:avLst/>
          </a:prstGeom>
        </p:spPr>
      </p:pic>
      <p:sp>
        <p:nvSpPr>
          <p:cNvPr id="31" name="Wave 30">
            <a:extLst>
              <a:ext uri="{FF2B5EF4-FFF2-40B4-BE49-F238E27FC236}">
                <a16:creationId xmlns:a16="http://schemas.microsoft.com/office/drawing/2014/main" id="{E0712210-10E0-403A-9463-9E11AE447B84}"/>
              </a:ext>
            </a:extLst>
          </p:cNvPr>
          <p:cNvSpPr/>
          <p:nvPr/>
        </p:nvSpPr>
        <p:spPr>
          <a:xfrm>
            <a:off x="355444" y="633845"/>
            <a:ext cx="3509976" cy="1984664"/>
          </a:xfrm>
          <a:prstGeom prst="wave">
            <a:avLst>
              <a:gd name="adj1" fmla="val 12500"/>
              <a:gd name="adj2" fmla="val 2606"/>
            </a:avLst>
          </a:prstGeom>
          <a:solidFill>
            <a:srgbClr val="FFFCD5"/>
          </a:solidFill>
          <a:ln>
            <a:solidFill>
              <a:srgbClr val="FFC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530E1F-9138-4BD7-8ED0-C93942A545DA}"/>
                  </a:ext>
                </a:extLst>
              </p:cNvPr>
              <p:cNvSpPr txBox="1"/>
              <p:nvPr/>
            </p:nvSpPr>
            <p:spPr>
              <a:xfrm>
                <a:off x="226115" y="222838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 charge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530E1F-9138-4BD7-8ED0-C93942A54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5" y="222838"/>
                <a:ext cx="6097656" cy="369332"/>
              </a:xfrm>
              <a:prstGeom prst="rect">
                <a:avLst/>
              </a:prstGeom>
              <a:blipFill>
                <a:blip r:embed="rId3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B19D869-6E10-4552-BF31-B7859EF41C5E}"/>
              </a:ext>
            </a:extLst>
          </p:cNvPr>
          <p:cNvSpPr txBox="1"/>
          <p:nvPr/>
        </p:nvSpPr>
        <p:spPr>
          <a:xfrm>
            <a:off x="665922" y="1023730"/>
            <a:ext cx="20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0C67C8-CBAA-4CB3-8D8C-F15F456F2927}"/>
              </a:ext>
            </a:extLst>
          </p:cNvPr>
          <p:cNvSpPr txBox="1"/>
          <p:nvPr/>
        </p:nvSpPr>
        <p:spPr>
          <a:xfrm>
            <a:off x="1379054" y="868881"/>
            <a:ext cx="320537" cy="37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6BE5A-2B8D-4258-827F-514D501F2C35}"/>
              </a:ext>
            </a:extLst>
          </p:cNvPr>
          <p:cNvSpPr txBox="1"/>
          <p:nvPr/>
        </p:nvSpPr>
        <p:spPr>
          <a:xfrm>
            <a:off x="3000940" y="1931465"/>
            <a:ext cx="28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CD7C3-5D13-41BB-831A-F29C6F05870D}"/>
              </a:ext>
            </a:extLst>
          </p:cNvPr>
          <p:cNvSpPr txBox="1"/>
          <p:nvPr/>
        </p:nvSpPr>
        <p:spPr>
          <a:xfrm>
            <a:off x="2740715" y="1286325"/>
            <a:ext cx="28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C6C5F7-FA89-46ED-8AF1-6E59615E3EFC}"/>
              </a:ext>
            </a:extLst>
          </p:cNvPr>
          <p:cNvSpPr txBox="1"/>
          <p:nvPr/>
        </p:nvSpPr>
        <p:spPr>
          <a:xfrm>
            <a:off x="1935645" y="1167054"/>
            <a:ext cx="31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820D1D-93B1-4459-9F80-E35A6319FAF6}"/>
              </a:ext>
            </a:extLst>
          </p:cNvPr>
          <p:cNvSpPr txBox="1"/>
          <p:nvPr/>
        </p:nvSpPr>
        <p:spPr>
          <a:xfrm>
            <a:off x="1687167" y="1753465"/>
            <a:ext cx="419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58097-05ED-48A8-BF3E-5A6B0CFD4336}"/>
              </a:ext>
            </a:extLst>
          </p:cNvPr>
          <p:cNvSpPr txBox="1"/>
          <p:nvPr/>
        </p:nvSpPr>
        <p:spPr>
          <a:xfrm>
            <a:off x="981489" y="1465230"/>
            <a:ext cx="390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76EDA-5E64-454A-AC77-B975061CA9F1}"/>
              </a:ext>
            </a:extLst>
          </p:cNvPr>
          <p:cNvSpPr txBox="1"/>
          <p:nvPr/>
        </p:nvSpPr>
        <p:spPr>
          <a:xfrm>
            <a:off x="2164245" y="1803160"/>
            <a:ext cx="449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F26440D-4156-48D2-98FD-A7D873E4E40E}"/>
              </a:ext>
            </a:extLst>
          </p:cNvPr>
          <p:cNvSpPr/>
          <p:nvPr/>
        </p:nvSpPr>
        <p:spPr>
          <a:xfrm>
            <a:off x="1789043" y="993913"/>
            <a:ext cx="109331" cy="1192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FB6C28-AB1E-4C13-BDEB-3943750D0934}"/>
              </a:ext>
            </a:extLst>
          </p:cNvPr>
          <p:cNvCxnSpPr>
            <a:stCxn id="27" idx="1"/>
          </p:cNvCxnSpPr>
          <p:nvPr/>
        </p:nvCxnSpPr>
        <p:spPr>
          <a:xfrm>
            <a:off x="1789043" y="1053548"/>
            <a:ext cx="3747053" cy="95415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4245C0F9-CA4C-4636-BA1B-18E8083BB5F0}"/>
              </a:ext>
            </a:extLst>
          </p:cNvPr>
          <p:cNvSpPr/>
          <p:nvPr/>
        </p:nvSpPr>
        <p:spPr>
          <a:xfrm>
            <a:off x="5516217" y="1987826"/>
            <a:ext cx="45719" cy="496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F86528-3457-412D-A529-2D34F0F05F61}"/>
              </a:ext>
            </a:extLst>
          </p:cNvPr>
          <p:cNvCxnSpPr>
            <a:cxnSpLocks/>
          </p:cNvCxnSpPr>
          <p:nvPr/>
        </p:nvCxnSpPr>
        <p:spPr>
          <a:xfrm>
            <a:off x="5555241" y="2014982"/>
            <a:ext cx="507629" cy="111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357196-E6D2-4E21-A960-F80627CFBE6D}"/>
                  </a:ext>
                </a:extLst>
              </p:cNvPr>
              <p:cNvSpPr txBox="1"/>
              <p:nvPr/>
            </p:nvSpPr>
            <p:spPr>
              <a:xfrm>
                <a:off x="5553488" y="880118"/>
                <a:ext cx="2725807" cy="1167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357196-E6D2-4E21-A960-F80627CFB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488" y="880118"/>
                <a:ext cx="2725807" cy="1167243"/>
              </a:xfrm>
              <a:prstGeom prst="rect">
                <a:avLst/>
              </a:prstGeom>
              <a:blipFill>
                <a:blip r:embed="rId4"/>
                <a:stretch>
                  <a:fillRect l="-1790" b="-2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F41CE8B-39A6-4DF7-B0FA-CEA1AF757460}"/>
              </a:ext>
            </a:extLst>
          </p:cNvPr>
          <p:cNvSpPr txBox="1"/>
          <p:nvPr/>
        </p:nvSpPr>
        <p:spPr>
          <a:xfrm>
            <a:off x="3684932" y="1206812"/>
            <a:ext cx="28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1E1207-43E0-4010-A607-6BA935F09A89}"/>
                  </a:ext>
                </a:extLst>
              </p:cNvPr>
              <p:cNvSpPr txBox="1"/>
              <p:nvPr/>
            </p:nvSpPr>
            <p:spPr>
              <a:xfrm>
                <a:off x="5554844" y="2061126"/>
                <a:ext cx="5391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b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1E1207-43E0-4010-A607-6BA935F09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844" y="2061126"/>
                <a:ext cx="539198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C4B6C5F-FDFD-40C9-9F14-C83B21065A6F}"/>
                  </a:ext>
                </a:extLst>
              </p:cNvPr>
              <p:cNvSpPr txBox="1"/>
              <p:nvPr/>
            </p:nvSpPr>
            <p:spPr>
              <a:xfrm>
                <a:off x="1867427" y="759552"/>
                <a:ext cx="11355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IN" sz="1400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ds </a:t>
                </a:r>
                <a:endParaRPr lang="en-IN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C4B6C5F-FDFD-40C9-9F14-C83B21065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427" y="759552"/>
                <a:ext cx="1135545" cy="307777"/>
              </a:xfrm>
              <a:prstGeom prst="rect">
                <a:avLst/>
              </a:prstGeom>
              <a:blipFill>
                <a:blip r:embed="rId7"/>
                <a:stretch>
                  <a:fillRect l="-1604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EBC9A80-6797-4769-B0AD-71ECB62EA52E}"/>
                  </a:ext>
                </a:extLst>
              </p:cNvPr>
              <p:cNvSpPr txBox="1"/>
              <p:nvPr/>
            </p:nvSpPr>
            <p:spPr>
              <a:xfrm>
                <a:off x="3048828" y="3189287"/>
                <a:ext cx="6097656" cy="4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field ,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=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GB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EBC9A80-6797-4769-B0AD-71ECB62EA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828" y="3189287"/>
                <a:ext cx="6097656" cy="412164"/>
              </a:xfrm>
              <a:prstGeom prst="rect">
                <a:avLst/>
              </a:prstGeom>
              <a:blipFill>
                <a:blip r:embed="rId8"/>
                <a:stretch>
                  <a:fillRect l="-80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586145-5D27-4F2F-A42C-7E994975C1BF}"/>
                  </a:ext>
                </a:extLst>
              </p:cNvPr>
              <p:cNvSpPr txBox="1"/>
              <p:nvPr/>
            </p:nvSpPr>
            <p:spPr>
              <a:xfrm>
                <a:off x="156541" y="3761169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Volume charge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586145-5D27-4F2F-A42C-7E994975C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1" y="3761169"/>
                <a:ext cx="6097656" cy="369332"/>
              </a:xfrm>
              <a:prstGeom prst="rect">
                <a:avLst/>
              </a:prstGeom>
              <a:blipFill>
                <a:blip r:embed="rId9"/>
                <a:stretch>
                  <a:fillRect l="-900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44A210-E9DD-48AE-92DA-F835347B18AC}"/>
              </a:ext>
            </a:extLst>
          </p:cNvPr>
          <p:cNvCxnSpPr>
            <a:cxnSpLocks/>
          </p:cNvCxnSpPr>
          <p:nvPr/>
        </p:nvCxnSpPr>
        <p:spPr>
          <a:xfrm>
            <a:off x="2518214" y="5091998"/>
            <a:ext cx="1575804" cy="674957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A95016B7-EAA3-424B-A024-768905BE6D7E}"/>
              </a:ext>
            </a:extLst>
          </p:cNvPr>
          <p:cNvSpPr/>
          <p:nvPr/>
        </p:nvSpPr>
        <p:spPr>
          <a:xfrm>
            <a:off x="4144618" y="575475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E72D36A-16E4-45AC-B3CE-EDB785D8D87D}"/>
              </a:ext>
            </a:extLst>
          </p:cNvPr>
          <p:cNvCxnSpPr>
            <a:cxnSpLocks/>
          </p:cNvCxnSpPr>
          <p:nvPr/>
        </p:nvCxnSpPr>
        <p:spPr>
          <a:xfrm>
            <a:off x="4221509" y="5808338"/>
            <a:ext cx="444009" cy="166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AF0C60D-D615-4D6B-B6F2-6DB65F2C8B4D}"/>
              </a:ext>
            </a:extLst>
          </p:cNvPr>
          <p:cNvSpPr txBox="1"/>
          <p:nvPr/>
        </p:nvSpPr>
        <p:spPr>
          <a:xfrm>
            <a:off x="3675897" y="5257008"/>
            <a:ext cx="470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77CC0B4-96C1-4C90-AC5F-5529BFF28E02}"/>
                  </a:ext>
                </a:extLst>
              </p:cNvPr>
              <p:cNvSpPr txBox="1"/>
              <p:nvPr/>
            </p:nvSpPr>
            <p:spPr>
              <a:xfrm>
                <a:off x="4076625" y="5874589"/>
                <a:ext cx="658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b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77CC0B4-96C1-4C90-AC5F-5529BFF28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25" y="5874589"/>
                <a:ext cx="658468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9B9E41-26D3-4FB4-9CCF-4D93A84546E7}"/>
                  </a:ext>
                </a:extLst>
              </p:cNvPr>
              <p:cNvSpPr txBox="1"/>
              <p:nvPr/>
            </p:nvSpPr>
            <p:spPr>
              <a:xfrm>
                <a:off x="4917385" y="4353844"/>
                <a:ext cx="6097656" cy="1167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GB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GB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9B9E41-26D3-4FB4-9CCF-4D93A845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85" y="4353844"/>
                <a:ext cx="6097656" cy="1167243"/>
              </a:xfrm>
              <a:prstGeom prst="rect">
                <a:avLst/>
              </a:prstGeom>
              <a:blipFill>
                <a:blip r:embed="rId11"/>
                <a:stretch>
                  <a:fillRect l="-900" b="-2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6BC29A7-898E-42BA-AF3F-7DEC5DBFB26C}"/>
                  </a:ext>
                </a:extLst>
              </p:cNvPr>
              <p:cNvSpPr txBox="1"/>
              <p:nvPr/>
            </p:nvSpPr>
            <p:spPr>
              <a:xfrm>
                <a:off x="5142348" y="5961270"/>
                <a:ext cx="6097656" cy="4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field ,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=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subHide m:val="on"/>
                        <m:supHide m:val="on"/>
                        <m:ctrlPr>
                          <a:rPr lang="en-GB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6BC29A7-898E-42BA-AF3F-7DEC5DBFB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348" y="5961270"/>
                <a:ext cx="6097656" cy="412164"/>
              </a:xfrm>
              <a:prstGeom prst="rect">
                <a:avLst/>
              </a:prstGeom>
              <a:blipFill>
                <a:blip r:embed="rId13"/>
                <a:stretch>
                  <a:fillRect l="-90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4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1" animBg="1"/>
      <p:bldP spid="3" grpId="0"/>
      <p:bldP spid="10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7" grpId="0" animBg="1"/>
      <p:bldP spid="30" grpId="0" animBg="1"/>
      <p:bldP spid="34" grpId="0"/>
      <p:bldP spid="36" grpId="0"/>
      <p:bldP spid="38" grpId="0"/>
      <p:bldP spid="40" grpId="0"/>
      <p:bldP spid="42" grpId="0"/>
      <p:bldP spid="45" grpId="0"/>
      <p:bldP spid="56" grpId="0" animBg="1"/>
      <p:bldP spid="61" grpId="0"/>
      <p:bldP spid="63" grpId="0"/>
      <p:bldP spid="65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046C6-F6DB-4D00-8767-2AE4EB464AED}"/>
              </a:ext>
            </a:extLst>
          </p:cNvPr>
          <p:cNvSpPr txBox="1"/>
          <p:nvPr/>
        </p:nvSpPr>
        <p:spPr>
          <a:xfrm>
            <a:off x="247429" y="17686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Line Charge : Field Calculation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3C0BC-DED8-4766-87F6-C344D906DA68}"/>
              </a:ext>
            </a:extLst>
          </p:cNvPr>
          <p:cNvSpPr txBox="1"/>
          <p:nvPr/>
        </p:nvSpPr>
        <p:spPr>
          <a:xfrm>
            <a:off x="4785674" y="426859"/>
            <a:ext cx="6469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 an infinite line charge is placed along the z-axis as shown. calculate the E field due to the line charge at any general point 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801A4-44A5-46B3-9190-E4992B60B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31" y="546192"/>
            <a:ext cx="5895343" cy="55905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67D85E-B1E1-4280-B1BD-1431602D163F}"/>
              </a:ext>
            </a:extLst>
          </p:cNvPr>
          <p:cNvSpPr txBox="1"/>
          <p:nvPr/>
        </p:nvSpPr>
        <p:spPr>
          <a:xfrm>
            <a:off x="4688732" y="4572000"/>
            <a:ext cx="7217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calculate the E field due to the line charge at any general point P</a:t>
            </a:r>
          </a:p>
          <a:p>
            <a:endParaRPr lang="en-GB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Chose the right coordinate system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Analyse the symmetry then identify the general point to calculate the field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Take differential element &amp; calculate the differential field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Integrate to get the total field.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01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F71990-986F-4DC2-AC2D-B78FC0E0A35E}"/>
                  </a:ext>
                </a:extLst>
              </p:cNvPr>
              <p:cNvSpPr txBox="1"/>
              <p:nvPr/>
            </p:nvSpPr>
            <p:spPr>
              <a:xfrm>
                <a:off x="678730" y="622169"/>
                <a:ext cx="105203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GB" sz="2000" dirty="0">
                    <a:latin typeface="+mj-lt"/>
                  </a:rPr>
                  <a:t>The coordinate system – </a:t>
                </a:r>
                <a:r>
                  <a:rPr lang="en-GB" sz="2000" dirty="0">
                    <a:solidFill>
                      <a:srgbClr val="FF0000"/>
                    </a:solidFill>
                    <a:latin typeface="+mj-lt"/>
                  </a:rPr>
                  <a:t>Cylindrical</a:t>
                </a:r>
              </a:p>
              <a:p>
                <a:pPr marL="342900" indent="-342900">
                  <a:buAutoNum type="arabicPeriod"/>
                </a:pPr>
                <a:r>
                  <a:rPr lang="en-GB" sz="2000" dirty="0">
                    <a:latin typeface="+mj-lt"/>
                  </a:rPr>
                  <a:t>Symmetry : </a:t>
                </a:r>
                <a:r>
                  <a:rPr lang="en-GB" sz="2000" dirty="0">
                    <a:solidFill>
                      <a:srgbClr val="FF0000"/>
                    </a:solidFill>
                    <a:latin typeface="+mj-lt"/>
                  </a:rPr>
                  <a:t>Filed does not vary with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GB" sz="2000" dirty="0">
                    <a:solidFill>
                      <a:srgbClr val="FF0000"/>
                    </a:solidFill>
                    <a:latin typeface="+mj-lt"/>
                  </a:rPr>
                  <a:t> &amp; z coordinates </a:t>
                </a:r>
                <a:r>
                  <a:rPr lang="en-GB" sz="2000" dirty="0">
                    <a:latin typeface="+mj-lt"/>
                  </a:rPr>
                  <a:t>BUT </a:t>
                </a:r>
                <a:r>
                  <a:rPr lang="en-GB" sz="2000" dirty="0">
                    <a:solidFill>
                      <a:srgbClr val="FF0000"/>
                    </a:solidFill>
                    <a:latin typeface="+mj-lt"/>
                  </a:rPr>
                  <a:t>varies with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20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endParaRPr lang="en-GB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F71990-986F-4DC2-AC2D-B78FC0E0A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30" y="622169"/>
                <a:ext cx="10520313" cy="707886"/>
              </a:xfrm>
              <a:prstGeom prst="rect">
                <a:avLst/>
              </a:prstGeom>
              <a:blipFill>
                <a:blip r:embed="rId2"/>
                <a:stretch>
                  <a:fillRect l="-463" t="-4310" b="-14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40CCA5-1A9A-455B-B958-307D9507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679" y="1769671"/>
            <a:ext cx="5605834" cy="446616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0437126-769E-4A83-8538-E8B13C9028CB}"/>
              </a:ext>
            </a:extLst>
          </p:cNvPr>
          <p:cNvSpPr/>
          <p:nvPr/>
        </p:nvSpPr>
        <p:spPr>
          <a:xfrm>
            <a:off x="2879680" y="3833812"/>
            <a:ext cx="3559220" cy="466725"/>
          </a:xfrm>
          <a:prstGeom prst="ellipse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6F7515-FC3B-49B9-BF55-D7F2314C91E9}"/>
                  </a:ext>
                </a:extLst>
              </p:cNvPr>
              <p:cNvSpPr txBox="1"/>
              <p:nvPr/>
            </p:nvSpPr>
            <p:spPr>
              <a:xfrm>
                <a:off x="181803" y="3353665"/>
                <a:ext cx="448461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 of the source does not vary</a:t>
                </a:r>
              </a:p>
              <a:p>
                <a:r>
                  <a:rPr lang="en-GB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is independent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endParaRPr lang="en-GB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6F7515-FC3B-49B9-BF55-D7F2314C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03" y="3353665"/>
                <a:ext cx="4484613" cy="923330"/>
              </a:xfrm>
              <a:prstGeom prst="rect">
                <a:avLst/>
              </a:prstGeom>
              <a:blipFill>
                <a:blip r:embed="rId4"/>
                <a:stretch>
                  <a:fillRect l="-1224" t="-3289" r="-680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1AD785-2E96-4438-8E3D-156647855CFF}"/>
              </a:ext>
            </a:extLst>
          </p:cNvPr>
          <p:cNvCxnSpPr>
            <a:cxnSpLocks/>
          </p:cNvCxnSpPr>
          <p:nvPr/>
        </p:nvCxnSpPr>
        <p:spPr>
          <a:xfrm flipV="1">
            <a:off x="6438900" y="2981740"/>
            <a:ext cx="0" cy="204746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578F8D-39EE-4BB0-ABBC-EC205B6DFE59}"/>
              </a:ext>
            </a:extLst>
          </p:cNvPr>
          <p:cNvSpPr txBox="1"/>
          <p:nvPr/>
        </p:nvSpPr>
        <p:spPr>
          <a:xfrm>
            <a:off x="5854146" y="2295940"/>
            <a:ext cx="588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 direction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the source does not vary </a:t>
            </a:r>
            <a:r>
              <a:rPr lang="en-GB" i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GB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filed is independent of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GB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z=0</a:t>
            </a:r>
            <a:endParaRPr lang="en-GB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53F91D-5547-47B4-B409-792C35C0CC1A}"/>
                  </a:ext>
                </a:extLst>
              </p:cNvPr>
              <p:cNvSpPr txBox="1"/>
              <p:nvPr/>
            </p:nvSpPr>
            <p:spPr>
              <a:xfrm>
                <a:off x="7703240" y="4326116"/>
                <a:ext cx="43414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direction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GB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 of the source decays </a:t>
                </a:r>
                <a:r>
                  <a:rPr lang="en-GB" i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GB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r>
                  <a:rPr lang="en-GB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en-GB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is varying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endParaRPr lang="en-GB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53F91D-5547-47B4-B409-792C35C0C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240" y="4326116"/>
                <a:ext cx="4341492" cy="646331"/>
              </a:xfrm>
              <a:prstGeom prst="rect">
                <a:avLst/>
              </a:prstGeom>
              <a:blipFill>
                <a:blip r:embed="rId5"/>
                <a:stretch>
                  <a:fillRect t="-5660" r="-14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E83447A-0E1D-48BC-BED0-19AF40938261}"/>
              </a:ext>
            </a:extLst>
          </p:cNvPr>
          <p:cNvSpPr txBox="1"/>
          <p:nvPr/>
        </p:nvSpPr>
        <p:spPr>
          <a:xfrm>
            <a:off x="352425" y="276225"/>
            <a:ext cx="360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Solution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0EABFB-3E27-4458-A352-F3233726795C}"/>
                  </a:ext>
                </a:extLst>
              </p:cNvPr>
              <p:cNvSpPr txBox="1"/>
              <p:nvPr/>
            </p:nvSpPr>
            <p:spPr>
              <a:xfrm>
                <a:off x="1341782" y="6226723"/>
                <a:ext cx="96707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>
                    <a:latin typeface="+mj-lt"/>
                  </a:rPr>
                  <a:t>So the general point to calculate the field can be taken as  </a:t>
                </a:r>
                <a:r>
                  <a:rPr lang="en-GB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/2,0) </a:t>
                </a:r>
                <a:r>
                  <a:rPr lang="en-GB" sz="2000" dirty="0">
                    <a:latin typeface="+mj-lt"/>
                    <a:cs typeface="Times New Roman" panose="02020603050405020304" pitchFamily="18" charset="0"/>
                  </a:rPr>
                  <a:t>instead of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GB" sz="2000" dirty="0">
                    <a:latin typeface="+mj-lt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</m:oMath>
                </a14:m>
                <a:r>
                  <a:rPr lang="en-GB" sz="2000" dirty="0">
                    <a:latin typeface="+mj-lt"/>
                    <a:cs typeface="Times New Roman" panose="02020603050405020304" pitchFamily="18" charset="0"/>
                  </a:rPr>
                  <a:t>,z)</a:t>
                </a:r>
                <a:endParaRPr lang="en-IN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0EABFB-3E27-4458-A352-F3233726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82" y="6226723"/>
                <a:ext cx="9670774" cy="400110"/>
              </a:xfrm>
              <a:prstGeom prst="rect">
                <a:avLst/>
              </a:prstGeom>
              <a:blipFill>
                <a:blip r:embed="rId6"/>
                <a:stretch>
                  <a:fillRect l="-630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1E6791-F07B-4CC8-AB7C-8F2633FB2FA0}"/>
              </a:ext>
            </a:extLst>
          </p:cNvPr>
          <p:cNvCxnSpPr/>
          <p:nvPr/>
        </p:nvCxnSpPr>
        <p:spPr>
          <a:xfrm>
            <a:off x="7633252" y="4094922"/>
            <a:ext cx="364766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24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3" grpId="0"/>
      <p:bldP spid="14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A0A99-3797-468B-ABAD-BA40642BE1DA}"/>
              </a:ext>
            </a:extLst>
          </p:cNvPr>
          <p:cNvCxnSpPr/>
          <p:nvPr/>
        </p:nvCxnSpPr>
        <p:spPr>
          <a:xfrm flipV="1">
            <a:off x="6096000" y="631596"/>
            <a:ext cx="0" cy="27974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CC12B6-CD60-4FBD-94DB-6B6D8A52F544}"/>
              </a:ext>
            </a:extLst>
          </p:cNvPr>
          <p:cNvCxnSpPr/>
          <p:nvPr/>
        </p:nvCxnSpPr>
        <p:spPr>
          <a:xfrm>
            <a:off x="6096000" y="3429000"/>
            <a:ext cx="32271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C14015-9E04-4631-A6FC-96DC9C9080CB}"/>
              </a:ext>
            </a:extLst>
          </p:cNvPr>
          <p:cNvCxnSpPr/>
          <p:nvPr/>
        </p:nvCxnSpPr>
        <p:spPr>
          <a:xfrm flipH="1">
            <a:off x="4223208" y="3429000"/>
            <a:ext cx="1872792" cy="1520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34B523-960F-48F5-9F6B-BCA9F4E7A109}"/>
              </a:ext>
            </a:extLst>
          </p:cNvPr>
          <p:cNvSpPr txBox="1"/>
          <p:nvPr/>
        </p:nvSpPr>
        <p:spPr>
          <a:xfrm>
            <a:off x="5958154" y="305293"/>
            <a:ext cx="86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CC25D-2163-439A-8A32-4CAEF075C92B}"/>
              </a:ext>
            </a:extLst>
          </p:cNvPr>
          <p:cNvSpPr txBox="1"/>
          <p:nvPr/>
        </p:nvSpPr>
        <p:spPr>
          <a:xfrm>
            <a:off x="3933338" y="4579741"/>
            <a:ext cx="289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59B055-DEF7-432A-A8FA-482C04843EE2}"/>
              </a:ext>
            </a:extLst>
          </p:cNvPr>
          <p:cNvSpPr txBox="1"/>
          <p:nvPr/>
        </p:nvSpPr>
        <p:spPr>
          <a:xfrm>
            <a:off x="9323109" y="3244334"/>
            <a:ext cx="3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1BE205-F743-469B-A40E-517DFF0FBD82}"/>
              </a:ext>
            </a:extLst>
          </p:cNvPr>
          <p:cNvCxnSpPr>
            <a:cxnSpLocks/>
          </p:cNvCxnSpPr>
          <p:nvPr/>
        </p:nvCxnSpPr>
        <p:spPr>
          <a:xfrm>
            <a:off x="6096000" y="816262"/>
            <a:ext cx="0" cy="531116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EC8DD5-9528-476A-A624-0B93616002EA}"/>
                  </a:ext>
                </a:extLst>
              </p:cNvPr>
              <p:cNvSpPr txBox="1"/>
              <p:nvPr/>
            </p:nvSpPr>
            <p:spPr>
              <a:xfrm>
                <a:off x="6141719" y="1964149"/>
                <a:ext cx="250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EC8DD5-9528-476A-A624-0B9361600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719" y="1964149"/>
                <a:ext cx="250068" cy="276999"/>
              </a:xfrm>
              <a:prstGeom prst="rect">
                <a:avLst/>
              </a:prstGeom>
              <a:blipFill>
                <a:blip r:embed="rId2"/>
                <a:stretch>
                  <a:fillRect l="-21429" r="-4762" b="-23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7D73FB95-1FE4-4CB7-B0FE-D51EB90C419A}"/>
              </a:ext>
            </a:extLst>
          </p:cNvPr>
          <p:cNvSpPr/>
          <p:nvPr/>
        </p:nvSpPr>
        <p:spPr>
          <a:xfrm>
            <a:off x="8330070" y="340614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94CF68-333D-4811-97FD-9B1CB2124AA2}"/>
                  </a:ext>
                </a:extLst>
              </p:cNvPr>
              <p:cNvSpPr txBox="1"/>
              <p:nvPr/>
            </p:nvSpPr>
            <p:spPr>
              <a:xfrm>
                <a:off x="8146402" y="2946289"/>
                <a:ext cx="2750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/2,0)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94CF68-333D-4811-97FD-9B1CB212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402" y="2946289"/>
                <a:ext cx="2750983" cy="369332"/>
              </a:xfrm>
              <a:prstGeom prst="rect">
                <a:avLst/>
              </a:prstGeom>
              <a:blipFill>
                <a:blip r:embed="rId3"/>
                <a:stretch>
                  <a:fillRect l="-1770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ylinder 33">
            <a:extLst>
              <a:ext uri="{FF2B5EF4-FFF2-40B4-BE49-F238E27FC236}">
                <a16:creationId xmlns:a16="http://schemas.microsoft.com/office/drawing/2014/main" id="{33E6E686-FF42-49B0-8A6D-53205673884D}"/>
              </a:ext>
            </a:extLst>
          </p:cNvPr>
          <p:cNvSpPr/>
          <p:nvPr/>
        </p:nvSpPr>
        <p:spPr>
          <a:xfrm>
            <a:off x="6096000" y="1000928"/>
            <a:ext cx="45719" cy="27699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C7D25A7-495C-4776-8F96-961207411ECB}"/>
                  </a:ext>
                </a:extLst>
              </p:cNvPr>
              <p:cNvSpPr txBox="1"/>
              <p:nvPr/>
            </p:nvSpPr>
            <p:spPr>
              <a:xfrm>
                <a:off x="2411592" y="690790"/>
                <a:ext cx="21695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dz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(along z-direction)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C7D25A7-495C-4776-8F96-96120741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592" y="690790"/>
                <a:ext cx="2169548" cy="923330"/>
              </a:xfrm>
              <a:prstGeom prst="rect">
                <a:avLst/>
              </a:prstGeom>
              <a:blipFill>
                <a:blip r:embed="rId4"/>
                <a:stretch>
                  <a:fillRect l="-2535" t="-3289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658CB649-7D5B-49D7-9854-73560ADA42C9}"/>
              </a:ext>
            </a:extLst>
          </p:cNvPr>
          <p:cNvSpPr txBox="1"/>
          <p:nvPr/>
        </p:nvSpPr>
        <p:spPr>
          <a:xfrm>
            <a:off x="6141719" y="971982"/>
            <a:ext cx="228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M(0,0,z)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AA9FFB-C004-4D1E-9140-2D2B75CDAF0B}"/>
              </a:ext>
            </a:extLst>
          </p:cNvPr>
          <p:cNvCxnSpPr>
            <a:stCxn id="28" idx="7"/>
          </p:cNvCxnSpPr>
          <p:nvPr/>
        </p:nvCxnSpPr>
        <p:spPr>
          <a:xfrm>
            <a:off x="8369094" y="3412835"/>
            <a:ext cx="558090" cy="518142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CFC18B-2BD5-4B15-A356-A5677801B88F}"/>
                  </a:ext>
                </a:extLst>
              </p:cNvPr>
              <p:cNvSpPr txBox="1"/>
              <p:nvPr/>
            </p:nvSpPr>
            <p:spPr>
              <a:xfrm>
                <a:off x="7390410" y="4214602"/>
                <a:ext cx="25546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) </m:t>
                    </m:r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CFC18B-2BD5-4B15-A356-A5677801B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410" y="4214602"/>
                <a:ext cx="2554664" cy="369332"/>
              </a:xfrm>
              <a:prstGeom prst="rect">
                <a:avLst/>
              </a:prstGeom>
              <a:blipFill>
                <a:blip r:embed="rId5"/>
                <a:stretch>
                  <a:fillRect l="-190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BBDF9FB-6F8E-4B2D-8B93-95D5781278A3}"/>
                  </a:ext>
                </a:extLst>
              </p:cNvPr>
              <p:cNvSpPr txBox="1"/>
              <p:nvPr/>
            </p:nvSpPr>
            <p:spPr>
              <a:xfrm>
                <a:off x="8753764" y="4793604"/>
                <a:ext cx="19247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BBDF9FB-6F8E-4B2D-8B93-95D578127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764" y="4793604"/>
                <a:ext cx="1924747" cy="369332"/>
              </a:xfrm>
              <a:prstGeom prst="rect">
                <a:avLst/>
              </a:prstGeom>
              <a:blipFill>
                <a:blip r:embed="rId6"/>
                <a:stretch>
                  <a:fillRect l="-284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CCF1A27-F4CD-416F-867E-B0E180AD7669}"/>
                  </a:ext>
                </a:extLst>
              </p:cNvPr>
              <p:cNvSpPr txBox="1"/>
              <p:nvPr/>
            </p:nvSpPr>
            <p:spPr>
              <a:xfrm>
                <a:off x="8829048" y="3499613"/>
                <a:ext cx="3998373" cy="394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R/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 =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z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/ R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CCF1A27-F4CD-416F-867E-B0E180AD7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048" y="3499613"/>
                <a:ext cx="3998373" cy="394019"/>
              </a:xfrm>
              <a:prstGeom prst="rect">
                <a:avLst/>
              </a:prstGeom>
              <a:blipFill>
                <a:blip r:embed="rId7"/>
                <a:stretch>
                  <a:fillRect t="-7692"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78A1C06-E679-4CF1-B0FD-2585B60A2223}"/>
              </a:ext>
            </a:extLst>
          </p:cNvPr>
          <p:cNvSpPr txBox="1"/>
          <p:nvPr/>
        </p:nvSpPr>
        <p:spPr>
          <a:xfrm>
            <a:off x="329938" y="145037"/>
            <a:ext cx="810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Taking the differential element &amp; Calculating the differential field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BBDAB8-F09B-42AD-AB0C-46CD79EF4EE3}"/>
              </a:ext>
            </a:extLst>
          </p:cNvPr>
          <p:cNvSpPr txBox="1"/>
          <p:nvPr/>
        </p:nvSpPr>
        <p:spPr>
          <a:xfrm>
            <a:off x="7565771" y="2166606"/>
            <a:ext cx="151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OP – OM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9F2B6D-63F1-49BF-BB8B-E72DE6D18C74}"/>
              </a:ext>
            </a:extLst>
          </p:cNvPr>
          <p:cNvSpPr txBox="1"/>
          <p:nvPr/>
        </p:nvSpPr>
        <p:spPr>
          <a:xfrm>
            <a:off x="5771702" y="3219924"/>
            <a:ext cx="25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89CDA7-DBB6-42DD-9667-C4EFD124C1A4}"/>
              </a:ext>
            </a:extLst>
          </p:cNvPr>
          <p:cNvSpPr/>
          <p:nvPr/>
        </p:nvSpPr>
        <p:spPr>
          <a:xfrm flipV="1">
            <a:off x="6072809" y="112709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D609425-93B1-B8D4-81E2-AB3ED13F5DA5}"/>
              </a:ext>
            </a:extLst>
          </p:cNvPr>
          <p:cNvCxnSpPr>
            <a:cxnSpLocks/>
          </p:cNvCxnSpPr>
          <p:nvPr/>
        </p:nvCxnSpPr>
        <p:spPr>
          <a:xfrm>
            <a:off x="6085489" y="1093074"/>
            <a:ext cx="2249214" cy="2301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7FC451-2246-9FF2-8C56-2C5977FE26C3}"/>
              </a:ext>
            </a:extLst>
          </p:cNvPr>
          <p:cNvSpPr txBox="1"/>
          <p:nvPr/>
        </p:nvSpPr>
        <p:spPr>
          <a:xfrm>
            <a:off x="7308144" y="2125617"/>
            <a:ext cx="320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6E906-A8FC-DF78-45D7-CCF92B62B2D5}"/>
                  </a:ext>
                </a:extLst>
              </p:cNvPr>
              <p:cNvSpPr txBox="1"/>
              <p:nvPr/>
            </p:nvSpPr>
            <p:spPr>
              <a:xfrm>
                <a:off x="8820150" y="2161351"/>
                <a:ext cx="3371850" cy="394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z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GB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6E906-A8FC-DF78-45D7-CCF92B62B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150" y="2161351"/>
                <a:ext cx="3371850" cy="394019"/>
              </a:xfrm>
              <a:prstGeom prst="rect">
                <a:avLst/>
              </a:prstGeom>
              <a:blipFill>
                <a:blip r:embed="rId8"/>
                <a:stretch>
                  <a:fillRect l="-1627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C38EC61-05A7-1437-4C96-26FC08B7D049}"/>
              </a:ext>
            </a:extLst>
          </p:cNvPr>
          <p:cNvSpPr txBox="1"/>
          <p:nvPr/>
        </p:nvSpPr>
        <p:spPr>
          <a:xfrm>
            <a:off x="9316068" y="5366418"/>
            <a:ext cx="134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dz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21A10A-63A7-20B3-72DF-654B81DF97E2}"/>
                  </a:ext>
                </a:extLst>
              </p:cNvPr>
              <p:cNvSpPr txBox="1"/>
              <p:nvPr/>
            </p:nvSpPr>
            <p:spPr>
              <a:xfrm>
                <a:off x="9394895" y="5876169"/>
                <a:ext cx="1819643" cy="38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R=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21A10A-63A7-20B3-72DF-654B81DF9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4895" y="5876169"/>
                <a:ext cx="1819643" cy="389979"/>
              </a:xfrm>
              <a:prstGeom prst="rect">
                <a:avLst/>
              </a:prstGeom>
              <a:blipFill>
                <a:blip r:embed="rId9"/>
                <a:stretch>
                  <a:fillRect l="-2676" t="-3125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9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4" grpId="0" animBg="1"/>
      <p:bldP spid="35" grpId="0"/>
      <p:bldP spid="48" grpId="0"/>
      <p:bldP spid="55" grpId="0"/>
      <p:bldP spid="56" grpId="0"/>
      <p:bldP spid="2" grpId="0" animBg="1"/>
      <p:bldP spid="8" grpId="0" build="allAtOnce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A0A99-3797-468B-ABAD-BA40642BE1DA}"/>
              </a:ext>
            </a:extLst>
          </p:cNvPr>
          <p:cNvCxnSpPr/>
          <p:nvPr/>
        </p:nvCxnSpPr>
        <p:spPr>
          <a:xfrm flipV="1">
            <a:off x="6096000" y="631596"/>
            <a:ext cx="0" cy="27974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CC12B6-CD60-4FBD-94DB-6B6D8A52F544}"/>
              </a:ext>
            </a:extLst>
          </p:cNvPr>
          <p:cNvCxnSpPr/>
          <p:nvPr/>
        </p:nvCxnSpPr>
        <p:spPr>
          <a:xfrm>
            <a:off x="6096000" y="3429000"/>
            <a:ext cx="32271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C14015-9E04-4631-A6FC-96DC9C9080CB}"/>
              </a:ext>
            </a:extLst>
          </p:cNvPr>
          <p:cNvCxnSpPr/>
          <p:nvPr/>
        </p:nvCxnSpPr>
        <p:spPr>
          <a:xfrm flipH="1">
            <a:off x="4223208" y="3429000"/>
            <a:ext cx="1872792" cy="1520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34B523-960F-48F5-9F6B-BCA9F4E7A109}"/>
              </a:ext>
            </a:extLst>
          </p:cNvPr>
          <p:cNvSpPr txBox="1"/>
          <p:nvPr/>
        </p:nvSpPr>
        <p:spPr>
          <a:xfrm>
            <a:off x="5958154" y="305293"/>
            <a:ext cx="86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CC25D-2163-439A-8A32-4CAEF075C92B}"/>
              </a:ext>
            </a:extLst>
          </p:cNvPr>
          <p:cNvSpPr txBox="1"/>
          <p:nvPr/>
        </p:nvSpPr>
        <p:spPr>
          <a:xfrm>
            <a:off x="3933338" y="4579741"/>
            <a:ext cx="289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59B055-DEF7-432A-A8FA-482C04843EE2}"/>
              </a:ext>
            </a:extLst>
          </p:cNvPr>
          <p:cNvSpPr txBox="1"/>
          <p:nvPr/>
        </p:nvSpPr>
        <p:spPr>
          <a:xfrm>
            <a:off x="9323109" y="3244334"/>
            <a:ext cx="3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1BE205-F743-469B-A40E-517DFF0FBD82}"/>
              </a:ext>
            </a:extLst>
          </p:cNvPr>
          <p:cNvCxnSpPr>
            <a:cxnSpLocks/>
          </p:cNvCxnSpPr>
          <p:nvPr/>
        </p:nvCxnSpPr>
        <p:spPr>
          <a:xfrm>
            <a:off x="6096000" y="816262"/>
            <a:ext cx="0" cy="531116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AC831AE-F3F5-4B06-B979-8A57EE1BEDC0}"/>
              </a:ext>
            </a:extLst>
          </p:cNvPr>
          <p:cNvSpPr/>
          <p:nvPr/>
        </p:nvSpPr>
        <p:spPr>
          <a:xfrm>
            <a:off x="6069998" y="8162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D6B898-5596-48AD-A3F6-12AEF05FDE1A}"/>
              </a:ext>
            </a:extLst>
          </p:cNvPr>
          <p:cNvSpPr/>
          <p:nvPr/>
        </p:nvSpPr>
        <p:spPr>
          <a:xfrm>
            <a:off x="6069998" y="608170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EC8DD5-9528-476A-A624-0B93616002EA}"/>
                  </a:ext>
                </a:extLst>
              </p:cNvPr>
              <p:cNvSpPr txBox="1"/>
              <p:nvPr/>
            </p:nvSpPr>
            <p:spPr>
              <a:xfrm>
                <a:off x="6141719" y="1964149"/>
                <a:ext cx="250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EC8DD5-9528-476A-A624-0B9361600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719" y="1964149"/>
                <a:ext cx="250068" cy="276999"/>
              </a:xfrm>
              <a:prstGeom prst="rect">
                <a:avLst/>
              </a:prstGeom>
              <a:blipFill>
                <a:blip r:embed="rId2"/>
                <a:stretch>
                  <a:fillRect l="-21429" r="-4762" b="-23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7D73FB95-1FE4-4CB7-B0FE-D51EB90C419A}"/>
              </a:ext>
            </a:extLst>
          </p:cNvPr>
          <p:cNvSpPr/>
          <p:nvPr/>
        </p:nvSpPr>
        <p:spPr>
          <a:xfrm>
            <a:off x="8330070" y="340614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94CF68-333D-4811-97FD-9B1CB2124AA2}"/>
                  </a:ext>
                </a:extLst>
              </p:cNvPr>
              <p:cNvSpPr txBox="1"/>
              <p:nvPr/>
            </p:nvSpPr>
            <p:spPr>
              <a:xfrm>
                <a:off x="8146402" y="2946289"/>
                <a:ext cx="2750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/2,0)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94CF68-333D-4811-97FD-9B1CB212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402" y="2946289"/>
                <a:ext cx="2750983" cy="369332"/>
              </a:xfrm>
              <a:prstGeom prst="rect">
                <a:avLst/>
              </a:prstGeom>
              <a:blipFill>
                <a:blip r:embed="rId3"/>
                <a:stretch>
                  <a:fillRect l="-1770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ylinder 33">
            <a:extLst>
              <a:ext uri="{FF2B5EF4-FFF2-40B4-BE49-F238E27FC236}">
                <a16:creationId xmlns:a16="http://schemas.microsoft.com/office/drawing/2014/main" id="{33E6E686-FF42-49B0-8A6D-53205673884D}"/>
              </a:ext>
            </a:extLst>
          </p:cNvPr>
          <p:cNvSpPr/>
          <p:nvPr/>
        </p:nvSpPr>
        <p:spPr>
          <a:xfrm>
            <a:off x="6096000" y="1000928"/>
            <a:ext cx="45719" cy="27699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C7D25A7-495C-4776-8F96-961207411ECB}"/>
                  </a:ext>
                </a:extLst>
              </p:cNvPr>
              <p:cNvSpPr txBox="1"/>
              <p:nvPr/>
            </p:nvSpPr>
            <p:spPr>
              <a:xfrm>
                <a:off x="4320704" y="690790"/>
                <a:ext cx="194604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dl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dz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C7D25A7-495C-4776-8F96-96120741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704" y="690790"/>
                <a:ext cx="1946049" cy="923330"/>
              </a:xfrm>
              <a:prstGeom prst="rect">
                <a:avLst/>
              </a:prstGeom>
              <a:blipFill>
                <a:blip r:embed="rId4"/>
                <a:stretch>
                  <a:fillRect l="-2821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658CB649-7D5B-49D7-9854-73560ADA42C9}"/>
              </a:ext>
            </a:extLst>
          </p:cNvPr>
          <p:cNvSpPr txBox="1"/>
          <p:nvPr/>
        </p:nvSpPr>
        <p:spPr>
          <a:xfrm>
            <a:off x="6115717" y="971982"/>
            <a:ext cx="228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M(0,0,z)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B89D985-EA1B-45F3-BDC4-500F9222A05A}"/>
              </a:ext>
            </a:extLst>
          </p:cNvPr>
          <p:cNvCxnSpPr>
            <a:cxnSpLocks/>
          </p:cNvCxnSpPr>
          <p:nvPr/>
        </p:nvCxnSpPr>
        <p:spPr>
          <a:xfrm>
            <a:off x="6154100" y="1202367"/>
            <a:ext cx="2237213" cy="224949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AA9FFB-C004-4D1E-9140-2D2B75CDAF0B}"/>
              </a:ext>
            </a:extLst>
          </p:cNvPr>
          <p:cNvCxnSpPr>
            <a:stCxn id="28" idx="7"/>
          </p:cNvCxnSpPr>
          <p:nvPr/>
        </p:nvCxnSpPr>
        <p:spPr>
          <a:xfrm>
            <a:off x="8369094" y="3412835"/>
            <a:ext cx="558090" cy="51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CFC18B-2BD5-4B15-A356-A5677801B88F}"/>
                  </a:ext>
                </a:extLst>
              </p:cNvPr>
              <p:cNvSpPr txBox="1"/>
              <p:nvPr/>
            </p:nvSpPr>
            <p:spPr>
              <a:xfrm>
                <a:off x="9040305" y="4015819"/>
                <a:ext cx="25546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 </m:t>
                    </m:r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CFC18B-2BD5-4B15-A356-A5677801B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0305" y="4015819"/>
                <a:ext cx="2554664" cy="369332"/>
              </a:xfrm>
              <a:prstGeom prst="rect">
                <a:avLst/>
              </a:prstGeom>
              <a:blipFill>
                <a:blip r:embed="rId5"/>
                <a:stretch>
                  <a:fillRect l="-2148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13ED91-9BF7-4DAF-BC48-9B9E130A7DAA}"/>
                  </a:ext>
                </a:extLst>
              </p:cNvPr>
              <p:cNvSpPr txBox="1"/>
              <p:nvPr/>
            </p:nvSpPr>
            <p:spPr>
              <a:xfrm>
                <a:off x="6825419" y="4694548"/>
                <a:ext cx="4279351" cy="1022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nary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sub>
                    </m:sSub>
                  </m:oMath>
                </a14:m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13ED91-9BF7-4DAF-BC48-9B9E130A7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419" y="4694548"/>
                <a:ext cx="4279351" cy="1022011"/>
              </a:xfrm>
              <a:prstGeom prst="rect">
                <a:avLst/>
              </a:prstGeom>
              <a:blipFill>
                <a:blip r:embed="rId6"/>
                <a:stretch>
                  <a:fillRect l="-1282" t="-50000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046A9FA-29EF-454C-BA94-7BECAD430768}"/>
              </a:ext>
            </a:extLst>
          </p:cNvPr>
          <p:cNvSpPr txBox="1"/>
          <p:nvPr/>
        </p:nvSpPr>
        <p:spPr>
          <a:xfrm>
            <a:off x="228600" y="136092"/>
            <a:ext cx="475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 Integrating to get the total field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51AC5-96D4-4D7D-A158-C1572B3E66EC}"/>
              </a:ext>
            </a:extLst>
          </p:cNvPr>
          <p:cNvSpPr txBox="1"/>
          <p:nvPr/>
        </p:nvSpPr>
        <p:spPr>
          <a:xfrm>
            <a:off x="5816726" y="3169669"/>
            <a:ext cx="364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1915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96C8DF-2F41-4854-840B-B838FC87068D}"/>
              </a:ext>
            </a:extLst>
          </p:cNvPr>
          <p:cNvCxnSpPr/>
          <p:nvPr/>
        </p:nvCxnSpPr>
        <p:spPr>
          <a:xfrm flipV="1">
            <a:off x="1677971" y="1018095"/>
            <a:ext cx="2337848" cy="22058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30711D-616D-4044-BDDF-60F3136A6AA8}"/>
              </a:ext>
            </a:extLst>
          </p:cNvPr>
          <p:cNvCxnSpPr>
            <a:cxnSpLocks/>
          </p:cNvCxnSpPr>
          <p:nvPr/>
        </p:nvCxnSpPr>
        <p:spPr>
          <a:xfrm>
            <a:off x="3129699" y="1866507"/>
            <a:ext cx="1206631" cy="8955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3517405-BD07-4A7B-8858-73FA88CEE2A7}"/>
              </a:ext>
            </a:extLst>
          </p:cNvPr>
          <p:cNvSpPr/>
          <p:nvPr/>
        </p:nvSpPr>
        <p:spPr>
          <a:xfrm>
            <a:off x="4336330" y="276205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73EAA2-0B18-47C2-82CA-3171AFEB8782}"/>
                  </a:ext>
                </a:extLst>
              </p:cNvPr>
              <p:cNvSpPr txBox="1"/>
              <p:nvPr/>
            </p:nvSpPr>
            <p:spPr>
              <a:xfrm>
                <a:off x="4609707" y="2498103"/>
                <a:ext cx="2950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73EAA2-0B18-47C2-82CA-3171AFEB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707" y="2498103"/>
                <a:ext cx="2950590" cy="369332"/>
              </a:xfrm>
              <a:prstGeom prst="rect">
                <a:avLst/>
              </a:prstGeom>
              <a:blipFill>
                <a:blip r:embed="rId2"/>
                <a:stretch>
                  <a:fillRect l="-1653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E25715-1106-4F6C-9FEE-15747CAF1C01}"/>
              </a:ext>
            </a:extLst>
          </p:cNvPr>
          <p:cNvCxnSpPr>
            <a:cxnSpLocks/>
          </p:cNvCxnSpPr>
          <p:nvPr/>
        </p:nvCxnSpPr>
        <p:spPr>
          <a:xfrm>
            <a:off x="4383464" y="2807773"/>
            <a:ext cx="375755" cy="276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9D6724-109F-483E-8B62-167D071CF5D9}"/>
              </a:ext>
            </a:extLst>
          </p:cNvPr>
          <p:cNvSpPr txBox="1"/>
          <p:nvPr/>
        </p:nvSpPr>
        <p:spPr>
          <a:xfrm>
            <a:off x="3648173" y="1941922"/>
            <a:ext cx="9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A8283D-6174-4760-8366-AA2D23552B8D}"/>
                  </a:ext>
                </a:extLst>
              </p:cNvPr>
              <p:cNvSpPr txBox="1"/>
              <p:nvPr/>
            </p:nvSpPr>
            <p:spPr>
              <a:xfrm>
                <a:off x="4290236" y="2899216"/>
                <a:ext cx="4689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b>
                          <m:r>
                            <a:rPr kumimoji="0" lang="en-GB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A8283D-6174-4760-8366-AA2D23552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36" y="2899216"/>
                <a:ext cx="4689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B743208-C9C3-4BAC-9748-4D21D6159F8F}"/>
              </a:ext>
            </a:extLst>
          </p:cNvPr>
          <p:cNvSpPr txBox="1"/>
          <p:nvPr/>
        </p:nvSpPr>
        <p:spPr>
          <a:xfrm>
            <a:off x="335266" y="247863"/>
            <a:ext cx="833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In general the field of Line charge is given as follows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86F282-1920-CAE8-A5A8-8BC5F6372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851245"/>
              </p:ext>
            </p:extLst>
          </p:nvPr>
        </p:nvGraphicFramePr>
        <p:xfrm>
          <a:off x="357353" y="5100808"/>
          <a:ext cx="11309131" cy="1173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09131">
                  <a:extLst>
                    <a:ext uri="{9D8B030D-6E8A-4147-A177-3AD203B41FA5}">
                      <a16:colId xmlns:a16="http://schemas.microsoft.com/office/drawing/2014/main" val="1991568241"/>
                    </a:ext>
                  </a:extLst>
                </a:gridCol>
              </a:tblGrid>
              <a:tr h="11738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Practice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: The line y = 1, z = -3 carries a charge density 30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nC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/m while the plane x = 1 carries charge density 20nC/m2. Estimate the electric field intensity at (0, 0, 0).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76200" marR="76200" marT="76200" marB="762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5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0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616B0-F25A-4E95-ABA3-D1629E1F5DD2}"/>
              </a:ext>
            </a:extLst>
          </p:cNvPr>
          <p:cNvCxnSpPr>
            <a:cxnSpLocks/>
          </p:cNvCxnSpPr>
          <p:nvPr/>
        </p:nvCxnSpPr>
        <p:spPr>
          <a:xfrm flipV="1">
            <a:off x="5983357" y="2524541"/>
            <a:ext cx="636104" cy="397563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F3FC8904-46D8-44A5-B3E8-56A84F226346}"/>
              </a:ext>
            </a:extLst>
          </p:cNvPr>
          <p:cNvSpPr/>
          <p:nvPr/>
        </p:nvSpPr>
        <p:spPr>
          <a:xfrm>
            <a:off x="5973417" y="2882348"/>
            <a:ext cx="45719" cy="4571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32B849-48CC-4DAE-A955-C9103DB15EA1}"/>
                  </a:ext>
                </a:extLst>
              </p:cNvPr>
              <p:cNvSpPr txBox="1"/>
              <p:nvPr/>
            </p:nvSpPr>
            <p:spPr>
              <a:xfrm>
                <a:off x="6460434" y="2415209"/>
                <a:ext cx="5764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32B849-48CC-4DAE-A955-C9103DB15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434" y="2415209"/>
                <a:ext cx="576470" cy="369332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F1D42A-3194-4A34-A37F-6804FFA7A9F3}"/>
              </a:ext>
            </a:extLst>
          </p:cNvPr>
          <p:cNvSpPr txBox="1"/>
          <p:nvPr/>
        </p:nvSpPr>
        <p:spPr>
          <a:xfrm>
            <a:off x="248479" y="178904"/>
            <a:ext cx="9263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+mj-lt"/>
              </a:rPr>
              <a:t>Infinite Sheet of Charge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27A945-EE31-4EE4-A880-A8C2654DDC3D}"/>
              </a:ext>
            </a:extLst>
          </p:cNvPr>
          <p:cNvCxnSpPr/>
          <p:nvPr/>
        </p:nvCxnSpPr>
        <p:spPr>
          <a:xfrm>
            <a:off x="4114800" y="3627783"/>
            <a:ext cx="48204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EE7C76-8896-442F-98AF-145EB4354090}"/>
              </a:ext>
            </a:extLst>
          </p:cNvPr>
          <p:cNvCxnSpPr/>
          <p:nvPr/>
        </p:nvCxnSpPr>
        <p:spPr>
          <a:xfrm flipV="1">
            <a:off x="4114800" y="427383"/>
            <a:ext cx="0" cy="3200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E6EF13-1929-4D3B-B5C0-238B2CCDB003}"/>
              </a:ext>
            </a:extLst>
          </p:cNvPr>
          <p:cNvSpPr txBox="1"/>
          <p:nvPr/>
        </p:nvSpPr>
        <p:spPr>
          <a:xfrm>
            <a:off x="1222513" y="4999383"/>
            <a:ext cx="3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C9316-22F2-4FE9-9431-D50FB6211E0A}"/>
              </a:ext>
            </a:extLst>
          </p:cNvPr>
          <p:cNvSpPr txBox="1"/>
          <p:nvPr/>
        </p:nvSpPr>
        <p:spPr>
          <a:xfrm>
            <a:off x="8968408" y="3392557"/>
            <a:ext cx="3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45851-EF3F-4BDD-91BD-A5A2E1B4C522}"/>
              </a:ext>
            </a:extLst>
          </p:cNvPr>
          <p:cNvSpPr txBox="1"/>
          <p:nvPr/>
        </p:nvSpPr>
        <p:spPr>
          <a:xfrm>
            <a:off x="3819938" y="341244"/>
            <a:ext cx="3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E3A819-6F16-4427-A70C-BEB9085B3BA2}"/>
                  </a:ext>
                </a:extLst>
              </p:cNvPr>
              <p:cNvSpPr txBox="1"/>
              <p:nvPr/>
            </p:nvSpPr>
            <p:spPr>
              <a:xfrm>
                <a:off x="7265505" y="1232452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E3A819-6F16-4427-A70C-BEB9085B3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505" y="1232452"/>
                <a:ext cx="685800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44D1CE7-CA77-49ED-A11D-5ECED33E1047}"/>
              </a:ext>
            </a:extLst>
          </p:cNvPr>
          <p:cNvSpPr txBox="1"/>
          <p:nvPr/>
        </p:nvSpPr>
        <p:spPr>
          <a:xfrm>
            <a:off x="2464904" y="1719470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D322B4-2985-4B7B-A09B-86164479DB28}"/>
              </a:ext>
            </a:extLst>
          </p:cNvPr>
          <p:cNvSpPr txBox="1"/>
          <p:nvPr/>
        </p:nvSpPr>
        <p:spPr>
          <a:xfrm>
            <a:off x="3114261" y="1742661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ED5C0-F44A-4D35-ADA0-8863494381FA}"/>
              </a:ext>
            </a:extLst>
          </p:cNvPr>
          <p:cNvSpPr txBox="1"/>
          <p:nvPr/>
        </p:nvSpPr>
        <p:spPr>
          <a:xfrm>
            <a:off x="3879573" y="1752600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85D746-4233-44DA-8345-ADA853DC6171}"/>
              </a:ext>
            </a:extLst>
          </p:cNvPr>
          <p:cNvSpPr txBox="1"/>
          <p:nvPr/>
        </p:nvSpPr>
        <p:spPr>
          <a:xfrm>
            <a:off x="4694582" y="1792357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986B2E-0217-4C92-9006-62B2179E87E1}"/>
              </a:ext>
            </a:extLst>
          </p:cNvPr>
          <p:cNvSpPr txBox="1"/>
          <p:nvPr/>
        </p:nvSpPr>
        <p:spPr>
          <a:xfrm>
            <a:off x="5469834" y="1792357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7572AA-9C40-41F2-BB39-59CEBC90D8CA}"/>
              </a:ext>
            </a:extLst>
          </p:cNvPr>
          <p:cNvSpPr txBox="1"/>
          <p:nvPr/>
        </p:nvSpPr>
        <p:spPr>
          <a:xfrm>
            <a:off x="6334539" y="1802296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EE1EA-B350-4966-B858-8EF29A88EBAB}"/>
              </a:ext>
            </a:extLst>
          </p:cNvPr>
          <p:cNvSpPr txBox="1"/>
          <p:nvPr/>
        </p:nvSpPr>
        <p:spPr>
          <a:xfrm>
            <a:off x="7288695" y="1832113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2DCDCC-AA01-4A1A-BCB7-FBE10242AABE}"/>
              </a:ext>
            </a:extLst>
          </p:cNvPr>
          <p:cNvSpPr txBox="1"/>
          <p:nvPr/>
        </p:nvSpPr>
        <p:spPr>
          <a:xfrm>
            <a:off x="2448338" y="2935357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1E17E6-CC9C-4A84-8C24-36ED97F678A8}"/>
              </a:ext>
            </a:extLst>
          </p:cNvPr>
          <p:cNvSpPr txBox="1"/>
          <p:nvPr/>
        </p:nvSpPr>
        <p:spPr>
          <a:xfrm>
            <a:off x="3114261" y="2925418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E19B40-F85A-4CD0-B306-9123D1BE4197}"/>
              </a:ext>
            </a:extLst>
          </p:cNvPr>
          <p:cNvSpPr txBox="1"/>
          <p:nvPr/>
        </p:nvSpPr>
        <p:spPr>
          <a:xfrm>
            <a:off x="3879573" y="2945296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A2F508-B0B4-4B0C-9496-D600B5D3CA20}"/>
              </a:ext>
            </a:extLst>
          </p:cNvPr>
          <p:cNvSpPr txBox="1"/>
          <p:nvPr/>
        </p:nvSpPr>
        <p:spPr>
          <a:xfrm>
            <a:off x="4684643" y="2975114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296488-9C5D-47A7-9D09-E1E2F12FB463}"/>
              </a:ext>
            </a:extLst>
          </p:cNvPr>
          <p:cNvSpPr txBox="1"/>
          <p:nvPr/>
        </p:nvSpPr>
        <p:spPr>
          <a:xfrm>
            <a:off x="5469834" y="3014870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3124FE-C521-47DB-AFF5-2E6939235900}"/>
              </a:ext>
            </a:extLst>
          </p:cNvPr>
          <p:cNvSpPr txBox="1"/>
          <p:nvPr/>
        </p:nvSpPr>
        <p:spPr>
          <a:xfrm>
            <a:off x="6314660" y="3024809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22D0D-493E-4DAF-B658-98E8A79A6DAB}"/>
              </a:ext>
            </a:extLst>
          </p:cNvPr>
          <p:cNvSpPr txBox="1"/>
          <p:nvPr/>
        </p:nvSpPr>
        <p:spPr>
          <a:xfrm>
            <a:off x="7268817" y="3054626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780CE4-5D13-4B34-A2B0-B47E48EB5967}"/>
              </a:ext>
            </a:extLst>
          </p:cNvPr>
          <p:cNvSpPr txBox="1"/>
          <p:nvPr/>
        </p:nvSpPr>
        <p:spPr>
          <a:xfrm>
            <a:off x="2498034" y="4078357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0D15BD-61B4-4B3D-B82F-CB5C2082EDF0}"/>
              </a:ext>
            </a:extLst>
          </p:cNvPr>
          <p:cNvSpPr txBox="1"/>
          <p:nvPr/>
        </p:nvSpPr>
        <p:spPr>
          <a:xfrm>
            <a:off x="3144078" y="4038601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362CFE-DA05-4E76-B639-6F61F53327FF}"/>
              </a:ext>
            </a:extLst>
          </p:cNvPr>
          <p:cNvSpPr txBox="1"/>
          <p:nvPr/>
        </p:nvSpPr>
        <p:spPr>
          <a:xfrm>
            <a:off x="3879574" y="4008783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F232AA-16F7-497F-B87A-AA7C251658C0}"/>
              </a:ext>
            </a:extLst>
          </p:cNvPr>
          <p:cNvSpPr txBox="1"/>
          <p:nvPr/>
        </p:nvSpPr>
        <p:spPr>
          <a:xfrm>
            <a:off x="4674704" y="3988905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98D6E4-3E00-4B42-9EB6-1113E082FA6F}"/>
              </a:ext>
            </a:extLst>
          </p:cNvPr>
          <p:cNvSpPr txBox="1"/>
          <p:nvPr/>
        </p:nvSpPr>
        <p:spPr>
          <a:xfrm>
            <a:off x="5449956" y="3998844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3508D1-2EA7-4EF6-B8B4-78CB82C04595}"/>
              </a:ext>
            </a:extLst>
          </p:cNvPr>
          <p:cNvSpPr txBox="1"/>
          <p:nvPr/>
        </p:nvSpPr>
        <p:spPr>
          <a:xfrm>
            <a:off x="6304721" y="3998844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0DA7D7-BFC6-4CF9-894C-EB83D4868146}"/>
              </a:ext>
            </a:extLst>
          </p:cNvPr>
          <p:cNvSpPr txBox="1"/>
          <p:nvPr/>
        </p:nvSpPr>
        <p:spPr>
          <a:xfrm>
            <a:off x="7239000" y="4008783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638B23E2-D1AE-4AD9-9738-20E16FC60389}"/>
              </a:ext>
            </a:extLst>
          </p:cNvPr>
          <p:cNvSpPr/>
          <p:nvPr/>
        </p:nvSpPr>
        <p:spPr>
          <a:xfrm flipH="1">
            <a:off x="3124864" y="487017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36EB456-807A-4A94-9EFF-3584578AF107}"/>
              </a:ext>
            </a:extLst>
          </p:cNvPr>
          <p:cNvCxnSpPr>
            <a:cxnSpLocks/>
          </p:cNvCxnSpPr>
          <p:nvPr/>
        </p:nvCxnSpPr>
        <p:spPr>
          <a:xfrm flipH="1">
            <a:off x="2405269" y="4916625"/>
            <a:ext cx="716349" cy="510140"/>
          </a:xfrm>
          <a:prstGeom prst="straightConnector1">
            <a:avLst/>
          </a:prstGeom>
          <a:ln w="19050" cmpd="sng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FA8A6E-5049-430B-860C-BD8F506EF78D}"/>
                  </a:ext>
                </a:extLst>
              </p:cNvPr>
              <p:cNvSpPr txBox="1"/>
              <p:nvPr/>
            </p:nvSpPr>
            <p:spPr>
              <a:xfrm>
                <a:off x="3684933" y="4855965"/>
                <a:ext cx="682072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unit normal vector to the sheet</a:t>
                </a: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field is measured at a point before the sheet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FA8A6E-5049-430B-860C-BD8F506EF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933" y="4855965"/>
                <a:ext cx="6820728" cy="1200329"/>
              </a:xfrm>
              <a:prstGeom prst="rect">
                <a:avLst/>
              </a:prstGeom>
              <a:blipFill>
                <a:blip r:embed="rId4"/>
                <a:stretch>
                  <a:fillRect l="-715" t="-3061" b="-7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6EB056-6B36-4AA6-B4E9-94800A61D836}"/>
                  </a:ext>
                </a:extLst>
              </p:cNvPr>
              <p:cNvSpPr txBox="1"/>
              <p:nvPr/>
            </p:nvSpPr>
            <p:spPr>
              <a:xfrm>
                <a:off x="2820228" y="5102952"/>
                <a:ext cx="5491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6EB056-6B36-4AA6-B4E9-94800A61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228" y="5102952"/>
                <a:ext cx="549137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E4F5B3-82C5-41DB-8987-556F18FF4D46}"/>
                  </a:ext>
                </a:extLst>
              </p:cNvPr>
              <p:cNvSpPr txBox="1"/>
              <p:nvPr/>
            </p:nvSpPr>
            <p:spPr>
              <a:xfrm>
                <a:off x="3697357" y="6023113"/>
                <a:ext cx="6838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field is measured at a point behind the sheet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E4F5B3-82C5-41DB-8987-556F18FF4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57" y="6023113"/>
                <a:ext cx="6838122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87DA25B-946B-492E-9EE5-413C6A6DF381}"/>
              </a:ext>
            </a:extLst>
          </p:cNvPr>
          <p:cNvSpPr/>
          <p:nvPr/>
        </p:nvSpPr>
        <p:spPr>
          <a:xfrm>
            <a:off x="2037522" y="1272209"/>
            <a:ext cx="5814391" cy="3260034"/>
          </a:xfrm>
          <a:prstGeom prst="rect">
            <a:avLst/>
          </a:prstGeom>
          <a:solidFill>
            <a:schemeClr val="accent5">
              <a:lumMod val="40000"/>
              <a:lumOff val="6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14243A-12DD-40AF-A554-DFF0AB21016C}"/>
              </a:ext>
            </a:extLst>
          </p:cNvPr>
          <p:cNvCxnSpPr/>
          <p:nvPr/>
        </p:nvCxnSpPr>
        <p:spPr>
          <a:xfrm flipH="1">
            <a:off x="1500809" y="3617843"/>
            <a:ext cx="2613991" cy="1620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45" grpId="0"/>
      <p:bldP spid="40" grpId="0"/>
      <p:bldP spid="10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4EC5A2-EA5E-A825-4708-C4BE32F4E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38" y="1084634"/>
            <a:ext cx="11205923" cy="407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8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BD35D4-8ADB-B2B0-88F6-0CE845BB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1238250"/>
            <a:ext cx="107918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3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E4B16A-352C-11AA-61F2-699A29B9E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65" y="0"/>
            <a:ext cx="9891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8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A80B1-D48A-441E-98D6-4DF72496C370}"/>
              </a:ext>
            </a:extLst>
          </p:cNvPr>
          <p:cNvSpPr txBox="1"/>
          <p:nvPr/>
        </p:nvSpPr>
        <p:spPr>
          <a:xfrm>
            <a:off x="198783" y="228599"/>
            <a:ext cx="9223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Electric Flux Density / Displacement Flux Density :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71757-CA3E-4E15-B38C-D37DBDF4C9DB}"/>
              </a:ext>
            </a:extLst>
          </p:cNvPr>
          <p:cNvSpPr txBox="1"/>
          <p:nvPr/>
        </p:nvSpPr>
        <p:spPr>
          <a:xfrm>
            <a:off x="178904" y="765313"/>
            <a:ext cx="6649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  <a:latin typeface="+mj-lt"/>
              </a:rPr>
              <a:t>Faradays Experiment 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F7051CF-7D1E-4CD2-9540-4EBD127BBCDC}"/>
              </a:ext>
            </a:extLst>
          </p:cNvPr>
          <p:cNvSpPr/>
          <p:nvPr/>
        </p:nvSpPr>
        <p:spPr>
          <a:xfrm>
            <a:off x="6062869" y="3200400"/>
            <a:ext cx="884583" cy="904461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2000">
                <a:schemeClr val="accent1">
                  <a:lumMod val="45000"/>
                  <a:lumOff val="55000"/>
                </a:schemeClr>
              </a:gs>
              <a:gs pos="5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FE1873C-9666-4256-83A6-D8269E85EA89}"/>
              </a:ext>
            </a:extLst>
          </p:cNvPr>
          <p:cNvSpPr/>
          <p:nvPr/>
        </p:nvSpPr>
        <p:spPr>
          <a:xfrm>
            <a:off x="4790661" y="1938129"/>
            <a:ext cx="3448878" cy="3478696"/>
          </a:xfrm>
          <a:prstGeom prst="flowChartConnector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-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DF72C-8C40-4912-8C24-9E1F90963D6F}"/>
              </a:ext>
            </a:extLst>
          </p:cNvPr>
          <p:cNvSpPr txBox="1"/>
          <p:nvPr/>
        </p:nvSpPr>
        <p:spPr>
          <a:xfrm>
            <a:off x="6361043" y="3200400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+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DF8B24-0903-4BF9-B23D-C9B0F1A70511}"/>
              </a:ext>
            </a:extLst>
          </p:cNvPr>
          <p:cNvSpPr txBox="1"/>
          <p:nvPr/>
        </p:nvSpPr>
        <p:spPr>
          <a:xfrm>
            <a:off x="6364356" y="3511828"/>
            <a:ext cx="235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17C155-1648-4E57-BD16-A1877DBEDE54}"/>
              </a:ext>
            </a:extLst>
          </p:cNvPr>
          <p:cNvSpPr txBox="1"/>
          <p:nvPr/>
        </p:nvSpPr>
        <p:spPr>
          <a:xfrm>
            <a:off x="6374296" y="3849757"/>
            <a:ext cx="29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55E049-E01A-4B5C-BF3D-82EC85946AF2}"/>
              </a:ext>
            </a:extLst>
          </p:cNvPr>
          <p:cNvSpPr txBox="1"/>
          <p:nvPr/>
        </p:nvSpPr>
        <p:spPr>
          <a:xfrm>
            <a:off x="6692347" y="3511826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D46930-CA50-416A-95BF-A7BB41115ABD}"/>
              </a:ext>
            </a:extLst>
          </p:cNvPr>
          <p:cNvSpPr txBox="1"/>
          <p:nvPr/>
        </p:nvSpPr>
        <p:spPr>
          <a:xfrm>
            <a:off x="6006547" y="3511826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1DE29B-D851-4C53-8445-3AC94E493EDA}"/>
              </a:ext>
            </a:extLst>
          </p:cNvPr>
          <p:cNvSpPr txBox="1"/>
          <p:nvPr/>
        </p:nvSpPr>
        <p:spPr>
          <a:xfrm>
            <a:off x="6592956" y="3750366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587CC2-0F93-4796-A57D-A4FF24A69DA7}"/>
              </a:ext>
            </a:extLst>
          </p:cNvPr>
          <p:cNvSpPr txBox="1"/>
          <p:nvPr/>
        </p:nvSpPr>
        <p:spPr>
          <a:xfrm>
            <a:off x="6115878" y="3293165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+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C78417-2A53-4BA5-A35E-9360A04F348A}"/>
              </a:ext>
            </a:extLst>
          </p:cNvPr>
          <p:cNvSpPr txBox="1"/>
          <p:nvPr/>
        </p:nvSpPr>
        <p:spPr>
          <a:xfrm>
            <a:off x="6592956" y="3313044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286EA9-1482-4C55-B20D-789B5370FDCE}"/>
              </a:ext>
            </a:extLst>
          </p:cNvPr>
          <p:cNvSpPr txBox="1"/>
          <p:nvPr/>
        </p:nvSpPr>
        <p:spPr>
          <a:xfrm>
            <a:off x="6155634" y="3730487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+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55CAAF-34E8-4065-89F0-12D62976BAEF}"/>
              </a:ext>
            </a:extLst>
          </p:cNvPr>
          <p:cNvSpPr txBox="1"/>
          <p:nvPr/>
        </p:nvSpPr>
        <p:spPr>
          <a:xfrm>
            <a:off x="6414052" y="1861932"/>
            <a:ext cx="35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-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1E057-7CAB-4475-B5A9-59C267BC2E09}"/>
              </a:ext>
            </a:extLst>
          </p:cNvPr>
          <p:cNvSpPr txBox="1"/>
          <p:nvPr/>
        </p:nvSpPr>
        <p:spPr>
          <a:xfrm>
            <a:off x="7551254" y="2310056"/>
            <a:ext cx="231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4FBACD-555F-4280-A23B-584C5BFF730C}"/>
              </a:ext>
            </a:extLst>
          </p:cNvPr>
          <p:cNvSpPr txBox="1"/>
          <p:nvPr/>
        </p:nvSpPr>
        <p:spPr>
          <a:xfrm>
            <a:off x="8068088" y="3443117"/>
            <a:ext cx="320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8DF607-99B7-4127-B918-6CAB280FFF04}"/>
              </a:ext>
            </a:extLst>
          </p:cNvPr>
          <p:cNvSpPr txBox="1"/>
          <p:nvPr/>
        </p:nvSpPr>
        <p:spPr>
          <a:xfrm>
            <a:off x="7769915" y="4427090"/>
            <a:ext cx="370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6888D8-D114-4EA5-ADD3-62010CDA4279}"/>
              </a:ext>
            </a:extLst>
          </p:cNvPr>
          <p:cNvSpPr txBox="1"/>
          <p:nvPr/>
        </p:nvSpPr>
        <p:spPr>
          <a:xfrm>
            <a:off x="6457950" y="5093012"/>
            <a:ext cx="24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923237-E0CF-4F73-9527-36480DC96006}"/>
              </a:ext>
            </a:extLst>
          </p:cNvPr>
          <p:cNvSpPr txBox="1"/>
          <p:nvPr/>
        </p:nvSpPr>
        <p:spPr>
          <a:xfrm>
            <a:off x="5185741" y="4596056"/>
            <a:ext cx="34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D7CACD-2B00-443F-BB58-12882D73778D}"/>
              </a:ext>
            </a:extLst>
          </p:cNvPr>
          <p:cNvSpPr txBox="1"/>
          <p:nvPr/>
        </p:nvSpPr>
        <p:spPr>
          <a:xfrm>
            <a:off x="4698723" y="3472933"/>
            <a:ext cx="31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D713C7-F375-424E-A20A-21F65E26B845}"/>
              </a:ext>
            </a:extLst>
          </p:cNvPr>
          <p:cNvSpPr txBox="1"/>
          <p:nvPr/>
        </p:nvSpPr>
        <p:spPr>
          <a:xfrm>
            <a:off x="5305011" y="2210665"/>
            <a:ext cx="40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-</a:t>
            </a:r>
            <a:endParaRPr lang="en-IN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75B663B-0BA0-426F-A3D1-77CF6380E4D3}"/>
              </a:ext>
            </a:extLst>
          </p:cNvPr>
          <p:cNvCxnSpPr>
            <a:cxnSpLocks/>
          </p:cNvCxnSpPr>
          <p:nvPr/>
        </p:nvCxnSpPr>
        <p:spPr>
          <a:xfrm flipV="1">
            <a:off x="6500191" y="2126974"/>
            <a:ext cx="0" cy="1063488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0295405-2FC5-43B4-95A2-30DD54AFC7BD}"/>
              </a:ext>
            </a:extLst>
          </p:cNvPr>
          <p:cNvCxnSpPr>
            <a:cxnSpLocks/>
          </p:cNvCxnSpPr>
          <p:nvPr/>
        </p:nvCxnSpPr>
        <p:spPr>
          <a:xfrm flipV="1">
            <a:off x="6950764" y="3655776"/>
            <a:ext cx="1109871" cy="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F2007F0-1A9C-4EBA-B7FF-ECFDC14307E8}"/>
              </a:ext>
            </a:extLst>
          </p:cNvPr>
          <p:cNvCxnSpPr>
            <a:cxnSpLocks/>
          </p:cNvCxnSpPr>
          <p:nvPr/>
        </p:nvCxnSpPr>
        <p:spPr>
          <a:xfrm flipV="1">
            <a:off x="6841435" y="2554357"/>
            <a:ext cx="811695" cy="81832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8AA6DB2-8CC7-4737-B0F3-F79C8CD5B2B6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521727" y="4157534"/>
            <a:ext cx="57977" cy="1110205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2657981-8469-4ACE-8D43-7C02D556A0F0}"/>
              </a:ext>
            </a:extLst>
          </p:cNvPr>
          <p:cNvCxnSpPr>
            <a:cxnSpLocks/>
          </p:cNvCxnSpPr>
          <p:nvPr/>
        </p:nvCxnSpPr>
        <p:spPr>
          <a:xfrm>
            <a:off x="6811617" y="3938873"/>
            <a:ext cx="1004267" cy="617425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2BBB343-A5F4-41CA-91F0-C6B4A052A729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4899991" y="3647661"/>
            <a:ext cx="1106556" cy="1805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0243333-BB4E-4AA0-94F5-FDDE7A3FBFE5}"/>
              </a:ext>
            </a:extLst>
          </p:cNvPr>
          <p:cNvCxnSpPr/>
          <p:nvPr/>
        </p:nvCxnSpPr>
        <p:spPr>
          <a:xfrm flipH="1">
            <a:off x="5377070" y="3995530"/>
            <a:ext cx="815008" cy="745435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F7F6FDB-786C-44EB-BD21-CE6D1B1402AB}"/>
              </a:ext>
            </a:extLst>
          </p:cNvPr>
          <p:cNvCxnSpPr>
            <a:cxnSpLocks/>
          </p:cNvCxnSpPr>
          <p:nvPr/>
        </p:nvCxnSpPr>
        <p:spPr>
          <a:xfrm flipH="1" flipV="1">
            <a:off x="5466521" y="2464904"/>
            <a:ext cx="778566" cy="848139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E978D5-FE0C-47AD-A733-449D6D34F6B7}"/>
              </a:ext>
            </a:extLst>
          </p:cNvPr>
          <p:cNvSpPr txBox="1"/>
          <p:nvPr/>
        </p:nvSpPr>
        <p:spPr>
          <a:xfrm>
            <a:off x="1620079" y="5943600"/>
            <a:ext cx="931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Charge on the inner sphere = Q = Flux produced = Charge induced on the outer sphere</a:t>
            </a:r>
          </a:p>
        </p:txBody>
      </p:sp>
    </p:spTree>
    <p:extLst>
      <p:ext uri="{BB962C8B-B14F-4D97-AF65-F5344CB8AC3E}">
        <p14:creationId xmlns:p14="http://schemas.microsoft.com/office/powerpoint/2010/main" val="215277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2" grpId="0"/>
      <p:bldP spid="24" grpId="0"/>
      <p:bldP spid="26" grpId="0"/>
      <p:bldP spid="28" grpId="0"/>
      <p:bldP spid="29" grpId="0"/>
      <p:bldP spid="30" grpId="0"/>
      <p:bldP spid="31" grpId="0"/>
      <p:bldP spid="32" grpId="0"/>
      <p:bldP spid="34" grpId="0"/>
      <p:bldP spid="37" grpId="0"/>
      <p:bldP spid="40" grpId="0"/>
      <p:bldP spid="44" grpId="0"/>
      <p:bldP spid="48" grpId="0"/>
      <p:bldP spid="50" grpId="0"/>
      <p:bldP spid="56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51A50D7-18DD-48E8-8739-2F706C937ED8}"/>
              </a:ext>
            </a:extLst>
          </p:cNvPr>
          <p:cNvSpPr/>
          <p:nvPr/>
        </p:nvSpPr>
        <p:spPr>
          <a:xfrm>
            <a:off x="4790661" y="1938129"/>
            <a:ext cx="3448878" cy="3478696"/>
          </a:xfrm>
          <a:prstGeom prst="flowChartConnector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58BA0C4-B830-44A5-80D0-0FF6937FC58D}"/>
              </a:ext>
            </a:extLst>
          </p:cNvPr>
          <p:cNvSpPr/>
          <p:nvPr/>
        </p:nvSpPr>
        <p:spPr>
          <a:xfrm>
            <a:off x="6430617" y="3588026"/>
            <a:ext cx="168965" cy="139148"/>
          </a:xfrm>
          <a:prstGeom prst="flowChartConnector">
            <a:avLst/>
          </a:prstGeom>
          <a:solidFill>
            <a:srgbClr val="C0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F89303-0368-41F6-8E43-5305314B4098}"/>
              </a:ext>
            </a:extLst>
          </p:cNvPr>
          <p:cNvSpPr txBox="1"/>
          <p:nvPr/>
        </p:nvSpPr>
        <p:spPr>
          <a:xfrm>
            <a:off x="6370984" y="3468757"/>
            <a:ext cx="46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  <a:endParaRPr lang="en-IN" i="1" dirty="0">
              <a:latin typeface="+mj-l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A14A65-1632-4835-A668-65373C56A4DC}"/>
              </a:ext>
            </a:extLst>
          </p:cNvPr>
          <p:cNvCxnSpPr/>
          <p:nvPr/>
        </p:nvCxnSpPr>
        <p:spPr>
          <a:xfrm flipV="1">
            <a:off x="6480313" y="3021496"/>
            <a:ext cx="1649896" cy="636104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F22A70-661D-4A53-AFE2-5CB841F9E1B4}"/>
              </a:ext>
            </a:extLst>
          </p:cNvPr>
          <p:cNvSpPr txBox="1"/>
          <p:nvPr/>
        </p:nvSpPr>
        <p:spPr>
          <a:xfrm>
            <a:off x="7543800" y="3101009"/>
            <a:ext cx="26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C49A4D-15D6-4C4F-90FF-7766F04B58E7}"/>
                  </a:ext>
                </a:extLst>
              </p:cNvPr>
              <p:cNvSpPr txBox="1"/>
              <p:nvPr/>
            </p:nvSpPr>
            <p:spPr>
              <a:xfrm>
                <a:off x="457199" y="874643"/>
                <a:ext cx="74642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Flux Produced by </a:t>
                </a:r>
                <a:r>
                  <a:rPr lang="en-IN" sz="2000" i="1" dirty="0">
                    <a:latin typeface="+mj-lt"/>
                  </a:rPr>
                  <a:t>Q</a:t>
                </a:r>
                <a:r>
                  <a:rPr lang="en-IN" sz="2000" dirty="0">
                    <a:latin typeface="+mj-lt"/>
                  </a:rPr>
                  <a:t> units of charge</a:t>
                </a:r>
                <a:r>
                  <a:rPr lang="en-IN" sz="2000" i="1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IN" sz="2000" i="1" dirty="0">
                    <a:latin typeface="+mj-lt"/>
                  </a:rPr>
                  <a:t> = Q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C49A4D-15D6-4C4F-90FF-7766F04B5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874643"/>
                <a:ext cx="7464287" cy="400110"/>
              </a:xfrm>
              <a:prstGeom prst="rect">
                <a:avLst/>
              </a:prstGeom>
              <a:blipFill>
                <a:blip r:embed="rId2"/>
                <a:stretch>
                  <a:fillRect l="-817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C746ED10-F72F-4EDD-89CA-93F8D4170A5D}"/>
              </a:ext>
            </a:extLst>
          </p:cNvPr>
          <p:cNvSpPr/>
          <p:nvPr/>
        </p:nvSpPr>
        <p:spPr>
          <a:xfrm>
            <a:off x="8100391" y="3011557"/>
            <a:ext cx="45719" cy="45719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50E89D-27BC-4436-9870-B911C74F09A4}"/>
                  </a:ext>
                </a:extLst>
              </p:cNvPr>
              <p:cNvSpPr txBox="1"/>
              <p:nvPr/>
            </p:nvSpPr>
            <p:spPr>
              <a:xfrm>
                <a:off x="8157541" y="2807661"/>
                <a:ext cx="259659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+mj-lt"/>
                  </a:rPr>
                  <a:t>D  = Total flux/ Total area      </a:t>
                </a:r>
              </a:p>
              <a:p>
                <a:r>
                  <a:rPr lang="en-IN" dirty="0">
                    <a:latin typeface="+mj-lt"/>
                  </a:rPr>
                  <a:t>    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/ 4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i="1" dirty="0">
                  <a:latin typeface="+mj-lt"/>
                </a:endParaRPr>
              </a:p>
              <a:p>
                <a:r>
                  <a:rPr lang="en-IN" i="1" dirty="0">
                    <a:latin typeface="+mj-lt"/>
                  </a:rPr>
                  <a:t>     = Q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/ 4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50E89D-27BC-4436-9870-B911C74F0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41" y="2807661"/>
                <a:ext cx="2596598" cy="923330"/>
              </a:xfrm>
              <a:prstGeom prst="rect">
                <a:avLst/>
              </a:prstGeom>
              <a:blipFill>
                <a:blip r:embed="rId3"/>
                <a:stretch>
                  <a:fillRect l="-1878" t="-3974" r="-13850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57FE0D-FD87-4D91-9381-61829D0E77F8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6515100" y="1938129"/>
            <a:ext cx="0" cy="3478696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522E8B-CAB5-448F-B51E-FE6409555F98}"/>
              </a:ext>
            </a:extLst>
          </p:cNvPr>
          <p:cNvCxnSpPr>
            <a:stCxn id="4" idx="7"/>
            <a:endCxn id="4" idx="3"/>
          </p:cNvCxnSpPr>
          <p:nvPr/>
        </p:nvCxnSpPr>
        <p:spPr>
          <a:xfrm flipH="1">
            <a:off x="5295737" y="2447572"/>
            <a:ext cx="2438726" cy="245981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4EADDC5-92F5-47FD-82E3-60980B76ACF6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5295737" y="2447572"/>
            <a:ext cx="2438726" cy="245981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64A5B2-451C-458B-A9B6-789FFF8DFAC0}"/>
              </a:ext>
            </a:extLst>
          </p:cNvPr>
          <p:cNvCxnSpPr>
            <a:cxnSpLocks/>
          </p:cNvCxnSpPr>
          <p:nvPr/>
        </p:nvCxnSpPr>
        <p:spPr>
          <a:xfrm>
            <a:off x="4810539" y="3657599"/>
            <a:ext cx="3419061" cy="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B42D536-C7D7-43CA-9D33-EAEEB5703F26}"/>
              </a:ext>
            </a:extLst>
          </p:cNvPr>
          <p:cNvSpPr txBox="1"/>
          <p:nvPr/>
        </p:nvSpPr>
        <p:spPr>
          <a:xfrm>
            <a:off x="6082748" y="3349486"/>
            <a:ext cx="38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9FBEDC-A819-4A66-B4B0-B7CEB4822018}"/>
                  </a:ext>
                </a:extLst>
              </p:cNvPr>
              <p:cNvSpPr txBox="1"/>
              <p:nvPr/>
            </p:nvSpPr>
            <p:spPr>
              <a:xfrm>
                <a:off x="1371600" y="5605670"/>
                <a:ext cx="1089328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Flux Density </a:t>
                </a:r>
                <a:r>
                  <a:rPr lang="en-IN" b="1" dirty="0">
                    <a:solidFill>
                      <a:srgbClr val="FF0000"/>
                    </a:solidFill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can be defined as a vector with direction along </a:t>
                </a:r>
                <a:r>
                  <a:rPr lang="en-IN" dirty="0">
                    <a:solidFill>
                      <a:srgbClr val="FF0000"/>
                    </a:solidFill>
                    <a:latin typeface="+mj-lt"/>
                  </a:rPr>
                  <a:t>radial direction </a:t>
                </a:r>
              </a:p>
              <a:p>
                <a:r>
                  <a:rPr lang="en-IN" dirty="0"/>
                  <a:t>					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/>
                  <a:t> = (</a:t>
                </a:r>
                <a:r>
                  <a:rPr lang="en-IN" i="1" dirty="0">
                    <a:latin typeface="+mj-lt"/>
                  </a:rPr>
                  <a:t>Q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/ 4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					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E</a:t>
                </a:r>
                <a:r>
                  <a:rPr lang="en-IN" dirty="0"/>
                  <a:t>	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9FBEDC-A819-4A66-B4B0-B7CEB4822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605670"/>
                <a:ext cx="10893287" cy="1200329"/>
              </a:xfrm>
              <a:prstGeom prst="rect">
                <a:avLst/>
              </a:prstGeom>
              <a:blipFill>
                <a:blip r:embed="rId4"/>
                <a:stretch>
                  <a:fillRect l="-448" t="-3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69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33" grpId="0"/>
      <p:bldP spid="37" grpId="0" animBg="1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ardrop 24">
            <a:extLst>
              <a:ext uri="{FF2B5EF4-FFF2-40B4-BE49-F238E27FC236}">
                <a16:creationId xmlns:a16="http://schemas.microsoft.com/office/drawing/2014/main" id="{5FB3CD89-4B99-4999-AE01-51FE2C4B82E7}"/>
              </a:ext>
            </a:extLst>
          </p:cNvPr>
          <p:cNvSpPr/>
          <p:nvPr/>
        </p:nvSpPr>
        <p:spPr>
          <a:xfrm>
            <a:off x="5373906" y="2943339"/>
            <a:ext cx="5466523" cy="2107095"/>
          </a:xfrm>
          <a:prstGeom prst="teardrop">
            <a:avLst>
              <a:gd name="adj" fmla="val 57073"/>
            </a:avLst>
          </a:prstGeom>
          <a:gradFill flip="none" rotWithShape="1">
            <a:gsLst>
              <a:gs pos="94000">
                <a:schemeClr val="accent5">
                  <a:alpha val="10000"/>
                  <a:lumMod val="60000"/>
                  <a:lumOff val="40000"/>
                </a:schemeClr>
              </a:gs>
              <a:gs pos="52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9000">
                <a:schemeClr val="accent1">
                  <a:lumMod val="0"/>
                  <a:lumOff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E95C91-BE0A-4226-93CC-0468C9BB3ABB}"/>
              </a:ext>
            </a:extLst>
          </p:cNvPr>
          <p:cNvSpPr/>
          <p:nvPr/>
        </p:nvSpPr>
        <p:spPr>
          <a:xfrm>
            <a:off x="2733261" y="6192079"/>
            <a:ext cx="2763078" cy="516835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1C626-67CA-4B19-A2F5-CD1E3CBB43AC}"/>
              </a:ext>
            </a:extLst>
          </p:cNvPr>
          <p:cNvSpPr txBox="1"/>
          <p:nvPr/>
        </p:nvSpPr>
        <p:spPr>
          <a:xfrm>
            <a:off x="437322" y="447261"/>
            <a:ext cx="6221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+mj-lt"/>
              </a:rPr>
              <a:t>Gauss’s Law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397B2-74C7-4ED1-8D18-4D501FB74023}"/>
              </a:ext>
            </a:extLst>
          </p:cNvPr>
          <p:cNvSpPr txBox="1"/>
          <p:nvPr/>
        </p:nvSpPr>
        <p:spPr>
          <a:xfrm>
            <a:off x="685800" y="1232452"/>
            <a:ext cx="1115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</a:rPr>
              <a:t>The </a:t>
            </a:r>
            <a:r>
              <a:rPr lang="en-IN" sz="2400" dirty="0">
                <a:solidFill>
                  <a:srgbClr val="C00000"/>
                </a:solidFill>
                <a:latin typeface="+mj-lt"/>
              </a:rPr>
              <a:t>net flux coming </a:t>
            </a:r>
            <a:r>
              <a:rPr lang="en-IN" sz="2400" dirty="0">
                <a:latin typeface="+mj-lt"/>
              </a:rPr>
              <a:t>out of any closed surface is equal to the </a:t>
            </a:r>
            <a:r>
              <a:rPr lang="en-IN" sz="2400" dirty="0">
                <a:solidFill>
                  <a:srgbClr val="C00000"/>
                </a:solidFill>
                <a:latin typeface="+mj-lt"/>
              </a:rPr>
              <a:t>charge enclosed </a:t>
            </a:r>
            <a:r>
              <a:rPr lang="en-IN" sz="2400" dirty="0">
                <a:latin typeface="+mj-lt"/>
              </a:rPr>
              <a:t>by that surface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0EB34B4-D237-45FC-AC3C-110398A71870}"/>
              </a:ext>
            </a:extLst>
          </p:cNvPr>
          <p:cNvGrpSpPr/>
          <p:nvPr/>
        </p:nvGrpSpPr>
        <p:grpSpPr>
          <a:xfrm>
            <a:off x="7115870" y="3607810"/>
            <a:ext cx="199080" cy="159120"/>
            <a:chOff x="7115870" y="3607810"/>
            <a:chExt cx="199080" cy="1591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6E24D8-8C9F-400C-ADD6-7605D25146B0}"/>
                    </a:ext>
                  </a:extLst>
                </p14:cNvPr>
                <p14:cNvContentPartPr/>
                <p14:nvPr/>
              </p14:nvContentPartPr>
              <p14:xfrm>
                <a:off x="7115870" y="360781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6E24D8-8C9F-400C-ADD6-7605D25146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8230" y="349981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081C37-CBD5-465A-8AAD-B18C27E06EF8}"/>
                    </a:ext>
                  </a:extLst>
                </p14:cNvPr>
                <p14:cNvContentPartPr/>
                <p14:nvPr/>
              </p14:nvContentPartPr>
              <p14:xfrm>
                <a:off x="7314590" y="376657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081C37-CBD5-465A-8AAD-B18C27E06E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6950" y="365857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0BCCF608-C015-4487-9B07-BF229B633F0F}"/>
              </a:ext>
            </a:extLst>
          </p:cNvPr>
          <p:cNvSpPr/>
          <p:nvPr/>
        </p:nvSpPr>
        <p:spPr>
          <a:xfrm rot="576873">
            <a:off x="8517836" y="3160643"/>
            <a:ext cx="198782" cy="198783"/>
          </a:xfrm>
          <a:prstGeom prst="round1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50DF50-7B68-4EDA-9909-00A98D4E6D09}"/>
              </a:ext>
            </a:extLst>
          </p:cNvPr>
          <p:cNvCxnSpPr>
            <a:cxnSpLocks/>
          </p:cNvCxnSpPr>
          <p:nvPr/>
        </p:nvCxnSpPr>
        <p:spPr>
          <a:xfrm flipV="1">
            <a:off x="8605891" y="2623930"/>
            <a:ext cx="319448" cy="642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D3C9A8-6296-46DA-A741-C4191288E3B4}"/>
              </a:ext>
            </a:extLst>
          </p:cNvPr>
          <p:cNvCxnSpPr>
            <a:cxnSpLocks/>
          </p:cNvCxnSpPr>
          <p:nvPr/>
        </p:nvCxnSpPr>
        <p:spPr>
          <a:xfrm flipV="1">
            <a:off x="8610567" y="3071191"/>
            <a:ext cx="1338503" cy="1973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ardrop 33">
            <a:extLst>
              <a:ext uri="{FF2B5EF4-FFF2-40B4-BE49-F238E27FC236}">
                <a16:creationId xmlns:a16="http://schemas.microsoft.com/office/drawing/2014/main" id="{0D1BB96C-5160-42A7-A6CB-7C71EF8D8116}"/>
              </a:ext>
            </a:extLst>
          </p:cNvPr>
          <p:cNvSpPr/>
          <p:nvPr/>
        </p:nvSpPr>
        <p:spPr>
          <a:xfrm>
            <a:off x="6480312" y="3836505"/>
            <a:ext cx="904462" cy="357808"/>
          </a:xfrm>
          <a:prstGeom prst="teardrop">
            <a:avLst>
              <a:gd name="adj" fmla="val 54639"/>
            </a:avLst>
          </a:prstGeom>
          <a:gradFill>
            <a:gsLst>
              <a:gs pos="64000">
                <a:schemeClr val="accent4">
                  <a:lumMod val="40000"/>
                  <a:lumOff val="60000"/>
                </a:schemeClr>
              </a:gs>
              <a:gs pos="38765">
                <a:srgbClr val="FFF4D4"/>
              </a:gs>
              <a:gs pos="29000">
                <a:schemeClr val="accent1">
                  <a:lumMod val="0"/>
                  <a:lumOff val="100000"/>
                </a:schemeClr>
              </a:gs>
              <a:gs pos="95000">
                <a:schemeClr val="accent1">
                  <a:lumMod val="0"/>
                  <a:lumOff val="100000"/>
                </a:schemeClr>
              </a:gs>
              <a:gs pos="19000">
                <a:schemeClr val="accent1">
                  <a:lumMod val="0"/>
                  <a:lumOff val="100000"/>
                </a:schemeClr>
              </a:gs>
            </a:gsLst>
            <a:path path="circle">
              <a:fillToRect l="50000" t="-80000" r="50000" b="18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F08D68-BBF9-43DC-9598-C67BFD39DABB}"/>
              </a:ext>
            </a:extLst>
          </p:cNvPr>
          <p:cNvSpPr txBox="1"/>
          <p:nvPr/>
        </p:nvSpPr>
        <p:spPr>
          <a:xfrm>
            <a:off x="6500191" y="3856384"/>
            <a:ext cx="308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E0DBB6-67E4-4F89-85D8-339230799902}"/>
              </a:ext>
            </a:extLst>
          </p:cNvPr>
          <p:cNvSpPr txBox="1"/>
          <p:nvPr/>
        </p:nvSpPr>
        <p:spPr>
          <a:xfrm>
            <a:off x="6732104" y="3869636"/>
            <a:ext cx="308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294D3-2E0D-4021-A5C4-A5BC889D9200}"/>
              </a:ext>
            </a:extLst>
          </p:cNvPr>
          <p:cNvSpPr txBox="1"/>
          <p:nvPr/>
        </p:nvSpPr>
        <p:spPr>
          <a:xfrm>
            <a:off x="6901069" y="3800063"/>
            <a:ext cx="308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CCDF7F-3BA6-4240-9907-96C9F69F0828}"/>
              </a:ext>
            </a:extLst>
          </p:cNvPr>
          <p:cNvSpPr txBox="1"/>
          <p:nvPr/>
        </p:nvSpPr>
        <p:spPr>
          <a:xfrm>
            <a:off x="6921401" y="3948697"/>
            <a:ext cx="308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A0CF6-56A5-45DD-B37A-D74599C8B546}"/>
              </a:ext>
            </a:extLst>
          </p:cNvPr>
          <p:cNvSpPr txBox="1"/>
          <p:nvPr/>
        </p:nvSpPr>
        <p:spPr>
          <a:xfrm>
            <a:off x="8716617" y="2305878"/>
            <a:ext cx="69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</a:t>
            </a:r>
            <a:r>
              <a:rPr lang="en-IN" b="1" dirty="0">
                <a:latin typeface="+mj-lt"/>
              </a:rPr>
              <a:t>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EE62C4-BB6B-4B7D-A2FF-B26FA2A123B4}"/>
              </a:ext>
            </a:extLst>
          </p:cNvPr>
          <p:cNvSpPr txBox="1"/>
          <p:nvPr/>
        </p:nvSpPr>
        <p:spPr>
          <a:xfrm>
            <a:off x="9949069" y="2882348"/>
            <a:ext cx="496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D</a:t>
            </a: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719B2DF-274D-4ABB-B3C2-F869DA83A565}"/>
              </a:ext>
            </a:extLst>
          </p:cNvPr>
          <p:cNvSpPr/>
          <p:nvPr/>
        </p:nvSpPr>
        <p:spPr>
          <a:xfrm>
            <a:off x="8597348" y="3091069"/>
            <a:ext cx="198783" cy="318052"/>
          </a:xfrm>
          <a:prstGeom prst="arc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5F231D4-08CA-4A32-995D-29280F2F72C8}"/>
                  </a:ext>
                </a:extLst>
              </p:cNvPr>
              <p:cNvSpPr txBox="1"/>
              <p:nvPr/>
            </p:nvSpPr>
            <p:spPr>
              <a:xfrm>
                <a:off x="8766315" y="2763077"/>
                <a:ext cx="35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5F231D4-08CA-4A32-995D-29280F2F7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315" y="2763077"/>
                <a:ext cx="3578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C002B0D0-72F3-4642-A21D-008DB3AB4861}"/>
              </a:ext>
            </a:extLst>
          </p:cNvPr>
          <p:cNvSpPr txBox="1"/>
          <p:nvPr/>
        </p:nvSpPr>
        <p:spPr>
          <a:xfrm>
            <a:off x="5804453" y="3319670"/>
            <a:ext cx="48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D60F354-31FD-405E-A88C-3A3DF8B7931B}"/>
                  </a:ext>
                </a:extLst>
              </p:cNvPr>
              <p:cNvSpPr txBox="1"/>
              <p:nvPr/>
            </p:nvSpPr>
            <p:spPr>
              <a:xfrm>
                <a:off x="6987209" y="3816625"/>
                <a:ext cx="5168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D60F354-31FD-405E-A88C-3A3DF8B7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209" y="3816625"/>
                <a:ext cx="516834" cy="307777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BA32EDF-9511-44B3-97E6-82F674EC1ADE}"/>
              </a:ext>
            </a:extLst>
          </p:cNvPr>
          <p:cNvSpPr txBox="1"/>
          <p:nvPr/>
        </p:nvSpPr>
        <p:spPr>
          <a:xfrm>
            <a:off x="566529" y="2554357"/>
            <a:ext cx="5337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Flux coming out of </a:t>
            </a:r>
          </a:p>
          <a:p>
            <a:r>
              <a:rPr lang="en-IN" sz="2000" dirty="0">
                <a:latin typeface="+mj-lt"/>
              </a:rPr>
              <a:t>differential surface element = </a:t>
            </a:r>
            <a:r>
              <a:rPr lang="en-IN" b="1" dirty="0" err="1">
                <a:latin typeface="+mj-lt"/>
              </a:rPr>
              <a:t>D.</a:t>
            </a:r>
            <a:r>
              <a:rPr lang="en-IN" i="1" dirty="0" err="1">
                <a:latin typeface="+mj-lt"/>
              </a:rPr>
              <a:t>d</a:t>
            </a:r>
            <a:r>
              <a:rPr lang="en-IN" b="1" dirty="0" err="1">
                <a:latin typeface="+mj-lt"/>
              </a:rPr>
              <a:t>S</a:t>
            </a:r>
            <a:endParaRPr lang="en-IN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3872697-C0DE-4DE6-8E5F-03624F225525}"/>
                  </a:ext>
                </a:extLst>
              </p:cNvPr>
              <p:cNvSpPr txBox="1"/>
              <p:nvPr/>
            </p:nvSpPr>
            <p:spPr>
              <a:xfrm>
                <a:off x="516835" y="3448878"/>
                <a:ext cx="4263886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Total Flux Coming out of </a:t>
                </a:r>
                <a:r>
                  <a:rPr lang="en-IN" sz="2000" i="1" dirty="0">
                    <a:latin typeface="+mj-lt"/>
                  </a:rPr>
                  <a:t>S 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i="1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b="1">
                            <a:latin typeface="+mj-lt"/>
                          </a:rPr>
                          <m:t>S</m:t>
                        </m:r>
                      </m:e>
                    </m:nary>
                  </m:oMath>
                </a14:m>
                <a:endParaRPr lang="en-IN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3872697-C0DE-4DE6-8E5F-03624F225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5" y="3448878"/>
                <a:ext cx="4263886" cy="413575"/>
              </a:xfrm>
              <a:prstGeom prst="rect">
                <a:avLst/>
              </a:prstGeom>
              <a:blipFill>
                <a:blip r:embed="rId8"/>
                <a:stretch>
                  <a:fillRect l="-1574" t="-129412" b="-19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97D622-9438-45EB-9AFF-9BC35C294C86}"/>
                  </a:ext>
                </a:extLst>
              </p:cNvPr>
              <p:cNvSpPr txBox="1"/>
              <p:nvPr/>
            </p:nvSpPr>
            <p:spPr>
              <a:xfrm>
                <a:off x="1053549" y="4393096"/>
                <a:ext cx="3071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Charge enclosed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endParaRPr lang="en-IN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97D622-9438-45EB-9AFF-9BC35C29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49" y="4393096"/>
                <a:ext cx="3071190" cy="400110"/>
              </a:xfrm>
              <a:prstGeom prst="rect">
                <a:avLst/>
              </a:prstGeom>
              <a:blipFill>
                <a:blip r:embed="rId9"/>
                <a:stretch>
                  <a:fillRect l="-2183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16EECD6-6971-4567-9246-7DBA9E9EF918}"/>
                  </a:ext>
                </a:extLst>
              </p:cNvPr>
              <p:cNvSpPr txBox="1"/>
              <p:nvPr/>
            </p:nvSpPr>
            <p:spPr>
              <a:xfrm>
                <a:off x="3677477" y="4403035"/>
                <a:ext cx="170953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i="1" dirty="0">
                    <a:latin typeface="+mj-lt"/>
                  </a:rPr>
                  <a:t> dV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16EECD6-6971-4567-9246-7DBA9E9EF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477" y="4403035"/>
                <a:ext cx="1709530" cy="412164"/>
              </a:xfrm>
              <a:prstGeom prst="rect">
                <a:avLst/>
              </a:prstGeom>
              <a:blipFill>
                <a:blip r:embed="rId10"/>
                <a:stretch>
                  <a:fillRect l="-12456" t="-132353" r="-11744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5B40F-64C4-49B8-B121-EE42945B0638}"/>
                  </a:ext>
                </a:extLst>
              </p:cNvPr>
              <p:cNvSpPr txBox="1"/>
              <p:nvPr/>
            </p:nvSpPr>
            <p:spPr>
              <a:xfrm>
                <a:off x="3707295" y="4989443"/>
                <a:ext cx="5903844" cy="689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i="1" dirty="0">
                    <a:latin typeface="+mj-lt"/>
                  </a:rPr>
                  <a:t> dS</a:t>
                </a:r>
                <a:r>
                  <a:rPr lang="en-IN" b="1" i="1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( if the charge lies within is a surface charge)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5B40F-64C4-49B8-B121-EE42945B0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295" y="4989443"/>
                <a:ext cx="5903844" cy="689163"/>
              </a:xfrm>
              <a:prstGeom prst="rect">
                <a:avLst/>
              </a:prstGeom>
              <a:blipFill>
                <a:blip r:embed="rId11"/>
                <a:stretch>
                  <a:fillRect l="-4644" t="-78947" b="-7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80C6B33-03F9-4655-9CA9-09CF9C00DA8F}"/>
                  </a:ext>
                </a:extLst>
              </p:cNvPr>
              <p:cNvSpPr txBox="1"/>
              <p:nvPr/>
            </p:nvSpPr>
            <p:spPr>
              <a:xfrm>
                <a:off x="3710606" y="5608983"/>
                <a:ext cx="7103167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nary>
                    <m:r>
                      <a:rPr lang="en-I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𝑑𝑙</m:t>
                    </m:r>
                  </m:oMath>
                </a14:m>
                <a:r>
                  <a:rPr lang="en-IN" dirty="0">
                    <a:latin typeface="+mj-lt"/>
                  </a:rPr>
                  <a:t>( if the charge lies within is a line charge)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80C6B33-03F9-4655-9CA9-09CF9C00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06" y="5608983"/>
                <a:ext cx="7103167" cy="412164"/>
              </a:xfrm>
              <a:prstGeom prst="rect">
                <a:avLst/>
              </a:prstGeom>
              <a:blipFill>
                <a:blip r:embed="rId12"/>
                <a:stretch>
                  <a:fillRect l="-3948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F6D7967-B54E-4FE2-B338-74AEB3A11E13}"/>
                  </a:ext>
                </a:extLst>
              </p:cNvPr>
              <p:cNvSpPr txBox="1"/>
              <p:nvPr/>
            </p:nvSpPr>
            <p:spPr>
              <a:xfrm>
                <a:off x="2773016" y="6247843"/>
                <a:ext cx="3021497" cy="4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sz="1800" b="1" dirty="0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sz="1800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sz="1800" i="1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sz="1800" b="1">
                            <a:latin typeface="+mj-lt"/>
                          </a:rPr>
                          <m:t>S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i="1" dirty="0"/>
                  <a:t> </a:t>
                </a:r>
                <a:r>
                  <a:rPr lang="en-IN" i="1" dirty="0">
                    <a:latin typeface="+mj-lt"/>
                  </a:rPr>
                  <a:t>dV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F6D7967-B54E-4FE2-B338-74AEB3A11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16" y="6247843"/>
                <a:ext cx="3021497" cy="412164"/>
              </a:xfrm>
              <a:prstGeom prst="rect">
                <a:avLst/>
              </a:prstGeom>
              <a:blipFill>
                <a:blip r:embed="rId13"/>
                <a:stretch>
                  <a:fillRect l="-1371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3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3" grpId="0" animBg="1"/>
      <p:bldP spid="27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/>
      <p:bldP spid="44" grpId="0"/>
      <p:bldP spid="47" grpId="0"/>
      <p:bldP spid="48" grpId="0"/>
      <p:bldP spid="50" grpId="0"/>
      <p:bldP spid="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61680-89B1-4F20-916C-563B6A0960C3}"/>
              </a:ext>
            </a:extLst>
          </p:cNvPr>
          <p:cNvSpPr txBox="1"/>
          <p:nvPr/>
        </p:nvSpPr>
        <p:spPr>
          <a:xfrm>
            <a:off x="327991" y="377687"/>
            <a:ext cx="6271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Divergence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B39BC-EC04-4717-A820-80DA7FE0F49C}"/>
              </a:ext>
            </a:extLst>
          </p:cNvPr>
          <p:cNvSpPr txBox="1"/>
          <p:nvPr/>
        </p:nvSpPr>
        <p:spPr>
          <a:xfrm>
            <a:off x="417443" y="1063487"/>
            <a:ext cx="10913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The net outward flow of the vector </a:t>
            </a:r>
            <a:r>
              <a:rPr lang="en-IN" sz="2000" b="1" dirty="0">
                <a:latin typeface="+mj-lt"/>
              </a:rPr>
              <a:t>D</a:t>
            </a:r>
            <a:r>
              <a:rPr lang="en-IN" sz="2000" dirty="0">
                <a:latin typeface="+mj-lt"/>
              </a:rPr>
              <a:t> through a small closed surface, per unit volume, as the volume shrinks to zero is called as Divergence of </a:t>
            </a:r>
            <a:r>
              <a:rPr lang="en-IN" sz="2000" b="1" dirty="0">
                <a:latin typeface="+mj-lt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88A56B-CCAE-4B5D-9B9B-B6806A663C97}"/>
                  </a:ext>
                </a:extLst>
              </p:cNvPr>
              <p:cNvSpPr txBox="1"/>
              <p:nvPr/>
            </p:nvSpPr>
            <p:spPr>
              <a:xfrm>
                <a:off x="3965713" y="2077278"/>
                <a:ext cx="4462669" cy="564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Div 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pHide m:val="on"/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8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/>
                              <m:e>
                                <m:r>
                                  <a:rPr lang="en-IN" b="1" i="0" smtClean="0"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  <m:r>
                                  <a:rPr lang="en-IN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b="1" i="0" smtClean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nary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func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88A56B-CCAE-4B5D-9B9B-B6806A66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713" y="2077278"/>
                <a:ext cx="4462669" cy="564770"/>
              </a:xfrm>
              <a:prstGeom prst="rect">
                <a:avLst/>
              </a:prstGeom>
              <a:blipFill>
                <a:blip r:embed="rId2"/>
                <a:stretch>
                  <a:fillRect l="-1230" b="-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ardrop 4">
            <a:extLst>
              <a:ext uri="{FF2B5EF4-FFF2-40B4-BE49-F238E27FC236}">
                <a16:creationId xmlns:a16="http://schemas.microsoft.com/office/drawing/2014/main" id="{65392416-3CC0-429D-B6C1-E2F44EA6C2D6}"/>
              </a:ext>
            </a:extLst>
          </p:cNvPr>
          <p:cNvSpPr/>
          <p:nvPr/>
        </p:nvSpPr>
        <p:spPr>
          <a:xfrm flipV="1">
            <a:off x="7921487" y="3240155"/>
            <a:ext cx="1928192" cy="993915"/>
          </a:xfrm>
          <a:prstGeom prst="teardrop">
            <a:avLst>
              <a:gd name="adj" fmla="val 55385"/>
            </a:avLst>
          </a:prstGeom>
          <a:gradFill>
            <a:gsLst>
              <a:gs pos="38000">
                <a:schemeClr val="accent1">
                  <a:lumMod val="5000"/>
                  <a:lumOff val="95000"/>
                  <a:alpha val="2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2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A68E6-986A-4F84-B0D9-AB508C30602A}"/>
              </a:ext>
            </a:extLst>
          </p:cNvPr>
          <p:cNvSpPr txBox="1"/>
          <p:nvPr/>
        </p:nvSpPr>
        <p:spPr>
          <a:xfrm>
            <a:off x="288235" y="2782956"/>
            <a:ext cx="4174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Physical Interpretation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774532-658E-48E0-AB66-7AC9BBF1D671}"/>
                  </a:ext>
                </a:extLst>
              </p:cNvPr>
              <p:cNvSpPr txBox="1"/>
              <p:nvPr/>
            </p:nvSpPr>
            <p:spPr>
              <a:xfrm>
                <a:off x="119270" y="3349488"/>
                <a:ext cx="1023731" cy="453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IN" dirty="0"/>
                  <a:t>   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774532-658E-48E0-AB66-7AC9BBF1D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0" y="3349488"/>
                <a:ext cx="1023731" cy="453201"/>
              </a:xfrm>
              <a:prstGeom prst="rect">
                <a:avLst/>
              </a:prstGeom>
              <a:blipFill>
                <a:blip r:embed="rId3"/>
                <a:stretch>
                  <a:fillRect t="-6667" b="-2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BA8010-CF83-41B3-9095-EEDAE21DB3F0}"/>
                  </a:ext>
                </a:extLst>
              </p:cNvPr>
              <p:cNvSpPr txBox="1"/>
              <p:nvPr/>
            </p:nvSpPr>
            <p:spPr>
              <a:xfrm>
                <a:off x="1192695" y="3379304"/>
                <a:ext cx="3786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Consider a small volume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BA8010-CF83-41B3-9095-EEDAE21DB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695" y="3379304"/>
                <a:ext cx="3786809" cy="369332"/>
              </a:xfrm>
              <a:prstGeom prst="rect">
                <a:avLst/>
              </a:prstGeom>
              <a:blipFill>
                <a:blip r:embed="rId4"/>
                <a:stretch>
                  <a:fillRect l="-144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B9DDF4-E448-4A4D-B836-D5D782B5B969}"/>
                  </a:ext>
                </a:extLst>
              </p:cNvPr>
              <p:cNvSpPr txBox="1"/>
              <p:nvPr/>
            </p:nvSpPr>
            <p:spPr>
              <a:xfrm>
                <a:off x="7762461" y="3389244"/>
                <a:ext cx="8547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B9DDF4-E448-4A4D-B836-D5D782B5B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461" y="3389244"/>
                <a:ext cx="85476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377B9-7B43-41D1-AF8E-87E0ED6C6602}"/>
                  </a:ext>
                </a:extLst>
              </p:cNvPr>
              <p:cNvSpPr txBox="1"/>
              <p:nvPr/>
            </p:nvSpPr>
            <p:spPr>
              <a:xfrm>
                <a:off x="99391" y="4124739"/>
                <a:ext cx="1123122" cy="377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sz="1600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sz="1600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16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sz="1600" dirty="0"/>
                  <a:t>  </a:t>
                </a:r>
                <a:r>
                  <a:rPr lang="en-IN" dirty="0"/>
                  <a:t>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377B9-7B43-41D1-AF8E-87E0ED6C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" y="4124739"/>
                <a:ext cx="1123122" cy="377860"/>
              </a:xfrm>
              <a:prstGeom prst="rect">
                <a:avLst/>
              </a:prstGeom>
              <a:blipFill>
                <a:blip r:embed="rId6"/>
                <a:stretch>
                  <a:fillRect l="-30811" t="-122581" b="-1854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F83EE0-84CD-4953-B685-8F22D83293A5}"/>
                  </a:ext>
                </a:extLst>
              </p:cNvPr>
              <p:cNvSpPr txBox="1"/>
              <p:nvPr/>
            </p:nvSpPr>
            <p:spPr>
              <a:xfrm>
                <a:off x="1232451" y="4124739"/>
                <a:ext cx="44427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Flux coming out of the surface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dirty="0">
                    <a:latin typeface="+mj-lt"/>
                  </a:rPr>
                  <a:t> (or) Flux coming out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dirty="0">
                    <a:latin typeface="+mj-lt"/>
                  </a:rPr>
                  <a:t> units of volume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F83EE0-84CD-4953-B685-8F22D8329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1" y="4124739"/>
                <a:ext cx="4442791" cy="646331"/>
              </a:xfrm>
              <a:prstGeom prst="rect">
                <a:avLst/>
              </a:prstGeom>
              <a:blipFill>
                <a:blip r:embed="rId7"/>
                <a:stretch>
                  <a:fillRect l="-1097" t="-566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021B8E-911C-4ED5-9093-999B6A8D0D18}"/>
              </a:ext>
            </a:extLst>
          </p:cNvPr>
          <p:cNvCxnSpPr>
            <a:cxnSpLocks/>
          </p:cNvCxnSpPr>
          <p:nvPr/>
        </p:nvCxnSpPr>
        <p:spPr>
          <a:xfrm flipV="1">
            <a:off x="9144000" y="2981739"/>
            <a:ext cx="218661" cy="427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EE45FC-929F-46F1-B4B4-F8897EF4D8AB}"/>
              </a:ext>
            </a:extLst>
          </p:cNvPr>
          <p:cNvCxnSpPr/>
          <p:nvPr/>
        </p:nvCxnSpPr>
        <p:spPr>
          <a:xfrm flipV="1">
            <a:off x="8935278" y="2902226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C88A07-A1EF-4BEA-8B01-8A69BED0B5BC}"/>
              </a:ext>
            </a:extLst>
          </p:cNvPr>
          <p:cNvCxnSpPr>
            <a:cxnSpLocks/>
          </p:cNvCxnSpPr>
          <p:nvPr/>
        </p:nvCxnSpPr>
        <p:spPr>
          <a:xfrm flipH="1" flipV="1">
            <a:off x="8458200" y="3021496"/>
            <a:ext cx="248478" cy="367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C45AA0-C900-4F25-949E-655306973903}"/>
              </a:ext>
            </a:extLst>
          </p:cNvPr>
          <p:cNvCxnSpPr/>
          <p:nvPr/>
        </p:nvCxnSpPr>
        <p:spPr>
          <a:xfrm>
            <a:off x="8945218" y="4035287"/>
            <a:ext cx="0" cy="467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549702-357F-44F3-8D16-CF1647BBAB10}"/>
              </a:ext>
            </a:extLst>
          </p:cNvPr>
          <p:cNvCxnSpPr/>
          <p:nvPr/>
        </p:nvCxnSpPr>
        <p:spPr>
          <a:xfrm>
            <a:off x="9163878" y="4015409"/>
            <a:ext cx="258417" cy="367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81FFB4-BA55-444D-932E-4768DDF74100}"/>
              </a:ext>
            </a:extLst>
          </p:cNvPr>
          <p:cNvCxnSpPr/>
          <p:nvPr/>
        </p:nvCxnSpPr>
        <p:spPr>
          <a:xfrm flipH="1">
            <a:off x="8507896" y="4055165"/>
            <a:ext cx="228600" cy="367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9A0D0A-5B21-43C9-863E-6CBCC80DED71}"/>
                  </a:ext>
                </a:extLst>
              </p:cNvPr>
              <p:cNvSpPr txBox="1"/>
              <p:nvPr/>
            </p:nvSpPr>
            <p:spPr>
              <a:xfrm>
                <a:off x="168965" y="5039139"/>
                <a:ext cx="1113182" cy="448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pHide m:val="on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8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/>
                          <m:e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𝐃</m:t>
                            </m:r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nary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IN" dirty="0"/>
                  <a:t>    :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9A0D0A-5B21-43C9-863E-6CBCC80DE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65" y="5039139"/>
                <a:ext cx="1113182" cy="448456"/>
              </a:xfrm>
              <a:prstGeom prst="rect">
                <a:avLst/>
              </a:prstGeom>
              <a:blipFill>
                <a:blip r:embed="rId8"/>
                <a:stretch>
                  <a:fillRect l="-549" b="-17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109FCC7-B664-4C00-804F-BFFC777BF118}"/>
              </a:ext>
            </a:extLst>
          </p:cNvPr>
          <p:cNvSpPr txBox="1"/>
          <p:nvPr/>
        </p:nvSpPr>
        <p:spPr>
          <a:xfrm>
            <a:off x="1192695" y="5059018"/>
            <a:ext cx="390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Flux coming out of </a:t>
            </a:r>
            <a:r>
              <a:rPr lang="en-IN" i="1" dirty="0">
                <a:latin typeface="+mj-lt"/>
              </a:rPr>
              <a:t>one unit volume</a:t>
            </a:r>
            <a:endParaRPr lang="en-I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5A0B86-40BC-4BA1-B5FF-179174AC2678}"/>
                  </a:ext>
                </a:extLst>
              </p:cNvPr>
              <p:cNvSpPr txBox="1"/>
              <p:nvPr/>
            </p:nvSpPr>
            <p:spPr>
              <a:xfrm>
                <a:off x="1630018" y="5874026"/>
                <a:ext cx="2663686" cy="54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Div </a:t>
                </a:r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D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pHide m:val="on"/>
                                <m:ctrlPr>
                                  <a:rPr lang="en-IN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8"/>
                                  </m:rPr>
                                  <a:rPr lang="en-I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/>
                              <m:e>
                                <m:r>
                                  <a:rPr lang="en-IN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  <m:r>
                                  <a:rPr lang="en-IN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nary>
                          </m:num>
                          <m:den>
                            <m: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 </a:t>
                </a:r>
                <a:r>
                  <a:rPr lang="en-IN" dirty="0"/>
                  <a:t>: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5A0B86-40BC-4BA1-B5FF-179174AC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18" y="5874026"/>
                <a:ext cx="2663686" cy="540789"/>
              </a:xfrm>
              <a:prstGeom prst="rect">
                <a:avLst/>
              </a:prstGeom>
              <a:blipFill>
                <a:blip r:embed="rId9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9A45B816-76F2-4CA3-9B2E-5F40F812E76C}"/>
              </a:ext>
            </a:extLst>
          </p:cNvPr>
          <p:cNvSpPr txBox="1"/>
          <p:nvPr/>
        </p:nvSpPr>
        <p:spPr>
          <a:xfrm>
            <a:off x="4204252" y="5963478"/>
            <a:ext cx="50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  <a:latin typeface="+mj-lt"/>
              </a:rPr>
              <a:t>“Flux coming out per unit volume at a point ”</a:t>
            </a:r>
          </a:p>
        </p:txBody>
      </p:sp>
    </p:spTree>
    <p:extLst>
      <p:ext uri="{BB962C8B-B14F-4D97-AF65-F5344CB8AC3E}">
        <p14:creationId xmlns:p14="http://schemas.microsoft.com/office/powerpoint/2010/main" val="246896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8" grpId="0"/>
      <p:bldP spid="9" grpId="0"/>
      <p:bldP spid="10" grpId="0"/>
      <p:bldP spid="12" grpId="0"/>
      <p:bldP spid="13" grpId="0"/>
      <p:bldP spid="31" grpId="0"/>
      <p:bldP spid="32" grpId="0"/>
      <p:bldP spid="33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993A2D-6812-46B1-9687-9EE2FDF86A1E}"/>
              </a:ext>
            </a:extLst>
          </p:cNvPr>
          <p:cNvSpPr txBox="1"/>
          <p:nvPr/>
        </p:nvSpPr>
        <p:spPr>
          <a:xfrm>
            <a:off x="417443" y="417443"/>
            <a:ext cx="6649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How to calculate 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Div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D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mathematically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20A6F8-4B42-46E0-8C45-8CCF23389C9E}"/>
                  </a:ext>
                </a:extLst>
              </p:cNvPr>
              <p:cNvSpPr txBox="1"/>
              <p:nvPr/>
            </p:nvSpPr>
            <p:spPr>
              <a:xfrm>
                <a:off x="487018" y="1123122"/>
                <a:ext cx="7851912" cy="39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If the value of 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at a point P is </a:t>
                </a:r>
                <a:r>
                  <a:rPr lang="en-IN" b="1" dirty="0">
                    <a:latin typeface="+mj-lt"/>
                  </a:rPr>
                  <a:t>D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,Then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20A6F8-4B42-46E0-8C45-8CCF2338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18" y="1123122"/>
                <a:ext cx="7851912" cy="394788"/>
              </a:xfrm>
              <a:prstGeom prst="rect">
                <a:avLst/>
              </a:prstGeom>
              <a:blipFill>
                <a:blip r:embed="rId2"/>
                <a:stretch>
                  <a:fillRect l="-699" t="-7692"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EDD2B3-F116-47C2-AF93-6AFD8DAB79F4}"/>
                  </a:ext>
                </a:extLst>
              </p:cNvPr>
              <p:cNvSpPr txBox="1"/>
              <p:nvPr/>
            </p:nvSpPr>
            <p:spPr>
              <a:xfrm>
                <a:off x="1421296" y="1808922"/>
                <a:ext cx="6728791" cy="564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Div </a:t>
                </a:r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D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pHide m:val="on"/>
                                <m:ctrlPr>
                                  <a:rPr lang="en-I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8"/>
                                  </m:rP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/>
                              <m:e>
                                <m:r>
                                  <a:rPr lang="en-I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  <m:r>
                                  <a:rPr lang="en-I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nary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EDD2B3-F116-47C2-AF93-6AFD8DAB7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296" y="1808922"/>
                <a:ext cx="6728791" cy="564770"/>
              </a:xfrm>
              <a:prstGeom prst="rect">
                <a:avLst/>
              </a:prstGeom>
              <a:blipFill>
                <a:blip r:embed="rId3"/>
                <a:stretch>
                  <a:fillRect b="-1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EEBE8F-AF4F-47EB-B9DF-F6122FEE243F}"/>
                  </a:ext>
                </a:extLst>
              </p:cNvPr>
              <p:cNvSpPr txBox="1"/>
              <p:nvPr/>
            </p:nvSpPr>
            <p:spPr>
              <a:xfrm>
                <a:off x="3369367" y="2594112"/>
                <a:ext cx="2713382" cy="547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)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EEBE8F-AF4F-47EB-B9DF-F6122FEE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367" y="2594112"/>
                <a:ext cx="2713382" cy="547266"/>
              </a:xfrm>
              <a:prstGeom prst="rect">
                <a:avLst/>
              </a:prstGeom>
              <a:blipFill>
                <a:blip r:embed="rId4"/>
                <a:stretch>
                  <a:fillRect l="-20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8E2A360-C0C0-4ECD-A511-37C0F00826AA}"/>
              </a:ext>
            </a:extLst>
          </p:cNvPr>
          <p:cNvSpPr txBox="1"/>
          <p:nvPr/>
        </p:nvSpPr>
        <p:spPr>
          <a:xfrm>
            <a:off x="6013174" y="2633870"/>
            <a:ext cx="24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108561-C295-4DFD-8DD9-22B44C205E5D}"/>
                  </a:ext>
                </a:extLst>
              </p:cNvPr>
              <p:cNvSpPr txBox="1"/>
              <p:nvPr/>
            </p:nvSpPr>
            <p:spPr>
              <a:xfrm>
                <a:off x="6281530" y="2703443"/>
                <a:ext cx="3081131" cy="39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108561-C295-4DFD-8DD9-22B44C205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30" y="2703443"/>
                <a:ext cx="3081131" cy="394788"/>
              </a:xfrm>
              <a:prstGeom prst="rect">
                <a:avLst/>
              </a:prstGeom>
              <a:blipFill>
                <a:blip r:embed="rId5"/>
                <a:stretch>
                  <a:fillRect l="-1581" t="-7692"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F3F13F-86B1-4A80-80DF-149644433AAE}"/>
                  </a:ext>
                </a:extLst>
              </p:cNvPr>
              <p:cNvSpPr txBox="1"/>
              <p:nvPr/>
            </p:nvSpPr>
            <p:spPr>
              <a:xfrm>
                <a:off x="3379304" y="3334261"/>
                <a:ext cx="5168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F3F13F-86B1-4A80-80DF-149644433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304" y="3334261"/>
                <a:ext cx="516835" cy="369332"/>
              </a:xfrm>
              <a:prstGeom prst="rect">
                <a:avLst/>
              </a:prstGeom>
              <a:blipFill>
                <a:blip r:embed="rId6"/>
                <a:stretch>
                  <a:fillRect l="-9412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6D6300E-036C-4426-A7C8-537325A2872B}"/>
              </a:ext>
            </a:extLst>
          </p:cNvPr>
          <p:cNvSpPr txBox="1"/>
          <p:nvPr/>
        </p:nvSpPr>
        <p:spPr>
          <a:xfrm>
            <a:off x="3823234" y="3307987"/>
            <a:ext cx="28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2A5E6-52C2-405B-9F37-5A254A76327F}"/>
              </a:ext>
            </a:extLst>
          </p:cNvPr>
          <p:cNvSpPr txBox="1"/>
          <p:nvPr/>
        </p:nvSpPr>
        <p:spPr>
          <a:xfrm>
            <a:off x="3967758" y="3318331"/>
            <a:ext cx="44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8364C5-B6E6-4FA8-B47C-6AB1A0B0629D}"/>
                  </a:ext>
                </a:extLst>
              </p:cNvPr>
              <p:cNvSpPr txBox="1"/>
              <p:nvPr/>
            </p:nvSpPr>
            <p:spPr>
              <a:xfrm>
                <a:off x="2769255" y="3785527"/>
                <a:ext cx="14709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Div </a:t>
                </a:r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D</a:t>
                </a:r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. D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8364C5-B6E6-4FA8-B47C-6AB1A0B06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255" y="3785527"/>
                <a:ext cx="1470991" cy="369332"/>
              </a:xfrm>
              <a:prstGeom prst="rect">
                <a:avLst/>
              </a:prstGeom>
              <a:blipFill>
                <a:blip r:embed="rId7"/>
                <a:stretch>
                  <a:fillRect l="-3306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A9F3C2-AFDC-411A-A0EA-27D6B5E159FE}"/>
                  </a:ext>
                </a:extLst>
              </p:cNvPr>
              <p:cNvSpPr txBox="1"/>
              <p:nvPr/>
            </p:nvSpPr>
            <p:spPr>
              <a:xfrm>
                <a:off x="243840" y="4368800"/>
                <a:ext cx="11104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Note</a:t>
                </a:r>
                <a:r>
                  <a:rPr lang="en-IN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b="1" dirty="0"/>
                  <a:t>. D </a:t>
                </a:r>
                <a:r>
                  <a:rPr lang="en-IN" dirty="0"/>
                  <a:t>in other Co-ordinate Systems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A9F3C2-AFDC-411A-A0EA-27D6B5E1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4368800"/>
                <a:ext cx="11104880" cy="369332"/>
              </a:xfrm>
              <a:prstGeom prst="rect">
                <a:avLst/>
              </a:prstGeom>
              <a:blipFill>
                <a:blip r:embed="rId8"/>
                <a:stretch>
                  <a:fillRect l="-43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D3A44-F81C-48FB-BDFF-A6F9D56BA4BC}"/>
                  </a:ext>
                </a:extLst>
              </p:cNvPr>
              <p:cNvSpPr txBox="1"/>
              <p:nvPr/>
            </p:nvSpPr>
            <p:spPr>
              <a:xfrm>
                <a:off x="1056640" y="4697214"/>
                <a:ext cx="3241040" cy="547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. D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D3A44-F81C-48FB-BDFF-A6F9D56BA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4697214"/>
                <a:ext cx="3241040" cy="547266"/>
              </a:xfrm>
              <a:prstGeom prst="rect">
                <a:avLst/>
              </a:prstGeom>
              <a:blipFill>
                <a:blip r:embed="rId9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03A29D6-31E3-464B-BAF8-DF693789B8FD}"/>
              </a:ext>
            </a:extLst>
          </p:cNvPr>
          <p:cNvSpPr txBox="1"/>
          <p:nvPr/>
        </p:nvSpPr>
        <p:spPr>
          <a:xfrm>
            <a:off x="7528560" y="494792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Rectangular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6B4040-7995-44E3-925E-CDF1E287ED9D}"/>
                  </a:ext>
                </a:extLst>
              </p:cNvPr>
              <p:cNvSpPr txBox="1"/>
              <p:nvPr/>
            </p:nvSpPr>
            <p:spPr>
              <a:xfrm>
                <a:off x="1463040" y="5296654"/>
                <a:ext cx="3159760" cy="549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=</a:t>
                </a:r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  +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6B4040-7995-44E3-925E-CDF1E287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5296654"/>
                <a:ext cx="3159760" cy="549509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D55C448-10A0-40F5-96CC-8790A4C8631D}"/>
              </a:ext>
            </a:extLst>
          </p:cNvPr>
          <p:cNvSpPr txBox="1"/>
          <p:nvPr/>
        </p:nvSpPr>
        <p:spPr>
          <a:xfrm>
            <a:off x="7508240" y="544576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Cylindrical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DEF7F2-1500-450A-98F3-BBA745999C6F}"/>
                  </a:ext>
                </a:extLst>
              </p:cNvPr>
              <p:cNvSpPr txBox="1"/>
              <p:nvPr/>
            </p:nvSpPr>
            <p:spPr>
              <a:xfrm>
                <a:off x="1473200" y="6028174"/>
                <a:ext cx="5191760" cy="533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=</a:t>
                </a:r>
                <a:r>
                  <a:rPr lang="en-IN" b="1" dirty="0">
                    <a:solidFill>
                      <a:srgbClr val="C00000"/>
                    </a:solidFill>
                    <a:latin typeface="+mj-lt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/>
                  <a:t>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𝑆𝑖𝑛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DEF7F2-1500-450A-98F3-BBA745999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0" y="6028174"/>
                <a:ext cx="5191760" cy="533288"/>
              </a:xfrm>
              <a:prstGeom prst="rect">
                <a:avLst/>
              </a:prstGeom>
              <a:blipFill>
                <a:blip r:embed="rId11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8FA4C7A-EE26-4D0A-93A3-1FA8CD6482EC}"/>
              </a:ext>
            </a:extLst>
          </p:cNvPr>
          <p:cNvSpPr txBox="1"/>
          <p:nvPr/>
        </p:nvSpPr>
        <p:spPr>
          <a:xfrm>
            <a:off x="7596221" y="607568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Spherical</a:t>
            </a:r>
          </a:p>
        </p:txBody>
      </p:sp>
    </p:spTree>
    <p:extLst>
      <p:ext uri="{BB962C8B-B14F-4D97-AF65-F5344CB8AC3E}">
        <p14:creationId xmlns:p14="http://schemas.microsoft.com/office/powerpoint/2010/main" val="18358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1" grpId="0"/>
      <p:bldP spid="12" grpId="0"/>
      <p:bldP spid="13" grpId="0"/>
      <p:bldP spid="6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6E3F6-2EF0-4A1C-ADAE-557A874D7B6D}"/>
              </a:ext>
            </a:extLst>
          </p:cNvPr>
          <p:cNvSpPr txBox="1"/>
          <p:nvPr/>
        </p:nvSpPr>
        <p:spPr>
          <a:xfrm>
            <a:off x="276447" y="446567"/>
            <a:ext cx="959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Maxwell’s First Equation from Gauss’s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1856C-E86A-47B6-83A1-860EEA6F0DD4}"/>
              </a:ext>
            </a:extLst>
          </p:cNvPr>
          <p:cNvSpPr txBox="1"/>
          <p:nvPr/>
        </p:nvSpPr>
        <p:spPr>
          <a:xfrm>
            <a:off x="671741" y="1068219"/>
            <a:ext cx="3338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Statement of Gauss’s law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9D9476-72F6-44E7-8391-D0DF7E149F36}"/>
                  </a:ext>
                </a:extLst>
              </p:cNvPr>
              <p:cNvSpPr txBox="1"/>
              <p:nvPr/>
            </p:nvSpPr>
            <p:spPr>
              <a:xfrm>
                <a:off x="3110497" y="1632098"/>
                <a:ext cx="1279966" cy="356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sz="2000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0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sz="2000" dirty="0"/>
                  <a:t> = </a:t>
                </a:r>
                <a:r>
                  <a:rPr lang="en-IN" sz="2000" i="1" dirty="0">
                    <a:latin typeface="+mj-lt"/>
                  </a:rPr>
                  <a:t>Q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9D9476-72F6-44E7-8391-D0DF7E14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497" y="1632098"/>
                <a:ext cx="1279966" cy="356893"/>
              </a:xfrm>
              <a:prstGeom prst="rect">
                <a:avLst/>
              </a:prstGeom>
              <a:blipFill>
                <a:blip r:embed="rId2"/>
                <a:stretch>
                  <a:fillRect l="-43810" t="-191379" r="-11429" b="-26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FD184-D238-4F12-921B-291669C073B4}"/>
                  </a:ext>
                </a:extLst>
              </p:cNvPr>
              <p:cNvSpPr txBox="1"/>
              <p:nvPr/>
            </p:nvSpPr>
            <p:spPr>
              <a:xfrm>
                <a:off x="712382" y="2243470"/>
                <a:ext cx="64220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latin typeface="+mj-lt"/>
                  </a:rPr>
                  <a:t> on both sides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FD184-D238-4F12-921B-291669C07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82" y="2243470"/>
                <a:ext cx="6422065" cy="400110"/>
              </a:xfrm>
              <a:prstGeom prst="rect">
                <a:avLst/>
              </a:prstGeom>
              <a:blipFill>
                <a:blip r:embed="rId3"/>
                <a:stretch>
                  <a:fillRect l="-1045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199B43-A5AA-4D55-AFB9-5B16F4DA0544}"/>
                  </a:ext>
                </a:extLst>
              </p:cNvPr>
              <p:cNvSpPr txBox="1"/>
              <p:nvPr/>
            </p:nvSpPr>
            <p:spPr>
              <a:xfrm>
                <a:off x="3050244" y="2810421"/>
                <a:ext cx="1658211" cy="599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pHide m:val="on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8"/>
                              </m:r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/>
                          <m:e>
                            <m:r>
                              <a:rPr lang="en-IN" sz="2400" b="1">
                                <a:latin typeface="Cambria Math" panose="02040503050406030204" pitchFamily="18" charset="0"/>
                              </a:rPr>
                              <m:t>𝐃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nary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IN" sz="2400" dirty="0"/>
                  <a:t>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199B43-A5AA-4D55-AFB9-5B16F4DA0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44" y="2810421"/>
                <a:ext cx="1658211" cy="599844"/>
              </a:xfrm>
              <a:prstGeom prst="rect">
                <a:avLst/>
              </a:prstGeom>
              <a:blipFill>
                <a:blip r:embed="rId4"/>
                <a:stretch>
                  <a:fillRect b="-173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2CE6B0-6510-4E16-818B-9889D4510232}"/>
              </a:ext>
            </a:extLst>
          </p:cNvPr>
          <p:cNvSpPr txBox="1"/>
          <p:nvPr/>
        </p:nvSpPr>
        <p:spPr>
          <a:xfrm>
            <a:off x="669851" y="3689970"/>
            <a:ext cx="520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Applying limit on both sides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DDF3C3-469E-4C14-9214-8C1688FDE0B5}"/>
                  </a:ext>
                </a:extLst>
              </p:cNvPr>
              <p:cNvSpPr txBox="1"/>
              <p:nvPr/>
            </p:nvSpPr>
            <p:spPr>
              <a:xfrm>
                <a:off x="2397760" y="4114800"/>
                <a:ext cx="376936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pHide m:val="on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8"/>
                                  </m:r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/>
                              <m:e>
                                <m:r>
                                  <a:rPr lang="en-IN" sz="2000" b="1"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000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nary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/>
                  <a:t>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DDF3C3-469E-4C14-9214-8C1688FDE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60" y="4114800"/>
                <a:ext cx="3769360" cy="618887"/>
              </a:xfrm>
              <a:prstGeom prst="rect">
                <a:avLst/>
              </a:prstGeom>
              <a:blipFill>
                <a:blip r:embed="rId9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DB9C20D-9A2B-4B33-8B4A-977F8042FDA3}"/>
              </a:ext>
            </a:extLst>
          </p:cNvPr>
          <p:cNvSpPr txBox="1"/>
          <p:nvPr/>
        </p:nvSpPr>
        <p:spPr>
          <a:xfrm>
            <a:off x="863600" y="4927600"/>
            <a:ext cx="622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8C8A01-9D97-4847-90EA-E9BD9DD601CA}"/>
                  </a:ext>
                </a:extLst>
              </p:cNvPr>
              <p:cNvSpPr txBox="1"/>
              <p:nvPr/>
            </p:nvSpPr>
            <p:spPr>
              <a:xfrm>
                <a:off x="2692400" y="5242560"/>
                <a:ext cx="18897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Div </a:t>
                </a:r>
                <a:r>
                  <a:rPr lang="en-IN" sz="2000" b="1" dirty="0">
                    <a:latin typeface="+mj-lt"/>
                  </a:rPr>
                  <a:t>D</a:t>
                </a:r>
                <a:r>
                  <a:rPr lang="en-IN" sz="2000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2000" dirty="0">
                    <a:latin typeface="+mj-lt"/>
                  </a:rPr>
                  <a:t>. </a:t>
                </a:r>
                <a:r>
                  <a:rPr lang="en-IN" sz="2000" b="1" dirty="0">
                    <a:latin typeface="+mj-lt"/>
                  </a:rPr>
                  <a:t>D</a:t>
                </a:r>
                <a:r>
                  <a:rPr lang="en-IN" sz="2000" dirty="0">
                    <a:latin typeface="+mj-lt"/>
                  </a:rPr>
                  <a:t>  =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8C8A01-9D97-4847-90EA-E9BD9DD60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400" y="5242560"/>
                <a:ext cx="1889760" cy="400110"/>
              </a:xfrm>
              <a:prstGeom prst="rect">
                <a:avLst/>
              </a:prstGeom>
              <a:blipFill>
                <a:blip r:embed="rId6"/>
                <a:stretch>
                  <a:fillRect l="-3548" t="-7576" r="-258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39C147-E5A7-4255-AA7B-9F21B94A9A59}"/>
                  </a:ext>
                </a:extLst>
              </p:cNvPr>
              <p:cNvSpPr txBox="1"/>
              <p:nvPr/>
            </p:nvSpPr>
            <p:spPr>
              <a:xfrm>
                <a:off x="4490720" y="5191760"/>
                <a:ext cx="528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39C147-E5A7-4255-AA7B-9F21B94A9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720" y="5191760"/>
                <a:ext cx="528320" cy="400110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27C773-A7BF-4035-9CCC-40B387497E29}"/>
                  </a:ext>
                </a:extLst>
              </p:cNvPr>
              <p:cNvSpPr txBox="1"/>
              <p:nvPr/>
            </p:nvSpPr>
            <p:spPr>
              <a:xfrm>
                <a:off x="3281680" y="6014720"/>
                <a:ext cx="13411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2000" dirty="0">
                    <a:solidFill>
                      <a:srgbClr val="C00000"/>
                    </a:solidFill>
                    <a:latin typeface="+mj-lt"/>
                  </a:rPr>
                  <a:t>. </a:t>
                </a:r>
                <a:r>
                  <a:rPr lang="en-IN" sz="2000" b="1" dirty="0">
                    <a:solidFill>
                      <a:srgbClr val="C00000"/>
                    </a:solidFill>
                    <a:latin typeface="+mj-lt"/>
                  </a:rPr>
                  <a:t>D</a:t>
                </a:r>
                <a:r>
                  <a:rPr lang="en-IN" sz="2000" dirty="0">
                    <a:solidFill>
                      <a:srgbClr val="C00000"/>
                    </a:solidFill>
                    <a:latin typeface="+mj-lt"/>
                  </a:rPr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sz="20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27C773-A7BF-4035-9CCC-40B387497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80" y="6014720"/>
                <a:ext cx="1341120" cy="400110"/>
              </a:xfrm>
              <a:prstGeom prst="rect">
                <a:avLst/>
              </a:prstGeom>
              <a:blipFill>
                <a:blip r:embed="rId8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A53FDEA-6E12-41E7-B382-84FBE2240D54}"/>
              </a:ext>
            </a:extLst>
          </p:cNvPr>
          <p:cNvSpPr txBox="1"/>
          <p:nvPr/>
        </p:nvSpPr>
        <p:spPr>
          <a:xfrm>
            <a:off x="4775200" y="6035040"/>
            <a:ext cx="392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Maxwell’s First Equation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3A731D-46E2-43EB-A0F7-8893F783A033}"/>
              </a:ext>
            </a:extLst>
          </p:cNvPr>
          <p:cNvSpPr/>
          <p:nvPr/>
        </p:nvSpPr>
        <p:spPr>
          <a:xfrm>
            <a:off x="3329609" y="6062870"/>
            <a:ext cx="1143000" cy="387626"/>
          </a:xfrm>
          <a:prstGeom prst="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9" grpId="0"/>
      <p:bldP spid="11" grpId="0"/>
      <p:bldP spid="12" grpId="0"/>
      <p:bldP spid="13" grpId="0"/>
      <p:bldP spid="14" grpId="0"/>
      <p:bldP spid="16" grpId="0"/>
      <p:bldP spid="18" grpId="0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9998C77-D50A-4943-8DEA-4C30AEB06AAC}"/>
              </a:ext>
            </a:extLst>
          </p:cNvPr>
          <p:cNvSpPr/>
          <p:nvPr/>
        </p:nvSpPr>
        <p:spPr>
          <a:xfrm>
            <a:off x="8503993" y="2587636"/>
            <a:ext cx="987878" cy="632642"/>
          </a:xfrm>
          <a:custGeom>
            <a:avLst/>
            <a:gdLst>
              <a:gd name="connsiteX0" fmla="*/ 0 w 1570383"/>
              <a:gd name="connsiteY0" fmla="*/ 591378 h 1182756"/>
              <a:gd name="connsiteX1" fmla="*/ 785192 w 1570383"/>
              <a:gd name="connsiteY1" fmla="*/ 0 h 1182756"/>
              <a:gd name="connsiteX2" fmla="*/ 1570384 w 1570383"/>
              <a:gd name="connsiteY2" fmla="*/ 591378 h 1182756"/>
              <a:gd name="connsiteX3" fmla="*/ 785192 w 1570383"/>
              <a:gd name="connsiteY3" fmla="*/ 1182756 h 1182756"/>
              <a:gd name="connsiteX4" fmla="*/ 0 w 1570383"/>
              <a:gd name="connsiteY4" fmla="*/ 591378 h 1182756"/>
              <a:gd name="connsiteX0" fmla="*/ 2150 w 1572534"/>
              <a:gd name="connsiteY0" fmla="*/ 591378 h 894892"/>
              <a:gd name="connsiteX1" fmla="*/ 787342 w 1572534"/>
              <a:gd name="connsiteY1" fmla="*/ 0 h 894892"/>
              <a:gd name="connsiteX2" fmla="*/ 1572534 w 1572534"/>
              <a:gd name="connsiteY2" fmla="*/ 591378 h 894892"/>
              <a:gd name="connsiteX3" fmla="*/ 628315 w 1572534"/>
              <a:gd name="connsiteY3" fmla="*/ 894522 h 894892"/>
              <a:gd name="connsiteX4" fmla="*/ 2150 w 1572534"/>
              <a:gd name="connsiteY4" fmla="*/ 591378 h 894892"/>
              <a:gd name="connsiteX0" fmla="*/ 13326 w 1583710"/>
              <a:gd name="connsiteY0" fmla="*/ 571500 h 875014"/>
              <a:gd name="connsiteX1" fmla="*/ 1106631 w 1583710"/>
              <a:gd name="connsiteY1" fmla="*/ 0 h 875014"/>
              <a:gd name="connsiteX2" fmla="*/ 1583710 w 1583710"/>
              <a:gd name="connsiteY2" fmla="*/ 571500 h 875014"/>
              <a:gd name="connsiteX3" fmla="*/ 639491 w 1583710"/>
              <a:gd name="connsiteY3" fmla="*/ 874644 h 875014"/>
              <a:gd name="connsiteX4" fmla="*/ 13326 w 1583710"/>
              <a:gd name="connsiteY4" fmla="*/ 571500 h 875014"/>
              <a:gd name="connsiteX0" fmla="*/ 8131 w 1237511"/>
              <a:gd name="connsiteY0" fmla="*/ 577490 h 884108"/>
              <a:gd name="connsiteX1" fmla="*/ 1101436 w 1237511"/>
              <a:gd name="connsiteY1" fmla="*/ 5990 h 884108"/>
              <a:gd name="connsiteX2" fmla="*/ 1220706 w 1237511"/>
              <a:gd name="connsiteY2" fmla="*/ 388647 h 884108"/>
              <a:gd name="connsiteX3" fmla="*/ 634296 w 1237511"/>
              <a:gd name="connsiteY3" fmla="*/ 880634 h 884108"/>
              <a:gd name="connsiteX4" fmla="*/ 8131 w 1237511"/>
              <a:gd name="connsiteY4" fmla="*/ 577490 h 884108"/>
              <a:gd name="connsiteX0" fmla="*/ 2404 w 1214979"/>
              <a:gd name="connsiteY0" fmla="*/ 512819 h 819266"/>
              <a:gd name="connsiteX1" fmla="*/ 867109 w 1214979"/>
              <a:gd name="connsiteY1" fmla="*/ 10893 h 819266"/>
              <a:gd name="connsiteX2" fmla="*/ 1214979 w 1214979"/>
              <a:gd name="connsiteY2" fmla="*/ 323976 h 819266"/>
              <a:gd name="connsiteX3" fmla="*/ 628569 w 1214979"/>
              <a:gd name="connsiteY3" fmla="*/ 815963 h 819266"/>
              <a:gd name="connsiteX4" fmla="*/ 2404 w 1214979"/>
              <a:gd name="connsiteY4" fmla="*/ 512819 h 819266"/>
              <a:gd name="connsiteX0" fmla="*/ 3281 w 1056830"/>
              <a:gd name="connsiteY0" fmla="*/ 333858 h 805990"/>
              <a:gd name="connsiteX1" fmla="*/ 708960 w 1056830"/>
              <a:gd name="connsiteY1" fmla="*/ 897 h 805990"/>
              <a:gd name="connsiteX2" fmla="*/ 1056830 w 1056830"/>
              <a:gd name="connsiteY2" fmla="*/ 313980 h 805990"/>
              <a:gd name="connsiteX3" fmla="*/ 470420 w 1056830"/>
              <a:gd name="connsiteY3" fmla="*/ 805967 h 805990"/>
              <a:gd name="connsiteX4" fmla="*/ 3281 w 1056830"/>
              <a:gd name="connsiteY4" fmla="*/ 333858 h 805990"/>
              <a:gd name="connsiteX0" fmla="*/ 3903 w 987878"/>
              <a:gd name="connsiteY0" fmla="*/ 438829 h 812630"/>
              <a:gd name="connsiteX1" fmla="*/ 640008 w 987878"/>
              <a:gd name="connsiteY1" fmla="*/ 6477 h 812630"/>
              <a:gd name="connsiteX2" fmla="*/ 987878 w 987878"/>
              <a:gd name="connsiteY2" fmla="*/ 319560 h 812630"/>
              <a:gd name="connsiteX3" fmla="*/ 401468 w 987878"/>
              <a:gd name="connsiteY3" fmla="*/ 811547 h 812630"/>
              <a:gd name="connsiteX4" fmla="*/ 3903 w 987878"/>
              <a:gd name="connsiteY4" fmla="*/ 438829 h 81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878" h="812630">
                <a:moveTo>
                  <a:pt x="3903" y="438829"/>
                </a:moveTo>
                <a:cubicBezTo>
                  <a:pt x="43660" y="304651"/>
                  <a:pt x="476012" y="26355"/>
                  <a:pt x="640008" y="6477"/>
                </a:cubicBezTo>
                <a:cubicBezTo>
                  <a:pt x="804004" y="-13401"/>
                  <a:pt x="987878" y="-7049"/>
                  <a:pt x="987878" y="319560"/>
                </a:cubicBezTo>
                <a:cubicBezTo>
                  <a:pt x="987878" y="646169"/>
                  <a:pt x="565464" y="791669"/>
                  <a:pt x="401468" y="811547"/>
                </a:cubicBezTo>
                <a:cubicBezTo>
                  <a:pt x="237472" y="831425"/>
                  <a:pt x="-35854" y="573007"/>
                  <a:pt x="3903" y="43882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377E83-1579-46D5-8006-FC0C4AC1100C}"/>
              </a:ext>
            </a:extLst>
          </p:cNvPr>
          <p:cNvSpPr/>
          <p:nvPr/>
        </p:nvSpPr>
        <p:spPr>
          <a:xfrm>
            <a:off x="7843809" y="1839326"/>
            <a:ext cx="2771181" cy="1887847"/>
          </a:xfrm>
          <a:custGeom>
            <a:avLst/>
            <a:gdLst>
              <a:gd name="connsiteX0" fmla="*/ 0 w 1981200"/>
              <a:gd name="connsiteY0" fmla="*/ 731520 h 1463040"/>
              <a:gd name="connsiteX1" fmla="*/ 990600 w 1981200"/>
              <a:gd name="connsiteY1" fmla="*/ 0 h 1463040"/>
              <a:gd name="connsiteX2" fmla="*/ 1981200 w 1981200"/>
              <a:gd name="connsiteY2" fmla="*/ 731520 h 1463040"/>
              <a:gd name="connsiteX3" fmla="*/ 990600 w 1981200"/>
              <a:gd name="connsiteY3" fmla="*/ 1463040 h 1463040"/>
              <a:gd name="connsiteX4" fmla="*/ 0 w 1981200"/>
              <a:gd name="connsiteY4" fmla="*/ 731520 h 1463040"/>
              <a:gd name="connsiteX0" fmla="*/ 0 w 2560320"/>
              <a:gd name="connsiteY0" fmla="*/ 777332 h 1517483"/>
              <a:gd name="connsiteX1" fmla="*/ 990600 w 2560320"/>
              <a:gd name="connsiteY1" fmla="*/ 45812 h 1517483"/>
              <a:gd name="connsiteX2" fmla="*/ 2560320 w 2560320"/>
              <a:gd name="connsiteY2" fmla="*/ 340452 h 1517483"/>
              <a:gd name="connsiteX3" fmla="*/ 990600 w 2560320"/>
              <a:gd name="connsiteY3" fmla="*/ 1508852 h 1517483"/>
              <a:gd name="connsiteX4" fmla="*/ 0 w 2560320"/>
              <a:gd name="connsiteY4" fmla="*/ 777332 h 1517483"/>
              <a:gd name="connsiteX0" fmla="*/ 4577 w 2564897"/>
              <a:gd name="connsiteY0" fmla="*/ 777332 h 1175486"/>
              <a:gd name="connsiteX1" fmla="*/ 995177 w 2564897"/>
              <a:gd name="connsiteY1" fmla="*/ 45812 h 1175486"/>
              <a:gd name="connsiteX2" fmla="*/ 2564897 w 2564897"/>
              <a:gd name="connsiteY2" fmla="*/ 340452 h 1175486"/>
              <a:gd name="connsiteX3" fmla="*/ 710697 w 2564897"/>
              <a:gd name="connsiteY3" fmla="*/ 1163412 h 1175486"/>
              <a:gd name="connsiteX4" fmla="*/ 4577 w 2564897"/>
              <a:gd name="connsiteY4" fmla="*/ 777332 h 1175486"/>
              <a:gd name="connsiteX0" fmla="*/ 3538 w 2695938"/>
              <a:gd name="connsiteY0" fmla="*/ 428157 h 1139824"/>
              <a:gd name="connsiteX1" fmla="*/ 1126218 w 2695938"/>
              <a:gd name="connsiteY1" fmla="*/ 21757 h 1139824"/>
              <a:gd name="connsiteX2" fmla="*/ 2695938 w 2695938"/>
              <a:gd name="connsiteY2" fmla="*/ 316397 h 1139824"/>
              <a:gd name="connsiteX3" fmla="*/ 841738 w 2695938"/>
              <a:gd name="connsiteY3" fmla="*/ 1139357 h 1139824"/>
              <a:gd name="connsiteX4" fmla="*/ 3538 w 2695938"/>
              <a:gd name="connsiteY4" fmla="*/ 428157 h 1139824"/>
              <a:gd name="connsiteX0" fmla="*/ 4793 w 2544793"/>
              <a:gd name="connsiteY0" fmla="*/ 482713 h 1144169"/>
              <a:gd name="connsiteX1" fmla="*/ 975073 w 2544793"/>
              <a:gd name="connsiteY1" fmla="*/ 25513 h 1144169"/>
              <a:gd name="connsiteX2" fmla="*/ 2544793 w 2544793"/>
              <a:gd name="connsiteY2" fmla="*/ 320153 h 1144169"/>
              <a:gd name="connsiteX3" fmla="*/ 690593 w 2544793"/>
              <a:gd name="connsiteY3" fmla="*/ 1143113 h 1144169"/>
              <a:gd name="connsiteX4" fmla="*/ 4793 w 2544793"/>
              <a:gd name="connsiteY4" fmla="*/ 482713 h 1144169"/>
              <a:gd name="connsiteX0" fmla="*/ 4230 w 2249590"/>
              <a:gd name="connsiteY0" fmla="*/ 523409 h 1186264"/>
              <a:gd name="connsiteX1" fmla="*/ 974510 w 2249590"/>
              <a:gd name="connsiteY1" fmla="*/ 66209 h 1186264"/>
              <a:gd name="connsiteX2" fmla="*/ 2249590 w 2249590"/>
              <a:gd name="connsiteY2" fmla="*/ 269409 h 1186264"/>
              <a:gd name="connsiteX3" fmla="*/ 690030 w 2249590"/>
              <a:gd name="connsiteY3" fmla="*/ 1183809 h 1186264"/>
              <a:gd name="connsiteX4" fmla="*/ 4230 w 2249590"/>
              <a:gd name="connsiteY4" fmla="*/ 523409 h 1186264"/>
              <a:gd name="connsiteX0" fmla="*/ 11163 w 2256523"/>
              <a:gd name="connsiteY0" fmla="*/ 646106 h 1309095"/>
              <a:gd name="connsiteX1" fmla="*/ 1194803 w 2256523"/>
              <a:gd name="connsiteY1" fmla="*/ 16186 h 1309095"/>
              <a:gd name="connsiteX2" fmla="*/ 2256523 w 2256523"/>
              <a:gd name="connsiteY2" fmla="*/ 392106 h 1309095"/>
              <a:gd name="connsiteX3" fmla="*/ 696963 w 2256523"/>
              <a:gd name="connsiteY3" fmla="*/ 1306506 h 1309095"/>
              <a:gd name="connsiteX4" fmla="*/ 11163 w 2256523"/>
              <a:gd name="connsiteY4" fmla="*/ 646106 h 1309095"/>
              <a:gd name="connsiteX0" fmla="*/ 45156 w 2290516"/>
              <a:gd name="connsiteY0" fmla="*/ 646106 h 1107139"/>
              <a:gd name="connsiteX1" fmla="*/ 1228796 w 2290516"/>
              <a:gd name="connsiteY1" fmla="*/ 16186 h 1107139"/>
              <a:gd name="connsiteX2" fmla="*/ 2290516 w 2290516"/>
              <a:gd name="connsiteY2" fmla="*/ 392106 h 1107139"/>
              <a:gd name="connsiteX3" fmla="*/ 446476 w 2290516"/>
              <a:gd name="connsiteY3" fmla="*/ 1103306 h 1107139"/>
              <a:gd name="connsiteX4" fmla="*/ 45156 w 2290516"/>
              <a:gd name="connsiteY4" fmla="*/ 646106 h 1107139"/>
              <a:gd name="connsiteX0" fmla="*/ 49453 w 2487853"/>
              <a:gd name="connsiteY0" fmla="*/ 630718 h 1088376"/>
              <a:gd name="connsiteX1" fmla="*/ 1233093 w 2487853"/>
              <a:gd name="connsiteY1" fmla="*/ 798 h 1088376"/>
              <a:gd name="connsiteX2" fmla="*/ 2487853 w 2487853"/>
              <a:gd name="connsiteY2" fmla="*/ 549438 h 1088376"/>
              <a:gd name="connsiteX3" fmla="*/ 450773 w 2487853"/>
              <a:gd name="connsiteY3" fmla="*/ 1087918 h 1088376"/>
              <a:gd name="connsiteX4" fmla="*/ 49453 w 2487853"/>
              <a:gd name="connsiteY4" fmla="*/ 630718 h 1088376"/>
              <a:gd name="connsiteX0" fmla="*/ 47806 w 2415086"/>
              <a:gd name="connsiteY0" fmla="*/ 671858 h 1135648"/>
              <a:gd name="connsiteX1" fmla="*/ 1231446 w 2415086"/>
              <a:gd name="connsiteY1" fmla="*/ 41938 h 1135648"/>
              <a:gd name="connsiteX2" fmla="*/ 2415086 w 2415086"/>
              <a:gd name="connsiteY2" fmla="*/ 326418 h 1135648"/>
              <a:gd name="connsiteX3" fmla="*/ 449126 w 2415086"/>
              <a:gd name="connsiteY3" fmla="*/ 1129058 h 1135648"/>
              <a:gd name="connsiteX4" fmla="*/ 47806 w 2415086"/>
              <a:gd name="connsiteY4" fmla="*/ 671858 h 1135648"/>
              <a:gd name="connsiteX0" fmla="*/ 44116 w 2238676"/>
              <a:gd name="connsiteY0" fmla="*/ 632485 h 1090839"/>
              <a:gd name="connsiteX1" fmla="*/ 1227756 w 2238676"/>
              <a:gd name="connsiteY1" fmla="*/ 2565 h 1090839"/>
              <a:gd name="connsiteX2" fmla="*/ 2238676 w 2238676"/>
              <a:gd name="connsiteY2" fmla="*/ 500405 h 1090839"/>
              <a:gd name="connsiteX3" fmla="*/ 445436 w 2238676"/>
              <a:gd name="connsiteY3" fmla="*/ 1089685 h 1090839"/>
              <a:gd name="connsiteX4" fmla="*/ 44116 w 2238676"/>
              <a:gd name="connsiteY4" fmla="*/ 632485 h 1090839"/>
              <a:gd name="connsiteX0" fmla="*/ 55718 w 2250278"/>
              <a:gd name="connsiteY0" fmla="*/ 730848 h 1189264"/>
              <a:gd name="connsiteX1" fmla="*/ 1408323 w 2250278"/>
              <a:gd name="connsiteY1" fmla="*/ 1536 h 1189264"/>
              <a:gd name="connsiteX2" fmla="*/ 2250278 w 2250278"/>
              <a:gd name="connsiteY2" fmla="*/ 598768 h 1189264"/>
              <a:gd name="connsiteX3" fmla="*/ 457038 w 2250278"/>
              <a:gd name="connsiteY3" fmla="*/ 1188048 h 1189264"/>
              <a:gd name="connsiteX4" fmla="*/ 55718 w 2250278"/>
              <a:gd name="connsiteY4" fmla="*/ 730848 h 1189264"/>
              <a:gd name="connsiteX0" fmla="*/ 56406 w 2250966"/>
              <a:gd name="connsiteY0" fmla="*/ 839699 h 1298192"/>
              <a:gd name="connsiteX1" fmla="*/ 1418950 w 2250966"/>
              <a:gd name="connsiteY1" fmla="*/ 1057 h 1298192"/>
              <a:gd name="connsiteX2" fmla="*/ 2250966 w 2250966"/>
              <a:gd name="connsiteY2" fmla="*/ 707619 h 1298192"/>
              <a:gd name="connsiteX3" fmla="*/ 457726 w 2250966"/>
              <a:gd name="connsiteY3" fmla="*/ 1296899 h 1298192"/>
              <a:gd name="connsiteX4" fmla="*/ 56406 w 2250966"/>
              <a:gd name="connsiteY4" fmla="*/ 839699 h 1298192"/>
              <a:gd name="connsiteX0" fmla="*/ 62630 w 2257190"/>
              <a:gd name="connsiteY0" fmla="*/ 740728 h 1199151"/>
              <a:gd name="connsiteX1" fmla="*/ 1514626 w 2257190"/>
              <a:gd name="connsiteY1" fmla="*/ 1477 h 1199151"/>
              <a:gd name="connsiteX2" fmla="*/ 2257190 w 2257190"/>
              <a:gd name="connsiteY2" fmla="*/ 608648 h 1199151"/>
              <a:gd name="connsiteX3" fmla="*/ 463950 w 2257190"/>
              <a:gd name="connsiteY3" fmla="*/ 1197928 h 1199151"/>
              <a:gd name="connsiteX4" fmla="*/ 62630 w 2257190"/>
              <a:gd name="connsiteY4" fmla="*/ 740728 h 1199151"/>
              <a:gd name="connsiteX0" fmla="*/ 63770 w 2308025"/>
              <a:gd name="connsiteY0" fmla="*/ 739634 h 1197225"/>
              <a:gd name="connsiteX1" fmla="*/ 1515766 w 2308025"/>
              <a:gd name="connsiteY1" fmla="*/ 383 h 1197225"/>
              <a:gd name="connsiteX2" fmla="*/ 2308025 w 2308025"/>
              <a:gd name="connsiteY2" fmla="*/ 667189 h 1197225"/>
              <a:gd name="connsiteX3" fmla="*/ 465090 w 2308025"/>
              <a:gd name="connsiteY3" fmla="*/ 1196834 h 1197225"/>
              <a:gd name="connsiteX4" fmla="*/ 63770 w 2308025"/>
              <a:gd name="connsiteY4" fmla="*/ 739634 h 1197225"/>
              <a:gd name="connsiteX0" fmla="*/ 63770 w 2308025"/>
              <a:gd name="connsiteY0" fmla="*/ 741313 h 1200100"/>
              <a:gd name="connsiteX1" fmla="*/ 1515766 w 2308025"/>
              <a:gd name="connsiteY1" fmla="*/ 2062 h 1200100"/>
              <a:gd name="connsiteX2" fmla="*/ 2308025 w 2308025"/>
              <a:gd name="connsiteY2" fmla="*/ 589355 h 1200100"/>
              <a:gd name="connsiteX3" fmla="*/ 465090 w 2308025"/>
              <a:gd name="connsiteY3" fmla="*/ 1198513 h 1200100"/>
              <a:gd name="connsiteX4" fmla="*/ 63770 w 2308025"/>
              <a:gd name="connsiteY4" fmla="*/ 741313 h 1200100"/>
              <a:gd name="connsiteX0" fmla="*/ 70829 w 2315084"/>
              <a:gd name="connsiteY0" fmla="*/ 741313 h 1032480"/>
              <a:gd name="connsiteX1" fmla="*/ 1522825 w 2315084"/>
              <a:gd name="connsiteY1" fmla="*/ 2062 h 1032480"/>
              <a:gd name="connsiteX2" fmla="*/ 2315084 w 2315084"/>
              <a:gd name="connsiteY2" fmla="*/ 589355 h 1032480"/>
              <a:gd name="connsiteX3" fmla="*/ 442332 w 2315084"/>
              <a:gd name="connsiteY3" fmla="*/ 1029548 h 1032480"/>
              <a:gd name="connsiteX4" fmla="*/ 70829 w 2315084"/>
              <a:gd name="connsiteY4" fmla="*/ 741313 h 103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5084" h="1032480">
                <a:moveTo>
                  <a:pt x="70829" y="741313"/>
                </a:moveTo>
                <a:cubicBezTo>
                  <a:pt x="250911" y="570065"/>
                  <a:pt x="1148782" y="27388"/>
                  <a:pt x="1522825" y="2062"/>
                </a:cubicBezTo>
                <a:cubicBezTo>
                  <a:pt x="1896868" y="-23264"/>
                  <a:pt x="2315084" y="185348"/>
                  <a:pt x="2315084" y="589355"/>
                </a:cubicBezTo>
                <a:cubicBezTo>
                  <a:pt x="2315084" y="993362"/>
                  <a:pt x="816375" y="1004222"/>
                  <a:pt x="442332" y="1029548"/>
                </a:cubicBezTo>
                <a:cubicBezTo>
                  <a:pt x="68289" y="1054874"/>
                  <a:pt x="-109253" y="912561"/>
                  <a:pt x="70829" y="741313"/>
                </a:cubicBezTo>
                <a:close/>
              </a:path>
            </a:pathLst>
          </a:custGeom>
          <a:gradFill>
            <a:gsLst>
              <a:gs pos="88440">
                <a:srgbClr val="AEC2E5"/>
              </a:gs>
              <a:gs pos="51000">
                <a:schemeClr val="accent1">
                  <a:lumMod val="5000"/>
                  <a:lumOff val="95000"/>
                  <a:alpha val="25000"/>
                </a:schemeClr>
              </a:gs>
              <a:gs pos="7000">
                <a:schemeClr val="accent1">
                  <a:lumMod val="45000"/>
                  <a:lumOff val="55000"/>
                </a:schemeClr>
              </a:gs>
              <a:gs pos="9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D0224-8BAF-441A-BDEE-AB4953BE29DC}"/>
              </a:ext>
            </a:extLst>
          </p:cNvPr>
          <p:cNvSpPr txBox="1"/>
          <p:nvPr/>
        </p:nvSpPr>
        <p:spPr>
          <a:xfrm>
            <a:off x="416560" y="416560"/>
            <a:ext cx="708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Divergence Theorem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1EEC3-863F-4760-A051-0EDB937376F5}"/>
              </a:ext>
            </a:extLst>
          </p:cNvPr>
          <p:cNvSpPr txBox="1"/>
          <p:nvPr/>
        </p:nvSpPr>
        <p:spPr>
          <a:xfrm>
            <a:off x="619760" y="1178560"/>
            <a:ext cx="708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Statement of Gauss’s Law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9E841B-A32A-482C-9F1D-8C52E4A8A137}"/>
                  </a:ext>
                </a:extLst>
              </p:cNvPr>
              <p:cNvSpPr txBox="1"/>
              <p:nvPr/>
            </p:nvSpPr>
            <p:spPr>
              <a:xfrm>
                <a:off x="2540000" y="1828800"/>
                <a:ext cx="462280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9E841B-A32A-482C-9F1D-8C52E4A8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0" y="1828800"/>
                <a:ext cx="4622800" cy="412164"/>
              </a:xfrm>
              <a:prstGeom prst="rect">
                <a:avLst/>
              </a:prstGeom>
              <a:blipFill>
                <a:blip r:embed="rId2"/>
                <a:stretch>
                  <a:fillRect l="-8971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19A7249-B9A5-4D96-B660-228FD67B7474}"/>
              </a:ext>
            </a:extLst>
          </p:cNvPr>
          <p:cNvSpPr txBox="1"/>
          <p:nvPr/>
        </p:nvSpPr>
        <p:spPr>
          <a:xfrm>
            <a:off x="8567532" y="2773017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D81AF-AAFF-4ABD-9999-7CDC0A0EED8E}"/>
              </a:ext>
            </a:extLst>
          </p:cNvPr>
          <p:cNvSpPr txBox="1"/>
          <p:nvPr/>
        </p:nvSpPr>
        <p:spPr>
          <a:xfrm>
            <a:off x="8789506" y="2627243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47E7B-536C-4C1A-9B6A-3C06C5AB3915}"/>
              </a:ext>
            </a:extLst>
          </p:cNvPr>
          <p:cNvSpPr txBox="1"/>
          <p:nvPr/>
        </p:nvSpPr>
        <p:spPr>
          <a:xfrm>
            <a:off x="8809385" y="2925417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39CC8-05A3-450F-AFC5-96FA37B90061}"/>
                  </a:ext>
                </a:extLst>
              </p:cNvPr>
              <p:cNvSpPr txBox="1"/>
              <p:nvPr/>
            </p:nvSpPr>
            <p:spPr>
              <a:xfrm>
                <a:off x="8895522" y="2514600"/>
                <a:ext cx="6957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39CC8-05A3-450F-AFC5-96FA37B90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2" y="2514600"/>
                <a:ext cx="695739" cy="30777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66F8594-8B9F-4F18-92FC-A24C7517A3A8}"/>
              </a:ext>
            </a:extLst>
          </p:cNvPr>
          <p:cNvSpPr txBox="1"/>
          <p:nvPr/>
        </p:nvSpPr>
        <p:spPr>
          <a:xfrm>
            <a:off x="7851913" y="3180522"/>
            <a:ext cx="51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4148D-DC26-42D5-ABAA-7F5C19D4C0B1}"/>
              </a:ext>
            </a:extLst>
          </p:cNvPr>
          <p:cNvSpPr txBox="1"/>
          <p:nvPr/>
        </p:nvSpPr>
        <p:spPr>
          <a:xfrm>
            <a:off x="1709530" y="2375453"/>
            <a:ext cx="3816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 To calculate the charge enclosed 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79235278-D61C-4E3D-90DA-897925A9DDD1}"/>
              </a:ext>
            </a:extLst>
          </p:cNvPr>
          <p:cNvSpPr/>
          <p:nvPr/>
        </p:nvSpPr>
        <p:spPr>
          <a:xfrm>
            <a:off x="9163878" y="2892287"/>
            <a:ext cx="139147" cy="109331"/>
          </a:xfrm>
          <a:prstGeom prst="cub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301BE-0C41-4FF5-B591-94F3B0FDC3A2}"/>
              </a:ext>
            </a:extLst>
          </p:cNvPr>
          <p:cNvSpPr txBox="1"/>
          <p:nvPr/>
        </p:nvSpPr>
        <p:spPr>
          <a:xfrm>
            <a:off x="9362662" y="275313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358EEF-7B50-4610-AB71-0FF3A9FF8834}"/>
                  </a:ext>
                </a:extLst>
              </p:cNvPr>
              <p:cNvSpPr txBox="1"/>
              <p:nvPr/>
            </p:nvSpPr>
            <p:spPr>
              <a:xfrm>
                <a:off x="8776252" y="4045226"/>
                <a:ext cx="1987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dv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358EEF-7B50-4610-AB71-0FF3A9FF8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252" y="4045226"/>
                <a:ext cx="1987826" cy="369332"/>
              </a:xfrm>
              <a:prstGeom prst="rect">
                <a:avLst/>
              </a:prstGeom>
              <a:blipFill>
                <a:blip r:embed="rId4"/>
                <a:stretch>
                  <a:fillRect l="-276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42F04D-5780-4D2E-BA63-0C3693B18454}"/>
                  </a:ext>
                </a:extLst>
              </p:cNvPr>
              <p:cNvSpPr txBox="1"/>
              <p:nvPr/>
            </p:nvSpPr>
            <p:spPr>
              <a:xfrm>
                <a:off x="8348870" y="4581939"/>
                <a:ext cx="2683565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42F04D-5780-4D2E-BA63-0C3693B18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870" y="4581939"/>
                <a:ext cx="2683565" cy="413575"/>
              </a:xfrm>
              <a:prstGeom prst="rect">
                <a:avLst/>
              </a:prstGeom>
              <a:blipFill>
                <a:blip r:embed="rId5"/>
                <a:stretch>
                  <a:fillRect l="-455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AEDF1A-945C-4739-B59A-6D2EC1CDF3A2}"/>
                  </a:ext>
                </a:extLst>
              </p:cNvPr>
              <p:cNvSpPr txBox="1"/>
              <p:nvPr/>
            </p:nvSpPr>
            <p:spPr>
              <a:xfrm>
                <a:off x="3314700" y="2892287"/>
                <a:ext cx="1565414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>
                    <a:latin typeface="+mj-lt"/>
                  </a:rPr>
                  <a:t>dv</a:t>
                </a:r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AEDF1A-945C-4739-B59A-6D2EC1CD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0" y="2892287"/>
                <a:ext cx="1565414" cy="413575"/>
              </a:xfrm>
              <a:prstGeom prst="rect">
                <a:avLst/>
              </a:prstGeom>
              <a:blipFill>
                <a:blip r:embed="rId6"/>
                <a:stretch>
                  <a:fillRect l="-14008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C1A5A7F-E82A-4476-8162-E5270BF8BB06}"/>
              </a:ext>
            </a:extLst>
          </p:cNvPr>
          <p:cNvSpPr txBox="1"/>
          <p:nvPr/>
        </p:nvSpPr>
        <p:spPr>
          <a:xfrm>
            <a:off x="1686416" y="3427613"/>
            <a:ext cx="5422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the Maxwell’s First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3E83D0-0A6B-4192-9663-8540F6F1E5F2}"/>
                  </a:ext>
                </a:extLst>
              </p:cNvPr>
              <p:cNvSpPr txBox="1"/>
              <p:nvPr/>
            </p:nvSpPr>
            <p:spPr>
              <a:xfrm>
                <a:off x="2815086" y="3903073"/>
                <a:ext cx="36150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latin typeface="+mj-lt"/>
                  </a:rPr>
                  <a:t>.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3E83D0-0A6B-4192-9663-8540F6F1E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086" y="3903073"/>
                <a:ext cx="361507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6E54F8-187E-4ED2-A168-B2A00C4F5FFB}"/>
                  </a:ext>
                </a:extLst>
              </p:cNvPr>
              <p:cNvSpPr txBox="1"/>
              <p:nvPr/>
            </p:nvSpPr>
            <p:spPr>
              <a:xfrm>
                <a:off x="1818630" y="4342938"/>
                <a:ext cx="58691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</m:oMath>
                </a14:m>
                <a:r>
                  <a:rPr lang="en-IN" sz="2000" dirty="0">
                    <a:latin typeface="+mj-lt"/>
                  </a:rPr>
                  <a:t>.</a:t>
                </a:r>
                <a:r>
                  <a:rPr lang="en-IN" sz="2000" b="1" dirty="0">
                    <a:latin typeface="+mj-lt"/>
                  </a:rPr>
                  <a:t>D</a:t>
                </a:r>
                <a:r>
                  <a:rPr lang="en-IN" sz="2000" dirty="0">
                    <a:latin typeface="+mj-lt"/>
                  </a:rPr>
                  <a:t> in place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2000" b="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6E54F8-187E-4ED2-A168-B2A00C4F5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30" y="4342938"/>
                <a:ext cx="5869172" cy="400110"/>
              </a:xfrm>
              <a:prstGeom prst="rect">
                <a:avLst/>
              </a:prstGeom>
              <a:blipFill>
                <a:blip r:embed="rId8"/>
                <a:stretch>
                  <a:fillRect l="-1038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29BD28-67C7-4F37-A7F3-C6B52BB9F7FE}"/>
                  </a:ext>
                </a:extLst>
              </p:cNvPr>
              <p:cNvSpPr txBox="1"/>
              <p:nvPr/>
            </p:nvSpPr>
            <p:spPr>
              <a:xfrm>
                <a:off x="2280914" y="5107559"/>
                <a:ext cx="2658834" cy="44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IN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 </a:t>
                </a:r>
                <a:r>
                  <a:rPr lang="en-IN" sz="2000" i="1" dirty="0">
                    <a:solidFill>
                      <a:srgbClr val="C00000"/>
                    </a:solidFill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29BD28-67C7-4F37-A7F3-C6B52BB9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14" y="5107559"/>
                <a:ext cx="2658834" cy="449290"/>
              </a:xfrm>
              <a:prstGeom prst="rect">
                <a:avLst/>
              </a:prstGeom>
              <a:blipFill>
                <a:blip r:embed="rId9"/>
                <a:stretch>
                  <a:fillRect l="-17661" t="-139189" r="-459" b="-1972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475068B5-CEBC-4948-9E4C-7C777F01196C}"/>
              </a:ext>
            </a:extLst>
          </p:cNvPr>
          <p:cNvSpPr/>
          <p:nvPr/>
        </p:nvSpPr>
        <p:spPr>
          <a:xfrm>
            <a:off x="2329070" y="5074920"/>
            <a:ext cx="2519680" cy="447040"/>
          </a:xfrm>
          <a:prstGeom prst="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E2CB16-E8E2-4BFA-8107-DAF43BCDE4DF}"/>
              </a:ext>
            </a:extLst>
          </p:cNvPr>
          <p:cNvSpPr/>
          <p:nvPr/>
        </p:nvSpPr>
        <p:spPr>
          <a:xfrm rot="12834483">
            <a:off x="9936310" y="2092499"/>
            <a:ext cx="165002" cy="147038"/>
          </a:xfrm>
          <a:custGeom>
            <a:avLst/>
            <a:gdLst>
              <a:gd name="connsiteX0" fmla="*/ 0 w 1023730"/>
              <a:gd name="connsiteY0" fmla="*/ 124241 h 745434"/>
              <a:gd name="connsiteX1" fmla="*/ 124241 w 1023730"/>
              <a:gd name="connsiteY1" fmla="*/ 0 h 745434"/>
              <a:gd name="connsiteX2" fmla="*/ 899489 w 1023730"/>
              <a:gd name="connsiteY2" fmla="*/ 0 h 745434"/>
              <a:gd name="connsiteX3" fmla="*/ 1023730 w 1023730"/>
              <a:gd name="connsiteY3" fmla="*/ 124241 h 745434"/>
              <a:gd name="connsiteX4" fmla="*/ 1023730 w 1023730"/>
              <a:gd name="connsiteY4" fmla="*/ 621193 h 745434"/>
              <a:gd name="connsiteX5" fmla="*/ 899489 w 1023730"/>
              <a:gd name="connsiteY5" fmla="*/ 745434 h 745434"/>
              <a:gd name="connsiteX6" fmla="*/ 124241 w 1023730"/>
              <a:gd name="connsiteY6" fmla="*/ 745434 h 745434"/>
              <a:gd name="connsiteX7" fmla="*/ 0 w 1023730"/>
              <a:gd name="connsiteY7" fmla="*/ 621193 h 745434"/>
              <a:gd name="connsiteX8" fmla="*/ 0 w 1023730"/>
              <a:gd name="connsiteY8" fmla="*/ 124241 h 745434"/>
              <a:gd name="connsiteX0" fmla="*/ 0 w 1023730"/>
              <a:gd name="connsiteY0" fmla="*/ 124241 h 745434"/>
              <a:gd name="connsiteX1" fmla="*/ 124241 w 1023730"/>
              <a:gd name="connsiteY1" fmla="*/ 0 h 745434"/>
              <a:gd name="connsiteX2" fmla="*/ 849793 w 1023730"/>
              <a:gd name="connsiteY2" fmla="*/ 79514 h 745434"/>
              <a:gd name="connsiteX3" fmla="*/ 1023730 w 1023730"/>
              <a:gd name="connsiteY3" fmla="*/ 124241 h 745434"/>
              <a:gd name="connsiteX4" fmla="*/ 1023730 w 1023730"/>
              <a:gd name="connsiteY4" fmla="*/ 621193 h 745434"/>
              <a:gd name="connsiteX5" fmla="*/ 899489 w 1023730"/>
              <a:gd name="connsiteY5" fmla="*/ 745434 h 745434"/>
              <a:gd name="connsiteX6" fmla="*/ 124241 w 1023730"/>
              <a:gd name="connsiteY6" fmla="*/ 745434 h 745434"/>
              <a:gd name="connsiteX7" fmla="*/ 0 w 1023730"/>
              <a:gd name="connsiteY7" fmla="*/ 621193 h 745434"/>
              <a:gd name="connsiteX8" fmla="*/ 0 w 1023730"/>
              <a:gd name="connsiteY8" fmla="*/ 124241 h 745434"/>
              <a:gd name="connsiteX0" fmla="*/ 0 w 1023730"/>
              <a:gd name="connsiteY0" fmla="*/ 48753 h 669946"/>
              <a:gd name="connsiteX1" fmla="*/ 223632 w 1023730"/>
              <a:gd name="connsiteY1" fmla="*/ 43782 h 669946"/>
              <a:gd name="connsiteX2" fmla="*/ 849793 w 1023730"/>
              <a:gd name="connsiteY2" fmla="*/ 4026 h 669946"/>
              <a:gd name="connsiteX3" fmla="*/ 1023730 w 1023730"/>
              <a:gd name="connsiteY3" fmla="*/ 48753 h 669946"/>
              <a:gd name="connsiteX4" fmla="*/ 1023730 w 1023730"/>
              <a:gd name="connsiteY4" fmla="*/ 545705 h 669946"/>
              <a:gd name="connsiteX5" fmla="*/ 899489 w 1023730"/>
              <a:gd name="connsiteY5" fmla="*/ 669946 h 669946"/>
              <a:gd name="connsiteX6" fmla="*/ 124241 w 1023730"/>
              <a:gd name="connsiteY6" fmla="*/ 669946 h 669946"/>
              <a:gd name="connsiteX7" fmla="*/ 0 w 1023730"/>
              <a:gd name="connsiteY7" fmla="*/ 545705 h 669946"/>
              <a:gd name="connsiteX8" fmla="*/ 0 w 1023730"/>
              <a:gd name="connsiteY8" fmla="*/ 48753 h 669946"/>
              <a:gd name="connsiteX0" fmla="*/ 0 w 1023730"/>
              <a:gd name="connsiteY0" fmla="*/ 48753 h 669946"/>
              <a:gd name="connsiteX1" fmla="*/ 243511 w 1023730"/>
              <a:gd name="connsiteY1" fmla="*/ 103417 h 669946"/>
              <a:gd name="connsiteX2" fmla="*/ 849793 w 1023730"/>
              <a:gd name="connsiteY2" fmla="*/ 4026 h 669946"/>
              <a:gd name="connsiteX3" fmla="*/ 1023730 w 1023730"/>
              <a:gd name="connsiteY3" fmla="*/ 48753 h 669946"/>
              <a:gd name="connsiteX4" fmla="*/ 1023730 w 1023730"/>
              <a:gd name="connsiteY4" fmla="*/ 545705 h 669946"/>
              <a:gd name="connsiteX5" fmla="*/ 899489 w 1023730"/>
              <a:gd name="connsiteY5" fmla="*/ 669946 h 669946"/>
              <a:gd name="connsiteX6" fmla="*/ 124241 w 1023730"/>
              <a:gd name="connsiteY6" fmla="*/ 669946 h 669946"/>
              <a:gd name="connsiteX7" fmla="*/ 0 w 1023730"/>
              <a:gd name="connsiteY7" fmla="*/ 545705 h 669946"/>
              <a:gd name="connsiteX8" fmla="*/ 0 w 1023730"/>
              <a:gd name="connsiteY8" fmla="*/ 48753 h 669946"/>
              <a:gd name="connsiteX0" fmla="*/ 0 w 1023730"/>
              <a:gd name="connsiteY0" fmla="*/ 23513 h 644706"/>
              <a:gd name="connsiteX1" fmla="*/ 243511 w 1023730"/>
              <a:gd name="connsiteY1" fmla="*/ 78177 h 644706"/>
              <a:gd name="connsiteX2" fmla="*/ 849793 w 1023730"/>
              <a:gd name="connsiteY2" fmla="*/ 58299 h 644706"/>
              <a:gd name="connsiteX3" fmla="*/ 1023730 w 1023730"/>
              <a:gd name="connsiteY3" fmla="*/ 23513 h 644706"/>
              <a:gd name="connsiteX4" fmla="*/ 1023730 w 1023730"/>
              <a:gd name="connsiteY4" fmla="*/ 520465 h 644706"/>
              <a:gd name="connsiteX5" fmla="*/ 899489 w 1023730"/>
              <a:gd name="connsiteY5" fmla="*/ 644706 h 644706"/>
              <a:gd name="connsiteX6" fmla="*/ 124241 w 1023730"/>
              <a:gd name="connsiteY6" fmla="*/ 644706 h 644706"/>
              <a:gd name="connsiteX7" fmla="*/ 0 w 1023730"/>
              <a:gd name="connsiteY7" fmla="*/ 520465 h 644706"/>
              <a:gd name="connsiteX8" fmla="*/ 0 w 1023730"/>
              <a:gd name="connsiteY8" fmla="*/ 23513 h 644706"/>
              <a:gd name="connsiteX0" fmla="*/ 0 w 1023730"/>
              <a:gd name="connsiteY0" fmla="*/ 23513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99489 w 1023730"/>
              <a:gd name="connsiteY5" fmla="*/ 644706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0 w 1023730"/>
              <a:gd name="connsiteY8" fmla="*/ 23513 h 704341"/>
              <a:gd name="connsiteX0" fmla="*/ 0 w 1023730"/>
              <a:gd name="connsiteY0" fmla="*/ 23513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69672 w 1023730"/>
              <a:gd name="connsiteY5" fmla="*/ 684462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0 w 1023730"/>
              <a:gd name="connsiteY8" fmla="*/ 23513 h 704341"/>
              <a:gd name="connsiteX0" fmla="*/ 9939 w 1023730"/>
              <a:gd name="connsiteY0" fmla="*/ 63269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69672 w 1023730"/>
              <a:gd name="connsiteY5" fmla="*/ 684462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9939 w 1023730"/>
              <a:gd name="connsiteY8" fmla="*/ 63269 h 70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730" h="704341">
                <a:moveTo>
                  <a:pt x="9939" y="63269"/>
                </a:moveTo>
                <a:cubicBezTo>
                  <a:pt x="9939" y="-5347"/>
                  <a:pt x="174895" y="78177"/>
                  <a:pt x="243511" y="78177"/>
                </a:cubicBezTo>
                <a:cubicBezTo>
                  <a:pt x="501927" y="78177"/>
                  <a:pt x="591377" y="58299"/>
                  <a:pt x="849793" y="58299"/>
                </a:cubicBezTo>
                <a:cubicBezTo>
                  <a:pt x="918409" y="58299"/>
                  <a:pt x="1023730" y="-45103"/>
                  <a:pt x="1023730" y="23513"/>
                </a:cubicBezTo>
                <a:lnTo>
                  <a:pt x="1023730" y="520465"/>
                </a:lnTo>
                <a:cubicBezTo>
                  <a:pt x="1023730" y="589081"/>
                  <a:pt x="938288" y="684462"/>
                  <a:pt x="869672" y="684462"/>
                </a:cubicBezTo>
                <a:lnTo>
                  <a:pt x="163998" y="704341"/>
                </a:lnTo>
                <a:cubicBezTo>
                  <a:pt x="95382" y="704341"/>
                  <a:pt x="0" y="589081"/>
                  <a:pt x="0" y="520465"/>
                </a:cubicBezTo>
                <a:lnTo>
                  <a:pt x="9939" y="63269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B2E57-04DD-410B-912F-D606FD70E793}"/>
              </a:ext>
            </a:extLst>
          </p:cNvPr>
          <p:cNvCxnSpPr>
            <a:cxnSpLocks/>
          </p:cNvCxnSpPr>
          <p:nvPr/>
        </p:nvCxnSpPr>
        <p:spPr>
          <a:xfrm flipV="1">
            <a:off x="10028359" y="1520687"/>
            <a:ext cx="487241" cy="644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721B3D3-0AEF-49C4-A50A-605252DC8231}"/>
              </a:ext>
            </a:extLst>
          </p:cNvPr>
          <p:cNvSpPr txBox="1"/>
          <p:nvPr/>
        </p:nvSpPr>
        <p:spPr>
          <a:xfrm>
            <a:off x="9541566" y="1918252"/>
            <a:ext cx="496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+mj-lt"/>
              </a:rPr>
              <a:t>d</a:t>
            </a:r>
            <a:r>
              <a:rPr lang="en-IN" sz="1600" dirty="0">
                <a:latin typeface="+mj-lt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7C4E6A-E537-4EC5-8D43-8DE2C415C17A}"/>
                  </a:ext>
                </a:extLst>
              </p:cNvPr>
              <p:cNvSpPr txBox="1"/>
              <p:nvPr/>
            </p:nvSpPr>
            <p:spPr>
              <a:xfrm>
                <a:off x="10282030" y="1729409"/>
                <a:ext cx="3445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7C4E6A-E537-4EC5-8D43-8DE2C415C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30" y="1729409"/>
                <a:ext cx="344582" cy="276999"/>
              </a:xfrm>
              <a:prstGeom prst="rect">
                <a:avLst/>
              </a:prstGeom>
              <a:blipFill>
                <a:blip r:embed="rId10"/>
                <a:stretch>
                  <a:fillRect l="-8929" r="-714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BCA7B6-9A42-4EB5-AB00-04AF3942A36E}"/>
                  </a:ext>
                </a:extLst>
              </p:cNvPr>
              <p:cNvSpPr txBox="1"/>
              <p:nvPr/>
            </p:nvSpPr>
            <p:spPr>
              <a:xfrm>
                <a:off x="10207486" y="1192696"/>
                <a:ext cx="133184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</a:t>
                </a:r>
                <a:r>
                  <a:rPr lang="en-IN" b="1" dirty="0">
                    <a:latin typeface="+mj-lt"/>
                  </a:rPr>
                  <a:t>S = </a:t>
                </a:r>
                <a:r>
                  <a:rPr lang="en-IN" i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  <a:p>
                <a:endParaRPr lang="en-IN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BCA7B6-9A42-4EB5-AB00-04AF3942A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486" y="1192696"/>
                <a:ext cx="1331843" cy="615553"/>
              </a:xfrm>
              <a:prstGeom prst="rect">
                <a:avLst/>
              </a:prstGeom>
              <a:blipFill>
                <a:blip r:embed="rId11"/>
                <a:stretch>
                  <a:fillRect l="-3653" t="-5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195B49-1FF0-4514-945E-981B7A0E1F9F}"/>
                  </a:ext>
                </a:extLst>
              </p:cNvPr>
              <p:cNvSpPr txBox="1"/>
              <p:nvPr/>
            </p:nvSpPr>
            <p:spPr>
              <a:xfrm>
                <a:off x="2335695" y="6092687"/>
                <a:ext cx="2802835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nary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𝐃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195B49-1FF0-4514-945E-981B7A0E1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695" y="6092687"/>
                <a:ext cx="2802835" cy="413575"/>
              </a:xfrm>
              <a:prstGeom prst="rect">
                <a:avLst/>
              </a:prstGeom>
              <a:blipFill>
                <a:blip r:embed="rId12"/>
                <a:stretch>
                  <a:fillRect l="-14565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98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3" grpId="0"/>
      <p:bldP spid="4" grpId="0"/>
      <p:bldP spid="8" grpId="0"/>
      <p:bldP spid="9" grpId="0"/>
      <p:bldP spid="12" grpId="0"/>
      <p:bldP spid="13" grpId="0"/>
      <p:bldP spid="15" grpId="0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 animBg="1"/>
      <p:bldP spid="31" grpId="0" animBg="1"/>
      <p:bldP spid="37" grpId="0"/>
      <p:bldP spid="39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41A71-DEE8-4D0B-A43A-62FAEEC57252}"/>
              </a:ext>
            </a:extLst>
          </p:cNvPr>
          <p:cNvSpPr txBox="1"/>
          <p:nvPr/>
        </p:nvSpPr>
        <p:spPr>
          <a:xfrm>
            <a:off x="295689" y="222838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Divergence Theorem (contd..)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05AF3-7116-4C34-8BB8-5081A2F3D0D7}"/>
              </a:ext>
            </a:extLst>
          </p:cNvPr>
          <p:cNvSpPr txBox="1"/>
          <p:nvPr/>
        </p:nvSpPr>
        <p:spPr>
          <a:xfrm>
            <a:off x="308113" y="1709530"/>
            <a:ext cx="11171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“The integral of normal component of a vector over a closed surface is equal to the integral of Divergence of the same vector through out the volume enclosed by the closed surface”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7B888C-B4E7-407F-9D26-06DECFEC7B1E}"/>
                  </a:ext>
                </a:extLst>
              </p:cNvPr>
              <p:cNvSpPr txBox="1"/>
              <p:nvPr/>
            </p:nvSpPr>
            <p:spPr>
              <a:xfrm>
                <a:off x="1255643" y="947531"/>
                <a:ext cx="2802835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nary>
                  </m:oMath>
                </a14:m>
                <a:r>
                  <a:rPr lang="en-IN" b="1" dirty="0"/>
                  <a:t> 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𝐃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7B888C-B4E7-407F-9D26-06DECFEC7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43" y="947531"/>
                <a:ext cx="2802835" cy="413575"/>
              </a:xfrm>
              <a:prstGeom prst="rect">
                <a:avLst/>
              </a:prstGeom>
              <a:blipFill>
                <a:blip r:embed="rId2"/>
                <a:stretch>
                  <a:fillRect l="-1478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D5E3AA8-8C28-4E3A-9611-BEB1CAE1172E}"/>
              </a:ext>
            </a:extLst>
          </p:cNvPr>
          <p:cNvSpPr txBox="1"/>
          <p:nvPr/>
        </p:nvSpPr>
        <p:spPr>
          <a:xfrm>
            <a:off x="248236" y="2807683"/>
            <a:ext cx="8597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Potential &amp; Potential Difference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8FD4A9-2EE2-4094-87CA-34AB22B30E7E}"/>
              </a:ext>
            </a:extLst>
          </p:cNvPr>
          <p:cNvSpPr/>
          <p:nvPr/>
        </p:nvSpPr>
        <p:spPr>
          <a:xfrm>
            <a:off x="5635487" y="4332102"/>
            <a:ext cx="6152321" cy="657341"/>
          </a:xfrm>
          <a:custGeom>
            <a:avLst/>
            <a:gdLst>
              <a:gd name="connsiteX0" fmla="*/ 0 w 5118652"/>
              <a:gd name="connsiteY0" fmla="*/ 826307 h 826307"/>
              <a:gd name="connsiteX1" fmla="*/ 775252 w 5118652"/>
              <a:gd name="connsiteY1" fmla="*/ 1359 h 826307"/>
              <a:gd name="connsiteX2" fmla="*/ 3031435 w 5118652"/>
              <a:gd name="connsiteY2" fmla="*/ 617585 h 826307"/>
              <a:gd name="connsiteX3" fmla="*/ 5118652 w 5118652"/>
              <a:gd name="connsiteY3" fmla="*/ 41116 h 82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652" h="826307">
                <a:moveTo>
                  <a:pt x="0" y="826307"/>
                </a:moveTo>
                <a:cubicBezTo>
                  <a:pt x="135006" y="431226"/>
                  <a:pt x="270013" y="36146"/>
                  <a:pt x="775252" y="1359"/>
                </a:cubicBezTo>
                <a:cubicBezTo>
                  <a:pt x="1280491" y="-33428"/>
                  <a:pt x="2307535" y="610959"/>
                  <a:pt x="3031435" y="617585"/>
                </a:cubicBezTo>
                <a:cubicBezTo>
                  <a:pt x="3755335" y="624211"/>
                  <a:pt x="4436993" y="332663"/>
                  <a:pt x="5118652" y="41116"/>
                </a:cubicBezTo>
              </a:path>
            </a:pathLst>
          </a:custGeom>
          <a:ln>
            <a:prstDash val="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E22114-E469-4CC1-AB32-E05AC2A422A2}"/>
              </a:ext>
            </a:extLst>
          </p:cNvPr>
          <p:cNvCxnSpPr/>
          <p:nvPr/>
        </p:nvCxnSpPr>
        <p:spPr>
          <a:xfrm>
            <a:off x="7643191" y="4512365"/>
            <a:ext cx="556592" cy="159026"/>
          </a:xfrm>
          <a:prstGeom prst="line">
            <a:avLst/>
          </a:prstGeom>
          <a:ln w="31750" cmpd="sng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6628C8E1-36B3-486E-87CA-A703B023FC8C}"/>
              </a:ext>
            </a:extLst>
          </p:cNvPr>
          <p:cNvSpPr/>
          <p:nvPr/>
        </p:nvSpPr>
        <p:spPr>
          <a:xfrm>
            <a:off x="7563678" y="4412973"/>
            <a:ext cx="149087" cy="188844"/>
          </a:xfrm>
          <a:prstGeom prst="flowChartConnector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D470C7-D087-47C1-B18B-0F2295625CE0}"/>
              </a:ext>
            </a:extLst>
          </p:cNvPr>
          <p:cNvSpPr txBox="1"/>
          <p:nvPr/>
        </p:nvSpPr>
        <p:spPr>
          <a:xfrm>
            <a:off x="7235687" y="4512366"/>
            <a:ext cx="576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solidFill>
                  <a:srgbClr val="002060"/>
                </a:solidFill>
                <a:latin typeface="+mj-lt"/>
              </a:rPr>
              <a:t>Q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6EDDE2-9AE6-4EF0-BDF8-A9F29845F0A6}"/>
              </a:ext>
            </a:extLst>
          </p:cNvPr>
          <p:cNvCxnSpPr/>
          <p:nvPr/>
        </p:nvCxnSpPr>
        <p:spPr>
          <a:xfrm flipV="1">
            <a:off x="7971183" y="3538330"/>
            <a:ext cx="1063487" cy="225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81A39D-7B3F-41B1-901C-731EF6DA7744}"/>
              </a:ext>
            </a:extLst>
          </p:cNvPr>
          <p:cNvCxnSpPr/>
          <p:nvPr/>
        </p:nvCxnSpPr>
        <p:spPr>
          <a:xfrm flipV="1">
            <a:off x="7364896" y="3478696"/>
            <a:ext cx="1053547" cy="2246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EBDA0E-F9A3-453E-B634-A82504DE48B8}"/>
              </a:ext>
            </a:extLst>
          </p:cNvPr>
          <p:cNvCxnSpPr/>
          <p:nvPr/>
        </p:nvCxnSpPr>
        <p:spPr>
          <a:xfrm flipV="1">
            <a:off x="6751983" y="3422375"/>
            <a:ext cx="1053547" cy="2246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CB02E2-0F2C-40CA-B81C-B9CC8966C5E8}"/>
              </a:ext>
            </a:extLst>
          </p:cNvPr>
          <p:cNvCxnSpPr/>
          <p:nvPr/>
        </p:nvCxnSpPr>
        <p:spPr>
          <a:xfrm flipV="1">
            <a:off x="6056244" y="3412435"/>
            <a:ext cx="1053547" cy="2246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33E43B-2047-4D97-BD88-278EFB007EC6}"/>
              </a:ext>
            </a:extLst>
          </p:cNvPr>
          <p:cNvCxnSpPr/>
          <p:nvPr/>
        </p:nvCxnSpPr>
        <p:spPr>
          <a:xfrm flipV="1">
            <a:off x="8690113" y="3591340"/>
            <a:ext cx="1053547" cy="2246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7F511C-C3F7-4C9C-8E9F-24C8272684C4}"/>
                  </a:ext>
                </a:extLst>
              </p:cNvPr>
              <p:cNvSpPr txBox="1"/>
              <p:nvPr/>
            </p:nvSpPr>
            <p:spPr>
              <a:xfrm rot="765135">
                <a:off x="7563678" y="4632595"/>
                <a:ext cx="10780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i="1" dirty="0">
                    <a:solidFill>
                      <a:srgbClr val="FF0000"/>
                    </a:solidFill>
                    <a:latin typeface="+mj-lt"/>
                  </a:rPr>
                  <a:t>dl = </a:t>
                </a:r>
                <a:r>
                  <a:rPr lang="en-IN" sz="1200" i="1" dirty="0">
                    <a:solidFill>
                      <a:srgbClr val="FF0000"/>
                    </a:solidFill>
                    <a:latin typeface="+mj-lt"/>
                  </a:rPr>
                  <a:t>dl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IN" sz="1200" b="1" i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7F511C-C3F7-4C9C-8E9F-24C827268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65135">
                <a:off x="7563678" y="4632595"/>
                <a:ext cx="1078032" cy="276999"/>
              </a:xfrm>
              <a:prstGeom prst="rect">
                <a:avLst/>
              </a:prstGeom>
              <a:blipFill>
                <a:blip r:embed="rId3"/>
                <a:stretch>
                  <a:fillRect l="-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E2227D-1053-407C-A165-65D9DEC7A68F}"/>
              </a:ext>
            </a:extLst>
          </p:cNvPr>
          <p:cNvCxnSpPr>
            <a:cxnSpLocks/>
          </p:cNvCxnSpPr>
          <p:nvPr/>
        </p:nvCxnSpPr>
        <p:spPr>
          <a:xfrm flipV="1">
            <a:off x="7673008" y="3816627"/>
            <a:ext cx="268356" cy="586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C009AC1-DC1B-4BF6-A85D-F8E4FCC6B545}"/>
              </a:ext>
            </a:extLst>
          </p:cNvPr>
          <p:cNvSpPr txBox="1"/>
          <p:nvPr/>
        </p:nvSpPr>
        <p:spPr>
          <a:xfrm>
            <a:off x="7695538" y="3442253"/>
            <a:ext cx="80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+mj-lt"/>
              </a:rPr>
              <a:t>F</a:t>
            </a:r>
            <a:r>
              <a:rPr lang="en-IN" sz="1400" dirty="0">
                <a:latin typeface="+mj-lt"/>
              </a:rPr>
              <a:t>=</a:t>
            </a:r>
            <a:r>
              <a:rPr lang="en-IN" sz="1400" b="1" dirty="0">
                <a:latin typeface="+mj-lt"/>
              </a:rPr>
              <a:t>E</a:t>
            </a:r>
            <a:r>
              <a:rPr lang="en-IN" sz="1400" i="1" dirty="0">
                <a:latin typeface="+mj-lt"/>
              </a:rPr>
              <a:t>Q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E4F55E-FD07-4BF9-B37C-1D5A891C8282}"/>
              </a:ext>
            </a:extLst>
          </p:cNvPr>
          <p:cNvSpPr txBox="1"/>
          <p:nvPr/>
        </p:nvSpPr>
        <p:spPr>
          <a:xfrm>
            <a:off x="7142480" y="3119120"/>
            <a:ext cx="325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285D61-DB64-4589-AB52-0EB159487614}"/>
              </a:ext>
            </a:extLst>
          </p:cNvPr>
          <p:cNvSpPr txBox="1"/>
          <p:nvPr/>
        </p:nvSpPr>
        <p:spPr>
          <a:xfrm>
            <a:off x="5456582" y="5019261"/>
            <a:ext cx="715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C00000"/>
                </a:solidFill>
                <a:latin typeface="+mj-lt"/>
              </a:rPr>
              <a:t>Initial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55DB11-3561-4D9D-BC83-6EA0F6903F11}"/>
              </a:ext>
            </a:extLst>
          </p:cNvPr>
          <p:cNvSpPr txBox="1"/>
          <p:nvPr/>
        </p:nvSpPr>
        <p:spPr>
          <a:xfrm>
            <a:off x="11476383" y="4018721"/>
            <a:ext cx="715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C00000"/>
                </a:solidFill>
                <a:latin typeface="+mj-lt"/>
              </a:rPr>
              <a:t>Final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DC3FA-E734-440E-898C-023F10C11C83}"/>
              </a:ext>
            </a:extLst>
          </p:cNvPr>
          <p:cNvSpPr txBox="1"/>
          <p:nvPr/>
        </p:nvSpPr>
        <p:spPr>
          <a:xfrm>
            <a:off x="232963" y="3409606"/>
            <a:ext cx="398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Force on Q due to </a:t>
            </a:r>
            <a:r>
              <a:rPr lang="en-IN" b="1" dirty="0">
                <a:latin typeface="+mj-lt"/>
              </a:rPr>
              <a:t>E</a:t>
            </a:r>
            <a:r>
              <a:rPr lang="en-IN" dirty="0">
                <a:latin typeface="+mj-lt"/>
              </a:rPr>
              <a:t> filed </a:t>
            </a:r>
            <a:r>
              <a:rPr lang="en-IN" b="1" i="1" dirty="0">
                <a:latin typeface="+mj-lt"/>
              </a:rPr>
              <a:t>= </a:t>
            </a:r>
            <a:r>
              <a:rPr lang="en-IN" b="1" dirty="0">
                <a:latin typeface="+mj-lt"/>
              </a:rPr>
              <a:t>F</a:t>
            </a:r>
            <a:r>
              <a:rPr lang="en-IN" b="1" i="1" dirty="0">
                <a:latin typeface="+mj-lt"/>
              </a:rPr>
              <a:t> = </a:t>
            </a:r>
            <a:r>
              <a:rPr lang="en-IN" b="1" dirty="0">
                <a:solidFill>
                  <a:srgbClr val="00B050"/>
                </a:solidFill>
                <a:latin typeface="+mj-lt"/>
              </a:rPr>
              <a:t>E</a:t>
            </a:r>
            <a:r>
              <a:rPr lang="en-IN" i="1" dirty="0">
                <a:solidFill>
                  <a:srgbClr val="00B050"/>
                </a:solidFill>
                <a:latin typeface="+mj-lt"/>
              </a:rPr>
              <a:t>Q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995D90-8D1F-42BC-BA04-659720043B26}"/>
              </a:ext>
            </a:extLst>
          </p:cNvPr>
          <p:cNvCxnSpPr>
            <a:cxnSpLocks/>
          </p:cNvCxnSpPr>
          <p:nvPr/>
        </p:nvCxnSpPr>
        <p:spPr>
          <a:xfrm>
            <a:off x="7673009" y="4482547"/>
            <a:ext cx="397565" cy="109331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78B88B-5C04-4025-AF77-4E8DA4502D4E}"/>
              </a:ext>
            </a:extLst>
          </p:cNvPr>
          <p:cNvCxnSpPr>
            <a:cxnSpLocks/>
          </p:cNvCxnSpPr>
          <p:nvPr/>
        </p:nvCxnSpPr>
        <p:spPr>
          <a:xfrm flipH="1" flipV="1">
            <a:off x="7166113" y="4333461"/>
            <a:ext cx="459154" cy="146925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95FF11-35D2-45A3-824A-8965066FC68F}"/>
                  </a:ext>
                </a:extLst>
              </p:cNvPr>
              <p:cNvSpPr txBox="1"/>
              <p:nvPr/>
            </p:nvSpPr>
            <p:spPr>
              <a:xfrm>
                <a:off x="218661" y="3876260"/>
                <a:ext cx="35582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Displacement , </a:t>
                </a:r>
                <a:r>
                  <a:rPr lang="en-IN" b="1" i="1" dirty="0">
                    <a:latin typeface="+mj-lt"/>
                  </a:rPr>
                  <a:t>dl</a:t>
                </a:r>
                <a:r>
                  <a:rPr lang="en-IN" i="1" dirty="0">
                    <a:latin typeface="+mj-lt"/>
                  </a:rPr>
                  <a:t> = dl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IN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95FF11-35D2-45A3-824A-8965066F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1" y="3876260"/>
                <a:ext cx="3558209" cy="369332"/>
              </a:xfrm>
              <a:prstGeom prst="rect">
                <a:avLst/>
              </a:prstGeom>
              <a:blipFill>
                <a:blip r:embed="rId4"/>
                <a:stretch>
                  <a:fillRect l="-154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EB9663-96F1-4130-B242-7763D5CA9DBF}"/>
                  </a:ext>
                </a:extLst>
              </p:cNvPr>
              <p:cNvSpPr txBox="1"/>
              <p:nvPr/>
            </p:nvSpPr>
            <p:spPr>
              <a:xfrm>
                <a:off x="198783" y="4343399"/>
                <a:ext cx="4711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Component of </a:t>
                </a:r>
                <a:r>
                  <a:rPr lang="en-IN" b="1" dirty="0">
                    <a:latin typeface="+mj-lt"/>
                  </a:rPr>
                  <a:t>F</a:t>
                </a:r>
                <a:r>
                  <a:rPr lang="en-IN" dirty="0">
                    <a:latin typeface="+mj-lt"/>
                  </a:rPr>
                  <a:t> along </a:t>
                </a:r>
                <a:r>
                  <a:rPr lang="en-IN" b="1" i="1" dirty="0">
                    <a:latin typeface="+mj-lt"/>
                  </a:rPr>
                  <a:t>dl</a:t>
                </a:r>
                <a:r>
                  <a:rPr lang="en-IN" dirty="0">
                    <a:latin typeface="+mj-lt"/>
                  </a:rPr>
                  <a:t> = </a:t>
                </a:r>
                <a:r>
                  <a:rPr lang="en-IN" b="1" dirty="0">
                    <a:solidFill>
                      <a:srgbClr val="FF0000"/>
                    </a:solidFill>
                    <a:latin typeface="+mj-lt"/>
                  </a:rPr>
                  <a:t>F</a:t>
                </a:r>
                <a:r>
                  <a:rPr lang="en-IN" dirty="0">
                    <a:solidFill>
                      <a:srgbClr val="FF0000"/>
                    </a:solidFill>
                    <a:latin typeface="+mj-lt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= </a:t>
                </a:r>
                <a:r>
                  <a:rPr lang="en-IN" b="1" dirty="0">
                    <a:solidFill>
                      <a:srgbClr val="FF0000"/>
                    </a:solidFill>
                    <a:latin typeface="+mj-lt"/>
                  </a:rPr>
                  <a:t>E</a:t>
                </a:r>
                <a:r>
                  <a:rPr lang="en-IN" i="1" dirty="0">
                    <a:solidFill>
                      <a:srgbClr val="FF0000"/>
                    </a:solidFill>
                    <a:latin typeface="+mj-lt"/>
                  </a:rPr>
                  <a:t>Q</a:t>
                </a:r>
                <a:r>
                  <a:rPr lang="en-IN" dirty="0">
                    <a:solidFill>
                      <a:srgbClr val="FF0000"/>
                    </a:solidFill>
                    <a:latin typeface="+mj-lt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EB9663-96F1-4130-B242-7763D5CA9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3" y="4343399"/>
                <a:ext cx="4711148" cy="369332"/>
              </a:xfrm>
              <a:prstGeom prst="rect">
                <a:avLst/>
              </a:prstGeom>
              <a:blipFill>
                <a:blip r:embed="rId5"/>
                <a:stretch>
                  <a:fillRect l="-116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62CE23F-0BF8-4643-A3E8-B023167C56B4}"/>
                  </a:ext>
                </a:extLst>
              </p:cNvPr>
              <p:cNvSpPr txBox="1"/>
              <p:nvPr/>
            </p:nvSpPr>
            <p:spPr>
              <a:xfrm>
                <a:off x="168965" y="4830417"/>
                <a:ext cx="58243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To displace </a:t>
                </a:r>
                <a:r>
                  <a:rPr lang="en-IN" i="1" dirty="0">
                    <a:latin typeface="+mj-lt"/>
                  </a:rPr>
                  <a:t>Q</a:t>
                </a:r>
                <a:r>
                  <a:rPr lang="en-IN" dirty="0">
                    <a:latin typeface="+mj-lt"/>
                  </a:rPr>
                  <a:t> by </a:t>
                </a:r>
                <a:r>
                  <a:rPr lang="en-IN" b="1" i="1" dirty="0">
                    <a:latin typeface="+mj-lt"/>
                  </a:rPr>
                  <a:t>dl </a:t>
                </a:r>
                <a:r>
                  <a:rPr lang="en-IN" dirty="0">
                    <a:latin typeface="+mj-lt"/>
                  </a:rPr>
                  <a:t>,</a:t>
                </a:r>
                <a:r>
                  <a:rPr lang="en-IN" b="1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force to be applied = </a:t>
                </a:r>
                <a:r>
                  <a:rPr lang="en-IN" dirty="0">
                    <a:solidFill>
                      <a:srgbClr val="0070C0"/>
                    </a:solidFill>
                    <a:latin typeface="+mj-lt"/>
                  </a:rPr>
                  <a:t>- </a:t>
                </a:r>
                <a:r>
                  <a:rPr lang="en-IN" b="1" dirty="0">
                    <a:solidFill>
                      <a:srgbClr val="0070C0"/>
                    </a:solidFill>
                    <a:latin typeface="+mj-lt"/>
                  </a:rPr>
                  <a:t>E</a:t>
                </a:r>
                <a:r>
                  <a:rPr lang="en-IN" i="1" dirty="0">
                    <a:solidFill>
                      <a:srgbClr val="0070C0"/>
                    </a:solidFill>
                    <a:latin typeface="+mj-lt"/>
                  </a:rPr>
                  <a:t>Q</a:t>
                </a:r>
                <a:r>
                  <a:rPr lang="en-IN" dirty="0">
                    <a:solidFill>
                      <a:srgbClr val="0070C0"/>
                    </a:solidFill>
                    <a:latin typeface="+mj-lt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62CE23F-0BF8-4643-A3E8-B023167C5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65" y="4830417"/>
                <a:ext cx="5824330" cy="369332"/>
              </a:xfrm>
              <a:prstGeom prst="rect">
                <a:avLst/>
              </a:prstGeom>
              <a:blipFill>
                <a:blip r:embed="rId6"/>
                <a:stretch>
                  <a:fillRect l="-94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6B98890-1AAE-4E66-AB8A-A05683837598}"/>
                  </a:ext>
                </a:extLst>
              </p:cNvPr>
              <p:cNvSpPr txBox="1"/>
              <p:nvPr/>
            </p:nvSpPr>
            <p:spPr>
              <a:xfrm>
                <a:off x="218661" y="5377070"/>
                <a:ext cx="47310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Work done, </a:t>
                </a:r>
                <a:r>
                  <a:rPr lang="en-IN" i="1" dirty="0">
                    <a:latin typeface="+mj-lt"/>
                  </a:rPr>
                  <a:t>dW</a:t>
                </a:r>
                <a:r>
                  <a:rPr lang="en-IN" dirty="0">
                    <a:latin typeface="+mj-lt"/>
                  </a:rPr>
                  <a:t> = (</a:t>
                </a:r>
                <a:r>
                  <a:rPr lang="en-IN" dirty="0">
                    <a:solidFill>
                      <a:srgbClr val="0070C0"/>
                    </a:solidFill>
                    <a:latin typeface="+mj-lt"/>
                  </a:rPr>
                  <a:t>- </a:t>
                </a:r>
                <a:r>
                  <a:rPr lang="en-IN" b="1" dirty="0">
                    <a:solidFill>
                      <a:srgbClr val="0070C0"/>
                    </a:solidFill>
                    <a:latin typeface="+mj-lt"/>
                  </a:rPr>
                  <a:t>E</a:t>
                </a:r>
                <a:r>
                  <a:rPr lang="en-IN" i="1" dirty="0">
                    <a:solidFill>
                      <a:srgbClr val="0070C0"/>
                    </a:solidFill>
                    <a:latin typeface="+mj-lt"/>
                  </a:rPr>
                  <a:t>Q</a:t>
                </a:r>
                <a:r>
                  <a:rPr lang="en-IN" dirty="0">
                    <a:solidFill>
                      <a:srgbClr val="0070C0"/>
                    </a:solidFill>
                    <a:latin typeface="+mj-lt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) </a:t>
                </a:r>
                <a:r>
                  <a:rPr lang="en-IN" i="1" dirty="0">
                    <a:latin typeface="+mj-lt"/>
                  </a:rPr>
                  <a:t>dl  = 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- </a:t>
                </a:r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E</a:t>
                </a:r>
                <a:r>
                  <a:rPr lang="en-IN" i="1" dirty="0">
                    <a:solidFill>
                      <a:schemeClr val="tx1"/>
                    </a:solidFill>
                    <a:latin typeface="+mj-lt"/>
                  </a:rPr>
                  <a:t>Q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.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𝒅𝒍</m:t>
                    </m:r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6B98890-1AAE-4E66-AB8A-A05683837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1" y="5377070"/>
                <a:ext cx="4731026" cy="369332"/>
              </a:xfrm>
              <a:prstGeom prst="rect">
                <a:avLst/>
              </a:prstGeom>
              <a:blipFill>
                <a:blip r:embed="rId7"/>
                <a:stretch>
                  <a:fillRect l="-116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D2AECB-E0C4-4599-9E5B-BB9154839CAE}"/>
                  </a:ext>
                </a:extLst>
              </p:cNvPr>
              <p:cNvSpPr txBox="1"/>
              <p:nvPr/>
            </p:nvSpPr>
            <p:spPr>
              <a:xfrm>
                <a:off x="208723" y="5933660"/>
                <a:ext cx="6261652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Total Work done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𝑛𝑖𝑡𝑖𝑎𝑙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𝐹𝑖𝑛𝑎𝑙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𝑑𝑊</m:t>
                        </m:r>
                      </m:e>
                    </m:nary>
                  </m:oMath>
                </a14:m>
                <a:r>
                  <a:rPr lang="en-IN" i="1" dirty="0">
                    <a:latin typeface="+mj-lt"/>
                  </a:rPr>
                  <a:t>  = - Q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𝑛𝑖𝑡𝑖𝑎𝑙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𝐹𝑖𝑛𝑎𝑙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𝒅𝒍</m:t>
                    </m:r>
                  </m:oMath>
                </a14:m>
                <a:endParaRPr lang="en-IN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D2AECB-E0C4-4599-9E5B-BB9154839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23" y="5933660"/>
                <a:ext cx="6261652" cy="491288"/>
              </a:xfrm>
              <a:prstGeom prst="rect">
                <a:avLst/>
              </a:prstGeom>
              <a:blipFill>
                <a:blip r:embed="rId8"/>
                <a:stretch>
                  <a:fillRect l="-779" t="-97531" b="-158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0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07407E-6 L 0.04531 0.02106 " pathEditMode="relative" rAng="0" ptsTypes="AA">
                                      <p:cBhvr>
                                        <p:cTn id="112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1042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139 L 0.04271 0.025 " pathEditMode="relative" rAng="0" ptsTypes="AA">
                                      <p:cBhvr>
                                        <p:cTn id="114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131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22" presetClass="entr" presetSubtype="4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0.05586 0.03496 " pathEditMode="relative" rAng="0" ptsTypes="AA">
                                      <p:cBhvr>
                                        <p:cTn id="119" dur="175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6" y="1736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0405 0.03379 " pathEditMode="relative" rAng="0" ptsTypes="AA">
                                      <p:cBhvr>
                                        <p:cTn id="121" dur="1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8" y="1690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0.04597 0.02153 " pathEditMode="relative" rAng="0" ptsTypes="AA">
                                      <p:cBhvr>
                                        <p:cTn id="123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1065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0" presetClass="exit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0.03945 0.0176 " pathEditMode="relative" rAng="0" ptsTypes="AA">
                                      <p:cBhvr>
                                        <p:cTn id="128" dur="1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6" y="88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22" presetClass="entr" presetSubtype="4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8" grpId="0" animBg="1"/>
      <p:bldP spid="19" grpId="0" animBg="1"/>
      <p:bldP spid="19" grpId="1" animBg="1"/>
      <p:bldP spid="20" grpId="0" build="allAtOnce"/>
      <p:bldP spid="28" grpId="0"/>
      <p:bldP spid="35" grpId="0"/>
      <p:bldP spid="35" grpId="1"/>
      <p:bldP spid="36" grpId="0"/>
      <p:bldP spid="37" grpId="0"/>
      <p:bldP spid="38" grpId="0"/>
      <p:bldP spid="4" grpId="0"/>
      <p:bldP spid="78" grpId="0"/>
      <p:bldP spid="79" grpId="0"/>
      <p:bldP spid="80" grpId="0"/>
      <p:bldP spid="81" grpId="0"/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35D3A8-E353-4590-BBCF-7AF3CA5E76CC}"/>
              </a:ext>
            </a:extLst>
          </p:cNvPr>
          <p:cNvSpPr txBox="1"/>
          <p:nvPr/>
        </p:nvSpPr>
        <p:spPr>
          <a:xfrm>
            <a:off x="298174" y="745434"/>
            <a:ext cx="11370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Potential Difference between two points A and B is defined as the work done in moving a unit positive charge from B to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6BC93-F776-458B-83F5-596443DCB6B1}"/>
              </a:ext>
            </a:extLst>
          </p:cNvPr>
          <p:cNvSpPr txBox="1"/>
          <p:nvPr/>
        </p:nvSpPr>
        <p:spPr>
          <a:xfrm>
            <a:off x="327991" y="238539"/>
            <a:ext cx="472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9305EE-CDA5-4505-90D6-D75D9F61D0D5}"/>
                  </a:ext>
                </a:extLst>
              </p:cNvPr>
              <p:cNvSpPr txBox="1"/>
              <p:nvPr/>
            </p:nvSpPr>
            <p:spPr>
              <a:xfrm>
                <a:off x="4412974" y="1411356"/>
                <a:ext cx="4065105" cy="468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9305EE-CDA5-4505-90D6-D75D9F61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974" y="1411356"/>
                <a:ext cx="4065105" cy="468333"/>
              </a:xfrm>
              <a:prstGeom prst="rect">
                <a:avLst/>
              </a:prstGeom>
              <a:blipFill>
                <a:blip r:embed="rId2"/>
                <a:stretch>
                  <a:fillRect t="-105263" b="-17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087C057-B2D6-40CD-A76D-867B251F625E}"/>
              </a:ext>
            </a:extLst>
          </p:cNvPr>
          <p:cNvSpPr txBox="1"/>
          <p:nvPr/>
        </p:nvSpPr>
        <p:spPr>
          <a:xfrm>
            <a:off x="258417" y="2385392"/>
            <a:ext cx="1083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+mj-lt"/>
              </a:rPr>
              <a:t>Problem : </a:t>
            </a:r>
            <a:r>
              <a:rPr lang="en-IN" dirty="0">
                <a:latin typeface="+mj-lt"/>
              </a:rPr>
              <a:t>Find the Potential Difference between two points A &amp; B, when a point charge Q is located at the origin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FD542C-481A-48A9-A519-4C67EA704329}"/>
              </a:ext>
            </a:extLst>
          </p:cNvPr>
          <p:cNvCxnSpPr/>
          <p:nvPr/>
        </p:nvCxnSpPr>
        <p:spPr>
          <a:xfrm flipV="1">
            <a:off x="8756374" y="2912165"/>
            <a:ext cx="0" cy="2395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FEDC97-5744-43D5-985C-F36F1A93B2DA}"/>
              </a:ext>
            </a:extLst>
          </p:cNvPr>
          <p:cNvCxnSpPr>
            <a:cxnSpLocks/>
          </p:cNvCxnSpPr>
          <p:nvPr/>
        </p:nvCxnSpPr>
        <p:spPr>
          <a:xfrm>
            <a:off x="8746435" y="5297557"/>
            <a:ext cx="30910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0AECE2-4A12-44E3-95CB-8C0CE7BFEBB5}"/>
              </a:ext>
            </a:extLst>
          </p:cNvPr>
          <p:cNvCxnSpPr/>
          <p:nvPr/>
        </p:nvCxnSpPr>
        <p:spPr>
          <a:xfrm flipH="1">
            <a:off x="7474226" y="5307495"/>
            <a:ext cx="1272209" cy="10038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4B1D5B-9213-4DD3-B7CB-00098BA4982B}"/>
              </a:ext>
            </a:extLst>
          </p:cNvPr>
          <p:cNvSpPr txBox="1"/>
          <p:nvPr/>
        </p:nvSpPr>
        <p:spPr>
          <a:xfrm>
            <a:off x="8597348" y="2574235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01EBC-22C3-4C99-ACAF-B174D2A84807}"/>
              </a:ext>
            </a:extLst>
          </p:cNvPr>
          <p:cNvSpPr txBox="1"/>
          <p:nvPr/>
        </p:nvSpPr>
        <p:spPr>
          <a:xfrm>
            <a:off x="7239000" y="595685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48ACB-0E36-46C8-B659-FCF65AA8670D}"/>
              </a:ext>
            </a:extLst>
          </p:cNvPr>
          <p:cNvSpPr txBox="1"/>
          <p:nvPr/>
        </p:nvSpPr>
        <p:spPr>
          <a:xfrm>
            <a:off x="11671853" y="521141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E9C2FF85-FEB3-4741-AE36-6741B54C505A}"/>
              </a:ext>
            </a:extLst>
          </p:cNvPr>
          <p:cNvSpPr/>
          <p:nvPr/>
        </p:nvSpPr>
        <p:spPr>
          <a:xfrm>
            <a:off x="8627165" y="5148469"/>
            <a:ext cx="248478" cy="288235"/>
          </a:xfrm>
          <a:prstGeom prst="flowChartConnector">
            <a:avLst/>
          </a:prstGeom>
          <a:solidFill>
            <a:schemeClr val="accent4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66635F-EAD6-41D1-B8A2-7291A9FD0C52}"/>
              </a:ext>
            </a:extLst>
          </p:cNvPr>
          <p:cNvSpPr txBox="1"/>
          <p:nvPr/>
        </p:nvSpPr>
        <p:spPr>
          <a:xfrm>
            <a:off x="8497957" y="5367130"/>
            <a:ext cx="5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Q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F27D36B9-0AC0-4D43-844F-5A97B8ACB8C2}"/>
              </a:ext>
            </a:extLst>
          </p:cNvPr>
          <p:cNvSpPr/>
          <p:nvPr/>
        </p:nvSpPr>
        <p:spPr>
          <a:xfrm>
            <a:off x="9481930" y="3349487"/>
            <a:ext cx="45719" cy="496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B37C8-9629-4017-9998-36CAEDD3A6D4}"/>
                  </a:ext>
                </a:extLst>
              </p:cNvPr>
              <p:cNvSpPr txBox="1"/>
              <p:nvPr/>
            </p:nvSpPr>
            <p:spPr>
              <a:xfrm>
                <a:off x="9186041" y="2942896"/>
                <a:ext cx="14609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+mj-lt"/>
                  </a:rPr>
                  <a:t>A(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B37C8-9629-4017-9998-36CAEDD3A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041" y="2942896"/>
                <a:ext cx="1460937" cy="338554"/>
              </a:xfrm>
              <a:prstGeom prst="rect">
                <a:avLst/>
              </a:prstGeom>
              <a:blipFill>
                <a:blip r:embed="rId9"/>
                <a:stretch>
                  <a:fillRect l="-2500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061DF7CF-A900-4A6E-95C9-BBA106E483D4}"/>
              </a:ext>
            </a:extLst>
          </p:cNvPr>
          <p:cNvSpPr/>
          <p:nvPr/>
        </p:nvSpPr>
        <p:spPr>
          <a:xfrm>
            <a:off x="11098924" y="407801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8FD1659-B304-4326-9754-F6C66EA8C67C}"/>
                  </a:ext>
                </a:extLst>
              </p:cNvPr>
              <p:cNvSpPr txBox="1"/>
              <p:nvPr/>
            </p:nvSpPr>
            <p:spPr>
              <a:xfrm>
                <a:off x="10484068" y="3652344"/>
                <a:ext cx="14609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+mj-lt"/>
                  </a:rPr>
                  <a:t>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8FD1659-B304-4326-9754-F6C66EA8C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068" y="3652344"/>
                <a:ext cx="1460937" cy="338554"/>
              </a:xfrm>
              <a:prstGeom prst="rect">
                <a:avLst/>
              </a:prstGeom>
              <a:blipFill>
                <a:blip r:embed="rId10"/>
                <a:stretch>
                  <a:fillRect l="-2510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80305C-91F7-4757-BE97-4B51E5CD9793}"/>
              </a:ext>
            </a:extLst>
          </p:cNvPr>
          <p:cNvCxnSpPr>
            <a:endCxn id="23" idx="3"/>
          </p:cNvCxnSpPr>
          <p:nvPr/>
        </p:nvCxnSpPr>
        <p:spPr>
          <a:xfrm flipV="1">
            <a:off x="8744607" y="3391905"/>
            <a:ext cx="744018" cy="1884288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838BBD-6ABB-4A42-811E-EADFCAC30264}"/>
              </a:ext>
            </a:extLst>
          </p:cNvPr>
          <p:cNvCxnSpPr>
            <a:endCxn id="3" idx="1"/>
          </p:cNvCxnSpPr>
          <p:nvPr/>
        </p:nvCxnSpPr>
        <p:spPr>
          <a:xfrm flipV="1">
            <a:off x="8755117" y="4084709"/>
            <a:ext cx="2350502" cy="1201994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B9B0D7-9F7A-45BC-8DEB-4CADD2C0E5AE}"/>
              </a:ext>
            </a:extLst>
          </p:cNvPr>
          <p:cNvCxnSpPr>
            <a:cxnSpLocks/>
          </p:cNvCxnSpPr>
          <p:nvPr/>
        </p:nvCxnSpPr>
        <p:spPr>
          <a:xfrm>
            <a:off x="9524669" y="3359427"/>
            <a:ext cx="1639853" cy="75138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0B6B3B-159D-4699-A6DB-4CFB09489855}"/>
              </a:ext>
            </a:extLst>
          </p:cNvPr>
          <p:cNvCxnSpPr/>
          <p:nvPr/>
        </p:nvCxnSpPr>
        <p:spPr>
          <a:xfrm>
            <a:off x="10026869" y="3584028"/>
            <a:ext cx="220717" cy="115613"/>
          </a:xfrm>
          <a:prstGeom prst="line">
            <a:avLst/>
          </a:prstGeom>
          <a:ln w="1905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0A7C0D-6A9A-4454-AE59-7161C57458E3}"/>
              </a:ext>
            </a:extLst>
          </p:cNvPr>
          <p:cNvSpPr txBox="1"/>
          <p:nvPr/>
        </p:nvSpPr>
        <p:spPr>
          <a:xfrm>
            <a:off x="9921766" y="3605048"/>
            <a:ext cx="536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latin typeface="+mj-lt"/>
              </a:rPr>
              <a:t>dl</a:t>
            </a:r>
            <a:endParaRPr lang="en-IN" b="1" i="1" dirty="0"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927F6E-44CA-4CDB-A47A-9023618A3E04}"/>
              </a:ext>
            </a:extLst>
          </p:cNvPr>
          <p:cNvCxnSpPr>
            <a:cxnSpLocks/>
          </p:cNvCxnSpPr>
          <p:nvPr/>
        </p:nvCxnSpPr>
        <p:spPr>
          <a:xfrm flipV="1">
            <a:off x="10126718" y="3331779"/>
            <a:ext cx="257503" cy="3153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23B3B7-936E-4CC6-985E-3E495F78A8CE}"/>
              </a:ext>
            </a:extLst>
          </p:cNvPr>
          <p:cNvSpPr txBox="1"/>
          <p:nvPr/>
        </p:nvSpPr>
        <p:spPr>
          <a:xfrm>
            <a:off x="10331670" y="3153104"/>
            <a:ext cx="515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+mj-lt"/>
              </a:rPr>
              <a:t>E</a:t>
            </a:r>
            <a:endParaRPr lang="en-IN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F950819-5B87-457B-8755-390D7C4F71D2}"/>
                  </a:ext>
                </a:extLst>
              </p:cNvPr>
              <p:cNvSpPr txBox="1"/>
              <p:nvPr/>
            </p:nvSpPr>
            <p:spPr>
              <a:xfrm>
                <a:off x="1408386" y="2900855"/>
                <a:ext cx="4267200" cy="483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F950819-5B87-457B-8755-390D7C4F7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86" y="2900855"/>
                <a:ext cx="4267200" cy="483476"/>
              </a:xfrm>
              <a:prstGeom prst="rect">
                <a:avLst/>
              </a:prstGeom>
              <a:blipFill>
                <a:blip r:embed="rId5"/>
                <a:stretch>
                  <a:fillRect t="-101266" b="-163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FF61D1-1C5F-40AD-B3D2-2EA162767423}"/>
                  </a:ext>
                </a:extLst>
              </p:cNvPr>
              <p:cNvSpPr txBox="1"/>
              <p:nvPr/>
            </p:nvSpPr>
            <p:spPr>
              <a:xfrm>
                <a:off x="1797269" y="3426372"/>
                <a:ext cx="1797269" cy="525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FF61D1-1C5F-40AD-B3D2-2EA162767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269" y="3426372"/>
                <a:ext cx="1797269" cy="525144"/>
              </a:xfrm>
              <a:prstGeom prst="rect">
                <a:avLst/>
              </a:prstGeom>
              <a:blipFill>
                <a:blip r:embed="rId11"/>
                <a:stretch>
                  <a:fillRect l="-4407" t="-93023" r="-2034" b="-141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0FCAB0-3C34-4493-B72C-D7179DF84D9E}"/>
                  </a:ext>
                </a:extLst>
              </p:cNvPr>
              <p:cNvSpPr txBox="1"/>
              <p:nvPr/>
            </p:nvSpPr>
            <p:spPr>
              <a:xfrm>
                <a:off x="3489433" y="3520966"/>
                <a:ext cx="3331780" cy="394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(</a:t>
                </a:r>
                <a:r>
                  <a:rPr lang="en-IN" i="1" dirty="0" err="1">
                    <a:latin typeface="+mj-lt"/>
                  </a:rPr>
                  <a:t>dr</a:t>
                </a:r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+ r d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+ r sin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i="1" dirty="0">
                    <a:latin typeface="+mj-lt"/>
                  </a:rPr>
                  <a:t> d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0FCAB0-3C34-4493-B72C-D7179DF84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433" y="3520966"/>
                <a:ext cx="3331780" cy="394339"/>
              </a:xfrm>
              <a:prstGeom prst="rect">
                <a:avLst/>
              </a:prstGeom>
              <a:blipFill>
                <a:blip r:embed="rId12"/>
                <a:stretch>
                  <a:fillRect l="-1463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4B6BD6-8468-4349-8162-737405CBBC27}"/>
                  </a:ext>
                </a:extLst>
              </p:cNvPr>
              <p:cNvSpPr txBox="1"/>
              <p:nvPr/>
            </p:nvSpPr>
            <p:spPr>
              <a:xfrm>
                <a:off x="1807779" y="4162097"/>
                <a:ext cx="4708635" cy="525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>
                    <a:latin typeface="+mj-lt"/>
                  </a:rPr>
                  <a:t>dr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4B6BD6-8468-4349-8162-737405CBB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79" y="4162097"/>
                <a:ext cx="4708635" cy="525144"/>
              </a:xfrm>
              <a:prstGeom prst="rect">
                <a:avLst/>
              </a:prstGeom>
              <a:blipFill>
                <a:blip r:embed="rId13"/>
                <a:stretch>
                  <a:fillRect l="-1684" t="-93023" b="-141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86CBE3-8817-4353-91D8-BA4E135CCAE9}"/>
                  </a:ext>
                </a:extLst>
              </p:cNvPr>
              <p:cNvSpPr txBox="1"/>
              <p:nvPr/>
            </p:nvSpPr>
            <p:spPr>
              <a:xfrm>
                <a:off x="1819512" y="4887310"/>
                <a:ext cx="3594538" cy="531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f>
                          <m:f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𝑑𝑟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86CBE3-8817-4353-91D8-BA4E135CC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512" y="4887310"/>
                <a:ext cx="3594538" cy="531364"/>
              </a:xfrm>
              <a:prstGeom prst="rect">
                <a:avLst/>
              </a:prstGeom>
              <a:blipFill>
                <a:blip r:embed="rId14"/>
                <a:stretch>
                  <a:fillRect l="-1356" t="-93103" b="-1379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9D1A07D-AAF0-4619-84B5-44868818DAD3}"/>
                  </a:ext>
                </a:extLst>
              </p:cNvPr>
              <p:cNvSpPr txBox="1"/>
              <p:nvPr/>
            </p:nvSpPr>
            <p:spPr>
              <a:xfrm>
                <a:off x="1346425" y="5580871"/>
                <a:ext cx="4288221" cy="5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[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]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9D1A07D-AAF0-4619-84B5-44868818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425" y="5580871"/>
                <a:ext cx="4288221" cy="5288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F4048E8-7AD7-42DA-A7EA-9A11BCA9B1CA}"/>
              </a:ext>
            </a:extLst>
          </p:cNvPr>
          <p:cNvSpPr/>
          <p:nvPr/>
        </p:nvSpPr>
        <p:spPr>
          <a:xfrm>
            <a:off x="1345323" y="5580994"/>
            <a:ext cx="2165131" cy="493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8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8" grpId="0"/>
      <p:bldP spid="19" grpId="0"/>
      <p:bldP spid="20" grpId="0"/>
      <p:bldP spid="21" grpId="0" animBg="1"/>
      <p:bldP spid="22" grpId="0"/>
      <p:bldP spid="23" grpId="0" animBg="1"/>
      <p:bldP spid="2" grpId="0"/>
      <p:bldP spid="3" grpId="0" animBg="1"/>
      <p:bldP spid="24" grpId="0"/>
      <p:bldP spid="24" grpId="1"/>
      <p:bldP spid="26" grpId="0"/>
      <p:bldP spid="29" grpId="0"/>
      <p:bldP spid="30" grpId="0"/>
      <p:bldP spid="32" grpId="0"/>
      <p:bldP spid="34" grpId="0"/>
      <p:bldP spid="35" grpId="0"/>
      <p:bldP spid="36" grpId="0"/>
      <p:bldP spid="37" grpId="0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A7407-D34C-4044-8EAA-B2D423D23E24}"/>
              </a:ext>
            </a:extLst>
          </p:cNvPr>
          <p:cNvSpPr txBox="1"/>
          <p:nvPr/>
        </p:nvSpPr>
        <p:spPr>
          <a:xfrm>
            <a:off x="378372" y="420414"/>
            <a:ext cx="6001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(or) Absolute Potential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D12A7-A25A-480A-9D4D-C2285A284485}"/>
              </a:ext>
            </a:extLst>
          </p:cNvPr>
          <p:cNvSpPr txBox="1"/>
          <p:nvPr/>
        </p:nvSpPr>
        <p:spPr>
          <a:xfrm>
            <a:off x="515007" y="1177159"/>
            <a:ext cx="11435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Potential or Absolute Potential at a point is defined as the work done in moving a unit positive charge from </a:t>
            </a:r>
            <a:r>
              <a:rPr lang="en-IN" sz="2000" i="1" dirty="0">
                <a:latin typeface="+mj-lt"/>
              </a:rPr>
              <a:t>infinity</a:t>
            </a:r>
            <a:r>
              <a:rPr lang="en-IN" sz="2000" dirty="0">
                <a:latin typeface="+mj-lt"/>
              </a:rPr>
              <a:t> to that point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01F6F1-74A7-4563-963B-568125665A5C}"/>
                  </a:ext>
                </a:extLst>
              </p:cNvPr>
              <p:cNvSpPr txBox="1"/>
              <p:nvPr/>
            </p:nvSpPr>
            <p:spPr>
              <a:xfrm>
                <a:off x="840828" y="2270234"/>
                <a:ext cx="2249213" cy="47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IN" dirty="0"/>
                  <a:t> = -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01F6F1-74A7-4563-963B-568125665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28" y="2270234"/>
                <a:ext cx="2249213" cy="473143"/>
              </a:xfrm>
              <a:prstGeom prst="rect">
                <a:avLst/>
              </a:prstGeom>
              <a:blipFill>
                <a:blip r:embed="rId2"/>
                <a:stretch>
                  <a:fillRect t="-102564" r="-2981" b="-16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21B337-3250-41F0-B352-3B8997A0FB56}"/>
              </a:ext>
            </a:extLst>
          </p:cNvPr>
          <p:cNvSpPr txBox="1"/>
          <p:nvPr/>
        </p:nvSpPr>
        <p:spPr>
          <a:xfrm>
            <a:off x="3205656" y="2322787"/>
            <a:ext cx="525517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A45D84-C249-423C-8376-C4F3E6F8D82D}"/>
                  </a:ext>
                </a:extLst>
              </p:cNvPr>
              <p:cNvSpPr txBox="1"/>
              <p:nvPr/>
            </p:nvSpPr>
            <p:spPr>
              <a:xfrm>
                <a:off x="3904594" y="2286000"/>
                <a:ext cx="2249213" cy="472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IN" dirty="0"/>
                  <a:t> = -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A45D84-C249-423C-8376-C4F3E6F8D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594" y="2286000"/>
                <a:ext cx="2249213" cy="472565"/>
              </a:xfrm>
              <a:prstGeom prst="rect">
                <a:avLst/>
              </a:prstGeom>
              <a:blipFill>
                <a:blip r:embed="rId6"/>
                <a:stretch>
                  <a:fillRect t="-102564" r="-4620" b="-16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F6D65B8-FBBF-43B0-996A-CE5080CC1418}"/>
              </a:ext>
            </a:extLst>
          </p:cNvPr>
          <p:cNvSpPr txBox="1"/>
          <p:nvPr/>
        </p:nvSpPr>
        <p:spPr>
          <a:xfrm>
            <a:off x="630621" y="2995448"/>
            <a:ext cx="878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Potential Difference can be expressed in terms of Potentials as follows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CFE531-B341-44D9-8436-148F3DF59793}"/>
                  </a:ext>
                </a:extLst>
              </p:cNvPr>
              <p:cNvSpPr txBox="1"/>
              <p:nvPr/>
            </p:nvSpPr>
            <p:spPr>
              <a:xfrm>
                <a:off x="851338" y="3594538"/>
                <a:ext cx="3310759" cy="47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-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en-IN" b="1"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CFE531-B341-44D9-8436-148F3DF59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38" y="3594538"/>
                <a:ext cx="3310759" cy="473143"/>
              </a:xfrm>
              <a:prstGeom prst="rect">
                <a:avLst/>
              </a:prstGeom>
              <a:blipFill>
                <a:blip r:embed="rId4"/>
                <a:stretch>
                  <a:fillRect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133E57-4BE1-460B-A762-0C19A0BF878A}"/>
                  </a:ext>
                </a:extLst>
              </p:cNvPr>
              <p:cNvSpPr txBox="1"/>
              <p:nvPr/>
            </p:nvSpPr>
            <p:spPr>
              <a:xfrm>
                <a:off x="1208690" y="4235669"/>
                <a:ext cx="5171089" cy="47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[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 +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133E57-4BE1-460B-A762-0C19A0BF8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690" y="4235669"/>
                <a:ext cx="5171089" cy="473143"/>
              </a:xfrm>
              <a:prstGeom prst="rect">
                <a:avLst/>
              </a:prstGeom>
              <a:blipFill>
                <a:blip r:embed="rId7"/>
                <a:stretch>
                  <a:fillRect l="-942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C2257C-FBFF-4DEA-87AE-124B2987FFBC}"/>
                  </a:ext>
                </a:extLst>
              </p:cNvPr>
              <p:cNvSpPr txBox="1"/>
              <p:nvPr/>
            </p:nvSpPr>
            <p:spPr>
              <a:xfrm flipH="1">
                <a:off x="1183214" y="4887311"/>
                <a:ext cx="3325724" cy="47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[ -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- (-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) ]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C2257C-FBFF-4DEA-87AE-124B2987F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83214" y="4887311"/>
                <a:ext cx="3325724" cy="473143"/>
              </a:xfrm>
              <a:prstGeom prst="rect">
                <a:avLst/>
              </a:prstGeom>
              <a:blipFill>
                <a:blip r:embed="rId8"/>
                <a:stretch>
                  <a:fillRect l="-1465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8406F-2603-4F34-BEC6-5BF79E2617DD}"/>
                  </a:ext>
                </a:extLst>
              </p:cNvPr>
              <p:cNvSpPr txBox="1"/>
              <p:nvPr/>
            </p:nvSpPr>
            <p:spPr>
              <a:xfrm>
                <a:off x="1250731" y="5549462"/>
                <a:ext cx="39834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]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8406F-2603-4F34-BEC6-5BF79E261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731" y="5549462"/>
                <a:ext cx="3983421" cy="369332"/>
              </a:xfrm>
              <a:prstGeom prst="rect">
                <a:avLst/>
              </a:prstGeom>
              <a:blipFill>
                <a:blip r:embed="rId9"/>
                <a:stretch>
                  <a:fillRect l="-122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7C96B5-EA06-4B13-B4C6-66DE74BFD094}"/>
                  </a:ext>
                </a:extLst>
              </p:cNvPr>
              <p:cNvSpPr txBox="1"/>
              <p:nvPr/>
            </p:nvSpPr>
            <p:spPr>
              <a:xfrm>
                <a:off x="840827" y="6085489"/>
                <a:ext cx="15975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7C96B5-EA06-4B13-B4C6-66DE74BFD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27" y="6085489"/>
                <a:ext cx="1597573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286762-ACBE-45DE-9C31-C1521E2A6161}"/>
                  </a:ext>
                </a:extLst>
              </p:cNvPr>
              <p:cNvSpPr txBox="1"/>
              <p:nvPr/>
            </p:nvSpPr>
            <p:spPr>
              <a:xfrm>
                <a:off x="2580289" y="5575737"/>
                <a:ext cx="3153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286762-ACBE-45DE-9C31-C1521E2A6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289" y="5575737"/>
                <a:ext cx="3153104" cy="369332"/>
              </a:xfrm>
              <a:prstGeom prst="rect">
                <a:avLst/>
              </a:prstGeom>
              <a:blipFill>
                <a:blip r:embed="rId11"/>
                <a:stretch>
                  <a:fillRect l="-154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0FC599-C567-40EE-93A3-4680A9B037FE}"/>
              </a:ext>
            </a:extLst>
          </p:cNvPr>
          <p:cNvSpPr/>
          <p:nvPr/>
        </p:nvSpPr>
        <p:spPr>
          <a:xfrm>
            <a:off x="861848" y="6085490"/>
            <a:ext cx="1345324" cy="378372"/>
          </a:xfrm>
          <a:prstGeom prst="roundRect">
            <a:avLst/>
          </a:prstGeom>
          <a:solidFill>
            <a:schemeClr val="accent4">
              <a:lumMod val="75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13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16568-00DD-4C33-8F2D-09977C64406B}"/>
              </a:ext>
            </a:extLst>
          </p:cNvPr>
          <p:cNvSpPr txBox="1"/>
          <p:nvPr/>
        </p:nvSpPr>
        <p:spPr>
          <a:xfrm>
            <a:off x="378372" y="472966"/>
            <a:ext cx="877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+mj-lt"/>
              </a:rPr>
              <a:t>Note </a:t>
            </a:r>
            <a:r>
              <a:rPr lang="en-IN" b="1" dirty="0">
                <a:latin typeface="+mj-lt"/>
              </a:rPr>
              <a:t>:</a:t>
            </a:r>
            <a:r>
              <a:rPr lang="en-IN" dirty="0">
                <a:latin typeface="+mj-lt"/>
              </a:rPr>
              <a:t> Potential due to Point charge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609ECF-F8F3-4410-88E7-13E140BEDFC7}"/>
              </a:ext>
            </a:extLst>
          </p:cNvPr>
          <p:cNvCxnSpPr/>
          <p:nvPr/>
        </p:nvCxnSpPr>
        <p:spPr>
          <a:xfrm flipV="1">
            <a:off x="6044705" y="799586"/>
            <a:ext cx="0" cy="2395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BCDBFD-FA6B-47B8-B874-02F581E8DAC2}"/>
              </a:ext>
            </a:extLst>
          </p:cNvPr>
          <p:cNvCxnSpPr>
            <a:cxnSpLocks/>
          </p:cNvCxnSpPr>
          <p:nvPr/>
        </p:nvCxnSpPr>
        <p:spPr>
          <a:xfrm>
            <a:off x="6034766" y="3174468"/>
            <a:ext cx="30910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332871-6EC8-422E-8BE1-CA6148FF3331}"/>
              </a:ext>
            </a:extLst>
          </p:cNvPr>
          <p:cNvCxnSpPr/>
          <p:nvPr/>
        </p:nvCxnSpPr>
        <p:spPr>
          <a:xfrm flipH="1">
            <a:off x="4762557" y="3173895"/>
            <a:ext cx="1272209" cy="10038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23F0C0C-7BD1-4F61-A771-A133B83774BA}"/>
              </a:ext>
            </a:extLst>
          </p:cNvPr>
          <p:cNvSpPr txBox="1"/>
          <p:nvPr/>
        </p:nvSpPr>
        <p:spPr>
          <a:xfrm>
            <a:off x="4527331" y="3844274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6F5F4-9123-491B-AD05-B5902E79C1D3}"/>
              </a:ext>
            </a:extLst>
          </p:cNvPr>
          <p:cNvSpPr txBox="1"/>
          <p:nvPr/>
        </p:nvSpPr>
        <p:spPr>
          <a:xfrm>
            <a:off x="9128349" y="295169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A173BD-CF6C-4E01-A19B-0CC42B30504A}"/>
              </a:ext>
            </a:extLst>
          </p:cNvPr>
          <p:cNvSpPr/>
          <p:nvPr/>
        </p:nvSpPr>
        <p:spPr>
          <a:xfrm>
            <a:off x="5904985" y="3004359"/>
            <a:ext cx="248478" cy="288235"/>
          </a:xfrm>
          <a:prstGeom prst="flowChartConnector">
            <a:avLst/>
          </a:prstGeom>
          <a:solidFill>
            <a:schemeClr val="accent4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8CD27-3C1F-4CF9-9273-12299CBDF658}"/>
              </a:ext>
            </a:extLst>
          </p:cNvPr>
          <p:cNvSpPr txBox="1"/>
          <p:nvPr/>
        </p:nvSpPr>
        <p:spPr>
          <a:xfrm>
            <a:off x="6062734" y="3393263"/>
            <a:ext cx="5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Q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A601038-7D4D-46CA-B841-9F78F7B49AC5}"/>
              </a:ext>
            </a:extLst>
          </p:cNvPr>
          <p:cNvSpPr/>
          <p:nvPr/>
        </p:nvSpPr>
        <p:spPr>
          <a:xfrm>
            <a:off x="6801792" y="1184356"/>
            <a:ext cx="45719" cy="496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1CACEE-C624-4913-A554-9CAF102D7D92}"/>
                  </a:ext>
                </a:extLst>
              </p:cNvPr>
              <p:cNvSpPr txBox="1"/>
              <p:nvPr/>
            </p:nvSpPr>
            <p:spPr>
              <a:xfrm>
                <a:off x="6653048" y="830317"/>
                <a:ext cx="14609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+mj-lt"/>
                  </a:rPr>
                  <a:t>A(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1CACEE-C624-4913-A554-9CAF102D7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048" y="830317"/>
                <a:ext cx="1460937" cy="338554"/>
              </a:xfrm>
              <a:prstGeom prst="rect">
                <a:avLst/>
              </a:prstGeom>
              <a:blipFill>
                <a:blip r:embed="rId2"/>
                <a:stretch>
                  <a:fillRect l="-2083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E324A8C-3EFD-47F4-866E-E90417310C7E}"/>
              </a:ext>
            </a:extLst>
          </p:cNvPr>
          <p:cNvSpPr/>
          <p:nvPr/>
        </p:nvSpPr>
        <p:spPr>
          <a:xfrm>
            <a:off x="8429296" y="191288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61F342-1BB3-4E90-BBDE-AA0F8C6316BC}"/>
                  </a:ext>
                </a:extLst>
              </p:cNvPr>
              <p:cNvSpPr txBox="1"/>
              <p:nvPr/>
            </p:nvSpPr>
            <p:spPr>
              <a:xfrm>
                <a:off x="8360978" y="1571296"/>
                <a:ext cx="14609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+mj-lt"/>
                  </a:rPr>
                  <a:t>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61F342-1BB3-4E90-BBDE-AA0F8C63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978" y="1571296"/>
                <a:ext cx="1460937" cy="338554"/>
              </a:xfrm>
              <a:prstGeom prst="rect">
                <a:avLst/>
              </a:prstGeom>
              <a:blipFill>
                <a:blip r:embed="rId4"/>
                <a:stretch>
                  <a:fillRect l="-2510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DA1897-6EDE-4E6D-9433-19F421989736}"/>
              </a:ext>
            </a:extLst>
          </p:cNvPr>
          <p:cNvCxnSpPr>
            <a:cxnSpLocks/>
          </p:cNvCxnSpPr>
          <p:nvPr/>
        </p:nvCxnSpPr>
        <p:spPr>
          <a:xfrm flipV="1">
            <a:off x="6074980" y="1258305"/>
            <a:ext cx="744018" cy="1884288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3E4BF4-8006-4621-A28F-6587D83AD921}"/>
              </a:ext>
            </a:extLst>
          </p:cNvPr>
          <p:cNvCxnSpPr>
            <a:cxnSpLocks/>
          </p:cNvCxnSpPr>
          <p:nvPr/>
        </p:nvCxnSpPr>
        <p:spPr>
          <a:xfrm flipV="1">
            <a:off x="6064469" y="1951109"/>
            <a:ext cx="2350502" cy="1201994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B393A7-5DB4-455D-A640-F1F33170FBD2}"/>
              </a:ext>
            </a:extLst>
          </p:cNvPr>
          <p:cNvCxnSpPr>
            <a:cxnSpLocks/>
          </p:cNvCxnSpPr>
          <p:nvPr/>
        </p:nvCxnSpPr>
        <p:spPr>
          <a:xfrm>
            <a:off x="6838339" y="1205988"/>
            <a:ext cx="1639853" cy="75138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CC91C25-68E6-41AA-8C05-E2FB59B314E0}"/>
              </a:ext>
            </a:extLst>
          </p:cNvPr>
          <p:cNvSpPr txBox="1"/>
          <p:nvPr/>
        </p:nvSpPr>
        <p:spPr>
          <a:xfrm>
            <a:off x="5867400" y="45468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7029-0D5D-4BE1-BB0E-D780DFA21DBB}"/>
                  </a:ext>
                </a:extLst>
              </p:cNvPr>
              <p:cNvSpPr txBox="1"/>
              <p:nvPr/>
            </p:nvSpPr>
            <p:spPr>
              <a:xfrm>
                <a:off x="904991" y="1156016"/>
                <a:ext cx="4288221" cy="5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Since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[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]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7029-0D5D-4BE1-BB0E-D780DFA2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91" y="1156016"/>
                <a:ext cx="4288221" cy="528863"/>
              </a:xfrm>
              <a:prstGeom prst="rect">
                <a:avLst/>
              </a:prstGeom>
              <a:blipFill>
                <a:blip r:embed="rId5"/>
                <a:stretch>
                  <a:fillRect l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C56339-D6ED-4A82-A72B-61F049F42743}"/>
                  </a:ext>
                </a:extLst>
              </p:cNvPr>
              <p:cNvSpPr txBox="1"/>
              <p:nvPr/>
            </p:nvSpPr>
            <p:spPr>
              <a:xfrm>
                <a:off x="840828" y="2270234"/>
                <a:ext cx="4401732" cy="52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IN" dirty="0"/>
                  <a:t> = -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b="1" dirty="0"/>
                  <a:t> 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C56339-D6ED-4A82-A72B-61F049F4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28" y="2270234"/>
                <a:ext cx="4401732" cy="521618"/>
              </a:xfrm>
              <a:prstGeom prst="rect">
                <a:avLst/>
              </a:prstGeom>
              <a:blipFill>
                <a:blip r:embed="rId7"/>
                <a:stretch>
                  <a:fillRect t="-93023" b="-141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4D1446-20A4-43E6-B4A5-B88A9B38055D}"/>
                  </a:ext>
                </a:extLst>
              </p:cNvPr>
              <p:cNvSpPr txBox="1"/>
              <p:nvPr/>
            </p:nvSpPr>
            <p:spPr>
              <a:xfrm>
                <a:off x="891628" y="3194794"/>
                <a:ext cx="4401732" cy="52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IN" dirty="0"/>
                  <a:t> = -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b="1" dirty="0"/>
                  <a:t> 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4D1446-20A4-43E6-B4A5-B88A9B38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28" y="3194794"/>
                <a:ext cx="4401732" cy="521618"/>
              </a:xfrm>
              <a:prstGeom prst="rect">
                <a:avLst/>
              </a:prstGeom>
              <a:blipFill>
                <a:blip r:embed="rId8"/>
                <a:stretch>
                  <a:fillRect t="-94186" b="-1406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0A02C33-988F-4CEB-AECF-FCCEE5B7AFB2}"/>
              </a:ext>
            </a:extLst>
          </p:cNvPr>
          <p:cNvSpPr txBox="1"/>
          <p:nvPr/>
        </p:nvSpPr>
        <p:spPr>
          <a:xfrm>
            <a:off x="457200" y="4632960"/>
            <a:ext cx="778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In general Potential of a Point charge is given by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E8D8F528-5B47-416C-AF55-028CD788B79F}"/>
              </a:ext>
            </a:extLst>
          </p:cNvPr>
          <p:cNvSpPr/>
          <p:nvPr/>
        </p:nvSpPr>
        <p:spPr>
          <a:xfrm>
            <a:off x="2426915" y="5718092"/>
            <a:ext cx="142240" cy="162560"/>
          </a:xfrm>
          <a:prstGeom prst="flowChartConnector">
            <a:avLst/>
          </a:prstGeom>
          <a:solidFill>
            <a:schemeClr val="accent4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4A0274-7FEF-4728-9215-A5F0C7315CF5}"/>
              </a:ext>
            </a:extLst>
          </p:cNvPr>
          <p:cNvSpPr txBox="1"/>
          <p:nvPr/>
        </p:nvSpPr>
        <p:spPr>
          <a:xfrm>
            <a:off x="2146852" y="5933661"/>
            <a:ext cx="40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Q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E32B98-1DDD-485A-9B09-62B6EB87EFBB}"/>
              </a:ext>
            </a:extLst>
          </p:cNvPr>
          <p:cNvCxnSpPr>
            <a:cxnSpLocks/>
          </p:cNvCxnSpPr>
          <p:nvPr/>
        </p:nvCxnSpPr>
        <p:spPr>
          <a:xfrm>
            <a:off x="2548324" y="5831350"/>
            <a:ext cx="3594059" cy="579389"/>
          </a:xfrm>
          <a:prstGeom prst="line">
            <a:avLst/>
          </a:prstGeom>
          <a:ln w="158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8C237F1-A5C5-45A1-AF6D-C2DF7971A3EC}"/>
              </a:ext>
            </a:extLst>
          </p:cNvPr>
          <p:cNvSpPr/>
          <p:nvPr/>
        </p:nvSpPr>
        <p:spPr>
          <a:xfrm>
            <a:off x="6142383" y="6400800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3DF06A-0718-489C-B850-0D7CB0807FB1}"/>
                  </a:ext>
                </a:extLst>
              </p:cNvPr>
              <p:cNvSpPr txBox="1"/>
              <p:nvPr/>
            </p:nvSpPr>
            <p:spPr>
              <a:xfrm>
                <a:off x="6241774" y="6221896"/>
                <a:ext cx="2156791" cy="531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3DF06A-0718-489C-B850-0D7CB0807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774" y="6221896"/>
                <a:ext cx="2156791" cy="531171"/>
              </a:xfrm>
              <a:prstGeom prst="rect">
                <a:avLst/>
              </a:prstGeom>
              <a:blipFill>
                <a:blip r:embed="rId9"/>
                <a:stretch>
                  <a:fillRect l="-25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DA1FA357-07BD-4A65-AB10-E44BF530C6EA}"/>
              </a:ext>
            </a:extLst>
          </p:cNvPr>
          <p:cNvSpPr txBox="1"/>
          <p:nvPr/>
        </p:nvSpPr>
        <p:spPr>
          <a:xfrm>
            <a:off x="4005470" y="5724939"/>
            <a:ext cx="427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+mj-lt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4752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2" grpId="0" animBg="1"/>
      <p:bldP spid="33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57058-1A62-498A-9871-355FF7078C9E}"/>
              </a:ext>
            </a:extLst>
          </p:cNvPr>
          <p:cNvSpPr txBox="1"/>
          <p:nvPr/>
        </p:nvSpPr>
        <p:spPr>
          <a:xfrm>
            <a:off x="268357" y="308113"/>
            <a:ext cx="11370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due to system of Charges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5A0C40-2202-4D82-8B98-8B6FD95974BE}"/>
              </a:ext>
            </a:extLst>
          </p:cNvPr>
          <p:cNvCxnSpPr/>
          <p:nvPr/>
        </p:nvCxnSpPr>
        <p:spPr>
          <a:xfrm flipV="1">
            <a:off x="7802218" y="1033670"/>
            <a:ext cx="0" cy="280283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1B6E75-8629-4B4A-8097-DEBA9AD9B690}"/>
              </a:ext>
            </a:extLst>
          </p:cNvPr>
          <p:cNvCxnSpPr/>
          <p:nvPr/>
        </p:nvCxnSpPr>
        <p:spPr>
          <a:xfrm flipV="1">
            <a:off x="7802217" y="3687418"/>
            <a:ext cx="4045226" cy="129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EC7192-60DE-4A11-B1B1-0903944F4D99}"/>
              </a:ext>
            </a:extLst>
          </p:cNvPr>
          <p:cNvCxnSpPr>
            <a:cxnSpLocks/>
          </p:cNvCxnSpPr>
          <p:nvPr/>
        </p:nvCxnSpPr>
        <p:spPr>
          <a:xfrm flipH="1">
            <a:off x="6430617" y="3806687"/>
            <a:ext cx="1381540" cy="86470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A352A2-FE4C-4D8D-B1E3-078B7F9D1452}"/>
              </a:ext>
            </a:extLst>
          </p:cNvPr>
          <p:cNvSpPr txBox="1"/>
          <p:nvPr/>
        </p:nvSpPr>
        <p:spPr>
          <a:xfrm>
            <a:off x="6182140" y="4462670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F89AF-673E-4311-A103-E9ECBC17B909}"/>
              </a:ext>
            </a:extLst>
          </p:cNvPr>
          <p:cNvSpPr txBox="1"/>
          <p:nvPr/>
        </p:nvSpPr>
        <p:spPr>
          <a:xfrm>
            <a:off x="11791122" y="3541643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0AC56-C760-431D-9C7E-14C822219BC0}"/>
              </a:ext>
            </a:extLst>
          </p:cNvPr>
          <p:cNvSpPr txBox="1"/>
          <p:nvPr/>
        </p:nvSpPr>
        <p:spPr>
          <a:xfrm>
            <a:off x="7646505" y="708992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466E3D5-5971-447F-B96B-C47BC3D978DC}"/>
              </a:ext>
            </a:extLst>
          </p:cNvPr>
          <p:cNvSpPr/>
          <p:nvPr/>
        </p:nvSpPr>
        <p:spPr>
          <a:xfrm>
            <a:off x="8040757" y="1351722"/>
            <a:ext cx="45719" cy="4571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D0C7330-A196-4BD9-AA6F-9C61AA7CD6E2}"/>
              </a:ext>
            </a:extLst>
          </p:cNvPr>
          <p:cNvSpPr/>
          <p:nvPr/>
        </p:nvSpPr>
        <p:spPr>
          <a:xfrm>
            <a:off x="10535478" y="1162878"/>
            <a:ext cx="45719" cy="4571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B6499D-24FB-4F5E-9576-C5A3F08BA784}"/>
                  </a:ext>
                </a:extLst>
              </p:cNvPr>
              <p:cNvSpPr txBox="1"/>
              <p:nvPr/>
            </p:nvSpPr>
            <p:spPr>
              <a:xfrm>
                <a:off x="7702826" y="1123123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B6499D-24FB-4F5E-9576-C5A3F08B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26" y="1123123"/>
                <a:ext cx="258417" cy="307777"/>
              </a:xfrm>
              <a:prstGeom prst="rect">
                <a:avLst/>
              </a:prstGeom>
              <a:blipFill>
                <a:blip r:embed="rId3"/>
                <a:stretch>
                  <a:fillRect r="-2619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9DEF48-5F70-4973-BE0F-3FCA2E6BB0FE}"/>
                  </a:ext>
                </a:extLst>
              </p:cNvPr>
              <p:cNvSpPr txBox="1"/>
              <p:nvPr/>
            </p:nvSpPr>
            <p:spPr>
              <a:xfrm>
                <a:off x="8014251" y="1593574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9DEF48-5F70-4973-BE0F-3FCA2E6BB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251" y="1593574"/>
                <a:ext cx="258417" cy="307777"/>
              </a:xfrm>
              <a:prstGeom prst="rect">
                <a:avLst/>
              </a:prstGeom>
              <a:blipFill>
                <a:blip r:embed="rId6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D83C916-A446-4404-80AB-633855661B10}"/>
              </a:ext>
            </a:extLst>
          </p:cNvPr>
          <p:cNvSpPr txBox="1"/>
          <p:nvPr/>
        </p:nvSpPr>
        <p:spPr>
          <a:xfrm>
            <a:off x="10098157" y="1451113"/>
            <a:ext cx="198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latin typeface="+mj-lt"/>
              </a:rPr>
              <a:t>r</a:t>
            </a:r>
            <a:endParaRPr lang="en-IN" sz="1400" b="1" i="1" dirty="0">
              <a:latin typeface="+mj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F41A3F-6265-412D-AF1E-7CA122C388B1}"/>
              </a:ext>
            </a:extLst>
          </p:cNvPr>
          <p:cNvCxnSpPr>
            <a:cxnSpLocks/>
          </p:cNvCxnSpPr>
          <p:nvPr/>
        </p:nvCxnSpPr>
        <p:spPr>
          <a:xfrm flipV="1">
            <a:off x="7802217" y="1401417"/>
            <a:ext cx="268357" cy="2415209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A6DB74-A645-4AEE-BBC8-D6B7A264B7FE}"/>
              </a:ext>
            </a:extLst>
          </p:cNvPr>
          <p:cNvCxnSpPr>
            <a:cxnSpLocks/>
          </p:cNvCxnSpPr>
          <p:nvPr/>
        </p:nvCxnSpPr>
        <p:spPr>
          <a:xfrm flipV="1">
            <a:off x="7805751" y="1218757"/>
            <a:ext cx="2762747" cy="2621284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632A0C-A5DF-41A6-9D40-E4A50D5E6F07}"/>
              </a:ext>
            </a:extLst>
          </p:cNvPr>
          <p:cNvCxnSpPr>
            <a:endCxn id="17" idx="4"/>
          </p:cNvCxnSpPr>
          <p:nvPr/>
        </p:nvCxnSpPr>
        <p:spPr>
          <a:xfrm flipV="1">
            <a:off x="8070574" y="1208597"/>
            <a:ext cx="2487764" cy="192820"/>
          </a:xfrm>
          <a:prstGeom prst="line">
            <a:avLst/>
          </a:prstGeom>
          <a:ln w="158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455DDEC-78E6-4A87-BBF4-CBDB758BC5C8}"/>
              </a:ext>
            </a:extLst>
          </p:cNvPr>
          <p:cNvSpPr/>
          <p:nvPr/>
        </p:nvSpPr>
        <p:spPr>
          <a:xfrm>
            <a:off x="8020878" y="1321904"/>
            <a:ext cx="99391" cy="129209"/>
          </a:xfrm>
          <a:prstGeom prst="ellipse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4A4C39-FCAC-4949-89EF-3DABE3D7EC9F}"/>
                  </a:ext>
                </a:extLst>
              </p:cNvPr>
              <p:cNvSpPr txBox="1"/>
              <p:nvPr/>
            </p:nvSpPr>
            <p:spPr>
              <a:xfrm>
                <a:off x="8800548" y="964317"/>
                <a:ext cx="1928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i="1" dirty="0">
                    <a:latin typeface="+mj-lt"/>
                  </a:rPr>
                  <a:t>R= |</a:t>
                </a:r>
                <a:r>
                  <a:rPr lang="en-IN" sz="1600" b="1" i="1" dirty="0">
                    <a:latin typeface="+mj-lt"/>
                  </a:rPr>
                  <a:t>r-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1400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IN" sz="16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4A4C39-FCAC-4949-89EF-3DABE3D7E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548" y="964317"/>
                <a:ext cx="1928412" cy="338554"/>
              </a:xfrm>
              <a:prstGeom prst="rect">
                <a:avLst/>
              </a:prstGeom>
              <a:blipFill>
                <a:blip r:embed="rId16"/>
                <a:stretch>
                  <a:fillRect l="-1899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0177E25-CBCC-4C5D-9D89-2522A4EE3A74}"/>
              </a:ext>
            </a:extLst>
          </p:cNvPr>
          <p:cNvSpPr txBox="1"/>
          <p:nvPr/>
        </p:nvSpPr>
        <p:spPr>
          <a:xfrm>
            <a:off x="10376452" y="844827"/>
            <a:ext cx="39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0E61F7-436C-4980-9354-42F1D8213B34}"/>
                  </a:ext>
                </a:extLst>
              </p:cNvPr>
              <p:cNvSpPr txBox="1"/>
              <p:nvPr/>
            </p:nvSpPr>
            <p:spPr>
              <a:xfrm>
                <a:off x="325120" y="1249680"/>
                <a:ext cx="5506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The potential at the point </a:t>
                </a:r>
                <a:r>
                  <a:rPr lang="en-IN" i="1" dirty="0">
                    <a:latin typeface="+mj-lt"/>
                  </a:rPr>
                  <a:t>P </a:t>
                </a:r>
                <a:r>
                  <a:rPr lang="en-IN" dirty="0">
                    <a:latin typeface="+mj-lt"/>
                  </a:rPr>
                  <a:t> due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at the location given by the  position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,</a:t>
                </a:r>
                <a:r>
                  <a:rPr lang="en-IN" b="1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is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0E61F7-436C-4980-9354-42F1D8213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20" y="1249680"/>
                <a:ext cx="5506720" cy="646331"/>
              </a:xfrm>
              <a:prstGeom prst="rect">
                <a:avLst/>
              </a:prstGeom>
              <a:blipFill>
                <a:blip r:embed="rId11"/>
                <a:stretch>
                  <a:fillRect l="-885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FFC8C253-7B09-48FC-94F2-04043DA506F5}"/>
              </a:ext>
            </a:extLst>
          </p:cNvPr>
          <p:cNvSpPr txBox="1"/>
          <p:nvPr/>
        </p:nvSpPr>
        <p:spPr>
          <a:xfrm>
            <a:off x="508000" y="232664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V</a:t>
            </a:r>
            <a:r>
              <a:rPr lang="en-IN" dirty="0">
                <a:latin typeface="+mj-lt"/>
              </a:rPr>
              <a:t>(</a:t>
            </a:r>
            <a:r>
              <a:rPr lang="en-IN" b="1" i="1" dirty="0">
                <a:latin typeface="+mj-lt"/>
              </a:rPr>
              <a:t>r</a:t>
            </a:r>
            <a:r>
              <a:rPr lang="en-IN" dirty="0">
                <a:latin typeface="+mj-lt"/>
              </a:rPr>
              <a:t>) = </a:t>
            </a:r>
            <a:endParaRPr lang="en-IN" b="1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8183BF-E7FB-4588-B788-75A371B9BB82}"/>
                  </a:ext>
                </a:extLst>
              </p:cNvPr>
              <p:cNvSpPr txBox="1"/>
              <p:nvPr/>
            </p:nvSpPr>
            <p:spPr>
              <a:xfrm>
                <a:off x="1239520" y="2230120"/>
                <a:ext cx="702500" cy="567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8183BF-E7FB-4588-B788-75A371B9B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520" y="2230120"/>
                <a:ext cx="702500" cy="567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9EC835-0682-4CAB-BD39-3AE5DEEE35B6}"/>
                  </a:ext>
                </a:extLst>
              </p:cNvPr>
              <p:cNvSpPr txBox="1"/>
              <p:nvPr/>
            </p:nvSpPr>
            <p:spPr>
              <a:xfrm>
                <a:off x="1005840" y="2987040"/>
                <a:ext cx="3027680" cy="531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9EC835-0682-4CAB-BD39-3AE5DEEE3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987040"/>
                <a:ext cx="3027680" cy="531171"/>
              </a:xfrm>
              <a:prstGeom prst="rect">
                <a:avLst/>
              </a:prstGeom>
              <a:blipFill>
                <a:blip r:embed="rId15"/>
                <a:stretch>
                  <a:fillRect l="-1610" b="-4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6A2287-38C8-4534-BFB7-70F504E14447}"/>
                  </a:ext>
                </a:extLst>
              </p:cNvPr>
              <p:cNvSpPr txBox="1"/>
              <p:nvPr/>
            </p:nvSpPr>
            <p:spPr>
              <a:xfrm>
                <a:off x="264160" y="3870960"/>
                <a:ext cx="63804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Now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…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are placed at the 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…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respectively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6A2287-38C8-4534-BFB7-70F504E14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3870960"/>
                <a:ext cx="6380480" cy="646331"/>
              </a:xfrm>
              <a:prstGeom prst="rect">
                <a:avLst/>
              </a:prstGeom>
              <a:blipFill>
                <a:blip r:embed="rId21"/>
                <a:stretch>
                  <a:fillRect l="-764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E3178833-C793-4799-99A9-244119BC8728}"/>
              </a:ext>
            </a:extLst>
          </p:cNvPr>
          <p:cNvSpPr/>
          <p:nvPr/>
        </p:nvSpPr>
        <p:spPr>
          <a:xfrm>
            <a:off x="9374808" y="264712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FAAA0E41-479C-4638-9B66-AF10A6AA3447}"/>
              </a:ext>
            </a:extLst>
          </p:cNvPr>
          <p:cNvSpPr/>
          <p:nvPr/>
        </p:nvSpPr>
        <p:spPr>
          <a:xfrm>
            <a:off x="10160000" y="208280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6DDFAD01-DC1C-4A02-9A09-A640D4C9A906}"/>
              </a:ext>
            </a:extLst>
          </p:cNvPr>
          <p:cNvSpPr/>
          <p:nvPr/>
        </p:nvSpPr>
        <p:spPr>
          <a:xfrm>
            <a:off x="11064240" y="207264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C5C94A2F-53C4-4F35-A0AD-6F1EFDE3B42C}"/>
              </a:ext>
            </a:extLst>
          </p:cNvPr>
          <p:cNvSpPr/>
          <p:nvPr/>
        </p:nvSpPr>
        <p:spPr>
          <a:xfrm>
            <a:off x="11684000" y="302768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C1368943-0AAA-413F-881F-EBB95FD814D1}"/>
              </a:ext>
            </a:extLst>
          </p:cNvPr>
          <p:cNvSpPr/>
          <p:nvPr/>
        </p:nvSpPr>
        <p:spPr>
          <a:xfrm>
            <a:off x="9324009" y="2575779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BC9FBAEE-8DF5-470B-96B3-150A5795351B}"/>
              </a:ext>
            </a:extLst>
          </p:cNvPr>
          <p:cNvSpPr/>
          <p:nvPr/>
        </p:nvSpPr>
        <p:spPr>
          <a:xfrm>
            <a:off x="10122452" y="2032442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35646D63-6278-4744-BC13-2C0584F7B4EE}"/>
              </a:ext>
            </a:extLst>
          </p:cNvPr>
          <p:cNvSpPr/>
          <p:nvPr/>
        </p:nvSpPr>
        <p:spPr>
          <a:xfrm>
            <a:off x="11016974" y="2012564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B8AC1257-0462-4614-B32B-7851F398D1E7}"/>
              </a:ext>
            </a:extLst>
          </p:cNvPr>
          <p:cNvSpPr/>
          <p:nvPr/>
        </p:nvSpPr>
        <p:spPr>
          <a:xfrm>
            <a:off x="11653079" y="2966720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FA27614-F370-4E65-8865-0F8E4A142162}"/>
                  </a:ext>
                </a:extLst>
              </p:cNvPr>
              <p:cNvSpPr txBox="1"/>
              <p:nvPr/>
            </p:nvSpPr>
            <p:spPr>
              <a:xfrm>
                <a:off x="9365973" y="2418523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FA27614-F370-4E65-8865-0F8E4A142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973" y="2418523"/>
                <a:ext cx="258417" cy="307777"/>
              </a:xfrm>
              <a:prstGeom prst="rect">
                <a:avLst/>
              </a:prstGeom>
              <a:blipFill>
                <a:blip r:embed="rId22"/>
                <a:stretch>
                  <a:fillRect r="-23256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94CCCDE-1EF6-4E35-98B1-5CDAF4186732}"/>
                  </a:ext>
                </a:extLst>
              </p:cNvPr>
              <p:cNvSpPr txBox="1"/>
              <p:nvPr/>
            </p:nvSpPr>
            <p:spPr>
              <a:xfrm>
                <a:off x="10180982" y="1861932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94CCCDE-1EF6-4E35-98B1-5CDAF4186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982" y="1861932"/>
                <a:ext cx="258417" cy="307777"/>
              </a:xfrm>
              <a:prstGeom prst="rect">
                <a:avLst/>
              </a:prstGeom>
              <a:blipFill>
                <a:blip r:embed="rId23"/>
                <a:stretch>
                  <a:fillRect r="-2619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0A549D-F023-46CD-B38B-D569661C3548}"/>
                  </a:ext>
                </a:extLst>
              </p:cNvPr>
              <p:cNvSpPr txBox="1"/>
              <p:nvPr/>
            </p:nvSpPr>
            <p:spPr>
              <a:xfrm>
                <a:off x="11015870" y="1792358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0A549D-F023-46CD-B38B-D569661C3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870" y="1792358"/>
                <a:ext cx="258417" cy="307777"/>
              </a:xfrm>
              <a:prstGeom prst="rect">
                <a:avLst/>
              </a:prstGeom>
              <a:blipFill>
                <a:blip r:embed="rId24"/>
                <a:stretch>
                  <a:fillRect r="-2619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ACF5C5-090E-4493-8530-ACC3D7F0E7DE}"/>
                  </a:ext>
                </a:extLst>
              </p:cNvPr>
              <p:cNvSpPr txBox="1"/>
              <p:nvPr/>
            </p:nvSpPr>
            <p:spPr>
              <a:xfrm>
                <a:off x="11721547" y="2816087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ACF5C5-090E-4493-8530-ACC3D7F0E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1547" y="2816087"/>
                <a:ext cx="258417" cy="307777"/>
              </a:xfrm>
              <a:prstGeom prst="rect">
                <a:avLst/>
              </a:prstGeom>
              <a:blipFill>
                <a:blip r:embed="rId30"/>
                <a:stretch>
                  <a:fillRect r="-40476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C15708-7043-4CD6-92F4-7D7FB8D779BE}"/>
                  </a:ext>
                </a:extLst>
              </p:cNvPr>
              <p:cNvSpPr txBox="1"/>
              <p:nvPr/>
            </p:nvSpPr>
            <p:spPr>
              <a:xfrm>
                <a:off x="9206948" y="2676940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C15708-7043-4CD6-92F4-7D7FB8D77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948" y="2676940"/>
                <a:ext cx="258417" cy="307777"/>
              </a:xfrm>
              <a:prstGeom prst="rect">
                <a:avLst/>
              </a:prstGeom>
              <a:blipFill>
                <a:blip r:embed="rId26"/>
                <a:stretch>
                  <a:fillRect r="-209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5E2DE56-F003-4660-B815-A9617BA6CD7D}"/>
                  </a:ext>
                </a:extLst>
              </p:cNvPr>
              <p:cNvSpPr txBox="1"/>
              <p:nvPr/>
            </p:nvSpPr>
            <p:spPr>
              <a:xfrm>
                <a:off x="10045148" y="2113724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5E2DE56-F003-4660-B815-A9617BA6C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148" y="2113724"/>
                <a:ext cx="258417" cy="307777"/>
              </a:xfrm>
              <a:prstGeom prst="rect">
                <a:avLst/>
              </a:prstGeom>
              <a:blipFill>
                <a:blip r:embed="rId31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58E279-2CF8-4F06-973D-C0E08787C587}"/>
                  </a:ext>
                </a:extLst>
              </p:cNvPr>
              <p:cNvSpPr txBox="1"/>
              <p:nvPr/>
            </p:nvSpPr>
            <p:spPr>
              <a:xfrm>
                <a:off x="10909853" y="2083906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58E279-2CF8-4F06-973D-C0E08787C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853" y="2083906"/>
                <a:ext cx="258417" cy="307777"/>
              </a:xfrm>
              <a:prstGeom prst="rect">
                <a:avLst/>
              </a:prstGeom>
              <a:blipFill>
                <a:blip r:embed="rId28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FF3B48-D701-4214-AFBE-FDCA0516480E}"/>
                  </a:ext>
                </a:extLst>
              </p:cNvPr>
              <p:cNvSpPr txBox="1"/>
              <p:nvPr/>
            </p:nvSpPr>
            <p:spPr>
              <a:xfrm>
                <a:off x="11536019" y="3048000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FF3B48-D701-4214-AFBE-FDCA05164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019" y="3048000"/>
                <a:ext cx="258417" cy="307777"/>
              </a:xfrm>
              <a:prstGeom prst="rect">
                <a:avLst/>
              </a:prstGeom>
              <a:blipFill>
                <a:blip r:embed="rId32"/>
                <a:stretch>
                  <a:fillRect r="-30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B3FE92-3775-4A56-AE5D-91072416BEF7}"/>
                  </a:ext>
                </a:extLst>
              </p:cNvPr>
              <p:cNvSpPr txBox="1"/>
              <p:nvPr/>
            </p:nvSpPr>
            <p:spPr>
              <a:xfrm>
                <a:off x="437322" y="4999383"/>
                <a:ext cx="6768548" cy="52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(</a:t>
                </a:r>
                <a:r>
                  <a:rPr lang="en-IN" b="1" i="1" dirty="0">
                    <a:latin typeface="+mj-lt"/>
                  </a:rPr>
                  <a:t>r</a:t>
                </a:r>
                <a:r>
                  <a:rPr lang="en-IN" dirty="0">
                    <a:latin typeface="+mj-lt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+ …..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B3FE92-3775-4A56-AE5D-91072416B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2" y="4999383"/>
                <a:ext cx="6768548" cy="521618"/>
              </a:xfrm>
              <a:prstGeom prst="rect">
                <a:avLst/>
              </a:prstGeom>
              <a:blipFill>
                <a:blip r:embed="rId33"/>
                <a:stretch>
                  <a:fillRect l="-811" b="-58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6990BB-12E8-44B9-9D30-2A6AD4F963B1}"/>
                  </a:ext>
                </a:extLst>
              </p:cNvPr>
              <p:cNvSpPr txBox="1"/>
              <p:nvPr/>
            </p:nvSpPr>
            <p:spPr>
              <a:xfrm>
                <a:off x="854765" y="6033052"/>
                <a:ext cx="4760844" cy="52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6990BB-12E8-44B9-9D30-2A6AD4F9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5" y="6033052"/>
                <a:ext cx="4760844" cy="521618"/>
              </a:xfrm>
              <a:prstGeom prst="rect">
                <a:avLst/>
              </a:prstGeom>
              <a:blipFill>
                <a:blip r:embed="rId34"/>
                <a:stretch>
                  <a:fillRect l="-3201" t="-74118" b="-115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52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7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17" grpId="0" animBg="1"/>
      <p:bldP spid="18" grpId="0"/>
      <p:bldP spid="19" grpId="0"/>
      <p:bldP spid="20" grpId="0"/>
      <p:bldP spid="30" grpId="0" animBg="1"/>
      <p:bldP spid="31" grpId="0"/>
      <p:bldP spid="32" grpId="0"/>
      <p:bldP spid="33" grpId="0"/>
      <p:bldP spid="34" grpId="0"/>
      <p:bldP spid="35" grpId="0"/>
      <p:bldP spid="38" grpId="0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4622C-EFDA-4925-A06B-B849C983F1C1}"/>
              </a:ext>
            </a:extLst>
          </p:cNvPr>
          <p:cNvSpPr txBox="1"/>
          <p:nvPr/>
        </p:nvSpPr>
        <p:spPr>
          <a:xfrm>
            <a:off x="178904" y="198783"/>
            <a:ext cx="817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due to other Charge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A1F7-EF04-4ADF-B656-7677CE223389}"/>
              </a:ext>
            </a:extLst>
          </p:cNvPr>
          <p:cNvSpPr txBox="1"/>
          <p:nvPr/>
        </p:nvSpPr>
        <p:spPr>
          <a:xfrm>
            <a:off x="208722" y="894522"/>
            <a:ext cx="808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Potential due to Volume charge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24E9D7-BB6C-4B14-A77A-72BBDC295361}"/>
              </a:ext>
            </a:extLst>
          </p:cNvPr>
          <p:cNvCxnSpPr/>
          <p:nvPr/>
        </p:nvCxnSpPr>
        <p:spPr>
          <a:xfrm>
            <a:off x="6281530" y="2981739"/>
            <a:ext cx="3021496" cy="0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232D8F-AA5C-4184-ABAE-F5AE21C75C35}"/>
              </a:ext>
            </a:extLst>
          </p:cNvPr>
          <p:cNvCxnSpPr/>
          <p:nvPr/>
        </p:nvCxnSpPr>
        <p:spPr>
          <a:xfrm flipV="1">
            <a:off x="6291470" y="983974"/>
            <a:ext cx="0" cy="2007704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8F9CA-5062-4916-BD31-5A78A64EFB2E}"/>
              </a:ext>
            </a:extLst>
          </p:cNvPr>
          <p:cNvCxnSpPr/>
          <p:nvPr/>
        </p:nvCxnSpPr>
        <p:spPr>
          <a:xfrm flipH="1">
            <a:off x="4651513" y="2981738"/>
            <a:ext cx="1630018" cy="636105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0E7D8A-ECA1-4782-B5A8-1E11D2574097}"/>
              </a:ext>
            </a:extLst>
          </p:cNvPr>
          <p:cNvSpPr txBox="1"/>
          <p:nvPr/>
        </p:nvSpPr>
        <p:spPr>
          <a:xfrm>
            <a:off x="4363278" y="3309731"/>
            <a:ext cx="26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633A3-B8B7-4FB1-BC51-3EF4E9B2911A}"/>
              </a:ext>
            </a:extLst>
          </p:cNvPr>
          <p:cNvSpPr txBox="1"/>
          <p:nvPr/>
        </p:nvSpPr>
        <p:spPr>
          <a:xfrm>
            <a:off x="6030568" y="7255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3D4EB-EB4F-4153-B707-6E8A7078A00C}"/>
              </a:ext>
            </a:extLst>
          </p:cNvPr>
          <p:cNvSpPr txBox="1"/>
          <p:nvPr/>
        </p:nvSpPr>
        <p:spPr>
          <a:xfrm>
            <a:off x="9204463" y="29196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/>
              <p:nvPr/>
            </p:nvSpPr>
            <p:spPr>
              <a:xfrm>
                <a:off x="7345018" y="924339"/>
                <a:ext cx="695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018" y="924339"/>
                <a:ext cx="695739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FCD337E-2639-44C2-9428-812C870FDE65}"/>
              </a:ext>
            </a:extLst>
          </p:cNvPr>
          <p:cNvSpPr/>
          <p:nvPr/>
        </p:nvSpPr>
        <p:spPr>
          <a:xfrm>
            <a:off x="10853529" y="1888435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520E8-62CC-4537-BF9C-CFC23A0D8E48}"/>
              </a:ext>
            </a:extLst>
          </p:cNvPr>
          <p:cNvSpPr txBox="1"/>
          <p:nvPr/>
        </p:nvSpPr>
        <p:spPr>
          <a:xfrm>
            <a:off x="10743506" y="1527852"/>
            <a:ext cx="77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P</a:t>
            </a:r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BA364444-1400-404E-A309-55C0269C6824}"/>
              </a:ext>
            </a:extLst>
          </p:cNvPr>
          <p:cNvSpPr/>
          <p:nvPr/>
        </p:nvSpPr>
        <p:spPr>
          <a:xfrm>
            <a:off x="7861852" y="1520686"/>
            <a:ext cx="149087" cy="119269"/>
          </a:xfrm>
          <a:prstGeom prst="cube">
            <a:avLst/>
          </a:prstGeom>
          <a:solidFill>
            <a:schemeClr val="accent2">
              <a:lumMod val="50000"/>
              <a:alpha val="5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C0B9CC0-C681-4AC9-A519-C864830A3300}"/>
              </a:ext>
            </a:extLst>
          </p:cNvPr>
          <p:cNvSpPr/>
          <p:nvPr/>
        </p:nvSpPr>
        <p:spPr>
          <a:xfrm>
            <a:off x="7911548" y="1570382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17305-C249-488D-AD73-F38F259AD004}"/>
              </a:ext>
            </a:extLst>
          </p:cNvPr>
          <p:cNvSpPr txBox="1"/>
          <p:nvPr/>
        </p:nvSpPr>
        <p:spPr>
          <a:xfrm>
            <a:off x="188844" y="1500808"/>
            <a:ext cx="4770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a differential volume element, </a:t>
            </a:r>
            <a:r>
              <a:rPr lang="en-IN" i="1" dirty="0">
                <a:latin typeface="+mj-lt"/>
              </a:rPr>
              <a:t>dv</a:t>
            </a:r>
            <a:endParaRPr lang="en-IN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C3017-533C-495C-8339-0F88E48946C7}"/>
              </a:ext>
            </a:extLst>
          </p:cNvPr>
          <p:cNvSpPr txBox="1"/>
          <p:nvPr/>
        </p:nvSpPr>
        <p:spPr>
          <a:xfrm>
            <a:off x="159489" y="1998921"/>
            <a:ext cx="449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Charge in </a:t>
            </a:r>
            <a:r>
              <a:rPr lang="en-IN" i="1" dirty="0">
                <a:latin typeface="+mj-lt"/>
              </a:rPr>
              <a:t>dv </a:t>
            </a:r>
            <a:r>
              <a:rPr lang="en-IN" dirty="0">
                <a:latin typeface="+mj-lt"/>
              </a:rPr>
              <a:t>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/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dQ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i="1" dirty="0">
                    <a:latin typeface="+mj-lt"/>
                  </a:rPr>
                  <a:t> dv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blipFill>
                <a:blip r:embed="rId8"/>
                <a:stretch>
                  <a:fillRect l="-279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072E795-AE6C-47A8-B2D9-2E31D915EF58}"/>
              </a:ext>
            </a:extLst>
          </p:cNvPr>
          <p:cNvSpPr txBox="1"/>
          <p:nvPr/>
        </p:nvSpPr>
        <p:spPr>
          <a:xfrm>
            <a:off x="7976043" y="127463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413C5-FCF6-4ED5-A878-7FB88574C0F5}"/>
              </a:ext>
            </a:extLst>
          </p:cNvPr>
          <p:cNvSpPr txBox="1"/>
          <p:nvPr/>
        </p:nvSpPr>
        <p:spPr>
          <a:xfrm>
            <a:off x="7429833" y="1445370"/>
            <a:ext cx="701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+mj-lt"/>
              </a:rPr>
              <a:t>dQ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F0AD35-CA03-4CA1-8E9D-E11593B5ECF2}"/>
              </a:ext>
            </a:extLst>
          </p:cNvPr>
          <p:cNvCxnSpPr>
            <a:cxnSpLocks/>
            <a:endCxn id="19" idx="4"/>
          </p:cNvCxnSpPr>
          <p:nvPr/>
        </p:nvCxnSpPr>
        <p:spPr>
          <a:xfrm>
            <a:off x="8000999" y="1590261"/>
            <a:ext cx="2875390" cy="34389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2801BB-281A-4CAC-AD57-15BB3CA2DB6D}"/>
              </a:ext>
            </a:extLst>
          </p:cNvPr>
          <p:cNvSpPr txBox="1"/>
          <p:nvPr/>
        </p:nvSpPr>
        <p:spPr>
          <a:xfrm>
            <a:off x="159026" y="3240157"/>
            <a:ext cx="380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find the potential </a:t>
            </a:r>
            <a:r>
              <a:rPr lang="en-IN" i="1" dirty="0">
                <a:latin typeface="+mj-lt"/>
              </a:rPr>
              <a:t>dV, </a:t>
            </a:r>
            <a:r>
              <a:rPr lang="en-IN" dirty="0">
                <a:latin typeface="+mj-lt"/>
              </a:rPr>
              <a:t>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</a:t>
            </a:r>
            <a:r>
              <a:rPr lang="en-IN" i="1" dirty="0">
                <a:latin typeface="+mj-lt"/>
              </a:rPr>
              <a:t>dQ</a:t>
            </a:r>
            <a:r>
              <a:rPr lang="en-IN" dirty="0">
                <a:latin typeface="+mj-lt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F4316-A9D0-4F61-850E-A0589C0D3997}"/>
              </a:ext>
            </a:extLst>
          </p:cNvPr>
          <p:cNvSpPr txBox="1"/>
          <p:nvPr/>
        </p:nvSpPr>
        <p:spPr>
          <a:xfrm>
            <a:off x="10674626" y="1938130"/>
            <a:ext cx="72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/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dV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blipFill>
                <a:blip r:embed="rId17"/>
                <a:stretch>
                  <a:fillRect l="-30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/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blipFill>
                <a:blip r:embed="rId18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/>
              <p:nvPr/>
            </p:nvSpPr>
            <p:spPr>
              <a:xfrm>
                <a:off x="7769916" y="1584500"/>
                <a:ext cx="857250" cy="32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16" y="1584500"/>
                <a:ext cx="857250" cy="324576"/>
              </a:xfrm>
              <a:prstGeom prst="rect">
                <a:avLst/>
              </a:prstGeom>
              <a:blipFill>
                <a:blip r:embed="rId11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46C7E4-12E1-434E-BF18-BD7CEC9EAD47}"/>
              </a:ext>
            </a:extLst>
          </p:cNvPr>
          <p:cNvCxnSpPr/>
          <p:nvPr/>
        </p:nvCxnSpPr>
        <p:spPr>
          <a:xfrm flipV="1">
            <a:off x="6291470" y="1620078"/>
            <a:ext cx="1610139" cy="135172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3BD3-75A9-4E81-A804-25155E9BD020}"/>
              </a:ext>
            </a:extLst>
          </p:cNvPr>
          <p:cNvCxnSpPr>
            <a:cxnSpLocks/>
          </p:cNvCxnSpPr>
          <p:nvPr/>
        </p:nvCxnSpPr>
        <p:spPr>
          <a:xfrm flipV="1">
            <a:off x="6281530" y="1948070"/>
            <a:ext cx="4591879" cy="103367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/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/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/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i="1" dirty="0">
                    <a:latin typeface="+mj-lt"/>
                  </a:rPr>
                  <a:t>R</a:t>
                </a:r>
                <a:r>
                  <a:rPr lang="en-IN" sz="1400" dirty="0">
                    <a:latin typeface="+mj-lt"/>
                  </a:rPr>
                  <a:t> = |</a:t>
                </a:r>
                <a14:m>
                  <m:oMath xmlns:m="http://schemas.openxmlformats.org/officeDocument/2006/math">
                    <m:r>
                      <a:rPr lang="en-IN" sz="14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IN" sz="1400" b="1" i="1" dirty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i="1" dirty="0">
                    <a:latin typeface="+mj-lt"/>
                  </a:rPr>
                  <a:t>|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blipFill>
                <a:blip r:embed="rId16"/>
                <a:stretch>
                  <a:fillRect l="-952" b="-188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C86151F9-8A97-4640-B953-EDBAD4422748}"/>
              </a:ext>
            </a:extLst>
          </p:cNvPr>
          <p:cNvSpPr txBox="1"/>
          <p:nvPr/>
        </p:nvSpPr>
        <p:spPr>
          <a:xfrm>
            <a:off x="278296" y="4860235"/>
            <a:ext cx="642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The Potential 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the entire volume charge,</a:t>
            </a:r>
            <a:endParaRPr lang="en-IN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/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blipFill>
                <a:blip r:embed="rId19"/>
                <a:stretch>
                  <a:fillRect l="-2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5">
            <a:extLst>
              <a:ext uri="{FF2B5EF4-FFF2-40B4-BE49-F238E27FC236}">
                <a16:creationId xmlns:a16="http://schemas.microsoft.com/office/drawing/2014/main" id="{4E786F18-79EF-4294-90E8-2602DFBD7597}"/>
              </a:ext>
            </a:extLst>
          </p:cNvPr>
          <p:cNvSpPr/>
          <p:nvPr/>
        </p:nvSpPr>
        <p:spPr>
          <a:xfrm>
            <a:off x="7153191" y="956955"/>
            <a:ext cx="1483913" cy="1037518"/>
          </a:xfrm>
          <a:custGeom>
            <a:avLst/>
            <a:gdLst>
              <a:gd name="connsiteX0" fmla="*/ 0 w 1981200"/>
              <a:gd name="connsiteY0" fmla="*/ 731520 h 1463040"/>
              <a:gd name="connsiteX1" fmla="*/ 990600 w 1981200"/>
              <a:gd name="connsiteY1" fmla="*/ 0 h 1463040"/>
              <a:gd name="connsiteX2" fmla="*/ 1981200 w 1981200"/>
              <a:gd name="connsiteY2" fmla="*/ 731520 h 1463040"/>
              <a:gd name="connsiteX3" fmla="*/ 990600 w 1981200"/>
              <a:gd name="connsiteY3" fmla="*/ 1463040 h 1463040"/>
              <a:gd name="connsiteX4" fmla="*/ 0 w 1981200"/>
              <a:gd name="connsiteY4" fmla="*/ 731520 h 1463040"/>
              <a:gd name="connsiteX0" fmla="*/ 0 w 2560320"/>
              <a:gd name="connsiteY0" fmla="*/ 777332 h 1517483"/>
              <a:gd name="connsiteX1" fmla="*/ 990600 w 2560320"/>
              <a:gd name="connsiteY1" fmla="*/ 45812 h 1517483"/>
              <a:gd name="connsiteX2" fmla="*/ 2560320 w 2560320"/>
              <a:gd name="connsiteY2" fmla="*/ 340452 h 1517483"/>
              <a:gd name="connsiteX3" fmla="*/ 990600 w 2560320"/>
              <a:gd name="connsiteY3" fmla="*/ 1508852 h 1517483"/>
              <a:gd name="connsiteX4" fmla="*/ 0 w 2560320"/>
              <a:gd name="connsiteY4" fmla="*/ 777332 h 1517483"/>
              <a:gd name="connsiteX0" fmla="*/ 4577 w 2564897"/>
              <a:gd name="connsiteY0" fmla="*/ 777332 h 1175486"/>
              <a:gd name="connsiteX1" fmla="*/ 995177 w 2564897"/>
              <a:gd name="connsiteY1" fmla="*/ 45812 h 1175486"/>
              <a:gd name="connsiteX2" fmla="*/ 2564897 w 2564897"/>
              <a:gd name="connsiteY2" fmla="*/ 340452 h 1175486"/>
              <a:gd name="connsiteX3" fmla="*/ 710697 w 2564897"/>
              <a:gd name="connsiteY3" fmla="*/ 1163412 h 1175486"/>
              <a:gd name="connsiteX4" fmla="*/ 4577 w 2564897"/>
              <a:gd name="connsiteY4" fmla="*/ 777332 h 1175486"/>
              <a:gd name="connsiteX0" fmla="*/ 3538 w 2695938"/>
              <a:gd name="connsiteY0" fmla="*/ 428157 h 1139824"/>
              <a:gd name="connsiteX1" fmla="*/ 1126218 w 2695938"/>
              <a:gd name="connsiteY1" fmla="*/ 21757 h 1139824"/>
              <a:gd name="connsiteX2" fmla="*/ 2695938 w 2695938"/>
              <a:gd name="connsiteY2" fmla="*/ 316397 h 1139824"/>
              <a:gd name="connsiteX3" fmla="*/ 841738 w 2695938"/>
              <a:gd name="connsiteY3" fmla="*/ 1139357 h 1139824"/>
              <a:gd name="connsiteX4" fmla="*/ 3538 w 2695938"/>
              <a:gd name="connsiteY4" fmla="*/ 428157 h 1139824"/>
              <a:gd name="connsiteX0" fmla="*/ 4793 w 2544793"/>
              <a:gd name="connsiteY0" fmla="*/ 482713 h 1144169"/>
              <a:gd name="connsiteX1" fmla="*/ 975073 w 2544793"/>
              <a:gd name="connsiteY1" fmla="*/ 25513 h 1144169"/>
              <a:gd name="connsiteX2" fmla="*/ 2544793 w 2544793"/>
              <a:gd name="connsiteY2" fmla="*/ 320153 h 1144169"/>
              <a:gd name="connsiteX3" fmla="*/ 690593 w 2544793"/>
              <a:gd name="connsiteY3" fmla="*/ 1143113 h 1144169"/>
              <a:gd name="connsiteX4" fmla="*/ 4793 w 2544793"/>
              <a:gd name="connsiteY4" fmla="*/ 482713 h 1144169"/>
              <a:gd name="connsiteX0" fmla="*/ 4230 w 2249590"/>
              <a:gd name="connsiteY0" fmla="*/ 523409 h 1186264"/>
              <a:gd name="connsiteX1" fmla="*/ 974510 w 2249590"/>
              <a:gd name="connsiteY1" fmla="*/ 66209 h 1186264"/>
              <a:gd name="connsiteX2" fmla="*/ 2249590 w 2249590"/>
              <a:gd name="connsiteY2" fmla="*/ 269409 h 1186264"/>
              <a:gd name="connsiteX3" fmla="*/ 690030 w 2249590"/>
              <a:gd name="connsiteY3" fmla="*/ 1183809 h 1186264"/>
              <a:gd name="connsiteX4" fmla="*/ 4230 w 2249590"/>
              <a:gd name="connsiteY4" fmla="*/ 523409 h 1186264"/>
              <a:gd name="connsiteX0" fmla="*/ 11163 w 2256523"/>
              <a:gd name="connsiteY0" fmla="*/ 646106 h 1309095"/>
              <a:gd name="connsiteX1" fmla="*/ 1194803 w 2256523"/>
              <a:gd name="connsiteY1" fmla="*/ 16186 h 1309095"/>
              <a:gd name="connsiteX2" fmla="*/ 2256523 w 2256523"/>
              <a:gd name="connsiteY2" fmla="*/ 392106 h 1309095"/>
              <a:gd name="connsiteX3" fmla="*/ 696963 w 2256523"/>
              <a:gd name="connsiteY3" fmla="*/ 1306506 h 1309095"/>
              <a:gd name="connsiteX4" fmla="*/ 11163 w 2256523"/>
              <a:gd name="connsiteY4" fmla="*/ 646106 h 1309095"/>
              <a:gd name="connsiteX0" fmla="*/ 45156 w 2290516"/>
              <a:gd name="connsiteY0" fmla="*/ 646106 h 1107139"/>
              <a:gd name="connsiteX1" fmla="*/ 1228796 w 2290516"/>
              <a:gd name="connsiteY1" fmla="*/ 16186 h 1107139"/>
              <a:gd name="connsiteX2" fmla="*/ 2290516 w 2290516"/>
              <a:gd name="connsiteY2" fmla="*/ 392106 h 1107139"/>
              <a:gd name="connsiteX3" fmla="*/ 446476 w 2290516"/>
              <a:gd name="connsiteY3" fmla="*/ 1103306 h 1107139"/>
              <a:gd name="connsiteX4" fmla="*/ 45156 w 2290516"/>
              <a:gd name="connsiteY4" fmla="*/ 646106 h 1107139"/>
              <a:gd name="connsiteX0" fmla="*/ 49453 w 2487853"/>
              <a:gd name="connsiteY0" fmla="*/ 630718 h 1088376"/>
              <a:gd name="connsiteX1" fmla="*/ 1233093 w 2487853"/>
              <a:gd name="connsiteY1" fmla="*/ 798 h 1088376"/>
              <a:gd name="connsiteX2" fmla="*/ 2487853 w 2487853"/>
              <a:gd name="connsiteY2" fmla="*/ 549438 h 1088376"/>
              <a:gd name="connsiteX3" fmla="*/ 450773 w 2487853"/>
              <a:gd name="connsiteY3" fmla="*/ 1087918 h 1088376"/>
              <a:gd name="connsiteX4" fmla="*/ 49453 w 2487853"/>
              <a:gd name="connsiteY4" fmla="*/ 630718 h 1088376"/>
              <a:gd name="connsiteX0" fmla="*/ 47806 w 2415086"/>
              <a:gd name="connsiteY0" fmla="*/ 671858 h 1135648"/>
              <a:gd name="connsiteX1" fmla="*/ 1231446 w 2415086"/>
              <a:gd name="connsiteY1" fmla="*/ 41938 h 1135648"/>
              <a:gd name="connsiteX2" fmla="*/ 2415086 w 2415086"/>
              <a:gd name="connsiteY2" fmla="*/ 326418 h 1135648"/>
              <a:gd name="connsiteX3" fmla="*/ 449126 w 2415086"/>
              <a:gd name="connsiteY3" fmla="*/ 1129058 h 1135648"/>
              <a:gd name="connsiteX4" fmla="*/ 47806 w 2415086"/>
              <a:gd name="connsiteY4" fmla="*/ 671858 h 1135648"/>
              <a:gd name="connsiteX0" fmla="*/ 44116 w 2238676"/>
              <a:gd name="connsiteY0" fmla="*/ 632485 h 1090839"/>
              <a:gd name="connsiteX1" fmla="*/ 1227756 w 2238676"/>
              <a:gd name="connsiteY1" fmla="*/ 2565 h 1090839"/>
              <a:gd name="connsiteX2" fmla="*/ 2238676 w 2238676"/>
              <a:gd name="connsiteY2" fmla="*/ 500405 h 1090839"/>
              <a:gd name="connsiteX3" fmla="*/ 445436 w 2238676"/>
              <a:gd name="connsiteY3" fmla="*/ 1089685 h 1090839"/>
              <a:gd name="connsiteX4" fmla="*/ 44116 w 2238676"/>
              <a:gd name="connsiteY4" fmla="*/ 632485 h 1090839"/>
              <a:gd name="connsiteX0" fmla="*/ 55718 w 2250278"/>
              <a:gd name="connsiteY0" fmla="*/ 730848 h 1189264"/>
              <a:gd name="connsiteX1" fmla="*/ 1408323 w 2250278"/>
              <a:gd name="connsiteY1" fmla="*/ 1536 h 1189264"/>
              <a:gd name="connsiteX2" fmla="*/ 2250278 w 2250278"/>
              <a:gd name="connsiteY2" fmla="*/ 598768 h 1189264"/>
              <a:gd name="connsiteX3" fmla="*/ 457038 w 2250278"/>
              <a:gd name="connsiteY3" fmla="*/ 1188048 h 1189264"/>
              <a:gd name="connsiteX4" fmla="*/ 55718 w 2250278"/>
              <a:gd name="connsiteY4" fmla="*/ 730848 h 1189264"/>
              <a:gd name="connsiteX0" fmla="*/ 56406 w 2250966"/>
              <a:gd name="connsiteY0" fmla="*/ 839699 h 1298192"/>
              <a:gd name="connsiteX1" fmla="*/ 1418950 w 2250966"/>
              <a:gd name="connsiteY1" fmla="*/ 1057 h 1298192"/>
              <a:gd name="connsiteX2" fmla="*/ 2250966 w 2250966"/>
              <a:gd name="connsiteY2" fmla="*/ 707619 h 1298192"/>
              <a:gd name="connsiteX3" fmla="*/ 457726 w 2250966"/>
              <a:gd name="connsiteY3" fmla="*/ 1296899 h 1298192"/>
              <a:gd name="connsiteX4" fmla="*/ 56406 w 2250966"/>
              <a:gd name="connsiteY4" fmla="*/ 839699 h 1298192"/>
              <a:gd name="connsiteX0" fmla="*/ 62630 w 2257190"/>
              <a:gd name="connsiteY0" fmla="*/ 740728 h 1199151"/>
              <a:gd name="connsiteX1" fmla="*/ 1514626 w 2257190"/>
              <a:gd name="connsiteY1" fmla="*/ 1477 h 1199151"/>
              <a:gd name="connsiteX2" fmla="*/ 2257190 w 2257190"/>
              <a:gd name="connsiteY2" fmla="*/ 608648 h 1199151"/>
              <a:gd name="connsiteX3" fmla="*/ 463950 w 2257190"/>
              <a:gd name="connsiteY3" fmla="*/ 1197928 h 1199151"/>
              <a:gd name="connsiteX4" fmla="*/ 62630 w 2257190"/>
              <a:gd name="connsiteY4" fmla="*/ 740728 h 1199151"/>
              <a:gd name="connsiteX0" fmla="*/ 63770 w 2308025"/>
              <a:gd name="connsiteY0" fmla="*/ 739634 h 1197225"/>
              <a:gd name="connsiteX1" fmla="*/ 1515766 w 2308025"/>
              <a:gd name="connsiteY1" fmla="*/ 383 h 1197225"/>
              <a:gd name="connsiteX2" fmla="*/ 2308025 w 2308025"/>
              <a:gd name="connsiteY2" fmla="*/ 667189 h 1197225"/>
              <a:gd name="connsiteX3" fmla="*/ 465090 w 2308025"/>
              <a:gd name="connsiteY3" fmla="*/ 1196834 h 1197225"/>
              <a:gd name="connsiteX4" fmla="*/ 63770 w 2308025"/>
              <a:gd name="connsiteY4" fmla="*/ 739634 h 1197225"/>
              <a:gd name="connsiteX0" fmla="*/ 63770 w 2308025"/>
              <a:gd name="connsiteY0" fmla="*/ 741313 h 1200100"/>
              <a:gd name="connsiteX1" fmla="*/ 1515766 w 2308025"/>
              <a:gd name="connsiteY1" fmla="*/ 2062 h 1200100"/>
              <a:gd name="connsiteX2" fmla="*/ 2308025 w 2308025"/>
              <a:gd name="connsiteY2" fmla="*/ 589355 h 1200100"/>
              <a:gd name="connsiteX3" fmla="*/ 465090 w 2308025"/>
              <a:gd name="connsiteY3" fmla="*/ 1198513 h 1200100"/>
              <a:gd name="connsiteX4" fmla="*/ 63770 w 2308025"/>
              <a:gd name="connsiteY4" fmla="*/ 741313 h 1200100"/>
              <a:gd name="connsiteX0" fmla="*/ 70829 w 2315084"/>
              <a:gd name="connsiteY0" fmla="*/ 741313 h 1032480"/>
              <a:gd name="connsiteX1" fmla="*/ 1522825 w 2315084"/>
              <a:gd name="connsiteY1" fmla="*/ 2062 h 1032480"/>
              <a:gd name="connsiteX2" fmla="*/ 2315084 w 2315084"/>
              <a:gd name="connsiteY2" fmla="*/ 589355 h 1032480"/>
              <a:gd name="connsiteX3" fmla="*/ 442332 w 2315084"/>
              <a:gd name="connsiteY3" fmla="*/ 1029548 h 1032480"/>
              <a:gd name="connsiteX4" fmla="*/ 70829 w 2315084"/>
              <a:gd name="connsiteY4" fmla="*/ 741313 h 1032480"/>
              <a:gd name="connsiteX0" fmla="*/ 68732 w 2327277"/>
              <a:gd name="connsiteY0" fmla="*/ 511972 h 1029520"/>
              <a:gd name="connsiteX1" fmla="*/ 1535018 w 2327277"/>
              <a:gd name="connsiteY1" fmla="*/ 330 h 1029520"/>
              <a:gd name="connsiteX2" fmla="*/ 2327277 w 2327277"/>
              <a:gd name="connsiteY2" fmla="*/ 587623 h 1029520"/>
              <a:gd name="connsiteX3" fmla="*/ 454525 w 2327277"/>
              <a:gd name="connsiteY3" fmla="*/ 1027816 h 1029520"/>
              <a:gd name="connsiteX4" fmla="*/ 68732 w 2327277"/>
              <a:gd name="connsiteY4" fmla="*/ 511972 h 1029520"/>
              <a:gd name="connsiteX0" fmla="*/ 115653 w 2159838"/>
              <a:gd name="connsiteY0" fmla="*/ 607985 h 1027567"/>
              <a:gd name="connsiteX1" fmla="*/ 1367579 w 2159838"/>
              <a:gd name="connsiteY1" fmla="*/ 47 h 1027567"/>
              <a:gd name="connsiteX2" fmla="*/ 2159838 w 2159838"/>
              <a:gd name="connsiteY2" fmla="*/ 587340 h 1027567"/>
              <a:gd name="connsiteX3" fmla="*/ 287086 w 2159838"/>
              <a:gd name="connsiteY3" fmla="*/ 1027533 h 1027567"/>
              <a:gd name="connsiteX4" fmla="*/ 115653 w 2159838"/>
              <a:gd name="connsiteY4" fmla="*/ 607985 h 1027567"/>
              <a:gd name="connsiteX0" fmla="*/ 89410 w 2133595"/>
              <a:gd name="connsiteY0" fmla="*/ 494247 h 913827"/>
              <a:gd name="connsiteX1" fmla="*/ 969780 w 2133595"/>
              <a:gd name="connsiteY1" fmla="*/ 114 h 913827"/>
              <a:gd name="connsiteX2" fmla="*/ 2133595 w 2133595"/>
              <a:gd name="connsiteY2" fmla="*/ 473602 h 913827"/>
              <a:gd name="connsiteX3" fmla="*/ 260843 w 2133595"/>
              <a:gd name="connsiteY3" fmla="*/ 913795 h 913827"/>
              <a:gd name="connsiteX4" fmla="*/ 89410 w 2133595"/>
              <a:gd name="connsiteY4" fmla="*/ 494247 h 91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595" h="913827">
                <a:moveTo>
                  <a:pt x="89410" y="494247"/>
                </a:moveTo>
                <a:cubicBezTo>
                  <a:pt x="207566" y="341967"/>
                  <a:pt x="629083" y="3555"/>
                  <a:pt x="969780" y="114"/>
                </a:cubicBezTo>
                <a:cubicBezTo>
                  <a:pt x="1310477" y="-3327"/>
                  <a:pt x="2133595" y="69595"/>
                  <a:pt x="2133595" y="473602"/>
                </a:cubicBezTo>
                <a:cubicBezTo>
                  <a:pt x="2133595" y="877609"/>
                  <a:pt x="601540" y="910354"/>
                  <a:pt x="260843" y="913795"/>
                </a:cubicBezTo>
                <a:cubicBezTo>
                  <a:pt x="-79854" y="917236"/>
                  <a:pt x="-28746" y="646527"/>
                  <a:pt x="89410" y="494247"/>
                </a:cubicBezTo>
                <a:close/>
              </a:path>
            </a:pathLst>
          </a:custGeom>
          <a:gradFill>
            <a:gsLst>
              <a:gs pos="66000">
                <a:schemeClr val="accent2">
                  <a:lumMod val="20000"/>
                  <a:lumOff val="80000"/>
                  <a:alpha val="25000"/>
                </a:schemeClr>
              </a:gs>
              <a:gs pos="0">
                <a:schemeClr val="accent2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19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14" grpId="0"/>
      <p:bldP spid="16" grpId="0"/>
      <p:bldP spid="17" grpId="0"/>
      <p:bldP spid="18" grpId="0"/>
      <p:bldP spid="19" grpId="0" animBg="1"/>
      <p:bldP spid="20" grpId="0"/>
      <p:bldP spid="21" grpId="0" animBg="1"/>
      <p:bldP spid="21" grpId="1" animBg="1"/>
      <p:bldP spid="22" grpId="0" animBg="1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6" grpId="0"/>
      <p:bldP spid="43" grpId="0"/>
      <p:bldP spid="44" grpId="0"/>
      <p:bldP spid="45" grpId="0"/>
      <p:bldP spid="46" grpId="0"/>
      <p:bldP spid="47" grpId="0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4622C-EFDA-4925-A06B-B849C983F1C1}"/>
              </a:ext>
            </a:extLst>
          </p:cNvPr>
          <p:cNvSpPr txBox="1"/>
          <p:nvPr/>
        </p:nvSpPr>
        <p:spPr>
          <a:xfrm>
            <a:off x="178904" y="198783"/>
            <a:ext cx="817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due to other Charge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A1F7-EF04-4ADF-B656-7677CE223389}"/>
              </a:ext>
            </a:extLst>
          </p:cNvPr>
          <p:cNvSpPr txBox="1"/>
          <p:nvPr/>
        </p:nvSpPr>
        <p:spPr>
          <a:xfrm>
            <a:off x="208722" y="894522"/>
            <a:ext cx="808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Potential due to Surface charge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24E9D7-BB6C-4B14-A77A-72BBDC295361}"/>
              </a:ext>
            </a:extLst>
          </p:cNvPr>
          <p:cNvCxnSpPr/>
          <p:nvPr/>
        </p:nvCxnSpPr>
        <p:spPr>
          <a:xfrm>
            <a:off x="6281530" y="2981739"/>
            <a:ext cx="3021496" cy="0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232D8F-AA5C-4184-ABAE-F5AE21C75C35}"/>
              </a:ext>
            </a:extLst>
          </p:cNvPr>
          <p:cNvCxnSpPr/>
          <p:nvPr/>
        </p:nvCxnSpPr>
        <p:spPr>
          <a:xfrm flipV="1">
            <a:off x="6291470" y="983974"/>
            <a:ext cx="0" cy="2007704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8F9CA-5062-4916-BD31-5A78A64EFB2E}"/>
              </a:ext>
            </a:extLst>
          </p:cNvPr>
          <p:cNvCxnSpPr/>
          <p:nvPr/>
        </p:nvCxnSpPr>
        <p:spPr>
          <a:xfrm flipH="1">
            <a:off x="4651513" y="2981738"/>
            <a:ext cx="1630018" cy="636105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0E7D8A-ECA1-4782-B5A8-1E11D2574097}"/>
              </a:ext>
            </a:extLst>
          </p:cNvPr>
          <p:cNvSpPr txBox="1"/>
          <p:nvPr/>
        </p:nvSpPr>
        <p:spPr>
          <a:xfrm>
            <a:off x="4363278" y="3309731"/>
            <a:ext cx="26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633A3-B8B7-4FB1-BC51-3EF4E9B2911A}"/>
              </a:ext>
            </a:extLst>
          </p:cNvPr>
          <p:cNvSpPr txBox="1"/>
          <p:nvPr/>
        </p:nvSpPr>
        <p:spPr>
          <a:xfrm>
            <a:off x="6030568" y="7255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3D4EB-EB4F-4153-B707-6E8A7078A00C}"/>
              </a:ext>
            </a:extLst>
          </p:cNvPr>
          <p:cNvSpPr txBox="1"/>
          <p:nvPr/>
        </p:nvSpPr>
        <p:spPr>
          <a:xfrm>
            <a:off x="9204463" y="29196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/>
              <p:nvPr/>
            </p:nvSpPr>
            <p:spPr>
              <a:xfrm>
                <a:off x="6798807" y="1078064"/>
                <a:ext cx="6957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807" y="1078064"/>
                <a:ext cx="695739" cy="307777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FCD337E-2639-44C2-9428-812C870FDE65}"/>
              </a:ext>
            </a:extLst>
          </p:cNvPr>
          <p:cNvSpPr/>
          <p:nvPr/>
        </p:nvSpPr>
        <p:spPr>
          <a:xfrm>
            <a:off x="10853529" y="1888435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520E8-62CC-4537-BF9C-CFC23A0D8E48}"/>
              </a:ext>
            </a:extLst>
          </p:cNvPr>
          <p:cNvSpPr txBox="1"/>
          <p:nvPr/>
        </p:nvSpPr>
        <p:spPr>
          <a:xfrm>
            <a:off x="10743506" y="1527852"/>
            <a:ext cx="77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P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C0B9CC0-C681-4AC9-A519-C864830A3300}"/>
              </a:ext>
            </a:extLst>
          </p:cNvPr>
          <p:cNvSpPr/>
          <p:nvPr/>
        </p:nvSpPr>
        <p:spPr>
          <a:xfrm>
            <a:off x="7911548" y="1570382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17305-C249-488D-AD73-F38F259AD004}"/>
              </a:ext>
            </a:extLst>
          </p:cNvPr>
          <p:cNvSpPr txBox="1"/>
          <p:nvPr/>
        </p:nvSpPr>
        <p:spPr>
          <a:xfrm>
            <a:off x="188844" y="1500808"/>
            <a:ext cx="4770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a differential surface element, </a:t>
            </a:r>
            <a:r>
              <a:rPr lang="en-IN" b="1" i="1" dirty="0">
                <a:latin typeface="+mj-lt"/>
              </a:rPr>
              <a:t>ds</a:t>
            </a:r>
            <a:endParaRPr lang="en-IN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C3017-533C-495C-8339-0F88E48946C7}"/>
              </a:ext>
            </a:extLst>
          </p:cNvPr>
          <p:cNvSpPr txBox="1"/>
          <p:nvPr/>
        </p:nvSpPr>
        <p:spPr>
          <a:xfrm>
            <a:off x="159489" y="1998921"/>
            <a:ext cx="449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Charge on </a:t>
            </a:r>
            <a:r>
              <a:rPr lang="en-IN" i="1" dirty="0">
                <a:latin typeface="+mj-lt"/>
              </a:rPr>
              <a:t>ds </a:t>
            </a:r>
            <a:r>
              <a:rPr lang="en-IN" dirty="0">
                <a:latin typeface="+mj-lt"/>
              </a:rPr>
              <a:t>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/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dQ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i="1" dirty="0">
                    <a:latin typeface="+mj-lt"/>
                  </a:rPr>
                  <a:t> ds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blipFill>
                <a:blip r:embed="rId3"/>
                <a:stretch>
                  <a:fillRect l="-279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072E795-AE6C-47A8-B2D9-2E31D915EF58}"/>
              </a:ext>
            </a:extLst>
          </p:cNvPr>
          <p:cNvSpPr txBox="1"/>
          <p:nvPr/>
        </p:nvSpPr>
        <p:spPr>
          <a:xfrm>
            <a:off x="8015800" y="123488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latin typeface="+mj-lt"/>
              </a:rPr>
              <a:t>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413C5-FCF6-4ED5-A878-7FB88574C0F5}"/>
              </a:ext>
            </a:extLst>
          </p:cNvPr>
          <p:cNvSpPr txBox="1"/>
          <p:nvPr/>
        </p:nvSpPr>
        <p:spPr>
          <a:xfrm>
            <a:off x="7419894" y="1455309"/>
            <a:ext cx="701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+mj-lt"/>
              </a:rPr>
              <a:t>dQ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F0AD35-CA03-4CA1-8E9D-E11593B5ECF2}"/>
              </a:ext>
            </a:extLst>
          </p:cNvPr>
          <p:cNvCxnSpPr>
            <a:cxnSpLocks/>
            <a:endCxn id="19" idx="4"/>
          </p:cNvCxnSpPr>
          <p:nvPr/>
        </p:nvCxnSpPr>
        <p:spPr>
          <a:xfrm>
            <a:off x="8000999" y="1590261"/>
            <a:ext cx="2875390" cy="34389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2801BB-281A-4CAC-AD57-15BB3CA2DB6D}"/>
              </a:ext>
            </a:extLst>
          </p:cNvPr>
          <p:cNvSpPr txBox="1"/>
          <p:nvPr/>
        </p:nvSpPr>
        <p:spPr>
          <a:xfrm>
            <a:off x="159026" y="3240157"/>
            <a:ext cx="380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find the potential </a:t>
            </a:r>
            <a:r>
              <a:rPr lang="en-IN" i="1" dirty="0">
                <a:latin typeface="+mj-lt"/>
              </a:rPr>
              <a:t>dV, </a:t>
            </a:r>
            <a:r>
              <a:rPr lang="en-IN" dirty="0">
                <a:latin typeface="+mj-lt"/>
              </a:rPr>
              <a:t>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</a:t>
            </a:r>
            <a:r>
              <a:rPr lang="en-IN" i="1" dirty="0">
                <a:latin typeface="+mj-lt"/>
              </a:rPr>
              <a:t>dQ</a:t>
            </a:r>
            <a:r>
              <a:rPr lang="en-IN" dirty="0">
                <a:latin typeface="+mj-lt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F4316-A9D0-4F61-850E-A0589C0D3997}"/>
              </a:ext>
            </a:extLst>
          </p:cNvPr>
          <p:cNvSpPr txBox="1"/>
          <p:nvPr/>
        </p:nvSpPr>
        <p:spPr>
          <a:xfrm>
            <a:off x="10674626" y="1938130"/>
            <a:ext cx="72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/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dV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blipFill>
                <a:blip r:embed="rId4"/>
                <a:stretch>
                  <a:fillRect l="-30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/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blipFill>
                <a:blip r:embed="rId5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/>
              <p:nvPr/>
            </p:nvSpPr>
            <p:spPr>
              <a:xfrm>
                <a:off x="7909063" y="1574561"/>
                <a:ext cx="8572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63" y="1574561"/>
                <a:ext cx="857250" cy="307777"/>
              </a:xfrm>
              <a:prstGeom prst="rect">
                <a:avLst/>
              </a:prstGeom>
              <a:blipFill>
                <a:blip r:embed="rId1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46C7E4-12E1-434E-BF18-BD7CEC9EAD47}"/>
              </a:ext>
            </a:extLst>
          </p:cNvPr>
          <p:cNvCxnSpPr/>
          <p:nvPr/>
        </p:nvCxnSpPr>
        <p:spPr>
          <a:xfrm flipV="1">
            <a:off x="6321287" y="1600200"/>
            <a:ext cx="1610139" cy="135172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3BD3-75A9-4E81-A804-25155E9BD020}"/>
              </a:ext>
            </a:extLst>
          </p:cNvPr>
          <p:cNvCxnSpPr>
            <a:cxnSpLocks/>
          </p:cNvCxnSpPr>
          <p:nvPr/>
        </p:nvCxnSpPr>
        <p:spPr>
          <a:xfrm flipV="1">
            <a:off x="6301409" y="1918253"/>
            <a:ext cx="4601817" cy="1043608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/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/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/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i="1" dirty="0">
                    <a:latin typeface="+mj-lt"/>
                  </a:rPr>
                  <a:t>R</a:t>
                </a:r>
                <a:r>
                  <a:rPr lang="en-IN" sz="1400" dirty="0">
                    <a:latin typeface="+mj-lt"/>
                  </a:rPr>
                  <a:t> = |</a:t>
                </a:r>
                <a14:m>
                  <m:oMath xmlns:m="http://schemas.openxmlformats.org/officeDocument/2006/math">
                    <m:r>
                      <a:rPr lang="en-IN" sz="14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IN" sz="1400" b="1" i="1" dirty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i="1" dirty="0">
                    <a:latin typeface="+mj-lt"/>
                  </a:rPr>
                  <a:t>|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blipFill>
                <a:blip r:embed="rId9"/>
                <a:stretch>
                  <a:fillRect l="-952" t="-3774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C86151F9-8A97-4640-B953-EDBAD4422748}"/>
              </a:ext>
            </a:extLst>
          </p:cNvPr>
          <p:cNvSpPr txBox="1"/>
          <p:nvPr/>
        </p:nvSpPr>
        <p:spPr>
          <a:xfrm>
            <a:off x="278296" y="4860235"/>
            <a:ext cx="642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The Potential 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the entire surface charge,</a:t>
            </a:r>
            <a:endParaRPr lang="en-IN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/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blipFill>
                <a:blip r:embed="rId10"/>
                <a:stretch>
                  <a:fillRect l="-2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D3705E-2269-46F4-8165-51FA6CBCBAA8}"/>
              </a:ext>
            </a:extLst>
          </p:cNvPr>
          <p:cNvSpPr/>
          <p:nvPr/>
        </p:nvSpPr>
        <p:spPr>
          <a:xfrm>
            <a:off x="7810390" y="1518478"/>
            <a:ext cx="233680" cy="152400"/>
          </a:xfrm>
          <a:custGeom>
            <a:avLst/>
            <a:gdLst>
              <a:gd name="connsiteX0" fmla="*/ 0 w 934720"/>
              <a:gd name="connsiteY0" fmla="*/ 111762 h 670560"/>
              <a:gd name="connsiteX1" fmla="*/ 111762 w 934720"/>
              <a:gd name="connsiteY1" fmla="*/ 0 h 670560"/>
              <a:gd name="connsiteX2" fmla="*/ 822958 w 934720"/>
              <a:gd name="connsiteY2" fmla="*/ 0 h 670560"/>
              <a:gd name="connsiteX3" fmla="*/ 934720 w 934720"/>
              <a:gd name="connsiteY3" fmla="*/ 111762 h 670560"/>
              <a:gd name="connsiteX4" fmla="*/ 934720 w 934720"/>
              <a:gd name="connsiteY4" fmla="*/ 558798 h 670560"/>
              <a:gd name="connsiteX5" fmla="*/ 822958 w 934720"/>
              <a:gd name="connsiteY5" fmla="*/ 670560 h 670560"/>
              <a:gd name="connsiteX6" fmla="*/ 111762 w 934720"/>
              <a:gd name="connsiteY6" fmla="*/ 670560 h 670560"/>
              <a:gd name="connsiteX7" fmla="*/ 0 w 934720"/>
              <a:gd name="connsiteY7" fmla="*/ 558798 h 670560"/>
              <a:gd name="connsiteX8" fmla="*/ 0 w 934720"/>
              <a:gd name="connsiteY8" fmla="*/ 111762 h 670560"/>
              <a:gd name="connsiteX0" fmla="*/ 0 w 934720"/>
              <a:gd name="connsiteY0" fmla="*/ 111762 h 670560"/>
              <a:gd name="connsiteX1" fmla="*/ 111762 w 934720"/>
              <a:gd name="connsiteY1" fmla="*/ 0 h 670560"/>
              <a:gd name="connsiteX2" fmla="*/ 822958 w 934720"/>
              <a:gd name="connsiteY2" fmla="*/ 0 h 670560"/>
              <a:gd name="connsiteX3" fmla="*/ 934720 w 934720"/>
              <a:gd name="connsiteY3" fmla="*/ 111762 h 670560"/>
              <a:gd name="connsiteX4" fmla="*/ 934720 w 934720"/>
              <a:gd name="connsiteY4" fmla="*/ 558798 h 670560"/>
              <a:gd name="connsiteX5" fmla="*/ 822958 w 934720"/>
              <a:gd name="connsiteY5" fmla="*/ 670560 h 670560"/>
              <a:gd name="connsiteX6" fmla="*/ 274322 w 934720"/>
              <a:gd name="connsiteY6" fmla="*/ 558800 h 670560"/>
              <a:gd name="connsiteX7" fmla="*/ 0 w 934720"/>
              <a:gd name="connsiteY7" fmla="*/ 558798 h 670560"/>
              <a:gd name="connsiteX8" fmla="*/ 0 w 934720"/>
              <a:gd name="connsiteY8" fmla="*/ 111762 h 670560"/>
              <a:gd name="connsiteX0" fmla="*/ 0 w 934720"/>
              <a:gd name="connsiteY0" fmla="*/ 111762 h 589138"/>
              <a:gd name="connsiteX1" fmla="*/ 111762 w 934720"/>
              <a:gd name="connsiteY1" fmla="*/ 0 h 589138"/>
              <a:gd name="connsiteX2" fmla="*/ 822958 w 934720"/>
              <a:gd name="connsiteY2" fmla="*/ 0 h 589138"/>
              <a:gd name="connsiteX3" fmla="*/ 934720 w 934720"/>
              <a:gd name="connsiteY3" fmla="*/ 111762 h 589138"/>
              <a:gd name="connsiteX4" fmla="*/ 934720 w 934720"/>
              <a:gd name="connsiteY4" fmla="*/ 558798 h 589138"/>
              <a:gd name="connsiteX5" fmla="*/ 761998 w 934720"/>
              <a:gd name="connsiteY5" fmla="*/ 568960 h 589138"/>
              <a:gd name="connsiteX6" fmla="*/ 274322 w 934720"/>
              <a:gd name="connsiteY6" fmla="*/ 558800 h 589138"/>
              <a:gd name="connsiteX7" fmla="*/ 0 w 934720"/>
              <a:gd name="connsiteY7" fmla="*/ 558798 h 589138"/>
              <a:gd name="connsiteX8" fmla="*/ 0 w 934720"/>
              <a:gd name="connsiteY8" fmla="*/ 111762 h 589138"/>
              <a:gd name="connsiteX0" fmla="*/ 0 w 934720"/>
              <a:gd name="connsiteY0" fmla="*/ 182882 h 660258"/>
              <a:gd name="connsiteX1" fmla="*/ 142242 w 934720"/>
              <a:gd name="connsiteY1" fmla="*/ 0 h 660258"/>
              <a:gd name="connsiteX2" fmla="*/ 822958 w 934720"/>
              <a:gd name="connsiteY2" fmla="*/ 71120 h 660258"/>
              <a:gd name="connsiteX3" fmla="*/ 934720 w 934720"/>
              <a:gd name="connsiteY3" fmla="*/ 182882 h 660258"/>
              <a:gd name="connsiteX4" fmla="*/ 934720 w 934720"/>
              <a:gd name="connsiteY4" fmla="*/ 629918 h 660258"/>
              <a:gd name="connsiteX5" fmla="*/ 761998 w 934720"/>
              <a:gd name="connsiteY5" fmla="*/ 640080 h 660258"/>
              <a:gd name="connsiteX6" fmla="*/ 274322 w 934720"/>
              <a:gd name="connsiteY6" fmla="*/ 629920 h 660258"/>
              <a:gd name="connsiteX7" fmla="*/ 0 w 934720"/>
              <a:gd name="connsiteY7" fmla="*/ 629918 h 660258"/>
              <a:gd name="connsiteX8" fmla="*/ 0 w 934720"/>
              <a:gd name="connsiteY8" fmla="*/ 182882 h 660258"/>
              <a:gd name="connsiteX0" fmla="*/ 0 w 934720"/>
              <a:gd name="connsiteY0" fmla="*/ 182882 h 660258"/>
              <a:gd name="connsiteX1" fmla="*/ 142242 w 934720"/>
              <a:gd name="connsiteY1" fmla="*/ 0 h 660258"/>
              <a:gd name="connsiteX2" fmla="*/ 751838 w 934720"/>
              <a:gd name="connsiteY2" fmla="*/ 10160 h 660258"/>
              <a:gd name="connsiteX3" fmla="*/ 934720 w 934720"/>
              <a:gd name="connsiteY3" fmla="*/ 182882 h 660258"/>
              <a:gd name="connsiteX4" fmla="*/ 934720 w 934720"/>
              <a:gd name="connsiteY4" fmla="*/ 629918 h 660258"/>
              <a:gd name="connsiteX5" fmla="*/ 761998 w 934720"/>
              <a:gd name="connsiteY5" fmla="*/ 640080 h 660258"/>
              <a:gd name="connsiteX6" fmla="*/ 274322 w 934720"/>
              <a:gd name="connsiteY6" fmla="*/ 629920 h 660258"/>
              <a:gd name="connsiteX7" fmla="*/ 0 w 934720"/>
              <a:gd name="connsiteY7" fmla="*/ 629918 h 660258"/>
              <a:gd name="connsiteX8" fmla="*/ 0 w 934720"/>
              <a:gd name="connsiteY8" fmla="*/ 182882 h 66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4720" h="660258">
                <a:moveTo>
                  <a:pt x="0" y="182882"/>
                </a:moveTo>
                <a:cubicBezTo>
                  <a:pt x="0" y="121158"/>
                  <a:pt x="80518" y="0"/>
                  <a:pt x="142242" y="0"/>
                </a:cubicBezTo>
                <a:lnTo>
                  <a:pt x="751838" y="10160"/>
                </a:lnTo>
                <a:cubicBezTo>
                  <a:pt x="813562" y="10160"/>
                  <a:pt x="934720" y="121158"/>
                  <a:pt x="934720" y="182882"/>
                </a:cubicBezTo>
                <a:lnTo>
                  <a:pt x="934720" y="629918"/>
                </a:lnTo>
                <a:cubicBezTo>
                  <a:pt x="934720" y="691642"/>
                  <a:pt x="823722" y="640080"/>
                  <a:pt x="761998" y="640080"/>
                </a:cubicBezTo>
                <a:cubicBezTo>
                  <a:pt x="524933" y="640080"/>
                  <a:pt x="511387" y="629920"/>
                  <a:pt x="274322" y="629920"/>
                </a:cubicBezTo>
                <a:cubicBezTo>
                  <a:pt x="212598" y="629920"/>
                  <a:pt x="0" y="691642"/>
                  <a:pt x="0" y="629918"/>
                </a:cubicBezTo>
                <a:lnTo>
                  <a:pt x="0" y="182882"/>
                </a:lnTo>
                <a:close/>
              </a:path>
            </a:pathLst>
          </a:custGeom>
          <a:solidFill>
            <a:schemeClr val="accent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CD5D5A-1688-4E50-8D3F-EC577E2B5A3D}"/>
              </a:ext>
            </a:extLst>
          </p:cNvPr>
          <p:cNvCxnSpPr>
            <a:cxnSpLocks/>
          </p:cNvCxnSpPr>
          <p:nvPr/>
        </p:nvCxnSpPr>
        <p:spPr>
          <a:xfrm flipV="1">
            <a:off x="7937169" y="1232452"/>
            <a:ext cx="83709" cy="349332"/>
          </a:xfrm>
          <a:prstGeom prst="straightConnector1">
            <a:avLst/>
          </a:prstGeom>
          <a:ln w="952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Punched Tape 1">
            <a:extLst>
              <a:ext uri="{FF2B5EF4-FFF2-40B4-BE49-F238E27FC236}">
                <a16:creationId xmlns:a16="http://schemas.microsoft.com/office/drawing/2014/main" id="{0C2826B9-DAC0-4DB8-8E21-4FBFEBB05F0E}"/>
              </a:ext>
            </a:extLst>
          </p:cNvPr>
          <p:cNvSpPr/>
          <p:nvPr/>
        </p:nvSpPr>
        <p:spPr>
          <a:xfrm>
            <a:off x="6573520" y="1061321"/>
            <a:ext cx="2255520" cy="970679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123 h 10123"/>
              <a:gd name="connsiteX1" fmla="*/ 2500 w 10000"/>
              <a:gd name="connsiteY1" fmla="*/ 2123 h 10123"/>
              <a:gd name="connsiteX2" fmla="*/ 4317 w 10000"/>
              <a:gd name="connsiteY2" fmla="*/ 385 h 10123"/>
              <a:gd name="connsiteX3" fmla="*/ 7500 w 10000"/>
              <a:gd name="connsiteY3" fmla="*/ 123 h 10123"/>
              <a:gd name="connsiteX4" fmla="*/ 10000 w 10000"/>
              <a:gd name="connsiteY4" fmla="*/ 1123 h 10123"/>
              <a:gd name="connsiteX5" fmla="*/ 10000 w 10000"/>
              <a:gd name="connsiteY5" fmla="*/ 9123 h 10123"/>
              <a:gd name="connsiteX6" fmla="*/ 7500 w 10000"/>
              <a:gd name="connsiteY6" fmla="*/ 8123 h 10123"/>
              <a:gd name="connsiteX7" fmla="*/ 5000 w 10000"/>
              <a:gd name="connsiteY7" fmla="*/ 9123 h 10123"/>
              <a:gd name="connsiteX8" fmla="*/ 2500 w 10000"/>
              <a:gd name="connsiteY8" fmla="*/ 10123 h 10123"/>
              <a:gd name="connsiteX9" fmla="*/ 0 w 10000"/>
              <a:gd name="connsiteY9" fmla="*/ 9123 h 10123"/>
              <a:gd name="connsiteX10" fmla="*/ 0 w 10000"/>
              <a:gd name="connsiteY10" fmla="*/ 1123 h 10123"/>
              <a:gd name="connsiteX0" fmla="*/ 0 w 10000"/>
              <a:gd name="connsiteY0" fmla="*/ 1034 h 10034"/>
              <a:gd name="connsiteX1" fmla="*/ 2320 w 10000"/>
              <a:gd name="connsiteY1" fmla="*/ 893 h 10034"/>
              <a:gd name="connsiteX2" fmla="*/ 4317 w 10000"/>
              <a:gd name="connsiteY2" fmla="*/ 296 h 10034"/>
              <a:gd name="connsiteX3" fmla="*/ 7500 w 10000"/>
              <a:gd name="connsiteY3" fmla="*/ 34 h 10034"/>
              <a:gd name="connsiteX4" fmla="*/ 10000 w 10000"/>
              <a:gd name="connsiteY4" fmla="*/ 1034 h 10034"/>
              <a:gd name="connsiteX5" fmla="*/ 10000 w 10000"/>
              <a:gd name="connsiteY5" fmla="*/ 9034 h 10034"/>
              <a:gd name="connsiteX6" fmla="*/ 7500 w 10000"/>
              <a:gd name="connsiteY6" fmla="*/ 8034 h 10034"/>
              <a:gd name="connsiteX7" fmla="*/ 5000 w 10000"/>
              <a:gd name="connsiteY7" fmla="*/ 9034 h 10034"/>
              <a:gd name="connsiteX8" fmla="*/ 2500 w 10000"/>
              <a:gd name="connsiteY8" fmla="*/ 10034 h 10034"/>
              <a:gd name="connsiteX9" fmla="*/ 0 w 10000"/>
              <a:gd name="connsiteY9" fmla="*/ 9034 h 10034"/>
              <a:gd name="connsiteX10" fmla="*/ 0 w 10000"/>
              <a:gd name="connsiteY10" fmla="*/ 1034 h 10034"/>
              <a:gd name="connsiteX0" fmla="*/ 0 w 10000"/>
              <a:gd name="connsiteY0" fmla="*/ 1034 h 10498"/>
              <a:gd name="connsiteX1" fmla="*/ 2320 w 10000"/>
              <a:gd name="connsiteY1" fmla="*/ 893 h 10498"/>
              <a:gd name="connsiteX2" fmla="*/ 4317 w 10000"/>
              <a:gd name="connsiteY2" fmla="*/ 296 h 10498"/>
              <a:gd name="connsiteX3" fmla="*/ 7500 w 10000"/>
              <a:gd name="connsiteY3" fmla="*/ 34 h 10498"/>
              <a:gd name="connsiteX4" fmla="*/ 10000 w 10000"/>
              <a:gd name="connsiteY4" fmla="*/ 1034 h 10498"/>
              <a:gd name="connsiteX5" fmla="*/ 10000 w 10000"/>
              <a:gd name="connsiteY5" fmla="*/ 9034 h 10498"/>
              <a:gd name="connsiteX6" fmla="*/ 7500 w 10000"/>
              <a:gd name="connsiteY6" fmla="*/ 8034 h 10498"/>
              <a:gd name="connsiteX7" fmla="*/ 5468 w 10000"/>
              <a:gd name="connsiteY7" fmla="*/ 10309 h 10498"/>
              <a:gd name="connsiteX8" fmla="*/ 2500 w 10000"/>
              <a:gd name="connsiteY8" fmla="*/ 10034 h 10498"/>
              <a:gd name="connsiteX9" fmla="*/ 0 w 10000"/>
              <a:gd name="connsiteY9" fmla="*/ 9034 h 10498"/>
              <a:gd name="connsiteX10" fmla="*/ 0 w 10000"/>
              <a:gd name="connsiteY10" fmla="*/ 1034 h 10498"/>
              <a:gd name="connsiteX0" fmla="*/ 0 w 10000"/>
              <a:gd name="connsiteY0" fmla="*/ 1034 h 10350"/>
              <a:gd name="connsiteX1" fmla="*/ 2320 w 10000"/>
              <a:gd name="connsiteY1" fmla="*/ 893 h 10350"/>
              <a:gd name="connsiteX2" fmla="*/ 4317 w 10000"/>
              <a:gd name="connsiteY2" fmla="*/ 296 h 10350"/>
              <a:gd name="connsiteX3" fmla="*/ 7500 w 10000"/>
              <a:gd name="connsiteY3" fmla="*/ 34 h 10350"/>
              <a:gd name="connsiteX4" fmla="*/ 10000 w 10000"/>
              <a:gd name="connsiteY4" fmla="*/ 1034 h 10350"/>
              <a:gd name="connsiteX5" fmla="*/ 10000 w 10000"/>
              <a:gd name="connsiteY5" fmla="*/ 9034 h 10350"/>
              <a:gd name="connsiteX6" fmla="*/ 8183 w 10000"/>
              <a:gd name="connsiteY6" fmla="*/ 8974 h 10350"/>
              <a:gd name="connsiteX7" fmla="*/ 5468 w 10000"/>
              <a:gd name="connsiteY7" fmla="*/ 10309 h 10350"/>
              <a:gd name="connsiteX8" fmla="*/ 2500 w 10000"/>
              <a:gd name="connsiteY8" fmla="*/ 10034 h 10350"/>
              <a:gd name="connsiteX9" fmla="*/ 0 w 10000"/>
              <a:gd name="connsiteY9" fmla="*/ 9034 h 10350"/>
              <a:gd name="connsiteX10" fmla="*/ 0 w 10000"/>
              <a:gd name="connsiteY10" fmla="*/ 1034 h 10350"/>
              <a:gd name="connsiteX0" fmla="*/ 0 w 10000"/>
              <a:gd name="connsiteY0" fmla="*/ 1034 h 10034"/>
              <a:gd name="connsiteX1" fmla="*/ 2320 w 10000"/>
              <a:gd name="connsiteY1" fmla="*/ 893 h 10034"/>
              <a:gd name="connsiteX2" fmla="*/ 4317 w 10000"/>
              <a:gd name="connsiteY2" fmla="*/ 296 h 10034"/>
              <a:gd name="connsiteX3" fmla="*/ 7500 w 10000"/>
              <a:gd name="connsiteY3" fmla="*/ 34 h 10034"/>
              <a:gd name="connsiteX4" fmla="*/ 10000 w 10000"/>
              <a:gd name="connsiteY4" fmla="*/ 1034 h 10034"/>
              <a:gd name="connsiteX5" fmla="*/ 10000 w 10000"/>
              <a:gd name="connsiteY5" fmla="*/ 9034 h 10034"/>
              <a:gd name="connsiteX6" fmla="*/ 8183 w 10000"/>
              <a:gd name="connsiteY6" fmla="*/ 8974 h 10034"/>
              <a:gd name="connsiteX7" fmla="*/ 5936 w 10000"/>
              <a:gd name="connsiteY7" fmla="*/ 7490 h 10034"/>
              <a:gd name="connsiteX8" fmla="*/ 2500 w 10000"/>
              <a:gd name="connsiteY8" fmla="*/ 10034 h 10034"/>
              <a:gd name="connsiteX9" fmla="*/ 0 w 10000"/>
              <a:gd name="connsiteY9" fmla="*/ 9034 h 10034"/>
              <a:gd name="connsiteX10" fmla="*/ 0 w 10000"/>
              <a:gd name="connsiteY10" fmla="*/ 1034 h 10034"/>
              <a:gd name="connsiteX0" fmla="*/ 0 w 10000"/>
              <a:gd name="connsiteY0" fmla="*/ 1034 h 9128"/>
              <a:gd name="connsiteX1" fmla="*/ 2320 w 10000"/>
              <a:gd name="connsiteY1" fmla="*/ 893 h 9128"/>
              <a:gd name="connsiteX2" fmla="*/ 4317 w 10000"/>
              <a:gd name="connsiteY2" fmla="*/ 296 h 9128"/>
              <a:gd name="connsiteX3" fmla="*/ 7500 w 10000"/>
              <a:gd name="connsiteY3" fmla="*/ 34 h 9128"/>
              <a:gd name="connsiteX4" fmla="*/ 10000 w 10000"/>
              <a:gd name="connsiteY4" fmla="*/ 1034 h 9128"/>
              <a:gd name="connsiteX5" fmla="*/ 10000 w 10000"/>
              <a:gd name="connsiteY5" fmla="*/ 9034 h 9128"/>
              <a:gd name="connsiteX6" fmla="*/ 8183 w 10000"/>
              <a:gd name="connsiteY6" fmla="*/ 8974 h 9128"/>
              <a:gd name="connsiteX7" fmla="*/ 5936 w 10000"/>
              <a:gd name="connsiteY7" fmla="*/ 7490 h 9128"/>
              <a:gd name="connsiteX8" fmla="*/ 3147 w 10000"/>
              <a:gd name="connsiteY8" fmla="*/ 7551 h 9128"/>
              <a:gd name="connsiteX9" fmla="*/ 0 w 10000"/>
              <a:gd name="connsiteY9" fmla="*/ 9034 h 9128"/>
              <a:gd name="connsiteX10" fmla="*/ 0 w 10000"/>
              <a:gd name="connsiteY10" fmla="*/ 1034 h 9128"/>
              <a:gd name="connsiteX0" fmla="*/ 0 w 10000"/>
              <a:gd name="connsiteY0" fmla="*/ 1133 h 10001"/>
              <a:gd name="connsiteX1" fmla="*/ 2320 w 10000"/>
              <a:gd name="connsiteY1" fmla="*/ 978 h 10001"/>
              <a:gd name="connsiteX2" fmla="*/ 4317 w 10000"/>
              <a:gd name="connsiteY2" fmla="*/ 324 h 10001"/>
              <a:gd name="connsiteX3" fmla="*/ 7500 w 10000"/>
              <a:gd name="connsiteY3" fmla="*/ 37 h 10001"/>
              <a:gd name="connsiteX4" fmla="*/ 10000 w 10000"/>
              <a:gd name="connsiteY4" fmla="*/ 1133 h 10001"/>
              <a:gd name="connsiteX5" fmla="*/ 10000 w 10000"/>
              <a:gd name="connsiteY5" fmla="*/ 9897 h 10001"/>
              <a:gd name="connsiteX6" fmla="*/ 8183 w 10000"/>
              <a:gd name="connsiteY6" fmla="*/ 8728 h 10001"/>
              <a:gd name="connsiteX7" fmla="*/ 5936 w 10000"/>
              <a:gd name="connsiteY7" fmla="*/ 8206 h 10001"/>
              <a:gd name="connsiteX8" fmla="*/ 3147 w 10000"/>
              <a:gd name="connsiteY8" fmla="*/ 8272 h 10001"/>
              <a:gd name="connsiteX9" fmla="*/ 0 w 10000"/>
              <a:gd name="connsiteY9" fmla="*/ 9897 h 10001"/>
              <a:gd name="connsiteX10" fmla="*/ 0 w 10000"/>
              <a:gd name="connsiteY10" fmla="*/ 1133 h 10001"/>
              <a:gd name="connsiteX0" fmla="*/ 0 w 10000"/>
              <a:gd name="connsiteY0" fmla="*/ 1124 h 9992"/>
              <a:gd name="connsiteX1" fmla="*/ 2248 w 10000"/>
              <a:gd name="connsiteY1" fmla="*/ 87 h 9992"/>
              <a:gd name="connsiteX2" fmla="*/ 4317 w 10000"/>
              <a:gd name="connsiteY2" fmla="*/ 315 h 9992"/>
              <a:gd name="connsiteX3" fmla="*/ 7500 w 10000"/>
              <a:gd name="connsiteY3" fmla="*/ 28 h 9992"/>
              <a:gd name="connsiteX4" fmla="*/ 10000 w 10000"/>
              <a:gd name="connsiteY4" fmla="*/ 1124 h 9992"/>
              <a:gd name="connsiteX5" fmla="*/ 10000 w 10000"/>
              <a:gd name="connsiteY5" fmla="*/ 9888 h 9992"/>
              <a:gd name="connsiteX6" fmla="*/ 8183 w 10000"/>
              <a:gd name="connsiteY6" fmla="*/ 8719 h 9992"/>
              <a:gd name="connsiteX7" fmla="*/ 5936 w 10000"/>
              <a:gd name="connsiteY7" fmla="*/ 8197 h 9992"/>
              <a:gd name="connsiteX8" fmla="*/ 3147 w 10000"/>
              <a:gd name="connsiteY8" fmla="*/ 8263 h 9992"/>
              <a:gd name="connsiteX9" fmla="*/ 0 w 10000"/>
              <a:gd name="connsiteY9" fmla="*/ 9888 h 9992"/>
              <a:gd name="connsiteX10" fmla="*/ 0 w 10000"/>
              <a:gd name="connsiteY10" fmla="*/ 1124 h 9992"/>
              <a:gd name="connsiteX0" fmla="*/ 0 w 10000"/>
              <a:gd name="connsiteY0" fmla="*/ 1767 h 10642"/>
              <a:gd name="connsiteX1" fmla="*/ 2248 w 10000"/>
              <a:gd name="connsiteY1" fmla="*/ 729 h 10642"/>
              <a:gd name="connsiteX2" fmla="*/ 4353 w 10000"/>
              <a:gd name="connsiteY2" fmla="*/ 0 h 10642"/>
              <a:gd name="connsiteX3" fmla="*/ 7500 w 10000"/>
              <a:gd name="connsiteY3" fmla="*/ 670 h 10642"/>
              <a:gd name="connsiteX4" fmla="*/ 10000 w 10000"/>
              <a:gd name="connsiteY4" fmla="*/ 1767 h 10642"/>
              <a:gd name="connsiteX5" fmla="*/ 10000 w 10000"/>
              <a:gd name="connsiteY5" fmla="*/ 10538 h 10642"/>
              <a:gd name="connsiteX6" fmla="*/ 8183 w 10000"/>
              <a:gd name="connsiteY6" fmla="*/ 9368 h 10642"/>
              <a:gd name="connsiteX7" fmla="*/ 5936 w 10000"/>
              <a:gd name="connsiteY7" fmla="*/ 8846 h 10642"/>
              <a:gd name="connsiteX8" fmla="*/ 3147 w 10000"/>
              <a:gd name="connsiteY8" fmla="*/ 8912 h 10642"/>
              <a:gd name="connsiteX9" fmla="*/ 0 w 10000"/>
              <a:gd name="connsiteY9" fmla="*/ 10538 h 10642"/>
              <a:gd name="connsiteX10" fmla="*/ 0 w 10000"/>
              <a:gd name="connsiteY10" fmla="*/ 1767 h 10642"/>
              <a:gd name="connsiteX0" fmla="*/ 0 w 10000"/>
              <a:gd name="connsiteY0" fmla="*/ 2093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10000 w 10000"/>
              <a:gd name="connsiteY5" fmla="*/ 10864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0 w 10000"/>
              <a:gd name="connsiteY10" fmla="*/ 2093 h 10968"/>
              <a:gd name="connsiteX0" fmla="*/ 0 w 10000"/>
              <a:gd name="connsiteY0" fmla="*/ 2093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784 w 10000"/>
              <a:gd name="connsiteY5" fmla="*/ 9834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0 w 10000"/>
              <a:gd name="connsiteY10" fmla="*/ 2093 h 10968"/>
              <a:gd name="connsiteX0" fmla="*/ 755 w 10000"/>
              <a:gd name="connsiteY0" fmla="*/ 4448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784 w 10000"/>
              <a:gd name="connsiteY5" fmla="*/ 9834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755 w 10000"/>
              <a:gd name="connsiteY10" fmla="*/ 4448 h 10968"/>
              <a:gd name="connsiteX0" fmla="*/ 719 w 10000"/>
              <a:gd name="connsiteY0" fmla="*/ 6140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784 w 10000"/>
              <a:gd name="connsiteY5" fmla="*/ 9834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719 w 10000"/>
              <a:gd name="connsiteY10" fmla="*/ 6140 h 10968"/>
              <a:gd name="connsiteX0" fmla="*/ 719 w 10000"/>
              <a:gd name="connsiteY0" fmla="*/ 6140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137 w 10000"/>
              <a:gd name="connsiteY5" fmla="*/ 5860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719 w 10000"/>
              <a:gd name="connsiteY10" fmla="*/ 6140 h 10968"/>
              <a:gd name="connsiteX0" fmla="*/ 719 w 10000"/>
              <a:gd name="connsiteY0" fmla="*/ 6140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353 w 10000"/>
              <a:gd name="connsiteY5" fmla="*/ 5566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719 w 10000"/>
              <a:gd name="connsiteY10" fmla="*/ 6140 h 10968"/>
              <a:gd name="connsiteX0" fmla="*/ 863 w 10000"/>
              <a:gd name="connsiteY0" fmla="*/ 6287 h 10968"/>
              <a:gd name="connsiteX1" fmla="*/ 2248 w 10000"/>
              <a:gd name="connsiteY1" fmla="*/ 1055 h 10968"/>
              <a:gd name="connsiteX2" fmla="*/ 4353 w 10000"/>
              <a:gd name="connsiteY2" fmla="*/ 326 h 10968"/>
              <a:gd name="connsiteX3" fmla="*/ 7572 w 10000"/>
              <a:gd name="connsiteY3" fmla="*/ 113 h 10968"/>
              <a:gd name="connsiteX4" fmla="*/ 10000 w 10000"/>
              <a:gd name="connsiteY4" fmla="*/ 2093 h 10968"/>
              <a:gd name="connsiteX5" fmla="*/ 9353 w 10000"/>
              <a:gd name="connsiteY5" fmla="*/ 5566 h 10968"/>
              <a:gd name="connsiteX6" fmla="*/ 8183 w 10000"/>
              <a:gd name="connsiteY6" fmla="*/ 9694 h 10968"/>
              <a:gd name="connsiteX7" fmla="*/ 5936 w 10000"/>
              <a:gd name="connsiteY7" fmla="*/ 9172 h 10968"/>
              <a:gd name="connsiteX8" fmla="*/ 3147 w 10000"/>
              <a:gd name="connsiteY8" fmla="*/ 9238 h 10968"/>
              <a:gd name="connsiteX9" fmla="*/ 0 w 10000"/>
              <a:gd name="connsiteY9" fmla="*/ 10864 h 10968"/>
              <a:gd name="connsiteX10" fmla="*/ 863 w 10000"/>
              <a:gd name="connsiteY10" fmla="*/ 6287 h 1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968">
                <a:moveTo>
                  <a:pt x="863" y="6287"/>
                </a:moveTo>
                <a:cubicBezTo>
                  <a:pt x="863" y="6892"/>
                  <a:pt x="1666" y="2048"/>
                  <a:pt x="2248" y="1055"/>
                </a:cubicBezTo>
                <a:cubicBezTo>
                  <a:pt x="2830" y="62"/>
                  <a:pt x="3466" y="483"/>
                  <a:pt x="4353" y="326"/>
                </a:cubicBezTo>
                <a:cubicBezTo>
                  <a:pt x="5240" y="169"/>
                  <a:pt x="6631" y="-181"/>
                  <a:pt x="7572" y="113"/>
                </a:cubicBezTo>
                <a:cubicBezTo>
                  <a:pt x="8513" y="407"/>
                  <a:pt x="10000" y="1487"/>
                  <a:pt x="10000" y="2093"/>
                </a:cubicBezTo>
                <a:lnTo>
                  <a:pt x="9353" y="5566"/>
                </a:lnTo>
                <a:cubicBezTo>
                  <a:pt x="9353" y="4960"/>
                  <a:pt x="8752" y="9093"/>
                  <a:pt x="8183" y="9694"/>
                </a:cubicBezTo>
                <a:cubicBezTo>
                  <a:pt x="7614" y="10295"/>
                  <a:pt x="6775" y="9248"/>
                  <a:pt x="5936" y="9172"/>
                </a:cubicBezTo>
                <a:cubicBezTo>
                  <a:pt x="5097" y="9096"/>
                  <a:pt x="4528" y="9238"/>
                  <a:pt x="3147" y="9238"/>
                </a:cubicBezTo>
                <a:cubicBezTo>
                  <a:pt x="1766" y="9238"/>
                  <a:pt x="0" y="11469"/>
                  <a:pt x="0" y="10864"/>
                </a:cubicBezTo>
                <a:lnTo>
                  <a:pt x="863" y="6287"/>
                </a:lnTo>
                <a:close/>
              </a:path>
            </a:pathLst>
          </a:custGeom>
          <a:gradFill>
            <a:gsLst>
              <a:gs pos="73000">
                <a:schemeClr val="accent2">
                  <a:lumMod val="20000"/>
                  <a:lumOff val="80000"/>
                  <a:alpha val="25000"/>
                </a:schemeClr>
              </a:gs>
              <a:gs pos="0">
                <a:schemeClr val="accent2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5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14" grpId="0"/>
      <p:bldP spid="16" grpId="0"/>
      <p:bldP spid="17" grpId="0"/>
      <p:bldP spid="18" grpId="0"/>
      <p:bldP spid="19" grpId="0" animBg="1"/>
      <p:bldP spid="20" grpId="0"/>
      <p:bldP spid="22" grpId="0" animBg="1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6" grpId="0"/>
      <p:bldP spid="43" grpId="0"/>
      <p:bldP spid="44" grpId="0"/>
      <p:bldP spid="45" grpId="0"/>
      <p:bldP spid="46" grpId="0"/>
      <p:bldP spid="47" grpId="0"/>
      <p:bldP spid="7" grpId="0" animBg="1"/>
      <p:bldP spid="7" grpId="1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4622C-EFDA-4925-A06B-B849C983F1C1}"/>
              </a:ext>
            </a:extLst>
          </p:cNvPr>
          <p:cNvSpPr txBox="1"/>
          <p:nvPr/>
        </p:nvSpPr>
        <p:spPr>
          <a:xfrm>
            <a:off x="178904" y="198783"/>
            <a:ext cx="817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Potential due to other Charge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A1F7-EF04-4ADF-B656-7677CE223389}"/>
              </a:ext>
            </a:extLst>
          </p:cNvPr>
          <p:cNvSpPr txBox="1"/>
          <p:nvPr/>
        </p:nvSpPr>
        <p:spPr>
          <a:xfrm>
            <a:off x="208722" y="894522"/>
            <a:ext cx="808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Potential due to Line charge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24E9D7-BB6C-4B14-A77A-72BBDC295361}"/>
              </a:ext>
            </a:extLst>
          </p:cNvPr>
          <p:cNvCxnSpPr/>
          <p:nvPr/>
        </p:nvCxnSpPr>
        <p:spPr>
          <a:xfrm>
            <a:off x="6281530" y="2981739"/>
            <a:ext cx="3021496" cy="0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232D8F-AA5C-4184-ABAE-F5AE21C75C35}"/>
              </a:ext>
            </a:extLst>
          </p:cNvPr>
          <p:cNvCxnSpPr/>
          <p:nvPr/>
        </p:nvCxnSpPr>
        <p:spPr>
          <a:xfrm flipV="1">
            <a:off x="6291470" y="983974"/>
            <a:ext cx="0" cy="2007704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8F9CA-5062-4916-BD31-5A78A64EFB2E}"/>
              </a:ext>
            </a:extLst>
          </p:cNvPr>
          <p:cNvCxnSpPr/>
          <p:nvPr/>
        </p:nvCxnSpPr>
        <p:spPr>
          <a:xfrm flipH="1">
            <a:off x="4651513" y="2981738"/>
            <a:ext cx="1630018" cy="636105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0E7D8A-ECA1-4782-B5A8-1E11D2574097}"/>
              </a:ext>
            </a:extLst>
          </p:cNvPr>
          <p:cNvSpPr txBox="1"/>
          <p:nvPr/>
        </p:nvSpPr>
        <p:spPr>
          <a:xfrm>
            <a:off x="4363278" y="3309731"/>
            <a:ext cx="26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633A3-B8B7-4FB1-BC51-3EF4E9B2911A}"/>
              </a:ext>
            </a:extLst>
          </p:cNvPr>
          <p:cNvSpPr txBox="1"/>
          <p:nvPr/>
        </p:nvSpPr>
        <p:spPr>
          <a:xfrm>
            <a:off x="6030568" y="7255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3D4EB-EB4F-4153-B707-6E8A7078A00C}"/>
              </a:ext>
            </a:extLst>
          </p:cNvPr>
          <p:cNvSpPr txBox="1"/>
          <p:nvPr/>
        </p:nvSpPr>
        <p:spPr>
          <a:xfrm>
            <a:off x="9204463" y="2919656"/>
            <a:ext cx="27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/>
              <p:nvPr/>
            </p:nvSpPr>
            <p:spPr>
              <a:xfrm>
                <a:off x="7753847" y="295744"/>
                <a:ext cx="6957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6F6BA-2094-4C86-B2E3-2FDCA649C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847" y="295744"/>
                <a:ext cx="695739" cy="307777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FCD337E-2639-44C2-9428-812C870FDE65}"/>
              </a:ext>
            </a:extLst>
          </p:cNvPr>
          <p:cNvSpPr/>
          <p:nvPr/>
        </p:nvSpPr>
        <p:spPr>
          <a:xfrm>
            <a:off x="10853529" y="1888435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520E8-62CC-4537-BF9C-CFC23A0D8E48}"/>
              </a:ext>
            </a:extLst>
          </p:cNvPr>
          <p:cNvSpPr txBox="1"/>
          <p:nvPr/>
        </p:nvSpPr>
        <p:spPr>
          <a:xfrm>
            <a:off x="10743506" y="1527852"/>
            <a:ext cx="77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P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C0B9CC0-C681-4AC9-A519-C864830A3300}"/>
              </a:ext>
            </a:extLst>
          </p:cNvPr>
          <p:cNvSpPr/>
          <p:nvPr/>
        </p:nvSpPr>
        <p:spPr>
          <a:xfrm>
            <a:off x="7911548" y="1570382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17305-C249-488D-AD73-F38F259AD004}"/>
              </a:ext>
            </a:extLst>
          </p:cNvPr>
          <p:cNvSpPr txBox="1"/>
          <p:nvPr/>
        </p:nvSpPr>
        <p:spPr>
          <a:xfrm>
            <a:off x="188844" y="1500808"/>
            <a:ext cx="4770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a differential Length element, </a:t>
            </a:r>
            <a:r>
              <a:rPr lang="en-IN" b="1" i="1" dirty="0">
                <a:latin typeface="+mj-lt"/>
              </a:rPr>
              <a:t>dl</a:t>
            </a:r>
            <a:endParaRPr lang="en-IN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C3017-533C-495C-8339-0F88E48946C7}"/>
              </a:ext>
            </a:extLst>
          </p:cNvPr>
          <p:cNvSpPr txBox="1"/>
          <p:nvPr/>
        </p:nvSpPr>
        <p:spPr>
          <a:xfrm>
            <a:off x="159489" y="1998921"/>
            <a:ext cx="449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Charge on </a:t>
            </a:r>
            <a:r>
              <a:rPr lang="en-IN" i="1" dirty="0">
                <a:latin typeface="+mj-lt"/>
              </a:rPr>
              <a:t>dl </a:t>
            </a:r>
            <a:r>
              <a:rPr lang="en-IN" dirty="0">
                <a:latin typeface="+mj-lt"/>
              </a:rPr>
              <a:t>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/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dQ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i="1" dirty="0">
                    <a:latin typeface="+mj-lt"/>
                  </a:rPr>
                  <a:t> dl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BA5AB6-1997-4366-9BBE-7F11B26B9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7" y="2636874"/>
                <a:ext cx="1743503" cy="369332"/>
              </a:xfrm>
              <a:prstGeom prst="rect">
                <a:avLst/>
              </a:prstGeom>
              <a:blipFill>
                <a:blip r:embed="rId3"/>
                <a:stretch>
                  <a:fillRect l="-279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072E795-AE6C-47A8-B2D9-2E31D915EF58}"/>
              </a:ext>
            </a:extLst>
          </p:cNvPr>
          <p:cNvSpPr txBox="1"/>
          <p:nvPr/>
        </p:nvSpPr>
        <p:spPr>
          <a:xfrm>
            <a:off x="8015800" y="123488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latin typeface="+mj-lt"/>
              </a:rPr>
              <a:t>dl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413C5-FCF6-4ED5-A878-7FB88574C0F5}"/>
              </a:ext>
            </a:extLst>
          </p:cNvPr>
          <p:cNvSpPr txBox="1"/>
          <p:nvPr/>
        </p:nvSpPr>
        <p:spPr>
          <a:xfrm>
            <a:off x="7419894" y="1455309"/>
            <a:ext cx="701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+mj-lt"/>
              </a:rPr>
              <a:t>dQ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F0AD35-CA03-4CA1-8E9D-E11593B5ECF2}"/>
              </a:ext>
            </a:extLst>
          </p:cNvPr>
          <p:cNvCxnSpPr>
            <a:cxnSpLocks/>
            <a:endCxn id="19" idx="4"/>
          </p:cNvCxnSpPr>
          <p:nvPr/>
        </p:nvCxnSpPr>
        <p:spPr>
          <a:xfrm>
            <a:off x="8000999" y="1590261"/>
            <a:ext cx="2875390" cy="34389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2801BB-281A-4CAC-AD57-15BB3CA2DB6D}"/>
              </a:ext>
            </a:extLst>
          </p:cNvPr>
          <p:cNvSpPr txBox="1"/>
          <p:nvPr/>
        </p:nvSpPr>
        <p:spPr>
          <a:xfrm>
            <a:off x="159026" y="3240157"/>
            <a:ext cx="380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find the potential </a:t>
            </a:r>
            <a:r>
              <a:rPr lang="en-IN" i="1" dirty="0">
                <a:latin typeface="+mj-lt"/>
              </a:rPr>
              <a:t>dV, </a:t>
            </a:r>
            <a:r>
              <a:rPr lang="en-IN" dirty="0">
                <a:latin typeface="+mj-lt"/>
              </a:rPr>
              <a:t>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</a:t>
            </a:r>
            <a:r>
              <a:rPr lang="en-IN" i="1" dirty="0">
                <a:latin typeface="+mj-lt"/>
              </a:rPr>
              <a:t>dQ</a:t>
            </a:r>
            <a:r>
              <a:rPr lang="en-IN" dirty="0">
                <a:latin typeface="+mj-lt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F4316-A9D0-4F61-850E-A0589C0D3997}"/>
              </a:ext>
            </a:extLst>
          </p:cNvPr>
          <p:cNvSpPr txBox="1"/>
          <p:nvPr/>
        </p:nvSpPr>
        <p:spPr>
          <a:xfrm>
            <a:off x="10674626" y="1938130"/>
            <a:ext cx="72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/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dV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4D6A8-E56D-4FA4-96C9-07440EBE4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17" y="3885979"/>
                <a:ext cx="1580322" cy="525657"/>
              </a:xfrm>
              <a:prstGeom prst="rect">
                <a:avLst/>
              </a:prstGeom>
              <a:blipFill>
                <a:blip r:embed="rId4"/>
                <a:stretch>
                  <a:fillRect l="-30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/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𝑑𝑙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E176EB-A6A6-4D7D-9D78-694D81E37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88" y="3816185"/>
                <a:ext cx="3289852" cy="587469"/>
              </a:xfrm>
              <a:prstGeom prst="rect">
                <a:avLst/>
              </a:prstGeom>
              <a:blipFill>
                <a:blip r:embed="rId5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/>
              <p:nvPr/>
            </p:nvSpPr>
            <p:spPr>
              <a:xfrm>
                <a:off x="7909063" y="1574561"/>
                <a:ext cx="8572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1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dirty="0">
                    <a:solidFill>
                      <a:srgbClr val="002060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E1D904-48FA-446C-831C-95346D11A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63" y="1574561"/>
                <a:ext cx="857250" cy="307777"/>
              </a:xfrm>
              <a:prstGeom prst="rect">
                <a:avLst/>
              </a:prstGeom>
              <a:blipFill>
                <a:blip r:embed="rId1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46C7E4-12E1-434E-BF18-BD7CEC9EAD47}"/>
              </a:ext>
            </a:extLst>
          </p:cNvPr>
          <p:cNvCxnSpPr/>
          <p:nvPr/>
        </p:nvCxnSpPr>
        <p:spPr>
          <a:xfrm flipV="1">
            <a:off x="6321287" y="1600200"/>
            <a:ext cx="1610139" cy="135172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3BD3-75A9-4E81-A804-25155E9BD020}"/>
              </a:ext>
            </a:extLst>
          </p:cNvPr>
          <p:cNvCxnSpPr>
            <a:cxnSpLocks/>
          </p:cNvCxnSpPr>
          <p:nvPr/>
        </p:nvCxnSpPr>
        <p:spPr>
          <a:xfrm flipV="1">
            <a:off x="6301409" y="1918253"/>
            <a:ext cx="4601817" cy="1043608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/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BF70D-22DD-44D1-8CFF-528217F41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306" y="2017645"/>
                <a:ext cx="51683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/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8DA67C-B158-4A64-A2A0-0CA01218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627" y="2454966"/>
                <a:ext cx="38762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/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i="1" dirty="0">
                    <a:latin typeface="+mj-lt"/>
                  </a:rPr>
                  <a:t>R</a:t>
                </a:r>
                <a:r>
                  <a:rPr lang="en-IN" sz="1400" dirty="0">
                    <a:latin typeface="+mj-lt"/>
                  </a:rPr>
                  <a:t> = |</a:t>
                </a:r>
                <a14:m>
                  <m:oMath xmlns:m="http://schemas.openxmlformats.org/officeDocument/2006/math">
                    <m:r>
                      <a:rPr lang="en-IN" sz="14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IN" sz="1400" b="1" i="1" dirty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IN" sz="14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1400" i="1" dirty="0">
                    <a:latin typeface="+mj-lt"/>
                  </a:rPr>
                  <a:t>|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3D055-BC82-449D-8984-666E69E8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1381760"/>
                <a:ext cx="1920240" cy="324576"/>
              </a:xfrm>
              <a:prstGeom prst="rect">
                <a:avLst/>
              </a:prstGeom>
              <a:blipFill>
                <a:blip r:embed="rId9"/>
                <a:stretch>
                  <a:fillRect l="-952" t="-3774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C86151F9-8A97-4640-B953-EDBAD4422748}"/>
              </a:ext>
            </a:extLst>
          </p:cNvPr>
          <p:cNvSpPr txBox="1"/>
          <p:nvPr/>
        </p:nvSpPr>
        <p:spPr>
          <a:xfrm>
            <a:off x="278296" y="4860235"/>
            <a:ext cx="642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The Potential at </a:t>
            </a:r>
            <a:r>
              <a:rPr lang="en-IN" i="1" dirty="0">
                <a:latin typeface="+mj-lt"/>
              </a:rPr>
              <a:t>P</a:t>
            </a:r>
            <a:r>
              <a:rPr lang="en-IN" dirty="0">
                <a:latin typeface="+mj-lt"/>
              </a:rPr>
              <a:t> due to the entire Line charge,</a:t>
            </a:r>
            <a:endParaRPr lang="en-IN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/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8808C0-0075-40A0-95C1-CABA3148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5730240"/>
                <a:ext cx="2062480" cy="570092"/>
              </a:xfrm>
              <a:prstGeom prst="rect">
                <a:avLst/>
              </a:prstGeom>
              <a:blipFill>
                <a:blip r:embed="rId10"/>
                <a:stretch>
                  <a:fillRect l="-2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ylinder 2">
            <a:extLst>
              <a:ext uri="{FF2B5EF4-FFF2-40B4-BE49-F238E27FC236}">
                <a16:creationId xmlns:a16="http://schemas.microsoft.com/office/drawing/2014/main" id="{D96601C8-D0CB-4D06-ACD2-6ADB2EBE1C74}"/>
              </a:ext>
            </a:extLst>
          </p:cNvPr>
          <p:cNvSpPr/>
          <p:nvPr/>
        </p:nvSpPr>
        <p:spPr>
          <a:xfrm rot="1021567">
            <a:off x="7921488" y="327991"/>
            <a:ext cx="59635" cy="2494722"/>
          </a:xfrm>
          <a:prstGeom prst="can">
            <a:avLst/>
          </a:prstGeom>
          <a:solidFill>
            <a:schemeClr val="accent2">
              <a:lumMod val="75000"/>
              <a:alpha val="2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2D423233-9728-4077-B386-55FB5A5C57A6}"/>
              </a:ext>
            </a:extLst>
          </p:cNvPr>
          <p:cNvSpPr/>
          <p:nvPr/>
        </p:nvSpPr>
        <p:spPr>
          <a:xfrm rot="978313">
            <a:off x="7921928" y="1493300"/>
            <a:ext cx="45719" cy="213360"/>
          </a:xfrm>
          <a:prstGeom prst="can">
            <a:avLst/>
          </a:prstGeom>
          <a:solidFill>
            <a:schemeClr val="accent2">
              <a:lumMod val="50000"/>
              <a:alpha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2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14" grpId="0"/>
      <p:bldP spid="16" grpId="0"/>
      <p:bldP spid="17" grpId="0"/>
      <p:bldP spid="18" grpId="0"/>
      <p:bldP spid="19" grpId="0" animBg="1"/>
      <p:bldP spid="20" grpId="0"/>
      <p:bldP spid="22" grpId="0" animBg="1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6" grpId="0"/>
      <p:bldP spid="43" grpId="0"/>
      <p:bldP spid="44" grpId="0"/>
      <p:bldP spid="45" grpId="0"/>
      <p:bldP spid="46" grpId="0"/>
      <p:bldP spid="47" grpId="0"/>
      <p:bldP spid="3" grpId="0" animBg="1"/>
      <p:bldP spid="4" grpId="0" animBg="1"/>
      <p:bldP spid="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0FD56-C168-4CC8-AB53-26BFDC64A457}"/>
              </a:ext>
            </a:extLst>
          </p:cNvPr>
          <p:cNvSpPr txBox="1"/>
          <p:nvPr/>
        </p:nvSpPr>
        <p:spPr>
          <a:xfrm>
            <a:off x="268357" y="387626"/>
            <a:ext cx="6361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Potential Gradient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6666550-4128-4EA4-9F65-9B42CBFA2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18984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0" imgH="0" progId="Paint.Picture">
                  <p:embed/>
                </p:oleObj>
              </mc:Choice>
              <mc:Fallback>
                <p:oleObj name="Bitmap Image" r:id="rId3" imgW="0" imgH="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F7D7E3-84B2-4817-8D28-549E9AD91BAC}"/>
              </a:ext>
            </a:extLst>
          </p:cNvPr>
          <p:cNvSpPr txBox="1"/>
          <p:nvPr/>
        </p:nvSpPr>
        <p:spPr>
          <a:xfrm>
            <a:off x="327991" y="1133061"/>
            <a:ext cx="1156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Gradient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1D502-F9D9-4E8D-9B65-E3A216BE917E}"/>
              </a:ext>
            </a:extLst>
          </p:cNvPr>
          <p:cNvSpPr txBox="1"/>
          <p:nvPr/>
        </p:nvSpPr>
        <p:spPr>
          <a:xfrm>
            <a:off x="337931" y="1590262"/>
            <a:ext cx="10833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Gradient of a scalar at a point in space can be defined as a vector that gives both magnitude and direction of maximum space rate of change of that scalar at that point.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CBFAD-77BD-464A-BB9B-BD2D6D57C284}"/>
              </a:ext>
            </a:extLst>
          </p:cNvPr>
          <p:cNvSpPr txBox="1"/>
          <p:nvPr/>
        </p:nvSpPr>
        <p:spPr>
          <a:xfrm>
            <a:off x="844825" y="2494722"/>
            <a:ext cx="737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Mathematically gradient of a scalar </a:t>
            </a:r>
            <a:r>
              <a:rPr lang="en-IN" i="1" dirty="0">
                <a:latin typeface="+mj-lt"/>
              </a:rPr>
              <a:t>T</a:t>
            </a:r>
            <a:r>
              <a:rPr lang="en-IN" dirty="0">
                <a:latin typeface="+mj-lt"/>
              </a:rPr>
              <a:t>, can be expressed as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667953-ED40-458E-B4B4-C4BF50E56EBA}"/>
                  </a:ext>
                </a:extLst>
              </p:cNvPr>
              <p:cNvSpPr txBox="1"/>
              <p:nvPr/>
            </p:nvSpPr>
            <p:spPr>
              <a:xfrm>
                <a:off x="1639956" y="3110948"/>
                <a:ext cx="6380922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grad </a:t>
                </a:r>
                <a:r>
                  <a:rPr lang="en-IN" i="1" dirty="0">
                    <a:latin typeface="+mj-lt"/>
                  </a:rPr>
                  <a:t>T 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667953-ED40-458E-B4B4-C4BF50E56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956" y="3110948"/>
                <a:ext cx="6380922" cy="508537"/>
              </a:xfrm>
              <a:prstGeom prst="rect">
                <a:avLst/>
              </a:prstGeom>
              <a:blipFill>
                <a:blip r:embed="rId5"/>
                <a:stretch>
                  <a:fillRect l="-764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2307152-8E5B-479C-B5F6-DEA966529CF6}"/>
              </a:ext>
            </a:extLst>
          </p:cNvPr>
          <p:cNvSpPr txBox="1"/>
          <p:nvPr/>
        </p:nvSpPr>
        <p:spPr>
          <a:xfrm>
            <a:off x="536713" y="3866322"/>
            <a:ext cx="985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Now the </a:t>
            </a:r>
            <a:r>
              <a:rPr lang="en-IN" dirty="0">
                <a:solidFill>
                  <a:srgbClr val="C00000"/>
                </a:solidFill>
                <a:latin typeface="+mj-lt"/>
              </a:rPr>
              <a:t>Potential Gradient</a:t>
            </a:r>
            <a:r>
              <a:rPr lang="en-IN" dirty="0">
                <a:latin typeface="+mj-lt"/>
              </a:rPr>
              <a:t> is defined 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30754E-D61A-4C1B-AB73-F38984C34582}"/>
                  </a:ext>
                </a:extLst>
              </p:cNvPr>
              <p:cNvSpPr txBox="1"/>
              <p:nvPr/>
            </p:nvSpPr>
            <p:spPr>
              <a:xfrm>
                <a:off x="1709530" y="4502426"/>
                <a:ext cx="498944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grad </a:t>
                </a:r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30754E-D61A-4C1B-AB73-F38984C3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30" y="4502426"/>
                <a:ext cx="4989444" cy="491288"/>
              </a:xfrm>
              <a:prstGeom prst="rect">
                <a:avLst/>
              </a:prstGeom>
              <a:blipFill>
                <a:blip r:embed="rId6"/>
                <a:stretch>
                  <a:fillRect l="-977"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FCDF7-8010-47F7-ABF5-6CD0AD52696C}"/>
                  </a:ext>
                </a:extLst>
              </p:cNvPr>
              <p:cNvSpPr txBox="1"/>
              <p:nvPr/>
            </p:nvSpPr>
            <p:spPr>
              <a:xfrm>
                <a:off x="510131" y="5347945"/>
                <a:ext cx="1063487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: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FCDF7-8010-47F7-ABF5-6CD0AD52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31" y="5347945"/>
                <a:ext cx="1063487" cy="491288"/>
              </a:xfrm>
              <a:prstGeom prst="rect">
                <a:avLst/>
              </a:prstGeom>
              <a:blipFill>
                <a:blip r:embed="rId8"/>
                <a:stretch>
                  <a:fillRect l="-5172" r="-8046" b="-6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4E1DDCA-27D3-417F-BD1B-4B03A0D2F810}"/>
              </a:ext>
            </a:extLst>
          </p:cNvPr>
          <p:cNvSpPr txBox="1"/>
          <p:nvPr/>
        </p:nvSpPr>
        <p:spPr>
          <a:xfrm>
            <a:off x="1419216" y="5416826"/>
            <a:ext cx="641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Maximum rate of change of potential </a:t>
            </a:r>
            <a:r>
              <a:rPr lang="en-IN" i="1" dirty="0">
                <a:latin typeface="+mj-lt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D54016-877E-4218-A6F2-B7692A39BE29}"/>
                  </a:ext>
                </a:extLst>
              </p:cNvPr>
              <p:cNvSpPr txBox="1"/>
              <p:nvPr/>
            </p:nvSpPr>
            <p:spPr>
              <a:xfrm>
                <a:off x="937515" y="5897602"/>
                <a:ext cx="7255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dirty="0"/>
                  <a:t> :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D54016-877E-4218-A6F2-B7692A39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15" y="5897602"/>
                <a:ext cx="725557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62EA625-6DF6-4D6C-A39E-2056B8BC6383}"/>
              </a:ext>
            </a:extLst>
          </p:cNvPr>
          <p:cNvSpPr txBox="1"/>
          <p:nvPr/>
        </p:nvSpPr>
        <p:spPr>
          <a:xfrm>
            <a:off x="1338315" y="5917482"/>
            <a:ext cx="688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 The direction in which the potential changes by maximum rate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E2CA37-EF1B-404C-BDF4-61D5AF8FF7E7}"/>
              </a:ext>
            </a:extLst>
          </p:cNvPr>
          <p:cNvCxnSpPr/>
          <p:nvPr/>
        </p:nvCxnSpPr>
        <p:spPr>
          <a:xfrm>
            <a:off x="7620539" y="4611063"/>
            <a:ext cx="3429000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051363-2007-4483-B14A-B31C65DDBAFF}"/>
              </a:ext>
            </a:extLst>
          </p:cNvPr>
          <p:cNvCxnSpPr/>
          <p:nvPr/>
        </p:nvCxnSpPr>
        <p:spPr>
          <a:xfrm flipV="1">
            <a:off x="7620540" y="2236303"/>
            <a:ext cx="0" cy="2375453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226956-4F11-47E8-AAA1-C1D709B02CFB}"/>
              </a:ext>
            </a:extLst>
          </p:cNvPr>
          <p:cNvCxnSpPr/>
          <p:nvPr/>
        </p:nvCxnSpPr>
        <p:spPr>
          <a:xfrm flipH="1">
            <a:off x="5920948" y="4611756"/>
            <a:ext cx="1699592" cy="91440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673F3C-499D-4D64-99E1-2ED6E3BC8126}"/>
              </a:ext>
            </a:extLst>
          </p:cNvPr>
          <p:cNvSpPr txBox="1"/>
          <p:nvPr/>
        </p:nvSpPr>
        <p:spPr>
          <a:xfrm>
            <a:off x="5720316" y="5167424"/>
            <a:ext cx="24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30EF13-62CA-441B-A903-34645E243DBE}"/>
              </a:ext>
            </a:extLst>
          </p:cNvPr>
          <p:cNvSpPr txBox="1"/>
          <p:nvPr/>
        </p:nvSpPr>
        <p:spPr>
          <a:xfrm>
            <a:off x="11061405" y="4469219"/>
            <a:ext cx="24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35DDE1-4A7F-43A4-8E1C-835F931B40B4}"/>
              </a:ext>
            </a:extLst>
          </p:cNvPr>
          <p:cNvSpPr txBox="1"/>
          <p:nvPr/>
        </p:nvSpPr>
        <p:spPr>
          <a:xfrm>
            <a:off x="7503042" y="1889052"/>
            <a:ext cx="24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FF6BF421-57CB-4607-9CCC-ACBF405296D1}"/>
              </a:ext>
            </a:extLst>
          </p:cNvPr>
          <p:cNvSpPr/>
          <p:nvPr/>
        </p:nvSpPr>
        <p:spPr>
          <a:xfrm>
            <a:off x="7556743" y="4519993"/>
            <a:ext cx="138224" cy="159489"/>
          </a:xfrm>
          <a:prstGeom prst="flowChartConnector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2A86FB-C65E-4137-955D-17A473FB7C5C}"/>
              </a:ext>
            </a:extLst>
          </p:cNvPr>
          <p:cNvSpPr txBox="1"/>
          <p:nvPr/>
        </p:nvSpPr>
        <p:spPr>
          <a:xfrm>
            <a:off x="7215809" y="4333461"/>
            <a:ext cx="675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+mj-lt"/>
              </a:rPr>
              <a:t>Q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00EA2166-E118-490E-8E69-66535BF60B59}"/>
              </a:ext>
            </a:extLst>
          </p:cNvPr>
          <p:cNvSpPr/>
          <p:nvPr/>
        </p:nvSpPr>
        <p:spPr>
          <a:xfrm>
            <a:off x="9710530" y="3379304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E19424-7FCE-46AA-B2DB-FE02FA6038DB}"/>
                  </a:ext>
                </a:extLst>
              </p:cNvPr>
              <p:cNvSpPr txBox="1"/>
              <p:nvPr/>
            </p:nvSpPr>
            <p:spPr>
              <a:xfrm>
                <a:off x="9730409" y="3488635"/>
                <a:ext cx="2216426" cy="531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E19424-7FCE-46AA-B2DB-FE02FA603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0409" y="3488635"/>
                <a:ext cx="2216426" cy="531171"/>
              </a:xfrm>
              <a:prstGeom prst="rect">
                <a:avLst/>
              </a:prstGeom>
              <a:blipFill>
                <a:blip r:embed="rId10"/>
                <a:stretch>
                  <a:fillRect l="-21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2070B2-63E4-4E5F-864C-4592B993693D}"/>
              </a:ext>
            </a:extLst>
          </p:cNvPr>
          <p:cNvCxnSpPr>
            <a:cxnSpLocks/>
          </p:cNvCxnSpPr>
          <p:nvPr/>
        </p:nvCxnSpPr>
        <p:spPr>
          <a:xfrm flipV="1">
            <a:off x="9780034" y="2976880"/>
            <a:ext cx="745726" cy="409120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4268C2-5D4B-4064-AE81-7484C5E5B936}"/>
              </a:ext>
            </a:extLst>
          </p:cNvPr>
          <p:cNvCxnSpPr>
            <a:cxnSpLocks/>
          </p:cNvCxnSpPr>
          <p:nvPr/>
        </p:nvCxnSpPr>
        <p:spPr>
          <a:xfrm flipV="1">
            <a:off x="7650480" y="3419284"/>
            <a:ext cx="2060271" cy="1162876"/>
          </a:xfrm>
          <a:prstGeom prst="line">
            <a:avLst/>
          </a:prstGeom>
          <a:ln w="63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60B5C8-89E8-42C8-9B4F-88A1883ED8B0}"/>
              </a:ext>
            </a:extLst>
          </p:cNvPr>
          <p:cNvSpPr txBox="1"/>
          <p:nvPr/>
        </p:nvSpPr>
        <p:spPr>
          <a:xfrm>
            <a:off x="10239154" y="2604977"/>
            <a:ext cx="2094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C00000"/>
                </a:solidFill>
                <a:latin typeface="+mj-lt"/>
              </a:rPr>
              <a:t>Min Rate of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F588B6-D618-4DFA-9D2A-38618B258F6D}"/>
                  </a:ext>
                </a:extLst>
              </p:cNvPr>
              <p:cNvSpPr txBox="1"/>
              <p:nvPr/>
            </p:nvSpPr>
            <p:spPr>
              <a:xfrm>
                <a:off x="10757077" y="2879533"/>
                <a:ext cx="906603" cy="402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i="1" dirty="0">
                    <a:solidFill>
                      <a:srgbClr val="C00000"/>
                    </a:solidFill>
                    <a:latin typeface="+mj-lt"/>
                  </a:rPr>
                  <a:t>i.e  -</a:t>
                </a:r>
                <a:r>
                  <a:rPr lang="en-IN" sz="1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sz="1400" i="1" dirty="0">
                    <a:solidFill>
                      <a:srgbClr val="C00000"/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F588B6-D618-4DFA-9D2A-38618B258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077" y="2879533"/>
                <a:ext cx="906603" cy="402611"/>
              </a:xfrm>
              <a:prstGeom prst="rect">
                <a:avLst/>
              </a:prstGeom>
              <a:blipFill>
                <a:blip r:embed="rId15"/>
                <a:stretch>
                  <a:fillRect l="-2027"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F3C2AE2-79E4-406D-9DC9-79A47105D34C}"/>
              </a:ext>
            </a:extLst>
          </p:cNvPr>
          <p:cNvSpPr txBox="1"/>
          <p:nvPr/>
        </p:nvSpPr>
        <p:spPr>
          <a:xfrm>
            <a:off x="8188960" y="3810000"/>
            <a:ext cx="37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357FB7-B8EB-4A8E-81A5-522C38D37762}"/>
              </a:ext>
            </a:extLst>
          </p:cNvPr>
          <p:cNvCxnSpPr>
            <a:cxnSpLocks/>
          </p:cNvCxnSpPr>
          <p:nvPr/>
        </p:nvCxnSpPr>
        <p:spPr>
          <a:xfrm flipH="1">
            <a:off x="8778460" y="3447180"/>
            <a:ext cx="890034" cy="495121"/>
          </a:xfrm>
          <a:prstGeom prst="straightConnector1">
            <a:avLst/>
          </a:prstGeom>
          <a:ln w="158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81BF2B1-757B-422F-97AC-DBAAAB57BED3}"/>
              </a:ext>
            </a:extLst>
          </p:cNvPr>
          <p:cNvSpPr txBox="1"/>
          <p:nvPr/>
        </p:nvSpPr>
        <p:spPr>
          <a:xfrm>
            <a:off x="8392160" y="3881120"/>
            <a:ext cx="207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+mj-lt"/>
              </a:rPr>
              <a:t>Max. Rate of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7DFE45-C877-45B3-9E5D-EF48F27CE6AF}"/>
                  </a:ext>
                </a:extLst>
              </p:cNvPr>
              <p:cNvSpPr txBox="1"/>
              <p:nvPr/>
            </p:nvSpPr>
            <p:spPr>
              <a:xfrm>
                <a:off x="8666922" y="4075044"/>
                <a:ext cx="745434" cy="413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I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den>
                      </m:f>
                    </m:oMath>
                  </m:oMathPara>
                </a14:m>
                <a:endParaRPr lang="en-IN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7DFE45-C877-45B3-9E5D-EF48F27CE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6922" y="4075044"/>
                <a:ext cx="745434" cy="41370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ABC30C-0388-4508-8C2A-679FAE402F4A}"/>
                  </a:ext>
                </a:extLst>
              </p:cNvPr>
              <p:cNvSpPr txBox="1"/>
              <p:nvPr/>
            </p:nvSpPr>
            <p:spPr>
              <a:xfrm>
                <a:off x="7945120" y="3291840"/>
                <a:ext cx="1666240" cy="402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solidFill>
                      <a:srgbClr val="00B050"/>
                    </a:solidFill>
                    <a:latin typeface="+mj-lt"/>
                  </a:rPr>
                  <a:t>grad </a:t>
                </a:r>
                <a:r>
                  <a:rPr lang="en-IN" sz="1400" i="1" dirty="0">
                    <a:solidFill>
                      <a:srgbClr val="00B050"/>
                    </a:solidFill>
                    <a:latin typeface="+mj-lt"/>
                  </a:rPr>
                  <a:t>V</a:t>
                </a:r>
                <a:r>
                  <a:rPr lang="en-IN" sz="1400" dirty="0">
                    <a:solidFill>
                      <a:srgbClr val="00B050"/>
                    </a:solidFill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sz="1400" i="1" dirty="0">
                    <a:solidFill>
                      <a:srgbClr val="00B05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sz="1400" b="1" i="1" dirty="0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ABC30C-0388-4508-8C2A-679FAE402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120" y="3291840"/>
                <a:ext cx="1666240" cy="402611"/>
              </a:xfrm>
              <a:prstGeom prst="rect">
                <a:avLst/>
              </a:prstGeom>
              <a:blipFill>
                <a:blip r:embed="rId17"/>
                <a:stretch>
                  <a:fillRect l="-1095"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14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1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0" grpId="0"/>
      <p:bldP spid="21" grpId="0"/>
      <p:bldP spid="22" grpId="0"/>
      <p:bldP spid="23" grpId="0" animBg="1"/>
      <p:bldP spid="24" grpId="0"/>
      <p:bldP spid="25" grpId="0" animBg="1"/>
      <p:bldP spid="26" grpId="0"/>
      <p:bldP spid="32" grpId="0"/>
      <p:bldP spid="33" grpId="0"/>
      <p:bldP spid="34" grpId="0"/>
      <p:bldP spid="43" grpId="0"/>
      <p:bldP spid="46" grpId="0"/>
      <p:bldP spid="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B401B7-42BC-4EED-8224-D3C442B444FB}"/>
                  </a:ext>
                </a:extLst>
              </p:cNvPr>
              <p:cNvSpPr txBox="1"/>
              <p:nvPr/>
            </p:nvSpPr>
            <p:spPr>
              <a:xfrm>
                <a:off x="159026" y="278296"/>
                <a:ext cx="108634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  <a:latin typeface="+mj-lt"/>
                  </a:rPr>
                  <a:t>To show that </a:t>
                </a:r>
                <a:r>
                  <a:rPr lang="en-IN" sz="2000" b="1" dirty="0">
                    <a:solidFill>
                      <a:srgbClr val="C00000"/>
                    </a:solidFill>
                    <a:latin typeface="+mj-lt"/>
                  </a:rPr>
                  <a:t>E </a:t>
                </a:r>
                <a:r>
                  <a:rPr lang="en-IN" sz="2000" dirty="0">
                    <a:solidFill>
                      <a:srgbClr val="C00000"/>
                    </a:solidFill>
                    <a:latin typeface="+mj-lt"/>
                  </a:rPr>
                  <a:t>=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2000" i="1" dirty="0">
                    <a:solidFill>
                      <a:srgbClr val="C00000"/>
                    </a:solidFill>
                    <a:latin typeface="+mj-lt"/>
                  </a:rPr>
                  <a:t>V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B401B7-42BC-4EED-8224-D3C442B44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6" y="278296"/>
                <a:ext cx="10863470" cy="400110"/>
              </a:xfrm>
              <a:prstGeom prst="rect">
                <a:avLst/>
              </a:prstGeom>
              <a:blipFill>
                <a:blip r:embed="rId2"/>
                <a:stretch>
                  <a:fillRect l="-561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9E2CD65-E7D1-4DB1-A31E-ABE5CD32917A}"/>
              </a:ext>
            </a:extLst>
          </p:cNvPr>
          <p:cNvSpPr txBox="1"/>
          <p:nvPr/>
        </p:nvSpPr>
        <p:spPr>
          <a:xfrm>
            <a:off x="178905" y="834887"/>
            <a:ext cx="825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It can be shown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89D24D-3422-4B23-A955-14CD11155C20}"/>
                  </a:ext>
                </a:extLst>
              </p:cNvPr>
              <p:cNvSpPr txBox="1"/>
              <p:nvPr/>
            </p:nvSpPr>
            <p:spPr>
              <a:xfrm>
                <a:off x="2295939" y="1302026"/>
                <a:ext cx="551621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- grad </a:t>
                </a:r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89D24D-3422-4B23-A955-14CD11155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939" y="1302026"/>
                <a:ext cx="5516218" cy="508537"/>
              </a:xfrm>
              <a:prstGeom prst="rect">
                <a:avLst/>
              </a:prstGeom>
              <a:blipFill>
                <a:blip r:embed="rId4"/>
                <a:stretch>
                  <a:fillRect l="-994" b="-3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C29C38-06FD-432D-853A-7BDD7D441D86}"/>
              </a:ext>
            </a:extLst>
          </p:cNvPr>
          <p:cNvCxnSpPr/>
          <p:nvPr/>
        </p:nvCxnSpPr>
        <p:spPr>
          <a:xfrm flipH="1">
            <a:off x="7951304" y="1162878"/>
            <a:ext cx="1093305" cy="477079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E0E3AF-189A-46C9-92BB-E0A3698C1A52}"/>
              </a:ext>
            </a:extLst>
          </p:cNvPr>
          <p:cNvSpPr txBox="1"/>
          <p:nvPr/>
        </p:nvSpPr>
        <p:spPr>
          <a:xfrm>
            <a:off x="8249478" y="1093305"/>
            <a:ext cx="97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latin typeface="+mj-lt"/>
              </a:rPr>
              <a:t>dl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EA9D9C5-D678-4F88-9757-61524801E6A8}"/>
              </a:ext>
            </a:extLst>
          </p:cNvPr>
          <p:cNvSpPr/>
          <p:nvPr/>
        </p:nvSpPr>
        <p:spPr>
          <a:xfrm>
            <a:off x="7921255" y="161614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9FF476D-753D-487D-870B-6A1D2D2B1D2B}"/>
              </a:ext>
            </a:extLst>
          </p:cNvPr>
          <p:cNvSpPr/>
          <p:nvPr/>
        </p:nvSpPr>
        <p:spPr>
          <a:xfrm>
            <a:off x="9019953" y="113059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D30A0-14CE-4D63-BAB7-E49214C3054E}"/>
              </a:ext>
            </a:extLst>
          </p:cNvPr>
          <p:cNvSpPr txBox="1"/>
          <p:nvPr/>
        </p:nvSpPr>
        <p:spPr>
          <a:xfrm>
            <a:off x="7207457" y="1538885"/>
            <a:ext cx="2147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(</a:t>
            </a:r>
            <a:r>
              <a:rPr lang="en-IN" sz="1600" i="1" dirty="0">
                <a:latin typeface="+mj-lt"/>
              </a:rPr>
              <a:t>x</a:t>
            </a:r>
            <a:r>
              <a:rPr lang="en-IN" sz="1600" dirty="0">
                <a:latin typeface="+mj-lt"/>
              </a:rPr>
              <a:t>, </a:t>
            </a:r>
            <a:r>
              <a:rPr lang="en-IN" sz="1600" i="1" dirty="0">
                <a:latin typeface="+mj-lt"/>
              </a:rPr>
              <a:t>y</a:t>
            </a:r>
            <a:r>
              <a:rPr lang="en-IN" sz="1600" dirty="0">
                <a:latin typeface="+mj-lt"/>
              </a:rPr>
              <a:t>, </a:t>
            </a:r>
            <a:r>
              <a:rPr lang="en-IN" sz="1600" i="1" dirty="0">
                <a:latin typeface="+mj-lt"/>
              </a:rPr>
              <a:t>z</a:t>
            </a:r>
            <a:r>
              <a:rPr lang="en-IN" sz="1600" dirty="0">
                <a:latin typeface="+mj-lt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D3A26-C94B-4E3E-8FBD-8ACDAE219583}"/>
              </a:ext>
            </a:extLst>
          </p:cNvPr>
          <p:cNvSpPr txBox="1"/>
          <p:nvPr/>
        </p:nvSpPr>
        <p:spPr>
          <a:xfrm>
            <a:off x="8924261" y="790353"/>
            <a:ext cx="2147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(</a:t>
            </a:r>
            <a:r>
              <a:rPr lang="en-IN" sz="1600" i="1" dirty="0">
                <a:latin typeface="+mj-lt"/>
              </a:rPr>
              <a:t>x+dx</a:t>
            </a:r>
            <a:r>
              <a:rPr lang="en-IN" sz="1600" dirty="0">
                <a:latin typeface="+mj-lt"/>
              </a:rPr>
              <a:t>, </a:t>
            </a:r>
            <a:r>
              <a:rPr lang="en-IN" sz="1600" i="1" dirty="0">
                <a:latin typeface="+mj-lt"/>
              </a:rPr>
              <a:t>y+dy</a:t>
            </a:r>
            <a:r>
              <a:rPr lang="en-IN" sz="1600" dirty="0">
                <a:latin typeface="+mj-lt"/>
              </a:rPr>
              <a:t>, </a:t>
            </a:r>
            <a:r>
              <a:rPr lang="en-IN" sz="1600" i="1" dirty="0">
                <a:latin typeface="+mj-lt"/>
              </a:rPr>
              <a:t>z+dz</a:t>
            </a:r>
            <a:r>
              <a:rPr lang="en-IN" sz="1600" dirty="0">
                <a:latin typeface="+mj-lt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07E67F-8512-4AAA-B5C6-79EC6D35DDB4}"/>
              </a:ext>
            </a:extLst>
          </p:cNvPr>
          <p:cNvCxnSpPr/>
          <p:nvPr/>
        </p:nvCxnSpPr>
        <p:spPr>
          <a:xfrm flipV="1">
            <a:off x="7804298" y="616688"/>
            <a:ext cx="467832" cy="158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2F4FF6-A8AC-4571-8854-9CBD98D4A1CF}"/>
              </a:ext>
            </a:extLst>
          </p:cNvPr>
          <p:cNvCxnSpPr/>
          <p:nvPr/>
        </p:nvCxnSpPr>
        <p:spPr>
          <a:xfrm flipV="1">
            <a:off x="8241178" y="555728"/>
            <a:ext cx="467832" cy="158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E01ADD-AF63-4E51-A9A6-D0D0C28CC2A8}"/>
              </a:ext>
            </a:extLst>
          </p:cNvPr>
          <p:cNvCxnSpPr/>
          <p:nvPr/>
        </p:nvCxnSpPr>
        <p:spPr>
          <a:xfrm flipV="1">
            <a:off x="8637418" y="515088"/>
            <a:ext cx="467832" cy="158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70B2F8-9FB0-489F-8EA4-52A45E7870E2}"/>
              </a:ext>
            </a:extLst>
          </p:cNvPr>
          <p:cNvCxnSpPr/>
          <p:nvPr/>
        </p:nvCxnSpPr>
        <p:spPr>
          <a:xfrm flipV="1">
            <a:off x="9033658" y="433808"/>
            <a:ext cx="467832" cy="158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F569B7-F9E7-45C6-AAA7-37F97D685893}"/>
              </a:ext>
            </a:extLst>
          </p:cNvPr>
          <p:cNvSpPr txBox="1"/>
          <p:nvPr/>
        </p:nvSpPr>
        <p:spPr>
          <a:xfrm>
            <a:off x="8534400" y="223520"/>
            <a:ext cx="113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E</a:t>
            </a:r>
            <a:endParaRPr lang="en-IN" sz="20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99866-B39B-45C3-89B7-EC8B4A051169}"/>
              </a:ext>
            </a:extLst>
          </p:cNvPr>
          <p:cNvSpPr txBox="1"/>
          <p:nvPr/>
        </p:nvSpPr>
        <p:spPr>
          <a:xfrm>
            <a:off x="802640" y="2346960"/>
            <a:ext cx="348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Since </a:t>
            </a:r>
            <a:r>
              <a:rPr lang="en-IN" i="1" dirty="0">
                <a:latin typeface="+mj-lt"/>
              </a:rPr>
              <a:t>dV</a:t>
            </a:r>
            <a:r>
              <a:rPr lang="en-IN" dirty="0">
                <a:latin typeface="+mj-lt"/>
              </a:rPr>
              <a:t> = - </a:t>
            </a:r>
            <a:r>
              <a:rPr lang="en-IN" b="1" dirty="0">
                <a:latin typeface="+mj-lt"/>
              </a:rPr>
              <a:t>E</a:t>
            </a:r>
            <a:r>
              <a:rPr lang="en-IN" dirty="0">
                <a:latin typeface="+mj-lt"/>
              </a:rPr>
              <a:t> . </a:t>
            </a:r>
            <a:r>
              <a:rPr lang="en-IN" b="1" i="1" dirty="0">
                <a:latin typeface="+mj-lt"/>
              </a:rPr>
              <a:t>dl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D9D7D9-94F8-471C-B7AF-C849B547B304}"/>
                  </a:ext>
                </a:extLst>
              </p:cNvPr>
              <p:cNvSpPr txBox="1"/>
              <p:nvPr/>
            </p:nvSpPr>
            <p:spPr>
              <a:xfrm>
                <a:off x="3073621" y="2291080"/>
                <a:ext cx="4561840" cy="468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(Recall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D9D7D9-94F8-471C-B7AF-C849B547B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621" y="2291080"/>
                <a:ext cx="4561840" cy="468333"/>
              </a:xfrm>
              <a:prstGeom prst="rect">
                <a:avLst/>
              </a:prstGeom>
              <a:blipFill>
                <a:blip r:embed="rId5"/>
                <a:stretch>
                  <a:fillRect l="-1068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E0FC24-339E-445D-BD00-9C1963B5963F}"/>
                  </a:ext>
                </a:extLst>
              </p:cNvPr>
              <p:cNvSpPr txBox="1"/>
              <p:nvPr/>
            </p:nvSpPr>
            <p:spPr>
              <a:xfrm>
                <a:off x="294640" y="3108960"/>
                <a:ext cx="688848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dV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E0FC24-339E-445D-BD00-9C1963B59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" y="3108960"/>
                <a:ext cx="6888480" cy="530530"/>
              </a:xfrm>
              <a:prstGeom prst="rect">
                <a:avLst/>
              </a:prstGeom>
              <a:blipFill>
                <a:blip r:embed="rId6"/>
                <a:stretch>
                  <a:fillRect l="-708" b="-11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675EC60-49DB-49DB-AA47-7FAA30072594}"/>
              </a:ext>
            </a:extLst>
          </p:cNvPr>
          <p:cNvSpPr txBox="1"/>
          <p:nvPr/>
        </p:nvSpPr>
        <p:spPr>
          <a:xfrm>
            <a:off x="8401657" y="1492636"/>
            <a:ext cx="394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+mj-lt"/>
              </a:rPr>
              <a:t>dV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8C476A8-0B97-4B47-9D9E-261D208327EC}"/>
              </a:ext>
            </a:extLst>
          </p:cNvPr>
          <p:cNvCxnSpPr>
            <a:cxnSpLocks/>
          </p:cNvCxnSpPr>
          <p:nvPr/>
        </p:nvCxnSpPr>
        <p:spPr>
          <a:xfrm flipV="1">
            <a:off x="8776252" y="1391478"/>
            <a:ext cx="496957" cy="228603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0952A3-C217-4DC6-B5E3-528D14E0A5BF}"/>
              </a:ext>
            </a:extLst>
          </p:cNvPr>
          <p:cNvCxnSpPr>
            <a:cxnSpLocks/>
          </p:cNvCxnSpPr>
          <p:nvPr/>
        </p:nvCxnSpPr>
        <p:spPr>
          <a:xfrm flipH="1">
            <a:off x="7991061" y="1762543"/>
            <a:ext cx="470453" cy="215344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1554224-C3A3-4A30-ABD8-7FC5D4B8E350}"/>
                  </a:ext>
                </a:extLst>
              </p:cNvPr>
              <p:cNvSpPr txBox="1"/>
              <p:nvPr/>
            </p:nvSpPr>
            <p:spPr>
              <a:xfrm>
                <a:off x="3108960" y="3180080"/>
                <a:ext cx="7498080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 [(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</a:t>
                </a:r>
                <a:r>
                  <a:rPr lang="en-IN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) 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+</a:t>
                </a:r>
                <a:r>
                  <a:rPr lang="en-I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)]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1554224-C3A3-4A30-ABD8-7FC5D4B8E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0" y="3180080"/>
                <a:ext cx="7498080" cy="391261"/>
              </a:xfrm>
              <a:prstGeom prst="rect">
                <a:avLst/>
              </a:prstGeom>
              <a:blipFill>
                <a:blip r:embed="rId9"/>
                <a:stretch>
                  <a:fillRect l="-650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412B9D6-49CB-438E-967D-BC9A55F6079A}"/>
                  </a:ext>
                </a:extLst>
              </p:cNvPr>
              <p:cNvSpPr txBox="1"/>
              <p:nvPr/>
            </p:nvSpPr>
            <p:spPr>
              <a:xfrm>
                <a:off x="3159760" y="3820160"/>
                <a:ext cx="5537200" cy="39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-</a:t>
                </a:r>
                <a:r>
                  <a:rPr lang="en-IN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412B9D6-49CB-438E-967D-BC9A55F6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760" y="3820160"/>
                <a:ext cx="5537200" cy="394788"/>
              </a:xfrm>
              <a:prstGeom prst="rect">
                <a:avLst/>
              </a:prstGeom>
              <a:blipFill>
                <a:blip r:embed="rId8"/>
                <a:stretch>
                  <a:fillRect l="-880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E3584968-E857-4678-B8DB-34B29AF6326F}"/>
              </a:ext>
            </a:extLst>
          </p:cNvPr>
          <p:cNvSpPr txBox="1"/>
          <p:nvPr/>
        </p:nvSpPr>
        <p:spPr>
          <a:xfrm>
            <a:off x="548640" y="4521200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Hence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1F3028-1502-47E0-B093-9982B19BAE18}"/>
                  </a:ext>
                </a:extLst>
              </p:cNvPr>
              <p:cNvSpPr txBox="1"/>
              <p:nvPr/>
            </p:nvSpPr>
            <p:spPr>
              <a:xfrm>
                <a:off x="1625600" y="4836160"/>
                <a:ext cx="1849120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1F3028-1502-47E0-B093-9982B19BA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4836160"/>
                <a:ext cx="1849120" cy="499560"/>
              </a:xfrm>
              <a:prstGeom prst="rect">
                <a:avLst/>
              </a:prstGeom>
              <a:blipFill>
                <a:blip r:embed="rId10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083DC6-F06B-4EC3-8664-9D19F3FF9A62}"/>
                  </a:ext>
                </a:extLst>
              </p:cNvPr>
              <p:cNvSpPr txBox="1"/>
              <p:nvPr/>
            </p:nvSpPr>
            <p:spPr>
              <a:xfrm>
                <a:off x="3749040" y="4805680"/>
                <a:ext cx="184912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083DC6-F06B-4EC3-8664-9D19F3FF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0" y="4805680"/>
                <a:ext cx="1849120" cy="530530"/>
              </a:xfrm>
              <a:prstGeom prst="rect">
                <a:avLst/>
              </a:prstGeom>
              <a:blipFill>
                <a:blip r:embed="rId11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8286BAD-1B1B-414B-9668-5E99A11439A6}"/>
                  </a:ext>
                </a:extLst>
              </p:cNvPr>
              <p:cNvSpPr txBox="1"/>
              <p:nvPr/>
            </p:nvSpPr>
            <p:spPr>
              <a:xfrm>
                <a:off x="6146800" y="4866640"/>
                <a:ext cx="1849120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8286BAD-1B1B-414B-9668-5E99A1143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800" y="4866640"/>
                <a:ext cx="1849120" cy="499560"/>
              </a:xfrm>
              <a:prstGeom prst="rect">
                <a:avLst/>
              </a:prstGeom>
              <a:blipFill>
                <a:blip r:embed="rId12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F1E749-9306-4423-B763-A30790D534A8}"/>
                  </a:ext>
                </a:extLst>
              </p:cNvPr>
              <p:cNvSpPr txBox="1"/>
              <p:nvPr/>
            </p:nvSpPr>
            <p:spPr>
              <a:xfrm>
                <a:off x="508000" y="5730240"/>
                <a:ext cx="3434080" cy="39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Since </a:t>
                </a:r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</a:t>
                </a:r>
                <a:r>
                  <a:rPr lang="en-IN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F1E749-9306-4423-B763-A30790D53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5730240"/>
                <a:ext cx="3434080" cy="394788"/>
              </a:xfrm>
              <a:prstGeom prst="rect">
                <a:avLst/>
              </a:prstGeom>
              <a:blipFill>
                <a:blip r:embed="rId13"/>
                <a:stretch>
                  <a:fillRect l="-1418" t="-7692"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F4C89F-E1EF-443E-9F4E-B9D980C34703}"/>
                  </a:ext>
                </a:extLst>
              </p:cNvPr>
              <p:cNvSpPr txBox="1"/>
              <p:nvPr/>
            </p:nvSpPr>
            <p:spPr>
              <a:xfrm>
                <a:off x="3810000" y="5720080"/>
                <a:ext cx="481584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 =  -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F4C89F-E1EF-443E-9F4E-B9D980C34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720080"/>
                <a:ext cx="4815840" cy="530530"/>
              </a:xfrm>
              <a:prstGeom prst="rect">
                <a:avLst/>
              </a:prstGeom>
              <a:blipFill>
                <a:blip r:embed="rId1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13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 animBg="1"/>
      <p:bldP spid="11" grpId="0" animBg="1"/>
      <p:bldP spid="12" grpId="0"/>
      <p:bldP spid="13" grpId="0"/>
      <p:bldP spid="19" grpId="0"/>
      <p:bldP spid="20" grpId="0"/>
      <p:bldP spid="21" grpId="0"/>
      <p:bldP spid="22" grpId="0"/>
      <p:bldP spid="23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69882-6872-4F8B-8AA4-AEAE0DDEA4B5}"/>
                  </a:ext>
                </a:extLst>
              </p:cNvPr>
              <p:cNvSpPr txBox="1"/>
              <p:nvPr/>
            </p:nvSpPr>
            <p:spPr>
              <a:xfrm>
                <a:off x="1178560" y="548640"/>
                <a:ext cx="7142480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- grad </a:t>
                </a:r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69882-6872-4F8B-8AA4-AEAE0DDEA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60" y="548640"/>
                <a:ext cx="7142480" cy="491288"/>
              </a:xfrm>
              <a:prstGeom prst="rect">
                <a:avLst/>
              </a:prstGeom>
              <a:blipFill>
                <a:blip r:embed="rId4"/>
                <a:stretch>
                  <a:fillRect l="-683" b="-6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EB1291C-CD0C-4BFF-9ACA-2A1F6D07AC75}"/>
              </a:ext>
            </a:extLst>
          </p:cNvPr>
          <p:cNvSpPr txBox="1"/>
          <p:nvPr/>
        </p:nvSpPr>
        <p:spPr>
          <a:xfrm>
            <a:off x="355600" y="1188720"/>
            <a:ext cx="527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Hence</a:t>
            </a:r>
            <a:endParaRPr lang="en-IN" i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60308-B931-426A-B231-B45B9FF94091}"/>
              </a:ext>
            </a:extLst>
          </p:cNvPr>
          <p:cNvSpPr txBox="1"/>
          <p:nvPr/>
        </p:nvSpPr>
        <p:spPr>
          <a:xfrm>
            <a:off x="457200" y="213360"/>
            <a:ext cx="714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Also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8455E-B471-48AD-8DD5-45C9A2FFEA39}"/>
                  </a:ext>
                </a:extLst>
              </p:cNvPr>
              <p:cNvSpPr txBox="1"/>
              <p:nvPr/>
            </p:nvSpPr>
            <p:spPr>
              <a:xfrm>
                <a:off x="1137920" y="1574800"/>
                <a:ext cx="527304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grad </a:t>
                </a:r>
                <a:r>
                  <a:rPr lang="en-IN" i="1" dirty="0">
                    <a:latin typeface="+mj-lt"/>
                  </a:rPr>
                  <a:t>V </a:t>
                </a:r>
                <a:r>
                  <a:rPr lang="en-IN" dirty="0">
                    <a:latin typeface="+mj-lt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8455E-B471-48AD-8DD5-45C9A2FFE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" y="1574800"/>
                <a:ext cx="5273040" cy="530530"/>
              </a:xfrm>
              <a:prstGeom prst="rect">
                <a:avLst/>
              </a:prstGeom>
              <a:blipFill>
                <a:blip r:embed="rId5"/>
                <a:stretch>
                  <a:fillRect l="-1040"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0E3B79-B586-47FB-AA7B-8EF887901766}"/>
                  </a:ext>
                </a:extLst>
              </p:cNvPr>
              <p:cNvSpPr txBox="1"/>
              <p:nvPr/>
            </p:nvSpPr>
            <p:spPr>
              <a:xfrm>
                <a:off x="1849120" y="2306320"/>
                <a:ext cx="609600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) </a:t>
                </a:r>
                <a:r>
                  <a:rPr lang="en-IN" i="1" dirty="0">
                    <a:latin typeface="+mj-lt"/>
                  </a:rPr>
                  <a:t>V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0E3B79-B586-47FB-AA7B-8EF887901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20" y="2306320"/>
                <a:ext cx="6096000" cy="530530"/>
              </a:xfrm>
              <a:prstGeom prst="rect">
                <a:avLst/>
              </a:prstGeom>
              <a:blipFill>
                <a:blip r:embed="rId6"/>
                <a:stretch>
                  <a:fillRect l="-800"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9841B-D5F2-479C-BBC4-E7C70B4D6AF4}"/>
                  </a:ext>
                </a:extLst>
              </p:cNvPr>
              <p:cNvSpPr txBox="1"/>
              <p:nvPr/>
            </p:nvSpPr>
            <p:spPr>
              <a:xfrm>
                <a:off x="1910080" y="3078480"/>
                <a:ext cx="490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>
                    <a:latin typeface="+mj-lt"/>
                  </a:rPr>
                  <a:t>V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9841B-D5F2-479C-BBC4-E7C70B4D6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80" y="3078480"/>
                <a:ext cx="4907280" cy="369332"/>
              </a:xfrm>
              <a:prstGeom prst="rect">
                <a:avLst/>
              </a:prstGeom>
              <a:blipFill>
                <a:blip r:embed="rId7"/>
                <a:stretch>
                  <a:fillRect l="-99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3B0D33C-C06A-47D4-8DA9-F5ACEBAA666D}"/>
              </a:ext>
            </a:extLst>
          </p:cNvPr>
          <p:cNvSpPr txBox="1"/>
          <p:nvPr/>
        </p:nvSpPr>
        <p:spPr>
          <a:xfrm>
            <a:off x="589280" y="3718560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Finally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DF72F3-C19E-4B43-AABC-7C482FDA4F27}"/>
                  </a:ext>
                </a:extLst>
              </p:cNvPr>
              <p:cNvSpPr txBox="1"/>
              <p:nvPr/>
            </p:nvSpPr>
            <p:spPr>
              <a:xfrm>
                <a:off x="1422400" y="4033520"/>
                <a:ext cx="6309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- grad </a:t>
                </a:r>
                <a:r>
                  <a:rPr lang="en-IN" i="1" dirty="0">
                    <a:latin typeface="+mj-lt"/>
                  </a:rPr>
                  <a:t>V</a:t>
                </a:r>
                <a:r>
                  <a:rPr lang="en-IN" dirty="0">
                    <a:latin typeface="+mj-lt"/>
                  </a:rPr>
                  <a:t> =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>
                    <a:latin typeface="+mj-lt"/>
                  </a:rPr>
                  <a:t>V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DF72F3-C19E-4B43-AABC-7C482FDA4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00" y="4033520"/>
                <a:ext cx="6309360" cy="369332"/>
              </a:xfrm>
              <a:prstGeom prst="rect">
                <a:avLst/>
              </a:prstGeom>
              <a:blipFill>
                <a:blip r:embed="rId9"/>
                <a:stretch>
                  <a:fillRect l="-77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52901D-D674-4AB2-81C8-9563A0D709A9}"/>
              </a:ext>
            </a:extLst>
          </p:cNvPr>
          <p:cNvSpPr/>
          <p:nvPr/>
        </p:nvSpPr>
        <p:spPr>
          <a:xfrm>
            <a:off x="1452880" y="4003696"/>
            <a:ext cx="1899920" cy="3962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0F16E-288E-4829-9ECF-41D1E6F33030}"/>
              </a:ext>
            </a:extLst>
          </p:cNvPr>
          <p:cNvSpPr txBox="1"/>
          <p:nvPr/>
        </p:nvSpPr>
        <p:spPr>
          <a:xfrm>
            <a:off x="528320" y="4765040"/>
            <a:ext cx="77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+mj-lt"/>
              </a:rPr>
              <a:t>Note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6A9D08-09F1-49D6-9B29-EBD1E5273E69}"/>
                  </a:ext>
                </a:extLst>
              </p:cNvPr>
              <p:cNvSpPr txBox="1"/>
              <p:nvPr/>
            </p:nvSpPr>
            <p:spPr>
              <a:xfrm>
                <a:off x="1899920" y="4704080"/>
                <a:ext cx="6360160" cy="531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grad </a:t>
                </a:r>
                <a:r>
                  <a:rPr lang="en-IN" i="1" dirty="0">
                    <a:latin typeface="+mj-lt"/>
                  </a:rPr>
                  <a:t>V </a:t>
                </a:r>
                <a:r>
                  <a:rPr lang="en-IN" dirty="0">
                    <a:latin typeface="+mj-lt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           	            Rectangular</a:t>
                </a:r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6A9D08-09F1-49D6-9B29-EBD1E5273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920" y="4704080"/>
                <a:ext cx="6360160" cy="531620"/>
              </a:xfrm>
              <a:prstGeom prst="rect">
                <a:avLst/>
              </a:prstGeom>
              <a:blipFill>
                <a:blip r:embed="rId10"/>
                <a:stretch>
                  <a:fillRect l="-863"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F1BD8A-C8C8-49FE-995E-103C632FE757}"/>
                  </a:ext>
                </a:extLst>
              </p:cNvPr>
              <p:cNvSpPr txBox="1"/>
              <p:nvPr/>
            </p:nvSpPr>
            <p:spPr>
              <a:xfrm>
                <a:off x="2580640" y="5384800"/>
                <a:ext cx="654304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  	   	Cylindrical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F1BD8A-C8C8-49FE-995E-103C632FE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5384800"/>
                <a:ext cx="6543040" cy="530530"/>
              </a:xfrm>
              <a:prstGeom prst="rect">
                <a:avLst/>
              </a:prstGeom>
              <a:blipFill>
                <a:blip r:embed="rId11"/>
                <a:stretch>
                  <a:fillRect l="-745" b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6AF1EA-021E-4696-8D20-7A528029D6CE}"/>
                  </a:ext>
                </a:extLst>
              </p:cNvPr>
              <p:cNvSpPr txBox="1"/>
              <p:nvPr/>
            </p:nvSpPr>
            <p:spPr>
              <a:xfrm>
                <a:off x="2550160" y="6187440"/>
                <a:ext cx="6380480" cy="533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  	Spherical	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6AF1EA-021E-4696-8D20-7A528029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160" y="6187440"/>
                <a:ext cx="6380480" cy="533288"/>
              </a:xfrm>
              <a:prstGeom prst="rect">
                <a:avLst/>
              </a:prstGeom>
              <a:blipFill>
                <a:blip r:embed="rId12"/>
                <a:stretch>
                  <a:fillRect l="-764" b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47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4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9B8FB-4EA6-486D-A8D8-66F9C5AE25FB}"/>
              </a:ext>
            </a:extLst>
          </p:cNvPr>
          <p:cNvSpPr txBox="1"/>
          <p:nvPr/>
        </p:nvSpPr>
        <p:spPr>
          <a:xfrm>
            <a:off x="274320" y="386080"/>
            <a:ext cx="844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Energy Density in Electrostatic Field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F509C9-3071-41A1-9341-38FB039AB8FF}"/>
              </a:ext>
            </a:extLst>
          </p:cNvPr>
          <p:cNvCxnSpPr/>
          <p:nvPr/>
        </p:nvCxnSpPr>
        <p:spPr>
          <a:xfrm flipV="1">
            <a:off x="8001001" y="874644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873A4F-1851-4D46-A7F5-742BCCCFF997}"/>
              </a:ext>
            </a:extLst>
          </p:cNvPr>
          <p:cNvCxnSpPr/>
          <p:nvPr/>
        </p:nvCxnSpPr>
        <p:spPr>
          <a:xfrm flipV="1">
            <a:off x="8352183" y="937591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7001D1-FCEC-4A30-8B9A-53BB1CD1F030}"/>
              </a:ext>
            </a:extLst>
          </p:cNvPr>
          <p:cNvCxnSpPr/>
          <p:nvPr/>
        </p:nvCxnSpPr>
        <p:spPr>
          <a:xfrm flipV="1">
            <a:off x="8673548" y="950844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77686B-35DB-4117-8DB6-8193AB75FD61}"/>
              </a:ext>
            </a:extLst>
          </p:cNvPr>
          <p:cNvCxnSpPr/>
          <p:nvPr/>
        </p:nvCxnSpPr>
        <p:spPr>
          <a:xfrm flipV="1">
            <a:off x="8994913" y="993913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FE359E-9ABA-4172-AC9E-DC14B00CDCB5}"/>
              </a:ext>
            </a:extLst>
          </p:cNvPr>
          <p:cNvCxnSpPr/>
          <p:nvPr/>
        </p:nvCxnSpPr>
        <p:spPr>
          <a:xfrm flipV="1">
            <a:off x="9395792" y="1046922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B97A44-CF70-43B5-98A5-4A3066809CD4}"/>
              </a:ext>
            </a:extLst>
          </p:cNvPr>
          <p:cNvCxnSpPr/>
          <p:nvPr/>
        </p:nvCxnSpPr>
        <p:spPr>
          <a:xfrm flipV="1">
            <a:off x="9866243" y="1080053"/>
            <a:ext cx="785191" cy="147099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A20AD6-0F10-43E7-AC17-D7851CE786BC}"/>
              </a:ext>
            </a:extLst>
          </p:cNvPr>
          <p:cNvSpPr txBox="1"/>
          <p:nvPr/>
        </p:nvSpPr>
        <p:spPr>
          <a:xfrm>
            <a:off x="9243391" y="616226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+mj-lt"/>
              </a:rPr>
              <a:t>E</a:t>
            </a:r>
            <a:endParaRPr lang="en-IN" b="1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375BA4-2BED-4684-91C2-896B554F0D2E}"/>
                  </a:ext>
                </a:extLst>
              </p:cNvPr>
              <p:cNvSpPr txBox="1"/>
              <p:nvPr/>
            </p:nvSpPr>
            <p:spPr>
              <a:xfrm>
                <a:off x="467360" y="1371600"/>
                <a:ext cx="5008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Energy Density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b="1" dirty="0">
                    <a:latin typeface="+mj-lt"/>
                  </a:rPr>
                  <a:t>D.E   </a:t>
                </a:r>
                <a:r>
                  <a:rPr lang="en-IN" dirty="0">
                    <a:latin typeface="+mj-lt"/>
                  </a:rPr>
                  <a:t>J/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375BA4-2BED-4684-91C2-896B554F0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1371600"/>
                <a:ext cx="5008880" cy="369332"/>
              </a:xfrm>
              <a:prstGeom prst="rect">
                <a:avLst/>
              </a:prstGeom>
              <a:blipFill>
                <a:blip r:embed="rId2"/>
                <a:stretch>
                  <a:fillRect l="-1096" t="-114754" b="-1770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be 12">
            <a:extLst>
              <a:ext uri="{FF2B5EF4-FFF2-40B4-BE49-F238E27FC236}">
                <a16:creationId xmlns:a16="http://schemas.microsoft.com/office/drawing/2014/main" id="{B8080988-ECD2-4A34-AADB-B73E67F11307}"/>
              </a:ext>
            </a:extLst>
          </p:cNvPr>
          <p:cNvSpPr/>
          <p:nvPr/>
        </p:nvSpPr>
        <p:spPr>
          <a:xfrm>
            <a:off x="9692640" y="2062480"/>
            <a:ext cx="304800" cy="254000"/>
          </a:xfrm>
          <a:prstGeom prst="cube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42B5F-1713-49B0-9E5F-AEDBC183C3EE}"/>
              </a:ext>
            </a:extLst>
          </p:cNvPr>
          <p:cNvSpPr txBox="1"/>
          <p:nvPr/>
        </p:nvSpPr>
        <p:spPr>
          <a:xfrm>
            <a:off x="507117" y="2522551"/>
            <a:ext cx="69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find the Total Energy Stored in the Field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E4FD7D-8975-4876-ACEC-51698A4668F2}"/>
              </a:ext>
            </a:extLst>
          </p:cNvPr>
          <p:cNvSpPr txBox="1"/>
          <p:nvPr/>
        </p:nvSpPr>
        <p:spPr>
          <a:xfrm>
            <a:off x="1500808" y="3171466"/>
            <a:ext cx="539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the differential volume element, </a:t>
            </a:r>
            <a:r>
              <a:rPr lang="en-IN" i="1" dirty="0">
                <a:latin typeface="+mj-lt"/>
              </a:rPr>
              <a:t>dv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65F3B-0E90-44BE-9EE9-616B4E3ED1E0}"/>
              </a:ext>
            </a:extLst>
          </p:cNvPr>
          <p:cNvSpPr txBox="1"/>
          <p:nvPr/>
        </p:nvSpPr>
        <p:spPr>
          <a:xfrm>
            <a:off x="9994605" y="2083982"/>
            <a:ext cx="171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+mj-lt"/>
              </a:rPr>
              <a:t>dv</a:t>
            </a:r>
            <a:endParaRPr lang="en-IN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B63C99-9390-440F-AFAA-097B5DEADDA8}"/>
                  </a:ext>
                </a:extLst>
              </p:cNvPr>
              <p:cNvSpPr txBox="1"/>
              <p:nvPr/>
            </p:nvSpPr>
            <p:spPr>
              <a:xfrm>
                <a:off x="910620" y="4003276"/>
                <a:ext cx="63901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Energy Stored in </a:t>
                </a:r>
                <a:r>
                  <a:rPr lang="en-IN" i="1" dirty="0">
                    <a:latin typeface="+mj-lt"/>
                  </a:rPr>
                  <a:t>dv</a:t>
                </a:r>
                <a:r>
                  <a:rPr lang="en-IN" dirty="0">
                    <a:latin typeface="+mj-lt"/>
                  </a:rPr>
                  <a:t> Units of volume  =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b="1" dirty="0">
                    <a:latin typeface="+mj-lt"/>
                  </a:rPr>
                  <a:t>D.E </a:t>
                </a:r>
                <a:r>
                  <a:rPr lang="en-IN" dirty="0">
                    <a:latin typeface="+mj-lt"/>
                  </a:rPr>
                  <a:t>)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B63C99-9390-440F-AFAA-097B5DEA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20" y="4003276"/>
                <a:ext cx="6390167" cy="369332"/>
              </a:xfrm>
              <a:prstGeom prst="rect">
                <a:avLst/>
              </a:prstGeom>
              <a:blipFill>
                <a:blip r:embed="rId3"/>
                <a:stretch>
                  <a:fillRect l="-763" t="-116667" b="-18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AC837E-4F58-46C0-A5D8-989854D10AC3}"/>
                  </a:ext>
                </a:extLst>
              </p:cNvPr>
              <p:cNvSpPr txBox="1"/>
              <p:nvPr/>
            </p:nvSpPr>
            <p:spPr>
              <a:xfrm>
                <a:off x="914400" y="4612640"/>
                <a:ext cx="7650480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Energy Stored in the Total Field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dirty="0">
                            <a:latin typeface="+mj-lt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dirty="0">
                            <a:latin typeface="+mj-lt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IN" i="1" dirty="0">
                            <a:latin typeface="+mj-lt"/>
                          </a:rPr>
                          <m:t>dv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AC837E-4F58-46C0-A5D8-989854D10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612640"/>
                <a:ext cx="7650480" cy="413575"/>
              </a:xfrm>
              <a:prstGeom prst="rect">
                <a:avLst/>
              </a:prstGeom>
              <a:blipFill>
                <a:blip r:embed="rId4"/>
                <a:stretch>
                  <a:fillRect l="-637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D7371F-2E33-4764-BB96-7575ED3DA4F9}"/>
                  </a:ext>
                </a:extLst>
              </p:cNvPr>
              <p:cNvSpPr txBox="1"/>
              <p:nvPr/>
            </p:nvSpPr>
            <p:spPr>
              <a:xfrm>
                <a:off x="1950720" y="1849120"/>
                <a:ext cx="418592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>
                    <a:latin typeface="+mj-lt"/>
                  </a:rPr>
                  <a:t> J/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>
                    <a:latin typeface="+mj-lt"/>
                  </a:rPr>
                  <a:t>  (Since 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b="1" dirty="0">
                    <a:latin typeface="+mj-lt"/>
                  </a:rPr>
                  <a:t>E </a:t>
                </a:r>
                <a:r>
                  <a:rPr lang="en-IN" dirty="0">
                    <a:latin typeface="+mj-lt"/>
                  </a:rPr>
                  <a:t>)</a:t>
                </a:r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D7371F-2E33-4764-BB96-7575ED3DA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1849120"/>
                <a:ext cx="4185920" cy="375552"/>
              </a:xfrm>
              <a:prstGeom prst="rect">
                <a:avLst/>
              </a:prstGeom>
              <a:blipFill>
                <a:blip r:embed="rId5"/>
                <a:stretch>
                  <a:fillRect l="-1456" t="-111290" b="-17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26F979-DF5C-47A6-B74B-A226672B0995}"/>
                  </a:ext>
                </a:extLst>
              </p:cNvPr>
              <p:cNvSpPr txBox="1"/>
              <p:nvPr/>
            </p:nvSpPr>
            <p:spPr>
              <a:xfrm>
                <a:off x="3891280" y="5283200"/>
                <a:ext cx="3505200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f>
                          <m:fPr>
                            <m:type m:val="skw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26F979-DF5C-47A6-B74B-A226672B0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280" y="5283200"/>
                <a:ext cx="3505200" cy="413575"/>
              </a:xfrm>
              <a:prstGeom prst="rect">
                <a:avLst/>
              </a:prstGeom>
              <a:blipFill>
                <a:blip r:embed="rId6"/>
                <a:stretch>
                  <a:fillRect l="-6435" t="-130882" b="-192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E088E56B-5F23-4CFF-A6B3-63A9014091C1}"/>
              </a:ext>
            </a:extLst>
          </p:cNvPr>
          <p:cNvSpPr/>
          <p:nvPr/>
        </p:nvSpPr>
        <p:spPr>
          <a:xfrm>
            <a:off x="7849040" y="615596"/>
            <a:ext cx="3079108" cy="2739583"/>
          </a:xfrm>
          <a:custGeom>
            <a:avLst/>
            <a:gdLst>
              <a:gd name="connsiteX0" fmla="*/ 0 w 2489200"/>
              <a:gd name="connsiteY0" fmla="*/ 843280 h 1686560"/>
              <a:gd name="connsiteX1" fmla="*/ 1244600 w 2489200"/>
              <a:gd name="connsiteY1" fmla="*/ 0 h 1686560"/>
              <a:gd name="connsiteX2" fmla="*/ 2489200 w 2489200"/>
              <a:gd name="connsiteY2" fmla="*/ 843280 h 1686560"/>
              <a:gd name="connsiteX3" fmla="*/ 1244600 w 2489200"/>
              <a:gd name="connsiteY3" fmla="*/ 1686560 h 1686560"/>
              <a:gd name="connsiteX4" fmla="*/ 0 w 2489200"/>
              <a:gd name="connsiteY4" fmla="*/ 843280 h 1686560"/>
              <a:gd name="connsiteX0" fmla="*/ 365 w 2489565"/>
              <a:gd name="connsiteY0" fmla="*/ 843280 h 1534160"/>
              <a:gd name="connsiteX1" fmla="*/ 1244965 w 2489565"/>
              <a:gd name="connsiteY1" fmla="*/ 0 h 1534160"/>
              <a:gd name="connsiteX2" fmla="*/ 2489565 w 2489565"/>
              <a:gd name="connsiteY2" fmla="*/ 843280 h 1534160"/>
              <a:gd name="connsiteX3" fmla="*/ 1346565 w 2489565"/>
              <a:gd name="connsiteY3" fmla="*/ 1534160 h 1534160"/>
              <a:gd name="connsiteX4" fmla="*/ 365 w 2489565"/>
              <a:gd name="connsiteY4" fmla="*/ 843280 h 1534160"/>
              <a:gd name="connsiteX0" fmla="*/ 873 w 2490073"/>
              <a:gd name="connsiteY0" fmla="*/ 418055 h 1108935"/>
              <a:gd name="connsiteX1" fmla="*/ 1519793 w 2490073"/>
              <a:gd name="connsiteY1" fmla="*/ 1495 h 1108935"/>
              <a:gd name="connsiteX2" fmla="*/ 2490073 w 2490073"/>
              <a:gd name="connsiteY2" fmla="*/ 418055 h 1108935"/>
              <a:gd name="connsiteX3" fmla="*/ 1347073 w 2490073"/>
              <a:gd name="connsiteY3" fmla="*/ 1108935 h 1108935"/>
              <a:gd name="connsiteX4" fmla="*/ 873 w 2490073"/>
              <a:gd name="connsiteY4" fmla="*/ 418055 h 1108935"/>
              <a:gd name="connsiteX0" fmla="*/ 628 w 2439028"/>
              <a:gd name="connsiteY0" fmla="*/ 718398 h 1417818"/>
              <a:gd name="connsiteX1" fmla="*/ 1519548 w 2439028"/>
              <a:gd name="connsiteY1" fmla="*/ 301838 h 1417818"/>
              <a:gd name="connsiteX2" fmla="*/ 2439028 w 2439028"/>
              <a:gd name="connsiteY2" fmla="*/ 200238 h 1417818"/>
              <a:gd name="connsiteX3" fmla="*/ 1346828 w 2439028"/>
              <a:gd name="connsiteY3" fmla="*/ 1409278 h 1417818"/>
              <a:gd name="connsiteX4" fmla="*/ 628 w 2439028"/>
              <a:gd name="connsiteY4" fmla="*/ 718398 h 1417818"/>
              <a:gd name="connsiteX0" fmla="*/ 13687 w 2452087"/>
              <a:gd name="connsiteY0" fmla="*/ 1060488 h 1761439"/>
              <a:gd name="connsiteX1" fmla="*/ 770607 w 2452087"/>
              <a:gd name="connsiteY1" fmla="*/ 24168 h 1761439"/>
              <a:gd name="connsiteX2" fmla="*/ 2452087 w 2452087"/>
              <a:gd name="connsiteY2" fmla="*/ 542328 h 1761439"/>
              <a:gd name="connsiteX3" fmla="*/ 1359887 w 2452087"/>
              <a:gd name="connsiteY3" fmla="*/ 1751368 h 1761439"/>
              <a:gd name="connsiteX4" fmla="*/ 13687 w 2452087"/>
              <a:gd name="connsiteY4" fmla="*/ 1060488 h 1761439"/>
              <a:gd name="connsiteX0" fmla="*/ 42330 w 2480730"/>
              <a:gd name="connsiteY0" fmla="*/ 1060488 h 1932100"/>
              <a:gd name="connsiteX1" fmla="*/ 799250 w 2480730"/>
              <a:gd name="connsiteY1" fmla="*/ 24168 h 1932100"/>
              <a:gd name="connsiteX2" fmla="*/ 2480730 w 2480730"/>
              <a:gd name="connsiteY2" fmla="*/ 542328 h 1932100"/>
              <a:gd name="connsiteX3" fmla="*/ 1998130 w 2480730"/>
              <a:gd name="connsiteY3" fmla="*/ 1924088 h 1932100"/>
              <a:gd name="connsiteX4" fmla="*/ 42330 w 2480730"/>
              <a:gd name="connsiteY4" fmla="*/ 1060488 h 1932100"/>
              <a:gd name="connsiteX0" fmla="*/ 31306 w 2774506"/>
              <a:gd name="connsiteY0" fmla="*/ 1308994 h 1960849"/>
              <a:gd name="connsiteX1" fmla="*/ 1093026 w 2774506"/>
              <a:gd name="connsiteY1" fmla="*/ 38994 h 1960849"/>
              <a:gd name="connsiteX2" fmla="*/ 2774506 w 2774506"/>
              <a:gd name="connsiteY2" fmla="*/ 557154 h 1960849"/>
              <a:gd name="connsiteX3" fmla="*/ 2291906 w 2774506"/>
              <a:gd name="connsiteY3" fmla="*/ 1938914 h 1960849"/>
              <a:gd name="connsiteX4" fmla="*/ 31306 w 2774506"/>
              <a:gd name="connsiteY4" fmla="*/ 1308994 h 1960849"/>
              <a:gd name="connsiteX0" fmla="*/ 48520 w 2375160"/>
              <a:gd name="connsiteY0" fmla="*/ 1330641 h 1963986"/>
              <a:gd name="connsiteX1" fmla="*/ 693680 w 2375160"/>
              <a:gd name="connsiteY1" fmla="*/ 40321 h 1963986"/>
              <a:gd name="connsiteX2" fmla="*/ 2375160 w 2375160"/>
              <a:gd name="connsiteY2" fmla="*/ 558481 h 1963986"/>
              <a:gd name="connsiteX3" fmla="*/ 1892560 w 2375160"/>
              <a:gd name="connsiteY3" fmla="*/ 1940241 h 1963986"/>
              <a:gd name="connsiteX4" fmla="*/ 48520 w 2375160"/>
              <a:gd name="connsiteY4" fmla="*/ 1330641 h 1963986"/>
              <a:gd name="connsiteX0" fmla="*/ 47028 w 2242512"/>
              <a:gd name="connsiteY0" fmla="*/ 1317918 h 1947313"/>
              <a:gd name="connsiteX1" fmla="*/ 692188 w 2242512"/>
              <a:gd name="connsiteY1" fmla="*/ 27598 h 1947313"/>
              <a:gd name="connsiteX2" fmla="*/ 2242434 w 2242512"/>
              <a:gd name="connsiteY2" fmla="*/ 629639 h 1947313"/>
              <a:gd name="connsiteX3" fmla="*/ 1891068 w 2242512"/>
              <a:gd name="connsiteY3" fmla="*/ 1927518 h 1947313"/>
              <a:gd name="connsiteX4" fmla="*/ 47028 w 2242512"/>
              <a:gd name="connsiteY4" fmla="*/ 1317918 h 1947313"/>
              <a:gd name="connsiteX0" fmla="*/ 41738 w 2237222"/>
              <a:gd name="connsiteY0" fmla="*/ 1228875 h 1857686"/>
              <a:gd name="connsiteX1" fmla="*/ 730643 w 2237222"/>
              <a:gd name="connsiteY1" fmla="*/ 36416 h 1857686"/>
              <a:gd name="connsiteX2" fmla="*/ 2237144 w 2237222"/>
              <a:gd name="connsiteY2" fmla="*/ 540596 h 1857686"/>
              <a:gd name="connsiteX3" fmla="*/ 1885778 w 2237222"/>
              <a:gd name="connsiteY3" fmla="*/ 1838475 h 1857686"/>
              <a:gd name="connsiteX4" fmla="*/ 41738 w 2237222"/>
              <a:gd name="connsiteY4" fmla="*/ 1228875 h 1857686"/>
              <a:gd name="connsiteX0" fmla="*/ 41055 w 2170265"/>
              <a:gd name="connsiteY0" fmla="*/ 1228875 h 1857686"/>
              <a:gd name="connsiteX1" fmla="*/ 729960 w 2170265"/>
              <a:gd name="connsiteY1" fmla="*/ 36416 h 1857686"/>
              <a:gd name="connsiteX2" fmla="*/ 2163553 w 2170265"/>
              <a:gd name="connsiteY2" fmla="*/ 540596 h 1857686"/>
              <a:gd name="connsiteX3" fmla="*/ 1885095 w 2170265"/>
              <a:gd name="connsiteY3" fmla="*/ 1838475 h 1857686"/>
              <a:gd name="connsiteX4" fmla="*/ 41055 w 2170265"/>
              <a:gd name="connsiteY4" fmla="*/ 1228875 h 1857686"/>
              <a:gd name="connsiteX0" fmla="*/ 46194 w 2209558"/>
              <a:gd name="connsiteY0" fmla="*/ 1228875 h 1884827"/>
              <a:gd name="connsiteX1" fmla="*/ 735099 w 2209558"/>
              <a:gd name="connsiteY1" fmla="*/ 36416 h 1884827"/>
              <a:gd name="connsiteX2" fmla="*/ 2168692 w 2209558"/>
              <a:gd name="connsiteY2" fmla="*/ 540596 h 1884827"/>
              <a:gd name="connsiteX3" fmla="*/ 1985014 w 2209558"/>
              <a:gd name="connsiteY3" fmla="*/ 1866435 h 1884827"/>
              <a:gd name="connsiteX4" fmla="*/ 46194 w 2209558"/>
              <a:gd name="connsiteY4" fmla="*/ 1228875 h 1884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558" h="1884827">
                <a:moveTo>
                  <a:pt x="46194" y="1228875"/>
                </a:moveTo>
                <a:cubicBezTo>
                  <a:pt x="-162125" y="923872"/>
                  <a:pt x="381349" y="151129"/>
                  <a:pt x="735099" y="36416"/>
                </a:cubicBezTo>
                <a:cubicBezTo>
                  <a:pt x="1088849" y="-78297"/>
                  <a:pt x="2168692" y="74865"/>
                  <a:pt x="2168692" y="540596"/>
                </a:cubicBezTo>
                <a:cubicBezTo>
                  <a:pt x="2168692" y="1006327"/>
                  <a:pt x="2338764" y="1751722"/>
                  <a:pt x="1985014" y="1866435"/>
                </a:cubicBezTo>
                <a:cubicBezTo>
                  <a:pt x="1631264" y="1981148"/>
                  <a:pt x="254513" y="1533878"/>
                  <a:pt x="46194" y="1228875"/>
                </a:cubicBezTo>
                <a:close/>
              </a:path>
            </a:pathLst>
          </a:custGeom>
          <a:gradFill>
            <a:gsLst>
              <a:gs pos="45000">
                <a:schemeClr val="accent5">
                  <a:lumMod val="60000"/>
                  <a:lumOff val="40000"/>
                  <a:alpha val="10000"/>
                </a:schemeClr>
              </a:gs>
              <a:gs pos="100000">
                <a:srgbClr val="BED7EF">
                  <a:alpha val="82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5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9F8AF-31F7-3533-F6DC-E1C431E97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81" y="0"/>
            <a:ext cx="172402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E4EBA6-C072-2E9C-36B0-2BCE126C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42" y="633210"/>
            <a:ext cx="10728555" cy="2567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F1F6D-D964-3207-FAC2-169BB641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450" y="3347835"/>
            <a:ext cx="47434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24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8F4396-EF93-CEA8-833B-55E675CD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629" y="420519"/>
            <a:ext cx="4324350" cy="666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A41DD6-CEBB-8B41-BFD2-1AAB7A51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627" y="1692511"/>
            <a:ext cx="8813057" cy="42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60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28FD0-CAA8-FDA5-75F5-D07C7447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192121"/>
            <a:ext cx="10789295" cy="2706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B3D36-7E21-1E82-F920-CDC3CAE09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88" y="2996524"/>
            <a:ext cx="9203024" cy="35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27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C7E05-243D-7EFA-EB17-2809B715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69" y="554274"/>
            <a:ext cx="8086725" cy="1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F82E6F-85C0-34F7-7623-46E32A9A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390" y="2498590"/>
            <a:ext cx="42195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83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8D6514-D6C6-4CF4-93FC-5FF72D4B984F}"/>
              </a:ext>
            </a:extLst>
          </p:cNvPr>
          <p:cNvCxnSpPr/>
          <p:nvPr/>
        </p:nvCxnSpPr>
        <p:spPr>
          <a:xfrm flipV="1">
            <a:off x="7802218" y="1033670"/>
            <a:ext cx="0" cy="280283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4DCA45-8A46-40BA-8697-55D38761CE14}"/>
              </a:ext>
            </a:extLst>
          </p:cNvPr>
          <p:cNvCxnSpPr/>
          <p:nvPr/>
        </p:nvCxnSpPr>
        <p:spPr>
          <a:xfrm flipV="1">
            <a:off x="7802217" y="3687418"/>
            <a:ext cx="4045226" cy="129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583080-B4E1-48E3-9609-3CDDC500CD98}"/>
              </a:ext>
            </a:extLst>
          </p:cNvPr>
          <p:cNvCxnSpPr>
            <a:cxnSpLocks/>
          </p:cNvCxnSpPr>
          <p:nvPr/>
        </p:nvCxnSpPr>
        <p:spPr>
          <a:xfrm flipH="1">
            <a:off x="6430617" y="3806687"/>
            <a:ext cx="1381540" cy="86470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1470FCE-0D1B-4070-836F-5ED3322AE9FE}"/>
              </a:ext>
            </a:extLst>
          </p:cNvPr>
          <p:cNvSpPr txBox="1"/>
          <p:nvPr/>
        </p:nvSpPr>
        <p:spPr>
          <a:xfrm>
            <a:off x="11791122" y="3541643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5B219-088C-44AC-AF6B-24F67F868458}"/>
              </a:ext>
            </a:extLst>
          </p:cNvPr>
          <p:cNvSpPr txBox="1"/>
          <p:nvPr/>
        </p:nvSpPr>
        <p:spPr>
          <a:xfrm>
            <a:off x="7646505" y="708992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z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A74FA06-267F-4612-A2B0-15140962F6F2}"/>
              </a:ext>
            </a:extLst>
          </p:cNvPr>
          <p:cNvSpPr/>
          <p:nvPr/>
        </p:nvSpPr>
        <p:spPr>
          <a:xfrm>
            <a:off x="8040757" y="1351722"/>
            <a:ext cx="45719" cy="4571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40C1B-E8BA-4B5B-A149-C5B7347AB815}"/>
                  </a:ext>
                </a:extLst>
              </p:cNvPr>
              <p:cNvSpPr txBox="1"/>
              <p:nvPr/>
            </p:nvSpPr>
            <p:spPr>
              <a:xfrm>
                <a:off x="7702826" y="1123123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40C1B-E8BA-4B5B-A149-C5B7347AB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26" y="1123123"/>
                <a:ext cx="258417" cy="307777"/>
              </a:xfrm>
              <a:prstGeom prst="rect">
                <a:avLst/>
              </a:prstGeom>
              <a:blipFill>
                <a:blip r:embed="rId2"/>
                <a:stretch>
                  <a:fillRect r="-2381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DB6237-D497-4B3C-BC18-13C49C41F319}"/>
                  </a:ext>
                </a:extLst>
              </p:cNvPr>
              <p:cNvSpPr txBox="1"/>
              <p:nvPr/>
            </p:nvSpPr>
            <p:spPr>
              <a:xfrm>
                <a:off x="8014251" y="1593574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DB6237-D497-4B3C-BC18-13C49C41F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251" y="1593574"/>
                <a:ext cx="258417" cy="307777"/>
              </a:xfrm>
              <a:prstGeom prst="rect">
                <a:avLst/>
              </a:prstGeom>
              <a:blipFill>
                <a:blip r:embed="rId3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391227-E23A-4816-AE3A-7BE383C3FDC8}"/>
              </a:ext>
            </a:extLst>
          </p:cNvPr>
          <p:cNvCxnSpPr>
            <a:cxnSpLocks/>
          </p:cNvCxnSpPr>
          <p:nvPr/>
        </p:nvCxnSpPr>
        <p:spPr>
          <a:xfrm flipV="1">
            <a:off x="7802217" y="1401417"/>
            <a:ext cx="268357" cy="2415209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AD421F0-B7DE-4A4D-90B2-CA1F9979D455}"/>
              </a:ext>
            </a:extLst>
          </p:cNvPr>
          <p:cNvSpPr/>
          <p:nvPr/>
        </p:nvSpPr>
        <p:spPr>
          <a:xfrm>
            <a:off x="8020878" y="1321904"/>
            <a:ext cx="99391" cy="129209"/>
          </a:xfrm>
          <a:prstGeom prst="ellipse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4B44C8C-8664-4A36-B161-D594A867EACE}"/>
              </a:ext>
            </a:extLst>
          </p:cNvPr>
          <p:cNvSpPr/>
          <p:nvPr/>
        </p:nvSpPr>
        <p:spPr>
          <a:xfrm>
            <a:off x="9374808" y="264712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5765B482-581C-405D-987A-0B40B661340F}"/>
              </a:ext>
            </a:extLst>
          </p:cNvPr>
          <p:cNvSpPr/>
          <p:nvPr/>
        </p:nvSpPr>
        <p:spPr>
          <a:xfrm>
            <a:off x="10160000" y="208280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D567356-5CAD-4BB3-83FA-6DA58EDA4DFF}"/>
              </a:ext>
            </a:extLst>
          </p:cNvPr>
          <p:cNvSpPr/>
          <p:nvPr/>
        </p:nvSpPr>
        <p:spPr>
          <a:xfrm>
            <a:off x="11064240" y="207264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9A9D6F5-24C6-4DB7-B4D1-8F83EF2DB849}"/>
              </a:ext>
            </a:extLst>
          </p:cNvPr>
          <p:cNvSpPr/>
          <p:nvPr/>
        </p:nvSpPr>
        <p:spPr>
          <a:xfrm>
            <a:off x="11684000" y="302768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2661791-991F-45BE-BC60-50CA075F7803}"/>
              </a:ext>
            </a:extLst>
          </p:cNvPr>
          <p:cNvSpPr/>
          <p:nvPr/>
        </p:nvSpPr>
        <p:spPr>
          <a:xfrm>
            <a:off x="9324009" y="2575779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6F3B7382-6BCB-4CE4-8113-4F653D7B4F7C}"/>
              </a:ext>
            </a:extLst>
          </p:cNvPr>
          <p:cNvSpPr/>
          <p:nvPr/>
        </p:nvSpPr>
        <p:spPr>
          <a:xfrm>
            <a:off x="10122452" y="2032442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64AC3B52-5AD4-4F8E-B3DE-21CD5F62DE9D}"/>
              </a:ext>
            </a:extLst>
          </p:cNvPr>
          <p:cNvSpPr/>
          <p:nvPr/>
        </p:nvSpPr>
        <p:spPr>
          <a:xfrm>
            <a:off x="11016974" y="2012564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C70A9B1C-CE69-4681-826D-73A72925DF12}"/>
              </a:ext>
            </a:extLst>
          </p:cNvPr>
          <p:cNvSpPr/>
          <p:nvPr/>
        </p:nvSpPr>
        <p:spPr>
          <a:xfrm>
            <a:off x="11653079" y="2966720"/>
            <a:ext cx="132080" cy="162560"/>
          </a:xfrm>
          <a:prstGeom prst="flowChartConnector">
            <a:avLst/>
          </a:prstGeom>
          <a:solidFill>
            <a:schemeClr val="accent2">
              <a:lumMod val="5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CE85B2-5580-46BD-9F7E-E9268CF3512E}"/>
                  </a:ext>
                </a:extLst>
              </p:cNvPr>
              <p:cNvSpPr txBox="1"/>
              <p:nvPr/>
            </p:nvSpPr>
            <p:spPr>
              <a:xfrm>
                <a:off x="9365973" y="2418523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CE85B2-5580-46BD-9F7E-E9268CF35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973" y="2418523"/>
                <a:ext cx="258417" cy="307777"/>
              </a:xfrm>
              <a:prstGeom prst="rect">
                <a:avLst/>
              </a:prstGeom>
              <a:blipFill>
                <a:blip r:embed="rId4"/>
                <a:stretch>
                  <a:fillRect r="-23256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287F4-8ABA-4FED-969E-1D743DC79E6F}"/>
                  </a:ext>
                </a:extLst>
              </p:cNvPr>
              <p:cNvSpPr txBox="1"/>
              <p:nvPr/>
            </p:nvSpPr>
            <p:spPr>
              <a:xfrm>
                <a:off x="10180982" y="1861932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287F4-8ABA-4FED-969E-1D743DC7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982" y="1861932"/>
                <a:ext cx="258417" cy="307777"/>
              </a:xfrm>
              <a:prstGeom prst="rect">
                <a:avLst/>
              </a:prstGeom>
              <a:blipFill>
                <a:blip r:embed="rId5"/>
                <a:stretch>
                  <a:fillRect r="-2619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04F15C-BBFA-4049-BB40-AC0E2BD9C07D}"/>
                  </a:ext>
                </a:extLst>
              </p:cNvPr>
              <p:cNvSpPr txBox="1"/>
              <p:nvPr/>
            </p:nvSpPr>
            <p:spPr>
              <a:xfrm>
                <a:off x="11015870" y="1792358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04F15C-BBFA-4049-BB40-AC0E2BD9C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870" y="1792358"/>
                <a:ext cx="258417" cy="307777"/>
              </a:xfrm>
              <a:prstGeom prst="rect">
                <a:avLst/>
              </a:prstGeom>
              <a:blipFill>
                <a:blip r:embed="rId6"/>
                <a:stretch>
                  <a:fillRect r="-2619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4AE094-CCE1-4F56-9D8A-20C4D676AC4F}"/>
                  </a:ext>
                </a:extLst>
              </p:cNvPr>
              <p:cNvSpPr txBox="1"/>
              <p:nvPr/>
            </p:nvSpPr>
            <p:spPr>
              <a:xfrm>
                <a:off x="11721547" y="2816087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4AE094-CCE1-4F56-9D8A-20C4D676A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1547" y="2816087"/>
                <a:ext cx="258417" cy="307777"/>
              </a:xfrm>
              <a:prstGeom prst="rect">
                <a:avLst/>
              </a:prstGeom>
              <a:blipFill>
                <a:blip r:embed="rId7"/>
                <a:stretch>
                  <a:fillRect r="-40476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B74761-B6CB-45DC-93A2-881344999A14}"/>
                  </a:ext>
                </a:extLst>
              </p:cNvPr>
              <p:cNvSpPr txBox="1"/>
              <p:nvPr/>
            </p:nvSpPr>
            <p:spPr>
              <a:xfrm>
                <a:off x="9206948" y="2676940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B74761-B6CB-45DC-93A2-881344999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948" y="2676940"/>
                <a:ext cx="258417" cy="307777"/>
              </a:xfrm>
              <a:prstGeom prst="rect">
                <a:avLst/>
              </a:prstGeom>
              <a:blipFill>
                <a:blip r:embed="rId8"/>
                <a:stretch>
                  <a:fillRect r="-209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679AD2-08B0-4321-8242-03E99996B587}"/>
                  </a:ext>
                </a:extLst>
              </p:cNvPr>
              <p:cNvSpPr txBox="1"/>
              <p:nvPr/>
            </p:nvSpPr>
            <p:spPr>
              <a:xfrm>
                <a:off x="10045148" y="2113724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679AD2-08B0-4321-8242-03E99996B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148" y="2113724"/>
                <a:ext cx="258417" cy="307777"/>
              </a:xfrm>
              <a:prstGeom prst="rect">
                <a:avLst/>
              </a:prstGeom>
              <a:blipFill>
                <a:blip r:embed="rId9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481762-725C-406C-B940-11DEA920ADC0}"/>
                  </a:ext>
                </a:extLst>
              </p:cNvPr>
              <p:cNvSpPr txBox="1"/>
              <p:nvPr/>
            </p:nvSpPr>
            <p:spPr>
              <a:xfrm>
                <a:off x="10909853" y="2083906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481762-725C-406C-B940-11DEA920A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853" y="2083906"/>
                <a:ext cx="258417" cy="307777"/>
              </a:xfrm>
              <a:prstGeom prst="rect">
                <a:avLst/>
              </a:prstGeom>
              <a:blipFill>
                <a:blip r:embed="rId10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5A98A8-F931-4540-B361-A4B6573CB9C1}"/>
                  </a:ext>
                </a:extLst>
              </p:cNvPr>
              <p:cNvSpPr txBox="1"/>
              <p:nvPr/>
            </p:nvSpPr>
            <p:spPr>
              <a:xfrm>
                <a:off x="11536019" y="3048000"/>
                <a:ext cx="2584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5A98A8-F931-4540-B361-A4B6573CB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019" y="3048000"/>
                <a:ext cx="258417" cy="307777"/>
              </a:xfrm>
              <a:prstGeom prst="rect">
                <a:avLst/>
              </a:prstGeom>
              <a:blipFill>
                <a:blip r:embed="rId11"/>
                <a:stretch>
                  <a:fillRect r="-30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ED0E12D-42D3-4ADF-991D-9CA8C083BC34}"/>
              </a:ext>
            </a:extLst>
          </p:cNvPr>
          <p:cNvSpPr txBox="1"/>
          <p:nvPr/>
        </p:nvSpPr>
        <p:spPr>
          <a:xfrm>
            <a:off x="6261935" y="4304983"/>
            <a:ext cx="23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A89351-DB2C-412E-9755-068FE057F730}"/>
              </a:ext>
            </a:extLst>
          </p:cNvPr>
          <p:cNvSpPr txBox="1"/>
          <p:nvPr/>
        </p:nvSpPr>
        <p:spPr>
          <a:xfrm>
            <a:off x="175098" y="301557"/>
            <a:ext cx="721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+mj-lt"/>
              </a:rPr>
              <a:t>Total Energy in the system of charges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9348066-398A-4DAF-991B-BAE8C157C6C3}"/>
                  </a:ext>
                </a:extLst>
              </p:cNvPr>
              <p:cNvSpPr txBox="1"/>
              <p:nvPr/>
            </p:nvSpPr>
            <p:spPr>
              <a:xfrm>
                <a:off x="233464" y="1031132"/>
                <a:ext cx="6585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Work done to 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at it’s position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/>
                  <a:t> = 0 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9348066-398A-4DAF-991B-BAE8C157C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64" y="1031132"/>
                <a:ext cx="6585625" cy="369332"/>
              </a:xfrm>
              <a:prstGeom prst="rect">
                <a:avLst/>
              </a:prstGeom>
              <a:blipFill>
                <a:blip r:embed="rId12"/>
                <a:stretch>
                  <a:fillRect l="-74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37A9595-7112-4F1C-95F9-698D52713772}"/>
                  </a:ext>
                </a:extLst>
              </p:cNvPr>
              <p:cNvSpPr txBox="1"/>
              <p:nvPr/>
            </p:nvSpPr>
            <p:spPr>
              <a:xfrm>
                <a:off x="3861881" y="1575880"/>
                <a:ext cx="4464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is the first charge 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37A9595-7112-4F1C-95F9-698D5271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881" y="1575880"/>
                <a:ext cx="4464995" cy="369332"/>
              </a:xfrm>
              <a:prstGeom prst="rect">
                <a:avLst/>
              </a:prstGeom>
              <a:blipFill>
                <a:blip r:embed="rId13"/>
                <a:stretch>
                  <a:fillRect l="-123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64F3DD-25BB-4C20-9D6F-13DAB5E3A3D2}"/>
                  </a:ext>
                </a:extLst>
              </p:cNvPr>
              <p:cNvSpPr txBox="1"/>
              <p:nvPr/>
            </p:nvSpPr>
            <p:spPr>
              <a:xfrm>
                <a:off x="191311" y="2127115"/>
                <a:ext cx="6585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Work done to 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at it’s position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64F3DD-25BB-4C20-9D6F-13DAB5E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11" y="2127115"/>
                <a:ext cx="6585625" cy="369332"/>
              </a:xfrm>
              <a:prstGeom prst="rect">
                <a:avLst/>
              </a:prstGeom>
              <a:blipFill>
                <a:blip r:embed="rId14"/>
                <a:stretch>
                  <a:fillRect l="-740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222B39-1C28-47A0-85DC-40AF95836206}"/>
                  </a:ext>
                </a:extLst>
              </p:cNvPr>
              <p:cNvSpPr txBox="1"/>
              <p:nvPr/>
            </p:nvSpPr>
            <p:spPr>
              <a:xfrm>
                <a:off x="207524" y="2600528"/>
                <a:ext cx="6585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Work done to 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 at it’s position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IN" dirty="0"/>
                  <a:t>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222B39-1C28-47A0-85DC-40AF95836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24" y="2600528"/>
                <a:ext cx="6585625" cy="369332"/>
              </a:xfrm>
              <a:prstGeom prst="rect">
                <a:avLst/>
              </a:prstGeom>
              <a:blipFill>
                <a:blip r:embed="rId15"/>
                <a:stretch>
                  <a:fillRect l="-74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843375-0350-481B-A56E-204D364ACD72}"/>
                  </a:ext>
                </a:extLst>
              </p:cNvPr>
              <p:cNvSpPr txBox="1"/>
              <p:nvPr/>
            </p:nvSpPr>
            <p:spPr>
              <a:xfrm>
                <a:off x="233465" y="3044758"/>
                <a:ext cx="74416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Work done to 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 at it’s position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</m:oMath>
                </a14:m>
                <a:r>
                  <a:rPr lang="en-IN" dirty="0"/>
                  <a:t>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sub>
                    </m:sSub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843375-0350-481B-A56E-204D364A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65" y="3044758"/>
                <a:ext cx="7441658" cy="369332"/>
              </a:xfrm>
              <a:prstGeom prst="rect">
                <a:avLst/>
              </a:prstGeom>
              <a:blipFill>
                <a:blip r:embed="rId16"/>
                <a:stretch>
                  <a:fillRect l="-65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24C51E-F970-42CD-8416-7F3821EC8408}"/>
                  </a:ext>
                </a:extLst>
              </p:cNvPr>
              <p:cNvSpPr txBox="1"/>
              <p:nvPr/>
            </p:nvSpPr>
            <p:spPr>
              <a:xfrm>
                <a:off x="301557" y="4523362"/>
                <a:ext cx="7295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Total Energy in the System = Total work done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24C51E-F970-42CD-8416-7F3821EC8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57" y="4523362"/>
                <a:ext cx="7295745" cy="369332"/>
              </a:xfrm>
              <a:prstGeom prst="rect">
                <a:avLst/>
              </a:prstGeom>
              <a:blipFill>
                <a:blip r:embed="rId17"/>
                <a:stretch>
                  <a:fillRect l="-66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B1CA17-B0FE-42D9-94CE-3E9B7EF78CFF}"/>
                  </a:ext>
                </a:extLst>
              </p:cNvPr>
              <p:cNvSpPr txBox="1"/>
              <p:nvPr/>
            </p:nvSpPr>
            <p:spPr>
              <a:xfrm>
                <a:off x="2487039" y="5006502"/>
                <a:ext cx="7999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IN" dirty="0"/>
                  <a:t>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IN" dirty="0"/>
                  <a:t>) +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</m:oMath>
                </a14:m>
                <a:r>
                  <a:rPr lang="en-IN" dirty="0"/>
                  <a:t>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42</m:t>
                        </m:r>
                      </m:sub>
                    </m:sSub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43</m:t>
                        </m:r>
                      </m:sub>
                    </m:sSub>
                  </m:oMath>
                </a14:m>
                <a:r>
                  <a:rPr lang="en-IN" dirty="0"/>
                  <a:t>) + …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B1CA17-B0FE-42D9-94CE-3E9B7EF78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039" y="5006502"/>
                <a:ext cx="7999377" cy="369332"/>
              </a:xfrm>
              <a:prstGeom prst="rect">
                <a:avLst/>
              </a:prstGeom>
              <a:blipFill>
                <a:blip r:embed="rId1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FAA1E3-0536-4BDB-8254-A65C13F3D271}"/>
                  </a:ext>
                </a:extLst>
              </p:cNvPr>
              <p:cNvSpPr txBox="1"/>
              <p:nvPr/>
            </p:nvSpPr>
            <p:spPr>
              <a:xfrm>
                <a:off x="496110" y="5739319"/>
                <a:ext cx="2879387" cy="531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Note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FAA1E3-0536-4BDB-8254-A65C13F3D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0" y="5739319"/>
                <a:ext cx="2879387" cy="531171"/>
              </a:xfrm>
              <a:prstGeom prst="rect">
                <a:avLst/>
              </a:prstGeom>
              <a:blipFill>
                <a:blip r:embed="rId19"/>
                <a:stretch>
                  <a:fillRect l="-16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9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4" grpId="2"/>
      <p:bldP spid="36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EEB7D5-94A6-4FDD-9EAE-49F5CC7C4DA8}"/>
              </a:ext>
            </a:extLst>
          </p:cNvPr>
          <p:cNvSpPr txBox="1"/>
          <p:nvPr/>
        </p:nvSpPr>
        <p:spPr>
          <a:xfrm>
            <a:off x="235974" y="265471"/>
            <a:ext cx="728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Current &amp; Current Densities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7A409-7C02-4AFF-BABE-002A49F70E1D}"/>
              </a:ext>
            </a:extLst>
          </p:cNvPr>
          <p:cNvSpPr txBox="1"/>
          <p:nvPr/>
        </p:nvSpPr>
        <p:spPr>
          <a:xfrm>
            <a:off x="216309" y="806245"/>
            <a:ext cx="4168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Current</a:t>
            </a:r>
            <a:r>
              <a:rPr lang="en-IN" sz="2000" dirty="0">
                <a:latin typeface="+mj-lt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00F4A-8CE4-4CFD-9DE0-D83C9B613665}"/>
              </a:ext>
            </a:extLst>
          </p:cNvPr>
          <p:cNvSpPr txBox="1"/>
          <p:nvPr/>
        </p:nvSpPr>
        <p:spPr>
          <a:xfrm>
            <a:off x="196646" y="1248698"/>
            <a:ext cx="1161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The rate of movement of charge, Passing through a point or crossing a reference plane is called Current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0D5AABF7-B9DD-4162-A2B3-58A2427046F6}"/>
              </a:ext>
            </a:extLst>
          </p:cNvPr>
          <p:cNvSpPr/>
          <p:nvPr/>
        </p:nvSpPr>
        <p:spPr>
          <a:xfrm>
            <a:off x="4451275" y="2300344"/>
            <a:ext cx="3814916" cy="4571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564A5ADD-F651-476C-B54E-F24769549730}"/>
              </a:ext>
            </a:extLst>
          </p:cNvPr>
          <p:cNvSpPr/>
          <p:nvPr/>
        </p:nvSpPr>
        <p:spPr>
          <a:xfrm>
            <a:off x="8267003" y="1720645"/>
            <a:ext cx="226142" cy="114054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8448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7672 h 10000"/>
              <a:gd name="connsiteX3" fmla="*/ 0 w 10000"/>
              <a:gd name="connsiteY3" fmla="*/ 10000 h 10000"/>
              <a:gd name="connsiteX4" fmla="*/ 0 w 10000"/>
              <a:gd name="connsiteY4" fmla="*/ 2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2000"/>
                </a:moveTo>
                <a:lnTo>
                  <a:pt x="10000" y="0"/>
                </a:lnTo>
                <a:lnTo>
                  <a:pt x="10000" y="7672"/>
                </a:lnTo>
                <a:lnTo>
                  <a:pt x="0" y="10000"/>
                </a:lnTo>
                <a:lnTo>
                  <a:pt x="0" y="200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75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B74BA96D-6FB1-44B2-9167-0AB897067F19}"/>
              </a:ext>
            </a:extLst>
          </p:cNvPr>
          <p:cNvSpPr/>
          <p:nvPr/>
        </p:nvSpPr>
        <p:spPr>
          <a:xfrm>
            <a:off x="8412054" y="2291321"/>
            <a:ext cx="3201769" cy="4571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AAFC770-8F74-4EE5-804C-99082AC784EB}"/>
              </a:ext>
            </a:extLst>
          </p:cNvPr>
          <p:cNvSpPr/>
          <p:nvPr/>
        </p:nvSpPr>
        <p:spPr>
          <a:xfrm>
            <a:off x="6105832" y="2300343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3094CAD-3D4B-476D-9094-DEB15C396B92}"/>
              </a:ext>
            </a:extLst>
          </p:cNvPr>
          <p:cNvSpPr/>
          <p:nvPr/>
        </p:nvSpPr>
        <p:spPr>
          <a:xfrm>
            <a:off x="6445045" y="2295832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FBD991F-AEE3-467D-9222-4EF4C68B0CF8}"/>
              </a:ext>
            </a:extLst>
          </p:cNvPr>
          <p:cNvSpPr/>
          <p:nvPr/>
        </p:nvSpPr>
        <p:spPr>
          <a:xfrm>
            <a:off x="6843251" y="2300748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2170494-D214-464B-AD4D-A97AE674B464}"/>
              </a:ext>
            </a:extLst>
          </p:cNvPr>
          <p:cNvSpPr/>
          <p:nvPr/>
        </p:nvSpPr>
        <p:spPr>
          <a:xfrm>
            <a:off x="7231626" y="2295832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E76266C-7D07-4AA0-AF36-C186FC0C1E1F}"/>
              </a:ext>
            </a:extLst>
          </p:cNvPr>
          <p:cNvSpPr/>
          <p:nvPr/>
        </p:nvSpPr>
        <p:spPr>
          <a:xfrm>
            <a:off x="7600741" y="2299938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1AE4B4D-4A40-42C9-87AC-E2B398EE5313}"/>
              </a:ext>
            </a:extLst>
          </p:cNvPr>
          <p:cNvSpPr/>
          <p:nvPr/>
        </p:nvSpPr>
        <p:spPr>
          <a:xfrm>
            <a:off x="8037871" y="2295832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607A105-FDE5-4838-B075-D266935806DA}"/>
              </a:ext>
            </a:extLst>
          </p:cNvPr>
          <p:cNvSpPr/>
          <p:nvPr/>
        </p:nvSpPr>
        <p:spPr>
          <a:xfrm>
            <a:off x="4588725" y="2300343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CBBBED2-39A3-450E-AB03-0310021E1EF9}"/>
              </a:ext>
            </a:extLst>
          </p:cNvPr>
          <p:cNvSpPr/>
          <p:nvPr/>
        </p:nvSpPr>
        <p:spPr>
          <a:xfrm>
            <a:off x="5675495" y="2295832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91DC0F2-BF64-4865-9387-536DF26D4FE3}"/>
              </a:ext>
            </a:extLst>
          </p:cNvPr>
          <p:cNvSpPr/>
          <p:nvPr/>
        </p:nvSpPr>
        <p:spPr>
          <a:xfrm>
            <a:off x="5106794" y="2300342"/>
            <a:ext cx="58994" cy="4916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386160-71FA-4A54-B603-EF56358463DA}"/>
                  </a:ext>
                </a:extLst>
              </p:cNvPr>
              <p:cNvSpPr txBox="1"/>
              <p:nvPr/>
            </p:nvSpPr>
            <p:spPr>
              <a:xfrm>
                <a:off x="7956223" y="2818615"/>
                <a:ext cx="1187777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I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386160-71FA-4A54-B603-EF563584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223" y="2818615"/>
                <a:ext cx="1187777" cy="508537"/>
              </a:xfrm>
              <a:prstGeom prst="rect">
                <a:avLst/>
              </a:prstGeom>
              <a:blipFill>
                <a:blip r:embed="rId2"/>
                <a:stretch>
                  <a:fillRect l="-4103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02CE91-08AB-4C60-A6C6-67E63B18BC81}"/>
                  </a:ext>
                </a:extLst>
              </p:cNvPr>
              <p:cNvSpPr txBox="1"/>
              <p:nvPr/>
            </p:nvSpPr>
            <p:spPr>
              <a:xfrm>
                <a:off x="322118" y="3522518"/>
                <a:ext cx="435379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00B050"/>
                    </a:solidFill>
                    <a:latin typeface="+mj-lt"/>
                  </a:rPr>
                  <a:t>Current Density - </a:t>
                </a:r>
                <a:r>
                  <a:rPr lang="en-IN" b="1" dirty="0">
                    <a:solidFill>
                      <a:srgbClr val="00B050"/>
                    </a:solidFill>
                    <a:latin typeface="+mj-lt"/>
                  </a:rPr>
                  <a:t>J </a:t>
                </a:r>
                <a:r>
                  <a:rPr lang="en-IN" dirty="0">
                    <a:solidFill>
                      <a:srgbClr val="00B050"/>
                    </a:solidFill>
                    <a:latin typeface="+mj-lt"/>
                  </a:rPr>
                  <a:t>(A/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02CE91-08AB-4C60-A6C6-67E63B18B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18" y="3522518"/>
                <a:ext cx="4353791" cy="375552"/>
              </a:xfrm>
              <a:prstGeom prst="rect">
                <a:avLst/>
              </a:prstGeom>
              <a:blipFill>
                <a:blip r:embed="rId3"/>
                <a:stretch>
                  <a:fillRect l="-1261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69251EA-932C-45EE-BD20-1FB85677FAF5}"/>
              </a:ext>
            </a:extLst>
          </p:cNvPr>
          <p:cNvSpPr txBox="1"/>
          <p:nvPr/>
        </p:nvSpPr>
        <p:spPr>
          <a:xfrm>
            <a:off x="405245" y="4062845"/>
            <a:ext cx="644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Current per Unit normal area is called current density, </a:t>
            </a:r>
            <a:r>
              <a:rPr lang="en-IN" b="1" dirty="0">
                <a:latin typeface="+mj-lt"/>
              </a:rPr>
              <a:t>J</a:t>
            </a:r>
          </a:p>
        </p:txBody>
      </p:sp>
      <p:sp>
        <p:nvSpPr>
          <p:cNvPr id="26" name="Flowchart: Manual Input 25">
            <a:extLst>
              <a:ext uri="{FF2B5EF4-FFF2-40B4-BE49-F238E27FC236}">
                <a16:creationId xmlns:a16="http://schemas.microsoft.com/office/drawing/2014/main" id="{0FA500CB-C775-4930-B40B-1AFB4A91DE39}"/>
              </a:ext>
            </a:extLst>
          </p:cNvPr>
          <p:cNvSpPr/>
          <p:nvPr/>
        </p:nvSpPr>
        <p:spPr>
          <a:xfrm>
            <a:off x="7949380" y="4237376"/>
            <a:ext cx="609571" cy="231648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169"/>
              <a:gd name="connsiteY0" fmla="*/ 2000 h 10000"/>
              <a:gd name="connsiteX1" fmla="*/ 10000 w 10169"/>
              <a:gd name="connsiteY1" fmla="*/ 0 h 10000"/>
              <a:gd name="connsiteX2" fmla="*/ 10169 w 10169"/>
              <a:gd name="connsiteY2" fmla="*/ 7368 h 10000"/>
              <a:gd name="connsiteX3" fmla="*/ 0 w 10169"/>
              <a:gd name="connsiteY3" fmla="*/ 10000 h 10000"/>
              <a:gd name="connsiteX4" fmla="*/ 0 w 10169"/>
              <a:gd name="connsiteY4" fmla="*/ 2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9" h="10000">
                <a:moveTo>
                  <a:pt x="0" y="2000"/>
                </a:moveTo>
                <a:lnTo>
                  <a:pt x="10000" y="0"/>
                </a:lnTo>
                <a:cubicBezTo>
                  <a:pt x="10056" y="2456"/>
                  <a:pt x="10113" y="4912"/>
                  <a:pt x="10169" y="7368"/>
                </a:cubicBezTo>
                <a:lnTo>
                  <a:pt x="0" y="10000"/>
                </a:lnTo>
                <a:lnTo>
                  <a:pt x="0" y="200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Manual Input 34">
            <a:extLst>
              <a:ext uri="{FF2B5EF4-FFF2-40B4-BE49-F238E27FC236}">
                <a16:creationId xmlns:a16="http://schemas.microsoft.com/office/drawing/2014/main" id="{6C99E7A8-B0A3-4DC1-93C4-DFB08186C451}"/>
              </a:ext>
            </a:extLst>
          </p:cNvPr>
          <p:cNvSpPr/>
          <p:nvPr/>
        </p:nvSpPr>
        <p:spPr>
          <a:xfrm>
            <a:off x="8354798" y="4763729"/>
            <a:ext cx="121920" cy="33528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9111 w 10000"/>
              <a:gd name="connsiteY2" fmla="*/ 8365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9111"/>
              <a:gd name="connsiteY0" fmla="*/ 2000 h 10000"/>
              <a:gd name="connsiteX1" fmla="*/ 8908 w 9111"/>
              <a:gd name="connsiteY1" fmla="*/ 0 h 10000"/>
              <a:gd name="connsiteX2" fmla="*/ 9111 w 9111"/>
              <a:gd name="connsiteY2" fmla="*/ 8365 h 10000"/>
              <a:gd name="connsiteX3" fmla="*/ 0 w 9111"/>
              <a:gd name="connsiteY3" fmla="*/ 10000 h 10000"/>
              <a:gd name="connsiteX4" fmla="*/ 0 w 9111"/>
              <a:gd name="connsiteY4" fmla="*/ 2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1" h="10000">
                <a:moveTo>
                  <a:pt x="0" y="2000"/>
                </a:moveTo>
                <a:lnTo>
                  <a:pt x="8908" y="0"/>
                </a:lnTo>
                <a:cubicBezTo>
                  <a:pt x="8976" y="2788"/>
                  <a:pt x="9043" y="5577"/>
                  <a:pt x="9111" y="8365"/>
                </a:cubicBezTo>
                <a:lnTo>
                  <a:pt x="0" y="10000"/>
                </a:lnTo>
                <a:lnTo>
                  <a:pt x="0" y="20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BDDD5B1-BA87-40F6-B089-8C7A93C5E331}"/>
              </a:ext>
            </a:extLst>
          </p:cNvPr>
          <p:cNvCxnSpPr>
            <a:cxnSpLocks/>
          </p:cNvCxnSpPr>
          <p:nvPr/>
        </p:nvCxnSpPr>
        <p:spPr>
          <a:xfrm>
            <a:off x="8417144" y="4830785"/>
            <a:ext cx="778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38EC92B-601D-4DA2-89A3-57E8094CE3BC}"/>
              </a:ext>
            </a:extLst>
          </p:cNvPr>
          <p:cNvCxnSpPr>
            <a:cxnSpLocks/>
          </p:cNvCxnSpPr>
          <p:nvPr/>
        </p:nvCxnSpPr>
        <p:spPr>
          <a:xfrm>
            <a:off x="8434461" y="4931231"/>
            <a:ext cx="7407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180D6DC-A7DF-4252-9C4C-D7CCBCB2440D}"/>
              </a:ext>
            </a:extLst>
          </p:cNvPr>
          <p:cNvCxnSpPr>
            <a:cxnSpLocks/>
          </p:cNvCxnSpPr>
          <p:nvPr/>
        </p:nvCxnSpPr>
        <p:spPr>
          <a:xfrm>
            <a:off x="8451780" y="5042066"/>
            <a:ext cx="744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5796BBB-1F18-4409-82DE-60D34CA42709}"/>
              </a:ext>
            </a:extLst>
          </p:cNvPr>
          <p:cNvSpPr txBox="1"/>
          <p:nvPr/>
        </p:nvSpPr>
        <p:spPr>
          <a:xfrm>
            <a:off x="8656320" y="4409440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J.</a:t>
            </a:r>
            <a:r>
              <a:rPr lang="en-IN" b="1" i="1" dirty="0">
                <a:latin typeface="+mj-lt"/>
              </a:rPr>
              <a:t> dS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6EB82C8-3269-4EA3-B4DB-C5D5CCF38D87}"/>
              </a:ext>
            </a:extLst>
          </p:cNvPr>
          <p:cNvCxnSpPr/>
          <p:nvPr/>
        </p:nvCxnSpPr>
        <p:spPr>
          <a:xfrm>
            <a:off x="5963920" y="4805680"/>
            <a:ext cx="1808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1F766D5-DA0F-46FC-AAB3-16A7777976C0}"/>
              </a:ext>
            </a:extLst>
          </p:cNvPr>
          <p:cNvCxnSpPr/>
          <p:nvPr/>
        </p:nvCxnSpPr>
        <p:spPr>
          <a:xfrm>
            <a:off x="5913120" y="5242560"/>
            <a:ext cx="1808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1E93923-5CC7-4472-A238-386C287A5248}"/>
              </a:ext>
            </a:extLst>
          </p:cNvPr>
          <p:cNvCxnSpPr/>
          <p:nvPr/>
        </p:nvCxnSpPr>
        <p:spPr>
          <a:xfrm>
            <a:off x="5913120" y="5709920"/>
            <a:ext cx="1808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FE7DF96-560B-4BA4-BEF9-11F54B71E1D5}"/>
              </a:ext>
            </a:extLst>
          </p:cNvPr>
          <p:cNvCxnSpPr/>
          <p:nvPr/>
        </p:nvCxnSpPr>
        <p:spPr>
          <a:xfrm>
            <a:off x="5933440" y="6146800"/>
            <a:ext cx="1808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28BE23-C12B-46A9-9550-6C3F38AB6D08}"/>
              </a:ext>
            </a:extLst>
          </p:cNvPr>
          <p:cNvSpPr txBox="1"/>
          <p:nvPr/>
        </p:nvSpPr>
        <p:spPr>
          <a:xfrm>
            <a:off x="388883" y="4782207"/>
            <a:ext cx="4193628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Current coming out of </a:t>
            </a:r>
            <a:r>
              <a:rPr lang="en-IN" b="1" i="1" dirty="0">
                <a:latin typeface="+mj-lt"/>
              </a:rPr>
              <a:t>dS </a:t>
            </a:r>
            <a:r>
              <a:rPr lang="en-IN" dirty="0">
                <a:latin typeface="+mj-lt"/>
              </a:rPr>
              <a:t>= </a:t>
            </a:r>
            <a:r>
              <a:rPr lang="en-IN" i="1" dirty="0" err="1">
                <a:latin typeface="+mj-lt"/>
              </a:rPr>
              <a:t>dI</a:t>
            </a:r>
            <a:r>
              <a:rPr lang="en-IN" i="1" dirty="0">
                <a:latin typeface="+mj-lt"/>
              </a:rPr>
              <a:t> </a:t>
            </a:r>
            <a:r>
              <a:rPr lang="en-IN" dirty="0">
                <a:latin typeface="+mj-lt"/>
              </a:rPr>
              <a:t>= </a:t>
            </a:r>
            <a:r>
              <a:rPr lang="en-IN" b="1" dirty="0" err="1">
                <a:latin typeface="+mj-lt"/>
              </a:rPr>
              <a:t>J.dS</a:t>
            </a:r>
            <a:endParaRPr lang="en-IN" b="1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C4EF7BE-EACD-4CA4-A7AC-F292602FF9B6}"/>
                  </a:ext>
                </a:extLst>
              </p:cNvPr>
              <p:cNvSpPr txBox="1"/>
              <p:nvPr/>
            </p:nvSpPr>
            <p:spPr>
              <a:xfrm>
                <a:off x="399393" y="5612524"/>
                <a:ext cx="5843752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Total Current coming out of the surface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b="1">
                            <a:latin typeface="+mj-lt"/>
                          </a:rPr>
                          <m:t>dS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C4EF7BE-EACD-4CA4-A7AC-F292602F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93" y="5612524"/>
                <a:ext cx="5843752" cy="413896"/>
              </a:xfrm>
              <a:prstGeom prst="rect">
                <a:avLst/>
              </a:prstGeom>
              <a:blipFill>
                <a:blip r:embed="rId4"/>
                <a:stretch>
                  <a:fillRect l="-939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85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E-6 1.11111E-6 L 0.25001 1.11111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25E-6 1.11111E-6 L 0.25 1.11111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95833E-6 1.11111E-6 L 0.25 1.1111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45833E-6 -4.44444E-6 L 0.25 -4.44444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95833E-6 1.11111E-6 L 0.25 1.11111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6" grpId="0" animBg="1"/>
      <p:bldP spid="35" grpId="0" animBg="1"/>
      <p:bldP spid="83" grpId="0"/>
      <p:bldP spid="20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059BF-95BC-4DBF-9BDA-534846A757C0}"/>
              </a:ext>
            </a:extLst>
          </p:cNvPr>
          <p:cNvSpPr txBox="1"/>
          <p:nvPr/>
        </p:nvSpPr>
        <p:spPr>
          <a:xfrm>
            <a:off x="315310" y="346841"/>
            <a:ext cx="9900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+mj-lt"/>
              </a:rPr>
              <a:t>Surface Current Density – </a:t>
            </a:r>
            <a:r>
              <a:rPr lang="en-IN" sz="2000" b="1" dirty="0">
                <a:solidFill>
                  <a:srgbClr val="00B050"/>
                </a:solidFill>
                <a:latin typeface="+mj-lt"/>
              </a:rPr>
              <a:t>K </a:t>
            </a:r>
            <a:r>
              <a:rPr lang="en-IN" sz="2000" dirty="0">
                <a:solidFill>
                  <a:srgbClr val="00B050"/>
                </a:solidFill>
                <a:latin typeface="+mj-lt"/>
              </a:rPr>
              <a:t>( A/m)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71873-B486-4B29-9A3D-E1C5C4012663}"/>
              </a:ext>
            </a:extLst>
          </p:cNvPr>
          <p:cNvSpPr txBox="1"/>
          <p:nvPr/>
        </p:nvSpPr>
        <p:spPr>
          <a:xfrm>
            <a:off x="346842" y="945931"/>
            <a:ext cx="961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Current per Unit Transverse width 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9EBDA81E-AD79-4EA6-AE38-48801A73509D}"/>
              </a:ext>
            </a:extLst>
          </p:cNvPr>
          <p:cNvSpPr/>
          <p:nvPr/>
        </p:nvSpPr>
        <p:spPr>
          <a:xfrm>
            <a:off x="5644055" y="998483"/>
            <a:ext cx="4151586" cy="1870841"/>
          </a:xfrm>
          <a:prstGeom prst="cub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70BDC9-1379-4677-85CB-80DEC43BA676}"/>
              </a:ext>
            </a:extLst>
          </p:cNvPr>
          <p:cNvCxnSpPr/>
          <p:nvPr/>
        </p:nvCxnSpPr>
        <p:spPr>
          <a:xfrm>
            <a:off x="6390290" y="1114097"/>
            <a:ext cx="2648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E22DB7-C3A0-430B-8388-84C66B8EBBCC}"/>
              </a:ext>
            </a:extLst>
          </p:cNvPr>
          <p:cNvCxnSpPr/>
          <p:nvPr/>
        </p:nvCxnSpPr>
        <p:spPr>
          <a:xfrm>
            <a:off x="6227380" y="1192925"/>
            <a:ext cx="2648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DB89C2-41BB-46CC-BE18-AD671489BB9B}"/>
              </a:ext>
            </a:extLst>
          </p:cNvPr>
          <p:cNvCxnSpPr/>
          <p:nvPr/>
        </p:nvCxnSpPr>
        <p:spPr>
          <a:xfrm>
            <a:off x="6011917" y="1313794"/>
            <a:ext cx="2648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F90C3D-BBDB-4A67-882F-D6F15E3D5E5D}"/>
              </a:ext>
            </a:extLst>
          </p:cNvPr>
          <p:cNvSpPr txBox="1"/>
          <p:nvPr/>
        </p:nvSpPr>
        <p:spPr>
          <a:xfrm>
            <a:off x="9144000" y="882869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EFF9C-73B7-49E7-BED6-3D31E7D46F20}"/>
              </a:ext>
            </a:extLst>
          </p:cNvPr>
          <p:cNvSpPr txBox="1"/>
          <p:nvPr/>
        </p:nvSpPr>
        <p:spPr>
          <a:xfrm>
            <a:off x="9448800" y="1313794"/>
            <a:ext cx="220717" cy="3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EB96F8-3122-4032-9298-87E7409A6BB2}"/>
              </a:ext>
            </a:extLst>
          </p:cNvPr>
          <p:cNvCxnSpPr/>
          <p:nvPr/>
        </p:nvCxnSpPr>
        <p:spPr>
          <a:xfrm flipV="1">
            <a:off x="9671125" y="1290918"/>
            <a:ext cx="172122" cy="18288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B6D865-02E2-4A69-9C79-C533DC1EF45A}"/>
              </a:ext>
            </a:extLst>
          </p:cNvPr>
          <p:cNvCxnSpPr/>
          <p:nvPr/>
        </p:nvCxnSpPr>
        <p:spPr>
          <a:xfrm flipH="1">
            <a:off x="9326880" y="1624405"/>
            <a:ext cx="182880" cy="161364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7CF56C-D48E-4963-865C-8BD47EBE07F3}"/>
              </a:ext>
            </a:extLst>
          </p:cNvPr>
          <p:cNvSpPr txBox="1"/>
          <p:nvPr/>
        </p:nvSpPr>
        <p:spPr>
          <a:xfrm>
            <a:off x="388883" y="1828800"/>
            <a:ext cx="435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Total current on the surface = </a:t>
            </a:r>
            <a:r>
              <a:rPr lang="en-IN" i="1" dirty="0">
                <a:latin typeface="+mj-lt"/>
              </a:rPr>
              <a:t>K b</a:t>
            </a:r>
          </a:p>
        </p:txBody>
      </p:sp>
    </p:spTree>
    <p:extLst>
      <p:ext uri="{BB962C8B-B14F-4D97-AF65-F5344CB8AC3E}">
        <p14:creationId xmlns:p14="http://schemas.microsoft.com/office/powerpoint/2010/main" val="210291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9" grpId="0"/>
      <p:bldP spid="10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25A49-4F51-497D-93C9-EAA3E14F025E}"/>
              </a:ext>
            </a:extLst>
          </p:cNvPr>
          <p:cNvSpPr txBox="1"/>
          <p:nvPr/>
        </p:nvSpPr>
        <p:spPr>
          <a:xfrm>
            <a:off x="283779" y="367862"/>
            <a:ext cx="10226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Equation of Continuity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A72D9-6D57-465C-8881-726C78593549}"/>
              </a:ext>
            </a:extLst>
          </p:cNvPr>
          <p:cNvSpPr txBox="1"/>
          <p:nvPr/>
        </p:nvSpPr>
        <p:spPr>
          <a:xfrm>
            <a:off x="399393" y="1051035"/>
            <a:ext cx="10068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a closed surface, in which volume charge is enclosed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E3660C1-5CD2-45FA-9F51-FE080F2D1FE5}"/>
              </a:ext>
            </a:extLst>
          </p:cNvPr>
          <p:cNvSpPr/>
          <p:nvPr/>
        </p:nvSpPr>
        <p:spPr>
          <a:xfrm>
            <a:off x="8503993" y="2587636"/>
            <a:ext cx="987878" cy="632642"/>
          </a:xfrm>
          <a:custGeom>
            <a:avLst/>
            <a:gdLst>
              <a:gd name="connsiteX0" fmla="*/ 0 w 1570383"/>
              <a:gd name="connsiteY0" fmla="*/ 591378 h 1182756"/>
              <a:gd name="connsiteX1" fmla="*/ 785192 w 1570383"/>
              <a:gd name="connsiteY1" fmla="*/ 0 h 1182756"/>
              <a:gd name="connsiteX2" fmla="*/ 1570384 w 1570383"/>
              <a:gd name="connsiteY2" fmla="*/ 591378 h 1182756"/>
              <a:gd name="connsiteX3" fmla="*/ 785192 w 1570383"/>
              <a:gd name="connsiteY3" fmla="*/ 1182756 h 1182756"/>
              <a:gd name="connsiteX4" fmla="*/ 0 w 1570383"/>
              <a:gd name="connsiteY4" fmla="*/ 591378 h 1182756"/>
              <a:gd name="connsiteX0" fmla="*/ 2150 w 1572534"/>
              <a:gd name="connsiteY0" fmla="*/ 591378 h 894892"/>
              <a:gd name="connsiteX1" fmla="*/ 787342 w 1572534"/>
              <a:gd name="connsiteY1" fmla="*/ 0 h 894892"/>
              <a:gd name="connsiteX2" fmla="*/ 1572534 w 1572534"/>
              <a:gd name="connsiteY2" fmla="*/ 591378 h 894892"/>
              <a:gd name="connsiteX3" fmla="*/ 628315 w 1572534"/>
              <a:gd name="connsiteY3" fmla="*/ 894522 h 894892"/>
              <a:gd name="connsiteX4" fmla="*/ 2150 w 1572534"/>
              <a:gd name="connsiteY4" fmla="*/ 591378 h 894892"/>
              <a:gd name="connsiteX0" fmla="*/ 13326 w 1583710"/>
              <a:gd name="connsiteY0" fmla="*/ 571500 h 875014"/>
              <a:gd name="connsiteX1" fmla="*/ 1106631 w 1583710"/>
              <a:gd name="connsiteY1" fmla="*/ 0 h 875014"/>
              <a:gd name="connsiteX2" fmla="*/ 1583710 w 1583710"/>
              <a:gd name="connsiteY2" fmla="*/ 571500 h 875014"/>
              <a:gd name="connsiteX3" fmla="*/ 639491 w 1583710"/>
              <a:gd name="connsiteY3" fmla="*/ 874644 h 875014"/>
              <a:gd name="connsiteX4" fmla="*/ 13326 w 1583710"/>
              <a:gd name="connsiteY4" fmla="*/ 571500 h 875014"/>
              <a:gd name="connsiteX0" fmla="*/ 8131 w 1237511"/>
              <a:gd name="connsiteY0" fmla="*/ 577490 h 884108"/>
              <a:gd name="connsiteX1" fmla="*/ 1101436 w 1237511"/>
              <a:gd name="connsiteY1" fmla="*/ 5990 h 884108"/>
              <a:gd name="connsiteX2" fmla="*/ 1220706 w 1237511"/>
              <a:gd name="connsiteY2" fmla="*/ 388647 h 884108"/>
              <a:gd name="connsiteX3" fmla="*/ 634296 w 1237511"/>
              <a:gd name="connsiteY3" fmla="*/ 880634 h 884108"/>
              <a:gd name="connsiteX4" fmla="*/ 8131 w 1237511"/>
              <a:gd name="connsiteY4" fmla="*/ 577490 h 884108"/>
              <a:gd name="connsiteX0" fmla="*/ 2404 w 1214979"/>
              <a:gd name="connsiteY0" fmla="*/ 512819 h 819266"/>
              <a:gd name="connsiteX1" fmla="*/ 867109 w 1214979"/>
              <a:gd name="connsiteY1" fmla="*/ 10893 h 819266"/>
              <a:gd name="connsiteX2" fmla="*/ 1214979 w 1214979"/>
              <a:gd name="connsiteY2" fmla="*/ 323976 h 819266"/>
              <a:gd name="connsiteX3" fmla="*/ 628569 w 1214979"/>
              <a:gd name="connsiteY3" fmla="*/ 815963 h 819266"/>
              <a:gd name="connsiteX4" fmla="*/ 2404 w 1214979"/>
              <a:gd name="connsiteY4" fmla="*/ 512819 h 819266"/>
              <a:gd name="connsiteX0" fmla="*/ 3281 w 1056830"/>
              <a:gd name="connsiteY0" fmla="*/ 333858 h 805990"/>
              <a:gd name="connsiteX1" fmla="*/ 708960 w 1056830"/>
              <a:gd name="connsiteY1" fmla="*/ 897 h 805990"/>
              <a:gd name="connsiteX2" fmla="*/ 1056830 w 1056830"/>
              <a:gd name="connsiteY2" fmla="*/ 313980 h 805990"/>
              <a:gd name="connsiteX3" fmla="*/ 470420 w 1056830"/>
              <a:gd name="connsiteY3" fmla="*/ 805967 h 805990"/>
              <a:gd name="connsiteX4" fmla="*/ 3281 w 1056830"/>
              <a:gd name="connsiteY4" fmla="*/ 333858 h 805990"/>
              <a:gd name="connsiteX0" fmla="*/ 3903 w 987878"/>
              <a:gd name="connsiteY0" fmla="*/ 438829 h 812630"/>
              <a:gd name="connsiteX1" fmla="*/ 640008 w 987878"/>
              <a:gd name="connsiteY1" fmla="*/ 6477 h 812630"/>
              <a:gd name="connsiteX2" fmla="*/ 987878 w 987878"/>
              <a:gd name="connsiteY2" fmla="*/ 319560 h 812630"/>
              <a:gd name="connsiteX3" fmla="*/ 401468 w 987878"/>
              <a:gd name="connsiteY3" fmla="*/ 811547 h 812630"/>
              <a:gd name="connsiteX4" fmla="*/ 3903 w 987878"/>
              <a:gd name="connsiteY4" fmla="*/ 438829 h 81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878" h="812630">
                <a:moveTo>
                  <a:pt x="3903" y="438829"/>
                </a:moveTo>
                <a:cubicBezTo>
                  <a:pt x="43660" y="304651"/>
                  <a:pt x="476012" y="26355"/>
                  <a:pt x="640008" y="6477"/>
                </a:cubicBezTo>
                <a:cubicBezTo>
                  <a:pt x="804004" y="-13401"/>
                  <a:pt x="987878" y="-7049"/>
                  <a:pt x="987878" y="319560"/>
                </a:cubicBezTo>
                <a:cubicBezTo>
                  <a:pt x="987878" y="646169"/>
                  <a:pt x="565464" y="791669"/>
                  <a:pt x="401468" y="811547"/>
                </a:cubicBezTo>
                <a:cubicBezTo>
                  <a:pt x="237472" y="831425"/>
                  <a:pt x="-35854" y="573007"/>
                  <a:pt x="3903" y="43882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CCDF779E-ECB9-4F93-BE08-8A765B746814}"/>
              </a:ext>
            </a:extLst>
          </p:cNvPr>
          <p:cNvSpPr/>
          <p:nvPr/>
        </p:nvSpPr>
        <p:spPr>
          <a:xfrm>
            <a:off x="7843809" y="1839326"/>
            <a:ext cx="2771181" cy="1887847"/>
          </a:xfrm>
          <a:custGeom>
            <a:avLst/>
            <a:gdLst>
              <a:gd name="connsiteX0" fmla="*/ 0 w 1981200"/>
              <a:gd name="connsiteY0" fmla="*/ 731520 h 1463040"/>
              <a:gd name="connsiteX1" fmla="*/ 990600 w 1981200"/>
              <a:gd name="connsiteY1" fmla="*/ 0 h 1463040"/>
              <a:gd name="connsiteX2" fmla="*/ 1981200 w 1981200"/>
              <a:gd name="connsiteY2" fmla="*/ 731520 h 1463040"/>
              <a:gd name="connsiteX3" fmla="*/ 990600 w 1981200"/>
              <a:gd name="connsiteY3" fmla="*/ 1463040 h 1463040"/>
              <a:gd name="connsiteX4" fmla="*/ 0 w 1981200"/>
              <a:gd name="connsiteY4" fmla="*/ 731520 h 1463040"/>
              <a:gd name="connsiteX0" fmla="*/ 0 w 2560320"/>
              <a:gd name="connsiteY0" fmla="*/ 777332 h 1517483"/>
              <a:gd name="connsiteX1" fmla="*/ 990600 w 2560320"/>
              <a:gd name="connsiteY1" fmla="*/ 45812 h 1517483"/>
              <a:gd name="connsiteX2" fmla="*/ 2560320 w 2560320"/>
              <a:gd name="connsiteY2" fmla="*/ 340452 h 1517483"/>
              <a:gd name="connsiteX3" fmla="*/ 990600 w 2560320"/>
              <a:gd name="connsiteY3" fmla="*/ 1508852 h 1517483"/>
              <a:gd name="connsiteX4" fmla="*/ 0 w 2560320"/>
              <a:gd name="connsiteY4" fmla="*/ 777332 h 1517483"/>
              <a:gd name="connsiteX0" fmla="*/ 4577 w 2564897"/>
              <a:gd name="connsiteY0" fmla="*/ 777332 h 1175486"/>
              <a:gd name="connsiteX1" fmla="*/ 995177 w 2564897"/>
              <a:gd name="connsiteY1" fmla="*/ 45812 h 1175486"/>
              <a:gd name="connsiteX2" fmla="*/ 2564897 w 2564897"/>
              <a:gd name="connsiteY2" fmla="*/ 340452 h 1175486"/>
              <a:gd name="connsiteX3" fmla="*/ 710697 w 2564897"/>
              <a:gd name="connsiteY3" fmla="*/ 1163412 h 1175486"/>
              <a:gd name="connsiteX4" fmla="*/ 4577 w 2564897"/>
              <a:gd name="connsiteY4" fmla="*/ 777332 h 1175486"/>
              <a:gd name="connsiteX0" fmla="*/ 3538 w 2695938"/>
              <a:gd name="connsiteY0" fmla="*/ 428157 h 1139824"/>
              <a:gd name="connsiteX1" fmla="*/ 1126218 w 2695938"/>
              <a:gd name="connsiteY1" fmla="*/ 21757 h 1139824"/>
              <a:gd name="connsiteX2" fmla="*/ 2695938 w 2695938"/>
              <a:gd name="connsiteY2" fmla="*/ 316397 h 1139824"/>
              <a:gd name="connsiteX3" fmla="*/ 841738 w 2695938"/>
              <a:gd name="connsiteY3" fmla="*/ 1139357 h 1139824"/>
              <a:gd name="connsiteX4" fmla="*/ 3538 w 2695938"/>
              <a:gd name="connsiteY4" fmla="*/ 428157 h 1139824"/>
              <a:gd name="connsiteX0" fmla="*/ 4793 w 2544793"/>
              <a:gd name="connsiteY0" fmla="*/ 482713 h 1144169"/>
              <a:gd name="connsiteX1" fmla="*/ 975073 w 2544793"/>
              <a:gd name="connsiteY1" fmla="*/ 25513 h 1144169"/>
              <a:gd name="connsiteX2" fmla="*/ 2544793 w 2544793"/>
              <a:gd name="connsiteY2" fmla="*/ 320153 h 1144169"/>
              <a:gd name="connsiteX3" fmla="*/ 690593 w 2544793"/>
              <a:gd name="connsiteY3" fmla="*/ 1143113 h 1144169"/>
              <a:gd name="connsiteX4" fmla="*/ 4793 w 2544793"/>
              <a:gd name="connsiteY4" fmla="*/ 482713 h 1144169"/>
              <a:gd name="connsiteX0" fmla="*/ 4230 w 2249590"/>
              <a:gd name="connsiteY0" fmla="*/ 523409 h 1186264"/>
              <a:gd name="connsiteX1" fmla="*/ 974510 w 2249590"/>
              <a:gd name="connsiteY1" fmla="*/ 66209 h 1186264"/>
              <a:gd name="connsiteX2" fmla="*/ 2249590 w 2249590"/>
              <a:gd name="connsiteY2" fmla="*/ 269409 h 1186264"/>
              <a:gd name="connsiteX3" fmla="*/ 690030 w 2249590"/>
              <a:gd name="connsiteY3" fmla="*/ 1183809 h 1186264"/>
              <a:gd name="connsiteX4" fmla="*/ 4230 w 2249590"/>
              <a:gd name="connsiteY4" fmla="*/ 523409 h 1186264"/>
              <a:gd name="connsiteX0" fmla="*/ 11163 w 2256523"/>
              <a:gd name="connsiteY0" fmla="*/ 646106 h 1309095"/>
              <a:gd name="connsiteX1" fmla="*/ 1194803 w 2256523"/>
              <a:gd name="connsiteY1" fmla="*/ 16186 h 1309095"/>
              <a:gd name="connsiteX2" fmla="*/ 2256523 w 2256523"/>
              <a:gd name="connsiteY2" fmla="*/ 392106 h 1309095"/>
              <a:gd name="connsiteX3" fmla="*/ 696963 w 2256523"/>
              <a:gd name="connsiteY3" fmla="*/ 1306506 h 1309095"/>
              <a:gd name="connsiteX4" fmla="*/ 11163 w 2256523"/>
              <a:gd name="connsiteY4" fmla="*/ 646106 h 1309095"/>
              <a:gd name="connsiteX0" fmla="*/ 45156 w 2290516"/>
              <a:gd name="connsiteY0" fmla="*/ 646106 h 1107139"/>
              <a:gd name="connsiteX1" fmla="*/ 1228796 w 2290516"/>
              <a:gd name="connsiteY1" fmla="*/ 16186 h 1107139"/>
              <a:gd name="connsiteX2" fmla="*/ 2290516 w 2290516"/>
              <a:gd name="connsiteY2" fmla="*/ 392106 h 1107139"/>
              <a:gd name="connsiteX3" fmla="*/ 446476 w 2290516"/>
              <a:gd name="connsiteY3" fmla="*/ 1103306 h 1107139"/>
              <a:gd name="connsiteX4" fmla="*/ 45156 w 2290516"/>
              <a:gd name="connsiteY4" fmla="*/ 646106 h 1107139"/>
              <a:gd name="connsiteX0" fmla="*/ 49453 w 2487853"/>
              <a:gd name="connsiteY0" fmla="*/ 630718 h 1088376"/>
              <a:gd name="connsiteX1" fmla="*/ 1233093 w 2487853"/>
              <a:gd name="connsiteY1" fmla="*/ 798 h 1088376"/>
              <a:gd name="connsiteX2" fmla="*/ 2487853 w 2487853"/>
              <a:gd name="connsiteY2" fmla="*/ 549438 h 1088376"/>
              <a:gd name="connsiteX3" fmla="*/ 450773 w 2487853"/>
              <a:gd name="connsiteY3" fmla="*/ 1087918 h 1088376"/>
              <a:gd name="connsiteX4" fmla="*/ 49453 w 2487853"/>
              <a:gd name="connsiteY4" fmla="*/ 630718 h 1088376"/>
              <a:gd name="connsiteX0" fmla="*/ 47806 w 2415086"/>
              <a:gd name="connsiteY0" fmla="*/ 671858 h 1135648"/>
              <a:gd name="connsiteX1" fmla="*/ 1231446 w 2415086"/>
              <a:gd name="connsiteY1" fmla="*/ 41938 h 1135648"/>
              <a:gd name="connsiteX2" fmla="*/ 2415086 w 2415086"/>
              <a:gd name="connsiteY2" fmla="*/ 326418 h 1135648"/>
              <a:gd name="connsiteX3" fmla="*/ 449126 w 2415086"/>
              <a:gd name="connsiteY3" fmla="*/ 1129058 h 1135648"/>
              <a:gd name="connsiteX4" fmla="*/ 47806 w 2415086"/>
              <a:gd name="connsiteY4" fmla="*/ 671858 h 1135648"/>
              <a:gd name="connsiteX0" fmla="*/ 44116 w 2238676"/>
              <a:gd name="connsiteY0" fmla="*/ 632485 h 1090839"/>
              <a:gd name="connsiteX1" fmla="*/ 1227756 w 2238676"/>
              <a:gd name="connsiteY1" fmla="*/ 2565 h 1090839"/>
              <a:gd name="connsiteX2" fmla="*/ 2238676 w 2238676"/>
              <a:gd name="connsiteY2" fmla="*/ 500405 h 1090839"/>
              <a:gd name="connsiteX3" fmla="*/ 445436 w 2238676"/>
              <a:gd name="connsiteY3" fmla="*/ 1089685 h 1090839"/>
              <a:gd name="connsiteX4" fmla="*/ 44116 w 2238676"/>
              <a:gd name="connsiteY4" fmla="*/ 632485 h 1090839"/>
              <a:gd name="connsiteX0" fmla="*/ 55718 w 2250278"/>
              <a:gd name="connsiteY0" fmla="*/ 730848 h 1189264"/>
              <a:gd name="connsiteX1" fmla="*/ 1408323 w 2250278"/>
              <a:gd name="connsiteY1" fmla="*/ 1536 h 1189264"/>
              <a:gd name="connsiteX2" fmla="*/ 2250278 w 2250278"/>
              <a:gd name="connsiteY2" fmla="*/ 598768 h 1189264"/>
              <a:gd name="connsiteX3" fmla="*/ 457038 w 2250278"/>
              <a:gd name="connsiteY3" fmla="*/ 1188048 h 1189264"/>
              <a:gd name="connsiteX4" fmla="*/ 55718 w 2250278"/>
              <a:gd name="connsiteY4" fmla="*/ 730848 h 1189264"/>
              <a:gd name="connsiteX0" fmla="*/ 56406 w 2250966"/>
              <a:gd name="connsiteY0" fmla="*/ 839699 h 1298192"/>
              <a:gd name="connsiteX1" fmla="*/ 1418950 w 2250966"/>
              <a:gd name="connsiteY1" fmla="*/ 1057 h 1298192"/>
              <a:gd name="connsiteX2" fmla="*/ 2250966 w 2250966"/>
              <a:gd name="connsiteY2" fmla="*/ 707619 h 1298192"/>
              <a:gd name="connsiteX3" fmla="*/ 457726 w 2250966"/>
              <a:gd name="connsiteY3" fmla="*/ 1296899 h 1298192"/>
              <a:gd name="connsiteX4" fmla="*/ 56406 w 2250966"/>
              <a:gd name="connsiteY4" fmla="*/ 839699 h 1298192"/>
              <a:gd name="connsiteX0" fmla="*/ 62630 w 2257190"/>
              <a:gd name="connsiteY0" fmla="*/ 740728 h 1199151"/>
              <a:gd name="connsiteX1" fmla="*/ 1514626 w 2257190"/>
              <a:gd name="connsiteY1" fmla="*/ 1477 h 1199151"/>
              <a:gd name="connsiteX2" fmla="*/ 2257190 w 2257190"/>
              <a:gd name="connsiteY2" fmla="*/ 608648 h 1199151"/>
              <a:gd name="connsiteX3" fmla="*/ 463950 w 2257190"/>
              <a:gd name="connsiteY3" fmla="*/ 1197928 h 1199151"/>
              <a:gd name="connsiteX4" fmla="*/ 62630 w 2257190"/>
              <a:gd name="connsiteY4" fmla="*/ 740728 h 1199151"/>
              <a:gd name="connsiteX0" fmla="*/ 63770 w 2308025"/>
              <a:gd name="connsiteY0" fmla="*/ 739634 h 1197225"/>
              <a:gd name="connsiteX1" fmla="*/ 1515766 w 2308025"/>
              <a:gd name="connsiteY1" fmla="*/ 383 h 1197225"/>
              <a:gd name="connsiteX2" fmla="*/ 2308025 w 2308025"/>
              <a:gd name="connsiteY2" fmla="*/ 667189 h 1197225"/>
              <a:gd name="connsiteX3" fmla="*/ 465090 w 2308025"/>
              <a:gd name="connsiteY3" fmla="*/ 1196834 h 1197225"/>
              <a:gd name="connsiteX4" fmla="*/ 63770 w 2308025"/>
              <a:gd name="connsiteY4" fmla="*/ 739634 h 1197225"/>
              <a:gd name="connsiteX0" fmla="*/ 63770 w 2308025"/>
              <a:gd name="connsiteY0" fmla="*/ 741313 h 1200100"/>
              <a:gd name="connsiteX1" fmla="*/ 1515766 w 2308025"/>
              <a:gd name="connsiteY1" fmla="*/ 2062 h 1200100"/>
              <a:gd name="connsiteX2" fmla="*/ 2308025 w 2308025"/>
              <a:gd name="connsiteY2" fmla="*/ 589355 h 1200100"/>
              <a:gd name="connsiteX3" fmla="*/ 465090 w 2308025"/>
              <a:gd name="connsiteY3" fmla="*/ 1198513 h 1200100"/>
              <a:gd name="connsiteX4" fmla="*/ 63770 w 2308025"/>
              <a:gd name="connsiteY4" fmla="*/ 741313 h 1200100"/>
              <a:gd name="connsiteX0" fmla="*/ 70829 w 2315084"/>
              <a:gd name="connsiteY0" fmla="*/ 741313 h 1032480"/>
              <a:gd name="connsiteX1" fmla="*/ 1522825 w 2315084"/>
              <a:gd name="connsiteY1" fmla="*/ 2062 h 1032480"/>
              <a:gd name="connsiteX2" fmla="*/ 2315084 w 2315084"/>
              <a:gd name="connsiteY2" fmla="*/ 589355 h 1032480"/>
              <a:gd name="connsiteX3" fmla="*/ 442332 w 2315084"/>
              <a:gd name="connsiteY3" fmla="*/ 1029548 h 1032480"/>
              <a:gd name="connsiteX4" fmla="*/ 70829 w 2315084"/>
              <a:gd name="connsiteY4" fmla="*/ 741313 h 103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5084" h="1032480">
                <a:moveTo>
                  <a:pt x="70829" y="741313"/>
                </a:moveTo>
                <a:cubicBezTo>
                  <a:pt x="250911" y="570065"/>
                  <a:pt x="1148782" y="27388"/>
                  <a:pt x="1522825" y="2062"/>
                </a:cubicBezTo>
                <a:cubicBezTo>
                  <a:pt x="1896868" y="-23264"/>
                  <a:pt x="2315084" y="185348"/>
                  <a:pt x="2315084" y="589355"/>
                </a:cubicBezTo>
                <a:cubicBezTo>
                  <a:pt x="2315084" y="993362"/>
                  <a:pt x="816375" y="1004222"/>
                  <a:pt x="442332" y="1029548"/>
                </a:cubicBezTo>
                <a:cubicBezTo>
                  <a:pt x="68289" y="1054874"/>
                  <a:pt x="-109253" y="912561"/>
                  <a:pt x="70829" y="741313"/>
                </a:cubicBezTo>
                <a:close/>
              </a:path>
            </a:pathLst>
          </a:custGeom>
          <a:gradFill>
            <a:gsLst>
              <a:gs pos="88440">
                <a:srgbClr val="AEC2E5"/>
              </a:gs>
              <a:gs pos="51000">
                <a:schemeClr val="accent1">
                  <a:lumMod val="5000"/>
                  <a:lumOff val="95000"/>
                  <a:alpha val="25000"/>
                </a:schemeClr>
              </a:gs>
              <a:gs pos="7000">
                <a:schemeClr val="accent1">
                  <a:lumMod val="45000"/>
                  <a:lumOff val="55000"/>
                </a:schemeClr>
              </a:gs>
              <a:gs pos="9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15D6E-D17D-4037-B4B8-B1CBBE797C44}"/>
              </a:ext>
            </a:extLst>
          </p:cNvPr>
          <p:cNvSpPr txBox="1"/>
          <p:nvPr/>
        </p:nvSpPr>
        <p:spPr>
          <a:xfrm>
            <a:off x="8567532" y="2773017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E3FE2-C756-44E6-B19D-5F6C7BCD73CF}"/>
              </a:ext>
            </a:extLst>
          </p:cNvPr>
          <p:cNvSpPr txBox="1"/>
          <p:nvPr/>
        </p:nvSpPr>
        <p:spPr>
          <a:xfrm>
            <a:off x="8789506" y="2627243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C3C7E-1FBE-41E6-A373-1CCDBEB05C67}"/>
              </a:ext>
            </a:extLst>
          </p:cNvPr>
          <p:cNvSpPr txBox="1"/>
          <p:nvPr/>
        </p:nvSpPr>
        <p:spPr>
          <a:xfrm>
            <a:off x="8809385" y="2925417"/>
            <a:ext cx="28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C308C2-A974-4673-B7E0-651E46373B2D}"/>
                  </a:ext>
                </a:extLst>
              </p:cNvPr>
              <p:cNvSpPr txBox="1"/>
              <p:nvPr/>
            </p:nvSpPr>
            <p:spPr>
              <a:xfrm>
                <a:off x="8895522" y="2514600"/>
                <a:ext cx="6957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C308C2-A974-4673-B7E0-651E4637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2" y="2514600"/>
                <a:ext cx="695739" cy="30777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5DD6019-583F-4312-B8C6-552709DC52A9}"/>
              </a:ext>
            </a:extLst>
          </p:cNvPr>
          <p:cNvSpPr txBox="1"/>
          <p:nvPr/>
        </p:nvSpPr>
        <p:spPr>
          <a:xfrm>
            <a:off x="7851913" y="3180522"/>
            <a:ext cx="51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S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9735FEBA-4F96-4EE8-BDD6-D83C968730E8}"/>
              </a:ext>
            </a:extLst>
          </p:cNvPr>
          <p:cNvSpPr/>
          <p:nvPr/>
        </p:nvSpPr>
        <p:spPr>
          <a:xfrm>
            <a:off x="9163878" y="2892287"/>
            <a:ext cx="139147" cy="109331"/>
          </a:xfrm>
          <a:prstGeom prst="cub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51EF8-BB06-449E-8AA8-691A88C1E064}"/>
              </a:ext>
            </a:extLst>
          </p:cNvPr>
          <p:cNvSpPr txBox="1"/>
          <p:nvPr/>
        </p:nvSpPr>
        <p:spPr>
          <a:xfrm>
            <a:off x="9362662" y="275313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F74B62-0FF7-4910-AB23-FC81B89C4D6C}"/>
                  </a:ext>
                </a:extLst>
              </p:cNvPr>
              <p:cNvSpPr txBox="1"/>
              <p:nvPr/>
            </p:nvSpPr>
            <p:spPr>
              <a:xfrm>
                <a:off x="798900" y="1943157"/>
                <a:ext cx="1987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dQ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dv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F74B62-0FF7-4910-AB23-FC81B89C4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0" y="1943157"/>
                <a:ext cx="1987826" cy="369332"/>
              </a:xfrm>
              <a:prstGeom prst="rect">
                <a:avLst/>
              </a:prstGeom>
              <a:blipFill>
                <a:blip r:embed="rId4"/>
                <a:stretch>
                  <a:fillRect l="-245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65426B-C9F6-49C4-819B-0CFBB8DA8BD8}"/>
                  </a:ext>
                </a:extLst>
              </p:cNvPr>
              <p:cNvSpPr txBox="1"/>
              <p:nvPr/>
            </p:nvSpPr>
            <p:spPr>
              <a:xfrm>
                <a:off x="3577172" y="1922822"/>
                <a:ext cx="2683565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65426B-C9F6-49C4-819B-0CFBB8DA8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72" y="1922822"/>
                <a:ext cx="2683565" cy="413575"/>
              </a:xfrm>
              <a:prstGeom prst="rect">
                <a:avLst/>
              </a:prstGeom>
              <a:blipFill>
                <a:blip r:embed="rId5"/>
                <a:stretch>
                  <a:fillRect l="-455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30">
            <a:extLst>
              <a:ext uri="{FF2B5EF4-FFF2-40B4-BE49-F238E27FC236}">
                <a16:creationId xmlns:a16="http://schemas.microsoft.com/office/drawing/2014/main" id="{EA941FE2-AF51-4085-A3B3-DE8DA6D2952C}"/>
              </a:ext>
            </a:extLst>
          </p:cNvPr>
          <p:cNvSpPr/>
          <p:nvPr/>
        </p:nvSpPr>
        <p:spPr>
          <a:xfrm rot="12834483">
            <a:off x="9936310" y="2092499"/>
            <a:ext cx="165002" cy="147038"/>
          </a:xfrm>
          <a:custGeom>
            <a:avLst/>
            <a:gdLst>
              <a:gd name="connsiteX0" fmla="*/ 0 w 1023730"/>
              <a:gd name="connsiteY0" fmla="*/ 124241 h 745434"/>
              <a:gd name="connsiteX1" fmla="*/ 124241 w 1023730"/>
              <a:gd name="connsiteY1" fmla="*/ 0 h 745434"/>
              <a:gd name="connsiteX2" fmla="*/ 899489 w 1023730"/>
              <a:gd name="connsiteY2" fmla="*/ 0 h 745434"/>
              <a:gd name="connsiteX3" fmla="*/ 1023730 w 1023730"/>
              <a:gd name="connsiteY3" fmla="*/ 124241 h 745434"/>
              <a:gd name="connsiteX4" fmla="*/ 1023730 w 1023730"/>
              <a:gd name="connsiteY4" fmla="*/ 621193 h 745434"/>
              <a:gd name="connsiteX5" fmla="*/ 899489 w 1023730"/>
              <a:gd name="connsiteY5" fmla="*/ 745434 h 745434"/>
              <a:gd name="connsiteX6" fmla="*/ 124241 w 1023730"/>
              <a:gd name="connsiteY6" fmla="*/ 745434 h 745434"/>
              <a:gd name="connsiteX7" fmla="*/ 0 w 1023730"/>
              <a:gd name="connsiteY7" fmla="*/ 621193 h 745434"/>
              <a:gd name="connsiteX8" fmla="*/ 0 w 1023730"/>
              <a:gd name="connsiteY8" fmla="*/ 124241 h 745434"/>
              <a:gd name="connsiteX0" fmla="*/ 0 w 1023730"/>
              <a:gd name="connsiteY0" fmla="*/ 124241 h 745434"/>
              <a:gd name="connsiteX1" fmla="*/ 124241 w 1023730"/>
              <a:gd name="connsiteY1" fmla="*/ 0 h 745434"/>
              <a:gd name="connsiteX2" fmla="*/ 849793 w 1023730"/>
              <a:gd name="connsiteY2" fmla="*/ 79514 h 745434"/>
              <a:gd name="connsiteX3" fmla="*/ 1023730 w 1023730"/>
              <a:gd name="connsiteY3" fmla="*/ 124241 h 745434"/>
              <a:gd name="connsiteX4" fmla="*/ 1023730 w 1023730"/>
              <a:gd name="connsiteY4" fmla="*/ 621193 h 745434"/>
              <a:gd name="connsiteX5" fmla="*/ 899489 w 1023730"/>
              <a:gd name="connsiteY5" fmla="*/ 745434 h 745434"/>
              <a:gd name="connsiteX6" fmla="*/ 124241 w 1023730"/>
              <a:gd name="connsiteY6" fmla="*/ 745434 h 745434"/>
              <a:gd name="connsiteX7" fmla="*/ 0 w 1023730"/>
              <a:gd name="connsiteY7" fmla="*/ 621193 h 745434"/>
              <a:gd name="connsiteX8" fmla="*/ 0 w 1023730"/>
              <a:gd name="connsiteY8" fmla="*/ 124241 h 745434"/>
              <a:gd name="connsiteX0" fmla="*/ 0 w 1023730"/>
              <a:gd name="connsiteY0" fmla="*/ 48753 h 669946"/>
              <a:gd name="connsiteX1" fmla="*/ 223632 w 1023730"/>
              <a:gd name="connsiteY1" fmla="*/ 43782 h 669946"/>
              <a:gd name="connsiteX2" fmla="*/ 849793 w 1023730"/>
              <a:gd name="connsiteY2" fmla="*/ 4026 h 669946"/>
              <a:gd name="connsiteX3" fmla="*/ 1023730 w 1023730"/>
              <a:gd name="connsiteY3" fmla="*/ 48753 h 669946"/>
              <a:gd name="connsiteX4" fmla="*/ 1023730 w 1023730"/>
              <a:gd name="connsiteY4" fmla="*/ 545705 h 669946"/>
              <a:gd name="connsiteX5" fmla="*/ 899489 w 1023730"/>
              <a:gd name="connsiteY5" fmla="*/ 669946 h 669946"/>
              <a:gd name="connsiteX6" fmla="*/ 124241 w 1023730"/>
              <a:gd name="connsiteY6" fmla="*/ 669946 h 669946"/>
              <a:gd name="connsiteX7" fmla="*/ 0 w 1023730"/>
              <a:gd name="connsiteY7" fmla="*/ 545705 h 669946"/>
              <a:gd name="connsiteX8" fmla="*/ 0 w 1023730"/>
              <a:gd name="connsiteY8" fmla="*/ 48753 h 669946"/>
              <a:gd name="connsiteX0" fmla="*/ 0 w 1023730"/>
              <a:gd name="connsiteY0" fmla="*/ 48753 h 669946"/>
              <a:gd name="connsiteX1" fmla="*/ 243511 w 1023730"/>
              <a:gd name="connsiteY1" fmla="*/ 103417 h 669946"/>
              <a:gd name="connsiteX2" fmla="*/ 849793 w 1023730"/>
              <a:gd name="connsiteY2" fmla="*/ 4026 h 669946"/>
              <a:gd name="connsiteX3" fmla="*/ 1023730 w 1023730"/>
              <a:gd name="connsiteY3" fmla="*/ 48753 h 669946"/>
              <a:gd name="connsiteX4" fmla="*/ 1023730 w 1023730"/>
              <a:gd name="connsiteY4" fmla="*/ 545705 h 669946"/>
              <a:gd name="connsiteX5" fmla="*/ 899489 w 1023730"/>
              <a:gd name="connsiteY5" fmla="*/ 669946 h 669946"/>
              <a:gd name="connsiteX6" fmla="*/ 124241 w 1023730"/>
              <a:gd name="connsiteY6" fmla="*/ 669946 h 669946"/>
              <a:gd name="connsiteX7" fmla="*/ 0 w 1023730"/>
              <a:gd name="connsiteY7" fmla="*/ 545705 h 669946"/>
              <a:gd name="connsiteX8" fmla="*/ 0 w 1023730"/>
              <a:gd name="connsiteY8" fmla="*/ 48753 h 669946"/>
              <a:gd name="connsiteX0" fmla="*/ 0 w 1023730"/>
              <a:gd name="connsiteY0" fmla="*/ 23513 h 644706"/>
              <a:gd name="connsiteX1" fmla="*/ 243511 w 1023730"/>
              <a:gd name="connsiteY1" fmla="*/ 78177 h 644706"/>
              <a:gd name="connsiteX2" fmla="*/ 849793 w 1023730"/>
              <a:gd name="connsiteY2" fmla="*/ 58299 h 644706"/>
              <a:gd name="connsiteX3" fmla="*/ 1023730 w 1023730"/>
              <a:gd name="connsiteY3" fmla="*/ 23513 h 644706"/>
              <a:gd name="connsiteX4" fmla="*/ 1023730 w 1023730"/>
              <a:gd name="connsiteY4" fmla="*/ 520465 h 644706"/>
              <a:gd name="connsiteX5" fmla="*/ 899489 w 1023730"/>
              <a:gd name="connsiteY5" fmla="*/ 644706 h 644706"/>
              <a:gd name="connsiteX6" fmla="*/ 124241 w 1023730"/>
              <a:gd name="connsiteY6" fmla="*/ 644706 h 644706"/>
              <a:gd name="connsiteX7" fmla="*/ 0 w 1023730"/>
              <a:gd name="connsiteY7" fmla="*/ 520465 h 644706"/>
              <a:gd name="connsiteX8" fmla="*/ 0 w 1023730"/>
              <a:gd name="connsiteY8" fmla="*/ 23513 h 644706"/>
              <a:gd name="connsiteX0" fmla="*/ 0 w 1023730"/>
              <a:gd name="connsiteY0" fmla="*/ 23513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99489 w 1023730"/>
              <a:gd name="connsiteY5" fmla="*/ 644706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0 w 1023730"/>
              <a:gd name="connsiteY8" fmla="*/ 23513 h 704341"/>
              <a:gd name="connsiteX0" fmla="*/ 0 w 1023730"/>
              <a:gd name="connsiteY0" fmla="*/ 23513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69672 w 1023730"/>
              <a:gd name="connsiteY5" fmla="*/ 684462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0 w 1023730"/>
              <a:gd name="connsiteY8" fmla="*/ 23513 h 704341"/>
              <a:gd name="connsiteX0" fmla="*/ 9939 w 1023730"/>
              <a:gd name="connsiteY0" fmla="*/ 63269 h 704341"/>
              <a:gd name="connsiteX1" fmla="*/ 243511 w 1023730"/>
              <a:gd name="connsiteY1" fmla="*/ 78177 h 704341"/>
              <a:gd name="connsiteX2" fmla="*/ 849793 w 1023730"/>
              <a:gd name="connsiteY2" fmla="*/ 58299 h 704341"/>
              <a:gd name="connsiteX3" fmla="*/ 1023730 w 1023730"/>
              <a:gd name="connsiteY3" fmla="*/ 23513 h 704341"/>
              <a:gd name="connsiteX4" fmla="*/ 1023730 w 1023730"/>
              <a:gd name="connsiteY4" fmla="*/ 520465 h 704341"/>
              <a:gd name="connsiteX5" fmla="*/ 869672 w 1023730"/>
              <a:gd name="connsiteY5" fmla="*/ 684462 h 704341"/>
              <a:gd name="connsiteX6" fmla="*/ 163998 w 1023730"/>
              <a:gd name="connsiteY6" fmla="*/ 704341 h 704341"/>
              <a:gd name="connsiteX7" fmla="*/ 0 w 1023730"/>
              <a:gd name="connsiteY7" fmla="*/ 520465 h 704341"/>
              <a:gd name="connsiteX8" fmla="*/ 9939 w 1023730"/>
              <a:gd name="connsiteY8" fmla="*/ 63269 h 70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730" h="704341">
                <a:moveTo>
                  <a:pt x="9939" y="63269"/>
                </a:moveTo>
                <a:cubicBezTo>
                  <a:pt x="9939" y="-5347"/>
                  <a:pt x="174895" y="78177"/>
                  <a:pt x="243511" y="78177"/>
                </a:cubicBezTo>
                <a:cubicBezTo>
                  <a:pt x="501927" y="78177"/>
                  <a:pt x="591377" y="58299"/>
                  <a:pt x="849793" y="58299"/>
                </a:cubicBezTo>
                <a:cubicBezTo>
                  <a:pt x="918409" y="58299"/>
                  <a:pt x="1023730" y="-45103"/>
                  <a:pt x="1023730" y="23513"/>
                </a:cubicBezTo>
                <a:lnTo>
                  <a:pt x="1023730" y="520465"/>
                </a:lnTo>
                <a:cubicBezTo>
                  <a:pt x="1023730" y="589081"/>
                  <a:pt x="938288" y="684462"/>
                  <a:pt x="869672" y="684462"/>
                </a:cubicBezTo>
                <a:lnTo>
                  <a:pt x="163998" y="704341"/>
                </a:lnTo>
                <a:cubicBezTo>
                  <a:pt x="95382" y="704341"/>
                  <a:pt x="0" y="589081"/>
                  <a:pt x="0" y="520465"/>
                </a:cubicBezTo>
                <a:lnTo>
                  <a:pt x="9939" y="63269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9F9238-66B4-43A2-9B7D-73A9F8B4C8A5}"/>
              </a:ext>
            </a:extLst>
          </p:cNvPr>
          <p:cNvCxnSpPr>
            <a:cxnSpLocks/>
          </p:cNvCxnSpPr>
          <p:nvPr/>
        </p:nvCxnSpPr>
        <p:spPr>
          <a:xfrm flipV="1">
            <a:off x="10028359" y="1520687"/>
            <a:ext cx="487241" cy="644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679A51-D1EB-4180-BF79-D41F89EA5F84}"/>
              </a:ext>
            </a:extLst>
          </p:cNvPr>
          <p:cNvSpPr txBox="1"/>
          <p:nvPr/>
        </p:nvSpPr>
        <p:spPr>
          <a:xfrm>
            <a:off x="9541566" y="1918252"/>
            <a:ext cx="496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+mj-lt"/>
              </a:rPr>
              <a:t>d</a:t>
            </a:r>
            <a:r>
              <a:rPr lang="en-IN" sz="1600" dirty="0">
                <a:latin typeface="+mj-lt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472731-631D-4707-A8D1-63655378B064}"/>
              </a:ext>
            </a:extLst>
          </p:cNvPr>
          <p:cNvSpPr txBox="1"/>
          <p:nvPr/>
        </p:nvSpPr>
        <p:spPr>
          <a:xfrm>
            <a:off x="10282030" y="1729409"/>
            <a:ext cx="24365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N" i="1" dirty="0">
                <a:latin typeface="+mj-lt"/>
              </a:rPr>
              <a:t>d</a:t>
            </a:r>
            <a:r>
              <a:rPr lang="en-IN" b="1" i="1" dirty="0">
                <a:latin typeface="+mj-lt"/>
              </a:rPr>
              <a:t>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CA01C0-27F1-4C58-9D77-C8D7C8C4A8E8}"/>
              </a:ext>
            </a:extLst>
          </p:cNvPr>
          <p:cNvCxnSpPr>
            <a:cxnSpLocks/>
            <a:endCxn id="22" idx="0"/>
          </p:cNvCxnSpPr>
          <p:nvPr/>
        </p:nvCxnSpPr>
        <p:spPr>
          <a:xfrm flipV="1">
            <a:off x="10028011" y="1387365"/>
            <a:ext cx="56665" cy="773736"/>
          </a:xfrm>
          <a:prstGeom prst="straightConnector1">
            <a:avLst/>
          </a:prstGeom>
          <a:ln w="158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758BDE-1218-413D-80F8-BDDB8BEC93D9}"/>
              </a:ext>
            </a:extLst>
          </p:cNvPr>
          <p:cNvSpPr txBox="1"/>
          <p:nvPr/>
        </p:nvSpPr>
        <p:spPr>
          <a:xfrm>
            <a:off x="9753600" y="1387365"/>
            <a:ext cx="662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J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8FA07-A31E-450A-8205-9EBCAC78D45C}"/>
              </a:ext>
            </a:extLst>
          </p:cNvPr>
          <p:cNvSpPr txBox="1"/>
          <p:nvPr/>
        </p:nvSpPr>
        <p:spPr>
          <a:xfrm>
            <a:off x="325821" y="3163614"/>
            <a:ext cx="668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Current out of </a:t>
            </a:r>
            <a:r>
              <a:rPr lang="en-IN" i="1" dirty="0">
                <a:latin typeface="+mj-lt"/>
              </a:rPr>
              <a:t>d</a:t>
            </a:r>
            <a:r>
              <a:rPr lang="en-IN" b="1" i="1" dirty="0">
                <a:latin typeface="+mj-lt"/>
              </a:rPr>
              <a:t>S</a:t>
            </a:r>
            <a:r>
              <a:rPr lang="en-IN" dirty="0">
                <a:latin typeface="+mj-lt"/>
              </a:rPr>
              <a:t> = </a:t>
            </a:r>
            <a:r>
              <a:rPr lang="en-IN" b="1" dirty="0">
                <a:latin typeface="+mj-lt"/>
              </a:rPr>
              <a:t>J.</a:t>
            </a:r>
            <a:r>
              <a:rPr lang="en-IN" i="1" dirty="0">
                <a:latin typeface="+mj-lt"/>
              </a:rPr>
              <a:t>d</a:t>
            </a:r>
            <a:r>
              <a:rPr lang="en-IN" b="1" i="1" dirty="0">
                <a:latin typeface="+mj-lt"/>
              </a:rPr>
              <a:t>S</a:t>
            </a:r>
            <a:endParaRPr lang="en-IN" i="1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A7A0FA-7901-47D9-B1D2-41DDA8527C27}"/>
              </a:ext>
            </a:extLst>
          </p:cNvPr>
          <p:cNvSpPr txBox="1"/>
          <p:nvPr/>
        </p:nvSpPr>
        <p:spPr>
          <a:xfrm>
            <a:off x="304801" y="3615559"/>
            <a:ext cx="7220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Total Current out of the surface </a:t>
            </a:r>
            <a:r>
              <a:rPr lang="en-IN" i="1" dirty="0">
                <a:latin typeface="+mj-lt"/>
              </a:rPr>
              <a:t>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CD76D9-8D9D-46B2-9774-40BB2343D584}"/>
                  </a:ext>
                </a:extLst>
              </p:cNvPr>
              <p:cNvSpPr txBox="1"/>
              <p:nvPr/>
            </p:nvSpPr>
            <p:spPr>
              <a:xfrm>
                <a:off x="1797270" y="4025462"/>
                <a:ext cx="1198179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latin typeface="+mj-lt"/>
                  </a:rPr>
                  <a:t>I </a:t>
                </a:r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i="1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b="1" i="1">
                            <a:latin typeface="+mj-lt"/>
                          </a:rPr>
                          <m:t>S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CD76D9-8D9D-46B2-9774-40BB2343D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270" y="4025462"/>
                <a:ext cx="1198179" cy="413896"/>
              </a:xfrm>
              <a:prstGeom prst="rect">
                <a:avLst/>
              </a:prstGeom>
              <a:blipFill>
                <a:blip r:embed="rId6"/>
                <a:stretch>
                  <a:fillRect l="-8163" t="-132353" r="-16837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D5ED4B-4A25-484F-9258-DAF3C746B03A}"/>
                  </a:ext>
                </a:extLst>
              </p:cNvPr>
              <p:cNvSpPr txBox="1"/>
              <p:nvPr/>
            </p:nvSpPr>
            <p:spPr>
              <a:xfrm>
                <a:off x="2890346" y="3972910"/>
                <a:ext cx="2743200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D5ED4B-4A25-484F-9258-DAF3C746B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346" y="3972910"/>
                <a:ext cx="2743200" cy="508537"/>
              </a:xfrm>
              <a:prstGeom prst="rect">
                <a:avLst/>
              </a:prstGeom>
              <a:blipFill>
                <a:blip r:embed="rId7"/>
                <a:stretch>
                  <a:fillRect l="-1778" b="-3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66CBF9A-D328-4DAD-B3EF-A314AB33C024}"/>
              </a:ext>
            </a:extLst>
          </p:cNvPr>
          <p:cNvSpPr txBox="1"/>
          <p:nvPr/>
        </p:nvSpPr>
        <p:spPr>
          <a:xfrm>
            <a:off x="683172" y="4740165"/>
            <a:ext cx="6011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From Divergence Theorem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3F9BD-476D-494C-A304-A6B99C17ECFA}"/>
                  </a:ext>
                </a:extLst>
              </p:cNvPr>
              <p:cNvSpPr txBox="1"/>
              <p:nvPr/>
            </p:nvSpPr>
            <p:spPr>
              <a:xfrm>
                <a:off x="662152" y="5307724"/>
                <a:ext cx="2554014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IN" i="1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IN" b="1" i="1">
                            <a:latin typeface="+mj-lt"/>
                          </a:rPr>
                          <m:t>S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𝐉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3F9BD-476D-494C-A304-A6B99C17E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52" y="5307724"/>
                <a:ext cx="2554014" cy="413575"/>
              </a:xfrm>
              <a:prstGeom prst="rect">
                <a:avLst/>
              </a:prstGeom>
              <a:blipFill>
                <a:blip r:embed="rId8"/>
                <a:stretch>
                  <a:fillRect l="-16229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BF8329-4AB9-4FFB-942E-04D7613E55F3}"/>
                  </a:ext>
                </a:extLst>
              </p:cNvPr>
              <p:cNvSpPr txBox="1"/>
              <p:nvPr/>
            </p:nvSpPr>
            <p:spPr>
              <a:xfrm>
                <a:off x="2879834" y="5265682"/>
                <a:ext cx="956441" cy="768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  <a:p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BF8329-4AB9-4FFB-942E-04D7613E5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834" y="5265682"/>
                <a:ext cx="956441" cy="768287"/>
              </a:xfrm>
              <a:prstGeom prst="rect">
                <a:avLst/>
              </a:prstGeom>
              <a:blipFill>
                <a:blip r:embed="rId9"/>
                <a:stretch>
                  <a:fillRect l="-50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7F1CCA8-FE0E-4B2A-ACC0-3C1EB88D9009}"/>
                  </a:ext>
                </a:extLst>
              </p:cNvPr>
              <p:cNvSpPr txBox="1"/>
              <p:nvPr/>
            </p:nvSpPr>
            <p:spPr>
              <a:xfrm>
                <a:off x="3678620" y="5244661"/>
                <a:ext cx="1387365" cy="542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𝑜𝑙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nary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7F1CCA8-FE0E-4B2A-ACC0-3C1EB88D9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620" y="5244661"/>
                <a:ext cx="1387365" cy="542200"/>
              </a:xfrm>
              <a:prstGeom prst="rect">
                <a:avLst/>
              </a:prstGeom>
              <a:blipFill>
                <a:blip r:embed="rId10"/>
                <a:stretch>
                  <a:fillRect l="-3509" b="-5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D97ACC-4A43-4374-A1EB-01129152D544}"/>
                  </a:ext>
                </a:extLst>
              </p:cNvPr>
              <p:cNvSpPr txBox="1"/>
              <p:nvPr/>
            </p:nvSpPr>
            <p:spPr>
              <a:xfrm>
                <a:off x="5076497" y="5265683"/>
                <a:ext cx="1608083" cy="510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dv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D97ACC-4A43-4374-A1EB-01129152D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497" y="5265683"/>
                <a:ext cx="1608083" cy="510011"/>
              </a:xfrm>
              <a:prstGeom prst="rect">
                <a:avLst/>
              </a:prstGeom>
              <a:blipFill>
                <a:blip r:embed="rId11"/>
                <a:stretch>
                  <a:fillRect l="-14394" t="-95181" b="-1518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4000AA2-E83C-4669-8F4C-314FE24045B9}"/>
              </a:ext>
            </a:extLst>
          </p:cNvPr>
          <p:cNvSpPr txBox="1"/>
          <p:nvPr/>
        </p:nvSpPr>
        <p:spPr>
          <a:xfrm>
            <a:off x="726170" y="6112601"/>
            <a:ext cx="415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From which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39C0F0-B415-4F5F-A839-8B791F60CC7D}"/>
                  </a:ext>
                </a:extLst>
              </p:cNvPr>
              <p:cNvSpPr txBox="1"/>
              <p:nvPr/>
            </p:nvSpPr>
            <p:spPr>
              <a:xfrm>
                <a:off x="3058510" y="6064469"/>
                <a:ext cx="5486400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I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𝐉</m:t>
                    </m:r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39C0F0-B415-4F5F-A839-8B791F60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10" y="6064469"/>
                <a:ext cx="5486400" cy="499560"/>
              </a:xfrm>
              <a:prstGeom prst="rect">
                <a:avLst/>
              </a:prstGeom>
              <a:blipFill>
                <a:blip r:embed="rId12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665CF1-E060-4FBA-9B4E-A6DEB5CFB4C1}"/>
              </a:ext>
            </a:extLst>
          </p:cNvPr>
          <p:cNvSpPr/>
          <p:nvPr/>
        </p:nvSpPr>
        <p:spPr>
          <a:xfrm>
            <a:off x="2995927" y="6126815"/>
            <a:ext cx="1408386" cy="493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B35990-A800-442C-B911-8F0B260FC4E7}"/>
                  </a:ext>
                </a:extLst>
              </p:cNvPr>
              <p:cNvSpPr txBox="1"/>
              <p:nvPr/>
            </p:nvSpPr>
            <p:spPr>
              <a:xfrm>
                <a:off x="370246" y="1527142"/>
                <a:ext cx="5703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To find the total charge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, in side the surface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B35990-A800-442C-B911-8F0B260FC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46" y="1527142"/>
                <a:ext cx="5703217" cy="369332"/>
              </a:xfrm>
              <a:prstGeom prst="rect">
                <a:avLst/>
              </a:prstGeom>
              <a:blipFill>
                <a:blip r:embed="rId13"/>
                <a:stretch>
                  <a:fillRect l="-96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D248110-E4C7-4D94-8261-341310D327DE}"/>
              </a:ext>
            </a:extLst>
          </p:cNvPr>
          <p:cNvSpPr txBox="1"/>
          <p:nvPr/>
        </p:nvSpPr>
        <p:spPr>
          <a:xfrm>
            <a:off x="10692245" y="53201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EFA35B-C61D-4AC1-B8A2-19DC8CB9DF7E}"/>
              </a:ext>
            </a:extLst>
          </p:cNvPr>
          <p:cNvSpPr txBox="1"/>
          <p:nvPr/>
        </p:nvSpPr>
        <p:spPr>
          <a:xfrm>
            <a:off x="2522483" y="1944414"/>
            <a:ext cx="956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Then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F3DA63-6D10-432E-8A20-5FBC1529E1D8}"/>
              </a:ext>
            </a:extLst>
          </p:cNvPr>
          <p:cNvSpPr txBox="1"/>
          <p:nvPr/>
        </p:nvSpPr>
        <p:spPr>
          <a:xfrm>
            <a:off x="336331" y="2596055"/>
            <a:ext cx="714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find the current coming out of the Surface, </a:t>
            </a:r>
            <a:r>
              <a:rPr lang="en-IN" i="1" dirty="0">
                <a:latin typeface="+mj-lt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2770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/>
      <p:bldP spid="7" grpId="0"/>
      <p:bldP spid="8" grpId="0"/>
      <p:bldP spid="9" grpId="0"/>
      <p:bldP spid="11" grpId="0" animBg="1"/>
      <p:bldP spid="12" grpId="0"/>
      <p:bldP spid="13" grpId="0"/>
      <p:bldP spid="14" grpId="0"/>
      <p:bldP spid="15" grpId="0" animBg="1"/>
      <p:bldP spid="17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6" grpId="0" animBg="1"/>
      <p:bldP spid="19" grpId="0"/>
      <p:bldP spid="23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BF36D-A5AB-4753-A533-F2A7B34567ED}"/>
              </a:ext>
            </a:extLst>
          </p:cNvPr>
          <p:cNvSpPr txBox="1"/>
          <p:nvPr/>
        </p:nvSpPr>
        <p:spPr>
          <a:xfrm>
            <a:off x="263951" y="301658"/>
            <a:ext cx="723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Boundary Conditions : </a:t>
            </a:r>
            <a:r>
              <a:rPr lang="en-IN" sz="2400" dirty="0">
                <a:solidFill>
                  <a:srgbClr val="C00000"/>
                </a:solidFill>
                <a:latin typeface="+mj-lt"/>
              </a:rPr>
              <a:t>Free Space Conductor Boundary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DFA5A-82F1-4605-9DAD-8A4162EFF626}"/>
              </a:ext>
            </a:extLst>
          </p:cNvPr>
          <p:cNvSpPr txBox="1"/>
          <p:nvPr/>
        </p:nvSpPr>
        <p:spPr>
          <a:xfrm>
            <a:off x="273377" y="1055802"/>
            <a:ext cx="702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Consider the boundary between free space &amp; Conductor 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12336F81-F272-41F7-A333-488563D4B689}"/>
              </a:ext>
            </a:extLst>
          </p:cNvPr>
          <p:cNvSpPr/>
          <p:nvPr/>
        </p:nvSpPr>
        <p:spPr>
          <a:xfrm>
            <a:off x="3071191" y="2498103"/>
            <a:ext cx="8863143" cy="105949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382B6-A9CE-46C2-A737-F195D22B0869}"/>
              </a:ext>
            </a:extLst>
          </p:cNvPr>
          <p:cNvSpPr txBox="1"/>
          <p:nvPr/>
        </p:nvSpPr>
        <p:spPr>
          <a:xfrm>
            <a:off x="10766322" y="2615380"/>
            <a:ext cx="14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Conductor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785AF-2E70-4DC3-B86F-35C47E4A2777}"/>
              </a:ext>
            </a:extLst>
          </p:cNvPr>
          <p:cNvSpPr txBox="1"/>
          <p:nvPr/>
        </p:nvSpPr>
        <p:spPr>
          <a:xfrm>
            <a:off x="10648335" y="1976284"/>
            <a:ext cx="14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Free Space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F8D13B-1502-46C3-836C-B2ED99A41792}"/>
              </a:ext>
            </a:extLst>
          </p:cNvPr>
          <p:cNvCxnSpPr/>
          <p:nvPr/>
        </p:nvCxnSpPr>
        <p:spPr>
          <a:xfrm>
            <a:off x="9891252" y="2438400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F6AF14-19C3-4382-80D8-92ECC554DA78}"/>
                  </a:ext>
                </a:extLst>
              </p:cNvPr>
              <p:cNvSpPr txBox="1"/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F6AF14-19C3-4382-80D8-92ECC554D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blipFill>
                <a:blip r:embed="rId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D8BCB6-3541-4FB5-B53D-E666323F91BF}"/>
              </a:ext>
            </a:extLst>
          </p:cNvPr>
          <p:cNvCxnSpPr/>
          <p:nvPr/>
        </p:nvCxnSpPr>
        <p:spPr>
          <a:xfrm flipV="1">
            <a:off x="9897035" y="152758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E9D5D-6C67-40E9-B860-52C9FB0EE82B}"/>
                  </a:ext>
                </a:extLst>
              </p:cNvPr>
              <p:cNvSpPr txBox="1"/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E9D5D-6C67-40E9-B860-52C9FB0EE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blipFill>
                <a:blip r:embed="rId3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A39D8C-6689-4FA9-BEAE-E0D32B242E53}"/>
              </a:ext>
            </a:extLst>
          </p:cNvPr>
          <p:cNvCxnSpPr/>
          <p:nvPr/>
        </p:nvCxnSpPr>
        <p:spPr>
          <a:xfrm flipV="1">
            <a:off x="4246659" y="1931283"/>
            <a:ext cx="772160" cy="56896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353BC9-B953-4C3D-9819-AD900FE584A6}"/>
                  </a:ext>
                </a:extLst>
              </p:cNvPr>
              <p:cNvSpPr txBox="1"/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+mj-lt"/>
                  </a:rPr>
                  <a:t>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1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353BC9-B953-4C3D-9819-AD900FE58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blipFill>
                <a:blip r:embed="rId4"/>
                <a:stretch>
                  <a:fillRect l="-75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0C8AB7-919A-407A-88B8-44986EA5EA40}"/>
              </a:ext>
            </a:extLst>
          </p:cNvPr>
          <p:cNvCxnSpPr/>
          <p:nvPr/>
        </p:nvCxnSpPr>
        <p:spPr>
          <a:xfrm>
            <a:off x="4237162" y="2519901"/>
            <a:ext cx="822960" cy="0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B63CFA-FD43-4CFD-BE6F-5717CA3A1F6C}"/>
                  </a:ext>
                </a:extLst>
              </p:cNvPr>
              <p:cNvSpPr txBox="1"/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B63CFA-FD43-4CFD-BE6F-5717CA3A1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BB5A2C-3178-441D-949A-17D4A1D4B46D}"/>
              </a:ext>
            </a:extLst>
          </p:cNvPr>
          <p:cNvCxnSpPr>
            <a:cxnSpLocks/>
          </p:cNvCxnSpPr>
          <p:nvPr/>
        </p:nvCxnSpPr>
        <p:spPr>
          <a:xfrm flipV="1">
            <a:off x="4236940" y="1596004"/>
            <a:ext cx="0" cy="904240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77AC6D-496D-4801-86C7-80DB7DA9E0A3}"/>
                  </a:ext>
                </a:extLst>
              </p:cNvPr>
              <p:cNvSpPr txBox="1"/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77AC6D-496D-4801-86C7-80DB7DA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blipFill>
                <a:blip r:embed="rId6"/>
                <a:stretch>
                  <a:fillRect r="-29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B8C8A4-1EEB-4584-83A0-C3BF983A64FD}"/>
              </a:ext>
            </a:extLst>
          </p:cNvPr>
          <p:cNvCxnSpPr>
            <a:cxnSpLocks/>
          </p:cNvCxnSpPr>
          <p:nvPr/>
        </p:nvCxnSpPr>
        <p:spPr>
          <a:xfrm flipV="1">
            <a:off x="7721600" y="2214880"/>
            <a:ext cx="0" cy="355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2BD4B6-A8E1-475E-936F-4D7801BC57F2}"/>
              </a:ext>
            </a:extLst>
          </p:cNvPr>
          <p:cNvCxnSpPr>
            <a:cxnSpLocks/>
          </p:cNvCxnSpPr>
          <p:nvPr/>
        </p:nvCxnSpPr>
        <p:spPr>
          <a:xfrm>
            <a:off x="7721600" y="2235200"/>
            <a:ext cx="1148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86C3B5-4240-4CEE-B592-F7456E1E4E5B}"/>
              </a:ext>
            </a:extLst>
          </p:cNvPr>
          <p:cNvCxnSpPr>
            <a:cxnSpLocks/>
          </p:cNvCxnSpPr>
          <p:nvPr/>
        </p:nvCxnSpPr>
        <p:spPr>
          <a:xfrm>
            <a:off x="8869680" y="2235200"/>
            <a:ext cx="0" cy="3352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4C53D8-8FBF-46B6-8ECE-1BDEBD2CC6E4}"/>
              </a:ext>
            </a:extLst>
          </p:cNvPr>
          <p:cNvCxnSpPr/>
          <p:nvPr/>
        </p:nvCxnSpPr>
        <p:spPr>
          <a:xfrm>
            <a:off x="7721379" y="2631440"/>
            <a:ext cx="0" cy="2235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B73B7E2-E2E4-445B-8C67-56B060EDA1C5}"/>
              </a:ext>
            </a:extLst>
          </p:cNvPr>
          <p:cNvCxnSpPr>
            <a:cxnSpLocks/>
          </p:cNvCxnSpPr>
          <p:nvPr/>
        </p:nvCxnSpPr>
        <p:spPr>
          <a:xfrm>
            <a:off x="7722704" y="2874618"/>
            <a:ext cx="11330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0E983EA-E912-43B4-B362-9E990223A105}"/>
              </a:ext>
            </a:extLst>
          </p:cNvPr>
          <p:cNvCxnSpPr>
            <a:cxnSpLocks/>
          </p:cNvCxnSpPr>
          <p:nvPr/>
        </p:nvCxnSpPr>
        <p:spPr>
          <a:xfrm flipV="1">
            <a:off x="8869901" y="2621282"/>
            <a:ext cx="0" cy="25112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9551B21-66C6-4C66-BF8E-3A878F083591}"/>
              </a:ext>
            </a:extLst>
          </p:cNvPr>
          <p:cNvSpPr txBox="1"/>
          <p:nvPr/>
        </p:nvSpPr>
        <p:spPr>
          <a:xfrm>
            <a:off x="11092070" y="3001617"/>
            <a:ext cx="1003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+mj-lt"/>
              </a:rPr>
              <a:t>E </a:t>
            </a:r>
            <a:r>
              <a:rPr lang="en-IN" sz="1400" dirty="0">
                <a:latin typeface="+mj-lt"/>
              </a:rPr>
              <a:t>=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148FA7-D3E4-451D-A392-8AD466A468A3}"/>
              </a:ext>
            </a:extLst>
          </p:cNvPr>
          <p:cNvSpPr txBox="1"/>
          <p:nvPr/>
        </p:nvSpPr>
        <p:spPr>
          <a:xfrm>
            <a:off x="238991" y="3470564"/>
            <a:ext cx="5517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+mj-lt"/>
              </a:rPr>
              <a:t>Condition on Tangential Components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23DFB0-F5B2-4EFC-B2D7-7AC2F604EEBA}"/>
              </a:ext>
            </a:extLst>
          </p:cNvPr>
          <p:cNvSpPr txBox="1"/>
          <p:nvPr/>
        </p:nvSpPr>
        <p:spPr>
          <a:xfrm>
            <a:off x="374072" y="4052455"/>
            <a:ext cx="1113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calculate the Tangential Components across the boundary, consider a small closed path a-b-c-d-a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CCA37-93BC-4502-B65D-F06AB73537B8}"/>
              </a:ext>
            </a:extLst>
          </p:cNvPr>
          <p:cNvSpPr txBox="1"/>
          <p:nvPr/>
        </p:nvSpPr>
        <p:spPr>
          <a:xfrm>
            <a:off x="7573618" y="1928191"/>
            <a:ext cx="25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721569-4FE9-4A5F-AE19-69950E130B45}"/>
              </a:ext>
            </a:extLst>
          </p:cNvPr>
          <p:cNvSpPr txBox="1"/>
          <p:nvPr/>
        </p:nvSpPr>
        <p:spPr>
          <a:xfrm>
            <a:off x="8759688" y="1941443"/>
            <a:ext cx="25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2478C1-752A-4178-B498-8CCF0857A851}"/>
              </a:ext>
            </a:extLst>
          </p:cNvPr>
          <p:cNvSpPr txBox="1"/>
          <p:nvPr/>
        </p:nvSpPr>
        <p:spPr>
          <a:xfrm>
            <a:off x="8786192" y="2733261"/>
            <a:ext cx="25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DF836E-7059-4D8C-80EA-8A0D45D460FE}"/>
              </a:ext>
            </a:extLst>
          </p:cNvPr>
          <p:cNvSpPr txBox="1"/>
          <p:nvPr/>
        </p:nvSpPr>
        <p:spPr>
          <a:xfrm>
            <a:off x="7477539" y="2716695"/>
            <a:ext cx="25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B23F1F-7843-4BEE-ADAF-E0D58D6E3754}"/>
                  </a:ext>
                </a:extLst>
              </p:cNvPr>
              <p:cNvSpPr txBox="1"/>
              <p:nvPr/>
            </p:nvSpPr>
            <p:spPr>
              <a:xfrm>
                <a:off x="405246" y="4613564"/>
                <a:ext cx="3106881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For any closed path,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= 0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B23F1F-7843-4BEE-ADAF-E0D58D6E3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46" y="4613564"/>
                <a:ext cx="3106881" cy="412164"/>
              </a:xfrm>
              <a:prstGeom prst="rect">
                <a:avLst/>
              </a:prstGeom>
              <a:blipFill>
                <a:blip r:embed="rId7"/>
                <a:stretch>
                  <a:fillRect l="-1569" t="-134328" r="-2353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20DA08-08CA-48DB-90A7-66A1000ED8A9}"/>
                  </a:ext>
                </a:extLst>
              </p:cNvPr>
              <p:cNvSpPr txBox="1"/>
              <p:nvPr/>
            </p:nvSpPr>
            <p:spPr>
              <a:xfrm>
                <a:off x="3782291" y="4488873"/>
                <a:ext cx="8115300" cy="745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(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/>
                  <a:t> =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, for a closed path </a:t>
                </a:r>
                <a:r>
                  <a:rPr lang="en-IN" i="1" dirty="0">
                    <a:latin typeface="+mj-lt"/>
                  </a:rPr>
                  <a:t>A</a:t>
                </a:r>
                <a:r>
                  <a:rPr lang="en-IN" dirty="0">
                    <a:latin typeface="+mj-lt"/>
                  </a:rPr>
                  <a:t>=</a:t>
                </a:r>
                <a:r>
                  <a:rPr lang="en-IN" i="1" dirty="0">
                    <a:latin typeface="+mj-lt"/>
                  </a:rPr>
                  <a:t>B</a:t>
                </a:r>
                <a:r>
                  <a:rPr lang="en-IN" dirty="0">
                    <a:latin typeface="+mj-lt"/>
                  </a:rPr>
                  <a:t>,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𝐴𝐴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=0 (or) Work done in a closed path is zero 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20DA08-08CA-48DB-90A7-66A1000ED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291" y="4488873"/>
                <a:ext cx="8115300" cy="745332"/>
              </a:xfrm>
              <a:prstGeom prst="rect">
                <a:avLst/>
              </a:prstGeom>
              <a:blipFill>
                <a:blip r:embed="rId8"/>
                <a:stretch>
                  <a:fillRect l="-601" t="-65041" r="-1126" b="-69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2DFFA3-BA70-4276-B58C-60870F9B9EAB}"/>
                  </a:ext>
                </a:extLst>
              </p:cNvPr>
              <p:cNvSpPr txBox="1"/>
              <p:nvPr/>
            </p:nvSpPr>
            <p:spPr>
              <a:xfrm>
                <a:off x="436419" y="5486400"/>
                <a:ext cx="7252854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Now Applying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= 0 for the path a-b-c-d-a 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2DFFA3-BA70-4276-B58C-60870F9B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9" y="5486400"/>
                <a:ext cx="7252854" cy="412164"/>
              </a:xfrm>
              <a:prstGeom prst="rect">
                <a:avLst/>
              </a:prstGeom>
              <a:blipFill>
                <a:blip r:embed="rId9"/>
                <a:stretch>
                  <a:fillRect l="-757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13CA3-A72C-4CA2-AE33-986747A8B721}"/>
                  </a:ext>
                </a:extLst>
              </p:cNvPr>
              <p:cNvSpPr txBox="1"/>
              <p:nvPr/>
            </p:nvSpPr>
            <p:spPr>
              <a:xfrm>
                <a:off x="1797626" y="6229349"/>
                <a:ext cx="1309255" cy="3212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𝑏𝑐𝑑𝑎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sz="1600" dirty="0"/>
                  <a:t> =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13CA3-A72C-4CA2-AE33-986747A8B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26" y="6229349"/>
                <a:ext cx="1309255" cy="321242"/>
              </a:xfrm>
              <a:prstGeom prst="rect">
                <a:avLst/>
              </a:prstGeom>
              <a:blipFill>
                <a:blip r:embed="rId10"/>
                <a:stretch>
                  <a:fillRect l="-38605" t="-184906" r="-9767" b="-258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AF0D109-231D-415F-8A7D-42CDFD943E34}"/>
                  </a:ext>
                </a:extLst>
              </p:cNvPr>
              <p:cNvSpPr txBox="1"/>
              <p:nvPr/>
            </p:nvSpPr>
            <p:spPr>
              <a:xfrm>
                <a:off x="3148446" y="6161809"/>
                <a:ext cx="1205346" cy="474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AF0D109-231D-415F-8A7D-42CDFD94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446" y="6161809"/>
                <a:ext cx="1205346" cy="474041"/>
              </a:xfrm>
              <a:prstGeom prst="rect">
                <a:avLst/>
              </a:prstGeom>
              <a:blipFill>
                <a:blip r:embed="rId11"/>
                <a:stretch>
                  <a:fillRect l="-33838" t="-102564" b="-16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7CC58D-7AD2-426B-B567-6ECB5BBEAE68}"/>
                  </a:ext>
                </a:extLst>
              </p:cNvPr>
              <p:cNvSpPr txBox="1"/>
              <p:nvPr/>
            </p:nvSpPr>
            <p:spPr>
              <a:xfrm>
                <a:off x="4184073" y="6147954"/>
                <a:ext cx="1205346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7CC58D-7AD2-426B-B567-6ECB5BBEA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073" y="6147954"/>
                <a:ext cx="1205346" cy="445699"/>
              </a:xfrm>
              <a:prstGeom prst="rect">
                <a:avLst/>
              </a:prstGeom>
              <a:blipFill>
                <a:blip r:embed="rId12"/>
                <a:stretch>
                  <a:fillRect l="-33838"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372C44-B1D3-4481-956F-D42C9D4D91CE}"/>
                  </a:ext>
                </a:extLst>
              </p:cNvPr>
              <p:cNvSpPr txBox="1"/>
              <p:nvPr/>
            </p:nvSpPr>
            <p:spPr>
              <a:xfrm>
                <a:off x="5389418" y="6179127"/>
                <a:ext cx="1205346" cy="474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372C44-B1D3-4481-956F-D42C9D4D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418" y="6179127"/>
                <a:ext cx="1205346" cy="474041"/>
              </a:xfrm>
              <a:prstGeom prst="rect">
                <a:avLst/>
              </a:prstGeom>
              <a:blipFill>
                <a:blip r:embed="rId13"/>
                <a:stretch>
                  <a:fillRect l="-33838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9238F5-CE93-447B-AB07-E28FF906AA47}"/>
                  </a:ext>
                </a:extLst>
              </p:cNvPr>
              <p:cNvSpPr txBox="1"/>
              <p:nvPr/>
            </p:nvSpPr>
            <p:spPr>
              <a:xfrm>
                <a:off x="6449291" y="6158345"/>
                <a:ext cx="1205346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9238F5-CE93-447B-AB07-E28FF906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291" y="6158345"/>
                <a:ext cx="1205346" cy="445699"/>
              </a:xfrm>
              <a:prstGeom prst="rect">
                <a:avLst/>
              </a:prstGeom>
              <a:blipFill>
                <a:blip r:embed="rId14"/>
                <a:stretch>
                  <a:fillRect l="-34343"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56752F-8524-4837-B24B-29FDEB36CA0F}"/>
                  </a:ext>
                </a:extLst>
              </p:cNvPr>
              <p:cNvSpPr txBox="1"/>
              <p:nvPr/>
            </p:nvSpPr>
            <p:spPr>
              <a:xfrm>
                <a:off x="7668491" y="1662545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56752F-8524-4837-B24B-29FDEB36C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491" y="1662545"/>
                <a:ext cx="117417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4A90BD-C5BD-4C09-938B-76C6C339FAC3}"/>
              </a:ext>
            </a:extLst>
          </p:cNvPr>
          <p:cNvCxnSpPr>
            <a:endCxn id="56" idx="3"/>
          </p:cNvCxnSpPr>
          <p:nvPr/>
        </p:nvCxnSpPr>
        <p:spPr>
          <a:xfrm flipV="1">
            <a:off x="8406245" y="1816434"/>
            <a:ext cx="436418" cy="1975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A78A1E-D58C-47FC-9F65-4CFE195525FF}"/>
              </a:ext>
            </a:extLst>
          </p:cNvPr>
          <p:cNvCxnSpPr>
            <a:endCxn id="56" idx="1"/>
          </p:cNvCxnSpPr>
          <p:nvPr/>
        </p:nvCxnSpPr>
        <p:spPr>
          <a:xfrm flipH="1" flipV="1">
            <a:off x="7668491" y="1816434"/>
            <a:ext cx="457200" cy="1236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DF6B99E-3DD0-4D0B-ACFE-E87D74280EEA}"/>
                  </a:ext>
                </a:extLst>
              </p:cNvPr>
              <p:cNvSpPr txBox="1"/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DF6B99E-3DD0-4D0B-ACFE-E87D74280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BC6EBF1-116C-44CC-BA71-675710D573E7}"/>
              </a:ext>
            </a:extLst>
          </p:cNvPr>
          <p:cNvCxnSpPr>
            <a:cxnSpLocks/>
          </p:cNvCxnSpPr>
          <p:nvPr/>
        </p:nvCxnSpPr>
        <p:spPr>
          <a:xfrm>
            <a:off x="9115237" y="2626792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69C8EA1-2E3B-4AA7-9A61-DFAB9B25D0B2}"/>
              </a:ext>
            </a:extLst>
          </p:cNvPr>
          <p:cNvCxnSpPr>
            <a:cxnSpLocks/>
          </p:cNvCxnSpPr>
          <p:nvPr/>
        </p:nvCxnSpPr>
        <p:spPr>
          <a:xfrm flipV="1">
            <a:off x="9122918" y="2226365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 animBg="1"/>
      <p:bldP spid="9" grpId="0"/>
      <p:bldP spid="10" grpId="0"/>
      <p:bldP spid="13" grpId="0"/>
      <p:bldP spid="16" grpId="0"/>
      <p:bldP spid="19" grpId="0"/>
      <p:bldP spid="22" grpId="0"/>
      <p:bldP spid="25" grpId="0"/>
      <p:bldP spid="27" grpId="0"/>
      <p:bldP spid="28" grpId="0"/>
      <p:bldP spid="29" grpId="0"/>
      <p:bldP spid="36" grpId="0"/>
      <p:bldP spid="43" grpId="0"/>
      <p:bldP spid="45" grpId="0"/>
      <p:bldP spid="47" grpId="0"/>
      <p:bldP spid="37" grpId="0"/>
      <p:bldP spid="39" grpId="0"/>
      <p:bldP spid="41" grpId="0"/>
      <p:bldP spid="51" grpId="0"/>
      <p:bldP spid="52" grpId="0"/>
      <p:bldP spid="53" grpId="0"/>
      <p:bldP spid="54" grpId="0"/>
      <p:bldP spid="55" grpId="0"/>
      <p:bldP spid="56" grpId="0"/>
      <p:bldP spid="63" grpId="0"/>
      <p:bldP spid="63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049332-6269-496E-827D-901E05994DAC}"/>
                  </a:ext>
                </a:extLst>
              </p:cNvPr>
              <p:cNvSpPr txBox="1"/>
              <p:nvPr/>
            </p:nvSpPr>
            <p:spPr>
              <a:xfrm>
                <a:off x="439016" y="511125"/>
                <a:ext cx="1140402" cy="479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049332-6269-496E-827D-901E0599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16" y="511125"/>
                <a:ext cx="1140402" cy="479170"/>
              </a:xfrm>
              <a:prstGeom prst="rect">
                <a:avLst/>
              </a:prstGeom>
              <a:blipFill>
                <a:blip r:embed="rId2"/>
                <a:stretch>
                  <a:fillRect l="-35829" t="-101282" r="-5348" b="-16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apezoid 4">
            <a:extLst>
              <a:ext uri="{FF2B5EF4-FFF2-40B4-BE49-F238E27FC236}">
                <a16:creationId xmlns:a16="http://schemas.microsoft.com/office/drawing/2014/main" id="{6191D926-4DA4-4D80-8D80-10CE9E59F844}"/>
              </a:ext>
            </a:extLst>
          </p:cNvPr>
          <p:cNvSpPr/>
          <p:nvPr/>
        </p:nvSpPr>
        <p:spPr>
          <a:xfrm>
            <a:off x="7117773" y="841664"/>
            <a:ext cx="3499139" cy="145471"/>
          </a:xfrm>
          <a:custGeom>
            <a:avLst/>
            <a:gdLst>
              <a:gd name="connsiteX0" fmla="*/ 0 w 3138055"/>
              <a:gd name="connsiteY0" fmla="*/ 135081 h 135081"/>
              <a:gd name="connsiteX1" fmla="*/ 33770 w 3138055"/>
              <a:gd name="connsiteY1" fmla="*/ 0 h 135081"/>
              <a:gd name="connsiteX2" fmla="*/ 3104285 w 3138055"/>
              <a:gd name="connsiteY2" fmla="*/ 0 h 135081"/>
              <a:gd name="connsiteX3" fmla="*/ 3138055 w 3138055"/>
              <a:gd name="connsiteY3" fmla="*/ 135081 h 135081"/>
              <a:gd name="connsiteX4" fmla="*/ 0 w 3138055"/>
              <a:gd name="connsiteY4" fmla="*/ 135081 h 135081"/>
              <a:gd name="connsiteX0" fmla="*/ 0 w 3532909"/>
              <a:gd name="connsiteY0" fmla="*/ 145471 h 145471"/>
              <a:gd name="connsiteX1" fmla="*/ 428624 w 3532909"/>
              <a:gd name="connsiteY1" fmla="*/ 0 h 145471"/>
              <a:gd name="connsiteX2" fmla="*/ 3499139 w 3532909"/>
              <a:gd name="connsiteY2" fmla="*/ 0 h 145471"/>
              <a:gd name="connsiteX3" fmla="*/ 3532909 w 3532909"/>
              <a:gd name="connsiteY3" fmla="*/ 135081 h 145471"/>
              <a:gd name="connsiteX4" fmla="*/ 0 w 3532909"/>
              <a:gd name="connsiteY4" fmla="*/ 145471 h 145471"/>
              <a:gd name="connsiteX0" fmla="*/ 0 w 3499139"/>
              <a:gd name="connsiteY0" fmla="*/ 145471 h 145471"/>
              <a:gd name="connsiteX1" fmla="*/ 428624 w 3499139"/>
              <a:gd name="connsiteY1" fmla="*/ 0 h 145471"/>
              <a:gd name="connsiteX2" fmla="*/ 3499139 w 3499139"/>
              <a:gd name="connsiteY2" fmla="*/ 0 h 145471"/>
              <a:gd name="connsiteX3" fmla="*/ 3127663 w 3499139"/>
              <a:gd name="connsiteY3" fmla="*/ 135081 h 145471"/>
              <a:gd name="connsiteX4" fmla="*/ 0 w 3499139"/>
              <a:gd name="connsiteY4" fmla="*/ 145471 h 145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9139" h="145471">
                <a:moveTo>
                  <a:pt x="0" y="145471"/>
                </a:moveTo>
                <a:lnTo>
                  <a:pt x="428624" y="0"/>
                </a:lnTo>
                <a:lnTo>
                  <a:pt x="3499139" y="0"/>
                </a:lnTo>
                <a:lnTo>
                  <a:pt x="3127663" y="135081"/>
                </a:lnTo>
                <a:lnTo>
                  <a:pt x="0" y="145471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A5FEC3-6879-4471-A266-0A433BAE3116}"/>
              </a:ext>
            </a:extLst>
          </p:cNvPr>
          <p:cNvCxnSpPr/>
          <p:nvPr/>
        </p:nvCxnSpPr>
        <p:spPr>
          <a:xfrm flipV="1">
            <a:off x="8260080" y="436880"/>
            <a:ext cx="0" cy="47752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F24E8C-0DC6-47B5-8A60-03C65AE30603}"/>
              </a:ext>
            </a:extLst>
          </p:cNvPr>
          <p:cNvCxnSpPr/>
          <p:nvPr/>
        </p:nvCxnSpPr>
        <p:spPr>
          <a:xfrm>
            <a:off x="8260080" y="436880"/>
            <a:ext cx="1503680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B0707A-60B5-45FB-838D-BBC0348C3FA6}"/>
              </a:ext>
            </a:extLst>
          </p:cNvPr>
          <p:cNvCxnSpPr/>
          <p:nvPr/>
        </p:nvCxnSpPr>
        <p:spPr>
          <a:xfrm>
            <a:off x="9773920" y="457200"/>
            <a:ext cx="0" cy="4470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BE4172-D8B0-4242-99EA-5CED3C65DC6A}"/>
              </a:ext>
            </a:extLst>
          </p:cNvPr>
          <p:cNvCxnSpPr/>
          <p:nvPr/>
        </p:nvCxnSpPr>
        <p:spPr>
          <a:xfrm flipV="1">
            <a:off x="8260080" y="1016000"/>
            <a:ext cx="0" cy="47752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0902E2-D697-4699-8019-245B5521256A}"/>
              </a:ext>
            </a:extLst>
          </p:cNvPr>
          <p:cNvCxnSpPr>
            <a:cxnSpLocks/>
          </p:cNvCxnSpPr>
          <p:nvPr/>
        </p:nvCxnSpPr>
        <p:spPr>
          <a:xfrm>
            <a:off x="8260080" y="1483360"/>
            <a:ext cx="1524000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BD3641-20F2-44F2-AB8E-57A44681EFF5}"/>
              </a:ext>
            </a:extLst>
          </p:cNvPr>
          <p:cNvCxnSpPr>
            <a:cxnSpLocks/>
          </p:cNvCxnSpPr>
          <p:nvPr/>
        </p:nvCxnSpPr>
        <p:spPr>
          <a:xfrm>
            <a:off x="9773920" y="1026160"/>
            <a:ext cx="0" cy="4470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117891-8129-4765-ACBD-AE5579C910F6}"/>
              </a:ext>
            </a:extLst>
          </p:cNvPr>
          <p:cNvSpPr txBox="1"/>
          <p:nvPr/>
        </p:nvSpPr>
        <p:spPr>
          <a:xfrm>
            <a:off x="8036560" y="121920"/>
            <a:ext cx="23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C45FD7-D5B8-4FB7-9FE2-AB62B1DDD730}"/>
              </a:ext>
            </a:extLst>
          </p:cNvPr>
          <p:cNvSpPr txBox="1"/>
          <p:nvPr/>
        </p:nvSpPr>
        <p:spPr>
          <a:xfrm>
            <a:off x="9753600" y="193040"/>
            <a:ext cx="23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FE5E5-06D9-461C-837A-2D72A95A96E8}"/>
              </a:ext>
            </a:extLst>
          </p:cNvPr>
          <p:cNvSpPr txBox="1"/>
          <p:nvPr/>
        </p:nvSpPr>
        <p:spPr>
          <a:xfrm>
            <a:off x="9712960" y="1391920"/>
            <a:ext cx="23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826408-950F-4A97-9D0A-E9B1554292C8}"/>
              </a:ext>
            </a:extLst>
          </p:cNvPr>
          <p:cNvSpPr txBox="1"/>
          <p:nvPr/>
        </p:nvSpPr>
        <p:spPr>
          <a:xfrm>
            <a:off x="7985760" y="1412240"/>
            <a:ext cx="23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464753-8E05-4BF7-86BD-F71CDCA49978}"/>
              </a:ext>
            </a:extLst>
          </p:cNvPr>
          <p:cNvCxnSpPr/>
          <p:nvPr/>
        </p:nvCxnSpPr>
        <p:spPr>
          <a:xfrm>
            <a:off x="10930343" y="1139536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EC8A96-5BB2-4AE3-9424-7605C0F92667}"/>
                  </a:ext>
                </a:extLst>
              </p:cNvPr>
              <p:cNvSpPr txBox="1"/>
              <p:nvPr/>
            </p:nvSpPr>
            <p:spPr>
              <a:xfrm>
                <a:off x="11667203" y="9352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EC8A96-5BB2-4AE3-9424-7605C0F9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7203" y="935293"/>
                <a:ext cx="304800" cy="369332"/>
              </a:xfrm>
              <a:prstGeom prst="rect">
                <a:avLst/>
              </a:prstGeom>
              <a:blipFill>
                <a:blip r:embed="rId3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CB8F2B-3702-4BDE-BA20-E4917F17A4B1}"/>
              </a:ext>
            </a:extLst>
          </p:cNvPr>
          <p:cNvCxnSpPr/>
          <p:nvPr/>
        </p:nvCxnSpPr>
        <p:spPr>
          <a:xfrm flipV="1">
            <a:off x="10946517" y="19662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2C1047-70AB-4F6A-8C6B-B1EECEC73844}"/>
                  </a:ext>
                </a:extLst>
              </p:cNvPr>
              <p:cNvSpPr txBox="1"/>
              <p:nvPr/>
            </p:nvSpPr>
            <p:spPr>
              <a:xfrm>
                <a:off x="10904682" y="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2C1047-70AB-4F6A-8C6B-B1EECEC7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682" y="0"/>
                <a:ext cx="304800" cy="369332"/>
              </a:xfrm>
              <a:prstGeom prst="rect">
                <a:avLst/>
              </a:prstGeom>
              <a:blipFill>
                <a:blip r:embed="rId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ylinder 32">
            <a:extLst>
              <a:ext uri="{FF2B5EF4-FFF2-40B4-BE49-F238E27FC236}">
                <a16:creationId xmlns:a16="http://schemas.microsoft.com/office/drawing/2014/main" id="{29EAFA8A-C034-4F52-BC1D-383D09938531}"/>
              </a:ext>
            </a:extLst>
          </p:cNvPr>
          <p:cNvSpPr/>
          <p:nvPr/>
        </p:nvSpPr>
        <p:spPr>
          <a:xfrm>
            <a:off x="8845204" y="406862"/>
            <a:ext cx="259772" cy="45719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F21A20-35F0-4254-BA61-1AB9528EA06C}"/>
                  </a:ext>
                </a:extLst>
              </p:cNvPr>
              <p:cNvSpPr txBox="1"/>
              <p:nvPr/>
            </p:nvSpPr>
            <p:spPr>
              <a:xfrm>
                <a:off x="8615680" y="71120"/>
                <a:ext cx="1229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i="1" dirty="0">
                    <a:latin typeface="+mj-lt"/>
                  </a:rPr>
                  <a:t>dl </a:t>
                </a:r>
                <a:r>
                  <a:rPr lang="en-IN" sz="1400" dirty="0">
                    <a:latin typeface="+mj-lt"/>
                  </a:rPr>
                  <a:t>=</a:t>
                </a:r>
                <a:r>
                  <a:rPr lang="en-IN" sz="1400" b="1" i="1" dirty="0">
                    <a:latin typeface="+mj-lt"/>
                  </a:rPr>
                  <a:t> </a:t>
                </a:r>
                <a:r>
                  <a:rPr lang="en-IN" sz="1400" i="1" dirty="0">
                    <a:latin typeface="+mj-lt"/>
                  </a:rPr>
                  <a:t>dl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F21A20-35F0-4254-BA61-1AB9528E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80" y="71120"/>
                <a:ext cx="1229360" cy="307777"/>
              </a:xfrm>
              <a:prstGeom prst="rect">
                <a:avLst/>
              </a:prstGeom>
              <a:blipFill>
                <a:blip r:embed="rId5"/>
                <a:stretch>
                  <a:fillRect l="-1485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0283BB-4456-4645-A0DF-7F6DF655498D}"/>
                  </a:ext>
                </a:extLst>
              </p:cNvPr>
              <p:cNvSpPr txBox="1"/>
              <p:nvPr/>
            </p:nvSpPr>
            <p:spPr>
              <a:xfrm>
                <a:off x="1631373" y="498763"/>
                <a:ext cx="3657600" cy="479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IN" i="0" smtClean="0">
                            <a:latin typeface="+mj-lt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 =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+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) . </a:t>
                </a:r>
                <a:r>
                  <a:rPr lang="en-IN" i="1" dirty="0">
                    <a:latin typeface="+mj-lt"/>
                  </a:rPr>
                  <a:t>dl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0283BB-4456-4645-A0DF-7F6DF655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373" y="498763"/>
                <a:ext cx="3657600" cy="479170"/>
              </a:xfrm>
              <a:prstGeom prst="rect">
                <a:avLst/>
              </a:prstGeom>
              <a:blipFill>
                <a:blip r:embed="rId6"/>
                <a:stretch>
                  <a:fillRect l="-11333" t="-101282" b="-16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46E371-6D23-4FB6-9D3B-522550AEF0E0}"/>
                  </a:ext>
                </a:extLst>
              </p:cNvPr>
              <p:cNvSpPr txBox="1"/>
              <p:nvPr/>
            </p:nvSpPr>
            <p:spPr>
              <a:xfrm>
                <a:off x="1215737" y="1267691"/>
                <a:ext cx="1298864" cy="474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dl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46E371-6D23-4FB6-9D3B-522550AE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1267691"/>
                <a:ext cx="1298864" cy="474041"/>
              </a:xfrm>
              <a:prstGeom prst="rect">
                <a:avLst/>
              </a:prstGeom>
              <a:blipFill>
                <a:blip r:embed="rId7"/>
                <a:stretch>
                  <a:fillRect l="-17290" t="-102564" b="-16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363818-23FA-4563-AFD0-F943D9CA460E}"/>
                  </a:ext>
                </a:extLst>
              </p:cNvPr>
              <p:cNvSpPr txBox="1"/>
              <p:nvPr/>
            </p:nvSpPr>
            <p:spPr>
              <a:xfrm>
                <a:off x="2597727" y="1267691"/>
                <a:ext cx="1267691" cy="474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dl</a:t>
                </a:r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363818-23FA-4563-AFD0-F943D9CA4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727" y="1267691"/>
                <a:ext cx="1267691" cy="474041"/>
              </a:xfrm>
              <a:prstGeom prst="rect">
                <a:avLst/>
              </a:prstGeom>
              <a:blipFill>
                <a:blip r:embed="rId8"/>
                <a:stretch>
                  <a:fillRect l="-3846" t="-102564" r="-24519" b="-16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3C2CA8-28A7-4946-8116-A540ABF4F3B0}"/>
                  </a:ext>
                </a:extLst>
              </p:cNvPr>
              <p:cNvSpPr txBox="1"/>
              <p:nvPr/>
            </p:nvSpPr>
            <p:spPr>
              <a:xfrm>
                <a:off x="3917372" y="1319646"/>
                <a:ext cx="24210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>
                    <a:latin typeface="+mj-lt"/>
                  </a:rPr>
                  <a:t>w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3C2CA8-28A7-4946-8116-A540ABF4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72" y="1319646"/>
                <a:ext cx="2421082" cy="369332"/>
              </a:xfrm>
              <a:prstGeom prst="rect">
                <a:avLst/>
              </a:prstGeom>
              <a:blipFill>
                <a:blip r:embed="rId9"/>
                <a:stretch>
                  <a:fillRect l="-2267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16C29E-5D36-4A83-93A6-D744465319A8}"/>
                  </a:ext>
                </a:extLst>
              </p:cNvPr>
              <p:cNvSpPr txBox="1"/>
              <p:nvPr/>
            </p:nvSpPr>
            <p:spPr>
              <a:xfrm>
                <a:off x="436418" y="2047009"/>
                <a:ext cx="4613564" cy="479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0  ( since </a:t>
                </a:r>
                <a:r>
                  <a:rPr lang="en-IN" b="1" dirty="0">
                    <a:latin typeface="+mj-lt"/>
                  </a:rPr>
                  <a:t>E </a:t>
                </a:r>
                <a:r>
                  <a:rPr lang="en-IN" dirty="0">
                    <a:latin typeface="+mj-lt"/>
                  </a:rPr>
                  <a:t>= 0 in side the conductor)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16C29E-5D36-4A83-93A6-D74446531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8" y="2047009"/>
                <a:ext cx="4613564" cy="479298"/>
              </a:xfrm>
              <a:prstGeom prst="rect">
                <a:avLst/>
              </a:prstGeom>
              <a:blipFill>
                <a:blip r:embed="rId10"/>
                <a:stretch>
                  <a:fillRect l="-8995" t="-101282" r="-661" b="-16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A7220-0081-4BAF-A5AF-E54738217C98}"/>
                  </a:ext>
                </a:extLst>
              </p:cNvPr>
              <p:cNvSpPr txBox="1"/>
              <p:nvPr/>
            </p:nvSpPr>
            <p:spPr>
              <a:xfrm>
                <a:off x="394855" y="3013364"/>
                <a:ext cx="1111827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A7220-0081-4BAF-A5AF-E54738217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5" y="3013364"/>
                <a:ext cx="1111827" cy="445699"/>
              </a:xfrm>
              <a:prstGeom prst="rect">
                <a:avLst/>
              </a:prstGeom>
              <a:blipFill>
                <a:blip r:embed="rId11"/>
                <a:stretch>
                  <a:fillRect l="-37363" t="-116438" r="-1099" b="-1780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7733001-ED73-49D3-9F1C-8E511F340BED}"/>
              </a:ext>
            </a:extLst>
          </p:cNvPr>
          <p:cNvSpPr txBox="1"/>
          <p:nvPr/>
        </p:nvSpPr>
        <p:spPr>
          <a:xfrm>
            <a:off x="9746674" y="685800"/>
            <a:ext cx="27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+mj-lt"/>
              </a:rPr>
              <a:t>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AC2B4B-1DB0-4042-8C43-EFB97F2850ED}"/>
                  </a:ext>
                </a:extLst>
              </p:cNvPr>
              <p:cNvSpPr txBox="1"/>
              <p:nvPr/>
            </p:nvSpPr>
            <p:spPr>
              <a:xfrm>
                <a:off x="1413164" y="3023755"/>
                <a:ext cx="1111828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+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AC2B4B-1DB0-4042-8C43-EFB97F28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3023755"/>
                <a:ext cx="1111828" cy="445699"/>
              </a:xfrm>
              <a:prstGeom prst="rect">
                <a:avLst/>
              </a:prstGeom>
              <a:blipFill>
                <a:blip r:embed="rId12"/>
                <a:stretch>
                  <a:fillRect l="-37363" t="-115068" r="-2747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EC539D-324D-4680-9552-F56DEE1F09DE}"/>
                  </a:ext>
                </a:extLst>
              </p:cNvPr>
              <p:cNvSpPr txBox="1"/>
              <p:nvPr/>
            </p:nvSpPr>
            <p:spPr>
              <a:xfrm>
                <a:off x="2545774" y="3054927"/>
                <a:ext cx="966353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EC539D-324D-4680-9552-F56DEE1F0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774" y="3054927"/>
                <a:ext cx="966353" cy="445699"/>
              </a:xfrm>
              <a:prstGeom prst="rect">
                <a:avLst/>
              </a:prstGeom>
              <a:blipFill>
                <a:blip r:embed="rId13"/>
                <a:stretch>
                  <a:fillRect l="-43038" t="-115068" r="-12025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FD18AB4-E568-4CF7-9F6F-8860F307AFA0}"/>
                  </a:ext>
                </a:extLst>
              </p:cNvPr>
              <p:cNvSpPr txBox="1"/>
              <p:nvPr/>
            </p:nvSpPr>
            <p:spPr>
              <a:xfrm>
                <a:off x="3616036" y="3075710"/>
                <a:ext cx="1246909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FD18AB4-E568-4CF7-9F6F-8860F307A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036" y="3075710"/>
                <a:ext cx="1246909" cy="445699"/>
              </a:xfrm>
              <a:prstGeom prst="rect">
                <a:avLst/>
              </a:prstGeom>
              <a:blipFill>
                <a:blip r:embed="rId14"/>
                <a:stretch>
                  <a:fillRect l="-18049" t="-115068" r="-1463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BEBEDE-00F7-4BCD-896D-5C26E792D07D}"/>
                  </a:ext>
                </a:extLst>
              </p:cNvPr>
              <p:cNvSpPr txBox="1"/>
              <p:nvPr/>
            </p:nvSpPr>
            <p:spPr>
              <a:xfrm>
                <a:off x="4790209" y="3086100"/>
                <a:ext cx="5538355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 ( since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0 as </a:t>
                </a:r>
                <a:r>
                  <a:rPr lang="en-IN" b="1" dirty="0">
                    <a:latin typeface="+mj-lt"/>
                  </a:rPr>
                  <a:t>E </a:t>
                </a:r>
                <a:r>
                  <a:rPr lang="en-IN" dirty="0">
                    <a:latin typeface="+mj-lt"/>
                  </a:rPr>
                  <a:t>= 0 inside conductor)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BEBEDE-00F7-4BCD-896D-5C26E792D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209" y="3086100"/>
                <a:ext cx="5538355" cy="445699"/>
              </a:xfrm>
              <a:prstGeom prst="rect">
                <a:avLst/>
              </a:prstGeom>
              <a:blipFill>
                <a:blip r:embed="rId15"/>
                <a:stretch>
                  <a:fillRect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ylinder 49">
            <a:extLst>
              <a:ext uri="{FF2B5EF4-FFF2-40B4-BE49-F238E27FC236}">
                <a16:creationId xmlns:a16="http://schemas.microsoft.com/office/drawing/2014/main" id="{B51217FF-B26F-435C-84BD-CD380DE26384}"/>
              </a:ext>
            </a:extLst>
          </p:cNvPr>
          <p:cNvSpPr/>
          <p:nvPr/>
        </p:nvSpPr>
        <p:spPr>
          <a:xfrm rot="5400000">
            <a:off x="9686115" y="618897"/>
            <a:ext cx="171221" cy="45719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00125F-7990-42B1-9BD6-21B0F1EAE5CA}"/>
                  </a:ext>
                </a:extLst>
              </p:cNvPr>
              <p:cNvSpPr txBox="1"/>
              <p:nvPr/>
            </p:nvSpPr>
            <p:spPr>
              <a:xfrm>
                <a:off x="9764252" y="462963"/>
                <a:ext cx="13111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i="1" dirty="0">
                    <a:latin typeface="+mj-lt"/>
                  </a:rPr>
                  <a:t>dl </a:t>
                </a:r>
                <a:r>
                  <a:rPr lang="en-IN" sz="1400" dirty="0">
                    <a:latin typeface="+mj-lt"/>
                  </a:rPr>
                  <a:t>=</a:t>
                </a:r>
                <a:r>
                  <a:rPr lang="en-IN" sz="1400" b="1" i="1" dirty="0">
                    <a:latin typeface="+mj-lt"/>
                  </a:rPr>
                  <a:t> </a:t>
                </a:r>
                <a:r>
                  <a:rPr lang="en-IN" sz="1400" i="1" dirty="0">
                    <a:latin typeface="+mj-lt"/>
                  </a:rPr>
                  <a:t>dl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IN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00125F-7990-42B1-9BD6-21B0F1EAE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252" y="462963"/>
                <a:ext cx="1311101" cy="307777"/>
              </a:xfrm>
              <a:prstGeom prst="rect">
                <a:avLst/>
              </a:prstGeom>
              <a:blipFill>
                <a:blip r:embed="rId16"/>
                <a:stretch>
                  <a:fillRect l="-1395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B30732-01FF-4691-955C-FC2449B4CAFA}"/>
                  </a:ext>
                </a:extLst>
              </p:cNvPr>
              <p:cNvSpPr txBox="1"/>
              <p:nvPr/>
            </p:nvSpPr>
            <p:spPr>
              <a:xfrm>
                <a:off x="3607905" y="3677478"/>
                <a:ext cx="5009321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IN" i="0" smtClean="0">
                            <a:latin typeface="+mj-lt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+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) . </a:t>
                </a:r>
                <a:r>
                  <a:rPr lang="en-IN" i="1" dirty="0">
                    <a:latin typeface="+mj-lt"/>
                  </a:rPr>
                  <a:t>dl </a:t>
                </a:r>
                <a:r>
                  <a:rPr lang="en-IN" dirty="0">
                    <a:latin typeface="+mj-lt"/>
                  </a:rPr>
                  <a:t>(-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B30732-01FF-4691-955C-FC2449B4C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905" y="3677478"/>
                <a:ext cx="5009321" cy="445699"/>
              </a:xfrm>
              <a:prstGeom prst="rect">
                <a:avLst/>
              </a:prstGeom>
              <a:blipFill>
                <a:blip r:embed="rId17"/>
                <a:stretch>
                  <a:fillRect l="-4623"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008BF08-9F86-4CE7-92FE-0E5667FD266C}"/>
                  </a:ext>
                </a:extLst>
              </p:cNvPr>
              <p:cNvSpPr txBox="1"/>
              <p:nvPr/>
            </p:nvSpPr>
            <p:spPr>
              <a:xfrm>
                <a:off x="3637722" y="4333461"/>
                <a:ext cx="1620078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(-</a:t>
                </a:r>
                <a:r>
                  <a:rPr lang="en-IN" i="1" dirty="0">
                    <a:latin typeface="+mj-lt"/>
                  </a:rPr>
                  <a:t>dl</a:t>
                </a:r>
                <a:r>
                  <a:rPr lang="en-IN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008BF08-9F86-4CE7-92FE-0E5667FD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22" y="4333461"/>
                <a:ext cx="1620078" cy="445699"/>
              </a:xfrm>
              <a:prstGeom prst="rect">
                <a:avLst/>
              </a:prstGeom>
              <a:blipFill>
                <a:blip r:embed="rId18"/>
                <a:stretch>
                  <a:fillRect l="-14286"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0E92BE6-14E4-44B5-9EBC-C00E5FF4CCCD}"/>
                  </a:ext>
                </a:extLst>
              </p:cNvPr>
              <p:cNvSpPr txBox="1"/>
              <p:nvPr/>
            </p:nvSpPr>
            <p:spPr>
              <a:xfrm>
                <a:off x="5247861" y="4373217"/>
                <a:ext cx="1679713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(</a:t>
                </a:r>
                <a:r>
                  <a:rPr lang="en-IN" i="1" dirty="0">
                    <a:latin typeface="+mj-lt"/>
                  </a:rPr>
                  <a:t>dl</a:t>
                </a:r>
                <a:r>
                  <a:rPr lang="en-IN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0E92BE6-14E4-44B5-9EBC-C00E5FF4C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861" y="4373217"/>
                <a:ext cx="1679713" cy="445699"/>
              </a:xfrm>
              <a:prstGeom prst="rect">
                <a:avLst/>
              </a:prstGeom>
              <a:blipFill>
                <a:blip r:embed="rId19"/>
                <a:stretch>
                  <a:fillRect l="-3273" t="-113514" b="-175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91CE66B-07C0-4C98-9294-0A1C853F6F6C}"/>
                  </a:ext>
                </a:extLst>
              </p:cNvPr>
              <p:cNvSpPr txBox="1"/>
              <p:nvPr/>
            </p:nvSpPr>
            <p:spPr>
              <a:xfrm>
                <a:off x="6768548" y="4452730"/>
                <a:ext cx="1411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/2)</m:t>
                    </m:r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91CE66B-07C0-4C98-9294-0A1C853F6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548" y="4452730"/>
                <a:ext cx="1411357" cy="369332"/>
              </a:xfrm>
              <a:prstGeom prst="rect">
                <a:avLst/>
              </a:prstGeom>
              <a:blipFill>
                <a:blip r:embed="rId20"/>
                <a:stretch>
                  <a:fillRect l="-344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7FE72D-CA33-4E72-82E8-A47B1D4ADBDD}"/>
                  </a:ext>
                </a:extLst>
              </p:cNvPr>
              <p:cNvSpPr txBox="1"/>
              <p:nvPr/>
            </p:nvSpPr>
            <p:spPr>
              <a:xfrm>
                <a:off x="8209722" y="4462670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0   ( since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latin typeface="+mj-lt"/>
                  </a:rPr>
                  <a:t> 0 )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7FE72D-CA33-4E72-82E8-A47B1D4AD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22" y="4462670"/>
                <a:ext cx="2514600" cy="369332"/>
              </a:xfrm>
              <a:prstGeom prst="rect">
                <a:avLst/>
              </a:prstGeom>
              <a:blipFill>
                <a:blip r:embed="rId21"/>
                <a:stretch>
                  <a:fillRect l="-218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F288B04-20C4-4594-A62D-97C21280BD0B}"/>
                  </a:ext>
                </a:extLst>
              </p:cNvPr>
              <p:cNvSpPr txBox="1"/>
              <p:nvPr/>
            </p:nvSpPr>
            <p:spPr>
              <a:xfrm>
                <a:off x="427383" y="4780721"/>
                <a:ext cx="4452730" cy="44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Similarly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0 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F288B04-20C4-4594-A62D-97C21280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780721"/>
                <a:ext cx="4452730" cy="445699"/>
              </a:xfrm>
              <a:prstGeom prst="rect">
                <a:avLst/>
              </a:prstGeom>
              <a:blipFill>
                <a:blip r:embed="rId22"/>
                <a:stretch>
                  <a:fillRect l="-1094" t="-115068" b="-179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912A1-4CF2-4B0C-B7BE-72237FCCA94C}"/>
                  </a:ext>
                </a:extLst>
              </p:cNvPr>
              <p:cNvSpPr txBox="1"/>
              <p:nvPr/>
            </p:nvSpPr>
            <p:spPr>
              <a:xfrm>
                <a:off x="327991" y="5357191"/>
                <a:ext cx="2912165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(LHS)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𝑏𝑐𝑑𝑎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>
                    <a:latin typeface="+mj-lt"/>
                  </a:rPr>
                  <a:t>w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912A1-4CF2-4B0C-B7BE-72237FCCA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1" y="5357191"/>
                <a:ext cx="2912165" cy="413511"/>
              </a:xfrm>
              <a:prstGeom prst="rect">
                <a:avLst/>
              </a:prstGeom>
              <a:blipFill>
                <a:blip r:embed="rId23"/>
                <a:stretch>
                  <a:fillRect l="-188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FDE2A192-762C-4BCC-BAC1-5B2729904310}"/>
              </a:ext>
            </a:extLst>
          </p:cNvPr>
          <p:cNvSpPr txBox="1"/>
          <p:nvPr/>
        </p:nvSpPr>
        <p:spPr>
          <a:xfrm>
            <a:off x="3071193" y="5387008"/>
            <a:ext cx="125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= 0 (RHS)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8C81E5-2820-47CA-A46F-BF3C34CAA53D}"/>
                  </a:ext>
                </a:extLst>
              </p:cNvPr>
              <p:cNvSpPr txBox="1"/>
              <p:nvPr/>
            </p:nvSpPr>
            <p:spPr>
              <a:xfrm>
                <a:off x="1510749" y="6132443"/>
                <a:ext cx="9303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0 </a:t>
                </a:r>
                <a:r>
                  <a:rPr lang="en-IN" dirty="0">
                    <a:latin typeface="+mj-lt"/>
                  </a:rPr>
                  <a:t>&amp;</a:t>
                </a:r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0  </a:t>
                </a:r>
                <a:r>
                  <a:rPr lang="en-IN" dirty="0">
                    <a:latin typeface="+mj-lt"/>
                  </a:rPr>
                  <a:t>( above &amp; below the boundary </a:t>
                </a:r>
                <a:r>
                  <a:rPr lang="en-IN" i="1" dirty="0" err="1">
                    <a:latin typeface="+mj-lt"/>
                  </a:rPr>
                  <a:t>i.e</a:t>
                </a:r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+mj-lt"/>
                  </a:rPr>
                  <a:t>is continuous across the boundary)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8C81E5-2820-47CA-A46F-BF3C34CA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749" y="6132443"/>
                <a:ext cx="9303025" cy="369332"/>
              </a:xfrm>
              <a:prstGeom prst="rect">
                <a:avLst/>
              </a:prstGeom>
              <a:blipFill>
                <a:blip r:embed="rId24"/>
                <a:stretch>
                  <a:fillRect l="-590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20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20" grpId="0"/>
      <p:bldP spid="24" grpId="0"/>
      <p:bldP spid="25" grpId="0"/>
      <p:bldP spid="26" grpId="0"/>
      <p:bldP spid="30" grpId="0"/>
      <p:bldP spid="32" grpId="0"/>
      <p:bldP spid="33" grpId="0" animBg="1"/>
      <p:bldP spid="34" grpId="0"/>
      <p:bldP spid="35" grpId="0"/>
      <p:bldP spid="37" grpId="0"/>
      <p:bldP spid="39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48" grpId="0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8" grpId="0"/>
      <p:bldP spid="60" grpId="0"/>
      <p:bldP spid="61" grpId="0"/>
      <p:bldP spid="6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ylinder 30">
            <a:extLst>
              <a:ext uri="{FF2B5EF4-FFF2-40B4-BE49-F238E27FC236}">
                <a16:creationId xmlns:a16="http://schemas.microsoft.com/office/drawing/2014/main" id="{5B5D624C-D31E-4930-9E62-1D2C61B94AD3}"/>
              </a:ext>
            </a:extLst>
          </p:cNvPr>
          <p:cNvSpPr/>
          <p:nvPr/>
        </p:nvSpPr>
        <p:spPr>
          <a:xfrm>
            <a:off x="7861852" y="2057400"/>
            <a:ext cx="864705" cy="904461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3F007-6322-4807-90AF-BA8F1E9EDBAC}"/>
              </a:ext>
            </a:extLst>
          </p:cNvPr>
          <p:cNvSpPr txBox="1"/>
          <p:nvPr/>
        </p:nvSpPr>
        <p:spPr>
          <a:xfrm>
            <a:off x="318052" y="327991"/>
            <a:ext cx="737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+mj-lt"/>
              </a:rPr>
              <a:t>Condition on Normal Components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D1CD1B-C4F9-4737-9EB4-7A38DA2655C5}"/>
              </a:ext>
            </a:extLst>
          </p:cNvPr>
          <p:cNvCxnSpPr/>
          <p:nvPr/>
        </p:nvCxnSpPr>
        <p:spPr>
          <a:xfrm>
            <a:off x="9891252" y="2438400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6D779-609C-4448-94B5-51BDEF639095}"/>
                  </a:ext>
                </a:extLst>
              </p:cNvPr>
              <p:cNvSpPr txBox="1"/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6D779-609C-4448-94B5-51BDEF639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blipFill>
                <a:blip r:embed="rId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3E2888-7E2A-4B62-BC3B-808151BABB0F}"/>
              </a:ext>
            </a:extLst>
          </p:cNvPr>
          <p:cNvCxnSpPr/>
          <p:nvPr/>
        </p:nvCxnSpPr>
        <p:spPr>
          <a:xfrm flipV="1">
            <a:off x="9897035" y="152758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16F68C-EE5E-4560-8A53-E44FABFDA755}"/>
              </a:ext>
            </a:extLst>
          </p:cNvPr>
          <p:cNvCxnSpPr/>
          <p:nvPr/>
        </p:nvCxnSpPr>
        <p:spPr>
          <a:xfrm flipV="1">
            <a:off x="4246659" y="1931283"/>
            <a:ext cx="772160" cy="56896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93013C-3A8B-40B1-ABFE-F91E2CB8E6ED}"/>
                  </a:ext>
                </a:extLst>
              </p:cNvPr>
              <p:cNvSpPr txBox="1"/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+mj-lt"/>
                  </a:rPr>
                  <a:t>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1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93013C-3A8B-40B1-ABFE-F91E2CB8E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blipFill>
                <a:blip r:embed="rId3"/>
                <a:stretch>
                  <a:fillRect l="-75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B5811C-A9DE-47DA-9159-D1576E2359A9}"/>
              </a:ext>
            </a:extLst>
          </p:cNvPr>
          <p:cNvCxnSpPr/>
          <p:nvPr/>
        </p:nvCxnSpPr>
        <p:spPr>
          <a:xfrm>
            <a:off x="4237162" y="2519901"/>
            <a:ext cx="822960" cy="0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6762F-EF16-4627-AE8A-F6EE5339C96F}"/>
                  </a:ext>
                </a:extLst>
              </p:cNvPr>
              <p:cNvSpPr txBox="1"/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6762F-EF16-4627-AE8A-F6EE5339C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587BED-7131-4872-A557-5C800300AC7E}"/>
              </a:ext>
            </a:extLst>
          </p:cNvPr>
          <p:cNvCxnSpPr>
            <a:cxnSpLocks/>
          </p:cNvCxnSpPr>
          <p:nvPr/>
        </p:nvCxnSpPr>
        <p:spPr>
          <a:xfrm flipV="1">
            <a:off x="4236940" y="1596004"/>
            <a:ext cx="0" cy="904240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996458-F206-4ED5-A58C-2EF55B9A6A2B}"/>
                  </a:ext>
                </a:extLst>
              </p:cNvPr>
              <p:cNvSpPr txBox="1"/>
              <p:nvPr/>
            </p:nvSpPr>
            <p:spPr>
              <a:xfrm>
                <a:off x="7459769" y="1821571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996458-F206-4ED5-A58C-2EF55B9A6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769" y="1821571"/>
                <a:ext cx="117417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3032CD-40C3-426E-BE54-15742091F23C}"/>
                  </a:ext>
                </a:extLst>
              </p:cNvPr>
              <p:cNvSpPr txBox="1"/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3032CD-40C3-426E-BE54-15742091F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9C2DDB-27C3-4F1B-9A92-B0A743270538}"/>
              </a:ext>
            </a:extLst>
          </p:cNvPr>
          <p:cNvCxnSpPr>
            <a:cxnSpLocks/>
          </p:cNvCxnSpPr>
          <p:nvPr/>
        </p:nvCxnSpPr>
        <p:spPr>
          <a:xfrm>
            <a:off x="9115237" y="2626792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7C3800-E7F6-499B-AB22-3C1158D79C0A}"/>
              </a:ext>
            </a:extLst>
          </p:cNvPr>
          <p:cNvCxnSpPr>
            <a:cxnSpLocks/>
          </p:cNvCxnSpPr>
          <p:nvPr/>
        </p:nvCxnSpPr>
        <p:spPr>
          <a:xfrm flipV="1">
            <a:off x="9122918" y="2226365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37491-E21C-4D14-891A-B98B6CF513B5}"/>
                  </a:ext>
                </a:extLst>
              </p:cNvPr>
              <p:cNvSpPr txBox="1"/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37491-E21C-4D14-891A-B98B6CF5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blipFill>
                <a:blip r:embed="rId7"/>
                <a:stretch>
                  <a:fillRect r="-29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92C74-8CE5-4BEB-AE52-E50E1E22EC6B}"/>
                  </a:ext>
                </a:extLst>
              </p:cNvPr>
              <p:cNvSpPr txBox="1"/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92C74-8CE5-4BEB-AE52-E50E1E22E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blipFill>
                <a:blip r:embed="rId8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F02D288-B08D-4C40-BCE2-1ED8D5194A46}"/>
              </a:ext>
            </a:extLst>
          </p:cNvPr>
          <p:cNvSpPr txBox="1"/>
          <p:nvPr/>
        </p:nvSpPr>
        <p:spPr>
          <a:xfrm>
            <a:off x="124691" y="3325091"/>
            <a:ext cx="808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calculate the normal components across the boundary, consider the small pill box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05B616-3CEB-4BFC-B72E-2968C64CECC2}"/>
              </a:ext>
            </a:extLst>
          </p:cNvPr>
          <p:cNvSpPr/>
          <p:nvPr/>
        </p:nvSpPr>
        <p:spPr>
          <a:xfrm>
            <a:off x="7871792" y="2802835"/>
            <a:ext cx="844825" cy="12920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D3D973-E2CA-40A0-ACED-030B8CC24E85}"/>
                  </a:ext>
                </a:extLst>
              </p:cNvPr>
              <p:cNvSpPr txBox="1"/>
              <p:nvPr/>
            </p:nvSpPr>
            <p:spPr>
              <a:xfrm>
                <a:off x="129092" y="3775934"/>
                <a:ext cx="4991548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Applying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to the pill box</a:t>
                </a:r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D3D973-E2CA-40A0-ACED-030B8CC2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92" y="3775934"/>
                <a:ext cx="4991548" cy="413575"/>
              </a:xfrm>
              <a:prstGeom prst="rect">
                <a:avLst/>
              </a:prstGeom>
              <a:blipFill>
                <a:blip r:embed="rId9"/>
                <a:stretch>
                  <a:fillRect l="-977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496B6C3-4512-452F-8CA7-2559B3793CBB}"/>
                  </a:ext>
                </a:extLst>
              </p:cNvPr>
              <p:cNvSpPr txBox="1"/>
              <p:nvPr/>
            </p:nvSpPr>
            <p:spPr>
              <a:xfrm>
                <a:off x="6788075" y="2280621"/>
                <a:ext cx="4518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496B6C3-4512-452F-8CA7-2559B3793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075" y="2280621"/>
                <a:ext cx="451821" cy="338554"/>
              </a:xfrm>
              <a:prstGeom prst="rect">
                <a:avLst/>
              </a:prstGeom>
              <a:blipFill>
                <a:blip r:embed="rId1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1C7BC8-7644-4626-A4A2-FC1347AA7413}"/>
                  </a:ext>
                </a:extLst>
              </p:cNvPr>
              <p:cNvSpPr txBox="1"/>
              <p:nvPr/>
            </p:nvSpPr>
            <p:spPr>
              <a:xfrm>
                <a:off x="247426" y="4410635"/>
                <a:ext cx="771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is the charge density on the conductor surface </a:t>
                </a:r>
                <a:r>
                  <a:rPr lang="en-IN" i="1" dirty="0" err="1">
                    <a:latin typeface="+mj-lt"/>
                  </a:rPr>
                  <a:t>i.e</a:t>
                </a:r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on boundary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1C7BC8-7644-4626-A4A2-FC1347AA7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6" y="4410635"/>
                <a:ext cx="7713233" cy="369332"/>
              </a:xfrm>
              <a:prstGeom prst="rect">
                <a:avLst/>
              </a:prstGeom>
              <a:blipFill>
                <a:blip r:embed="rId11"/>
                <a:stretch>
                  <a:fillRect l="-71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0C906C1-AD20-4CE4-81E6-116199B17E68}"/>
                  </a:ext>
                </a:extLst>
              </p:cNvPr>
              <p:cNvSpPr txBox="1"/>
              <p:nvPr/>
            </p:nvSpPr>
            <p:spPr>
              <a:xfrm>
                <a:off x="935915" y="5045336"/>
                <a:ext cx="26248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0C906C1-AD20-4CE4-81E6-116199B17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15" y="5045336"/>
                <a:ext cx="2624866" cy="369332"/>
              </a:xfrm>
              <a:prstGeom prst="rect">
                <a:avLst/>
              </a:prstGeom>
              <a:blipFill>
                <a:blip r:embed="rId1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EE0D34-100E-4FA4-9546-EF4B9CF8AE8E}"/>
                  </a:ext>
                </a:extLst>
              </p:cNvPr>
              <p:cNvSpPr txBox="1"/>
              <p:nvPr/>
            </p:nvSpPr>
            <p:spPr>
              <a:xfrm>
                <a:off x="279699" y="5647765"/>
                <a:ext cx="10499463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Now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𝑜𝑡𝑡𝑜𝑚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𝑖𝑑𝑒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EE0D34-100E-4FA4-9546-EF4B9CF8A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99" y="5647765"/>
                <a:ext cx="10499463" cy="444032"/>
              </a:xfrm>
              <a:prstGeom prst="rect">
                <a:avLst/>
              </a:prstGeom>
              <a:blipFill>
                <a:blip r:embed="rId13"/>
                <a:stretch>
                  <a:fillRect l="-523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rapezoid 7">
            <a:extLst>
              <a:ext uri="{FF2B5EF4-FFF2-40B4-BE49-F238E27FC236}">
                <a16:creationId xmlns:a16="http://schemas.microsoft.com/office/drawing/2014/main" id="{F05789ED-B42F-4284-8D17-191B9EAC0AA0}"/>
              </a:ext>
            </a:extLst>
          </p:cNvPr>
          <p:cNvSpPr/>
          <p:nvPr/>
        </p:nvSpPr>
        <p:spPr>
          <a:xfrm>
            <a:off x="3071191" y="2498103"/>
            <a:ext cx="8863143" cy="105949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55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/>
      <p:bldP spid="8" grpId="0"/>
      <p:bldP spid="10" grpId="0"/>
      <p:bldP spid="22" grpId="0"/>
      <p:bldP spid="25" grpId="0"/>
      <p:bldP spid="28" grpId="0"/>
      <p:bldP spid="29" grpId="0"/>
      <p:bldP spid="30" grpId="0"/>
      <p:bldP spid="32" grpId="0" animBg="1"/>
      <p:bldP spid="33" grpId="0"/>
      <p:bldP spid="34" grpId="0"/>
      <p:bldP spid="35" grpId="0"/>
      <p:bldP spid="36" grpId="0"/>
      <p:bldP spid="37" grpId="0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EA706-6633-4A13-B038-B7F012DFA26E}"/>
                  </a:ext>
                </a:extLst>
              </p:cNvPr>
              <p:cNvSpPr txBox="1"/>
              <p:nvPr/>
            </p:nvSpPr>
            <p:spPr>
              <a:xfrm>
                <a:off x="374073" y="394854"/>
                <a:ext cx="1383607" cy="448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EA706-6633-4A13-B038-B7F012DF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3" y="394854"/>
                <a:ext cx="1383607" cy="448425"/>
              </a:xfrm>
              <a:prstGeom prst="rect">
                <a:avLst/>
              </a:prstGeom>
              <a:blipFill>
                <a:blip r:embed="rId2"/>
                <a:stretch>
                  <a:fillRect l="-29515" t="-123288" r="-1762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5633D4-C96E-49B8-9DF7-507BD20796AC}"/>
              </a:ext>
            </a:extLst>
          </p:cNvPr>
          <p:cNvCxnSpPr/>
          <p:nvPr/>
        </p:nvCxnSpPr>
        <p:spPr>
          <a:xfrm>
            <a:off x="9891252" y="2438400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5EEB9-1332-4502-8421-0B3074CA7D13}"/>
                  </a:ext>
                </a:extLst>
              </p:cNvPr>
              <p:cNvSpPr txBox="1"/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5EEB9-1332-4502-8421-0B3074CA7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blipFill>
                <a:blip r:embed="rId3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AF44F2-C7C4-4000-A559-FCF7395A204F}"/>
              </a:ext>
            </a:extLst>
          </p:cNvPr>
          <p:cNvCxnSpPr/>
          <p:nvPr/>
        </p:nvCxnSpPr>
        <p:spPr>
          <a:xfrm flipV="1">
            <a:off x="9897035" y="152758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B03F2-9DE3-4358-BECD-FEF9377E6371}"/>
                  </a:ext>
                </a:extLst>
              </p:cNvPr>
              <p:cNvSpPr txBox="1"/>
              <p:nvPr/>
            </p:nvSpPr>
            <p:spPr>
              <a:xfrm>
                <a:off x="7529343" y="1811632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B03F2-9DE3-4358-BECD-FEF9377E6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343" y="1811632"/>
                <a:ext cx="117417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EDB5B-534A-4408-9DEF-3B3EF1A85D47}"/>
                  </a:ext>
                </a:extLst>
              </p:cNvPr>
              <p:cNvSpPr txBox="1"/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EDB5B-534A-4408-9DEF-3B3EF1A85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48C1B2-3264-4B1A-BF60-4D0B49B2A4D7}"/>
              </a:ext>
            </a:extLst>
          </p:cNvPr>
          <p:cNvCxnSpPr>
            <a:cxnSpLocks/>
          </p:cNvCxnSpPr>
          <p:nvPr/>
        </p:nvCxnSpPr>
        <p:spPr>
          <a:xfrm>
            <a:off x="9115237" y="2626792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AE98D7-2EEF-4881-AB1C-9BAED3AD007C}"/>
              </a:ext>
            </a:extLst>
          </p:cNvPr>
          <p:cNvCxnSpPr>
            <a:cxnSpLocks/>
          </p:cNvCxnSpPr>
          <p:nvPr/>
        </p:nvCxnSpPr>
        <p:spPr>
          <a:xfrm flipV="1">
            <a:off x="9122918" y="2226365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FD48F1-3EFD-48FE-AB21-3E9D7E37C11D}"/>
                  </a:ext>
                </a:extLst>
              </p:cNvPr>
              <p:cNvSpPr txBox="1"/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FD48F1-3EFD-48FE-AB21-3E9D7E37C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blipFill>
                <a:blip r:embed="rId6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ylinder 18">
            <a:extLst>
              <a:ext uri="{FF2B5EF4-FFF2-40B4-BE49-F238E27FC236}">
                <a16:creationId xmlns:a16="http://schemas.microsoft.com/office/drawing/2014/main" id="{5F161716-A42D-47F4-895B-9C250FA6DF58}"/>
              </a:ext>
            </a:extLst>
          </p:cNvPr>
          <p:cNvSpPr/>
          <p:nvPr/>
        </p:nvSpPr>
        <p:spPr>
          <a:xfrm>
            <a:off x="7861852" y="2057400"/>
            <a:ext cx="864705" cy="904461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E38EAB-DF68-4F33-8533-5B0A9CF6810E}"/>
              </a:ext>
            </a:extLst>
          </p:cNvPr>
          <p:cNvSpPr/>
          <p:nvPr/>
        </p:nvSpPr>
        <p:spPr>
          <a:xfrm>
            <a:off x="7871792" y="2802835"/>
            <a:ext cx="844825" cy="12920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E0A7A2-9374-464A-B90A-064A20E5056A}"/>
              </a:ext>
            </a:extLst>
          </p:cNvPr>
          <p:cNvSpPr/>
          <p:nvPr/>
        </p:nvSpPr>
        <p:spPr>
          <a:xfrm>
            <a:off x="8333509" y="2140527"/>
            <a:ext cx="145473" cy="51955"/>
          </a:xfrm>
          <a:prstGeom prst="ellipse">
            <a:avLst/>
          </a:prstGeom>
          <a:solidFill>
            <a:schemeClr val="accent4">
              <a:lumMod val="60000"/>
              <a:lumOff val="4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3F6A13-90A3-4721-97EF-E9AA6F11F3BE}"/>
              </a:ext>
            </a:extLst>
          </p:cNvPr>
          <p:cNvCxnSpPr>
            <a:cxnSpLocks/>
          </p:cNvCxnSpPr>
          <p:nvPr/>
        </p:nvCxnSpPr>
        <p:spPr>
          <a:xfrm flipH="1" flipV="1">
            <a:off x="8392160" y="1706880"/>
            <a:ext cx="14086" cy="475442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FF1F1F-A9C7-4A21-AABD-972DD012D6B6}"/>
                  </a:ext>
                </a:extLst>
              </p:cNvPr>
              <p:cNvSpPr txBox="1"/>
              <p:nvPr/>
            </p:nvSpPr>
            <p:spPr>
              <a:xfrm>
                <a:off x="8381768" y="1841038"/>
                <a:ext cx="12817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i="1" dirty="0">
                    <a:latin typeface="+mj-lt"/>
                  </a:rPr>
                  <a:t>ds = </a:t>
                </a:r>
                <a:r>
                  <a:rPr lang="en-IN" sz="1400" i="1" dirty="0">
                    <a:latin typeface="+mj-lt"/>
                  </a:rPr>
                  <a:t>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sz="14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FF1F1F-A9C7-4A21-AABD-972DD012D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68" y="1841038"/>
                <a:ext cx="1281777" cy="307777"/>
              </a:xfrm>
              <a:prstGeom prst="rect">
                <a:avLst/>
              </a:prstGeom>
              <a:blipFill>
                <a:blip r:embed="rId7"/>
                <a:stretch>
                  <a:fillRect l="-1429" t="-4000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ACCB60-6115-497B-9EF5-5B29345B2C04}"/>
                  </a:ext>
                </a:extLst>
              </p:cNvPr>
              <p:cNvSpPr txBox="1"/>
              <p:nvPr/>
            </p:nvSpPr>
            <p:spPr>
              <a:xfrm>
                <a:off x="1620981" y="374073"/>
                <a:ext cx="5985164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+</m:t>
                        </m:r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ACCB60-6115-497B-9EF5-5B29345B2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981" y="374073"/>
                <a:ext cx="5985164" cy="444032"/>
              </a:xfrm>
              <a:prstGeom prst="rect">
                <a:avLst/>
              </a:prstGeom>
              <a:blipFill>
                <a:blip r:embed="rId8"/>
                <a:stretch>
                  <a:fillRect l="-6925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AAB23C-24A1-4083-92EF-1BC3978CFC64}"/>
                  </a:ext>
                </a:extLst>
              </p:cNvPr>
              <p:cNvSpPr txBox="1"/>
              <p:nvPr/>
            </p:nvSpPr>
            <p:spPr>
              <a:xfrm>
                <a:off x="1413164" y="1111827"/>
                <a:ext cx="1745672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AAB23C-24A1-4083-92EF-1BC3978CF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1111827"/>
                <a:ext cx="1745672" cy="444032"/>
              </a:xfrm>
              <a:prstGeom prst="rect">
                <a:avLst/>
              </a:prstGeom>
              <a:blipFill>
                <a:blip r:embed="rId9"/>
                <a:stretch>
                  <a:fillRect l="-13287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DC462C-0C8E-4CAB-BA4B-10CB1E814936}"/>
                  </a:ext>
                </a:extLst>
              </p:cNvPr>
              <p:cNvSpPr txBox="1"/>
              <p:nvPr/>
            </p:nvSpPr>
            <p:spPr>
              <a:xfrm>
                <a:off x="2836718" y="1143000"/>
                <a:ext cx="3719945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DC462C-0C8E-4CAB-BA4B-10CB1E814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8" y="1143000"/>
                <a:ext cx="3719945" cy="444032"/>
              </a:xfrm>
              <a:prstGeom prst="rect">
                <a:avLst/>
              </a:prstGeom>
              <a:blipFill>
                <a:blip r:embed="rId10"/>
                <a:stretch>
                  <a:fillRect t="-125000" b="-173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CDDA90-E3CC-4380-90D7-720F8DAC4769}"/>
                  </a:ext>
                </a:extLst>
              </p:cNvPr>
              <p:cNvSpPr txBox="1"/>
              <p:nvPr/>
            </p:nvSpPr>
            <p:spPr>
              <a:xfrm>
                <a:off x="2934303" y="1667064"/>
                <a:ext cx="2452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CDDA90-E3CC-4380-90D7-720F8DAC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303" y="1667064"/>
                <a:ext cx="2452254" cy="369332"/>
              </a:xfrm>
              <a:prstGeom prst="rect">
                <a:avLst/>
              </a:prstGeom>
              <a:blipFill>
                <a:blip r:embed="rId11"/>
                <a:stretch>
                  <a:fillRect l="-198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4D0D13-9327-41CB-82E9-E5E616BA47A6}"/>
                  </a:ext>
                </a:extLst>
              </p:cNvPr>
              <p:cNvSpPr txBox="1"/>
              <p:nvPr/>
            </p:nvSpPr>
            <p:spPr>
              <a:xfrm>
                <a:off x="318052" y="2733261"/>
                <a:ext cx="5297557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𝑏𝑜𝑡𝑡𝑜𝑚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:r>
                  <a:rPr lang="en-IN" dirty="0">
                    <a:latin typeface="+mj-lt"/>
                  </a:rPr>
                  <a:t>0 (</a:t>
                </a:r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0 in side the conductor)</a:t>
                </a:r>
                <a:endParaRPr lang="en-IN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4D0D13-9327-41CB-82E9-E5E616BA4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2733261"/>
                <a:ext cx="5297557" cy="413575"/>
              </a:xfrm>
              <a:prstGeom prst="rect">
                <a:avLst/>
              </a:prstGeom>
              <a:blipFill>
                <a:blip r:embed="rId12"/>
                <a:stretch>
                  <a:fillRect l="-771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EA80FF-266A-42D5-A346-1346DA837753}"/>
                  </a:ext>
                </a:extLst>
              </p:cNvPr>
              <p:cNvSpPr txBox="1"/>
              <p:nvPr/>
            </p:nvSpPr>
            <p:spPr>
              <a:xfrm>
                <a:off x="377687" y="3617844"/>
                <a:ext cx="5436704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𝑠𝑖𝑑𝑒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0   (since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latin typeface="+mj-lt"/>
                  </a:rPr>
                  <a:t> 0 )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EA80FF-266A-42D5-A346-1346DA837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" y="3617844"/>
                <a:ext cx="5436704" cy="413511"/>
              </a:xfrm>
              <a:prstGeom prst="rect">
                <a:avLst/>
              </a:prstGeom>
              <a:blipFill>
                <a:blip r:embed="rId13"/>
                <a:stretch>
                  <a:fillRect l="-762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3E749E-3142-4B7F-9253-B386C3603806}"/>
                  </a:ext>
                </a:extLst>
              </p:cNvPr>
              <p:cNvSpPr txBox="1"/>
              <p:nvPr/>
            </p:nvSpPr>
            <p:spPr>
              <a:xfrm>
                <a:off x="397565" y="4512365"/>
                <a:ext cx="6500192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3E749E-3142-4B7F-9253-B386C3603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4512365"/>
                <a:ext cx="6500192" cy="413575"/>
              </a:xfrm>
              <a:prstGeom prst="rect">
                <a:avLst/>
              </a:prstGeom>
              <a:blipFill>
                <a:blip r:embed="rId14"/>
                <a:stretch>
                  <a:fillRect l="-6279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9E4B9-9496-4C9E-A8D4-CACA80DF2554}"/>
                  </a:ext>
                </a:extLst>
              </p:cNvPr>
              <p:cNvSpPr txBox="1"/>
              <p:nvPr/>
            </p:nvSpPr>
            <p:spPr>
              <a:xfrm>
                <a:off x="467139" y="5287617"/>
                <a:ext cx="99391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: Normal components are discontinuous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9E4B9-9496-4C9E-A8D4-CACA80DF2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39" y="5287617"/>
                <a:ext cx="9939131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0744C5-7473-4ED5-B5A7-67461BB327DF}"/>
                  </a:ext>
                </a:extLst>
              </p:cNvPr>
              <p:cNvSpPr txBox="1"/>
              <p:nvPr/>
            </p:nvSpPr>
            <p:spPr>
              <a:xfrm>
                <a:off x="2961861" y="5973417"/>
                <a:ext cx="5546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Finally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0 </a:t>
                </a:r>
                <a:r>
                  <a:rPr lang="en-IN" dirty="0">
                    <a:latin typeface="+mj-lt"/>
                  </a:rPr>
                  <a:t>,</a:t>
                </a:r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0 </a:t>
                </a:r>
                <a:r>
                  <a:rPr lang="en-IN" dirty="0">
                    <a:latin typeface="+mj-lt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0744C5-7473-4ED5-B5A7-67461BB32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61" y="5973417"/>
                <a:ext cx="5546035" cy="369332"/>
              </a:xfrm>
              <a:prstGeom prst="rect">
                <a:avLst/>
              </a:prstGeom>
              <a:blipFill>
                <a:blip r:embed="rId16"/>
                <a:stretch>
                  <a:fillRect l="-98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apezoid 7">
            <a:extLst>
              <a:ext uri="{FF2B5EF4-FFF2-40B4-BE49-F238E27FC236}">
                <a16:creationId xmlns:a16="http://schemas.microsoft.com/office/drawing/2014/main" id="{2C11A2F6-54AF-4597-8865-C9968B627AC9}"/>
              </a:ext>
            </a:extLst>
          </p:cNvPr>
          <p:cNvSpPr/>
          <p:nvPr/>
        </p:nvSpPr>
        <p:spPr>
          <a:xfrm>
            <a:off x="6307282" y="2498104"/>
            <a:ext cx="4197927" cy="99623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0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/>
      <p:bldP spid="18" grpId="0"/>
      <p:bldP spid="19" grpId="0" animBg="1"/>
      <p:bldP spid="20" grpId="0" animBg="1"/>
      <p:bldP spid="22" grpId="0" animBg="1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046C6-F6DB-4D00-8767-2AE4EB464AED}"/>
              </a:ext>
            </a:extLst>
          </p:cNvPr>
          <p:cNvSpPr txBox="1"/>
          <p:nvPr/>
        </p:nvSpPr>
        <p:spPr>
          <a:xfrm>
            <a:off x="247428" y="176860"/>
            <a:ext cx="6448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0070C0"/>
                </a:solidFill>
                <a:latin typeface="+mj-lt"/>
              </a:rPr>
              <a:t>POISSION’S AND LAPLACE’S EQUATIONS</a:t>
            </a: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CE4A1-1A22-C5B7-82C9-6824610EF975}"/>
              </a:ext>
            </a:extLst>
          </p:cNvPr>
          <p:cNvSpPr txBox="1"/>
          <p:nvPr/>
        </p:nvSpPr>
        <p:spPr>
          <a:xfrm>
            <a:off x="1006038" y="714258"/>
            <a:ext cx="593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the point form of Gauss’s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C3D223-1DB9-4BF0-B919-33FDDEC2935B}"/>
                  </a:ext>
                </a:extLst>
              </p:cNvPr>
              <p:cNvSpPr txBox="1"/>
              <p:nvPr/>
            </p:nvSpPr>
            <p:spPr>
              <a:xfrm>
                <a:off x="3631163" y="1238531"/>
                <a:ext cx="36150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latin typeface="+mj-lt"/>
                  </a:rPr>
                  <a:t>.</a:t>
                </a:r>
                <a:r>
                  <a:rPr lang="en-IN" b="1" dirty="0">
                    <a:latin typeface="+mj-lt"/>
                  </a:rPr>
                  <a:t>D</a:t>
                </a:r>
                <a:r>
                  <a:rPr lang="en-IN" dirty="0">
                    <a:latin typeface="+mj-lt"/>
                  </a:rPr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C3D223-1DB9-4BF0-B919-33FDDEC2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163" y="1238531"/>
                <a:ext cx="361507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3168D1F-CA5A-34E5-8FFE-BF9A5929B224}"/>
              </a:ext>
            </a:extLst>
          </p:cNvPr>
          <p:cNvSpPr txBox="1"/>
          <p:nvPr/>
        </p:nvSpPr>
        <p:spPr>
          <a:xfrm>
            <a:off x="1030619" y="1663071"/>
            <a:ext cx="593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the definition of </a:t>
            </a:r>
            <a:r>
              <a:rPr lang="en-IN" sz="2000" b="1" dirty="0"/>
              <a:t>D</a:t>
            </a:r>
            <a:endParaRPr lang="en-IN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2FD864-545C-749B-BDFB-A5DF91657447}"/>
                  </a:ext>
                </a:extLst>
              </p:cNvPr>
              <p:cNvSpPr txBox="1"/>
              <p:nvPr/>
            </p:nvSpPr>
            <p:spPr>
              <a:xfrm>
                <a:off x="3566652" y="2194740"/>
                <a:ext cx="6150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</a:t>
                </a:r>
                <a:r>
                  <a:rPr lang="en-IN" b="1" dirty="0"/>
                  <a:t>D 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latin typeface="+mj-lt"/>
                  </a:rPr>
                  <a:t>E</a:t>
                </a:r>
                <a:r>
                  <a:rPr lang="en-IN" dirty="0"/>
                  <a:t>	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2FD864-545C-749B-BDFB-A5DF91657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652" y="2194740"/>
                <a:ext cx="6150076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7135042-6227-DC18-CECC-45B9201321BD}"/>
              </a:ext>
            </a:extLst>
          </p:cNvPr>
          <p:cNvSpPr txBox="1"/>
          <p:nvPr/>
        </p:nvSpPr>
        <p:spPr>
          <a:xfrm>
            <a:off x="1074864" y="2641381"/>
            <a:ext cx="593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the </a:t>
            </a:r>
            <a:r>
              <a:rPr lang="en-IN" sz="2000" i="1" dirty="0">
                <a:latin typeface="+mj-lt"/>
              </a:rPr>
              <a:t>gradient</a:t>
            </a:r>
            <a:r>
              <a:rPr lang="en-IN" sz="2000" dirty="0">
                <a:latin typeface="+mj-lt"/>
              </a:rPr>
              <a:t> relation between </a:t>
            </a:r>
            <a:r>
              <a:rPr lang="en-IN" sz="2000" b="1" dirty="0">
                <a:latin typeface="+mj-lt"/>
              </a:rPr>
              <a:t>E </a:t>
            </a:r>
            <a:r>
              <a:rPr lang="en-IN" sz="2000" dirty="0">
                <a:latin typeface="+mj-lt"/>
              </a:rPr>
              <a:t>and </a:t>
            </a:r>
            <a:r>
              <a:rPr lang="en-IN" sz="2000" i="1" dirty="0">
                <a:latin typeface="+mj-lt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AAD924-99E5-3962-7567-5EC4594B95A9}"/>
                  </a:ext>
                </a:extLst>
              </p:cNvPr>
              <p:cNvSpPr txBox="1"/>
              <p:nvPr/>
            </p:nvSpPr>
            <p:spPr>
              <a:xfrm>
                <a:off x="3634658" y="3040461"/>
                <a:ext cx="222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+mj-lt"/>
                  </a:rPr>
                  <a:t>E</a:t>
                </a:r>
                <a:r>
                  <a:rPr lang="en-IN" dirty="0">
                    <a:latin typeface="+mj-lt"/>
                  </a:rPr>
                  <a:t> = 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AAD924-99E5-3962-7567-5EC4594B9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658" y="3040461"/>
                <a:ext cx="2225368" cy="369332"/>
              </a:xfrm>
              <a:prstGeom prst="rect">
                <a:avLst/>
              </a:prstGeom>
              <a:blipFill>
                <a:blip r:embed="rId4"/>
                <a:stretch>
                  <a:fillRect l="-2192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2F90FB2-1AE0-50B3-73EB-9A9A2A311A78}"/>
              </a:ext>
            </a:extLst>
          </p:cNvPr>
          <p:cNvSpPr txBox="1"/>
          <p:nvPr/>
        </p:nvSpPr>
        <p:spPr>
          <a:xfrm>
            <a:off x="1010954" y="3531201"/>
            <a:ext cx="593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the above, </a:t>
            </a:r>
            <a:endParaRPr lang="en-IN" sz="2000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2CB8687-4349-7D03-847B-C4BA76833F0C}"/>
                  </a:ext>
                </a:extLst>
              </p:cNvPr>
              <p:cNvSpPr txBox="1"/>
              <p:nvPr/>
            </p:nvSpPr>
            <p:spPr>
              <a:xfrm>
                <a:off x="3205316" y="4072701"/>
                <a:ext cx="7865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latin typeface="+mj-lt"/>
                  </a:rPr>
                  <a:t>.</a:t>
                </a:r>
                <a:r>
                  <a:rPr lang="en-IN" b="1" dirty="0">
                    <a:latin typeface="+mj-lt"/>
                  </a:rPr>
                  <a:t>D =</a:t>
                </a:r>
                <a:r>
                  <a:rPr lang="en-IN" dirty="0">
                    <a:latin typeface="+mj-lt"/>
                  </a:rPr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2CB8687-4349-7D03-847B-C4BA7683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316" y="4072701"/>
                <a:ext cx="786581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1E6B77-7E2E-E8D6-D558-03F1AA323D74}"/>
                  </a:ext>
                </a:extLst>
              </p:cNvPr>
              <p:cNvSpPr txBox="1"/>
              <p:nvPr/>
            </p:nvSpPr>
            <p:spPr>
              <a:xfrm>
                <a:off x="3795252" y="4072702"/>
                <a:ext cx="12880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/>
                  <a:t>E </a:t>
                </a:r>
                <a:r>
                  <a:rPr lang="en-IN" dirty="0"/>
                  <a:t>) =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1E6B77-7E2E-E8D6-D558-03F1AA32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52" y="4072702"/>
                <a:ext cx="1288025" cy="369332"/>
              </a:xfrm>
              <a:prstGeom prst="rect">
                <a:avLst/>
              </a:prstGeom>
              <a:blipFill>
                <a:blip r:embed="rId6"/>
                <a:stretch>
                  <a:fillRect t="-8197" r="-1422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2F288B-AA65-2CC1-87F1-74729051338C}"/>
                  </a:ext>
                </a:extLst>
              </p:cNvPr>
              <p:cNvSpPr txBox="1"/>
              <p:nvPr/>
            </p:nvSpPr>
            <p:spPr>
              <a:xfrm>
                <a:off x="4925962" y="4092366"/>
                <a:ext cx="15633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</a:t>
                </a:r>
                <a:r>
                  <a:rPr lang="en-IN" b="1" dirty="0"/>
                  <a:t> </a:t>
                </a:r>
                <a:r>
                  <a:rPr lang="en-IN" dirty="0"/>
                  <a:t>)) =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2F288B-AA65-2CC1-87F1-747290513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962" y="4092366"/>
                <a:ext cx="1563328" cy="369332"/>
              </a:xfrm>
              <a:prstGeom prst="rect">
                <a:avLst/>
              </a:prstGeom>
              <a:blipFill>
                <a:blip r:embed="rId7"/>
                <a:stretch>
                  <a:fillRect t="-8197" r="-233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583E38D-69D5-8BBF-00BA-943BE598D728}"/>
                  </a:ext>
                </a:extLst>
              </p:cNvPr>
              <p:cNvSpPr txBox="1"/>
              <p:nvPr/>
            </p:nvSpPr>
            <p:spPr>
              <a:xfrm>
                <a:off x="6390968" y="4121863"/>
                <a:ext cx="16026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</a:t>
                </a:r>
                <a:r>
                  <a:rPr lang="en-IN" b="1" dirty="0"/>
                  <a:t> </a:t>
                </a:r>
                <a:r>
                  <a:rPr lang="en-IN" dirty="0"/>
                  <a:t>) =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583E38D-69D5-8BBF-00BA-943BE598D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968" y="4121863"/>
                <a:ext cx="1602658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5AFD08-87B1-F080-B682-8FFDE1EE5A5C}"/>
                  </a:ext>
                </a:extLst>
              </p:cNvPr>
              <p:cNvSpPr txBox="1"/>
              <p:nvPr/>
            </p:nvSpPr>
            <p:spPr>
              <a:xfrm>
                <a:off x="7688827" y="4072701"/>
                <a:ext cx="7374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5AFD08-87B1-F080-B682-8FFDE1EE5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827" y="4072701"/>
                <a:ext cx="737419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88C89666-9B31-2D65-50E9-E63F2234F588}"/>
              </a:ext>
            </a:extLst>
          </p:cNvPr>
          <p:cNvSpPr txBox="1"/>
          <p:nvPr/>
        </p:nvSpPr>
        <p:spPr>
          <a:xfrm>
            <a:off x="1094528" y="4647162"/>
            <a:ext cx="593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From which</a:t>
            </a:r>
            <a:endParaRPr lang="en-IN" sz="2000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F3EB2D-D9FE-6702-CD2C-ADA010771CC2}"/>
                  </a:ext>
                </a:extLst>
              </p:cNvPr>
              <p:cNvSpPr txBox="1"/>
              <p:nvPr/>
            </p:nvSpPr>
            <p:spPr>
              <a:xfrm>
                <a:off x="3249562" y="5110005"/>
                <a:ext cx="11061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</a:t>
                </a:r>
                <a:r>
                  <a:rPr lang="en-IN" b="1" dirty="0"/>
                  <a:t> =</a:t>
                </a: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F3EB2D-D9FE-6702-CD2C-ADA010771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562" y="5110005"/>
                <a:ext cx="1106128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8507599-26B7-0836-3EB1-18BA725BC7B8}"/>
                  </a:ext>
                </a:extLst>
              </p:cNvPr>
              <p:cNvSpPr txBox="1"/>
              <p:nvPr/>
            </p:nvSpPr>
            <p:spPr>
              <a:xfrm>
                <a:off x="4109884" y="5055927"/>
                <a:ext cx="1042219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-</a:t>
                </a:r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8507599-26B7-0836-3EB1-18BA725BC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884" y="5055927"/>
                <a:ext cx="1042219" cy="461473"/>
              </a:xfrm>
              <a:prstGeom prst="rect">
                <a:avLst/>
              </a:prstGeom>
              <a:blipFill>
                <a:blip r:embed="rId11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34D306-3147-496E-E029-6D06ADF2B1C5}"/>
                  </a:ext>
                </a:extLst>
              </p:cNvPr>
              <p:cNvSpPr txBox="1"/>
              <p:nvPr/>
            </p:nvSpPr>
            <p:spPr>
              <a:xfrm>
                <a:off x="2507226" y="5645863"/>
                <a:ext cx="10618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 =</a:t>
                </a:r>
                <a:r>
                  <a:rPr lang="en-IN" b="1" dirty="0"/>
                  <a:t> </a:t>
                </a: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34D306-3147-496E-E029-6D06ADF2B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226" y="5645863"/>
                <a:ext cx="1061883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E2C6D9-9EAB-8156-D8E6-01E90A4FB476}"/>
                  </a:ext>
                </a:extLst>
              </p:cNvPr>
              <p:cNvSpPr txBox="1"/>
              <p:nvPr/>
            </p:nvSpPr>
            <p:spPr>
              <a:xfrm>
                <a:off x="3470787" y="5626198"/>
                <a:ext cx="766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baseline="30000" dirty="0"/>
                  <a:t>2</a:t>
                </a:r>
                <a:r>
                  <a:rPr lang="en-IN" i="1" dirty="0"/>
                  <a:t>V =</a:t>
                </a:r>
                <a:endParaRPr lang="en-IN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E2C6D9-9EAB-8156-D8E6-01E90A4FB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787" y="5626198"/>
                <a:ext cx="766916" cy="369332"/>
              </a:xfrm>
              <a:prstGeom prst="rect">
                <a:avLst/>
              </a:prstGeom>
              <a:blipFill>
                <a:blip r:embed="rId13"/>
                <a:stretch>
                  <a:fillRect t="-9836" r="-396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1802800-CE09-8766-54BD-5AAE6AE7226E}"/>
                  </a:ext>
                </a:extLst>
              </p:cNvPr>
              <p:cNvSpPr txBox="1"/>
              <p:nvPr/>
            </p:nvSpPr>
            <p:spPr>
              <a:xfrm>
                <a:off x="4214943" y="5592951"/>
                <a:ext cx="2713382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>
                    <a:latin typeface="+mj-lt"/>
                  </a:rPr>
                  <a:t>  =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1802800-CE09-8766-54BD-5AAE6AE72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943" y="5592951"/>
                <a:ext cx="2713382" cy="530530"/>
              </a:xfrm>
              <a:prstGeom prst="rect">
                <a:avLst/>
              </a:prstGeom>
              <a:blipFill>
                <a:blip r:embed="rId1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11BBD5-DB89-DEFF-E1D5-465D7344C91F}"/>
                  </a:ext>
                </a:extLst>
              </p:cNvPr>
              <p:cNvSpPr txBox="1"/>
              <p:nvPr/>
            </p:nvSpPr>
            <p:spPr>
              <a:xfrm>
                <a:off x="5992762" y="5601618"/>
                <a:ext cx="1042219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-</a:t>
                </a:r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11BBD5-DB89-DEFF-E1D5-465D7344C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762" y="5601618"/>
                <a:ext cx="1042219" cy="461473"/>
              </a:xfrm>
              <a:prstGeom prst="rect">
                <a:avLst/>
              </a:prstGeom>
              <a:blipFill>
                <a:blip r:embed="rId15"/>
                <a:stretch>
                  <a:fillRect t="-1316" b="-6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735678B8-EC9C-15C3-16B4-9DD87DD23B29}"/>
              </a:ext>
            </a:extLst>
          </p:cNvPr>
          <p:cNvSpPr txBox="1"/>
          <p:nvPr/>
        </p:nvSpPr>
        <p:spPr>
          <a:xfrm>
            <a:off x="6802154" y="5586143"/>
            <a:ext cx="318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Which is Poisson's equation</a:t>
            </a:r>
            <a:endParaRPr lang="en-IN" i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813B0A-3DF8-B422-9F54-20C87B93964A}"/>
                  </a:ext>
                </a:extLst>
              </p:cNvPr>
              <p:cNvSpPr txBox="1"/>
              <p:nvPr/>
            </p:nvSpPr>
            <p:spPr>
              <a:xfrm>
                <a:off x="774980" y="6313729"/>
                <a:ext cx="18404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2000" i="1" dirty="0">
                    <a:latin typeface="+mj-lt"/>
                  </a:rPr>
                  <a:t> = </a:t>
                </a:r>
                <a:r>
                  <a:rPr lang="en-IN" sz="2000" dirty="0">
                    <a:latin typeface="+mj-lt"/>
                  </a:rPr>
                  <a:t>0,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813B0A-3DF8-B422-9F54-20C87B939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80" y="6313729"/>
                <a:ext cx="1840401" cy="400110"/>
              </a:xfrm>
              <a:prstGeom prst="rect">
                <a:avLst/>
              </a:prstGeom>
              <a:blipFill>
                <a:blip r:embed="rId16"/>
                <a:stretch>
                  <a:fillRect l="-3311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2C200D-4431-A78B-8233-40A5E94FBFD5}"/>
                  </a:ext>
                </a:extLst>
              </p:cNvPr>
              <p:cNvSpPr txBox="1"/>
              <p:nvPr/>
            </p:nvSpPr>
            <p:spPr>
              <a:xfrm>
                <a:off x="2728451" y="6358701"/>
                <a:ext cx="2689123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baseline="30000" dirty="0"/>
                  <a:t>2</a:t>
                </a:r>
                <a:r>
                  <a:rPr lang="en-IN" i="1" dirty="0"/>
                  <a:t>V = 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= 0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2C200D-4431-A78B-8233-40A5E94FB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451" y="6358701"/>
                <a:ext cx="2689123" cy="530530"/>
              </a:xfrm>
              <a:prstGeom prst="rect">
                <a:avLst/>
              </a:prstGeom>
              <a:blipFill>
                <a:blip r:embed="rId17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CA26029-83E3-B209-224B-9DFC07108C80}"/>
              </a:ext>
            </a:extLst>
          </p:cNvPr>
          <p:cNvSpPr txBox="1"/>
          <p:nvPr/>
        </p:nvSpPr>
        <p:spPr>
          <a:xfrm>
            <a:off x="5830530" y="6368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+mj-lt"/>
              </a:rPr>
              <a:t>Which is Laplace’s equation</a:t>
            </a:r>
            <a:endParaRPr lang="en-IN" sz="18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937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8" grpId="0"/>
      <p:bldP spid="20" grpId="0"/>
      <p:bldP spid="25" grpId="0"/>
      <p:bldP spid="28" grpId="0"/>
      <p:bldP spid="29" grpId="0"/>
      <p:bldP spid="44" grpId="0"/>
      <p:bldP spid="51" grpId="0"/>
      <p:bldP spid="53" grpId="0"/>
      <p:bldP spid="5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CEFAA-0AD4-4300-99DF-15AA6474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05" y="639010"/>
            <a:ext cx="10610850" cy="847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B03992-3FBE-426B-BF3E-5A057A80CA4F}"/>
              </a:ext>
            </a:extLst>
          </p:cNvPr>
          <p:cNvSpPr txBox="1"/>
          <p:nvPr/>
        </p:nvSpPr>
        <p:spPr>
          <a:xfrm>
            <a:off x="237169" y="146758"/>
            <a:ext cx="8107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CC1C3-DB84-4C02-9D55-163E579DA0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686"/>
          <a:stretch/>
        </p:blipFill>
        <p:spPr>
          <a:xfrm>
            <a:off x="1155667" y="1605453"/>
            <a:ext cx="5619750" cy="8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F4E48F-2851-47FE-BEDB-C324E333F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925" y="1384043"/>
            <a:ext cx="4265967" cy="2883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E0B9A3-EA66-4196-9F14-29CE55069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53" y="2581736"/>
            <a:ext cx="5734050" cy="809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186F05-A980-4A45-B1CE-109703A74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438" y="3600450"/>
            <a:ext cx="6096769" cy="272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82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F2F44-086B-4CAA-926C-F5C0362A3D2C}"/>
              </a:ext>
            </a:extLst>
          </p:cNvPr>
          <p:cNvSpPr txBox="1"/>
          <p:nvPr/>
        </p:nvSpPr>
        <p:spPr>
          <a:xfrm>
            <a:off x="119270" y="228600"/>
            <a:ext cx="9054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Parallel Plate Capacitor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5C4DA-7767-40CD-ACB5-A1033D10D1A5}"/>
              </a:ext>
            </a:extLst>
          </p:cNvPr>
          <p:cNvSpPr txBox="1"/>
          <p:nvPr/>
        </p:nvSpPr>
        <p:spPr>
          <a:xfrm>
            <a:off x="109330" y="824948"/>
            <a:ext cx="975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two parallel Conducing Plates, separated by a distance </a:t>
            </a:r>
            <a:r>
              <a:rPr lang="en-IN" i="1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31F0A3-2899-4A17-A800-F63FE7C02861}"/>
              </a:ext>
            </a:extLst>
          </p:cNvPr>
          <p:cNvSpPr/>
          <p:nvPr/>
        </p:nvSpPr>
        <p:spPr>
          <a:xfrm>
            <a:off x="8290560" y="1082502"/>
            <a:ext cx="508001" cy="2493818"/>
          </a:xfrm>
          <a:custGeom>
            <a:avLst/>
            <a:gdLst>
              <a:gd name="connsiteX0" fmla="*/ 0 w 1236519"/>
              <a:gd name="connsiteY0" fmla="*/ 0 h 1797627"/>
              <a:gd name="connsiteX1" fmla="*/ 1236519 w 1236519"/>
              <a:gd name="connsiteY1" fmla="*/ 0 h 1797627"/>
              <a:gd name="connsiteX2" fmla="*/ 1236519 w 1236519"/>
              <a:gd name="connsiteY2" fmla="*/ 1797627 h 1797627"/>
              <a:gd name="connsiteX3" fmla="*/ 0 w 1236519"/>
              <a:gd name="connsiteY3" fmla="*/ 1797627 h 1797627"/>
              <a:gd name="connsiteX4" fmla="*/ 0 w 1236519"/>
              <a:gd name="connsiteY4" fmla="*/ 0 h 1797627"/>
              <a:gd name="connsiteX0" fmla="*/ 0 w 1236519"/>
              <a:gd name="connsiteY0" fmla="*/ 696191 h 2493818"/>
              <a:gd name="connsiteX1" fmla="*/ 1226128 w 1236519"/>
              <a:gd name="connsiteY1" fmla="*/ 0 h 2493818"/>
              <a:gd name="connsiteX2" fmla="*/ 1236519 w 1236519"/>
              <a:gd name="connsiteY2" fmla="*/ 2493818 h 2493818"/>
              <a:gd name="connsiteX3" fmla="*/ 0 w 1236519"/>
              <a:gd name="connsiteY3" fmla="*/ 2493818 h 2493818"/>
              <a:gd name="connsiteX4" fmla="*/ 0 w 1236519"/>
              <a:gd name="connsiteY4" fmla="*/ 696191 h 2493818"/>
              <a:gd name="connsiteX0" fmla="*/ 0 w 1246909"/>
              <a:gd name="connsiteY0" fmla="*/ 696191 h 2493818"/>
              <a:gd name="connsiteX1" fmla="*/ 1226128 w 1246909"/>
              <a:gd name="connsiteY1" fmla="*/ 0 h 2493818"/>
              <a:gd name="connsiteX2" fmla="*/ 1246909 w 1246909"/>
              <a:gd name="connsiteY2" fmla="*/ 1600200 h 2493818"/>
              <a:gd name="connsiteX3" fmla="*/ 0 w 1246909"/>
              <a:gd name="connsiteY3" fmla="*/ 2493818 h 2493818"/>
              <a:gd name="connsiteX4" fmla="*/ 0 w 1246909"/>
              <a:gd name="connsiteY4" fmla="*/ 696191 h 2493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09" h="2493818">
                <a:moveTo>
                  <a:pt x="0" y="696191"/>
                </a:moveTo>
                <a:lnTo>
                  <a:pt x="1226128" y="0"/>
                </a:lnTo>
                <a:cubicBezTo>
                  <a:pt x="1229592" y="831273"/>
                  <a:pt x="1243445" y="768927"/>
                  <a:pt x="1246909" y="1600200"/>
                </a:cubicBezTo>
                <a:lnTo>
                  <a:pt x="0" y="2493818"/>
                </a:lnTo>
                <a:lnTo>
                  <a:pt x="0" y="696191"/>
                </a:lnTo>
                <a:close/>
              </a:path>
            </a:pathLst>
          </a:custGeom>
          <a:solidFill>
            <a:schemeClr val="accent2">
              <a:lumMod val="75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CF055CA-C2C1-4466-BF8F-4F518C5C16FE}"/>
              </a:ext>
            </a:extLst>
          </p:cNvPr>
          <p:cNvSpPr/>
          <p:nvPr/>
        </p:nvSpPr>
        <p:spPr>
          <a:xfrm>
            <a:off x="9916160" y="1083425"/>
            <a:ext cx="508001" cy="2493818"/>
          </a:xfrm>
          <a:custGeom>
            <a:avLst/>
            <a:gdLst>
              <a:gd name="connsiteX0" fmla="*/ 0 w 1236519"/>
              <a:gd name="connsiteY0" fmla="*/ 0 h 1797627"/>
              <a:gd name="connsiteX1" fmla="*/ 1236519 w 1236519"/>
              <a:gd name="connsiteY1" fmla="*/ 0 h 1797627"/>
              <a:gd name="connsiteX2" fmla="*/ 1236519 w 1236519"/>
              <a:gd name="connsiteY2" fmla="*/ 1797627 h 1797627"/>
              <a:gd name="connsiteX3" fmla="*/ 0 w 1236519"/>
              <a:gd name="connsiteY3" fmla="*/ 1797627 h 1797627"/>
              <a:gd name="connsiteX4" fmla="*/ 0 w 1236519"/>
              <a:gd name="connsiteY4" fmla="*/ 0 h 1797627"/>
              <a:gd name="connsiteX0" fmla="*/ 0 w 1236519"/>
              <a:gd name="connsiteY0" fmla="*/ 696191 h 2493818"/>
              <a:gd name="connsiteX1" fmla="*/ 1226128 w 1236519"/>
              <a:gd name="connsiteY1" fmla="*/ 0 h 2493818"/>
              <a:gd name="connsiteX2" fmla="*/ 1236519 w 1236519"/>
              <a:gd name="connsiteY2" fmla="*/ 2493818 h 2493818"/>
              <a:gd name="connsiteX3" fmla="*/ 0 w 1236519"/>
              <a:gd name="connsiteY3" fmla="*/ 2493818 h 2493818"/>
              <a:gd name="connsiteX4" fmla="*/ 0 w 1236519"/>
              <a:gd name="connsiteY4" fmla="*/ 696191 h 2493818"/>
              <a:gd name="connsiteX0" fmla="*/ 0 w 1246909"/>
              <a:gd name="connsiteY0" fmla="*/ 696191 h 2493818"/>
              <a:gd name="connsiteX1" fmla="*/ 1226128 w 1246909"/>
              <a:gd name="connsiteY1" fmla="*/ 0 h 2493818"/>
              <a:gd name="connsiteX2" fmla="*/ 1246909 w 1246909"/>
              <a:gd name="connsiteY2" fmla="*/ 1600200 h 2493818"/>
              <a:gd name="connsiteX3" fmla="*/ 0 w 1246909"/>
              <a:gd name="connsiteY3" fmla="*/ 2493818 h 2493818"/>
              <a:gd name="connsiteX4" fmla="*/ 0 w 1246909"/>
              <a:gd name="connsiteY4" fmla="*/ 696191 h 2493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09" h="2493818">
                <a:moveTo>
                  <a:pt x="0" y="696191"/>
                </a:moveTo>
                <a:lnTo>
                  <a:pt x="1226128" y="0"/>
                </a:lnTo>
                <a:cubicBezTo>
                  <a:pt x="1229592" y="831273"/>
                  <a:pt x="1243445" y="768927"/>
                  <a:pt x="1246909" y="1600200"/>
                </a:cubicBezTo>
                <a:lnTo>
                  <a:pt x="0" y="2493818"/>
                </a:lnTo>
                <a:lnTo>
                  <a:pt x="0" y="696191"/>
                </a:lnTo>
                <a:close/>
              </a:path>
            </a:pathLst>
          </a:custGeom>
          <a:solidFill>
            <a:schemeClr val="accent2">
              <a:lumMod val="75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6CFB10-2919-45D5-9F15-62B81711818C}"/>
              </a:ext>
            </a:extLst>
          </p:cNvPr>
          <p:cNvCxnSpPr>
            <a:cxnSpLocks/>
          </p:cNvCxnSpPr>
          <p:nvPr/>
        </p:nvCxnSpPr>
        <p:spPr>
          <a:xfrm flipV="1">
            <a:off x="8788171" y="2682241"/>
            <a:ext cx="1137919" cy="462"/>
          </a:xfrm>
          <a:prstGeom prst="line">
            <a:avLst/>
          </a:prstGeom>
          <a:ln w="158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CBE484-3176-4EF1-89EF-662AC4138A2A}"/>
              </a:ext>
            </a:extLst>
          </p:cNvPr>
          <p:cNvCxnSpPr>
            <a:cxnSpLocks/>
          </p:cNvCxnSpPr>
          <p:nvPr/>
        </p:nvCxnSpPr>
        <p:spPr>
          <a:xfrm flipV="1">
            <a:off x="10424161" y="2683164"/>
            <a:ext cx="1005839" cy="462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A0D7E27-0592-4F79-8B91-24D4E06F4978}"/>
              </a:ext>
            </a:extLst>
          </p:cNvPr>
          <p:cNvSpPr txBox="1"/>
          <p:nvPr/>
        </p:nvSpPr>
        <p:spPr>
          <a:xfrm>
            <a:off x="8427027" y="1465117"/>
            <a:ext cx="509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C00000"/>
                </a:solidFill>
              </a:rPr>
              <a:t>+</a:t>
            </a:r>
            <a:r>
              <a:rPr lang="en-IN" sz="1400" i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41D778-D848-44FE-BD89-CF8DF316738C}"/>
              </a:ext>
            </a:extLst>
          </p:cNvPr>
          <p:cNvSpPr txBox="1"/>
          <p:nvPr/>
        </p:nvSpPr>
        <p:spPr>
          <a:xfrm>
            <a:off x="10086108" y="1409698"/>
            <a:ext cx="509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C00000"/>
                </a:solidFill>
              </a:rPr>
              <a:t>-</a:t>
            </a:r>
            <a:r>
              <a:rPr lang="en-IN" sz="1400" i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E62789-FF3F-4FE7-ADA8-4017A26D7FA6}"/>
              </a:ext>
            </a:extLst>
          </p:cNvPr>
          <p:cNvSpPr txBox="1"/>
          <p:nvPr/>
        </p:nvSpPr>
        <p:spPr>
          <a:xfrm>
            <a:off x="293543" y="1682281"/>
            <a:ext cx="737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Capacitance </a:t>
            </a:r>
            <a:r>
              <a:rPr lang="en-IN" dirty="0"/>
              <a:t>is defined as the ratio of the absolute value of charge to the absolute value of the voltage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8C8FF19-9AB9-462F-9FA5-CE39C1386516}"/>
                  </a:ext>
                </a:extLst>
              </p:cNvPr>
              <p:cNvSpPr txBox="1"/>
              <p:nvPr/>
            </p:nvSpPr>
            <p:spPr>
              <a:xfrm>
                <a:off x="1802823" y="2475407"/>
                <a:ext cx="6224154" cy="530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 err="1"/>
                  <a:t>i.e</a:t>
                </a:r>
                <a:r>
                  <a:rPr lang="en-IN" i="1" dirty="0"/>
                  <a:t> </a:t>
                </a:r>
                <a:r>
                  <a:rPr lang="en-IN" dirty="0"/>
                  <a:t> 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dirty="0"/>
                  <a:t>   (Farad)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8C8FF19-9AB9-462F-9FA5-CE39C1386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823" y="2475407"/>
                <a:ext cx="6224154" cy="530594"/>
              </a:xfrm>
              <a:prstGeom prst="rect">
                <a:avLst/>
              </a:prstGeom>
              <a:blipFill>
                <a:blip r:embed="rId2"/>
                <a:stretch>
                  <a:fillRect l="-881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4EA03F4-7148-4AD4-A741-85C7CEF2BB2E}"/>
              </a:ext>
            </a:extLst>
          </p:cNvPr>
          <p:cNvSpPr txBox="1"/>
          <p:nvPr/>
        </p:nvSpPr>
        <p:spPr>
          <a:xfrm>
            <a:off x="233794" y="3019290"/>
            <a:ext cx="79750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Capacitance depends only on the geometry of the system and properties of the dielectrics involved. It does not depend on </a:t>
            </a:r>
            <a:r>
              <a:rPr lang="en-IN" i="1" dirty="0"/>
              <a:t>Q</a:t>
            </a:r>
            <a:r>
              <a:rPr lang="en-IN" dirty="0"/>
              <a:t> and </a:t>
            </a:r>
            <a:r>
              <a:rPr lang="en-IN" i="1" dirty="0"/>
              <a:t>V</a:t>
            </a:r>
          </a:p>
          <a:p>
            <a:pPr algn="just"/>
            <a:endParaRPr lang="en-IN" i="1" dirty="0"/>
          </a:p>
          <a:p>
            <a:pPr algn="just"/>
            <a:r>
              <a:rPr lang="en-IN" i="1" dirty="0"/>
              <a:t>Capacitance is a measure of the ability to Store the Electrical Energy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46746E-772F-4605-82C1-4881D2743FA3}"/>
              </a:ext>
            </a:extLst>
          </p:cNvPr>
          <p:cNvSpPr txBox="1"/>
          <p:nvPr/>
        </p:nvSpPr>
        <p:spPr>
          <a:xfrm>
            <a:off x="8894618" y="3501736"/>
            <a:ext cx="35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98CEE3-A545-404E-9874-3F909850A29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247909" y="3686402"/>
            <a:ext cx="654627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3F54F9-15A3-43B7-B1A5-6868F381FCEA}"/>
              </a:ext>
            </a:extLst>
          </p:cNvPr>
          <p:cNvCxnSpPr>
            <a:cxnSpLocks/>
          </p:cNvCxnSpPr>
          <p:nvPr/>
        </p:nvCxnSpPr>
        <p:spPr>
          <a:xfrm flipH="1">
            <a:off x="8281555" y="3703720"/>
            <a:ext cx="692728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E885913-01A6-4846-9BAE-71F0376ABD8E}"/>
                  </a:ext>
                </a:extLst>
              </p:cNvPr>
              <p:cNvSpPr txBox="1"/>
              <p:nvPr/>
            </p:nvSpPr>
            <p:spPr>
              <a:xfrm>
                <a:off x="9032240" y="1625600"/>
                <a:ext cx="4876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E885913-01A6-4846-9BAE-71F0376AB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240" y="1625600"/>
                <a:ext cx="48768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328B7E5F-C121-4420-A3CD-96216084AEB1}"/>
              </a:ext>
            </a:extLst>
          </p:cNvPr>
          <p:cNvSpPr txBox="1"/>
          <p:nvPr/>
        </p:nvSpPr>
        <p:spPr>
          <a:xfrm>
            <a:off x="9392458" y="2577176"/>
            <a:ext cx="35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2A13F18-F885-4E75-BF79-7A1C2988DB73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9745749" y="2761842"/>
            <a:ext cx="654627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803BA8-E4D5-4220-BCC2-173DE2B89283}"/>
              </a:ext>
            </a:extLst>
          </p:cNvPr>
          <p:cNvCxnSpPr>
            <a:cxnSpLocks/>
          </p:cNvCxnSpPr>
          <p:nvPr/>
        </p:nvCxnSpPr>
        <p:spPr>
          <a:xfrm flipH="1">
            <a:off x="8779395" y="2779160"/>
            <a:ext cx="692728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265B652-7757-4F81-94CA-B5A4A154A07A}"/>
              </a:ext>
            </a:extLst>
          </p:cNvPr>
          <p:cNvSpPr txBox="1"/>
          <p:nvPr/>
        </p:nvSpPr>
        <p:spPr>
          <a:xfrm>
            <a:off x="519545" y="4717473"/>
            <a:ext cx="1030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can be shown that </a:t>
            </a:r>
            <a:r>
              <a:rPr lang="en-IN" b="1" dirty="0"/>
              <a:t>E </a:t>
            </a:r>
            <a:r>
              <a:rPr lang="en-IN" dirty="0"/>
              <a:t>between the plates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34E1FBE-59B7-497B-B04B-DF195D864D13}"/>
                  </a:ext>
                </a:extLst>
              </p:cNvPr>
              <p:cNvSpPr txBox="1"/>
              <p:nvPr/>
            </p:nvSpPr>
            <p:spPr>
              <a:xfrm>
                <a:off x="3008167" y="5156262"/>
                <a:ext cx="1117024" cy="460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34E1FBE-59B7-497B-B04B-DF195D864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67" y="5156262"/>
                <a:ext cx="1117024" cy="460382"/>
              </a:xfrm>
              <a:prstGeom prst="rect">
                <a:avLst/>
              </a:prstGeom>
              <a:blipFill>
                <a:blip r:embed="rId4"/>
                <a:stretch>
                  <a:fillRect l="-4348" t="-1333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9015426-A60B-4AD7-848F-0D887B841256}"/>
                  </a:ext>
                </a:extLst>
              </p:cNvPr>
              <p:cNvSpPr txBox="1"/>
              <p:nvPr/>
            </p:nvSpPr>
            <p:spPr>
              <a:xfrm>
                <a:off x="4083627" y="5164282"/>
                <a:ext cx="3138055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/>
                  <a:t>    </a:t>
                </a:r>
                <a:r>
                  <a:rPr lang="en-IN" dirty="0"/>
                  <a:t>(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IN" dirty="0"/>
                  <a:t> 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9015426-A60B-4AD7-848F-0D887B841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627" y="5164282"/>
                <a:ext cx="3138055" cy="508537"/>
              </a:xfrm>
              <a:prstGeom prst="rect">
                <a:avLst/>
              </a:prstGeom>
              <a:blipFill>
                <a:blip r:embed="rId5"/>
                <a:stretch>
                  <a:fillRect l="-1748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1B3D57-8369-4831-8400-E6975CCB0BAD}"/>
                  </a:ext>
                </a:extLst>
              </p:cNvPr>
              <p:cNvSpPr txBox="1"/>
              <p:nvPr/>
            </p:nvSpPr>
            <p:spPr>
              <a:xfrm>
                <a:off x="3015093" y="5765862"/>
                <a:ext cx="3217541" cy="491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Hence </a:t>
                </a:r>
                <a:r>
                  <a:rPr lang="en-IN" b="1" dirty="0"/>
                  <a:t>D =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IN" b="1" dirty="0"/>
                  <a:t> E = 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1B3D57-8369-4831-8400-E6975CCB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093" y="5765862"/>
                <a:ext cx="3217541" cy="491160"/>
              </a:xfrm>
              <a:prstGeom prst="rect">
                <a:avLst/>
              </a:prstGeom>
              <a:blipFill>
                <a:blip r:embed="rId6"/>
                <a:stretch>
                  <a:fillRect l="-1708"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19D2ED-F5BA-4E06-BABA-E369600EB2AA}"/>
              </a:ext>
            </a:extLst>
          </p:cNvPr>
          <p:cNvSpPr txBox="1"/>
          <p:nvPr/>
        </p:nvSpPr>
        <p:spPr>
          <a:xfrm>
            <a:off x="8345214" y="2301765"/>
            <a:ext cx="283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2A407-D2AC-47F3-AEC8-C5305041D033}"/>
              </a:ext>
            </a:extLst>
          </p:cNvPr>
          <p:cNvSpPr txBox="1"/>
          <p:nvPr/>
        </p:nvSpPr>
        <p:spPr>
          <a:xfrm>
            <a:off x="10042635" y="2191406"/>
            <a:ext cx="283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5F925F-0916-4688-8571-6C5F015FF7C8}"/>
                  </a:ext>
                </a:extLst>
              </p:cNvPr>
              <p:cNvSpPr txBox="1"/>
              <p:nvPr/>
            </p:nvSpPr>
            <p:spPr>
              <a:xfrm>
                <a:off x="11340663" y="2638096"/>
                <a:ext cx="5150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5F925F-0916-4688-8571-6C5F015FF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0663" y="2638096"/>
                <a:ext cx="51500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55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2" grpId="1" animBg="1"/>
      <p:bldP spid="14" grpId="0" animBg="1"/>
      <p:bldP spid="14" grpId="1" animBg="1"/>
      <p:bldP spid="23" grpId="0"/>
      <p:bldP spid="24" grpId="0"/>
      <p:bldP spid="26" grpId="0"/>
      <p:bldP spid="28" grpId="0"/>
      <p:bldP spid="30" grpId="0"/>
      <p:bldP spid="31" grpId="0"/>
      <p:bldP spid="39" grpId="0"/>
      <p:bldP spid="40" grpId="0"/>
      <p:bldP spid="43" grpId="0"/>
      <p:bldP spid="45" grpId="0"/>
      <p:bldP spid="46" grpId="0"/>
      <p:bldP spid="48" grpId="0"/>
      <p:bldP spid="4" grpId="0"/>
      <p:bldP spid="25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99266-CECB-45E6-B6CB-843C69294480}"/>
              </a:ext>
            </a:extLst>
          </p:cNvPr>
          <p:cNvSpPr txBox="1"/>
          <p:nvPr/>
        </p:nvSpPr>
        <p:spPr>
          <a:xfrm>
            <a:off x="768927" y="509155"/>
            <a:ext cx="91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Potential difference between the Plates 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94532-07A7-4762-B235-0D7BEC244D31}"/>
              </a:ext>
            </a:extLst>
          </p:cNvPr>
          <p:cNvSpPr txBox="1"/>
          <p:nvPr/>
        </p:nvSpPr>
        <p:spPr>
          <a:xfrm>
            <a:off x="2015836" y="1070264"/>
            <a:ext cx="401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  =</a:t>
            </a:r>
            <a:r>
              <a:rPr lang="en-IN" b="1" dirty="0"/>
              <a:t> E . </a:t>
            </a:r>
            <a:r>
              <a:rPr lang="en-IN" b="1" i="1" dirty="0"/>
              <a:t>dl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DB2709-BF36-4A14-AF6C-D787A1BE366A}"/>
                  </a:ext>
                </a:extLst>
              </p:cNvPr>
              <p:cNvSpPr txBox="1"/>
              <p:nvPr/>
            </p:nvSpPr>
            <p:spPr>
              <a:xfrm>
                <a:off x="2257425" y="1571398"/>
                <a:ext cx="6094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=</a:t>
                </a:r>
                <a:r>
                  <a:rPr lang="en-IN" b="1" dirty="0"/>
                  <a:t> E . </a:t>
                </a:r>
                <a:r>
                  <a:rPr lang="en-IN" i="1" dirty="0"/>
                  <a:t>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DB2709-BF36-4A14-AF6C-D787A1BE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25" y="1571398"/>
                <a:ext cx="6094268" cy="369332"/>
              </a:xfrm>
              <a:prstGeom prst="rect">
                <a:avLst/>
              </a:prstGeom>
              <a:blipFill>
                <a:blip r:embed="rId2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D5960-5253-40D1-9280-45C157D53E7D}"/>
                  </a:ext>
                </a:extLst>
              </p:cNvPr>
              <p:cNvSpPr txBox="1"/>
              <p:nvPr/>
            </p:nvSpPr>
            <p:spPr>
              <a:xfrm>
                <a:off x="3525116" y="1581788"/>
                <a:ext cx="609426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=</a:t>
                </a:r>
                <a:r>
                  <a:rPr lang="en-IN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/>
                  <a:t> . </a:t>
                </a:r>
                <a:r>
                  <a:rPr lang="en-IN" i="1" dirty="0"/>
                  <a:t>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D5960-5253-40D1-9280-45C157D53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16" y="1581788"/>
                <a:ext cx="6094268" cy="492443"/>
              </a:xfrm>
              <a:prstGeom prst="rect">
                <a:avLst/>
              </a:prstGeom>
              <a:blipFill>
                <a:blip r:embed="rId3"/>
                <a:stretch>
                  <a:fillRect l="-800" b="-6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B1CFA6-18A1-4573-B94E-AB3FDDB83D87}"/>
                  </a:ext>
                </a:extLst>
              </p:cNvPr>
              <p:cNvSpPr txBox="1"/>
              <p:nvPr/>
            </p:nvSpPr>
            <p:spPr>
              <a:xfrm>
                <a:off x="5156488" y="1603362"/>
                <a:ext cx="1612174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=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d  = E 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B1CFA6-18A1-4573-B94E-AB3FDDB83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488" y="1603362"/>
                <a:ext cx="1612174" cy="492443"/>
              </a:xfrm>
              <a:prstGeom prst="rect">
                <a:avLst/>
              </a:prstGeom>
              <a:blipFill>
                <a:blip r:embed="rId4"/>
                <a:stretch>
                  <a:fillRect l="-3409" b="-6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2FC40D-B87D-4A87-BE65-5E2D59977B0B}"/>
                  </a:ext>
                </a:extLst>
              </p:cNvPr>
              <p:cNvSpPr txBox="1"/>
              <p:nvPr/>
            </p:nvSpPr>
            <p:spPr>
              <a:xfrm>
                <a:off x="1413165" y="2244436"/>
                <a:ext cx="1330036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Also 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2FC40D-B87D-4A87-BE65-5E2D59977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5" y="2244436"/>
                <a:ext cx="1330036" cy="485774"/>
              </a:xfrm>
              <a:prstGeom prst="rect">
                <a:avLst/>
              </a:prstGeom>
              <a:blipFill>
                <a:blip r:embed="rId5"/>
                <a:stretch>
                  <a:fillRect l="-4128" b="-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9736FA-F4BF-4282-B9FA-158DE040A22C}"/>
                  </a:ext>
                </a:extLst>
              </p:cNvPr>
              <p:cNvSpPr txBox="1"/>
              <p:nvPr/>
            </p:nvSpPr>
            <p:spPr>
              <a:xfrm>
                <a:off x="2111952" y="2767143"/>
                <a:ext cx="6094268" cy="509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=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9736FA-F4BF-4282-B9FA-158DE040A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952" y="2767143"/>
                <a:ext cx="6094268" cy="509883"/>
              </a:xfrm>
              <a:prstGeom prst="rect">
                <a:avLst/>
              </a:prstGeom>
              <a:blipFill>
                <a:blip r:embed="rId6"/>
                <a:stretch>
                  <a:fillRect l="-800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0C8865-EC52-4CA6-8EFC-807B34C55FB3}"/>
                  </a:ext>
                </a:extLst>
              </p:cNvPr>
              <p:cNvSpPr txBox="1"/>
              <p:nvPr/>
            </p:nvSpPr>
            <p:spPr>
              <a:xfrm>
                <a:off x="6851014" y="1615378"/>
                <a:ext cx="2250945" cy="484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From which 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0C8865-EC52-4CA6-8EFC-807B34C55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014" y="1615378"/>
                <a:ext cx="2250945" cy="484172"/>
              </a:xfrm>
              <a:prstGeom prst="rect">
                <a:avLst/>
              </a:prstGeom>
              <a:blipFill>
                <a:blip r:embed="rId7"/>
                <a:stretch>
                  <a:fillRect l="-2439"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D5EFC9-8900-4F8A-B376-DD8D70139D5B}"/>
                  </a:ext>
                </a:extLst>
              </p:cNvPr>
              <p:cNvSpPr txBox="1"/>
              <p:nvPr/>
            </p:nvSpPr>
            <p:spPr>
              <a:xfrm>
                <a:off x="806825" y="3851238"/>
                <a:ext cx="9230061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Displacement Current Density between the plates,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D5EFC9-8900-4F8A-B376-DD8D70139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5" y="3851238"/>
                <a:ext cx="9230061" cy="499560"/>
              </a:xfrm>
              <a:prstGeom prst="rect">
                <a:avLst/>
              </a:prstGeom>
              <a:blipFill>
                <a:blip r:embed="rId8"/>
                <a:stretch>
                  <a:fillRect l="-528"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D1946E-6C21-4A7D-8ACC-CF7691D5056F}"/>
                  </a:ext>
                </a:extLst>
              </p:cNvPr>
              <p:cNvSpPr txBox="1"/>
              <p:nvPr/>
            </p:nvSpPr>
            <p:spPr>
              <a:xfrm>
                <a:off x="840891" y="4606066"/>
                <a:ext cx="9230061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Total Displacement Current between the plates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A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D1946E-6C21-4A7D-8ACC-CF7691D50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91" y="4606066"/>
                <a:ext cx="9230061" cy="499560"/>
              </a:xfrm>
              <a:prstGeom prst="rect">
                <a:avLst/>
              </a:prstGeom>
              <a:blipFill>
                <a:blip r:embed="rId9"/>
                <a:stretch>
                  <a:fillRect l="-594"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07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33CB4-7FDD-4B9F-B62C-757F22621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88" y="219518"/>
            <a:ext cx="8319220" cy="627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56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E4E36-1881-4122-BE09-C8776BBA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92" y="442287"/>
            <a:ext cx="7347616" cy="42166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0E7120-A1CD-4BB8-8ACA-C7DE0D26C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03" y="4826052"/>
            <a:ext cx="7189078" cy="117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3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14313</TotalTime>
  <Words>3352</Words>
  <Application>Microsoft Office PowerPoint</Application>
  <PresentationFormat>Widescreen</PresentationFormat>
  <Paragraphs>654</Paragraphs>
  <Slides>48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Times New Roman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Sree Madhuri</dc:creator>
  <cp:lastModifiedBy>Director-CRT</cp:lastModifiedBy>
  <cp:revision>385</cp:revision>
  <dcterms:created xsi:type="dcterms:W3CDTF">2021-01-25T03:45:53Z</dcterms:created>
  <dcterms:modified xsi:type="dcterms:W3CDTF">2025-02-18T16:40:06Z</dcterms:modified>
</cp:coreProperties>
</file>