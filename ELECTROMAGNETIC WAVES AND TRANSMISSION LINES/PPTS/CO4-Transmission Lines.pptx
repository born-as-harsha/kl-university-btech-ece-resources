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89" r:id="rId14"/>
    <p:sldId id="290" r:id="rId15"/>
    <p:sldId id="291" r:id="rId16"/>
    <p:sldId id="292" r:id="rId17"/>
    <p:sldId id="293" r:id="rId18"/>
    <p:sldId id="267" r:id="rId19"/>
    <p:sldId id="268" r:id="rId20"/>
    <p:sldId id="281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82" r:id="rId30"/>
    <p:sldId id="277" r:id="rId31"/>
    <p:sldId id="278" r:id="rId32"/>
    <p:sldId id="279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7E80-E695-4928-8405-8F4839C99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47F81-05EB-45F2-9049-62737A51B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F4A84-60CF-4F84-989C-B324196E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77034-12F3-447E-AF9B-FABC85C5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9F81-2BB1-4344-A891-DD9FB9C9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84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4A03-3CD1-4449-9C89-48A998E0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7036C-00E7-41D1-B169-7BE3E6EE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6A5A4-1BEE-4A38-B5AC-E9C55FC6C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CD254-0F55-4E19-8A5C-D5D778F1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AAA39-309D-42AD-8C0B-D4A19290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9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53EC-8EBC-48F3-9F59-8751269F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6EB5A-3130-465C-A3A9-3611E80D9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3D25C-DBA9-4626-8775-7BCFFD8D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4C94F-FDDB-46F1-BF70-C0713DD1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0649D-3881-4F33-9906-9CA23236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29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5478-1DA0-49B4-AEE4-3D4EFA02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6FFF1-37BA-4231-B949-DBBEE0BE6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6CDB7-65D5-4CCB-85DE-12D0ABB2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36F17-166A-4C73-BC2E-673B0171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AD9F7-88A4-440F-B2C1-351F9184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8463B-001C-4EAF-A781-7BEE8893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27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2FA7-BABD-447C-9EB2-FE334140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48F8A-7E70-4A22-8444-C6D2E1D5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38CB9-0273-4989-8841-A8DA6B556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7B7B7-75B4-41D5-A89C-DED6CDEC7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E4F90-D2D5-4CC2-809B-6EBCB45CD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80C11-9BAD-422C-8C20-A5CC21C3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3598D-BC0E-40F1-955D-D4B9AE5B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CB70C-C8D7-4CA2-A27E-7F04E3C0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0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8AF5-E7F7-425B-89B3-B8597842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5B9AB-0722-4CEA-93A6-D4F2F6F3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ED4AE-64D1-4582-A4E7-0B4DC4A6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8DD1F-70CB-4462-928C-7F9045CA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32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11CC0-A0F5-4627-A084-116938FE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7CA2D-1A60-4E61-8C98-B2440F46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9004C-5E33-4135-A3FD-DCFE4F06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E9FC-E4F1-4A95-84B7-8CF06365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4D38-34BB-4B14-85EB-4393E451F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63FD1-51E3-4B78-90A5-231A11088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36E60-DAF3-402C-8A02-CF5189EBD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68102-43C1-4C29-9B2C-EFB83E22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3DED4-07DF-4867-8E1D-5B311B79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82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40F8-B277-4016-9E32-719F0803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2163D-E17C-4823-AA0E-22DB84864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5008F-4F68-4E84-A6B7-1FFD78AD5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CE0E7-35DA-4A9A-B275-FC580CD5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E0224-5FF8-4C48-BFC8-EF3B69C77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071C2-D7D3-4147-93CF-EB2A20BE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36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07E6-C915-472C-84E1-8B15EE9E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F2F5F-A36F-4773-9C90-F0616B80B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3FD7-F7FE-467D-B86A-F1A17C42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CAE53-60DF-42F6-80AC-8C2548E4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3D01-153D-4C36-A5B9-3BE693E9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2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82390-D7EE-417A-988E-73DA25DE9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36387-45B0-408D-8A13-F09785A64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0FB0D-AB55-4AB0-BE96-F28A4046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E82-06AE-4BC7-9851-B494AAF4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F3121-8CEC-414B-85C9-0115E48C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92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C44F0-2CF8-4EB1-9EEB-77BD75C0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02326-6BA3-4DCD-AACC-FD1E058A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43B78-2033-4EF6-924C-36E7E8AA5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1A380-471C-4133-95F2-B6F69884C54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10F4-1724-4952-9898-A7D9DE2B0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9DA65-521E-4E9B-A150-9D00D2FD8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FAB04-8607-451A-964C-0D968D792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57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777D-C19C-42BC-8349-5E37475F33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LINES</a:t>
            </a:r>
          </a:p>
        </p:txBody>
      </p:sp>
    </p:spTree>
    <p:extLst>
      <p:ext uri="{BB962C8B-B14F-4D97-AF65-F5344CB8AC3E}">
        <p14:creationId xmlns:p14="http://schemas.microsoft.com/office/powerpoint/2010/main" val="372706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ED2B5C-17C6-42BE-8EA4-EB6B630BC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24" y="639535"/>
            <a:ext cx="12223024" cy="3595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EEA91E-2E03-415A-8BF8-65C2471F2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70" y="4778148"/>
            <a:ext cx="11169873" cy="1557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825478-59D5-4F83-893F-035C29F78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79" y="132669"/>
            <a:ext cx="3541974" cy="58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83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D34EA-369C-44FB-A4BF-E5B850175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28" y="425771"/>
            <a:ext cx="8849813" cy="570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7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2E186-0D1A-462A-8E0B-6BE7B2207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96" y="182124"/>
            <a:ext cx="2819400" cy="2352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03A9E2-7BF5-4D74-BD73-46D9672CC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49" y="2434952"/>
            <a:ext cx="2399253" cy="728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51ABB1-201A-43E9-BA7F-484E76908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794" y="912758"/>
            <a:ext cx="3467100" cy="933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DFAB07-D77B-4DC7-86EA-78E2556C6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05" y="2192228"/>
            <a:ext cx="2785988" cy="6665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ABC7A5-ADA4-4303-A933-0E3AB519F8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7581" y="519441"/>
            <a:ext cx="3228975" cy="17621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462912-B232-43D1-9D0A-EF25E9329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3839" y="2264979"/>
            <a:ext cx="2021270" cy="9511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E4ADDE-3533-42AF-AD84-8D0D9FF5D8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30" y="3464964"/>
            <a:ext cx="1485900" cy="22193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5932E1-F128-42E4-A179-218B88143C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096" y="5999764"/>
            <a:ext cx="3154310" cy="5797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BFEF0E-2D0B-46B0-A6FE-3AD4AED798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6244" y="2979025"/>
            <a:ext cx="3320653" cy="24653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8E5347-CB3F-45D4-B06D-F6981AECDE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6168" y="5764759"/>
            <a:ext cx="1986784" cy="693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14B12DE-1701-452C-9BDE-2882658FED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0141" y="3724767"/>
            <a:ext cx="3143250" cy="15525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EE01983-D3BF-4889-A631-AC944E16CA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6535" y="5808606"/>
            <a:ext cx="2998305" cy="43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7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3986A4-D548-4449-913A-5C5EF205E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407" y="501211"/>
            <a:ext cx="9956089" cy="61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3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F70D92-2D94-4175-9F67-2AA21B0F9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42" y="170793"/>
            <a:ext cx="7160991" cy="8487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537083-4979-42C8-9030-3E029555F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112" y="1196208"/>
            <a:ext cx="4405806" cy="2365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D7FBBC-EDA4-421B-BE61-70844A29D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6" y="4337651"/>
            <a:ext cx="10820777" cy="2241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E65C09-F827-4E44-81FD-527FCE672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184" y="3732487"/>
            <a:ext cx="3585506" cy="5032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990724-623E-4237-B346-851E162E4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561" y="1536645"/>
            <a:ext cx="3105938" cy="211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5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196E3A-794E-4DEC-9B4A-B0BC00D2D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91" y="86381"/>
            <a:ext cx="9855419" cy="5340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038A0C-F980-43C5-854E-D7160EBB1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57" y="5118373"/>
            <a:ext cx="5943601" cy="164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3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AE081-8CD1-467B-A194-CE0ED0266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625"/>
            <a:ext cx="10463584" cy="1620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55994A-126D-42DD-9CCB-AC6C16FC5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146" y="1626477"/>
            <a:ext cx="3851573" cy="2435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8E7652-85B2-477E-8D64-E80A6B421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45" y="4449800"/>
            <a:ext cx="8879205" cy="18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60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46C561-0D99-43A0-84BD-DC3597D2C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410" y="191900"/>
            <a:ext cx="8837840" cy="632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04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A6DCCB-250D-4CDF-8150-69CD9621D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27" y="773495"/>
            <a:ext cx="8745898" cy="5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82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5F424E-CC44-46F8-A7A5-BA0B4BA61F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469"/>
          <a:stretch/>
        </p:blipFill>
        <p:spPr>
          <a:xfrm>
            <a:off x="976639" y="704357"/>
            <a:ext cx="8905835" cy="5517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5977F5-E7B0-4325-9737-FE47C26BB7DD}"/>
              </a:ext>
            </a:extLst>
          </p:cNvPr>
          <p:cNvSpPr txBox="1"/>
          <p:nvPr/>
        </p:nvSpPr>
        <p:spPr>
          <a:xfrm>
            <a:off x="630621" y="189186"/>
            <a:ext cx="503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Reflection coefficient</a:t>
            </a:r>
          </a:p>
        </p:txBody>
      </p:sp>
    </p:spTree>
    <p:extLst>
      <p:ext uri="{BB962C8B-B14F-4D97-AF65-F5344CB8AC3E}">
        <p14:creationId xmlns:p14="http://schemas.microsoft.com/office/powerpoint/2010/main" val="171473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5F424E-CC44-46F8-A7A5-BA0B4BA61F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95"/>
          <a:stretch/>
        </p:blipFill>
        <p:spPr>
          <a:xfrm>
            <a:off x="1407564" y="578069"/>
            <a:ext cx="9570972" cy="573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62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22B52C-6A9E-D23F-ECC7-695959A65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418680"/>
            <a:ext cx="8183117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4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46D937-5BD1-8DBA-7A4C-FFF0648EF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62" y="400248"/>
            <a:ext cx="7595453" cy="591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34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0A4AAC-CC3D-6252-8BE3-0F82F8C9B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7" y="752451"/>
            <a:ext cx="7840169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34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15097-E644-D70E-5C2D-BFDED5F8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61" y="134722"/>
            <a:ext cx="7802064" cy="197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0D3FB-BE83-68AF-F4F4-C8E40A52C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82" y="2185637"/>
            <a:ext cx="7649643" cy="441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66390A-54EB-4B18-0B0F-8AADF4BE1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94" y="787322"/>
            <a:ext cx="57340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43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BE712-A2EE-4FEE-86CF-8161C764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57" y="146486"/>
            <a:ext cx="9607934" cy="32744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B6D8D5-E579-46F7-A061-7A1188B9C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68" y="3311252"/>
            <a:ext cx="8961877" cy="351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34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5DC3DD-8EA8-4457-8B83-2FE1C2E88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177"/>
          <a:stretch/>
        </p:blipFill>
        <p:spPr>
          <a:xfrm>
            <a:off x="637846" y="680545"/>
            <a:ext cx="1130286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39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5DC3DD-8EA8-4457-8B83-2FE1C2E88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656"/>
          <a:stretch/>
        </p:blipFill>
        <p:spPr>
          <a:xfrm>
            <a:off x="911114" y="346841"/>
            <a:ext cx="10749219" cy="569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85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79096-C8E0-4714-A947-41ED5AD02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83" y="101818"/>
            <a:ext cx="9395919" cy="2329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0A490D-005B-43A0-A73C-8BC29BB55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151" y="2514272"/>
            <a:ext cx="6580297" cy="840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540684-AC32-4FB4-BB67-71EE1330E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694" y="4067502"/>
            <a:ext cx="4806381" cy="142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50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FE0F2-BEE8-4342-9E79-9BFFAC83B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671" y="337973"/>
            <a:ext cx="7194475" cy="51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B52D0-B81F-4BC9-BF26-517CF7B02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81" y="101491"/>
            <a:ext cx="8500406" cy="3437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7D1988-6E8B-4EA4-B142-19CD685F6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66" y="4037286"/>
            <a:ext cx="4633587" cy="650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614526-778B-486D-B968-FC0F945F1130}"/>
              </a:ext>
            </a:extLst>
          </p:cNvPr>
          <p:cNvSpPr txBox="1"/>
          <p:nvPr/>
        </p:nvSpPr>
        <p:spPr>
          <a:xfrm>
            <a:off x="1240220" y="4579909"/>
            <a:ext cx="86395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z</a:t>
            </a:r>
            <a:r>
              <a:rPr lang="en-IN" sz="2800" baseline="-25000" dirty="0"/>
              <a:t>0</a:t>
            </a:r>
            <a:r>
              <a:rPr lang="en-IN" sz="2800" dirty="0"/>
              <a:t> is also defined as the ratio of the square root of series impedance to the square root of shunt admittance, 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32B106-C774-4D06-A761-700EA2266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227" y="5619094"/>
            <a:ext cx="2868393" cy="112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54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E4BD4A-4B96-4810-9C8A-BC50D06C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23" y="143038"/>
            <a:ext cx="8884691" cy="2525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D9EC6-6572-4E33-9F86-6B942C1996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3299"/>
          <a:stretch/>
        </p:blipFill>
        <p:spPr>
          <a:xfrm>
            <a:off x="1365194" y="2655174"/>
            <a:ext cx="6303589" cy="379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97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7EC2C4-97A9-4C47-8449-7FFD38C76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225" y="0"/>
            <a:ext cx="4826488" cy="11633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75DAA3-929F-4639-A28A-D7AF8364A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83" y="1162946"/>
            <a:ext cx="8148638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13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D63A01-A7FF-403D-9CBE-BCD3FCA17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150" y="433716"/>
            <a:ext cx="7583050" cy="53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47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88EA5-E79E-47C1-9EA7-8F9F2C66D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93" y="156178"/>
            <a:ext cx="7984414" cy="654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3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3A2A6D-B4A8-47AB-A36B-2CA7D817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57" y="186813"/>
            <a:ext cx="8061763" cy="25769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A18985-D1AA-4C49-B7A6-B3B377644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11" y="2728583"/>
            <a:ext cx="8471864" cy="3451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80EF3-0F0D-4363-B9D9-70ED53BC9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294" y="1765886"/>
            <a:ext cx="2836738" cy="9476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95586-A400-D5AB-B1DB-FB6FD6C863CA}"/>
                  </a:ext>
                </a:extLst>
              </p:cNvPr>
              <p:cNvSpPr txBox="1"/>
              <p:nvPr/>
            </p:nvSpPr>
            <p:spPr>
              <a:xfrm>
                <a:off x="8731046" y="1966451"/>
                <a:ext cx="3539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95586-A400-D5AB-B1DB-FB6FD6C86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046" y="1966451"/>
                <a:ext cx="3539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093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D073C1-4238-4040-8330-8B7215AABC11}"/>
              </a:ext>
            </a:extLst>
          </p:cNvPr>
          <p:cNvSpPr txBox="1"/>
          <p:nvPr/>
        </p:nvSpPr>
        <p:spPr>
          <a:xfrm>
            <a:off x="231227" y="887049"/>
            <a:ext cx="118556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dirty="0">
                <a:solidFill>
                  <a:srgbClr val="7A7A7A"/>
                </a:solidFill>
                <a:effectLst/>
                <a:latin typeface="Roboto" panose="02000000000000000000" pitchFamily="2" charset="0"/>
              </a:rPr>
              <a:t>Impedance matching is the practice of 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designing the input impedance </a:t>
            </a:r>
            <a:r>
              <a:rPr lang="en-IN" sz="2400" b="0" i="0" dirty="0">
                <a:solidFill>
                  <a:srgbClr val="7A7A7A"/>
                </a:solidFill>
                <a:effectLst/>
                <a:latin typeface="Roboto" panose="02000000000000000000" pitchFamily="2" charset="0"/>
              </a:rPr>
              <a:t>of an electrical 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load</a:t>
            </a:r>
            <a:r>
              <a:rPr lang="en-IN" sz="2400" b="0" i="0" dirty="0">
                <a:solidFill>
                  <a:srgbClr val="7A7A7A"/>
                </a:solidFill>
                <a:effectLst/>
                <a:latin typeface="Roboto" panose="02000000000000000000" pitchFamily="2" charset="0"/>
              </a:rPr>
              <a:t> or the 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output impedance of its corresponding signal source</a:t>
            </a:r>
            <a:r>
              <a:rPr lang="en-IN" sz="2400" b="0" i="0" dirty="0">
                <a:solidFill>
                  <a:srgbClr val="7A7A7A"/>
                </a:solidFill>
                <a:effectLst/>
                <a:latin typeface="Roboto" panose="02000000000000000000" pitchFamily="2" charset="0"/>
              </a:rPr>
              <a:t> to </a:t>
            </a:r>
            <a:r>
              <a:rPr lang="en-IN" sz="24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maximize</a:t>
            </a:r>
            <a:r>
              <a:rPr lang="en-IN" sz="2400" b="0" i="0" dirty="0">
                <a:solidFill>
                  <a:srgbClr val="7A7A7A"/>
                </a:solidFill>
                <a:effectLst/>
                <a:latin typeface="Roboto" panose="02000000000000000000" pitchFamily="2" charset="0"/>
              </a:rPr>
              <a:t> the </a:t>
            </a:r>
            <a:r>
              <a:rPr lang="en-IN" sz="24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power transfer </a:t>
            </a:r>
            <a:r>
              <a:rPr lang="en-IN" sz="2400" b="0" i="0" dirty="0">
                <a:solidFill>
                  <a:srgbClr val="7A7A7A"/>
                </a:solidFill>
                <a:effectLst/>
                <a:latin typeface="Roboto" panose="02000000000000000000" pitchFamily="2" charset="0"/>
              </a:rPr>
              <a:t>or </a:t>
            </a:r>
            <a:r>
              <a:rPr lang="en-IN" sz="24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minimize signal reflection </a:t>
            </a:r>
            <a:r>
              <a:rPr lang="en-IN" sz="2400" b="0" i="0" dirty="0">
                <a:solidFill>
                  <a:srgbClr val="7A7A7A"/>
                </a:solidFill>
                <a:effectLst/>
                <a:latin typeface="Roboto" panose="02000000000000000000" pitchFamily="2" charset="0"/>
              </a:rPr>
              <a:t>from the load.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2BDC5-498A-48EF-AD5D-289D7B13922B}"/>
              </a:ext>
            </a:extLst>
          </p:cNvPr>
          <p:cNvSpPr txBox="1"/>
          <p:nvPr/>
        </p:nvSpPr>
        <p:spPr>
          <a:xfrm>
            <a:off x="199696" y="168165"/>
            <a:ext cx="7577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Impedance Matching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65D83-A493-4A5E-9F7D-E6019EC83393}"/>
              </a:ext>
            </a:extLst>
          </p:cNvPr>
          <p:cNvSpPr txBox="1"/>
          <p:nvPr/>
        </p:nvSpPr>
        <p:spPr>
          <a:xfrm>
            <a:off x="336331" y="23746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STUBS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28F39-F948-41BB-A93D-8EC200B65F94}"/>
              </a:ext>
            </a:extLst>
          </p:cNvPr>
          <p:cNvSpPr txBox="1"/>
          <p:nvPr/>
        </p:nvSpPr>
        <p:spPr>
          <a:xfrm>
            <a:off x="336330" y="2735003"/>
            <a:ext cx="11687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stub is a piece of transmission line. It can be short circuited at the far end or open circuited. It has a pure reactance or susceptance. It is used to cancel out reactance or susceptance of a transmission line. In other words, it is used for impedance matching</a:t>
            </a:r>
          </a:p>
          <a:p>
            <a:pPr algn="just"/>
            <a:endParaRPr lang="en-IN" sz="2400" dirty="0"/>
          </a:p>
          <a:p>
            <a:pPr marL="457200" indent="-457200" algn="just">
              <a:buAutoNum type="arabicPeriod"/>
            </a:pPr>
            <a:r>
              <a:rPr lang="en-IN" sz="2400" dirty="0"/>
              <a:t>Single Stub Matching</a:t>
            </a:r>
          </a:p>
          <a:p>
            <a:pPr marL="457200" indent="-457200" algn="just">
              <a:buAutoNum type="arabicPeriod"/>
            </a:pPr>
            <a:r>
              <a:rPr lang="en-IN" sz="2400" dirty="0"/>
              <a:t>Double Stub Matching</a:t>
            </a:r>
          </a:p>
        </p:txBody>
      </p:sp>
    </p:spTree>
    <p:extLst>
      <p:ext uri="{BB962C8B-B14F-4D97-AF65-F5344CB8AC3E}">
        <p14:creationId xmlns:p14="http://schemas.microsoft.com/office/powerpoint/2010/main" val="2004852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C2C7A-52E0-4B7D-9BFA-5DB18959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70" y="178019"/>
            <a:ext cx="9854433" cy="3707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F910C0-F964-4256-B5F2-E7DE601DF7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487"/>
          <a:stretch/>
        </p:blipFill>
        <p:spPr>
          <a:xfrm>
            <a:off x="1678041" y="4243716"/>
            <a:ext cx="4858721" cy="241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4915B-87F5-4A7E-9328-1FFA23692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548" y="4497114"/>
            <a:ext cx="4283065" cy="188266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3999CA-EA77-44D4-8301-C3C8AAD3A076}"/>
              </a:ext>
            </a:extLst>
          </p:cNvPr>
          <p:cNvCxnSpPr/>
          <p:nvPr/>
        </p:nvCxnSpPr>
        <p:spPr>
          <a:xfrm>
            <a:off x="6632028" y="4099034"/>
            <a:ext cx="0" cy="2596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755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9CCF7C-7198-4EE2-9778-161B03C6E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80" y="257175"/>
            <a:ext cx="9642655" cy="2454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C8067-B73A-43E3-A02F-03964DE13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25" y="2870966"/>
            <a:ext cx="5884213" cy="308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30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5A1EA-1549-4BD9-A0D2-96E551D4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71" y="318924"/>
            <a:ext cx="7954658" cy="588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50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446264-8459-4FF4-B97A-E8370026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61" y="73573"/>
            <a:ext cx="6818570" cy="669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90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3E73ED-D7E7-4810-B6B5-A70702C1E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952" y="100504"/>
            <a:ext cx="7731024" cy="623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6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F1BC99-E7CC-4DA2-AD8A-4C560A769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373" y="266699"/>
            <a:ext cx="8863446" cy="639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91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25EEB8-4E09-4938-A3F2-D89184484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757" y="271298"/>
            <a:ext cx="8461378" cy="612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53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FC282A-F8CC-467A-9A6E-66083FF47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428" y="0"/>
            <a:ext cx="7698171" cy="669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56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AF515B-FF57-41AB-ABED-8A0DA33AA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46" y="0"/>
            <a:ext cx="8828690" cy="3867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BE37A2-3470-48DF-9231-08F6406F9A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103"/>
          <a:stretch/>
        </p:blipFill>
        <p:spPr>
          <a:xfrm>
            <a:off x="2516078" y="3794233"/>
            <a:ext cx="6838129" cy="2983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2E4930-D5D7-4C87-BDEB-81C847A807BE}"/>
              </a:ext>
            </a:extLst>
          </p:cNvPr>
          <p:cNvSpPr txBox="1"/>
          <p:nvPr/>
        </p:nvSpPr>
        <p:spPr>
          <a:xfrm>
            <a:off x="4130566" y="4046483"/>
            <a:ext cx="199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Since</a:t>
            </a:r>
          </a:p>
        </p:txBody>
      </p:sp>
    </p:spTree>
    <p:extLst>
      <p:ext uri="{BB962C8B-B14F-4D97-AF65-F5344CB8AC3E}">
        <p14:creationId xmlns:p14="http://schemas.microsoft.com/office/powerpoint/2010/main" val="485244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128</Words>
  <Application>Microsoft Office PowerPoint</Application>
  <PresentationFormat>Widescreen</PresentationFormat>
  <Paragraphs>12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Roboto</vt:lpstr>
      <vt:lpstr>Times New Roman</vt:lpstr>
      <vt:lpstr>Office Theme</vt:lpstr>
      <vt:lpstr>TRANSMISSION 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TRANSMISSION LINES</dc:title>
  <dc:creator> </dc:creator>
  <cp:lastModifiedBy>Zia Ur Rahman Mohammad</cp:lastModifiedBy>
  <cp:revision>11</cp:revision>
  <dcterms:created xsi:type="dcterms:W3CDTF">2022-03-22T04:15:59Z</dcterms:created>
  <dcterms:modified xsi:type="dcterms:W3CDTF">2026-04-08T06:10:12Z</dcterms:modified>
</cp:coreProperties>
</file>