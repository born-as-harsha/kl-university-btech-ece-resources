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96" r:id="rId13"/>
    <p:sldId id="267" r:id="rId14"/>
    <p:sldId id="268" r:id="rId15"/>
    <p:sldId id="269" r:id="rId16"/>
    <p:sldId id="273" r:id="rId17"/>
    <p:sldId id="272" r:id="rId18"/>
    <p:sldId id="275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92" r:id="rId27"/>
    <p:sldId id="293" r:id="rId28"/>
    <p:sldId id="294" r:id="rId29"/>
    <p:sldId id="29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4" autoAdjust="0"/>
    <p:restoredTop sz="94660"/>
  </p:normalViewPr>
  <p:slideViewPr>
    <p:cSldViewPr snapToGrid="0">
      <p:cViewPr varScale="1">
        <p:scale>
          <a:sx n="83" d="100"/>
          <a:sy n="83" d="100"/>
        </p:scale>
        <p:origin x="59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E82D7-1CC1-40E9-8189-587293E09EB5}" type="datetimeFigureOut">
              <a:rPr lang="en-IN" smtClean="0"/>
              <a:t>17-02-2025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F0057-5182-47C4-8A1D-C4FE7A4CE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322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F0057-5182-47C4-8A1D-C4FE7A4CE7B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877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33781-BA7E-4115-9188-9B0768679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26419-537A-45D0-90C6-098C09374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8A386-F95B-4F8B-9A01-22A07571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94D16-DFB1-471C-9495-F7575DA1A3A6}" type="datetimeFigureOut">
              <a:rPr lang="en-IN" smtClean="0"/>
              <a:t>17-02-2025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BFEBD-D029-410A-B8F9-FD499C47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98A4F-137D-46CA-B91C-84B2F6ED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EE54-B6C4-457B-9248-4E63B4C17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06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E34A-6978-487E-8BB4-4969639B7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73E46-B5C8-4264-BEFF-25E17886F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AC990-8561-4364-9251-6C2AA55A4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94D16-DFB1-471C-9495-F7575DA1A3A6}" type="datetimeFigureOut">
              <a:rPr lang="en-IN" smtClean="0"/>
              <a:t>17-02-2025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AFCF1-92D4-4F3C-9BB4-66154108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B9013-422D-4ECB-88A8-F3C1FE82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EE54-B6C4-457B-9248-4E63B4C17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401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850D-C8FA-45AC-884B-683F065BE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3E66E-F307-422A-9534-EF5DFF765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EB4DB-4A60-4542-A40F-4A2BA9DB3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94D16-DFB1-471C-9495-F7575DA1A3A6}" type="datetimeFigureOut">
              <a:rPr lang="en-IN" smtClean="0"/>
              <a:t>17-02-2025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6FDB4-2450-4F83-B427-9F9B6B5D4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021D8-78FE-4FF2-ABA4-9928931C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EE54-B6C4-457B-9248-4E63B4C17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99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A3ED-489E-444D-979D-142B7C457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BBF74-EFD7-410C-910C-785B74396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1419C-378B-454A-A63A-DF48941FF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92BDD-AF6E-4830-AE31-676E31E5C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94D16-DFB1-471C-9495-F7575DA1A3A6}" type="datetimeFigureOut">
              <a:rPr lang="en-IN" smtClean="0"/>
              <a:t>17-02-2025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AFB88-547C-48FA-AF76-6C42A9B0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BC842-A7F5-46A7-97E0-F2F84B335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EE54-B6C4-457B-9248-4E63B4C17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916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CF42-D151-472C-B4E7-5E2F03017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E0BB9-42AA-446D-9885-AC56EFE70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01C1-81F8-45AB-98A6-D918A9A51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24E32-9EA8-4D44-AA1C-6438998C51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A2D07-1F81-47D1-B578-AD63DACE1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B42E1-D051-4FC8-920C-52D1D6B2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94D16-DFB1-471C-9495-F7575DA1A3A6}" type="datetimeFigureOut">
              <a:rPr lang="en-IN" smtClean="0"/>
              <a:t>17-02-2025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E767F-119C-4D81-9DC0-2A2D02116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1A53C9-A306-4970-9EE8-E07A6E57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EE54-B6C4-457B-9248-4E63B4C17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795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8BD4-CA9D-41A6-8FCD-EF0A97C7F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06E72-C51A-4329-B882-882CAC242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94D16-DFB1-471C-9495-F7575DA1A3A6}" type="datetimeFigureOut">
              <a:rPr lang="en-IN" smtClean="0"/>
              <a:t>17-02-2025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100F39-9A41-4FE5-9DA1-1FBF66B1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24FD50-2EAC-45E8-95E3-0BB9328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EE54-B6C4-457B-9248-4E63B4C17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294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05D83-19FA-4A3C-A190-92CFA6D4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94D16-DFB1-471C-9495-F7575DA1A3A6}" type="datetimeFigureOut">
              <a:rPr lang="en-IN" smtClean="0"/>
              <a:t>17-02-2025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FBD72A-A79D-4490-A5D3-BD7F014AB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3D86B-069A-45E8-A552-6EE55781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EE54-B6C4-457B-9248-4E63B4C17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34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08203-E271-46E5-B3F2-46B6A8669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4D5A8-EF2F-4513-AE7C-E406F9993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BF171-0BE7-4158-ACFF-103997B13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5C7B8-884A-4FD0-9008-9C5FBBF95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94D16-DFB1-471C-9495-F7575DA1A3A6}" type="datetimeFigureOut">
              <a:rPr lang="en-IN" smtClean="0"/>
              <a:t>17-02-2025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A6B2B-B38C-402A-B004-56DE3818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0009B-3089-4403-BA85-354E21850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EE54-B6C4-457B-9248-4E63B4C17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91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FEF6-815A-4823-90DD-72CBD02D3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90352-EAD4-4B2C-AC7E-BF7A6237D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1FDCD-C383-4721-991C-3A001902B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32B77-D842-4A65-9BD7-E182192E5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94D16-DFB1-471C-9495-F7575DA1A3A6}" type="datetimeFigureOut">
              <a:rPr lang="en-IN" smtClean="0"/>
              <a:t>17-02-2025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BFCC8-844D-4E43-88F3-920CEAF29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A280F-D2F8-4247-A44F-FE7C2426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EE54-B6C4-457B-9248-4E63B4C17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03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5A9D-0C3A-4FF6-B451-327DC182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F07E9-97BB-436D-A015-E4ACCE03F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A823B-3D86-4962-98DA-CB9732B4C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94D16-DFB1-471C-9495-F7575DA1A3A6}" type="datetimeFigureOut">
              <a:rPr lang="en-IN" smtClean="0"/>
              <a:t>17-02-2025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4EA65-3B2C-418E-93F4-EDD9748BA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7C0C5-38A0-4254-8105-8E842289C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EE54-B6C4-457B-9248-4E63B4C17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305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4199AF-D14B-4E7D-9043-ACDEE9BD2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C3193-F000-44C6-AFAA-5B240FB7D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2584C-41F6-4D1A-A6BE-145E046D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94D16-DFB1-471C-9495-F7575DA1A3A6}" type="datetimeFigureOut">
              <a:rPr lang="en-IN" smtClean="0"/>
              <a:t>17-02-2025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075AE-14B5-4873-A3D0-6342D663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389DE-4825-49AC-A3BC-5CF50ADB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EE54-B6C4-457B-9248-4E63B4C17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847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89A8D-11CD-4AAE-B12A-876EE5229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8D325-6180-4B04-BEE6-C76102242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D2882-2370-42AF-B446-3F063CEE6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94D16-DFB1-471C-9495-F7575DA1A3A6}" type="datetimeFigureOut">
              <a:rPr lang="en-IN" smtClean="0"/>
              <a:t>17-02-2025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1E0C1-CCF0-43FE-B812-1F54FBFCE1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5FC5D-8153-4806-BD0B-DBE0A7DED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9EE54-B6C4-457B-9248-4E63B4C17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050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0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0.png"/><Relationship Id="rId10" Type="http://schemas.openxmlformats.org/officeDocument/2006/relationships/image" Target="../media/image68.png"/><Relationship Id="rId4" Type="http://schemas.openxmlformats.org/officeDocument/2006/relationships/image" Target="../media/image620.png"/><Relationship Id="rId9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66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68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jpe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4.png"/><Relationship Id="rId3" Type="http://schemas.openxmlformats.org/officeDocument/2006/relationships/image" Target="../media/image144.png"/><Relationship Id="rId7" Type="http://schemas.openxmlformats.org/officeDocument/2006/relationships/image" Target="../media/image148.png"/><Relationship Id="rId12" Type="http://schemas.openxmlformats.org/officeDocument/2006/relationships/image" Target="../media/image153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11" Type="http://schemas.openxmlformats.org/officeDocument/2006/relationships/image" Target="../media/image152.png"/><Relationship Id="rId5" Type="http://schemas.openxmlformats.org/officeDocument/2006/relationships/image" Target="../media/image146.png"/><Relationship Id="rId10" Type="http://schemas.openxmlformats.org/officeDocument/2006/relationships/image" Target="../media/image151.png"/><Relationship Id="rId4" Type="http://schemas.openxmlformats.org/officeDocument/2006/relationships/image" Target="../media/image145.png"/><Relationship Id="rId9" Type="http://schemas.openxmlformats.org/officeDocument/2006/relationships/image" Target="../media/image150.png"/><Relationship Id="rId14" Type="http://schemas.openxmlformats.org/officeDocument/2006/relationships/image" Target="../media/image15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8" Type="http://schemas.openxmlformats.org/officeDocument/2006/relationships/image" Target="../media/image187.png"/><Relationship Id="rId3" Type="http://schemas.openxmlformats.org/officeDocument/2006/relationships/image" Target="../media/image164.png"/><Relationship Id="rId7" Type="http://schemas.openxmlformats.org/officeDocument/2006/relationships/image" Target="../media/image166.png"/><Relationship Id="rId17" Type="http://schemas.openxmlformats.org/officeDocument/2006/relationships/image" Target="../media/image186.png"/><Relationship Id="rId2" Type="http://schemas.openxmlformats.org/officeDocument/2006/relationships/image" Target="../media/image163.png"/><Relationship Id="rId29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png"/><Relationship Id="rId32" Type="http://schemas.openxmlformats.org/officeDocument/2006/relationships/image" Target="../media/image191.png"/><Relationship Id="rId5" Type="http://schemas.openxmlformats.org/officeDocument/2006/relationships/image" Target="../media/image1570.png"/><Relationship Id="rId28" Type="http://schemas.openxmlformats.org/officeDocument/2006/relationships/image" Target="../media/image182.png"/><Relationship Id="rId31" Type="http://schemas.openxmlformats.org/officeDocument/2006/relationships/image" Target="../media/image188.png"/><Relationship Id="rId19" Type="http://schemas.openxmlformats.org/officeDocument/2006/relationships/image" Target="../media/image170.png"/><Relationship Id="rId4" Type="http://schemas.openxmlformats.org/officeDocument/2006/relationships/image" Target="../media/image1560.png"/><Relationship Id="rId27" Type="http://schemas.openxmlformats.org/officeDocument/2006/relationships/image" Target="../media/image181.png"/><Relationship Id="rId30" Type="http://schemas.openxmlformats.org/officeDocument/2006/relationships/image" Target="../media/image184.png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7.png"/><Relationship Id="rId39" Type="http://schemas.openxmlformats.org/officeDocument/2006/relationships/image" Target="../media/image212.png"/><Relationship Id="rId3" Type="http://schemas.openxmlformats.org/officeDocument/2006/relationships/image" Target="../media/image190.png"/><Relationship Id="rId34" Type="http://schemas.openxmlformats.org/officeDocument/2006/relationships/image" Target="../media/image206.png"/><Relationship Id="rId25" Type="http://schemas.openxmlformats.org/officeDocument/2006/relationships/image" Target="../media/image194.png"/><Relationship Id="rId33" Type="http://schemas.openxmlformats.org/officeDocument/2006/relationships/image" Target="../media/image204.png"/><Relationship Id="rId38" Type="http://schemas.openxmlformats.org/officeDocument/2006/relationships/image" Target="../media/image211.png"/><Relationship Id="rId29" Type="http://schemas.openxmlformats.org/officeDocument/2006/relationships/image" Target="../media/image200.png"/><Relationship Id="rId41" Type="http://schemas.openxmlformats.org/officeDocument/2006/relationships/image" Target="../media/image214.png"/><Relationship Id="rId1" Type="http://schemas.openxmlformats.org/officeDocument/2006/relationships/slideLayout" Target="../slideLayouts/slideLayout7.xml"/><Relationship Id="rId32" Type="http://schemas.openxmlformats.org/officeDocument/2006/relationships/image" Target="../media/image203.png"/><Relationship Id="rId37" Type="http://schemas.openxmlformats.org/officeDocument/2006/relationships/image" Target="../media/image210.png"/><Relationship Id="rId5" Type="http://schemas.openxmlformats.org/officeDocument/2006/relationships/image" Target="../media/image193.png"/><Relationship Id="rId28" Type="http://schemas.openxmlformats.org/officeDocument/2006/relationships/image" Target="../media/image199.png"/><Relationship Id="rId36" Type="http://schemas.openxmlformats.org/officeDocument/2006/relationships/image" Target="../media/image168.png"/><Relationship Id="rId31" Type="http://schemas.openxmlformats.org/officeDocument/2006/relationships/image" Target="../media/image202.png"/><Relationship Id="rId4" Type="http://schemas.openxmlformats.org/officeDocument/2006/relationships/image" Target="../media/image192.png"/><Relationship Id="rId27" Type="http://schemas.openxmlformats.org/officeDocument/2006/relationships/image" Target="../media/image198.png"/><Relationship Id="rId30" Type="http://schemas.openxmlformats.org/officeDocument/2006/relationships/image" Target="../media/image201.png"/><Relationship Id="rId35" Type="http://schemas.openxmlformats.org/officeDocument/2006/relationships/image" Target="../media/image20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18" Type="http://schemas.openxmlformats.org/officeDocument/2006/relationships/image" Target="../media/image216.png"/><Relationship Id="rId17" Type="http://schemas.openxmlformats.org/officeDocument/2006/relationships/image" Target="../media/image215.png"/><Relationship Id="rId2" Type="http://schemas.openxmlformats.org/officeDocument/2006/relationships/image" Target="../media/image265.png"/><Relationship Id="rId16" Type="http://schemas.openxmlformats.org/officeDocument/2006/relationships/image" Target="../media/image1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7.png"/><Relationship Id="rId15" Type="http://schemas.openxmlformats.org/officeDocument/2006/relationships/image" Target="../media/image166.png"/><Relationship Id="rId5" Type="http://schemas.openxmlformats.org/officeDocument/2006/relationships/image" Target="../media/image266.png"/><Relationship Id="rId14" Type="http://schemas.openxmlformats.org/officeDocument/2006/relationships/image" Target="../media/image165.png"/></Relationships>
</file>

<file path=ppt/slides/_rels/slide2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19.png"/><Relationship Id="rId26" Type="http://schemas.openxmlformats.org/officeDocument/2006/relationships/image" Target="../media/image233.png"/><Relationship Id="rId21" Type="http://schemas.openxmlformats.org/officeDocument/2006/relationships/image" Target="../media/image224.png"/><Relationship Id="rId17" Type="http://schemas.openxmlformats.org/officeDocument/2006/relationships/image" Target="../media/image218.png"/><Relationship Id="rId25" Type="http://schemas.openxmlformats.org/officeDocument/2006/relationships/image" Target="../media/image232.png"/><Relationship Id="rId33" Type="http://schemas.openxmlformats.org/officeDocument/2006/relationships/image" Target="../media/image242.png"/><Relationship Id="rId20" Type="http://schemas.openxmlformats.org/officeDocument/2006/relationships/image" Target="../media/image223.png"/><Relationship Id="rId29" Type="http://schemas.openxmlformats.org/officeDocument/2006/relationships/image" Target="../media/image237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231.png"/><Relationship Id="rId32" Type="http://schemas.openxmlformats.org/officeDocument/2006/relationships/image" Target="../media/image241.png"/><Relationship Id="rId23" Type="http://schemas.openxmlformats.org/officeDocument/2006/relationships/image" Target="../media/image230.png"/><Relationship Id="rId28" Type="http://schemas.openxmlformats.org/officeDocument/2006/relationships/image" Target="../media/image236.png"/><Relationship Id="rId19" Type="http://schemas.openxmlformats.org/officeDocument/2006/relationships/image" Target="../media/image222.png"/><Relationship Id="rId22" Type="http://schemas.openxmlformats.org/officeDocument/2006/relationships/image" Target="../media/image229.png"/><Relationship Id="rId30" Type="http://schemas.openxmlformats.org/officeDocument/2006/relationships/image" Target="../media/image2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BB4CB-64D3-4992-8507-E49F4568D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4236" y="633848"/>
            <a:ext cx="4450914" cy="686559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MAGNETOSTATICS</a:t>
            </a:r>
          </a:p>
        </p:txBody>
      </p:sp>
    </p:spTree>
    <p:extLst>
      <p:ext uri="{BB962C8B-B14F-4D97-AF65-F5344CB8AC3E}">
        <p14:creationId xmlns:p14="http://schemas.microsoft.com/office/powerpoint/2010/main" val="79704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542748-7CC9-4F34-96C3-B9F90F1AB1C6}"/>
              </a:ext>
            </a:extLst>
          </p:cNvPr>
          <p:cNvSpPr txBox="1"/>
          <p:nvPr/>
        </p:nvSpPr>
        <p:spPr>
          <a:xfrm>
            <a:off x="226286" y="265089"/>
            <a:ext cx="8893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Magnetic Field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85FE6-4860-4D1C-8B65-137DBF79587D}"/>
              </a:ext>
            </a:extLst>
          </p:cNvPr>
          <p:cNvSpPr txBox="1"/>
          <p:nvPr/>
        </p:nvSpPr>
        <p:spPr>
          <a:xfrm>
            <a:off x="477078" y="1003852"/>
            <a:ext cx="9978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Sources of the Magnetic Field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A5E74-B702-4FF9-9394-A126D07258C3}"/>
              </a:ext>
            </a:extLst>
          </p:cNvPr>
          <p:cNvSpPr txBox="1"/>
          <p:nvPr/>
        </p:nvSpPr>
        <p:spPr>
          <a:xfrm>
            <a:off x="1739349" y="1560443"/>
            <a:ext cx="2951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Permanent Magnet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DF8A3-9C5E-4B92-8AC4-9CC6DB337B11}"/>
              </a:ext>
            </a:extLst>
          </p:cNvPr>
          <p:cNvSpPr txBox="1"/>
          <p:nvPr/>
        </p:nvSpPr>
        <p:spPr>
          <a:xfrm>
            <a:off x="1918253" y="3369365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    Direct Current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1269D2-0C64-4AA6-AF02-487ED23418D1}"/>
              </a:ext>
            </a:extLst>
          </p:cNvPr>
          <p:cNvSpPr txBox="1"/>
          <p:nvPr/>
        </p:nvSpPr>
        <p:spPr>
          <a:xfrm>
            <a:off x="1776620" y="5589969"/>
            <a:ext cx="3302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3.   Time varying Electric Field</a:t>
            </a:r>
          </a:p>
        </p:txBody>
      </p:sp>
      <p:pic>
        <p:nvPicPr>
          <p:cNvPr id="2050" name="Picture 2" descr="Image result for magnetic field">
            <a:extLst>
              <a:ext uri="{FF2B5EF4-FFF2-40B4-BE49-F238E27FC236}">
                <a16:creationId xmlns:a16="http://schemas.microsoft.com/office/drawing/2014/main" id="{AE1EC2AA-29E1-4959-A990-BBCAD4CB8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290" y="1283389"/>
            <a:ext cx="320992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field of current wire">
            <a:extLst>
              <a:ext uri="{FF2B5EF4-FFF2-40B4-BE49-F238E27FC236}">
                <a16:creationId xmlns:a16="http://schemas.microsoft.com/office/drawing/2014/main" id="{74AAF387-3637-4B75-BC88-8137295D27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77" r="43912" b="2869"/>
          <a:stretch/>
        </p:blipFill>
        <p:spPr bwMode="auto">
          <a:xfrm>
            <a:off x="7354957" y="3103841"/>
            <a:ext cx="1341783" cy="107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em field">
            <a:extLst>
              <a:ext uri="{FF2B5EF4-FFF2-40B4-BE49-F238E27FC236}">
                <a16:creationId xmlns:a16="http://schemas.microsoft.com/office/drawing/2014/main" id="{8E37BB91-31BE-4492-AE31-3E2343832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5065079"/>
            <a:ext cx="2705933" cy="107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22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CB1FBD-BAFB-420A-BF11-1B510D18EF27}"/>
              </a:ext>
            </a:extLst>
          </p:cNvPr>
          <p:cNvSpPr txBox="1"/>
          <p:nvPr/>
        </p:nvSpPr>
        <p:spPr>
          <a:xfrm>
            <a:off x="396240" y="406400"/>
            <a:ext cx="675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Current Element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EF73E3-4CCB-4498-8C0A-6A7A78DA41CB}"/>
              </a:ext>
            </a:extLst>
          </p:cNvPr>
          <p:cNvSpPr txBox="1"/>
          <p:nvPr/>
        </p:nvSpPr>
        <p:spPr>
          <a:xfrm>
            <a:off x="568960" y="1046480"/>
            <a:ext cx="1081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 very small section of filamentary conductor that carries current is called </a:t>
            </a:r>
            <a:r>
              <a:rPr lang="en-IN" i="1" dirty="0"/>
              <a:t>current element</a:t>
            </a:r>
            <a:endParaRPr lang="en-IN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87AD9A6-FC24-4233-9EFC-26AB13BFC4C7}"/>
              </a:ext>
            </a:extLst>
          </p:cNvPr>
          <p:cNvSpPr/>
          <p:nvPr/>
        </p:nvSpPr>
        <p:spPr>
          <a:xfrm>
            <a:off x="9753600" y="1056640"/>
            <a:ext cx="60960" cy="396240"/>
          </a:xfrm>
          <a:prstGeom prst="can">
            <a:avLst/>
          </a:prstGeom>
          <a:solidFill>
            <a:schemeClr val="accent2">
              <a:lumMod val="7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6533D-0BBC-4A8E-9330-F45090F349FD}"/>
              </a:ext>
            </a:extLst>
          </p:cNvPr>
          <p:cNvSpPr txBox="1"/>
          <p:nvPr/>
        </p:nvSpPr>
        <p:spPr>
          <a:xfrm>
            <a:off x="9879496" y="1083365"/>
            <a:ext cx="1093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Idl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626F9-BE5F-4656-8DB8-0FBD40AE4C1D}"/>
              </a:ext>
            </a:extLst>
          </p:cNvPr>
          <p:cNvSpPr txBox="1"/>
          <p:nvPr/>
        </p:nvSpPr>
        <p:spPr>
          <a:xfrm>
            <a:off x="447040" y="1859280"/>
            <a:ext cx="899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Biot – Savart’s Law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CD15A-7ED7-45DD-AEB6-6358C120F8CC}"/>
              </a:ext>
            </a:extLst>
          </p:cNvPr>
          <p:cNvSpPr txBox="1"/>
          <p:nvPr/>
        </p:nvSpPr>
        <p:spPr>
          <a:xfrm>
            <a:off x="538701" y="2641600"/>
            <a:ext cx="1028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differential magnetic field at a point </a:t>
            </a:r>
            <a:r>
              <a:rPr lang="en-IN" i="1" dirty="0"/>
              <a:t>P, </a:t>
            </a:r>
            <a:r>
              <a:rPr lang="en-IN" dirty="0"/>
              <a:t>produced by a current element</a:t>
            </a:r>
            <a:endParaRPr lang="en-IN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4CEB21-8C10-4C05-AA97-941125E69313}"/>
                  </a:ext>
                </a:extLst>
              </p:cNvPr>
              <p:cNvSpPr txBox="1"/>
              <p:nvPr/>
            </p:nvSpPr>
            <p:spPr>
              <a:xfrm>
                <a:off x="3891280" y="3129280"/>
                <a:ext cx="1920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/>
                  <a:t>| </a:t>
                </a:r>
                <a:r>
                  <a:rPr lang="en-IN" b="1" i="1" dirty="0"/>
                  <a:t>dH |</a:t>
                </a:r>
                <a:r>
                  <a:rPr lang="en-IN" i="1" dirty="0"/>
                  <a:t>   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IN" i="1" dirty="0"/>
                  <a:t> I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4CEB21-8C10-4C05-AA97-941125E69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280" y="3129280"/>
                <a:ext cx="1920240" cy="369332"/>
              </a:xfrm>
              <a:prstGeom prst="rect">
                <a:avLst/>
              </a:prstGeom>
              <a:blipFill>
                <a:blip r:embed="rId2"/>
                <a:stretch>
                  <a:fillRect l="-254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60B72E-696A-4078-B4E8-FE2AAFDD78C6}"/>
                  </a:ext>
                </a:extLst>
              </p:cNvPr>
              <p:cNvSpPr txBox="1"/>
              <p:nvPr/>
            </p:nvSpPr>
            <p:spPr>
              <a:xfrm>
                <a:off x="4673600" y="3525520"/>
                <a:ext cx="1493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| </a:t>
                </a:r>
                <a:r>
                  <a:rPr lang="en-IN" b="1" i="1" dirty="0"/>
                  <a:t>dl |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60B72E-696A-4078-B4E8-FE2AAFDD7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3525520"/>
                <a:ext cx="1493520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FC12BA-3236-4869-8806-FC4336AACCA6}"/>
                  </a:ext>
                </a:extLst>
              </p:cNvPr>
              <p:cNvSpPr txBox="1"/>
              <p:nvPr/>
            </p:nvSpPr>
            <p:spPr>
              <a:xfrm>
                <a:off x="4653280" y="3996174"/>
                <a:ext cx="883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IN" b="1" i="1" dirty="0"/>
                  <a:t> </a:t>
                </a:r>
                <a:r>
                  <a:rPr lang="en-IN" i="1" dirty="0"/>
                  <a:t>Sin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IN" i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FC12BA-3236-4869-8806-FC4336AAC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280" y="3996174"/>
                <a:ext cx="883920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A10725-C34E-4D9D-8D0A-16DBF706ADF6}"/>
                  </a:ext>
                </a:extLst>
              </p:cNvPr>
              <p:cNvSpPr txBox="1"/>
              <p:nvPr/>
            </p:nvSpPr>
            <p:spPr>
              <a:xfrm>
                <a:off x="4663440" y="4361934"/>
                <a:ext cx="802640" cy="491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I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IN" b="1" i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A10725-C34E-4D9D-8D0A-16DBF706A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4361934"/>
                <a:ext cx="802640" cy="491096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10F0EE-F043-4AA0-937A-8DE82317B5C0}"/>
              </a:ext>
            </a:extLst>
          </p:cNvPr>
          <p:cNvSpPr/>
          <p:nvPr/>
        </p:nvSpPr>
        <p:spPr>
          <a:xfrm>
            <a:off x="6969760" y="2896659"/>
            <a:ext cx="4531360" cy="2589741"/>
          </a:xfrm>
          <a:custGeom>
            <a:avLst/>
            <a:gdLst>
              <a:gd name="connsiteX0" fmla="*/ 0 w 4023360"/>
              <a:gd name="connsiteY0" fmla="*/ 1888701 h 1888701"/>
              <a:gd name="connsiteX1" fmla="*/ 1656080 w 4023360"/>
              <a:gd name="connsiteY1" fmla="*/ 80221 h 1888701"/>
              <a:gd name="connsiteX2" fmla="*/ 4023360 w 4023360"/>
              <a:gd name="connsiteY2" fmla="*/ 486621 h 188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23360" h="1888701">
                <a:moveTo>
                  <a:pt x="0" y="1888701"/>
                </a:moveTo>
                <a:cubicBezTo>
                  <a:pt x="492760" y="1101301"/>
                  <a:pt x="985520" y="313901"/>
                  <a:pt x="1656080" y="80221"/>
                </a:cubicBezTo>
                <a:cubicBezTo>
                  <a:pt x="2326640" y="-153459"/>
                  <a:pt x="3175000" y="166581"/>
                  <a:pt x="4023360" y="486621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842645-BA62-4A42-9169-658136DA25A8}"/>
              </a:ext>
            </a:extLst>
          </p:cNvPr>
          <p:cNvSpPr txBox="1"/>
          <p:nvPr/>
        </p:nvSpPr>
        <p:spPr>
          <a:xfrm>
            <a:off x="6858000" y="4850295"/>
            <a:ext cx="327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I</a:t>
            </a:r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E69D3F19-00A4-4C5F-AFA7-99CA53F6EA9F}"/>
              </a:ext>
            </a:extLst>
          </p:cNvPr>
          <p:cNvSpPr/>
          <p:nvPr/>
        </p:nvSpPr>
        <p:spPr>
          <a:xfrm rot="2125770">
            <a:off x="7822096" y="3747051"/>
            <a:ext cx="69574" cy="347869"/>
          </a:xfrm>
          <a:prstGeom prst="can">
            <a:avLst/>
          </a:prstGeom>
          <a:solidFill>
            <a:schemeClr val="accent2">
              <a:lumMod val="5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F5BC05-3ED2-4D59-AC4D-5E8B5C3532BB}"/>
              </a:ext>
            </a:extLst>
          </p:cNvPr>
          <p:cNvCxnSpPr>
            <a:cxnSpLocks/>
          </p:cNvCxnSpPr>
          <p:nvPr/>
        </p:nvCxnSpPr>
        <p:spPr>
          <a:xfrm>
            <a:off x="7872103" y="3965899"/>
            <a:ext cx="3041062" cy="218475"/>
          </a:xfrm>
          <a:prstGeom prst="line">
            <a:avLst/>
          </a:prstGeom>
          <a:ln w="1587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c 22">
            <a:extLst>
              <a:ext uri="{FF2B5EF4-FFF2-40B4-BE49-F238E27FC236}">
                <a16:creationId xmlns:a16="http://schemas.microsoft.com/office/drawing/2014/main" id="{88714ACD-73AC-4EEE-A21D-CAD6320EC7F7}"/>
              </a:ext>
            </a:extLst>
          </p:cNvPr>
          <p:cNvSpPr/>
          <p:nvPr/>
        </p:nvSpPr>
        <p:spPr>
          <a:xfrm rot="1034776">
            <a:off x="7802216" y="3836505"/>
            <a:ext cx="208722" cy="218661"/>
          </a:xfrm>
          <a:prstGeom prst="arc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D7E52D5-2756-4521-AADD-972FB55A3FF7}"/>
              </a:ext>
            </a:extLst>
          </p:cNvPr>
          <p:cNvCxnSpPr>
            <a:cxnSpLocks/>
          </p:cNvCxnSpPr>
          <p:nvPr/>
        </p:nvCxnSpPr>
        <p:spPr>
          <a:xfrm flipV="1">
            <a:off x="7036904" y="5029200"/>
            <a:ext cx="258418" cy="496958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F22E774-0DBE-429C-B628-32E5C31B360F}"/>
              </a:ext>
            </a:extLst>
          </p:cNvPr>
          <p:cNvSpPr txBox="1"/>
          <p:nvPr/>
        </p:nvSpPr>
        <p:spPr>
          <a:xfrm>
            <a:off x="7494104" y="3468757"/>
            <a:ext cx="487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Idl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3BB716-549D-479E-927E-DDC462320E29}"/>
              </a:ext>
            </a:extLst>
          </p:cNvPr>
          <p:cNvSpPr txBox="1"/>
          <p:nvPr/>
        </p:nvSpPr>
        <p:spPr>
          <a:xfrm>
            <a:off x="10903667" y="3825460"/>
            <a:ext cx="347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P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6C60A2-4544-4612-8D60-DFE8D0D6BD11}"/>
              </a:ext>
            </a:extLst>
          </p:cNvPr>
          <p:cNvSpPr/>
          <p:nvPr/>
        </p:nvSpPr>
        <p:spPr>
          <a:xfrm>
            <a:off x="10942983" y="4174435"/>
            <a:ext cx="45719" cy="4571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AC8EAC-F02D-427C-BDC5-C3E2B9D1FAA6}"/>
              </a:ext>
            </a:extLst>
          </p:cNvPr>
          <p:cNvSpPr txBox="1"/>
          <p:nvPr/>
        </p:nvSpPr>
        <p:spPr>
          <a:xfrm>
            <a:off x="9184640" y="3708400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A99037-6297-4DF8-97D6-DD3D7A330A79}"/>
                  </a:ext>
                </a:extLst>
              </p:cNvPr>
              <p:cNvSpPr txBox="1"/>
              <p:nvPr/>
            </p:nvSpPr>
            <p:spPr>
              <a:xfrm>
                <a:off x="7934960" y="3586480"/>
                <a:ext cx="375920" cy="365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A99037-6297-4DF8-97D6-DD3D7A330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960" y="3586480"/>
                <a:ext cx="375920" cy="3657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E37D36D6-AF0E-483B-94E8-5DA475D71612}"/>
              </a:ext>
            </a:extLst>
          </p:cNvPr>
          <p:cNvSpPr txBox="1"/>
          <p:nvPr/>
        </p:nvSpPr>
        <p:spPr>
          <a:xfrm>
            <a:off x="10810240" y="4328160"/>
            <a:ext cx="49784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dH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1A4468-1725-49F6-8D71-9F163E81960C}"/>
              </a:ext>
            </a:extLst>
          </p:cNvPr>
          <p:cNvSpPr txBox="1"/>
          <p:nvPr/>
        </p:nvSpPr>
        <p:spPr>
          <a:xfrm>
            <a:off x="264160" y="5171440"/>
            <a:ext cx="553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Direction of </a:t>
            </a:r>
            <a:r>
              <a:rPr lang="en-IN" b="1" i="1" dirty="0"/>
              <a:t>dH </a:t>
            </a:r>
            <a:r>
              <a:rPr lang="en-IN" dirty="0"/>
              <a:t>is given by </a:t>
            </a:r>
            <a:r>
              <a:rPr lang="en-IN" i="1" dirty="0"/>
              <a:t>Right hand Screw Principle </a:t>
            </a:r>
            <a:endParaRPr lang="en-IN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689898-CEE3-4049-AC1F-E900034A33CF}"/>
              </a:ext>
            </a:extLst>
          </p:cNvPr>
          <p:cNvSpPr txBox="1"/>
          <p:nvPr/>
        </p:nvSpPr>
        <p:spPr>
          <a:xfrm>
            <a:off x="1341120" y="5638800"/>
            <a:ext cx="1072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the rotation from </a:t>
            </a:r>
            <a:r>
              <a:rPr lang="en-IN" b="1" i="1" dirty="0"/>
              <a:t>dl</a:t>
            </a:r>
            <a:r>
              <a:rPr lang="en-IN" i="1" dirty="0"/>
              <a:t> </a:t>
            </a:r>
            <a:r>
              <a:rPr lang="en-IN" dirty="0"/>
              <a:t>to </a:t>
            </a:r>
            <a:r>
              <a:rPr lang="en-IN" i="1" dirty="0"/>
              <a:t>R </a:t>
            </a:r>
            <a:r>
              <a:rPr lang="en-IN" dirty="0"/>
              <a:t>is in </a:t>
            </a:r>
            <a:r>
              <a:rPr lang="en-IN" i="1" dirty="0"/>
              <a:t>Clockwise </a:t>
            </a:r>
            <a:r>
              <a:rPr lang="en-IN" dirty="0"/>
              <a:t>– direction of </a:t>
            </a:r>
            <a:r>
              <a:rPr lang="en-IN" b="1" dirty="0"/>
              <a:t>dH </a:t>
            </a:r>
            <a:r>
              <a:rPr lang="en-IN" dirty="0"/>
              <a:t>will be into the Plane of the paper</a:t>
            </a:r>
            <a:endParaRPr lang="en-IN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764C12-0D2A-4F14-9FC2-9BF9E8D5A9AF}"/>
              </a:ext>
            </a:extLst>
          </p:cNvPr>
          <p:cNvSpPr txBox="1"/>
          <p:nvPr/>
        </p:nvSpPr>
        <p:spPr>
          <a:xfrm>
            <a:off x="3830320" y="6085840"/>
            <a:ext cx="718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Anti Clockwise </a:t>
            </a:r>
            <a:r>
              <a:rPr lang="en-IN" dirty="0"/>
              <a:t>– direction of </a:t>
            </a:r>
            <a:r>
              <a:rPr lang="en-IN" b="1" dirty="0"/>
              <a:t>dH </a:t>
            </a:r>
            <a:r>
              <a:rPr lang="en-IN" dirty="0"/>
              <a:t>will be out of the plane of the paper</a:t>
            </a:r>
          </a:p>
        </p:txBody>
      </p:sp>
    </p:spTree>
    <p:extLst>
      <p:ext uri="{BB962C8B-B14F-4D97-AF65-F5344CB8AC3E}">
        <p14:creationId xmlns:p14="http://schemas.microsoft.com/office/powerpoint/2010/main" val="356040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  <p:bldP spid="8" grpId="0"/>
      <p:bldP spid="9" grpId="0"/>
      <p:bldP spid="11" grpId="0"/>
      <p:bldP spid="13" grpId="0"/>
      <p:bldP spid="15" grpId="0" animBg="1"/>
      <p:bldP spid="19" grpId="0"/>
      <p:bldP spid="20" grpId="0" animBg="1"/>
      <p:bldP spid="23" grpId="0" animBg="1"/>
      <p:bldP spid="29" grpId="0"/>
      <p:bldP spid="30" grpId="1"/>
      <p:bldP spid="31" grpId="0" animBg="1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1A3CC5-300D-4DD1-9775-784553529B3F}"/>
              </a:ext>
            </a:extLst>
          </p:cNvPr>
          <p:cNvSpPr txBox="1"/>
          <p:nvPr/>
        </p:nvSpPr>
        <p:spPr>
          <a:xfrm>
            <a:off x="304800" y="447040"/>
            <a:ext cx="10271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Mathematically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0971E9-467D-4A9F-9B43-5252414E485C}"/>
                  </a:ext>
                </a:extLst>
              </p:cNvPr>
              <p:cNvSpPr txBox="1"/>
              <p:nvPr/>
            </p:nvSpPr>
            <p:spPr>
              <a:xfrm>
                <a:off x="1259840" y="1026160"/>
                <a:ext cx="1757680" cy="533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i="1" dirty="0">
                    <a:latin typeface="+mj-lt"/>
                  </a:rPr>
                  <a:t>dH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IN" b="1" i="1" dirty="0">
                    <a:latin typeface="+mj-lt"/>
                  </a:rPr>
                  <a:t> </a:t>
                </a:r>
                <a:r>
                  <a:rPr lang="en-IN" i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1">
                            <a:latin typeface="+mj-lt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IN" b="1" i="1">
                            <a:latin typeface="+mj-lt"/>
                          </a:rPr>
                          <m:t>dl</m:t>
                        </m:r>
                        <m:r>
                          <m:rPr>
                            <m:nor/>
                          </m:rPr>
                          <a:rPr lang="en-IN" b="1" i="1" dirty="0">
                            <a:latin typeface="+mj-lt"/>
                          </a:rPr>
                          <m:t> 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i="1" dirty="0">
                            <a:latin typeface="+mj-lt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dirty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 dirty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I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0971E9-467D-4A9F-9B43-5252414E4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840" y="1026160"/>
                <a:ext cx="1757680" cy="533800"/>
              </a:xfrm>
              <a:prstGeom prst="rect">
                <a:avLst/>
              </a:prstGeom>
              <a:blipFill>
                <a:blip r:embed="rId3"/>
                <a:stretch>
                  <a:fillRect l="-3125" b="-56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45E545-D08A-421C-8013-4E0777C68A4A}"/>
                  </a:ext>
                </a:extLst>
              </p:cNvPr>
              <p:cNvSpPr txBox="1"/>
              <p:nvPr/>
            </p:nvSpPr>
            <p:spPr>
              <a:xfrm>
                <a:off x="1259840" y="1656080"/>
                <a:ext cx="2153920" cy="533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i="1" dirty="0"/>
                  <a:t>dH 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den>
                    </m:f>
                  </m:oMath>
                </a14:m>
                <a:r>
                  <a:rPr lang="en-IN" b="1" i="1" dirty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1"/>
                          <m:t>I</m:t>
                        </m:r>
                        <m:r>
                          <m:rPr>
                            <m:nor/>
                          </m:rPr>
                          <a:rPr lang="en-IN" b="1" i="1"/>
                          <m:t>dl</m:t>
                        </m:r>
                        <m:r>
                          <m:rPr>
                            <m:nor/>
                          </m:rPr>
                          <a:rPr lang="en-IN" b="1" i="1" dirty="0"/>
                          <m:t> 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i="1" dirty="0"/>
                          <m:t> </m:t>
                        </m:r>
                        <m:sSub>
                          <m:sSubPr>
                            <m:ctrlPr>
                              <a:rPr lang="en-IN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dirty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 dirty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I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45E545-D08A-421C-8013-4E0777C68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840" y="1656080"/>
                <a:ext cx="2153920" cy="533800"/>
              </a:xfrm>
              <a:prstGeom prst="rect">
                <a:avLst/>
              </a:prstGeom>
              <a:blipFill>
                <a:blip r:embed="rId4"/>
                <a:stretch>
                  <a:fillRect l="-2550" b="-68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A07618-BE3E-46A9-A573-C3CDFE80BFE3}"/>
                  </a:ext>
                </a:extLst>
              </p:cNvPr>
              <p:cNvSpPr txBox="1"/>
              <p:nvPr/>
            </p:nvSpPr>
            <p:spPr>
              <a:xfrm>
                <a:off x="3403600" y="1696720"/>
                <a:ext cx="4013200" cy="496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i="1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den>
                    </m:f>
                  </m:oMath>
                </a14:m>
                <a:r>
                  <a:rPr lang="en-IN" b="1" i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𝑰𝒅𝒍</m:t>
                        </m:r>
                        <m:r>
                          <a:rPr lang="en-I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num>
                      <m:den>
                        <m:r>
                          <a:rPr lang="en-I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IN" b="1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A07618-BE3E-46A9-A573-C3CDFE80B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00" y="1696720"/>
                <a:ext cx="4013200" cy="496611"/>
              </a:xfrm>
              <a:prstGeom prst="rect">
                <a:avLst/>
              </a:prstGeom>
              <a:blipFill>
                <a:blip r:embed="rId5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5BB5F14-C00A-465C-B08B-3514BDA4D164}"/>
              </a:ext>
            </a:extLst>
          </p:cNvPr>
          <p:cNvSpPr txBox="1"/>
          <p:nvPr/>
        </p:nvSpPr>
        <p:spPr>
          <a:xfrm>
            <a:off x="1097280" y="2509520"/>
            <a:ext cx="504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total Magnetic field due to the entire current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A2CA69-055A-4CC3-8795-05CAC2BB721C}"/>
                  </a:ext>
                </a:extLst>
              </p:cNvPr>
              <p:cNvSpPr txBox="1"/>
              <p:nvPr/>
            </p:nvSpPr>
            <p:spPr>
              <a:xfrm>
                <a:off x="2194560" y="3271520"/>
                <a:ext cx="1534160" cy="413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H =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𝒊𝒏𝒆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𝒅𝑯</m:t>
                        </m:r>
                      </m:e>
                    </m:nary>
                  </m:oMath>
                </a14:m>
                <a:r>
                  <a:rPr lang="en-IN" b="1" dirty="0"/>
                  <a:t>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A2CA69-055A-4CC3-8795-05CAC2BB7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0" y="3271520"/>
                <a:ext cx="1534160" cy="413447"/>
              </a:xfrm>
              <a:prstGeom prst="rect">
                <a:avLst/>
              </a:prstGeom>
              <a:blipFill>
                <a:blip r:embed="rId6"/>
                <a:stretch>
                  <a:fillRect l="-3175" t="-134328" b="-195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BA04A5-E6DA-42BE-8CD7-180F2B6740E2}"/>
                  </a:ext>
                </a:extLst>
              </p:cNvPr>
              <p:cNvSpPr txBox="1"/>
              <p:nvPr/>
            </p:nvSpPr>
            <p:spPr>
              <a:xfrm>
                <a:off x="3810000" y="3200400"/>
                <a:ext cx="3576320" cy="496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𝑖𝑛𝑒</m:t>
                        </m:r>
                      </m:sub>
                      <m:sup/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IN" b="1" i="1" dirty="0"/>
                          <m:t> </m:t>
                        </m:r>
                        <m:f>
                          <m:fPr>
                            <m:ctrlPr>
                              <a:rPr lang="en-IN" b="1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 dirty="0">
                                <a:latin typeface="Cambria Math" panose="02040503050406030204" pitchFamily="18" charset="0"/>
                              </a:rPr>
                              <m:t>𝑰𝒅𝒍</m:t>
                            </m:r>
                            <m:r>
                              <a:rPr lang="en-IN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IN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num>
                          <m:den>
                            <m:r>
                              <a:rPr lang="en-IN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BA04A5-E6DA-42BE-8CD7-180F2B674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200400"/>
                <a:ext cx="3576320" cy="496611"/>
              </a:xfrm>
              <a:prstGeom prst="rect">
                <a:avLst/>
              </a:prstGeom>
              <a:blipFill>
                <a:blip r:embed="rId7"/>
                <a:stretch>
                  <a:fillRect l="-6303" t="-97531" b="-1580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C00E73E-C308-45B5-82D7-5C6FD43A3723}"/>
              </a:ext>
            </a:extLst>
          </p:cNvPr>
          <p:cNvSpPr txBox="1"/>
          <p:nvPr/>
        </p:nvSpPr>
        <p:spPr>
          <a:xfrm>
            <a:off x="765313" y="4313583"/>
            <a:ext cx="10167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Note : The current flows in a closed path</a:t>
            </a:r>
          </a:p>
        </p:txBody>
      </p:sp>
    </p:spTree>
    <p:extLst>
      <p:ext uri="{BB962C8B-B14F-4D97-AF65-F5344CB8AC3E}">
        <p14:creationId xmlns:p14="http://schemas.microsoft.com/office/powerpoint/2010/main" val="19146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1"/>
      <p:bldP spid="5" grpId="0"/>
      <p:bldP spid="7" grpId="0"/>
      <p:bldP spid="8" grpId="0"/>
      <p:bldP spid="9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F6DCF1-7840-4EB4-AF34-03379C8497E7}"/>
              </a:ext>
            </a:extLst>
          </p:cNvPr>
          <p:cNvSpPr txBox="1"/>
          <p:nvPr/>
        </p:nvSpPr>
        <p:spPr>
          <a:xfrm>
            <a:off x="168966" y="218660"/>
            <a:ext cx="11012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Biot-Savart’s law for other current distributions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6810F-D221-4B4B-AFB7-A0BD8DD9A8EC}"/>
              </a:ext>
            </a:extLst>
          </p:cNvPr>
          <p:cNvSpPr txBox="1"/>
          <p:nvPr/>
        </p:nvSpPr>
        <p:spPr>
          <a:xfrm>
            <a:off x="149087" y="844827"/>
            <a:ext cx="11360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Apart from the filamentary current </a:t>
            </a:r>
            <a:r>
              <a:rPr lang="en-IN" i="1" dirty="0"/>
              <a:t>I</a:t>
            </a:r>
            <a:r>
              <a:rPr lang="en-IN" dirty="0"/>
              <a:t>, current can also flow in two more possible configurations</a:t>
            </a:r>
            <a:r>
              <a:rPr lang="en-IN" i="1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67E3B-B4CF-43F3-9F84-F0B5DD7261D7}"/>
              </a:ext>
            </a:extLst>
          </p:cNvPr>
          <p:cNvSpPr txBox="1"/>
          <p:nvPr/>
        </p:nvSpPr>
        <p:spPr>
          <a:xfrm>
            <a:off x="636104" y="1610140"/>
            <a:ext cx="198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Surface current 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E7768-A09C-4BCB-ABCF-9142726F152B}"/>
              </a:ext>
            </a:extLst>
          </p:cNvPr>
          <p:cNvSpPr txBox="1"/>
          <p:nvPr/>
        </p:nvSpPr>
        <p:spPr>
          <a:xfrm>
            <a:off x="2544417" y="1630017"/>
            <a:ext cx="4820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Represented by </a:t>
            </a:r>
            <a:r>
              <a:rPr lang="en-IN" b="1" dirty="0"/>
              <a:t>K </a:t>
            </a:r>
            <a:r>
              <a:rPr lang="en-IN" dirty="0"/>
              <a:t>&amp; the current element = </a:t>
            </a:r>
            <a:r>
              <a:rPr lang="en-IN" b="1" dirty="0"/>
              <a:t>K</a:t>
            </a:r>
            <a:r>
              <a:rPr lang="en-IN" i="1" dirty="0"/>
              <a:t>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99CD9A-0565-4775-86E7-368DD995649A}"/>
              </a:ext>
            </a:extLst>
          </p:cNvPr>
          <p:cNvSpPr txBox="1"/>
          <p:nvPr/>
        </p:nvSpPr>
        <p:spPr>
          <a:xfrm>
            <a:off x="655983" y="2067339"/>
            <a:ext cx="2623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 Convection Current -</a:t>
            </a:r>
            <a:endParaRPr lang="en-IN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08EDA5-122D-4878-9168-DA6CE9F19B32}"/>
              </a:ext>
            </a:extLst>
          </p:cNvPr>
          <p:cNvSpPr txBox="1"/>
          <p:nvPr/>
        </p:nvSpPr>
        <p:spPr>
          <a:xfrm>
            <a:off x="2971800" y="2097157"/>
            <a:ext cx="5526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Represented by </a:t>
            </a:r>
            <a:r>
              <a:rPr lang="en-IN" b="1" dirty="0"/>
              <a:t>J </a:t>
            </a:r>
            <a:r>
              <a:rPr lang="en-IN" dirty="0"/>
              <a:t>&amp; the current element = </a:t>
            </a:r>
            <a:r>
              <a:rPr lang="en-IN" b="1" dirty="0"/>
              <a:t>J </a:t>
            </a:r>
            <a:r>
              <a:rPr lang="en-IN" i="1" dirty="0"/>
              <a:t>dv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D00998-D259-4114-8B7C-49C0FF22E443}"/>
              </a:ext>
            </a:extLst>
          </p:cNvPr>
          <p:cNvSpPr txBox="1"/>
          <p:nvPr/>
        </p:nvSpPr>
        <p:spPr>
          <a:xfrm>
            <a:off x="139148" y="2792895"/>
            <a:ext cx="9382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relation that can be proved among the current elements 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BFBEA-00AE-4FFE-B642-F967944345EA}"/>
              </a:ext>
            </a:extLst>
          </p:cNvPr>
          <p:cNvSpPr txBox="1"/>
          <p:nvPr/>
        </p:nvSpPr>
        <p:spPr>
          <a:xfrm>
            <a:off x="1938130" y="3419061"/>
            <a:ext cx="7851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I</a:t>
            </a:r>
            <a:r>
              <a:rPr lang="en-IN" b="1" i="1" dirty="0"/>
              <a:t>dl  </a:t>
            </a:r>
            <a:r>
              <a:rPr lang="en-IN" dirty="0"/>
              <a:t>=  </a:t>
            </a:r>
            <a:r>
              <a:rPr lang="en-IN" b="1" dirty="0"/>
              <a:t>K</a:t>
            </a:r>
            <a:r>
              <a:rPr lang="en-IN" i="1" dirty="0"/>
              <a:t>ds </a:t>
            </a:r>
            <a:r>
              <a:rPr lang="en-IN" dirty="0"/>
              <a:t>= </a:t>
            </a:r>
            <a:r>
              <a:rPr lang="en-IN" b="1" dirty="0"/>
              <a:t>J</a:t>
            </a:r>
            <a:r>
              <a:rPr lang="en-IN" i="1" dirty="0"/>
              <a:t>dv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FCE92C-9CFF-45F2-878A-AE44DA0E4FE4}"/>
              </a:ext>
            </a:extLst>
          </p:cNvPr>
          <p:cNvSpPr txBox="1"/>
          <p:nvPr/>
        </p:nvSpPr>
        <p:spPr>
          <a:xfrm>
            <a:off x="213360" y="4307840"/>
            <a:ext cx="981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Now Biot-Savart’s law can be stated for other current distributions as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AFD8219-7331-46B2-B655-C4E05665488C}"/>
                  </a:ext>
                </a:extLst>
              </p:cNvPr>
              <p:cNvSpPr txBox="1"/>
              <p:nvPr/>
            </p:nvSpPr>
            <p:spPr>
              <a:xfrm>
                <a:off x="1468120" y="5203477"/>
                <a:ext cx="1986280" cy="496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H =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𝑖𝑛𝑒</m:t>
                        </m:r>
                      </m:sub>
                      <m:sup/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IN" b="1" i="1" dirty="0"/>
                          <m:t> </m:t>
                        </m:r>
                        <m:f>
                          <m:fPr>
                            <m:ctrlPr>
                              <a:rPr lang="en-IN" b="1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 dirty="0">
                                <a:latin typeface="Cambria Math" panose="02040503050406030204" pitchFamily="18" charset="0"/>
                              </a:rPr>
                              <m:t>𝑰𝒅𝒍</m:t>
                            </m:r>
                            <m:r>
                              <a:rPr lang="en-IN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IN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num>
                          <m:den>
                            <m:r>
                              <a:rPr lang="en-IN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AFD8219-7331-46B2-B655-C4E056654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20" y="5203477"/>
                <a:ext cx="1986280" cy="496611"/>
              </a:xfrm>
              <a:prstGeom prst="rect">
                <a:avLst/>
              </a:prstGeom>
              <a:blipFill>
                <a:blip r:embed="rId2"/>
                <a:stretch>
                  <a:fillRect l="-2761" t="-97531" b="-1580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D4029B-7D1D-4349-B498-25D795E5B087}"/>
                  </a:ext>
                </a:extLst>
              </p:cNvPr>
              <p:cNvSpPr txBox="1"/>
              <p:nvPr/>
            </p:nvSpPr>
            <p:spPr>
              <a:xfrm>
                <a:off x="3505200" y="5242560"/>
                <a:ext cx="1625600" cy="496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IN" b="1" i="1" dirty="0"/>
                          <m:t> </m:t>
                        </m:r>
                        <m:f>
                          <m:fPr>
                            <m:ctrlPr>
                              <a:rPr lang="en-IN" b="1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 dirty="0" smtClean="0">
                                <a:latin typeface="Cambria Math" panose="02040503050406030204" pitchFamily="18" charset="0"/>
                              </a:rPr>
                              <m:t>𝑲</m:t>
                            </m:r>
                            <m:r>
                              <a:rPr lang="en-IN" b="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IN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IN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num>
                          <m:den>
                            <m:r>
                              <a:rPr lang="en-IN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D4029B-7D1D-4349-B498-25D795E5B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5242560"/>
                <a:ext cx="1625600" cy="496611"/>
              </a:xfrm>
              <a:prstGeom prst="rect">
                <a:avLst/>
              </a:prstGeom>
              <a:blipFill>
                <a:blip r:embed="rId3"/>
                <a:stretch>
                  <a:fillRect l="-13858" t="-98765" b="-1567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1D45EC-493D-4B91-B196-C400A6D93643}"/>
                  </a:ext>
                </a:extLst>
              </p:cNvPr>
              <p:cNvSpPr txBox="1"/>
              <p:nvPr/>
            </p:nvSpPr>
            <p:spPr>
              <a:xfrm>
                <a:off x="5374640" y="5242560"/>
                <a:ext cx="3423920" cy="496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𝑣𝑜𝑙</m:t>
                        </m:r>
                      </m:sub>
                      <m:sup/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IN" b="1" i="1" dirty="0"/>
                          <m:t> </m:t>
                        </m:r>
                        <m:f>
                          <m:fPr>
                            <m:ctrlPr>
                              <a:rPr lang="en-IN" b="1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 dirty="0" smtClean="0">
                                <a:latin typeface="Cambria Math" panose="02040503050406030204" pitchFamily="18" charset="0"/>
                              </a:rPr>
                              <m:t>𝑱</m:t>
                            </m:r>
                            <m:r>
                              <a:rPr lang="en-IN" b="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IN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num>
                          <m:den>
                            <m:r>
                              <a:rPr lang="en-IN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I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1D45EC-493D-4B91-B196-C400A6D93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640" y="5242560"/>
                <a:ext cx="3423920" cy="496611"/>
              </a:xfrm>
              <a:prstGeom prst="rect">
                <a:avLst/>
              </a:prstGeom>
              <a:blipFill>
                <a:blip r:embed="rId4"/>
                <a:stretch>
                  <a:fillRect l="-6774" t="-98765" b="-1567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815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1"/>
      <p:bldP spid="10" grpId="0"/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2D9B3-7398-4AA1-8AA9-4ACEA5A24B28}"/>
              </a:ext>
            </a:extLst>
          </p:cNvPr>
          <p:cNvSpPr txBox="1"/>
          <p:nvPr/>
        </p:nvSpPr>
        <p:spPr>
          <a:xfrm>
            <a:off x="264160" y="386080"/>
            <a:ext cx="5557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Field due to an Infinite Filamentary current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40E44BA-61CE-44CB-9E50-FEEF60302732}"/>
              </a:ext>
            </a:extLst>
          </p:cNvPr>
          <p:cNvCxnSpPr/>
          <p:nvPr/>
        </p:nvCxnSpPr>
        <p:spPr>
          <a:xfrm>
            <a:off x="1645920" y="2946400"/>
            <a:ext cx="2489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2C9895-AA02-400C-9B92-E4A94BC25949}"/>
              </a:ext>
            </a:extLst>
          </p:cNvPr>
          <p:cNvCxnSpPr/>
          <p:nvPr/>
        </p:nvCxnSpPr>
        <p:spPr>
          <a:xfrm flipV="1">
            <a:off x="1666240" y="883920"/>
            <a:ext cx="0" cy="2062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83E702-ACFA-43CE-8729-980AF78C20BC}"/>
              </a:ext>
            </a:extLst>
          </p:cNvPr>
          <p:cNvCxnSpPr/>
          <p:nvPr/>
        </p:nvCxnSpPr>
        <p:spPr>
          <a:xfrm flipH="1">
            <a:off x="254000" y="2946400"/>
            <a:ext cx="1402080" cy="8229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B606465-12C0-41FF-988C-5294C0A4C4EC}"/>
              </a:ext>
            </a:extLst>
          </p:cNvPr>
          <p:cNvSpPr txBox="1"/>
          <p:nvPr/>
        </p:nvSpPr>
        <p:spPr>
          <a:xfrm>
            <a:off x="101600" y="3403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13C27B-A321-4096-93A6-24D4B143C2C8}"/>
              </a:ext>
            </a:extLst>
          </p:cNvPr>
          <p:cNvSpPr txBox="1"/>
          <p:nvPr/>
        </p:nvSpPr>
        <p:spPr>
          <a:xfrm>
            <a:off x="1402080" y="62992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z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8A2D56-2489-4C90-A7AF-98B861737A2A}"/>
              </a:ext>
            </a:extLst>
          </p:cNvPr>
          <p:cNvSpPr txBox="1"/>
          <p:nvPr/>
        </p:nvSpPr>
        <p:spPr>
          <a:xfrm>
            <a:off x="3992880" y="2895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y</a:t>
            </a: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0E7EF35E-99E6-4DD5-9469-0A3923D7D5FF}"/>
              </a:ext>
            </a:extLst>
          </p:cNvPr>
          <p:cNvSpPr/>
          <p:nvPr/>
        </p:nvSpPr>
        <p:spPr>
          <a:xfrm>
            <a:off x="1635760" y="1076960"/>
            <a:ext cx="45719" cy="3830320"/>
          </a:xfrm>
          <a:prstGeom prst="can">
            <a:avLst/>
          </a:prstGeom>
          <a:solidFill>
            <a:schemeClr val="accent4">
              <a:lumMod val="7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8313A9F-D54F-4634-8796-3909E576F5D0}"/>
              </a:ext>
            </a:extLst>
          </p:cNvPr>
          <p:cNvCxnSpPr/>
          <p:nvPr/>
        </p:nvCxnSpPr>
        <p:spPr>
          <a:xfrm flipV="1">
            <a:off x="1859280" y="3190240"/>
            <a:ext cx="0" cy="833120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33DE5E2-E258-4446-97AF-546C237CFF27}"/>
              </a:ext>
            </a:extLst>
          </p:cNvPr>
          <p:cNvSpPr txBox="1"/>
          <p:nvPr/>
        </p:nvSpPr>
        <p:spPr>
          <a:xfrm>
            <a:off x="1320800" y="3261360"/>
            <a:ext cx="59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I</a:t>
            </a: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1C0E4828-8282-4F23-8DB5-A7B856BF95F8}"/>
              </a:ext>
            </a:extLst>
          </p:cNvPr>
          <p:cNvSpPr/>
          <p:nvPr/>
        </p:nvSpPr>
        <p:spPr>
          <a:xfrm>
            <a:off x="3545840" y="2184400"/>
            <a:ext cx="45719" cy="45719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BD29B40-4CFD-41B0-BC56-0C2B077A561F}"/>
                  </a:ext>
                </a:extLst>
              </p:cNvPr>
              <p:cNvSpPr txBox="1"/>
              <p:nvPr/>
            </p:nvSpPr>
            <p:spPr>
              <a:xfrm>
                <a:off x="3495040" y="1778000"/>
                <a:ext cx="1635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/>
                  <a:t>P </a:t>
                </a:r>
                <a:r>
                  <a:rPr lang="en-IN" dirty="0"/>
                  <a:t>(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IN" dirty="0"/>
                  <a:t>, </a:t>
                </a:r>
                <a:r>
                  <a:rPr lang="en-IN" i="1" dirty="0"/>
                  <a:t>z </a:t>
                </a:r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BD29B40-4CFD-41B0-BC56-0C2B077A5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040" y="1778000"/>
                <a:ext cx="1635760" cy="369332"/>
              </a:xfrm>
              <a:prstGeom prst="rect">
                <a:avLst/>
              </a:prstGeom>
              <a:blipFill>
                <a:blip r:embed="rId2"/>
                <a:stretch>
                  <a:fillRect l="-2974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90437E-D054-43FA-BAB8-80BAAC0B44A0}"/>
              </a:ext>
            </a:extLst>
          </p:cNvPr>
          <p:cNvCxnSpPr>
            <a:stCxn id="20" idx="3"/>
          </p:cNvCxnSpPr>
          <p:nvPr/>
        </p:nvCxnSpPr>
        <p:spPr>
          <a:xfrm flipH="1">
            <a:off x="1666240" y="2223424"/>
            <a:ext cx="1886295" cy="1616"/>
          </a:xfrm>
          <a:prstGeom prst="line">
            <a:avLst/>
          </a:prstGeom>
          <a:ln w="1587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4350C27-7727-4A8C-9121-EE34B58E6ACC}"/>
                  </a:ext>
                </a:extLst>
              </p:cNvPr>
              <p:cNvSpPr txBox="1"/>
              <p:nvPr/>
            </p:nvSpPr>
            <p:spPr>
              <a:xfrm>
                <a:off x="2357120" y="1859280"/>
                <a:ext cx="589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4350C27-7727-4A8C-9121-EE34B58E6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120" y="1859280"/>
                <a:ext cx="589280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16515D-34DA-4040-AD46-896CA4206FED}"/>
                  </a:ext>
                </a:extLst>
              </p:cNvPr>
              <p:cNvSpPr txBox="1"/>
              <p:nvPr/>
            </p:nvSpPr>
            <p:spPr>
              <a:xfrm>
                <a:off x="3434080" y="2204720"/>
                <a:ext cx="2702560" cy="519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H</a:t>
                </a:r>
                <a:r>
                  <a:rPr lang="en-IN" dirty="0"/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𝜋𝜌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sub>
                    </m:sSub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16515D-34DA-4040-AD46-896CA4206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080" y="2204720"/>
                <a:ext cx="2702560" cy="519373"/>
              </a:xfrm>
              <a:prstGeom prst="rect">
                <a:avLst/>
              </a:prstGeom>
              <a:blipFill>
                <a:blip r:embed="rId4"/>
                <a:stretch>
                  <a:fillRect l="-1802" b="-35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68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animBg="1"/>
      <p:bldP spid="19" grpId="0"/>
      <p:bldP spid="20" grpId="0" animBg="1"/>
      <p:bldP spid="21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79A9D6-8C2B-44E6-BC82-480C923BFB06}"/>
              </a:ext>
            </a:extLst>
          </p:cNvPr>
          <p:cNvSpPr txBox="1"/>
          <p:nvPr/>
        </p:nvSpPr>
        <p:spPr>
          <a:xfrm>
            <a:off x="238539" y="357809"/>
            <a:ext cx="11330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Ampere’s Circuital Law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62EC1-6C00-405C-A039-0506E26894EA}"/>
              </a:ext>
            </a:extLst>
          </p:cNvPr>
          <p:cNvSpPr txBox="1"/>
          <p:nvPr/>
        </p:nvSpPr>
        <p:spPr>
          <a:xfrm>
            <a:off x="288235" y="1162878"/>
            <a:ext cx="11569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line integral of </a:t>
            </a:r>
            <a:r>
              <a:rPr lang="en-IN" b="1" dirty="0"/>
              <a:t>H</a:t>
            </a:r>
            <a:r>
              <a:rPr lang="en-IN" dirty="0"/>
              <a:t> about any closed path is equal to the direct current enclosed by that path.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68502-E6BA-4B18-A7E4-2D294CF88980}"/>
              </a:ext>
            </a:extLst>
          </p:cNvPr>
          <p:cNvSpPr txBox="1"/>
          <p:nvPr/>
        </p:nvSpPr>
        <p:spPr>
          <a:xfrm>
            <a:off x="487017" y="1868557"/>
            <a:ext cx="8408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Mathematically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E9A6F0-3D18-44FA-B11A-95A75280AE1F}"/>
                  </a:ext>
                </a:extLst>
              </p:cNvPr>
              <p:cNvSpPr txBox="1"/>
              <p:nvPr/>
            </p:nvSpPr>
            <p:spPr>
              <a:xfrm>
                <a:off x="2211125" y="2354690"/>
                <a:ext cx="6102626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𝑒𝑛𝑐𝑙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E9A6F0-3D18-44FA-B11A-95A75280A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125" y="2354690"/>
                <a:ext cx="6102626" cy="412164"/>
              </a:xfrm>
              <a:prstGeom prst="rect">
                <a:avLst/>
              </a:prstGeom>
              <a:blipFill>
                <a:blip r:embed="rId2"/>
                <a:stretch>
                  <a:fillRect l="-6793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ylinder 5">
            <a:extLst>
              <a:ext uri="{FF2B5EF4-FFF2-40B4-BE49-F238E27FC236}">
                <a16:creationId xmlns:a16="http://schemas.microsoft.com/office/drawing/2014/main" id="{507D9CFC-BF27-4E9B-A28D-799DAECA0E7F}"/>
              </a:ext>
            </a:extLst>
          </p:cNvPr>
          <p:cNvSpPr/>
          <p:nvPr/>
        </p:nvSpPr>
        <p:spPr>
          <a:xfrm flipH="1">
            <a:off x="8533512" y="3398520"/>
            <a:ext cx="92327" cy="1232452"/>
          </a:xfrm>
          <a:prstGeom prst="can">
            <a:avLst/>
          </a:prstGeom>
          <a:solidFill>
            <a:srgbClr val="0070C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0D99FB-53BB-4FF3-A64F-DDFF20B606E9}"/>
              </a:ext>
            </a:extLst>
          </p:cNvPr>
          <p:cNvCxnSpPr/>
          <p:nvPr/>
        </p:nvCxnSpPr>
        <p:spPr>
          <a:xfrm flipV="1">
            <a:off x="8584317" y="3777090"/>
            <a:ext cx="0" cy="536714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7D2E2D-E678-4399-9A8E-441C08299F37}"/>
                  </a:ext>
                </a:extLst>
              </p:cNvPr>
              <p:cNvSpPr txBox="1"/>
              <p:nvPr/>
            </p:nvSpPr>
            <p:spPr>
              <a:xfrm>
                <a:off x="7914861" y="3956436"/>
                <a:ext cx="318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𝑒𝑛𝑐𝑙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7D2E2D-E678-4399-9A8E-441C08299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861" y="3956436"/>
                <a:ext cx="318052" cy="369332"/>
              </a:xfrm>
              <a:prstGeom prst="rect">
                <a:avLst/>
              </a:prstGeom>
              <a:blipFill>
                <a:blip r:embed="rId3"/>
                <a:stretch>
                  <a:fillRect r="-67925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5ABE9EB-1684-471F-BEBC-845D1B39F027}"/>
              </a:ext>
            </a:extLst>
          </p:cNvPr>
          <p:cNvSpPr/>
          <p:nvPr/>
        </p:nvSpPr>
        <p:spPr>
          <a:xfrm>
            <a:off x="7851914" y="3041374"/>
            <a:ext cx="1441174" cy="367747"/>
          </a:xfrm>
          <a:prstGeom prst="flowChartConnector">
            <a:avLst/>
          </a:prstGeom>
          <a:solidFill>
            <a:schemeClr val="bg1"/>
          </a:solidFill>
          <a:ln w="158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0AB2A047-5724-4853-8375-FC4C01CA5664}"/>
              </a:ext>
            </a:extLst>
          </p:cNvPr>
          <p:cNvSpPr/>
          <p:nvPr/>
        </p:nvSpPr>
        <p:spPr>
          <a:xfrm flipH="1">
            <a:off x="8546986" y="1991139"/>
            <a:ext cx="89013" cy="1232452"/>
          </a:xfrm>
          <a:prstGeom prst="can">
            <a:avLst/>
          </a:prstGeom>
          <a:solidFill>
            <a:srgbClr val="0070C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3EC5284-D6D3-4F92-8A0A-186F5B31BB96}"/>
              </a:ext>
            </a:extLst>
          </p:cNvPr>
          <p:cNvSpPr/>
          <p:nvPr/>
        </p:nvSpPr>
        <p:spPr>
          <a:xfrm rot="12590988">
            <a:off x="9132736" y="3120933"/>
            <a:ext cx="148221" cy="5214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8F5E55-65F2-4BA0-AD1F-622C7589751B}"/>
              </a:ext>
            </a:extLst>
          </p:cNvPr>
          <p:cNvSpPr txBox="1"/>
          <p:nvPr/>
        </p:nvSpPr>
        <p:spPr>
          <a:xfrm>
            <a:off x="8802540" y="3064103"/>
            <a:ext cx="97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i="1" dirty="0"/>
              <a:t>dl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E78328E-7696-4BE3-A3B3-180B6C08A1F1}"/>
                  </a:ext>
                </a:extLst>
              </p:cNvPr>
              <p:cNvSpPr txBox="1"/>
              <p:nvPr/>
            </p:nvSpPr>
            <p:spPr>
              <a:xfrm>
                <a:off x="9294582" y="2640696"/>
                <a:ext cx="685800" cy="657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1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𝒅𝒍</m:t>
                          </m:r>
                        </m:e>
                      </m:nary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E78328E-7696-4BE3-A3B3-180B6C08A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4582" y="2640696"/>
                <a:ext cx="685800" cy="6574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Image result for right hand thumb rule">
            <a:extLst>
              <a:ext uri="{FF2B5EF4-FFF2-40B4-BE49-F238E27FC236}">
                <a16:creationId xmlns:a16="http://schemas.microsoft.com/office/drawing/2014/main" id="{C034089E-DEBD-4EEF-A168-2E5A29230E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05"/>
          <a:stretch/>
        </p:blipFill>
        <p:spPr bwMode="auto">
          <a:xfrm>
            <a:off x="7144992" y="4959626"/>
            <a:ext cx="3040191" cy="140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705503E-FAD7-4826-97C0-A83C7D280F1E}"/>
              </a:ext>
            </a:extLst>
          </p:cNvPr>
          <p:cNvSpPr txBox="1"/>
          <p:nvPr/>
        </p:nvSpPr>
        <p:spPr>
          <a:xfrm>
            <a:off x="355600" y="3830320"/>
            <a:ext cx="649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Ampere’s Circuital law obeys Right Hand Thumb rule </a:t>
            </a:r>
          </a:p>
        </p:txBody>
      </p:sp>
    </p:spTree>
    <p:extLst>
      <p:ext uri="{BB962C8B-B14F-4D97-AF65-F5344CB8AC3E}">
        <p14:creationId xmlns:p14="http://schemas.microsoft.com/office/powerpoint/2010/main" val="374176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repeatCount="3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9" grpId="0"/>
      <p:bldP spid="10" grpId="0" animBg="1"/>
      <p:bldP spid="11" grpId="0" animBg="1"/>
      <p:bldP spid="12" grpId="0" animBg="1"/>
      <p:bldP spid="13" grpId="0"/>
      <p:bldP spid="14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606C6C-EBD6-40B0-88C2-3C5F477DFC11}"/>
              </a:ext>
            </a:extLst>
          </p:cNvPr>
          <p:cNvSpPr txBox="1"/>
          <p:nvPr/>
        </p:nvSpPr>
        <p:spPr>
          <a:xfrm>
            <a:off x="247620" y="223520"/>
            <a:ext cx="10749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Field of an Infinite Sheet of Current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EC8FF-5054-4813-8876-BA507531E547}"/>
              </a:ext>
            </a:extLst>
          </p:cNvPr>
          <p:cNvSpPr txBox="1"/>
          <p:nvPr/>
        </p:nvSpPr>
        <p:spPr>
          <a:xfrm>
            <a:off x="218661" y="735496"/>
            <a:ext cx="10734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Consider a current sheet in the </a:t>
            </a:r>
            <a:r>
              <a:rPr lang="en-IN" i="1" dirty="0" err="1"/>
              <a:t>xy</a:t>
            </a:r>
            <a:r>
              <a:rPr lang="en-IN" i="1" dirty="0"/>
              <a:t>-</a:t>
            </a:r>
            <a:r>
              <a:rPr lang="en-IN" dirty="0"/>
              <a:t>Plane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A892D8B6-79DA-42C5-AC89-10DED5F1635F}"/>
              </a:ext>
            </a:extLst>
          </p:cNvPr>
          <p:cNvSpPr/>
          <p:nvPr/>
        </p:nvSpPr>
        <p:spPr>
          <a:xfrm>
            <a:off x="5118651" y="1630017"/>
            <a:ext cx="6092687" cy="1331843"/>
          </a:xfrm>
          <a:custGeom>
            <a:avLst/>
            <a:gdLst>
              <a:gd name="connsiteX0" fmla="*/ 0 w 5327374"/>
              <a:gd name="connsiteY0" fmla="*/ 1331843 h 1331843"/>
              <a:gd name="connsiteX1" fmla="*/ 332961 w 5327374"/>
              <a:gd name="connsiteY1" fmla="*/ 0 h 1331843"/>
              <a:gd name="connsiteX2" fmla="*/ 5327374 w 5327374"/>
              <a:gd name="connsiteY2" fmla="*/ 0 h 1331843"/>
              <a:gd name="connsiteX3" fmla="*/ 4994413 w 5327374"/>
              <a:gd name="connsiteY3" fmla="*/ 1331843 h 1331843"/>
              <a:gd name="connsiteX4" fmla="*/ 0 w 5327374"/>
              <a:gd name="connsiteY4" fmla="*/ 1331843 h 1331843"/>
              <a:gd name="connsiteX0" fmla="*/ 0 w 6092687"/>
              <a:gd name="connsiteY0" fmla="*/ 1331843 h 1331843"/>
              <a:gd name="connsiteX1" fmla="*/ 1098274 w 6092687"/>
              <a:gd name="connsiteY1" fmla="*/ 0 h 1331843"/>
              <a:gd name="connsiteX2" fmla="*/ 6092687 w 6092687"/>
              <a:gd name="connsiteY2" fmla="*/ 0 h 1331843"/>
              <a:gd name="connsiteX3" fmla="*/ 5759726 w 6092687"/>
              <a:gd name="connsiteY3" fmla="*/ 1331843 h 1331843"/>
              <a:gd name="connsiteX4" fmla="*/ 0 w 6092687"/>
              <a:gd name="connsiteY4" fmla="*/ 1331843 h 1331843"/>
              <a:gd name="connsiteX0" fmla="*/ 0 w 6092687"/>
              <a:gd name="connsiteY0" fmla="*/ 1331843 h 1331843"/>
              <a:gd name="connsiteX1" fmla="*/ 1098274 w 6092687"/>
              <a:gd name="connsiteY1" fmla="*/ 0 h 1331843"/>
              <a:gd name="connsiteX2" fmla="*/ 6092687 w 6092687"/>
              <a:gd name="connsiteY2" fmla="*/ 0 h 1331843"/>
              <a:gd name="connsiteX3" fmla="*/ 4775752 w 6092687"/>
              <a:gd name="connsiteY3" fmla="*/ 1292086 h 1331843"/>
              <a:gd name="connsiteX4" fmla="*/ 0 w 6092687"/>
              <a:gd name="connsiteY4" fmla="*/ 1331843 h 1331843"/>
              <a:gd name="connsiteX0" fmla="*/ 0 w 6092687"/>
              <a:gd name="connsiteY0" fmla="*/ 1331843 h 1331843"/>
              <a:gd name="connsiteX1" fmla="*/ 1098274 w 6092687"/>
              <a:gd name="connsiteY1" fmla="*/ 0 h 1331843"/>
              <a:gd name="connsiteX2" fmla="*/ 6092687 w 6092687"/>
              <a:gd name="connsiteY2" fmla="*/ 0 h 1331843"/>
              <a:gd name="connsiteX3" fmla="*/ 5024230 w 6092687"/>
              <a:gd name="connsiteY3" fmla="*/ 1292086 h 1331843"/>
              <a:gd name="connsiteX4" fmla="*/ 0 w 6092687"/>
              <a:gd name="connsiteY4" fmla="*/ 1331843 h 1331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2687" h="1331843">
                <a:moveTo>
                  <a:pt x="0" y="1331843"/>
                </a:moveTo>
                <a:lnTo>
                  <a:pt x="1098274" y="0"/>
                </a:lnTo>
                <a:lnTo>
                  <a:pt x="6092687" y="0"/>
                </a:lnTo>
                <a:lnTo>
                  <a:pt x="5024230" y="1292086"/>
                </a:lnTo>
                <a:lnTo>
                  <a:pt x="0" y="1331843"/>
                </a:lnTo>
                <a:close/>
              </a:path>
            </a:pathLst>
          </a:custGeom>
          <a:solidFill>
            <a:schemeClr val="accent4">
              <a:lumMod val="7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9AAF01-49B7-481C-9D73-A2EC8A928733}"/>
              </a:ext>
            </a:extLst>
          </p:cNvPr>
          <p:cNvCxnSpPr/>
          <p:nvPr/>
        </p:nvCxnSpPr>
        <p:spPr>
          <a:xfrm>
            <a:off x="6549887" y="2365513"/>
            <a:ext cx="5068956" cy="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E1B081-9CE0-4DA0-93E4-363AF686CCA4}"/>
              </a:ext>
            </a:extLst>
          </p:cNvPr>
          <p:cNvCxnSpPr/>
          <p:nvPr/>
        </p:nvCxnSpPr>
        <p:spPr>
          <a:xfrm flipV="1">
            <a:off x="6539948" y="298174"/>
            <a:ext cx="0" cy="205740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7CEE1A-5239-4B6B-8163-0389F5A35938}"/>
              </a:ext>
            </a:extLst>
          </p:cNvPr>
          <p:cNvCxnSpPr/>
          <p:nvPr/>
        </p:nvCxnSpPr>
        <p:spPr>
          <a:xfrm flipH="1">
            <a:off x="5446643" y="2355574"/>
            <a:ext cx="1103244" cy="1470991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0E6D9B5-8061-4916-B11C-0F4964732027}"/>
              </a:ext>
            </a:extLst>
          </p:cNvPr>
          <p:cNvSpPr txBox="1"/>
          <p:nvPr/>
        </p:nvSpPr>
        <p:spPr>
          <a:xfrm>
            <a:off x="5247861" y="3707296"/>
            <a:ext cx="2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67EF5E-C950-4F33-A41C-F5CC281C687F}"/>
              </a:ext>
            </a:extLst>
          </p:cNvPr>
          <p:cNvSpPr txBox="1"/>
          <p:nvPr/>
        </p:nvSpPr>
        <p:spPr>
          <a:xfrm>
            <a:off x="11622157" y="2170043"/>
            <a:ext cx="2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B3D5BC-C9A7-427B-9C14-62CA0731DAB5}"/>
              </a:ext>
            </a:extLst>
          </p:cNvPr>
          <p:cNvSpPr txBox="1"/>
          <p:nvPr/>
        </p:nvSpPr>
        <p:spPr>
          <a:xfrm>
            <a:off x="6407426" y="0"/>
            <a:ext cx="2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z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FA6D17-35AB-42F2-9B6D-4C01780D7A8E}"/>
              </a:ext>
            </a:extLst>
          </p:cNvPr>
          <p:cNvCxnSpPr/>
          <p:nvPr/>
        </p:nvCxnSpPr>
        <p:spPr>
          <a:xfrm>
            <a:off x="7235687" y="1808922"/>
            <a:ext cx="3508513" cy="0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49E07B-C266-45E8-846B-724A1CDBEE97}"/>
              </a:ext>
            </a:extLst>
          </p:cNvPr>
          <p:cNvCxnSpPr/>
          <p:nvPr/>
        </p:nvCxnSpPr>
        <p:spPr>
          <a:xfrm>
            <a:off x="7020339" y="2060713"/>
            <a:ext cx="3508513" cy="0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AEFD47-BE5D-43C4-A670-A18A4F625A2D}"/>
              </a:ext>
            </a:extLst>
          </p:cNvPr>
          <p:cNvCxnSpPr/>
          <p:nvPr/>
        </p:nvCxnSpPr>
        <p:spPr>
          <a:xfrm>
            <a:off x="6804991" y="2282686"/>
            <a:ext cx="3508513" cy="0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8B8F70C-F407-47B5-AD36-94E2607BE88F}"/>
              </a:ext>
            </a:extLst>
          </p:cNvPr>
          <p:cNvCxnSpPr/>
          <p:nvPr/>
        </p:nvCxnSpPr>
        <p:spPr>
          <a:xfrm>
            <a:off x="6559827" y="2584173"/>
            <a:ext cx="3508513" cy="0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A63DCF-E982-4F6C-8EE7-C44336C81ED6}"/>
              </a:ext>
            </a:extLst>
          </p:cNvPr>
          <p:cNvCxnSpPr/>
          <p:nvPr/>
        </p:nvCxnSpPr>
        <p:spPr>
          <a:xfrm>
            <a:off x="6394174" y="2786269"/>
            <a:ext cx="3508513" cy="0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BF93BD1-84E4-4FE7-B5F1-E5AAA7F988F9}"/>
              </a:ext>
            </a:extLst>
          </p:cNvPr>
          <p:cNvSpPr txBox="1"/>
          <p:nvPr/>
        </p:nvSpPr>
        <p:spPr>
          <a:xfrm>
            <a:off x="10108095" y="1739348"/>
            <a:ext cx="38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K</a:t>
            </a: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44422F24-96E7-4B74-A309-E3CDCC3F91E1}"/>
              </a:ext>
            </a:extLst>
          </p:cNvPr>
          <p:cNvSpPr/>
          <p:nvPr/>
        </p:nvSpPr>
        <p:spPr>
          <a:xfrm>
            <a:off x="8564880" y="1117600"/>
            <a:ext cx="45719" cy="45719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796FCBC-98D8-4F51-94F2-DED8D23A946E}"/>
                  </a:ext>
                </a:extLst>
              </p:cNvPr>
              <p:cNvSpPr txBox="1"/>
              <p:nvPr/>
            </p:nvSpPr>
            <p:spPr>
              <a:xfrm>
                <a:off x="7951303" y="695739"/>
                <a:ext cx="15405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H </a:t>
                </a:r>
                <a:r>
                  <a:rPr lang="en-IN" dirty="0"/>
                  <a:t>= ½ </a:t>
                </a:r>
                <a:r>
                  <a:rPr lang="en-IN" b="1" dirty="0"/>
                  <a:t>K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796FCBC-98D8-4F51-94F2-DED8D23A9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303" y="695739"/>
                <a:ext cx="1540567" cy="369332"/>
              </a:xfrm>
              <a:prstGeom prst="rect">
                <a:avLst/>
              </a:prstGeom>
              <a:blipFill>
                <a:blip r:embed="rId2"/>
                <a:stretch>
                  <a:fillRect l="-316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384E3E5-5484-4E7B-93BC-CB8103FE03A7}"/>
              </a:ext>
            </a:extLst>
          </p:cNvPr>
          <p:cNvSpPr txBox="1"/>
          <p:nvPr/>
        </p:nvSpPr>
        <p:spPr>
          <a:xfrm>
            <a:off x="9690651" y="725557"/>
            <a:ext cx="17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</a:t>
            </a:r>
            <a:r>
              <a:rPr lang="en-IN" i="1" dirty="0"/>
              <a:t>z </a:t>
            </a:r>
            <a:r>
              <a:rPr lang="en-IN" dirty="0"/>
              <a:t>&gt; 0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B911900A-CA62-42F8-A405-6AAF900F4CA5}"/>
              </a:ext>
            </a:extLst>
          </p:cNvPr>
          <p:cNvSpPr/>
          <p:nvPr/>
        </p:nvSpPr>
        <p:spPr>
          <a:xfrm>
            <a:off x="8610954" y="3694223"/>
            <a:ext cx="45719" cy="45719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9E5FFD-B5C2-43C8-8EC4-B2E02EFAE7C6}"/>
                  </a:ext>
                </a:extLst>
              </p:cNvPr>
              <p:cNvSpPr txBox="1"/>
              <p:nvPr/>
            </p:nvSpPr>
            <p:spPr>
              <a:xfrm>
                <a:off x="7997377" y="3272362"/>
                <a:ext cx="17926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H </a:t>
                </a:r>
                <a:r>
                  <a:rPr lang="en-IN" dirty="0"/>
                  <a:t>= ½ </a:t>
                </a:r>
                <a:r>
                  <a:rPr lang="en-IN" b="1" dirty="0"/>
                  <a:t>K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(-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9E5FFD-B5C2-43C8-8EC4-B2E02EFAE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377" y="3272362"/>
                <a:ext cx="1792666" cy="369332"/>
              </a:xfrm>
              <a:prstGeom prst="rect">
                <a:avLst/>
              </a:prstGeom>
              <a:blipFill>
                <a:blip r:embed="rId3"/>
                <a:stretch>
                  <a:fillRect l="-3061" t="-10000" r="-68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3887C0CB-F6C4-4B13-B590-6A972C40FC96}"/>
              </a:ext>
            </a:extLst>
          </p:cNvPr>
          <p:cNvSpPr txBox="1"/>
          <p:nvPr/>
        </p:nvSpPr>
        <p:spPr>
          <a:xfrm>
            <a:off x="9814389" y="3283689"/>
            <a:ext cx="17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</a:t>
            </a:r>
            <a:r>
              <a:rPr lang="en-IN" i="1" dirty="0"/>
              <a:t>z </a:t>
            </a:r>
            <a:r>
              <a:rPr lang="en-IN" dirty="0"/>
              <a:t>&lt; 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E9E292-3807-4E80-A305-86C0775FDAD7}"/>
              </a:ext>
            </a:extLst>
          </p:cNvPr>
          <p:cNvSpPr txBox="1"/>
          <p:nvPr/>
        </p:nvSpPr>
        <p:spPr>
          <a:xfrm>
            <a:off x="795130" y="4293704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general the field at any point is given by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16C3E16-5714-4AAB-9A7F-66A9C49955B0}"/>
                  </a:ext>
                </a:extLst>
              </p:cNvPr>
              <p:cNvSpPr txBox="1"/>
              <p:nvPr/>
            </p:nvSpPr>
            <p:spPr>
              <a:xfrm>
                <a:off x="2733261" y="5029200"/>
                <a:ext cx="56851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rgbClr val="C00000"/>
                    </a:solidFill>
                  </a:rPr>
                  <a:t>H </a:t>
                </a:r>
                <a:r>
                  <a:rPr lang="en-IN" dirty="0">
                    <a:solidFill>
                      <a:srgbClr val="C00000"/>
                    </a:solidFill>
                  </a:rPr>
                  <a:t>= ½ </a:t>
                </a:r>
                <a:r>
                  <a:rPr lang="en-IN" b="1" dirty="0">
                    <a:solidFill>
                      <a:srgbClr val="C00000"/>
                    </a:solidFill>
                  </a:rPr>
                  <a:t>K 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IN" dirty="0"/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IN" dirty="0"/>
                  <a:t> = outward normal unit vector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16C3E16-5714-4AAB-9A7F-66A9C4995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261" y="5029200"/>
                <a:ext cx="5685182" cy="646331"/>
              </a:xfrm>
              <a:prstGeom prst="rect">
                <a:avLst/>
              </a:prstGeom>
              <a:blipFill>
                <a:blip r:embed="rId4"/>
                <a:stretch>
                  <a:fillRect l="-857" t="-47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407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8" presetClass="entr" presetSubtype="0" accel="5000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7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13" grpId="0"/>
      <p:bldP spid="14" grpId="0"/>
      <p:bldP spid="15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2DD42-1641-48C1-8595-2C2EDEAD2161}"/>
              </a:ext>
            </a:extLst>
          </p:cNvPr>
          <p:cNvSpPr txBox="1"/>
          <p:nvPr/>
        </p:nvSpPr>
        <p:spPr>
          <a:xfrm>
            <a:off x="396240" y="345440"/>
            <a:ext cx="7345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Curl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71F0F-9D84-44C4-BE06-201EA6B964D5}"/>
              </a:ext>
            </a:extLst>
          </p:cNvPr>
          <p:cNvSpPr txBox="1"/>
          <p:nvPr/>
        </p:nvSpPr>
        <p:spPr>
          <a:xfrm>
            <a:off x="294640" y="1046480"/>
            <a:ext cx="11551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Curl of a vector is a vector. Any component of curl is given by the Limit of coefficient of the closed line integral of vector about a small closed path, in a plane normal to that component required and the area enclosed as the closed path shrinks to zero. </a:t>
            </a: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1BAA3A03-08FE-4A3C-B3C7-5AAC50C3DFEB}"/>
              </a:ext>
            </a:extLst>
          </p:cNvPr>
          <p:cNvSpPr/>
          <p:nvPr/>
        </p:nvSpPr>
        <p:spPr>
          <a:xfrm>
            <a:off x="7513983" y="2623931"/>
            <a:ext cx="3568148" cy="546652"/>
          </a:xfrm>
          <a:prstGeom prst="flowChartInputOutpu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006B64-76CD-4BB0-9E8E-9B32CBA3C1A6}"/>
              </a:ext>
            </a:extLst>
          </p:cNvPr>
          <p:cNvCxnSpPr>
            <a:cxnSpLocks/>
          </p:cNvCxnSpPr>
          <p:nvPr/>
        </p:nvCxnSpPr>
        <p:spPr>
          <a:xfrm flipV="1">
            <a:off x="9238422" y="2077278"/>
            <a:ext cx="0" cy="785192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5D07AD84-4C8A-4599-ADDD-8B39C7BFEC37}"/>
              </a:ext>
            </a:extLst>
          </p:cNvPr>
          <p:cNvSpPr/>
          <p:nvPr/>
        </p:nvSpPr>
        <p:spPr>
          <a:xfrm>
            <a:off x="8736495" y="2753139"/>
            <a:ext cx="954157" cy="198783"/>
          </a:xfrm>
          <a:prstGeom prst="ellipse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solidFill>
              <a:schemeClr val="accent4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Arrow: Curved Right 54">
            <a:extLst>
              <a:ext uri="{FF2B5EF4-FFF2-40B4-BE49-F238E27FC236}">
                <a16:creationId xmlns:a16="http://schemas.microsoft.com/office/drawing/2014/main" id="{C584B100-0C60-4650-BA16-41177B082CB9}"/>
              </a:ext>
            </a:extLst>
          </p:cNvPr>
          <p:cNvSpPr/>
          <p:nvPr/>
        </p:nvSpPr>
        <p:spPr>
          <a:xfrm rot="10069626">
            <a:off x="9733703" y="2733114"/>
            <a:ext cx="103643" cy="222294"/>
          </a:xfrm>
          <a:prstGeom prst="curvedRightArrow">
            <a:avLst/>
          </a:prstGeom>
          <a:solidFill>
            <a:srgbClr val="C00000"/>
          </a:solidFill>
          <a:ln w="9525" cap="flat">
            <a:solidFill>
              <a:srgbClr val="00206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A4E5AA4-A45E-4CC1-B313-CABB4897E30A}"/>
                  </a:ext>
                </a:extLst>
              </p:cNvPr>
              <p:cNvSpPr txBox="1"/>
              <p:nvPr/>
            </p:nvSpPr>
            <p:spPr>
              <a:xfrm>
                <a:off x="8067040" y="1727200"/>
                <a:ext cx="2235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IN" dirty="0"/>
                            <m:t>(</m:t>
                          </m:r>
                          <m:r>
                            <m:rPr>
                              <m:nor/>
                            </m:rPr>
                            <a:rPr lang="en-IN" dirty="0"/>
                            <m:t>Curl</m:t>
                          </m:r>
                          <m:r>
                            <m:rPr>
                              <m:nor/>
                            </m:rPr>
                            <a:rPr lang="en-IN" dirty="0"/>
                            <m:t>)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A4E5AA4-A45E-4CC1-B313-CABB4897E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040" y="1727200"/>
                <a:ext cx="2235200" cy="369332"/>
              </a:xfrm>
              <a:prstGeom prst="rect">
                <a:avLst/>
              </a:prstGeom>
              <a:blipFill>
                <a:blip r:embed="rId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3B3D862-A581-4089-B83E-76DFCC0CA5DD}"/>
                  </a:ext>
                </a:extLst>
              </p:cNvPr>
              <p:cNvSpPr txBox="1"/>
              <p:nvPr/>
            </p:nvSpPr>
            <p:spPr>
              <a:xfrm>
                <a:off x="9652442" y="2557228"/>
                <a:ext cx="1341782" cy="657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1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  <m:r>
                            <a:rPr lang="en-IN" sz="1400" b="1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𝒅𝒍</m:t>
                          </m:r>
                        </m:e>
                      </m:nary>
                    </m:oMath>
                  </m:oMathPara>
                </a14:m>
                <a:endParaRPr lang="en-IN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3B3D862-A581-4089-B83E-76DFCC0CA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442" y="2557228"/>
                <a:ext cx="1341782" cy="6574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784B3DC1-E6B4-40BC-84B1-9DD8F32FFCE5}"/>
              </a:ext>
            </a:extLst>
          </p:cNvPr>
          <p:cNvSpPr txBox="1"/>
          <p:nvPr/>
        </p:nvSpPr>
        <p:spPr>
          <a:xfrm>
            <a:off x="447040" y="2438400"/>
            <a:ext cx="577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 calculate the component of Curl </a:t>
            </a:r>
            <a:r>
              <a:rPr lang="en-IN" b="1" dirty="0"/>
              <a:t>H</a:t>
            </a:r>
            <a:r>
              <a:rPr lang="en-IN" dirty="0"/>
              <a:t>, along the direction </a:t>
            </a:r>
            <a:r>
              <a:rPr lang="en-IN" i="1" dirty="0"/>
              <a:t>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E112E9-F955-4DF1-9659-936FB5AA8468}"/>
              </a:ext>
            </a:extLst>
          </p:cNvPr>
          <p:cNvSpPr txBox="1"/>
          <p:nvPr/>
        </p:nvSpPr>
        <p:spPr>
          <a:xfrm>
            <a:off x="477520" y="3027680"/>
            <a:ext cx="711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Consider the small area in a plane normal to the component direction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15C2C1-0224-4E4E-88E4-534A48C76C2B}"/>
                  </a:ext>
                </a:extLst>
              </p:cNvPr>
              <p:cNvSpPr txBox="1"/>
              <p:nvPr/>
            </p:nvSpPr>
            <p:spPr>
              <a:xfrm>
                <a:off x="447040" y="3667760"/>
                <a:ext cx="7934960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Then find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sz="18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sz="1800" b="1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1800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about the perimeter of the area as shown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15C2C1-0224-4E4E-88E4-534A48C76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40" y="3667760"/>
                <a:ext cx="7934960" cy="412164"/>
              </a:xfrm>
              <a:prstGeom prst="rect">
                <a:avLst/>
              </a:prstGeom>
              <a:blipFill>
                <a:blip r:embed="rId4"/>
                <a:stretch>
                  <a:fillRect l="-614" t="-134328" b="-195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4C9912C-00B5-442F-B934-21F2BACD26DD}"/>
                  </a:ext>
                </a:extLst>
              </p:cNvPr>
              <p:cNvSpPr txBox="1"/>
              <p:nvPr/>
            </p:nvSpPr>
            <p:spPr>
              <a:xfrm>
                <a:off x="609600" y="4277360"/>
                <a:ext cx="67665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Next find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∮"/>
                            <m:limLoc m:val="undOvr"/>
                            <m:subHide m:val="on"/>
                            <m:sup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IN" b="1">
                                <a:latin typeface="Cambria Math" panose="02040503050406030204" pitchFamily="18" charset="0"/>
                              </a:rPr>
                              <m:t>𝐇</m:t>
                            </m:r>
                            <m:r>
                              <a:rPr lang="en-IN" b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𝒅𝒍</m:t>
                            </m:r>
                          </m:e>
                        </m:nary>
                      </m:num>
                      <m:den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4C9912C-00B5-442F-B934-21F2BACD2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277360"/>
                <a:ext cx="6766560" cy="584775"/>
              </a:xfrm>
              <a:prstGeom prst="rect">
                <a:avLst/>
              </a:prstGeom>
              <a:blipFill>
                <a:blip r:embed="rId5"/>
                <a:stretch>
                  <a:fillRect l="-7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82C44ED-ED26-4DA6-BFE2-9E0479EF2BF6}"/>
                  </a:ext>
                </a:extLst>
              </p:cNvPr>
              <p:cNvSpPr txBox="1"/>
              <p:nvPr/>
            </p:nvSpPr>
            <p:spPr>
              <a:xfrm>
                <a:off x="8796130" y="2693505"/>
                <a:ext cx="47707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I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82C44ED-ED26-4DA6-BFE2-9E0479EF2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6130" y="2693505"/>
                <a:ext cx="47707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B2554D49-8189-42C3-8451-DD652433D76B}"/>
              </a:ext>
            </a:extLst>
          </p:cNvPr>
          <p:cNvSpPr txBox="1"/>
          <p:nvPr/>
        </p:nvSpPr>
        <p:spPr>
          <a:xfrm>
            <a:off x="579120" y="4927600"/>
            <a:ext cx="843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Now the component of the curl along the direction </a:t>
            </a:r>
            <a:r>
              <a:rPr lang="en-IN" i="1" dirty="0"/>
              <a:t>N </a:t>
            </a:r>
            <a:r>
              <a:rPr lang="en-IN" dirty="0"/>
              <a:t>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E1B1A9E-8F93-4B7A-8528-91E91FC65DCC}"/>
                  </a:ext>
                </a:extLst>
              </p:cNvPr>
              <p:cNvSpPr txBox="1"/>
              <p:nvPr/>
            </p:nvSpPr>
            <p:spPr>
              <a:xfrm>
                <a:off x="3637280" y="5709920"/>
                <a:ext cx="6410960" cy="597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𝐶𝑢𝑟𝑙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sSub>
                              <m:sSub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∮"/>
                                <m:limLoc m:val="undOvr"/>
                                <m:subHide m:val="on"/>
                                <m:supHide m:val="on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IN" b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  <m:r>
                                  <a:rPr lang="en-IN" b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𝒅𝒍</m:t>
                                </m:r>
                              </m:e>
                            </m:nary>
                          </m:num>
                          <m:den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E1B1A9E-8F93-4B7A-8528-91E91FC65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280" y="5709920"/>
                <a:ext cx="6410960" cy="5973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791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1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xit" presetSubtype="32" repeatCount="3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46" grpId="0" animBg="1"/>
      <p:bldP spid="46" grpId="1" animBg="1"/>
      <p:bldP spid="46" grpId="2" animBg="1"/>
      <p:bldP spid="55" grpId="0" animBg="1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Data 1">
            <a:extLst>
              <a:ext uri="{FF2B5EF4-FFF2-40B4-BE49-F238E27FC236}">
                <a16:creationId xmlns:a16="http://schemas.microsoft.com/office/drawing/2014/main" id="{6A2AC838-6300-418A-8766-8414BF98B5B7}"/>
              </a:ext>
            </a:extLst>
          </p:cNvPr>
          <p:cNvSpPr/>
          <p:nvPr/>
        </p:nvSpPr>
        <p:spPr>
          <a:xfrm>
            <a:off x="7513983" y="1542260"/>
            <a:ext cx="3568148" cy="546652"/>
          </a:xfrm>
          <a:prstGeom prst="flowChartInputOutpu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8F9759F-6F08-45DC-8A50-A58CFFFE2C99}"/>
              </a:ext>
            </a:extLst>
          </p:cNvPr>
          <p:cNvCxnSpPr>
            <a:cxnSpLocks/>
          </p:cNvCxnSpPr>
          <p:nvPr/>
        </p:nvCxnSpPr>
        <p:spPr>
          <a:xfrm flipV="1">
            <a:off x="9238422" y="995607"/>
            <a:ext cx="0" cy="785192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6D1B0F83-8583-44D9-B8C7-61DDF1672D22}"/>
              </a:ext>
            </a:extLst>
          </p:cNvPr>
          <p:cNvSpPr/>
          <p:nvPr/>
        </p:nvSpPr>
        <p:spPr>
          <a:xfrm>
            <a:off x="8736495" y="1671468"/>
            <a:ext cx="954157" cy="198783"/>
          </a:xfrm>
          <a:prstGeom prst="ellipse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solidFill>
              <a:schemeClr val="accent4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B4EC6722-D700-48B6-A314-860617FAC7EA}"/>
              </a:ext>
            </a:extLst>
          </p:cNvPr>
          <p:cNvSpPr/>
          <p:nvPr/>
        </p:nvSpPr>
        <p:spPr>
          <a:xfrm rot="10069626">
            <a:off x="9733703" y="1651443"/>
            <a:ext cx="103643" cy="222294"/>
          </a:xfrm>
          <a:prstGeom prst="curvedRightArrow">
            <a:avLst/>
          </a:prstGeom>
          <a:solidFill>
            <a:srgbClr val="C00000"/>
          </a:solidFill>
          <a:ln w="9525" cap="flat">
            <a:solidFill>
              <a:srgbClr val="00206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8ED00E-2EBE-4AFB-AEEA-2CEF5D4BD68F}"/>
                  </a:ext>
                </a:extLst>
              </p:cNvPr>
              <p:cNvSpPr txBox="1"/>
              <p:nvPr/>
            </p:nvSpPr>
            <p:spPr>
              <a:xfrm>
                <a:off x="8067040" y="645529"/>
                <a:ext cx="2235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IN" dirty="0"/>
                            <m:t>(</m:t>
                          </m:r>
                          <m:r>
                            <m:rPr>
                              <m:nor/>
                            </m:rPr>
                            <a:rPr lang="en-IN" dirty="0"/>
                            <m:t>Curl</m:t>
                          </m:r>
                          <m:r>
                            <m:rPr>
                              <m:nor/>
                            </m:rPr>
                            <a:rPr lang="en-IN" dirty="0"/>
                            <m:t>)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8ED00E-2EBE-4AFB-AEEA-2CEF5D4BD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040" y="645529"/>
                <a:ext cx="2235200" cy="369332"/>
              </a:xfrm>
              <a:prstGeom prst="rect">
                <a:avLst/>
              </a:prstGeom>
              <a:blipFill>
                <a:blip r:embed="rId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F82896-243C-4B18-80A8-18082CEE2591}"/>
                  </a:ext>
                </a:extLst>
              </p:cNvPr>
              <p:cNvSpPr txBox="1"/>
              <p:nvPr/>
            </p:nvSpPr>
            <p:spPr>
              <a:xfrm>
                <a:off x="9652442" y="1475557"/>
                <a:ext cx="1341782" cy="657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1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  <m:r>
                            <a:rPr lang="en-IN" sz="1400" b="1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𝒅𝒍</m:t>
                          </m:r>
                        </m:e>
                      </m:nary>
                    </m:oMath>
                  </m:oMathPara>
                </a14:m>
                <a:endParaRPr lang="en-IN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F82896-243C-4B18-80A8-18082CEE2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442" y="1475557"/>
                <a:ext cx="1341782" cy="6574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9DF35E-434A-47A9-81F7-ED13C85CB27C}"/>
                  </a:ext>
                </a:extLst>
              </p:cNvPr>
              <p:cNvSpPr txBox="1"/>
              <p:nvPr/>
            </p:nvSpPr>
            <p:spPr>
              <a:xfrm>
                <a:off x="8796130" y="1611834"/>
                <a:ext cx="47707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I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9DF35E-434A-47A9-81F7-ED13C85CB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6130" y="1611834"/>
                <a:ext cx="47707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0EDDB7-33F7-4BD9-9799-31AB3E19DBCD}"/>
                  </a:ext>
                </a:extLst>
              </p:cNvPr>
              <p:cNvSpPr txBox="1"/>
              <p:nvPr/>
            </p:nvSpPr>
            <p:spPr>
              <a:xfrm>
                <a:off x="301084" y="524107"/>
                <a:ext cx="1059366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sz="18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sz="1800" b="1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1800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-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0EDDB7-33F7-4BD9-9799-31AB3E19D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84" y="524107"/>
                <a:ext cx="1059366" cy="412164"/>
              </a:xfrm>
              <a:prstGeom prst="rect">
                <a:avLst/>
              </a:prstGeom>
              <a:blipFill>
                <a:blip r:embed="rId5"/>
                <a:stretch>
                  <a:fillRect l="-38506" t="-132353" r="-2299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9854B3-660A-4C4A-8810-C00883A444C0}"/>
                  </a:ext>
                </a:extLst>
              </p:cNvPr>
              <p:cNvSpPr txBox="1"/>
              <p:nvPr/>
            </p:nvSpPr>
            <p:spPr>
              <a:xfrm>
                <a:off x="1293542" y="557561"/>
                <a:ext cx="53302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Circulation over the perimeter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9854B3-660A-4C4A-8810-C00883A44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542" y="557561"/>
                <a:ext cx="5330282" cy="369332"/>
              </a:xfrm>
              <a:prstGeom prst="rect">
                <a:avLst/>
              </a:prstGeom>
              <a:blipFill>
                <a:blip r:embed="rId6"/>
                <a:stretch>
                  <a:fillRect l="-91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F9E0AC8-9B0B-4B6C-A899-483954128EF3}"/>
              </a:ext>
            </a:extLst>
          </p:cNvPr>
          <p:cNvSpPr txBox="1"/>
          <p:nvPr/>
        </p:nvSpPr>
        <p:spPr>
          <a:xfrm>
            <a:off x="2899317" y="903249"/>
            <a:ext cx="41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AAC7D4-BF47-4D54-A3A4-522072925D9D}"/>
                  </a:ext>
                </a:extLst>
              </p:cNvPr>
              <p:cNvSpPr txBox="1"/>
              <p:nvPr/>
            </p:nvSpPr>
            <p:spPr>
              <a:xfrm>
                <a:off x="1360449" y="1248937"/>
                <a:ext cx="54529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Circulation per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/>
                  <a:t> units of area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AAC7D4-BF47-4D54-A3A4-522072925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449" y="1248937"/>
                <a:ext cx="5452947" cy="369332"/>
              </a:xfrm>
              <a:prstGeom prst="rect">
                <a:avLst/>
              </a:prstGeom>
              <a:blipFill>
                <a:blip r:embed="rId7"/>
                <a:stretch>
                  <a:fillRect l="-894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AF02B0-7810-4019-BB40-24E1E382DD9B}"/>
                  </a:ext>
                </a:extLst>
              </p:cNvPr>
              <p:cNvSpPr txBox="1"/>
              <p:nvPr/>
            </p:nvSpPr>
            <p:spPr>
              <a:xfrm>
                <a:off x="256479" y="1918010"/>
                <a:ext cx="858644" cy="573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∮"/>
                            <m:limLoc m:val="undOvr"/>
                            <m:subHide m:val="on"/>
                            <m:sup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IN" b="1">
                                <a:latin typeface="Cambria Math" panose="02040503050406030204" pitchFamily="18" charset="0"/>
                              </a:rPr>
                              <m:t>𝐇</m:t>
                            </m:r>
                            <m:r>
                              <a:rPr lang="en-IN" b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𝒅𝒍</m:t>
                            </m:r>
                          </m:e>
                        </m:nary>
                      </m:num>
                      <m:den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-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AF02B0-7810-4019-BB40-24E1E382D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79" y="1918010"/>
                <a:ext cx="858644" cy="573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A936B67-8970-4C1E-94A5-752464EF8C4D}"/>
              </a:ext>
            </a:extLst>
          </p:cNvPr>
          <p:cNvSpPr txBox="1"/>
          <p:nvPr/>
        </p:nvSpPr>
        <p:spPr>
          <a:xfrm>
            <a:off x="1471960" y="1918009"/>
            <a:ext cx="4393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Circulation per Unit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A7A024-7AF3-4EB7-85B2-CF508FDB4D33}"/>
                  </a:ext>
                </a:extLst>
              </p:cNvPr>
              <p:cNvSpPr txBox="1"/>
              <p:nvPr/>
            </p:nvSpPr>
            <p:spPr>
              <a:xfrm>
                <a:off x="239751" y="2790216"/>
                <a:ext cx="6166624" cy="5973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𝐶𝑢𝑟𝑙</m:t>
                        </m:r>
                        <m:r>
                          <a:rPr lang="en-IN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sSub>
                              <m:sSubPr>
                                <m:ctrlPr>
                                  <a:rPr lang="pt-BR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I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pt-BR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∮"/>
                                <m:limLoc m:val="undOvr"/>
                                <m:subHide m:val="on"/>
                                <m:supHide m:val="on"/>
                                <m:ctrlPr>
                                  <a:rPr lang="en-I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IN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  <m:r>
                                  <a:rPr lang="en-IN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𝒅𝒍</m:t>
                                </m:r>
                              </m:e>
                            </m:nary>
                          </m:num>
                          <m:den>
                            <m:sSub>
                              <m:sSubPr>
                                <m:ctrlPr>
                                  <a:rPr lang="en-I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I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 : Circulation per Unit Area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A7A024-7AF3-4EB7-85B2-CF508FDB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51" y="2790216"/>
                <a:ext cx="6166624" cy="5973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8D54D68D-964F-4BE0-9632-F7F9331CF484}"/>
              </a:ext>
            </a:extLst>
          </p:cNvPr>
          <p:cNvSpPr txBox="1"/>
          <p:nvPr/>
        </p:nvSpPr>
        <p:spPr>
          <a:xfrm>
            <a:off x="356839" y="3635298"/>
            <a:ext cx="9500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 can be shown that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ABAC8C-2AF1-4B95-85E5-640777977A69}"/>
                  </a:ext>
                </a:extLst>
              </p:cNvPr>
              <p:cNvSpPr txBox="1"/>
              <p:nvPr/>
            </p:nvSpPr>
            <p:spPr>
              <a:xfrm>
                <a:off x="557561" y="4282068"/>
                <a:ext cx="2698595" cy="597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𝐶𝑢𝑟𝑙</m:t>
                        </m:r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sSub>
                              <m:sSub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I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∮"/>
                                <m:limLoc m:val="undOvr"/>
                                <m:subHide m:val="on"/>
                                <m:supHide m:val="on"/>
                                <m:ctrlPr>
                                  <a:rPr lang="en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IN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  <m:r>
                                  <a:rPr lang="en-IN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𝒅𝒍</m:t>
                                </m:r>
                              </m:e>
                            </m:nary>
                          </m:num>
                          <m:den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func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 =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ABAC8C-2AF1-4B95-85E5-640777977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61" y="4282068"/>
                <a:ext cx="2698595" cy="597343"/>
              </a:xfrm>
              <a:prstGeom prst="rect">
                <a:avLst/>
              </a:prstGeom>
              <a:blipFill>
                <a:blip r:embed="rId10"/>
                <a:stretch>
                  <a:fillRect r="-27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9E79761-AFF0-48F1-952E-9EFCE91BAA3A}"/>
                  </a:ext>
                </a:extLst>
              </p:cNvPr>
              <p:cNvSpPr txBox="1"/>
              <p:nvPr/>
            </p:nvSpPr>
            <p:spPr>
              <a:xfrm>
                <a:off x="3222703" y="4282068"/>
                <a:ext cx="1059366" cy="547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9E79761-AFF0-48F1-952E-9EFCE91BA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703" y="4282068"/>
                <a:ext cx="1059366" cy="5472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CA6157-EA7A-4FC8-9C28-278F53E8FB81}"/>
                  </a:ext>
                </a:extLst>
              </p:cNvPr>
              <p:cNvSpPr txBox="1"/>
              <p:nvPr/>
            </p:nvSpPr>
            <p:spPr>
              <a:xfrm>
                <a:off x="4404731" y="4348975"/>
                <a:ext cx="39029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IN" i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CA6157-EA7A-4FC8-9C28-278F53E8F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731" y="4348975"/>
                <a:ext cx="3902927" cy="369332"/>
              </a:xfrm>
              <a:prstGeom prst="rect">
                <a:avLst/>
              </a:prstGeom>
              <a:blipFill>
                <a:blip r:embed="rId12"/>
                <a:stretch>
                  <a:fillRect l="-1406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2EDD30-A050-4330-B444-E0EF32BCE620}"/>
                  </a:ext>
                </a:extLst>
              </p:cNvPr>
              <p:cNvSpPr txBox="1"/>
              <p:nvPr/>
            </p:nvSpPr>
            <p:spPr>
              <a:xfrm>
                <a:off x="535259" y="5029200"/>
                <a:ext cx="7159082" cy="6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𝐶𝑢𝑟𝑙</m:t>
                        </m:r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sSub>
                              <m:sSub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I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∮"/>
                                <m:limLoc m:val="undOvr"/>
                                <m:subHide m:val="on"/>
                                <m:supHide m:val="on"/>
                                <m:ctrlPr>
                                  <a:rPr lang="en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IN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  <m:r>
                                  <a:rPr lang="en-IN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𝒅𝒍</m:t>
                                </m:r>
                              </m:e>
                            </m:nary>
                          </m:num>
                          <m:den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func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/>
                  <a:t>  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2EDD30-A050-4330-B444-E0EF32BCE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59" y="5029200"/>
                <a:ext cx="7159082" cy="62658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898E844-2935-45D9-A28E-7AD60E6FE523}"/>
                  </a:ext>
                </a:extLst>
              </p:cNvPr>
              <p:cNvSpPr txBox="1"/>
              <p:nvPr/>
            </p:nvSpPr>
            <p:spPr>
              <a:xfrm>
                <a:off x="579864" y="5842182"/>
                <a:ext cx="6177774" cy="5973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𝐶𝑢𝑟𝑙</m:t>
                        </m:r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sSub>
                              <m:sSub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I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∮"/>
                                <m:limLoc m:val="undOvr"/>
                                <m:subHide m:val="on"/>
                                <m:supHide m:val="on"/>
                                <m:ctrlPr>
                                  <a:rPr lang="en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IN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  <m:r>
                                  <a:rPr lang="en-IN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𝒅𝒍</m:t>
                                </m:r>
                              </m:e>
                            </m:nary>
                          </m:num>
                          <m:den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func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/>
                  <a:t>  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898E844-2935-45D9-A28E-7AD60E6FE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64" y="5842182"/>
                <a:ext cx="6177774" cy="5973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259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/>
      <p:bldP spid="7" grpId="0"/>
      <p:bldP spid="8" grpId="0"/>
      <p:bldP spid="9" grpId="0"/>
      <p:bldP spid="11" grpId="0"/>
      <p:bldP spid="12" grpId="0"/>
      <p:bldP spid="13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0C47FF-647D-4C6B-AD8C-B8F1B7A22624}"/>
                  </a:ext>
                </a:extLst>
              </p:cNvPr>
              <p:cNvSpPr txBox="1"/>
              <p:nvPr/>
            </p:nvSpPr>
            <p:spPr>
              <a:xfrm>
                <a:off x="111512" y="512285"/>
                <a:ext cx="1179241" cy="3686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𝐶𝑢𝑟𝑙</m:t>
                    </m:r>
                    <m:r>
                      <a:rPr lang="en-IN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𝐇</m:t>
                    </m:r>
                  </m:oMath>
                </a14:m>
                <a:r>
                  <a:rPr lang="en-IN" dirty="0"/>
                  <a:t> =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0C47FF-647D-4C6B-AD8C-B8F1B7A22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12" y="512285"/>
                <a:ext cx="1179241" cy="36866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7DB293-8FC6-433A-9E06-FD354FE754F4}"/>
                  </a:ext>
                </a:extLst>
              </p:cNvPr>
              <p:cNvSpPr txBox="1"/>
              <p:nvPr/>
            </p:nvSpPr>
            <p:spPr>
              <a:xfrm>
                <a:off x="1260088" y="501805"/>
                <a:ext cx="15277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𝐶𝑢𝑟𝑙</m:t>
                        </m:r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7DB293-8FC6-433A-9E06-FD354FE75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88" y="501805"/>
                <a:ext cx="1527717" cy="369332"/>
              </a:xfrm>
              <a:prstGeom prst="rect">
                <a:avLst/>
              </a:prstGeom>
              <a:blipFill>
                <a:blip r:embed="rId3"/>
                <a:stretch>
                  <a:fillRect l="-1200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DBA2A2-009B-4E13-98B4-A8F8B7C3600E}"/>
                  </a:ext>
                </a:extLst>
              </p:cNvPr>
              <p:cNvSpPr txBox="1"/>
              <p:nvPr/>
            </p:nvSpPr>
            <p:spPr>
              <a:xfrm>
                <a:off x="2717181" y="542693"/>
                <a:ext cx="1799063" cy="394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chemeClr val="tx1"/>
                    </a:solidFill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𝐶𝑢𝑟𝑙</m:t>
                        </m:r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DBA2A2-009B-4E13-98B4-A8F8B7C36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181" y="542693"/>
                <a:ext cx="1799063" cy="394788"/>
              </a:xfrm>
              <a:prstGeom prst="rect">
                <a:avLst/>
              </a:prstGeom>
              <a:blipFill>
                <a:blip r:embed="rId4"/>
                <a:stretch>
                  <a:fillRect t="-7692" b="-16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CC47E7-47C2-462F-BAFD-098C2284DDAE}"/>
                  </a:ext>
                </a:extLst>
              </p:cNvPr>
              <p:cNvSpPr txBox="1"/>
              <p:nvPr/>
            </p:nvSpPr>
            <p:spPr>
              <a:xfrm>
                <a:off x="4508811" y="572429"/>
                <a:ext cx="17990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chemeClr val="tx1"/>
                    </a:solidFill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𝐶𝑢𝑟𝑙</m:t>
                        </m:r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CC47E7-47C2-462F-BAFD-098C2284D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811" y="572429"/>
                <a:ext cx="1799063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6A07C8-4AB3-4B99-B7A6-59A3E0DA2E1E}"/>
                  </a:ext>
                </a:extLst>
              </p:cNvPr>
              <p:cNvSpPr txBox="1"/>
              <p:nvPr/>
            </p:nvSpPr>
            <p:spPr>
              <a:xfrm>
                <a:off x="911611" y="1223423"/>
                <a:ext cx="2010009" cy="53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6A07C8-4AB3-4B99-B7A6-59A3E0DA2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611" y="1223423"/>
                <a:ext cx="2010009" cy="530530"/>
              </a:xfrm>
              <a:prstGeom prst="rect">
                <a:avLst/>
              </a:prstGeom>
              <a:blipFill>
                <a:blip r:embed="rId6"/>
                <a:stretch>
                  <a:fillRect l="-2736" b="-22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D4DB05-874E-4313-94BF-5F36E87F3A39}"/>
                  </a:ext>
                </a:extLst>
              </p:cNvPr>
              <p:cNvSpPr txBox="1"/>
              <p:nvPr/>
            </p:nvSpPr>
            <p:spPr>
              <a:xfrm>
                <a:off x="2824046" y="1261211"/>
                <a:ext cx="1747954" cy="499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+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D4DB05-874E-4313-94BF-5F36E87F3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046" y="1261211"/>
                <a:ext cx="1747954" cy="499560"/>
              </a:xfrm>
              <a:prstGeom prst="rect">
                <a:avLst/>
              </a:prstGeom>
              <a:blipFill>
                <a:blip r:embed="rId7"/>
                <a:stretch>
                  <a:fillRect l="-2787" b="-60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82F19C-8D8B-452B-AA71-6184B62B3286}"/>
                  </a:ext>
                </a:extLst>
              </p:cNvPr>
              <p:cNvSpPr txBox="1"/>
              <p:nvPr/>
            </p:nvSpPr>
            <p:spPr>
              <a:xfrm>
                <a:off x="4820116" y="1301481"/>
                <a:ext cx="1803708" cy="53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/>
                  <a:t> 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82F19C-8D8B-452B-AA71-6184B62B3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116" y="1301481"/>
                <a:ext cx="1803708" cy="530530"/>
              </a:xfrm>
              <a:prstGeom prst="rect">
                <a:avLst/>
              </a:prstGeom>
              <a:blipFill>
                <a:blip r:embed="rId8"/>
                <a:stretch>
                  <a:fillRect l="-3041" b="-2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538E49-CBBA-480C-AACB-81E04DA7D5EA}"/>
                  </a:ext>
                </a:extLst>
              </p:cNvPr>
              <p:cNvSpPr txBox="1"/>
              <p:nvPr/>
            </p:nvSpPr>
            <p:spPr>
              <a:xfrm>
                <a:off x="6668429" y="1371600"/>
                <a:ext cx="10147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538E49-CBBA-480C-AACB-81E04DA7D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429" y="1371600"/>
                <a:ext cx="1014761" cy="369332"/>
              </a:xfrm>
              <a:prstGeom prst="rect">
                <a:avLst/>
              </a:prstGeom>
              <a:blipFill>
                <a:blip r:embed="rId9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45BC50-34FA-4FA0-BA3A-A93020ABEC55}"/>
                  </a:ext>
                </a:extLst>
              </p:cNvPr>
              <p:cNvSpPr txBox="1"/>
              <p:nvPr/>
            </p:nvSpPr>
            <p:spPr>
              <a:xfrm>
                <a:off x="7563315" y="1415721"/>
                <a:ext cx="933914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45BC50-34FA-4FA0-BA3A-A93020ABE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315" y="1415721"/>
                <a:ext cx="933914" cy="391261"/>
              </a:xfrm>
              <a:prstGeom prst="rect">
                <a:avLst/>
              </a:prstGeom>
              <a:blipFill>
                <a:blip r:embed="rId10"/>
                <a:stretch>
                  <a:fillRect l="-5882" t="-7813" b="-18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6737B1-6849-4206-A057-E44673CE454E}"/>
                  </a:ext>
                </a:extLst>
              </p:cNvPr>
              <p:cNvSpPr txBox="1"/>
              <p:nvPr/>
            </p:nvSpPr>
            <p:spPr>
              <a:xfrm>
                <a:off x="8440544" y="1445457"/>
                <a:ext cx="9339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6737B1-6849-4206-A057-E44673CE4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544" y="1445457"/>
                <a:ext cx="933914" cy="369332"/>
              </a:xfrm>
              <a:prstGeom prst="rect">
                <a:avLst/>
              </a:prstGeom>
              <a:blipFill>
                <a:blip r:embed="rId11"/>
                <a:stretch>
                  <a:fillRect l="-588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971B8A-93F8-4706-8A9B-C7FF32B188FF}"/>
                  </a:ext>
                </a:extLst>
              </p:cNvPr>
              <p:cNvSpPr txBox="1"/>
              <p:nvPr/>
            </p:nvSpPr>
            <p:spPr>
              <a:xfrm>
                <a:off x="657921" y="2609387"/>
                <a:ext cx="3501484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IN" dirty="0"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/>
                  <a:t> =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IN" dirty="0"/>
                  <a:t> )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971B8A-93F8-4706-8A9B-C7FF32B18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21" y="2609387"/>
                <a:ext cx="3501484" cy="530530"/>
              </a:xfrm>
              <a:prstGeom prst="rect">
                <a:avLst/>
              </a:prstGeom>
              <a:blipFill>
                <a:blip r:embed="rId12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3F7C30EA-223A-4805-9199-326004E5287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93" y="3628665"/>
            <a:ext cx="6236749" cy="17009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FB7726E-9DFE-4B42-862E-602292D996FF}"/>
                  </a:ext>
                </a:extLst>
              </p:cNvPr>
              <p:cNvSpPr txBox="1"/>
              <p:nvPr/>
            </p:nvSpPr>
            <p:spPr>
              <a:xfrm>
                <a:off x="3858322" y="3668750"/>
                <a:ext cx="5558947" cy="580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latin typeface="+mj-lt"/>
                  </a:rPr>
                  <a:t>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IN" sz="20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sz="2000" dirty="0">
                    <a:latin typeface="+mj-lt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sz="2000" dirty="0">
                    <a:latin typeface="+mj-lt"/>
                  </a:rPr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20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sz="2000" dirty="0">
                    <a:latin typeface="+mj-lt"/>
                  </a:rPr>
                  <a:t> +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sz="2000" dirty="0">
                    <a:latin typeface="+mj-lt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sz="2000" dirty="0">
                    <a:latin typeface="+mj-lt"/>
                  </a:rPr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20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IN" sz="2000" dirty="0">
                    <a:latin typeface="+mj-lt"/>
                  </a:rPr>
                  <a:t>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sz="2000" dirty="0">
                    <a:latin typeface="+mj-lt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sz="2000" dirty="0">
                    <a:latin typeface="+mj-lt"/>
                  </a:rPr>
                  <a:t> 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2000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endParaRPr lang="en-IN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FB7726E-9DFE-4B42-862E-602292D99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322" y="3668750"/>
                <a:ext cx="5558947" cy="580480"/>
              </a:xfrm>
              <a:prstGeom prst="rect">
                <a:avLst/>
              </a:prstGeom>
              <a:blipFill>
                <a:blip r:embed="rId14"/>
                <a:stretch>
                  <a:fillRect l="-1206" b="-10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1D183C22-1BB4-43D3-A11C-2ECF4F05607C}"/>
              </a:ext>
            </a:extLst>
          </p:cNvPr>
          <p:cNvSpPr txBox="1"/>
          <p:nvPr/>
        </p:nvSpPr>
        <p:spPr>
          <a:xfrm>
            <a:off x="9344722" y="1471961"/>
            <a:ext cx="175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 </a:t>
            </a:r>
            <a:r>
              <a:rPr lang="en-IN" b="1" dirty="0"/>
              <a:t>J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5A1AC7-7036-4BBD-95BA-D6EE297CFE97}"/>
              </a:ext>
            </a:extLst>
          </p:cNvPr>
          <p:cNvSpPr txBox="1"/>
          <p:nvPr/>
        </p:nvSpPr>
        <p:spPr>
          <a:xfrm>
            <a:off x="568712" y="5586761"/>
            <a:ext cx="4962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ECC580-A1B1-47DC-A322-BB84150E409D}"/>
                  </a:ext>
                </a:extLst>
              </p:cNvPr>
              <p:cNvSpPr txBox="1"/>
              <p:nvPr/>
            </p:nvSpPr>
            <p:spPr>
              <a:xfrm>
                <a:off x="1759105" y="5987534"/>
                <a:ext cx="1073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𝐶𝑢𝑟𝑙</m:t>
                    </m:r>
                    <m:r>
                      <a:rPr lang="en-IN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𝐇</m:t>
                    </m:r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ECC580-A1B1-47DC-A322-BB84150E4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105" y="5987534"/>
                <a:ext cx="10733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8BC11EE-5AF2-408B-8BAD-CA301096CEC1}"/>
                  </a:ext>
                </a:extLst>
              </p:cNvPr>
              <p:cNvSpPr txBox="1"/>
              <p:nvPr/>
            </p:nvSpPr>
            <p:spPr>
              <a:xfrm>
                <a:off x="2759925" y="6038385"/>
                <a:ext cx="9008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N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=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 </a:t>
                </a:r>
                <a:r>
                  <a:rPr lang="en-IN" b="1" dirty="0">
                    <a:solidFill>
                      <a:srgbClr val="C00000"/>
                    </a:solidFill>
                  </a:rPr>
                  <a:t>H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8BC11EE-5AF2-408B-8BAD-CA301096C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925" y="6038385"/>
                <a:ext cx="900888" cy="276999"/>
              </a:xfrm>
              <a:prstGeom prst="rect">
                <a:avLst/>
              </a:prstGeom>
              <a:blipFill>
                <a:blip r:embed="rId16"/>
                <a:stretch>
                  <a:fillRect l="-16216" t="-28889" r="-14865" b="-5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E59AB275-5BCC-40FA-97AF-4D8B7FB354F3}"/>
              </a:ext>
            </a:extLst>
          </p:cNvPr>
          <p:cNvSpPr txBox="1"/>
          <p:nvPr/>
        </p:nvSpPr>
        <p:spPr>
          <a:xfrm>
            <a:off x="3813717" y="6010507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= </a:t>
            </a:r>
            <a:r>
              <a:rPr lang="en-IN" b="1" dirty="0">
                <a:solidFill>
                  <a:srgbClr val="C00000"/>
                </a:solidFill>
              </a:rPr>
              <a:t>J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636FD69-928F-4628-859E-D44BF6A026FF}"/>
              </a:ext>
            </a:extLst>
          </p:cNvPr>
          <p:cNvSpPr/>
          <p:nvPr/>
        </p:nvSpPr>
        <p:spPr>
          <a:xfrm>
            <a:off x="1739929" y="5928620"/>
            <a:ext cx="2531327" cy="47950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73BBC-83E8-4802-ABD7-A178B160055F}"/>
              </a:ext>
            </a:extLst>
          </p:cNvPr>
          <p:cNvSpPr txBox="1"/>
          <p:nvPr/>
        </p:nvSpPr>
        <p:spPr>
          <a:xfrm>
            <a:off x="4714240" y="6004560"/>
            <a:ext cx="691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is called as </a:t>
            </a:r>
            <a:r>
              <a:rPr lang="en-IN" dirty="0">
                <a:solidFill>
                  <a:srgbClr val="C00000"/>
                </a:solidFill>
              </a:rPr>
              <a:t>“ </a:t>
            </a:r>
            <a:r>
              <a:rPr lang="en-IN" i="1" dirty="0">
                <a:solidFill>
                  <a:srgbClr val="C00000"/>
                </a:solidFill>
              </a:rPr>
              <a:t>Point form of Ampere’s Circuital Law</a:t>
            </a:r>
            <a:r>
              <a:rPr lang="en-IN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0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1" grpId="0"/>
      <p:bldP spid="13" grpId="0"/>
      <p:bldP spid="14" grpId="0"/>
      <p:bldP spid="16" grpId="0"/>
      <p:bldP spid="17" grpId="0"/>
      <p:bldP spid="18" grpId="0"/>
      <p:bldP spid="30" grpId="0"/>
      <p:bldP spid="31" grpId="0"/>
      <p:bldP spid="32" grpId="0"/>
      <p:bldP spid="34" grpId="0"/>
      <p:bldP spid="35" grpId="0"/>
      <p:bldP spid="36" grpId="0"/>
      <p:bldP spid="37" grpId="0" animBg="1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670022-BC49-4B1F-AD2F-DC0CD8CB1DB8}"/>
                  </a:ext>
                </a:extLst>
              </p:cNvPr>
              <p:cNvSpPr txBox="1"/>
              <p:nvPr/>
            </p:nvSpPr>
            <p:spPr>
              <a:xfrm>
                <a:off x="327891" y="539172"/>
                <a:ext cx="77677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solidFill>
                      <a:srgbClr val="C00000"/>
                    </a:solidFill>
                  </a:rPr>
                  <a:t>Note: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</a:rPr>
                  <a:t>  </a:t>
                </a:r>
                <a:r>
                  <a:rPr lang="en-IN" sz="2000" b="1" dirty="0">
                    <a:solidFill>
                      <a:schemeClr val="tx1"/>
                    </a:solidFill>
                  </a:rPr>
                  <a:t>H </a:t>
                </a:r>
                <a:r>
                  <a:rPr lang="en-IN" sz="2000" dirty="0">
                    <a:solidFill>
                      <a:schemeClr val="tx1"/>
                    </a:solidFill>
                  </a:rPr>
                  <a:t>in other Co-ordinate Systems</a:t>
                </a:r>
                <a:endParaRPr lang="en-IN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670022-BC49-4B1F-AD2F-DC0CD8CB1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91" y="539172"/>
                <a:ext cx="7767782" cy="400110"/>
              </a:xfrm>
              <a:prstGeom prst="rect">
                <a:avLst/>
              </a:prstGeom>
              <a:blipFill>
                <a:blip r:embed="rId2"/>
                <a:stretch>
                  <a:fillRect l="-863"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63B3AB-DCC8-4F35-8081-49DE4C83C134}"/>
                  </a:ext>
                </a:extLst>
              </p:cNvPr>
              <p:cNvSpPr txBox="1"/>
              <p:nvPr/>
            </p:nvSpPr>
            <p:spPr>
              <a:xfrm>
                <a:off x="563418" y="1343952"/>
                <a:ext cx="6096000" cy="53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 </a:t>
                </a:r>
                <a:r>
                  <a:rPr lang="en-IN" b="1" dirty="0">
                    <a:solidFill>
                      <a:schemeClr val="tx1"/>
                    </a:solidFill>
                  </a:rPr>
                  <a:t>H </a:t>
                </a:r>
                <a:r>
                  <a:rPr lang="en-IN" dirty="0"/>
                  <a:t>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IN" dirty="0"/>
                  <a:t> +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IN" dirty="0"/>
                  <a:t>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/>
                  <a:t> 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63B3AB-DCC8-4F35-8081-49DE4C83C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18" y="1343952"/>
                <a:ext cx="6096000" cy="530530"/>
              </a:xfrm>
              <a:prstGeom prst="rect">
                <a:avLst/>
              </a:prstGeom>
              <a:blipFill>
                <a:blip r:embed="rId3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6E27E4C-A317-4CC5-80C8-615ADCBC5257}"/>
              </a:ext>
            </a:extLst>
          </p:cNvPr>
          <p:cNvSpPr txBox="1"/>
          <p:nvPr/>
        </p:nvSpPr>
        <p:spPr>
          <a:xfrm>
            <a:off x="7094451" y="1456575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Rectangular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842574-12F4-4FB3-B38C-03707AB491F0}"/>
                  </a:ext>
                </a:extLst>
              </p:cNvPr>
              <p:cNvSpPr txBox="1"/>
              <p:nvPr/>
            </p:nvSpPr>
            <p:spPr>
              <a:xfrm>
                <a:off x="1256145" y="2530764"/>
                <a:ext cx="6918037" cy="54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IN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/>
                  <a:t> 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sub>
                    </m:sSub>
                  </m:oMath>
                </a14:m>
                <a:r>
                  <a:rPr lang="en-IN" dirty="0"/>
                  <a:t> +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IN" dirty="0"/>
                  <a:t> 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sub>
                    </m:sSub>
                  </m:oMath>
                </a14:m>
                <a:r>
                  <a:rPr lang="en-IN" dirty="0"/>
                  <a:t> +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den>
                    </m:f>
                  </m:oMath>
                </a14:m>
                <a:r>
                  <a:rPr lang="en-IN" dirty="0"/>
                  <a:t> 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842574-12F4-4FB3-B38C-03707AB49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145" y="2530764"/>
                <a:ext cx="6918037" cy="549509"/>
              </a:xfrm>
              <a:prstGeom prst="rect">
                <a:avLst/>
              </a:prstGeom>
              <a:blipFill>
                <a:blip r:embed="rId4"/>
                <a:stretch>
                  <a:fillRect l="-705"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C89CA44-8634-4851-9B8D-A20C36D46A48}"/>
              </a:ext>
            </a:extLst>
          </p:cNvPr>
          <p:cNvSpPr txBox="1"/>
          <p:nvPr/>
        </p:nvSpPr>
        <p:spPr>
          <a:xfrm>
            <a:off x="8050414" y="2652684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Cylindrical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4F7DFF-5C2E-4C22-ADCE-AAA7B395B59C}"/>
                  </a:ext>
                </a:extLst>
              </p:cNvPr>
              <p:cNvSpPr txBox="1"/>
              <p:nvPr/>
            </p:nvSpPr>
            <p:spPr>
              <a:xfrm>
                <a:off x="1233054" y="3902364"/>
                <a:ext cx="10414001" cy="54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IN" dirty="0"/>
                  <a:t> (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𝑆𝑖𝑛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den>
                    </m:f>
                  </m:oMath>
                </a14:m>
                <a:r>
                  <a:rPr lang="en-IN" dirty="0"/>
                  <a:t> 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en-IN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IN" dirty="0"/>
                  <a:t>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𝑟𝐻</m:t>
                            </m:r>
                          </m:e>
                          <m:sub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IN" dirty="0"/>
                  <a:t> 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</m:oMath>
                </a14:m>
                <a:r>
                  <a:rPr lang="en-IN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IN" dirty="0"/>
                  <a:t>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IN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IN" dirty="0"/>
                  <a:t> 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4F7DFF-5C2E-4C22-ADCE-AAA7B395B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054" y="3902364"/>
                <a:ext cx="10414001" cy="549509"/>
              </a:xfrm>
              <a:prstGeom prst="rect">
                <a:avLst/>
              </a:prstGeom>
              <a:blipFill>
                <a:blip r:embed="rId5"/>
                <a:stretch>
                  <a:fillRect l="-468" b="-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7CD6B5A-1FBB-4CD3-AC91-31033FABF1F3}"/>
              </a:ext>
            </a:extLst>
          </p:cNvPr>
          <p:cNvSpPr txBox="1"/>
          <p:nvPr/>
        </p:nvSpPr>
        <p:spPr>
          <a:xfrm>
            <a:off x="9408159" y="4031212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Spherical</a:t>
            </a:r>
          </a:p>
        </p:txBody>
      </p:sp>
    </p:spTree>
    <p:extLst>
      <p:ext uri="{BB962C8B-B14F-4D97-AF65-F5344CB8AC3E}">
        <p14:creationId xmlns:p14="http://schemas.microsoft.com/office/powerpoint/2010/main" val="270871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252C16-7261-4D3C-B182-19B782EB2FC9}"/>
              </a:ext>
            </a:extLst>
          </p:cNvPr>
          <p:cNvSpPr txBox="1"/>
          <p:nvPr/>
        </p:nvSpPr>
        <p:spPr>
          <a:xfrm>
            <a:off x="336331" y="262759"/>
            <a:ext cx="9459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Stoke’s Theorem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7EC226-4963-46ED-BCE5-821827D0FD31}"/>
                  </a:ext>
                </a:extLst>
              </p:cNvPr>
              <p:cNvSpPr txBox="1"/>
              <p:nvPr/>
            </p:nvSpPr>
            <p:spPr>
              <a:xfrm>
                <a:off x="357352" y="935421"/>
                <a:ext cx="10941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Consider a surface </a:t>
                </a:r>
                <a:r>
                  <a:rPr lang="en-IN" i="1" dirty="0"/>
                  <a:t>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i="1" dirty="0"/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7EC226-4963-46ED-BCE5-821827D0F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52" y="935421"/>
                <a:ext cx="10941269" cy="369332"/>
              </a:xfrm>
              <a:prstGeom prst="rect">
                <a:avLst/>
              </a:prstGeom>
              <a:blipFill>
                <a:blip r:embed="rId2"/>
                <a:stretch>
                  <a:fillRect l="-50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28B47E-7056-4CDC-83EA-AAA013BE0AAA}"/>
              </a:ext>
            </a:extLst>
          </p:cNvPr>
          <p:cNvSpPr/>
          <p:nvPr/>
        </p:nvSpPr>
        <p:spPr>
          <a:xfrm>
            <a:off x="6231995" y="664693"/>
            <a:ext cx="5286704" cy="2764244"/>
          </a:xfrm>
          <a:custGeom>
            <a:avLst/>
            <a:gdLst>
              <a:gd name="connsiteX0" fmla="*/ 0 w 5065987"/>
              <a:gd name="connsiteY0" fmla="*/ 315317 h 1891862"/>
              <a:gd name="connsiteX1" fmla="*/ 315317 w 5065987"/>
              <a:gd name="connsiteY1" fmla="*/ 0 h 1891862"/>
              <a:gd name="connsiteX2" fmla="*/ 4750670 w 5065987"/>
              <a:gd name="connsiteY2" fmla="*/ 0 h 1891862"/>
              <a:gd name="connsiteX3" fmla="*/ 5065987 w 5065987"/>
              <a:gd name="connsiteY3" fmla="*/ 315317 h 1891862"/>
              <a:gd name="connsiteX4" fmla="*/ 5065987 w 5065987"/>
              <a:gd name="connsiteY4" fmla="*/ 1576545 h 1891862"/>
              <a:gd name="connsiteX5" fmla="*/ 4750670 w 5065987"/>
              <a:gd name="connsiteY5" fmla="*/ 1891862 h 1891862"/>
              <a:gd name="connsiteX6" fmla="*/ 315317 w 5065987"/>
              <a:gd name="connsiteY6" fmla="*/ 1891862 h 1891862"/>
              <a:gd name="connsiteX7" fmla="*/ 0 w 5065987"/>
              <a:gd name="connsiteY7" fmla="*/ 1576545 h 1891862"/>
              <a:gd name="connsiteX8" fmla="*/ 0 w 5065987"/>
              <a:gd name="connsiteY8" fmla="*/ 315317 h 1891862"/>
              <a:gd name="connsiteX0" fmla="*/ 0 w 5065987"/>
              <a:gd name="connsiteY0" fmla="*/ 998489 h 2575034"/>
              <a:gd name="connsiteX1" fmla="*/ 315317 w 5065987"/>
              <a:gd name="connsiteY1" fmla="*/ 683172 h 2575034"/>
              <a:gd name="connsiteX2" fmla="*/ 3920353 w 5065987"/>
              <a:gd name="connsiteY2" fmla="*/ 0 h 2575034"/>
              <a:gd name="connsiteX3" fmla="*/ 5065987 w 5065987"/>
              <a:gd name="connsiteY3" fmla="*/ 998489 h 2575034"/>
              <a:gd name="connsiteX4" fmla="*/ 5065987 w 5065987"/>
              <a:gd name="connsiteY4" fmla="*/ 2259717 h 2575034"/>
              <a:gd name="connsiteX5" fmla="*/ 4750670 w 5065987"/>
              <a:gd name="connsiteY5" fmla="*/ 2575034 h 2575034"/>
              <a:gd name="connsiteX6" fmla="*/ 315317 w 5065987"/>
              <a:gd name="connsiteY6" fmla="*/ 2575034 h 2575034"/>
              <a:gd name="connsiteX7" fmla="*/ 0 w 5065987"/>
              <a:gd name="connsiteY7" fmla="*/ 2259717 h 2575034"/>
              <a:gd name="connsiteX8" fmla="*/ 0 w 5065987"/>
              <a:gd name="connsiteY8" fmla="*/ 998489 h 2575034"/>
              <a:gd name="connsiteX0" fmla="*/ 0 w 5065987"/>
              <a:gd name="connsiteY0" fmla="*/ 998513 h 2575058"/>
              <a:gd name="connsiteX1" fmla="*/ 315317 w 5065987"/>
              <a:gd name="connsiteY1" fmla="*/ 683196 h 2575058"/>
              <a:gd name="connsiteX2" fmla="*/ 3920353 w 5065987"/>
              <a:gd name="connsiteY2" fmla="*/ 24 h 2575058"/>
              <a:gd name="connsiteX3" fmla="*/ 5034456 w 5065987"/>
              <a:gd name="connsiteY3" fmla="*/ 168196 h 2575058"/>
              <a:gd name="connsiteX4" fmla="*/ 5065987 w 5065987"/>
              <a:gd name="connsiteY4" fmla="*/ 2259741 h 2575058"/>
              <a:gd name="connsiteX5" fmla="*/ 4750670 w 5065987"/>
              <a:gd name="connsiteY5" fmla="*/ 2575058 h 2575058"/>
              <a:gd name="connsiteX6" fmla="*/ 315317 w 5065987"/>
              <a:gd name="connsiteY6" fmla="*/ 2575058 h 2575058"/>
              <a:gd name="connsiteX7" fmla="*/ 0 w 5065987"/>
              <a:gd name="connsiteY7" fmla="*/ 2259741 h 2575058"/>
              <a:gd name="connsiteX8" fmla="*/ 0 w 5065987"/>
              <a:gd name="connsiteY8" fmla="*/ 998513 h 2575058"/>
              <a:gd name="connsiteX0" fmla="*/ 0 w 5202621"/>
              <a:gd name="connsiteY0" fmla="*/ 1576582 h 2575058"/>
              <a:gd name="connsiteX1" fmla="*/ 451951 w 5202621"/>
              <a:gd name="connsiteY1" fmla="*/ 683196 h 2575058"/>
              <a:gd name="connsiteX2" fmla="*/ 4056987 w 5202621"/>
              <a:gd name="connsiteY2" fmla="*/ 24 h 2575058"/>
              <a:gd name="connsiteX3" fmla="*/ 5171090 w 5202621"/>
              <a:gd name="connsiteY3" fmla="*/ 168196 h 2575058"/>
              <a:gd name="connsiteX4" fmla="*/ 5202621 w 5202621"/>
              <a:gd name="connsiteY4" fmla="*/ 2259741 h 2575058"/>
              <a:gd name="connsiteX5" fmla="*/ 4887304 w 5202621"/>
              <a:gd name="connsiteY5" fmla="*/ 2575058 h 2575058"/>
              <a:gd name="connsiteX6" fmla="*/ 451951 w 5202621"/>
              <a:gd name="connsiteY6" fmla="*/ 2575058 h 2575058"/>
              <a:gd name="connsiteX7" fmla="*/ 136634 w 5202621"/>
              <a:gd name="connsiteY7" fmla="*/ 2259741 h 2575058"/>
              <a:gd name="connsiteX8" fmla="*/ 0 w 5202621"/>
              <a:gd name="connsiteY8" fmla="*/ 1576582 h 2575058"/>
              <a:gd name="connsiteX0" fmla="*/ 0 w 5202621"/>
              <a:gd name="connsiteY0" fmla="*/ 1576582 h 2575058"/>
              <a:gd name="connsiteX1" fmla="*/ 945937 w 5202621"/>
              <a:gd name="connsiteY1" fmla="*/ 525541 h 2575058"/>
              <a:gd name="connsiteX2" fmla="*/ 4056987 w 5202621"/>
              <a:gd name="connsiteY2" fmla="*/ 24 h 2575058"/>
              <a:gd name="connsiteX3" fmla="*/ 5171090 w 5202621"/>
              <a:gd name="connsiteY3" fmla="*/ 168196 h 2575058"/>
              <a:gd name="connsiteX4" fmla="*/ 5202621 w 5202621"/>
              <a:gd name="connsiteY4" fmla="*/ 2259741 h 2575058"/>
              <a:gd name="connsiteX5" fmla="*/ 4887304 w 5202621"/>
              <a:gd name="connsiteY5" fmla="*/ 2575058 h 2575058"/>
              <a:gd name="connsiteX6" fmla="*/ 451951 w 5202621"/>
              <a:gd name="connsiteY6" fmla="*/ 2575058 h 2575058"/>
              <a:gd name="connsiteX7" fmla="*/ 136634 w 5202621"/>
              <a:gd name="connsiteY7" fmla="*/ 2259741 h 2575058"/>
              <a:gd name="connsiteX8" fmla="*/ 0 w 5202621"/>
              <a:gd name="connsiteY8" fmla="*/ 1576582 h 2575058"/>
              <a:gd name="connsiteX0" fmla="*/ 0 w 5307724"/>
              <a:gd name="connsiteY0" fmla="*/ 1156168 h 2575058"/>
              <a:gd name="connsiteX1" fmla="*/ 1051040 w 5307724"/>
              <a:gd name="connsiteY1" fmla="*/ 525541 h 2575058"/>
              <a:gd name="connsiteX2" fmla="*/ 4162090 w 5307724"/>
              <a:gd name="connsiteY2" fmla="*/ 24 h 2575058"/>
              <a:gd name="connsiteX3" fmla="*/ 5276193 w 5307724"/>
              <a:gd name="connsiteY3" fmla="*/ 168196 h 2575058"/>
              <a:gd name="connsiteX4" fmla="*/ 5307724 w 5307724"/>
              <a:gd name="connsiteY4" fmla="*/ 2259741 h 2575058"/>
              <a:gd name="connsiteX5" fmla="*/ 4992407 w 5307724"/>
              <a:gd name="connsiteY5" fmla="*/ 2575058 h 2575058"/>
              <a:gd name="connsiteX6" fmla="*/ 557054 w 5307724"/>
              <a:gd name="connsiteY6" fmla="*/ 2575058 h 2575058"/>
              <a:gd name="connsiteX7" fmla="*/ 241737 w 5307724"/>
              <a:gd name="connsiteY7" fmla="*/ 2259741 h 2575058"/>
              <a:gd name="connsiteX8" fmla="*/ 0 w 5307724"/>
              <a:gd name="connsiteY8" fmla="*/ 1156168 h 2575058"/>
              <a:gd name="connsiteX0" fmla="*/ 105104 w 5065987"/>
              <a:gd name="connsiteY0" fmla="*/ 998513 h 2575058"/>
              <a:gd name="connsiteX1" fmla="*/ 809303 w 5065987"/>
              <a:gd name="connsiteY1" fmla="*/ 525541 h 2575058"/>
              <a:gd name="connsiteX2" fmla="*/ 3920353 w 5065987"/>
              <a:gd name="connsiteY2" fmla="*/ 24 h 2575058"/>
              <a:gd name="connsiteX3" fmla="*/ 5034456 w 5065987"/>
              <a:gd name="connsiteY3" fmla="*/ 168196 h 2575058"/>
              <a:gd name="connsiteX4" fmla="*/ 5065987 w 5065987"/>
              <a:gd name="connsiteY4" fmla="*/ 2259741 h 2575058"/>
              <a:gd name="connsiteX5" fmla="*/ 4750670 w 5065987"/>
              <a:gd name="connsiteY5" fmla="*/ 2575058 h 2575058"/>
              <a:gd name="connsiteX6" fmla="*/ 315317 w 5065987"/>
              <a:gd name="connsiteY6" fmla="*/ 2575058 h 2575058"/>
              <a:gd name="connsiteX7" fmla="*/ 0 w 5065987"/>
              <a:gd name="connsiteY7" fmla="*/ 2259741 h 2575058"/>
              <a:gd name="connsiteX8" fmla="*/ 105104 w 5065987"/>
              <a:gd name="connsiteY8" fmla="*/ 998513 h 2575058"/>
              <a:gd name="connsiteX0" fmla="*/ 105104 w 5065987"/>
              <a:gd name="connsiteY0" fmla="*/ 998513 h 2575058"/>
              <a:gd name="connsiteX1" fmla="*/ 651648 w 5065987"/>
              <a:gd name="connsiteY1" fmla="*/ 609624 h 2575058"/>
              <a:gd name="connsiteX2" fmla="*/ 3920353 w 5065987"/>
              <a:gd name="connsiteY2" fmla="*/ 24 h 2575058"/>
              <a:gd name="connsiteX3" fmla="*/ 5034456 w 5065987"/>
              <a:gd name="connsiteY3" fmla="*/ 168196 h 2575058"/>
              <a:gd name="connsiteX4" fmla="*/ 5065987 w 5065987"/>
              <a:gd name="connsiteY4" fmla="*/ 2259741 h 2575058"/>
              <a:gd name="connsiteX5" fmla="*/ 4750670 w 5065987"/>
              <a:gd name="connsiteY5" fmla="*/ 2575058 h 2575058"/>
              <a:gd name="connsiteX6" fmla="*/ 315317 w 5065987"/>
              <a:gd name="connsiteY6" fmla="*/ 2575058 h 2575058"/>
              <a:gd name="connsiteX7" fmla="*/ 0 w 5065987"/>
              <a:gd name="connsiteY7" fmla="*/ 2259741 h 2575058"/>
              <a:gd name="connsiteX8" fmla="*/ 105104 w 5065987"/>
              <a:gd name="connsiteY8" fmla="*/ 998513 h 2575058"/>
              <a:gd name="connsiteX0" fmla="*/ 105104 w 5065987"/>
              <a:gd name="connsiteY0" fmla="*/ 998513 h 2858838"/>
              <a:gd name="connsiteX1" fmla="*/ 651648 w 5065987"/>
              <a:gd name="connsiteY1" fmla="*/ 609624 h 2858838"/>
              <a:gd name="connsiteX2" fmla="*/ 3920353 w 5065987"/>
              <a:gd name="connsiteY2" fmla="*/ 24 h 2858838"/>
              <a:gd name="connsiteX3" fmla="*/ 5034456 w 5065987"/>
              <a:gd name="connsiteY3" fmla="*/ 168196 h 2858838"/>
              <a:gd name="connsiteX4" fmla="*/ 5065987 w 5065987"/>
              <a:gd name="connsiteY4" fmla="*/ 2259741 h 2858838"/>
              <a:gd name="connsiteX5" fmla="*/ 4750670 w 5065987"/>
              <a:gd name="connsiteY5" fmla="*/ 2575058 h 2858838"/>
              <a:gd name="connsiteX6" fmla="*/ 819813 w 5065987"/>
              <a:gd name="connsiteY6" fmla="*/ 2858838 h 2858838"/>
              <a:gd name="connsiteX7" fmla="*/ 0 w 5065987"/>
              <a:gd name="connsiteY7" fmla="*/ 2259741 h 2858838"/>
              <a:gd name="connsiteX8" fmla="*/ 105104 w 5065987"/>
              <a:gd name="connsiteY8" fmla="*/ 998513 h 2858838"/>
              <a:gd name="connsiteX0" fmla="*/ 84083 w 5044966"/>
              <a:gd name="connsiteY0" fmla="*/ 998513 h 2858838"/>
              <a:gd name="connsiteX1" fmla="*/ 630627 w 5044966"/>
              <a:gd name="connsiteY1" fmla="*/ 609624 h 2858838"/>
              <a:gd name="connsiteX2" fmla="*/ 3899332 w 5044966"/>
              <a:gd name="connsiteY2" fmla="*/ 24 h 2858838"/>
              <a:gd name="connsiteX3" fmla="*/ 5013435 w 5044966"/>
              <a:gd name="connsiteY3" fmla="*/ 168196 h 2858838"/>
              <a:gd name="connsiteX4" fmla="*/ 5044966 w 5044966"/>
              <a:gd name="connsiteY4" fmla="*/ 2259741 h 2858838"/>
              <a:gd name="connsiteX5" fmla="*/ 4729649 w 5044966"/>
              <a:gd name="connsiteY5" fmla="*/ 2575058 h 2858838"/>
              <a:gd name="connsiteX6" fmla="*/ 798792 w 5044966"/>
              <a:gd name="connsiteY6" fmla="*/ 2858838 h 2858838"/>
              <a:gd name="connsiteX7" fmla="*/ 0 w 5044966"/>
              <a:gd name="connsiteY7" fmla="*/ 2554031 h 2858838"/>
              <a:gd name="connsiteX8" fmla="*/ 84083 w 5044966"/>
              <a:gd name="connsiteY8" fmla="*/ 998513 h 2858838"/>
              <a:gd name="connsiteX0" fmla="*/ 84083 w 5044966"/>
              <a:gd name="connsiteY0" fmla="*/ 998513 h 2858838"/>
              <a:gd name="connsiteX1" fmla="*/ 630627 w 5044966"/>
              <a:gd name="connsiteY1" fmla="*/ 609624 h 2858838"/>
              <a:gd name="connsiteX2" fmla="*/ 3899332 w 5044966"/>
              <a:gd name="connsiteY2" fmla="*/ 24 h 2858838"/>
              <a:gd name="connsiteX3" fmla="*/ 5013435 w 5044966"/>
              <a:gd name="connsiteY3" fmla="*/ 168196 h 2858838"/>
              <a:gd name="connsiteX4" fmla="*/ 5044966 w 5044966"/>
              <a:gd name="connsiteY4" fmla="*/ 2259741 h 2858838"/>
              <a:gd name="connsiteX5" fmla="*/ 3783718 w 5044966"/>
              <a:gd name="connsiteY5" fmla="*/ 2196685 h 2858838"/>
              <a:gd name="connsiteX6" fmla="*/ 798792 w 5044966"/>
              <a:gd name="connsiteY6" fmla="*/ 2858838 h 2858838"/>
              <a:gd name="connsiteX7" fmla="*/ 0 w 5044966"/>
              <a:gd name="connsiteY7" fmla="*/ 2554031 h 2858838"/>
              <a:gd name="connsiteX8" fmla="*/ 84083 w 5044966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3783718 w 5286704"/>
              <a:gd name="connsiteY5" fmla="*/ 2196685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3794228 w 5286704"/>
              <a:gd name="connsiteY5" fmla="*/ 2364850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4246172 w 5286704"/>
              <a:gd name="connsiteY5" fmla="*/ 2196684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3594531 w 5286704"/>
              <a:gd name="connsiteY5" fmla="*/ 2333319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3247689 w 5286704"/>
              <a:gd name="connsiteY5" fmla="*/ 2427912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900879"/>
              <a:gd name="connsiteX1" fmla="*/ 630627 w 5286704"/>
              <a:gd name="connsiteY1" fmla="*/ 609624 h 2900879"/>
              <a:gd name="connsiteX2" fmla="*/ 3899332 w 5286704"/>
              <a:gd name="connsiteY2" fmla="*/ 24 h 2900879"/>
              <a:gd name="connsiteX3" fmla="*/ 5013435 w 5286704"/>
              <a:gd name="connsiteY3" fmla="*/ 168196 h 2900879"/>
              <a:gd name="connsiteX4" fmla="*/ 5286704 w 5286704"/>
              <a:gd name="connsiteY4" fmla="*/ 2280761 h 2900879"/>
              <a:gd name="connsiteX5" fmla="*/ 3247689 w 5286704"/>
              <a:gd name="connsiteY5" fmla="*/ 2427912 h 2900879"/>
              <a:gd name="connsiteX6" fmla="*/ 1345330 w 5286704"/>
              <a:gd name="connsiteY6" fmla="*/ 2900879 h 2900879"/>
              <a:gd name="connsiteX7" fmla="*/ 0 w 5286704"/>
              <a:gd name="connsiteY7" fmla="*/ 2554031 h 2900879"/>
              <a:gd name="connsiteX8" fmla="*/ 84083 w 5286704"/>
              <a:gd name="connsiteY8" fmla="*/ 998513 h 2900879"/>
              <a:gd name="connsiteX0" fmla="*/ 84083 w 5286704"/>
              <a:gd name="connsiteY0" fmla="*/ 998513 h 2764244"/>
              <a:gd name="connsiteX1" fmla="*/ 630627 w 5286704"/>
              <a:gd name="connsiteY1" fmla="*/ 609624 h 2764244"/>
              <a:gd name="connsiteX2" fmla="*/ 3899332 w 5286704"/>
              <a:gd name="connsiteY2" fmla="*/ 24 h 2764244"/>
              <a:gd name="connsiteX3" fmla="*/ 5013435 w 5286704"/>
              <a:gd name="connsiteY3" fmla="*/ 168196 h 2764244"/>
              <a:gd name="connsiteX4" fmla="*/ 5286704 w 5286704"/>
              <a:gd name="connsiteY4" fmla="*/ 2280761 h 2764244"/>
              <a:gd name="connsiteX5" fmla="*/ 3247689 w 5286704"/>
              <a:gd name="connsiteY5" fmla="*/ 2427912 h 2764244"/>
              <a:gd name="connsiteX6" fmla="*/ 1345330 w 5286704"/>
              <a:gd name="connsiteY6" fmla="*/ 2764244 h 2764244"/>
              <a:gd name="connsiteX7" fmla="*/ 0 w 5286704"/>
              <a:gd name="connsiteY7" fmla="*/ 2554031 h 2764244"/>
              <a:gd name="connsiteX8" fmla="*/ 84083 w 5286704"/>
              <a:gd name="connsiteY8" fmla="*/ 998513 h 2764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86704" h="2764244">
                <a:moveTo>
                  <a:pt x="84083" y="998513"/>
                </a:moveTo>
                <a:cubicBezTo>
                  <a:pt x="84083" y="824368"/>
                  <a:pt x="456482" y="609624"/>
                  <a:pt x="630627" y="609624"/>
                </a:cubicBezTo>
                <a:cubicBezTo>
                  <a:pt x="2109078" y="609624"/>
                  <a:pt x="2420881" y="24"/>
                  <a:pt x="3899332" y="24"/>
                </a:cubicBezTo>
                <a:cubicBezTo>
                  <a:pt x="4073477" y="24"/>
                  <a:pt x="5013435" y="-5949"/>
                  <a:pt x="5013435" y="168196"/>
                </a:cubicBezTo>
                <a:lnTo>
                  <a:pt x="5286704" y="2280761"/>
                </a:lnTo>
                <a:cubicBezTo>
                  <a:pt x="5286704" y="2454906"/>
                  <a:pt x="3421834" y="2427912"/>
                  <a:pt x="3247689" y="2427912"/>
                </a:cubicBezTo>
                <a:lnTo>
                  <a:pt x="1345330" y="2764244"/>
                </a:lnTo>
                <a:cubicBezTo>
                  <a:pt x="1171185" y="2764244"/>
                  <a:pt x="0" y="2728176"/>
                  <a:pt x="0" y="2554031"/>
                </a:cubicBezTo>
                <a:lnTo>
                  <a:pt x="84083" y="998513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2876B5-685C-42E9-A062-BB1E9B0C1480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778532" y="1274317"/>
            <a:ext cx="84090" cy="2070537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D01B11-E01F-44D1-A4CA-F57CDA5DC52C}"/>
              </a:ext>
            </a:extLst>
          </p:cNvPr>
          <p:cNvCxnSpPr>
            <a:cxnSpLocks/>
          </p:cNvCxnSpPr>
          <p:nvPr/>
        </p:nvCxnSpPr>
        <p:spPr>
          <a:xfrm flipH="1">
            <a:off x="7288933" y="1234966"/>
            <a:ext cx="1" cy="217038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872088-4445-4E10-A3FF-490FB1356C11}"/>
              </a:ext>
            </a:extLst>
          </p:cNvPr>
          <p:cNvCxnSpPr>
            <a:cxnSpLocks/>
          </p:cNvCxnSpPr>
          <p:nvPr/>
        </p:nvCxnSpPr>
        <p:spPr>
          <a:xfrm>
            <a:off x="7882759" y="1145628"/>
            <a:ext cx="126124" cy="219666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95F5A3-D8C5-474F-B1E0-1E230DA3C1C2}"/>
              </a:ext>
            </a:extLst>
          </p:cNvPr>
          <p:cNvCxnSpPr>
            <a:cxnSpLocks/>
          </p:cNvCxnSpPr>
          <p:nvPr/>
        </p:nvCxnSpPr>
        <p:spPr>
          <a:xfrm>
            <a:off x="8608741" y="959005"/>
            <a:ext cx="167397" cy="221511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8BC1D3-E8EA-4D8F-A0BD-F481ED2FE763}"/>
              </a:ext>
            </a:extLst>
          </p:cNvPr>
          <p:cNvCxnSpPr>
            <a:cxnSpLocks/>
          </p:cNvCxnSpPr>
          <p:nvPr/>
        </p:nvCxnSpPr>
        <p:spPr>
          <a:xfrm>
            <a:off x="9411629" y="724829"/>
            <a:ext cx="310440" cy="233368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1D86E5-C4C7-4D5B-90CE-173815DDA09A}"/>
              </a:ext>
            </a:extLst>
          </p:cNvPr>
          <p:cNvCxnSpPr>
            <a:cxnSpLocks/>
          </p:cNvCxnSpPr>
          <p:nvPr/>
        </p:nvCxnSpPr>
        <p:spPr>
          <a:xfrm>
            <a:off x="10321159" y="704193"/>
            <a:ext cx="315310" cy="237533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C6F66FF-7FF1-4839-BC3D-D2FE9D563A82}"/>
              </a:ext>
            </a:extLst>
          </p:cNvPr>
          <p:cNvSpPr/>
          <p:nvPr/>
        </p:nvSpPr>
        <p:spPr>
          <a:xfrm>
            <a:off x="6264166" y="2501462"/>
            <a:ext cx="5244662" cy="483476"/>
          </a:xfrm>
          <a:custGeom>
            <a:avLst/>
            <a:gdLst>
              <a:gd name="connsiteX0" fmla="*/ 0 w 5276193"/>
              <a:gd name="connsiteY0" fmla="*/ 487968 h 497053"/>
              <a:gd name="connsiteX1" fmla="*/ 1345324 w 5276193"/>
              <a:gd name="connsiteY1" fmla="*/ 435416 h 497053"/>
              <a:gd name="connsiteX2" fmla="*/ 2669628 w 5276193"/>
              <a:gd name="connsiteY2" fmla="*/ 25512 h 497053"/>
              <a:gd name="connsiteX3" fmla="*/ 5276193 w 5276193"/>
              <a:gd name="connsiteY3" fmla="*/ 78064 h 49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76193" h="497053">
                <a:moveTo>
                  <a:pt x="0" y="487968"/>
                </a:moveTo>
                <a:cubicBezTo>
                  <a:pt x="450193" y="500230"/>
                  <a:pt x="900386" y="512492"/>
                  <a:pt x="1345324" y="435416"/>
                </a:cubicBezTo>
                <a:cubicBezTo>
                  <a:pt x="1790262" y="358340"/>
                  <a:pt x="2014483" y="85071"/>
                  <a:pt x="2669628" y="25512"/>
                </a:cubicBezTo>
                <a:cubicBezTo>
                  <a:pt x="3324773" y="-34047"/>
                  <a:pt x="4300483" y="22008"/>
                  <a:pt x="5276193" y="78064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DF03051-3A10-49AD-9474-C5CA1268ABEC}"/>
              </a:ext>
            </a:extLst>
          </p:cNvPr>
          <p:cNvSpPr/>
          <p:nvPr/>
        </p:nvSpPr>
        <p:spPr>
          <a:xfrm>
            <a:off x="6322740" y="1824976"/>
            <a:ext cx="5047529" cy="449873"/>
          </a:xfrm>
          <a:custGeom>
            <a:avLst/>
            <a:gdLst>
              <a:gd name="connsiteX0" fmla="*/ 0 w 5129048"/>
              <a:gd name="connsiteY0" fmla="*/ 464998 h 464998"/>
              <a:gd name="connsiteX1" fmla="*/ 1524000 w 5129048"/>
              <a:gd name="connsiteY1" fmla="*/ 380915 h 464998"/>
              <a:gd name="connsiteX2" fmla="*/ 3058510 w 5129048"/>
              <a:gd name="connsiteY2" fmla="*/ 13053 h 464998"/>
              <a:gd name="connsiteX3" fmla="*/ 5129048 w 5129048"/>
              <a:gd name="connsiteY3" fmla="*/ 76115 h 464998"/>
              <a:gd name="connsiteX4" fmla="*/ 5129048 w 5129048"/>
              <a:gd name="connsiteY4" fmla="*/ 76115 h 46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9048" h="464998">
                <a:moveTo>
                  <a:pt x="0" y="464998"/>
                </a:moveTo>
                <a:cubicBezTo>
                  <a:pt x="507124" y="460618"/>
                  <a:pt x="1014248" y="456239"/>
                  <a:pt x="1524000" y="380915"/>
                </a:cubicBezTo>
                <a:cubicBezTo>
                  <a:pt x="2033752" y="305591"/>
                  <a:pt x="2457669" y="63853"/>
                  <a:pt x="3058510" y="13053"/>
                </a:cubicBezTo>
                <a:cubicBezTo>
                  <a:pt x="3659351" y="-37747"/>
                  <a:pt x="5129048" y="76115"/>
                  <a:pt x="5129048" y="76115"/>
                </a:cubicBezTo>
                <a:lnTo>
                  <a:pt x="5129048" y="76115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4ADDE81-76F1-423D-91DF-E25A90D70426}"/>
              </a:ext>
            </a:extLst>
          </p:cNvPr>
          <p:cNvSpPr/>
          <p:nvPr/>
        </p:nvSpPr>
        <p:spPr>
          <a:xfrm>
            <a:off x="6316717" y="1249744"/>
            <a:ext cx="4981904" cy="505483"/>
          </a:xfrm>
          <a:custGeom>
            <a:avLst/>
            <a:gdLst>
              <a:gd name="connsiteX0" fmla="*/ 0 w 5002924"/>
              <a:gd name="connsiteY0" fmla="*/ 484462 h 484462"/>
              <a:gd name="connsiteX1" fmla="*/ 1702675 w 5002924"/>
              <a:gd name="connsiteY1" fmla="*/ 410889 h 484462"/>
              <a:gd name="connsiteX2" fmla="*/ 2795751 w 5002924"/>
              <a:gd name="connsiteY2" fmla="*/ 43027 h 484462"/>
              <a:gd name="connsiteX3" fmla="*/ 5002924 w 5002924"/>
              <a:gd name="connsiteY3" fmla="*/ 22007 h 48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2924" h="484462">
                <a:moveTo>
                  <a:pt x="0" y="484462"/>
                </a:moveTo>
                <a:cubicBezTo>
                  <a:pt x="618358" y="484461"/>
                  <a:pt x="1236717" y="484461"/>
                  <a:pt x="1702675" y="410889"/>
                </a:cubicBezTo>
                <a:cubicBezTo>
                  <a:pt x="2168633" y="337317"/>
                  <a:pt x="2245709" y="107841"/>
                  <a:pt x="2795751" y="43027"/>
                </a:cubicBezTo>
                <a:cubicBezTo>
                  <a:pt x="3345793" y="-21787"/>
                  <a:pt x="4174358" y="110"/>
                  <a:pt x="5002924" y="22007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0E2FE8-738D-44BD-A707-78A333C48A6C}"/>
              </a:ext>
            </a:extLst>
          </p:cNvPr>
          <p:cNvSpPr txBox="1"/>
          <p:nvPr/>
        </p:nvSpPr>
        <p:spPr>
          <a:xfrm>
            <a:off x="6453352" y="1355835"/>
            <a:ext cx="346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558821A-E664-4DDD-88A9-CCC4F3902E88}"/>
              </a:ext>
            </a:extLst>
          </p:cNvPr>
          <p:cNvCxnSpPr>
            <a:cxnSpLocks/>
          </p:cNvCxnSpPr>
          <p:nvPr/>
        </p:nvCxnSpPr>
        <p:spPr>
          <a:xfrm>
            <a:off x="9574924" y="1839310"/>
            <a:ext cx="914400" cy="0"/>
          </a:xfrm>
          <a:prstGeom prst="straightConnector1">
            <a:avLst/>
          </a:prstGeom>
          <a:ln w="158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B19C971-8E5E-4284-8009-43698E7338C2}"/>
              </a:ext>
            </a:extLst>
          </p:cNvPr>
          <p:cNvCxnSpPr>
            <a:cxnSpLocks/>
          </p:cNvCxnSpPr>
          <p:nvPr/>
        </p:nvCxnSpPr>
        <p:spPr>
          <a:xfrm>
            <a:off x="9490841" y="1324303"/>
            <a:ext cx="84083" cy="483476"/>
          </a:xfrm>
          <a:prstGeom prst="straightConnector1">
            <a:avLst/>
          </a:prstGeom>
          <a:ln w="158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FE7B817-DCB2-49E1-A5C3-09C273CC507E}"/>
              </a:ext>
            </a:extLst>
          </p:cNvPr>
          <p:cNvCxnSpPr>
            <a:cxnSpLocks/>
          </p:cNvCxnSpPr>
          <p:nvPr/>
        </p:nvCxnSpPr>
        <p:spPr>
          <a:xfrm flipH="1">
            <a:off x="9469821" y="1271752"/>
            <a:ext cx="861849" cy="0"/>
          </a:xfrm>
          <a:prstGeom prst="straightConnector1">
            <a:avLst/>
          </a:prstGeom>
          <a:ln w="158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2E7010E-9EB9-4BB4-AE48-0D56C9B236BD}"/>
              </a:ext>
            </a:extLst>
          </p:cNvPr>
          <p:cNvCxnSpPr>
            <a:cxnSpLocks/>
          </p:cNvCxnSpPr>
          <p:nvPr/>
        </p:nvCxnSpPr>
        <p:spPr>
          <a:xfrm flipH="1" flipV="1">
            <a:off x="10389476" y="1234966"/>
            <a:ext cx="78827" cy="562303"/>
          </a:xfrm>
          <a:prstGeom prst="straightConnector1">
            <a:avLst/>
          </a:prstGeom>
          <a:ln w="158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9DFA8E7A-CB4D-4FE3-858B-C74AFC797E9A}"/>
              </a:ext>
            </a:extLst>
          </p:cNvPr>
          <p:cNvSpPr/>
          <p:nvPr/>
        </p:nvSpPr>
        <p:spPr>
          <a:xfrm>
            <a:off x="9480332" y="1261242"/>
            <a:ext cx="987972" cy="588579"/>
          </a:xfrm>
          <a:custGeom>
            <a:avLst/>
            <a:gdLst>
              <a:gd name="connsiteX0" fmla="*/ 0 w 987972"/>
              <a:gd name="connsiteY0" fmla="*/ 0 h 704193"/>
              <a:gd name="connsiteX1" fmla="*/ 987972 w 987972"/>
              <a:gd name="connsiteY1" fmla="*/ 0 h 704193"/>
              <a:gd name="connsiteX2" fmla="*/ 987972 w 987972"/>
              <a:gd name="connsiteY2" fmla="*/ 704193 h 704193"/>
              <a:gd name="connsiteX3" fmla="*/ 0 w 987972"/>
              <a:gd name="connsiteY3" fmla="*/ 704193 h 704193"/>
              <a:gd name="connsiteX4" fmla="*/ 0 w 987972"/>
              <a:gd name="connsiteY4" fmla="*/ 0 h 704193"/>
              <a:gd name="connsiteX0" fmla="*/ 0 w 987972"/>
              <a:gd name="connsiteY0" fmla="*/ 0 h 704193"/>
              <a:gd name="connsiteX1" fmla="*/ 987972 w 987972"/>
              <a:gd name="connsiteY1" fmla="*/ 0 h 704193"/>
              <a:gd name="connsiteX2" fmla="*/ 987972 w 987972"/>
              <a:gd name="connsiteY2" fmla="*/ 704193 h 704193"/>
              <a:gd name="connsiteX3" fmla="*/ 115614 w 987972"/>
              <a:gd name="connsiteY3" fmla="*/ 662152 h 704193"/>
              <a:gd name="connsiteX4" fmla="*/ 0 w 987972"/>
              <a:gd name="connsiteY4" fmla="*/ 0 h 704193"/>
              <a:gd name="connsiteX0" fmla="*/ 0 w 987972"/>
              <a:gd name="connsiteY0" fmla="*/ 0 h 693683"/>
              <a:gd name="connsiteX1" fmla="*/ 987972 w 987972"/>
              <a:gd name="connsiteY1" fmla="*/ 0 h 693683"/>
              <a:gd name="connsiteX2" fmla="*/ 987972 w 987972"/>
              <a:gd name="connsiteY2" fmla="*/ 693683 h 693683"/>
              <a:gd name="connsiteX3" fmla="*/ 115614 w 987972"/>
              <a:gd name="connsiteY3" fmla="*/ 662152 h 693683"/>
              <a:gd name="connsiteX4" fmla="*/ 0 w 987972"/>
              <a:gd name="connsiteY4" fmla="*/ 0 h 693683"/>
              <a:gd name="connsiteX0" fmla="*/ 0 w 987972"/>
              <a:gd name="connsiteY0" fmla="*/ 0 h 693683"/>
              <a:gd name="connsiteX1" fmla="*/ 924910 w 987972"/>
              <a:gd name="connsiteY1" fmla="*/ 52552 h 693683"/>
              <a:gd name="connsiteX2" fmla="*/ 987972 w 987972"/>
              <a:gd name="connsiteY2" fmla="*/ 693683 h 693683"/>
              <a:gd name="connsiteX3" fmla="*/ 115614 w 987972"/>
              <a:gd name="connsiteY3" fmla="*/ 662152 h 693683"/>
              <a:gd name="connsiteX4" fmla="*/ 0 w 987972"/>
              <a:gd name="connsiteY4" fmla="*/ 0 h 693683"/>
              <a:gd name="connsiteX0" fmla="*/ 0 w 956441"/>
              <a:gd name="connsiteY0" fmla="*/ 31531 h 641131"/>
              <a:gd name="connsiteX1" fmla="*/ 893379 w 956441"/>
              <a:gd name="connsiteY1" fmla="*/ 0 h 641131"/>
              <a:gd name="connsiteX2" fmla="*/ 956441 w 956441"/>
              <a:gd name="connsiteY2" fmla="*/ 641131 h 641131"/>
              <a:gd name="connsiteX3" fmla="*/ 84083 w 956441"/>
              <a:gd name="connsiteY3" fmla="*/ 609600 h 641131"/>
              <a:gd name="connsiteX4" fmla="*/ 0 w 956441"/>
              <a:gd name="connsiteY4" fmla="*/ 31531 h 641131"/>
              <a:gd name="connsiteX0" fmla="*/ 0 w 987972"/>
              <a:gd name="connsiteY0" fmla="*/ 21021 h 641131"/>
              <a:gd name="connsiteX1" fmla="*/ 924910 w 987972"/>
              <a:gd name="connsiteY1" fmla="*/ 0 h 641131"/>
              <a:gd name="connsiteX2" fmla="*/ 987972 w 987972"/>
              <a:gd name="connsiteY2" fmla="*/ 641131 h 641131"/>
              <a:gd name="connsiteX3" fmla="*/ 115614 w 987972"/>
              <a:gd name="connsiteY3" fmla="*/ 609600 h 641131"/>
              <a:gd name="connsiteX4" fmla="*/ 0 w 987972"/>
              <a:gd name="connsiteY4" fmla="*/ 21021 h 641131"/>
              <a:gd name="connsiteX0" fmla="*/ 0 w 987972"/>
              <a:gd name="connsiteY0" fmla="*/ 21021 h 641131"/>
              <a:gd name="connsiteX1" fmla="*/ 893379 w 987972"/>
              <a:gd name="connsiteY1" fmla="*/ 0 h 641131"/>
              <a:gd name="connsiteX2" fmla="*/ 987972 w 987972"/>
              <a:gd name="connsiteY2" fmla="*/ 641131 h 641131"/>
              <a:gd name="connsiteX3" fmla="*/ 115614 w 987972"/>
              <a:gd name="connsiteY3" fmla="*/ 609600 h 641131"/>
              <a:gd name="connsiteX4" fmla="*/ 0 w 987972"/>
              <a:gd name="connsiteY4" fmla="*/ 21021 h 641131"/>
              <a:gd name="connsiteX0" fmla="*/ 0 w 987972"/>
              <a:gd name="connsiteY0" fmla="*/ 21021 h 609600"/>
              <a:gd name="connsiteX1" fmla="*/ 893379 w 987972"/>
              <a:gd name="connsiteY1" fmla="*/ 0 h 609600"/>
              <a:gd name="connsiteX2" fmla="*/ 987972 w 987972"/>
              <a:gd name="connsiteY2" fmla="*/ 609600 h 609600"/>
              <a:gd name="connsiteX3" fmla="*/ 115614 w 987972"/>
              <a:gd name="connsiteY3" fmla="*/ 609600 h 609600"/>
              <a:gd name="connsiteX4" fmla="*/ 0 w 987972"/>
              <a:gd name="connsiteY4" fmla="*/ 21021 h 609600"/>
              <a:gd name="connsiteX0" fmla="*/ 0 w 987972"/>
              <a:gd name="connsiteY0" fmla="*/ 21021 h 609600"/>
              <a:gd name="connsiteX1" fmla="*/ 893379 w 987972"/>
              <a:gd name="connsiteY1" fmla="*/ 0 h 609600"/>
              <a:gd name="connsiteX2" fmla="*/ 987972 w 987972"/>
              <a:gd name="connsiteY2" fmla="*/ 609600 h 609600"/>
              <a:gd name="connsiteX3" fmla="*/ 84083 w 987972"/>
              <a:gd name="connsiteY3" fmla="*/ 609600 h 609600"/>
              <a:gd name="connsiteX4" fmla="*/ 0 w 987972"/>
              <a:gd name="connsiteY4" fmla="*/ 21021 h 609600"/>
              <a:gd name="connsiteX0" fmla="*/ 0 w 987972"/>
              <a:gd name="connsiteY0" fmla="*/ 31531 h 609600"/>
              <a:gd name="connsiteX1" fmla="*/ 893379 w 987972"/>
              <a:gd name="connsiteY1" fmla="*/ 0 h 609600"/>
              <a:gd name="connsiteX2" fmla="*/ 987972 w 987972"/>
              <a:gd name="connsiteY2" fmla="*/ 609600 h 609600"/>
              <a:gd name="connsiteX3" fmla="*/ 84083 w 987972"/>
              <a:gd name="connsiteY3" fmla="*/ 609600 h 609600"/>
              <a:gd name="connsiteX4" fmla="*/ 0 w 987972"/>
              <a:gd name="connsiteY4" fmla="*/ 31531 h 609600"/>
              <a:gd name="connsiteX0" fmla="*/ 0 w 987972"/>
              <a:gd name="connsiteY0" fmla="*/ 0 h 578069"/>
              <a:gd name="connsiteX1" fmla="*/ 903889 w 987972"/>
              <a:gd name="connsiteY1" fmla="*/ 10510 h 578069"/>
              <a:gd name="connsiteX2" fmla="*/ 987972 w 987972"/>
              <a:gd name="connsiteY2" fmla="*/ 578069 h 578069"/>
              <a:gd name="connsiteX3" fmla="*/ 84083 w 987972"/>
              <a:gd name="connsiteY3" fmla="*/ 578069 h 578069"/>
              <a:gd name="connsiteX4" fmla="*/ 0 w 987972"/>
              <a:gd name="connsiteY4" fmla="*/ 0 h 578069"/>
              <a:gd name="connsiteX0" fmla="*/ 0 w 987972"/>
              <a:gd name="connsiteY0" fmla="*/ 10510 h 588579"/>
              <a:gd name="connsiteX1" fmla="*/ 956441 w 987972"/>
              <a:gd name="connsiteY1" fmla="*/ 0 h 588579"/>
              <a:gd name="connsiteX2" fmla="*/ 987972 w 987972"/>
              <a:gd name="connsiteY2" fmla="*/ 588579 h 588579"/>
              <a:gd name="connsiteX3" fmla="*/ 84083 w 987972"/>
              <a:gd name="connsiteY3" fmla="*/ 588579 h 588579"/>
              <a:gd name="connsiteX4" fmla="*/ 0 w 987972"/>
              <a:gd name="connsiteY4" fmla="*/ 10510 h 588579"/>
              <a:gd name="connsiteX0" fmla="*/ 0 w 987972"/>
              <a:gd name="connsiteY0" fmla="*/ 10510 h 588579"/>
              <a:gd name="connsiteX1" fmla="*/ 945931 w 987972"/>
              <a:gd name="connsiteY1" fmla="*/ 0 h 588579"/>
              <a:gd name="connsiteX2" fmla="*/ 987972 w 987972"/>
              <a:gd name="connsiteY2" fmla="*/ 588579 h 588579"/>
              <a:gd name="connsiteX3" fmla="*/ 84083 w 987972"/>
              <a:gd name="connsiteY3" fmla="*/ 588579 h 588579"/>
              <a:gd name="connsiteX4" fmla="*/ 0 w 987972"/>
              <a:gd name="connsiteY4" fmla="*/ 10510 h 588579"/>
              <a:gd name="connsiteX0" fmla="*/ 0 w 987972"/>
              <a:gd name="connsiteY0" fmla="*/ 10510 h 588579"/>
              <a:gd name="connsiteX1" fmla="*/ 903890 w 987972"/>
              <a:gd name="connsiteY1" fmla="*/ 0 h 588579"/>
              <a:gd name="connsiteX2" fmla="*/ 987972 w 987972"/>
              <a:gd name="connsiteY2" fmla="*/ 588579 h 588579"/>
              <a:gd name="connsiteX3" fmla="*/ 84083 w 987972"/>
              <a:gd name="connsiteY3" fmla="*/ 588579 h 588579"/>
              <a:gd name="connsiteX4" fmla="*/ 0 w 987972"/>
              <a:gd name="connsiteY4" fmla="*/ 10510 h 58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7972" h="588579">
                <a:moveTo>
                  <a:pt x="0" y="10510"/>
                </a:moveTo>
                <a:lnTo>
                  <a:pt x="903890" y="0"/>
                </a:lnTo>
                <a:lnTo>
                  <a:pt x="987972" y="588579"/>
                </a:lnTo>
                <a:lnTo>
                  <a:pt x="84083" y="588579"/>
                </a:lnTo>
                <a:lnTo>
                  <a:pt x="0" y="10510"/>
                </a:ln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  <a:ln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E9156BE-C43A-489B-BAE4-772400697434}"/>
                  </a:ext>
                </a:extLst>
              </p:cNvPr>
              <p:cNvSpPr txBox="1"/>
              <p:nvPr/>
            </p:nvSpPr>
            <p:spPr>
              <a:xfrm>
                <a:off x="310054" y="1513489"/>
                <a:ext cx="43880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Chose the differential surface element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E9156BE-C43A-489B-BAE4-772400697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54" y="1513489"/>
                <a:ext cx="4388070" cy="369332"/>
              </a:xfrm>
              <a:prstGeom prst="rect">
                <a:avLst/>
              </a:prstGeom>
              <a:blipFill>
                <a:blip r:embed="rId3"/>
                <a:stretch>
                  <a:fillRect l="-125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22CB9B0-B191-4D89-A3B4-32EEE0CF358C}"/>
                  </a:ext>
                </a:extLst>
              </p:cNvPr>
              <p:cNvSpPr txBox="1"/>
              <p:nvPr/>
            </p:nvSpPr>
            <p:spPr>
              <a:xfrm>
                <a:off x="9459310" y="1249996"/>
                <a:ext cx="3258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22CB9B0-B191-4D89-A3B4-32EEE0CF3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9310" y="1249996"/>
                <a:ext cx="325821" cy="307777"/>
              </a:xfrm>
              <a:prstGeom prst="rect">
                <a:avLst/>
              </a:prstGeom>
              <a:blipFill>
                <a:blip r:embed="rId4"/>
                <a:stretch>
                  <a:fillRect r="-75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7BB9B45-D4CC-4CD6-9585-0910D2E06D2F}"/>
                  </a:ext>
                </a:extLst>
              </p:cNvPr>
              <p:cNvSpPr txBox="1"/>
              <p:nvPr/>
            </p:nvSpPr>
            <p:spPr>
              <a:xfrm>
                <a:off x="483476" y="2291255"/>
                <a:ext cx="3773214" cy="597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IN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𝐶𝑢𝑟𝑙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∮"/>
                                <m:limLoc m:val="undOvr"/>
                                <m:subHide m:val="on"/>
                                <m:supHide m:val="on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IN" b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  <m:r>
                                  <a:rPr lang="en-IN" b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𝒅𝒍</m:t>
                                </m:r>
                              </m:e>
                            </m:nary>
                          </m:num>
                          <m:den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endParaRPr lang="en-IN" i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7BB9B45-D4CC-4CD6-9585-0910D2E06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76" y="2291255"/>
                <a:ext cx="3773214" cy="5973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0468008-1F28-4423-A8C0-73263CB5957B}"/>
                  </a:ext>
                </a:extLst>
              </p:cNvPr>
              <p:cNvSpPr txBox="1"/>
              <p:nvPr/>
            </p:nvSpPr>
            <p:spPr>
              <a:xfrm>
                <a:off x="241738" y="3331779"/>
                <a:ext cx="7630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Now Applying the definition of </a:t>
                </a:r>
                <a:r>
                  <a:rPr lang="en-IN" i="1" dirty="0"/>
                  <a:t>Curl </a:t>
                </a:r>
                <a:r>
                  <a:rPr lang="en-IN" dirty="0"/>
                  <a:t>to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IN" i="1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0468008-1F28-4423-A8C0-73263CB59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38" y="3331779"/>
                <a:ext cx="7630510" cy="369332"/>
              </a:xfrm>
              <a:prstGeom prst="rect">
                <a:avLst/>
              </a:prstGeom>
              <a:blipFill>
                <a:blip r:embed="rId6"/>
                <a:stretch>
                  <a:fillRect l="-719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69162CA-2730-4F7F-B561-5D4626E1CBD4}"/>
                  </a:ext>
                </a:extLst>
              </p:cNvPr>
              <p:cNvSpPr txBox="1"/>
              <p:nvPr/>
            </p:nvSpPr>
            <p:spPr>
              <a:xfrm>
                <a:off x="735724" y="3930869"/>
                <a:ext cx="59488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 err="1"/>
                  <a:t>i.e</a:t>
                </a:r>
                <a:r>
                  <a:rPr lang="en-IN" i="1" dirty="0"/>
                  <a:t> </a:t>
                </a:r>
                <a:r>
                  <a:rPr lang="en-IN" dirty="0"/>
                  <a:t>To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𝐶𝑢𝑟𝑙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69162CA-2730-4F7F-B561-5D4626E1C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24" y="3930869"/>
                <a:ext cx="5948855" cy="369332"/>
              </a:xfrm>
              <a:prstGeom prst="rect">
                <a:avLst/>
              </a:prstGeom>
              <a:blipFill>
                <a:blip r:embed="rId7"/>
                <a:stretch>
                  <a:fillRect l="-922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E1B5E62-1A52-4254-89C8-964513BB9E9F}"/>
              </a:ext>
            </a:extLst>
          </p:cNvPr>
          <p:cNvCxnSpPr/>
          <p:nvPr/>
        </p:nvCxnSpPr>
        <p:spPr>
          <a:xfrm flipH="1" flipV="1">
            <a:off x="9890234" y="809297"/>
            <a:ext cx="105104" cy="73572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3F1A979-33D0-4E39-BF83-3F24E31B96B6}"/>
                  </a:ext>
                </a:extLst>
              </p:cNvPr>
              <p:cNvSpPr txBox="1"/>
              <p:nvPr/>
            </p:nvSpPr>
            <p:spPr>
              <a:xfrm>
                <a:off x="9714186" y="671926"/>
                <a:ext cx="117453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𝐶𝑢𝑟𝑙</m:t>
                          </m:r>
                          <m:r>
                            <a:rPr lang="en-IN" sz="1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  <m:r>
                            <a:rPr lang="en-IN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IN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IN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3F1A979-33D0-4E39-BF83-3F24E31B9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4186" y="671926"/>
                <a:ext cx="1174531" cy="276999"/>
              </a:xfrm>
              <a:prstGeom prst="rect">
                <a:avLst/>
              </a:prstGeom>
              <a:blipFill>
                <a:blip r:embed="rId8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5027FD1-C8C9-4D53-9551-7B8E0F761F94}"/>
                  </a:ext>
                </a:extLst>
              </p:cNvPr>
              <p:cNvSpPr txBox="1"/>
              <p:nvPr/>
            </p:nvSpPr>
            <p:spPr>
              <a:xfrm>
                <a:off x="1545021" y="4614041"/>
                <a:ext cx="4266499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Calculate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about the perimeter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IN" i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5027FD1-C8C9-4D53-9551-7B8E0F761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021" y="4614041"/>
                <a:ext cx="4266499" cy="412164"/>
              </a:xfrm>
              <a:prstGeom prst="rect">
                <a:avLst/>
              </a:prstGeom>
              <a:blipFill>
                <a:blip r:embed="rId9"/>
                <a:stretch>
                  <a:fillRect l="-1143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928BD9-1BF6-472E-A7B2-542D2469DAED}"/>
                  </a:ext>
                </a:extLst>
              </p:cNvPr>
              <p:cNvSpPr txBox="1"/>
              <p:nvPr/>
            </p:nvSpPr>
            <p:spPr>
              <a:xfrm>
                <a:off x="10522630" y="1304208"/>
                <a:ext cx="807979" cy="657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1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  <m:r>
                            <a:rPr lang="en-IN" sz="1400" b="1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𝒅𝒍</m:t>
                          </m:r>
                        </m:e>
                      </m:nary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928BD9-1BF6-472E-A7B2-542D2469D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2630" y="1304208"/>
                <a:ext cx="807979" cy="65742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705C55-83A6-494E-A847-1946E1EA19D1}"/>
                  </a:ext>
                </a:extLst>
              </p:cNvPr>
              <p:cNvSpPr txBox="1"/>
              <p:nvPr/>
            </p:nvSpPr>
            <p:spPr>
              <a:xfrm>
                <a:off x="5689600" y="4612640"/>
                <a:ext cx="46024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/>
                  <a:t>i.e Circulation of </a:t>
                </a:r>
                <a:r>
                  <a:rPr lang="en-IN" b="1" dirty="0"/>
                  <a:t>H</a:t>
                </a:r>
                <a:r>
                  <a:rPr lang="en-IN" dirty="0"/>
                  <a:t> </a:t>
                </a:r>
                <a:r>
                  <a:rPr lang="en-IN" i="1" dirty="0"/>
                  <a:t>per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dirty="0"/>
                  <a:t> </a:t>
                </a:r>
                <a:r>
                  <a:rPr lang="en-IN" i="1" dirty="0"/>
                  <a:t>units of area</a:t>
                </a:r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705C55-83A6-494E-A847-1946E1EA1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0" y="4612640"/>
                <a:ext cx="4602480" cy="369332"/>
              </a:xfrm>
              <a:prstGeom prst="rect">
                <a:avLst/>
              </a:prstGeom>
              <a:blipFill>
                <a:blip r:embed="rId11"/>
                <a:stretch>
                  <a:fillRect l="-1060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F40C55-3C81-4B2C-AB47-5375FBF785E5}"/>
                  </a:ext>
                </a:extLst>
              </p:cNvPr>
              <p:cNvSpPr txBox="1"/>
              <p:nvPr/>
            </p:nvSpPr>
            <p:spPr>
              <a:xfrm>
                <a:off x="1574800" y="5191760"/>
                <a:ext cx="8503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Now Calculate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𝐶𝑢𝑟𝑙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r>
                  <a:rPr lang="en-IN" i="1" dirty="0" err="1"/>
                  <a:t>i.e</a:t>
                </a:r>
                <a:r>
                  <a:rPr lang="en-IN" i="1" dirty="0"/>
                  <a:t> </a:t>
                </a:r>
                <a:r>
                  <a:rPr lang="en-IN" dirty="0"/>
                  <a:t> </a:t>
                </a:r>
                <a:r>
                  <a:rPr lang="en-IN" i="1" dirty="0"/>
                  <a:t>Circulation per Unit area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F40C55-3C81-4B2C-AB47-5375FBF78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800" y="5191760"/>
                <a:ext cx="8503920" cy="369332"/>
              </a:xfrm>
              <a:prstGeom prst="rect">
                <a:avLst/>
              </a:prstGeom>
              <a:blipFill>
                <a:blip r:embed="rId12"/>
                <a:stretch>
                  <a:fillRect l="-573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385A06-E476-4E92-8C9A-C0604F4B354A}"/>
                  </a:ext>
                </a:extLst>
              </p:cNvPr>
              <p:cNvSpPr txBox="1"/>
              <p:nvPr/>
            </p:nvSpPr>
            <p:spPr>
              <a:xfrm>
                <a:off x="3332480" y="5953760"/>
                <a:ext cx="5781040" cy="539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𝐶𝑢𝑟𝑙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∮"/>
                            <m:limLoc m:val="undOvr"/>
                            <m:subHide m:val="on"/>
                            <m:sup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IN" b="1">
                                <a:latin typeface="Cambria Math" panose="02040503050406030204" pitchFamily="18" charset="0"/>
                              </a:rPr>
                              <m:t>𝐇</m:t>
                            </m:r>
                            <m:r>
                              <a:rPr lang="en-IN" b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𝒅𝒍</m:t>
                            </m:r>
                          </m:e>
                        </m:nary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385A06-E476-4E92-8C9A-C0604F4B3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2480" y="5953760"/>
                <a:ext cx="5781040" cy="539378"/>
              </a:xfrm>
              <a:prstGeom prst="rect">
                <a:avLst/>
              </a:prstGeom>
              <a:blipFill>
                <a:blip r:embed="rId13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147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5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27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8" decel="50000" autoRev="1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0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2" presetClass="entr" presetSubtype="4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26" grpId="0" animBg="1"/>
      <p:bldP spid="27" grpId="0" animBg="1"/>
      <p:bldP spid="28" grpId="0" animBg="1"/>
      <p:bldP spid="35" grpId="0"/>
      <p:bldP spid="63" grpId="0" animBg="1"/>
      <p:bldP spid="64" grpId="0"/>
      <p:bldP spid="66" grpId="0"/>
      <p:bldP spid="67" grpId="0"/>
      <p:bldP spid="68" grpId="0"/>
      <p:bldP spid="69" grpId="0"/>
      <p:bldP spid="73" grpId="0"/>
      <p:bldP spid="74" grpId="0"/>
      <p:bldP spid="13" grpId="1"/>
      <p:bldP spid="15" grpId="1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C3DAD3-4B79-48A0-BFB9-A96883E38AE4}"/>
              </a:ext>
            </a:extLst>
          </p:cNvPr>
          <p:cNvSpPr/>
          <p:nvPr/>
        </p:nvSpPr>
        <p:spPr>
          <a:xfrm>
            <a:off x="6231995" y="664693"/>
            <a:ext cx="5286704" cy="2764244"/>
          </a:xfrm>
          <a:custGeom>
            <a:avLst/>
            <a:gdLst>
              <a:gd name="connsiteX0" fmla="*/ 0 w 5065987"/>
              <a:gd name="connsiteY0" fmla="*/ 315317 h 1891862"/>
              <a:gd name="connsiteX1" fmla="*/ 315317 w 5065987"/>
              <a:gd name="connsiteY1" fmla="*/ 0 h 1891862"/>
              <a:gd name="connsiteX2" fmla="*/ 4750670 w 5065987"/>
              <a:gd name="connsiteY2" fmla="*/ 0 h 1891862"/>
              <a:gd name="connsiteX3" fmla="*/ 5065987 w 5065987"/>
              <a:gd name="connsiteY3" fmla="*/ 315317 h 1891862"/>
              <a:gd name="connsiteX4" fmla="*/ 5065987 w 5065987"/>
              <a:gd name="connsiteY4" fmla="*/ 1576545 h 1891862"/>
              <a:gd name="connsiteX5" fmla="*/ 4750670 w 5065987"/>
              <a:gd name="connsiteY5" fmla="*/ 1891862 h 1891862"/>
              <a:gd name="connsiteX6" fmla="*/ 315317 w 5065987"/>
              <a:gd name="connsiteY6" fmla="*/ 1891862 h 1891862"/>
              <a:gd name="connsiteX7" fmla="*/ 0 w 5065987"/>
              <a:gd name="connsiteY7" fmla="*/ 1576545 h 1891862"/>
              <a:gd name="connsiteX8" fmla="*/ 0 w 5065987"/>
              <a:gd name="connsiteY8" fmla="*/ 315317 h 1891862"/>
              <a:gd name="connsiteX0" fmla="*/ 0 w 5065987"/>
              <a:gd name="connsiteY0" fmla="*/ 998489 h 2575034"/>
              <a:gd name="connsiteX1" fmla="*/ 315317 w 5065987"/>
              <a:gd name="connsiteY1" fmla="*/ 683172 h 2575034"/>
              <a:gd name="connsiteX2" fmla="*/ 3920353 w 5065987"/>
              <a:gd name="connsiteY2" fmla="*/ 0 h 2575034"/>
              <a:gd name="connsiteX3" fmla="*/ 5065987 w 5065987"/>
              <a:gd name="connsiteY3" fmla="*/ 998489 h 2575034"/>
              <a:gd name="connsiteX4" fmla="*/ 5065987 w 5065987"/>
              <a:gd name="connsiteY4" fmla="*/ 2259717 h 2575034"/>
              <a:gd name="connsiteX5" fmla="*/ 4750670 w 5065987"/>
              <a:gd name="connsiteY5" fmla="*/ 2575034 h 2575034"/>
              <a:gd name="connsiteX6" fmla="*/ 315317 w 5065987"/>
              <a:gd name="connsiteY6" fmla="*/ 2575034 h 2575034"/>
              <a:gd name="connsiteX7" fmla="*/ 0 w 5065987"/>
              <a:gd name="connsiteY7" fmla="*/ 2259717 h 2575034"/>
              <a:gd name="connsiteX8" fmla="*/ 0 w 5065987"/>
              <a:gd name="connsiteY8" fmla="*/ 998489 h 2575034"/>
              <a:gd name="connsiteX0" fmla="*/ 0 w 5065987"/>
              <a:gd name="connsiteY0" fmla="*/ 998513 h 2575058"/>
              <a:gd name="connsiteX1" fmla="*/ 315317 w 5065987"/>
              <a:gd name="connsiteY1" fmla="*/ 683196 h 2575058"/>
              <a:gd name="connsiteX2" fmla="*/ 3920353 w 5065987"/>
              <a:gd name="connsiteY2" fmla="*/ 24 h 2575058"/>
              <a:gd name="connsiteX3" fmla="*/ 5034456 w 5065987"/>
              <a:gd name="connsiteY3" fmla="*/ 168196 h 2575058"/>
              <a:gd name="connsiteX4" fmla="*/ 5065987 w 5065987"/>
              <a:gd name="connsiteY4" fmla="*/ 2259741 h 2575058"/>
              <a:gd name="connsiteX5" fmla="*/ 4750670 w 5065987"/>
              <a:gd name="connsiteY5" fmla="*/ 2575058 h 2575058"/>
              <a:gd name="connsiteX6" fmla="*/ 315317 w 5065987"/>
              <a:gd name="connsiteY6" fmla="*/ 2575058 h 2575058"/>
              <a:gd name="connsiteX7" fmla="*/ 0 w 5065987"/>
              <a:gd name="connsiteY7" fmla="*/ 2259741 h 2575058"/>
              <a:gd name="connsiteX8" fmla="*/ 0 w 5065987"/>
              <a:gd name="connsiteY8" fmla="*/ 998513 h 2575058"/>
              <a:gd name="connsiteX0" fmla="*/ 0 w 5202621"/>
              <a:gd name="connsiteY0" fmla="*/ 1576582 h 2575058"/>
              <a:gd name="connsiteX1" fmla="*/ 451951 w 5202621"/>
              <a:gd name="connsiteY1" fmla="*/ 683196 h 2575058"/>
              <a:gd name="connsiteX2" fmla="*/ 4056987 w 5202621"/>
              <a:gd name="connsiteY2" fmla="*/ 24 h 2575058"/>
              <a:gd name="connsiteX3" fmla="*/ 5171090 w 5202621"/>
              <a:gd name="connsiteY3" fmla="*/ 168196 h 2575058"/>
              <a:gd name="connsiteX4" fmla="*/ 5202621 w 5202621"/>
              <a:gd name="connsiteY4" fmla="*/ 2259741 h 2575058"/>
              <a:gd name="connsiteX5" fmla="*/ 4887304 w 5202621"/>
              <a:gd name="connsiteY5" fmla="*/ 2575058 h 2575058"/>
              <a:gd name="connsiteX6" fmla="*/ 451951 w 5202621"/>
              <a:gd name="connsiteY6" fmla="*/ 2575058 h 2575058"/>
              <a:gd name="connsiteX7" fmla="*/ 136634 w 5202621"/>
              <a:gd name="connsiteY7" fmla="*/ 2259741 h 2575058"/>
              <a:gd name="connsiteX8" fmla="*/ 0 w 5202621"/>
              <a:gd name="connsiteY8" fmla="*/ 1576582 h 2575058"/>
              <a:gd name="connsiteX0" fmla="*/ 0 w 5202621"/>
              <a:gd name="connsiteY0" fmla="*/ 1576582 h 2575058"/>
              <a:gd name="connsiteX1" fmla="*/ 945937 w 5202621"/>
              <a:gd name="connsiteY1" fmla="*/ 525541 h 2575058"/>
              <a:gd name="connsiteX2" fmla="*/ 4056987 w 5202621"/>
              <a:gd name="connsiteY2" fmla="*/ 24 h 2575058"/>
              <a:gd name="connsiteX3" fmla="*/ 5171090 w 5202621"/>
              <a:gd name="connsiteY3" fmla="*/ 168196 h 2575058"/>
              <a:gd name="connsiteX4" fmla="*/ 5202621 w 5202621"/>
              <a:gd name="connsiteY4" fmla="*/ 2259741 h 2575058"/>
              <a:gd name="connsiteX5" fmla="*/ 4887304 w 5202621"/>
              <a:gd name="connsiteY5" fmla="*/ 2575058 h 2575058"/>
              <a:gd name="connsiteX6" fmla="*/ 451951 w 5202621"/>
              <a:gd name="connsiteY6" fmla="*/ 2575058 h 2575058"/>
              <a:gd name="connsiteX7" fmla="*/ 136634 w 5202621"/>
              <a:gd name="connsiteY7" fmla="*/ 2259741 h 2575058"/>
              <a:gd name="connsiteX8" fmla="*/ 0 w 5202621"/>
              <a:gd name="connsiteY8" fmla="*/ 1576582 h 2575058"/>
              <a:gd name="connsiteX0" fmla="*/ 0 w 5307724"/>
              <a:gd name="connsiteY0" fmla="*/ 1156168 h 2575058"/>
              <a:gd name="connsiteX1" fmla="*/ 1051040 w 5307724"/>
              <a:gd name="connsiteY1" fmla="*/ 525541 h 2575058"/>
              <a:gd name="connsiteX2" fmla="*/ 4162090 w 5307724"/>
              <a:gd name="connsiteY2" fmla="*/ 24 h 2575058"/>
              <a:gd name="connsiteX3" fmla="*/ 5276193 w 5307724"/>
              <a:gd name="connsiteY3" fmla="*/ 168196 h 2575058"/>
              <a:gd name="connsiteX4" fmla="*/ 5307724 w 5307724"/>
              <a:gd name="connsiteY4" fmla="*/ 2259741 h 2575058"/>
              <a:gd name="connsiteX5" fmla="*/ 4992407 w 5307724"/>
              <a:gd name="connsiteY5" fmla="*/ 2575058 h 2575058"/>
              <a:gd name="connsiteX6" fmla="*/ 557054 w 5307724"/>
              <a:gd name="connsiteY6" fmla="*/ 2575058 h 2575058"/>
              <a:gd name="connsiteX7" fmla="*/ 241737 w 5307724"/>
              <a:gd name="connsiteY7" fmla="*/ 2259741 h 2575058"/>
              <a:gd name="connsiteX8" fmla="*/ 0 w 5307724"/>
              <a:gd name="connsiteY8" fmla="*/ 1156168 h 2575058"/>
              <a:gd name="connsiteX0" fmla="*/ 105104 w 5065987"/>
              <a:gd name="connsiteY0" fmla="*/ 998513 h 2575058"/>
              <a:gd name="connsiteX1" fmla="*/ 809303 w 5065987"/>
              <a:gd name="connsiteY1" fmla="*/ 525541 h 2575058"/>
              <a:gd name="connsiteX2" fmla="*/ 3920353 w 5065987"/>
              <a:gd name="connsiteY2" fmla="*/ 24 h 2575058"/>
              <a:gd name="connsiteX3" fmla="*/ 5034456 w 5065987"/>
              <a:gd name="connsiteY3" fmla="*/ 168196 h 2575058"/>
              <a:gd name="connsiteX4" fmla="*/ 5065987 w 5065987"/>
              <a:gd name="connsiteY4" fmla="*/ 2259741 h 2575058"/>
              <a:gd name="connsiteX5" fmla="*/ 4750670 w 5065987"/>
              <a:gd name="connsiteY5" fmla="*/ 2575058 h 2575058"/>
              <a:gd name="connsiteX6" fmla="*/ 315317 w 5065987"/>
              <a:gd name="connsiteY6" fmla="*/ 2575058 h 2575058"/>
              <a:gd name="connsiteX7" fmla="*/ 0 w 5065987"/>
              <a:gd name="connsiteY7" fmla="*/ 2259741 h 2575058"/>
              <a:gd name="connsiteX8" fmla="*/ 105104 w 5065987"/>
              <a:gd name="connsiteY8" fmla="*/ 998513 h 2575058"/>
              <a:gd name="connsiteX0" fmla="*/ 105104 w 5065987"/>
              <a:gd name="connsiteY0" fmla="*/ 998513 h 2575058"/>
              <a:gd name="connsiteX1" fmla="*/ 651648 w 5065987"/>
              <a:gd name="connsiteY1" fmla="*/ 609624 h 2575058"/>
              <a:gd name="connsiteX2" fmla="*/ 3920353 w 5065987"/>
              <a:gd name="connsiteY2" fmla="*/ 24 h 2575058"/>
              <a:gd name="connsiteX3" fmla="*/ 5034456 w 5065987"/>
              <a:gd name="connsiteY3" fmla="*/ 168196 h 2575058"/>
              <a:gd name="connsiteX4" fmla="*/ 5065987 w 5065987"/>
              <a:gd name="connsiteY4" fmla="*/ 2259741 h 2575058"/>
              <a:gd name="connsiteX5" fmla="*/ 4750670 w 5065987"/>
              <a:gd name="connsiteY5" fmla="*/ 2575058 h 2575058"/>
              <a:gd name="connsiteX6" fmla="*/ 315317 w 5065987"/>
              <a:gd name="connsiteY6" fmla="*/ 2575058 h 2575058"/>
              <a:gd name="connsiteX7" fmla="*/ 0 w 5065987"/>
              <a:gd name="connsiteY7" fmla="*/ 2259741 h 2575058"/>
              <a:gd name="connsiteX8" fmla="*/ 105104 w 5065987"/>
              <a:gd name="connsiteY8" fmla="*/ 998513 h 2575058"/>
              <a:gd name="connsiteX0" fmla="*/ 105104 w 5065987"/>
              <a:gd name="connsiteY0" fmla="*/ 998513 h 2858838"/>
              <a:gd name="connsiteX1" fmla="*/ 651648 w 5065987"/>
              <a:gd name="connsiteY1" fmla="*/ 609624 h 2858838"/>
              <a:gd name="connsiteX2" fmla="*/ 3920353 w 5065987"/>
              <a:gd name="connsiteY2" fmla="*/ 24 h 2858838"/>
              <a:gd name="connsiteX3" fmla="*/ 5034456 w 5065987"/>
              <a:gd name="connsiteY3" fmla="*/ 168196 h 2858838"/>
              <a:gd name="connsiteX4" fmla="*/ 5065987 w 5065987"/>
              <a:gd name="connsiteY4" fmla="*/ 2259741 h 2858838"/>
              <a:gd name="connsiteX5" fmla="*/ 4750670 w 5065987"/>
              <a:gd name="connsiteY5" fmla="*/ 2575058 h 2858838"/>
              <a:gd name="connsiteX6" fmla="*/ 819813 w 5065987"/>
              <a:gd name="connsiteY6" fmla="*/ 2858838 h 2858838"/>
              <a:gd name="connsiteX7" fmla="*/ 0 w 5065987"/>
              <a:gd name="connsiteY7" fmla="*/ 2259741 h 2858838"/>
              <a:gd name="connsiteX8" fmla="*/ 105104 w 5065987"/>
              <a:gd name="connsiteY8" fmla="*/ 998513 h 2858838"/>
              <a:gd name="connsiteX0" fmla="*/ 84083 w 5044966"/>
              <a:gd name="connsiteY0" fmla="*/ 998513 h 2858838"/>
              <a:gd name="connsiteX1" fmla="*/ 630627 w 5044966"/>
              <a:gd name="connsiteY1" fmla="*/ 609624 h 2858838"/>
              <a:gd name="connsiteX2" fmla="*/ 3899332 w 5044966"/>
              <a:gd name="connsiteY2" fmla="*/ 24 h 2858838"/>
              <a:gd name="connsiteX3" fmla="*/ 5013435 w 5044966"/>
              <a:gd name="connsiteY3" fmla="*/ 168196 h 2858838"/>
              <a:gd name="connsiteX4" fmla="*/ 5044966 w 5044966"/>
              <a:gd name="connsiteY4" fmla="*/ 2259741 h 2858838"/>
              <a:gd name="connsiteX5" fmla="*/ 4729649 w 5044966"/>
              <a:gd name="connsiteY5" fmla="*/ 2575058 h 2858838"/>
              <a:gd name="connsiteX6" fmla="*/ 798792 w 5044966"/>
              <a:gd name="connsiteY6" fmla="*/ 2858838 h 2858838"/>
              <a:gd name="connsiteX7" fmla="*/ 0 w 5044966"/>
              <a:gd name="connsiteY7" fmla="*/ 2554031 h 2858838"/>
              <a:gd name="connsiteX8" fmla="*/ 84083 w 5044966"/>
              <a:gd name="connsiteY8" fmla="*/ 998513 h 2858838"/>
              <a:gd name="connsiteX0" fmla="*/ 84083 w 5044966"/>
              <a:gd name="connsiteY0" fmla="*/ 998513 h 2858838"/>
              <a:gd name="connsiteX1" fmla="*/ 630627 w 5044966"/>
              <a:gd name="connsiteY1" fmla="*/ 609624 h 2858838"/>
              <a:gd name="connsiteX2" fmla="*/ 3899332 w 5044966"/>
              <a:gd name="connsiteY2" fmla="*/ 24 h 2858838"/>
              <a:gd name="connsiteX3" fmla="*/ 5013435 w 5044966"/>
              <a:gd name="connsiteY3" fmla="*/ 168196 h 2858838"/>
              <a:gd name="connsiteX4" fmla="*/ 5044966 w 5044966"/>
              <a:gd name="connsiteY4" fmla="*/ 2259741 h 2858838"/>
              <a:gd name="connsiteX5" fmla="*/ 3783718 w 5044966"/>
              <a:gd name="connsiteY5" fmla="*/ 2196685 h 2858838"/>
              <a:gd name="connsiteX6" fmla="*/ 798792 w 5044966"/>
              <a:gd name="connsiteY6" fmla="*/ 2858838 h 2858838"/>
              <a:gd name="connsiteX7" fmla="*/ 0 w 5044966"/>
              <a:gd name="connsiteY7" fmla="*/ 2554031 h 2858838"/>
              <a:gd name="connsiteX8" fmla="*/ 84083 w 5044966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3783718 w 5286704"/>
              <a:gd name="connsiteY5" fmla="*/ 2196685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3794228 w 5286704"/>
              <a:gd name="connsiteY5" fmla="*/ 2364850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4246172 w 5286704"/>
              <a:gd name="connsiteY5" fmla="*/ 2196684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3594531 w 5286704"/>
              <a:gd name="connsiteY5" fmla="*/ 2333319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3247689 w 5286704"/>
              <a:gd name="connsiteY5" fmla="*/ 2427912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900879"/>
              <a:gd name="connsiteX1" fmla="*/ 630627 w 5286704"/>
              <a:gd name="connsiteY1" fmla="*/ 609624 h 2900879"/>
              <a:gd name="connsiteX2" fmla="*/ 3899332 w 5286704"/>
              <a:gd name="connsiteY2" fmla="*/ 24 h 2900879"/>
              <a:gd name="connsiteX3" fmla="*/ 5013435 w 5286704"/>
              <a:gd name="connsiteY3" fmla="*/ 168196 h 2900879"/>
              <a:gd name="connsiteX4" fmla="*/ 5286704 w 5286704"/>
              <a:gd name="connsiteY4" fmla="*/ 2280761 h 2900879"/>
              <a:gd name="connsiteX5" fmla="*/ 3247689 w 5286704"/>
              <a:gd name="connsiteY5" fmla="*/ 2427912 h 2900879"/>
              <a:gd name="connsiteX6" fmla="*/ 1345330 w 5286704"/>
              <a:gd name="connsiteY6" fmla="*/ 2900879 h 2900879"/>
              <a:gd name="connsiteX7" fmla="*/ 0 w 5286704"/>
              <a:gd name="connsiteY7" fmla="*/ 2554031 h 2900879"/>
              <a:gd name="connsiteX8" fmla="*/ 84083 w 5286704"/>
              <a:gd name="connsiteY8" fmla="*/ 998513 h 2900879"/>
              <a:gd name="connsiteX0" fmla="*/ 84083 w 5286704"/>
              <a:gd name="connsiteY0" fmla="*/ 998513 h 2764244"/>
              <a:gd name="connsiteX1" fmla="*/ 630627 w 5286704"/>
              <a:gd name="connsiteY1" fmla="*/ 609624 h 2764244"/>
              <a:gd name="connsiteX2" fmla="*/ 3899332 w 5286704"/>
              <a:gd name="connsiteY2" fmla="*/ 24 h 2764244"/>
              <a:gd name="connsiteX3" fmla="*/ 5013435 w 5286704"/>
              <a:gd name="connsiteY3" fmla="*/ 168196 h 2764244"/>
              <a:gd name="connsiteX4" fmla="*/ 5286704 w 5286704"/>
              <a:gd name="connsiteY4" fmla="*/ 2280761 h 2764244"/>
              <a:gd name="connsiteX5" fmla="*/ 3247689 w 5286704"/>
              <a:gd name="connsiteY5" fmla="*/ 2427912 h 2764244"/>
              <a:gd name="connsiteX6" fmla="*/ 1345330 w 5286704"/>
              <a:gd name="connsiteY6" fmla="*/ 2764244 h 2764244"/>
              <a:gd name="connsiteX7" fmla="*/ 0 w 5286704"/>
              <a:gd name="connsiteY7" fmla="*/ 2554031 h 2764244"/>
              <a:gd name="connsiteX8" fmla="*/ 84083 w 5286704"/>
              <a:gd name="connsiteY8" fmla="*/ 998513 h 2764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86704" h="2764244">
                <a:moveTo>
                  <a:pt x="84083" y="998513"/>
                </a:moveTo>
                <a:cubicBezTo>
                  <a:pt x="84083" y="824368"/>
                  <a:pt x="456482" y="609624"/>
                  <a:pt x="630627" y="609624"/>
                </a:cubicBezTo>
                <a:cubicBezTo>
                  <a:pt x="2109078" y="609624"/>
                  <a:pt x="2420881" y="24"/>
                  <a:pt x="3899332" y="24"/>
                </a:cubicBezTo>
                <a:cubicBezTo>
                  <a:pt x="4073477" y="24"/>
                  <a:pt x="5013435" y="-5949"/>
                  <a:pt x="5013435" y="168196"/>
                </a:cubicBezTo>
                <a:lnTo>
                  <a:pt x="5286704" y="2280761"/>
                </a:lnTo>
                <a:cubicBezTo>
                  <a:pt x="5286704" y="2454906"/>
                  <a:pt x="3421834" y="2427912"/>
                  <a:pt x="3247689" y="2427912"/>
                </a:cubicBezTo>
                <a:lnTo>
                  <a:pt x="1345330" y="2764244"/>
                </a:lnTo>
                <a:cubicBezTo>
                  <a:pt x="1171185" y="2764244"/>
                  <a:pt x="0" y="2728176"/>
                  <a:pt x="0" y="2554031"/>
                </a:cubicBezTo>
                <a:lnTo>
                  <a:pt x="84083" y="998513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: Rounded Corners 3">
            <a:extLst>
              <a:ext uri="{FF2B5EF4-FFF2-40B4-BE49-F238E27FC236}">
                <a16:creationId xmlns:a16="http://schemas.microsoft.com/office/drawing/2014/main" id="{27B4F657-3B3C-44D8-9F58-1407A3AC33FB}"/>
              </a:ext>
            </a:extLst>
          </p:cNvPr>
          <p:cNvSpPr/>
          <p:nvPr/>
        </p:nvSpPr>
        <p:spPr>
          <a:xfrm>
            <a:off x="6221835" y="685013"/>
            <a:ext cx="5286704" cy="2764244"/>
          </a:xfrm>
          <a:custGeom>
            <a:avLst/>
            <a:gdLst>
              <a:gd name="connsiteX0" fmla="*/ 0 w 5065987"/>
              <a:gd name="connsiteY0" fmla="*/ 315317 h 1891862"/>
              <a:gd name="connsiteX1" fmla="*/ 315317 w 5065987"/>
              <a:gd name="connsiteY1" fmla="*/ 0 h 1891862"/>
              <a:gd name="connsiteX2" fmla="*/ 4750670 w 5065987"/>
              <a:gd name="connsiteY2" fmla="*/ 0 h 1891862"/>
              <a:gd name="connsiteX3" fmla="*/ 5065987 w 5065987"/>
              <a:gd name="connsiteY3" fmla="*/ 315317 h 1891862"/>
              <a:gd name="connsiteX4" fmla="*/ 5065987 w 5065987"/>
              <a:gd name="connsiteY4" fmla="*/ 1576545 h 1891862"/>
              <a:gd name="connsiteX5" fmla="*/ 4750670 w 5065987"/>
              <a:gd name="connsiteY5" fmla="*/ 1891862 h 1891862"/>
              <a:gd name="connsiteX6" fmla="*/ 315317 w 5065987"/>
              <a:gd name="connsiteY6" fmla="*/ 1891862 h 1891862"/>
              <a:gd name="connsiteX7" fmla="*/ 0 w 5065987"/>
              <a:gd name="connsiteY7" fmla="*/ 1576545 h 1891862"/>
              <a:gd name="connsiteX8" fmla="*/ 0 w 5065987"/>
              <a:gd name="connsiteY8" fmla="*/ 315317 h 1891862"/>
              <a:gd name="connsiteX0" fmla="*/ 0 w 5065987"/>
              <a:gd name="connsiteY0" fmla="*/ 998489 h 2575034"/>
              <a:gd name="connsiteX1" fmla="*/ 315317 w 5065987"/>
              <a:gd name="connsiteY1" fmla="*/ 683172 h 2575034"/>
              <a:gd name="connsiteX2" fmla="*/ 3920353 w 5065987"/>
              <a:gd name="connsiteY2" fmla="*/ 0 h 2575034"/>
              <a:gd name="connsiteX3" fmla="*/ 5065987 w 5065987"/>
              <a:gd name="connsiteY3" fmla="*/ 998489 h 2575034"/>
              <a:gd name="connsiteX4" fmla="*/ 5065987 w 5065987"/>
              <a:gd name="connsiteY4" fmla="*/ 2259717 h 2575034"/>
              <a:gd name="connsiteX5" fmla="*/ 4750670 w 5065987"/>
              <a:gd name="connsiteY5" fmla="*/ 2575034 h 2575034"/>
              <a:gd name="connsiteX6" fmla="*/ 315317 w 5065987"/>
              <a:gd name="connsiteY6" fmla="*/ 2575034 h 2575034"/>
              <a:gd name="connsiteX7" fmla="*/ 0 w 5065987"/>
              <a:gd name="connsiteY7" fmla="*/ 2259717 h 2575034"/>
              <a:gd name="connsiteX8" fmla="*/ 0 w 5065987"/>
              <a:gd name="connsiteY8" fmla="*/ 998489 h 2575034"/>
              <a:gd name="connsiteX0" fmla="*/ 0 w 5065987"/>
              <a:gd name="connsiteY0" fmla="*/ 998513 h 2575058"/>
              <a:gd name="connsiteX1" fmla="*/ 315317 w 5065987"/>
              <a:gd name="connsiteY1" fmla="*/ 683196 h 2575058"/>
              <a:gd name="connsiteX2" fmla="*/ 3920353 w 5065987"/>
              <a:gd name="connsiteY2" fmla="*/ 24 h 2575058"/>
              <a:gd name="connsiteX3" fmla="*/ 5034456 w 5065987"/>
              <a:gd name="connsiteY3" fmla="*/ 168196 h 2575058"/>
              <a:gd name="connsiteX4" fmla="*/ 5065987 w 5065987"/>
              <a:gd name="connsiteY4" fmla="*/ 2259741 h 2575058"/>
              <a:gd name="connsiteX5" fmla="*/ 4750670 w 5065987"/>
              <a:gd name="connsiteY5" fmla="*/ 2575058 h 2575058"/>
              <a:gd name="connsiteX6" fmla="*/ 315317 w 5065987"/>
              <a:gd name="connsiteY6" fmla="*/ 2575058 h 2575058"/>
              <a:gd name="connsiteX7" fmla="*/ 0 w 5065987"/>
              <a:gd name="connsiteY7" fmla="*/ 2259741 h 2575058"/>
              <a:gd name="connsiteX8" fmla="*/ 0 w 5065987"/>
              <a:gd name="connsiteY8" fmla="*/ 998513 h 2575058"/>
              <a:gd name="connsiteX0" fmla="*/ 0 w 5202621"/>
              <a:gd name="connsiteY0" fmla="*/ 1576582 h 2575058"/>
              <a:gd name="connsiteX1" fmla="*/ 451951 w 5202621"/>
              <a:gd name="connsiteY1" fmla="*/ 683196 h 2575058"/>
              <a:gd name="connsiteX2" fmla="*/ 4056987 w 5202621"/>
              <a:gd name="connsiteY2" fmla="*/ 24 h 2575058"/>
              <a:gd name="connsiteX3" fmla="*/ 5171090 w 5202621"/>
              <a:gd name="connsiteY3" fmla="*/ 168196 h 2575058"/>
              <a:gd name="connsiteX4" fmla="*/ 5202621 w 5202621"/>
              <a:gd name="connsiteY4" fmla="*/ 2259741 h 2575058"/>
              <a:gd name="connsiteX5" fmla="*/ 4887304 w 5202621"/>
              <a:gd name="connsiteY5" fmla="*/ 2575058 h 2575058"/>
              <a:gd name="connsiteX6" fmla="*/ 451951 w 5202621"/>
              <a:gd name="connsiteY6" fmla="*/ 2575058 h 2575058"/>
              <a:gd name="connsiteX7" fmla="*/ 136634 w 5202621"/>
              <a:gd name="connsiteY7" fmla="*/ 2259741 h 2575058"/>
              <a:gd name="connsiteX8" fmla="*/ 0 w 5202621"/>
              <a:gd name="connsiteY8" fmla="*/ 1576582 h 2575058"/>
              <a:gd name="connsiteX0" fmla="*/ 0 w 5202621"/>
              <a:gd name="connsiteY0" fmla="*/ 1576582 h 2575058"/>
              <a:gd name="connsiteX1" fmla="*/ 945937 w 5202621"/>
              <a:gd name="connsiteY1" fmla="*/ 525541 h 2575058"/>
              <a:gd name="connsiteX2" fmla="*/ 4056987 w 5202621"/>
              <a:gd name="connsiteY2" fmla="*/ 24 h 2575058"/>
              <a:gd name="connsiteX3" fmla="*/ 5171090 w 5202621"/>
              <a:gd name="connsiteY3" fmla="*/ 168196 h 2575058"/>
              <a:gd name="connsiteX4" fmla="*/ 5202621 w 5202621"/>
              <a:gd name="connsiteY4" fmla="*/ 2259741 h 2575058"/>
              <a:gd name="connsiteX5" fmla="*/ 4887304 w 5202621"/>
              <a:gd name="connsiteY5" fmla="*/ 2575058 h 2575058"/>
              <a:gd name="connsiteX6" fmla="*/ 451951 w 5202621"/>
              <a:gd name="connsiteY6" fmla="*/ 2575058 h 2575058"/>
              <a:gd name="connsiteX7" fmla="*/ 136634 w 5202621"/>
              <a:gd name="connsiteY7" fmla="*/ 2259741 h 2575058"/>
              <a:gd name="connsiteX8" fmla="*/ 0 w 5202621"/>
              <a:gd name="connsiteY8" fmla="*/ 1576582 h 2575058"/>
              <a:gd name="connsiteX0" fmla="*/ 0 w 5307724"/>
              <a:gd name="connsiteY0" fmla="*/ 1156168 h 2575058"/>
              <a:gd name="connsiteX1" fmla="*/ 1051040 w 5307724"/>
              <a:gd name="connsiteY1" fmla="*/ 525541 h 2575058"/>
              <a:gd name="connsiteX2" fmla="*/ 4162090 w 5307724"/>
              <a:gd name="connsiteY2" fmla="*/ 24 h 2575058"/>
              <a:gd name="connsiteX3" fmla="*/ 5276193 w 5307724"/>
              <a:gd name="connsiteY3" fmla="*/ 168196 h 2575058"/>
              <a:gd name="connsiteX4" fmla="*/ 5307724 w 5307724"/>
              <a:gd name="connsiteY4" fmla="*/ 2259741 h 2575058"/>
              <a:gd name="connsiteX5" fmla="*/ 4992407 w 5307724"/>
              <a:gd name="connsiteY5" fmla="*/ 2575058 h 2575058"/>
              <a:gd name="connsiteX6" fmla="*/ 557054 w 5307724"/>
              <a:gd name="connsiteY6" fmla="*/ 2575058 h 2575058"/>
              <a:gd name="connsiteX7" fmla="*/ 241737 w 5307724"/>
              <a:gd name="connsiteY7" fmla="*/ 2259741 h 2575058"/>
              <a:gd name="connsiteX8" fmla="*/ 0 w 5307724"/>
              <a:gd name="connsiteY8" fmla="*/ 1156168 h 2575058"/>
              <a:gd name="connsiteX0" fmla="*/ 105104 w 5065987"/>
              <a:gd name="connsiteY0" fmla="*/ 998513 h 2575058"/>
              <a:gd name="connsiteX1" fmla="*/ 809303 w 5065987"/>
              <a:gd name="connsiteY1" fmla="*/ 525541 h 2575058"/>
              <a:gd name="connsiteX2" fmla="*/ 3920353 w 5065987"/>
              <a:gd name="connsiteY2" fmla="*/ 24 h 2575058"/>
              <a:gd name="connsiteX3" fmla="*/ 5034456 w 5065987"/>
              <a:gd name="connsiteY3" fmla="*/ 168196 h 2575058"/>
              <a:gd name="connsiteX4" fmla="*/ 5065987 w 5065987"/>
              <a:gd name="connsiteY4" fmla="*/ 2259741 h 2575058"/>
              <a:gd name="connsiteX5" fmla="*/ 4750670 w 5065987"/>
              <a:gd name="connsiteY5" fmla="*/ 2575058 h 2575058"/>
              <a:gd name="connsiteX6" fmla="*/ 315317 w 5065987"/>
              <a:gd name="connsiteY6" fmla="*/ 2575058 h 2575058"/>
              <a:gd name="connsiteX7" fmla="*/ 0 w 5065987"/>
              <a:gd name="connsiteY7" fmla="*/ 2259741 h 2575058"/>
              <a:gd name="connsiteX8" fmla="*/ 105104 w 5065987"/>
              <a:gd name="connsiteY8" fmla="*/ 998513 h 2575058"/>
              <a:gd name="connsiteX0" fmla="*/ 105104 w 5065987"/>
              <a:gd name="connsiteY0" fmla="*/ 998513 h 2575058"/>
              <a:gd name="connsiteX1" fmla="*/ 651648 w 5065987"/>
              <a:gd name="connsiteY1" fmla="*/ 609624 h 2575058"/>
              <a:gd name="connsiteX2" fmla="*/ 3920353 w 5065987"/>
              <a:gd name="connsiteY2" fmla="*/ 24 h 2575058"/>
              <a:gd name="connsiteX3" fmla="*/ 5034456 w 5065987"/>
              <a:gd name="connsiteY3" fmla="*/ 168196 h 2575058"/>
              <a:gd name="connsiteX4" fmla="*/ 5065987 w 5065987"/>
              <a:gd name="connsiteY4" fmla="*/ 2259741 h 2575058"/>
              <a:gd name="connsiteX5" fmla="*/ 4750670 w 5065987"/>
              <a:gd name="connsiteY5" fmla="*/ 2575058 h 2575058"/>
              <a:gd name="connsiteX6" fmla="*/ 315317 w 5065987"/>
              <a:gd name="connsiteY6" fmla="*/ 2575058 h 2575058"/>
              <a:gd name="connsiteX7" fmla="*/ 0 w 5065987"/>
              <a:gd name="connsiteY7" fmla="*/ 2259741 h 2575058"/>
              <a:gd name="connsiteX8" fmla="*/ 105104 w 5065987"/>
              <a:gd name="connsiteY8" fmla="*/ 998513 h 2575058"/>
              <a:gd name="connsiteX0" fmla="*/ 105104 w 5065987"/>
              <a:gd name="connsiteY0" fmla="*/ 998513 h 2858838"/>
              <a:gd name="connsiteX1" fmla="*/ 651648 w 5065987"/>
              <a:gd name="connsiteY1" fmla="*/ 609624 h 2858838"/>
              <a:gd name="connsiteX2" fmla="*/ 3920353 w 5065987"/>
              <a:gd name="connsiteY2" fmla="*/ 24 h 2858838"/>
              <a:gd name="connsiteX3" fmla="*/ 5034456 w 5065987"/>
              <a:gd name="connsiteY3" fmla="*/ 168196 h 2858838"/>
              <a:gd name="connsiteX4" fmla="*/ 5065987 w 5065987"/>
              <a:gd name="connsiteY4" fmla="*/ 2259741 h 2858838"/>
              <a:gd name="connsiteX5" fmla="*/ 4750670 w 5065987"/>
              <a:gd name="connsiteY5" fmla="*/ 2575058 h 2858838"/>
              <a:gd name="connsiteX6" fmla="*/ 819813 w 5065987"/>
              <a:gd name="connsiteY6" fmla="*/ 2858838 h 2858838"/>
              <a:gd name="connsiteX7" fmla="*/ 0 w 5065987"/>
              <a:gd name="connsiteY7" fmla="*/ 2259741 h 2858838"/>
              <a:gd name="connsiteX8" fmla="*/ 105104 w 5065987"/>
              <a:gd name="connsiteY8" fmla="*/ 998513 h 2858838"/>
              <a:gd name="connsiteX0" fmla="*/ 84083 w 5044966"/>
              <a:gd name="connsiteY0" fmla="*/ 998513 h 2858838"/>
              <a:gd name="connsiteX1" fmla="*/ 630627 w 5044966"/>
              <a:gd name="connsiteY1" fmla="*/ 609624 h 2858838"/>
              <a:gd name="connsiteX2" fmla="*/ 3899332 w 5044966"/>
              <a:gd name="connsiteY2" fmla="*/ 24 h 2858838"/>
              <a:gd name="connsiteX3" fmla="*/ 5013435 w 5044966"/>
              <a:gd name="connsiteY3" fmla="*/ 168196 h 2858838"/>
              <a:gd name="connsiteX4" fmla="*/ 5044966 w 5044966"/>
              <a:gd name="connsiteY4" fmla="*/ 2259741 h 2858838"/>
              <a:gd name="connsiteX5" fmla="*/ 4729649 w 5044966"/>
              <a:gd name="connsiteY5" fmla="*/ 2575058 h 2858838"/>
              <a:gd name="connsiteX6" fmla="*/ 798792 w 5044966"/>
              <a:gd name="connsiteY6" fmla="*/ 2858838 h 2858838"/>
              <a:gd name="connsiteX7" fmla="*/ 0 w 5044966"/>
              <a:gd name="connsiteY7" fmla="*/ 2554031 h 2858838"/>
              <a:gd name="connsiteX8" fmla="*/ 84083 w 5044966"/>
              <a:gd name="connsiteY8" fmla="*/ 998513 h 2858838"/>
              <a:gd name="connsiteX0" fmla="*/ 84083 w 5044966"/>
              <a:gd name="connsiteY0" fmla="*/ 998513 h 2858838"/>
              <a:gd name="connsiteX1" fmla="*/ 630627 w 5044966"/>
              <a:gd name="connsiteY1" fmla="*/ 609624 h 2858838"/>
              <a:gd name="connsiteX2" fmla="*/ 3899332 w 5044966"/>
              <a:gd name="connsiteY2" fmla="*/ 24 h 2858838"/>
              <a:gd name="connsiteX3" fmla="*/ 5013435 w 5044966"/>
              <a:gd name="connsiteY3" fmla="*/ 168196 h 2858838"/>
              <a:gd name="connsiteX4" fmla="*/ 5044966 w 5044966"/>
              <a:gd name="connsiteY4" fmla="*/ 2259741 h 2858838"/>
              <a:gd name="connsiteX5" fmla="*/ 3783718 w 5044966"/>
              <a:gd name="connsiteY5" fmla="*/ 2196685 h 2858838"/>
              <a:gd name="connsiteX6" fmla="*/ 798792 w 5044966"/>
              <a:gd name="connsiteY6" fmla="*/ 2858838 h 2858838"/>
              <a:gd name="connsiteX7" fmla="*/ 0 w 5044966"/>
              <a:gd name="connsiteY7" fmla="*/ 2554031 h 2858838"/>
              <a:gd name="connsiteX8" fmla="*/ 84083 w 5044966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3783718 w 5286704"/>
              <a:gd name="connsiteY5" fmla="*/ 2196685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3794228 w 5286704"/>
              <a:gd name="connsiteY5" fmla="*/ 2364850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4246172 w 5286704"/>
              <a:gd name="connsiteY5" fmla="*/ 2196684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3594531 w 5286704"/>
              <a:gd name="connsiteY5" fmla="*/ 2333319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858838"/>
              <a:gd name="connsiteX1" fmla="*/ 630627 w 5286704"/>
              <a:gd name="connsiteY1" fmla="*/ 609624 h 2858838"/>
              <a:gd name="connsiteX2" fmla="*/ 3899332 w 5286704"/>
              <a:gd name="connsiteY2" fmla="*/ 24 h 2858838"/>
              <a:gd name="connsiteX3" fmla="*/ 5013435 w 5286704"/>
              <a:gd name="connsiteY3" fmla="*/ 168196 h 2858838"/>
              <a:gd name="connsiteX4" fmla="*/ 5286704 w 5286704"/>
              <a:gd name="connsiteY4" fmla="*/ 2280761 h 2858838"/>
              <a:gd name="connsiteX5" fmla="*/ 3247689 w 5286704"/>
              <a:gd name="connsiteY5" fmla="*/ 2427912 h 2858838"/>
              <a:gd name="connsiteX6" fmla="*/ 798792 w 5286704"/>
              <a:gd name="connsiteY6" fmla="*/ 2858838 h 2858838"/>
              <a:gd name="connsiteX7" fmla="*/ 0 w 5286704"/>
              <a:gd name="connsiteY7" fmla="*/ 2554031 h 2858838"/>
              <a:gd name="connsiteX8" fmla="*/ 84083 w 5286704"/>
              <a:gd name="connsiteY8" fmla="*/ 998513 h 2858838"/>
              <a:gd name="connsiteX0" fmla="*/ 84083 w 5286704"/>
              <a:gd name="connsiteY0" fmla="*/ 998513 h 2900879"/>
              <a:gd name="connsiteX1" fmla="*/ 630627 w 5286704"/>
              <a:gd name="connsiteY1" fmla="*/ 609624 h 2900879"/>
              <a:gd name="connsiteX2" fmla="*/ 3899332 w 5286704"/>
              <a:gd name="connsiteY2" fmla="*/ 24 h 2900879"/>
              <a:gd name="connsiteX3" fmla="*/ 5013435 w 5286704"/>
              <a:gd name="connsiteY3" fmla="*/ 168196 h 2900879"/>
              <a:gd name="connsiteX4" fmla="*/ 5286704 w 5286704"/>
              <a:gd name="connsiteY4" fmla="*/ 2280761 h 2900879"/>
              <a:gd name="connsiteX5" fmla="*/ 3247689 w 5286704"/>
              <a:gd name="connsiteY5" fmla="*/ 2427912 h 2900879"/>
              <a:gd name="connsiteX6" fmla="*/ 1345330 w 5286704"/>
              <a:gd name="connsiteY6" fmla="*/ 2900879 h 2900879"/>
              <a:gd name="connsiteX7" fmla="*/ 0 w 5286704"/>
              <a:gd name="connsiteY7" fmla="*/ 2554031 h 2900879"/>
              <a:gd name="connsiteX8" fmla="*/ 84083 w 5286704"/>
              <a:gd name="connsiteY8" fmla="*/ 998513 h 2900879"/>
              <a:gd name="connsiteX0" fmla="*/ 84083 w 5286704"/>
              <a:gd name="connsiteY0" fmla="*/ 998513 h 2764244"/>
              <a:gd name="connsiteX1" fmla="*/ 630627 w 5286704"/>
              <a:gd name="connsiteY1" fmla="*/ 609624 h 2764244"/>
              <a:gd name="connsiteX2" fmla="*/ 3899332 w 5286704"/>
              <a:gd name="connsiteY2" fmla="*/ 24 h 2764244"/>
              <a:gd name="connsiteX3" fmla="*/ 5013435 w 5286704"/>
              <a:gd name="connsiteY3" fmla="*/ 168196 h 2764244"/>
              <a:gd name="connsiteX4" fmla="*/ 5286704 w 5286704"/>
              <a:gd name="connsiteY4" fmla="*/ 2280761 h 2764244"/>
              <a:gd name="connsiteX5" fmla="*/ 3247689 w 5286704"/>
              <a:gd name="connsiteY5" fmla="*/ 2427912 h 2764244"/>
              <a:gd name="connsiteX6" fmla="*/ 1345330 w 5286704"/>
              <a:gd name="connsiteY6" fmla="*/ 2764244 h 2764244"/>
              <a:gd name="connsiteX7" fmla="*/ 0 w 5286704"/>
              <a:gd name="connsiteY7" fmla="*/ 2554031 h 2764244"/>
              <a:gd name="connsiteX8" fmla="*/ 84083 w 5286704"/>
              <a:gd name="connsiteY8" fmla="*/ 998513 h 2764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86704" h="2764244">
                <a:moveTo>
                  <a:pt x="84083" y="998513"/>
                </a:moveTo>
                <a:cubicBezTo>
                  <a:pt x="84083" y="824368"/>
                  <a:pt x="456482" y="609624"/>
                  <a:pt x="630627" y="609624"/>
                </a:cubicBezTo>
                <a:cubicBezTo>
                  <a:pt x="2109078" y="609624"/>
                  <a:pt x="2420881" y="24"/>
                  <a:pt x="3899332" y="24"/>
                </a:cubicBezTo>
                <a:cubicBezTo>
                  <a:pt x="4073477" y="24"/>
                  <a:pt x="5013435" y="-5949"/>
                  <a:pt x="5013435" y="168196"/>
                </a:cubicBezTo>
                <a:lnTo>
                  <a:pt x="5286704" y="2280761"/>
                </a:lnTo>
                <a:cubicBezTo>
                  <a:pt x="5286704" y="2454906"/>
                  <a:pt x="3421834" y="2427912"/>
                  <a:pt x="3247689" y="2427912"/>
                </a:cubicBezTo>
                <a:lnTo>
                  <a:pt x="1345330" y="2764244"/>
                </a:lnTo>
                <a:cubicBezTo>
                  <a:pt x="1171185" y="2764244"/>
                  <a:pt x="0" y="2728176"/>
                  <a:pt x="0" y="2554031"/>
                </a:cubicBezTo>
                <a:lnTo>
                  <a:pt x="84083" y="998513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158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88E9D2-0D19-4F5C-A521-9BEDAE63FE5E}"/>
              </a:ext>
            </a:extLst>
          </p:cNvPr>
          <p:cNvSpPr txBox="1"/>
          <p:nvPr/>
        </p:nvSpPr>
        <p:spPr>
          <a:xfrm>
            <a:off x="172720" y="4368800"/>
            <a:ext cx="1102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Now if the same operation is performed for all the differential elements &amp; results are added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DE9895-A16E-4578-B0C0-E07C57E19E75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778532" y="1274317"/>
            <a:ext cx="84090" cy="2070537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642BF3-DF9E-4C3D-9456-B5F00692E64F}"/>
              </a:ext>
            </a:extLst>
          </p:cNvPr>
          <p:cNvCxnSpPr>
            <a:cxnSpLocks/>
          </p:cNvCxnSpPr>
          <p:nvPr/>
        </p:nvCxnSpPr>
        <p:spPr>
          <a:xfrm flipH="1">
            <a:off x="7288933" y="1234966"/>
            <a:ext cx="1" cy="217038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4BE015-A84F-42D0-8E96-7B7178020013}"/>
              </a:ext>
            </a:extLst>
          </p:cNvPr>
          <p:cNvCxnSpPr>
            <a:cxnSpLocks/>
          </p:cNvCxnSpPr>
          <p:nvPr/>
        </p:nvCxnSpPr>
        <p:spPr>
          <a:xfrm>
            <a:off x="7882759" y="1145628"/>
            <a:ext cx="126124" cy="219666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07621E-7728-4824-BD77-83982DE58731}"/>
              </a:ext>
            </a:extLst>
          </p:cNvPr>
          <p:cNvCxnSpPr>
            <a:cxnSpLocks/>
          </p:cNvCxnSpPr>
          <p:nvPr/>
        </p:nvCxnSpPr>
        <p:spPr>
          <a:xfrm>
            <a:off x="8608741" y="959005"/>
            <a:ext cx="167397" cy="221511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887276-4A77-457E-A063-9E1361525F09}"/>
              </a:ext>
            </a:extLst>
          </p:cNvPr>
          <p:cNvCxnSpPr>
            <a:cxnSpLocks/>
          </p:cNvCxnSpPr>
          <p:nvPr/>
        </p:nvCxnSpPr>
        <p:spPr>
          <a:xfrm>
            <a:off x="9411629" y="724829"/>
            <a:ext cx="310440" cy="233368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F8C905-27A9-49DA-9CB3-0A31F47441B8}"/>
              </a:ext>
            </a:extLst>
          </p:cNvPr>
          <p:cNvCxnSpPr>
            <a:cxnSpLocks/>
          </p:cNvCxnSpPr>
          <p:nvPr/>
        </p:nvCxnSpPr>
        <p:spPr>
          <a:xfrm>
            <a:off x="10321159" y="704193"/>
            <a:ext cx="315310" cy="237533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145C7F7-E24E-4DF8-9F2A-9503271608EC}"/>
              </a:ext>
            </a:extLst>
          </p:cNvPr>
          <p:cNvSpPr/>
          <p:nvPr/>
        </p:nvSpPr>
        <p:spPr>
          <a:xfrm>
            <a:off x="6264166" y="2501462"/>
            <a:ext cx="5244662" cy="483476"/>
          </a:xfrm>
          <a:custGeom>
            <a:avLst/>
            <a:gdLst>
              <a:gd name="connsiteX0" fmla="*/ 0 w 5276193"/>
              <a:gd name="connsiteY0" fmla="*/ 487968 h 497053"/>
              <a:gd name="connsiteX1" fmla="*/ 1345324 w 5276193"/>
              <a:gd name="connsiteY1" fmla="*/ 435416 h 497053"/>
              <a:gd name="connsiteX2" fmla="*/ 2669628 w 5276193"/>
              <a:gd name="connsiteY2" fmla="*/ 25512 h 497053"/>
              <a:gd name="connsiteX3" fmla="*/ 5276193 w 5276193"/>
              <a:gd name="connsiteY3" fmla="*/ 78064 h 49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76193" h="497053">
                <a:moveTo>
                  <a:pt x="0" y="487968"/>
                </a:moveTo>
                <a:cubicBezTo>
                  <a:pt x="450193" y="500230"/>
                  <a:pt x="900386" y="512492"/>
                  <a:pt x="1345324" y="435416"/>
                </a:cubicBezTo>
                <a:cubicBezTo>
                  <a:pt x="1790262" y="358340"/>
                  <a:pt x="2014483" y="85071"/>
                  <a:pt x="2669628" y="25512"/>
                </a:cubicBezTo>
                <a:cubicBezTo>
                  <a:pt x="3324773" y="-34047"/>
                  <a:pt x="4300483" y="22008"/>
                  <a:pt x="5276193" y="78064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FEEB400-71FB-4B99-A7D2-0E0B90FC7495}"/>
              </a:ext>
            </a:extLst>
          </p:cNvPr>
          <p:cNvSpPr/>
          <p:nvPr/>
        </p:nvSpPr>
        <p:spPr>
          <a:xfrm>
            <a:off x="6322740" y="1824976"/>
            <a:ext cx="5047529" cy="449873"/>
          </a:xfrm>
          <a:custGeom>
            <a:avLst/>
            <a:gdLst>
              <a:gd name="connsiteX0" fmla="*/ 0 w 5129048"/>
              <a:gd name="connsiteY0" fmla="*/ 464998 h 464998"/>
              <a:gd name="connsiteX1" fmla="*/ 1524000 w 5129048"/>
              <a:gd name="connsiteY1" fmla="*/ 380915 h 464998"/>
              <a:gd name="connsiteX2" fmla="*/ 3058510 w 5129048"/>
              <a:gd name="connsiteY2" fmla="*/ 13053 h 464998"/>
              <a:gd name="connsiteX3" fmla="*/ 5129048 w 5129048"/>
              <a:gd name="connsiteY3" fmla="*/ 76115 h 464998"/>
              <a:gd name="connsiteX4" fmla="*/ 5129048 w 5129048"/>
              <a:gd name="connsiteY4" fmla="*/ 76115 h 46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9048" h="464998">
                <a:moveTo>
                  <a:pt x="0" y="464998"/>
                </a:moveTo>
                <a:cubicBezTo>
                  <a:pt x="507124" y="460618"/>
                  <a:pt x="1014248" y="456239"/>
                  <a:pt x="1524000" y="380915"/>
                </a:cubicBezTo>
                <a:cubicBezTo>
                  <a:pt x="2033752" y="305591"/>
                  <a:pt x="2457669" y="63853"/>
                  <a:pt x="3058510" y="13053"/>
                </a:cubicBezTo>
                <a:cubicBezTo>
                  <a:pt x="3659351" y="-37747"/>
                  <a:pt x="5129048" y="76115"/>
                  <a:pt x="5129048" y="76115"/>
                </a:cubicBezTo>
                <a:lnTo>
                  <a:pt x="5129048" y="76115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1CCDB1C-4E33-40E0-B928-8AF4AC74D10F}"/>
              </a:ext>
            </a:extLst>
          </p:cNvPr>
          <p:cNvSpPr/>
          <p:nvPr/>
        </p:nvSpPr>
        <p:spPr>
          <a:xfrm>
            <a:off x="6316717" y="1249744"/>
            <a:ext cx="4981904" cy="505483"/>
          </a:xfrm>
          <a:custGeom>
            <a:avLst/>
            <a:gdLst>
              <a:gd name="connsiteX0" fmla="*/ 0 w 5002924"/>
              <a:gd name="connsiteY0" fmla="*/ 484462 h 484462"/>
              <a:gd name="connsiteX1" fmla="*/ 1702675 w 5002924"/>
              <a:gd name="connsiteY1" fmla="*/ 410889 h 484462"/>
              <a:gd name="connsiteX2" fmla="*/ 2795751 w 5002924"/>
              <a:gd name="connsiteY2" fmla="*/ 43027 h 484462"/>
              <a:gd name="connsiteX3" fmla="*/ 5002924 w 5002924"/>
              <a:gd name="connsiteY3" fmla="*/ 22007 h 48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2924" h="484462">
                <a:moveTo>
                  <a:pt x="0" y="484462"/>
                </a:moveTo>
                <a:cubicBezTo>
                  <a:pt x="618358" y="484461"/>
                  <a:pt x="1236717" y="484461"/>
                  <a:pt x="1702675" y="410889"/>
                </a:cubicBezTo>
                <a:cubicBezTo>
                  <a:pt x="2168633" y="337317"/>
                  <a:pt x="2245709" y="107841"/>
                  <a:pt x="2795751" y="43027"/>
                </a:cubicBezTo>
                <a:cubicBezTo>
                  <a:pt x="3345793" y="-21787"/>
                  <a:pt x="4174358" y="110"/>
                  <a:pt x="5002924" y="22007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FD3BCF-DAA3-4376-994F-315E67DB9364}"/>
              </a:ext>
            </a:extLst>
          </p:cNvPr>
          <p:cNvSpPr txBox="1"/>
          <p:nvPr/>
        </p:nvSpPr>
        <p:spPr>
          <a:xfrm>
            <a:off x="6453352" y="1355835"/>
            <a:ext cx="346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31EB66-BFDA-463B-84DA-A7C9D82F4FFE}"/>
              </a:ext>
            </a:extLst>
          </p:cNvPr>
          <p:cNvCxnSpPr>
            <a:cxnSpLocks/>
          </p:cNvCxnSpPr>
          <p:nvPr/>
        </p:nvCxnSpPr>
        <p:spPr>
          <a:xfrm>
            <a:off x="9574924" y="1839310"/>
            <a:ext cx="914400" cy="0"/>
          </a:xfrm>
          <a:prstGeom prst="straightConnector1">
            <a:avLst/>
          </a:prstGeom>
          <a:ln w="158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022644-7872-4FE4-B11F-E5D3D698BAFE}"/>
              </a:ext>
            </a:extLst>
          </p:cNvPr>
          <p:cNvCxnSpPr>
            <a:cxnSpLocks/>
          </p:cNvCxnSpPr>
          <p:nvPr/>
        </p:nvCxnSpPr>
        <p:spPr>
          <a:xfrm>
            <a:off x="9490841" y="1324303"/>
            <a:ext cx="84083" cy="483476"/>
          </a:xfrm>
          <a:prstGeom prst="straightConnector1">
            <a:avLst/>
          </a:prstGeom>
          <a:ln w="158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AE17B0-37D9-44FF-9D62-C8FA9332A835}"/>
              </a:ext>
            </a:extLst>
          </p:cNvPr>
          <p:cNvCxnSpPr>
            <a:cxnSpLocks/>
          </p:cNvCxnSpPr>
          <p:nvPr/>
        </p:nvCxnSpPr>
        <p:spPr>
          <a:xfrm flipH="1">
            <a:off x="9469821" y="1271752"/>
            <a:ext cx="861849" cy="0"/>
          </a:xfrm>
          <a:prstGeom prst="straightConnector1">
            <a:avLst/>
          </a:prstGeom>
          <a:ln w="158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7BDD07-FDA3-440E-80E9-A96189BD1AF3}"/>
              </a:ext>
            </a:extLst>
          </p:cNvPr>
          <p:cNvCxnSpPr>
            <a:cxnSpLocks/>
          </p:cNvCxnSpPr>
          <p:nvPr/>
        </p:nvCxnSpPr>
        <p:spPr>
          <a:xfrm flipH="1" flipV="1">
            <a:off x="10389476" y="1234966"/>
            <a:ext cx="78827" cy="562303"/>
          </a:xfrm>
          <a:prstGeom prst="straightConnector1">
            <a:avLst/>
          </a:prstGeom>
          <a:ln w="158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2">
            <a:extLst>
              <a:ext uri="{FF2B5EF4-FFF2-40B4-BE49-F238E27FC236}">
                <a16:creationId xmlns:a16="http://schemas.microsoft.com/office/drawing/2014/main" id="{AEF924BE-F73F-48C0-A4CF-D8EE6AE16FB8}"/>
              </a:ext>
            </a:extLst>
          </p:cNvPr>
          <p:cNvSpPr/>
          <p:nvPr/>
        </p:nvSpPr>
        <p:spPr>
          <a:xfrm>
            <a:off x="9480332" y="1261242"/>
            <a:ext cx="987972" cy="588579"/>
          </a:xfrm>
          <a:custGeom>
            <a:avLst/>
            <a:gdLst>
              <a:gd name="connsiteX0" fmla="*/ 0 w 987972"/>
              <a:gd name="connsiteY0" fmla="*/ 0 h 704193"/>
              <a:gd name="connsiteX1" fmla="*/ 987972 w 987972"/>
              <a:gd name="connsiteY1" fmla="*/ 0 h 704193"/>
              <a:gd name="connsiteX2" fmla="*/ 987972 w 987972"/>
              <a:gd name="connsiteY2" fmla="*/ 704193 h 704193"/>
              <a:gd name="connsiteX3" fmla="*/ 0 w 987972"/>
              <a:gd name="connsiteY3" fmla="*/ 704193 h 704193"/>
              <a:gd name="connsiteX4" fmla="*/ 0 w 987972"/>
              <a:gd name="connsiteY4" fmla="*/ 0 h 704193"/>
              <a:gd name="connsiteX0" fmla="*/ 0 w 987972"/>
              <a:gd name="connsiteY0" fmla="*/ 0 h 704193"/>
              <a:gd name="connsiteX1" fmla="*/ 987972 w 987972"/>
              <a:gd name="connsiteY1" fmla="*/ 0 h 704193"/>
              <a:gd name="connsiteX2" fmla="*/ 987972 w 987972"/>
              <a:gd name="connsiteY2" fmla="*/ 704193 h 704193"/>
              <a:gd name="connsiteX3" fmla="*/ 115614 w 987972"/>
              <a:gd name="connsiteY3" fmla="*/ 662152 h 704193"/>
              <a:gd name="connsiteX4" fmla="*/ 0 w 987972"/>
              <a:gd name="connsiteY4" fmla="*/ 0 h 704193"/>
              <a:gd name="connsiteX0" fmla="*/ 0 w 987972"/>
              <a:gd name="connsiteY0" fmla="*/ 0 h 693683"/>
              <a:gd name="connsiteX1" fmla="*/ 987972 w 987972"/>
              <a:gd name="connsiteY1" fmla="*/ 0 h 693683"/>
              <a:gd name="connsiteX2" fmla="*/ 987972 w 987972"/>
              <a:gd name="connsiteY2" fmla="*/ 693683 h 693683"/>
              <a:gd name="connsiteX3" fmla="*/ 115614 w 987972"/>
              <a:gd name="connsiteY3" fmla="*/ 662152 h 693683"/>
              <a:gd name="connsiteX4" fmla="*/ 0 w 987972"/>
              <a:gd name="connsiteY4" fmla="*/ 0 h 693683"/>
              <a:gd name="connsiteX0" fmla="*/ 0 w 987972"/>
              <a:gd name="connsiteY0" fmla="*/ 0 h 693683"/>
              <a:gd name="connsiteX1" fmla="*/ 924910 w 987972"/>
              <a:gd name="connsiteY1" fmla="*/ 52552 h 693683"/>
              <a:gd name="connsiteX2" fmla="*/ 987972 w 987972"/>
              <a:gd name="connsiteY2" fmla="*/ 693683 h 693683"/>
              <a:gd name="connsiteX3" fmla="*/ 115614 w 987972"/>
              <a:gd name="connsiteY3" fmla="*/ 662152 h 693683"/>
              <a:gd name="connsiteX4" fmla="*/ 0 w 987972"/>
              <a:gd name="connsiteY4" fmla="*/ 0 h 693683"/>
              <a:gd name="connsiteX0" fmla="*/ 0 w 956441"/>
              <a:gd name="connsiteY0" fmla="*/ 31531 h 641131"/>
              <a:gd name="connsiteX1" fmla="*/ 893379 w 956441"/>
              <a:gd name="connsiteY1" fmla="*/ 0 h 641131"/>
              <a:gd name="connsiteX2" fmla="*/ 956441 w 956441"/>
              <a:gd name="connsiteY2" fmla="*/ 641131 h 641131"/>
              <a:gd name="connsiteX3" fmla="*/ 84083 w 956441"/>
              <a:gd name="connsiteY3" fmla="*/ 609600 h 641131"/>
              <a:gd name="connsiteX4" fmla="*/ 0 w 956441"/>
              <a:gd name="connsiteY4" fmla="*/ 31531 h 641131"/>
              <a:gd name="connsiteX0" fmla="*/ 0 w 987972"/>
              <a:gd name="connsiteY0" fmla="*/ 21021 h 641131"/>
              <a:gd name="connsiteX1" fmla="*/ 924910 w 987972"/>
              <a:gd name="connsiteY1" fmla="*/ 0 h 641131"/>
              <a:gd name="connsiteX2" fmla="*/ 987972 w 987972"/>
              <a:gd name="connsiteY2" fmla="*/ 641131 h 641131"/>
              <a:gd name="connsiteX3" fmla="*/ 115614 w 987972"/>
              <a:gd name="connsiteY3" fmla="*/ 609600 h 641131"/>
              <a:gd name="connsiteX4" fmla="*/ 0 w 987972"/>
              <a:gd name="connsiteY4" fmla="*/ 21021 h 641131"/>
              <a:gd name="connsiteX0" fmla="*/ 0 w 987972"/>
              <a:gd name="connsiteY0" fmla="*/ 21021 h 641131"/>
              <a:gd name="connsiteX1" fmla="*/ 893379 w 987972"/>
              <a:gd name="connsiteY1" fmla="*/ 0 h 641131"/>
              <a:gd name="connsiteX2" fmla="*/ 987972 w 987972"/>
              <a:gd name="connsiteY2" fmla="*/ 641131 h 641131"/>
              <a:gd name="connsiteX3" fmla="*/ 115614 w 987972"/>
              <a:gd name="connsiteY3" fmla="*/ 609600 h 641131"/>
              <a:gd name="connsiteX4" fmla="*/ 0 w 987972"/>
              <a:gd name="connsiteY4" fmla="*/ 21021 h 641131"/>
              <a:gd name="connsiteX0" fmla="*/ 0 w 987972"/>
              <a:gd name="connsiteY0" fmla="*/ 21021 h 609600"/>
              <a:gd name="connsiteX1" fmla="*/ 893379 w 987972"/>
              <a:gd name="connsiteY1" fmla="*/ 0 h 609600"/>
              <a:gd name="connsiteX2" fmla="*/ 987972 w 987972"/>
              <a:gd name="connsiteY2" fmla="*/ 609600 h 609600"/>
              <a:gd name="connsiteX3" fmla="*/ 115614 w 987972"/>
              <a:gd name="connsiteY3" fmla="*/ 609600 h 609600"/>
              <a:gd name="connsiteX4" fmla="*/ 0 w 987972"/>
              <a:gd name="connsiteY4" fmla="*/ 21021 h 609600"/>
              <a:gd name="connsiteX0" fmla="*/ 0 w 987972"/>
              <a:gd name="connsiteY0" fmla="*/ 21021 h 609600"/>
              <a:gd name="connsiteX1" fmla="*/ 893379 w 987972"/>
              <a:gd name="connsiteY1" fmla="*/ 0 h 609600"/>
              <a:gd name="connsiteX2" fmla="*/ 987972 w 987972"/>
              <a:gd name="connsiteY2" fmla="*/ 609600 h 609600"/>
              <a:gd name="connsiteX3" fmla="*/ 84083 w 987972"/>
              <a:gd name="connsiteY3" fmla="*/ 609600 h 609600"/>
              <a:gd name="connsiteX4" fmla="*/ 0 w 987972"/>
              <a:gd name="connsiteY4" fmla="*/ 21021 h 609600"/>
              <a:gd name="connsiteX0" fmla="*/ 0 w 987972"/>
              <a:gd name="connsiteY0" fmla="*/ 31531 h 609600"/>
              <a:gd name="connsiteX1" fmla="*/ 893379 w 987972"/>
              <a:gd name="connsiteY1" fmla="*/ 0 h 609600"/>
              <a:gd name="connsiteX2" fmla="*/ 987972 w 987972"/>
              <a:gd name="connsiteY2" fmla="*/ 609600 h 609600"/>
              <a:gd name="connsiteX3" fmla="*/ 84083 w 987972"/>
              <a:gd name="connsiteY3" fmla="*/ 609600 h 609600"/>
              <a:gd name="connsiteX4" fmla="*/ 0 w 987972"/>
              <a:gd name="connsiteY4" fmla="*/ 31531 h 609600"/>
              <a:gd name="connsiteX0" fmla="*/ 0 w 987972"/>
              <a:gd name="connsiteY0" fmla="*/ 0 h 578069"/>
              <a:gd name="connsiteX1" fmla="*/ 903889 w 987972"/>
              <a:gd name="connsiteY1" fmla="*/ 10510 h 578069"/>
              <a:gd name="connsiteX2" fmla="*/ 987972 w 987972"/>
              <a:gd name="connsiteY2" fmla="*/ 578069 h 578069"/>
              <a:gd name="connsiteX3" fmla="*/ 84083 w 987972"/>
              <a:gd name="connsiteY3" fmla="*/ 578069 h 578069"/>
              <a:gd name="connsiteX4" fmla="*/ 0 w 987972"/>
              <a:gd name="connsiteY4" fmla="*/ 0 h 578069"/>
              <a:gd name="connsiteX0" fmla="*/ 0 w 987972"/>
              <a:gd name="connsiteY0" fmla="*/ 10510 h 588579"/>
              <a:gd name="connsiteX1" fmla="*/ 956441 w 987972"/>
              <a:gd name="connsiteY1" fmla="*/ 0 h 588579"/>
              <a:gd name="connsiteX2" fmla="*/ 987972 w 987972"/>
              <a:gd name="connsiteY2" fmla="*/ 588579 h 588579"/>
              <a:gd name="connsiteX3" fmla="*/ 84083 w 987972"/>
              <a:gd name="connsiteY3" fmla="*/ 588579 h 588579"/>
              <a:gd name="connsiteX4" fmla="*/ 0 w 987972"/>
              <a:gd name="connsiteY4" fmla="*/ 10510 h 588579"/>
              <a:gd name="connsiteX0" fmla="*/ 0 w 987972"/>
              <a:gd name="connsiteY0" fmla="*/ 10510 h 588579"/>
              <a:gd name="connsiteX1" fmla="*/ 945931 w 987972"/>
              <a:gd name="connsiteY1" fmla="*/ 0 h 588579"/>
              <a:gd name="connsiteX2" fmla="*/ 987972 w 987972"/>
              <a:gd name="connsiteY2" fmla="*/ 588579 h 588579"/>
              <a:gd name="connsiteX3" fmla="*/ 84083 w 987972"/>
              <a:gd name="connsiteY3" fmla="*/ 588579 h 588579"/>
              <a:gd name="connsiteX4" fmla="*/ 0 w 987972"/>
              <a:gd name="connsiteY4" fmla="*/ 10510 h 588579"/>
              <a:gd name="connsiteX0" fmla="*/ 0 w 987972"/>
              <a:gd name="connsiteY0" fmla="*/ 10510 h 588579"/>
              <a:gd name="connsiteX1" fmla="*/ 903890 w 987972"/>
              <a:gd name="connsiteY1" fmla="*/ 0 h 588579"/>
              <a:gd name="connsiteX2" fmla="*/ 987972 w 987972"/>
              <a:gd name="connsiteY2" fmla="*/ 588579 h 588579"/>
              <a:gd name="connsiteX3" fmla="*/ 84083 w 987972"/>
              <a:gd name="connsiteY3" fmla="*/ 588579 h 588579"/>
              <a:gd name="connsiteX4" fmla="*/ 0 w 987972"/>
              <a:gd name="connsiteY4" fmla="*/ 10510 h 58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7972" h="588579">
                <a:moveTo>
                  <a:pt x="0" y="10510"/>
                </a:moveTo>
                <a:lnTo>
                  <a:pt x="903890" y="0"/>
                </a:lnTo>
                <a:lnTo>
                  <a:pt x="987972" y="588579"/>
                </a:lnTo>
                <a:lnTo>
                  <a:pt x="84083" y="588579"/>
                </a:lnTo>
                <a:lnTo>
                  <a:pt x="0" y="10510"/>
                </a:ln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  <a:ln>
            <a:solidFill>
              <a:srgbClr val="FFFFFF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600B5A9-FAF2-4A40-84D0-9356B1087B5F}"/>
                  </a:ext>
                </a:extLst>
              </p:cNvPr>
              <p:cNvSpPr txBox="1"/>
              <p:nvPr/>
            </p:nvSpPr>
            <p:spPr>
              <a:xfrm>
                <a:off x="9459310" y="1249996"/>
                <a:ext cx="3258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600B5A9-FAF2-4A40-84D0-9356B1087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9310" y="1249996"/>
                <a:ext cx="325821" cy="307777"/>
              </a:xfrm>
              <a:prstGeom prst="rect">
                <a:avLst/>
              </a:prstGeom>
              <a:blipFill>
                <a:blip r:embed="rId2"/>
                <a:stretch>
                  <a:fillRect r="-75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D502B43-3578-4CCB-8331-BD458E259442}"/>
              </a:ext>
            </a:extLst>
          </p:cNvPr>
          <p:cNvCxnSpPr/>
          <p:nvPr/>
        </p:nvCxnSpPr>
        <p:spPr>
          <a:xfrm flipH="1" flipV="1">
            <a:off x="9890234" y="809297"/>
            <a:ext cx="105104" cy="73572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4045E1-1A4C-46ED-817D-A154DF20B215}"/>
                  </a:ext>
                </a:extLst>
              </p:cNvPr>
              <p:cNvSpPr txBox="1"/>
              <p:nvPr/>
            </p:nvSpPr>
            <p:spPr>
              <a:xfrm>
                <a:off x="9714186" y="671926"/>
                <a:ext cx="117453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𝐶𝑢𝑟𝑙</m:t>
                          </m:r>
                          <m:r>
                            <a:rPr lang="en-IN" sz="1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  <m:r>
                            <a:rPr lang="en-IN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IN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IN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4045E1-1A4C-46ED-817D-A154DF20B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4186" y="671926"/>
                <a:ext cx="1174531" cy="276999"/>
              </a:xfrm>
              <a:prstGeom prst="rect">
                <a:avLst/>
              </a:prstGeom>
              <a:blipFill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6420AD-B80F-45FE-BAF4-102D32E9BA04}"/>
                  </a:ext>
                </a:extLst>
              </p:cNvPr>
              <p:cNvSpPr txBox="1"/>
              <p:nvPr/>
            </p:nvSpPr>
            <p:spPr>
              <a:xfrm>
                <a:off x="10522630" y="1304208"/>
                <a:ext cx="807979" cy="657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1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  <m:r>
                            <a:rPr lang="en-IN" sz="1400" b="1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𝒅𝒍</m:t>
                          </m:r>
                        </m:e>
                      </m:nary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6420AD-B80F-45FE-BAF4-102D32E9B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2630" y="1304208"/>
                <a:ext cx="807979" cy="6574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85FB58-A014-4B8A-9C8A-05E33769476E}"/>
                  </a:ext>
                </a:extLst>
              </p:cNvPr>
              <p:cNvSpPr txBox="1"/>
              <p:nvPr/>
            </p:nvSpPr>
            <p:spPr>
              <a:xfrm>
                <a:off x="406400" y="640080"/>
                <a:ext cx="4846320" cy="541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∮"/>
                            <m:limLoc m:val="undOvr"/>
                            <m:subHide m:val="on"/>
                            <m:sup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IN" b="1">
                                <a:latin typeface="Cambria Math" panose="02040503050406030204" pitchFamily="18" charset="0"/>
                              </a:rPr>
                              <m:t>𝐇</m:t>
                            </m:r>
                            <m:r>
                              <a:rPr lang="en-IN" b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𝒅𝒍</m:t>
                            </m:r>
                          </m:e>
                        </m:nary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IN" dirty="0"/>
                  <a:t>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𝐶𝑢𝑟𝑙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85FB58-A014-4B8A-9C8A-05E337694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640080"/>
                <a:ext cx="4846320" cy="541174"/>
              </a:xfrm>
              <a:prstGeom prst="rect">
                <a:avLst/>
              </a:prstGeom>
              <a:blipFill>
                <a:blip r:embed="rId5"/>
                <a:stretch>
                  <a:fillRect b="-56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A769FB-91F1-4D7D-B1F1-F476A785B189}"/>
                  </a:ext>
                </a:extLst>
              </p:cNvPr>
              <p:cNvSpPr txBox="1"/>
              <p:nvPr/>
            </p:nvSpPr>
            <p:spPr>
              <a:xfrm>
                <a:off x="1148080" y="1259840"/>
                <a:ext cx="294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r>
                      <m:rPr>
                        <m:nor/>
                      </m:rPr>
                      <a:rPr lang="en-IN" b="1" dirty="0"/>
                      <m:t>H</m:t>
                    </m:r>
                    <m:r>
                      <m:rPr>
                        <m:nor/>
                      </m:rPr>
                      <a:rPr lang="en-IN" b="1" dirty="0"/>
                      <m:t> </m:t>
                    </m:r>
                  </m:oMath>
                </a14:m>
                <a:r>
                  <a:rPr lang="en-IN" dirty="0"/>
                  <a:t>)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A769FB-91F1-4D7D-B1F1-F476A785B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080" y="1259840"/>
                <a:ext cx="2946400" cy="369332"/>
              </a:xfrm>
              <a:prstGeom prst="rect">
                <a:avLst/>
              </a:prstGeom>
              <a:blipFill>
                <a:blip r:embed="rId6"/>
                <a:stretch>
                  <a:fillRect l="-1653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71492C0-CD70-4E55-B74A-EC734C8B2C69}"/>
              </a:ext>
            </a:extLst>
          </p:cNvPr>
          <p:cNvCxnSpPr>
            <a:cxnSpLocks/>
          </p:cNvCxnSpPr>
          <p:nvPr/>
        </p:nvCxnSpPr>
        <p:spPr>
          <a:xfrm flipH="1" flipV="1">
            <a:off x="9915719" y="975360"/>
            <a:ext cx="83047" cy="565205"/>
          </a:xfrm>
          <a:prstGeom prst="straightConnector1">
            <a:avLst/>
          </a:prstGeom>
          <a:ln w="15875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CA17E7-B948-4A47-8D61-1571283220A4}"/>
                  </a:ext>
                </a:extLst>
              </p:cNvPr>
              <p:cNvSpPr txBox="1"/>
              <p:nvPr/>
            </p:nvSpPr>
            <p:spPr>
              <a:xfrm>
                <a:off x="9509760" y="887214"/>
                <a:ext cx="48768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sz="1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CA17E7-B948-4A47-8D61-157128322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0" y="887214"/>
                <a:ext cx="487680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85CE9F4-60A8-464A-BE5F-FFDC6044DD81}"/>
                  </a:ext>
                </a:extLst>
              </p:cNvPr>
              <p:cNvSpPr txBox="1"/>
              <p:nvPr/>
            </p:nvSpPr>
            <p:spPr>
              <a:xfrm>
                <a:off x="365760" y="1940560"/>
                <a:ext cx="3596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Multiply with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dirty="0"/>
                  <a:t> on both sides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85CE9F4-60A8-464A-BE5F-FFDC6044D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940560"/>
                <a:ext cx="3596640" cy="369332"/>
              </a:xfrm>
              <a:prstGeom prst="rect">
                <a:avLst/>
              </a:prstGeom>
              <a:blipFill>
                <a:blip r:embed="rId8"/>
                <a:stretch>
                  <a:fillRect l="-1356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5A1455E-8C57-4B52-96D4-DB8E948793D4}"/>
                  </a:ext>
                </a:extLst>
              </p:cNvPr>
              <p:cNvSpPr txBox="1"/>
              <p:nvPr/>
            </p:nvSpPr>
            <p:spPr>
              <a:xfrm>
                <a:off x="396240" y="2540000"/>
                <a:ext cx="4338320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=  [(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r>
                      <m:rPr>
                        <m:nor/>
                      </m:rPr>
                      <a:rPr lang="en-IN" b="1" dirty="0"/>
                      <m:t>H</m:t>
                    </m:r>
                    <m:r>
                      <m:rPr>
                        <m:nor/>
                      </m:rPr>
                      <a:rPr lang="en-IN" b="1" dirty="0"/>
                      <m:t> </m:t>
                    </m:r>
                  </m:oMath>
                </a14:m>
                <a:r>
                  <a:rPr lang="en-IN" dirty="0"/>
                  <a:t>)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IN" dirty="0"/>
                  <a:t>]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5A1455E-8C57-4B52-96D4-DB8E94879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2540000"/>
                <a:ext cx="4338320" cy="412164"/>
              </a:xfrm>
              <a:prstGeom prst="rect">
                <a:avLst/>
              </a:prstGeom>
              <a:blipFill>
                <a:blip r:embed="rId9"/>
                <a:stretch>
                  <a:fillRect l="-9410" t="-134328" b="-195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25D3422-40E4-49CA-8653-8ACBBD1633BF}"/>
                  </a:ext>
                </a:extLst>
              </p:cNvPr>
              <p:cNvSpPr txBox="1"/>
              <p:nvPr/>
            </p:nvSpPr>
            <p:spPr>
              <a:xfrm>
                <a:off x="1148080" y="3068320"/>
                <a:ext cx="30073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r>
                      <m:rPr>
                        <m:nor/>
                      </m:rPr>
                      <a:rPr lang="en-IN" b="1" dirty="0"/>
                      <m:t>H</m:t>
                    </m:r>
                    <m:r>
                      <m:rPr>
                        <m:nor/>
                      </m:rPr>
                      <a:rPr lang="en-IN" b="1" dirty="0"/>
                      <m:t> </m:t>
                    </m:r>
                  </m:oMath>
                </a14:m>
                <a:r>
                  <a:rPr lang="en-IN" dirty="0"/>
                  <a:t>) .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25D3422-40E4-49CA-8653-8ACBBD163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080" y="3068320"/>
                <a:ext cx="3007360" cy="369332"/>
              </a:xfrm>
              <a:prstGeom prst="rect">
                <a:avLst/>
              </a:prstGeom>
              <a:blipFill>
                <a:blip r:embed="rId10"/>
                <a:stretch>
                  <a:fillRect l="-1619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2C7810-BCFA-498F-9A14-BB17B5CD069B}"/>
                  </a:ext>
                </a:extLst>
              </p:cNvPr>
              <p:cNvSpPr txBox="1"/>
              <p:nvPr/>
            </p:nvSpPr>
            <p:spPr>
              <a:xfrm>
                <a:off x="2641600" y="762000"/>
                <a:ext cx="2936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dirty="0"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a:rPr lang="en-I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b="1" dirty="0"/>
                          <m:t>H</m:t>
                        </m:r>
                        <m:r>
                          <m:rPr>
                            <m:nor/>
                          </m:rPr>
                          <a:rPr lang="en-IN" b="1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)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2C7810-BCFA-498F-9A14-BB17B5CD0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0" y="762000"/>
                <a:ext cx="2936240" cy="369332"/>
              </a:xfrm>
              <a:prstGeom prst="rect">
                <a:avLst/>
              </a:prstGeom>
              <a:blipFill>
                <a:blip r:embed="rId11"/>
                <a:stretch>
                  <a:fillRect l="-166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A40F63-58AF-42E5-B9F5-4E00DCB21EB0}"/>
                  </a:ext>
                </a:extLst>
              </p:cNvPr>
              <p:cNvSpPr txBox="1"/>
              <p:nvPr/>
            </p:nvSpPr>
            <p:spPr>
              <a:xfrm>
                <a:off x="345440" y="3688080"/>
                <a:ext cx="5994400" cy="444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𝑒𝑟𝑖𝑚𝑒𝑡𝑒𝑟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∆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=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r>
                      <m:rPr>
                        <m:nor/>
                      </m:rPr>
                      <a:rPr lang="en-IN" b="1" dirty="0"/>
                      <m:t>H</m:t>
                    </m:r>
                    <m:r>
                      <m:rPr>
                        <m:nor/>
                      </m:rPr>
                      <a:rPr lang="en-IN" b="1" dirty="0"/>
                      <m:t> </m:t>
                    </m:r>
                  </m:oMath>
                </a14:m>
                <a:r>
                  <a:rPr lang="en-IN" dirty="0"/>
                  <a:t>) .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A40F63-58AF-42E5-B9F5-4E00DCB21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40" y="3688080"/>
                <a:ext cx="5994400" cy="444865"/>
              </a:xfrm>
              <a:prstGeom prst="rect">
                <a:avLst/>
              </a:prstGeom>
              <a:blipFill>
                <a:blip r:embed="rId12"/>
                <a:stretch>
                  <a:fillRect l="-3764" t="-123288" b="-171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9DA0711D-E9B7-44EC-A4ED-32BEA7A7BBAF}"/>
              </a:ext>
            </a:extLst>
          </p:cNvPr>
          <p:cNvSpPr txBox="1"/>
          <p:nvPr/>
        </p:nvSpPr>
        <p:spPr>
          <a:xfrm>
            <a:off x="640080" y="4947920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Then L.H.S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196817A-E2FD-4D7F-A8FC-8198B259B00C}"/>
                  </a:ext>
                </a:extLst>
              </p:cNvPr>
              <p:cNvSpPr txBox="1"/>
              <p:nvPr/>
            </p:nvSpPr>
            <p:spPr>
              <a:xfrm>
                <a:off x="2039620" y="4952705"/>
                <a:ext cx="1993900" cy="444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𝑒𝑟𝑖𝑚𝑒𝑡𝑒𝑟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196817A-E2FD-4D7F-A8FC-8198B259B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620" y="4952705"/>
                <a:ext cx="1993900" cy="444865"/>
              </a:xfrm>
              <a:prstGeom prst="rect">
                <a:avLst/>
              </a:prstGeom>
              <a:blipFill>
                <a:blip r:embed="rId13"/>
                <a:stretch>
                  <a:fillRect l="-20795" t="-123288" r="-917" b="-171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0E11C29-AA14-4698-85B1-607AD22D6DC3}"/>
                  </a:ext>
                </a:extLst>
              </p:cNvPr>
              <p:cNvSpPr txBox="1"/>
              <p:nvPr/>
            </p:nvSpPr>
            <p:spPr>
              <a:xfrm>
                <a:off x="1148080" y="5496560"/>
                <a:ext cx="5110480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R.H.S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a:rPr lang="en-I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b="1" dirty="0"/>
                          <m:t>H</m:t>
                        </m:r>
                        <m:r>
                          <m:rPr>
                            <m:nor/>
                          </m:rPr>
                          <a:rPr lang="en-IN" i="0" dirty="0" smtClean="0"/>
                          <m:t>)</m:t>
                        </m:r>
                        <m:r>
                          <m:rPr>
                            <m:nor/>
                          </m:rPr>
                          <a:rPr lang="en-IN" b="1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.</m:t>
                        </m:r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0E11C29-AA14-4698-85B1-607AD22D6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080" y="5496560"/>
                <a:ext cx="5110480" cy="412164"/>
              </a:xfrm>
              <a:prstGeom prst="rect">
                <a:avLst/>
              </a:prstGeom>
              <a:blipFill>
                <a:blip r:embed="rId14"/>
                <a:stretch>
                  <a:fillRect l="-954" t="-134328" b="-195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9E62DEF-0935-4030-A87D-7997141F3431}"/>
                  </a:ext>
                </a:extLst>
              </p:cNvPr>
              <p:cNvSpPr txBox="1"/>
              <p:nvPr/>
            </p:nvSpPr>
            <p:spPr>
              <a:xfrm>
                <a:off x="944880" y="6126480"/>
                <a:ext cx="3749040" cy="444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𝑒𝑟𝑖𝑚𝑒𝑡𝑒𝑟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a:rPr lang="en-I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b="1" dirty="0"/>
                          <m:t>H</m:t>
                        </m:r>
                        <m:r>
                          <m:rPr>
                            <m:nor/>
                          </m:rPr>
                          <a:rPr lang="en-IN" dirty="0"/>
                          <m:t>)</m:t>
                        </m:r>
                        <m:r>
                          <m:rPr>
                            <m:nor/>
                          </m:rPr>
                          <a:rPr lang="en-IN" b="1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.</m:t>
                        </m:r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9E62DEF-0935-4030-A87D-7997141F3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80" y="6126480"/>
                <a:ext cx="3749040" cy="444865"/>
              </a:xfrm>
              <a:prstGeom prst="rect">
                <a:avLst/>
              </a:prstGeom>
              <a:blipFill>
                <a:blip r:embed="rId15"/>
                <a:stretch>
                  <a:fillRect l="-10894" t="-123288" b="-171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3F5750D-29A9-43E3-8C8F-862A3A27F374}"/>
              </a:ext>
            </a:extLst>
          </p:cNvPr>
          <p:cNvSpPr/>
          <p:nvPr/>
        </p:nvSpPr>
        <p:spPr>
          <a:xfrm>
            <a:off x="883920" y="6116320"/>
            <a:ext cx="3779520" cy="416560"/>
          </a:xfrm>
          <a:prstGeom prst="roundRect">
            <a:avLst/>
          </a:prstGeom>
          <a:solidFill>
            <a:schemeClr val="accent4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06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repeatCount="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1" presetClass="entr" presetSubtype="1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4" dur="4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6" grpId="0"/>
      <p:bldP spid="24" grpId="0"/>
      <p:bldP spid="25" grpId="0"/>
      <p:bldP spid="30" grpId="0"/>
      <p:bldP spid="31" grpId="0"/>
      <p:bldP spid="32" grpId="1"/>
      <p:bldP spid="33" grpId="0"/>
      <p:bldP spid="34" grpId="0"/>
      <p:bldP spid="35" grpId="0"/>
      <p:bldP spid="37" grpId="0"/>
      <p:bldP spid="39" grpId="0"/>
      <p:bldP spid="41" grpId="0"/>
      <p:bldP spid="42" grpId="0"/>
      <p:bldP spid="4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E71A59-326F-4BB1-A850-EEDA9C6CA3BF}"/>
                  </a:ext>
                </a:extLst>
              </p:cNvPr>
              <p:cNvSpPr txBox="1"/>
              <p:nvPr/>
            </p:nvSpPr>
            <p:spPr>
              <a:xfrm>
                <a:off x="193040" y="233680"/>
                <a:ext cx="3749040" cy="444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𝑒𝑟𝑖𝑚𝑒𝑡𝑒𝑟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a:rPr lang="en-I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b="1" dirty="0"/>
                          <m:t>H</m:t>
                        </m:r>
                        <m:r>
                          <m:rPr>
                            <m:nor/>
                          </m:rPr>
                          <a:rPr lang="en-IN" dirty="0"/>
                          <m:t>)</m:t>
                        </m:r>
                        <m:r>
                          <m:rPr>
                            <m:nor/>
                          </m:rPr>
                          <a:rPr lang="en-IN" b="1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.</m:t>
                        </m:r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E71A59-326F-4BB1-A850-EEDA9C6CA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40" y="233680"/>
                <a:ext cx="3749040" cy="444865"/>
              </a:xfrm>
              <a:prstGeom prst="rect">
                <a:avLst/>
              </a:prstGeom>
              <a:blipFill>
                <a:blip r:embed="rId2"/>
                <a:stretch>
                  <a:fillRect l="-11057" t="-123288" b="-171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9884C8B-5AB0-4804-8AFD-A872D91731F5}"/>
              </a:ext>
            </a:extLst>
          </p:cNvPr>
          <p:cNvSpPr txBox="1"/>
          <p:nvPr/>
        </p:nvSpPr>
        <p:spPr>
          <a:xfrm>
            <a:off x="193040" y="894080"/>
            <a:ext cx="1158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line integral of a vector about a closed path is equal to the value of curl of that vector over the entire surface enclosed by the closed path.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7F06E5-A08E-4DE0-BE21-E9C8D037F7B8}"/>
              </a:ext>
            </a:extLst>
          </p:cNvPr>
          <p:cNvSpPr txBox="1"/>
          <p:nvPr/>
        </p:nvSpPr>
        <p:spPr>
          <a:xfrm>
            <a:off x="213360" y="1920240"/>
            <a:ext cx="1076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Derive Ampere’s Circuital law from it’s point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89F9B2-8612-4807-A033-DE836E077227}"/>
                  </a:ext>
                </a:extLst>
              </p:cNvPr>
              <p:cNvSpPr txBox="1"/>
              <p:nvPr/>
            </p:nvSpPr>
            <p:spPr>
              <a:xfrm>
                <a:off x="365760" y="2570480"/>
                <a:ext cx="7508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IN" dirty="0"/>
                  <a:t> The point form of Ampere’s Circuital Law is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89F9B2-8612-4807-A033-DE836E077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2570480"/>
                <a:ext cx="7508240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EB267B-25E2-4687-BFF2-B442D0AA92C4}"/>
                  </a:ext>
                </a:extLst>
              </p:cNvPr>
              <p:cNvSpPr txBox="1"/>
              <p:nvPr/>
            </p:nvSpPr>
            <p:spPr>
              <a:xfrm>
                <a:off x="1940560" y="3088640"/>
                <a:ext cx="4866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 </a:t>
                </a:r>
                <a:r>
                  <a:rPr lang="en-IN" b="1" dirty="0"/>
                  <a:t>H </a:t>
                </a:r>
                <a:r>
                  <a:rPr lang="en-IN" dirty="0"/>
                  <a:t>=</a:t>
                </a:r>
                <a:r>
                  <a:rPr lang="en-IN" b="1" dirty="0"/>
                  <a:t> J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EB267B-25E2-4687-BFF2-B442D0AA9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560" y="3088640"/>
                <a:ext cx="4866640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13B9217-4013-42E9-94DE-1522AA4E0A7F}"/>
              </a:ext>
            </a:extLst>
          </p:cNvPr>
          <p:cNvSpPr txBox="1"/>
          <p:nvPr/>
        </p:nvSpPr>
        <p:spPr>
          <a:xfrm>
            <a:off x="1554480" y="3545840"/>
            <a:ext cx="84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Take </a:t>
            </a:r>
            <a:r>
              <a:rPr lang="en-IN" b="1" dirty="0"/>
              <a:t>.</a:t>
            </a:r>
            <a:r>
              <a:rPr lang="en-IN" b="1" i="1" dirty="0"/>
              <a:t>ds </a:t>
            </a:r>
            <a:r>
              <a:rPr lang="en-IN" dirty="0"/>
              <a:t>on both sides </a:t>
            </a:r>
            <a:endParaRPr lang="en-IN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AE2A5A-2D72-4A0C-B57C-25AF6C717CDB}"/>
                  </a:ext>
                </a:extLst>
              </p:cNvPr>
              <p:cNvSpPr txBox="1"/>
              <p:nvPr/>
            </p:nvSpPr>
            <p:spPr>
              <a:xfrm>
                <a:off x="1595120" y="4003040"/>
                <a:ext cx="5232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 </a:t>
                </a:r>
                <a:r>
                  <a:rPr lang="en-IN" b="1" dirty="0"/>
                  <a:t>H . </a:t>
                </a:r>
                <a:r>
                  <a:rPr lang="en-IN" b="1" i="1" dirty="0"/>
                  <a:t>ds </a:t>
                </a:r>
                <a:r>
                  <a:rPr lang="en-IN" dirty="0"/>
                  <a:t>=</a:t>
                </a:r>
                <a:r>
                  <a:rPr lang="en-IN" b="1" dirty="0"/>
                  <a:t> J . </a:t>
                </a:r>
                <a:r>
                  <a:rPr lang="en-IN" b="1" i="1" dirty="0"/>
                  <a:t>ds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AE2A5A-2D72-4A0C-B57C-25AF6C717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120" y="4003040"/>
                <a:ext cx="5232400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8663598-4EF8-42A7-B472-E6596C1583DA}"/>
              </a:ext>
            </a:extLst>
          </p:cNvPr>
          <p:cNvSpPr txBox="1"/>
          <p:nvPr/>
        </p:nvSpPr>
        <p:spPr>
          <a:xfrm>
            <a:off x="812800" y="4399280"/>
            <a:ext cx="650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Integrate on both sides (over a finite area)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A0FB7-01D5-4A56-A4AE-0BCA6C7841FA}"/>
                  </a:ext>
                </a:extLst>
              </p:cNvPr>
              <p:cNvSpPr txBox="1"/>
              <p:nvPr/>
            </p:nvSpPr>
            <p:spPr>
              <a:xfrm>
                <a:off x="1351280" y="4846320"/>
                <a:ext cx="3413760" cy="41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a:rPr lang="en-I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b="1" dirty="0"/>
                          <m:t>H</m:t>
                        </m:r>
                        <m:r>
                          <m:rPr>
                            <m:nor/>
                          </m:rPr>
                          <a:rPr lang="en-IN" b="1" dirty="0"/>
                          <m:t> . </m:t>
                        </m:r>
                        <m:r>
                          <m:rPr>
                            <m:nor/>
                          </m:rPr>
                          <a:rPr lang="en-IN" b="1" i="1"/>
                          <m:t>ds</m:t>
                        </m:r>
                      </m:e>
                    </m:nary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b="1" dirty="0"/>
                          <m:t>J</m:t>
                        </m:r>
                        <m:r>
                          <m:rPr>
                            <m:nor/>
                          </m:rPr>
                          <a:rPr lang="en-IN" b="1" dirty="0"/>
                          <m:t> . </m:t>
                        </m:r>
                        <m:r>
                          <m:rPr>
                            <m:nor/>
                          </m:rPr>
                          <a:rPr lang="en-IN" b="1" i="1"/>
                          <m:t>ds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A0FB7-01D5-4A56-A4AE-0BCA6C784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280" y="4846320"/>
                <a:ext cx="3413760" cy="413896"/>
              </a:xfrm>
              <a:prstGeom prst="rect">
                <a:avLst/>
              </a:prstGeom>
              <a:blipFill>
                <a:blip r:embed="rId6"/>
                <a:stretch>
                  <a:fillRect l="-12143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193AF46-6D97-4084-ADA8-79A4B689CA6F}"/>
              </a:ext>
            </a:extLst>
          </p:cNvPr>
          <p:cNvSpPr txBox="1"/>
          <p:nvPr/>
        </p:nvSpPr>
        <p:spPr>
          <a:xfrm>
            <a:off x="812800" y="5405120"/>
            <a:ext cx="880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Applying Stoke’s Theorem for L.H.S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549F3C-1DE5-47D8-8236-FECC25B3A649}"/>
                  </a:ext>
                </a:extLst>
              </p:cNvPr>
              <p:cNvSpPr txBox="1"/>
              <p:nvPr/>
            </p:nvSpPr>
            <p:spPr>
              <a:xfrm>
                <a:off x="1747520" y="5984240"/>
                <a:ext cx="7355840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𝑒𝑛𝑐𝑙</m:t>
                        </m:r>
                      </m:sub>
                    </m:sSub>
                  </m:oMath>
                </a14:m>
                <a:r>
                  <a:rPr lang="en-IN" dirty="0"/>
                  <a:t>      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IN" dirty="0"/>
                  <a:t> 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b="1" dirty="0"/>
                          <m:t>J</m:t>
                        </m:r>
                        <m:r>
                          <m:rPr>
                            <m:nor/>
                          </m:rPr>
                          <a:rPr lang="en-IN" b="1" dirty="0"/>
                          <m:t> . </m:t>
                        </m:r>
                        <m:r>
                          <m:rPr>
                            <m:nor/>
                          </m:rPr>
                          <a:rPr lang="en-IN" b="1" i="1"/>
                          <m:t>ds</m:t>
                        </m:r>
                      </m:e>
                    </m:nary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𝑒𝑛𝑐𝑙</m:t>
                        </m:r>
                      </m:sub>
                    </m:sSub>
                  </m:oMath>
                </a14:m>
                <a:r>
                  <a:rPr lang="en-IN" dirty="0"/>
                  <a:t> 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549F3C-1DE5-47D8-8236-FECC25B3A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520" y="5984240"/>
                <a:ext cx="7355840" cy="412164"/>
              </a:xfrm>
              <a:prstGeom prst="rect">
                <a:avLst/>
              </a:prstGeom>
              <a:blipFill>
                <a:blip r:embed="rId7"/>
                <a:stretch>
                  <a:fillRect l="-5638" t="-134328" b="-195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20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  <p:bldP spid="4" grpId="0"/>
      <p:bldP spid="5" grpId="0"/>
      <p:bldP spid="6" grpId="0"/>
      <p:bldP spid="7" grpId="0"/>
      <p:bldP spid="8" grpId="0"/>
      <p:bldP spid="9" grpId="0"/>
      <p:bldP spid="11" grpId="0"/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15966A-DD0E-48B7-A717-F9F26454EBB2}"/>
              </a:ext>
            </a:extLst>
          </p:cNvPr>
          <p:cNvSpPr txBox="1"/>
          <p:nvPr/>
        </p:nvSpPr>
        <p:spPr>
          <a:xfrm>
            <a:off x="365760" y="345440"/>
            <a:ext cx="9377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Magnetic Flux Density </a:t>
            </a:r>
            <a:r>
              <a:rPr lang="en-IN" sz="24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AD430A-3C58-4565-A143-B4FA4DE7A6EB}"/>
              </a:ext>
            </a:extLst>
          </p:cNvPr>
          <p:cNvSpPr txBox="1"/>
          <p:nvPr/>
        </p:nvSpPr>
        <p:spPr>
          <a:xfrm>
            <a:off x="355600" y="1026160"/>
            <a:ext cx="1118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Magnetic Flux density </a:t>
            </a:r>
            <a:r>
              <a:rPr lang="en-IN" b="1" dirty="0"/>
              <a:t>B </a:t>
            </a:r>
            <a:r>
              <a:rPr lang="en-IN" dirty="0"/>
              <a:t>can be defined as “ </a:t>
            </a:r>
            <a:r>
              <a:rPr lang="en-IN" i="1" dirty="0"/>
              <a:t> Flux per Unit area ”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537A72-8426-4306-8C79-9FA64078649D}"/>
                  </a:ext>
                </a:extLst>
              </p:cNvPr>
              <p:cNvSpPr txBox="1"/>
              <p:nvPr/>
            </p:nvSpPr>
            <p:spPr>
              <a:xfrm>
                <a:off x="2032000" y="1645920"/>
                <a:ext cx="60553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B</a:t>
                </a:r>
                <a:r>
                  <a:rPr lang="en-IN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r>
                  <a:rPr lang="en-IN" b="1" dirty="0"/>
                  <a:t>H  </a:t>
                </a:r>
                <a:r>
                  <a:rPr lang="en-IN" dirty="0"/>
                  <a:t>web/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or Tesla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537A72-8426-4306-8C79-9FA640786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1645920"/>
                <a:ext cx="6055360" cy="369332"/>
              </a:xfrm>
              <a:prstGeom prst="rect">
                <a:avLst/>
              </a:prstGeom>
              <a:blipFill>
                <a:blip r:embed="rId2"/>
                <a:stretch>
                  <a:fillRect l="-80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AF0866-AC3C-475F-948F-E16A9AAEC377}"/>
                  </a:ext>
                </a:extLst>
              </p:cNvPr>
              <p:cNvSpPr txBox="1"/>
              <p:nvPr/>
            </p:nvSpPr>
            <p:spPr>
              <a:xfrm>
                <a:off x="1320800" y="2164080"/>
                <a:ext cx="66954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 = permeability of the free space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AF0866-AC3C-475F-948F-E16A9AAEC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800" y="2164080"/>
                <a:ext cx="6695440" cy="369332"/>
              </a:xfrm>
              <a:prstGeom prst="rect">
                <a:avLst/>
              </a:prstGeom>
              <a:blipFill>
                <a:blip r:embed="rId3"/>
                <a:stretch>
                  <a:fillRect l="-82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D131AE-CF52-4C98-93DE-2B197BEAFC74}"/>
                  </a:ext>
                </a:extLst>
              </p:cNvPr>
              <p:cNvSpPr txBox="1"/>
              <p:nvPr/>
            </p:nvSpPr>
            <p:spPr>
              <a:xfrm>
                <a:off x="2275840" y="2682240"/>
                <a:ext cx="42265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4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IN" dirty="0"/>
                  <a:t> Henry/m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D131AE-CF52-4C98-93DE-2B197BEAF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40" y="2682240"/>
                <a:ext cx="4226560" cy="369332"/>
              </a:xfrm>
              <a:prstGeom prst="rect">
                <a:avLst/>
              </a:prstGeom>
              <a:blipFill>
                <a:blip r:embed="rId4"/>
                <a:stretch>
                  <a:fillRect l="-1153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0D422150-DA3B-451A-8A4B-5992A65517DA}"/>
              </a:ext>
            </a:extLst>
          </p:cNvPr>
          <p:cNvSpPr/>
          <p:nvPr/>
        </p:nvSpPr>
        <p:spPr>
          <a:xfrm>
            <a:off x="7904480" y="3606800"/>
            <a:ext cx="3840480" cy="487680"/>
          </a:xfrm>
          <a:prstGeom prst="flowChartInputOutput">
            <a:avLst/>
          </a:prstGeom>
          <a:solidFill>
            <a:schemeClr val="accent4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EA46CA-5555-47C5-BA92-D0B6A32F006F}"/>
              </a:ext>
            </a:extLst>
          </p:cNvPr>
          <p:cNvCxnSpPr/>
          <p:nvPr/>
        </p:nvCxnSpPr>
        <p:spPr>
          <a:xfrm flipV="1">
            <a:off x="8736496" y="2922104"/>
            <a:ext cx="447261" cy="904461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FB64FC-F417-4D8B-AA94-50ECE4F45934}"/>
              </a:ext>
            </a:extLst>
          </p:cNvPr>
          <p:cNvCxnSpPr/>
          <p:nvPr/>
        </p:nvCxnSpPr>
        <p:spPr>
          <a:xfrm flipV="1">
            <a:off x="9336157" y="2945295"/>
            <a:ext cx="447261" cy="904461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C72612-0E7E-46AA-897D-680D8B6390E7}"/>
              </a:ext>
            </a:extLst>
          </p:cNvPr>
          <p:cNvCxnSpPr/>
          <p:nvPr/>
        </p:nvCxnSpPr>
        <p:spPr>
          <a:xfrm flipV="1">
            <a:off x="9955696" y="2988365"/>
            <a:ext cx="447261" cy="904461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BDB2F9-50CB-499F-8898-45ED4A1E6989}"/>
              </a:ext>
            </a:extLst>
          </p:cNvPr>
          <p:cNvCxnSpPr/>
          <p:nvPr/>
        </p:nvCxnSpPr>
        <p:spPr>
          <a:xfrm flipV="1">
            <a:off x="10505662" y="3011556"/>
            <a:ext cx="447261" cy="904461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42B182-045F-4AB9-8115-E6F12F7016A9}"/>
              </a:ext>
            </a:extLst>
          </p:cNvPr>
          <p:cNvCxnSpPr/>
          <p:nvPr/>
        </p:nvCxnSpPr>
        <p:spPr>
          <a:xfrm flipH="1">
            <a:off x="8239539" y="4104861"/>
            <a:ext cx="377687" cy="72555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9891366-DCA6-4431-A2A0-2BFFBB8DCA58}"/>
              </a:ext>
            </a:extLst>
          </p:cNvPr>
          <p:cNvCxnSpPr/>
          <p:nvPr/>
        </p:nvCxnSpPr>
        <p:spPr>
          <a:xfrm flipH="1">
            <a:off x="8849139" y="4088295"/>
            <a:ext cx="377687" cy="72555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43C95D-BC93-4377-8E9E-FCA4653B0649}"/>
              </a:ext>
            </a:extLst>
          </p:cNvPr>
          <p:cNvCxnSpPr/>
          <p:nvPr/>
        </p:nvCxnSpPr>
        <p:spPr>
          <a:xfrm flipH="1">
            <a:off x="9488556" y="4091608"/>
            <a:ext cx="377687" cy="72555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489DEA4-7263-4EBB-B808-3DAC7FC7E00E}"/>
              </a:ext>
            </a:extLst>
          </p:cNvPr>
          <p:cNvCxnSpPr/>
          <p:nvPr/>
        </p:nvCxnSpPr>
        <p:spPr>
          <a:xfrm flipH="1">
            <a:off x="10058399" y="4104861"/>
            <a:ext cx="377687" cy="72555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A50ECF-4B96-4A76-B45B-870CE15DA98F}"/>
              </a:ext>
            </a:extLst>
          </p:cNvPr>
          <p:cNvSpPr txBox="1"/>
          <p:nvPr/>
        </p:nvSpPr>
        <p:spPr>
          <a:xfrm>
            <a:off x="9204960" y="2672080"/>
            <a:ext cx="294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B</a:t>
            </a:r>
          </a:p>
        </p:txBody>
      </p:sp>
      <p:sp>
        <p:nvSpPr>
          <p:cNvPr id="22" name="Flowchart: Data 21">
            <a:extLst>
              <a:ext uri="{FF2B5EF4-FFF2-40B4-BE49-F238E27FC236}">
                <a16:creationId xmlns:a16="http://schemas.microsoft.com/office/drawing/2014/main" id="{436F3987-CB8A-4A96-AFB1-CE1D7E66265A}"/>
              </a:ext>
            </a:extLst>
          </p:cNvPr>
          <p:cNvSpPr/>
          <p:nvPr/>
        </p:nvSpPr>
        <p:spPr>
          <a:xfrm>
            <a:off x="10891520" y="3759200"/>
            <a:ext cx="264160" cy="60960"/>
          </a:xfrm>
          <a:prstGeom prst="flowChartInputOutpu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178AED-6668-47B6-89E7-B7912312DE9D}"/>
              </a:ext>
            </a:extLst>
          </p:cNvPr>
          <p:cNvSpPr txBox="1"/>
          <p:nvPr/>
        </p:nvSpPr>
        <p:spPr>
          <a:xfrm>
            <a:off x="8107680" y="3799840"/>
            <a:ext cx="50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/>
              <a:t>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EA23845-2EAA-4AFB-987A-C53F34B0A1AC}"/>
              </a:ext>
            </a:extLst>
          </p:cNvPr>
          <p:cNvCxnSpPr>
            <a:cxnSpLocks/>
          </p:cNvCxnSpPr>
          <p:nvPr/>
        </p:nvCxnSpPr>
        <p:spPr>
          <a:xfrm flipH="1" flipV="1">
            <a:off x="11013440" y="3271520"/>
            <a:ext cx="10160" cy="508000"/>
          </a:xfrm>
          <a:prstGeom prst="straightConnector1">
            <a:avLst/>
          </a:prstGeom>
          <a:ln w="952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23DDEC5-42EF-4BCE-A98F-B2C6F4F2CC61}"/>
              </a:ext>
            </a:extLst>
          </p:cNvPr>
          <p:cNvSpPr txBox="1"/>
          <p:nvPr/>
        </p:nvSpPr>
        <p:spPr>
          <a:xfrm>
            <a:off x="10962860" y="3011556"/>
            <a:ext cx="447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r>
              <a:rPr lang="en-IN" sz="1400" b="1" i="1" dirty="0">
                <a:solidFill>
                  <a:schemeClr val="accent2">
                    <a:lumMod val="50000"/>
                  </a:schemeClr>
                </a:solidFill>
              </a:rPr>
              <a:t>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1FB481F-8D9D-45E3-BFFA-F58C8B7264B3}"/>
              </a:ext>
            </a:extLst>
          </p:cNvPr>
          <p:cNvCxnSpPr/>
          <p:nvPr/>
        </p:nvCxnSpPr>
        <p:spPr>
          <a:xfrm flipV="1">
            <a:off x="11022496" y="2896925"/>
            <a:ext cx="447261" cy="904461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011874B-E4A6-4DC7-BF32-E303956C33A9}"/>
              </a:ext>
            </a:extLst>
          </p:cNvPr>
          <p:cNvSpPr txBox="1"/>
          <p:nvPr/>
        </p:nvSpPr>
        <p:spPr>
          <a:xfrm>
            <a:off x="11422380" y="2756654"/>
            <a:ext cx="220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3B034B-76B5-43DA-B290-8619048ADC52}"/>
              </a:ext>
            </a:extLst>
          </p:cNvPr>
          <p:cNvSpPr txBox="1"/>
          <p:nvPr/>
        </p:nvSpPr>
        <p:spPr>
          <a:xfrm>
            <a:off x="264160" y="3677920"/>
            <a:ext cx="602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To find the total flux coming out of </a:t>
            </a:r>
            <a:r>
              <a:rPr lang="en-IN" i="1" dirty="0">
                <a:solidFill>
                  <a:srgbClr val="C00000"/>
                </a:solidFill>
              </a:rPr>
              <a:t>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098B18-776C-42D1-A8D6-4D77480F7597}"/>
              </a:ext>
            </a:extLst>
          </p:cNvPr>
          <p:cNvSpPr txBox="1"/>
          <p:nvPr/>
        </p:nvSpPr>
        <p:spPr>
          <a:xfrm>
            <a:off x="1016000" y="4318000"/>
            <a:ext cx="2479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Flux coming out of </a:t>
            </a:r>
            <a:r>
              <a:rPr lang="en-IN" i="1" dirty="0"/>
              <a:t>d</a:t>
            </a:r>
            <a:r>
              <a:rPr lang="en-IN" b="1" i="1" dirty="0"/>
              <a:t>S</a:t>
            </a:r>
            <a:r>
              <a:rPr lang="en-IN" dirty="0"/>
              <a:t> = </a:t>
            </a:r>
            <a:endParaRPr lang="en-IN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3FB915-5748-4355-954F-F5AA0EC96D4C}"/>
                  </a:ext>
                </a:extLst>
              </p:cNvPr>
              <p:cNvSpPr txBox="1"/>
              <p:nvPr/>
            </p:nvSpPr>
            <p:spPr>
              <a:xfrm>
                <a:off x="883920" y="5100320"/>
                <a:ext cx="7274560" cy="41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Flux coming out of Total Surface </a:t>
                </a:r>
                <a:r>
                  <a:rPr lang="en-IN" i="1" dirty="0"/>
                  <a:t>S,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IN" i="1" dirty="0"/>
                  <a:t>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b="1" dirty="0"/>
                          <m:t>B</m:t>
                        </m:r>
                        <m:r>
                          <m:rPr>
                            <m:nor/>
                          </m:rPr>
                          <a:rPr lang="en-IN" dirty="0"/>
                          <m:t>.</m:t>
                        </m:r>
                        <m:r>
                          <m:rPr>
                            <m:nor/>
                          </m:rPr>
                          <a:rPr lang="en-IN" i="1" dirty="0"/>
                          <m:t>d</m:t>
                        </m:r>
                        <m:r>
                          <m:rPr>
                            <m:nor/>
                          </m:rPr>
                          <a:rPr lang="en-IN" b="1" i="1" dirty="0"/>
                          <m:t>S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3FB915-5748-4355-954F-F5AA0EC96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" y="5100320"/>
                <a:ext cx="7274560" cy="413896"/>
              </a:xfrm>
              <a:prstGeom prst="rect">
                <a:avLst/>
              </a:prstGeom>
              <a:blipFill>
                <a:blip r:embed="rId5"/>
                <a:stretch>
                  <a:fillRect l="-671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EC2362A0-56B0-40B5-A68B-19DCE2BA4CA6}"/>
              </a:ext>
            </a:extLst>
          </p:cNvPr>
          <p:cNvSpPr txBox="1"/>
          <p:nvPr/>
        </p:nvSpPr>
        <p:spPr>
          <a:xfrm>
            <a:off x="3429000" y="4300974"/>
            <a:ext cx="848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</a:t>
            </a:r>
            <a:r>
              <a:rPr lang="en-IN" dirty="0"/>
              <a:t>.</a:t>
            </a:r>
            <a:r>
              <a:rPr lang="en-IN" i="1" dirty="0"/>
              <a:t>d</a:t>
            </a:r>
            <a:r>
              <a:rPr lang="en-IN" b="1" i="1" dirty="0"/>
              <a:t>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79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8" presetClass="entr" presetSubtype="0" accel="5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27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8" decel="50000" autoRev="1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1"/>
      <p:bldP spid="5" grpId="0"/>
      <p:bldP spid="6" grpId="0"/>
      <p:bldP spid="10" grpId="0" animBg="1"/>
      <p:bldP spid="21" grpId="0"/>
      <p:bldP spid="22" grpId="2" animBg="1"/>
      <p:bldP spid="23" grpId="0"/>
      <p:bldP spid="26" grpId="1"/>
      <p:bldP spid="29" grpId="0"/>
      <p:bldP spid="30" grpId="0"/>
      <p:bldP spid="31" grpId="0"/>
      <p:bldP spid="32" grpId="0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CD60489-0DE5-4B27-A083-F7980D16BB10}"/>
                  </a:ext>
                </a:extLst>
              </p:cNvPr>
              <p:cNvSpPr txBox="1"/>
              <p:nvPr/>
            </p:nvSpPr>
            <p:spPr>
              <a:xfrm>
                <a:off x="318052" y="318052"/>
                <a:ext cx="87166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solidFill>
                      <a:srgbClr val="C00000"/>
                    </a:solidFill>
                  </a:rPr>
                  <a:t>To show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sz="2000" dirty="0">
                    <a:solidFill>
                      <a:srgbClr val="C00000"/>
                    </a:solidFill>
                  </a:rPr>
                  <a:t>.</a:t>
                </a:r>
                <a:r>
                  <a:rPr lang="en-IN" sz="2000" b="1" dirty="0">
                    <a:solidFill>
                      <a:srgbClr val="C00000"/>
                    </a:solidFill>
                  </a:rPr>
                  <a:t>B </a:t>
                </a:r>
                <a:r>
                  <a:rPr lang="en-IN" sz="2000" dirty="0">
                    <a:solidFill>
                      <a:srgbClr val="C00000"/>
                    </a:solidFill>
                  </a:rPr>
                  <a:t>= 0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CD60489-0DE5-4B27-A083-F7980D16B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52" y="318052"/>
                <a:ext cx="8716618" cy="400110"/>
              </a:xfrm>
              <a:prstGeom prst="rect">
                <a:avLst/>
              </a:prstGeom>
              <a:blipFill>
                <a:blip r:embed="rId2"/>
                <a:stretch>
                  <a:fillRect l="-699"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AECFBBE-06C0-4C10-8CD4-5304FB660DD9}"/>
              </a:ext>
            </a:extLst>
          </p:cNvPr>
          <p:cNvSpPr txBox="1"/>
          <p:nvPr/>
        </p:nvSpPr>
        <p:spPr>
          <a:xfrm>
            <a:off x="308113" y="1033670"/>
            <a:ext cx="10714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Magnetic flux lines are always Closed loops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F26ED-08AE-40FA-ACFD-594B17917B53}"/>
              </a:ext>
            </a:extLst>
          </p:cNvPr>
          <p:cNvSpPr txBox="1"/>
          <p:nvPr/>
        </p:nvSpPr>
        <p:spPr>
          <a:xfrm>
            <a:off x="357809" y="1600200"/>
            <a:ext cx="585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Isolated point source does not exist for magnetic flux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145131-A375-4FBE-B554-6481A69B7EF3}"/>
              </a:ext>
            </a:extLst>
          </p:cNvPr>
          <p:cNvSpPr txBox="1"/>
          <p:nvPr/>
        </p:nvSpPr>
        <p:spPr>
          <a:xfrm>
            <a:off x="1639957" y="2117035"/>
            <a:ext cx="615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err="1"/>
              <a:t>i.e</a:t>
            </a:r>
            <a:r>
              <a:rPr lang="en-IN" i="1" dirty="0"/>
              <a:t> Isolated north or south pole does not exist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6383CA-6AE2-4591-91D4-AFBE1EB26B35}"/>
              </a:ext>
            </a:extLst>
          </p:cNvPr>
          <p:cNvSpPr txBox="1"/>
          <p:nvPr/>
        </p:nvSpPr>
        <p:spPr>
          <a:xfrm>
            <a:off x="437322" y="2782957"/>
            <a:ext cx="8497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Hence the net flux coming out of any closed surface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A3F4F7-9BBE-41C6-BA08-DE79B5F95FF5}"/>
                  </a:ext>
                </a:extLst>
              </p:cNvPr>
              <p:cNvSpPr txBox="1"/>
              <p:nvPr/>
            </p:nvSpPr>
            <p:spPr>
              <a:xfrm>
                <a:off x="1381539" y="3369365"/>
                <a:ext cx="6539948" cy="41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nary>
                  </m:oMath>
                </a14:m>
                <a:r>
                  <a:rPr lang="en-IN" dirty="0"/>
                  <a:t> = 0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A3F4F7-9BBE-41C6-BA08-DE79B5F95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539" y="3369365"/>
                <a:ext cx="6539948" cy="413896"/>
              </a:xfrm>
              <a:prstGeom prst="rect">
                <a:avLst/>
              </a:prstGeom>
              <a:blipFill>
                <a:blip r:embed="rId3"/>
                <a:stretch>
                  <a:fillRect l="-6343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7B72A90-31DA-49DA-A27A-991EBF697417}"/>
              </a:ext>
            </a:extLst>
          </p:cNvPr>
          <p:cNvSpPr txBox="1"/>
          <p:nvPr/>
        </p:nvSpPr>
        <p:spPr>
          <a:xfrm>
            <a:off x="626165" y="3965713"/>
            <a:ext cx="83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Applying divergence theorem for L.H.S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C70B14-82DD-461B-BEE7-B9582B8A6BE5}"/>
                  </a:ext>
                </a:extLst>
              </p:cNvPr>
              <p:cNvSpPr txBox="1"/>
              <p:nvPr/>
            </p:nvSpPr>
            <p:spPr>
              <a:xfrm>
                <a:off x="721360" y="4531360"/>
                <a:ext cx="6634480" cy="41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nary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sub>
                      <m:sup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</m:nary>
                  </m:oMath>
                </a14:m>
                <a:r>
                  <a:rPr lang="en-IN" dirty="0"/>
                  <a:t>.</a:t>
                </a:r>
                <a:r>
                  <a:rPr lang="en-IN" b="1" dirty="0"/>
                  <a:t>B</a:t>
                </a:r>
                <a:r>
                  <a:rPr lang="en-IN" dirty="0"/>
                  <a:t>) </a:t>
                </a:r>
                <a:r>
                  <a:rPr lang="en-IN" i="1" dirty="0"/>
                  <a:t>dv</a:t>
                </a:r>
                <a:r>
                  <a:rPr lang="en-IN" b="1" dirty="0"/>
                  <a:t>= </a:t>
                </a:r>
                <a:r>
                  <a:rPr lang="en-IN" dirty="0"/>
                  <a:t>0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C70B14-82DD-461B-BEE7-B9582B8A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60" y="4531360"/>
                <a:ext cx="6634480" cy="413896"/>
              </a:xfrm>
              <a:prstGeom prst="rect">
                <a:avLst/>
              </a:prstGeom>
              <a:blipFill>
                <a:blip r:embed="rId4"/>
                <a:stretch>
                  <a:fillRect l="-6152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2EAE13-1BC7-4065-B191-961847D69019}"/>
                  </a:ext>
                </a:extLst>
              </p:cNvPr>
              <p:cNvSpPr txBox="1"/>
              <p:nvPr/>
            </p:nvSpPr>
            <p:spPr>
              <a:xfrm>
                <a:off x="1473200" y="517144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.</a:t>
                </a:r>
                <a:r>
                  <a:rPr lang="en-IN" b="1" dirty="0">
                    <a:solidFill>
                      <a:srgbClr val="C00000"/>
                    </a:solidFill>
                  </a:rPr>
                  <a:t>B </a:t>
                </a:r>
                <a:r>
                  <a:rPr lang="en-IN" dirty="0">
                    <a:solidFill>
                      <a:srgbClr val="C00000"/>
                    </a:solidFill>
                  </a:rPr>
                  <a:t>= 0 </a:t>
                </a:r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2EAE13-1BC7-4065-B191-961847D69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200" y="5171440"/>
                <a:ext cx="4572000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magnetic flux lines">
            <a:extLst>
              <a:ext uri="{FF2B5EF4-FFF2-40B4-BE49-F238E27FC236}">
                <a16:creationId xmlns:a16="http://schemas.microsoft.com/office/drawing/2014/main" id="{557363EA-F922-40E7-8830-D51ED9E440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81"/>
          <a:stretch/>
        </p:blipFill>
        <p:spPr bwMode="auto">
          <a:xfrm>
            <a:off x="7337535" y="1269947"/>
            <a:ext cx="3813941" cy="221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C8FEACD9-4411-490B-9F7F-EB8D19BEF1C3}"/>
              </a:ext>
            </a:extLst>
          </p:cNvPr>
          <p:cNvSpPr/>
          <p:nvPr/>
        </p:nvSpPr>
        <p:spPr>
          <a:xfrm>
            <a:off x="7180686" y="1246804"/>
            <a:ext cx="4138955" cy="2253141"/>
          </a:xfrm>
          <a:custGeom>
            <a:avLst/>
            <a:gdLst>
              <a:gd name="connsiteX0" fmla="*/ 0 w 2017986"/>
              <a:gd name="connsiteY0" fmla="*/ 1024759 h 2049518"/>
              <a:gd name="connsiteX1" fmla="*/ 1008993 w 2017986"/>
              <a:gd name="connsiteY1" fmla="*/ 0 h 2049518"/>
              <a:gd name="connsiteX2" fmla="*/ 2017986 w 2017986"/>
              <a:gd name="connsiteY2" fmla="*/ 1024759 h 2049518"/>
              <a:gd name="connsiteX3" fmla="*/ 1008993 w 2017986"/>
              <a:gd name="connsiteY3" fmla="*/ 2049518 h 2049518"/>
              <a:gd name="connsiteX4" fmla="*/ 0 w 2017986"/>
              <a:gd name="connsiteY4" fmla="*/ 1024759 h 2049518"/>
              <a:gd name="connsiteX0" fmla="*/ 0 w 2301765"/>
              <a:gd name="connsiteY0" fmla="*/ 1088102 h 2124870"/>
              <a:gd name="connsiteX1" fmla="*/ 1008993 w 2301765"/>
              <a:gd name="connsiteY1" fmla="*/ 63343 h 2124870"/>
              <a:gd name="connsiteX2" fmla="*/ 2301765 w 2301765"/>
              <a:gd name="connsiteY2" fmla="*/ 478502 h 2124870"/>
              <a:gd name="connsiteX3" fmla="*/ 1008993 w 2301765"/>
              <a:gd name="connsiteY3" fmla="*/ 2112861 h 2124870"/>
              <a:gd name="connsiteX4" fmla="*/ 0 w 2301765"/>
              <a:gd name="connsiteY4" fmla="*/ 1088102 h 2124870"/>
              <a:gd name="connsiteX0" fmla="*/ 0 w 2427889"/>
              <a:gd name="connsiteY0" fmla="*/ 1088102 h 2124870"/>
              <a:gd name="connsiteX1" fmla="*/ 1135117 w 2427889"/>
              <a:gd name="connsiteY1" fmla="*/ 63343 h 2124870"/>
              <a:gd name="connsiteX2" fmla="*/ 2427889 w 2427889"/>
              <a:gd name="connsiteY2" fmla="*/ 478502 h 2124870"/>
              <a:gd name="connsiteX3" fmla="*/ 1135117 w 2427889"/>
              <a:gd name="connsiteY3" fmla="*/ 2112861 h 2124870"/>
              <a:gd name="connsiteX4" fmla="*/ 0 w 2427889"/>
              <a:gd name="connsiteY4" fmla="*/ 1088102 h 2124870"/>
              <a:gd name="connsiteX0" fmla="*/ 27 w 2427916"/>
              <a:gd name="connsiteY0" fmla="*/ 1088102 h 1924309"/>
              <a:gd name="connsiteX1" fmla="*/ 1135144 w 2427916"/>
              <a:gd name="connsiteY1" fmla="*/ 63343 h 1924309"/>
              <a:gd name="connsiteX2" fmla="*/ 2427916 w 2427916"/>
              <a:gd name="connsiteY2" fmla="*/ 478502 h 1924309"/>
              <a:gd name="connsiteX3" fmla="*/ 1166675 w 2427916"/>
              <a:gd name="connsiteY3" fmla="*/ 1913164 h 1924309"/>
              <a:gd name="connsiteX4" fmla="*/ 27 w 2427916"/>
              <a:gd name="connsiteY4" fmla="*/ 1088102 h 1924309"/>
              <a:gd name="connsiteX0" fmla="*/ 6274 w 2434163"/>
              <a:gd name="connsiteY0" fmla="*/ 1088102 h 1913940"/>
              <a:gd name="connsiteX1" fmla="*/ 1141391 w 2434163"/>
              <a:gd name="connsiteY1" fmla="*/ 63343 h 1913940"/>
              <a:gd name="connsiteX2" fmla="*/ 2434163 w 2434163"/>
              <a:gd name="connsiteY2" fmla="*/ 478502 h 1913940"/>
              <a:gd name="connsiteX3" fmla="*/ 1656398 w 2434163"/>
              <a:gd name="connsiteY3" fmla="*/ 1902654 h 1913940"/>
              <a:gd name="connsiteX4" fmla="*/ 6274 w 2434163"/>
              <a:gd name="connsiteY4" fmla="*/ 1088102 h 1913940"/>
              <a:gd name="connsiteX0" fmla="*/ 8332 w 2173463"/>
              <a:gd name="connsiteY0" fmla="*/ 873622 h 1892108"/>
              <a:gd name="connsiteX1" fmla="*/ 880691 w 2173463"/>
              <a:gd name="connsiteY1" fmla="*/ 48560 h 1892108"/>
              <a:gd name="connsiteX2" fmla="*/ 2173463 w 2173463"/>
              <a:gd name="connsiteY2" fmla="*/ 463719 h 1892108"/>
              <a:gd name="connsiteX3" fmla="*/ 1395698 w 2173463"/>
              <a:gd name="connsiteY3" fmla="*/ 1887871 h 1892108"/>
              <a:gd name="connsiteX4" fmla="*/ 8332 w 2173463"/>
              <a:gd name="connsiteY4" fmla="*/ 873622 h 1892108"/>
              <a:gd name="connsiteX0" fmla="*/ 8896 w 2436786"/>
              <a:gd name="connsiteY0" fmla="*/ 825102 h 1839399"/>
              <a:gd name="connsiteX1" fmla="*/ 881255 w 2436786"/>
              <a:gd name="connsiteY1" fmla="*/ 40 h 1839399"/>
              <a:gd name="connsiteX2" fmla="*/ 2436786 w 2436786"/>
              <a:gd name="connsiteY2" fmla="*/ 856633 h 1839399"/>
              <a:gd name="connsiteX3" fmla="*/ 1396262 w 2436786"/>
              <a:gd name="connsiteY3" fmla="*/ 1839351 h 1839399"/>
              <a:gd name="connsiteX4" fmla="*/ 8896 w 2436786"/>
              <a:gd name="connsiteY4" fmla="*/ 825102 h 1839399"/>
              <a:gd name="connsiteX0" fmla="*/ 21 w 2427911"/>
              <a:gd name="connsiteY0" fmla="*/ 1287539 h 2301836"/>
              <a:gd name="connsiteX1" fmla="*/ 1418918 w 2427911"/>
              <a:gd name="connsiteY1" fmla="*/ 22 h 2301836"/>
              <a:gd name="connsiteX2" fmla="*/ 2427911 w 2427911"/>
              <a:gd name="connsiteY2" fmla="*/ 1319070 h 2301836"/>
              <a:gd name="connsiteX3" fmla="*/ 1387387 w 2427911"/>
              <a:gd name="connsiteY3" fmla="*/ 2301788 h 2301836"/>
              <a:gd name="connsiteX4" fmla="*/ 21 w 2427911"/>
              <a:gd name="connsiteY4" fmla="*/ 1287539 h 2301836"/>
              <a:gd name="connsiteX0" fmla="*/ 31 w 2049549"/>
              <a:gd name="connsiteY0" fmla="*/ 1256079 h 2302048"/>
              <a:gd name="connsiteX1" fmla="*/ 1040556 w 2049549"/>
              <a:gd name="connsiteY1" fmla="*/ 93 h 2302048"/>
              <a:gd name="connsiteX2" fmla="*/ 2049549 w 2049549"/>
              <a:gd name="connsiteY2" fmla="*/ 1319141 h 2302048"/>
              <a:gd name="connsiteX3" fmla="*/ 1009025 w 2049549"/>
              <a:gd name="connsiteY3" fmla="*/ 2301859 h 2302048"/>
              <a:gd name="connsiteX4" fmla="*/ 31 w 2049549"/>
              <a:gd name="connsiteY4" fmla="*/ 1256079 h 2302048"/>
              <a:gd name="connsiteX0" fmla="*/ 38 w 2921915"/>
              <a:gd name="connsiteY0" fmla="*/ 1443305 h 2513673"/>
              <a:gd name="connsiteX1" fmla="*/ 1040563 w 2921915"/>
              <a:gd name="connsiteY1" fmla="*/ 187319 h 2513673"/>
              <a:gd name="connsiteX2" fmla="*/ 2921915 w 2921915"/>
              <a:gd name="connsiteY2" fmla="*/ 371250 h 2513673"/>
              <a:gd name="connsiteX3" fmla="*/ 1009032 w 2921915"/>
              <a:gd name="connsiteY3" fmla="*/ 2489085 h 2513673"/>
              <a:gd name="connsiteX4" fmla="*/ 38 w 2921915"/>
              <a:gd name="connsiteY4" fmla="*/ 1443305 h 2513673"/>
              <a:gd name="connsiteX0" fmla="*/ 8388 w 2930265"/>
              <a:gd name="connsiteY0" fmla="*/ 1443305 h 2493098"/>
              <a:gd name="connsiteX1" fmla="*/ 1048913 w 2930265"/>
              <a:gd name="connsiteY1" fmla="*/ 187319 h 2493098"/>
              <a:gd name="connsiteX2" fmla="*/ 2930265 w 2930265"/>
              <a:gd name="connsiteY2" fmla="*/ 371250 h 2493098"/>
              <a:gd name="connsiteX3" fmla="*/ 1584940 w 2930265"/>
              <a:gd name="connsiteY3" fmla="*/ 2468064 h 2493098"/>
              <a:gd name="connsiteX4" fmla="*/ 8388 w 2930265"/>
              <a:gd name="connsiteY4" fmla="*/ 1443305 h 2493098"/>
              <a:gd name="connsiteX0" fmla="*/ 8388 w 2930265"/>
              <a:gd name="connsiteY0" fmla="*/ 1597291 h 2648155"/>
              <a:gd name="connsiteX1" fmla="*/ 1048913 w 2930265"/>
              <a:gd name="connsiteY1" fmla="*/ 93196 h 2648155"/>
              <a:gd name="connsiteX2" fmla="*/ 2930265 w 2930265"/>
              <a:gd name="connsiteY2" fmla="*/ 525236 h 2648155"/>
              <a:gd name="connsiteX3" fmla="*/ 1584940 w 2930265"/>
              <a:gd name="connsiteY3" fmla="*/ 2622050 h 2648155"/>
              <a:gd name="connsiteX4" fmla="*/ 8388 w 2930265"/>
              <a:gd name="connsiteY4" fmla="*/ 1597291 h 2648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0265" h="2648155">
                <a:moveTo>
                  <a:pt x="8388" y="1597291"/>
                </a:moveTo>
                <a:cubicBezTo>
                  <a:pt x="-80950" y="1175815"/>
                  <a:pt x="561933" y="271872"/>
                  <a:pt x="1048913" y="93196"/>
                </a:cubicBezTo>
                <a:cubicBezTo>
                  <a:pt x="1535893" y="-85480"/>
                  <a:pt x="2930265" y="-40723"/>
                  <a:pt x="2930265" y="525236"/>
                </a:cubicBezTo>
                <a:cubicBezTo>
                  <a:pt x="2930265" y="1091195"/>
                  <a:pt x="2071920" y="2443374"/>
                  <a:pt x="1584940" y="2622050"/>
                </a:cubicBezTo>
                <a:cubicBezTo>
                  <a:pt x="1097960" y="2800726"/>
                  <a:pt x="97726" y="2018767"/>
                  <a:pt x="8388" y="159729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2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38792A-219E-43CB-8B8D-F889B8838AD2}"/>
              </a:ext>
            </a:extLst>
          </p:cNvPr>
          <p:cNvSpPr txBox="1"/>
          <p:nvPr/>
        </p:nvSpPr>
        <p:spPr>
          <a:xfrm>
            <a:off x="10836165" y="1460938"/>
            <a:ext cx="336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50234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  <p:bldP spid="9" grpId="0"/>
      <p:bldP spid="10" grpId="0"/>
      <p:bldP spid="11" grpId="1"/>
      <p:bldP spid="7" grpId="0" animBg="1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E8D01-3B33-4006-A24B-E4263DCEAB06}"/>
              </a:ext>
            </a:extLst>
          </p:cNvPr>
          <p:cNvSpPr txBox="1"/>
          <p:nvPr/>
        </p:nvSpPr>
        <p:spPr>
          <a:xfrm>
            <a:off x="0" y="345440"/>
            <a:ext cx="10454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Summary of the Static Fields – Maxwell’s Equations for Static Fields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4EBDC3-A27E-424E-BFD1-C1B15F886636}"/>
                  </a:ext>
                </a:extLst>
              </p:cNvPr>
              <p:cNvSpPr txBox="1"/>
              <p:nvPr/>
            </p:nvSpPr>
            <p:spPr>
              <a:xfrm>
                <a:off x="558800" y="1249680"/>
                <a:ext cx="1351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1.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.</a:t>
                </a:r>
                <a:r>
                  <a:rPr lang="en-IN" b="1" dirty="0">
                    <a:solidFill>
                      <a:schemeClr val="tx1"/>
                    </a:solidFill>
                  </a:rPr>
                  <a:t>D </a:t>
                </a:r>
                <a:r>
                  <a:rPr lang="en-IN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4EBDC3-A27E-424E-BFD1-C1B15F886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1249680"/>
                <a:ext cx="1351280" cy="369332"/>
              </a:xfrm>
              <a:prstGeom prst="rect">
                <a:avLst/>
              </a:prstGeom>
              <a:blipFill>
                <a:blip r:embed="rId2"/>
                <a:stretch>
                  <a:fillRect l="-407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FF7C19-8BE2-47C6-BCB9-4143888DC562}"/>
                  </a:ext>
                </a:extLst>
              </p:cNvPr>
              <p:cNvSpPr txBox="1"/>
              <p:nvPr/>
            </p:nvSpPr>
            <p:spPr>
              <a:xfrm>
                <a:off x="1808480" y="2509520"/>
                <a:ext cx="8138160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nary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= 0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FF7C19-8BE2-47C6-BCB9-4143888DC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480" y="2509520"/>
                <a:ext cx="8138160" cy="412164"/>
              </a:xfrm>
              <a:prstGeom prst="rect">
                <a:avLst/>
              </a:prstGeom>
              <a:blipFill>
                <a:blip r:embed="rId3"/>
                <a:stretch>
                  <a:fillRect l="-2772" t="-134328" b="-195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4079A8-429D-4372-AB0E-883B67AF26D0}"/>
                  </a:ext>
                </a:extLst>
              </p:cNvPr>
              <p:cNvSpPr txBox="1"/>
              <p:nvPr/>
            </p:nvSpPr>
            <p:spPr>
              <a:xfrm>
                <a:off x="589280" y="1920240"/>
                <a:ext cx="51409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2.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 </a:t>
                </a:r>
                <a:r>
                  <a:rPr lang="en-IN" b="1" dirty="0"/>
                  <a:t>E </a:t>
                </a:r>
                <a:r>
                  <a:rPr lang="en-IN" dirty="0"/>
                  <a:t>= 0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4079A8-429D-4372-AB0E-883B67AF2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1920240"/>
                <a:ext cx="5140960" cy="369332"/>
              </a:xfrm>
              <a:prstGeom prst="rect">
                <a:avLst/>
              </a:prstGeom>
              <a:blipFill>
                <a:blip r:embed="rId4"/>
                <a:stretch>
                  <a:fillRect l="-106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E86FFD0-62F9-4D17-90B4-7AB5A50F00A0}"/>
              </a:ext>
            </a:extLst>
          </p:cNvPr>
          <p:cNvSpPr txBox="1"/>
          <p:nvPr/>
        </p:nvSpPr>
        <p:spPr>
          <a:xfrm>
            <a:off x="1778000" y="2956560"/>
            <a:ext cx="546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Applying Stoke’s Theorem to L.H.S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3D5B37-300B-49BE-A052-030AAFD55F40}"/>
                  </a:ext>
                </a:extLst>
              </p:cNvPr>
              <p:cNvSpPr txBox="1"/>
              <p:nvPr/>
            </p:nvSpPr>
            <p:spPr>
              <a:xfrm>
                <a:off x="1808480" y="3576320"/>
                <a:ext cx="6228080" cy="41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nary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b="1" dirty="0"/>
                          <m:t>E</m:t>
                        </m:r>
                        <m:r>
                          <m:rPr>
                            <m:nor/>
                          </m:rPr>
                          <a:rPr lang="en-IN" i="0" dirty="0" smtClean="0"/>
                          <m:t>)</m:t>
                        </m:r>
                      </m:e>
                    </m:nary>
                  </m:oMath>
                </a14:m>
                <a:r>
                  <a:rPr lang="en-IN" dirty="0"/>
                  <a:t> . </a:t>
                </a:r>
                <a:r>
                  <a:rPr lang="en-IN" i="1" dirty="0"/>
                  <a:t>d</a:t>
                </a:r>
                <a:r>
                  <a:rPr lang="en-IN" b="1" i="1" dirty="0"/>
                  <a:t>S</a:t>
                </a:r>
                <a:r>
                  <a:rPr lang="en-IN" i="1" dirty="0"/>
                  <a:t> </a:t>
                </a:r>
                <a:r>
                  <a:rPr lang="en-IN" dirty="0"/>
                  <a:t>= 0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3D5B37-300B-49BE-A052-030AAFD55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480" y="3576320"/>
                <a:ext cx="6228080" cy="413896"/>
              </a:xfrm>
              <a:prstGeom prst="rect">
                <a:avLst/>
              </a:prstGeom>
              <a:blipFill>
                <a:blip r:embed="rId5"/>
                <a:stretch>
                  <a:fillRect l="-6660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A62F8E-ED84-403D-AB17-E01C1C1A317F}"/>
                  </a:ext>
                </a:extLst>
              </p:cNvPr>
              <p:cNvSpPr txBox="1"/>
              <p:nvPr/>
            </p:nvSpPr>
            <p:spPr>
              <a:xfrm>
                <a:off x="1808480" y="4165600"/>
                <a:ext cx="39827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 </a:t>
                </a:r>
                <a:r>
                  <a:rPr lang="en-IN" b="1" dirty="0"/>
                  <a:t>E </a:t>
                </a:r>
                <a:r>
                  <a:rPr lang="en-IN" dirty="0"/>
                  <a:t>= 0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A62F8E-ED84-403D-AB17-E01C1C1A3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480" y="4165600"/>
                <a:ext cx="3982720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3C7B02-6106-4D6F-8F86-1A6CF77AD769}"/>
                  </a:ext>
                </a:extLst>
              </p:cNvPr>
              <p:cNvSpPr txBox="1"/>
              <p:nvPr/>
            </p:nvSpPr>
            <p:spPr>
              <a:xfrm>
                <a:off x="599440" y="4582160"/>
                <a:ext cx="5222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3.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.</a:t>
                </a:r>
                <a:r>
                  <a:rPr lang="en-IN" b="1" dirty="0">
                    <a:solidFill>
                      <a:schemeClr val="tx1"/>
                    </a:solidFill>
                  </a:rPr>
                  <a:t>B </a:t>
                </a:r>
                <a:r>
                  <a:rPr lang="en-IN" dirty="0">
                    <a:solidFill>
                      <a:schemeClr val="tx1"/>
                    </a:solidFill>
                  </a:rPr>
                  <a:t>= 0</a:t>
                </a:r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3C7B02-6106-4D6F-8F86-1A6CF77AD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40" y="4582160"/>
                <a:ext cx="5222240" cy="369332"/>
              </a:xfrm>
              <a:prstGeom prst="rect">
                <a:avLst/>
              </a:prstGeom>
              <a:blipFill>
                <a:blip r:embed="rId7"/>
                <a:stretch>
                  <a:fillRect l="-933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CB09A6-ABE5-4C3E-A9EB-06CEF30C1DF4}"/>
                  </a:ext>
                </a:extLst>
              </p:cNvPr>
              <p:cNvSpPr txBox="1"/>
              <p:nvPr/>
            </p:nvSpPr>
            <p:spPr>
              <a:xfrm>
                <a:off x="579120" y="5394960"/>
                <a:ext cx="4653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4.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 </a:t>
                </a:r>
                <a:r>
                  <a:rPr lang="en-IN" b="1" dirty="0"/>
                  <a:t>H </a:t>
                </a:r>
                <a:r>
                  <a:rPr lang="en-IN" dirty="0"/>
                  <a:t>= </a:t>
                </a:r>
                <a:r>
                  <a:rPr lang="en-IN" b="1" dirty="0"/>
                  <a:t>J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CB09A6-ABE5-4C3E-A9EB-06CEF30C1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5394960"/>
                <a:ext cx="4653280" cy="369332"/>
              </a:xfrm>
              <a:prstGeom prst="rect">
                <a:avLst/>
              </a:prstGeom>
              <a:blipFill>
                <a:blip r:embed="rId8"/>
                <a:stretch>
                  <a:fillRect l="-104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690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88EC4B-2150-4DB6-BF5E-CC02E6F16363}"/>
                  </a:ext>
                </a:extLst>
              </p:cNvPr>
              <p:cNvSpPr txBox="1"/>
              <p:nvPr/>
            </p:nvSpPr>
            <p:spPr>
              <a:xfrm>
                <a:off x="304800" y="325120"/>
                <a:ext cx="9692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solidFill>
                      <a:srgbClr val="C00000"/>
                    </a:solidFill>
                  </a:rPr>
                  <a:t>Scalar Magnetic Potential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IN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88EC4B-2150-4DB6-BF5E-CC02E6F16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25120"/>
                <a:ext cx="9692640" cy="400110"/>
              </a:xfrm>
              <a:prstGeom prst="rect">
                <a:avLst/>
              </a:prstGeom>
              <a:blipFill>
                <a:blip r:embed="rId2"/>
                <a:stretch>
                  <a:fillRect l="-629"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3901BC-0287-481A-B4CB-6E8C72BB1E6A}"/>
                  </a:ext>
                </a:extLst>
              </p:cNvPr>
              <p:cNvSpPr txBox="1"/>
              <p:nvPr/>
            </p:nvSpPr>
            <p:spPr>
              <a:xfrm>
                <a:off x="416560" y="1005840"/>
                <a:ext cx="8757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We define the Scalar Magnetic Potential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as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3901BC-0287-481A-B4CB-6E8C72BB1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60" y="1005840"/>
                <a:ext cx="8757920" cy="369332"/>
              </a:xfrm>
              <a:prstGeom prst="rect">
                <a:avLst/>
              </a:prstGeom>
              <a:blipFill>
                <a:blip r:embed="rId3"/>
                <a:stretch>
                  <a:fillRect l="-557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DE3AAB-9E14-4C55-AA2E-EA31C82D9E1D}"/>
                  </a:ext>
                </a:extLst>
              </p:cNvPr>
              <p:cNvSpPr txBox="1"/>
              <p:nvPr/>
            </p:nvSpPr>
            <p:spPr>
              <a:xfrm>
                <a:off x="2834640" y="1625600"/>
                <a:ext cx="3352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H </a:t>
                </a:r>
                <a:r>
                  <a:rPr lang="en-IN" dirty="0"/>
                  <a:t>=</a:t>
                </a:r>
                <a:r>
                  <a:rPr lang="en-IN" b="1" dirty="0"/>
                  <a:t>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I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b="1" dirty="0"/>
                  <a:t>            </a:t>
                </a:r>
                <a:r>
                  <a:rPr lang="en-IN" dirty="0"/>
                  <a:t>(</a:t>
                </a:r>
                <a:r>
                  <a:rPr lang="en-IN" b="1" dirty="0"/>
                  <a:t>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IN" b="1" dirty="0"/>
                  <a:t> E = -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i="1" dirty="0"/>
                  <a:t>V</a:t>
                </a:r>
                <a:r>
                  <a:rPr lang="en-IN" dirty="0"/>
                  <a:t> )</a:t>
                </a:r>
                <a:endParaRPr lang="en-IN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DE3AAB-9E14-4C55-AA2E-EA31C82D9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0" y="1625600"/>
                <a:ext cx="3352800" cy="369332"/>
              </a:xfrm>
              <a:prstGeom prst="rect">
                <a:avLst/>
              </a:prstGeom>
              <a:blipFill>
                <a:blip r:embed="rId4"/>
                <a:stretch>
                  <a:fillRect l="-1455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816C8A-2073-4E6D-AAE4-B4F681A008E6}"/>
                  </a:ext>
                </a:extLst>
              </p:cNvPr>
              <p:cNvSpPr txBox="1"/>
              <p:nvPr/>
            </p:nvSpPr>
            <p:spPr>
              <a:xfrm>
                <a:off x="660400" y="2387600"/>
                <a:ext cx="10708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must satisfy the Maxwell’s equations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816C8A-2073-4E6D-AAE4-B4F681A00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2387600"/>
                <a:ext cx="10708640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8CB345-B740-4B20-AB17-406F9E9D4489}"/>
                  </a:ext>
                </a:extLst>
              </p:cNvPr>
              <p:cNvSpPr txBox="1"/>
              <p:nvPr/>
            </p:nvSpPr>
            <p:spPr>
              <a:xfrm>
                <a:off x="2184400" y="2814320"/>
                <a:ext cx="55168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 </a:t>
                </a:r>
                <a:r>
                  <a:rPr lang="en-IN" b="1" dirty="0"/>
                  <a:t>H </a:t>
                </a:r>
                <a:r>
                  <a:rPr lang="en-IN" dirty="0"/>
                  <a:t>= </a:t>
                </a:r>
                <a:r>
                  <a:rPr lang="en-IN" b="1" dirty="0"/>
                  <a:t>J </a:t>
                </a:r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8CB345-B740-4B20-AB17-406F9E9D4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400" y="2814320"/>
                <a:ext cx="5516880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CE2D27-6E60-4AE9-B322-12FDEBDC0D3B}"/>
                  </a:ext>
                </a:extLst>
              </p:cNvPr>
              <p:cNvSpPr txBox="1"/>
              <p:nvPr/>
            </p:nvSpPr>
            <p:spPr>
              <a:xfrm>
                <a:off x="2123440" y="3251200"/>
                <a:ext cx="8321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( </a:t>
                </a:r>
                <a:r>
                  <a:rPr lang="en-IN" b="1" dirty="0"/>
                  <a:t>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dirty="0"/>
                  <a:t>)</a:t>
                </a:r>
                <a:r>
                  <a:rPr lang="en-IN" b="1" dirty="0"/>
                  <a:t> </a:t>
                </a:r>
                <a:r>
                  <a:rPr lang="en-IN" dirty="0"/>
                  <a:t>= </a:t>
                </a:r>
                <a:r>
                  <a:rPr lang="en-IN" b="1" dirty="0"/>
                  <a:t>J </a:t>
                </a:r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CE2D27-6E60-4AE9-B322-12FDEBDC0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440" y="3251200"/>
                <a:ext cx="8321040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56E9CE-9CDC-4CF8-808B-8FB695B51B48}"/>
                  </a:ext>
                </a:extLst>
              </p:cNvPr>
              <p:cNvSpPr txBox="1"/>
              <p:nvPr/>
            </p:nvSpPr>
            <p:spPr>
              <a:xfrm>
                <a:off x="2052320" y="367105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>
                    <a:ea typeface="Cambria Math" panose="020405030504060302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(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dirty="0"/>
                  <a:t>)</a:t>
                </a:r>
                <a:r>
                  <a:rPr lang="en-IN" b="1" dirty="0"/>
                  <a:t> </a:t>
                </a:r>
                <a:r>
                  <a:rPr lang="en-IN" dirty="0"/>
                  <a:t>= </a:t>
                </a:r>
                <a:r>
                  <a:rPr lang="en-IN" b="1" dirty="0"/>
                  <a:t>J </a:t>
                </a:r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56E9CE-9CDC-4CF8-808B-8FB695B51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320" y="3671054"/>
                <a:ext cx="6096000" cy="369332"/>
              </a:xfrm>
              <a:prstGeom prst="rect">
                <a:avLst/>
              </a:prstGeom>
              <a:blipFill>
                <a:blip r:embed="rId8"/>
                <a:stretch>
                  <a:fillRect l="-90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7B8BA87-90A1-4921-ABF1-D99C1654C229}"/>
                  </a:ext>
                </a:extLst>
              </p:cNvPr>
              <p:cNvSpPr txBox="1"/>
              <p:nvPr/>
            </p:nvSpPr>
            <p:spPr>
              <a:xfrm>
                <a:off x="1950720" y="4185920"/>
                <a:ext cx="4866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IN" dirty="0"/>
                  <a:t> </a:t>
                </a:r>
                <a:r>
                  <a:rPr lang="en-IN" i="1" dirty="0"/>
                  <a:t>Curl</a:t>
                </a:r>
                <a:r>
                  <a:rPr lang="en-IN" dirty="0"/>
                  <a:t> ( </a:t>
                </a:r>
                <a:r>
                  <a:rPr lang="en-IN" i="1" dirty="0"/>
                  <a:t>Grad</a:t>
                </a:r>
                <a:r>
                  <a:rPr lang="en-IN" dirty="0"/>
                  <a:t> ) = 0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7B8BA87-90A1-4921-ABF1-D99C1654C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720" y="4185920"/>
                <a:ext cx="4866640" cy="369332"/>
              </a:xfrm>
              <a:prstGeom prst="rect">
                <a:avLst/>
              </a:prstGeom>
              <a:blipFill>
                <a:blip r:embed="rId9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00B353-CA52-424A-A737-276BB9590812}"/>
                  </a:ext>
                </a:extLst>
              </p:cNvPr>
              <p:cNvSpPr txBox="1"/>
              <p:nvPr/>
            </p:nvSpPr>
            <p:spPr>
              <a:xfrm>
                <a:off x="2235200" y="464641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H </a:t>
                </a:r>
                <a:r>
                  <a:rPr lang="en-IN" dirty="0"/>
                  <a:t>=</a:t>
                </a:r>
                <a:r>
                  <a:rPr lang="en-IN" b="1" dirty="0"/>
                  <a:t>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I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is valid when </a:t>
                </a:r>
                <a:r>
                  <a:rPr lang="en-IN" b="1" dirty="0"/>
                  <a:t>J</a:t>
                </a:r>
                <a:r>
                  <a:rPr lang="en-IN" dirty="0"/>
                  <a:t> = 0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00B353-CA52-424A-A737-276BB9590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00" y="4646414"/>
                <a:ext cx="6096000" cy="369332"/>
              </a:xfrm>
              <a:prstGeom prst="rect">
                <a:avLst/>
              </a:prstGeom>
              <a:blipFill>
                <a:blip r:embed="rId10"/>
                <a:stretch>
                  <a:fillRect l="-90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F663C82-084D-4A75-86A9-9C92BA51F83F}"/>
              </a:ext>
            </a:extLst>
          </p:cNvPr>
          <p:cNvSpPr txBox="1"/>
          <p:nvPr/>
        </p:nvSpPr>
        <p:spPr>
          <a:xfrm>
            <a:off x="558800" y="5069840"/>
            <a:ext cx="674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Also, another Maxwell’s equation 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0649E0-1A1C-4C2D-BB47-D4274DC4118B}"/>
                  </a:ext>
                </a:extLst>
              </p:cNvPr>
              <p:cNvSpPr txBox="1"/>
              <p:nvPr/>
            </p:nvSpPr>
            <p:spPr>
              <a:xfrm>
                <a:off x="1513840" y="5557520"/>
                <a:ext cx="111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.</a:t>
                </a:r>
                <a:r>
                  <a:rPr lang="en-IN" b="1" dirty="0">
                    <a:solidFill>
                      <a:schemeClr val="tx1"/>
                    </a:solidFill>
                  </a:rPr>
                  <a:t>B </a:t>
                </a:r>
                <a:r>
                  <a:rPr lang="en-IN" dirty="0">
                    <a:solidFill>
                      <a:schemeClr val="tx1"/>
                    </a:solidFill>
                  </a:rPr>
                  <a:t>= 0 </a:t>
                </a:r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0649E0-1A1C-4C2D-BB47-D4274DC41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840" y="5557520"/>
                <a:ext cx="1117600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AC1E81-FAD3-4DD0-8E8F-42C44A9A88D0}"/>
                  </a:ext>
                </a:extLst>
              </p:cNvPr>
              <p:cNvSpPr txBox="1"/>
              <p:nvPr/>
            </p:nvSpPr>
            <p:spPr>
              <a:xfrm>
                <a:off x="1381760" y="604849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𝐇</m:t>
                    </m:r>
                  </m:oMath>
                </a14:m>
                <a:r>
                  <a:rPr lang="en-IN" b="1" dirty="0">
                    <a:solidFill>
                      <a:schemeClr val="tx1"/>
                    </a:solidFill>
                  </a:rPr>
                  <a:t> </a:t>
                </a:r>
                <a:r>
                  <a:rPr lang="en-IN" dirty="0">
                    <a:solidFill>
                      <a:schemeClr val="tx1"/>
                    </a:solidFill>
                  </a:rPr>
                  <a:t>= 0 </a:t>
                </a:r>
                <a:endParaRPr lang="en-I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AC1E81-FAD3-4DD0-8E8F-42C44A9A8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760" y="6048494"/>
                <a:ext cx="6096000" cy="369332"/>
              </a:xfrm>
              <a:prstGeom prst="rect">
                <a:avLst/>
              </a:prstGeom>
              <a:blipFill>
                <a:blip r:embed="rId1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69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  <p:bldP spid="12" grpId="0"/>
      <p:bldP spid="13" grpId="0"/>
      <p:bldP spid="15" grpId="0"/>
      <p:bldP spid="16" grpId="0"/>
      <p:bldP spid="18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474ABC-B51E-41A3-8439-F62FB4881C0D}"/>
                  </a:ext>
                </a:extLst>
              </p:cNvPr>
              <p:cNvSpPr txBox="1"/>
              <p:nvPr/>
            </p:nvSpPr>
            <p:spPr>
              <a:xfrm>
                <a:off x="680720" y="48081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b="1" dirty="0"/>
                  <a:t>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)= 0 </a:t>
                </a:r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474ABC-B51E-41A3-8439-F62FB4881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20" y="480814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0B10F5-FFD4-48BD-A0D5-0D89D278D138}"/>
                  </a:ext>
                </a:extLst>
              </p:cNvPr>
              <p:cNvSpPr txBox="1"/>
              <p:nvPr/>
            </p:nvSpPr>
            <p:spPr>
              <a:xfrm>
                <a:off x="751840" y="1158240"/>
                <a:ext cx="167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/>
                  <a:t>i.e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i="1" dirty="0"/>
                  <a:t> </a:t>
                </a:r>
                <a:r>
                  <a:rPr lang="en-IN" dirty="0"/>
                  <a:t>= 0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0B10F5-FFD4-48BD-A0D5-0D89D278D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40" y="1158240"/>
                <a:ext cx="1676400" cy="369332"/>
              </a:xfrm>
              <a:prstGeom prst="rect">
                <a:avLst/>
              </a:prstGeom>
              <a:blipFill>
                <a:blip r:embed="rId3"/>
                <a:stretch>
                  <a:fillRect l="-2909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17D032C-EF88-4C05-B685-0E36A89C4C2F}"/>
              </a:ext>
            </a:extLst>
          </p:cNvPr>
          <p:cNvSpPr txBox="1"/>
          <p:nvPr/>
        </p:nvSpPr>
        <p:spPr>
          <a:xfrm>
            <a:off x="2418080" y="1158240"/>
            <a:ext cx="705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Laplace equation for Magnetostatics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4D65B3-8A30-417F-9339-5D69D3FAD9F2}"/>
                  </a:ext>
                </a:extLst>
              </p:cNvPr>
              <p:cNvSpPr txBox="1"/>
              <p:nvPr/>
            </p:nvSpPr>
            <p:spPr>
              <a:xfrm>
                <a:off x="294640" y="1869440"/>
                <a:ext cx="81584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C00000"/>
                    </a:solidFill>
                  </a:rPr>
                  <a:t>Potential difference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𝑚𝐴𝐵</m:t>
                        </m:r>
                      </m:sub>
                    </m:sSub>
                  </m:oMath>
                </a14:m>
                <a:endParaRPr lang="en-IN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4D65B3-8A30-417F-9339-5D69D3FAD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0" y="1869440"/>
                <a:ext cx="8158480" cy="369332"/>
              </a:xfrm>
              <a:prstGeom prst="rect">
                <a:avLst/>
              </a:prstGeom>
              <a:blipFill>
                <a:blip r:embed="rId4"/>
                <a:stretch>
                  <a:fillRect l="-597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2AEB071-5095-4230-97D8-60C156723065}"/>
              </a:ext>
            </a:extLst>
          </p:cNvPr>
          <p:cNvSpPr txBox="1"/>
          <p:nvPr/>
        </p:nvSpPr>
        <p:spPr>
          <a:xfrm>
            <a:off x="629920" y="2489200"/>
            <a:ext cx="677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Potential difference between two points </a:t>
            </a:r>
            <a:r>
              <a:rPr lang="en-IN" i="1" dirty="0"/>
              <a:t>A </a:t>
            </a:r>
            <a:r>
              <a:rPr lang="en-IN" dirty="0"/>
              <a:t> and </a:t>
            </a:r>
            <a:r>
              <a:rPr lang="en-IN" i="1" dirty="0"/>
              <a:t>B </a:t>
            </a:r>
            <a:r>
              <a:rPr lang="en-IN" dirty="0"/>
              <a:t> is defined as </a:t>
            </a:r>
            <a:endParaRPr lang="en-IN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544BD8-737B-4561-949D-4B17E3A253C8}"/>
                  </a:ext>
                </a:extLst>
              </p:cNvPr>
              <p:cNvSpPr txBox="1"/>
              <p:nvPr/>
            </p:nvSpPr>
            <p:spPr>
              <a:xfrm>
                <a:off x="1767840" y="3088640"/>
                <a:ext cx="3474720" cy="468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𝑚𝐴𝐵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= -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</m:nary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endParaRPr lang="en-IN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544BD8-737B-4561-949D-4B17E3A25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840" y="3088640"/>
                <a:ext cx="3474720" cy="468333"/>
              </a:xfrm>
              <a:prstGeom prst="rect">
                <a:avLst/>
              </a:prstGeom>
              <a:blipFill>
                <a:blip r:embed="rId5"/>
                <a:stretch>
                  <a:fillRect t="-105263" b="-1736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3CDB5B-63C9-4727-BA80-32AF3D22AB17}"/>
                  </a:ext>
                </a:extLst>
              </p:cNvPr>
              <p:cNvSpPr txBox="1"/>
              <p:nvPr/>
            </p:nvSpPr>
            <p:spPr>
              <a:xfrm>
                <a:off x="284480" y="3789680"/>
                <a:ext cx="944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C00000"/>
                    </a:solidFill>
                  </a:rPr>
                  <a:t>Differences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and </a:t>
                </a:r>
                <a:r>
                  <a:rPr lang="en-IN" i="1" dirty="0">
                    <a:solidFill>
                      <a:srgbClr val="C00000"/>
                    </a:solidFill>
                  </a:rPr>
                  <a:t>V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3CDB5B-63C9-4727-BA80-32AF3D22A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80" y="3789680"/>
                <a:ext cx="9448800" cy="369332"/>
              </a:xfrm>
              <a:prstGeom prst="rect">
                <a:avLst/>
              </a:prstGeom>
              <a:blipFill>
                <a:blip r:embed="rId6"/>
                <a:stretch>
                  <a:fillRect l="-581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394768-51ED-40D1-BE8C-2624B0CB225D}"/>
                  </a:ext>
                </a:extLst>
              </p:cNvPr>
              <p:cNvSpPr txBox="1"/>
              <p:nvPr/>
            </p:nvSpPr>
            <p:spPr>
              <a:xfrm>
                <a:off x="833120" y="4460240"/>
                <a:ext cx="55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394768-51ED-40D1-BE8C-2624B0CB2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20" y="4460240"/>
                <a:ext cx="5588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E1D99D-709C-4FFB-904B-509EB841C607}"/>
                  </a:ext>
                </a:extLst>
              </p:cNvPr>
              <p:cNvSpPr txBox="1"/>
              <p:nvPr/>
            </p:nvSpPr>
            <p:spPr>
              <a:xfrm>
                <a:off x="5527040" y="4419600"/>
                <a:ext cx="55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E1D99D-709C-4FFB-904B-509EB841C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040" y="4419600"/>
                <a:ext cx="5588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401287-73DB-4DD0-8E48-10BFD9A196B7}"/>
                  </a:ext>
                </a:extLst>
              </p:cNvPr>
              <p:cNvSpPr txBox="1"/>
              <p:nvPr/>
            </p:nvSpPr>
            <p:spPr>
              <a:xfrm>
                <a:off x="304800" y="4897120"/>
                <a:ext cx="3810000" cy="468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𝑚𝐴𝐵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= -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</m:nary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401287-73DB-4DD0-8E48-10BFD9A19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897120"/>
                <a:ext cx="3810000" cy="468333"/>
              </a:xfrm>
              <a:prstGeom prst="rect">
                <a:avLst/>
              </a:prstGeom>
              <a:blipFill>
                <a:blip r:embed="rId9"/>
                <a:stretch>
                  <a:fillRect l="-1280" t="-103896" b="-170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9654A3-678F-4D04-9158-4EA35DE8E478}"/>
                  </a:ext>
                </a:extLst>
              </p:cNvPr>
              <p:cNvSpPr txBox="1"/>
              <p:nvPr/>
            </p:nvSpPr>
            <p:spPr>
              <a:xfrm>
                <a:off x="4643120" y="4897120"/>
                <a:ext cx="3810000" cy="468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= -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r>
                          <a:rPr lang="en-I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</m:nary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9654A3-678F-4D04-9158-4EA35DE8E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20" y="4897120"/>
                <a:ext cx="3810000" cy="468333"/>
              </a:xfrm>
              <a:prstGeom prst="rect">
                <a:avLst/>
              </a:prstGeom>
              <a:blipFill>
                <a:blip r:embed="rId10"/>
                <a:stretch>
                  <a:fillRect l="-1440" t="-103896" b="-170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BB18B41-0D84-4F1F-B0FA-EC9C446BE5E7}"/>
              </a:ext>
            </a:extLst>
          </p:cNvPr>
          <p:cNvSpPr txBox="1"/>
          <p:nvPr/>
        </p:nvSpPr>
        <p:spPr>
          <a:xfrm>
            <a:off x="254000" y="5405120"/>
            <a:ext cx="371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 Non-conservative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45BEBC-5ACC-4039-BEA5-7B28FDEA08D7}"/>
              </a:ext>
            </a:extLst>
          </p:cNvPr>
          <p:cNvSpPr txBox="1"/>
          <p:nvPr/>
        </p:nvSpPr>
        <p:spPr>
          <a:xfrm>
            <a:off x="4612640" y="5405120"/>
            <a:ext cx="371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 Conservative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B29B33-09FA-4C89-9F37-C3D2A3C9AEBF}"/>
              </a:ext>
            </a:extLst>
          </p:cNvPr>
          <p:cNvSpPr txBox="1"/>
          <p:nvPr/>
        </p:nvSpPr>
        <p:spPr>
          <a:xfrm>
            <a:off x="243840" y="5852160"/>
            <a:ext cx="371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3. Path dependant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BBD968-875A-4AEB-8311-14F8057D65A2}"/>
              </a:ext>
            </a:extLst>
          </p:cNvPr>
          <p:cNvSpPr txBox="1"/>
          <p:nvPr/>
        </p:nvSpPr>
        <p:spPr>
          <a:xfrm>
            <a:off x="4602480" y="5801360"/>
            <a:ext cx="371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3. Independent of path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FDF322-3CAA-4ADE-9BBB-A37427465B39}"/>
              </a:ext>
            </a:extLst>
          </p:cNvPr>
          <p:cNvSpPr txBox="1"/>
          <p:nvPr/>
        </p:nvSpPr>
        <p:spPr>
          <a:xfrm>
            <a:off x="203200" y="6244828"/>
            <a:ext cx="371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4. Has Multiple values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6192C6-19B1-4B5C-8B55-22F10C5DA19A}"/>
              </a:ext>
            </a:extLst>
          </p:cNvPr>
          <p:cNvSpPr txBox="1"/>
          <p:nvPr/>
        </p:nvSpPr>
        <p:spPr>
          <a:xfrm>
            <a:off x="4592320" y="6173708"/>
            <a:ext cx="371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4. Has Unique value</a:t>
            </a:r>
          </a:p>
        </p:txBody>
      </p:sp>
    </p:spTree>
    <p:extLst>
      <p:ext uri="{BB962C8B-B14F-4D97-AF65-F5344CB8AC3E}">
        <p14:creationId xmlns:p14="http://schemas.microsoft.com/office/powerpoint/2010/main" val="406455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6248EF-E842-4DD3-AA5C-B173A1913255}"/>
              </a:ext>
            </a:extLst>
          </p:cNvPr>
          <p:cNvSpPr txBox="1"/>
          <p:nvPr/>
        </p:nvSpPr>
        <p:spPr>
          <a:xfrm>
            <a:off x="314960" y="375920"/>
            <a:ext cx="8453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Vector Magnetic Potential </a:t>
            </a:r>
            <a:r>
              <a:rPr lang="en-IN" sz="2400" b="1" dirty="0">
                <a:solidFill>
                  <a:srgbClr val="C00000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288ED9-AB2A-4C8F-BD8C-C9D0D714B464}"/>
                  </a:ext>
                </a:extLst>
              </p:cNvPr>
              <p:cNvSpPr txBox="1"/>
              <p:nvPr/>
            </p:nvSpPr>
            <p:spPr>
              <a:xfrm>
                <a:off x="629920" y="1056640"/>
                <a:ext cx="45008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ea typeface="Cambria Math" panose="02040503050406030204" pitchFamily="18" charset="0"/>
                  </a:rPr>
                  <a:t> As we know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dirty="0"/>
                  <a:t>.</a:t>
                </a:r>
                <a:r>
                  <a:rPr lang="en-IN" b="1" dirty="0"/>
                  <a:t>B </a:t>
                </a:r>
                <a:r>
                  <a:rPr lang="en-IN" dirty="0"/>
                  <a:t>= 0     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−−−−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 </a:t>
                </a:r>
                <a:r>
                  <a:rPr lang="en-IN" dirty="0">
                    <a:sym typeface="Wingdings" panose="05000000000000000000" pitchFamily="2" charset="2"/>
                  </a:rPr>
                  <a:t> (1)  </a:t>
                </a:r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288ED9-AB2A-4C8F-BD8C-C9D0D714B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20" y="1056640"/>
                <a:ext cx="4500880" cy="369332"/>
              </a:xfrm>
              <a:prstGeom prst="rect">
                <a:avLst/>
              </a:prstGeom>
              <a:blipFill>
                <a:blip r:embed="rId2"/>
                <a:stretch>
                  <a:fillRect l="-13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D1DA4F-7525-462C-9F36-B53A42E0C5AF}"/>
              </a:ext>
            </a:extLst>
          </p:cNvPr>
          <p:cNvSpPr txBox="1"/>
          <p:nvPr/>
        </p:nvSpPr>
        <p:spPr>
          <a:xfrm>
            <a:off x="1554480" y="1584960"/>
            <a:ext cx="869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any vector </a:t>
            </a:r>
            <a:r>
              <a:rPr lang="en-IN" b="1" dirty="0"/>
              <a:t>A</a:t>
            </a:r>
            <a:r>
              <a:rPr lang="en-IN" dirty="0"/>
              <a:t>,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3CDC5D-3E30-4226-85D9-F868CB74B72A}"/>
              </a:ext>
            </a:extLst>
          </p:cNvPr>
          <p:cNvSpPr txBox="1"/>
          <p:nvPr/>
        </p:nvSpPr>
        <p:spPr>
          <a:xfrm>
            <a:off x="2021840" y="2174240"/>
            <a:ext cx="192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Div ( Curl </a:t>
            </a:r>
            <a:r>
              <a:rPr lang="en-IN" b="1" dirty="0"/>
              <a:t>A</a:t>
            </a:r>
            <a:r>
              <a:rPr lang="en-IN" dirty="0"/>
              <a:t> ) = 0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3A3111-FC03-4EAD-85C2-5072FB293703}"/>
                  </a:ext>
                </a:extLst>
              </p:cNvPr>
              <p:cNvSpPr txBox="1"/>
              <p:nvPr/>
            </p:nvSpPr>
            <p:spPr>
              <a:xfrm>
                <a:off x="4053840" y="216737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i.e 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b="1" i="1" dirty="0"/>
                  <a:t>.</a:t>
                </a:r>
                <a:r>
                  <a:rPr lang="en-IN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i="1" dirty="0"/>
                  <a:t> </a:t>
                </a:r>
                <a:r>
                  <a:rPr lang="en-IN" b="1" dirty="0"/>
                  <a:t>A </a:t>
                </a:r>
                <a:r>
                  <a:rPr lang="en-IN" dirty="0"/>
                  <a:t>) = 0    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−−−−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(2)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3A3111-FC03-4EAD-85C2-5072FB293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2167374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l="-800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66CCC47-516A-4F12-B23D-E85250A5E824}"/>
              </a:ext>
            </a:extLst>
          </p:cNvPr>
          <p:cNvSpPr txBox="1"/>
          <p:nvPr/>
        </p:nvSpPr>
        <p:spPr>
          <a:xfrm>
            <a:off x="599440" y="2824480"/>
            <a:ext cx="89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From the equations (1) &amp;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728EE0-1F37-441C-8FAD-114ED7234962}"/>
                  </a:ext>
                </a:extLst>
              </p:cNvPr>
              <p:cNvSpPr txBox="1"/>
              <p:nvPr/>
            </p:nvSpPr>
            <p:spPr>
              <a:xfrm>
                <a:off x="1686560" y="3413760"/>
                <a:ext cx="58013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B</a:t>
                </a:r>
                <a:r>
                  <a:rPr lang="en-IN" dirty="0"/>
                  <a:t> 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i="1" dirty="0"/>
                  <a:t> </a:t>
                </a:r>
                <a:r>
                  <a:rPr lang="en-IN" b="1" dirty="0"/>
                  <a:t>A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728EE0-1F37-441C-8FAD-114ED7234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560" y="3413760"/>
                <a:ext cx="5801360" cy="369332"/>
              </a:xfrm>
              <a:prstGeom prst="rect">
                <a:avLst/>
              </a:prstGeom>
              <a:blipFill>
                <a:blip r:embed="rId4"/>
                <a:stretch>
                  <a:fillRect l="-946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E9AD275-98B3-4CE3-B64C-E23A41F13A90}"/>
              </a:ext>
            </a:extLst>
          </p:cNvPr>
          <p:cNvSpPr txBox="1"/>
          <p:nvPr/>
        </p:nvSpPr>
        <p:spPr>
          <a:xfrm>
            <a:off x="3180080" y="3403600"/>
            <a:ext cx="155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F56280F-E41E-4883-BB83-025C0D2844AB}"/>
                  </a:ext>
                </a:extLst>
              </p:cNvPr>
              <p:cNvSpPr txBox="1"/>
              <p:nvPr/>
            </p:nvSpPr>
            <p:spPr>
              <a:xfrm>
                <a:off x="3962400" y="3437374"/>
                <a:ext cx="6096000" cy="528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H</a:t>
                </a:r>
                <a:r>
                  <a:rPr lang="en-IN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i="1" dirty="0"/>
                  <a:t> </a:t>
                </a:r>
                <a:r>
                  <a:rPr lang="en-IN" b="1" dirty="0"/>
                  <a:t>A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F56280F-E41E-4883-BB83-025C0D284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3437374"/>
                <a:ext cx="6096000" cy="528863"/>
              </a:xfrm>
              <a:prstGeom prst="rect">
                <a:avLst/>
              </a:prstGeom>
              <a:blipFill>
                <a:blip r:embed="rId5"/>
                <a:stretch>
                  <a:fillRect l="-8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08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  <p:bldP spid="12" grpId="0"/>
      <p:bldP spid="13" grpId="0"/>
      <p:bldP spid="14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DAC23C-5C9A-4449-B1DE-0CEE2C90AF93}"/>
              </a:ext>
            </a:extLst>
          </p:cNvPr>
          <p:cNvSpPr txBox="1"/>
          <p:nvPr/>
        </p:nvSpPr>
        <p:spPr>
          <a:xfrm>
            <a:off x="457200" y="416560"/>
            <a:ext cx="1071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Lorentz’s Force Equation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B4D6F5-D0DE-4B8E-B459-A49E5E2E5395}"/>
              </a:ext>
            </a:extLst>
          </p:cNvPr>
          <p:cNvSpPr txBox="1"/>
          <p:nvPr/>
        </p:nvSpPr>
        <p:spPr>
          <a:xfrm>
            <a:off x="455449" y="924560"/>
            <a:ext cx="6660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When a charge </a:t>
            </a:r>
            <a:r>
              <a:rPr lang="en-IN" i="1" dirty="0"/>
              <a:t>Q</a:t>
            </a:r>
            <a:r>
              <a:rPr lang="en-IN" dirty="0"/>
              <a:t> is moving with a velocity </a:t>
            </a:r>
            <a:r>
              <a:rPr lang="en-IN" b="1" i="1" dirty="0"/>
              <a:t>v</a:t>
            </a:r>
            <a:r>
              <a:rPr lang="en-IN" dirty="0"/>
              <a:t>, in the magnetic field </a:t>
            </a:r>
            <a:r>
              <a:rPr lang="en-IN" b="1" dirty="0"/>
              <a:t>B</a:t>
            </a:r>
            <a:r>
              <a:rPr lang="en-IN" dirty="0"/>
              <a:t>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46AEF2-8A8A-4A7F-BA4F-0E8531CCFB48}"/>
                  </a:ext>
                </a:extLst>
              </p:cNvPr>
              <p:cNvSpPr txBox="1"/>
              <p:nvPr/>
            </p:nvSpPr>
            <p:spPr>
              <a:xfrm>
                <a:off x="2529840" y="1849120"/>
                <a:ext cx="863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|F|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endParaRPr lang="en-IN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46AEF2-8A8A-4A7F-BA4F-0E8531CCF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840" y="1849120"/>
                <a:ext cx="863600" cy="369332"/>
              </a:xfrm>
              <a:prstGeom prst="rect">
                <a:avLst/>
              </a:prstGeom>
              <a:blipFill>
                <a:blip r:embed="rId2"/>
                <a:stretch>
                  <a:fillRect l="-563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1759A84-350D-4DE7-BE05-06422A52EE4C}"/>
              </a:ext>
            </a:extLst>
          </p:cNvPr>
          <p:cNvSpPr txBox="1"/>
          <p:nvPr/>
        </p:nvSpPr>
        <p:spPr>
          <a:xfrm>
            <a:off x="3281680" y="1862574"/>
            <a:ext cx="335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/>
              <a:t>Q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D32984-AB3F-4AA6-9FFF-96DBFE396E52}"/>
                  </a:ext>
                </a:extLst>
              </p:cNvPr>
              <p:cNvSpPr txBox="1"/>
              <p:nvPr/>
            </p:nvSpPr>
            <p:spPr>
              <a:xfrm>
                <a:off x="2905760" y="2306320"/>
                <a:ext cx="167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IN" dirty="0"/>
                  <a:t>  | </a:t>
                </a:r>
                <a:r>
                  <a:rPr lang="en-IN" b="1" i="1" dirty="0"/>
                  <a:t>v</a:t>
                </a:r>
                <a:r>
                  <a:rPr lang="en-IN" i="1" dirty="0"/>
                  <a:t> |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D32984-AB3F-4AA6-9FFF-96DBFE396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2306320"/>
                <a:ext cx="1676400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1BA77F-6B4B-479F-A732-4A677C0E16DD}"/>
                  </a:ext>
                </a:extLst>
              </p:cNvPr>
              <p:cNvSpPr txBox="1"/>
              <p:nvPr/>
            </p:nvSpPr>
            <p:spPr>
              <a:xfrm>
                <a:off x="2875280" y="2733040"/>
                <a:ext cx="167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IN" dirty="0"/>
                  <a:t>   | </a:t>
                </a:r>
                <a:r>
                  <a:rPr lang="en-IN" b="1" dirty="0"/>
                  <a:t>B</a:t>
                </a:r>
                <a:r>
                  <a:rPr lang="en-IN" i="1" dirty="0"/>
                  <a:t> |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1BA77F-6B4B-479F-A732-4A677C0E1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80" y="2733040"/>
                <a:ext cx="1676400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276CB3C8-49AA-46A0-95DC-30151AE78A00}"/>
              </a:ext>
            </a:extLst>
          </p:cNvPr>
          <p:cNvSpPr/>
          <p:nvPr/>
        </p:nvSpPr>
        <p:spPr>
          <a:xfrm>
            <a:off x="7132320" y="2611120"/>
            <a:ext cx="162560" cy="162560"/>
          </a:xfrm>
          <a:prstGeom prst="ellipse">
            <a:avLst/>
          </a:prstGeom>
          <a:solidFill>
            <a:schemeClr val="accent2">
              <a:lumMod val="50000"/>
              <a:alpha val="25000"/>
            </a:schemeClr>
          </a:solidFill>
          <a:ln w="158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2BFFEA-66F3-49AE-8B4D-6A7A93C20128}"/>
              </a:ext>
            </a:extLst>
          </p:cNvPr>
          <p:cNvSpPr txBox="1"/>
          <p:nvPr/>
        </p:nvSpPr>
        <p:spPr>
          <a:xfrm>
            <a:off x="6918960" y="2265680"/>
            <a:ext cx="386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/>
              <a:t>Q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91647C-0B62-43DB-B70D-10C7EBA603F4}"/>
              </a:ext>
            </a:extLst>
          </p:cNvPr>
          <p:cNvCxnSpPr/>
          <p:nvPr/>
        </p:nvCxnSpPr>
        <p:spPr>
          <a:xfrm flipV="1">
            <a:off x="7599680" y="2011680"/>
            <a:ext cx="477520" cy="1615440"/>
          </a:xfrm>
          <a:prstGeom prst="straightConnector1">
            <a:avLst/>
          </a:prstGeom>
          <a:ln w="127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5AF824-8E78-4C93-B9BB-6FEA802EB744}"/>
              </a:ext>
            </a:extLst>
          </p:cNvPr>
          <p:cNvCxnSpPr/>
          <p:nvPr/>
        </p:nvCxnSpPr>
        <p:spPr>
          <a:xfrm flipV="1">
            <a:off x="8077200" y="2001520"/>
            <a:ext cx="477520" cy="1615440"/>
          </a:xfrm>
          <a:prstGeom prst="straightConnector1">
            <a:avLst/>
          </a:prstGeom>
          <a:ln w="127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27AD28-5ACE-4157-9692-4F378FE8D8D8}"/>
              </a:ext>
            </a:extLst>
          </p:cNvPr>
          <p:cNvCxnSpPr/>
          <p:nvPr/>
        </p:nvCxnSpPr>
        <p:spPr>
          <a:xfrm flipV="1">
            <a:off x="8564880" y="2011680"/>
            <a:ext cx="477520" cy="1615440"/>
          </a:xfrm>
          <a:prstGeom prst="straightConnector1">
            <a:avLst/>
          </a:prstGeom>
          <a:ln w="127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22B64E-9AEC-40ED-AB5F-C92545D0536C}"/>
              </a:ext>
            </a:extLst>
          </p:cNvPr>
          <p:cNvCxnSpPr/>
          <p:nvPr/>
        </p:nvCxnSpPr>
        <p:spPr>
          <a:xfrm flipV="1">
            <a:off x="9032240" y="2011680"/>
            <a:ext cx="477520" cy="1615440"/>
          </a:xfrm>
          <a:prstGeom prst="straightConnector1">
            <a:avLst/>
          </a:prstGeom>
          <a:ln w="127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639AB29-B0E6-49F6-853D-D22710A50A05}"/>
              </a:ext>
            </a:extLst>
          </p:cNvPr>
          <p:cNvCxnSpPr/>
          <p:nvPr/>
        </p:nvCxnSpPr>
        <p:spPr>
          <a:xfrm flipV="1">
            <a:off x="9550400" y="1971040"/>
            <a:ext cx="477520" cy="1615440"/>
          </a:xfrm>
          <a:prstGeom prst="straightConnector1">
            <a:avLst/>
          </a:prstGeom>
          <a:ln w="127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060764-B575-4B5D-A321-3E515250AAB7}"/>
              </a:ext>
            </a:extLst>
          </p:cNvPr>
          <p:cNvCxnSpPr/>
          <p:nvPr/>
        </p:nvCxnSpPr>
        <p:spPr>
          <a:xfrm flipV="1">
            <a:off x="10027920" y="1981200"/>
            <a:ext cx="477520" cy="1615440"/>
          </a:xfrm>
          <a:prstGeom prst="straightConnector1">
            <a:avLst/>
          </a:prstGeom>
          <a:ln w="127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D662A46-3489-4E34-951B-ACF60DD74CB1}"/>
              </a:ext>
            </a:extLst>
          </p:cNvPr>
          <p:cNvSpPr txBox="1"/>
          <p:nvPr/>
        </p:nvSpPr>
        <p:spPr>
          <a:xfrm>
            <a:off x="9072880" y="1740654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50000"/>
                  </a:schemeClr>
                </a:solidFill>
              </a:rPr>
              <a:t>B</a:t>
            </a:r>
            <a:endParaRPr lang="en-IN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5325B04-76FF-43F9-ADD9-9BCA31457A80}"/>
              </a:ext>
            </a:extLst>
          </p:cNvPr>
          <p:cNvCxnSpPr>
            <a:cxnSpLocks/>
          </p:cNvCxnSpPr>
          <p:nvPr/>
        </p:nvCxnSpPr>
        <p:spPr>
          <a:xfrm>
            <a:off x="7315200" y="2875280"/>
            <a:ext cx="3119120" cy="0"/>
          </a:xfrm>
          <a:prstGeom prst="straightConnector1">
            <a:avLst/>
          </a:prstGeom>
          <a:ln w="15875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17DFBA5-9D94-4FA0-8091-54433AC6EE25}"/>
              </a:ext>
            </a:extLst>
          </p:cNvPr>
          <p:cNvSpPr txBox="1"/>
          <p:nvPr/>
        </p:nvSpPr>
        <p:spPr>
          <a:xfrm>
            <a:off x="10373360" y="2797294"/>
            <a:ext cx="294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dirty="0">
                <a:solidFill>
                  <a:schemeClr val="accent4">
                    <a:lumMod val="50000"/>
                  </a:schemeClr>
                </a:solidFill>
              </a:rPr>
              <a:t>v</a:t>
            </a:r>
            <a:endParaRPr lang="en-IN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6494CB14-3E15-461A-8B5D-A88466D0C168}"/>
              </a:ext>
            </a:extLst>
          </p:cNvPr>
          <p:cNvSpPr/>
          <p:nvPr/>
        </p:nvSpPr>
        <p:spPr>
          <a:xfrm>
            <a:off x="7802880" y="2733040"/>
            <a:ext cx="172720" cy="264160"/>
          </a:xfrm>
          <a:prstGeom prst="arc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5706FDE-D36F-47A2-AC40-C47D899B8A21}"/>
                  </a:ext>
                </a:extLst>
              </p:cNvPr>
              <p:cNvSpPr txBox="1"/>
              <p:nvPr/>
            </p:nvSpPr>
            <p:spPr>
              <a:xfrm>
                <a:off x="7863840" y="2590800"/>
                <a:ext cx="4267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5706FDE-D36F-47A2-AC40-C47D899B8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0" y="2590800"/>
                <a:ext cx="42672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5A62772-7E57-4151-9BA0-697E1841B8A0}"/>
                  </a:ext>
                </a:extLst>
              </p:cNvPr>
              <p:cNvSpPr txBox="1"/>
              <p:nvPr/>
            </p:nvSpPr>
            <p:spPr>
              <a:xfrm>
                <a:off x="2875280" y="3129280"/>
                <a:ext cx="1412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IN" dirty="0"/>
                  <a:t>   </a:t>
                </a:r>
                <a:r>
                  <a:rPr lang="en-IN" i="1" dirty="0"/>
                  <a:t>Sin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IN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5A62772-7E57-4151-9BA0-697E1841B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80" y="3129280"/>
                <a:ext cx="1412240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6203C331-26A6-4B5A-9088-D4720E243F9D}"/>
              </a:ext>
            </a:extLst>
          </p:cNvPr>
          <p:cNvSpPr txBox="1"/>
          <p:nvPr/>
        </p:nvSpPr>
        <p:spPr>
          <a:xfrm>
            <a:off x="345440" y="3657600"/>
            <a:ext cx="1064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Direction of </a:t>
            </a:r>
            <a:r>
              <a:rPr lang="en-IN" b="1" dirty="0"/>
              <a:t>F </a:t>
            </a:r>
            <a:r>
              <a:rPr lang="en-IN" dirty="0"/>
              <a:t>is </a:t>
            </a:r>
            <a:r>
              <a:rPr lang="en-IN" i="1" dirty="0"/>
              <a:t>perpendicular to the plane of </a:t>
            </a:r>
            <a:r>
              <a:rPr lang="en-IN" b="1" i="1" dirty="0"/>
              <a:t>v </a:t>
            </a:r>
            <a:r>
              <a:rPr lang="en-IN" i="1" dirty="0"/>
              <a:t> and </a:t>
            </a:r>
            <a:r>
              <a:rPr lang="en-IN" b="1" dirty="0"/>
              <a:t>B </a:t>
            </a:r>
            <a:r>
              <a:rPr lang="en-IN" dirty="0"/>
              <a:t>&amp; </a:t>
            </a:r>
            <a:r>
              <a:rPr lang="en-IN" i="1" dirty="0"/>
              <a:t>along the Right hand normal direction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4015420-2E6B-4555-A8A2-772D00C59A5D}"/>
                  </a:ext>
                </a:extLst>
              </p:cNvPr>
              <p:cNvSpPr txBox="1"/>
              <p:nvPr/>
            </p:nvSpPr>
            <p:spPr>
              <a:xfrm>
                <a:off x="2357120" y="4267200"/>
                <a:ext cx="72847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b="1" dirty="0"/>
                  <a:t>  F</a:t>
                </a:r>
                <a:r>
                  <a:rPr lang="en-IN" dirty="0"/>
                  <a:t> = </a:t>
                </a:r>
                <a:r>
                  <a:rPr lang="en-IN" i="1" dirty="0"/>
                  <a:t>Q </a:t>
                </a:r>
                <a:r>
                  <a:rPr lang="en-IN" b="1" i="1" dirty="0"/>
                  <a:t>v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i="1" dirty="0"/>
                  <a:t> </a:t>
                </a:r>
                <a:r>
                  <a:rPr lang="en-IN" b="1" dirty="0"/>
                  <a:t>B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4015420-2E6B-4555-A8A2-772D00C59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120" y="4267200"/>
                <a:ext cx="7284720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D53C4055-B71E-439A-9A1B-3F5A6D95D048}"/>
              </a:ext>
            </a:extLst>
          </p:cNvPr>
          <p:cNvSpPr txBox="1"/>
          <p:nvPr/>
        </p:nvSpPr>
        <p:spPr>
          <a:xfrm>
            <a:off x="680720" y="4866640"/>
            <a:ext cx="937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the electric field </a:t>
            </a:r>
            <a:r>
              <a:rPr lang="en-IN" b="1" dirty="0"/>
              <a:t>E</a:t>
            </a:r>
            <a:r>
              <a:rPr lang="en-IN" dirty="0"/>
              <a:t>, also exists in the region, then the total force acting on </a:t>
            </a:r>
            <a:r>
              <a:rPr lang="en-IN" i="1" dirty="0"/>
              <a:t>Q </a:t>
            </a:r>
            <a:r>
              <a:rPr lang="en-IN" dirty="0"/>
              <a:t>is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07245A-34CD-4C45-A9B4-9B9E6FB13F52}"/>
                  </a:ext>
                </a:extLst>
              </p:cNvPr>
              <p:cNvSpPr txBox="1"/>
              <p:nvPr/>
            </p:nvSpPr>
            <p:spPr>
              <a:xfrm>
                <a:off x="2636520" y="5449054"/>
                <a:ext cx="22504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F</a:t>
                </a:r>
                <a:r>
                  <a:rPr lang="en-IN" dirty="0"/>
                  <a:t>  = </a:t>
                </a:r>
                <a:r>
                  <a:rPr lang="en-IN" b="1" dirty="0"/>
                  <a:t>E</a:t>
                </a:r>
                <a:r>
                  <a:rPr lang="en-IN" i="1" dirty="0"/>
                  <a:t>Q   +  Q </a:t>
                </a:r>
                <a:r>
                  <a:rPr lang="en-IN" b="1" i="1" dirty="0"/>
                  <a:t>v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i="1" dirty="0"/>
                  <a:t> </a:t>
                </a:r>
                <a:r>
                  <a:rPr lang="en-IN" b="1" dirty="0"/>
                  <a:t>B</a:t>
                </a:r>
                <a:endParaRPr lang="en-IN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07245A-34CD-4C45-A9B4-9B9E6FB13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520" y="5449054"/>
                <a:ext cx="2250440" cy="369332"/>
              </a:xfrm>
              <a:prstGeom prst="rect">
                <a:avLst/>
              </a:prstGeom>
              <a:blipFill>
                <a:blip r:embed="rId8"/>
                <a:stretch>
                  <a:fillRect l="-2439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6CC389F-AB8F-4C1A-8A22-6BB8215DD1BC}"/>
                  </a:ext>
                </a:extLst>
              </p:cNvPr>
              <p:cNvSpPr txBox="1"/>
              <p:nvPr/>
            </p:nvSpPr>
            <p:spPr>
              <a:xfrm>
                <a:off x="2600960" y="5963920"/>
                <a:ext cx="3271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F  </a:t>
                </a:r>
                <a:r>
                  <a:rPr lang="en-IN" dirty="0"/>
                  <a:t>= </a:t>
                </a:r>
                <a:r>
                  <a:rPr lang="en-IN" i="1" dirty="0"/>
                  <a:t>Q </a:t>
                </a:r>
                <a:r>
                  <a:rPr lang="en-IN" dirty="0"/>
                  <a:t>(</a:t>
                </a:r>
                <a:r>
                  <a:rPr lang="en-IN" b="1" dirty="0"/>
                  <a:t>E</a:t>
                </a:r>
                <a:r>
                  <a:rPr lang="en-IN" i="1" dirty="0"/>
                  <a:t>   +   </a:t>
                </a:r>
                <a:r>
                  <a:rPr lang="en-IN" b="1" i="1" dirty="0"/>
                  <a:t>v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i="1" dirty="0"/>
                  <a:t> </a:t>
                </a:r>
                <a:r>
                  <a:rPr lang="en-IN" b="1" dirty="0"/>
                  <a:t>B</a:t>
                </a:r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6CC389F-AB8F-4C1A-8A22-6BB8215DD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960" y="5963920"/>
                <a:ext cx="3271520" cy="369332"/>
              </a:xfrm>
              <a:prstGeom prst="rect">
                <a:avLst/>
              </a:prstGeom>
              <a:blipFill>
                <a:blip r:embed="rId9"/>
                <a:stretch>
                  <a:fillRect l="-1679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ED079F3D-8155-42CB-9615-51E8EAAAF3F1}"/>
              </a:ext>
            </a:extLst>
          </p:cNvPr>
          <p:cNvSpPr txBox="1"/>
          <p:nvPr/>
        </p:nvSpPr>
        <p:spPr>
          <a:xfrm>
            <a:off x="5161280" y="6004560"/>
            <a:ext cx="522224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Lorentz’s Force Equation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3BDE9B-18B9-4250-B43C-54B00E09753B}"/>
              </a:ext>
            </a:extLst>
          </p:cNvPr>
          <p:cNvSpPr txBox="1"/>
          <p:nvPr/>
        </p:nvSpPr>
        <p:spPr>
          <a:xfrm>
            <a:off x="441434" y="13971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Then the force on the charge </a:t>
            </a:r>
          </a:p>
        </p:txBody>
      </p:sp>
    </p:spTree>
    <p:extLst>
      <p:ext uri="{BB962C8B-B14F-4D97-AF65-F5344CB8AC3E}">
        <p14:creationId xmlns:p14="http://schemas.microsoft.com/office/powerpoint/2010/main" val="1805492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10" grpId="0"/>
      <p:bldP spid="11" grpId="0" animBg="1"/>
      <p:bldP spid="11" grpId="1" animBg="1"/>
      <p:bldP spid="12" grpId="0"/>
      <p:bldP spid="12" grpId="1"/>
      <p:bldP spid="21" grpId="0"/>
      <p:bldP spid="25" grpId="0"/>
      <p:bldP spid="27" grpId="0" animBg="1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4064DE-B6F5-428D-B016-C24AC5813628}"/>
              </a:ext>
            </a:extLst>
          </p:cNvPr>
          <p:cNvSpPr txBox="1"/>
          <p:nvPr/>
        </p:nvSpPr>
        <p:spPr>
          <a:xfrm>
            <a:off x="283779" y="336331"/>
            <a:ext cx="11151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Force on a current Element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96A90-7AAF-41AC-B44D-7AA51845F718}"/>
              </a:ext>
            </a:extLst>
          </p:cNvPr>
          <p:cNvSpPr txBox="1"/>
          <p:nvPr/>
        </p:nvSpPr>
        <p:spPr>
          <a:xfrm>
            <a:off x="283779" y="987972"/>
            <a:ext cx="11435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Consider a conductor in which current flows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37F6ADAF-27D6-4D30-B99F-D7425AC79880}"/>
              </a:ext>
            </a:extLst>
          </p:cNvPr>
          <p:cNvSpPr/>
          <p:nvPr/>
        </p:nvSpPr>
        <p:spPr>
          <a:xfrm rot="16200000">
            <a:off x="7388782" y="241739"/>
            <a:ext cx="2144110" cy="4361793"/>
          </a:xfrm>
          <a:prstGeom prst="can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Cube 65">
            <a:extLst>
              <a:ext uri="{FF2B5EF4-FFF2-40B4-BE49-F238E27FC236}">
                <a16:creationId xmlns:a16="http://schemas.microsoft.com/office/drawing/2014/main" id="{E2F6ADFF-4E18-4FD3-B2BC-BD961BE995E3}"/>
              </a:ext>
            </a:extLst>
          </p:cNvPr>
          <p:cNvSpPr/>
          <p:nvPr/>
        </p:nvSpPr>
        <p:spPr>
          <a:xfrm>
            <a:off x="7147034" y="2827283"/>
            <a:ext cx="273269" cy="189186"/>
          </a:xfrm>
          <a:prstGeom prst="cube">
            <a:avLst/>
          </a:prstGeom>
          <a:solidFill>
            <a:schemeClr val="accent4">
              <a:lumMod val="75000"/>
              <a:alpha val="2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66328AB-DAB6-4E5A-821A-E51093AE821A}"/>
              </a:ext>
            </a:extLst>
          </p:cNvPr>
          <p:cNvSpPr txBox="1"/>
          <p:nvPr/>
        </p:nvSpPr>
        <p:spPr>
          <a:xfrm>
            <a:off x="7062953" y="2995448"/>
            <a:ext cx="483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/>
              <a:t>dV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6345176-6406-4F90-A979-F89BA449C2D9}"/>
                  </a:ext>
                </a:extLst>
              </p:cNvPr>
              <p:cNvSpPr txBox="1"/>
              <p:nvPr/>
            </p:nvSpPr>
            <p:spPr>
              <a:xfrm>
                <a:off x="7162800" y="2475186"/>
                <a:ext cx="12349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i="1" dirty="0"/>
                  <a:t>dQ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sz="1400" i="1" dirty="0"/>
                  <a:t>dV</a:t>
                </a: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6345176-6406-4F90-A979-F89BA449C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2475186"/>
                <a:ext cx="1234965" cy="307777"/>
              </a:xfrm>
              <a:prstGeom prst="rect">
                <a:avLst/>
              </a:prstGeom>
              <a:blipFill>
                <a:blip r:embed="rId2"/>
                <a:stretch>
                  <a:fillRect l="-1478" t="-3922" b="-19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DC4015B-5185-47E6-9622-4CE3B9F72835}"/>
              </a:ext>
            </a:extLst>
          </p:cNvPr>
          <p:cNvCxnSpPr>
            <a:cxnSpLocks/>
          </p:cNvCxnSpPr>
          <p:nvPr/>
        </p:nvCxnSpPr>
        <p:spPr>
          <a:xfrm>
            <a:off x="7441324" y="3016469"/>
            <a:ext cx="2942897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35C419D-5C52-4BDC-9326-BDCEE5E7474D}"/>
              </a:ext>
            </a:extLst>
          </p:cNvPr>
          <p:cNvSpPr txBox="1"/>
          <p:nvPr/>
        </p:nvSpPr>
        <p:spPr>
          <a:xfrm>
            <a:off x="10263353" y="2874579"/>
            <a:ext cx="483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v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BF2238A-403D-46AF-8598-09EDD5BDC5BB}"/>
              </a:ext>
            </a:extLst>
          </p:cNvPr>
          <p:cNvCxnSpPr/>
          <p:nvPr/>
        </p:nvCxnSpPr>
        <p:spPr>
          <a:xfrm flipV="1">
            <a:off x="7641020" y="388883"/>
            <a:ext cx="599090" cy="1208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D8DDB92-111D-48A6-B858-5C8338D296C8}"/>
              </a:ext>
            </a:extLst>
          </p:cNvPr>
          <p:cNvCxnSpPr/>
          <p:nvPr/>
        </p:nvCxnSpPr>
        <p:spPr>
          <a:xfrm flipV="1">
            <a:off x="8119242" y="341587"/>
            <a:ext cx="599090" cy="1208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2EE9655-E5E7-4756-96D9-733DAABE5ED2}"/>
              </a:ext>
            </a:extLst>
          </p:cNvPr>
          <p:cNvCxnSpPr/>
          <p:nvPr/>
        </p:nvCxnSpPr>
        <p:spPr>
          <a:xfrm flipV="1">
            <a:off x="8555421" y="346842"/>
            <a:ext cx="599090" cy="1208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0330061-71F8-4FA5-BE14-4C142656E4D9}"/>
              </a:ext>
            </a:extLst>
          </p:cNvPr>
          <p:cNvCxnSpPr/>
          <p:nvPr/>
        </p:nvCxnSpPr>
        <p:spPr>
          <a:xfrm flipV="1">
            <a:off x="8949559" y="362608"/>
            <a:ext cx="599090" cy="1208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C529143-F3BC-4A2A-86B4-6DFCC5D482D9}"/>
              </a:ext>
            </a:extLst>
          </p:cNvPr>
          <p:cNvCxnSpPr/>
          <p:nvPr/>
        </p:nvCxnSpPr>
        <p:spPr>
          <a:xfrm flipV="1">
            <a:off x="9406758" y="346841"/>
            <a:ext cx="599090" cy="1208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BC057D0-5077-4872-B134-D39B9CBFEEDD}"/>
              </a:ext>
            </a:extLst>
          </p:cNvPr>
          <p:cNvCxnSpPr/>
          <p:nvPr/>
        </p:nvCxnSpPr>
        <p:spPr>
          <a:xfrm flipV="1">
            <a:off x="9853449" y="352097"/>
            <a:ext cx="599090" cy="1208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2DF1FAD-F70C-40DC-9425-360D8C7E45C9}"/>
              </a:ext>
            </a:extLst>
          </p:cNvPr>
          <p:cNvCxnSpPr>
            <a:cxnSpLocks/>
          </p:cNvCxnSpPr>
          <p:nvPr/>
        </p:nvCxnSpPr>
        <p:spPr>
          <a:xfrm flipV="1">
            <a:off x="6096000" y="3489434"/>
            <a:ext cx="693682" cy="140838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78EF732-3BD7-4035-86B7-A0C43F0C4E9B}"/>
              </a:ext>
            </a:extLst>
          </p:cNvPr>
          <p:cNvCxnSpPr>
            <a:cxnSpLocks/>
          </p:cNvCxnSpPr>
          <p:nvPr/>
        </p:nvCxnSpPr>
        <p:spPr>
          <a:xfrm flipV="1">
            <a:off x="6574220" y="3494689"/>
            <a:ext cx="693682" cy="140838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71A05F5-4F5A-4916-862D-27DF635CB4F7}"/>
              </a:ext>
            </a:extLst>
          </p:cNvPr>
          <p:cNvCxnSpPr>
            <a:cxnSpLocks/>
          </p:cNvCxnSpPr>
          <p:nvPr/>
        </p:nvCxnSpPr>
        <p:spPr>
          <a:xfrm flipV="1">
            <a:off x="6968358" y="3531475"/>
            <a:ext cx="693682" cy="140838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1F455F3-ED9E-4C10-B044-65EEDD7864FC}"/>
              </a:ext>
            </a:extLst>
          </p:cNvPr>
          <p:cNvCxnSpPr>
            <a:cxnSpLocks/>
          </p:cNvCxnSpPr>
          <p:nvPr/>
        </p:nvCxnSpPr>
        <p:spPr>
          <a:xfrm flipV="1">
            <a:off x="7436069" y="3505199"/>
            <a:ext cx="693682" cy="140838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485D49D-4CB9-470A-9FCB-F86B7299592C}"/>
              </a:ext>
            </a:extLst>
          </p:cNvPr>
          <p:cNvCxnSpPr>
            <a:cxnSpLocks/>
          </p:cNvCxnSpPr>
          <p:nvPr/>
        </p:nvCxnSpPr>
        <p:spPr>
          <a:xfrm flipV="1">
            <a:off x="7872248" y="3520965"/>
            <a:ext cx="693682" cy="140838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BA1C5A2-144A-4CB7-B950-F45F3A26B2BE}"/>
              </a:ext>
            </a:extLst>
          </p:cNvPr>
          <p:cNvCxnSpPr>
            <a:cxnSpLocks/>
          </p:cNvCxnSpPr>
          <p:nvPr/>
        </p:nvCxnSpPr>
        <p:spPr>
          <a:xfrm flipV="1">
            <a:off x="8339958" y="3484178"/>
            <a:ext cx="693682" cy="140838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5BEB6AC6-6673-499B-BDA0-AA35AD91610F}"/>
              </a:ext>
            </a:extLst>
          </p:cNvPr>
          <p:cNvSpPr txBox="1"/>
          <p:nvPr/>
        </p:nvSpPr>
        <p:spPr>
          <a:xfrm>
            <a:off x="9543392" y="136635"/>
            <a:ext cx="1723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EA29DC1-CE43-4235-AF1E-6EF538CBA094}"/>
                  </a:ext>
                </a:extLst>
              </p:cNvPr>
              <p:cNvSpPr txBox="1"/>
              <p:nvPr/>
            </p:nvSpPr>
            <p:spPr>
              <a:xfrm>
                <a:off x="336331" y="1576552"/>
                <a:ext cx="4876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Let the charge density inside the conductor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EA29DC1-CE43-4235-AF1E-6EF538CBA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31" y="1576552"/>
                <a:ext cx="4876800" cy="369332"/>
              </a:xfrm>
              <a:prstGeom prst="rect">
                <a:avLst/>
              </a:prstGeom>
              <a:blipFill>
                <a:blip r:embed="rId3"/>
                <a:stretch>
                  <a:fillRect l="-1000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D0EF3DCC-B735-474D-9E93-C015A1217140}"/>
              </a:ext>
            </a:extLst>
          </p:cNvPr>
          <p:cNvSpPr txBox="1"/>
          <p:nvPr/>
        </p:nvSpPr>
        <p:spPr>
          <a:xfrm>
            <a:off x="5591503" y="297442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1276B21-7A18-4437-852F-9567D4488B27}"/>
                  </a:ext>
                </a:extLst>
              </p:cNvPr>
              <p:cNvSpPr txBox="1"/>
              <p:nvPr/>
            </p:nvSpPr>
            <p:spPr>
              <a:xfrm>
                <a:off x="9914253" y="1538228"/>
                <a:ext cx="50990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1276B21-7A18-4437-852F-9567D4488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4253" y="1538228"/>
                <a:ext cx="509907" cy="307777"/>
              </a:xfrm>
              <a:prstGeom prst="rect">
                <a:avLst/>
              </a:prstGeom>
              <a:blipFill>
                <a:blip r:embed="rId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9BFFE2A4-0D5C-4BA7-B79C-D45CE16CEA71}"/>
              </a:ext>
            </a:extLst>
          </p:cNvPr>
          <p:cNvSpPr txBox="1"/>
          <p:nvPr/>
        </p:nvSpPr>
        <p:spPr>
          <a:xfrm>
            <a:off x="268941" y="2205318"/>
            <a:ext cx="5723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Magnetic Flux Density is </a:t>
            </a:r>
            <a:r>
              <a:rPr lang="en-IN" b="1" dirty="0"/>
              <a:t>B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9EF65A3-8424-48B2-9303-9F17C3948BF8}"/>
              </a:ext>
            </a:extLst>
          </p:cNvPr>
          <p:cNvSpPr txBox="1"/>
          <p:nvPr/>
        </p:nvSpPr>
        <p:spPr>
          <a:xfrm>
            <a:off x="301214" y="2840019"/>
            <a:ext cx="533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Consider a differential volume </a:t>
            </a:r>
            <a:r>
              <a:rPr lang="en-IN" i="1" dirty="0"/>
              <a:t>dV</a:t>
            </a:r>
            <a:r>
              <a:rPr lang="en-IN" dirty="0"/>
              <a:t> </a:t>
            </a:r>
            <a:endParaRPr lang="en-IN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3D3B45B-0EEE-4DE9-A9A1-D0712F609B8D}"/>
                  </a:ext>
                </a:extLst>
              </p:cNvPr>
              <p:cNvSpPr txBox="1"/>
              <p:nvPr/>
            </p:nvSpPr>
            <p:spPr>
              <a:xfrm>
                <a:off x="602428" y="3550024"/>
                <a:ext cx="4184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Charge in</a:t>
                </a:r>
                <a:r>
                  <a:rPr lang="en-IN" i="1" dirty="0"/>
                  <a:t> dV </a:t>
                </a:r>
                <a:r>
                  <a:rPr lang="en-IN" dirty="0"/>
                  <a:t>is </a:t>
                </a:r>
                <a:r>
                  <a:rPr lang="en-IN" i="1" dirty="0"/>
                  <a:t>dQ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i="1" dirty="0"/>
                  <a:t> dV</a:t>
                </a: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3D3B45B-0EEE-4DE9-A9A1-D0712F609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28" y="3550024"/>
                <a:ext cx="4184725" cy="369332"/>
              </a:xfrm>
              <a:prstGeom prst="rect">
                <a:avLst/>
              </a:prstGeom>
              <a:blipFill>
                <a:blip r:embed="rId5"/>
                <a:stretch>
                  <a:fillRect l="-131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>
            <a:extLst>
              <a:ext uri="{FF2B5EF4-FFF2-40B4-BE49-F238E27FC236}">
                <a16:creationId xmlns:a16="http://schemas.microsoft.com/office/drawing/2014/main" id="{934D5355-5DC3-4A66-9EFD-F6B70262BD6C}"/>
              </a:ext>
            </a:extLst>
          </p:cNvPr>
          <p:cNvSpPr txBox="1"/>
          <p:nvPr/>
        </p:nvSpPr>
        <p:spPr>
          <a:xfrm>
            <a:off x="193638" y="4270786"/>
            <a:ext cx="540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Let the charge be moving with a velocity </a:t>
            </a:r>
            <a:r>
              <a:rPr lang="en-IN" b="1" i="1" dirty="0"/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7D34E31-9077-4F23-9A0C-D5C1DE829291}"/>
                  </a:ext>
                </a:extLst>
              </p:cNvPr>
              <p:cNvSpPr txBox="1"/>
              <p:nvPr/>
            </p:nvSpPr>
            <p:spPr>
              <a:xfrm>
                <a:off x="311972" y="5045336"/>
                <a:ext cx="4324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The force acting on</a:t>
                </a:r>
                <a:r>
                  <a:rPr lang="en-IN" i="1" dirty="0"/>
                  <a:t> dQ , d</a:t>
                </a:r>
                <a:r>
                  <a:rPr lang="en-IN" b="1" dirty="0"/>
                  <a:t>F </a:t>
                </a:r>
                <a:r>
                  <a:rPr lang="en-IN" dirty="0"/>
                  <a:t>= </a:t>
                </a:r>
                <a:r>
                  <a:rPr lang="en-IN" i="1" dirty="0"/>
                  <a:t>dQ</a:t>
                </a:r>
                <a:r>
                  <a:rPr lang="en-IN" dirty="0"/>
                  <a:t> (</a:t>
                </a:r>
                <a:r>
                  <a:rPr lang="en-IN" b="1" i="1" dirty="0"/>
                  <a:t>v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 B</a:t>
                </a:r>
                <a:r>
                  <a:rPr lang="en-IN" dirty="0"/>
                  <a:t>)</a:t>
                </a:r>
                <a:endParaRPr lang="en-IN" b="1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7D34E31-9077-4F23-9A0C-D5C1DE829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72" y="5045336"/>
                <a:ext cx="4324574" cy="369332"/>
              </a:xfrm>
              <a:prstGeom prst="rect">
                <a:avLst/>
              </a:prstGeom>
              <a:blipFill>
                <a:blip r:embed="rId6"/>
                <a:stretch>
                  <a:fillRect l="-1127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94DB28D-9AA9-45C1-95D8-4380EC205F1E}"/>
                  </a:ext>
                </a:extLst>
              </p:cNvPr>
              <p:cNvSpPr txBox="1"/>
              <p:nvPr/>
            </p:nvSpPr>
            <p:spPr>
              <a:xfrm>
                <a:off x="2979868" y="5507915"/>
                <a:ext cx="21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i="1" dirty="0"/>
                  <a:t> dV </a:t>
                </a:r>
                <a:r>
                  <a:rPr lang="en-IN" dirty="0"/>
                  <a:t>(</a:t>
                </a:r>
                <a:r>
                  <a:rPr lang="en-IN" b="1" i="1" dirty="0"/>
                  <a:t>v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 B</a:t>
                </a:r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94DB28D-9AA9-45C1-95D8-4380EC205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868" y="5507915"/>
                <a:ext cx="2173045" cy="369332"/>
              </a:xfrm>
              <a:prstGeom prst="rect">
                <a:avLst/>
              </a:prstGeom>
              <a:blipFill>
                <a:blip r:embed="rId7"/>
                <a:stretch>
                  <a:fillRect l="-2528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F677638E-A611-4E5B-A8CA-454CBC686A44}"/>
                  </a:ext>
                </a:extLst>
              </p:cNvPr>
              <p:cNvSpPr txBox="1"/>
              <p:nvPr/>
            </p:nvSpPr>
            <p:spPr>
              <a:xfrm>
                <a:off x="2977178" y="5914920"/>
                <a:ext cx="61910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= </a:t>
                </a:r>
                <a:r>
                  <a:rPr lang="en-IN" i="1" dirty="0"/>
                  <a:t>dV </a:t>
                </a:r>
                <a:r>
                  <a:rPr lang="en-I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i="1" dirty="0"/>
                  <a:t> </a:t>
                </a:r>
                <a:r>
                  <a:rPr lang="en-IN" b="1" i="1" dirty="0"/>
                  <a:t>v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 B</a:t>
                </a:r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F677638E-A611-4E5B-A8CA-454CBC686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178" y="5914920"/>
                <a:ext cx="6191026" cy="369332"/>
              </a:xfrm>
              <a:prstGeom prst="rect">
                <a:avLst/>
              </a:prstGeom>
              <a:blipFill>
                <a:blip r:embed="rId8"/>
                <a:stretch>
                  <a:fillRect l="-787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24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7.40741E-7 L 0.25 7.40741E-7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8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33333E-6 L 0.25 -3.33333E-6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66" grpId="0" animBg="1"/>
      <p:bldP spid="66" grpId="1" animBg="1"/>
      <p:bldP spid="67" grpId="0"/>
      <p:bldP spid="67" grpId="1"/>
      <p:bldP spid="68" grpId="0"/>
      <p:bldP spid="68" grpId="1"/>
      <p:bldP spid="71" grpId="0"/>
      <p:bldP spid="88" grpId="0"/>
      <p:bldP spid="89" grpId="0"/>
      <p:bldP spid="92" grpId="0"/>
      <p:bldP spid="93" grpId="0"/>
      <p:bldP spid="94" grpId="0"/>
      <p:bldP spid="95" grpId="0"/>
      <p:bldP spid="96" grpId="0"/>
      <p:bldP spid="98" grpId="0"/>
      <p:bldP spid="99" grpId="0"/>
      <p:bldP spid="10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630A76C-5D3F-4385-9F95-29CDA409C572}"/>
                  </a:ext>
                </a:extLst>
              </p:cNvPr>
              <p:cNvSpPr txBox="1"/>
              <p:nvPr/>
            </p:nvSpPr>
            <p:spPr>
              <a:xfrm>
                <a:off x="1298985" y="170337"/>
                <a:ext cx="61910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d</a:t>
                </a:r>
                <a:r>
                  <a:rPr lang="en-IN" b="1" dirty="0"/>
                  <a:t>F</a:t>
                </a:r>
                <a:r>
                  <a:rPr lang="en-IN" dirty="0"/>
                  <a:t>   = </a:t>
                </a:r>
                <a:r>
                  <a:rPr lang="en-IN" i="1" dirty="0"/>
                  <a:t>dV </a:t>
                </a:r>
                <a:r>
                  <a:rPr lang="en-I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i="1" dirty="0"/>
                  <a:t> </a:t>
                </a:r>
                <a:r>
                  <a:rPr lang="en-IN" b="1" i="1" dirty="0"/>
                  <a:t>v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 B</a:t>
                </a:r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630A76C-5D3F-4385-9F95-29CDA409C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985" y="170337"/>
                <a:ext cx="6191026" cy="369332"/>
              </a:xfrm>
              <a:prstGeom prst="rect">
                <a:avLst/>
              </a:prstGeom>
              <a:blipFill>
                <a:blip r:embed="rId2"/>
                <a:stretch>
                  <a:fillRect l="-787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DB4ABA-64E6-4174-AC6D-E784E35A81EE}"/>
                  </a:ext>
                </a:extLst>
              </p:cNvPr>
              <p:cNvSpPr txBox="1"/>
              <p:nvPr/>
            </p:nvSpPr>
            <p:spPr>
              <a:xfrm>
                <a:off x="1713156" y="675945"/>
                <a:ext cx="60942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= </a:t>
                </a:r>
                <a:r>
                  <a:rPr lang="en-IN" i="1" dirty="0"/>
                  <a:t>dV </a:t>
                </a:r>
                <a:r>
                  <a:rPr lang="en-IN" dirty="0"/>
                  <a:t>(</a:t>
                </a:r>
                <a:r>
                  <a:rPr lang="en-IN" b="1" dirty="0"/>
                  <a:t>J</a:t>
                </a:r>
                <a:r>
                  <a:rPr lang="en-IN" b="1" i="1" dirty="0"/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 B</a:t>
                </a:r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DB4ABA-64E6-4174-AC6D-E784E35A8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56" y="675945"/>
                <a:ext cx="6094206" cy="369332"/>
              </a:xfrm>
              <a:prstGeom prst="rect">
                <a:avLst/>
              </a:prstGeom>
              <a:blipFill>
                <a:blip r:embed="rId3"/>
                <a:stretch>
                  <a:fillRect l="-800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2E62B8-E8C9-4E45-A728-888575B05B5F}"/>
                  </a:ext>
                </a:extLst>
              </p:cNvPr>
              <p:cNvSpPr txBox="1"/>
              <p:nvPr/>
            </p:nvSpPr>
            <p:spPr>
              <a:xfrm>
                <a:off x="3765177" y="688489"/>
                <a:ext cx="4647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i="1" dirty="0"/>
                  <a:t> </a:t>
                </a:r>
                <a:r>
                  <a:rPr lang="en-IN" b="1" i="1" dirty="0"/>
                  <a:t>v </a:t>
                </a:r>
                <a:r>
                  <a:rPr lang="en-IN" dirty="0"/>
                  <a:t>= </a:t>
                </a:r>
                <a:r>
                  <a:rPr lang="en-IN" b="1" dirty="0"/>
                  <a:t>J </a:t>
                </a:r>
                <a:r>
                  <a:rPr lang="en-IN" dirty="0"/>
                  <a:t>)</a:t>
                </a:r>
                <a:endParaRPr lang="en-IN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2E62B8-E8C9-4E45-A728-888575B05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177" y="688489"/>
                <a:ext cx="4647303" cy="369332"/>
              </a:xfrm>
              <a:prstGeom prst="rect">
                <a:avLst/>
              </a:prstGeom>
              <a:blipFill>
                <a:blip r:embed="rId4"/>
                <a:stretch>
                  <a:fillRect l="-1181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DBE682-A7A0-475A-A82C-8954CE17275F}"/>
                  </a:ext>
                </a:extLst>
              </p:cNvPr>
              <p:cNvSpPr txBox="1"/>
              <p:nvPr/>
            </p:nvSpPr>
            <p:spPr>
              <a:xfrm>
                <a:off x="903642" y="1441525"/>
                <a:ext cx="5916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dirty="0"/>
                  <a:t> </a:t>
                </a:r>
                <a:r>
                  <a:rPr lang="en-IN" i="1" dirty="0"/>
                  <a:t>d</a:t>
                </a:r>
                <a:r>
                  <a:rPr lang="en-IN" b="1" dirty="0"/>
                  <a:t>F</a:t>
                </a:r>
                <a:r>
                  <a:rPr lang="en-IN" dirty="0"/>
                  <a:t> = </a:t>
                </a:r>
                <a:r>
                  <a:rPr lang="en-IN" b="1" dirty="0"/>
                  <a:t>J</a:t>
                </a:r>
                <a:r>
                  <a:rPr lang="en-IN" b="1" i="1" dirty="0"/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 B</a:t>
                </a:r>
                <a:r>
                  <a:rPr lang="en-IN" dirty="0"/>
                  <a:t>  </a:t>
                </a:r>
                <a:r>
                  <a:rPr lang="en-IN" i="1" dirty="0"/>
                  <a:t>dV</a:t>
                </a:r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DBE682-A7A0-475A-A82C-8954CE172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642" y="1441525"/>
                <a:ext cx="5916706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E257C0-7701-45E8-8A41-6CD8FE695470}"/>
                  </a:ext>
                </a:extLst>
              </p:cNvPr>
              <p:cNvSpPr txBox="1"/>
              <p:nvPr/>
            </p:nvSpPr>
            <p:spPr>
              <a:xfrm>
                <a:off x="903890" y="2069803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IN" i="1" dirty="0"/>
                  <a:t>  I</a:t>
                </a:r>
                <a:r>
                  <a:rPr lang="en-IN" b="1" i="1" dirty="0"/>
                  <a:t>dl  </a:t>
                </a:r>
                <a:r>
                  <a:rPr lang="en-IN" dirty="0"/>
                  <a:t>=  </a:t>
                </a:r>
                <a:r>
                  <a:rPr lang="en-IN" b="1" dirty="0"/>
                  <a:t>K</a:t>
                </a:r>
                <a:r>
                  <a:rPr lang="en-IN" i="1" dirty="0"/>
                  <a:t>ds </a:t>
                </a:r>
                <a:r>
                  <a:rPr lang="en-IN" dirty="0"/>
                  <a:t>= </a:t>
                </a:r>
                <a:r>
                  <a:rPr lang="en-IN" b="1" dirty="0"/>
                  <a:t>J</a:t>
                </a:r>
                <a:r>
                  <a:rPr lang="en-IN" i="1" dirty="0"/>
                  <a:t>dv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E257C0-7701-45E8-8A41-6CD8FE695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90" y="2069803"/>
                <a:ext cx="6096000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B863F3C-9154-486F-B556-87904F4D804D}"/>
              </a:ext>
            </a:extLst>
          </p:cNvPr>
          <p:cNvSpPr txBox="1"/>
          <p:nvPr/>
        </p:nvSpPr>
        <p:spPr>
          <a:xfrm>
            <a:off x="620110" y="2648607"/>
            <a:ext cx="711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other current distributions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290721-6F51-48D0-80F9-3C35D0D934D2}"/>
                  </a:ext>
                </a:extLst>
              </p:cNvPr>
              <p:cNvSpPr txBox="1"/>
              <p:nvPr/>
            </p:nvSpPr>
            <p:spPr>
              <a:xfrm>
                <a:off x="1219200" y="315236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d</a:t>
                </a:r>
                <a:r>
                  <a:rPr lang="en-IN" b="1" dirty="0"/>
                  <a:t>F</a:t>
                </a:r>
                <a:r>
                  <a:rPr lang="en-IN" dirty="0"/>
                  <a:t> = </a:t>
                </a:r>
                <a:r>
                  <a:rPr lang="en-IN" b="1" dirty="0"/>
                  <a:t>J</a:t>
                </a:r>
                <a:r>
                  <a:rPr lang="en-IN" b="1" i="1" dirty="0"/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 B</a:t>
                </a:r>
                <a:r>
                  <a:rPr lang="en-IN" dirty="0"/>
                  <a:t>  </a:t>
                </a:r>
                <a:r>
                  <a:rPr lang="en-IN" i="1" dirty="0"/>
                  <a:t>dV  = </a:t>
                </a:r>
                <a:r>
                  <a:rPr lang="en-IN" b="1" dirty="0"/>
                  <a:t>J</a:t>
                </a:r>
                <a:r>
                  <a:rPr lang="en-IN" b="1" i="1" dirty="0"/>
                  <a:t> </a:t>
                </a:r>
                <a:r>
                  <a:rPr lang="en-IN" i="1" dirty="0"/>
                  <a:t>dV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 B</a:t>
                </a:r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290721-6F51-48D0-80F9-3C35D0D93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3152368"/>
                <a:ext cx="6096000" cy="369332"/>
              </a:xfrm>
              <a:prstGeom prst="rect">
                <a:avLst/>
              </a:prstGeom>
              <a:blipFill>
                <a:blip r:embed="rId7"/>
                <a:stretch>
                  <a:fillRect l="-80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74BA9C-9620-4EEB-8376-D943FD4675D4}"/>
                  </a:ext>
                </a:extLst>
              </p:cNvPr>
              <p:cNvSpPr txBox="1"/>
              <p:nvPr/>
            </p:nvSpPr>
            <p:spPr>
              <a:xfrm>
                <a:off x="2690649" y="3583292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= I</a:t>
                </a:r>
                <a:r>
                  <a:rPr lang="en-IN" b="1" i="1" dirty="0"/>
                  <a:t>dl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 B</a:t>
                </a:r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74BA9C-9620-4EEB-8376-D943FD467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649" y="3583292"/>
                <a:ext cx="6096000" cy="369332"/>
              </a:xfrm>
              <a:prstGeom prst="rect">
                <a:avLst/>
              </a:prstGeom>
              <a:blipFill>
                <a:blip r:embed="rId8"/>
                <a:stretch>
                  <a:fillRect l="-800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58E5C5-2843-4043-9210-39BDAFE884B3}"/>
                  </a:ext>
                </a:extLst>
              </p:cNvPr>
              <p:cNvSpPr txBox="1"/>
              <p:nvPr/>
            </p:nvSpPr>
            <p:spPr>
              <a:xfrm>
                <a:off x="2685393" y="4061513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= </a:t>
                </a:r>
                <a:r>
                  <a:rPr lang="en-IN" b="1" dirty="0"/>
                  <a:t>K</a:t>
                </a:r>
                <a:r>
                  <a:rPr lang="en-IN" i="1" dirty="0"/>
                  <a:t>ds</a:t>
                </a:r>
                <a:r>
                  <a:rPr lang="en-IN" b="1" i="1" dirty="0"/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 B</a:t>
                </a:r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58E5C5-2843-4043-9210-39BDAFE88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393" y="4061513"/>
                <a:ext cx="6096000" cy="369332"/>
              </a:xfrm>
              <a:prstGeom prst="rect">
                <a:avLst/>
              </a:prstGeom>
              <a:blipFill>
                <a:blip r:embed="rId9"/>
                <a:stretch>
                  <a:fillRect l="-90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A169678-0604-47A2-8CDE-2A350943DD0D}"/>
                  </a:ext>
                </a:extLst>
              </p:cNvPr>
              <p:cNvSpPr txBox="1"/>
              <p:nvPr/>
            </p:nvSpPr>
            <p:spPr>
              <a:xfrm>
                <a:off x="578069" y="4719145"/>
                <a:ext cx="10510345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Now the total force, </a:t>
                </a:r>
                <a:r>
                  <a:rPr lang="en-IN" b="1" dirty="0"/>
                  <a:t>F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𝑜𝑙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b="1" dirty="0"/>
                          <m:t>J</m:t>
                        </m:r>
                        <m:r>
                          <m:rPr>
                            <m:nor/>
                          </m:rPr>
                          <a:rPr lang="en-IN" b="1" i="1" dirty="0"/>
                          <m:t> 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b="1" dirty="0"/>
                          <m:t> </m:t>
                        </m:r>
                        <m:r>
                          <m:rPr>
                            <m:nor/>
                          </m:rPr>
                          <a:rPr lang="en-IN" b="1" dirty="0"/>
                          <m:t>B</m:t>
                        </m:r>
                        <m:r>
                          <m:rPr>
                            <m:nor/>
                          </m:rPr>
                          <a:rPr lang="en-IN" dirty="0"/>
                          <m:t>  </m:t>
                        </m:r>
                        <m:r>
                          <m:rPr>
                            <m:nor/>
                          </m:rPr>
                          <a:rPr lang="en-IN" i="1" dirty="0"/>
                          <m:t>dV</m:t>
                        </m:r>
                      </m:e>
                    </m:nary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A169678-0604-47A2-8CDE-2A350943D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69" y="4719145"/>
                <a:ext cx="10510345" cy="413575"/>
              </a:xfrm>
              <a:prstGeom prst="rect">
                <a:avLst/>
              </a:prstGeom>
              <a:blipFill>
                <a:blip r:embed="rId10"/>
                <a:stretch>
                  <a:fillRect l="-522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B8E4FC8-C90D-464D-B47F-67E0B47E9BD4}"/>
                  </a:ext>
                </a:extLst>
              </p:cNvPr>
              <p:cNvSpPr txBox="1"/>
              <p:nvPr/>
            </p:nvSpPr>
            <p:spPr>
              <a:xfrm>
                <a:off x="2638097" y="5213131"/>
                <a:ext cx="4393324" cy="41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b="1" dirty="0"/>
                          <m:t>K</m:t>
                        </m:r>
                        <m:r>
                          <m:rPr>
                            <m:nor/>
                          </m:rPr>
                          <a:rPr lang="en-IN" b="1" i="1" dirty="0"/>
                          <m:t> 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b="1" dirty="0"/>
                          <m:t> </m:t>
                        </m:r>
                        <m:r>
                          <m:rPr>
                            <m:nor/>
                          </m:rPr>
                          <a:rPr lang="en-IN" b="1" dirty="0"/>
                          <m:t>B</m:t>
                        </m:r>
                      </m:e>
                    </m:nary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1" dirty="0"/>
                      <m:t>ds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B8E4FC8-C90D-464D-B47F-67E0B47E9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097" y="5213131"/>
                <a:ext cx="4393324" cy="413896"/>
              </a:xfrm>
              <a:prstGeom prst="rect">
                <a:avLst/>
              </a:prstGeom>
              <a:blipFill>
                <a:blip r:embed="rId11"/>
                <a:stretch>
                  <a:fillRect l="-5278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35D1FE2-630A-43E4-A8CB-B7897EE2AD20}"/>
                  </a:ext>
                </a:extLst>
              </p:cNvPr>
              <p:cNvSpPr txBox="1"/>
              <p:nvPr/>
            </p:nvSpPr>
            <p:spPr>
              <a:xfrm>
                <a:off x="2695904" y="5806966"/>
                <a:ext cx="1718441" cy="41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𝑖𝑛𝑒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IN" b="1" i="1" smtClean="0">
                            <a:latin typeface="Cambria Math" panose="02040503050406030204" pitchFamily="18" charset="0"/>
                          </a:rPr>
                          <m:t>dl</m:t>
                        </m:r>
                        <m:r>
                          <m:rPr>
                            <m:nor/>
                          </m:rPr>
                          <a:rPr lang="en-IN" b="1" i="1" dirty="0"/>
                          <m:t> 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b="1" dirty="0"/>
                          <m:t> </m:t>
                        </m:r>
                        <m:r>
                          <m:rPr>
                            <m:nor/>
                          </m:rPr>
                          <a:rPr lang="en-IN" b="1" dirty="0"/>
                          <m:t>B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35D1FE2-630A-43E4-A8CB-B7897EE2A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904" y="5806966"/>
                <a:ext cx="1718441" cy="413896"/>
              </a:xfrm>
              <a:prstGeom prst="rect">
                <a:avLst/>
              </a:prstGeom>
              <a:blipFill>
                <a:blip r:embed="rId12"/>
                <a:stretch>
                  <a:fillRect l="-13121" t="-134328" b="-195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8B304B-D436-40E0-A3A1-B60B2C4E42CE}"/>
                  </a:ext>
                </a:extLst>
              </p:cNvPr>
              <p:cNvSpPr txBox="1"/>
              <p:nvPr/>
            </p:nvSpPr>
            <p:spPr>
              <a:xfrm>
                <a:off x="4498428" y="5822731"/>
                <a:ext cx="1718441" cy="41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:r>
                  <a:rPr lang="en-IN" i="1" dirty="0"/>
                  <a:t>I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𝑖𝑛𝑒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b="1" i="1" smtClean="0">
                            <a:latin typeface="Cambria Math" panose="02040503050406030204" pitchFamily="18" charset="0"/>
                          </a:rPr>
                          <m:t>dl</m:t>
                        </m:r>
                        <m:r>
                          <m:rPr>
                            <m:nor/>
                          </m:rPr>
                          <a:rPr lang="en-IN" b="1" i="1" dirty="0"/>
                          <m:t> </m:t>
                        </m:r>
                        <m:r>
                          <a:rPr lang="en-I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b="1" dirty="0"/>
                          <m:t> </m:t>
                        </m:r>
                        <m:r>
                          <m:rPr>
                            <m:nor/>
                          </m:rPr>
                          <a:rPr lang="en-IN" b="1" dirty="0"/>
                          <m:t>B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8B304B-D436-40E0-A3A1-B60B2C4E4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428" y="5822731"/>
                <a:ext cx="1718441" cy="413896"/>
              </a:xfrm>
              <a:prstGeom prst="rect">
                <a:avLst/>
              </a:prstGeom>
              <a:blipFill>
                <a:blip r:embed="rId13"/>
                <a:stretch>
                  <a:fillRect l="-5674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C93461-4EA5-4B09-8009-A2509DB79EB8}"/>
                  </a:ext>
                </a:extLst>
              </p:cNvPr>
              <p:cNvSpPr txBox="1"/>
              <p:nvPr/>
            </p:nvSpPr>
            <p:spPr>
              <a:xfrm>
                <a:off x="6332483" y="5838496"/>
                <a:ext cx="3568262" cy="413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- </a:t>
                </a:r>
                <a:r>
                  <a:rPr lang="en-IN" i="1" dirty="0"/>
                  <a:t>I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𝑖𝑛𝑒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b="1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IN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b="1" dirty="0"/>
                          <m:t> </m:t>
                        </m:r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C93461-4EA5-4B09-8009-A2509DB79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483" y="5838496"/>
                <a:ext cx="3568262" cy="413639"/>
              </a:xfrm>
              <a:prstGeom prst="rect">
                <a:avLst/>
              </a:prstGeom>
              <a:blipFill>
                <a:blip r:embed="rId14"/>
                <a:stretch>
                  <a:fillRect l="-1538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706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9" grpId="0"/>
      <p:bldP spid="12" grpId="0"/>
      <p:bldP spid="15" grpId="0"/>
      <p:bldP spid="16" grpId="0"/>
      <p:bldP spid="17" grpId="0"/>
      <p:bldP spid="19" grpId="0"/>
      <p:bldP spid="20" grpId="0"/>
      <p:bldP spid="21" grpId="0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67F128-7111-42C7-A7CA-6E319F37F489}"/>
              </a:ext>
            </a:extLst>
          </p:cNvPr>
          <p:cNvSpPr txBox="1"/>
          <p:nvPr/>
        </p:nvSpPr>
        <p:spPr>
          <a:xfrm>
            <a:off x="315310" y="336331"/>
            <a:ext cx="9806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Force on a finite conductor in Uniform Magnetic Field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75121C8D-0B8D-4BD8-83F0-76589E624026}"/>
              </a:ext>
            </a:extLst>
          </p:cNvPr>
          <p:cNvSpPr/>
          <p:nvPr/>
        </p:nvSpPr>
        <p:spPr>
          <a:xfrm>
            <a:off x="9627476" y="861848"/>
            <a:ext cx="45719" cy="1996966"/>
          </a:xfrm>
          <a:prstGeom prst="ca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7BD9773-BA52-40F9-9739-07E85E508EC2}"/>
              </a:ext>
            </a:extLst>
          </p:cNvPr>
          <p:cNvCxnSpPr/>
          <p:nvPr/>
        </p:nvCxnSpPr>
        <p:spPr>
          <a:xfrm flipV="1">
            <a:off x="9806152" y="2249214"/>
            <a:ext cx="0" cy="504496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5FC701E-81F5-4B6F-B9B5-ED0DAF786B8D}"/>
              </a:ext>
            </a:extLst>
          </p:cNvPr>
          <p:cNvSpPr txBox="1"/>
          <p:nvPr/>
        </p:nvSpPr>
        <p:spPr>
          <a:xfrm>
            <a:off x="9301656" y="2291256"/>
            <a:ext cx="3573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/>
              <a:t>I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8AF23D-9671-4AFF-903A-B7EF6BA70CAC}"/>
              </a:ext>
            </a:extLst>
          </p:cNvPr>
          <p:cNvCxnSpPr/>
          <p:nvPr/>
        </p:nvCxnSpPr>
        <p:spPr>
          <a:xfrm flipV="1">
            <a:off x="8156028" y="998483"/>
            <a:ext cx="2039007" cy="1807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484D03-4E54-43AB-A48E-A11BB996F892}"/>
              </a:ext>
            </a:extLst>
          </p:cNvPr>
          <p:cNvCxnSpPr/>
          <p:nvPr/>
        </p:nvCxnSpPr>
        <p:spPr>
          <a:xfrm flipV="1">
            <a:off x="8592207" y="951187"/>
            <a:ext cx="2039007" cy="1807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206557-6A6F-4CAF-88DD-F3D6B5EEA185}"/>
              </a:ext>
            </a:extLst>
          </p:cNvPr>
          <p:cNvCxnSpPr/>
          <p:nvPr/>
        </p:nvCxnSpPr>
        <p:spPr>
          <a:xfrm flipV="1">
            <a:off x="8944304" y="977462"/>
            <a:ext cx="2039007" cy="1807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DE8295-DE86-4D45-8CB2-7C17DC7F5AF1}"/>
              </a:ext>
            </a:extLst>
          </p:cNvPr>
          <p:cNvCxnSpPr/>
          <p:nvPr/>
        </p:nvCxnSpPr>
        <p:spPr>
          <a:xfrm flipV="1">
            <a:off x="9869213" y="1045779"/>
            <a:ext cx="2039007" cy="1807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FA54750-AFF6-46DB-A4C1-F5F637BE2D16}"/>
              </a:ext>
            </a:extLst>
          </p:cNvPr>
          <p:cNvCxnSpPr/>
          <p:nvPr/>
        </p:nvCxnSpPr>
        <p:spPr>
          <a:xfrm flipV="1">
            <a:off x="9343697" y="1040525"/>
            <a:ext cx="2039007" cy="1807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03EAAA7-B072-4319-B3C3-38BCAA4C696D}"/>
              </a:ext>
            </a:extLst>
          </p:cNvPr>
          <p:cNvSpPr txBox="1"/>
          <p:nvPr/>
        </p:nvSpPr>
        <p:spPr>
          <a:xfrm>
            <a:off x="11077903" y="746234"/>
            <a:ext cx="3678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DD68CB9-4BC6-48F7-AA66-757071ED5ABA}"/>
                  </a:ext>
                </a:extLst>
              </p:cNvPr>
              <p:cNvSpPr txBox="1"/>
              <p:nvPr/>
            </p:nvSpPr>
            <p:spPr>
              <a:xfrm>
                <a:off x="1266496" y="1287516"/>
                <a:ext cx="3568262" cy="413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IN" b="1" dirty="0"/>
                  <a:t>  F </a:t>
                </a:r>
                <a:r>
                  <a:rPr lang="en-IN" dirty="0"/>
                  <a:t>= - </a:t>
                </a:r>
                <a:r>
                  <a:rPr lang="en-IN" i="1" dirty="0"/>
                  <a:t>I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𝑖𝑛𝑒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IN" b="1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IN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b="1" dirty="0"/>
                          <m:t> </m:t>
                        </m:r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DD68CB9-4BC6-48F7-AA66-757071ED5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496" y="1287516"/>
                <a:ext cx="3568262" cy="413639"/>
              </a:xfrm>
              <a:prstGeom prst="rect">
                <a:avLst/>
              </a:prstGeom>
              <a:blipFill>
                <a:blip r:embed="rId2"/>
                <a:stretch>
                  <a:fillRect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080ED7-A7AB-4C90-92BA-1AC088BD1E47}"/>
                  </a:ext>
                </a:extLst>
              </p:cNvPr>
              <p:cNvSpPr txBox="1"/>
              <p:nvPr/>
            </p:nvSpPr>
            <p:spPr>
              <a:xfrm>
                <a:off x="1755227" y="1837443"/>
                <a:ext cx="1954924" cy="4136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= - </a:t>
                </a:r>
                <a:r>
                  <a:rPr lang="en-IN" i="1" dirty="0"/>
                  <a:t>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1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en-IN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i="1" dirty="0"/>
                  <a:t> 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𝑖𝑛𝑒</m:t>
                        </m:r>
                      </m:sub>
                      <m:sup/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080ED7-A7AB-4C90-92BA-1AC088BD1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227" y="1837443"/>
                <a:ext cx="1954924" cy="413639"/>
              </a:xfrm>
              <a:prstGeom prst="rect">
                <a:avLst/>
              </a:prstGeom>
              <a:blipFill>
                <a:blip r:embed="rId3"/>
                <a:stretch>
                  <a:fillRect l="-2804" t="-132353" r="-467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2EECE0-E9FD-4F53-9EC1-CA1A0E03E861}"/>
                  </a:ext>
                </a:extLst>
              </p:cNvPr>
              <p:cNvSpPr txBox="1"/>
              <p:nvPr/>
            </p:nvSpPr>
            <p:spPr>
              <a:xfrm>
                <a:off x="3951889" y="1849820"/>
                <a:ext cx="3909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(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IN" dirty="0"/>
                  <a:t> </a:t>
                </a:r>
                <a:r>
                  <a:rPr lang="en-IN" b="1" dirty="0"/>
                  <a:t>B </a:t>
                </a:r>
                <a:r>
                  <a:rPr lang="en-IN" dirty="0"/>
                  <a:t>is Uniform)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2EECE0-E9FD-4F53-9EC1-CA1A0E03E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889" y="1849820"/>
                <a:ext cx="3909848" cy="369332"/>
              </a:xfrm>
              <a:prstGeom prst="rect">
                <a:avLst/>
              </a:prstGeom>
              <a:blipFill>
                <a:blip r:embed="rId4"/>
                <a:stretch>
                  <a:fillRect l="-1246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210669-2865-4812-8BC1-37C8D36A0826}"/>
                  </a:ext>
                </a:extLst>
              </p:cNvPr>
              <p:cNvSpPr txBox="1"/>
              <p:nvPr/>
            </p:nvSpPr>
            <p:spPr>
              <a:xfrm>
                <a:off x="1749972" y="2410256"/>
                <a:ext cx="19549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= - </a:t>
                </a:r>
                <a:r>
                  <a:rPr lang="en-IN" i="1" dirty="0"/>
                  <a:t>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1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en-IN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i="1" dirty="0"/>
                  <a:t> 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210669-2865-4812-8BC1-37C8D36A0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972" y="2410256"/>
                <a:ext cx="1954924" cy="369332"/>
              </a:xfrm>
              <a:prstGeom prst="rect">
                <a:avLst/>
              </a:prstGeom>
              <a:blipFill>
                <a:blip r:embed="rId5"/>
                <a:stretch>
                  <a:fillRect l="-249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EE9BE86-F332-45E8-92CE-E92D4B4DB689}"/>
                  </a:ext>
                </a:extLst>
              </p:cNvPr>
              <p:cNvSpPr txBox="1"/>
              <p:nvPr/>
            </p:nvSpPr>
            <p:spPr>
              <a:xfrm>
                <a:off x="1770993" y="2967305"/>
                <a:ext cx="19549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= </a:t>
                </a:r>
                <a:r>
                  <a:rPr lang="en-IN" i="1" dirty="0"/>
                  <a:t>I </a:t>
                </a:r>
                <a:r>
                  <a:rPr lang="en-IN" b="1" i="1" dirty="0"/>
                  <a:t>L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EE9BE86-F332-45E8-92CE-E92D4B4DB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993" y="2967305"/>
                <a:ext cx="1954924" cy="369332"/>
              </a:xfrm>
              <a:prstGeom prst="rect">
                <a:avLst/>
              </a:prstGeom>
              <a:blipFill>
                <a:blip r:embed="rId6"/>
                <a:stretch>
                  <a:fillRect l="-2813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1F743F-4A28-4F04-BD1F-8EB850865389}"/>
                  </a:ext>
                </a:extLst>
              </p:cNvPr>
              <p:cNvSpPr txBox="1"/>
              <p:nvPr/>
            </p:nvSpPr>
            <p:spPr>
              <a:xfrm>
                <a:off x="1786758" y="3477057"/>
                <a:ext cx="19549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= </a:t>
                </a:r>
                <a:r>
                  <a:rPr lang="en-IN" i="1" dirty="0"/>
                  <a:t>B I L Sin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1F743F-4A28-4F04-BD1F-8EB850865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758" y="3477057"/>
                <a:ext cx="1954924" cy="369332"/>
              </a:xfrm>
              <a:prstGeom prst="rect">
                <a:avLst/>
              </a:prstGeom>
              <a:blipFill>
                <a:blip r:embed="rId7"/>
                <a:stretch>
                  <a:fillRect l="-249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c 23">
            <a:extLst>
              <a:ext uri="{FF2B5EF4-FFF2-40B4-BE49-F238E27FC236}">
                <a16:creationId xmlns:a16="http://schemas.microsoft.com/office/drawing/2014/main" id="{183C8EDC-F302-47CE-822F-9FF04B254386}"/>
              </a:ext>
            </a:extLst>
          </p:cNvPr>
          <p:cNvSpPr/>
          <p:nvPr/>
        </p:nvSpPr>
        <p:spPr>
          <a:xfrm>
            <a:off x="9501350" y="1177159"/>
            <a:ext cx="325821" cy="346841"/>
          </a:xfrm>
          <a:prstGeom prst="arc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2D35813-1F20-47A2-964D-2E1096C85E78}"/>
                  </a:ext>
                </a:extLst>
              </p:cNvPr>
              <p:cNvSpPr txBox="1"/>
              <p:nvPr/>
            </p:nvSpPr>
            <p:spPr>
              <a:xfrm>
                <a:off x="9669517" y="934685"/>
                <a:ext cx="35735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2D35813-1F20-47A2-964D-2E1096C85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517" y="934685"/>
                <a:ext cx="357352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75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3" grpId="0"/>
      <p:bldP spid="14" grpId="0"/>
      <p:bldP spid="16" grpId="0"/>
      <p:bldP spid="17" grpId="0"/>
      <p:bldP spid="20" grpId="0"/>
      <p:bldP spid="21" grpId="0"/>
      <p:bldP spid="22" grpId="0"/>
      <p:bldP spid="24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BF36D-A5AB-4753-A533-F2A7B34567ED}"/>
              </a:ext>
            </a:extLst>
          </p:cNvPr>
          <p:cNvSpPr txBox="1"/>
          <p:nvPr/>
        </p:nvSpPr>
        <p:spPr>
          <a:xfrm>
            <a:off x="263951" y="301658"/>
            <a:ext cx="7239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+mj-lt"/>
              </a:rPr>
              <a:t>Boundary Conditions : </a:t>
            </a:r>
            <a:endParaRPr lang="en-IN" sz="2400" dirty="0">
              <a:solidFill>
                <a:srgbClr val="C0000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BDFA5A-82F1-4605-9DAD-8A4162EFF626}"/>
                  </a:ext>
                </a:extLst>
              </p:cNvPr>
              <p:cNvSpPr txBox="1"/>
              <p:nvPr/>
            </p:nvSpPr>
            <p:spPr>
              <a:xfrm>
                <a:off x="262867" y="919168"/>
                <a:ext cx="76724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Consider the boundary between two magnetic materials with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BDFA5A-82F1-4605-9DAD-8A4162EFF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67" y="919168"/>
                <a:ext cx="7672444" cy="369332"/>
              </a:xfrm>
              <a:prstGeom prst="rect">
                <a:avLst/>
              </a:prstGeom>
              <a:blipFill>
                <a:blip r:embed="rId2"/>
                <a:stretch>
                  <a:fillRect l="-635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rapezoid 7">
            <a:extLst>
              <a:ext uri="{FF2B5EF4-FFF2-40B4-BE49-F238E27FC236}">
                <a16:creationId xmlns:a16="http://schemas.microsoft.com/office/drawing/2014/main" id="{12336F81-F272-41F7-A333-488563D4B689}"/>
              </a:ext>
            </a:extLst>
          </p:cNvPr>
          <p:cNvSpPr/>
          <p:nvPr/>
        </p:nvSpPr>
        <p:spPr>
          <a:xfrm>
            <a:off x="3071191" y="2498103"/>
            <a:ext cx="8863143" cy="105949"/>
          </a:xfrm>
          <a:custGeom>
            <a:avLst/>
            <a:gdLst>
              <a:gd name="connsiteX0" fmla="*/ 0 w 6146276"/>
              <a:gd name="connsiteY0" fmla="*/ 113122 h 113122"/>
              <a:gd name="connsiteX1" fmla="*/ 28281 w 6146276"/>
              <a:gd name="connsiteY1" fmla="*/ 0 h 113122"/>
              <a:gd name="connsiteX2" fmla="*/ 6117996 w 6146276"/>
              <a:gd name="connsiteY2" fmla="*/ 0 h 113122"/>
              <a:gd name="connsiteX3" fmla="*/ 6146276 w 6146276"/>
              <a:gd name="connsiteY3" fmla="*/ 113122 h 113122"/>
              <a:gd name="connsiteX4" fmla="*/ 0 w 6146276"/>
              <a:gd name="connsiteY4" fmla="*/ 113122 h 113122"/>
              <a:gd name="connsiteX0" fmla="*/ 0 w 6529734"/>
              <a:gd name="connsiteY0" fmla="*/ 113122 h 113122"/>
              <a:gd name="connsiteX1" fmla="*/ 411739 w 6529734"/>
              <a:gd name="connsiteY1" fmla="*/ 0 h 113122"/>
              <a:gd name="connsiteX2" fmla="*/ 6501454 w 6529734"/>
              <a:gd name="connsiteY2" fmla="*/ 0 h 113122"/>
              <a:gd name="connsiteX3" fmla="*/ 6529734 w 6529734"/>
              <a:gd name="connsiteY3" fmla="*/ 113122 h 113122"/>
              <a:gd name="connsiteX4" fmla="*/ 0 w 6529734"/>
              <a:gd name="connsiteY4" fmla="*/ 113122 h 113122"/>
              <a:gd name="connsiteX0" fmla="*/ 0 w 6501454"/>
              <a:gd name="connsiteY0" fmla="*/ 113122 h 113122"/>
              <a:gd name="connsiteX1" fmla="*/ 411739 w 6501454"/>
              <a:gd name="connsiteY1" fmla="*/ 0 h 113122"/>
              <a:gd name="connsiteX2" fmla="*/ 6501454 w 6501454"/>
              <a:gd name="connsiteY2" fmla="*/ 0 h 113122"/>
              <a:gd name="connsiteX3" fmla="*/ 5959463 w 6501454"/>
              <a:gd name="connsiteY3" fmla="*/ 113122 h 113122"/>
              <a:gd name="connsiteX4" fmla="*/ 0 w 6501454"/>
              <a:gd name="connsiteY4" fmla="*/ 113122 h 113122"/>
              <a:gd name="connsiteX0" fmla="*/ 0 w 6501454"/>
              <a:gd name="connsiteY0" fmla="*/ 113122 h 113122"/>
              <a:gd name="connsiteX1" fmla="*/ 411739 w 6501454"/>
              <a:gd name="connsiteY1" fmla="*/ 0 h 113122"/>
              <a:gd name="connsiteX2" fmla="*/ 6501454 w 6501454"/>
              <a:gd name="connsiteY2" fmla="*/ 0 h 113122"/>
              <a:gd name="connsiteX3" fmla="*/ 6047953 w 6501454"/>
              <a:gd name="connsiteY3" fmla="*/ 113122 h 113122"/>
              <a:gd name="connsiteX4" fmla="*/ 0 w 6501454"/>
              <a:gd name="connsiteY4" fmla="*/ 113122 h 11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01454" h="113122">
                <a:moveTo>
                  <a:pt x="0" y="113122"/>
                </a:moveTo>
                <a:lnTo>
                  <a:pt x="411739" y="0"/>
                </a:lnTo>
                <a:lnTo>
                  <a:pt x="6501454" y="0"/>
                </a:lnTo>
                <a:lnTo>
                  <a:pt x="6047953" y="113122"/>
                </a:lnTo>
                <a:lnTo>
                  <a:pt x="0" y="113122"/>
                </a:lnTo>
                <a:close/>
              </a:path>
            </a:pathLst>
          </a:cu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9785AF-2E70-4DC3-B86F-35C47E4A2777}"/>
                  </a:ext>
                </a:extLst>
              </p:cNvPr>
              <p:cNvSpPr txBox="1"/>
              <p:nvPr/>
            </p:nvSpPr>
            <p:spPr>
              <a:xfrm>
                <a:off x="10459149" y="1797609"/>
                <a:ext cx="14256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Medium1,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9785AF-2E70-4DC3-B86F-35C47E4A2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9149" y="1797609"/>
                <a:ext cx="1425678" cy="369332"/>
              </a:xfrm>
              <a:prstGeom prst="rect">
                <a:avLst/>
              </a:prstGeom>
              <a:blipFill>
                <a:blip r:embed="rId3"/>
                <a:stretch>
                  <a:fillRect l="-3846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F8D13B-1502-46C3-836C-B2ED99A41792}"/>
              </a:ext>
            </a:extLst>
          </p:cNvPr>
          <p:cNvCxnSpPr/>
          <p:nvPr/>
        </p:nvCxnSpPr>
        <p:spPr>
          <a:xfrm>
            <a:off x="9891252" y="2438400"/>
            <a:ext cx="816077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F6AF14-19C3-4382-80D8-92ECC554DA78}"/>
                  </a:ext>
                </a:extLst>
              </p:cNvPr>
              <p:cNvSpPr txBox="1"/>
              <p:nvPr/>
            </p:nvSpPr>
            <p:spPr>
              <a:xfrm>
                <a:off x="10638503" y="2192593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F6AF14-19C3-4382-80D8-92ECC554D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503" y="2192593"/>
                <a:ext cx="304800" cy="369332"/>
              </a:xfrm>
              <a:prstGeom prst="rect">
                <a:avLst/>
              </a:prstGeom>
              <a:blipFill>
                <a:blip r:embed="rId4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D8BCB6-3541-4FB5-B53D-E666323F91BF}"/>
              </a:ext>
            </a:extLst>
          </p:cNvPr>
          <p:cNvCxnSpPr/>
          <p:nvPr/>
        </p:nvCxnSpPr>
        <p:spPr>
          <a:xfrm flipV="1">
            <a:off x="9897035" y="1527586"/>
            <a:ext cx="0" cy="903642"/>
          </a:xfrm>
          <a:prstGeom prst="straightConnector1">
            <a:avLst/>
          </a:prstGeom>
          <a:ln w="15875">
            <a:solidFill>
              <a:schemeClr val="accent4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DE9D5D-6C67-40E9-B860-52C9FB0EE82B}"/>
                  </a:ext>
                </a:extLst>
              </p:cNvPr>
              <p:cNvSpPr txBox="1"/>
              <p:nvPr/>
            </p:nvSpPr>
            <p:spPr>
              <a:xfrm>
                <a:off x="9855200" y="133096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DE9D5D-6C67-40E9-B860-52C9FB0EE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00" y="1330960"/>
                <a:ext cx="304800" cy="369332"/>
              </a:xfrm>
              <a:prstGeom prst="rect">
                <a:avLst/>
              </a:prstGeom>
              <a:blipFill>
                <a:blip r:embed="rId5"/>
                <a:stretch>
                  <a:fillRect r="-4000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2A39D8C-6689-4FA9-BEAE-E0D32B242E53}"/>
              </a:ext>
            </a:extLst>
          </p:cNvPr>
          <p:cNvCxnSpPr/>
          <p:nvPr/>
        </p:nvCxnSpPr>
        <p:spPr>
          <a:xfrm flipV="1">
            <a:off x="4246659" y="1931283"/>
            <a:ext cx="772160" cy="568960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353BC9-B953-4C3D-9819-AD900FE584A6}"/>
                  </a:ext>
                </a:extLst>
              </p:cNvPr>
              <p:cNvSpPr txBox="1"/>
              <p:nvPr/>
            </p:nvSpPr>
            <p:spPr>
              <a:xfrm>
                <a:off x="4759077" y="1599317"/>
                <a:ext cx="2416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>
                    <a:latin typeface="+mj-lt"/>
                  </a:rPr>
                  <a:t>H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IN" sz="1400" b="1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353BC9-B953-4C3D-9819-AD900FE58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077" y="1599317"/>
                <a:ext cx="2416976" cy="369332"/>
              </a:xfrm>
              <a:prstGeom prst="rect">
                <a:avLst/>
              </a:prstGeom>
              <a:blipFill>
                <a:blip r:embed="rId6"/>
                <a:stretch>
                  <a:fillRect l="-75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0C8AB7-919A-407A-88B8-44986EA5EA40}"/>
              </a:ext>
            </a:extLst>
          </p:cNvPr>
          <p:cNvCxnSpPr/>
          <p:nvPr/>
        </p:nvCxnSpPr>
        <p:spPr>
          <a:xfrm>
            <a:off x="4237162" y="2519901"/>
            <a:ext cx="822960" cy="0"/>
          </a:xfrm>
          <a:prstGeom prst="straightConnector1">
            <a:avLst/>
          </a:prstGeom>
          <a:ln w="15875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B63CFA-FD43-4CFD-BE6F-5717CA3A1F6C}"/>
                  </a:ext>
                </a:extLst>
              </p:cNvPr>
              <p:cNvSpPr txBox="1"/>
              <p:nvPr/>
            </p:nvSpPr>
            <p:spPr>
              <a:xfrm rot="10800000" flipV="1">
                <a:off x="5058574" y="2301078"/>
                <a:ext cx="34831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IN" sz="14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B63CFA-FD43-4CFD-BE6F-5717CA3A1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5058574" y="2301078"/>
                <a:ext cx="348312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ABB5A2C-3178-441D-949A-17D4A1D4B46D}"/>
              </a:ext>
            </a:extLst>
          </p:cNvPr>
          <p:cNvCxnSpPr>
            <a:cxnSpLocks/>
          </p:cNvCxnSpPr>
          <p:nvPr/>
        </p:nvCxnSpPr>
        <p:spPr>
          <a:xfrm flipV="1">
            <a:off x="4236940" y="1596004"/>
            <a:ext cx="0" cy="904240"/>
          </a:xfrm>
          <a:prstGeom prst="straightConnector1">
            <a:avLst/>
          </a:prstGeom>
          <a:ln w="15875">
            <a:solidFill>
              <a:schemeClr val="accent4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77AC6D-496D-4801-86C7-80DB7DA9E0A3}"/>
                  </a:ext>
                </a:extLst>
              </p:cNvPr>
              <p:cNvSpPr txBox="1"/>
              <p:nvPr/>
            </p:nvSpPr>
            <p:spPr>
              <a:xfrm>
                <a:off x="4053398" y="1341782"/>
                <a:ext cx="2701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77AC6D-496D-4801-86C7-80DB7DA9E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398" y="1341782"/>
                <a:ext cx="270123" cy="307777"/>
              </a:xfrm>
              <a:prstGeom prst="rect">
                <a:avLst/>
              </a:prstGeom>
              <a:blipFill>
                <a:blip r:embed="rId8"/>
                <a:stretch>
                  <a:fillRect r="-38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CB8C8A4-1EEB-4584-83A0-C3BF983A64FD}"/>
              </a:ext>
            </a:extLst>
          </p:cNvPr>
          <p:cNvCxnSpPr>
            <a:cxnSpLocks/>
          </p:cNvCxnSpPr>
          <p:nvPr/>
        </p:nvCxnSpPr>
        <p:spPr>
          <a:xfrm flipV="1">
            <a:off x="7721600" y="2214880"/>
            <a:ext cx="0" cy="3556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42BD4B6-A8E1-475E-936F-4D7801BC57F2}"/>
              </a:ext>
            </a:extLst>
          </p:cNvPr>
          <p:cNvCxnSpPr>
            <a:cxnSpLocks/>
          </p:cNvCxnSpPr>
          <p:nvPr/>
        </p:nvCxnSpPr>
        <p:spPr>
          <a:xfrm>
            <a:off x="7721600" y="2235200"/>
            <a:ext cx="1148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486C3B5-4240-4CEE-B592-F7456E1E4E5B}"/>
              </a:ext>
            </a:extLst>
          </p:cNvPr>
          <p:cNvCxnSpPr>
            <a:cxnSpLocks/>
          </p:cNvCxnSpPr>
          <p:nvPr/>
        </p:nvCxnSpPr>
        <p:spPr>
          <a:xfrm>
            <a:off x="8869680" y="2235200"/>
            <a:ext cx="0" cy="33528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94C53D8-8FBF-46B6-8ECE-1BDEBD2CC6E4}"/>
              </a:ext>
            </a:extLst>
          </p:cNvPr>
          <p:cNvCxnSpPr/>
          <p:nvPr/>
        </p:nvCxnSpPr>
        <p:spPr>
          <a:xfrm>
            <a:off x="7721379" y="2631440"/>
            <a:ext cx="0" cy="22352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B73B7E2-E2E4-445B-8C67-56B060EDA1C5}"/>
              </a:ext>
            </a:extLst>
          </p:cNvPr>
          <p:cNvCxnSpPr>
            <a:cxnSpLocks/>
          </p:cNvCxnSpPr>
          <p:nvPr/>
        </p:nvCxnSpPr>
        <p:spPr>
          <a:xfrm>
            <a:off x="7722704" y="2874618"/>
            <a:ext cx="11330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0E983EA-E912-43B4-B362-9E990223A105}"/>
              </a:ext>
            </a:extLst>
          </p:cNvPr>
          <p:cNvCxnSpPr>
            <a:cxnSpLocks/>
          </p:cNvCxnSpPr>
          <p:nvPr/>
        </p:nvCxnSpPr>
        <p:spPr>
          <a:xfrm flipV="1">
            <a:off x="8869901" y="2621282"/>
            <a:ext cx="0" cy="25112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8148FA7-D3E4-451D-A392-8AD466A468A3}"/>
              </a:ext>
            </a:extLst>
          </p:cNvPr>
          <p:cNvSpPr txBox="1"/>
          <p:nvPr/>
        </p:nvSpPr>
        <p:spPr>
          <a:xfrm>
            <a:off x="249501" y="3176274"/>
            <a:ext cx="5517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  <a:latin typeface="+mj-lt"/>
              </a:rPr>
              <a:t>Condition on Tangential Components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23DFB0-F5B2-4EFC-B2D7-7AC2F604EEBA}"/>
              </a:ext>
            </a:extLst>
          </p:cNvPr>
          <p:cNvSpPr txBox="1"/>
          <p:nvPr/>
        </p:nvSpPr>
        <p:spPr>
          <a:xfrm>
            <a:off x="163865" y="3737145"/>
            <a:ext cx="11135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To calculate the Tangential Components across the boundary, consider a small closed path 1-2-3-4-1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6CCA37-93BC-4502-B65D-F06AB73537B8}"/>
              </a:ext>
            </a:extLst>
          </p:cNvPr>
          <p:cNvSpPr txBox="1"/>
          <p:nvPr/>
        </p:nvSpPr>
        <p:spPr>
          <a:xfrm>
            <a:off x="7573618" y="1928191"/>
            <a:ext cx="258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721569-4FE9-4A5F-AE19-69950E130B45}"/>
              </a:ext>
            </a:extLst>
          </p:cNvPr>
          <p:cNvSpPr txBox="1"/>
          <p:nvPr/>
        </p:nvSpPr>
        <p:spPr>
          <a:xfrm>
            <a:off x="8759688" y="1941443"/>
            <a:ext cx="258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2478C1-752A-4178-B498-8CCF0857A851}"/>
              </a:ext>
            </a:extLst>
          </p:cNvPr>
          <p:cNvSpPr txBox="1"/>
          <p:nvPr/>
        </p:nvSpPr>
        <p:spPr>
          <a:xfrm>
            <a:off x="8754661" y="2806833"/>
            <a:ext cx="258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DF836E-7059-4D8C-80EA-8A0D45D460FE}"/>
              </a:ext>
            </a:extLst>
          </p:cNvPr>
          <p:cNvSpPr txBox="1"/>
          <p:nvPr/>
        </p:nvSpPr>
        <p:spPr>
          <a:xfrm>
            <a:off x="7540601" y="2811288"/>
            <a:ext cx="258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5B23F1F-7843-4BEE-ADAF-E0D58D6E3754}"/>
                  </a:ext>
                </a:extLst>
              </p:cNvPr>
              <p:cNvSpPr txBox="1"/>
              <p:nvPr/>
            </p:nvSpPr>
            <p:spPr>
              <a:xfrm>
                <a:off x="247591" y="4771220"/>
                <a:ext cx="5354423" cy="41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Applying ,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𝑒𝑛𝑐𝑙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for the path 1-2-3-4-1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5B23F1F-7843-4BEE-ADAF-E0D58D6E3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1" y="4771220"/>
                <a:ext cx="5354423" cy="412164"/>
              </a:xfrm>
              <a:prstGeom prst="rect">
                <a:avLst/>
              </a:prstGeom>
              <a:blipFill>
                <a:blip r:embed="rId27"/>
                <a:stretch>
                  <a:fillRect l="-1025" t="-134328" b="-195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3313CA3-A72C-4CA2-AE33-986747A8B721}"/>
                  </a:ext>
                </a:extLst>
              </p:cNvPr>
              <p:cNvSpPr txBox="1"/>
              <p:nvPr/>
            </p:nvSpPr>
            <p:spPr>
              <a:xfrm>
                <a:off x="525874" y="5640770"/>
                <a:ext cx="1309255" cy="3211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2341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sz="1600" dirty="0"/>
                  <a:t> = 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3313CA3-A72C-4CA2-AE33-986747A8B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74" y="5640770"/>
                <a:ext cx="1309255" cy="321178"/>
              </a:xfrm>
              <a:prstGeom prst="rect">
                <a:avLst/>
              </a:prstGeom>
              <a:blipFill>
                <a:blip r:embed="rId32"/>
                <a:stretch>
                  <a:fillRect l="-38140" t="-183019" r="-9767" b="-2603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AF0D109-231D-415F-8A7D-42CDFD943E34}"/>
                  </a:ext>
                </a:extLst>
              </p:cNvPr>
              <p:cNvSpPr txBox="1"/>
              <p:nvPr/>
            </p:nvSpPr>
            <p:spPr>
              <a:xfrm>
                <a:off x="1876694" y="5594250"/>
                <a:ext cx="1205346" cy="466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+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AF0D109-231D-415F-8A7D-42CDFD943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694" y="5594250"/>
                <a:ext cx="1205346" cy="466794"/>
              </a:xfrm>
              <a:prstGeom prst="rect">
                <a:avLst/>
              </a:prstGeom>
              <a:blipFill>
                <a:blip r:embed="rId28"/>
                <a:stretch>
                  <a:fillRect l="-34343" t="-106579" b="-1723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A7CC58D-7AD2-426B-B567-6ECB5BBEAE68}"/>
                  </a:ext>
                </a:extLst>
              </p:cNvPr>
              <p:cNvSpPr txBox="1"/>
              <p:nvPr/>
            </p:nvSpPr>
            <p:spPr>
              <a:xfrm>
                <a:off x="2912321" y="5664478"/>
                <a:ext cx="1205346" cy="466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+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A7CC58D-7AD2-426B-B567-6ECB5BBEA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321" y="5664478"/>
                <a:ext cx="1205346" cy="466794"/>
              </a:xfrm>
              <a:prstGeom prst="rect">
                <a:avLst/>
              </a:prstGeom>
              <a:blipFill>
                <a:blip r:embed="rId29"/>
                <a:stretch>
                  <a:fillRect l="-34518" t="-105195" b="-1688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1372C44-B1D3-4481-956F-D42C9D4D91CE}"/>
                  </a:ext>
                </a:extLst>
              </p:cNvPr>
              <p:cNvSpPr txBox="1"/>
              <p:nvPr/>
            </p:nvSpPr>
            <p:spPr>
              <a:xfrm>
                <a:off x="3991542" y="5653610"/>
                <a:ext cx="1205346" cy="467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+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1372C44-B1D3-4481-956F-D42C9D4D9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542" y="5653610"/>
                <a:ext cx="1205346" cy="467051"/>
              </a:xfrm>
              <a:prstGeom prst="rect">
                <a:avLst/>
              </a:prstGeom>
              <a:blipFill>
                <a:blip r:embed="rId30"/>
                <a:stretch>
                  <a:fillRect l="-34343" t="-105195" b="-1688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09238F5-CE93-447B-AB07-E28FF906AA47}"/>
                  </a:ext>
                </a:extLst>
              </p:cNvPr>
              <p:cNvSpPr txBox="1"/>
              <p:nvPr/>
            </p:nvSpPr>
            <p:spPr>
              <a:xfrm>
                <a:off x="5219581" y="5716911"/>
                <a:ext cx="1205346" cy="466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09238F5-CE93-447B-AB07-E28FF906A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581" y="5716911"/>
                <a:ext cx="1205346" cy="466218"/>
              </a:xfrm>
              <a:prstGeom prst="rect">
                <a:avLst/>
              </a:prstGeom>
              <a:blipFill>
                <a:blip r:embed="rId31"/>
                <a:stretch>
                  <a:fillRect l="-33838" t="-106579" b="-1723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B56752F-8524-4837-B24B-29FDEB36CA0F}"/>
                  </a:ext>
                </a:extLst>
              </p:cNvPr>
              <p:cNvSpPr txBox="1"/>
              <p:nvPr/>
            </p:nvSpPr>
            <p:spPr>
              <a:xfrm>
                <a:off x="7668491" y="1662545"/>
                <a:ext cx="11741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B56752F-8524-4837-B24B-29FDEB36C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491" y="1662545"/>
                <a:ext cx="1174172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A4A90BD-C5BD-4C09-938B-76C6C339FAC3}"/>
              </a:ext>
            </a:extLst>
          </p:cNvPr>
          <p:cNvCxnSpPr>
            <a:endCxn id="56" idx="3"/>
          </p:cNvCxnSpPr>
          <p:nvPr/>
        </p:nvCxnSpPr>
        <p:spPr>
          <a:xfrm flipV="1">
            <a:off x="8406245" y="1816434"/>
            <a:ext cx="436418" cy="1975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0A78A1E-D58C-47FC-9F65-4CFE195525FF}"/>
              </a:ext>
            </a:extLst>
          </p:cNvPr>
          <p:cNvCxnSpPr>
            <a:endCxn id="56" idx="1"/>
          </p:cNvCxnSpPr>
          <p:nvPr/>
        </p:nvCxnSpPr>
        <p:spPr>
          <a:xfrm flipH="1" flipV="1">
            <a:off x="7668491" y="1816434"/>
            <a:ext cx="457200" cy="12366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DF6B99E-3DD0-4D0B-ACFE-E87D74280EEA}"/>
                  </a:ext>
                </a:extLst>
              </p:cNvPr>
              <p:cNvSpPr txBox="1"/>
              <p:nvPr/>
            </p:nvSpPr>
            <p:spPr>
              <a:xfrm>
                <a:off x="8834683" y="2401353"/>
                <a:ext cx="6373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DF6B99E-3DD0-4D0B-ACFE-E87D74280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683" y="2401353"/>
                <a:ext cx="637309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BC6EBF1-116C-44CC-BA71-675710D573E7}"/>
              </a:ext>
            </a:extLst>
          </p:cNvPr>
          <p:cNvCxnSpPr>
            <a:cxnSpLocks/>
          </p:cNvCxnSpPr>
          <p:nvPr/>
        </p:nvCxnSpPr>
        <p:spPr>
          <a:xfrm>
            <a:off x="9115237" y="2626792"/>
            <a:ext cx="0" cy="245616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69C8EA1-2E3B-4AA7-9A61-DFAB9B25D0B2}"/>
              </a:ext>
            </a:extLst>
          </p:cNvPr>
          <p:cNvCxnSpPr>
            <a:cxnSpLocks/>
          </p:cNvCxnSpPr>
          <p:nvPr/>
        </p:nvCxnSpPr>
        <p:spPr>
          <a:xfrm flipV="1">
            <a:off x="9122918" y="2226365"/>
            <a:ext cx="0" cy="27167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1AC6377-5284-429D-B029-18304F9E8945}"/>
                  </a:ext>
                </a:extLst>
              </p:cNvPr>
              <p:cNvSpPr txBox="1"/>
              <p:nvPr/>
            </p:nvSpPr>
            <p:spPr>
              <a:xfrm>
                <a:off x="10495935" y="2748795"/>
                <a:ext cx="14256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Medium2,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1AC6377-5284-429D-B029-18304F9E8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5935" y="2748795"/>
                <a:ext cx="1425678" cy="369332"/>
              </a:xfrm>
              <a:prstGeom prst="rect">
                <a:avLst/>
              </a:prstGeom>
              <a:blipFill>
                <a:blip r:embed="rId19"/>
                <a:stretch>
                  <a:fillRect l="-3846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7C9301B-7FFE-454B-93D2-F4A0F88B9C64}"/>
              </a:ext>
            </a:extLst>
          </p:cNvPr>
          <p:cNvSpPr txBox="1"/>
          <p:nvPr/>
        </p:nvSpPr>
        <p:spPr>
          <a:xfrm>
            <a:off x="168165" y="4193628"/>
            <a:ext cx="1025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Consider the surface current flowing into the plane as shown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9B34E8A-2004-454B-A0EA-DDEBA69756CE}"/>
              </a:ext>
            </a:extLst>
          </p:cNvPr>
          <p:cNvGrpSpPr/>
          <p:nvPr/>
        </p:nvGrpSpPr>
        <p:grpSpPr>
          <a:xfrm>
            <a:off x="5843751" y="2364828"/>
            <a:ext cx="189186" cy="199695"/>
            <a:chOff x="5843751" y="2291256"/>
            <a:chExt cx="189186" cy="199695"/>
          </a:xfrm>
        </p:grpSpPr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5E59FD37-0C7C-4D61-A3C5-3DDF62D9FAED}"/>
                </a:ext>
              </a:extLst>
            </p:cNvPr>
            <p:cNvSpPr/>
            <p:nvPr/>
          </p:nvSpPr>
          <p:spPr>
            <a:xfrm>
              <a:off x="5843751" y="2291256"/>
              <a:ext cx="189186" cy="199695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  <a:alpha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FB3F948D-37F3-4A0A-A3A5-FF7A29752916}"/>
                </a:ext>
              </a:extLst>
            </p:cNvPr>
            <p:cNvSpPr/>
            <p:nvPr/>
          </p:nvSpPr>
          <p:spPr>
            <a:xfrm>
              <a:off x="5906814" y="2364828"/>
              <a:ext cx="52552" cy="45719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DF45ECE-08D6-4E89-8419-C28307EB59E3}"/>
              </a:ext>
            </a:extLst>
          </p:cNvPr>
          <p:cNvGrpSpPr/>
          <p:nvPr/>
        </p:nvGrpSpPr>
        <p:grpSpPr>
          <a:xfrm>
            <a:off x="6490137" y="2359573"/>
            <a:ext cx="189186" cy="199695"/>
            <a:chOff x="5843751" y="2291256"/>
            <a:chExt cx="189186" cy="199695"/>
          </a:xfrm>
        </p:grpSpPr>
        <p:sp>
          <p:nvSpPr>
            <p:cNvPr id="66" name="Flowchart: Connector 65">
              <a:extLst>
                <a:ext uri="{FF2B5EF4-FFF2-40B4-BE49-F238E27FC236}">
                  <a16:creationId xmlns:a16="http://schemas.microsoft.com/office/drawing/2014/main" id="{CBB7EF68-632E-4165-8A42-34ECC8ED11CA}"/>
                </a:ext>
              </a:extLst>
            </p:cNvPr>
            <p:cNvSpPr/>
            <p:nvPr/>
          </p:nvSpPr>
          <p:spPr>
            <a:xfrm>
              <a:off x="5843751" y="2291256"/>
              <a:ext cx="189186" cy="199695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  <a:alpha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Flowchart: Connector 66">
              <a:extLst>
                <a:ext uri="{FF2B5EF4-FFF2-40B4-BE49-F238E27FC236}">
                  <a16:creationId xmlns:a16="http://schemas.microsoft.com/office/drawing/2014/main" id="{3711CCF1-4E7B-4453-9375-E8CE685C73DF}"/>
                </a:ext>
              </a:extLst>
            </p:cNvPr>
            <p:cNvSpPr/>
            <p:nvPr/>
          </p:nvSpPr>
          <p:spPr>
            <a:xfrm>
              <a:off x="5906814" y="2364828"/>
              <a:ext cx="52552" cy="45719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7C44DE8-26DC-459B-B7E3-B9F50FA4B05B}"/>
              </a:ext>
            </a:extLst>
          </p:cNvPr>
          <p:cNvGrpSpPr/>
          <p:nvPr/>
        </p:nvGrpSpPr>
        <p:grpSpPr>
          <a:xfrm>
            <a:off x="7173309" y="2359573"/>
            <a:ext cx="189186" cy="199695"/>
            <a:chOff x="5843751" y="2291256"/>
            <a:chExt cx="189186" cy="199695"/>
          </a:xfrm>
        </p:grpSpPr>
        <p:sp>
          <p:nvSpPr>
            <p:cNvPr id="69" name="Flowchart: Connector 68">
              <a:extLst>
                <a:ext uri="{FF2B5EF4-FFF2-40B4-BE49-F238E27FC236}">
                  <a16:creationId xmlns:a16="http://schemas.microsoft.com/office/drawing/2014/main" id="{E4622BF2-A1EA-4460-8C75-C35889EBBE6D}"/>
                </a:ext>
              </a:extLst>
            </p:cNvPr>
            <p:cNvSpPr/>
            <p:nvPr/>
          </p:nvSpPr>
          <p:spPr>
            <a:xfrm>
              <a:off x="5843751" y="2291256"/>
              <a:ext cx="189186" cy="199695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  <a:alpha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" name="Flowchart: Connector 69">
              <a:extLst>
                <a:ext uri="{FF2B5EF4-FFF2-40B4-BE49-F238E27FC236}">
                  <a16:creationId xmlns:a16="http://schemas.microsoft.com/office/drawing/2014/main" id="{7FCDF25E-1A5B-45A9-9F8B-D2A8DECF2B7E}"/>
                </a:ext>
              </a:extLst>
            </p:cNvPr>
            <p:cNvSpPr/>
            <p:nvPr/>
          </p:nvSpPr>
          <p:spPr>
            <a:xfrm>
              <a:off x="5906814" y="2364828"/>
              <a:ext cx="52552" cy="45719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E4494F9-F987-412C-B8E2-630BD16188FB}"/>
              </a:ext>
            </a:extLst>
          </p:cNvPr>
          <p:cNvGrpSpPr/>
          <p:nvPr/>
        </p:nvGrpSpPr>
        <p:grpSpPr>
          <a:xfrm>
            <a:off x="7814441" y="2359572"/>
            <a:ext cx="189186" cy="199695"/>
            <a:chOff x="5843751" y="2291256"/>
            <a:chExt cx="189186" cy="199695"/>
          </a:xfrm>
        </p:grpSpPr>
        <p:sp>
          <p:nvSpPr>
            <p:cNvPr id="72" name="Flowchart: Connector 71">
              <a:extLst>
                <a:ext uri="{FF2B5EF4-FFF2-40B4-BE49-F238E27FC236}">
                  <a16:creationId xmlns:a16="http://schemas.microsoft.com/office/drawing/2014/main" id="{C6711129-5C2D-4834-8EF9-C293C01B7D70}"/>
                </a:ext>
              </a:extLst>
            </p:cNvPr>
            <p:cNvSpPr/>
            <p:nvPr/>
          </p:nvSpPr>
          <p:spPr>
            <a:xfrm>
              <a:off x="5843751" y="2291256"/>
              <a:ext cx="189186" cy="199695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  <a:alpha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Flowchart: Connector 72">
              <a:extLst>
                <a:ext uri="{FF2B5EF4-FFF2-40B4-BE49-F238E27FC236}">
                  <a16:creationId xmlns:a16="http://schemas.microsoft.com/office/drawing/2014/main" id="{22E07068-3FB9-40ED-B232-83FC5937D45F}"/>
                </a:ext>
              </a:extLst>
            </p:cNvPr>
            <p:cNvSpPr/>
            <p:nvPr/>
          </p:nvSpPr>
          <p:spPr>
            <a:xfrm>
              <a:off x="5906814" y="2364828"/>
              <a:ext cx="52552" cy="45719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92E35B1-505D-45B6-845C-BC2547B9F243}"/>
              </a:ext>
            </a:extLst>
          </p:cNvPr>
          <p:cNvGrpSpPr/>
          <p:nvPr/>
        </p:nvGrpSpPr>
        <p:grpSpPr>
          <a:xfrm>
            <a:off x="8539654" y="2359573"/>
            <a:ext cx="189186" cy="199695"/>
            <a:chOff x="5843751" y="2291256"/>
            <a:chExt cx="189186" cy="199695"/>
          </a:xfrm>
        </p:grpSpPr>
        <p:sp>
          <p:nvSpPr>
            <p:cNvPr id="75" name="Flowchart: Connector 74">
              <a:extLst>
                <a:ext uri="{FF2B5EF4-FFF2-40B4-BE49-F238E27FC236}">
                  <a16:creationId xmlns:a16="http://schemas.microsoft.com/office/drawing/2014/main" id="{5A871A12-528D-4EE3-AC7E-CE4E8A79CEAC}"/>
                </a:ext>
              </a:extLst>
            </p:cNvPr>
            <p:cNvSpPr/>
            <p:nvPr/>
          </p:nvSpPr>
          <p:spPr>
            <a:xfrm>
              <a:off x="5843751" y="2291256"/>
              <a:ext cx="189186" cy="199695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  <a:alpha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Flowchart: Connector 75">
              <a:extLst>
                <a:ext uri="{FF2B5EF4-FFF2-40B4-BE49-F238E27FC236}">
                  <a16:creationId xmlns:a16="http://schemas.microsoft.com/office/drawing/2014/main" id="{8C62CEBD-F638-40E3-BA07-F27DEF31F7A8}"/>
                </a:ext>
              </a:extLst>
            </p:cNvPr>
            <p:cNvSpPr/>
            <p:nvPr/>
          </p:nvSpPr>
          <p:spPr>
            <a:xfrm>
              <a:off x="5906814" y="2364828"/>
              <a:ext cx="52552" cy="45719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F81C392-2054-4640-97E7-7DCA90EB23A3}"/>
              </a:ext>
            </a:extLst>
          </p:cNvPr>
          <p:cNvGrpSpPr/>
          <p:nvPr/>
        </p:nvGrpSpPr>
        <p:grpSpPr>
          <a:xfrm>
            <a:off x="9338441" y="2359573"/>
            <a:ext cx="189186" cy="199695"/>
            <a:chOff x="5843751" y="2291256"/>
            <a:chExt cx="189186" cy="199695"/>
          </a:xfrm>
        </p:grpSpPr>
        <p:sp>
          <p:nvSpPr>
            <p:cNvPr id="78" name="Flowchart: Connector 77">
              <a:extLst>
                <a:ext uri="{FF2B5EF4-FFF2-40B4-BE49-F238E27FC236}">
                  <a16:creationId xmlns:a16="http://schemas.microsoft.com/office/drawing/2014/main" id="{885A18BA-11C0-4203-85A2-C89FA5B89BF3}"/>
                </a:ext>
              </a:extLst>
            </p:cNvPr>
            <p:cNvSpPr/>
            <p:nvPr/>
          </p:nvSpPr>
          <p:spPr>
            <a:xfrm>
              <a:off x="5843751" y="2291256"/>
              <a:ext cx="189186" cy="199695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  <a:alpha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9" name="Flowchart: Connector 78">
              <a:extLst>
                <a:ext uri="{FF2B5EF4-FFF2-40B4-BE49-F238E27FC236}">
                  <a16:creationId xmlns:a16="http://schemas.microsoft.com/office/drawing/2014/main" id="{860F2B83-32F5-4B21-88F6-D92B743659B1}"/>
                </a:ext>
              </a:extLst>
            </p:cNvPr>
            <p:cNvSpPr/>
            <p:nvPr/>
          </p:nvSpPr>
          <p:spPr>
            <a:xfrm>
              <a:off x="5906814" y="2364828"/>
              <a:ext cx="52552" cy="45719"/>
            </a:xfrm>
            <a:prstGeom prst="flowChartConnector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4609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9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9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0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0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 animBg="1"/>
      <p:bldP spid="10" grpId="0"/>
      <p:bldP spid="13" grpId="0"/>
      <p:bldP spid="16" grpId="0"/>
      <p:bldP spid="19" grpId="0"/>
      <p:bldP spid="22" grpId="0"/>
      <p:bldP spid="25" grpId="0"/>
      <p:bldP spid="28" grpId="0"/>
      <p:bldP spid="29" grpId="0"/>
      <p:bldP spid="36" grpId="0"/>
      <p:bldP spid="43" grpId="0"/>
      <p:bldP spid="45" grpId="0"/>
      <p:bldP spid="47" grpId="0"/>
      <p:bldP spid="37" grpId="0"/>
      <p:bldP spid="51" grpId="0"/>
      <p:bldP spid="52" grpId="0"/>
      <p:bldP spid="53" grpId="0"/>
      <p:bldP spid="54" grpId="0"/>
      <p:bldP spid="55" grpId="0"/>
      <p:bldP spid="56" grpId="0"/>
      <p:bldP spid="63" grpId="1"/>
      <p:bldP spid="44" grpId="1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049332-6269-496E-827D-901E05994DAC}"/>
                  </a:ext>
                </a:extLst>
              </p:cNvPr>
              <p:cNvSpPr txBox="1"/>
              <p:nvPr/>
            </p:nvSpPr>
            <p:spPr>
              <a:xfrm>
                <a:off x="439016" y="511125"/>
                <a:ext cx="1140402" cy="466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049332-6269-496E-827D-901E05994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16" y="511125"/>
                <a:ext cx="1140402" cy="466794"/>
              </a:xfrm>
              <a:prstGeom prst="rect">
                <a:avLst/>
              </a:prstGeom>
              <a:blipFill>
                <a:blip r:embed="rId25"/>
                <a:stretch>
                  <a:fillRect l="-35829" t="-106579" r="-8556" b="-1723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rapezoid 4">
            <a:extLst>
              <a:ext uri="{FF2B5EF4-FFF2-40B4-BE49-F238E27FC236}">
                <a16:creationId xmlns:a16="http://schemas.microsoft.com/office/drawing/2014/main" id="{6191D926-4DA4-4D80-8D80-10CE9E59F844}"/>
              </a:ext>
            </a:extLst>
          </p:cNvPr>
          <p:cNvSpPr/>
          <p:nvPr/>
        </p:nvSpPr>
        <p:spPr>
          <a:xfrm>
            <a:off x="7117773" y="841664"/>
            <a:ext cx="3499139" cy="145471"/>
          </a:xfrm>
          <a:custGeom>
            <a:avLst/>
            <a:gdLst>
              <a:gd name="connsiteX0" fmla="*/ 0 w 3138055"/>
              <a:gd name="connsiteY0" fmla="*/ 135081 h 135081"/>
              <a:gd name="connsiteX1" fmla="*/ 33770 w 3138055"/>
              <a:gd name="connsiteY1" fmla="*/ 0 h 135081"/>
              <a:gd name="connsiteX2" fmla="*/ 3104285 w 3138055"/>
              <a:gd name="connsiteY2" fmla="*/ 0 h 135081"/>
              <a:gd name="connsiteX3" fmla="*/ 3138055 w 3138055"/>
              <a:gd name="connsiteY3" fmla="*/ 135081 h 135081"/>
              <a:gd name="connsiteX4" fmla="*/ 0 w 3138055"/>
              <a:gd name="connsiteY4" fmla="*/ 135081 h 135081"/>
              <a:gd name="connsiteX0" fmla="*/ 0 w 3532909"/>
              <a:gd name="connsiteY0" fmla="*/ 145471 h 145471"/>
              <a:gd name="connsiteX1" fmla="*/ 428624 w 3532909"/>
              <a:gd name="connsiteY1" fmla="*/ 0 h 145471"/>
              <a:gd name="connsiteX2" fmla="*/ 3499139 w 3532909"/>
              <a:gd name="connsiteY2" fmla="*/ 0 h 145471"/>
              <a:gd name="connsiteX3" fmla="*/ 3532909 w 3532909"/>
              <a:gd name="connsiteY3" fmla="*/ 135081 h 145471"/>
              <a:gd name="connsiteX4" fmla="*/ 0 w 3532909"/>
              <a:gd name="connsiteY4" fmla="*/ 145471 h 145471"/>
              <a:gd name="connsiteX0" fmla="*/ 0 w 3499139"/>
              <a:gd name="connsiteY0" fmla="*/ 145471 h 145471"/>
              <a:gd name="connsiteX1" fmla="*/ 428624 w 3499139"/>
              <a:gd name="connsiteY1" fmla="*/ 0 h 145471"/>
              <a:gd name="connsiteX2" fmla="*/ 3499139 w 3499139"/>
              <a:gd name="connsiteY2" fmla="*/ 0 h 145471"/>
              <a:gd name="connsiteX3" fmla="*/ 3127663 w 3499139"/>
              <a:gd name="connsiteY3" fmla="*/ 135081 h 145471"/>
              <a:gd name="connsiteX4" fmla="*/ 0 w 3499139"/>
              <a:gd name="connsiteY4" fmla="*/ 145471 h 145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9139" h="145471">
                <a:moveTo>
                  <a:pt x="0" y="145471"/>
                </a:moveTo>
                <a:lnTo>
                  <a:pt x="428624" y="0"/>
                </a:lnTo>
                <a:lnTo>
                  <a:pt x="3499139" y="0"/>
                </a:lnTo>
                <a:lnTo>
                  <a:pt x="3127663" y="135081"/>
                </a:lnTo>
                <a:lnTo>
                  <a:pt x="0" y="145471"/>
                </a:lnTo>
                <a:close/>
              </a:path>
            </a:pathLst>
          </a:cu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A5FEC3-6879-4471-A266-0A433BAE3116}"/>
              </a:ext>
            </a:extLst>
          </p:cNvPr>
          <p:cNvCxnSpPr/>
          <p:nvPr/>
        </p:nvCxnSpPr>
        <p:spPr>
          <a:xfrm flipV="1">
            <a:off x="8260080" y="436880"/>
            <a:ext cx="0" cy="47752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F24E8C-0DC6-47B5-8A60-03C65AE30603}"/>
              </a:ext>
            </a:extLst>
          </p:cNvPr>
          <p:cNvCxnSpPr/>
          <p:nvPr/>
        </p:nvCxnSpPr>
        <p:spPr>
          <a:xfrm>
            <a:off x="8260080" y="436880"/>
            <a:ext cx="1503680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B0707A-60B5-45FB-838D-BBC0348C3FA6}"/>
              </a:ext>
            </a:extLst>
          </p:cNvPr>
          <p:cNvCxnSpPr/>
          <p:nvPr/>
        </p:nvCxnSpPr>
        <p:spPr>
          <a:xfrm>
            <a:off x="9773920" y="457200"/>
            <a:ext cx="0" cy="44704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BE4172-D8B0-4242-99EA-5CED3C65DC6A}"/>
              </a:ext>
            </a:extLst>
          </p:cNvPr>
          <p:cNvCxnSpPr/>
          <p:nvPr/>
        </p:nvCxnSpPr>
        <p:spPr>
          <a:xfrm flipV="1">
            <a:off x="8260080" y="1016000"/>
            <a:ext cx="0" cy="47752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0902E2-D697-4699-8019-245B5521256A}"/>
              </a:ext>
            </a:extLst>
          </p:cNvPr>
          <p:cNvCxnSpPr>
            <a:cxnSpLocks/>
          </p:cNvCxnSpPr>
          <p:nvPr/>
        </p:nvCxnSpPr>
        <p:spPr>
          <a:xfrm>
            <a:off x="8260080" y="1483360"/>
            <a:ext cx="1524000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BD3641-20F2-44F2-AB8E-57A44681EFF5}"/>
              </a:ext>
            </a:extLst>
          </p:cNvPr>
          <p:cNvCxnSpPr>
            <a:cxnSpLocks/>
          </p:cNvCxnSpPr>
          <p:nvPr/>
        </p:nvCxnSpPr>
        <p:spPr>
          <a:xfrm>
            <a:off x="9773920" y="1026160"/>
            <a:ext cx="0" cy="44704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B117891-8129-4765-ACBD-AE5579C910F6}"/>
              </a:ext>
            </a:extLst>
          </p:cNvPr>
          <p:cNvSpPr txBox="1"/>
          <p:nvPr/>
        </p:nvSpPr>
        <p:spPr>
          <a:xfrm>
            <a:off x="8036560" y="121920"/>
            <a:ext cx="233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C45FD7-D5B8-4FB7-9FE2-AB62B1DDD730}"/>
              </a:ext>
            </a:extLst>
          </p:cNvPr>
          <p:cNvSpPr txBox="1"/>
          <p:nvPr/>
        </p:nvSpPr>
        <p:spPr>
          <a:xfrm>
            <a:off x="9753600" y="193040"/>
            <a:ext cx="233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3FE5E5-06D9-461C-837A-2D72A95A96E8}"/>
              </a:ext>
            </a:extLst>
          </p:cNvPr>
          <p:cNvSpPr txBox="1"/>
          <p:nvPr/>
        </p:nvSpPr>
        <p:spPr>
          <a:xfrm>
            <a:off x="9712960" y="1391920"/>
            <a:ext cx="233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826408-950F-4A97-9D0A-E9B1554292C8}"/>
              </a:ext>
            </a:extLst>
          </p:cNvPr>
          <p:cNvSpPr txBox="1"/>
          <p:nvPr/>
        </p:nvSpPr>
        <p:spPr>
          <a:xfrm>
            <a:off x="7985760" y="1412240"/>
            <a:ext cx="233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4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8464753-8E05-4BF7-86BD-F71CDCA49978}"/>
              </a:ext>
            </a:extLst>
          </p:cNvPr>
          <p:cNvCxnSpPr/>
          <p:nvPr/>
        </p:nvCxnSpPr>
        <p:spPr>
          <a:xfrm>
            <a:off x="10930343" y="1139536"/>
            <a:ext cx="816077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EC8A96-5BB2-4AE3-9424-7605C0F92667}"/>
                  </a:ext>
                </a:extLst>
              </p:cNvPr>
              <p:cNvSpPr txBox="1"/>
              <p:nvPr/>
            </p:nvSpPr>
            <p:spPr>
              <a:xfrm>
                <a:off x="11667203" y="935293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EC8A96-5BB2-4AE3-9424-7605C0F92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7203" y="935293"/>
                <a:ext cx="304800" cy="369332"/>
              </a:xfrm>
              <a:prstGeom prst="rect">
                <a:avLst/>
              </a:prstGeom>
              <a:blipFill>
                <a:blip r:embed="rId3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CB8F2B-3702-4BDE-BA20-E4917F17A4B1}"/>
              </a:ext>
            </a:extLst>
          </p:cNvPr>
          <p:cNvCxnSpPr/>
          <p:nvPr/>
        </p:nvCxnSpPr>
        <p:spPr>
          <a:xfrm flipV="1">
            <a:off x="10946517" y="196626"/>
            <a:ext cx="0" cy="903642"/>
          </a:xfrm>
          <a:prstGeom prst="straightConnector1">
            <a:avLst/>
          </a:prstGeom>
          <a:ln w="15875">
            <a:solidFill>
              <a:schemeClr val="accent4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2C1047-70AB-4F6A-8C6B-B1EECEC73844}"/>
                  </a:ext>
                </a:extLst>
              </p:cNvPr>
              <p:cNvSpPr txBox="1"/>
              <p:nvPr/>
            </p:nvSpPr>
            <p:spPr>
              <a:xfrm>
                <a:off x="10904682" y="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2C1047-70AB-4F6A-8C6B-B1EECEC73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4682" y="0"/>
                <a:ext cx="304800" cy="369332"/>
              </a:xfrm>
              <a:prstGeom prst="rect">
                <a:avLst/>
              </a:prstGeom>
              <a:blipFill>
                <a:blip r:embed="rId4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ylinder 32">
            <a:extLst>
              <a:ext uri="{FF2B5EF4-FFF2-40B4-BE49-F238E27FC236}">
                <a16:creationId xmlns:a16="http://schemas.microsoft.com/office/drawing/2014/main" id="{29EAFA8A-C034-4F52-BC1D-383D09938531}"/>
              </a:ext>
            </a:extLst>
          </p:cNvPr>
          <p:cNvSpPr/>
          <p:nvPr/>
        </p:nvSpPr>
        <p:spPr>
          <a:xfrm>
            <a:off x="8845204" y="406862"/>
            <a:ext cx="259772" cy="45719"/>
          </a:xfrm>
          <a:prstGeom prst="can">
            <a:avLst/>
          </a:prstGeom>
          <a:solidFill>
            <a:schemeClr val="accent2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AF21A20-35F0-4254-BA61-1AB9528EA06C}"/>
                  </a:ext>
                </a:extLst>
              </p:cNvPr>
              <p:cNvSpPr txBox="1"/>
              <p:nvPr/>
            </p:nvSpPr>
            <p:spPr>
              <a:xfrm>
                <a:off x="8615680" y="71120"/>
                <a:ext cx="12293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i="1" dirty="0">
                    <a:latin typeface="+mj-lt"/>
                  </a:rPr>
                  <a:t>dl </a:t>
                </a:r>
                <a:r>
                  <a:rPr lang="en-IN" sz="1400" dirty="0">
                    <a:latin typeface="+mj-lt"/>
                  </a:rPr>
                  <a:t>=</a:t>
                </a:r>
                <a:r>
                  <a:rPr lang="en-IN" sz="1400" b="1" i="1" dirty="0">
                    <a:latin typeface="+mj-lt"/>
                  </a:rPr>
                  <a:t> </a:t>
                </a:r>
                <a:r>
                  <a:rPr lang="en-IN" sz="1400" i="1" dirty="0">
                    <a:latin typeface="+mj-lt"/>
                  </a:rPr>
                  <a:t>dl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IN" sz="1400" b="1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AF21A20-35F0-4254-BA61-1AB9528EA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680" y="71120"/>
                <a:ext cx="1229360" cy="307777"/>
              </a:xfrm>
              <a:prstGeom prst="rect">
                <a:avLst/>
              </a:prstGeom>
              <a:blipFill>
                <a:blip r:embed="rId5"/>
                <a:stretch>
                  <a:fillRect l="-1485" t="-4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90283BB-4456-4645-A0DF-7F6DF655498D}"/>
                  </a:ext>
                </a:extLst>
              </p:cNvPr>
              <p:cNvSpPr txBox="1"/>
              <p:nvPr/>
            </p:nvSpPr>
            <p:spPr>
              <a:xfrm>
                <a:off x="1631373" y="498763"/>
                <a:ext cx="3657600" cy="479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IN" i="0" smtClean="0">
                            <a:latin typeface="+mj-lt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b="1" dirty="0">
                            <a:latin typeface="+mj-lt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b="1" dirty="0">
                            <a:latin typeface="+mj-lt"/>
                          </a:rPr>
                          <m:t> +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b="1" dirty="0">
                            <a:latin typeface="+mj-lt"/>
                          </a:rPr>
                          <m:t> 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) . </a:t>
                </a:r>
                <a:r>
                  <a:rPr lang="en-IN" i="1" dirty="0">
                    <a:latin typeface="+mj-lt"/>
                  </a:rPr>
                  <a:t>dl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90283BB-4456-4645-A0DF-7F6DF6554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373" y="498763"/>
                <a:ext cx="3657600" cy="479170"/>
              </a:xfrm>
              <a:prstGeom prst="rect">
                <a:avLst/>
              </a:prstGeom>
              <a:blipFill>
                <a:blip r:embed="rId26"/>
                <a:stretch>
                  <a:fillRect l="-11333" t="-103846" b="-16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646E371-6D23-4FB6-9D3B-522550AEF0E0}"/>
                  </a:ext>
                </a:extLst>
              </p:cNvPr>
              <p:cNvSpPr txBox="1"/>
              <p:nvPr/>
            </p:nvSpPr>
            <p:spPr>
              <a:xfrm>
                <a:off x="1215736" y="1267691"/>
                <a:ext cx="1359297" cy="466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</a:t>
                </a:r>
                <a:r>
                  <a:rPr lang="en-IN" i="1" dirty="0">
                    <a:latin typeface="+mj-lt"/>
                  </a:rPr>
                  <a:t>dl</a:t>
                </a:r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646E371-6D23-4FB6-9D3B-522550AEF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736" y="1267691"/>
                <a:ext cx="1359297" cy="466794"/>
              </a:xfrm>
              <a:prstGeom prst="rect">
                <a:avLst/>
              </a:prstGeom>
              <a:blipFill>
                <a:blip r:embed="rId27"/>
                <a:stretch>
                  <a:fillRect l="-16592" t="-105195" r="-448" b="-1688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2363818-23FA-4563-AFD0-F943D9CA460E}"/>
                  </a:ext>
                </a:extLst>
              </p:cNvPr>
              <p:cNvSpPr txBox="1"/>
              <p:nvPr/>
            </p:nvSpPr>
            <p:spPr>
              <a:xfrm>
                <a:off x="2723851" y="1246670"/>
                <a:ext cx="1396204" cy="466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</a:t>
                </a:r>
                <a:r>
                  <a:rPr lang="en-IN" i="1" dirty="0">
                    <a:latin typeface="+mj-lt"/>
                  </a:rPr>
                  <a:t>dl</a:t>
                </a:r>
                <a:endParaRPr lang="en-IN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2363818-23FA-4563-AFD0-F943D9CA4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851" y="1246670"/>
                <a:ext cx="1396204" cy="466794"/>
              </a:xfrm>
              <a:prstGeom prst="rect">
                <a:avLst/>
              </a:prstGeom>
              <a:blipFill>
                <a:blip r:embed="rId28"/>
                <a:stretch>
                  <a:fillRect l="-3930" t="-106579" r="-20961" b="-1723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3C2CA8-28A7-4946-8116-A540ABF4F3B0}"/>
                  </a:ext>
                </a:extLst>
              </p:cNvPr>
              <p:cNvSpPr txBox="1"/>
              <p:nvPr/>
            </p:nvSpPr>
            <p:spPr>
              <a:xfrm>
                <a:off x="4232682" y="1340667"/>
                <a:ext cx="24210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IN" i="1" dirty="0">
                    <a:latin typeface="+mj-lt"/>
                  </a:rPr>
                  <a:t>w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3C2CA8-28A7-4946-8116-A540ABF4F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682" y="1340667"/>
                <a:ext cx="2421082" cy="369332"/>
              </a:xfrm>
              <a:prstGeom prst="rect">
                <a:avLst/>
              </a:prstGeom>
              <a:blipFill>
                <a:blip r:embed="rId29"/>
                <a:stretch>
                  <a:fillRect l="-2015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716C29E-5D36-4A83-93A6-D744465319A8}"/>
                  </a:ext>
                </a:extLst>
              </p:cNvPr>
              <p:cNvSpPr txBox="1"/>
              <p:nvPr/>
            </p:nvSpPr>
            <p:spPr>
              <a:xfrm>
                <a:off x="531011" y="2047009"/>
                <a:ext cx="10368216" cy="467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r>
                          <m:rPr>
                            <m:nor/>
                          </m:rPr>
                          <a:rPr lang="en-IN" b="1" dirty="0"/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b="1" dirty="0"/>
                          <m:t> +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b="1" dirty="0"/>
                          <m:t> </m:t>
                        </m:r>
                      </m:e>
                    </m:nary>
                  </m:oMath>
                </a14:m>
                <a:r>
                  <a:rPr lang="en-IN" dirty="0"/>
                  <a:t>) . </a:t>
                </a:r>
                <a:r>
                  <a:rPr lang="en-IN" i="1" dirty="0"/>
                  <a:t>dl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i="1" dirty="0"/>
                  <a:t>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dirty="0"/>
                  <a:t> </a:t>
                </a:r>
                <a:r>
                  <a:rPr lang="en-IN" i="1" dirty="0"/>
                  <a:t>dl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nary>
                  </m:oMath>
                </a14:m>
                <a:r>
                  <a:rPr lang="en-IN" dirty="0"/>
                  <a:t> </a:t>
                </a:r>
                <a:r>
                  <a:rPr lang="en-IN" i="1" dirty="0"/>
                  <a:t>dl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IN" i="1" dirty="0"/>
                  <a:t>w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716C29E-5D36-4A83-93A6-D74446531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11" y="2047009"/>
                <a:ext cx="10368216" cy="467051"/>
              </a:xfrm>
              <a:prstGeom prst="rect">
                <a:avLst/>
              </a:prstGeom>
              <a:blipFill>
                <a:blip r:embed="rId30"/>
                <a:stretch>
                  <a:fillRect l="-3939" t="-106579" b="-1723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9FA7220-0081-4BAF-A5AF-E54738217C98}"/>
                  </a:ext>
                </a:extLst>
              </p:cNvPr>
              <p:cNvSpPr txBox="1"/>
              <p:nvPr/>
            </p:nvSpPr>
            <p:spPr>
              <a:xfrm>
                <a:off x="394855" y="3013364"/>
                <a:ext cx="1160676" cy="466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9FA7220-0081-4BAF-A5AF-E54738217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55" y="3013364"/>
                <a:ext cx="1160676" cy="466794"/>
              </a:xfrm>
              <a:prstGeom prst="rect">
                <a:avLst/>
              </a:prstGeom>
              <a:blipFill>
                <a:blip r:embed="rId31"/>
                <a:stretch>
                  <a:fillRect l="-35789" t="-105195" r="-1053" b="-1688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DAC2B4B-1DB0-4042-8C43-EFB97F2850ED}"/>
                  </a:ext>
                </a:extLst>
              </p:cNvPr>
              <p:cNvSpPr txBox="1"/>
              <p:nvPr/>
            </p:nvSpPr>
            <p:spPr>
              <a:xfrm>
                <a:off x="1413164" y="3023755"/>
                <a:ext cx="1111828" cy="466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DAC2B4B-1DB0-4042-8C43-EFB97F285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164" y="3023755"/>
                <a:ext cx="1111828" cy="466218"/>
              </a:xfrm>
              <a:prstGeom prst="rect">
                <a:avLst/>
              </a:prstGeom>
              <a:blipFill>
                <a:blip r:embed="rId32"/>
                <a:stretch>
                  <a:fillRect l="-37363" t="-105195" b="-1688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7FE72D-CA33-4E72-82E8-A47B1D4ADBDD}"/>
                  </a:ext>
                </a:extLst>
              </p:cNvPr>
              <p:cNvSpPr txBox="1"/>
              <p:nvPr/>
            </p:nvSpPr>
            <p:spPr>
              <a:xfrm>
                <a:off x="2450053" y="3085815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0   ( since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>
                    <a:latin typeface="+mj-lt"/>
                  </a:rPr>
                  <a:t> 0 )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7FE72D-CA33-4E72-82E8-A47B1D4AD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053" y="3085815"/>
                <a:ext cx="2514600" cy="369332"/>
              </a:xfrm>
              <a:prstGeom prst="rect">
                <a:avLst/>
              </a:prstGeom>
              <a:blipFill>
                <a:blip r:embed="rId33"/>
                <a:stretch>
                  <a:fillRect l="-218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37912A1-4CF2-4B0C-B7BE-72237FCCA94C}"/>
                  </a:ext>
                </a:extLst>
              </p:cNvPr>
              <p:cNvSpPr txBox="1"/>
              <p:nvPr/>
            </p:nvSpPr>
            <p:spPr>
              <a:xfrm>
                <a:off x="391053" y="3948805"/>
                <a:ext cx="3876147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(LHS)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12341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𝒅𝒍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IN" i="1" dirty="0">
                    <a:latin typeface="+mj-lt"/>
                  </a:rPr>
                  <a:t>w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IN" i="1" dirty="0"/>
                  <a:t>w </a:t>
                </a:r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37912A1-4CF2-4B0C-B7BE-72237FCCA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53" y="3948805"/>
                <a:ext cx="3876147" cy="413511"/>
              </a:xfrm>
              <a:prstGeom prst="rect">
                <a:avLst/>
              </a:prstGeom>
              <a:blipFill>
                <a:blip r:embed="rId34"/>
                <a:stretch>
                  <a:fillRect l="-1258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DE2A192-762C-4BCC-BAC1-5B2729904310}"/>
                  </a:ext>
                </a:extLst>
              </p:cNvPr>
              <p:cNvSpPr txBox="1"/>
              <p:nvPr/>
            </p:nvSpPr>
            <p:spPr>
              <a:xfrm>
                <a:off x="4300902" y="3947090"/>
                <a:ext cx="22890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(RHS)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𝑒𝑛𝑐𝑙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= </a:t>
                </a:r>
                <a:r>
                  <a:rPr lang="en-IN" i="1" dirty="0">
                    <a:latin typeface="+mj-lt"/>
                  </a:rPr>
                  <a:t>K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IN" i="1" dirty="0"/>
                  <a:t>w</a:t>
                </a:r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DE2A192-762C-4BCC-BAC1-5B2729904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902" y="3947090"/>
                <a:ext cx="2289083" cy="369332"/>
              </a:xfrm>
              <a:prstGeom prst="rect">
                <a:avLst/>
              </a:prstGeom>
              <a:blipFill>
                <a:blip r:embed="rId35"/>
                <a:stretch>
                  <a:fillRect l="-240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8C81E5-2820-47CA-A46F-BF3C34CAA53D}"/>
                  </a:ext>
                </a:extLst>
              </p:cNvPr>
              <p:cNvSpPr txBox="1"/>
              <p:nvPr/>
            </p:nvSpPr>
            <p:spPr>
              <a:xfrm>
                <a:off x="344102" y="4660994"/>
                <a:ext cx="2598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i="1" dirty="0">
                    <a:solidFill>
                      <a:srgbClr val="C00000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i="1" dirty="0">
                    <a:solidFill>
                      <a:srgbClr val="C00000"/>
                    </a:solidFill>
                  </a:rPr>
                  <a:t> </a:t>
                </a:r>
                <a:r>
                  <a:rPr lang="en-IN" dirty="0">
                    <a:solidFill>
                      <a:srgbClr val="C00000"/>
                    </a:solidFill>
                  </a:rPr>
                  <a:t>= </a:t>
                </a:r>
                <a:r>
                  <a:rPr lang="en-IN" i="1" dirty="0">
                    <a:solidFill>
                      <a:srgbClr val="C00000"/>
                    </a:solidFill>
                  </a:rPr>
                  <a:t>K</a:t>
                </a:r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8C81E5-2820-47CA-A46F-BF3C34CAA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02" y="4660994"/>
                <a:ext cx="2598795" cy="369332"/>
              </a:xfrm>
              <a:prstGeom prst="rect">
                <a:avLst/>
              </a:prstGeom>
              <a:blipFill>
                <a:blip r:embed="rId36"/>
                <a:stretch>
                  <a:fillRect l="-1874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1D4B0D0-8F14-4CF5-9CBF-917278640D60}"/>
              </a:ext>
            </a:extLst>
          </p:cNvPr>
          <p:cNvSpPr txBox="1"/>
          <p:nvPr/>
        </p:nvSpPr>
        <p:spPr>
          <a:xfrm>
            <a:off x="2837794" y="4656083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&amp;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4462EE-688E-4B02-8F57-FA77C6A1FE42}"/>
                  </a:ext>
                </a:extLst>
              </p:cNvPr>
              <p:cNvSpPr txBox="1"/>
              <p:nvPr/>
            </p:nvSpPr>
            <p:spPr>
              <a:xfrm>
                <a:off x="3468414" y="4624552"/>
                <a:ext cx="3857296" cy="518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= </a:t>
                </a:r>
                <a:r>
                  <a:rPr lang="en-IN" i="1" dirty="0">
                    <a:solidFill>
                      <a:srgbClr val="C00000"/>
                    </a:solidFill>
                  </a:rPr>
                  <a:t>K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4462EE-688E-4B02-8F57-FA77C6A1F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414" y="4624552"/>
                <a:ext cx="3857296" cy="518475"/>
              </a:xfrm>
              <a:prstGeom prst="rect">
                <a:avLst/>
              </a:prstGeom>
              <a:blipFill>
                <a:blip r:embed="rId37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3FE6A2E-0F76-4918-927E-17A877051BF9}"/>
              </a:ext>
            </a:extLst>
          </p:cNvPr>
          <p:cNvSpPr txBox="1"/>
          <p:nvPr/>
        </p:nvSpPr>
        <p:spPr>
          <a:xfrm>
            <a:off x="304800" y="5192111"/>
            <a:ext cx="3909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Also it can be shown that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C4AC8B-E91D-41B3-B42C-A0F91F8FDAF6}"/>
                  </a:ext>
                </a:extLst>
              </p:cNvPr>
              <p:cNvSpPr txBox="1"/>
              <p:nvPr/>
            </p:nvSpPr>
            <p:spPr>
              <a:xfrm>
                <a:off x="357352" y="6011917"/>
                <a:ext cx="24699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C00000"/>
                    </a:solidFill>
                  </a:rPr>
                  <a:t>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)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I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 = </a:t>
                </a:r>
                <a:r>
                  <a:rPr lang="en-IN" b="1" dirty="0">
                    <a:solidFill>
                      <a:srgbClr val="C00000"/>
                    </a:solidFill>
                  </a:rPr>
                  <a:t>K 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C4AC8B-E91D-41B3-B42C-A0F91F8FD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52" y="6011917"/>
                <a:ext cx="2469932" cy="369332"/>
              </a:xfrm>
              <a:prstGeom prst="rect">
                <a:avLst/>
              </a:prstGeom>
              <a:blipFill>
                <a:blip r:embed="rId38"/>
                <a:stretch>
                  <a:fillRect l="-2222" t="-8197" r="-4198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B5AD0913-40C8-4FC9-8A3A-7421427D21C6}"/>
              </a:ext>
            </a:extLst>
          </p:cNvPr>
          <p:cNvSpPr txBox="1"/>
          <p:nvPr/>
        </p:nvSpPr>
        <p:spPr>
          <a:xfrm>
            <a:off x="2919249" y="5984906"/>
            <a:ext cx="317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&amp;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4AEFD28-65F1-49AD-9D2B-6AA8CA70CA4B}"/>
                  </a:ext>
                </a:extLst>
              </p:cNvPr>
              <p:cNvSpPr txBox="1"/>
              <p:nvPr/>
            </p:nvSpPr>
            <p:spPr>
              <a:xfrm>
                <a:off x="3442139" y="6027683"/>
                <a:ext cx="24699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I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 </a:t>
                </a:r>
                <a:r>
                  <a:rPr lang="en-IN" b="1" dirty="0">
                    <a:solidFill>
                      <a:srgbClr val="C00000"/>
                    </a:solidFill>
                  </a:rPr>
                  <a:t>K   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4AEFD28-65F1-49AD-9D2B-6AA8CA70C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139" y="6027683"/>
                <a:ext cx="2469932" cy="369332"/>
              </a:xfrm>
              <a:prstGeom prst="rect">
                <a:avLst/>
              </a:prstGeom>
              <a:blipFill>
                <a:blip r:embed="rId39"/>
                <a:stretch>
                  <a:fillRect t="-10000" r="-1975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C3B441-2F50-434E-9D29-4B80DDAC2876}"/>
                  </a:ext>
                </a:extLst>
              </p:cNvPr>
              <p:cNvSpPr txBox="1"/>
              <p:nvPr/>
            </p:nvSpPr>
            <p:spPr>
              <a:xfrm>
                <a:off x="5885793" y="6022427"/>
                <a:ext cx="55494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IN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IN" dirty="0"/>
                  <a:t> is the unit vector from </a:t>
                </a:r>
                <a:r>
                  <a:rPr lang="en-IN" i="1" dirty="0"/>
                  <a:t>medium1</a:t>
                </a:r>
                <a:r>
                  <a:rPr lang="en-IN" dirty="0"/>
                  <a:t> to </a:t>
                </a:r>
                <a:r>
                  <a:rPr lang="en-IN" i="1" dirty="0"/>
                  <a:t>medium 2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C3B441-2F50-434E-9D29-4B80DDAC2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793" y="6022427"/>
                <a:ext cx="5549462" cy="369332"/>
              </a:xfrm>
              <a:prstGeom prst="rect">
                <a:avLst/>
              </a:prstGeom>
              <a:blipFill>
                <a:blip r:embed="rId41"/>
                <a:stretch>
                  <a:fillRect l="-989" t="-9836" r="-879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920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3" presetClass="entr" presetSubtype="16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20" grpId="0"/>
      <p:bldP spid="24" grpId="0"/>
      <p:bldP spid="25" grpId="0"/>
      <p:bldP spid="26" grpId="0"/>
      <p:bldP spid="30" grpId="0"/>
      <p:bldP spid="32" grpId="0"/>
      <p:bldP spid="33" grpId="0" animBg="1"/>
      <p:bldP spid="34" grpId="0"/>
      <p:bldP spid="35" grpId="0"/>
      <p:bldP spid="37" grpId="0"/>
      <p:bldP spid="39" grpId="0"/>
      <p:bldP spid="40" grpId="0"/>
      <p:bldP spid="41" grpId="0"/>
      <p:bldP spid="42" grpId="0"/>
      <p:bldP spid="45" grpId="0"/>
      <p:bldP spid="56" grpId="0"/>
      <p:bldP spid="60" grpId="0"/>
      <p:bldP spid="61" grpId="0"/>
      <p:bldP spid="62" grpId="0"/>
      <p:bldP spid="2" grpId="0"/>
      <p:bldP spid="4" grpId="0"/>
      <p:bldP spid="6" grpId="0"/>
      <p:bldP spid="8" grpId="0"/>
      <p:bldP spid="49" grpId="0"/>
      <p:bldP spid="57" grpId="0"/>
      <p:bldP spid="57" grpId="1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ylinder 30">
            <a:extLst>
              <a:ext uri="{FF2B5EF4-FFF2-40B4-BE49-F238E27FC236}">
                <a16:creationId xmlns:a16="http://schemas.microsoft.com/office/drawing/2014/main" id="{5B5D624C-D31E-4930-9E62-1D2C61B94AD3}"/>
              </a:ext>
            </a:extLst>
          </p:cNvPr>
          <p:cNvSpPr/>
          <p:nvPr/>
        </p:nvSpPr>
        <p:spPr>
          <a:xfrm>
            <a:off x="7861852" y="2057400"/>
            <a:ext cx="864705" cy="904461"/>
          </a:xfrm>
          <a:prstGeom prst="can">
            <a:avLst/>
          </a:prstGeom>
          <a:solidFill>
            <a:schemeClr val="accent2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63F007-6322-4807-90AF-BA8F1E9EDBAC}"/>
              </a:ext>
            </a:extLst>
          </p:cNvPr>
          <p:cNvSpPr txBox="1"/>
          <p:nvPr/>
        </p:nvSpPr>
        <p:spPr>
          <a:xfrm>
            <a:off x="318052" y="327991"/>
            <a:ext cx="7374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  <a:latin typeface="+mj-lt"/>
              </a:rPr>
              <a:t>Condition on Normal Components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D1CD1B-C4F9-4737-9EB4-7A38DA2655C5}"/>
              </a:ext>
            </a:extLst>
          </p:cNvPr>
          <p:cNvCxnSpPr/>
          <p:nvPr/>
        </p:nvCxnSpPr>
        <p:spPr>
          <a:xfrm>
            <a:off x="9891252" y="2438400"/>
            <a:ext cx="816077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D6D779-609C-4448-94B5-51BDEF639095}"/>
                  </a:ext>
                </a:extLst>
              </p:cNvPr>
              <p:cNvSpPr txBox="1"/>
              <p:nvPr/>
            </p:nvSpPr>
            <p:spPr>
              <a:xfrm>
                <a:off x="10638503" y="2192593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D6D779-609C-4448-94B5-51BDEF639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503" y="2192593"/>
                <a:ext cx="304800" cy="369332"/>
              </a:xfrm>
              <a:prstGeom prst="rect">
                <a:avLst/>
              </a:prstGeom>
              <a:blipFill>
                <a:blip r:embed="rId2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3E2888-7E2A-4B62-BC3B-808151BABB0F}"/>
              </a:ext>
            </a:extLst>
          </p:cNvPr>
          <p:cNvCxnSpPr/>
          <p:nvPr/>
        </p:nvCxnSpPr>
        <p:spPr>
          <a:xfrm flipV="1">
            <a:off x="9897035" y="1527586"/>
            <a:ext cx="0" cy="903642"/>
          </a:xfrm>
          <a:prstGeom prst="straightConnector1">
            <a:avLst/>
          </a:prstGeom>
          <a:ln w="15875">
            <a:solidFill>
              <a:schemeClr val="accent4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16F68C-EE5E-4560-8A53-E44FABFDA755}"/>
              </a:ext>
            </a:extLst>
          </p:cNvPr>
          <p:cNvCxnSpPr/>
          <p:nvPr/>
        </p:nvCxnSpPr>
        <p:spPr>
          <a:xfrm flipV="1">
            <a:off x="4246659" y="1931283"/>
            <a:ext cx="772160" cy="568960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93013C-3A8B-40B1-ABFE-F91E2CB8E6ED}"/>
                  </a:ext>
                </a:extLst>
              </p:cNvPr>
              <p:cNvSpPr txBox="1"/>
              <p:nvPr/>
            </p:nvSpPr>
            <p:spPr>
              <a:xfrm>
                <a:off x="4759077" y="1599317"/>
                <a:ext cx="2416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>
                    <a:latin typeface="+mj-lt"/>
                  </a:rPr>
                  <a:t>H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b="1" dirty="0">
                    <a:latin typeface="+mj-lt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IN" sz="1400" b="1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93013C-3A8B-40B1-ABFE-F91E2CB8E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077" y="1599317"/>
                <a:ext cx="2416976" cy="369332"/>
              </a:xfrm>
              <a:prstGeom prst="rect">
                <a:avLst/>
              </a:prstGeom>
              <a:blipFill>
                <a:blip r:embed="rId14"/>
                <a:stretch>
                  <a:fillRect l="-75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B5811C-A9DE-47DA-9159-D1576E2359A9}"/>
              </a:ext>
            </a:extLst>
          </p:cNvPr>
          <p:cNvCxnSpPr/>
          <p:nvPr/>
        </p:nvCxnSpPr>
        <p:spPr>
          <a:xfrm>
            <a:off x="4237162" y="2519901"/>
            <a:ext cx="822960" cy="0"/>
          </a:xfrm>
          <a:prstGeom prst="straightConnector1">
            <a:avLst/>
          </a:prstGeom>
          <a:ln w="15875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86762F-EF16-4627-AE8A-F6EE5339C96F}"/>
                  </a:ext>
                </a:extLst>
              </p:cNvPr>
              <p:cNvSpPr txBox="1"/>
              <p:nvPr/>
            </p:nvSpPr>
            <p:spPr>
              <a:xfrm rot="10800000" flipV="1">
                <a:off x="5058574" y="2301078"/>
                <a:ext cx="34831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IN" sz="1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86762F-EF16-4627-AE8A-F6EE5339C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5058574" y="2301078"/>
                <a:ext cx="348312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587BED-7131-4872-A557-5C800300AC7E}"/>
              </a:ext>
            </a:extLst>
          </p:cNvPr>
          <p:cNvCxnSpPr>
            <a:cxnSpLocks/>
          </p:cNvCxnSpPr>
          <p:nvPr/>
        </p:nvCxnSpPr>
        <p:spPr>
          <a:xfrm flipV="1">
            <a:off x="4236940" y="1596004"/>
            <a:ext cx="0" cy="904240"/>
          </a:xfrm>
          <a:prstGeom prst="straightConnector1">
            <a:avLst/>
          </a:prstGeom>
          <a:ln w="15875">
            <a:solidFill>
              <a:schemeClr val="accent4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996458-F206-4ED5-A58C-2EF55B9A6A2B}"/>
                  </a:ext>
                </a:extLst>
              </p:cNvPr>
              <p:cNvSpPr txBox="1"/>
              <p:nvPr/>
            </p:nvSpPr>
            <p:spPr>
              <a:xfrm>
                <a:off x="7459769" y="1821571"/>
                <a:ext cx="11741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996458-F206-4ED5-A58C-2EF55B9A6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769" y="1821571"/>
                <a:ext cx="1174172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3032CD-40C3-426E-BE54-15742091F23C}"/>
                  </a:ext>
                </a:extLst>
              </p:cNvPr>
              <p:cNvSpPr txBox="1"/>
              <p:nvPr/>
            </p:nvSpPr>
            <p:spPr>
              <a:xfrm>
                <a:off x="8834683" y="2401353"/>
                <a:ext cx="6373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3032CD-40C3-426E-BE54-15742091F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683" y="2401353"/>
                <a:ext cx="637309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99C2DDB-27C3-4F1B-9A92-B0A743270538}"/>
              </a:ext>
            </a:extLst>
          </p:cNvPr>
          <p:cNvCxnSpPr>
            <a:cxnSpLocks/>
          </p:cNvCxnSpPr>
          <p:nvPr/>
        </p:nvCxnSpPr>
        <p:spPr>
          <a:xfrm>
            <a:off x="9115237" y="2626792"/>
            <a:ext cx="0" cy="245616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57C3800-E7F6-499B-AB22-3C1158D79C0A}"/>
              </a:ext>
            </a:extLst>
          </p:cNvPr>
          <p:cNvCxnSpPr>
            <a:cxnSpLocks/>
          </p:cNvCxnSpPr>
          <p:nvPr/>
        </p:nvCxnSpPr>
        <p:spPr>
          <a:xfrm flipV="1">
            <a:off x="9122918" y="2226365"/>
            <a:ext cx="0" cy="27167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B37491-E21C-4D14-891A-B98B6CF513B5}"/>
                  </a:ext>
                </a:extLst>
              </p:cNvPr>
              <p:cNvSpPr txBox="1"/>
              <p:nvPr/>
            </p:nvSpPr>
            <p:spPr>
              <a:xfrm>
                <a:off x="4053398" y="1341782"/>
                <a:ext cx="2701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B37491-E21C-4D14-891A-B98B6CF51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398" y="1341782"/>
                <a:ext cx="270123" cy="307777"/>
              </a:xfrm>
              <a:prstGeom prst="rect">
                <a:avLst/>
              </a:prstGeom>
              <a:blipFill>
                <a:blip r:embed="rId16"/>
                <a:stretch>
                  <a:fillRect r="-38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092C74-8CE5-4BEB-AE52-E50E1E22EC6B}"/>
                  </a:ext>
                </a:extLst>
              </p:cNvPr>
              <p:cNvSpPr txBox="1"/>
              <p:nvPr/>
            </p:nvSpPr>
            <p:spPr>
              <a:xfrm>
                <a:off x="9855200" y="133096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092C74-8CE5-4BEB-AE52-E50E1E22E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00" y="1330960"/>
                <a:ext cx="304800" cy="369332"/>
              </a:xfrm>
              <a:prstGeom prst="rect">
                <a:avLst/>
              </a:prstGeom>
              <a:blipFill>
                <a:blip r:embed="rId8"/>
                <a:stretch>
                  <a:fillRect r="-4000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F02D288-B08D-4C40-BCE2-1ED8D5194A46}"/>
              </a:ext>
            </a:extLst>
          </p:cNvPr>
          <p:cNvSpPr txBox="1"/>
          <p:nvPr/>
        </p:nvSpPr>
        <p:spPr>
          <a:xfrm>
            <a:off x="124691" y="3325091"/>
            <a:ext cx="8084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To calculate the normal components across the boundary, consider the small pill box 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105B616-3CEB-4BFC-B72E-2968C64CECC2}"/>
              </a:ext>
            </a:extLst>
          </p:cNvPr>
          <p:cNvSpPr/>
          <p:nvPr/>
        </p:nvSpPr>
        <p:spPr>
          <a:xfrm>
            <a:off x="7871792" y="2802835"/>
            <a:ext cx="844825" cy="12920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3D3D973-E2CA-40A0-ACED-030B8CC24E85}"/>
                  </a:ext>
                </a:extLst>
              </p:cNvPr>
              <p:cNvSpPr txBox="1"/>
              <p:nvPr/>
            </p:nvSpPr>
            <p:spPr>
              <a:xfrm>
                <a:off x="160623" y="3954610"/>
                <a:ext cx="4991548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Applying 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i="1" dirty="0">
                    <a:latin typeface="+mj-lt"/>
                  </a:rPr>
                  <a:t> </a:t>
                </a:r>
                <a:r>
                  <a:rPr lang="en-IN" dirty="0">
                    <a:latin typeface="+mj-lt"/>
                  </a:rPr>
                  <a:t>to the pill box</a:t>
                </a:r>
                <a:endParaRPr lang="en-IN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3D3D973-E2CA-40A0-ACED-030B8CC24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23" y="3954610"/>
                <a:ext cx="4991548" cy="413575"/>
              </a:xfrm>
              <a:prstGeom prst="rect">
                <a:avLst/>
              </a:prstGeom>
              <a:blipFill>
                <a:blip r:embed="rId17"/>
                <a:stretch>
                  <a:fillRect l="-977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CEE0D34-100E-4FA4-9546-EF4B9CF8AE8E}"/>
                  </a:ext>
                </a:extLst>
              </p:cNvPr>
              <p:cNvSpPr txBox="1"/>
              <p:nvPr/>
            </p:nvSpPr>
            <p:spPr>
              <a:xfrm>
                <a:off x="185106" y="4680813"/>
                <a:ext cx="10499463" cy="444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Now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  <m:r>
                      <a:rPr lang="en-IN" b="0" i="1" smtClean="0"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/>
                  <a:t> +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𝑜𝑡𝑡𝑜𝑚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/>
                  <a:t> +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𝑖𝑑𝑒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CEE0D34-100E-4FA4-9546-EF4B9CF8A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06" y="4680813"/>
                <a:ext cx="10499463" cy="444032"/>
              </a:xfrm>
              <a:prstGeom prst="rect">
                <a:avLst/>
              </a:prstGeom>
              <a:blipFill>
                <a:blip r:embed="rId18"/>
                <a:stretch>
                  <a:fillRect l="-464" t="-123288" b="-171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rapezoid 7">
            <a:extLst>
              <a:ext uri="{FF2B5EF4-FFF2-40B4-BE49-F238E27FC236}">
                <a16:creationId xmlns:a16="http://schemas.microsoft.com/office/drawing/2014/main" id="{F05789ED-B42F-4284-8D17-191B9EAC0AA0}"/>
              </a:ext>
            </a:extLst>
          </p:cNvPr>
          <p:cNvSpPr/>
          <p:nvPr/>
        </p:nvSpPr>
        <p:spPr>
          <a:xfrm>
            <a:off x="3071191" y="2498103"/>
            <a:ext cx="8863143" cy="105949"/>
          </a:xfrm>
          <a:custGeom>
            <a:avLst/>
            <a:gdLst>
              <a:gd name="connsiteX0" fmla="*/ 0 w 6146276"/>
              <a:gd name="connsiteY0" fmla="*/ 113122 h 113122"/>
              <a:gd name="connsiteX1" fmla="*/ 28281 w 6146276"/>
              <a:gd name="connsiteY1" fmla="*/ 0 h 113122"/>
              <a:gd name="connsiteX2" fmla="*/ 6117996 w 6146276"/>
              <a:gd name="connsiteY2" fmla="*/ 0 h 113122"/>
              <a:gd name="connsiteX3" fmla="*/ 6146276 w 6146276"/>
              <a:gd name="connsiteY3" fmla="*/ 113122 h 113122"/>
              <a:gd name="connsiteX4" fmla="*/ 0 w 6146276"/>
              <a:gd name="connsiteY4" fmla="*/ 113122 h 113122"/>
              <a:gd name="connsiteX0" fmla="*/ 0 w 6529734"/>
              <a:gd name="connsiteY0" fmla="*/ 113122 h 113122"/>
              <a:gd name="connsiteX1" fmla="*/ 411739 w 6529734"/>
              <a:gd name="connsiteY1" fmla="*/ 0 h 113122"/>
              <a:gd name="connsiteX2" fmla="*/ 6501454 w 6529734"/>
              <a:gd name="connsiteY2" fmla="*/ 0 h 113122"/>
              <a:gd name="connsiteX3" fmla="*/ 6529734 w 6529734"/>
              <a:gd name="connsiteY3" fmla="*/ 113122 h 113122"/>
              <a:gd name="connsiteX4" fmla="*/ 0 w 6529734"/>
              <a:gd name="connsiteY4" fmla="*/ 113122 h 113122"/>
              <a:gd name="connsiteX0" fmla="*/ 0 w 6501454"/>
              <a:gd name="connsiteY0" fmla="*/ 113122 h 113122"/>
              <a:gd name="connsiteX1" fmla="*/ 411739 w 6501454"/>
              <a:gd name="connsiteY1" fmla="*/ 0 h 113122"/>
              <a:gd name="connsiteX2" fmla="*/ 6501454 w 6501454"/>
              <a:gd name="connsiteY2" fmla="*/ 0 h 113122"/>
              <a:gd name="connsiteX3" fmla="*/ 5959463 w 6501454"/>
              <a:gd name="connsiteY3" fmla="*/ 113122 h 113122"/>
              <a:gd name="connsiteX4" fmla="*/ 0 w 6501454"/>
              <a:gd name="connsiteY4" fmla="*/ 113122 h 113122"/>
              <a:gd name="connsiteX0" fmla="*/ 0 w 6501454"/>
              <a:gd name="connsiteY0" fmla="*/ 113122 h 113122"/>
              <a:gd name="connsiteX1" fmla="*/ 411739 w 6501454"/>
              <a:gd name="connsiteY1" fmla="*/ 0 h 113122"/>
              <a:gd name="connsiteX2" fmla="*/ 6501454 w 6501454"/>
              <a:gd name="connsiteY2" fmla="*/ 0 h 113122"/>
              <a:gd name="connsiteX3" fmla="*/ 6047953 w 6501454"/>
              <a:gd name="connsiteY3" fmla="*/ 113122 h 113122"/>
              <a:gd name="connsiteX4" fmla="*/ 0 w 6501454"/>
              <a:gd name="connsiteY4" fmla="*/ 113122 h 11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01454" h="113122">
                <a:moveTo>
                  <a:pt x="0" y="113122"/>
                </a:moveTo>
                <a:lnTo>
                  <a:pt x="411739" y="0"/>
                </a:lnTo>
                <a:lnTo>
                  <a:pt x="6501454" y="0"/>
                </a:lnTo>
                <a:lnTo>
                  <a:pt x="6047953" y="113122"/>
                </a:lnTo>
                <a:lnTo>
                  <a:pt x="0" y="113122"/>
                </a:lnTo>
                <a:close/>
              </a:path>
            </a:pathLst>
          </a:cu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55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" grpId="0"/>
      <p:bldP spid="8" grpId="0"/>
      <p:bldP spid="10" grpId="0"/>
      <p:bldP spid="22" grpId="0"/>
      <p:bldP spid="25" grpId="0"/>
      <p:bldP spid="28" grpId="0"/>
      <p:bldP spid="29" grpId="0"/>
      <p:bldP spid="30" grpId="0"/>
      <p:bldP spid="32" grpId="0" animBg="1"/>
      <p:bldP spid="33" grpId="0"/>
      <p:bldP spid="37" grpId="0"/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2EA706-6633-4A13-B038-B7F012DFA26E}"/>
                  </a:ext>
                </a:extLst>
              </p:cNvPr>
              <p:cNvSpPr txBox="1"/>
              <p:nvPr/>
            </p:nvSpPr>
            <p:spPr>
              <a:xfrm>
                <a:off x="374073" y="394854"/>
                <a:ext cx="1383607" cy="444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/>
                  <a:t> =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2EA706-6633-4A13-B038-B7F012DFA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73" y="394854"/>
                <a:ext cx="1383607" cy="444032"/>
              </a:xfrm>
              <a:prstGeom prst="rect">
                <a:avLst/>
              </a:prstGeom>
              <a:blipFill>
                <a:blip r:embed="rId17"/>
                <a:stretch>
                  <a:fillRect l="-29515" t="-123288" b="-171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5633D4-C96E-49B8-9DF7-507BD20796AC}"/>
              </a:ext>
            </a:extLst>
          </p:cNvPr>
          <p:cNvCxnSpPr/>
          <p:nvPr/>
        </p:nvCxnSpPr>
        <p:spPr>
          <a:xfrm>
            <a:off x="10259114" y="1334814"/>
            <a:ext cx="816077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65EEB9-1332-4502-8421-0B3074CA7D13}"/>
                  </a:ext>
                </a:extLst>
              </p:cNvPr>
              <p:cNvSpPr txBox="1"/>
              <p:nvPr/>
            </p:nvSpPr>
            <p:spPr>
              <a:xfrm>
                <a:off x="11006365" y="1089007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65EEB9-1332-4502-8421-0B3074CA7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365" y="1089007"/>
                <a:ext cx="304800" cy="369332"/>
              </a:xfrm>
              <a:prstGeom prst="rect">
                <a:avLst/>
              </a:prstGeom>
              <a:blipFill>
                <a:blip r:embed="rId18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AF44F2-C7C4-4000-A559-FCF7395A204F}"/>
              </a:ext>
            </a:extLst>
          </p:cNvPr>
          <p:cNvCxnSpPr/>
          <p:nvPr/>
        </p:nvCxnSpPr>
        <p:spPr>
          <a:xfrm flipV="1">
            <a:off x="10264897" y="424000"/>
            <a:ext cx="0" cy="903642"/>
          </a:xfrm>
          <a:prstGeom prst="straightConnector1">
            <a:avLst/>
          </a:prstGeom>
          <a:ln w="15875">
            <a:solidFill>
              <a:schemeClr val="accent4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5B03F2-9DE3-4358-BECD-FEF9377E6371}"/>
                  </a:ext>
                </a:extLst>
              </p:cNvPr>
              <p:cNvSpPr txBox="1"/>
              <p:nvPr/>
            </p:nvSpPr>
            <p:spPr>
              <a:xfrm>
                <a:off x="7897205" y="708046"/>
                <a:ext cx="11741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5B03F2-9DE3-4358-BECD-FEF9377E6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205" y="708046"/>
                <a:ext cx="1174172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0EDB5B-534A-4408-9DEF-3B3EF1A85D47}"/>
                  </a:ext>
                </a:extLst>
              </p:cNvPr>
              <p:cNvSpPr txBox="1"/>
              <p:nvPr/>
            </p:nvSpPr>
            <p:spPr>
              <a:xfrm>
                <a:off x="9202545" y="1297767"/>
                <a:ext cx="6373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0EDB5B-534A-4408-9DEF-3B3EF1A85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2545" y="1297767"/>
                <a:ext cx="637309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48C1B2-3264-4B1A-BF60-4D0B49B2A4D7}"/>
              </a:ext>
            </a:extLst>
          </p:cNvPr>
          <p:cNvCxnSpPr>
            <a:cxnSpLocks/>
          </p:cNvCxnSpPr>
          <p:nvPr/>
        </p:nvCxnSpPr>
        <p:spPr>
          <a:xfrm>
            <a:off x="9483099" y="1523206"/>
            <a:ext cx="0" cy="245616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AE98D7-2EEF-4881-AB1C-9BAED3AD007C}"/>
              </a:ext>
            </a:extLst>
          </p:cNvPr>
          <p:cNvCxnSpPr>
            <a:cxnSpLocks/>
          </p:cNvCxnSpPr>
          <p:nvPr/>
        </p:nvCxnSpPr>
        <p:spPr>
          <a:xfrm flipV="1">
            <a:off x="9490780" y="1122779"/>
            <a:ext cx="0" cy="27167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FD48F1-3EFD-48FE-AB21-3E9D7E37C11D}"/>
                  </a:ext>
                </a:extLst>
              </p:cNvPr>
              <p:cNvSpPr txBox="1"/>
              <p:nvPr/>
            </p:nvSpPr>
            <p:spPr>
              <a:xfrm>
                <a:off x="10223062" y="227374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FD48F1-3EFD-48FE-AB21-3E9D7E37C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3062" y="227374"/>
                <a:ext cx="304800" cy="369332"/>
              </a:xfrm>
              <a:prstGeom prst="rect">
                <a:avLst/>
              </a:prstGeom>
              <a:blipFill>
                <a:blip r:embed="rId21"/>
                <a:stretch>
                  <a:fillRect r="-4000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ylinder 18">
            <a:extLst>
              <a:ext uri="{FF2B5EF4-FFF2-40B4-BE49-F238E27FC236}">
                <a16:creationId xmlns:a16="http://schemas.microsoft.com/office/drawing/2014/main" id="{5F161716-A42D-47F4-895B-9C250FA6DF58}"/>
              </a:ext>
            </a:extLst>
          </p:cNvPr>
          <p:cNvSpPr/>
          <p:nvPr/>
        </p:nvSpPr>
        <p:spPr>
          <a:xfrm>
            <a:off x="8229714" y="953814"/>
            <a:ext cx="864705" cy="904461"/>
          </a:xfrm>
          <a:prstGeom prst="can">
            <a:avLst/>
          </a:prstGeom>
          <a:solidFill>
            <a:schemeClr val="accent2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AE38EAB-DF68-4F33-8533-5B0A9CF6810E}"/>
              </a:ext>
            </a:extLst>
          </p:cNvPr>
          <p:cNvSpPr/>
          <p:nvPr/>
        </p:nvSpPr>
        <p:spPr>
          <a:xfrm>
            <a:off x="8239654" y="1699249"/>
            <a:ext cx="844825" cy="12920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0E0A7A2-9374-464A-B90A-064A20E5056A}"/>
              </a:ext>
            </a:extLst>
          </p:cNvPr>
          <p:cNvSpPr/>
          <p:nvPr/>
        </p:nvSpPr>
        <p:spPr>
          <a:xfrm>
            <a:off x="8701371" y="1036941"/>
            <a:ext cx="145473" cy="51955"/>
          </a:xfrm>
          <a:prstGeom prst="ellipse">
            <a:avLst/>
          </a:prstGeom>
          <a:solidFill>
            <a:schemeClr val="accent4">
              <a:lumMod val="60000"/>
              <a:lumOff val="40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D3F6A13-90A3-4721-97EF-E9AA6F11F3BE}"/>
              </a:ext>
            </a:extLst>
          </p:cNvPr>
          <p:cNvCxnSpPr>
            <a:cxnSpLocks/>
          </p:cNvCxnSpPr>
          <p:nvPr/>
        </p:nvCxnSpPr>
        <p:spPr>
          <a:xfrm flipH="1" flipV="1">
            <a:off x="8760022" y="603294"/>
            <a:ext cx="14086" cy="475442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FF1F1F-A9C7-4A21-AABD-972DD012D6B6}"/>
                  </a:ext>
                </a:extLst>
              </p:cNvPr>
              <p:cNvSpPr txBox="1"/>
              <p:nvPr/>
            </p:nvSpPr>
            <p:spPr>
              <a:xfrm>
                <a:off x="8749630" y="737452"/>
                <a:ext cx="12817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i="1" dirty="0">
                    <a:latin typeface="+mj-lt"/>
                  </a:rPr>
                  <a:t>ds = </a:t>
                </a:r>
                <a:r>
                  <a:rPr lang="en-IN" sz="1400" i="1" dirty="0">
                    <a:latin typeface="+mj-lt"/>
                  </a:rPr>
                  <a:t>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1400" b="1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sz="14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FF1F1F-A9C7-4A21-AABD-972DD012D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630" y="737452"/>
                <a:ext cx="1281777" cy="307777"/>
              </a:xfrm>
              <a:prstGeom prst="rect">
                <a:avLst/>
              </a:prstGeom>
              <a:blipFill>
                <a:blip r:embed="rId22"/>
                <a:stretch>
                  <a:fillRect l="-1422" t="-4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9ACCB60-6115-497B-9EF5-5B29345B2C04}"/>
                  </a:ext>
                </a:extLst>
              </p:cNvPr>
              <p:cNvSpPr txBox="1"/>
              <p:nvPr/>
            </p:nvSpPr>
            <p:spPr>
              <a:xfrm>
                <a:off x="1620981" y="374073"/>
                <a:ext cx="5985164" cy="444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b="1" dirty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+</m:t>
                        </m:r>
                        <m:r>
                          <m:rPr>
                            <m:nor/>
                          </m:rPr>
                          <a:rPr lang="en-IN" sz="2400" b="1" dirty="0"/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9ACCB60-6115-497B-9EF5-5B29345B2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981" y="374073"/>
                <a:ext cx="5985164" cy="444032"/>
              </a:xfrm>
              <a:prstGeom prst="rect">
                <a:avLst/>
              </a:prstGeom>
              <a:blipFill>
                <a:blip r:embed="rId23"/>
                <a:stretch>
                  <a:fillRect l="-6925" t="-123288" b="-171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1AAB23C-24A1-4083-92EF-1BC3978CFC64}"/>
                  </a:ext>
                </a:extLst>
              </p:cNvPr>
              <p:cNvSpPr txBox="1"/>
              <p:nvPr/>
            </p:nvSpPr>
            <p:spPr>
              <a:xfrm>
                <a:off x="1413164" y="1111827"/>
                <a:ext cx="1745672" cy="444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</m:nary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1AAB23C-24A1-4083-92EF-1BC3978CF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164" y="1111827"/>
                <a:ext cx="1745672" cy="444032"/>
              </a:xfrm>
              <a:prstGeom prst="rect">
                <a:avLst/>
              </a:prstGeom>
              <a:blipFill>
                <a:blip r:embed="rId24"/>
                <a:stretch>
                  <a:fillRect l="-13287" t="-123288" b="-1712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8DC462C-0C8E-4CAB-BA4B-10CB1E814936}"/>
                  </a:ext>
                </a:extLst>
              </p:cNvPr>
              <p:cNvSpPr txBox="1"/>
              <p:nvPr/>
            </p:nvSpPr>
            <p:spPr>
              <a:xfrm>
                <a:off x="2836718" y="1143000"/>
                <a:ext cx="3719945" cy="444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  <m:sup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</m:nary>
                  </m:oMath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8DC462C-0C8E-4CAB-BA4B-10CB1E814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718" y="1143000"/>
                <a:ext cx="3719945" cy="444032"/>
              </a:xfrm>
              <a:prstGeom prst="rect">
                <a:avLst/>
              </a:prstGeom>
              <a:blipFill>
                <a:blip r:embed="rId25"/>
                <a:stretch>
                  <a:fillRect t="-125000" b="-1736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0CDDA90-E3CC-4380-90D7-720F8DAC4769}"/>
                  </a:ext>
                </a:extLst>
              </p:cNvPr>
              <p:cNvSpPr txBox="1"/>
              <p:nvPr/>
            </p:nvSpPr>
            <p:spPr>
              <a:xfrm>
                <a:off x="2934303" y="1667064"/>
                <a:ext cx="24522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0CDDA90-E3CC-4380-90D7-720F8DAC4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303" y="1667064"/>
                <a:ext cx="2452254" cy="369332"/>
              </a:xfrm>
              <a:prstGeom prst="rect">
                <a:avLst/>
              </a:prstGeom>
              <a:blipFill>
                <a:blip r:embed="rId26"/>
                <a:stretch>
                  <a:fillRect l="-198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44D0D13-9327-41CB-82E9-E5E616BA47A6}"/>
                  </a:ext>
                </a:extLst>
              </p:cNvPr>
              <p:cNvSpPr txBox="1"/>
              <p:nvPr/>
            </p:nvSpPr>
            <p:spPr>
              <a:xfrm>
                <a:off x="318052" y="2733261"/>
                <a:ext cx="9855962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𝑏𝑜𝑡𝑡𝑜𝑚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𝑏𝑜𝑡𝑡𝑜𝑚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b="1" dirty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+</m:t>
                        </m:r>
                        <m:r>
                          <m:rPr>
                            <m:nor/>
                          </m:rPr>
                          <a:rPr lang="en-IN" sz="2400" b="1" dirty="0"/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).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</m:nary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𝑏𝑜𝑡</m:t>
                        </m:r>
                        <m:r>
                          <m:rPr>
                            <m:brk m:alnAt="23"/>
                          </m:rP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</m:nary>
                  </m:oMath>
                </a14:m>
                <a:r>
                  <a:rPr lang="en-IN" b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𝑏𝑜𝑡</m:t>
                        </m:r>
                        <m:r>
                          <m:rPr>
                            <m:brk m:alnAt="23"/>
                          </m:rP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</m:nary>
                  </m:oMath>
                </a14:m>
                <a:r>
                  <a:rPr lang="en-IN" b="1" dirty="0"/>
                  <a:t> 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(-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dirty="0"/>
                  <a:t> )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44D0D13-9327-41CB-82E9-E5E616BA4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52" y="2733261"/>
                <a:ext cx="9855962" cy="413575"/>
              </a:xfrm>
              <a:prstGeom prst="rect">
                <a:avLst/>
              </a:prstGeom>
              <a:blipFill>
                <a:blip r:embed="rId28"/>
                <a:stretch>
                  <a:fillRect l="-4143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EA80FF-266A-42D5-A346-1346DA837753}"/>
                  </a:ext>
                </a:extLst>
              </p:cNvPr>
              <p:cNvSpPr txBox="1"/>
              <p:nvPr/>
            </p:nvSpPr>
            <p:spPr>
              <a:xfrm>
                <a:off x="377687" y="3617844"/>
                <a:ext cx="5436704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𝑠𝑖𝑑𝑒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0   (since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I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>
                    <a:latin typeface="+mj-lt"/>
                  </a:rPr>
                  <a:t> 0 )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EA80FF-266A-42D5-A346-1346DA837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87" y="3617844"/>
                <a:ext cx="5436704" cy="413511"/>
              </a:xfrm>
              <a:prstGeom prst="rect">
                <a:avLst/>
              </a:prstGeom>
              <a:blipFill>
                <a:blip r:embed="rId29"/>
                <a:stretch>
                  <a:fillRect l="-7623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3E749E-3142-4B7F-9253-B386C3603806}"/>
                  </a:ext>
                </a:extLst>
              </p:cNvPr>
              <p:cNvSpPr txBox="1"/>
              <p:nvPr/>
            </p:nvSpPr>
            <p:spPr>
              <a:xfrm>
                <a:off x="397565" y="4449303"/>
                <a:ext cx="6500192" cy="413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(LHS)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8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nary>
                  </m:oMath>
                </a14:m>
                <a:r>
                  <a:rPr lang="en-I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dirty="0">
                    <a:latin typeface="+mj-lt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dirty="0"/>
                  <a:t> = 0 (RHS)</a:t>
                </a:r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3E749E-3142-4B7F-9253-B386C3603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4449303"/>
                <a:ext cx="6500192" cy="413575"/>
              </a:xfrm>
              <a:prstGeom prst="rect">
                <a:avLst/>
              </a:prstGeom>
              <a:blipFill>
                <a:blip r:embed="rId30"/>
                <a:stretch>
                  <a:fillRect l="-750" t="-132353" b="-19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F59E4B9-9496-4C9E-A8D4-CACA80DF2554}"/>
                  </a:ext>
                </a:extLst>
              </p:cNvPr>
              <p:cNvSpPr txBox="1"/>
              <p:nvPr/>
            </p:nvSpPr>
            <p:spPr>
              <a:xfrm>
                <a:off x="456628" y="5129962"/>
                <a:ext cx="99391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  <a:latin typeface="+mj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</a:t>
                </a:r>
                <a:r>
                  <a:rPr lang="en-IN" dirty="0">
                    <a:latin typeface="+mj-lt"/>
                  </a:rPr>
                  <a:t>: Normal components of </a:t>
                </a:r>
                <a:r>
                  <a:rPr lang="en-IN" b="1" dirty="0">
                    <a:latin typeface="+mj-lt"/>
                  </a:rPr>
                  <a:t>B  </a:t>
                </a:r>
                <a:r>
                  <a:rPr lang="en-IN" dirty="0">
                    <a:latin typeface="+mj-lt"/>
                  </a:rPr>
                  <a:t>are continuous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F59E4B9-9496-4C9E-A8D4-CACA80DF2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28" y="5129962"/>
                <a:ext cx="9939131" cy="369332"/>
              </a:xfrm>
              <a:prstGeom prst="rect">
                <a:avLst/>
              </a:prstGeom>
              <a:blipFill>
                <a:blip r:embed="rId3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rapezoid 7">
            <a:extLst>
              <a:ext uri="{FF2B5EF4-FFF2-40B4-BE49-F238E27FC236}">
                <a16:creationId xmlns:a16="http://schemas.microsoft.com/office/drawing/2014/main" id="{2C11A2F6-54AF-4597-8865-C9968B627AC9}"/>
              </a:ext>
            </a:extLst>
          </p:cNvPr>
          <p:cNvSpPr/>
          <p:nvPr/>
        </p:nvSpPr>
        <p:spPr>
          <a:xfrm>
            <a:off x="6675144" y="1394518"/>
            <a:ext cx="4197927" cy="99623"/>
          </a:xfrm>
          <a:custGeom>
            <a:avLst/>
            <a:gdLst>
              <a:gd name="connsiteX0" fmla="*/ 0 w 6146276"/>
              <a:gd name="connsiteY0" fmla="*/ 113122 h 113122"/>
              <a:gd name="connsiteX1" fmla="*/ 28281 w 6146276"/>
              <a:gd name="connsiteY1" fmla="*/ 0 h 113122"/>
              <a:gd name="connsiteX2" fmla="*/ 6117996 w 6146276"/>
              <a:gd name="connsiteY2" fmla="*/ 0 h 113122"/>
              <a:gd name="connsiteX3" fmla="*/ 6146276 w 6146276"/>
              <a:gd name="connsiteY3" fmla="*/ 113122 h 113122"/>
              <a:gd name="connsiteX4" fmla="*/ 0 w 6146276"/>
              <a:gd name="connsiteY4" fmla="*/ 113122 h 113122"/>
              <a:gd name="connsiteX0" fmla="*/ 0 w 6529734"/>
              <a:gd name="connsiteY0" fmla="*/ 113122 h 113122"/>
              <a:gd name="connsiteX1" fmla="*/ 411739 w 6529734"/>
              <a:gd name="connsiteY1" fmla="*/ 0 h 113122"/>
              <a:gd name="connsiteX2" fmla="*/ 6501454 w 6529734"/>
              <a:gd name="connsiteY2" fmla="*/ 0 h 113122"/>
              <a:gd name="connsiteX3" fmla="*/ 6529734 w 6529734"/>
              <a:gd name="connsiteY3" fmla="*/ 113122 h 113122"/>
              <a:gd name="connsiteX4" fmla="*/ 0 w 6529734"/>
              <a:gd name="connsiteY4" fmla="*/ 113122 h 113122"/>
              <a:gd name="connsiteX0" fmla="*/ 0 w 6501454"/>
              <a:gd name="connsiteY0" fmla="*/ 113122 h 113122"/>
              <a:gd name="connsiteX1" fmla="*/ 411739 w 6501454"/>
              <a:gd name="connsiteY1" fmla="*/ 0 h 113122"/>
              <a:gd name="connsiteX2" fmla="*/ 6501454 w 6501454"/>
              <a:gd name="connsiteY2" fmla="*/ 0 h 113122"/>
              <a:gd name="connsiteX3" fmla="*/ 5959463 w 6501454"/>
              <a:gd name="connsiteY3" fmla="*/ 113122 h 113122"/>
              <a:gd name="connsiteX4" fmla="*/ 0 w 6501454"/>
              <a:gd name="connsiteY4" fmla="*/ 113122 h 113122"/>
              <a:gd name="connsiteX0" fmla="*/ 0 w 6501454"/>
              <a:gd name="connsiteY0" fmla="*/ 113122 h 113122"/>
              <a:gd name="connsiteX1" fmla="*/ 411739 w 6501454"/>
              <a:gd name="connsiteY1" fmla="*/ 0 h 113122"/>
              <a:gd name="connsiteX2" fmla="*/ 6501454 w 6501454"/>
              <a:gd name="connsiteY2" fmla="*/ 0 h 113122"/>
              <a:gd name="connsiteX3" fmla="*/ 6047953 w 6501454"/>
              <a:gd name="connsiteY3" fmla="*/ 113122 h 113122"/>
              <a:gd name="connsiteX4" fmla="*/ 0 w 6501454"/>
              <a:gd name="connsiteY4" fmla="*/ 113122 h 11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01454" h="113122">
                <a:moveTo>
                  <a:pt x="0" y="113122"/>
                </a:moveTo>
                <a:lnTo>
                  <a:pt x="411739" y="0"/>
                </a:lnTo>
                <a:lnTo>
                  <a:pt x="6501454" y="0"/>
                </a:lnTo>
                <a:lnTo>
                  <a:pt x="6047953" y="113122"/>
                </a:lnTo>
                <a:lnTo>
                  <a:pt x="0" y="113122"/>
                </a:lnTo>
                <a:close/>
              </a:path>
            </a:pathLst>
          </a:cu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734992-526D-4FD5-822B-5AD98C5A5A14}"/>
                  </a:ext>
                </a:extLst>
              </p:cNvPr>
              <p:cNvSpPr txBox="1"/>
              <p:nvPr/>
            </p:nvSpPr>
            <p:spPr>
              <a:xfrm>
                <a:off x="409332" y="5744817"/>
                <a:ext cx="9939131" cy="518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>
                    <a:solidFill>
                      <a:srgbClr val="C00000"/>
                    </a:solidFill>
                    <a:latin typeface="+mj-lt"/>
                  </a:rPr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+mj-lt"/>
                  </a:rPr>
                  <a:t>   :  Normal components of </a:t>
                </a:r>
                <a:r>
                  <a:rPr lang="en-IN" b="1" dirty="0">
                    <a:latin typeface="+mj-lt"/>
                  </a:rPr>
                  <a:t>H </a:t>
                </a:r>
                <a:r>
                  <a:rPr lang="en-IN" dirty="0">
                    <a:latin typeface="+mj-lt"/>
                  </a:rPr>
                  <a:t>field  are not continuous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734992-526D-4FD5-822B-5AD98C5A5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32" y="5744817"/>
                <a:ext cx="9939131" cy="518475"/>
              </a:xfrm>
              <a:prstGeom prst="rect">
                <a:avLst/>
              </a:prstGeom>
              <a:blipFill>
                <a:blip r:embed="rId33"/>
                <a:stretch>
                  <a:fillRect b="-23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40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3" grpId="0"/>
      <p:bldP spid="14" grpId="0"/>
      <p:bldP spid="18" grpId="0"/>
      <p:bldP spid="19" grpId="0" animBg="1"/>
      <p:bldP spid="20" grpId="0" animBg="1"/>
      <p:bldP spid="22" grpId="0" animBg="1"/>
      <p:bldP spid="25" grpId="0"/>
      <p:bldP spid="26" grpId="0"/>
      <p:bldP spid="27" grpId="0"/>
      <p:bldP spid="28" grpId="0"/>
      <p:bldP spid="29" grpId="0"/>
      <p:bldP spid="31" grpId="0"/>
      <p:bldP spid="32" grpId="0"/>
      <p:bldP spid="33" grpId="0"/>
      <p:bldP spid="34" grpId="0"/>
      <p:bldP spid="4" grpId="0" animBg="1"/>
      <p:bldP spid="3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 Font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7144</TotalTime>
  <Words>2133</Words>
  <Application>Microsoft Office PowerPoint</Application>
  <PresentationFormat>Widescreen</PresentationFormat>
  <Paragraphs>370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Cambria Math</vt:lpstr>
      <vt:lpstr>Times New Roman</vt:lpstr>
      <vt:lpstr>Wingdings</vt:lpstr>
      <vt:lpstr>Office Theme</vt:lpstr>
      <vt:lpstr>MAGNETOSTATICS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Venkata Narayana M</dc:creator>
  <cp:lastModifiedBy>Director-CRT</cp:lastModifiedBy>
  <cp:revision>171</cp:revision>
  <dcterms:created xsi:type="dcterms:W3CDTF">2021-02-09T07:32:41Z</dcterms:created>
  <dcterms:modified xsi:type="dcterms:W3CDTF">2025-02-17T09:24:28Z</dcterms:modified>
</cp:coreProperties>
</file>