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9" r:id="rId2"/>
    <p:sldId id="270" r:id="rId3"/>
    <p:sldId id="271" r:id="rId4"/>
    <p:sldId id="272" r:id="rId5"/>
    <p:sldId id="273" r:id="rId6"/>
    <p:sldId id="295" r:id="rId7"/>
    <p:sldId id="296" r:id="rId8"/>
    <p:sldId id="274" r:id="rId9"/>
    <p:sldId id="275" r:id="rId10"/>
    <p:sldId id="276" r:id="rId11"/>
    <p:sldId id="277" r:id="rId12"/>
    <p:sldId id="278" r:id="rId13"/>
    <p:sldId id="279" r:id="rId14"/>
    <p:sldId id="297" r:id="rId15"/>
    <p:sldId id="280" r:id="rId16"/>
    <p:sldId id="281" r:id="rId17"/>
    <p:sldId id="294" r:id="rId18"/>
    <p:sldId id="289" r:id="rId19"/>
    <p:sldId id="290" r:id="rId20"/>
    <p:sldId id="291" r:id="rId21"/>
    <p:sldId id="2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B3"/>
    <a:srgbClr val="FFEDB3"/>
    <a:srgbClr val="FFFCD5"/>
    <a:srgbClr val="FFED09"/>
    <a:srgbClr val="34E52B"/>
    <a:srgbClr val="3C1DF3"/>
    <a:srgbClr val="FFDF1D"/>
    <a:srgbClr val="FF0000"/>
    <a:srgbClr val="FF2525"/>
    <a:srgbClr val="333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6" autoAdjust="0"/>
    <p:restoredTop sz="94660"/>
  </p:normalViewPr>
  <p:slideViewPr>
    <p:cSldViewPr snapToGrid="0">
      <p:cViewPr>
        <p:scale>
          <a:sx n="78" d="100"/>
          <a:sy n="78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C3F88-3962-4514-A289-933BCE2E739B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84CCC-86D1-4688-A961-693905B0C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11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84CCC-86D1-4688-A961-693905B0CC8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377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84CCC-86D1-4688-A961-693905B0CC8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0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D775-E152-48F9-9C69-B6E14D924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88B8F-7548-416E-81D8-E542C533A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E1C2A-045A-4156-8F98-601CFC5A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79D14-FB3E-46D8-B180-3F35B583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ACEC8-9656-4563-899C-B4C9F317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4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D029-1395-40DF-A570-9C49247F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6DF55-FC56-46EC-A430-E727E77F3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27F2F-F309-44DA-BFA6-51F27441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F6D4E-5FB2-4D4F-829E-C2CF7759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85A0A-FF5A-4791-9BF1-FB0DEEBD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88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9F70-A948-4DBF-8046-DC760D03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841BD-8D40-45EA-9684-FCF57B883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0D814-E96C-426E-853D-4D274D7D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396A6-4E9D-4C3C-A07D-2EC1A445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FBD43-72E8-46DB-B876-854F26DE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2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2C65-2A85-4ABD-B788-408FD999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D1537-62DF-4941-83CA-7C9910AA5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981A3-908A-4847-A15F-513E025DA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75FB6-FE80-4716-BB5D-3D37D07F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987B1-86B5-459A-B9CF-CF838650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F7D1D-A658-4B0B-BAFD-68169F80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9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22C5-8BA3-4D3E-9B99-CC2B4BE1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19B24-B31B-4000-A164-29558A7A8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B566D-7C3D-4CB4-8730-DC81D4AB4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58958-6244-48DD-8B9F-C3C17A0FA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F725A-D67C-4481-90EE-B2C37E19C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11DEC-2330-44CB-B5B8-F6C93B35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5FABA-44F8-4A37-B134-14C5EE35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386AA-5F7C-4A1A-8049-BAF51D31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88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D266-9C2F-4182-8E55-70CDFE81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96E10E-BBAF-4ADE-BC24-AC47DB76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8D298-5993-4BDA-A82B-70A000D5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362B1-3989-45FA-9503-F0F404B5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6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E6935-0715-417C-8154-9B8A4385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2B8C1-CDB9-4316-B27B-1660A5AE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C1829-6934-4EF9-B826-BA204FD9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6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55C8-AFEC-4799-BE2E-DBFB9439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742A-1737-4A98-A766-8C4CB1BFD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04211-618C-403E-9C10-3CE7EC684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EADFD-38F2-43F0-9873-254A0BCE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685B2-190A-4464-92BD-628AA3A77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D9D19-3CE0-46BC-BDA0-956CF67A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7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756D-515C-4ECA-A037-761E1BE6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434F4-F439-4E84-A42A-F694EE362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71F52-C954-4CCE-904B-618637B3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9870C-8C94-48A5-A8FA-ACCB7D26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B2C59-EE76-46C5-BF70-63525765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A964-C832-4F93-BDE9-B6971482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13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C019-1190-45E9-901C-EB9C581F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6FB52-38CD-4758-B881-141D136B7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C2A97-F9B1-46C9-B268-737B9257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B5EBF-45B9-4A63-999E-DE71792E4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E30E8-9BFD-4E74-AF6D-6CA9C7DB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19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037D1-05DF-4C34-AE12-97AE2255C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BE660-E4E1-4040-AAF8-8A281A3B7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16C4-9B7B-4DFE-9C24-66E924F2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AE018-E5EA-4F44-8F2A-B6EEBC53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8027-64A2-47D7-86AF-46685760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8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472B3-E06A-4064-A14A-91F96E79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68753-C4D8-4D2A-B76F-834C781F6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7B426-71BE-4DBE-AAA1-B7FA2D082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69E5D-3191-47D5-91EC-190CB7C0A0D2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EE56-8730-4A8A-A40C-9A4B99367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1826-0BBF-4C00-80FB-662FAFDF9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32E14-954D-45C5-A266-2D08778273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63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lectrostatics and Electric Charge | Definition, Examples, Diagrams">
            <a:extLst>
              <a:ext uri="{FF2B5EF4-FFF2-40B4-BE49-F238E27FC236}">
                <a16:creationId xmlns:a16="http://schemas.microsoft.com/office/drawing/2014/main" id="{FF369CDA-6651-4892-857B-7D0A9F9CE7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25" r="9090" b="-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C6405-27D9-4B54-B6F9-149E97D114B9}"/>
              </a:ext>
            </a:extLst>
          </p:cNvPr>
          <p:cNvSpPr txBox="1"/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latin typeface="+mj-lt"/>
                <a:ea typeface="+mj-ea"/>
                <a:cs typeface="+mj-cs"/>
              </a:rPr>
              <a:t>ELECTROSTATICS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2F6F2-9F71-42B2-8949-76135B54330C}"/>
              </a:ext>
            </a:extLst>
          </p:cNvPr>
          <p:cNvSpPr txBox="1"/>
          <p:nvPr/>
        </p:nvSpPr>
        <p:spPr>
          <a:xfrm>
            <a:off x="739083" y="2483878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Study of Electric Charges at rest</a:t>
            </a:r>
          </a:p>
        </p:txBody>
      </p:sp>
    </p:spTree>
    <p:extLst>
      <p:ext uri="{BB962C8B-B14F-4D97-AF65-F5344CB8AC3E}">
        <p14:creationId xmlns:p14="http://schemas.microsoft.com/office/powerpoint/2010/main" val="3203601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F52204-7B5C-46DC-A5E9-D7F106E547DF}"/>
              </a:ext>
            </a:extLst>
          </p:cNvPr>
          <p:cNvSpPr txBox="1"/>
          <p:nvPr/>
        </p:nvSpPr>
        <p:spPr>
          <a:xfrm>
            <a:off x="289932" y="345688"/>
            <a:ext cx="8118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COULOMB’S LAW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64F48-E2D5-48E8-B76F-62474B191EC6}"/>
              </a:ext>
            </a:extLst>
          </p:cNvPr>
          <p:cNvSpPr txBox="1"/>
          <p:nvPr/>
        </p:nvSpPr>
        <p:spPr>
          <a:xfrm>
            <a:off x="312234" y="936702"/>
            <a:ext cx="11563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Force between two small objects separated in free space by a distance which is large compared to their size is proportional to the charge on each and inversely proportional to square of the distance between them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E678494-61A4-4124-B27C-D69D199C594E}"/>
              </a:ext>
            </a:extLst>
          </p:cNvPr>
          <p:cNvSpPr/>
          <p:nvPr/>
        </p:nvSpPr>
        <p:spPr>
          <a:xfrm>
            <a:off x="423746" y="2966224"/>
            <a:ext cx="769434" cy="769434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i="1" dirty="0">
                <a:solidFill>
                  <a:schemeClr val="bg1"/>
                </a:solidFill>
              </a:rPr>
              <a:t>Q</a:t>
            </a:r>
            <a:r>
              <a:rPr lang="en-IN" sz="2000" i="1" baseline="-25000" dirty="0">
                <a:solidFill>
                  <a:schemeClr val="bg1"/>
                </a:solidFill>
              </a:rPr>
              <a:t>1</a:t>
            </a:r>
            <a:endParaRPr lang="en-IN" sz="1400" i="1" baseline="-25000" dirty="0">
              <a:solidFill>
                <a:schemeClr val="bg1"/>
              </a:solidFill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8CEB704-3E30-44B6-9FCA-D9994D6E7E2D}"/>
              </a:ext>
            </a:extLst>
          </p:cNvPr>
          <p:cNvSpPr/>
          <p:nvPr/>
        </p:nvSpPr>
        <p:spPr>
          <a:xfrm>
            <a:off x="5081240" y="2962508"/>
            <a:ext cx="769434" cy="769434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i="1" dirty="0">
                <a:solidFill>
                  <a:schemeClr val="bg1"/>
                </a:solidFill>
              </a:rPr>
              <a:t>Q</a:t>
            </a:r>
            <a:r>
              <a:rPr lang="en-IN" sz="1800" i="1" baseline="-25000" dirty="0">
                <a:solidFill>
                  <a:schemeClr val="bg1"/>
                </a:solidFill>
              </a:rPr>
              <a:t>2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22F5D9-9A5E-431F-8632-05295B900393}"/>
              </a:ext>
            </a:extLst>
          </p:cNvPr>
          <p:cNvCxnSpPr/>
          <p:nvPr/>
        </p:nvCxnSpPr>
        <p:spPr>
          <a:xfrm>
            <a:off x="780585" y="3858322"/>
            <a:ext cx="4739269" cy="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5453B28-D88E-49F0-85A8-272621D8D123}"/>
              </a:ext>
            </a:extLst>
          </p:cNvPr>
          <p:cNvSpPr txBox="1"/>
          <p:nvPr/>
        </p:nvSpPr>
        <p:spPr>
          <a:xfrm>
            <a:off x="2955074" y="3479181"/>
            <a:ext cx="702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/>
              <a:t>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82490-7153-41A9-89FB-F97C684315E7}"/>
              </a:ext>
            </a:extLst>
          </p:cNvPr>
          <p:cNvSpPr txBox="1"/>
          <p:nvPr/>
        </p:nvSpPr>
        <p:spPr>
          <a:xfrm>
            <a:off x="6657278" y="2285999"/>
            <a:ext cx="3791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Magnitude of the Force,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10E85C-AA53-476A-B51F-EEB474D519CA}"/>
                  </a:ext>
                </a:extLst>
              </p:cNvPr>
              <p:cNvSpPr txBox="1"/>
              <p:nvPr/>
            </p:nvSpPr>
            <p:spPr>
              <a:xfrm>
                <a:off x="7393259" y="2966224"/>
                <a:ext cx="814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/>
                  <a:t>F 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endParaRPr lang="en-IN" sz="2400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10E85C-AA53-476A-B51F-EEB474D5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259" y="2966224"/>
                <a:ext cx="814040" cy="461665"/>
              </a:xfrm>
              <a:prstGeom prst="rect">
                <a:avLst/>
              </a:prstGeom>
              <a:blipFill>
                <a:blip r:embed="rId2"/>
                <a:stretch>
                  <a:fillRect l="-12030" t="-10667"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7ECBF5-D2A2-4371-9785-D6C15BBBD468}"/>
                  </a:ext>
                </a:extLst>
              </p:cNvPr>
              <p:cNvSpPr txBox="1"/>
              <p:nvPr/>
            </p:nvSpPr>
            <p:spPr>
              <a:xfrm>
                <a:off x="7961971" y="2932770"/>
                <a:ext cx="1204332" cy="796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2 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7ECBF5-D2A2-4371-9785-D6C15BBBD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971" y="2932770"/>
                <a:ext cx="1204332" cy="796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05FDF1-F345-4993-9FA4-B0631319E2CE}"/>
                  </a:ext>
                </a:extLst>
              </p:cNvPr>
              <p:cNvSpPr txBox="1"/>
              <p:nvPr/>
            </p:nvSpPr>
            <p:spPr>
              <a:xfrm>
                <a:off x="7501054" y="4133384"/>
                <a:ext cx="814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/>
                  <a:t>F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IN" sz="24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05FDF1-F345-4993-9FA4-B0631319E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054" y="4133384"/>
                <a:ext cx="814040" cy="461665"/>
              </a:xfrm>
              <a:prstGeom prst="rect">
                <a:avLst/>
              </a:prstGeom>
              <a:blipFill>
                <a:blip r:embed="rId4"/>
                <a:stretch>
                  <a:fillRect l="-11194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A07200-0026-4E27-B7C4-242398AF8BDF}"/>
                  </a:ext>
                </a:extLst>
              </p:cNvPr>
              <p:cNvSpPr txBox="1"/>
              <p:nvPr/>
            </p:nvSpPr>
            <p:spPr>
              <a:xfrm>
                <a:off x="8203580" y="4077630"/>
                <a:ext cx="1204332" cy="720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K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IN" i="1" dirty="0"/>
                          <m:t> </m:t>
                        </m:r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2 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A07200-0026-4E27-B7C4-242398AF8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580" y="4077630"/>
                <a:ext cx="1204332" cy="720325"/>
              </a:xfrm>
              <a:prstGeom prst="rect">
                <a:avLst/>
              </a:prstGeom>
              <a:blipFill>
                <a:blip r:embed="rId5"/>
                <a:stretch>
                  <a:fillRect l="-4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F13BE4A-7E36-4794-A4E9-D287B609C4E5}"/>
              </a:ext>
            </a:extLst>
          </p:cNvPr>
          <p:cNvSpPr txBox="1"/>
          <p:nvPr/>
        </p:nvSpPr>
        <p:spPr>
          <a:xfrm>
            <a:off x="4512527" y="5516136"/>
            <a:ext cx="3791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Proportionality constant, </a:t>
            </a:r>
            <a:r>
              <a:rPr lang="en-IN" sz="2400" i="1" dirty="0"/>
              <a:t>K </a:t>
            </a:r>
            <a:r>
              <a:rPr lang="en-IN" sz="2400" dirty="0"/>
              <a:t>=</a:t>
            </a:r>
            <a:r>
              <a:rPr lang="en-IN" sz="2400" i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769A69-B76B-4AC1-839F-291DCD19E939}"/>
                  </a:ext>
                </a:extLst>
              </p:cNvPr>
              <p:cNvSpPr txBox="1"/>
              <p:nvPr/>
            </p:nvSpPr>
            <p:spPr>
              <a:xfrm>
                <a:off x="8114370" y="5337719"/>
                <a:ext cx="1204332" cy="875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sz="2000" i="1" baseline="-25000" dirty="0"/>
                            <m:t> 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sz="20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IN" sz="2000" i="1" baseline="-25000" dirty="0"/>
              </a:p>
              <a:p>
                <a:endParaRPr lang="en-IN" sz="2000" i="1" baseline="-25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769A69-B76B-4AC1-839F-291DCD19E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370" y="5337719"/>
                <a:ext cx="1204332" cy="8757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42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 animBg="1"/>
      <p:bldP spid="10" grpId="0" animBg="1"/>
      <p:bldP spid="17" grpId="0"/>
      <p:bldP spid="18" grpId="0"/>
      <p:bldP spid="19" grpId="0"/>
      <p:bldP spid="20" grpId="0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D5152-923D-4C00-A1CF-9B0E13FA367F}"/>
              </a:ext>
            </a:extLst>
          </p:cNvPr>
          <p:cNvSpPr txBox="1"/>
          <p:nvPr/>
        </p:nvSpPr>
        <p:spPr>
          <a:xfrm>
            <a:off x="476715" y="233504"/>
            <a:ext cx="2188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27B58-ADF7-42EA-B675-43CFCE49E29B}"/>
                  </a:ext>
                </a:extLst>
              </p:cNvPr>
              <p:cNvSpPr txBox="1"/>
              <p:nvPr/>
            </p:nvSpPr>
            <p:spPr>
              <a:xfrm>
                <a:off x="493442" y="813368"/>
                <a:ext cx="60941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as the </a:t>
                </a:r>
                <a:r>
                  <a:rPr lang="en-I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permittivity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free space</a:t>
                </a:r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27B58-ADF7-42EA-B675-43CFCE49E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42" y="813368"/>
                <a:ext cx="6094140" cy="461665"/>
              </a:xfrm>
              <a:prstGeom prst="rect">
                <a:avLst/>
              </a:prstGeom>
              <a:blipFill>
                <a:blip r:embed="rId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10E04-E76E-446D-A68E-455D7D51300A}"/>
                  </a:ext>
                </a:extLst>
              </p:cNvPr>
              <p:cNvSpPr txBox="1"/>
              <p:nvPr/>
            </p:nvSpPr>
            <p:spPr>
              <a:xfrm>
                <a:off x="3099111" y="2047436"/>
                <a:ext cx="9153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400" dirty="0"/>
                  <a:t> =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10E04-E76E-446D-A68E-455D7D513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111" y="2047436"/>
                <a:ext cx="915329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2B1F28-86F9-4F5C-A52B-29F54D48CFB6}"/>
                  </a:ext>
                </a:extLst>
              </p:cNvPr>
              <p:cNvSpPr txBox="1"/>
              <p:nvPr/>
            </p:nvSpPr>
            <p:spPr>
              <a:xfrm>
                <a:off x="3824871" y="2051824"/>
                <a:ext cx="26985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8.854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sz="2400" dirty="0"/>
                  <a:t> 10 </a:t>
                </a:r>
                <a:r>
                  <a:rPr lang="en-IN" sz="2400" baseline="30000" dirty="0"/>
                  <a:t>-12</a:t>
                </a:r>
                <a:r>
                  <a:rPr lang="en-IN" sz="2400" dirty="0"/>
                  <a:t> F/m</a:t>
                </a:r>
                <a:endParaRPr lang="en-IN" sz="2400" baseline="30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2B1F28-86F9-4F5C-A52B-29F54D48C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871" y="2051824"/>
                <a:ext cx="2698593" cy="461665"/>
              </a:xfrm>
              <a:prstGeom prst="rect">
                <a:avLst/>
              </a:prstGeom>
              <a:blipFill>
                <a:blip r:embed="rId4"/>
                <a:stretch>
                  <a:fillRect l="-3386" t="-10667"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C30871-281E-4DD0-83E9-0579C4D71E3E}"/>
                  </a:ext>
                </a:extLst>
              </p:cNvPr>
              <p:cNvSpPr txBox="1"/>
              <p:nvPr/>
            </p:nvSpPr>
            <p:spPr>
              <a:xfrm>
                <a:off x="6270704" y="2036957"/>
                <a:ext cx="2237676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I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IN" sz="2400" dirty="0"/>
                  <a:t> 10 </a:t>
                </a:r>
                <a:r>
                  <a:rPr lang="en-IN" sz="2400" baseline="30000" dirty="0"/>
                  <a:t>-9</a:t>
                </a:r>
                <a:r>
                  <a:rPr lang="en-IN" sz="2400" dirty="0"/>
                  <a:t> F/m</a:t>
                </a:r>
                <a:endParaRPr lang="en-IN" sz="2400" baseline="30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C30871-281E-4DD0-83E9-0579C4D71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704" y="2036957"/>
                <a:ext cx="2237676" cy="613886"/>
              </a:xfrm>
              <a:prstGeom prst="rect">
                <a:avLst/>
              </a:prstGeom>
              <a:blipFill>
                <a:blip r:embed="rId5"/>
                <a:stretch>
                  <a:fillRect l="-4360" r="-1090" b="-89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E199AA-2B2F-42E3-BB2B-F934E4CB73B3}"/>
                  </a:ext>
                </a:extLst>
              </p:cNvPr>
              <p:cNvSpPr txBox="1"/>
              <p:nvPr/>
            </p:nvSpPr>
            <p:spPr>
              <a:xfrm>
                <a:off x="958080" y="3028745"/>
                <a:ext cx="25322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0" dirty="0"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dimensions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400" dirty="0"/>
                  <a:t> :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E199AA-2B2F-42E3-BB2B-F934E4CB7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80" y="3028745"/>
                <a:ext cx="2532255" cy="461665"/>
              </a:xfrm>
              <a:prstGeom prst="rect">
                <a:avLst/>
              </a:prstGeom>
              <a:blipFill>
                <a:blip r:embed="rId6"/>
                <a:stretch>
                  <a:fillRect l="-721" t="-10526" r="-4087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46AA36-0507-4099-9957-C6C3B60C4E3E}"/>
                  </a:ext>
                </a:extLst>
              </p:cNvPr>
              <p:cNvSpPr txBox="1"/>
              <p:nvPr/>
            </p:nvSpPr>
            <p:spPr>
              <a:xfrm>
                <a:off x="3468029" y="2932772"/>
                <a:ext cx="1137425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46AA36-0507-4099-9957-C6C3B60C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029" y="2932772"/>
                <a:ext cx="1137425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9B629F4-F455-443B-8A03-860367E91A7D}"/>
              </a:ext>
            </a:extLst>
          </p:cNvPr>
          <p:cNvSpPr txBox="1"/>
          <p:nvPr/>
        </p:nvSpPr>
        <p:spPr>
          <a:xfrm>
            <a:off x="189570" y="4783873"/>
            <a:ext cx="7181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Now the magnitude of the force between two charges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730C42-B3BD-40A3-B361-36F0A3F1B846}"/>
                  </a:ext>
                </a:extLst>
              </p:cNvPr>
              <p:cNvSpPr txBox="1"/>
              <p:nvPr/>
            </p:nvSpPr>
            <p:spPr>
              <a:xfrm>
                <a:off x="3787698" y="5772613"/>
                <a:ext cx="814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/>
                  <a:t>F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IN" sz="2400" i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730C42-B3BD-40A3-B361-36F0A3F1B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698" y="5772613"/>
                <a:ext cx="814040" cy="461665"/>
              </a:xfrm>
              <a:prstGeom prst="rect">
                <a:avLst/>
              </a:prstGeom>
              <a:blipFill>
                <a:blip r:embed="rId8"/>
                <a:stretch>
                  <a:fillRect l="-11194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0BF636-322A-4E28-841F-3307B48FBA81}"/>
                  </a:ext>
                </a:extLst>
              </p:cNvPr>
              <p:cNvSpPr txBox="1"/>
              <p:nvPr/>
            </p:nvSpPr>
            <p:spPr>
              <a:xfrm>
                <a:off x="4568283" y="5705708"/>
                <a:ext cx="1453376" cy="720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 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IN" i="1" dirty="0"/>
                          <m:t> </m:t>
                        </m:r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2 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0BF636-322A-4E28-841F-3307B48FB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283" y="5705708"/>
                <a:ext cx="1453376" cy="7203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4865AD-D30C-43D6-B8BA-4C7D889645A0}"/>
              </a:ext>
            </a:extLst>
          </p:cNvPr>
          <p:cNvSpPr/>
          <p:nvPr/>
        </p:nvSpPr>
        <p:spPr>
          <a:xfrm>
            <a:off x="3300762" y="5642517"/>
            <a:ext cx="3088888" cy="713678"/>
          </a:xfrm>
          <a:prstGeom prst="roundRect">
            <a:avLst/>
          </a:prstGeom>
          <a:solidFill>
            <a:srgbClr val="FFDF1D">
              <a:alpha val="2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DCDF68-C20A-4E9A-9480-19AC8900C9DC}"/>
                  </a:ext>
                </a:extLst>
              </p:cNvPr>
              <p:cNvSpPr txBox="1"/>
              <p:nvPr/>
            </p:nvSpPr>
            <p:spPr>
              <a:xfrm>
                <a:off x="1044498" y="3999568"/>
                <a:ext cx="44530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hence </a:t>
                </a:r>
                <a:r>
                  <a:rPr lang="en-IN" sz="2400" i="1" dirty="0"/>
                  <a:t>K </a:t>
                </a:r>
                <a:r>
                  <a:rPr lang="en-IN" sz="2400" dirty="0"/>
                  <a:t>= </a:t>
                </a:r>
                <a:r>
                  <a:rPr lang="en-IN" sz="2400" i="1" dirty="0"/>
                  <a:t> </a:t>
                </a:r>
                <a:r>
                  <a:rPr lang="en-IN" sz="2400" dirty="0"/>
                  <a:t>8.988 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IN" sz="2400" dirty="0"/>
                  <a:t>10 </a:t>
                </a:r>
                <a:r>
                  <a:rPr lang="en-IN" sz="2400" baseline="30000" dirty="0"/>
                  <a:t>9 </a:t>
                </a:r>
                <a:r>
                  <a:rPr lang="en-IN" sz="2400" dirty="0"/>
                  <a:t>N</a:t>
                </a:r>
                <a:r>
                  <a:rPr lang="en-IN" sz="2400" i="1" dirty="0"/>
                  <a:t> </a:t>
                </a:r>
                <a:r>
                  <a:rPr lang="en-IN" sz="2400" dirty="0"/>
                  <a:t>m</a:t>
                </a:r>
                <a:r>
                  <a:rPr lang="en-IN" sz="2400" baseline="30000" dirty="0"/>
                  <a:t>2</a:t>
                </a:r>
                <a:r>
                  <a:rPr lang="en-IN" sz="2400" i="1" dirty="0"/>
                  <a:t>/</a:t>
                </a:r>
                <a:r>
                  <a:rPr lang="en-IN" sz="2400" dirty="0"/>
                  <a:t>C</a:t>
                </a:r>
                <a:r>
                  <a:rPr lang="en-IN" sz="2400" baseline="30000" dirty="0"/>
                  <a:t>2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5DCDF68-C20A-4E9A-9480-19AC8900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98" y="3999568"/>
                <a:ext cx="4453054" cy="461665"/>
              </a:xfrm>
              <a:prstGeom prst="rect">
                <a:avLst/>
              </a:prstGeom>
              <a:blipFill>
                <a:blip r:embed="rId10"/>
                <a:stretch>
                  <a:fillRect l="-2052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66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959513E-1B4E-4AC2-AB4F-A529AD181D28}"/>
              </a:ext>
            </a:extLst>
          </p:cNvPr>
          <p:cNvSpPr txBox="1"/>
          <p:nvPr/>
        </p:nvSpPr>
        <p:spPr>
          <a:xfrm>
            <a:off x="512956" y="613318"/>
            <a:ext cx="1204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Problem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E6BDC6-21BE-4F96-9C1A-CEA092B00D16}"/>
              </a:ext>
            </a:extLst>
          </p:cNvPr>
          <p:cNvSpPr txBox="1"/>
          <p:nvPr/>
        </p:nvSpPr>
        <p:spPr>
          <a:xfrm>
            <a:off x="2587083" y="1716617"/>
            <a:ext cx="2553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Charge on one electron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205D29-B9CB-453B-9459-71D0E241C0F0}"/>
                  </a:ext>
                </a:extLst>
              </p:cNvPr>
              <p:cNvSpPr txBox="1"/>
              <p:nvPr/>
            </p:nvSpPr>
            <p:spPr>
              <a:xfrm>
                <a:off x="5036635" y="1680118"/>
                <a:ext cx="16987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1.6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10 </a:t>
                </a:r>
                <a:r>
                  <a:rPr lang="en-IN" baseline="30000" dirty="0"/>
                  <a:t>-19</a:t>
                </a:r>
                <a:r>
                  <a:rPr lang="en-IN" dirty="0"/>
                  <a:t> C</a:t>
                </a:r>
                <a:endParaRPr lang="en-IN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205D29-B9CB-453B-9459-71D0E241C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635" y="1680118"/>
                <a:ext cx="1698701" cy="369332"/>
              </a:xfrm>
              <a:prstGeom prst="rect">
                <a:avLst/>
              </a:prstGeom>
              <a:blipFill>
                <a:blip r:embed="rId2"/>
                <a:stretch>
                  <a:fillRect l="-286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5ABB9A9-4E9B-4943-AD06-F7F116AEBF03}"/>
              </a:ext>
            </a:extLst>
          </p:cNvPr>
          <p:cNvSpPr txBox="1"/>
          <p:nvPr/>
        </p:nvSpPr>
        <p:spPr>
          <a:xfrm>
            <a:off x="1178312" y="2370823"/>
            <a:ext cx="4040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No.of electrons in one Coulomb charge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EBA5AD-79EF-4B0B-BD63-D98DA881B184}"/>
                  </a:ext>
                </a:extLst>
              </p:cNvPr>
              <p:cNvSpPr txBox="1"/>
              <p:nvPr/>
            </p:nvSpPr>
            <p:spPr>
              <a:xfrm>
                <a:off x="5177883" y="2390079"/>
                <a:ext cx="1490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6.25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10 </a:t>
                </a:r>
                <a:r>
                  <a:rPr lang="en-IN" baseline="30000" dirty="0"/>
                  <a:t>18</a:t>
                </a:r>
                <a:r>
                  <a:rPr lang="en-IN" dirty="0"/>
                  <a:t> </a:t>
                </a:r>
                <a:endParaRPr lang="en-IN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EBA5AD-79EF-4B0B-BD63-D98DA881B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83" y="2390079"/>
                <a:ext cx="1490545" cy="369332"/>
              </a:xfrm>
              <a:prstGeom prst="rect">
                <a:avLst/>
              </a:prstGeom>
              <a:blipFill>
                <a:blip r:embed="rId3"/>
                <a:stretch>
                  <a:fillRect l="-326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7E710E42-E5CE-43F2-8AC7-43B9D9E77191}"/>
              </a:ext>
            </a:extLst>
          </p:cNvPr>
          <p:cNvSpPr/>
          <p:nvPr/>
        </p:nvSpPr>
        <p:spPr>
          <a:xfrm>
            <a:off x="2787804" y="3334214"/>
            <a:ext cx="568713" cy="512958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1C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A1D25023-D7FD-4A3A-9D76-E801093F0938}"/>
              </a:ext>
            </a:extLst>
          </p:cNvPr>
          <p:cNvSpPr/>
          <p:nvPr/>
        </p:nvSpPr>
        <p:spPr>
          <a:xfrm>
            <a:off x="6519747" y="3434574"/>
            <a:ext cx="527824" cy="51295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1C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227684-86B1-4115-830B-DD44D34D6956}"/>
              </a:ext>
            </a:extLst>
          </p:cNvPr>
          <p:cNvCxnSpPr>
            <a:cxnSpLocks/>
          </p:cNvCxnSpPr>
          <p:nvPr/>
        </p:nvCxnSpPr>
        <p:spPr>
          <a:xfrm>
            <a:off x="2988527" y="4036742"/>
            <a:ext cx="3836020" cy="0"/>
          </a:xfrm>
          <a:prstGeom prst="straightConnector1">
            <a:avLst/>
          </a:prstGeom>
          <a:ln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21CDAC6-FB7C-467E-A0E9-1AE61CBD058A}"/>
              </a:ext>
            </a:extLst>
          </p:cNvPr>
          <p:cNvSpPr txBox="1"/>
          <p:nvPr/>
        </p:nvSpPr>
        <p:spPr>
          <a:xfrm>
            <a:off x="4750420" y="3646449"/>
            <a:ext cx="546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1m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D9D25C6-FB14-4C88-960B-04F2ACF12345}"/>
                  </a:ext>
                </a:extLst>
              </p:cNvPr>
              <p:cNvSpPr txBox="1"/>
              <p:nvPr/>
            </p:nvSpPr>
            <p:spPr>
              <a:xfrm>
                <a:off x="2241397" y="5252224"/>
                <a:ext cx="1616927" cy="534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F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1800" i="1" baseline="-25000" dirty="0"/>
                          <m:t> </m:t>
                        </m:r>
                      </m:num>
                      <m:den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sz="18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IN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IN" i="1" dirty="0"/>
                          <m:t> </m:t>
                        </m:r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2 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D9D25C6-FB14-4C88-960B-04F2ACF12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397" y="5252224"/>
                <a:ext cx="1616927" cy="534634"/>
              </a:xfrm>
              <a:prstGeom prst="rect">
                <a:avLst/>
              </a:prstGeom>
              <a:blipFill>
                <a:blip r:embed="rId4"/>
                <a:stretch>
                  <a:fillRect l="-3396"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6CF77D-BCFD-4CB1-9E9C-51F9C9E792BC}"/>
                  </a:ext>
                </a:extLst>
              </p:cNvPr>
              <p:cNvSpPr txBox="1"/>
              <p:nvPr/>
            </p:nvSpPr>
            <p:spPr>
              <a:xfrm>
                <a:off x="3865758" y="5293113"/>
                <a:ext cx="1341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9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dirty="0"/>
                  <a:t> 10 </a:t>
                </a:r>
                <a:r>
                  <a:rPr lang="en-IN" baseline="30000" dirty="0"/>
                  <a:t>9 </a:t>
                </a:r>
                <a:r>
                  <a:rPr lang="en-IN" dirty="0"/>
                  <a:t>N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6CF77D-BCFD-4CB1-9E9C-51F9C9E79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758" y="5293113"/>
                <a:ext cx="1341862" cy="369332"/>
              </a:xfrm>
              <a:prstGeom prst="rect">
                <a:avLst/>
              </a:prstGeom>
              <a:blipFill>
                <a:blip r:embed="rId5"/>
                <a:stretch>
                  <a:fillRect l="-3636" t="-8197" r="-727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14CCB90-0A11-4283-B479-0938918F4E85}"/>
              </a:ext>
            </a:extLst>
          </p:cNvPr>
          <p:cNvSpPr txBox="1"/>
          <p:nvPr/>
        </p:nvSpPr>
        <p:spPr>
          <a:xfrm>
            <a:off x="5133280" y="5289394"/>
            <a:ext cx="1825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 1 </a:t>
            </a:r>
            <a:r>
              <a:rPr lang="en-IN" i="1" dirty="0"/>
              <a:t>Million Tons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9B8A2-84B5-4D18-8FBA-8E8E775311BA}"/>
              </a:ext>
            </a:extLst>
          </p:cNvPr>
          <p:cNvSpPr txBox="1"/>
          <p:nvPr/>
        </p:nvSpPr>
        <p:spPr>
          <a:xfrm>
            <a:off x="1527717" y="624468"/>
            <a:ext cx="10303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Find the Number of electrons in one coulomb charge &amp; also find the force between two, one coulomb charges separated by 1m distance in free space</a:t>
            </a:r>
          </a:p>
        </p:txBody>
      </p:sp>
    </p:spTree>
    <p:extLst>
      <p:ext uri="{BB962C8B-B14F-4D97-AF65-F5344CB8AC3E}">
        <p14:creationId xmlns:p14="http://schemas.microsoft.com/office/powerpoint/2010/main" val="379451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22" grpId="0"/>
      <p:bldP spid="23" grpId="0"/>
      <p:bldP spid="24" grpId="0" animBg="1"/>
      <p:bldP spid="25" grpId="0" animBg="1"/>
      <p:bldP spid="34" grpId="0"/>
      <p:bldP spid="35" grpId="0"/>
      <p:bldP spid="36" grpId="0"/>
      <p:bldP spid="37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3B747-1535-4050-AF54-89089999CEDB}"/>
              </a:ext>
            </a:extLst>
          </p:cNvPr>
          <p:cNvSpPr txBox="1"/>
          <p:nvPr/>
        </p:nvSpPr>
        <p:spPr>
          <a:xfrm>
            <a:off x="289932" y="345688"/>
            <a:ext cx="8118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COULOMB’S LAW </a:t>
            </a:r>
            <a:r>
              <a:rPr lang="en-IN" sz="2000" b="1" dirty="0">
                <a:solidFill>
                  <a:srgbClr val="C00000"/>
                </a:solidFill>
              </a:rPr>
              <a:t>–</a:t>
            </a:r>
            <a:r>
              <a:rPr lang="en-IN" sz="2000" b="1" dirty="0">
                <a:solidFill>
                  <a:srgbClr val="0070C0"/>
                </a:solidFill>
              </a:rPr>
              <a:t> </a:t>
            </a:r>
            <a:r>
              <a:rPr lang="en-IN" sz="2000" i="1" dirty="0">
                <a:solidFill>
                  <a:srgbClr val="C00000"/>
                </a:solidFill>
              </a:rPr>
              <a:t>Vector 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24D4B-4C20-4937-89C2-0E46D85310B7}"/>
              </a:ext>
            </a:extLst>
          </p:cNvPr>
          <p:cNvSpPr txBox="1"/>
          <p:nvPr/>
        </p:nvSpPr>
        <p:spPr>
          <a:xfrm>
            <a:off x="345688" y="880946"/>
            <a:ext cx="1143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direction of the force is along the line joining the two charges, </a:t>
            </a:r>
            <a:r>
              <a:rPr lang="en-IN" sz="2000" i="1" dirty="0"/>
              <a:t>repulsive </a:t>
            </a:r>
            <a:r>
              <a:rPr lang="en-IN" sz="2000" dirty="0"/>
              <a:t>if the charges are like charges &amp; </a:t>
            </a:r>
            <a:r>
              <a:rPr lang="en-IN" sz="2000" i="1" dirty="0"/>
              <a:t>attractive</a:t>
            </a:r>
            <a:r>
              <a:rPr lang="en-IN" sz="2000" dirty="0"/>
              <a:t> in case of opposite charges  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F0D406-41C9-44FE-AFF9-81CD0B655B17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5F7C73-53F9-479A-8216-F8B147719BC9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265553-7DC9-424C-80DB-54A6ACCA0F3F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4D79F4B-6FE9-4986-90E3-C62EDF7FA182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CCE71-614E-48CF-9ED9-E0F9D7B9409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A9A18-FE5C-43D6-A605-5598B8E26A76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4BFE95-7694-4376-874B-68AB3069D555}"/>
              </a:ext>
            </a:extLst>
          </p:cNvPr>
          <p:cNvSpPr/>
          <p:nvPr/>
        </p:nvSpPr>
        <p:spPr>
          <a:xfrm rot="10800000" flipV="1">
            <a:off x="2930735" y="35696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D549DD-E1DD-4ED3-9AF8-6318B0220894}"/>
              </a:ext>
            </a:extLst>
          </p:cNvPr>
          <p:cNvSpPr/>
          <p:nvPr/>
        </p:nvSpPr>
        <p:spPr>
          <a:xfrm rot="10800000" flipV="1">
            <a:off x="5681369" y="44691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A24ECCCA-3A66-4D45-897E-9178F9BC24AB}"/>
              </a:ext>
            </a:extLst>
          </p:cNvPr>
          <p:cNvSpPr/>
          <p:nvPr/>
        </p:nvSpPr>
        <p:spPr>
          <a:xfrm>
            <a:off x="2709744" y="3323062"/>
            <a:ext cx="568713" cy="512958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r>
              <a:rPr lang="en-IN" sz="1200" i="1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4A86F9A-4E83-40B1-94B5-7C651574598D}"/>
              </a:ext>
            </a:extLst>
          </p:cNvPr>
          <p:cNvSpPr/>
          <p:nvPr/>
        </p:nvSpPr>
        <p:spPr>
          <a:xfrm>
            <a:off x="5449230" y="4248613"/>
            <a:ext cx="527824" cy="51295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r>
              <a:rPr lang="en-IN" sz="1200" i="1" baseline="-25000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B5E4AD-13F5-472F-8411-D2AA487CA511}"/>
              </a:ext>
            </a:extLst>
          </p:cNvPr>
          <p:cNvCxnSpPr/>
          <p:nvPr/>
        </p:nvCxnSpPr>
        <p:spPr>
          <a:xfrm flipV="1">
            <a:off x="2364059" y="3534937"/>
            <a:ext cx="613317" cy="1862253"/>
          </a:xfrm>
          <a:prstGeom prst="line">
            <a:avLst/>
          </a:prstGeom>
          <a:ln>
            <a:solidFill>
              <a:srgbClr val="333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3BEE59-85BE-4EC4-85D1-22E28F7C422C}"/>
              </a:ext>
            </a:extLst>
          </p:cNvPr>
          <p:cNvCxnSpPr>
            <a:cxnSpLocks/>
          </p:cNvCxnSpPr>
          <p:nvPr/>
        </p:nvCxnSpPr>
        <p:spPr>
          <a:xfrm flipV="1">
            <a:off x="2364059" y="4538546"/>
            <a:ext cx="3323063" cy="858644"/>
          </a:xfrm>
          <a:prstGeom prst="line">
            <a:avLst/>
          </a:prstGeom>
          <a:ln>
            <a:solidFill>
              <a:srgbClr val="333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D7E5E6-6C5C-4F66-9087-3422CEBA7FE9}"/>
              </a:ext>
            </a:extLst>
          </p:cNvPr>
          <p:cNvCxnSpPr/>
          <p:nvPr/>
        </p:nvCxnSpPr>
        <p:spPr>
          <a:xfrm flipH="1" flipV="1">
            <a:off x="2963661" y="3569031"/>
            <a:ext cx="2720897" cy="936702"/>
          </a:xfrm>
          <a:prstGeom prst="line">
            <a:avLst/>
          </a:prstGeom>
          <a:ln>
            <a:solidFill>
              <a:srgbClr val="FF2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42B2F8-3AC6-484C-872E-44DF79AF3356}"/>
              </a:ext>
            </a:extLst>
          </p:cNvPr>
          <p:cNvSpPr txBox="1"/>
          <p:nvPr/>
        </p:nvSpPr>
        <p:spPr>
          <a:xfrm>
            <a:off x="4047892" y="3646449"/>
            <a:ext cx="49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C00000"/>
                </a:solidFill>
              </a:rPr>
              <a:t>R</a:t>
            </a:r>
            <a:r>
              <a:rPr lang="en-IN" b="1" i="1" baseline="-250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BDE00A-5206-4D8D-BF7C-D8A95105D217}"/>
              </a:ext>
            </a:extLst>
          </p:cNvPr>
          <p:cNvSpPr txBox="1"/>
          <p:nvPr/>
        </p:nvSpPr>
        <p:spPr>
          <a:xfrm>
            <a:off x="6188927" y="2085277"/>
            <a:ext cx="163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Force on </a:t>
            </a:r>
            <a:r>
              <a:rPr lang="en-IN" i="1" dirty="0"/>
              <a:t>Q</a:t>
            </a:r>
            <a:r>
              <a:rPr lang="en-IN" i="1" baseline="-25000" dirty="0"/>
              <a:t>2 </a:t>
            </a:r>
            <a:r>
              <a:rPr lang="en-IN" i="1" dirty="0"/>
              <a:t>is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B07D0C-57C2-4C8A-A92C-86FCF34CD1FA}"/>
              </a:ext>
            </a:extLst>
          </p:cNvPr>
          <p:cNvSpPr txBox="1"/>
          <p:nvPr/>
        </p:nvSpPr>
        <p:spPr>
          <a:xfrm>
            <a:off x="6043960" y="2698596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baseline="-25000" dirty="0"/>
              <a:t>12</a:t>
            </a:r>
            <a:r>
              <a:rPr lang="en-IN" b="1" i="1" dirty="0"/>
              <a:t> = </a:t>
            </a:r>
            <a:endParaRPr lang="en-IN" b="1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854990-6ECA-4119-B962-F6EA66132631}"/>
                  </a:ext>
                </a:extLst>
              </p:cNvPr>
              <p:cNvSpPr txBox="1"/>
              <p:nvPr/>
            </p:nvSpPr>
            <p:spPr>
              <a:xfrm>
                <a:off x="6612673" y="2516462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2 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854990-6ECA-4119-B962-F6EA66132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673" y="2516462"/>
                <a:ext cx="2085278" cy="7981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BDA23AE-5F17-4D62-AEA3-4AD9AE9EE180}"/>
              </a:ext>
            </a:extLst>
          </p:cNvPr>
          <p:cNvSpPr txBox="1"/>
          <p:nvPr/>
        </p:nvSpPr>
        <p:spPr>
          <a:xfrm>
            <a:off x="8474927" y="2598234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31C1D2-EBBE-4EDB-A617-D86089227AA5}"/>
              </a:ext>
            </a:extLst>
          </p:cNvPr>
          <p:cNvSpPr txBox="1"/>
          <p:nvPr/>
        </p:nvSpPr>
        <p:spPr>
          <a:xfrm>
            <a:off x="7579111" y="4389864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baseline="-25000" dirty="0"/>
              <a:t>21</a:t>
            </a:r>
            <a:r>
              <a:rPr lang="en-IN" b="1" i="1" dirty="0"/>
              <a:t> = </a:t>
            </a:r>
            <a:endParaRPr lang="en-IN" b="1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BC93003-C69E-4CC9-BB2B-A1ACB5B54B8A}"/>
                  </a:ext>
                </a:extLst>
              </p:cNvPr>
              <p:cNvSpPr txBox="1"/>
              <p:nvPr/>
            </p:nvSpPr>
            <p:spPr>
              <a:xfrm>
                <a:off x="8147824" y="4207730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2 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BC93003-C69E-4CC9-BB2B-A1ACB5B54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824" y="4207730"/>
                <a:ext cx="2085278" cy="798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1BD2317-C9DF-43E5-931C-180C8FEB7303}"/>
              </a:ext>
            </a:extLst>
          </p:cNvPr>
          <p:cNvSpPr txBox="1"/>
          <p:nvPr/>
        </p:nvSpPr>
        <p:spPr>
          <a:xfrm>
            <a:off x="10010078" y="4289502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3BEF22-C91E-4629-8A8F-9E22F23CFDF3}"/>
              </a:ext>
            </a:extLst>
          </p:cNvPr>
          <p:cNvSpPr txBox="1"/>
          <p:nvPr/>
        </p:nvSpPr>
        <p:spPr>
          <a:xfrm>
            <a:off x="6263268" y="3653882"/>
            <a:ext cx="163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Force on </a:t>
            </a:r>
            <a:r>
              <a:rPr lang="en-IN" i="1" dirty="0"/>
              <a:t>Q</a:t>
            </a:r>
            <a:r>
              <a:rPr lang="en-IN" i="1" baseline="-25000" dirty="0"/>
              <a:t>1 </a:t>
            </a:r>
            <a:r>
              <a:rPr lang="en-IN" i="1" dirty="0"/>
              <a:t>is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E297EF-6BF5-4F2C-A846-FE3C574F7B6A}"/>
              </a:ext>
            </a:extLst>
          </p:cNvPr>
          <p:cNvSpPr txBox="1"/>
          <p:nvPr/>
        </p:nvSpPr>
        <p:spPr>
          <a:xfrm>
            <a:off x="5939882" y="5783767"/>
            <a:ext cx="125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baseline="-25000" dirty="0"/>
              <a:t>12</a:t>
            </a:r>
            <a:r>
              <a:rPr lang="en-IN" b="1" i="1" dirty="0"/>
              <a:t> = - </a:t>
            </a:r>
            <a:r>
              <a:rPr lang="en-IN" b="1" dirty="0"/>
              <a:t>F</a:t>
            </a:r>
            <a:r>
              <a:rPr lang="en-IN" b="1" i="1" baseline="-25000" dirty="0"/>
              <a:t>21</a:t>
            </a:r>
            <a:r>
              <a:rPr lang="en-IN" b="1" i="1" dirty="0"/>
              <a:t> </a:t>
            </a:r>
            <a:endParaRPr lang="en-IN" b="1" i="1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EC1EC7-06F0-4753-AD07-9317CB157986}"/>
              </a:ext>
            </a:extLst>
          </p:cNvPr>
          <p:cNvSpPr txBox="1"/>
          <p:nvPr/>
        </p:nvSpPr>
        <p:spPr>
          <a:xfrm>
            <a:off x="7348654" y="5809785"/>
            <a:ext cx="858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70FE65-EB00-4B91-A6E1-3480589CDABF}"/>
                  </a:ext>
                </a:extLst>
              </p:cNvPr>
              <p:cNvSpPr txBox="1"/>
              <p:nvPr/>
            </p:nvSpPr>
            <p:spPr>
              <a:xfrm>
                <a:off x="8229599" y="5754030"/>
                <a:ext cx="1870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dirty="0"/>
                  <a:t>R</a:t>
                </a:r>
                <a:r>
                  <a:rPr lang="en-IN" i="1" baseline="-25000" dirty="0"/>
                  <a:t>12</a:t>
                </a:r>
                <a:r>
                  <a:rPr lang="en-IN" i="1" dirty="0"/>
                  <a:t> = R</a:t>
                </a:r>
                <a:r>
                  <a:rPr lang="en-IN" i="1" baseline="-25000" dirty="0"/>
                  <a:t>21</a:t>
                </a:r>
                <a:r>
                  <a:rPr lang="en-IN" i="1" dirty="0"/>
                  <a:t> =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IN" b="1" i="1" baseline="-2500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IN" i="1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70FE65-EB00-4B91-A6E1-3480589CD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9" y="5754030"/>
                <a:ext cx="1870842" cy="369332"/>
              </a:xfrm>
              <a:prstGeom prst="rect">
                <a:avLst/>
              </a:prstGeom>
              <a:blipFill>
                <a:blip r:embed="rId4"/>
                <a:stretch>
                  <a:fillRect l="-2606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1A9E37D-A394-4B33-880D-C5C49F786C37}"/>
              </a:ext>
            </a:extLst>
          </p:cNvPr>
          <p:cNvSpPr txBox="1"/>
          <p:nvPr/>
        </p:nvSpPr>
        <p:spPr>
          <a:xfrm>
            <a:off x="9991491" y="5798634"/>
            <a:ext cx="17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&amp;  </a:t>
            </a:r>
            <a:r>
              <a:rPr lang="en-IN" b="1" dirty="0"/>
              <a:t>a</a:t>
            </a:r>
            <a:r>
              <a:rPr lang="en-IN" i="1" baseline="-25000" dirty="0"/>
              <a:t>12 </a:t>
            </a:r>
            <a:r>
              <a:rPr lang="en-IN" i="1" dirty="0"/>
              <a:t>= - </a:t>
            </a:r>
            <a:r>
              <a:rPr lang="en-IN" b="1" dirty="0"/>
              <a:t>a</a:t>
            </a:r>
            <a:r>
              <a:rPr lang="en-IN" i="1" baseline="-250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373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12" grpId="0" animBg="1"/>
      <p:bldP spid="22" grpId="0" animBg="1"/>
      <p:bldP spid="23" grpId="0" animBg="1"/>
      <p:bldP spid="24" grpId="0" animBg="1"/>
      <p:bldP spid="34" grpId="0"/>
      <p:bldP spid="35" grpId="0"/>
      <p:bldP spid="36" grpId="0"/>
      <p:bldP spid="38" grpId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F0D406-41C9-44FE-AFF9-81CD0B655B17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5F7C73-53F9-479A-8216-F8B147719BC9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265553-7DC9-424C-80DB-54A6ACCA0F3F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4D79F4B-6FE9-4986-90E3-C62EDF7FA182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CCE71-614E-48CF-9ED9-E0F9D7B9409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A9A18-FE5C-43D6-A605-5598B8E26A76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4BFE95-7694-4376-874B-68AB3069D555}"/>
              </a:ext>
            </a:extLst>
          </p:cNvPr>
          <p:cNvSpPr/>
          <p:nvPr/>
        </p:nvSpPr>
        <p:spPr>
          <a:xfrm rot="10800000" flipV="1">
            <a:off x="2930735" y="35696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D549DD-E1DD-4ED3-9AF8-6318B0220894}"/>
              </a:ext>
            </a:extLst>
          </p:cNvPr>
          <p:cNvSpPr/>
          <p:nvPr/>
        </p:nvSpPr>
        <p:spPr>
          <a:xfrm rot="10800000" flipV="1">
            <a:off x="5681369" y="44691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A24ECCCA-3A66-4D45-897E-9178F9BC24AB}"/>
              </a:ext>
            </a:extLst>
          </p:cNvPr>
          <p:cNvSpPr/>
          <p:nvPr/>
        </p:nvSpPr>
        <p:spPr>
          <a:xfrm>
            <a:off x="2709744" y="3323062"/>
            <a:ext cx="568713" cy="512958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r>
              <a:rPr lang="en-IN" sz="1200" i="1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4A86F9A-4E83-40B1-94B5-7C651574598D}"/>
              </a:ext>
            </a:extLst>
          </p:cNvPr>
          <p:cNvSpPr/>
          <p:nvPr/>
        </p:nvSpPr>
        <p:spPr>
          <a:xfrm>
            <a:off x="5449230" y="4248613"/>
            <a:ext cx="527824" cy="51295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r>
              <a:rPr lang="en-IN" sz="1200" i="1" baseline="-25000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B5E4AD-13F5-472F-8411-D2AA487CA511}"/>
              </a:ext>
            </a:extLst>
          </p:cNvPr>
          <p:cNvCxnSpPr/>
          <p:nvPr/>
        </p:nvCxnSpPr>
        <p:spPr>
          <a:xfrm flipV="1">
            <a:off x="2364059" y="3534937"/>
            <a:ext cx="613317" cy="1862253"/>
          </a:xfrm>
          <a:prstGeom prst="line">
            <a:avLst/>
          </a:prstGeom>
          <a:ln>
            <a:solidFill>
              <a:srgbClr val="333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3BEE59-85BE-4EC4-85D1-22E28F7C422C}"/>
              </a:ext>
            </a:extLst>
          </p:cNvPr>
          <p:cNvCxnSpPr>
            <a:cxnSpLocks/>
          </p:cNvCxnSpPr>
          <p:nvPr/>
        </p:nvCxnSpPr>
        <p:spPr>
          <a:xfrm flipV="1">
            <a:off x="2364059" y="4538546"/>
            <a:ext cx="3323063" cy="858644"/>
          </a:xfrm>
          <a:prstGeom prst="line">
            <a:avLst/>
          </a:prstGeom>
          <a:ln>
            <a:solidFill>
              <a:srgbClr val="333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42B2F8-3AC6-484C-872E-44DF79AF3356}"/>
              </a:ext>
            </a:extLst>
          </p:cNvPr>
          <p:cNvSpPr txBox="1"/>
          <p:nvPr/>
        </p:nvSpPr>
        <p:spPr>
          <a:xfrm>
            <a:off x="4047892" y="3646449"/>
            <a:ext cx="49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C00000"/>
                </a:solidFill>
              </a:rPr>
              <a:t>R</a:t>
            </a:r>
            <a:endParaRPr lang="en-IN" b="1" i="1" baseline="-25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BDE00A-5206-4D8D-BF7C-D8A95105D217}"/>
                  </a:ext>
                </a:extLst>
              </p:cNvPr>
              <p:cNvSpPr txBox="1"/>
              <p:nvPr/>
            </p:nvSpPr>
            <p:spPr>
              <a:xfrm>
                <a:off x="5392514" y="679265"/>
                <a:ext cx="4351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Force on </a:t>
                </a:r>
                <a:r>
                  <a:rPr lang="en-IN" b="1" dirty="0"/>
                  <a:t>-100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𝒎𝑪</m:t>
                    </m:r>
                  </m:oMath>
                </a14:m>
                <a:r>
                  <a:rPr lang="en-IN" i="1" baseline="-25000" dirty="0"/>
                  <a:t> </a:t>
                </a:r>
                <a:r>
                  <a:rPr lang="en-IN" i="1" dirty="0"/>
                  <a:t>charge is given by</a:t>
                </a:r>
                <a:endParaRPr lang="en-IN" i="1" baseline="-25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BDE00A-5206-4D8D-BF7C-D8A95105D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514" y="679265"/>
                <a:ext cx="4351254" cy="369332"/>
              </a:xfrm>
              <a:prstGeom prst="rect">
                <a:avLst/>
              </a:prstGeom>
              <a:blipFill>
                <a:blip r:embed="rId2"/>
                <a:stretch>
                  <a:fillRect l="-12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9B07D0C-57C2-4C8A-A92C-86FCF34CD1FA}"/>
              </a:ext>
            </a:extLst>
          </p:cNvPr>
          <p:cNvSpPr txBox="1"/>
          <p:nvPr/>
        </p:nvSpPr>
        <p:spPr>
          <a:xfrm>
            <a:off x="6289767" y="1125435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dirty="0"/>
              <a:t> = </a:t>
            </a:r>
            <a:endParaRPr lang="en-IN" b="1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854990-6ECA-4119-B962-F6EA66132631}"/>
                  </a:ext>
                </a:extLst>
              </p:cNvPr>
              <p:cNvSpPr txBox="1"/>
              <p:nvPr/>
            </p:nvSpPr>
            <p:spPr>
              <a:xfrm>
                <a:off x="6671667" y="962965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2 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854990-6ECA-4119-B962-F6EA66132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667" y="962965"/>
                <a:ext cx="2085278" cy="798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BDA23AE-5F17-4D62-AEA3-4AD9AE9EE180}"/>
              </a:ext>
            </a:extLst>
          </p:cNvPr>
          <p:cNvSpPr txBox="1"/>
          <p:nvPr/>
        </p:nvSpPr>
        <p:spPr>
          <a:xfrm>
            <a:off x="8533920" y="1143060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AE166D-F956-D58D-6B56-45304EF48396}"/>
              </a:ext>
            </a:extLst>
          </p:cNvPr>
          <p:cNvSpPr txBox="1"/>
          <p:nvPr/>
        </p:nvSpPr>
        <p:spPr>
          <a:xfrm>
            <a:off x="2518168" y="2970469"/>
            <a:ext cx="114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</a:t>
            </a:r>
            <a:r>
              <a:rPr lang="en-IN" i="1" dirty="0"/>
              <a:t>1</a:t>
            </a:r>
            <a:r>
              <a:rPr lang="en-IN" dirty="0"/>
              <a:t>, 2, 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42886-AF5F-54F9-99CA-454FF20386D9}"/>
              </a:ext>
            </a:extLst>
          </p:cNvPr>
          <p:cNvSpPr txBox="1"/>
          <p:nvPr/>
        </p:nvSpPr>
        <p:spPr>
          <a:xfrm>
            <a:off x="5364606" y="4696030"/>
            <a:ext cx="114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</a:t>
            </a:r>
            <a:r>
              <a:rPr lang="en-IN" i="1" dirty="0"/>
              <a:t>2</a:t>
            </a:r>
            <a:r>
              <a:rPr lang="en-IN" dirty="0"/>
              <a:t>, 0, 5)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D57EEE-B550-11C5-8914-421DD061DDA2}"/>
              </a:ext>
            </a:extLst>
          </p:cNvPr>
          <p:cNvCxnSpPr>
            <a:cxnSpLocks/>
          </p:cNvCxnSpPr>
          <p:nvPr/>
        </p:nvCxnSpPr>
        <p:spPr>
          <a:xfrm>
            <a:off x="3018503" y="3578942"/>
            <a:ext cx="2408903" cy="79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0D4A8E-EBAC-EE33-6295-C238281F1483}"/>
                  </a:ext>
                </a:extLst>
              </p:cNvPr>
              <p:cNvSpPr txBox="1"/>
              <p:nvPr/>
            </p:nvSpPr>
            <p:spPr>
              <a:xfrm>
                <a:off x="2802673" y="3789136"/>
                <a:ext cx="953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300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endParaRPr lang="en-IN" i="1" baseline="-25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0D4A8E-EBAC-EE33-6295-C238281F1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673" y="3789136"/>
                <a:ext cx="953250" cy="369332"/>
              </a:xfrm>
              <a:prstGeom prst="rect">
                <a:avLst/>
              </a:prstGeom>
              <a:blipFill>
                <a:blip r:embed="rId4"/>
                <a:stretch>
                  <a:fillRect l="-576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CECC27-0BD8-8AF1-C92B-2DBEBFC80234}"/>
                  </a:ext>
                </a:extLst>
              </p:cNvPr>
              <p:cNvSpPr txBox="1"/>
              <p:nvPr/>
            </p:nvSpPr>
            <p:spPr>
              <a:xfrm>
                <a:off x="5236157" y="3951369"/>
                <a:ext cx="11744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-100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𝒎𝑪</m:t>
                    </m:r>
                  </m:oMath>
                </a14:m>
                <a:endParaRPr lang="en-IN" i="1" baseline="-25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CECC27-0BD8-8AF1-C92B-2DBEBFC80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157" y="3951369"/>
                <a:ext cx="1174476" cy="369332"/>
              </a:xfrm>
              <a:prstGeom prst="rect">
                <a:avLst/>
              </a:prstGeom>
              <a:blipFill>
                <a:blip r:embed="rId5"/>
                <a:stretch>
                  <a:fillRect l="-4663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0DC0C-6A86-9F5F-13A1-8A2C702A2AE5}"/>
                  </a:ext>
                </a:extLst>
              </p:cNvPr>
              <p:cNvSpPr txBox="1"/>
              <p:nvPr/>
            </p:nvSpPr>
            <p:spPr>
              <a:xfrm>
                <a:off x="7629832" y="1978431"/>
                <a:ext cx="2212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dirty="0"/>
                  <a:t>8.988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IN" sz="1800" dirty="0"/>
                  <a:t>10 </a:t>
                </a:r>
                <a:r>
                  <a:rPr lang="en-IN" sz="1800" baseline="30000" dirty="0"/>
                  <a:t>9 </a:t>
                </a:r>
                <a:r>
                  <a:rPr lang="en-IN" sz="1800" dirty="0"/>
                  <a:t>N</a:t>
                </a:r>
                <a:r>
                  <a:rPr lang="en-IN" sz="1800" i="1" dirty="0"/>
                  <a:t> </a:t>
                </a:r>
                <a:r>
                  <a:rPr lang="en-IN" sz="1800" dirty="0"/>
                  <a:t>m</a:t>
                </a:r>
                <a:r>
                  <a:rPr lang="en-IN" sz="1800" baseline="30000" dirty="0"/>
                  <a:t>2</a:t>
                </a:r>
                <a:r>
                  <a:rPr lang="en-IN" sz="1800" i="1" dirty="0"/>
                  <a:t>/</a:t>
                </a:r>
                <a:r>
                  <a:rPr lang="en-IN" sz="1800" dirty="0"/>
                  <a:t>C</a:t>
                </a:r>
                <a:r>
                  <a:rPr lang="en-IN" sz="1800" baseline="30000" dirty="0"/>
                  <a:t>2</a:t>
                </a:r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0DC0C-6A86-9F5F-13A1-8A2C702A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832" y="1978431"/>
                <a:ext cx="2212258" cy="369332"/>
              </a:xfrm>
              <a:prstGeom prst="rect">
                <a:avLst/>
              </a:prstGeom>
              <a:blipFill>
                <a:blip r:embed="rId6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BB4754-AE7A-0E7C-B13A-F09355E723E4}"/>
                  </a:ext>
                </a:extLst>
              </p:cNvPr>
              <p:cNvSpPr txBox="1"/>
              <p:nvPr/>
            </p:nvSpPr>
            <p:spPr>
              <a:xfrm>
                <a:off x="6204154" y="1905700"/>
                <a:ext cx="1484671" cy="53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Here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1" smtClean="0"/>
                          <m:t>1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BB4754-AE7A-0E7C-B13A-F09355E72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54" y="1905700"/>
                <a:ext cx="1484671" cy="534955"/>
              </a:xfrm>
              <a:prstGeom prst="rect">
                <a:avLst/>
              </a:prstGeom>
              <a:blipFill>
                <a:blip r:embed="rId7"/>
                <a:stretch>
                  <a:fillRect l="-3704" r="-1235"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BB74DD-0038-A5D4-7A02-57EE64412A67}"/>
                  </a:ext>
                </a:extLst>
              </p:cNvPr>
              <p:cNvSpPr txBox="1"/>
              <p:nvPr/>
            </p:nvSpPr>
            <p:spPr>
              <a:xfrm>
                <a:off x="6931742" y="2627360"/>
                <a:ext cx="6784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dirty="0"/>
                  <a:t>=3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BB74DD-0038-A5D4-7A02-57EE64412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42" y="2627360"/>
                <a:ext cx="678426" cy="369332"/>
              </a:xfrm>
              <a:prstGeom prst="rect">
                <a:avLst/>
              </a:prstGeom>
              <a:blipFill>
                <a:blip r:embed="rId8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889AAA8-D6F2-3F55-EA58-8A8D20A3B81E}"/>
              </a:ext>
            </a:extLst>
          </p:cNvPr>
          <p:cNvSpPr txBox="1"/>
          <p:nvPr/>
        </p:nvSpPr>
        <p:spPr>
          <a:xfrm>
            <a:off x="7669162" y="2597863"/>
            <a:ext cx="1042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and</a:t>
            </a:r>
            <a:r>
              <a:rPr lang="en-IN" b="1" dirty="0"/>
              <a:t> a</a:t>
            </a:r>
            <a:r>
              <a:rPr lang="en-IN" i="1" baseline="-25000" dirty="0"/>
              <a:t>R</a:t>
            </a:r>
            <a:r>
              <a:rPr lang="en-IN" i="1" dirty="0"/>
              <a:t>= </a:t>
            </a:r>
            <a:endParaRPr lang="en-IN" i="1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7A9BD0-3037-1D81-959D-574136DA6F82}"/>
              </a:ext>
            </a:extLst>
          </p:cNvPr>
          <p:cNvSpPr txBox="1"/>
          <p:nvPr/>
        </p:nvSpPr>
        <p:spPr>
          <a:xfrm>
            <a:off x="8546270" y="2589051"/>
            <a:ext cx="2515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IN" b="1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)/</a:t>
            </a:r>
            <a:r>
              <a:rPr lang="en-IN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BE36F7-965E-1958-EBAD-6AB339F57C6B}"/>
              </a:ext>
            </a:extLst>
          </p:cNvPr>
          <p:cNvSpPr txBox="1"/>
          <p:nvPr/>
        </p:nvSpPr>
        <p:spPr>
          <a:xfrm>
            <a:off x="6478979" y="3466710"/>
            <a:ext cx="4351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Substituting these values we get </a:t>
            </a:r>
            <a:endParaRPr lang="en-IN" i="1" baseline="-25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CCFB65-DE0C-48A5-1AFE-6E2AD8EA6A2B}"/>
              </a:ext>
            </a:extLst>
          </p:cNvPr>
          <p:cNvSpPr txBox="1"/>
          <p:nvPr/>
        </p:nvSpPr>
        <p:spPr>
          <a:xfrm>
            <a:off x="7041934" y="4453654"/>
            <a:ext cx="41668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dirty="0"/>
              <a:t> = </a:t>
            </a:r>
            <a:r>
              <a:rPr lang="en-IN" b="1" dirty="0"/>
              <a:t>-10</a:t>
            </a:r>
            <a:r>
              <a:rPr lang="en-IN" b="1" baseline="30000" dirty="0"/>
              <a:t>4 </a:t>
            </a:r>
            <a:r>
              <a:rPr lang="en-IN" b="1" dirty="0"/>
              <a:t>(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dirty="0"/>
          </a:p>
          <a:p>
            <a:endParaRPr lang="en-IN" b="1" i="1" baseline="30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57C1E1-4134-A7E8-8AB0-57C7411E5D50}"/>
              </a:ext>
            </a:extLst>
          </p:cNvPr>
          <p:cNvSpPr txBox="1"/>
          <p:nvPr/>
        </p:nvSpPr>
        <p:spPr>
          <a:xfrm>
            <a:off x="422786" y="79109"/>
            <a:ext cx="11523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Find the force on a charge of -100mC located at P (2, 0, 5) in free space due to another charge 300µC located at Q (1, 2, 3).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99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22" grpId="0" animBg="1"/>
      <p:bldP spid="23" grpId="0" animBg="1"/>
      <p:bldP spid="24" grpId="0" animBg="1"/>
      <p:bldP spid="34" grpId="0"/>
      <p:bldP spid="35" grpId="0"/>
      <p:bldP spid="36" grpId="0"/>
      <p:bldP spid="38" grpId="0"/>
      <p:bldP spid="39" grpId="0"/>
      <p:bldP spid="2" grpId="0"/>
      <p:bldP spid="3" grpId="0"/>
      <p:bldP spid="17" grpId="0"/>
      <p:bldP spid="18" grpId="0"/>
      <p:bldP spid="20" grpId="0"/>
      <p:bldP spid="25" grpId="0"/>
      <p:bldP spid="27" grpId="0"/>
      <p:bldP spid="31" grpId="0"/>
      <p:bldP spid="32" grpId="0"/>
      <p:bldP spid="3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F0D406-41C9-44FE-AFF9-81CD0B655B17}"/>
              </a:ext>
            </a:extLst>
          </p:cNvPr>
          <p:cNvCxnSpPr>
            <a:cxnSpLocks/>
          </p:cNvCxnSpPr>
          <p:nvPr/>
        </p:nvCxnSpPr>
        <p:spPr>
          <a:xfrm flipH="1">
            <a:off x="1081548" y="5378836"/>
            <a:ext cx="1292695" cy="726996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5F7C73-53F9-479A-8216-F8B147719BC9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265553-7DC9-424C-80DB-54A6ACCA0F3F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4D79F4B-6FE9-4986-90E3-C62EDF7FA182}"/>
              </a:ext>
            </a:extLst>
          </p:cNvPr>
          <p:cNvSpPr txBox="1"/>
          <p:nvPr/>
        </p:nvSpPr>
        <p:spPr>
          <a:xfrm>
            <a:off x="928062" y="5698271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CCE71-614E-48CF-9ED9-E0F9D7B9409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A9A18-FE5C-43D6-A605-5598B8E26A76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D549DD-E1DD-4ED3-9AF8-6318B0220894}"/>
              </a:ext>
            </a:extLst>
          </p:cNvPr>
          <p:cNvSpPr/>
          <p:nvPr/>
        </p:nvSpPr>
        <p:spPr>
          <a:xfrm rot="10800000" flipV="1">
            <a:off x="5681369" y="44691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A24ECCCA-3A66-4D45-897E-9178F9BC24AB}"/>
              </a:ext>
            </a:extLst>
          </p:cNvPr>
          <p:cNvSpPr/>
          <p:nvPr/>
        </p:nvSpPr>
        <p:spPr>
          <a:xfrm>
            <a:off x="2080479" y="5063372"/>
            <a:ext cx="568713" cy="512958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r>
              <a:rPr lang="en-IN" sz="1200" i="1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54A86F9A-4E83-40B1-94B5-7C651574598D}"/>
              </a:ext>
            </a:extLst>
          </p:cNvPr>
          <p:cNvSpPr/>
          <p:nvPr/>
        </p:nvSpPr>
        <p:spPr>
          <a:xfrm>
            <a:off x="5478727" y="4258446"/>
            <a:ext cx="527824" cy="512957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r>
              <a:rPr lang="en-IN" sz="1200" i="1" baseline="-250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3BEE59-85BE-4EC4-85D1-22E28F7C422C}"/>
              </a:ext>
            </a:extLst>
          </p:cNvPr>
          <p:cNvCxnSpPr>
            <a:cxnSpLocks/>
          </p:cNvCxnSpPr>
          <p:nvPr/>
        </p:nvCxnSpPr>
        <p:spPr>
          <a:xfrm flipV="1">
            <a:off x="2364059" y="4538546"/>
            <a:ext cx="3323063" cy="858644"/>
          </a:xfrm>
          <a:prstGeom prst="line">
            <a:avLst/>
          </a:prstGeom>
          <a:ln>
            <a:solidFill>
              <a:srgbClr val="333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42B2F8-3AC6-484C-872E-44DF79AF3356}"/>
              </a:ext>
            </a:extLst>
          </p:cNvPr>
          <p:cNvSpPr txBox="1"/>
          <p:nvPr/>
        </p:nvSpPr>
        <p:spPr>
          <a:xfrm>
            <a:off x="3772588" y="4629675"/>
            <a:ext cx="49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C00000"/>
                </a:solidFill>
              </a:rPr>
              <a:t>R</a:t>
            </a:r>
            <a:endParaRPr lang="en-IN" b="1" i="1" baseline="-25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BDE00A-5206-4D8D-BF7C-D8A95105D217}"/>
                  </a:ext>
                </a:extLst>
              </p:cNvPr>
              <p:cNvSpPr txBox="1"/>
              <p:nvPr/>
            </p:nvSpPr>
            <p:spPr>
              <a:xfrm>
                <a:off x="5392514" y="679265"/>
                <a:ext cx="43512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Force on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I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i="1" dirty="0"/>
                  <a:t>charge is given by</a:t>
                </a:r>
                <a:endParaRPr lang="en-IN" i="1" baseline="-25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BDE00A-5206-4D8D-BF7C-D8A95105D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514" y="679265"/>
                <a:ext cx="4351254" cy="369332"/>
              </a:xfrm>
              <a:prstGeom prst="rect">
                <a:avLst/>
              </a:prstGeom>
              <a:blipFill>
                <a:blip r:embed="rId2"/>
                <a:stretch>
                  <a:fillRect l="-1262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9B07D0C-57C2-4C8A-A92C-86FCF34CD1FA}"/>
              </a:ext>
            </a:extLst>
          </p:cNvPr>
          <p:cNvSpPr txBox="1"/>
          <p:nvPr/>
        </p:nvSpPr>
        <p:spPr>
          <a:xfrm>
            <a:off x="6289767" y="1125435"/>
            <a:ext cx="71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dirty="0"/>
              <a:t> = </a:t>
            </a:r>
            <a:endParaRPr lang="en-IN" b="1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854990-6ECA-4119-B962-F6EA66132631}"/>
                  </a:ext>
                </a:extLst>
              </p:cNvPr>
              <p:cNvSpPr txBox="1"/>
              <p:nvPr/>
            </p:nvSpPr>
            <p:spPr>
              <a:xfrm>
                <a:off x="6671667" y="962965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2 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854990-6ECA-4119-B962-F6EA66132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667" y="962965"/>
                <a:ext cx="2085278" cy="798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BDA23AE-5F17-4D62-AEA3-4AD9AE9EE180}"/>
              </a:ext>
            </a:extLst>
          </p:cNvPr>
          <p:cNvSpPr txBox="1"/>
          <p:nvPr/>
        </p:nvSpPr>
        <p:spPr>
          <a:xfrm>
            <a:off x="8533920" y="1143060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AE166D-F956-D58D-6B56-45304EF48396}"/>
              </a:ext>
            </a:extLst>
          </p:cNvPr>
          <p:cNvSpPr txBox="1"/>
          <p:nvPr/>
        </p:nvSpPr>
        <p:spPr>
          <a:xfrm>
            <a:off x="1377626" y="4907424"/>
            <a:ext cx="114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</a:t>
            </a:r>
            <a:r>
              <a:rPr lang="en-IN" i="1" dirty="0"/>
              <a:t>0</a:t>
            </a:r>
            <a:r>
              <a:rPr lang="en-IN" dirty="0"/>
              <a:t>, 0, 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42886-AF5F-54F9-99CA-454FF20386D9}"/>
              </a:ext>
            </a:extLst>
          </p:cNvPr>
          <p:cNvSpPr txBox="1"/>
          <p:nvPr/>
        </p:nvSpPr>
        <p:spPr>
          <a:xfrm>
            <a:off x="5364606" y="4696030"/>
            <a:ext cx="114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</a:t>
            </a:r>
            <a:r>
              <a:rPr lang="en-IN" i="1" dirty="0"/>
              <a:t>2</a:t>
            </a:r>
            <a:r>
              <a:rPr lang="en-IN" dirty="0"/>
              <a:t>, 3, 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0D4A8E-EBAC-EE33-6295-C238281F1483}"/>
                  </a:ext>
                </a:extLst>
              </p:cNvPr>
              <p:cNvSpPr txBox="1"/>
              <p:nvPr/>
            </p:nvSpPr>
            <p:spPr>
              <a:xfrm>
                <a:off x="2163575" y="5539278"/>
                <a:ext cx="9532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5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I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endParaRPr lang="en-IN" i="1" baseline="-25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0D4A8E-EBAC-EE33-6295-C238281F1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575" y="5539278"/>
                <a:ext cx="953250" cy="369332"/>
              </a:xfrm>
              <a:prstGeom prst="rect">
                <a:avLst/>
              </a:prstGeom>
              <a:blipFill>
                <a:blip r:embed="rId4"/>
                <a:stretch>
                  <a:fillRect l="-576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CECC27-0BD8-8AF1-C92B-2DBEBFC80234}"/>
                  </a:ext>
                </a:extLst>
              </p:cNvPr>
              <p:cNvSpPr txBox="1"/>
              <p:nvPr/>
            </p:nvSpPr>
            <p:spPr>
              <a:xfrm>
                <a:off x="5236157" y="3951369"/>
                <a:ext cx="11744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I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I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i="1" baseline="-25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CECC27-0BD8-8AF1-C92B-2DBEBFC80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157" y="3951369"/>
                <a:ext cx="117447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0DC0C-6A86-9F5F-13A1-8A2C702A2AE5}"/>
                  </a:ext>
                </a:extLst>
              </p:cNvPr>
              <p:cNvSpPr txBox="1"/>
              <p:nvPr/>
            </p:nvSpPr>
            <p:spPr>
              <a:xfrm>
                <a:off x="7629832" y="1978431"/>
                <a:ext cx="2212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dirty="0"/>
                  <a:t>8.988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IN" sz="1800" dirty="0"/>
                  <a:t>10 </a:t>
                </a:r>
                <a:r>
                  <a:rPr lang="en-IN" sz="1800" baseline="30000" dirty="0"/>
                  <a:t>9 </a:t>
                </a:r>
                <a:r>
                  <a:rPr lang="en-IN" sz="1800" dirty="0"/>
                  <a:t>N</a:t>
                </a:r>
                <a:r>
                  <a:rPr lang="en-IN" sz="1800" i="1" dirty="0"/>
                  <a:t> </a:t>
                </a:r>
                <a:r>
                  <a:rPr lang="en-IN" sz="1800" dirty="0"/>
                  <a:t>m</a:t>
                </a:r>
                <a:r>
                  <a:rPr lang="en-IN" sz="1800" baseline="30000" dirty="0"/>
                  <a:t>2</a:t>
                </a:r>
                <a:r>
                  <a:rPr lang="en-IN" sz="1800" i="1" dirty="0"/>
                  <a:t>/</a:t>
                </a:r>
                <a:r>
                  <a:rPr lang="en-IN" sz="1800" dirty="0"/>
                  <a:t>C</a:t>
                </a:r>
                <a:r>
                  <a:rPr lang="en-IN" sz="1800" baseline="30000" dirty="0"/>
                  <a:t>2</a:t>
                </a:r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0DC0C-6A86-9F5F-13A1-8A2C702A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832" y="1978431"/>
                <a:ext cx="2212258" cy="369332"/>
              </a:xfrm>
              <a:prstGeom prst="rect">
                <a:avLst/>
              </a:prstGeom>
              <a:blipFill>
                <a:blip r:embed="rId6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BB4754-AE7A-0E7C-B13A-F09355E723E4}"/>
                  </a:ext>
                </a:extLst>
              </p:cNvPr>
              <p:cNvSpPr txBox="1"/>
              <p:nvPr/>
            </p:nvSpPr>
            <p:spPr>
              <a:xfrm>
                <a:off x="6204154" y="1905700"/>
                <a:ext cx="1484671" cy="53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Here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1" smtClean="0"/>
                          <m:t>1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BB4754-AE7A-0E7C-B13A-F09355E72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54" y="1905700"/>
                <a:ext cx="1484671" cy="534955"/>
              </a:xfrm>
              <a:prstGeom prst="rect">
                <a:avLst/>
              </a:prstGeom>
              <a:blipFill>
                <a:blip r:embed="rId7"/>
                <a:stretch>
                  <a:fillRect l="-3704" r="-1235" b="-6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BB74DD-0038-A5D4-7A02-57EE64412A67}"/>
                  </a:ext>
                </a:extLst>
              </p:cNvPr>
              <p:cNvSpPr txBox="1"/>
              <p:nvPr/>
            </p:nvSpPr>
            <p:spPr>
              <a:xfrm>
                <a:off x="6931742" y="2627360"/>
                <a:ext cx="6784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N" dirty="0"/>
                  <a:t>=7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BB74DD-0038-A5D4-7A02-57EE64412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42" y="2627360"/>
                <a:ext cx="678426" cy="369332"/>
              </a:xfrm>
              <a:prstGeom prst="rect">
                <a:avLst/>
              </a:prstGeom>
              <a:blipFill>
                <a:blip r:embed="rId8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889AAA8-D6F2-3F55-EA58-8A8D20A3B81E}"/>
              </a:ext>
            </a:extLst>
          </p:cNvPr>
          <p:cNvSpPr txBox="1"/>
          <p:nvPr/>
        </p:nvSpPr>
        <p:spPr>
          <a:xfrm>
            <a:off x="7669162" y="2597863"/>
            <a:ext cx="1042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and</a:t>
            </a:r>
            <a:r>
              <a:rPr lang="en-IN" b="1" dirty="0"/>
              <a:t> a</a:t>
            </a:r>
            <a:r>
              <a:rPr lang="en-IN" i="1" baseline="-25000" dirty="0"/>
              <a:t>R</a:t>
            </a:r>
            <a:r>
              <a:rPr lang="en-IN" i="1" dirty="0"/>
              <a:t>= </a:t>
            </a:r>
            <a:endParaRPr lang="en-IN" i="1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7A9BD0-3037-1D81-959D-574136DA6F82}"/>
              </a:ext>
            </a:extLst>
          </p:cNvPr>
          <p:cNvSpPr txBox="1"/>
          <p:nvPr/>
        </p:nvSpPr>
        <p:spPr>
          <a:xfrm>
            <a:off x="8546269" y="2589051"/>
            <a:ext cx="2534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(2a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+ 6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)/7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BE36F7-965E-1958-EBAD-6AB339F57C6B}"/>
              </a:ext>
            </a:extLst>
          </p:cNvPr>
          <p:cNvSpPr txBox="1"/>
          <p:nvPr/>
        </p:nvSpPr>
        <p:spPr>
          <a:xfrm>
            <a:off x="6478979" y="3466710"/>
            <a:ext cx="4351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Substituting these values we get </a:t>
            </a:r>
            <a:endParaRPr lang="en-IN" i="1" baseline="-25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CCFB65-DE0C-48A5-1AFE-6E2AD8EA6A2B}"/>
              </a:ext>
            </a:extLst>
          </p:cNvPr>
          <p:cNvSpPr txBox="1"/>
          <p:nvPr/>
        </p:nvSpPr>
        <p:spPr>
          <a:xfrm>
            <a:off x="7041934" y="4453654"/>
            <a:ext cx="41668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b="1" i="1" dirty="0"/>
              <a:t> = </a:t>
            </a:r>
            <a:r>
              <a:rPr lang="en-IN" b="1" dirty="0"/>
              <a:t>0.26 x 10</a:t>
            </a:r>
            <a:r>
              <a:rPr lang="en-IN" b="1" baseline="30000" dirty="0"/>
              <a:t>-3 </a:t>
            </a:r>
            <a:r>
              <a:rPr lang="en-IN" b="1" dirty="0"/>
              <a:t>(2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+ 6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 err="1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dirty="0"/>
          </a:p>
          <a:p>
            <a:endParaRPr lang="en-IN" b="1" i="1" baseline="30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57C1E1-4134-A7E8-8AB0-57C7411E5D50}"/>
              </a:ext>
            </a:extLst>
          </p:cNvPr>
          <p:cNvSpPr txBox="1"/>
          <p:nvPr/>
        </p:nvSpPr>
        <p:spPr>
          <a:xfrm>
            <a:off x="422786" y="79109"/>
            <a:ext cx="11523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point charge, Q1 = 2µC is at (2, 3, 6) and another charge, Q2 =5 µC is at (0, 0, 0) in free space. Find the force on Q1 due to Q2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41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2" grpId="0" animBg="1"/>
      <p:bldP spid="23" grpId="0" animBg="1"/>
      <p:bldP spid="24" grpId="0" animBg="1"/>
      <p:bldP spid="34" grpId="0"/>
      <p:bldP spid="35" grpId="0"/>
      <p:bldP spid="36" grpId="0"/>
      <p:bldP spid="38" grpId="0"/>
      <p:bldP spid="39" grpId="0"/>
      <p:bldP spid="2" grpId="0"/>
      <p:bldP spid="3" grpId="0"/>
      <p:bldP spid="17" grpId="0"/>
      <p:bldP spid="18" grpId="0"/>
      <p:bldP spid="20" grpId="0"/>
      <p:bldP spid="25" grpId="0"/>
      <p:bldP spid="27" grpId="0"/>
      <p:bldP spid="31" grpId="0"/>
      <p:bldP spid="32" grpId="0"/>
      <p:bldP spid="37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52E3D0-E3B6-4475-91DF-E93E92C8B22F}"/>
              </a:ext>
            </a:extLst>
          </p:cNvPr>
          <p:cNvSpPr txBox="1"/>
          <p:nvPr/>
        </p:nvSpPr>
        <p:spPr>
          <a:xfrm>
            <a:off x="289932" y="345688"/>
            <a:ext cx="8118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ELECTRIC FIELD INTENSITY, 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E69FA-CA5F-4713-80BB-03246E54C54B}"/>
              </a:ext>
            </a:extLst>
          </p:cNvPr>
          <p:cNvSpPr txBox="1"/>
          <p:nvPr/>
        </p:nvSpPr>
        <p:spPr>
          <a:xfrm>
            <a:off x="312234" y="936702"/>
            <a:ext cx="11563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/>
              <a:t>Consider a charge </a:t>
            </a:r>
            <a:r>
              <a:rPr lang="en-IN" sz="2000" i="1" dirty="0"/>
              <a:t>Q</a:t>
            </a:r>
            <a:r>
              <a:rPr lang="en-IN" sz="2000" i="1" baseline="-25000" dirty="0"/>
              <a:t>1</a:t>
            </a:r>
            <a:r>
              <a:rPr lang="en-IN" sz="2000" i="1" dirty="0"/>
              <a:t> </a:t>
            </a:r>
            <a:r>
              <a:rPr lang="en-IN" sz="2000" dirty="0"/>
              <a:t>and a positive test charge </a:t>
            </a:r>
            <a:r>
              <a:rPr lang="en-IN" sz="2000" i="1" dirty="0"/>
              <a:t>q</a:t>
            </a:r>
            <a:r>
              <a:rPr lang="en-IN" sz="2000" i="1" baseline="-25000" dirty="0"/>
              <a:t>t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E980E8E-A30E-4699-9BD4-26B896CBA206}"/>
              </a:ext>
            </a:extLst>
          </p:cNvPr>
          <p:cNvSpPr/>
          <p:nvPr/>
        </p:nvSpPr>
        <p:spPr>
          <a:xfrm>
            <a:off x="713678" y="2955073"/>
            <a:ext cx="769434" cy="769434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i="1" dirty="0">
                <a:solidFill>
                  <a:schemeClr val="bg1"/>
                </a:solidFill>
              </a:rPr>
              <a:t>Q</a:t>
            </a:r>
            <a:r>
              <a:rPr lang="en-IN" sz="2000" i="1" baseline="-25000" dirty="0">
                <a:solidFill>
                  <a:schemeClr val="bg1"/>
                </a:solidFill>
              </a:rPr>
              <a:t>1</a:t>
            </a:r>
            <a:endParaRPr lang="en-IN" sz="1400" i="1" baseline="-25000" dirty="0">
              <a:solidFill>
                <a:schemeClr val="bg1"/>
              </a:solidFill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9059FC8-9BD4-48EB-A035-25FC64EB9A42}"/>
              </a:ext>
            </a:extLst>
          </p:cNvPr>
          <p:cNvSpPr/>
          <p:nvPr/>
        </p:nvSpPr>
        <p:spPr>
          <a:xfrm>
            <a:off x="3118625" y="2349191"/>
            <a:ext cx="472067" cy="416312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i="1" dirty="0">
                <a:solidFill>
                  <a:schemeClr val="bg1"/>
                </a:solidFill>
              </a:rPr>
              <a:t>q</a:t>
            </a:r>
            <a:r>
              <a:rPr lang="en-IN" sz="1400" i="1" baseline="-25000" dirty="0">
                <a:solidFill>
                  <a:schemeClr val="bg1"/>
                </a:solidFill>
              </a:rPr>
              <a:t>t</a:t>
            </a:r>
            <a:endParaRPr lang="en-IN" sz="1050" i="1" baseline="-25000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B4A61C-B136-4B91-8872-9158E6033D3C}"/>
              </a:ext>
            </a:extLst>
          </p:cNvPr>
          <p:cNvCxnSpPr>
            <a:cxnSpLocks/>
          </p:cNvCxnSpPr>
          <p:nvPr/>
        </p:nvCxnSpPr>
        <p:spPr>
          <a:xfrm flipV="1">
            <a:off x="3601843" y="2074127"/>
            <a:ext cx="1137425" cy="412597"/>
          </a:xfrm>
          <a:prstGeom prst="straightConnector1">
            <a:avLst/>
          </a:prstGeom>
          <a:ln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1848A0-392B-4356-9BA9-C68D24DB9022}"/>
              </a:ext>
            </a:extLst>
          </p:cNvPr>
          <p:cNvSpPr txBox="1"/>
          <p:nvPr/>
        </p:nvSpPr>
        <p:spPr>
          <a:xfrm>
            <a:off x="4605454" y="1739590"/>
            <a:ext cx="8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</a:t>
            </a:r>
            <a:r>
              <a:rPr lang="en-IN" i="1" baseline="-25000" dirty="0"/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1B039-AF46-4D5F-8465-CDF89BD65A5B}"/>
              </a:ext>
            </a:extLst>
          </p:cNvPr>
          <p:cNvSpPr txBox="1"/>
          <p:nvPr/>
        </p:nvSpPr>
        <p:spPr>
          <a:xfrm>
            <a:off x="5363737" y="1750741"/>
            <a:ext cx="5497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Force on </a:t>
            </a:r>
            <a:r>
              <a:rPr lang="en-IN" sz="2000" i="1" dirty="0"/>
              <a:t>q</a:t>
            </a:r>
            <a:r>
              <a:rPr lang="en-IN" sz="2000" i="1" baseline="-25000" dirty="0"/>
              <a:t>t</a:t>
            </a:r>
            <a:r>
              <a:rPr lang="en-IN" sz="2000" i="1" dirty="0"/>
              <a:t> </a:t>
            </a:r>
            <a:r>
              <a:rPr lang="en-IN" sz="2000" dirty="0"/>
              <a:t>due to </a:t>
            </a:r>
            <a:r>
              <a:rPr lang="en-IN" sz="2000" i="1" dirty="0"/>
              <a:t>Q</a:t>
            </a:r>
            <a:r>
              <a:rPr lang="en-IN" sz="2000" i="1" baseline="-25000" dirty="0"/>
              <a:t>1</a:t>
            </a:r>
            <a:r>
              <a:rPr lang="en-IN" sz="2000" dirty="0"/>
              <a:t> is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64513-7B20-4C40-9B24-AF887AEF8ED1}"/>
              </a:ext>
            </a:extLst>
          </p:cNvPr>
          <p:cNvSpPr txBox="1"/>
          <p:nvPr/>
        </p:nvSpPr>
        <p:spPr>
          <a:xfrm>
            <a:off x="5706638" y="2385690"/>
            <a:ext cx="638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</a:t>
            </a:r>
            <a:r>
              <a:rPr lang="en-IN" i="1" baseline="-25000" dirty="0"/>
              <a:t>t </a:t>
            </a:r>
            <a:r>
              <a:rPr lang="en-IN" dirty="0"/>
              <a:t>= </a:t>
            </a:r>
            <a:r>
              <a:rPr lang="en-IN" i="1" baseline="-25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29FC5C-44B7-40DD-9B19-79778D01CD88}"/>
                  </a:ext>
                </a:extLst>
              </p:cNvPr>
              <p:cNvSpPr txBox="1"/>
              <p:nvPr/>
            </p:nvSpPr>
            <p:spPr>
              <a:xfrm>
                <a:off x="6174058" y="2289720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 dirty="0" smtClean="0"/>
                            <m:t>q</m:t>
                          </m:r>
                          <m:r>
                            <m:rPr>
                              <m:nor/>
                            </m:rPr>
                            <a:rPr lang="en-IN" b="0" i="1" baseline="-25000" dirty="0" smtClean="0"/>
                            <m:t>t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29FC5C-44B7-40DD-9B19-79778D01C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058" y="2289720"/>
                <a:ext cx="2085278" cy="7981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3477DF1-715E-4A13-8DC1-4F5B7F77D8CA}"/>
              </a:ext>
            </a:extLst>
          </p:cNvPr>
          <p:cNvSpPr txBox="1"/>
          <p:nvPr/>
        </p:nvSpPr>
        <p:spPr>
          <a:xfrm>
            <a:off x="8069765" y="2393794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1t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E2FF21-47B3-48B3-8C4D-9E85B96F3EA6}"/>
              </a:ext>
            </a:extLst>
          </p:cNvPr>
          <p:cNvSpPr txBox="1"/>
          <p:nvPr/>
        </p:nvSpPr>
        <p:spPr>
          <a:xfrm>
            <a:off x="5415775" y="3129776"/>
            <a:ext cx="5497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Now the force per unit positive charge is obtained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A69746-F647-45E5-A3DB-162E3086F4B5}"/>
                  </a:ext>
                </a:extLst>
              </p:cNvPr>
              <p:cNvSpPr txBox="1"/>
              <p:nvPr/>
            </p:nvSpPr>
            <p:spPr>
              <a:xfrm>
                <a:off x="5502197" y="3909690"/>
                <a:ext cx="1846455" cy="579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dirty="0"/>
                          <m:t>F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t</m:t>
                        </m:r>
                      </m:den>
                    </m:f>
                  </m:oMath>
                </a14:m>
                <a:r>
                  <a:rPr lang="en-IN" i="1" dirty="0"/>
                  <a:t> </a:t>
                </a:r>
                <a:r>
                  <a:rPr lang="en-IN" dirty="0"/>
                  <a:t>= </a:t>
                </a:r>
                <a:r>
                  <a:rPr lang="en-IN" i="1" baseline="-25000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A69746-F647-45E5-A3DB-162E3086F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197" y="3909690"/>
                <a:ext cx="1846455" cy="579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2AF120-D04E-475A-A81F-DF38BA79B098}"/>
                  </a:ext>
                </a:extLst>
              </p:cNvPr>
              <p:cNvSpPr txBox="1"/>
              <p:nvPr/>
            </p:nvSpPr>
            <p:spPr>
              <a:xfrm>
                <a:off x="5958468" y="3869475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2AF120-D04E-475A-A81F-DF38BA79B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468" y="3869475"/>
                <a:ext cx="2085278" cy="798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87AF287-BE4D-4FC5-BA38-11A1932DF9E9}"/>
              </a:ext>
            </a:extLst>
          </p:cNvPr>
          <p:cNvSpPr txBox="1"/>
          <p:nvPr/>
        </p:nvSpPr>
        <p:spPr>
          <a:xfrm>
            <a:off x="7898780" y="4007003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1t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98A955-3C32-4FB6-A497-34F07A5B1159}"/>
              </a:ext>
            </a:extLst>
          </p:cNvPr>
          <p:cNvSpPr txBox="1"/>
          <p:nvPr/>
        </p:nvSpPr>
        <p:spPr>
          <a:xfrm>
            <a:off x="349404" y="4709532"/>
            <a:ext cx="11760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/>
              <a:t>Force per unit positive charge </a:t>
            </a:r>
            <a:r>
              <a:rPr lang="en-IN" sz="2000" dirty="0"/>
              <a:t>at a point in space is called as the </a:t>
            </a:r>
            <a:r>
              <a:rPr lang="en-IN" sz="2000" i="1" dirty="0"/>
              <a:t>Electric Field Intensity </a:t>
            </a:r>
            <a:r>
              <a:rPr lang="en-IN" sz="2000" dirty="0"/>
              <a:t>at that point.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3A6A9C-9240-4116-847A-3FD54EF0EA12}"/>
              </a:ext>
            </a:extLst>
          </p:cNvPr>
          <p:cNvSpPr txBox="1"/>
          <p:nvPr/>
        </p:nvSpPr>
        <p:spPr>
          <a:xfrm>
            <a:off x="345688" y="5218771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9B2C9E-B4E0-469E-9028-A9A82F3665B7}"/>
                  </a:ext>
                </a:extLst>
              </p:cNvPr>
              <p:cNvSpPr txBox="1"/>
              <p:nvPr/>
            </p:nvSpPr>
            <p:spPr>
              <a:xfrm>
                <a:off x="3156724" y="5623260"/>
                <a:ext cx="1846455" cy="579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dirty="0"/>
                          <m:t>F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1" dirty="0"/>
                          <m:t>q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t</m:t>
                        </m:r>
                      </m:den>
                    </m:f>
                  </m:oMath>
                </a14:m>
                <a:r>
                  <a:rPr lang="en-IN" i="1" dirty="0"/>
                  <a:t>  </a:t>
                </a:r>
                <a:r>
                  <a:rPr lang="en-IN" dirty="0"/>
                  <a:t>= </a:t>
                </a:r>
                <a:r>
                  <a:rPr lang="en-IN" i="1" baseline="-25000" dirty="0"/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9B2C9E-B4E0-469E-9028-A9A82F366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724" y="5623260"/>
                <a:ext cx="1846455" cy="5797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DB254D-B395-4ED3-A9F8-61F9AAF90DB9}"/>
                  </a:ext>
                </a:extLst>
              </p:cNvPr>
              <p:cNvSpPr txBox="1"/>
              <p:nvPr/>
            </p:nvSpPr>
            <p:spPr>
              <a:xfrm>
                <a:off x="3624146" y="5560744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1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DB254D-B395-4ED3-A9F8-61F9AAF90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146" y="5560744"/>
                <a:ext cx="2085278" cy="7981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2314D0D-87E2-48B7-B255-333CD51BBB31}"/>
              </a:ext>
            </a:extLst>
          </p:cNvPr>
          <p:cNvSpPr txBox="1"/>
          <p:nvPr/>
        </p:nvSpPr>
        <p:spPr>
          <a:xfrm>
            <a:off x="5464096" y="5687120"/>
            <a:ext cx="59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1t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5626A2-2F1D-445A-BAA8-FC351C3C8353}"/>
              </a:ext>
            </a:extLst>
          </p:cNvPr>
          <p:cNvSpPr txBox="1"/>
          <p:nvPr/>
        </p:nvSpPr>
        <p:spPr>
          <a:xfrm>
            <a:off x="2676293" y="5742877"/>
            <a:ext cx="60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</a:t>
            </a:r>
            <a:r>
              <a:rPr lang="en-IN" i="1" baseline="-25000" dirty="0"/>
              <a:t>t</a:t>
            </a:r>
            <a:r>
              <a:rPr lang="en-IN" i="1" dirty="0"/>
              <a:t>=</a:t>
            </a:r>
            <a:endParaRPr lang="en-IN" i="1" baseline="-25000" dirty="0"/>
          </a:p>
        </p:txBody>
      </p:sp>
    </p:spTree>
    <p:extLst>
      <p:ext uri="{BB962C8B-B14F-4D97-AF65-F5344CB8AC3E}">
        <p14:creationId xmlns:p14="http://schemas.microsoft.com/office/powerpoint/2010/main" val="231808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15" grpId="0"/>
      <p:bldP spid="16" grpId="0"/>
      <p:bldP spid="18" grpId="0"/>
      <p:bldP spid="19" grpId="0"/>
      <p:bldP spid="20" grpId="0"/>
      <p:bldP spid="21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47E78C-25D7-45FA-9E2D-EE5F35CDAF7D}"/>
              </a:ext>
            </a:extLst>
          </p:cNvPr>
          <p:cNvCxnSpPr>
            <a:cxnSpLocks/>
          </p:cNvCxnSpPr>
          <p:nvPr/>
        </p:nvCxnSpPr>
        <p:spPr>
          <a:xfrm flipV="1">
            <a:off x="1103971" y="2632359"/>
            <a:ext cx="1286572" cy="724160"/>
          </a:xfrm>
          <a:prstGeom prst="straightConnector1">
            <a:avLst/>
          </a:prstGeom>
          <a:ln>
            <a:solidFill>
              <a:srgbClr val="FF0000">
                <a:alpha val="94902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052E3D0-E3B6-4475-91DF-E93E92C8B22F}"/>
              </a:ext>
            </a:extLst>
          </p:cNvPr>
          <p:cNvSpPr txBox="1"/>
          <p:nvPr/>
        </p:nvSpPr>
        <p:spPr>
          <a:xfrm>
            <a:off x="289932" y="345688"/>
            <a:ext cx="8118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ELECTRIC FIELD INTENSITY </a:t>
            </a:r>
            <a:r>
              <a:rPr lang="en-IN" sz="2000" i="1" dirty="0">
                <a:solidFill>
                  <a:srgbClr val="C00000"/>
                </a:solidFill>
              </a:rPr>
              <a:t>– General Expression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E980E8E-A30E-4699-9BD4-26B896CBA206}"/>
              </a:ext>
            </a:extLst>
          </p:cNvPr>
          <p:cNvSpPr/>
          <p:nvPr/>
        </p:nvSpPr>
        <p:spPr>
          <a:xfrm>
            <a:off x="713678" y="2955073"/>
            <a:ext cx="769434" cy="769434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i="1" dirty="0">
                <a:solidFill>
                  <a:schemeClr val="bg1"/>
                </a:solidFill>
              </a:rPr>
              <a:t>Q</a:t>
            </a:r>
            <a:endParaRPr lang="en-IN" sz="1400" i="1" baseline="-25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1848A0-392B-4356-9BA9-C68D24DB9022}"/>
              </a:ext>
            </a:extLst>
          </p:cNvPr>
          <p:cNvSpPr txBox="1"/>
          <p:nvPr/>
        </p:nvSpPr>
        <p:spPr>
          <a:xfrm>
            <a:off x="2497873" y="2442117"/>
            <a:ext cx="8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= ?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DB254D-B395-4ED3-A9F8-61F9AAF90DB9}"/>
                  </a:ext>
                </a:extLst>
              </p:cNvPr>
              <p:cNvSpPr txBox="1"/>
              <p:nvPr/>
            </p:nvSpPr>
            <p:spPr>
              <a:xfrm>
                <a:off x="5163014" y="1680120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DB254D-B395-4ED3-A9F8-61F9AAF90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014" y="1680120"/>
                <a:ext cx="2085278" cy="7981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2314D0D-87E2-48B7-B255-333CD51BBB31}"/>
              </a:ext>
            </a:extLst>
          </p:cNvPr>
          <p:cNvSpPr txBox="1"/>
          <p:nvPr/>
        </p:nvSpPr>
        <p:spPr>
          <a:xfrm>
            <a:off x="6880301" y="1784193"/>
            <a:ext cx="44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5626A2-2F1D-445A-BAA8-FC351C3C8353}"/>
              </a:ext>
            </a:extLst>
          </p:cNvPr>
          <p:cNvSpPr txBox="1"/>
          <p:nvPr/>
        </p:nvSpPr>
        <p:spPr>
          <a:xfrm>
            <a:off x="4917688" y="1851102"/>
            <a:ext cx="60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dirty="0"/>
              <a:t>=</a:t>
            </a:r>
            <a:endParaRPr lang="en-IN" i="1" baseline="-25000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48EE18D0-FE66-45B7-BAD9-935E81DDACBD}"/>
              </a:ext>
            </a:extLst>
          </p:cNvPr>
          <p:cNvSpPr/>
          <p:nvPr/>
        </p:nvSpPr>
        <p:spPr>
          <a:xfrm>
            <a:off x="2419815" y="2564781"/>
            <a:ext cx="45719" cy="45719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157C7-42FD-4864-8D68-D344EE189C5D}"/>
              </a:ext>
            </a:extLst>
          </p:cNvPr>
          <p:cNvSpPr txBox="1"/>
          <p:nvPr/>
        </p:nvSpPr>
        <p:spPr>
          <a:xfrm>
            <a:off x="301083" y="925551"/>
            <a:ext cx="11084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Electric Field Intensity </a:t>
            </a:r>
            <a:r>
              <a:rPr lang="en-IN" sz="2000" b="1" dirty="0"/>
              <a:t>E</a:t>
            </a:r>
            <a:r>
              <a:rPr lang="en-IN" sz="2000" dirty="0"/>
              <a:t> at a point due to a point charge </a:t>
            </a:r>
            <a:r>
              <a:rPr lang="en-IN" sz="2000" i="1" dirty="0"/>
              <a:t>Q</a:t>
            </a:r>
            <a:r>
              <a:rPr lang="en-IN" sz="2000" dirty="0"/>
              <a:t> can be expressed as </a:t>
            </a:r>
            <a:r>
              <a:rPr lang="en-IN" sz="2000" i="1" dirty="0"/>
              <a:t> </a:t>
            </a:r>
            <a:endParaRPr lang="en-IN" sz="2000" b="1" i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E38351-CCD3-4872-A3F7-0EC35F9CD04F}"/>
              </a:ext>
            </a:extLst>
          </p:cNvPr>
          <p:cNvSpPr/>
          <p:nvPr/>
        </p:nvSpPr>
        <p:spPr>
          <a:xfrm>
            <a:off x="4761570" y="1661533"/>
            <a:ext cx="2609385" cy="646771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AFF39-B754-4229-8D3B-8F707F5C9792}"/>
              </a:ext>
            </a:extLst>
          </p:cNvPr>
          <p:cNvSpPr txBox="1"/>
          <p:nvPr/>
        </p:nvSpPr>
        <p:spPr>
          <a:xfrm>
            <a:off x="1628079" y="2598234"/>
            <a:ext cx="356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E1058-6FCC-4C0A-ABEA-E47D359338D2}"/>
              </a:ext>
            </a:extLst>
          </p:cNvPr>
          <p:cNvSpPr txBox="1"/>
          <p:nvPr/>
        </p:nvSpPr>
        <p:spPr>
          <a:xfrm>
            <a:off x="7237141" y="2520176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Where</a:t>
            </a:r>
            <a:r>
              <a:rPr lang="en-IN" dirty="0"/>
              <a:t> </a:t>
            </a:r>
            <a:r>
              <a:rPr lang="en-IN" i="1" dirty="0"/>
              <a:t>R </a:t>
            </a:r>
            <a:r>
              <a:rPr lang="en-IN" dirty="0"/>
              <a:t>=         and   </a:t>
            </a:r>
            <a:r>
              <a:rPr lang="en-IN" b="1" dirty="0"/>
              <a:t>   a</a:t>
            </a:r>
            <a:r>
              <a:rPr lang="en-IN" i="1" baseline="-25000" dirty="0"/>
              <a:t>R</a:t>
            </a:r>
            <a:r>
              <a:rPr lang="en-IN" i="1" dirty="0"/>
              <a:t> =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74A9CC-8145-492F-B160-A8FB820C220A}"/>
              </a:ext>
            </a:extLst>
          </p:cNvPr>
          <p:cNvSpPr txBox="1"/>
          <p:nvPr/>
        </p:nvSpPr>
        <p:spPr>
          <a:xfrm>
            <a:off x="8382930" y="2541807"/>
            <a:ext cx="448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|</a:t>
            </a:r>
            <a:r>
              <a:rPr lang="en-IN" b="1" dirty="0">
                <a:solidFill>
                  <a:srgbClr val="FF0000"/>
                </a:solidFill>
              </a:rPr>
              <a:t>R</a:t>
            </a:r>
            <a:r>
              <a:rPr lang="en-IN" b="1" dirty="0"/>
              <a:t>|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405EFB-BBA7-4942-BE8D-0F12E0E0EAB9}"/>
                  </a:ext>
                </a:extLst>
              </p:cNvPr>
              <p:cNvSpPr txBox="1"/>
              <p:nvPr/>
            </p:nvSpPr>
            <p:spPr>
              <a:xfrm>
                <a:off x="9877194" y="2442302"/>
                <a:ext cx="749919" cy="594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num>
                        <m:den>
                          <m:r>
                            <a:rPr lang="en-IN" sz="1600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  <m:r>
                            <a:rPr lang="en-IN" sz="1600" b="1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405EFB-BBA7-4942-BE8D-0F12E0E0E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194" y="2442302"/>
                <a:ext cx="749919" cy="594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32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5" grpId="0"/>
      <p:bldP spid="31" grpId="0"/>
      <p:bldP spid="32" grpId="0"/>
      <p:bldP spid="33" grpId="0"/>
      <p:bldP spid="3" grpId="0" animBg="1"/>
      <p:bldP spid="8" grpId="0"/>
      <p:bldP spid="11" grpId="0" animBg="1"/>
      <p:bldP spid="14" grpId="0"/>
      <p:bldP spid="17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D0D59D-1D4B-48BB-A9C1-DD88652A0CD5}"/>
              </a:ext>
            </a:extLst>
          </p:cNvPr>
          <p:cNvSpPr txBox="1"/>
          <p:nvPr/>
        </p:nvSpPr>
        <p:spPr>
          <a:xfrm>
            <a:off x="289933" y="223024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Problem</a:t>
            </a:r>
            <a:r>
              <a:rPr lang="en-IN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5EDC42-C6B4-4962-9E6E-C05A59D9CACB}"/>
                  </a:ext>
                </a:extLst>
              </p:cNvPr>
              <p:cNvSpPr txBox="1"/>
              <p:nvPr/>
            </p:nvSpPr>
            <p:spPr>
              <a:xfrm>
                <a:off x="1371601" y="211873"/>
                <a:ext cx="10370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Calculate the electric filed intensity </a:t>
                </a:r>
                <a:r>
                  <a:rPr lang="en-IN" b="1" dirty="0"/>
                  <a:t>E</a:t>
                </a:r>
                <a:r>
                  <a:rPr lang="en-IN" dirty="0"/>
                  <a:t>, at a point </a:t>
                </a:r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r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IN" dirty="0"/>
                  <a:t>), when a point charge </a:t>
                </a:r>
                <a:r>
                  <a:rPr lang="en-IN" i="1" dirty="0"/>
                  <a:t>Q </a:t>
                </a:r>
                <a:r>
                  <a:rPr lang="en-IN" dirty="0"/>
                  <a:t>is located at the origin</a:t>
                </a:r>
                <a:r>
                  <a:rPr lang="en-IN" i="1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5EDC42-C6B4-4962-9E6E-C05A59D9C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211873"/>
                <a:ext cx="10370634" cy="369332"/>
              </a:xfrm>
              <a:prstGeom prst="rect">
                <a:avLst/>
              </a:prstGeom>
              <a:blipFill>
                <a:blip r:embed="rId2"/>
                <a:stretch>
                  <a:fillRect l="-47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3949B-FB7F-4082-A397-67561DDC15FD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DE48DC-30B0-4A64-B5C0-B3D70EBD96BA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62F68-034F-40CA-9B1D-CF1B72FEAF2E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3B6F3-4BF2-4CE1-87B2-5B0FC748845A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5F21D-71BD-4F36-966D-E989D9C914A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2C875-8F63-4518-A8D8-662E800E9450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D08EEB-060C-46E2-9D46-828CE0F044C3}"/>
              </a:ext>
            </a:extLst>
          </p:cNvPr>
          <p:cNvSpPr/>
          <p:nvPr/>
        </p:nvSpPr>
        <p:spPr>
          <a:xfrm rot="10800000" flipV="1">
            <a:off x="3465994" y="37926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7211E05-AE3D-4B82-8E4F-BC84134515AD}"/>
              </a:ext>
            </a:extLst>
          </p:cNvPr>
          <p:cNvSpPr/>
          <p:nvPr/>
        </p:nvSpPr>
        <p:spPr>
          <a:xfrm>
            <a:off x="2230241" y="5229922"/>
            <a:ext cx="267632" cy="267630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6E667-D4E5-4864-8995-F34A8E02CACD}"/>
              </a:ext>
            </a:extLst>
          </p:cNvPr>
          <p:cNvSpPr txBox="1"/>
          <p:nvPr/>
        </p:nvSpPr>
        <p:spPr>
          <a:xfrm>
            <a:off x="2732048" y="4047893"/>
            <a:ext cx="490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R</a:t>
            </a:r>
            <a:endParaRPr lang="en-IN" sz="1600" b="1" baseline="-25000" dirty="0">
              <a:solidFill>
                <a:srgbClr val="FF00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EA21A6-BCF8-4401-88B4-3B77DA5273E8}"/>
              </a:ext>
            </a:extLst>
          </p:cNvPr>
          <p:cNvCxnSpPr>
            <a:endCxn id="16" idx="5"/>
          </p:cNvCxnSpPr>
          <p:nvPr/>
        </p:nvCxnSpPr>
        <p:spPr>
          <a:xfrm flipV="1">
            <a:off x="2375210" y="3831648"/>
            <a:ext cx="1097479" cy="15320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540648-B00F-4C42-8CAE-ECDEC32B7DA2}"/>
              </a:ext>
            </a:extLst>
          </p:cNvPr>
          <p:cNvSpPr txBox="1"/>
          <p:nvPr/>
        </p:nvSpPr>
        <p:spPr>
          <a:xfrm>
            <a:off x="5337718" y="810323"/>
            <a:ext cx="4336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Since the electric field intensity is given by </a:t>
            </a:r>
            <a:endParaRPr lang="en-IN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15D3C4-705A-4C1B-B643-8B85550789AC}"/>
              </a:ext>
            </a:extLst>
          </p:cNvPr>
          <p:cNvSpPr txBox="1"/>
          <p:nvPr/>
        </p:nvSpPr>
        <p:spPr>
          <a:xfrm>
            <a:off x="5887844" y="1683833"/>
            <a:ext cx="60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1E02E7-044A-4862-8DDB-5D16627FF55E}"/>
                  </a:ext>
                </a:extLst>
              </p:cNvPr>
              <p:cNvSpPr txBox="1"/>
              <p:nvPr/>
            </p:nvSpPr>
            <p:spPr>
              <a:xfrm>
                <a:off x="6144321" y="1568607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1E02E7-044A-4862-8DDB-5D16627FF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321" y="1568607"/>
                <a:ext cx="2085278" cy="798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5778258-12AD-4B13-90C1-F693D4357E9A}"/>
              </a:ext>
            </a:extLst>
          </p:cNvPr>
          <p:cNvSpPr txBox="1"/>
          <p:nvPr/>
        </p:nvSpPr>
        <p:spPr>
          <a:xfrm>
            <a:off x="7995423" y="1717285"/>
            <a:ext cx="44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/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r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blipFill>
                <a:blip r:embed="rId4"/>
                <a:stretch>
                  <a:fillRect l="-425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CACFA02-E09F-4988-ABF3-94DAFC868527}"/>
              </a:ext>
            </a:extLst>
          </p:cNvPr>
          <p:cNvSpPr txBox="1"/>
          <p:nvPr/>
        </p:nvSpPr>
        <p:spPr>
          <a:xfrm>
            <a:off x="5430645" y="2631688"/>
            <a:ext cx="105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</a:t>
            </a:r>
            <a:r>
              <a:rPr lang="en-IN" b="1" dirty="0"/>
              <a:t>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6F478E-398F-4683-A894-D3EE9A45BC98}"/>
              </a:ext>
            </a:extLst>
          </p:cNvPr>
          <p:cNvSpPr txBox="1"/>
          <p:nvPr/>
        </p:nvSpPr>
        <p:spPr>
          <a:xfrm>
            <a:off x="6553201" y="3308195"/>
            <a:ext cx="141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 </a:t>
            </a:r>
            <a:r>
              <a:rPr lang="en-IN" i="1" dirty="0"/>
              <a:t> 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EE8561-9631-40E8-ACA9-897653FC9ECD}"/>
              </a:ext>
            </a:extLst>
          </p:cNvPr>
          <p:cNvSpPr txBox="1"/>
          <p:nvPr/>
        </p:nvSpPr>
        <p:spPr>
          <a:xfrm>
            <a:off x="7627434" y="3311241"/>
            <a:ext cx="323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r 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BF9AA-82B8-4254-A376-D16B7DA9BB03}"/>
              </a:ext>
            </a:extLst>
          </p:cNvPr>
          <p:cNvSpPr txBox="1"/>
          <p:nvPr/>
        </p:nvSpPr>
        <p:spPr>
          <a:xfrm>
            <a:off x="8017726" y="3311912"/>
            <a:ext cx="61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FE5F80-0FEA-4FE3-B583-62BD002EFB59}"/>
              </a:ext>
            </a:extLst>
          </p:cNvPr>
          <p:cNvSpPr txBox="1"/>
          <p:nvPr/>
        </p:nvSpPr>
        <p:spPr>
          <a:xfrm>
            <a:off x="8787161" y="3311240"/>
            <a:ext cx="669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 </a:t>
            </a:r>
            <a:r>
              <a:rPr lang="en-IN" i="1" dirty="0"/>
              <a:t>= </a:t>
            </a:r>
            <a:endParaRPr lang="en-IN" i="1" baseline="-25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5F399A-1971-4BE2-91B7-65A6D7E526DB}"/>
              </a:ext>
            </a:extLst>
          </p:cNvPr>
          <p:cNvSpPr txBox="1"/>
          <p:nvPr/>
        </p:nvSpPr>
        <p:spPr>
          <a:xfrm>
            <a:off x="9277815" y="3300089"/>
            <a:ext cx="401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a</a:t>
            </a:r>
            <a:r>
              <a:rPr lang="en-IN" i="1" baseline="-25000" dirty="0" err="1"/>
              <a:t>r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DD26F-440B-4893-AA95-178841B41D8E}"/>
              </a:ext>
            </a:extLst>
          </p:cNvPr>
          <p:cNvSpPr txBox="1"/>
          <p:nvPr/>
        </p:nvSpPr>
        <p:spPr>
          <a:xfrm>
            <a:off x="6556917" y="2631018"/>
            <a:ext cx="56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r </a:t>
            </a:r>
            <a:r>
              <a:rPr lang="en-IN" b="1" dirty="0" err="1"/>
              <a:t>a</a:t>
            </a:r>
            <a:r>
              <a:rPr lang="en-IN" i="1" baseline="-25000" dirty="0" err="1"/>
              <a:t>r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A0B3D-1651-4DD0-B401-1CF3648063EB}"/>
              </a:ext>
            </a:extLst>
          </p:cNvPr>
          <p:cNvSpPr txBox="1"/>
          <p:nvPr/>
        </p:nvSpPr>
        <p:spPr>
          <a:xfrm>
            <a:off x="5910146" y="4460488"/>
            <a:ext cx="584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the Electric Field Intensity at </a:t>
            </a:r>
            <a:r>
              <a:rPr lang="en-IN" i="1" dirty="0"/>
              <a:t>P </a:t>
            </a:r>
            <a:r>
              <a:rPr lang="en-IN" dirty="0"/>
              <a:t>is </a:t>
            </a:r>
            <a:endParaRPr lang="en-IN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82EFB-D7ED-4536-8ECC-6625329C317A}"/>
              </a:ext>
            </a:extLst>
          </p:cNvPr>
          <p:cNvSpPr txBox="1"/>
          <p:nvPr/>
        </p:nvSpPr>
        <p:spPr>
          <a:xfrm>
            <a:off x="6545766" y="5597912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baseline="-25000" dirty="0"/>
              <a:t>at P 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/>
              <p:nvPr/>
            </p:nvSpPr>
            <p:spPr>
              <a:xfrm>
                <a:off x="7155364" y="5412061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364" y="5412061"/>
                <a:ext cx="2085278" cy="7981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18C5C5F-168E-47E1-B07E-370C75C94EF4}"/>
              </a:ext>
            </a:extLst>
          </p:cNvPr>
          <p:cNvSpPr txBox="1"/>
          <p:nvPr/>
        </p:nvSpPr>
        <p:spPr>
          <a:xfrm>
            <a:off x="8831766" y="5485729"/>
            <a:ext cx="423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a</a:t>
            </a:r>
            <a:r>
              <a:rPr lang="en-IN" i="1" baseline="-25000" dirty="0" err="1"/>
              <a:t>r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95E44E-AC5C-4BA2-874F-EDC2B4859D37}"/>
              </a:ext>
            </a:extLst>
          </p:cNvPr>
          <p:cNvSpPr txBox="1"/>
          <p:nvPr/>
        </p:nvSpPr>
        <p:spPr>
          <a:xfrm>
            <a:off x="3512632" y="3746809"/>
            <a:ext cx="82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dirty="0"/>
              <a:t>= 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2229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4" grpId="0"/>
      <p:bldP spid="15" grpId="0"/>
      <p:bldP spid="16" grpId="0" animBg="1"/>
      <p:bldP spid="18" grpId="0" animBg="1"/>
      <p:bldP spid="23" grpId="0"/>
      <p:bldP spid="40" grpId="0"/>
      <p:bldP spid="41" grpId="0"/>
      <p:bldP spid="42" grpId="0"/>
      <p:bldP spid="43" grpId="0"/>
      <p:bldP spid="45" grpId="0"/>
      <p:bldP spid="46" grpId="0"/>
      <p:bldP spid="47" grpId="0"/>
      <p:bldP spid="49" grpId="0"/>
      <p:bldP spid="50" grpId="0"/>
      <p:bldP spid="52" grpId="0"/>
      <p:bldP spid="54" grpId="0"/>
      <p:bldP spid="56" grpId="0"/>
      <p:bldP spid="57" grpId="0"/>
      <p:bldP spid="58" grpId="0"/>
      <p:bldP spid="59" grpId="0"/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D0D59D-1D4B-48BB-A9C1-DD88652A0CD5}"/>
              </a:ext>
            </a:extLst>
          </p:cNvPr>
          <p:cNvSpPr txBox="1"/>
          <p:nvPr/>
        </p:nvSpPr>
        <p:spPr>
          <a:xfrm>
            <a:off x="256479" y="211873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Problem</a:t>
            </a:r>
            <a:r>
              <a:rPr lang="en-IN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5EDC42-C6B4-4962-9E6E-C05A59D9CACB}"/>
                  </a:ext>
                </a:extLst>
              </p:cNvPr>
              <p:cNvSpPr txBox="1"/>
              <p:nvPr/>
            </p:nvSpPr>
            <p:spPr>
              <a:xfrm>
                <a:off x="1371601" y="211873"/>
                <a:ext cx="10370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Calculate the electric filed intensity </a:t>
                </a:r>
                <a:r>
                  <a:rPr lang="en-IN" b="1" dirty="0"/>
                  <a:t>E</a:t>
                </a:r>
                <a:r>
                  <a:rPr lang="en-IN" dirty="0"/>
                  <a:t>, at a point </a:t>
                </a:r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dirty="0"/>
                  <a:t>), when a point charge </a:t>
                </a:r>
                <a:r>
                  <a:rPr lang="en-IN" i="1" dirty="0"/>
                  <a:t>Q </a:t>
                </a:r>
                <a:r>
                  <a:rPr lang="en-IN" dirty="0"/>
                  <a:t>is located at the origin</a:t>
                </a:r>
                <a:r>
                  <a:rPr lang="en-IN" i="1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5EDC42-C6B4-4962-9E6E-C05A59D9C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211873"/>
                <a:ext cx="10370634" cy="369332"/>
              </a:xfrm>
              <a:prstGeom prst="rect">
                <a:avLst/>
              </a:prstGeom>
              <a:blipFill>
                <a:blip r:embed="rId2"/>
                <a:stretch>
                  <a:fillRect l="-47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3949B-FB7F-4082-A397-67561DDC15FD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DE48DC-30B0-4A64-B5C0-B3D70EBD96BA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62F68-034F-40CA-9B1D-CF1B72FEAF2E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3B6F3-4BF2-4CE1-87B2-5B0FC748845A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5F21D-71BD-4F36-966D-E989D9C914A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2C875-8F63-4518-A8D8-662E800E9450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D08EEB-060C-46E2-9D46-828CE0F044C3}"/>
              </a:ext>
            </a:extLst>
          </p:cNvPr>
          <p:cNvSpPr/>
          <p:nvPr/>
        </p:nvSpPr>
        <p:spPr>
          <a:xfrm rot="10800000" flipV="1">
            <a:off x="3465994" y="37926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7211E05-AE3D-4B82-8E4F-BC84134515AD}"/>
              </a:ext>
            </a:extLst>
          </p:cNvPr>
          <p:cNvSpPr/>
          <p:nvPr/>
        </p:nvSpPr>
        <p:spPr>
          <a:xfrm>
            <a:off x="2230241" y="5229922"/>
            <a:ext cx="267632" cy="267630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6E667-D4E5-4864-8995-F34A8E02CACD}"/>
              </a:ext>
            </a:extLst>
          </p:cNvPr>
          <p:cNvSpPr txBox="1"/>
          <p:nvPr/>
        </p:nvSpPr>
        <p:spPr>
          <a:xfrm>
            <a:off x="2732048" y="4047893"/>
            <a:ext cx="490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R</a:t>
            </a:r>
            <a:endParaRPr lang="en-IN" sz="1600" b="1" baseline="-25000" dirty="0">
              <a:solidFill>
                <a:srgbClr val="FF00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EA21A6-BCF8-4401-88B4-3B77DA5273E8}"/>
              </a:ext>
            </a:extLst>
          </p:cNvPr>
          <p:cNvCxnSpPr>
            <a:endCxn id="16" idx="5"/>
          </p:cNvCxnSpPr>
          <p:nvPr/>
        </p:nvCxnSpPr>
        <p:spPr>
          <a:xfrm flipV="1">
            <a:off x="2375210" y="3831648"/>
            <a:ext cx="1097479" cy="15320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540648-B00F-4C42-8CAE-ECDEC32B7DA2}"/>
              </a:ext>
            </a:extLst>
          </p:cNvPr>
          <p:cNvSpPr txBox="1"/>
          <p:nvPr/>
        </p:nvSpPr>
        <p:spPr>
          <a:xfrm>
            <a:off x="5337718" y="810323"/>
            <a:ext cx="4336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Since the electric field intensity is given by </a:t>
            </a:r>
            <a:endParaRPr lang="en-IN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15D3C4-705A-4C1B-B643-8B85550789AC}"/>
              </a:ext>
            </a:extLst>
          </p:cNvPr>
          <p:cNvSpPr txBox="1"/>
          <p:nvPr/>
        </p:nvSpPr>
        <p:spPr>
          <a:xfrm>
            <a:off x="5887844" y="1683833"/>
            <a:ext cx="60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1E02E7-044A-4862-8DDB-5D16627FF55E}"/>
                  </a:ext>
                </a:extLst>
              </p:cNvPr>
              <p:cNvSpPr txBox="1"/>
              <p:nvPr/>
            </p:nvSpPr>
            <p:spPr>
              <a:xfrm>
                <a:off x="6144321" y="1568607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1E02E7-044A-4862-8DDB-5D16627FF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321" y="1568607"/>
                <a:ext cx="2085278" cy="798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5778258-12AD-4B13-90C1-F693D4357E9A}"/>
              </a:ext>
            </a:extLst>
          </p:cNvPr>
          <p:cNvSpPr txBox="1"/>
          <p:nvPr/>
        </p:nvSpPr>
        <p:spPr>
          <a:xfrm>
            <a:off x="7995423" y="1717285"/>
            <a:ext cx="44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/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blipFill>
                <a:blip r:embed="rId4"/>
                <a:stretch>
                  <a:fillRect l="-425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CACFA02-E09F-4988-ABF3-94DAFC868527}"/>
              </a:ext>
            </a:extLst>
          </p:cNvPr>
          <p:cNvSpPr txBox="1"/>
          <p:nvPr/>
        </p:nvSpPr>
        <p:spPr>
          <a:xfrm>
            <a:off x="5430645" y="2631688"/>
            <a:ext cx="105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</a:t>
            </a:r>
            <a:r>
              <a:rPr lang="en-IN" b="1" dirty="0"/>
              <a:t>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6F478E-398F-4683-A894-D3EE9A45BC98}"/>
              </a:ext>
            </a:extLst>
          </p:cNvPr>
          <p:cNvSpPr txBox="1"/>
          <p:nvPr/>
        </p:nvSpPr>
        <p:spPr>
          <a:xfrm>
            <a:off x="5471533" y="3520069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 </a:t>
            </a:r>
            <a:r>
              <a:rPr lang="en-IN" i="1" dirty="0"/>
              <a:t> 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BF9AA-82B8-4254-A376-D16B7DA9BB03}"/>
              </a:ext>
            </a:extLst>
          </p:cNvPr>
          <p:cNvSpPr txBox="1"/>
          <p:nvPr/>
        </p:nvSpPr>
        <p:spPr>
          <a:xfrm>
            <a:off x="8218448" y="3568390"/>
            <a:ext cx="61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FE5F80-0FEA-4FE3-B583-62BD002EFB59}"/>
              </a:ext>
            </a:extLst>
          </p:cNvPr>
          <p:cNvSpPr txBox="1"/>
          <p:nvPr/>
        </p:nvSpPr>
        <p:spPr>
          <a:xfrm>
            <a:off x="8820615" y="3567719"/>
            <a:ext cx="669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 </a:t>
            </a:r>
            <a:r>
              <a:rPr lang="en-IN" i="1" dirty="0"/>
              <a:t>= 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5F399A-1971-4BE2-91B7-65A6D7E526DB}"/>
                  </a:ext>
                </a:extLst>
              </p:cNvPr>
              <p:cNvSpPr txBox="1"/>
              <p:nvPr/>
            </p:nvSpPr>
            <p:spPr>
              <a:xfrm>
                <a:off x="8976734" y="3433904"/>
                <a:ext cx="2802672" cy="643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 +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x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y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z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1/2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5F399A-1971-4BE2-91B7-65A6D7E5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734" y="3433904"/>
                <a:ext cx="2802672" cy="6430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F3DD26F-440B-4893-AA95-178841B41D8E}"/>
              </a:ext>
            </a:extLst>
          </p:cNvPr>
          <p:cNvSpPr txBox="1"/>
          <p:nvPr/>
        </p:nvSpPr>
        <p:spPr>
          <a:xfrm>
            <a:off x="6501160" y="2608715"/>
            <a:ext cx="2698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A0B3D-1651-4DD0-B401-1CF3648063EB}"/>
              </a:ext>
            </a:extLst>
          </p:cNvPr>
          <p:cNvSpPr txBox="1"/>
          <p:nvPr/>
        </p:nvSpPr>
        <p:spPr>
          <a:xfrm>
            <a:off x="5910146" y="4460488"/>
            <a:ext cx="584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the Electric Field Intensity at </a:t>
            </a:r>
            <a:r>
              <a:rPr lang="en-IN" i="1" dirty="0"/>
              <a:t>P </a:t>
            </a:r>
            <a:r>
              <a:rPr lang="en-IN" dirty="0"/>
              <a:t>is </a:t>
            </a:r>
            <a:endParaRPr lang="en-IN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82EFB-D7ED-4536-8ECC-6625329C317A}"/>
              </a:ext>
            </a:extLst>
          </p:cNvPr>
          <p:cNvSpPr txBox="1"/>
          <p:nvPr/>
        </p:nvSpPr>
        <p:spPr>
          <a:xfrm>
            <a:off x="5988205" y="5609064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baseline="-25000" dirty="0"/>
              <a:t>at P 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/>
              <p:nvPr/>
            </p:nvSpPr>
            <p:spPr>
              <a:xfrm>
                <a:off x="6943490" y="5445515"/>
                <a:ext cx="2345475" cy="84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x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y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z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/</m:t>
                          </m:r>
                          <m:r>
                            <m:rPr>
                              <m:nor/>
                            </m:rPr>
                            <a:rPr lang="en-IN" b="0" i="0" baseline="30000" dirty="0" smtClean="0"/>
                            <m:t>3/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2 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490" y="5445515"/>
                <a:ext cx="2345475" cy="846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18C5C5F-168E-47E1-B07E-370C75C94EF4}"/>
              </a:ext>
            </a:extLst>
          </p:cNvPr>
          <p:cNvSpPr txBox="1"/>
          <p:nvPr/>
        </p:nvSpPr>
        <p:spPr>
          <a:xfrm>
            <a:off x="9322419" y="5508032"/>
            <a:ext cx="2118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95E44E-AC5C-4BA2-874F-EDC2B4859D37}"/>
              </a:ext>
            </a:extLst>
          </p:cNvPr>
          <p:cNvSpPr txBox="1"/>
          <p:nvPr/>
        </p:nvSpPr>
        <p:spPr>
          <a:xfrm>
            <a:off x="3512632" y="3746809"/>
            <a:ext cx="82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dirty="0"/>
              <a:t>= ?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B07BC-3B9C-4FAB-8DE7-469F27044CD7}"/>
              </a:ext>
            </a:extLst>
          </p:cNvPr>
          <p:cNvSpPr txBox="1"/>
          <p:nvPr/>
        </p:nvSpPr>
        <p:spPr>
          <a:xfrm>
            <a:off x="6657278" y="3546088"/>
            <a:ext cx="331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</a:t>
            </a:r>
            <a:r>
              <a:rPr lang="en-IN" i="1" dirty="0"/>
              <a:t>x</a:t>
            </a:r>
            <a:r>
              <a:rPr lang="en-IN" baseline="30000" dirty="0"/>
              <a:t>2</a:t>
            </a:r>
            <a:r>
              <a:rPr lang="en-IN" dirty="0"/>
              <a:t> + </a:t>
            </a:r>
            <a:r>
              <a:rPr lang="en-IN" i="1" dirty="0"/>
              <a:t>y</a:t>
            </a:r>
            <a:r>
              <a:rPr lang="en-IN" baseline="30000" dirty="0"/>
              <a:t>2</a:t>
            </a:r>
            <a:r>
              <a:rPr lang="en-IN" dirty="0"/>
              <a:t> + </a:t>
            </a:r>
            <a:r>
              <a:rPr lang="en-IN" i="1" dirty="0"/>
              <a:t>z</a:t>
            </a:r>
            <a:r>
              <a:rPr lang="en-IN" baseline="30000" dirty="0"/>
              <a:t>2</a:t>
            </a:r>
            <a:r>
              <a:rPr lang="en-IN" dirty="0"/>
              <a:t>)</a:t>
            </a:r>
            <a:r>
              <a:rPr lang="en-IN" baseline="30000" dirty="0"/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51770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4" grpId="0"/>
      <p:bldP spid="15" grpId="0"/>
      <p:bldP spid="16" grpId="0" animBg="1"/>
      <p:bldP spid="18" grpId="0" animBg="1"/>
      <p:bldP spid="23" grpId="0"/>
      <p:bldP spid="40" grpId="0"/>
      <p:bldP spid="41" grpId="0"/>
      <p:bldP spid="42" grpId="0"/>
      <p:bldP spid="43" grpId="0"/>
      <p:bldP spid="45" grpId="0"/>
      <p:bldP spid="46" grpId="0"/>
      <p:bldP spid="47" grpId="0"/>
      <p:bldP spid="50" grpId="0"/>
      <p:bldP spid="52" grpId="0"/>
      <p:bldP spid="54" grpId="0"/>
      <p:bldP spid="56" grpId="0"/>
      <p:bldP spid="57" grpId="0"/>
      <p:bldP spid="58" grpId="0"/>
      <p:bldP spid="59" grpId="0"/>
      <p:bldP spid="61" grpId="0"/>
      <p:bldP spid="6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D0D59D-1D4B-48BB-A9C1-DD88652A0CD5}"/>
              </a:ext>
            </a:extLst>
          </p:cNvPr>
          <p:cNvSpPr txBox="1"/>
          <p:nvPr/>
        </p:nvSpPr>
        <p:spPr>
          <a:xfrm>
            <a:off x="256479" y="211873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Problem</a:t>
            </a:r>
            <a:r>
              <a:rPr lang="en-IN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5EDC42-C6B4-4962-9E6E-C05A59D9CACB}"/>
                  </a:ext>
                </a:extLst>
              </p:cNvPr>
              <p:cNvSpPr txBox="1"/>
              <p:nvPr/>
            </p:nvSpPr>
            <p:spPr>
              <a:xfrm>
                <a:off x="1371601" y="211873"/>
                <a:ext cx="10370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Calculate the electric filed intensity </a:t>
                </a:r>
                <a:r>
                  <a:rPr lang="en-IN" b="1" dirty="0"/>
                  <a:t>E</a:t>
                </a:r>
                <a:r>
                  <a:rPr lang="en-IN" dirty="0"/>
                  <a:t>, at a point </a:t>
                </a:r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dirty="0"/>
                  <a:t>), when a point charge </a:t>
                </a:r>
                <a:r>
                  <a:rPr lang="en-IN" i="1" dirty="0"/>
                  <a:t>Q </a:t>
                </a:r>
                <a:r>
                  <a:rPr lang="en-IN" dirty="0"/>
                  <a:t>is located at </a:t>
                </a:r>
                <a:r>
                  <a:rPr lang="en-IN" i="1" dirty="0"/>
                  <a:t>P</a:t>
                </a:r>
                <a:r>
                  <a:rPr lang="en-IN" i="1" baseline="30000" dirty="0"/>
                  <a:t>’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i="1" baseline="-25000" dirty="0"/>
                  <a:t>1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I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IN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</a:t>
                </a:r>
                <a:endParaRPr lang="en-IN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5EDC42-C6B4-4962-9E6E-C05A59D9C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211873"/>
                <a:ext cx="10370634" cy="369332"/>
              </a:xfrm>
              <a:prstGeom prst="rect">
                <a:avLst/>
              </a:prstGeom>
              <a:blipFill>
                <a:blip r:embed="rId2"/>
                <a:stretch>
                  <a:fillRect l="-470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3949B-FB7F-4082-A397-67561DDC15FD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DE48DC-30B0-4A64-B5C0-B3D70EBD96BA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62F68-034F-40CA-9B1D-CF1B72FEAF2E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3B6F3-4BF2-4CE1-87B2-5B0FC748845A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5F21D-71BD-4F36-966D-E989D9C914A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2C875-8F63-4518-A8D8-662E800E9450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D08EEB-060C-46E2-9D46-828CE0F044C3}"/>
              </a:ext>
            </a:extLst>
          </p:cNvPr>
          <p:cNvSpPr/>
          <p:nvPr/>
        </p:nvSpPr>
        <p:spPr>
          <a:xfrm rot="10800000" flipV="1">
            <a:off x="3465994" y="37926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7211E05-AE3D-4B82-8E4F-BC84134515AD}"/>
              </a:ext>
            </a:extLst>
          </p:cNvPr>
          <p:cNvSpPr/>
          <p:nvPr/>
        </p:nvSpPr>
        <p:spPr>
          <a:xfrm>
            <a:off x="1237782" y="4493942"/>
            <a:ext cx="267632" cy="267630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6E667-D4E5-4864-8995-F34A8E02CACD}"/>
              </a:ext>
            </a:extLst>
          </p:cNvPr>
          <p:cNvSpPr txBox="1"/>
          <p:nvPr/>
        </p:nvSpPr>
        <p:spPr>
          <a:xfrm>
            <a:off x="2732048" y="4047893"/>
            <a:ext cx="490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R</a:t>
            </a:r>
            <a:endParaRPr lang="en-IN" sz="1600" b="1" baseline="-25000" dirty="0">
              <a:solidFill>
                <a:srgbClr val="FF00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EA21A6-BCF8-4401-88B4-3B77DA5273E8}"/>
              </a:ext>
            </a:extLst>
          </p:cNvPr>
          <p:cNvCxnSpPr>
            <a:cxnSpLocks/>
            <a:endCxn id="16" idx="5"/>
          </p:cNvCxnSpPr>
          <p:nvPr/>
        </p:nvCxnSpPr>
        <p:spPr>
          <a:xfrm flipV="1">
            <a:off x="1371600" y="3831648"/>
            <a:ext cx="2101089" cy="7961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540648-B00F-4C42-8CAE-ECDEC32B7DA2}"/>
              </a:ext>
            </a:extLst>
          </p:cNvPr>
          <p:cNvSpPr txBox="1"/>
          <p:nvPr/>
        </p:nvSpPr>
        <p:spPr>
          <a:xfrm>
            <a:off x="5337718" y="810323"/>
            <a:ext cx="4336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Since the electric field intensity is given by </a:t>
            </a:r>
            <a:endParaRPr lang="en-IN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15D3C4-705A-4C1B-B643-8B85550789AC}"/>
              </a:ext>
            </a:extLst>
          </p:cNvPr>
          <p:cNvSpPr txBox="1"/>
          <p:nvPr/>
        </p:nvSpPr>
        <p:spPr>
          <a:xfrm>
            <a:off x="5887844" y="1683833"/>
            <a:ext cx="60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1E02E7-044A-4862-8DDB-5D16627FF55E}"/>
                  </a:ext>
                </a:extLst>
              </p:cNvPr>
              <p:cNvSpPr txBox="1"/>
              <p:nvPr/>
            </p:nvSpPr>
            <p:spPr>
              <a:xfrm>
                <a:off x="6144321" y="1568607"/>
                <a:ext cx="2085278" cy="79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01E02E7-044A-4862-8DDB-5D16627FF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321" y="1568607"/>
                <a:ext cx="2085278" cy="798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5778258-12AD-4B13-90C1-F693D4357E9A}"/>
              </a:ext>
            </a:extLst>
          </p:cNvPr>
          <p:cNvSpPr txBox="1"/>
          <p:nvPr/>
        </p:nvSpPr>
        <p:spPr>
          <a:xfrm>
            <a:off x="7995423" y="1717285"/>
            <a:ext cx="44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/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blipFill>
                <a:blip r:embed="rId4"/>
                <a:stretch>
                  <a:fillRect l="-425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CACFA02-E09F-4988-ABF3-94DAFC868527}"/>
              </a:ext>
            </a:extLst>
          </p:cNvPr>
          <p:cNvSpPr txBox="1"/>
          <p:nvPr/>
        </p:nvSpPr>
        <p:spPr>
          <a:xfrm>
            <a:off x="5430645" y="2631688"/>
            <a:ext cx="105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Here </a:t>
            </a:r>
            <a:r>
              <a:rPr lang="en-IN" b="1" dirty="0"/>
              <a:t>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6F478E-398F-4683-A894-D3EE9A45BC98}"/>
              </a:ext>
            </a:extLst>
          </p:cNvPr>
          <p:cNvSpPr txBox="1"/>
          <p:nvPr/>
        </p:nvSpPr>
        <p:spPr>
          <a:xfrm>
            <a:off x="7021553" y="354237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 </a:t>
            </a:r>
            <a:r>
              <a:rPr lang="en-IN" i="1" dirty="0"/>
              <a:t> 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BF9AA-82B8-4254-A376-D16B7DA9BB03}"/>
              </a:ext>
            </a:extLst>
          </p:cNvPr>
          <p:cNvSpPr txBox="1"/>
          <p:nvPr/>
        </p:nvSpPr>
        <p:spPr>
          <a:xfrm>
            <a:off x="5954750" y="4337826"/>
            <a:ext cx="61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FE5F80-0FEA-4FE3-B583-62BD002EFB59}"/>
              </a:ext>
            </a:extLst>
          </p:cNvPr>
          <p:cNvSpPr txBox="1"/>
          <p:nvPr/>
        </p:nvSpPr>
        <p:spPr>
          <a:xfrm>
            <a:off x="6779941" y="4326001"/>
            <a:ext cx="669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 </a:t>
            </a:r>
            <a:r>
              <a:rPr lang="en-IN" i="1" dirty="0"/>
              <a:t>= 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5F399A-1971-4BE2-91B7-65A6D7E526DB}"/>
                  </a:ext>
                </a:extLst>
              </p:cNvPr>
              <p:cNvSpPr txBox="1"/>
              <p:nvPr/>
            </p:nvSpPr>
            <p:spPr>
              <a:xfrm>
                <a:off x="6846851" y="4158733"/>
                <a:ext cx="4850778" cy="665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1/2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5F399A-1971-4BE2-91B7-65A6D7E5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851" y="4158733"/>
                <a:ext cx="4850778" cy="665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F3DD26F-440B-4893-AA95-178841B41D8E}"/>
              </a:ext>
            </a:extLst>
          </p:cNvPr>
          <p:cNvSpPr txBox="1"/>
          <p:nvPr/>
        </p:nvSpPr>
        <p:spPr>
          <a:xfrm>
            <a:off x="6501160" y="2608715"/>
            <a:ext cx="4059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A0B3D-1651-4DD0-B401-1CF3648063EB}"/>
              </a:ext>
            </a:extLst>
          </p:cNvPr>
          <p:cNvSpPr txBox="1"/>
          <p:nvPr/>
        </p:nvSpPr>
        <p:spPr>
          <a:xfrm>
            <a:off x="5843239" y="5129561"/>
            <a:ext cx="584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the Electric Field Intensity at </a:t>
            </a:r>
            <a:r>
              <a:rPr lang="en-IN" i="1" dirty="0"/>
              <a:t>P </a:t>
            </a:r>
            <a:r>
              <a:rPr lang="en-IN" dirty="0"/>
              <a:t>is </a:t>
            </a:r>
            <a:endParaRPr lang="en-IN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82EFB-D7ED-4536-8ECC-6625329C317A}"/>
              </a:ext>
            </a:extLst>
          </p:cNvPr>
          <p:cNvSpPr txBox="1"/>
          <p:nvPr/>
        </p:nvSpPr>
        <p:spPr>
          <a:xfrm>
            <a:off x="2798956" y="6122021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baseline="-25000" dirty="0"/>
              <a:t>at P 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/>
              <p:nvPr/>
            </p:nvSpPr>
            <p:spPr>
              <a:xfrm>
                <a:off x="3620427" y="6011935"/>
                <a:ext cx="2345475" cy="84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/</m:t>
                          </m:r>
                          <m:r>
                            <m:rPr>
                              <m:nor/>
                            </m:rPr>
                            <a:rPr lang="en-IN" b="0" i="0" baseline="30000" dirty="0" smtClean="0"/>
                            <m:t>3/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2 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427" y="6011935"/>
                <a:ext cx="2345475" cy="846065"/>
              </a:xfrm>
              <a:prstGeom prst="rect">
                <a:avLst/>
              </a:prstGeom>
              <a:blipFill>
                <a:blip r:embed="rId6"/>
                <a:stretch>
                  <a:fillRect r="-74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0995E44E-AC5C-4BA2-874F-EDC2B4859D37}"/>
              </a:ext>
            </a:extLst>
          </p:cNvPr>
          <p:cNvSpPr txBox="1"/>
          <p:nvPr/>
        </p:nvSpPr>
        <p:spPr>
          <a:xfrm>
            <a:off x="3512632" y="3746809"/>
            <a:ext cx="82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dirty="0"/>
              <a:t>= ?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B07BC-3B9C-4FAB-8DE7-469F27044CD7}"/>
              </a:ext>
            </a:extLst>
          </p:cNvPr>
          <p:cNvSpPr txBox="1"/>
          <p:nvPr/>
        </p:nvSpPr>
        <p:spPr>
          <a:xfrm>
            <a:off x="8196145" y="3523786"/>
            <a:ext cx="361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aseline="30000" dirty="0"/>
              <a:t>2</a:t>
            </a:r>
            <a:r>
              <a:rPr lang="en-IN" dirty="0"/>
              <a:t> 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baseline="30000" dirty="0"/>
              <a:t>2</a:t>
            </a:r>
            <a:r>
              <a:rPr lang="en-IN" dirty="0"/>
              <a:t> 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aseline="30000" dirty="0"/>
              <a:t>2</a:t>
            </a:r>
            <a:r>
              <a:rPr lang="en-IN" dirty="0"/>
              <a:t>)</a:t>
            </a:r>
            <a:r>
              <a:rPr lang="en-IN" baseline="30000" dirty="0"/>
              <a:t>1/2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E2AEB7-8F17-4409-9623-99727FC931FC}"/>
                  </a:ext>
                </a:extLst>
              </p:cNvPr>
              <p:cNvSpPr txBox="1"/>
              <p:nvPr/>
            </p:nvSpPr>
            <p:spPr>
              <a:xfrm>
                <a:off x="701597" y="4121563"/>
                <a:ext cx="13725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P</a:t>
                </a:r>
                <a:r>
                  <a:rPr lang="en-IN" i="1" baseline="30000" dirty="0"/>
                  <a:t>’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i="1" baseline="-25000" dirty="0"/>
                  <a:t>1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IN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IN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E2AEB7-8F17-4409-9623-99727FC93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97" y="4121563"/>
                <a:ext cx="1372529" cy="369332"/>
              </a:xfrm>
              <a:prstGeom prst="rect">
                <a:avLst/>
              </a:prstGeom>
              <a:blipFill>
                <a:blip r:embed="rId7"/>
                <a:stretch>
                  <a:fillRect l="-3556" t="-8197" r="-177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D00F7B7-BAF7-424C-A829-DE8E9B04967E}"/>
                  </a:ext>
                </a:extLst>
              </p:cNvPr>
              <p:cNvSpPr txBox="1"/>
              <p:nvPr/>
            </p:nvSpPr>
            <p:spPr>
              <a:xfrm>
                <a:off x="7868115" y="6032140"/>
                <a:ext cx="36213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IN" i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1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b="1" i="1" baseline="-2500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IN" b="1" i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IN" i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b="1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1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b="1" i="1" baseline="-25000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IN" b="1" i="1" baseline="-25000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  + 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m:rPr>
                          <m:nor/>
                        </m:rP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IN" i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b="1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1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b="1" i="1" baseline="-25000" dirty="0" smtClean="0">
                          <a:solidFill>
                            <a:srgbClr val="363435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IN" dirty="0" smtClean="0"/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D00F7B7-BAF7-424C-A829-DE8E9B049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115" y="6032140"/>
                <a:ext cx="3621358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8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4" grpId="0"/>
      <p:bldP spid="15" grpId="0"/>
      <p:bldP spid="16" grpId="0" animBg="1"/>
      <p:bldP spid="18" grpId="0" animBg="1"/>
      <p:bldP spid="23" grpId="0"/>
      <p:bldP spid="40" grpId="0"/>
      <p:bldP spid="41" grpId="0"/>
      <p:bldP spid="42" grpId="0"/>
      <p:bldP spid="43" grpId="0"/>
      <p:bldP spid="45" grpId="0"/>
      <p:bldP spid="46" grpId="0"/>
      <p:bldP spid="47" grpId="0"/>
      <p:bldP spid="50" grpId="0"/>
      <p:bldP spid="52" grpId="0"/>
      <p:bldP spid="54" grpId="0"/>
      <p:bldP spid="56" grpId="0"/>
      <p:bldP spid="57" grpId="0"/>
      <p:bldP spid="58" grpId="0"/>
      <p:bldP spid="59" grpId="0"/>
      <p:bldP spid="62" grpId="0"/>
      <p:bldP spid="3" grpId="0"/>
      <p:bldP spid="32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3949B-FB7F-4082-A397-67561DDC15FD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DE48DC-30B0-4A64-B5C0-B3D70EBD96BA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62F68-034F-40CA-9B1D-CF1B72FEAF2E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3B6F3-4BF2-4CE1-87B2-5B0FC748845A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5F21D-71BD-4F36-966D-E989D9C914A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2C875-8F63-4518-A8D8-662E800E9450}"/>
              </a:ext>
            </a:extLst>
          </p:cNvPr>
          <p:cNvSpPr txBox="1"/>
          <p:nvPr/>
        </p:nvSpPr>
        <p:spPr>
          <a:xfrm>
            <a:off x="5241978" y="5201098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D08EEB-060C-46E2-9D46-828CE0F044C3}"/>
              </a:ext>
            </a:extLst>
          </p:cNvPr>
          <p:cNvSpPr/>
          <p:nvPr/>
        </p:nvSpPr>
        <p:spPr>
          <a:xfrm rot="10800000" flipV="1">
            <a:off x="3465994" y="37926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7211E05-AE3D-4B82-8E4F-BC84134515AD}"/>
              </a:ext>
            </a:extLst>
          </p:cNvPr>
          <p:cNvSpPr/>
          <p:nvPr/>
        </p:nvSpPr>
        <p:spPr>
          <a:xfrm>
            <a:off x="1237782" y="4493942"/>
            <a:ext cx="267632" cy="267630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6E667-D4E5-4864-8995-F34A8E02CACD}"/>
              </a:ext>
            </a:extLst>
          </p:cNvPr>
          <p:cNvSpPr txBox="1"/>
          <p:nvPr/>
        </p:nvSpPr>
        <p:spPr>
          <a:xfrm>
            <a:off x="2732048" y="4047893"/>
            <a:ext cx="490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R</a:t>
            </a:r>
            <a:endParaRPr lang="en-IN" sz="1600" b="1" baseline="-25000" dirty="0">
              <a:solidFill>
                <a:srgbClr val="FF000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EA21A6-BCF8-4401-88B4-3B77DA5273E8}"/>
              </a:ext>
            </a:extLst>
          </p:cNvPr>
          <p:cNvCxnSpPr>
            <a:cxnSpLocks/>
            <a:endCxn id="16" idx="5"/>
          </p:cNvCxnSpPr>
          <p:nvPr/>
        </p:nvCxnSpPr>
        <p:spPr>
          <a:xfrm flipV="1">
            <a:off x="1371600" y="3831648"/>
            <a:ext cx="2101089" cy="7961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/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P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8A512F1-6513-4653-B483-DB4F38CE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432" y="3422753"/>
                <a:ext cx="1145788" cy="369332"/>
              </a:xfrm>
              <a:prstGeom prst="rect">
                <a:avLst/>
              </a:prstGeom>
              <a:blipFill>
                <a:blip r:embed="rId2"/>
                <a:stretch>
                  <a:fillRect l="-425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CACFA02-E09F-4988-ABF3-94DAFC868527}"/>
              </a:ext>
            </a:extLst>
          </p:cNvPr>
          <p:cNvSpPr txBox="1"/>
          <p:nvPr/>
        </p:nvSpPr>
        <p:spPr>
          <a:xfrm>
            <a:off x="5018049" y="1070517"/>
            <a:ext cx="105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</a:t>
            </a:r>
            <a:r>
              <a:rPr lang="en-IN" b="1" dirty="0"/>
              <a:t>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6F478E-398F-4683-A894-D3EE9A45BC98}"/>
              </a:ext>
            </a:extLst>
          </p:cNvPr>
          <p:cNvSpPr txBox="1"/>
          <p:nvPr/>
        </p:nvSpPr>
        <p:spPr>
          <a:xfrm>
            <a:off x="5003182" y="1691270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hence </a:t>
            </a:r>
            <a:r>
              <a:rPr lang="en-IN" i="1" dirty="0"/>
              <a:t> R </a:t>
            </a:r>
            <a:r>
              <a:rPr lang="en-IN" dirty="0"/>
              <a:t>=</a:t>
            </a:r>
            <a:endParaRPr lang="en-IN" b="1" i="1" baseline="-25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BF9AA-82B8-4254-A376-D16B7DA9BB03}"/>
              </a:ext>
            </a:extLst>
          </p:cNvPr>
          <p:cNvSpPr txBox="1"/>
          <p:nvPr/>
        </p:nvSpPr>
        <p:spPr>
          <a:xfrm>
            <a:off x="4795023" y="2720899"/>
            <a:ext cx="61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FE5F80-0FEA-4FE3-B583-62BD002EFB59}"/>
              </a:ext>
            </a:extLst>
          </p:cNvPr>
          <p:cNvSpPr txBox="1"/>
          <p:nvPr/>
        </p:nvSpPr>
        <p:spPr>
          <a:xfrm>
            <a:off x="5675970" y="2619864"/>
            <a:ext cx="669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</a:t>
            </a:r>
            <a:r>
              <a:rPr lang="en-IN" i="1" baseline="-25000" dirty="0"/>
              <a:t>R </a:t>
            </a:r>
            <a:r>
              <a:rPr lang="en-IN" i="1" dirty="0"/>
              <a:t>= 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5F399A-1971-4BE2-91B7-65A6D7E526DB}"/>
                  </a:ext>
                </a:extLst>
              </p:cNvPr>
              <p:cNvSpPr txBox="1"/>
              <p:nvPr/>
            </p:nvSpPr>
            <p:spPr>
              <a:xfrm>
                <a:off x="5519855" y="2463748"/>
                <a:ext cx="4850778" cy="665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1/2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5F399A-1971-4BE2-91B7-65A6D7E52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55" y="2463748"/>
                <a:ext cx="4850778" cy="665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F3DD26F-440B-4893-AA95-178841B41D8E}"/>
              </a:ext>
            </a:extLst>
          </p:cNvPr>
          <p:cNvSpPr txBox="1"/>
          <p:nvPr/>
        </p:nvSpPr>
        <p:spPr>
          <a:xfrm>
            <a:off x="6055111" y="1058696"/>
            <a:ext cx="354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I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</a:t>
            </a:r>
            <a:r>
              <a:rPr lang="en-IN" b="1" i="1" baseline="-25000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A0B3D-1651-4DD0-B401-1CF3648063EB}"/>
              </a:ext>
            </a:extLst>
          </p:cNvPr>
          <p:cNvSpPr txBox="1"/>
          <p:nvPr/>
        </p:nvSpPr>
        <p:spPr>
          <a:xfrm>
            <a:off x="5597912" y="3512635"/>
            <a:ext cx="584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the Electric Field Intensity at </a:t>
            </a:r>
            <a:r>
              <a:rPr lang="en-IN" i="1" dirty="0"/>
              <a:t>P </a:t>
            </a:r>
            <a:r>
              <a:rPr lang="en-IN" dirty="0"/>
              <a:t>is </a:t>
            </a:r>
            <a:endParaRPr lang="en-IN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82EFB-D7ED-4536-8ECC-6625329C317A}"/>
              </a:ext>
            </a:extLst>
          </p:cNvPr>
          <p:cNvSpPr txBox="1"/>
          <p:nvPr/>
        </p:nvSpPr>
        <p:spPr>
          <a:xfrm>
            <a:off x="4850780" y="4427035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baseline="-25000" dirty="0"/>
              <a:t>at P  </a:t>
            </a:r>
            <a:r>
              <a:rPr lang="en-IN" i="1" dirty="0"/>
              <a:t>=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/>
              <p:nvPr/>
            </p:nvSpPr>
            <p:spPr>
              <a:xfrm>
                <a:off x="5750310" y="4339252"/>
                <a:ext cx="2345475" cy="84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b="0" i="1" smtClean="0"/>
                            <m:t>1</m:t>
                          </m:r>
                          <m:r>
                            <m:rPr>
                              <m:nor/>
                            </m:rPr>
                            <a:rPr lang="en-IN" i="1" baseline="-25000" dirty="0"/>
                            <m:t>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i="1" dirty="0"/>
                            <m:t>Q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b="1" i="1" baseline="-25000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dirty="0"/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(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 +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– </m:t>
                          </m:r>
                          <m:r>
                            <m:rPr>
                              <m:nor/>
                            </m:rPr>
                            <a:rPr lang="en-IN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rgbClr val="363435"/>
                              </a:solidFill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IN" dirty="0"/>
                            <m:t>)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/</m:t>
                          </m:r>
                          <m:r>
                            <m:rPr>
                              <m:nor/>
                            </m:rPr>
                            <a:rPr lang="en-IN" b="0" i="0" baseline="30000" dirty="0" smtClean="0"/>
                            <m:t>3/</m:t>
                          </m:r>
                          <m:r>
                            <m:rPr>
                              <m:nor/>
                            </m:rPr>
                            <a:rPr lang="en-IN" baseline="30000" dirty="0"/>
                            <m:t>2 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9F61B67-BB15-4A0F-A27A-66DF92E6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310" y="4339252"/>
                <a:ext cx="2345475" cy="846065"/>
              </a:xfrm>
              <a:prstGeom prst="rect">
                <a:avLst/>
              </a:prstGeom>
              <a:blipFill>
                <a:blip r:embed="rId4"/>
                <a:stretch>
                  <a:fillRect r="-846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51B07BC-3B9C-4FAB-8DE7-469F27044CD7}"/>
              </a:ext>
            </a:extLst>
          </p:cNvPr>
          <p:cNvSpPr txBox="1"/>
          <p:nvPr/>
        </p:nvSpPr>
        <p:spPr>
          <a:xfrm>
            <a:off x="6200076" y="1639231"/>
            <a:ext cx="361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aseline="30000" dirty="0"/>
              <a:t>2</a:t>
            </a:r>
            <a:r>
              <a:rPr lang="en-IN" dirty="0"/>
              <a:t> 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baseline="30000" dirty="0"/>
              <a:t>2</a:t>
            </a:r>
            <a:r>
              <a:rPr lang="en-IN" dirty="0"/>
              <a:t> +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b="1" dirty="0">
                <a:solidFill>
                  <a:srgbClr val="36343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baseline="30000" dirty="0"/>
              <a:t>2</a:t>
            </a:r>
            <a:r>
              <a:rPr lang="en-IN" dirty="0"/>
              <a:t>)</a:t>
            </a:r>
            <a:r>
              <a:rPr lang="en-IN" baseline="30000" dirty="0"/>
              <a:t>1/2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E2AEB7-8F17-4409-9623-99727FC931FC}"/>
                  </a:ext>
                </a:extLst>
              </p:cNvPr>
              <p:cNvSpPr txBox="1"/>
              <p:nvPr/>
            </p:nvSpPr>
            <p:spPr>
              <a:xfrm>
                <a:off x="701597" y="4121563"/>
                <a:ext cx="13725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i="1" dirty="0"/>
                  <a:t>P</a:t>
                </a:r>
                <a:r>
                  <a:rPr lang="en-IN" i="1" baseline="30000" dirty="0"/>
                  <a:t>’</a:t>
                </a:r>
                <a:r>
                  <a:rPr lang="en-IN" dirty="0"/>
                  <a:t>(</a:t>
                </a:r>
                <a:r>
                  <a:rPr lang="en-IN" i="1" dirty="0"/>
                  <a:t>x</a:t>
                </a:r>
                <a:r>
                  <a:rPr lang="en-IN" i="1" baseline="-25000" dirty="0"/>
                  <a:t>1</a:t>
                </a:r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IN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IN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E2AEB7-8F17-4409-9623-99727FC93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97" y="4121563"/>
                <a:ext cx="1372529" cy="369332"/>
              </a:xfrm>
              <a:prstGeom prst="rect">
                <a:avLst/>
              </a:prstGeom>
              <a:blipFill>
                <a:blip r:embed="rId5"/>
                <a:stretch>
                  <a:fillRect l="-3556" t="-8197" r="-177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A489FF-863D-4E59-97D2-D654AC6F4CBE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2364059" y="3831648"/>
            <a:ext cx="1140959" cy="1565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DF5CC4-D6D4-4FC2-BBCE-250AF6DEC950}"/>
              </a:ext>
            </a:extLst>
          </p:cNvPr>
          <p:cNvSpPr txBox="1"/>
          <p:nvPr/>
        </p:nvSpPr>
        <p:spPr>
          <a:xfrm>
            <a:off x="2865863" y="4493942"/>
            <a:ext cx="89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OP</a:t>
            </a:r>
            <a:r>
              <a:rPr lang="en-IN" dirty="0"/>
              <a:t> = </a:t>
            </a:r>
            <a:r>
              <a:rPr lang="en-IN" b="1" i="1" dirty="0"/>
              <a:t>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A63999-4B29-4BBD-9823-3EF4A0BBB5AA}"/>
              </a:ext>
            </a:extLst>
          </p:cNvPr>
          <p:cNvCxnSpPr>
            <a:endCxn id="18" idx="4"/>
          </p:cNvCxnSpPr>
          <p:nvPr/>
        </p:nvCxnSpPr>
        <p:spPr>
          <a:xfrm flipH="1" flipV="1">
            <a:off x="1466220" y="4722378"/>
            <a:ext cx="897839" cy="674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7E36C12-BE8C-4B34-BAC1-F00F4C92C8D7}"/>
              </a:ext>
            </a:extLst>
          </p:cNvPr>
          <p:cNvSpPr txBox="1"/>
          <p:nvPr/>
        </p:nvSpPr>
        <p:spPr>
          <a:xfrm>
            <a:off x="899530" y="4913972"/>
            <a:ext cx="1040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OP’</a:t>
            </a:r>
            <a:r>
              <a:rPr lang="en-IN" dirty="0"/>
              <a:t> = </a:t>
            </a:r>
            <a:r>
              <a:rPr lang="en-IN" b="1" i="1" dirty="0"/>
              <a:t>r’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674B7A-EE6B-49D0-BD76-D58322330822}"/>
              </a:ext>
            </a:extLst>
          </p:cNvPr>
          <p:cNvSpPr txBox="1"/>
          <p:nvPr/>
        </p:nvSpPr>
        <p:spPr>
          <a:xfrm>
            <a:off x="9530575" y="1089104"/>
            <a:ext cx="89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 </a:t>
            </a:r>
            <a:r>
              <a:rPr lang="en-IN" b="1" i="1" dirty="0"/>
              <a:t>r</a:t>
            </a:r>
            <a:r>
              <a:rPr lang="en-IN" i="1" dirty="0"/>
              <a:t> – </a:t>
            </a:r>
            <a:r>
              <a:rPr lang="en-IN" b="1" i="1" dirty="0"/>
              <a:t>r’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A198DD-6681-4724-A8F3-EA31922B0D4B}"/>
              </a:ext>
            </a:extLst>
          </p:cNvPr>
          <p:cNvSpPr txBox="1"/>
          <p:nvPr/>
        </p:nvSpPr>
        <p:spPr>
          <a:xfrm>
            <a:off x="9526859" y="1631797"/>
            <a:ext cx="136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 |</a:t>
            </a:r>
            <a:r>
              <a:rPr lang="en-IN" b="1" i="1" dirty="0"/>
              <a:t>r</a:t>
            </a:r>
            <a:r>
              <a:rPr lang="en-IN" i="1" dirty="0"/>
              <a:t> – </a:t>
            </a:r>
            <a:r>
              <a:rPr lang="en-IN" b="1" i="1" dirty="0"/>
              <a:t>r’</a:t>
            </a:r>
            <a:r>
              <a:rPr lang="en-IN" i="1" dirty="0"/>
              <a:t>|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6C7F593-2A84-4B73-8B01-1041970F08F4}"/>
                  </a:ext>
                </a:extLst>
              </p:cNvPr>
              <p:cNvSpPr txBox="1"/>
              <p:nvPr/>
            </p:nvSpPr>
            <p:spPr>
              <a:xfrm>
                <a:off x="9630938" y="2493485"/>
                <a:ext cx="1174593" cy="584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1" i="1" dirty="0"/>
                          <m:t>’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1" i="1" dirty="0"/>
                          <m:t>’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6C7F593-2A84-4B73-8B01-1041970F0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938" y="2493485"/>
                <a:ext cx="1174593" cy="584391"/>
              </a:xfrm>
              <a:prstGeom prst="rect">
                <a:avLst/>
              </a:prstGeom>
              <a:blipFill>
                <a:blip r:embed="rId6"/>
                <a:stretch>
                  <a:fillRect l="-46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51F1451-23F9-48ED-A6E5-E61BB6EBA0B1}"/>
                  </a:ext>
                </a:extLst>
              </p:cNvPr>
              <p:cNvSpPr txBox="1"/>
              <p:nvPr/>
            </p:nvSpPr>
            <p:spPr>
              <a:xfrm>
                <a:off x="5010613" y="5774041"/>
                <a:ext cx="2382645" cy="852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𝜋𝜀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IN" b="1" i="1" dirty="0"/>
                            <m:t>r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– </m:t>
                          </m:r>
                          <m:r>
                            <m:rPr>
                              <m:nor/>
                            </m:rPr>
                            <a:rPr lang="en-IN" b="1" i="1" dirty="0"/>
                            <m:t>r</m:t>
                          </m:r>
                          <m:r>
                            <m:rPr>
                              <m:nor/>
                            </m:rPr>
                            <a:rPr lang="en-IN" b="1" i="1" dirty="0"/>
                            <m:t>’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dirty="0"/>
                            <m:t>|</m:t>
                          </m:r>
                          <m:r>
                            <m:rPr>
                              <m:nor/>
                            </m:rPr>
                            <a:rPr lang="en-IN" b="1" i="1" dirty="0"/>
                            <m:t>r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 – </m:t>
                          </m:r>
                          <m:r>
                            <m:rPr>
                              <m:nor/>
                            </m:rPr>
                            <a:rPr lang="en-IN" b="1" i="1" dirty="0"/>
                            <m:t>r</m:t>
                          </m:r>
                          <m:r>
                            <m:rPr>
                              <m:nor/>
                            </m:rPr>
                            <a:rPr lang="en-IN" b="1" i="1" dirty="0"/>
                            <m:t>’</m:t>
                          </m:r>
                          <m:r>
                            <m:rPr>
                              <m:nor/>
                            </m:rPr>
                            <a:rPr lang="en-IN" i="1" dirty="0"/>
                            <m:t>|</m:t>
                          </m:r>
                          <m:r>
                            <a:rPr lang="en-IN" b="0" i="1" baseline="3000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51F1451-23F9-48ED-A6E5-E61BB6EBA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613" y="5774041"/>
                <a:ext cx="2382645" cy="852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A92BC87F-E438-43EE-98FF-874320EEBDE3}"/>
              </a:ext>
            </a:extLst>
          </p:cNvPr>
          <p:cNvSpPr txBox="1"/>
          <p:nvPr/>
        </p:nvSpPr>
        <p:spPr>
          <a:xfrm>
            <a:off x="3676184" y="5884129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 </a:t>
            </a:r>
            <a:r>
              <a:rPr lang="en-IN" i="1" baseline="-25000" dirty="0"/>
              <a:t>at P  </a:t>
            </a:r>
            <a:r>
              <a:rPr lang="en-IN" i="1" dirty="0"/>
              <a:t>=</a:t>
            </a:r>
            <a:endParaRPr lang="en-IN" i="1" baseline="-25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0C7E9E-2685-419B-8F41-0E58AC25F75A}"/>
              </a:ext>
            </a:extLst>
          </p:cNvPr>
          <p:cNvSpPr txBox="1"/>
          <p:nvPr/>
        </p:nvSpPr>
        <p:spPr>
          <a:xfrm>
            <a:off x="431181" y="230459"/>
            <a:ext cx="922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Electric Field Intensity at </a:t>
            </a:r>
            <a:r>
              <a:rPr lang="en-IN" i="1" dirty="0"/>
              <a:t>P </a:t>
            </a:r>
            <a:r>
              <a:rPr lang="en-IN" dirty="0"/>
              <a:t>can be expressed in terms of position vectors as follows</a:t>
            </a:r>
            <a:endParaRPr lang="en-IN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E335F5-9D99-43C9-B9BD-32129562133D}"/>
              </a:ext>
            </a:extLst>
          </p:cNvPr>
          <p:cNvSpPr txBox="1"/>
          <p:nvPr/>
        </p:nvSpPr>
        <p:spPr>
          <a:xfrm>
            <a:off x="4486506" y="5913865"/>
            <a:ext cx="9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E(</a:t>
            </a:r>
            <a:r>
              <a:rPr lang="en-IN" b="1" i="1" dirty="0"/>
              <a:t>r</a:t>
            </a:r>
            <a:r>
              <a:rPr lang="en-IN" b="1" dirty="0"/>
              <a:t>)</a:t>
            </a:r>
            <a:r>
              <a:rPr lang="en-IN" i="1" baseline="-25000" dirty="0"/>
              <a:t> </a:t>
            </a:r>
            <a:r>
              <a:rPr lang="en-IN" i="1" dirty="0"/>
              <a:t>=</a:t>
            </a:r>
            <a:endParaRPr lang="en-IN" i="1" baseline="-250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3433D3-BA14-4956-AFC3-442E040BFB5D}"/>
              </a:ext>
            </a:extLst>
          </p:cNvPr>
          <p:cNvSpPr/>
          <p:nvPr/>
        </p:nvSpPr>
        <p:spPr>
          <a:xfrm>
            <a:off x="4517526" y="5776332"/>
            <a:ext cx="2787805" cy="691376"/>
          </a:xfrm>
          <a:prstGeom prst="roundRect">
            <a:avLst/>
          </a:prstGeom>
          <a:solidFill>
            <a:srgbClr val="FFDF1D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BF254D6-06A1-47D3-AE63-A52FA78DAE8A}"/>
                  </a:ext>
                </a:extLst>
              </p:cNvPr>
              <p:cNvSpPr txBox="1"/>
              <p:nvPr/>
            </p:nvSpPr>
            <p:spPr>
              <a:xfrm>
                <a:off x="7259442" y="5837231"/>
                <a:ext cx="2382645" cy="721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IN" b="1" i="1" baseline="30000"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1" i="1" dirty="0"/>
                          <m:t>’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  <m:r>
                          <m:rPr>
                            <m:nor/>
                          </m:rPr>
                          <a:rPr lang="en-IN" b="0" i="1" baseline="30000" dirty="0" smtClean="0"/>
                          <m:t>2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BF254D6-06A1-47D3-AE63-A52FA78DA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442" y="5837231"/>
                <a:ext cx="2382645" cy="721031"/>
              </a:xfrm>
              <a:prstGeom prst="rect">
                <a:avLst/>
              </a:prstGeom>
              <a:blipFill>
                <a:blip r:embed="rId8"/>
                <a:stretch>
                  <a:fillRect l="-2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CB6F3265-CE5C-4892-A140-8C9B9CA729D5}"/>
              </a:ext>
            </a:extLst>
          </p:cNvPr>
          <p:cNvSpPr txBox="1"/>
          <p:nvPr/>
        </p:nvSpPr>
        <p:spPr>
          <a:xfrm>
            <a:off x="9274097" y="5962187"/>
            <a:ext cx="784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9E9A7C7-86A5-4C6E-BA99-2BEF6D6F68A4}"/>
                  </a:ext>
                </a:extLst>
              </p:cNvPr>
              <p:cNvSpPr txBox="1"/>
              <p:nvPr/>
            </p:nvSpPr>
            <p:spPr>
              <a:xfrm>
                <a:off x="10005432" y="5965231"/>
                <a:ext cx="7108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b="1" i="1" baseline="2000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dirty="0"/>
                  <a:t> =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9E9A7C7-86A5-4C6E-BA99-2BEF6D6F6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432" y="5965231"/>
                <a:ext cx="710890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98041E-CC2E-43FA-BA3B-7E3DC75859C8}"/>
                  </a:ext>
                </a:extLst>
              </p:cNvPr>
              <p:cNvSpPr txBox="1"/>
              <p:nvPr/>
            </p:nvSpPr>
            <p:spPr>
              <a:xfrm>
                <a:off x="10452412" y="5857436"/>
                <a:ext cx="1174593" cy="584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1" i="1" dirty="0"/>
                          <m:t>’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1" i="1" dirty="0"/>
                          <m:t>’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98041E-CC2E-43FA-BA3B-7E3DC7585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412" y="5857436"/>
                <a:ext cx="1174593" cy="5843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94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0" grpId="0"/>
      <p:bldP spid="52" grpId="0"/>
      <p:bldP spid="54" grpId="0"/>
      <p:bldP spid="56" grpId="0"/>
      <p:bldP spid="57" grpId="0"/>
      <p:bldP spid="58" grpId="0"/>
      <p:bldP spid="59" grpId="0"/>
      <p:bldP spid="3" grpId="0"/>
      <p:bldP spid="49" grpId="0"/>
      <p:bldP spid="51" grpId="0"/>
      <p:bldP spid="53" grpId="0"/>
      <p:bldP spid="55" grpId="0"/>
      <p:bldP spid="60" grpId="0"/>
      <p:bldP spid="19" grpId="0" animBg="1"/>
      <p:bldP spid="61" grpId="0"/>
      <p:bldP spid="63" grpId="0"/>
      <p:bldP spid="64" grpId="0"/>
      <p:bldP spid="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77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73949B-FB7F-4082-A397-67561DDC15FD}"/>
              </a:ext>
            </a:extLst>
          </p:cNvPr>
          <p:cNvCxnSpPr>
            <a:cxnSpLocks/>
          </p:cNvCxnSpPr>
          <p:nvPr/>
        </p:nvCxnSpPr>
        <p:spPr>
          <a:xfrm flipH="1">
            <a:off x="474478" y="5378836"/>
            <a:ext cx="1899765" cy="1040958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DE48DC-30B0-4A64-B5C0-B3D70EBD96BA}"/>
              </a:ext>
            </a:extLst>
          </p:cNvPr>
          <p:cNvCxnSpPr/>
          <p:nvPr/>
        </p:nvCxnSpPr>
        <p:spPr>
          <a:xfrm>
            <a:off x="2364302" y="5398714"/>
            <a:ext cx="2922104" cy="0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62F68-034F-40CA-9B1D-CF1B72FEAF2E}"/>
              </a:ext>
            </a:extLst>
          </p:cNvPr>
          <p:cNvCxnSpPr>
            <a:cxnSpLocks/>
          </p:cNvCxnSpPr>
          <p:nvPr/>
        </p:nvCxnSpPr>
        <p:spPr>
          <a:xfrm flipV="1">
            <a:off x="2364302" y="2274607"/>
            <a:ext cx="0" cy="3114169"/>
          </a:xfrm>
          <a:prstGeom prst="straightConnector1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43B6F3-4BF2-4CE1-87B2-5B0FC748845A}"/>
              </a:ext>
            </a:extLst>
          </p:cNvPr>
          <p:cNvSpPr txBox="1"/>
          <p:nvPr/>
        </p:nvSpPr>
        <p:spPr>
          <a:xfrm>
            <a:off x="190643" y="631770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5F21D-71BD-4F36-966D-E989D9C914AE}"/>
              </a:ext>
            </a:extLst>
          </p:cNvPr>
          <p:cNvSpPr txBox="1"/>
          <p:nvPr/>
        </p:nvSpPr>
        <p:spPr>
          <a:xfrm>
            <a:off x="2275621" y="1870913"/>
            <a:ext cx="2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D08EEB-060C-46E2-9D46-828CE0F044C3}"/>
              </a:ext>
            </a:extLst>
          </p:cNvPr>
          <p:cNvSpPr/>
          <p:nvPr/>
        </p:nvSpPr>
        <p:spPr>
          <a:xfrm rot="10800000" flipV="1">
            <a:off x="4079311" y="346923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7211E05-AE3D-4B82-8E4F-BC84134515AD}"/>
              </a:ext>
            </a:extLst>
          </p:cNvPr>
          <p:cNvSpPr/>
          <p:nvPr/>
        </p:nvSpPr>
        <p:spPr>
          <a:xfrm>
            <a:off x="345684" y="3958683"/>
            <a:ext cx="546414" cy="535259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Q1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0C7E9E-2685-419B-8F41-0E58AC25F75A}"/>
              </a:ext>
            </a:extLst>
          </p:cNvPr>
          <p:cNvSpPr txBox="1"/>
          <p:nvPr/>
        </p:nvSpPr>
        <p:spPr>
          <a:xfrm>
            <a:off x="431181" y="208157"/>
            <a:ext cx="922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Field due to No.of Point Charges</a:t>
            </a:r>
            <a:endParaRPr lang="en-IN" sz="2400" i="1" dirty="0">
              <a:solidFill>
                <a:srgbClr val="C00000"/>
              </a:solidFill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9B66BBA9-050C-4FFA-966E-8D4DE57E71BC}"/>
              </a:ext>
            </a:extLst>
          </p:cNvPr>
          <p:cNvSpPr/>
          <p:nvPr/>
        </p:nvSpPr>
        <p:spPr>
          <a:xfrm>
            <a:off x="275059" y="5464097"/>
            <a:ext cx="561282" cy="446049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rgbClr val="C00000"/>
                </a:solidFill>
              </a:rPr>
              <a:t>Q4</a:t>
            </a:r>
            <a:endParaRPr lang="en-IN" sz="1200" i="1" baseline="-25000" dirty="0">
              <a:solidFill>
                <a:srgbClr val="C00000"/>
              </a:solidFill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5588E116-5475-4855-B588-0E1B3F489645}"/>
              </a:ext>
            </a:extLst>
          </p:cNvPr>
          <p:cNvSpPr/>
          <p:nvPr/>
        </p:nvSpPr>
        <p:spPr>
          <a:xfrm>
            <a:off x="3393683" y="4620321"/>
            <a:ext cx="553849" cy="453483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rgbClr val="C00000"/>
                </a:solidFill>
              </a:rPr>
              <a:t>Q7</a:t>
            </a:r>
            <a:endParaRPr lang="en-IN" sz="1200" i="1" baseline="-25000" dirty="0">
              <a:solidFill>
                <a:srgbClr val="C00000"/>
              </a:solidFill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B97E1D90-0E93-4991-91D6-83F3DA0F4B68}"/>
              </a:ext>
            </a:extLst>
          </p:cNvPr>
          <p:cNvSpPr/>
          <p:nvPr/>
        </p:nvSpPr>
        <p:spPr>
          <a:xfrm>
            <a:off x="2564777" y="3969834"/>
            <a:ext cx="568716" cy="490653"/>
          </a:xfrm>
          <a:prstGeom prst="flowChartConnector">
            <a:avLst/>
          </a:prstGeom>
          <a:solidFill>
            <a:srgbClr val="34E52B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rgbClr val="C00000"/>
                </a:solidFill>
              </a:rPr>
              <a:t>Q6</a:t>
            </a:r>
            <a:endParaRPr lang="en-IN" sz="1200" i="1" baseline="-25000" dirty="0">
              <a:solidFill>
                <a:srgbClr val="C00000"/>
              </a:solidFill>
            </a:endParaRP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6BDBD400-B829-4523-B3A6-352AE39B29E0}"/>
              </a:ext>
            </a:extLst>
          </p:cNvPr>
          <p:cNvSpPr/>
          <p:nvPr/>
        </p:nvSpPr>
        <p:spPr>
          <a:xfrm>
            <a:off x="564992" y="2917903"/>
            <a:ext cx="538978" cy="472068"/>
          </a:xfrm>
          <a:prstGeom prst="flowChartConnector">
            <a:avLst/>
          </a:prstGeom>
          <a:solidFill>
            <a:srgbClr val="FFDF1D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rgbClr val="C00000"/>
                </a:solidFill>
              </a:rPr>
              <a:t>Q2</a:t>
            </a:r>
            <a:endParaRPr lang="en-IN" sz="1200" i="1" baseline="-25000" dirty="0">
              <a:solidFill>
                <a:srgbClr val="C00000"/>
              </a:solidFill>
            </a:endParaRP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38E3FFE3-4328-49B1-81F8-0ED8BB86ABBD}"/>
              </a:ext>
            </a:extLst>
          </p:cNvPr>
          <p:cNvSpPr/>
          <p:nvPr/>
        </p:nvSpPr>
        <p:spPr>
          <a:xfrm>
            <a:off x="2936483" y="2490439"/>
            <a:ext cx="576151" cy="531542"/>
          </a:xfrm>
          <a:prstGeom prst="flowChartConnector">
            <a:avLst/>
          </a:prstGeom>
          <a:solidFill>
            <a:srgbClr val="00B0F0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rgbClr val="C00000"/>
                </a:solidFill>
              </a:rPr>
              <a:t>Q5</a:t>
            </a:r>
            <a:endParaRPr lang="en-IN" sz="1200" i="1" baseline="-25000" dirty="0">
              <a:solidFill>
                <a:srgbClr val="C00000"/>
              </a:solidFill>
            </a:endParaRPr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5AD67EA5-BC9B-4540-96B6-7BE42F433C31}"/>
              </a:ext>
            </a:extLst>
          </p:cNvPr>
          <p:cNvSpPr/>
          <p:nvPr/>
        </p:nvSpPr>
        <p:spPr>
          <a:xfrm>
            <a:off x="1694981" y="3166946"/>
            <a:ext cx="579868" cy="446049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Q3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522A50-D71B-439A-B0CF-CF29EDB5D610}"/>
              </a:ext>
            </a:extLst>
          </p:cNvPr>
          <p:cNvSpPr txBox="1"/>
          <p:nvPr/>
        </p:nvSpPr>
        <p:spPr>
          <a:xfrm>
            <a:off x="4003288" y="3445726"/>
            <a:ext cx="267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4370D-7DB2-489C-A264-EBE27EFC9152}"/>
              </a:ext>
            </a:extLst>
          </p:cNvPr>
          <p:cNvSpPr txBox="1"/>
          <p:nvPr/>
        </p:nvSpPr>
        <p:spPr>
          <a:xfrm>
            <a:off x="579863" y="747132"/>
            <a:ext cx="111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 </a:t>
            </a:r>
            <a:r>
              <a:rPr lang="en-IN" i="1" dirty="0"/>
              <a:t>Q</a:t>
            </a:r>
            <a:r>
              <a:rPr lang="en-IN" i="1" baseline="-25000" dirty="0"/>
              <a:t>1</a:t>
            </a:r>
            <a:r>
              <a:rPr lang="en-IN" dirty="0"/>
              <a:t>, </a:t>
            </a:r>
            <a:r>
              <a:rPr lang="en-IN" i="1" dirty="0"/>
              <a:t>Q</a:t>
            </a:r>
            <a:r>
              <a:rPr lang="en-IN" baseline="-25000" dirty="0"/>
              <a:t>2</a:t>
            </a:r>
            <a:r>
              <a:rPr lang="en-IN" dirty="0"/>
              <a:t>, </a:t>
            </a:r>
            <a:r>
              <a:rPr lang="en-IN" i="1" dirty="0"/>
              <a:t>Q</a:t>
            </a:r>
            <a:r>
              <a:rPr lang="en-IN" baseline="-25000" dirty="0"/>
              <a:t>3</a:t>
            </a:r>
            <a:r>
              <a:rPr lang="en-IN" dirty="0"/>
              <a:t> … be the point charges located at the points given by the position vectors </a:t>
            </a:r>
            <a:r>
              <a:rPr lang="en-IN" i="1" dirty="0"/>
              <a:t>r</a:t>
            </a:r>
            <a:r>
              <a:rPr lang="en-IN" baseline="-25000" dirty="0"/>
              <a:t>1</a:t>
            </a:r>
            <a:r>
              <a:rPr lang="en-IN" dirty="0"/>
              <a:t>, </a:t>
            </a:r>
            <a:r>
              <a:rPr lang="en-IN" i="1" dirty="0"/>
              <a:t>r</a:t>
            </a:r>
            <a:r>
              <a:rPr lang="en-IN" baseline="-25000" dirty="0"/>
              <a:t>2</a:t>
            </a:r>
            <a:r>
              <a:rPr lang="en-IN" dirty="0"/>
              <a:t>, </a:t>
            </a:r>
            <a:r>
              <a:rPr lang="en-IN" i="1" dirty="0"/>
              <a:t>r</a:t>
            </a:r>
            <a:r>
              <a:rPr lang="en-IN" baseline="-25000" dirty="0"/>
              <a:t>3</a:t>
            </a:r>
            <a:r>
              <a:rPr lang="en-IN" dirty="0"/>
              <a:t> …</a:t>
            </a:r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EF434FBB-B7A8-4232-A589-697736374E83}"/>
              </a:ext>
            </a:extLst>
          </p:cNvPr>
          <p:cNvSpPr/>
          <p:nvPr/>
        </p:nvSpPr>
        <p:spPr>
          <a:xfrm>
            <a:off x="1237782" y="4493942"/>
            <a:ext cx="680228" cy="769434"/>
          </a:xfrm>
          <a:prstGeom prst="flowChartConnector">
            <a:avLst/>
          </a:prstGeom>
          <a:solidFill>
            <a:srgbClr val="3338FF"/>
          </a:solidFill>
          <a:ln>
            <a:solidFill>
              <a:srgbClr val="0070C0"/>
            </a:solidFill>
          </a:ln>
          <a:scene3d>
            <a:camera prst="orthographicFront"/>
            <a:lightRig rig="brightRoom" dir="t"/>
          </a:scene3d>
          <a:sp3d prstMaterial="translucentPowder"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Q8</a:t>
            </a:r>
            <a:endParaRPr lang="en-IN" sz="1200" i="1" baseline="-25000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5DBFBF-A582-4B05-A82E-1E73CB53858F}"/>
              </a:ext>
            </a:extLst>
          </p:cNvPr>
          <p:cNvSpPr txBox="1"/>
          <p:nvPr/>
        </p:nvSpPr>
        <p:spPr>
          <a:xfrm>
            <a:off x="3475462" y="1234069"/>
            <a:ext cx="679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the total Electric field intensity at the point with position vector </a:t>
            </a:r>
            <a:r>
              <a:rPr lang="en-IN" b="1" i="1" dirty="0"/>
              <a:t>r</a:t>
            </a:r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7A75B1-2F23-4D62-AE4B-588ADF8EE03B}"/>
              </a:ext>
            </a:extLst>
          </p:cNvPr>
          <p:cNvSpPr txBox="1"/>
          <p:nvPr/>
        </p:nvSpPr>
        <p:spPr>
          <a:xfrm>
            <a:off x="5887845" y="1750070"/>
            <a:ext cx="6155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= Sum of the individual field intensities at </a:t>
            </a:r>
            <a:r>
              <a:rPr lang="en-IN" b="1" i="1" dirty="0"/>
              <a:t>r</a:t>
            </a:r>
            <a:r>
              <a:rPr lang="en-IN" dirty="0"/>
              <a:t> due to each charge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C7834-D9E4-41B6-9778-DB479AB24E8C}"/>
              </a:ext>
            </a:extLst>
          </p:cNvPr>
          <p:cNvSpPr txBox="1"/>
          <p:nvPr/>
        </p:nvSpPr>
        <p:spPr>
          <a:xfrm>
            <a:off x="4683512" y="2531326"/>
            <a:ext cx="613317" cy="379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i.e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F6EAD-426E-49BD-90A0-00E8169C5E83}"/>
              </a:ext>
            </a:extLst>
          </p:cNvPr>
          <p:cNvSpPr txBox="1"/>
          <p:nvPr/>
        </p:nvSpPr>
        <p:spPr>
          <a:xfrm>
            <a:off x="4984595" y="2977376"/>
            <a:ext cx="79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</a:t>
            </a:r>
            <a:r>
              <a:rPr lang="en-IN" dirty="0"/>
              <a:t>(</a:t>
            </a:r>
            <a:r>
              <a:rPr lang="en-IN" b="1" i="1" dirty="0"/>
              <a:t>r</a:t>
            </a:r>
            <a:r>
              <a:rPr lang="en-IN" dirty="0"/>
              <a:t>)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9DE57A-8789-44EA-B7A2-5716C08D2724}"/>
              </a:ext>
            </a:extLst>
          </p:cNvPr>
          <p:cNvSpPr txBox="1"/>
          <p:nvPr/>
        </p:nvSpPr>
        <p:spPr>
          <a:xfrm>
            <a:off x="5798635" y="2966223"/>
            <a:ext cx="620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</a:t>
            </a:r>
            <a:r>
              <a:rPr lang="en-IN" i="1" baseline="-25000" dirty="0"/>
              <a:t>Q1</a:t>
            </a:r>
            <a:r>
              <a:rPr lang="en-IN" i="1" dirty="0"/>
              <a:t>+ </a:t>
            </a:r>
            <a:r>
              <a:rPr lang="en-IN" b="1" dirty="0"/>
              <a:t>E</a:t>
            </a:r>
            <a:r>
              <a:rPr lang="en-IN" i="1" baseline="-25000" dirty="0"/>
              <a:t>Q2 </a:t>
            </a:r>
            <a:r>
              <a:rPr lang="en-IN" i="1" dirty="0"/>
              <a:t>+ </a:t>
            </a:r>
            <a:r>
              <a:rPr lang="en-IN" b="1" dirty="0"/>
              <a:t>E</a:t>
            </a:r>
            <a:r>
              <a:rPr lang="en-IN" i="1" baseline="-25000" dirty="0"/>
              <a:t>Q3 </a:t>
            </a:r>
            <a:r>
              <a:rPr lang="en-IN" i="1" dirty="0"/>
              <a:t>+ </a:t>
            </a:r>
            <a:r>
              <a:rPr lang="en-IN" b="1" dirty="0"/>
              <a:t>E</a:t>
            </a:r>
            <a:r>
              <a:rPr lang="en-IN" i="1" baseline="-25000" dirty="0"/>
              <a:t>Q4 </a:t>
            </a:r>
            <a:r>
              <a:rPr lang="en-IN" i="1" dirty="0"/>
              <a:t>+ ….</a:t>
            </a:r>
            <a:endParaRPr lang="en-IN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16772B5-B779-4CD6-AD51-97B2984BD715}"/>
                  </a:ext>
                </a:extLst>
              </p:cNvPr>
              <p:cNvSpPr txBox="1"/>
              <p:nvPr/>
            </p:nvSpPr>
            <p:spPr>
              <a:xfrm>
                <a:off x="5467813" y="3454587"/>
                <a:ext cx="2382645" cy="721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IN" b="1" i="1" baseline="-2500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0" i="1" baseline="-25000" dirty="0" smtClean="0"/>
                          <m:t>1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  <m:r>
                          <a:rPr lang="en-IN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16772B5-B779-4CD6-AD51-97B2984BD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813" y="3454587"/>
                <a:ext cx="2382645" cy="721031"/>
              </a:xfrm>
              <a:prstGeom prst="rect">
                <a:avLst/>
              </a:prstGeom>
              <a:blipFill>
                <a:blip r:embed="rId3"/>
                <a:stretch>
                  <a:fillRect l="-2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C6B288-AD7C-4CF3-A123-346B6AF5504C}"/>
                  </a:ext>
                </a:extLst>
              </p:cNvPr>
              <p:cNvSpPr txBox="1"/>
              <p:nvPr/>
            </p:nvSpPr>
            <p:spPr>
              <a:xfrm>
                <a:off x="100362" y="4225641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C6B288-AD7C-4CF3-A123-346B6AF55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2" y="4225641"/>
                <a:ext cx="4571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BF27A6-E0EB-4439-9FBC-3086D147F3BB}"/>
                  </a:ext>
                </a:extLst>
              </p:cNvPr>
              <p:cNvSpPr txBox="1"/>
              <p:nvPr/>
            </p:nvSpPr>
            <p:spPr>
              <a:xfrm>
                <a:off x="263913" y="5805397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4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4BF27A6-E0EB-4439-9FBC-3086D147F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3" y="5805397"/>
                <a:ext cx="45719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BFE1B9B-C531-4C69-8296-E207630EFBE0}"/>
                  </a:ext>
                </a:extLst>
              </p:cNvPr>
              <p:cNvSpPr txBox="1"/>
              <p:nvPr/>
            </p:nvSpPr>
            <p:spPr>
              <a:xfrm>
                <a:off x="3215269" y="4920734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7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BFE1B9B-C531-4C69-8296-E207630E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269" y="4920734"/>
                <a:ext cx="45719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CA1BB54-8228-4AC7-8279-7D89035C49F3}"/>
                  </a:ext>
                </a:extLst>
              </p:cNvPr>
              <p:cNvSpPr txBox="1"/>
              <p:nvPr/>
            </p:nvSpPr>
            <p:spPr>
              <a:xfrm>
                <a:off x="1371601" y="5117738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8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CA1BB54-8228-4AC7-8279-7D89035C4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5117738"/>
                <a:ext cx="4571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A5E7D21-F157-402C-9819-A23A8A466E72}"/>
                  </a:ext>
                </a:extLst>
              </p:cNvPr>
              <p:cNvSpPr txBox="1"/>
              <p:nvPr/>
            </p:nvSpPr>
            <p:spPr>
              <a:xfrm>
                <a:off x="2449552" y="4266529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6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A5E7D21-F157-402C-9819-A23A8A466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552" y="4266529"/>
                <a:ext cx="45719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858F96F-D31B-49DA-A403-BA059C60BAE7}"/>
                  </a:ext>
                </a:extLst>
              </p:cNvPr>
              <p:cNvSpPr txBox="1"/>
              <p:nvPr/>
            </p:nvSpPr>
            <p:spPr>
              <a:xfrm>
                <a:off x="2657709" y="2701641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5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858F96F-D31B-49DA-A403-BA059C60B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709" y="2701641"/>
                <a:ext cx="45719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0CD24DB-7380-4C5B-9B6B-7A0EB8CB1C06}"/>
                  </a:ext>
                </a:extLst>
              </p:cNvPr>
              <p:cNvSpPr txBox="1"/>
              <p:nvPr/>
            </p:nvSpPr>
            <p:spPr>
              <a:xfrm>
                <a:off x="1583474" y="3456207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3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0CD24DB-7380-4C5B-9B6B-7A0EB8CB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74" y="3456207"/>
                <a:ext cx="45719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9C703E1-12DF-4948-BD49-FA09580FA8CA}"/>
                  </a:ext>
                </a:extLst>
              </p:cNvPr>
              <p:cNvSpPr txBox="1"/>
              <p:nvPr/>
            </p:nvSpPr>
            <p:spPr>
              <a:xfrm>
                <a:off x="665357" y="3218314"/>
                <a:ext cx="457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1" i="1" dirty="0" smtClean="0"/>
                        <m:t>r</m:t>
                      </m:r>
                      <m:r>
                        <m:rPr>
                          <m:nor/>
                        </m:rPr>
                        <a:rPr lang="en-IN" b="0" i="1" baseline="-25000" dirty="0" smtClean="0"/>
                        <m:t>2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9C703E1-12DF-4948-BD49-FA09580FA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57" y="3218314"/>
                <a:ext cx="45719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25B0066-D889-4B42-9DB2-452789D78F0A}"/>
                  </a:ext>
                </a:extLst>
              </p:cNvPr>
              <p:cNvSpPr txBox="1"/>
              <p:nvPr/>
            </p:nvSpPr>
            <p:spPr>
              <a:xfrm>
                <a:off x="7047569" y="3450870"/>
                <a:ext cx="2382645" cy="721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IN" b="1" i="1" baseline="-2500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0" i="1" baseline="-25000" dirty="0" smtClean="0"/>
                          <m:t>2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  <m:r>
                          <a:rPr lang="en-IN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25B0066-D889-4B42-9DB2-452789D78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569" y="3450870"/>
                <a:ext cx="2382645" cy="721031"/>
              </a:xfrm>
              <a:prstGeom prst="rect">
                <a:avLst/>
              </a:prstGeom>
              <a:blipFill>
                <a:blip r:embed="rId12"/>
                <a:stretch>
                  <a:fillRect l="-2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9BA088E-74EB-4559-A821-FC267EFE4494}"/>
                  </a:ext>
                </a:extLst>
              </p:cNvPr>
              <p:cNvSpPr txBox="1"/>
              <p:nvPr/>
            </p:nvSpPr>
            <p:spPr>
              <a:xfrm>
                <a:off x="8772291" y="3480607"/>
                <a:ext cx="2382645" cy="721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𝜋𝜀</m:t>
                        </m:r>
                        <m:r>
                          <a:rPr lang="en-IN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IN" b="1" i="1" baseline="-2500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0" i="1" baseline="-25000" dirty="0" smtClean="0"/>
                          <m:t>3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  <m:r>
                          <a:rPr lang="en-IN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9BA088E-74EB-4559-A821-FC267EFE4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291" y="3480607"/>
                <a:ext cx="2382645" cy="721031"/>
              </a:xfrm>
              <a:prstGeom prst="rect">
                <a:avLst/>
              </a:prstGeom>
              <a:blipFill>
                <a:blip r:embed="rId13"/>
                <a:stretch>
                  <a:fillRect l="-2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2A2C6A4-09D0-4CDE-834E-18314C998AFE}"/>
                  </a:ext>
                </a:extLst>
              </p:cNvPr>
              <p:cNvSpPr txBox="1"/>
              <p:nvPr/>
            </p:nvSpPr>
            <p:spPr>
              <a:xfrm>
                <a:off x="10184779" y="3465739"/>
                <a:ext cx="2382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+ 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−−</m:t>
                    </m:r>
                  </m:oMath>
                </a14:m>
                <a:endParaRPr lang="en-IN" i="1" baseline="-250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2A2C6A4-09D0-4CDE-834E-18314C99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779" y="3465739"/>
                <a:ext cx="2382645" cy="369332"/>
              </a:xfrm>
              <a:prstGeom prst="rect">
                <a:avLst/>
              </a:prstGeom>
              <a:blipFill>
                <a:blip r:embed="rId14"/>
                <a:stretch>
                  <a:fillRect l="-2302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00B6774-F53A-468E-BD56-A7210663E1CD}"/>
              </a:ext>
            </a:extLst>
          </p:cNvPr>
          <p:cNvSpPr txBox="1"/>
          <p:nvPr/>
        </p:nvSpPr>
        <p:spPr>
          <a:xfrm>
            <a:off x="9462400" y="4366817"/>
            <a:ext cx="10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C13B656-D4AF-4D87-AA29-2F7F88824AC8}"/>
                  </a:ext>
                </a:extLst>
              </p:cNvPr>
              <p:cNvSpPr txBox="1"/>
              <p:nvPr/>
            </p:nvSpPr>
            <p:spPr>
              <a:xfrm>
                <a:off x="10432541" y="4321562"/>
                <a:ext cx="2382645" cy="71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/>
                  <a:t>a</a:t>
                </a:r>
                <a:r>
                  <a:rPr lang="en-IN" b="1" i="1" baseline="-25000" dirty="0"/>
                  <a:t>n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baseline="-25000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0" i="1" baseline="-25000" dirty="0" smtClean="0"/>
                          <m:t>n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C13B656-D4AF-4D87-AA29-2F7F88824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2541" y="4321562"/>
                <a:ext cx="2382645" cy="717184"/>
              </a:xfrm>
              <a:prstGeom prst="rect">
                <a:avLst/>
              </a:prstGeom>
              <a:blipFill>
                <a:blip r:embed="rId15"/>
                <a:stretch>
                  <a:fillRect l="-2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90FD8659-5857-4BC8-A56B-A180D53E2666}"/>
              </a:ext>
            </a:extLst>
          </p:cNvPr>
          <p:cNvSpPr txBox="1"/>
          <p:nvPr/>
        </p:nvSpPr>
        <p:spPr>
          <a:xfrm>
            <a:off x="7188818" y="5181600"/>
            <a:ext cx="211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(or)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01A006-3CC4-4FFB-AE4E-9EC9FA99C733}"/>
              </a:ext>
            </a:extLst>
          </p:cNvPr>
          <p:cNvSpPr txBox="1"/>
          <p:nvPr/>
        </p:nvSpPr>
        <p:spPr>
          <a:xfrm>
            <a:off x="3954967" y="6118303"/>
            <a:ext cx="79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</a:t>
            </a:r>
            <a:r>
              <a:rPr lang="en-IN" dirty="0"/>
              <a:t>(</a:t>
            </a:r>
            <a:r>
              <a:rPr lang="en-IN" b="1" i="1" dirty="0"/>
              <a:t>r</a:t>
            </a:r>
            <a:r>
              <a:rPr lang="en-IN" dirty="0"/>
              <a:t>)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4314DF-A85D-4508-8260-9542E7AD6D3B}"/>
                  </a:ext>
                </a:extLst>
              </p:cNvPr>
              <p:cNvSpPr txBox="1"/>
              <p:nvPr/>
            </p:nvSpPr>
            <p:spPr>
              <a:xfrm>
                <a:off x="4895385" y="5848815"/>
                <a:ext cx="1737334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IN" b="0" i="1" baseline="-2500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𝜋𝜀</m:t>
                              </m:r>
                              <m:r>
                                <a:rPr lang="en-IN" i="1" baseline="-25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IN" b="1" i="1" baseline="-25000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IN" dirty="0"/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IN" b="1" i="1" dirty="0"/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IN" i="1" dirty="0"/>
                                <m:t> – </m:t>
                              </m:r>
                              <m:r>
                                <m:rPr>
                                  <m:nor/>
                                </m:rPr>
                                <a:rPr lang="en-IN" b="1" i="1" dirty="0"/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IN" b="0" i="1" baseline="-25000" dirty="0" smtClean="0"/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IN" i="1" dirty="0"/>
                                <m:t>|</m:t>
                              </m:r>
                              <m:r>
                                <a:rPr lang="en-IN" i="1" baseline="300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4314DF-A85D-4508-8260-9542E7AD6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85" y="5848815"/>
                <a:ext cx="1737334" cy="75616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0270BA59-446C-4106-B7C3-5541C053E1C5}"/>
              </a:ext>
            </a:extLst>
          </p:cNvPr>
          <p:cNvSpPr txBox="1"/>
          <p:nvPr/>
        </p:nvSpPr>
        <p:spPr>
          <a:xfrm>
            <a:off x="7211122" y="5995638"/>
            <a:ext cx="10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3328146-DCE7-4157-B17A-51095FB4168D}"/>
                  </a:ext>
                </a:extLst>
              </p:cNvPr>
              <p:cNvSpPr txBox="1"/>
              <p:nvPr/>
            </p:nvSpPr>
            <p:spPr>
              <a:xfrm>
                <a:off x="8285355" y="5937592"/>
                <a:ext cx="2382645" cy="71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/>
                  <a:t>a</a:t>
                </a:r>
                <a:r>
                  <a:rPr lang="en-IN" b="1" i="1" baseline="-25000" dirty="0"/>
                  <a:t>m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a:rPr lang="en-IN" b="0" i="1" baseline="-2500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0" i="1" baseline="-25000" dirty="0" smtClean="0"/>
                          <m:t>m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3328146-DCE7-4157-B17A-51095FB41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355" y="5937592"/>
                <a:ext cx="2382645" cy="717184"/>
              </a:xfrm>
              <a:prstGeom prst="rect">
                <a:avLst/>
              </a:prstGeom>
              <a:blipFill>
                <a:blip r:embed="rId17"/>
                <a:stretch>
                  <a:fillRect l="-2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9F1F612-65F9-498B-B1C5-7BE2420E7E8C}"/>
              </a:ext>
            </a:extLst>
          </p:cNvPr>
          <p:cNvSpPr txBox="1"/>
          <p:nvPr/>
        </p:nvSpPr>
        <p:spPr>
          <a:xfrm>
            <a:off x="5076497" y="5055476"/>
            <a:ext cx="51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22720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 animBg="1"/>
      <p:bldP spid="18" grpId="1" animBg="1"/>
      <p:bldP spid="55" grpId="0"/>
      <p:bldP spid="40" grpId="1" animBg="1"/>
      <p:bldP spid="41" grpId="1" animBg="1"/>
      <p:bldP spid="42" grpId="1" animBg="1"/>
      <p:bldP spid="43" grpId="1" animBg="1"/>
      <p:bldP spid="62" grpId="1" animBg="1"/>
      <p:bldP spid="66" grpId="1" animBg="1"/>
      <p:bldP spid="2" grpId="0"/>
      <p:bldP spid="5" grpId="0"/>
      <p:bldP spid="70" grpId="0" animBg="1"/>
      <p:bldP spid="71" grpId="0"/>
      <p:bldP spid="72" grpId="0"/>
      <p:bldP spid="7" grpId="0"/>
      <p:bldP spid="9" grpId="0"/>
      <p:bldP spid="20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5" grpId="0"/>
      <p:bldP spid="22" grpId="0"/>
      <p:bldP spid="86" grpId="0"/>
      <p:bldP spid="87" grpId="0"/>
      <p:bldP spid="88" grpId="0"/>
      <p:bldP spid="24" grpId="0"/>
      <p:bldP spid="89" grpId="0"/>
      <p:bldP spid="90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B00EBE-CACC-4BAB-B27D-2DF3C7952EC1}"/>
              </a:ext>
            </a:extLst>
          </p:cNvPr>
          <p:cNvSpPr txBox="1"/>
          <p:nvPr/>
        </p:nvSpPr>
        <p:spPr>
          <a:xfrm>
            <a:off x="256479" y="211873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Problem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1F192-DCA1-4000-97A5-5614A5451525}"/>
              </a:ext>
            </a:extLst>
          </p:cNvPr>
          <p:cNvSpPr txBox="1"/>
          <p:nvPr/>
        </p:nvSpPr>
        <p:spPr>
          <a:xfrm>
            <a:off x="1481959" y="195231"/>
            <a:ext cx="10310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 charges 1mC and -2mC are located at (3, 2, -1) and (-1, -1, 4) respectively. Calculate the electric force on 10nC charge located at (0,3,1) and the electric field intensity at that point.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A5E96-C3DF-4BAA-BE90-9203E5DE8B65}"/>
              </a:ext>
            </a:extLst>
          </p:cNvPr>
          <p:cNvSpPr txBox="1"/>
          <p:nvPr/>
        </p:nvSpPr>
        <p:spPr>
          <a:xfrm>
            <a:off x="1439916" y="26058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70531"/>
                </a:solidFill>
                <a:effectLst/>
              </a:rPr>
              <a:t>E(</a:t>
            </a:r>
            <a:r>
              <a:rPr lang="pt-BR" b="1" i="1" dirty="0">
                <a:solidFill>
                  <a:srgbClr val="070531"/>
                </a:solidFill>
                <a:effectLst/>
              </a:rPr>
              <a:t>r</a:t>
            </a:r>
            <a:r>
              <a:rPr lang="pt-BR" b="1" dirty="0">
                <a:solidFill>
                  <a:srgbClr val="070531"/>
                </a:solidFill>
                <a:effectLst/>
              </a:rPr>
              <a:t>)</a:t>
            </a:r>
            <a:r>
              <a:rPr lang="pt-BR" b="0" i="1" dirty="0">
                <a:solidFill>
                  <a:srgbClr val="070531"/>
                </a:solidFill>
                <a:effectLst/>
              </a:rPr>
              <a:t> </a:t>
            </a:r>
            <a:r>
              <a:rPr lang="pt-BR" b="0" i="0" dirty="0">
                <a:solidFill>
                  <a:srgbClr val="070531"/>
                </a:solidFill>
                <a:effectLst/>
              </a:rPr>
              <a:t>= − 651.2 </a:t>
            </a:r>
            <a:r>
              <a:rPr lang="pt-BR" b="1" i="1" dirty="0">
                <a:solidFill>
                  <a:srgbClr val="070531"/>
                </a:solidFill>
                <a:effectLst/>
              </a:rPr>
              <a:t>a</a:t>
            </a:r>
            <a:r>
              <a:rPr lang="pt-BR" b="1" i="1" baseline="-25000" dirty="0">
                <a:solidFill>
                  <a:srgbClr val="070531"/>
                </a:solidFill>
                <a:effectLst/>
              </a:rPr>
              <a:t>x</a:t>
            </a:r>
            <a:r>
              <a:rPr lang="pt-BR" b="0" i="0" dirty="0">
                <a:solidFill>
                  <a:srgbClr val="070531"/>
                </a:solidFill>
                <a:effectLst/>
              </a:rPr>
              <a:t>​−371.3 </a:t>
            </a:r>
            <a:r>
              <a:rPr lang="pt-BR" b="1" i="1" dirty="0">
                <a:solidFill>
                  <a:srgbClr val="070531"/>
                </a:solidFill>
                <a:effectLst/>
              </a:rPr>
              <a:t>a</a:t>
            </a:r>
            <a:r>
              <a:rPr lang="pt-BR" b="1" i="1" baseline="-25000" dirty="0">
                <a:solidFill>
                  <a:srgbClr val="070531"/>
                </a:solidFill>
                <a:effectLst/>
              </a:rPr>
              <a:t>y</a:t>
            </a:r>
            <a:r>
              <a:rPr lang="pt-BR" b="0" i="0" dirty="0">
                <a:solidFill>
                  <a:srgbClr val="070531"/>
                </a:solidFill>
                <a:effectLst/>
              </a:rPr>
              <a:t>​+ 750.9</a:t>
            </a:r>
            <a:r>
              <a:rPr lang="pt-BR" b="1" i="1" dirty="0">
                <a:solidFill>
                  <a:srgbClr val="070531"/>
                </a:solidFill>
                <a:effectLst/>
              </a:rPr>
              <a:t>a</a:t>
            </a:r>
            <a:r>
              <a:rPr lang="pt-BR" b="1" i="1" baseline="-25000" dirty="0">
                <a:solidFill>
                  <a:srgbClr val="070531"/>
                </a:solidFill>
                <a:effectLst/>
              </a:rPr>
              <a:t>z</a:t>
            </a:r>
            <a:r>
              <a:rPr lang="pt-BR" b="0" i="0" dirty="0">
                <a:solidFill>
                  <a:srgbClr val="070531"/>
                </a:solidFill>
                <a:effectLst/>
              </a:rPr>
              <a:t>​  </a:t>
            </a:r>
            <a:r>
              <a:rPr lang="pt-BR" b="0" dirty="0">
                <a:solidFill>
                  <a:srgbClr val="070531"/>
                </a:solidFill>
                <a:effectLst/>
              </a:rPr>
              <a:t>kV/m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60D35-AAD9-4984-B211-985BBC54189E}"/>
              </a:ext>
            </a:extLst>
          </p:cNvPr>
          <p:cNvSpPr txBox="1"/>
          <p:nvPr/>
        </p:nvSpPr>
        <p:spPr>
          <a:xfrm>
            <a:off x="366838" y="1394287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Ans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90E39-CDD4-4731-85C0-FBAEF5D3176E}"/>
              </a:ext>
            </a:extLst>
          </p:cNvPr>
          <p:cNvSpPr txBox="1"/>
          <p:nvPr/>
        </p:nvSpPr>
        <p:spPr>
          <a:xfrm>
            <a:off x="1348402" y="1472731"/>
            <a:ext cx="79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</a:t>
            </a:r>
            <a:r>
              <a:rPr lang="en-IN" dirty="0"/>
              <a:t>(</a:t>
            </a:r>
            <a:r>
              <a:rPr lang="en-IN" b="1" i="1" dirty="0"/>
              <a:t>r</a:t>
            </a:r>
            <a:r>
              <a:rPr lang="en-IN" dirty="0"/>
              <a:t>)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206BF9-890E-45E8-A9B3-8E901C1ACAFA}"/>
                  </a:ext>
                </a:extLst>
              </p:cNvPr>
              <p:cNvSpPr txBox="1"/>
              <p:nvPr/>
            </p:nvSpPr>
            <p:spPr>
              <a:xfrm>
                <a:off x="2288820" y="1203243"/>
                <a:ext cx="1737334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IN" b="0" i="1" baseline="-2500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𝜋𝜀</m:t>
                              </m:r>
                              <m:r>
                                <a:rPr lang="en-IN" i="1" baseline="-25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IN" b="1" i="1" baseline="-25000" dirty="0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IN" dirty="0"/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IN" b="1" i="1" dirty="0"/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IN" i="1" dirty="0"/>
                                <m:t> – </m:t>
                              </m:r>
                              <m:r>
                                <m:rPr>
                                  <m:nor/>
                                </m:rPr>
                                <a:rPr lang="en-IN" b="1" i="1" dirty="0"/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IN" b="0" i="1" baseline="-25000" dirty="0" smtClean="0"/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IN" i="1" dirty="0"/>
                                <m:t>|</m:t>
                              </m:r>
                              <m:r>
                                <a:rPr lang="en-IN" i="1" baseline="300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206BF9-890E-45E8-A9B3-8E901C1AC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820" y="1203243"/>
                <a:ext cx="1737334" cy="7561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229860F-DAD2-4828-9025-0D8091EC0FBD}"/>
              </a:ext>
            </a:extLst>
          </p:cNvPr>
          <p:cNvSpPr txBox="1"/>
          <p:nvPr/>
        </p:nvSpPr>
        <p:spPr>
          <a:xfrm>
            <a:off x="4604557" y="1350066"/>
            <a:ext cx="10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69FEE6-445D-41F9-8DF1-C4BC46F19E21}"/>
                  </a:ext>
                </a:extLst>
              </p:cNvPr>
              <p:cNvSpPr txBox="1"/>
              <p:nvPr/>
            </p:nvSpPr>
            <p:spPr>
              <a:xfrm>
                <a:off x="5678790" y="1292020"/>
                <a:ext cx="2382645" cy="71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i="1" dirty="0"/>
                  <a:t>a</a:t>
                </a:r>
                <a:r>
                  <a:rPr lang="en-IN" b="1" i="1" baseline="-25000" dirty="0"/>
                  <a:t>m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a:rPr lang="en-IN" b="0" i="1" baseline="-2500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|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i="1" dirty="0"/>
                          <m:t> – </m:t>
                        </m:r>
                        <m:r>
                          <m:rPr>
                            <m:nor/>
                          </m:rPr>
                          <a:rPr lang="en-IN" b="1" i="1" dirty="0"/>
                          <m:t>r</m:t>
                        </m:r>
                        <m:r>
                          <m:rPr>
                            <m:nor/>
                          </m:rPr>
                          <a:rPr lang="en-IN" b="0" i="1" baseline="-25000" dirty="0" smtClean="0"/>
                          <m:t>m</m:t>
                        </m:r>
                        <m:r>
                          <m:rPr>
                            <m:nor/>
                          </m:rPr>
                          <a:rPr lang="en-IN" i="1" dirty="0"/>
                          <m:t>|</m:t>
                        </m:r>
                      </m:den>
                    </m:f>
                  </m:oMath>
                </a14:m>
                <a:endParaRPr lang="en-IN" i="1" baseline="-25000" dirty="0"/>
              </a:p>
              <a:p>
                <a:endParaRPr lang="en-IN" i="1" baseline="-25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69FEE6-445D-41F9-8DF1-C4BC46F19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790" y="1292020"/>
                <a:ext cx="2382645" cy="717184"/>
              </a:xfrm>
              <a:prstGeom prst="rect">
                <a:avLst/>
              </a:prstGeom>
              <a:blipFill>
                <a:blip r:embed="rId3"/>
                <a:stretch>
                  <a:fillRect l="-2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F06FF5-EF49-407D-8B01-5A38C4779815}"/>
              </a:ext>
            </a:extLst>
          </p:cNvPr>
          <p:cNvSpPr txBox="1"/>
          <p:nvPr/>
        </p:nvSpPr>
        <p:spPr>
          <a:xfrm>
            <a:off x="1008993" y="3394841"/>
            <a:ext cx="1003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Now force on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10nC charge located at (0,3,1) is,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= E.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E94CB5-8C2E-43F5-BACD-0E088D35D72C}"/>
              </a:ext>
            </a:extLst>
          </p:cNvPr>
          <p:cNvSpPr txBox="1"/>
          <p:nvPr/>
        </p:nvSpPr>
        <p:spPr>
          <a:xfrm>
            <a:off x="1994338" y="4319016"/>
            <a:ext cx="6153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70531"/>
                </a:solidFill>
                <a:effectLst/>
                <a:latin typeface="+mj-lt"/>
              </a:rPr>
              <a:t>F </a:t>
            </a:r>
            <a:r>
              <a:rPr lang="en-IN" b="0" dirty="0">
                <a:solidFill>
                  <a:srgbClr val="070531"/>
                </a:solidFill>
                <a:effectLst/>
                <a:latin typeface="+mj-lt"/>
              </a:rPr>
              <a:t>= − 6.512</a:t>
            </a:r>
            <a:r>
              <a:rPr lang="en-IN" b="1" i="1" dirty="0">
                <a:solidFill>
                  <a:srgbClr val="070531"/>
                </a:solidFill>
                <a:effectLst/>
                <a:latin typeface="+mj-lt"/>
              </a:rPr>
              <a:t>a</a:t>
            </a:r>
            <a:r>
              <a:rPr lang="en-IN" b="1" i="1" baseline="-25000" dirty="0">
                <a:solidFill>
                  <a:srgbClr val="070531"/>
                </a:solidFill>
                <a:effectLst/>
                <a:latin typeface="+mj-lt"/>
              </a:rPr>
              <a:t>x</a:t>
            </a:r>
            <a:r>
              <a:rPr lang="en-IN" b="0" dirty="0">
                <a:solidFill>
                  <a:srgbClr val="070531"/>
                </a:solidFill>
                <a:effectLst/>
                <a:latin typeface="+mj-lt"/>
              </a:rPr>
              <a:t>​ − 3.713 </a:t>
            </a:r>
            <a:r>
              <a:rPr lang="en-IN" b="1" i="1" dirty="0">
                <a:solidFill>
                  <a:srgbClr val="070531"/>
                </a:solidFill>
                <a:effectLst/>
                <a:latin typeface="+mj-lt"/>
              </a:rPr>
              <a:t>a</a:t>
            </a:r>
            <a:r>
              <a:rPr lang="en-IN" b="1" i="1" baseline="-25000" dirty="0">
                <a:solidFill>
                  <a:srgbClr val="070531"/>
                </a:solidFill>
                <a:effectLst/>
                <a:latin typeface="+mj-lt"/>
              </a:rPr>
              <a:t>y</a:t>
            </a:r>
            <a:r>
              <a:rPr lang="en-IN" b="0" dirty="0">
                <a:solidFill>
                  <a:srgbClr val="070531"/>
                </a:solidFill>
                <a:effectLst/>
                <a:latin typeface="+mj-lt"/>
              </a:rPr>
              <a:t>​ + 7.509</a:t>
            </a:r>
            <a:r>
              <a:rPr lang="en-IN" b="1" i="1" dirty="0">
                <a:solidFill>
                  <a:srgbClr val="070531"/>
                </a:solidFill>
                <a:effectLst/>
                <a:latin typeface="+mj-lt"/>
              </a:rPr>
              <a:t>a</a:t>
            </a:r>
            <a:r>
              <a:rPr lang="en-IN" b="1" i="1" baseline="-25000" dirty="0">
                <a:solidFill>
                  <a:srgbClr val="070531"/>
                </a:solidFill>
                <a:effectLst/>
                <a:latin typeface="+mj-lt"/>
              </a:rPr>
              <a:t>z</a:t>
            </a:r>
            <a:r>
              <a:rPr lang="en-IN" b="1" i="1" dirty="0">
                <a:solidFill>
                  <a:srgbClr val="070531"/>
                </a:solidFill>
                <a:effectLst/>
                <a:latin typeface="+mj-lt"/>
              </a:rPr>
              <a:t> </a:t>
            </a:r>
            <a:r>
              <a:rPr lang="en-IN" b="0" dirty="0">
                <a:solidFill>
                  <a:srgbClr val="070531"/>
                </a:solidFill>
                <a:effectLst/>
                <a:latin typeface="+mj-lt"/>
              </a:rPr>
              <a:t>​ mN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8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6" grpId="0"/>
      <p:bldP spid="8" grpId="0"/>
      <p:bldP spid="9" grpId="1"/>
      <p:bldP spid="10" grpId="0"/>
      <p:bldP spid="11" grpId="0"/>
      <p:bldP spid="12" grpId="0"/>
      <p:bldP spid="13" grpId="0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B00EBE-CACC-4BAB-B27D-2DF3C7952EC1}"/>
              </a:ext>
            </a:extLst>
          </p:cNvPr>
          <p:cNvSpPr txBox="1"/>
          <p:nvPr/>
        </p:nvSpPr>
        <p:spPr>
          <a:xfrm>
            <a:off x="277499" y="1462604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Problem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1F192-DCA1-4000-97A5-5614A5451525}"/>
              </a:ext>
            </a:extLst>
          </p:cNvPr>
          <p:cNvSpPr txBox="1"/>
          <p:nvPr/>
        </p:nvSpPr>
        <p:spPr>
          <a:xfrm>
            <a:off x="1492469" y="1445962"/>
            <a:ext cx="10310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point charge, Q1 = 2µC is at (2, 3, 6) and another charge, Q2 =5 µC is at (0, 0, 0) in free space. Find the force on Q1 due to Q2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AADB00-C398-3A08-82C9-0005358F0ECC}"/>
              </a:ext>
            </a:extLst>
          </p:cNvPr>
          <p:cNvSpPr txBox="1"/>
          <p:nvPr/>
        </p:nvSpPr>
        <p:spPr>
          <a:xfrm>
            <a:off x="156630" y="3117983"/>
            <a:ext cx="10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Problem 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CD6358-F25F-67B8-5E1D-6E7387CA5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72700"/>
              </p:ext>
            </p:extLst>
          </p:nvPr>
        </p:nvGraphicFramePr>
        <p:xfrm>
          <a:off x="1409842" y="3082822"/>
          <a:ext cx="10162048" cy="763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62048">
                  <a:extLst>
                    <a:ext uri="{9D8B030D-6E8A-4147-A177-3AD203B41FA5}">
                      <a16:colId xmlns:a16="http://schemas.microsoft.com/office/drawing/2014/main" val="1675823145"/>
                    </a:ext>
                  </a:extLst>
                </a:gridCol>
              </a:tblGrid>
              <a:tr h="5747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Find the force on a charge of -100mC located at P (2, 0, 5) in free space due to another charge 300µC located at Q (1, 2, 3).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59290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0010987-4B3B-361A-1D77-D70E08B90264}"/>
              </a:ext>
            </a:extLst>
          </p:cNvPr>
          <p:cNvSpPr txBox="1"/>
          <p:nvPr/>
        </p:nvSpPr>
        <p:spPr>
          <a:xfrm>
            <a:off x="282753" y="269680"/>
            <a:ext cx="3511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Practice Session</a:t>
            </a:r>
          </a:p>
        </p:txBody>
      </p:sp>
    </p:spTree>
    <p:extLst>
      <p:ext uri="{BB962C8B-B14F-4D97-AF65-F5344CB8AC3E}">
        <p14:creationId xmlns:p14="http://schemas.microsoft.com/office/powerpoint/2010/main" val="20661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2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53698-D19B-4635-B9D2-DEFCB3E9CEA7}"/>
              </a:ext>
            </a:extLst>
          </p:cNvPr>
          <p:cNvSpPr txBox="1"/>
          <p:nvPr/>
        </p:nvSpPr>
        <p:spPr>
          <a:xfrm>
            <a:off x="168166" y="273269"/>
            <a:ext cx="1044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CONTINUOUS CHARGE DISTRIBUTIONS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BB956-F8BC-4AD3-9460-C280B2706E2B}"/>
              </a:ext>
            </a:extLst>
          </p:cNvPr>
          <p:cNvSpPr txBox="1"/>
          <p:nvPr/>
        </p:nvSpPr>
        <p:spPr>
          <a:xfrm>
            <a:off x="252248" y="851338"/>
            <a:ext cx="1115147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Charges on surfaces usually located very close and can be assumed as </a:t>
            </a:r>
            <a:r>
              <a:rPr lang="en-IN" sz="2400" i="1" dirty="0">
                <a:solidFill>
                  <a:srgbClr val="FF0000"/>
                </a:solidFill>
              </a:rPr>
              <a:t>Continuous distribution of Charges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In a system of</a:t>
            </a:r>
            <a:r>
              <a:rPr lang="en-IN" sz="2400" i="1" dirty="0"/>
              <a:t> Closely Spaced charges , </a:t>
            </a:r>
            <a:r>
              <a:rPr lang="en-IN" sz="2400" dirty="0"/>
              <a:t>Charge could be continuously distributed </a:t>
            </a:r>
          </a:p>
          <a:p>
            <a:endParaRPr lang="en-IN" sz="2400" i="1" dirty="0"/>
          </a:p>
          <a:p>
            <a:pPr lvl="4"/>
            <a:r>
              <a:rPr lang="en-IN" sz="2400" dirty="0"/>
              <a:t>1. along a </a:t>
            </a:r>
            <a:r>
              <a:rPr lang="en-IN" sz="2400" i="1" dirty="0"/>
              <a:t>Line</a:t>
            </a:r>
          </a:p>
          <a:p>
            <a:pPr lvl="4"/>
            <a:r>
              <a:rPr lang="en-IN" sz="2400" dirty="0"/>
              <a:t>2. over a</a:t>
            </a:r>
            <a:r>
              <a:rPr lang="en-IN" sz="2400" i="1" dirty="0"/>
              <a:t> Surface</a:t>
            </a:r>
          </a:p>
          <a:p>
            <a:pPr lvl="4"/>
            <a:r>
              <a:rPr lang="en-IN" sz="2400" dirty="0"/>
              <a:t>3. through out a </a:t>
            </a:r>
            <a:r>
              <a:rPr lang="en-IN" sz="2400" i="1" dirty="0"/>
              <a:t>volume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138518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53698-D19B-4635-B9D2-DEFCB3E9CEA7}"/>
              </a:ext>
            </a:extLst>
          </p:cNvPr>
          <p:cNvSpPr txBox="1"/>
          <p:nvPr/>
        </p:nvSpPr>
        <p:spPr>
          <a:xfrm>
            <a:off x="168166" y="273269"/>
            <a:ext cx="1044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CONTINUOUS CHARGE DISTRIBUTIONS</a:t>
            </a:r>
            <a:r>
              <a:rPr lang="en-IN" b="1" baseline="-25000" dirty="0">
                <a:solidFill>
                  <a:srgbClr val="0070C0"/>
                </a:solidFill>
              </a:rPr>
              <a:t>Contd.</a:t>
            </a:r>
            <a:r>
              <a:rPr lang="en-IN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4A348-1E27-4065-BFF6-C9B4088045B2}"/>
              </a:ext>
            </a:extLst>
          </p:cNvPr>
          <p:cNvSpPr txBox="1"/>
          <p:nvPr/>
        </p:nvSpPr>
        <p:spPr>
          <a:xfrm>
            <a:off x="189186" y="767256"/>
            <a:ext cx="2186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solidFill>
                  <a:srgbClr val="C00000"/>
                </a:solidFill>
              </a:rPr>
              <a:t>Line Charge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1F3C5-8D4E-406A-85A4-97DBD3A9D2F0}"/>
              </a:ext>
            </a:extLst>
          </p:cNvPr>
          <p:cNvSpPr txBox="1"/>
          <p:nvPr/>
        </p:nvSpPr>
        <p:spPr>
          <a:xfrm>
            <a:off x="199697" y="1313793"/>
            <a:ext cx="11571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When the charge is distributed in the form of line, it’s called </a:t>
            </a:r>
            <a:r>
              <a:rPr lang="en-IN" sz="2400" i="1" dirty="0"/>
              <a:t>Line Charge Distribution</a:t>
            </a:r>
            <a:r>
              <a:rPr lang="en-IN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7922AF-9D09-4A5A-A108-0CF360BAC4FF}"/>
                  </a:ext>
                </a:extLst>
              </p:cNvPr>
              <p:cNvSpPr txBox="1"/>
              <p:nvPr/>
            </p:nvSpPr>
            <p:spPr>
              <a:xfrm>
                <a:off x="236484" y="1865587"/>
                <a:ext cx="7341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It’s represented by </a:t>
                </a:r>
                <a:r>
                  <a:rPr lang="en-IN" sz="2400" i="1" dirty="0"/>
                  <a:t>Line Charge Density,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en-IN" sz="24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7922AF-9D09-4A5A-A108-0CF360BAC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4" y="1865587"/>
                <a:ext cx="7341476" cy="461665"/>
              </a:xfrm>
              <a:prstGeom prst="rect">
                <a:avLst/>
              </a:prstGeom>
              <a:blipFill>
                <a:blip r:embed="rId2"/>
                <a:stretch>
                  <a:fillRect l="-1329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3913C-A231-41CE-A6C1-D47FC8F52238}"/>
                  </a:ext>
                </a:extLst>
              </p:cNvPr>
              <p:cNvSpPr txBox="1"/>
              <p:nvPr/>
            </p:nvSpPr>
            <p:spPr>
              <a:xfrm>
                <a:off x="189186" y="2364827"/>
                <a:ext cx="5023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/>
                  <a:t> Line Charge Density,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IN" sz="2400" dirty="0"/>
                  <a:t> is defined as </a:t>
                </a:r>
                <a:endParaRPr lang="en-IN" sz="2400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3913C-A231-41CE-A6C1-D47FC8F52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86" y="2364827"/>
                <a:ext cx="5023945" cy="461665"/>
              </a:xfrm>
              <a:prstGeom prst="rect">
                <a:avLst/>
              </a:prstGeom>
              <a:blipFill>
                <a:blip r:embed="rId3"/>
                <a:stretch>
                  <a:fillRect l="-364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4B86F1-C9B9-4340-9FD9-47B1EEFB923A}"/>
                  </a:ext>
                </a:extLst>
              </p:cNvPr>
              <p:cNvSpPr txBox="1"/>
              <p:nvPr/>
            </p:nvSpPr>
            <p:spPr>
              <a:xfrm>
                <a:off x="3962400" y="3215430"/>
                <a:ext cx="388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4B86F1-C9B9-4340-9FD9-47B1EEFB9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215430"/>
                <a:ext cx="388882" cy="461665"/>
              </a:xfrm>
              <a:prstGeom prst="rect">
                <a:avLst/>
              </a:prstGeom>
              <a:blipFill>
                <a:blip r:embed="rId4"/>
                <a:stretch>
                  <a:fillRect l="-4688" r="-1563" b="-11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63C111-68A8-4E04-B788-18EF126AB070}"/>
              </a:ext>
            </a:extLst>
          </p:cNvPr>
          <p:cNvSpPr txBox="1"/>
          <p:nvPr/>
        </p:nvSpPr>
        <p:spPr>
          <a:xfrm>
            <a:off x="4361793" y="3321269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8CB68-8E0C-483E-91DC-C85B5BFC6172}"/>
                  </a:ext>
                </a:extLst>
              </p:cNvPr>
              <p:cNvSpPr txBox="1"/>
              <p:nvPr/>
            </p:nvSpPr>
            <p:spPr>
              <a:xfrm>
                <a:off x="4566745" y="3205654"/>
                <a:ext cx="108782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8CB68-8E0C-483E-91DC-C85B5BFC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45" y="3205654"/>
                <a:ext cx="1087821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F1BB3DB-0754-4137-8636-45F607CB3F18}"/>
              </a:ext>
            </a:extLst>
          </p:cNvPr>
          <p:cNvSpPr txBox="1"/>
          <p:nvPr/>
        </p:nvSpPr>
        <p:spPr>
          <a:xfrm>
            <a:off x="5827986" y="3305504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D39FC-9028-48F6-802B-897185850AEC}"/>
                  </a:ext>
                </a:extLst>
              </p:cNvPr>
              <p:cNvSpPr txBox="1"/>
              <p:nvPr/>
            </p:nvSpPr>
            <p:spPr>
              <a:xfrm>
                <a:off x="6206359" y="3216165"/>
                <a:ext cx="352982" cy="52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D39FC-9028-48F6-802B-897185850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359" y="3216165"/>
                <a:ext cx="352982" cy="5241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A2AAE281-286D-427A-9062-526911F4602D}"/>
              </a:ext>
            </a:extLst>
          </p:cNvPr>
          <p:cNvSpPr/>
          <p:nvPr/>
        </p:nvSpPr>
        <p:spPr>
          <a:xfrm>
            <a:off x="4035973" y="4288221"/>
            <a:ext cx="620110" cy="2312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D3EDC0-921C-4E86-A89D-BEE705EEA5FD}"/>
                  </a:ext>
                </a:extLst>
              </p:cNvPr>
              <p:cNvSpPr txBox="1"/>
              <p:nvPr/>
            </p:nvSpPr>
            <p:spPr>
              <a:xfrm>
                <a:off x="4761187" y="4213913"/>
                <a:ext cx="599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𝑑𝑄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D3EDC0-921C-4E86-A89D-BEE705EE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87" y="4213913"/>
                <a:ext cx="599090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4AD5623-3FC1-45CA-BC9F-7C2348E3916C}"/>
              </a:ext>
            </a:extLst>
          </p:cNvPr>
          <p:cNvSpPr txBox="1"/>
          <p:nvPr/>
        </p:nvSpPr>
        <p:spPr>
          <a:xfrm>
            <a:off x="5265683" y="4214649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FB786-3726-48C2-916F-6D30187DEB5D}"/>
                  </a:ext>
                </a:extLst>
              </p:cNvPr>
              <p:cNvSpPr txBox="1"/>
              <p:nvPr/>
            </p:nvSpPr>
            <p:spPr>
              <a:xfrm>
                <a:off x="5596759" y="4072023"/>
                <a:ext cx="388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FB786-3726-48C2-916F-6D30187DE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9" y="4072023"/>
                <a:ext cx="388882" cy="461665"/>
              </a:xfrm>
              <a:prstGeom prst="rect">
                <a:avLst/>
              </a:prstGeom>
              <a:blipFill>
                <a:blip r:embed="rId8"/>
                <a:stretch>
                  <a:fillRect l="-4688" r="-1563"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129EC8-9FE1-4B1C-B184-09721EDB7EB3}"/>
                  </a:ext>
                </a:extLst>
              </p:cNvPr>
              <p:cNvSpPr txBox="1"/>
              <p:nvPr/>
            </p:nvSpPr>
            <p:spPr>
              <a:xfrm>
                <a:off x="5927835" y="4182382"/>
                <a:ext cx="4729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𝑑𝐿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129EC8-9FE1-4B1C-B184-09721EDB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835" y="4182382"/>
                <a:ext cx="47296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ylinder 20">
            <a:extLst>
              <a:ext uri="{FF2B5EF4-FFF2-40B4-BE49-F238E27FC236}">
                <a16:creationId xmlns:a16="http://schemas.microsoft.com/office/drawing/2014/main" id="{DB70CCF6-230F-4815-94F6-733133D7030A}"/>
              </a:ext>
            </a:extLst>
          </p:cNvPr>
          <p:cNvSpPr/>
          <p:nvPr/>
        </p:nvSpPr>
        <p:spPr>
          <a:xfrm>
            <a:off x="10069677" y="1744717"/>
            <a:ext cx="388883" cy="3870114"/>
          </a:xfrm>
          <a:prstGeom prst="can">
            <a:avLst/>
          </a:prstGeom>
          <a:solidFill>
            <a:srgbClr val="FFEDB3"/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A59197-E034-4D3C-9449-B90F844112B9}"/>
                  </a:ext>
                </a:extLst>
              </p:cNvPr>
              <p:cNvSpPr txBox="1"/>
              <p:nvPr/>
            </p:nvSpPr>
            <p:spPr>
              <a:xfrm>
                <a:off x="9146114" y="5065410"/>
                <a:ext cx="22050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A59197-E034-4D3C-9449-B90F84411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14" y="5065410"/>
                <a:ext cx="2205057" cy="276999"/>
              </a:xfrm>
              <a:prstGeom prst="rect">
                <a:avLst/>
              </a:prstGeom>
              <a:blipFill>
                <a:blip r:embed="rId1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2C0D19-D76F-4C06-8A89-A9C6048FA3E7}"/>
                  </a:ext>
                </a:extLst>
              </p:cNvPr>
              <p:cNvSpPr txBox="1"/>
              <p:nvPr/>
            </p:nvSpPr>
            <p:spPr>
              <a:xfrm>
                <a:off x="9677785" y="4546623"/>
                <a:ext cx="11268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2C0D19-D76F-4C06-8A89-A9C6048F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785" y="4546623"/>
                <a:ext cx="1126850" cy="276999"/>
              </a:xfrm>
              <a:prstGeom prst="rect">
                <a:avLst/>
              </a:prstGeom>
              <a:blipFill>
                <a:blip r:embed="rId1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1BC59B-AAF5-4F87-BB15-8A89BDCABBA1}"/>
                  </a:ext>
                </a:extLst>
              </p:cNvPr>
              <p:cNvSpPr txBox="1"/>
              <p:nvPr/>
            </p:nvSpPr>
            <p:spPr>
              <a:xfrm>
                <a:off x="9620234" y="4038344"/>
                <a:ext cx="124746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1BC59B-AAF5-4F87-BB15-8A89BDCAB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234" y="4038344"/>
                <a:ext cx="1247462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C0D782-7141-454C-96EC-86EB0AA24020}"/>
                  </a:ext>
                </a:extLst>
              </p:cNvPr>
              <p:cNvSpPr txBox="1"/>
              <p:nvPr/>
            </p:nvSpPr>
            <p:spPr>
              <a:xfrm>
                <a:off x="9659198" y="3509046"/>
                <a:ext cx="117696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C0D782-7141-454C-96EC-86EB0AA24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198" y="3509046"/>
                <a:ext cx="1176967" cy="276999"/>
              </a:xfrm>
              <a:prstGeom prst="rect">
                <a:avLst/>
              </a:prstGeom>
              <a:blipFill>
                <a:blip r:embed="rId1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56D9F-D2B8-4B3C-941B-01B32F8CDD45}"/>
                  </a:ext>
                </a:extLst>
              </p:cNvPr>
              <p:cNvSpPr txBox="1"/>
              <p:nvPr/>
            </p:nvSpPr>
            <p:spPr>
              <a:xfrm>
                <a:off x="9715466" y="2990258"/>
                <a:ext cx="10471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56D9F-D2B8-4B3C-941B-01B32F8CD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66" y="2990258"/>
                <a:ext cx="1047125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FF8471-0BF3-4849-92D5-6DEF0C151B15}"/>
                  </a:ext>
                </a:extLst>
              </p:cNvPr>
              <p:cNvSpPr txBox="1"/>
              <p:nvPr/>
            </p:nvSpPr>
            <p:spPr>
              <a:xfrm>
                <a:off x="9701880" y="2471470"/>
                <a:ext cx="10817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FF8471-0BF3-4849-92D5-6DEF0C151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880" y="2471470"/>
                <a:ext cx="1081733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D1644D-C2B9-4C9E-A218-1BF5287E78D2}"/>
                  </a:ext>
                </a:extLst>
              </p:cNvPr>
              <p:cNvSpPr txBox="1"/>
              <p:nvPr/>
            </p:nvSpPr>
            <p:spPr>
              <a:xfrm>
                <a:off x="9771736" y="1952682"/>
                <a:ext cx="94881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D1644D-C2B9-4C9E-A218-1BF5287E7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736" y="1952682"/>
                <a:ext cx="948815" cy="276999"/>
              </a:xfrm>
              <a:prstGeom prst="rect">
                <a:avLst/>
              </a:prstGeom>
              <a:blipFill>
                <a:blip r:embed="rId1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BFA42F-80CE-4A61-82B3-9160D6DBDBFE}"/>
                  </a:ext>
                </a:extLst>
              </p:cNvPr>
              <p:cNvSpPr txBox="1"/>
              <p:nvPr/>
            </p:nvSpPr>
            <p:spPr>
              <a:xfrm>
                <a:off x="9485586" y="1859595"/>
                <a:ext cx="6568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BFA42F-80CE-4A61-82B3-9160D6DBD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586" y="1859595"/>
                <a:ext cx="656897" cy="461665"/>
              </a:xfrm>
              <a:prstGeom prst="rect">
                <a:avLst/>
              </a:prstGeom>
              <a:blipFill>
                <a:blip r:embed="rId17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ylinder 31">
            <a:extLst>
              <a:ext uri="{FF2B5EF4-FFF2-40B4-BE49-F238E27FC236}">
                <a16:creationId xmlns:a16="http://schemas.microsoft.com/office/drawing/2014/main" id="{EAD352CE-1D00-4B66-B874-F78D278C2257}"/>
              </a:ext>
            </a:extLst>
          </p:cNvPr>
          <p:cNvSpPr/>
          <p:nvPr/>
        </p:nvSpPr>
        <p:spPr>
          <a:xfrm>
            <a:off x="10068911" y="3346137"/>
            <a:ext cx="399392" cy="662152"/>
          </a:xfrm>
          <a:prstGeom prst="can">
            <a:avLst>
              <a:gd name="adj" fmla="val 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C32DD-EA9B-40DB-8ABD-0EA1603641D4}"/>
                  </a:ext>
                </a:extLst>
              </p:cNvPr>
              <p:cNvSpPr txBox="1"/>
              <p:nvPr/>
            </p:nvSpPr>
            <p:spPr>
              <a:xfrm>
                <a:off x="9592836" y="3411603"/>
                <a:ext cx="4321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C32DD-EA9B-40DB-8ABD-0EA160364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6" y="3411603"/>
                <a:ext cx="432110" cy="369332"/>
              </a:xfrm>
              <a:prstGeom prst="rect">
                <a:avLst/>
              </a:prstGeom>
              <a:blipFill>
                <a:blip r:embed="rId18"/>
                <a:stretch>
                  <a:fillRect r="-14085" b="-1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4E5752-AD2F-42B6-BD44-C2FFF9A7B9A1}"/>
                  </a:ext>
                </a:extLst>
              </p:cNvPr>
              <p:cNvSpPr txBox="1"/>
              <p:nvPr/>
            </p:nvSpPr>
            <p:spPr>
              <a:xfrm>
                <a:off x="10496086" y="3400452"/>
                <a:ext cx="4098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4E5752-AD2F-42B6-BD44-C2FFF9A7B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6086" y="3400452"/>
                <a:ext cx="409807" cy="369332"/>
              </a:xfrm>
              <a:prstGeom prst="rect">
                <a:avLst/>
              </a:prstGeom>
              <a:blipFill>
                <a:blip r:embed="rId19"/>
                <a:stretch>
                  <a:fillRect r="-59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3F442FB-0BAB-4018-A621-6D80F3373C3F}"/>
              </a:ext>
            </a:extLst>
          </p:cNvPr>
          <p:cNvSpPr txBox="1"/>
          <p:nvPr/>
        </p:nvSpPr>
        <p:spPr>
          <a:xfrm>
            <a:off x="567559" y="5339255"/>
            <a:ext cx="4193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Total Charge on the line ,  </a:t>
            </a:r>
            <a:r>
              <a:rPr lang="en-IN" sz="2400" i="1" dirty="0"/>
              <a:t>Q</a:t>
            </a:r>
            <a:r>
              <a:rPr lang="en-IN" sz="2400" dirty="0"/>
              <a:t>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96841-F381-48B3-94FD-2CD250FF7353}"/>
                  </a:ext>
                </a:extLst>
              </p:cNvPr>
              <p:cNvSpPr txBox="1"/>
              <p:nvPr/>
            </p:nvSpPr>
            <p:spPr>
              <a:xfrm>
                <a:off x="3184635" y="5255172"/>
                <a:ext cx="3752193" cy="660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𝑖𝑛𝑒</m:t>
                          </m:r>
                        </m:sub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𝑑𝐿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96841-F381-48B3-94FD-2CD250FF7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635" y="5255172"/>
                <a:ext cx="3752193" cy="66024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077260-DDC5-4D8D-872F-DDA322E796E5}"/>
              </a:ext>
            </a:extLst>
          </p:cNvPr>
          <p:cNvSpPr txBox="1"/>
          <p:nvPr/>
        </p:nvSpPr>
        <p:spPr>
          <a:xfrm>
            <a:off x="6758152" y="3342289"/>
            <a:ext cx="84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C/m</a:t>
            </a:r>
          </a:p>
        </p:txBody>
      </p:sp>
    </p:spTree>
    <p:extLst>
      <p:ext uri="{BB962C8B-B14F-4D97-AF65-F5344CB8AC3E}">
        <p14:creationId xmlns:p14="http://schemas.microsoft.com/office/powerpoint/2010/main" val="18836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6" grpId="0"/>
      <p:bldP spid="17" grpId="0"/>
      <p:bldP spid="18" grpId="0"/>
      <p:bldP spid="20" grpId="0"/>
      <p:bldP spid="21" grpId="0" animBg="1"/>
      <p:bldP spid="22" grpId="0"/>
      <p:bldP spid="23" grpId="0"/>
      <p:bldP spid="24" grpId="0"/>
      <p:bldP spid="25" grpId="0"/>
      <p:bldP spid="27" grpId="0"/>
      <p:bldP spid="28" grpId="0"/>
      <p:bldP spid="29" grpId="0"/>
      <p:bldP spid="31" grpId="0"/>
      <p:bldP spid="32" grpId="0" animBg="1"/>
      <p:bldP spid="34" grpId="0"/>
      <p:bldP spid="36" grpId="0"/>
      <p:bldP spid="40" grpId="0"/>
      <p:bldP spid="41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ave 18">
            <a:extLst>
              <a:ext uri="{FF2B5EF4-FFF2-40B4-BE49-F238E27FC236}">
                <a16:creationId xmlns:a16="http://schemas.microsoft.com/office/drawing/2014/main" id="{852F3018-43F7-4AF8-AFFB-D951C3720D3D}"/>
              </a:ext>
            </a:extLst>
          </p:cNvPr>
          <p:cNvSpPr/>
          <p:nvPr/>
        </p:nvSpPr>
        <p:spPr>
          <a:xfrm>
            <a:off x="7504388" y="2702748"/>
            <a:ext cx="4088524" cy="2469931"/>
          </a:xfrm>
          <a:prstGeom prst="wave">
            <a:avLst/>
          </a:prstGeom>
          <a:solidFill>
            <a:srgbClr val="FFFCD5"/>
          </a:solidFill>
          <a:ln>
            <a:solidFill>
              <a:srgbClr val="FFC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53698-D19B-4635-B9D2-DEFCB3E9CEA7}"/>
              </a:ext>
            </a:extLst>
          </p:cNvPr>
          <p:cNvSpPr txBox="1"/>
          <p:nvPr/>
        </p:nvSpPr>
        <p:spPr>
          <a:xfrm>
            <a:off x="168166" y="273269"/>
            <a:ext cx="1044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CONTINUOUS CHARGE DISTRIBUTIONS</a:t>
            </a:r>
            <a:r>
              <a:rPr lang="en-IN" b="1" baseline="-25000" dirty="0">
                <a:solidFill>
                  <a:srgbClr val="0070C0"/>
                </a:solidFill>
              </a:rPr>
              <a:t>Contd.</a:t>
            </a:r>
            <a:r>
              <a:rPr lang="en-IN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4A348-1E27-4065-BFF6-C9B4088045B2}"/>
              </a:ext>
            </a:extLst>
          </p:cNvPr>
          <p:cNvSpPr txBox="1"/>
          <p:nvPr/>
        </p:nvSpPr>
        <p:spPr>
          <a:xfrm>
            <a:off x="189186" y="767256"/>
            <a:ext cx="2186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solidFill>
                  <a:srgbClr val="C00000"/>
                </a:solidFill>
              </a:rPr>
              <a:t>Surface Charge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1F3C5-8D4E-406A-85A4-97DBD3A9D2F0}"/>
              </a:ext>
            </a:extLst>
          </p:cNvPr>
          <p:cNvSpPr txBox="1"/>
          <p:nvPr/>
        </p:nvSpPr>
        <p:spPr>
          <a:xfrm>
            <a:off x="199697" y="1313793"/>
            <a:ext cx="11571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When the charge is distributed over a surface, it’s called </a:t>
            </a:r>
            <a:r>
              <a:rPr lang="en-IN" sz="2400" i="1" dirty="0"/>
              <a:t>Surface Charge Distribution</a:t>
            </a:r>
            <a:r>
              <a:rPr lang="en-IN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7922AF-9D09-4A5A-A108-0CF360BAC4FF}"/>
                  </a:ext>
                </a:extLst>
              </p:cNvPr>
              <p:cNvSpPr txBox="1"/>
              <p:nvPr/>
            </p:nvSpPr>
            <p:spPr>
              <a:xfrm>
                <a:off x="236484" y="1865587"/>
                <a:ext cx="7341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It’s represented by </a:t>
                </a:r>
                <a:r>
                  <a:rPr lang="en-IN" sz="2400" i="1" dirty="0"/>
                  <a:t>Surface Charge Density,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IN" sz="24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7922AF-9D09-4A5A-A108-0CF360BAC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4" y="1865587"/>
                <a:ext cx="7341476" cy="461665"/>
              </a:xfrm>
              <a:prstGeom prst="rect">
                <a:avLst/>
              </a:prstGeom>
              <a:blipFill>
                <a:blip r:embed="rId2"/>
                <a:stretch>
                  <a:fillRect l="-1329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3913C-A231-41CE-A6C1-D47FC8F52238}"/>
                  </a:ext>
                </a:extLst>
              </p:cNvPr>
              <p:cNvSpPr txBox="1"/>
              <p:nvPr/>
            </p:nvSpPr>
            <p:spPr>
              <a:xfrm>
                <a:off x="189186" y="2364827"/>
                <a:ext cx="53392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/>
                  <a:t> Surface Charge Density,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sz="2400" dirty="0"/>
                  <a:t> is defined as </a:t>
                </a:r>
                <a:endParaRPr lang="en-IN" sz="2400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3913C-A231-41CE-A6C1-D47FC8F52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86" y="2364827"/>
                <a:ext cx="5339255" cy="461665"/>
              </a:xfrm>
              <a:prstGeom prst="rect">
                <a:avLst/>
              </a:prstGeom>
              <a:blipFill>
                <a:blip r:embed="rId3"/>
                <a:stretch>
                  <a:fillRect l="-342" t="-10526" r="-342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4B86F1-C9B9-4340-9FD9-47B1EEFB923A}"/>
                  </a:ext>
                </a:extLst>
              </p:cNvPr>
              <p:cNvSpPr txBox="1"/>
              <p:nvPr/>
            </p:nvSpPr>
            <p:spPr>
              <a:xfrm>
                <a:off x="3962400" y="3215430"/>
                <a:ext cx="388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4B86F1-C9B9-4340-9FD9-47B1EEFB9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215430"/>
                <a:ext cx="388882" cy="461665"/>
              </a:xfrm>
              <a:prstGeom prst="rect">
                <a:avLst/>
              </a:prstGeom>
              <a:blipFill>
                <a:blip r:embed="rId4"/>
                <a:stretch>
                  <a:fillRect l="-4688" r="-3125" b="-11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63C111-68A8-4E04-B788-18EF126AB070}"/>
              </a:ext>
            </a:extLst>
          </p:cNvPr>
          <p:cNvSpPr txBox="1"/>
          <p:nvPr/>
        </p:nvSpPr>
        <p:spPr>
          <a:xfrm>
            <a:off x="4361793" y="3321269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8CB68-8E0C-483E-91DC-C85B5BFC6172}"/>
                  </a:ext>
                </a:extLst>
              </p:cNvPr>
              <p:cNvSpPr txBox="1"/>
              <p:nvPr/>
            </p:nvSpPr>
            <p:spPr>
              <a:xfrm>
                <a:off x="4566745" y="3205654"/>
                <a:ext cx="108782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8CB68-8E0C-483E-91DC-C85B5BFC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45" y="3205654"/>
                <a:ext cx="1087821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F1BB3DB-0754-4137-8636-45F607CB3F18}"/>
              </a:ext>
            </a:extLst>
          </p:cNvPr>
          <p:cNvSpPr txBox="1"/>
          <p:nvPr/>
        </p:nvSpPr>
        <p:spPr>
          <a:xfrm>
            <a:off x="5827986" y="3305504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D39FC-9028-48F6-802B-897185850AEC}"/>
                  </a:ext>
                </a:extLst>
              </p:cNvPr>
              <p:cNvSpPr txBox="1"/>
              <p:nvPr/>
            </p:nvSpPr>
            <p:spPr>
              <a:xfrm>
                <a:off x="6206359" y="3216165"/>
                <a:ext cx="352981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D39FC-9028-48F6-802B-897185850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359" y="3216165"/>
                <a:ext cx="352981" cy="525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A2AAE281-286D-427A-9062-526911F4602D}"/>
              </a:ext>
            </a:extLst>
          </p:cNvPr>
          <p:cNvSpPr/>
          <p:nvPr/>
        </p:nvSpPr>
        <p:spPr>
          <a:xfrm>
            <a:off x="4035973" y="4288221"/>
            <a:ext cx="620110" cy="2312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D3EDC0-921C-4E86-A89D-BEE705EEA5FD}"/>
                  </a:ext>
                </a:extLst>
              </p:cNvPr>
              <p:cNvSpPr txBox="1"/>
              <p:nvPr/>
            </p:nvSpPr>
            <p:spPr>
              <a:xfrm>
                <a:off x="4761187" y="4213913"/>
                <a:ext cx="599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𝑑𝑄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D3EDC0-921C-4E86-A89D-BEE705EE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87" y="4213913"/>
                <a:ext cx="599090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4AD5623-3FC1-45CA-BC9F-7C2348E3916C}"/>
              </a:ext>
            </a:extLst>
          </p:cNvPr>
          <p:cNvSpPr txBox="1"/>
          <p:nvPr/>
        </p:nvSpPr>
        <p:spPr>
          <a:xfrm>
            <a:off x="5265683" y="4214649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FB786-3726-48C2-916F-6D30187DEB5D}"/>
                  </a:ext>
                </a:extLst>
              </p:cNvPr>
              <p:cNvSpPr txBox="1"/>
              <p:nvPr/>
            </p:nvSpPr>
            <p:spPr>
              <a:xfrm>
                <a:off x="5596759" y="4072023"/>
                <a:ext cx="388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FB786-3726-48C2-916F-6D30187DE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9" y="4072023"/>
                <a:ext cx="388882" cy="461665"/>
              </a:xfrm>
              <a:prstGeom prst="rect">
                <a:avLst/>
              </a:prstGeom>
              <a:blipFill>
                <a:blip r:embed="rId8"/>
                <a:stretch>
                  <a:fillRect l="-4688" r="-4688"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129EC8-9FE1-4B1C-B184-09721EDB7EB3}"/>
                  </a:ext>
                </a:extLst>
              </p:cNvPr>
              <p:cNvSpPr txBox="1"/>
              <p:nvPr/>
            </p:nvSpPr>
            <p:spPr>
              <a:xfrm>
                <a:off x="5927835" y="4182382"/>
                <a:ext cx="4729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129EC8-9FE1-4B1C-B184-09721EDB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835" y="4182382"/>
                <a:ext cx="47296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BFA42F-80CE-4A61-82B3-9160D6DBDBFE}"/>
                  </a:ext>
                </a:extLst>
              </p:cNvPr>
              <p:cNvSpPr txBox="1"/>
              <p:nvPr/>
            </p:nvSpPr>
            <p:spPr>
              <a:xfrm>
                <a:off x="7362498" y="2837057"/>
                <a:ext cx="6568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BFA42F-80CE-4A61-82B3-9160D6DBD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498" y="2837057"/>
                <a:ext cx="656897" cy="461665"/>
              </a:xfrm>
              <a:prstGeom prst="rect">
                <a:avLst/>
              </a:prstGeom>
              <a:blipFill>
                <a:blip r:embed="rId10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C32DD-EA9B-40DB-8ABD-0EA1603641D4}"/>
                  </a:ext>
                </a:extLst>
              </p:cNvPr>
              <p:cNvSpPr txBox="1"/>
              <p:nvPr/>
            </p:nvSpPr>
            <p:spPr>
              <a:xfrm rot="707805">
                <a:off x="8760418" y="2783855"/>
                <a:ext cx="3932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1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C32DD-EA9B-40DB-8ABD-0EA160364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07805">
                <a:off x="8760418" y="2783855"/>
                <a:ext cx="393260" cy="307777"/>
              </a:xfrm>
              <a:prstGeom prst="rect">
                <a:avLst/>
              </a:prstGeom>
              <a:blipFill>
                <a:blip r:embed="rId11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4E5752-AD2F-42B6-BD44-C2FFF9A7B9A1}"/>
                  </a:ext>
                </a:extLst>
              </p:cNvPr>
              <p:cNvSpPr txBox="1"/>
              <p:nvPr/>
            </p:nvSpPr>
            <p:spPr>
              <a:xfrm>
                <a:off x="9018614" y="3065658"/>
                <a:ext cx="40980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4E5752-AD2F-42B6-BD44-C2FFF9A7B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614" y="3065658"/>
                <a:ext cx="40980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3F442FB-0BAB-4018-A621-6D80F3373C3F}"/>
              </a:ext>
            </a:extLst>
          </p:cNvPr>
          <p:cNvSpPr txBox="1"/>
          <p:nvPr/>
        </p:nvSpPr>
        <p:spPr>
          <a:xfrm>
            <a:off x="567559" y="5339255"/>
            <a:ext cx="4614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Total Charge on the Surface ,  </a:t>
            </a:r>
            <a:r>
              <a:rPr lang="en-IN" sz="2400" i="1" dirty="0"/>
              <a:t>Q</a:t>
            </a:r>
            <a:r>
              <a:rPr lang="en-IN" sz="2400" dirty="0"/>
              <a:t>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96841-F381-48B3-94FD-2CD250FF7353}"/>
                  </a:ext>
                </a:extLst>
              </p:cNvPr>
              <p:cNvSpPr txBox="1"/>
              <p:nvPr/>
            </p:nvSpPr>
            <p:spPr>
              <a:xfrm>
                <a:off x="4803228" y="5307724"/>
                <a:ext cx="1376855" cy="660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96841-F381-48B3-94FD-2CD250FF7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228" y="5307724"/>
                <a:ext cx="1376855" cy="6602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CA7204C-7409-41F9-9005-80FEEB3FA6BC}"/>
              </a:ext>
            </a:extLst>
          </p:cNvPr>
          <p:cNvSpPr txBox="1"/>
          <p:nvPr/>
        </p:nvSpPr>
        <p:spPr>
          <a:xfrm>
            <a:off x="6716110" y="3289737"/>
            <a:ext cx="1198180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C/m</a:t>
            </a:r>
            <a:r>
              <a:rPr lang="en-IN" baseline="300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593A48-095B-420C-B921-58F42D6EE8BB}"/>
              </a:ext>
            </a:extLst>
          </p:cNvPr>
          <p:cNvSpPr txBox="1"/>
          <p:nvPr/>
        </p:nvSpPr>
        <p:spPr>
          <a:xfrm>
            <a:off x="7759109" y="3079529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0CD352-2F4C-4F95-8ADC-DD4192DC2ED7}"/>
              </a:ext>
            </a:extLst>
          </p:cNvPr>
          <p:cNvSpPr txBox="1"/>
          <p:nvPr/>
        </p:nvSpPr>
        <p:spPr>
          <a:xfrm>
            <a:off x="9655249" y="4646059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C2CD63-CE71-45CF-86C7-F48A46AACA95}"/>
              </a:ext>
            </a:extLst>
          </p:cNvPr>
          <p:cNvSpPr txBox="1"/>
          <p:nvPr/>
        </p:nvSpPr>
        <p:spPr>
          <a:xfrm>
            <a:off x="8414784" y="3618245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F7516-8421-4CF4-8104-E8BD8E9A0333}"/>
              </a:ext>
            </a:extLst>
          </p:cNvPr>
          <p:cNvSpPr txBox="1"/>
          <p:nvPr/>
        </p:nvSpPr>
        <p:spPr>
          <a:xfrm>
            <a:off x="7886700" y="4110887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0D3652-BEAC-4F13-964C-93EF2B63140F}"/>
              </a:ext>
            </a:extLst>
          </p:cNvPr>
          <p:cNvSpPr txBox="1"/>
          <p:nvPr/>
        </p:nvSpPr>
        <p:spPr>
          <a:xfrm>
            <a:off x="10335733" y="3912413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51B844-259D-44D6-8DCE-026AC14D2940}"/>
              </a:ext>
            </a:extLst>
          </p:cNvPr>
          <p:cNvSpPr txBox="1"/>
          <p:nvPr/>
        </p:nvSpPr>
        <p:spPr>
          <a:xfrm>
            <a:off x="9392979" y="3331166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C9E8F-FB0A-4EF8-8DC5-27D6518A915F}"/>
              </a:ext>
            </a:extLst>
          </p:cNvPr>
          <p:cNvSpPr txBox="1"/>
          <p:nvPr/>
        </p:nvSpPr>
        <p:spPr>
          <a:xfrm>
            <a:off x="10374719" y="4504292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224D9-09D4-4048-A460-4F55ED3B37B3}"/>
              </a:ext>
            </a:extLst>
          </p:cNvPr>
          <p:cNvSpPr txBox="1"/>
          <p:nvPr/>
        </p:nvSpPr>
        <p:spPr>
          <a:xfrm>
            <a:off x="11143807" y="4369613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3C982A-1C5E-45C6-9057-40C7E325E870}"/>
              </a:ext>
            </a:extLst>
          </p:cNvPr>
          <p:cNvSpPr txBox="1"/>
          <p:nvPr/>
        </p:nvSpPr>
        <p:spPr>
          <a:xfrm>
            <a:off x="11094188" y="3533185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B46866-3741-430C-8287-8549B93066A5}"/>
              </a:ext>
            </a:extLst>
          </p:cNvPr>
          <p:cNvSpPr/>
          <p:nvPr/>
        </p:nvSpPr>
        <p:spPr>
          <a:xfrm rot="638953">
            <a:off x="8765628" y="3079532"/>
            <a:ext cx="294290" cy="178676"/>
          </a:xfrm>
          <a:prstGeom prst="roundRect">
            <a:avLst/>
          </a:prstGeom>
          <a:solidFill>
            <a:srgbClr val="FFFAB3"/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23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6" grpId="0"/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6" grpId="0"/>
      <p:bldP spid="17" grpId="0"/>
      <p:bldP spid="18" grpId="0"/>
      <p:bldP spid="20" grpId="0"/>
      <p:bldP spid="31" grpId="0"/>
      <p:bldP spid="34" grpId="0"/>
      <p:bldP spid="36" grpId="0"/>
      <p:bldP spid="40" grpId="0"/>
      <p:bldP spid="41" grpId="0"/>
      <p:bldP spid="3" grpId="0"/>
      <p:bldP spid="27" grpId="0"/>
      <p:bldP spid="28" grpId="0"/>
      <p:bldP spid="29" grpId="0"/>
      <p:bldP spid="30" grpId="0"/>
      <p:bldP spid="32" grpId="0"/>
      <p:bldP spid="33" grpId="0"/>
      <p:bldP spid="35" grpId="0"/>
      <p:bldP spid="37" grpId="0"/>
      <p:bldP spid="38" grpId="0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ardrop 38">
            <a:extLst>
              <a:ext uri="{FF2B5EF4-FFF2-40B4-BE49-F238E27FC236}">
                <a16:creationId xmlns:a16="http://schemas.microsoft.com/office/drawing/2014/main" id="{AB2552AD-B3F9-4FE2-81FF-8326A2C907C2}"/>
              </a:ext>
            </a:extLst>
          </p:cNvPr>
          <p:cNvSpPr/>
          <p:nvPr/>
        </p:nvSpPr>
        <p:spPr>
          <a:xfrm>
            <a:off x="7381383" y="3027423"/>
            <a:ext cx="3822645" cy="1744274"/>
          </a:xfrm>
          <a:prstGeom prst="teardrop">
            <a:avLst>
              <a:gd name="adj" fmla="val 57073"/>
            </a:avLst>
          </a:prstGeom>
          <a:gradFill flip="none" rotWithShape="1">
            <a:gsLst>
              <a:gs pos="94000">
                <a:schemeClr val="accent5">
                  <a:alpha val="0"/>
                  <a:lumMod val="61000"/>
                  <a:lumOff val="39000"/>
                </a:schemeClr>
              </a:gs>
              <a:gs pos="52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9000">
                <a:schemeClr val="accent1">
                  <a:lumMod val="0"/>
                  <a:lumOff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53698-D19B-4635-B9D2-DEFCB3E9CEA7}"/>
              </a:ext>
            </a:extLst>
          </p:cNvPr>
          <p:cNvSpPr txBox="1"/>
          <p:nvPr/>
        </p:nvSpPr>
        <p:spPr>
          <a:xfrm>
            <a:off x="168166" y="273269"/>
            <a:ext cx="1044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CONTINUOUS CHARGE DISTRIBUTIONS</a:t>
            </a:r>
            <a:r>
              <a:rPr lang="en-IN" b="1" baseline="-25000" dirty="0">
                <a:solidFill>
                  <a:srgbClr val="0070C0"/>
                </a:solidFill>
              </a:rPr>
              <a:t>Contd.</a:t>
            </a:r>
            <a:r>
              <a:rPr lang="en-IN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4A348-1E27-4065-BFF6-C9B4088045B2}"/>
              </a:ext>
            </a:extLst>
          </p:cNvPr>
          <p:cNvSpPr txBox="1"/>
          <p:nvPr/>
        </p:nvSpPr>
        <p:spPr>
          <a:xfrm>
            <a:off x="189186" y="767256"/>
            <a:ext cx="2186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solidFill>
                  <a:srgbClr val="C00000"/>
                </a:solidFill>
              </a:rPr>
              <a:t>Volume Charge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1F3C5-8D4E-406A-85A4-97DBD3A9D2F0}"/>
              </a:ext>
            </a:extLst>
          </p:cNvPr>
          <p:cNvSpPr txBox="1"/>
          <p:nvPr/>
        </p:nvSpPr>
        <p:spPr>
          <a:xfrm>
            <a:off x="199697" y="1313793"/>
            <a:ext cx="11571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When the charge is distributed in a volume, it’s called </a:t>
            </a:r>
            <a:r>
              <a:rPr lang="en-IN" sz="2400" i="1" dirty="0"/>
              <a:t>Volume Charge Distribution</a:t>
            </a:r>
            <a:r>
              <a:rPr lang="en-IN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7922AF-9D09-4A5A-A108-0CF360BAC4FF}"/>
                  </a:ext>
                </a:extLst>
              </p:cNvPr>
              <p:cNvSpPr txBox="1"/>
              <p:nvPr/>
            </p:nvSpPr>
            <p:spPr>
              <a:xfrm>
                <a:off x="236484" y="1865587"/>
                <a:ext cx="7341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It’s represented by </a:t>
                </a:r>
                <a:r>
                  <a:rPr lang="en-IN" sz="2400" i="1" dirty="0"/>
                  <a:t>Volume Charge Density,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IN" sz="24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7922AF-9D09-4A5A-A108-0CF360BAC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84" y="1865587"/>
                <a:ext cx="7341476" cy="461665"/>
              </a:xfrm>
              <a:prstGeom prst="rect">
                <a:avLst/>
              </a:prstGeom>
              <a:blipFill>
                <a:blip r:embed="rId2"/>
                <a:stretch>
                  <a:fillRect l="-1329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3913C-A231-41CE-A6C1-D47FC8F52238}"/>
                  </a:ext>
                </a:extLst>
              </p:cNvPr>
              <p:cNvSpPr txBox="1"/>
              <p:nvPr/>
            </p:nvSpPr>
            <p:spPr>
              <a:xfrm>
                <a:off x="189186" y="2364827"/>
                <a:ext cx="54443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i="1" dirty="0"/>
                  <a:t> Volume Charge Density,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sz="2400" dirty="0"/>
                  <a:t> is defined as </a:t>
                </a:r>
                <a:endParaRPr lang="en-IN" sz="2400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F3913C-A231-41CE-A6C1-D47FC8F52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86" y="2364827"/>
                <a:ext cx="5444359" cy="461665"/>
              </a:xfrm>
              <a:prstGeom prst="rect">
                <a:avLst/>
              </a:prstGeom>
              <a:blipFill>
                <a:blip r:embed="rId3"/>
                <a:stretch>
                  <a:fillRect l="-33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4B86F1-C9B9-4340-9FD9-47B1EEFB923A}"/>
                  </a:ext>
                </a:extLst>
              </p:cNvPr>
              <p:cNvSpPr txBox="1"/>
              <p:nvPr/>
            </p:nvSpPr>
            <p:spPr>
              <a:xfrm>
                <a:off x="3962400" y="3215430"/>
                <a:ext cx="388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4B86F1-C9B9-4340-9FD9-47B1EEFB9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215430"/>
                <a:ext cx="388882" cy="461665"/>
              </a:xfrm>
              <a:prstGeom prst="rect">
                <a:avLst/>
              </a:prstGeom>
              <a:blipFill>
                <a:blip r:embed="rId4"/>
                <a:stretch>
                  <a:fillRect l="-4688" r="-7813" b="-118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63C111-68A8-4E04-B788-18EF126AB070}"/>
              </a:ext>
            </a:extLst>
          </p:cNvPr>
          <p:cNvSpPr txBox="1"/>
          <p:nvPr/>
        </p:nvSpPr>
        <p:spPr>
          <a:xfrm>
            <a:off x="4361793" y="3321269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8CB68-8E0C-483E-91DC-C85B5BFC6172}"/>
                  </a:ext>
                </a:extLst>
              </p:cNvPr>
              <p:cNvSpPr txBox="1"/>
              <p:nvPr/>
            </p:nvSpPr>
            <p:spPr>
              <a:xfrm>
                <a:off x="4566745" y="3205654"/>
                <a:ext cx="1087821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E8CB68-8E0C-483E-91DC-C85B5BFC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745" y="3205654"/>
                <a:ext cx="1087821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F1BB3DB-0754-4137-8636-45F607CB3F18}"/>
              </a:ext>
            </a:extLst>
          </p:cNvPr>
          <p:cNvSpPr txBox="1"/>
          <p:nvPr/>
        </p:nvSpPr>
        <p:spPr>
          <a:xfrm>
            <a:off x="5827986" y="3305504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D39FC-9028-48F6-802B-897185850AEC}"/>
                  </a:ext>
                </a:extLst>
              </p:cNvPr>
              <p:cNvSpPr txBox="1"/>
              <p:nvPr/>
            </p:nvSpPr>
            <p:spPr>
              <a:xfrm>
                <a:off x="6206359" y="3216165"/>
                <a:ext cx="352982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D39FC-9028-48F6-802B-897185850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359" y="3216165"/>
                <a:ext cx="352982" cy="5260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row: Right 13">
            <a:extLst>
              <a:ext uri="{FF2B5EF4-FFF2-40B4-BE49-F238E27FC236}">
                <a16:creationId xmlns:a16="http://schemas.microsoft.com/office/drawing/2014/main" id="{A2AAE281-286D-427A-9062-526911F4602D}"/>
              </a:ext>
            </a:extLst>
          </p:cNvPr>
          <p:cNvSpPr/>
          <p:nvPr/>
        </p:nvSpPr>
        <p:spPr>
          <a:xfrm>
            <a:off x="4035973" y="4288221"/>
            <a:ext cx="620110" cy="2312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D3EDC0-921C-4E86-A89D-BEE705EEA5FD}"/>
                  </a:ext>
                </a:extLst>
              </p:cNvPr>
              <p:cNvSpPr txBox="1"/>
              <p:nvPr/>
            </p:nvSpPr>
            <p:spPr>
              <a:xfrm>
                <a:off x="4761187" y="4213913"/>
                <a:ext cx="599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𝑑𝑄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D3EDC0-921C-4E86-A89D-BEE705EE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87" y="4213913"/>
                <a:ext cx="599090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4AD5623-3FC1-45CA-BC9F-7C2348E3916C}"/>
              </a:ext>
            </a:extLst>
          </p:cNvPr>
          <p:cNvSpPr txBox="1"/>
          <p:nvPr/>
        </p:nvSpPr>
        <p:spPr>
          <a:xfrm>
            <a:off x="5265683" y="4214649"/>
            <a:ext cx="325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FB786-3726-48C2-916F-6D30187DEB5D}"/>
                  </a:ext>
                </a:extLst>
              </p:cNvPr>
              <p:cNvSpPr txBox="1"/>
              <p:nvPr/>
            </p:nvSpPr>
            <p:spPr>
              <a:xfrm>
                <a:off x="5596759" y="4072023"/>
                <a:ext cx="3888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FB786-3726-48C2-916F-6D30187DE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9" y="4072023"/>
                <a:ext cx="388882" cy="461665"/>
              </a:xfrm>
              <a:prstGeom prst="rect">
                <a:avLst/>
              </a:prstGeom>
              <a:blipFill>
                <a:blip r:embed="rId8"/>
                <a:stretch>
                  <a:fillRect l="-4688" r="-9375"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129EC8-9FE1-4B1C-B184-09721EDB7EB3}"/>
                  </a:ext>
                </a:extLst>
              </p:cNvPr>
              <p:cNvSpPr txBox="1"/>
              <p:nvPr/>
            </p:nvSpPr>
            <p:spPr>
              <a:xfrm>
                <a:off x="5927835" y="4182382"/>
                <a:ext cx="4729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𝑑𝑣</m:t>
                      </m:r>
                    </m:oMath>
                  </m:oMathPara>
                </a14:m>
                <a:endParaRPr lang="en-IN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129EC8-9FE1-4B1C-B184-09721EDB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835" y="4182382"/>
                <a:ext cx="47296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BFA42F-80CE-4A61-82B3-9160D6DBDBFE}"/>
                  </a:ext>
                </a:extLst>
              </p:cNvPr>
              <p:cNvSpPr txBox="1"/>
              <p:nvPr/>
            </p:nvSpPr>
            <p:spPr>
              <a:xfrm>
                <a:off x="7888015" y="3110326"/>
                <a:ext cx="6568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ABFA42F-80CE-4A61-82B3-9160D6DBD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015" y="3110326"/>
                <a:ext cx="656897" cy="369332"/>
              </a:xfrm>
              <a:prstGeom prst="rect">
                <a:avLst/>
              </a:prstGeom>
              <a:blipFill>
                <a:blip r:embed="rId1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C32DD-EA9B-40DB-8ABD-0EA1603641D4}"/>
                  </a:ext>
                </a:extLst>
              </p:cNvPr>
              <p:cNvSpPr txBox="1"/>
              <p:nvPr/>
            </p:nvSpPr>
            <p:spPr>
              <a:xfrm>
                <a:off x="9792531" y="3211154"/>
                <a:ext cx="4321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140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CC32DD-EA9B-40DB-8ABD-0EA160364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531" y="3211154"/>
                <a:ext cx="432110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4E5752-AD2F-42B6-BD44-C2FFF9A7B9A1}"/>
                  </a:ext>
                </a:extLst>
              </p:cNvPr>
              <p:cNvSpPr txBox="1"/>
              <p:nvPr/>
            </p:nvSpPr>
            <p:spPr>
              <a:xfrm>
                <a:off x="10026966" y="3570796"/>
                <a:ext cx="40980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I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4E5752-AD2F-42B6-BD44-C2FFF9A7B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966" y="3570796"/>
                <a:ext cx="40980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3F442FB-0BAB-4018-A621-6D80F3373C3F}"/>
              </a:ext>
            </a:extLst>
          </p:cNvPr>
          <p:cNvSpPr txBox="1"/>
          <p:nvPr/>
        </p:nvSpPr>
        <p:spPr>
          <a:xfrm>
            <a:off x="567559" y="5339255"/>
            <a:ext cx="4614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Total Charge in the Volume,  </a:t>
            </a:r>
            <a:r>
              <a:rPr lang="en-IN" sz="2400" i="1" dirty="0"/>
              <a:t>Q</a:t>
            </a:r>
            <a:r>
              <a:rPr lang="en-IN" sz="2400" dirty="0"/>
              <a:t>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96841-F381-48B3-94FD-2CD250FF7353}"/>
                  </a:ext>
                </a:extLst>
              </p:cNvPr>
              <p:cNvSpPr txBox="1"/>
              <p:nvPr/>
            </p:nvSpPr>
            <p:spPr>
              <a:xfrm>
                <a:off x="4803228" y="5307724"/>
                <a:ext cx="1376855" cy="660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𝑣𝑜𝑙</m:t>
                          </m:r>
                        </m:sub>
                        <m:sup/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C96841-F381-48B3-94FD-2CD250FF7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228" y="5307724"/>
                <a:ext cx="1376855" cy="6602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CA7204C-7409-41F9-9005-80FEEB3FA6BC}"/>
              </a:ext>
            </a:extLst>
          </p:cNvPr>
          <p:cNvSpPr txBox="1"/>
          <p:nvPr/>
        </p:nvSpPr>
        <p:spPr>
          <a:xfrm>
            <a:off x="6716110" y="3289737"/>
            <a:ext cx="1198180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C/m</a:t>
            </a:r>
            <a:r>
              <a:rPr lang="en-IN" baseline="300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593A48-095B-420C-B921-58F42D6EE8BB}"/>
              </a:ext>
            </a:extLst>
          </p:cNvPr>
          <p:cNvSpPr txBox="1"/>
          <p:nvPr/>
        </p:nvSpPr>
        <p:spPr>
          <a:xfrm>
            <a:off x="7643494" y="3668108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C2CD63-CE71-45CF-86C7-F48A46AACA95}"/>
              </a:ext>
            </a:extLst>
          </p:cNvPr>
          <p:cNvSpPr txBox="1"/>
          <p:nvPr/>
        </p:nvSpPr>
        <p:spPr>
          <a:xfrm>
            <a:off x="8414784" y="3618245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8F7516-8421-4CF4-8104-E8BD8E9A0333}"/>
              </a:ext>
            </a:extLst>
          </p:cNvPr>
          <p:cNvSpPr txBox="1"/>
          <p:nvPr/>
        </p:nvSpPr>
        <p:spPr>
          <a:xfrm>
            <a:off x="7886700" y="4110887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0D3652-BEAC-4F13-964C-93EF2B63140F}"/>
              </a:ext>
            </a:extLst>
          </p:cNvPr>
          <p:cNvSpPr txBox="1"/>
          <p:nvPr/>
        </p:nvSpPr>
        <p:spPr>
          <a:xfrm>
            <a:off x="10335733" y="3912413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51B844-259D-44D6-8DCE-026AC14D2940}"/>
              </a:ext>
            </a:extLst>
          </p:cNvPr>
          <p:cNvSpPr txBox="1"/>
          <p:nvPr/>
        </p:nvSpPr>
        <p:spPr>
          <a:xfrm>
            <a:off x="9392979" y="3331166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C9E8F-FB0A-4EF8-8DC5-27D6518A915F}"/>
              </a:ext>
            </a:extLst>
          </p:cNvPr>
          <p:cNvSpPr txBox="1"/>
          <p:nvPr/>
        </p:nvSpPr>
        <p:spPr>
          <a:xfrm>
            <a:off x="9292153" y="4073368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3C982A-1C5E-45C6-9057-40C7E325E870}"/>
              </a:ext>
            </a:extLst>
          </p:cNvPr>
          <p:cNvSpPr txBox="1"/>
          <p:nvPr/>
        </p:nvSpPr>
        <p:spPr>
          <a:xfrm>
            <a:off x="8876506" y="3102261"/>
            <a:ext cx="374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791FBF5B-16E3-465E-8104-80EBB26AB90E}"/>
              </a:ext>
            </a:extLst>
          </p:cNvPr>
          <p:cNvSpPr/>
          <p:nvPr/>
        </p:nvSpPr>
        <p:spPr>
          <a:xfrm>
            <a:off x="9816662" y="3510455"/>
            <a:ext cx="304800" cy="262758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4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1" animBg="1"/>
      <p:bldP spid="6" grpId="0"/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6" grpId="0"/>
      <p:bldP spid="17" grpId="0"/>
      <p:bldP spid="18" grpId="0"/>
      <p:bldP spid="20" grpId="0"/>
      <p:bldP spid="31" grpId="0"/>
      <p:bldP spid="34" grpId="0"/>
      <p:bldP spid="36" grpId="0"/>
      <p:bldP spid="40" grpId="0"/>
      <p:bldP spid="41" grpId="0"/>
      <p:bldP spid="3" grpId="0"/>
      <p:bldP spid="27" grpId="0"/>
      <p:bldP spid="29" grpId="0"/>
      <p:bldP spid="30" grpId="0"/>
      <p:bldP spid="32" grpId="0"/>
      <p:bldP spid="33" grpId="0"/>
      <p:bldP spid="35" grpId="0"/>
      <p:bldP spid="38" grpId="0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3031</TotalTime>
  <Words>1730</Words>
  <Application>Microsoft Office PowerPoint</Application>
  <PresentationFormat>Widescreen</PresentationFormat>
  <Paragraphs>381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Director-CRT</cp:lastModifiedBy>
  <cp:revision>56</cp:revision>
  <dcterms:created xsi:type="dcterms:W3CDTF">2021-01-19T05:03:01Z</dcterms:created>
  <dcterms:modified xsi:type="dcterms:W3CDTF">2025-02-04T12:12:33Z</dcterms:modified>
</cp:coreProperties>
</file>