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71" r:id="rId5"/>
    <p:sldId id="300" r:id="rId6"/>
    <p:sldId id="398" r:id="rId7"/>
    <p:sldId id="345" r:id="rId8"/>
    <p:sldId id="369" r:id="rId9"/>
    <p:sldId id="364" r:id="rId10"/>
    <p:sldId id="365" r:id="rId11"/>
    <p:sldId id="366" r:id="rId12"/>
    <p:sldId id="348" r:id="rId13"/>
    <p:sldId id="349" r:id="rId14"/>
    <p:sldId id="350" r:id="rId15"/>
    <p:sldId id="351" r:id="rId16"/>
    <p:sldId id="352" r:id="rId17"/>
    <p:sldId id="400" r:id="rId18"/>
    <p:sldId id="370" r:id="rId19"/>
    <p:sldId id="371" r:id="rId20"/>
    <p:sldId id="372" r:id="rId21"/>
    <p:sldId id="301" r:id="rId22"/>
    <p:sldId id="302" r:id="rId23"/>
    <p:sldId id="303"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293B"/>
    <a:srgbClr val="F89E4C"/>
    <a:srgbClr val="FF9900"/>
    <a:srgbClr val="E84845"/>
    <a:srgbClr val="FAD2D2"/>
    <a:srgbClr val="A81E24"/>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212272" y="16329"/>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739171"/>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latin typeface="Times New Roman" panose="02020603050405020304" pitchFamily="18" charset="0"/>
                <a:cs typeface="Times New Roman" panose="02020603050405020304" pitchFamily="18" charset="0"/>
                <a:sym typeface="BioRhyme ExtraBold"/>
              </a:rPr>
              <a:t>VLSI Design</a:t>
            </a:r>
          </a:p>
          <a:p>
            <a:pPr marR="0" lvl="0" indent="0" algn="ctr">
              <a:spcBef>
                <a:spcPts val="0"/>
              </a:spcBef>
              <a:spcAft>
                <a:spcPts val="0"/>
              </a:spcAft>
              <a:buNone/>
            </a:pPr>
            <a:r>
              <a:rPr lang="en-US" sz="3200" b="1" cap="all" dirty="0">
                <a:ln/>
                <a:solidFill>
                  <a:srgbClr val="C00000"/>
                </a:solidFill>
                <a:highlight>
                  <a:srgbClr val="FFFF00"/>
                </a:highlight>
                <a:latin typeface="Times New Roman" panose="02020603050405020304" pitchFamily="18" charset="0"/>
                <a:cs typeface="Times New Roman" panose="02020603050405020304" pitchFamily="18" charset="0"/>
                <a:sym typeface="BioRhyme ExtraBold"/>
              </a:rPr>
              <a:t>COURSE CODE</a:t>
            </a:r>
          </a:p>
          <a:p>
            <a:pPr marR="0" lvl="0" indent="0" algn="ctr">
              <a:spcBef>
                <a:spcPts val="0"/>
              </a:spcBef>
              <a:spcAft>
                <a:spcPts val="0"/>
              </a:spcAft>
              <a:buNone/>
            </a:pP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sz="16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pPr marR="0" lvl="0" indent="0" algn="ctr">
              <a:spcBef>
                <a:spcPts val="0"/>
              </a:spcBef>
              <a:spcAft>
                <a:spcPts val="0"/>
              </a:spcAft>
              <a:buNone/>
            </a:pPr>
            <a:r>
              <a:rPr lang="en-US" sz="2400" b="1" cap="all" dirty="0">
                <a:ln/>
                <a:solidFill>
                  <a:srgbClr val="C00000"/>
                </a:solidFill>
                <a:effectLst/>
                <a:latin typeface="Times New Roman" panose="02020603050405020304" pitchFamily="18" charset="0"/>
                <a:cs typeface="Times New Roman" panose="02020603050405020304" pitchFamily="18" charset="0"/>
              </a:rPr>
              <a:t>MOS Device analysis</a:t>
            </a:r>
          </a:p>
          <a:p>
            <a:pPr marR="0" lvl="0" indent="0" algn="ctr">
              <a:spcBef>
                <a:spcPts val="0"/>
              </a:spcBef>
              <a:spcAft>
                <a:spcPts val="0"/>
              </a:spcAft>
              <a:buNone/>
            </a:pPr>
            <a:r>
              <a:rPr lang="en-US" sz="2400" b="1" cap="all" dirty="0">
                <a:ln/>
                <a:solidFill>
                  <a:srgbClr val="C00000"/>
                </a:solidFill>
                <a:latin typeface="Times New Roman" panose="02020603050405020304" pitchFamily="18" charset="0"/>
                <a:cs typeface="Times New Roman" panose="02020603050405020304" pitchFamily="18" charset="0"/>
              </a:rPr>
              <a:t>(Threshold Voltage) and Electrical Properties </a:t>
            </a:r>
            <a:endParaRPr lang="en-US" sz="2400" b="1" dirty="0">
              <a:solidFill>
                <a:srgbClr val="C00000"/>
              </a:solidFill>
              <a:effectLst/>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5899355" y="492137"/>
            <a:ext cx="5909187" cy="830956"/>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5658320" y="492137"/>
            <a:ext cx="6410633" cy="830956"/>
          </a:xfrm>
          <a:prstGeom prst="rect">
            <a:avLst/>
          </a:prstGeom>
          <a:noFill/>
          <a:ln>
            <a:noFill/>
          </a:ln>
          <a:effectLst/>
        </p:spPr>
        <p:txBody>
          <a:bodyPr spcFirstLastPara="1" wrap="square" lIns="91425" tIns="45700" rIns="91425" bIns="45700" anchor="t" anchorCtr="0">
            <a:spAutoFit/>
          </a:bodyPr>
          <a:lstStyle/>
          <a:p>
            <a:pPr algn="ctr"/>
            <a:r>
              <a:rPr lang="en-US" sz="2400" dirty="0">
                <a:solidFill>
                  <a:srgbClr val="C00000"/>
                </a:solidFill>
                <a:latin typeface="Times New Roman" panose="02020603050405020304" pitchFamily="18" charset="0"/>
                <a:cs typeface="Times New Roman" panose="02020603050405020304" pitchFamily="18" charset="0"/>
              </a:rPr>
              <a:t>Department of Electronics and Communication Engineering</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a:t>
            </a:r>
            <a:r>
              <a:rPr lang="en-US" sz="2400">
                <a:solidFill>
                  <a:schemeClr val="lt1"/>
                </a:solidFill>
                <a:ea typeface="Calibri"/>
                <a:cs typeface="Poppins" panose="00000500000000000000" pitchFamily="2" charset="0"/>
                <a:sym typeface="Calibri"/>
              </a:rPr>
              <a:t>- 6</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632857" y="692886"/>
            <a:ext cx="8911318" cy="873572"/>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b="0" i="0" dirty="0">
                <a:effectLst/>
                <a:latin typeface="Times New Roman" panose="02020603050405020304" pitchFamily="18" charset="0"/>
                <a:cs typeface="Times New Roman" panose="02020603050405020304" pitchFamily="18" charset="0"/>
              </a:rPr>
              <a:t>To familiarize students with aspects of MOS Transistors Threshold Voltage and electrical properties of MOS Transistors.</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pitchFamily="18" charset="0"/>
                <a:cs typeface="Times New Roman" panose="02020603050405020304" pitchFamily="18" charset="0"/>
              </a:rPr>
              <a:t>This</a:t>
            </a:r>
            <a:r>
              <a:rPr lang="en-US" sz="1600" b="0" i="0" dirty="0">
                <a:effectLst/>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is designed to:</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Discuss the aspects of MOS Transistors threshold voltage.</a:t>
            </a:r>
            <a:endParaRPr lang="en-US" sz="1600" dirty="0">
              <a:latin typeface="Times New Roman" panose="02020603050405020304" pitchFamily="18" charset="0"/>
              <a:cs typeface="Times New Roman" panose="02020603050405020304" pitchFamily="18" charset="0"/>
            </a:endParaRP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Describe the electrical properties of MOS and Bi-MOS transistors.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890606"/>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pitchFamily="18" charset="0"/>
                <a:cs typeface="Times New Roman" panose="02020603050405020304" pitchFamily="18" charset="0"/>
              </a:rPr>
              <a:t>At the end of this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you should be able to:</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Discuss the aspects of threshold in MOS transistors.</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Discuss the electrical properties of MOS Transistors and </a:t>
            </a:r>
            <a:r>
              <a:rPr lang="en-US" sz="1600" b="0" i="0" dirty="0" err="1">
                <a:effectLst/>
                <a:latin typeface="Times New Roman" panose="02020603050405020304" pitchFamily="18" charset="0"/>
                <a:cs typeface="Times New Roman" panose="02020603050405020304" pitchFamily="18" charset="0"/>
              </a:rPr>
              <a:t>BiMOS</a:t>
            </a:r>
            <a:r>
              <a:rPr lang="en-US" sz="1600" b="0" i="0" dirty="0">
                <a:effectLst/>
                <a:latin typeface="Times New Roman" panose="02020603050405020304" pitchFamily="18" charset="0"/>
                <a:cs typeface="Times New Roman" panose="02020603050405020304" pitchFamily="18" charset="0"/>
              </a:rPr>
              <a:t> Transistors.</a:t>
            </a:r>
          </a:p>
          <a:p>
            <a:pPr marL="342900" indent="-342900">
              <a:buAutoNum type="arabicPeriod"/>
            </a:pPr>
            <a:r>
              <a:rPr lang="en-US" sz="1600" dirty="0">
                <a:latin typeface="Times New Roman" panose="02020603050405020304" pitchFamily="18" charset="0"/>
                <a:cs typeface="Times New Roman" panose="02020603050405020304" pitchFamily="18" charset="0"/>
              </a:rPr>
              <a:t>Summarize all the important aspects of MOS Transistor Threshold Voltage V</a:t>
            </a:r>
            <a:r>
              <a:rPr lang="en-US" sz="1600" baseline="-25000" dirty="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83C04C-5586-6217-3B6F-EB81AD4D335C}"/>
              </a:ext>
            </a:extLst>
          </p:cNvPr>
          <p:cNvSpPr/>
          <p:nvPr/>
        </p:nvSpPr>
        <p:spPr>
          <a:xfrm>
            <a:off x="1524000" y="0"/>
            <a:ext cx="9857014" cy="990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r>
              <a:rPr lang="en-US" altLang="en-US" sz="2800" b="1" dirty="0">
                <a:solidFill>
                  <a:schemeClr val="tx1"/>
                </a:solidFill>
                <a:latin typeface="Times New Roman" panose="02020603050405020304" pitchFamily="18" charset="0"/>
                <a:cs typeface="Times New Roman" panose="02020603050405020304" pitchFamily="18" charset="0"/>
              </a:rPr>
              <a:t>Aspects of MOS Transistor THRESHOLD VOLTAGE </a:t>
            </a:r>
            <a:r>
              <a:rPr lang="en-US" altLang="en-US" sz="2800" b="1" i="1" dirty="0">
                <a:solidFill>
                  <a:schemeClr val="tx1"/>
                </a:solidFill>
                <a:latin typeface="Times New Roman" panose="02020603050405020304" pitchFamily="18" charset="0"/>
                <a:cs typeface="Times New Roman" panose="02020603050405020304" pitchFamily="18" charset="0"/>
              </a:rPr>
              <a:t>Vt</a:t>
            </a:r>
            <a:r>
              <a:rPr lang="en-US" altLang="en-US" sz="2800" dirty="0">
                <a:solidFill>
                  <a:schemeClr val="tx1"/>
                </a:solidFill>
                <a:latin typeface="Times New Roman" panose="02020603050405020304" pitchFamily="18" charset="0"/>
                <a:cs typeface="Times New Roman" panose="02020603050405020304" pitchFamily="18" charset="0"/>
              </a:rPr>
              <a:t> </a:t>
            </a:r>
            <a:br>
              <a:rPr lang="en-US" altLang="en-US" sz="2800" dirty="0">
                <a:solidFill>
                  <a:schemeClr val="tx1"/>
                </a:solidFill>
                <a:latin typeface="Times New Roman" panose="02020603050405020304" pitchFamily="18" charset="0"/>
                <a:cs typeface="Times New Roman" panose="02020603050405020304" pitchFamily="18" charset="0"/>
              </a:rPr>
            </a:br>
            <a:endParaRPr lang="en-IN" altLang="en-US" sz="2800" b="1" dirty="0">
              <a:solidFill>
                <a:schemeClr val="tx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FECB950-E303-F321-9FBB-027E6AE9ADEF}"/>
              </a:ext>
            </a:extLst>
          </p:cNvPr>
          <p:cNvSpPr/>
          <p:nvPr/>
        </p:nvSpPr>
        <p:spPr>
          <a:xfrm>
            <a:off x="1690687" y="1143000"/>
            <a:ext cx="9380083" cy="2862322"/>
          </a:xfrm>
          <a:prstGeom prst="rect">
            <a:avLst/>
          </a:prstGeom>
        </p:spPr>
        <p:txBody>
          <a:bodyPr wrap="square">
            <a:spAutoFit/>
          </a:bodyPr>
          <a:lstStyle/>
          <a:p>
            <a:pPr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The gate structure of a </a:t>
            </a:r>
            <a:r>
              <a:rPr lang="en-US" altLang="en-US" b="1" dirty="0">
                <a:latin typeface="Times New Roman" panose="02020603050405020304" pitchFamily="18" charset="0"/>
                <a:cs typeface="Times New Roman" panose="02020603050405020304" pitchFamily="18" charset="0"/>
              </a:rPr>
              <a:t>MOS transistor </a:t>
            </a:r>
            <a:r>
              <a:rPr lang="en-US" altLang="en-US" dirty="0">
                <a:latin typeface="Times New Roman" panose="02020603050405020304" pitchFamily="18" charset="0"/>
                <a:cs typeface="Times New Roman" panose="02020603050405020304" pitchFamily="18" charset="0"/>
              </a:rPr>
              <a:t>consists, </a:t>
            </a:r>
            <a:r>
              <a:rPr lang="en-US" altLang="en-US" b="1" dirty="0">
                <a:latin typeface="Times New Roman" panose="02020603050405020304" pitchFamily="18" charset="0"/>
                <a:cs typeface="Times New Roman" panose="02020603050405020304" pitchFamily="18" charset="0"/>
              </a:rPr>
              <a:t>electrically, of charges </a:t>
            </a:r>
            <a:r>
              <a:rPr lang="en-US" altLang="en-US" dirty="0">
                <a:latin typeface="Times New Roman" panose="02020603050405020304" pitchFamily="18" charset="0"/>
                <a:cs typeface="Times New Roman" panose="02020603050405020304" pitchFamily="18" charset="0"/>
              </a:rPr>
              <a:t>stored in the dielectric layers.</a:t>
            </a:r>
          </a:p>
          <a:p>
            <a:pPr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	In the </a:t>
            </a:r>
            <a:r>
              <a:rPr lang="en-US" altLang="en-US" b="1" dirty="0">
                <a:latin typeface="Times New Roman" panose="02020603050405020304" pitchFamily="18" charset="0"/>
                <a:cs typeface="Times New Roman" panose="02020603050405020304" pitchFamily="18" charset="0"/>
              </a:rPr>
              <a:t>surface-to-surface interfaces </a:t>
            </a:r>
            <a:r>
              <a:rPr lang="en-US" altLang="en-US" dirty="0">
                <a:latin typeface="Times New Roman" panose="02020603050405020304" pitchFamily="18" charset="0"/>
                <a:cs typeface="Times New Roman" panose="02020603050405020304" pitchFamily="18" charset="0"/>
              </a:rPr>
              <a:t>as well as in the </a:t>
            </a:r>
            <a:r>
              <a:rPr lang="en-US" altLang="en-US" b="1" dirty="0">
                <a:latin typeface="Times New Roman" panose="02020603050405020304" pitchFamily="18" charset="0"/>
                <a:cs typeface="Times New Roman" panose="02020603050405020304" pitchFamily="18" charset="0"/>
              </a:rPr>
              <a:t>substrate itself</a:t>
            </a:r>
            <a:r>
              <a:rPr lang="en-US" altLang="en-US" dirty="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Char char="§"/>
            </a:pPr>
            <a:r>
              <a:rPr lang="en-US" altLang="en-US" b="1" dirty="0">
                <a:latin typeface="Times New Roman" panose="02020603050405020304" pitchFamily="18" charset="0"/>
                <a:cs typeface="Times New Roman" panose="02020603050405020304" pitchFamily="18" charset="0"/>
              </a:rPr>
              <a:t>Switching an enhancement mode MOS transistor from the off to the on state consists </a:t>
            </a:r>
          </a:p>
          <a:p>
            <a:pPr lvl="1"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in applying sufficient gate voltage to neutralize these charges and </a:t>
            </a:r>
          </a:p>
          <a:p>
            <a:pPr lvl="1"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enable the underlying silicon to undergo an inversion due to the electric field from the gate.</a:t>
            </a:r>
          </a:p>
          <a:p>
            <a:pPr algn="just" eaLnBrk="1" hangingPunct="1">
              <a:buFont typeface="Wingdings" panose="05000000000000000000" pitchFamily="2" charset="2"/>
              <a:buChar char="§"/>
            </a:pPr>
            <a:endParaRPr lang="en-US" altLang="en-US"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b="1" dirty="0">
                <a:latin typeface="Times New Roman" panose="02020603050405020304" pitchFamily="18" charset="0"/>
                <a:cs typeface="Times New Roman" panose="02020603050405020304" pitchFamily="18" charset="0"/>
              </a:rPr>
              <a:t>Switching a depletion mode </a:t>
            </a:r>
            <a:r>
              <a:rPr lang="en-US" altLang="en-US" b="1" dirty="0" err="1">
                <a:latin typeface="Times New Roman" panose="02020603050405020304" pitchFamily="18" charset="0"/>
                <a:cs typeface="Times New Roman" panose="02020603050405020304" pitchFamily="18" charset="0"/>
              </a:rPr>
              <a:t>nMOS</a:t>
            </a:r>
            <a:r>
              <a:rPr lang="en-US" altLang="en-US" b="1" dirty="0">
                <a:latin typeface="Times New Roman" panose="02020603050405020304" pitchFamily="18" charset="0"/>
                <a:cs typeface="Times New Roman" panose="02020603050405020304" pitchFamily="18" charset="0"/>
              </a:rPr>
              <a:t> transistor from the on to the off state consists </a:t>
            </a:r>
          </a:p>
          <a:p>
            <a:pPr lvl="1" algn="just"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in applying enough voltage to the gate to add to the stored charge and invert the 'n' implant region to 'p'. </a:t>
            </a:r>
            <a:endParaRPr lang="en-IN" altLang="en-US" dirty="0">
              <a:latin typeface="Times New Roman" panose="02020603050405020304" pitchFamily="18" charset="0"/>
              <a:cs typeface="Times New Roman" panose="02020603050405020304" pitchFamily="18" charset="0"/>
            </a:endParaRPr>
          </a:p>
        </p:txBody>
      </p:sp>
      <p:pic>
        <p:nvPicPr>
          <p:cNvPr id="3" name="Picture 2" descr="KL Deemed to be University Logo">
            <a:extLst>
              <a:ext uri="{FF2B5EF4-FFF2-40B4-BE49-F238E27FC236}">
                <a16:creationId xmlns:a16="http://schemas.microsoft.com/office/drawing/2014/main" id="{4EA46287-5F4A-6739-B5BD-656593ED139B}"/>
              </a:ext>
            </a:extLst>
          </p:cNvPr>
          <p:cNvPicPr>
            <a:picLocks noChangeAspect="1" noChangeArrowheads="1"/>
          </p:cNvPicPr>
          <p:nvPr/>
        </p:nvPicPr>
        <p:blipFill rotWithShape="1">
          <a:blip r:embed="rId2"/>
          <a:srcRect t="1" r="28380" b="-4451"/>
          <a:stretch/>
        </p:blipFill>
        <p:spPr bwMode="auto">
          <a:xfrm>
            <a:off x="0" y="-2"/>
            <a:ext cx="1634295" cy="990599"/>
          </a:xfrm>
          <a:prstGeom prst="rect">
            <a:avLst/>
          </a:prstGeom>
          <a:noFill/>
        </p:spPr>
      </p:pic>
      <p:pic>
        <p:nvPicPr>
          <p:cNvPr id="5" name="Picture 2">
            <a:extLst>
              <a:ext uri="{FF2B5EF4-FFF2-40B4-BE49-F238E27FC236}">
                <a16:creationId xmlns:a16="http://schemas.microsoft.com/office/drawing/2014/main" id="{A3B6F40C-EF05-EECF-38CF-59F54371CD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39799" y="4314599"/>
            <a:ext cx="6372225" cy="210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0089E5-1630-237B-F174-A8987034B8DB}"/>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84997" name="Picture 4">
            <a:extLst>
              <a:ext uri="{FF2B5EF4-FFF2-40B4-BE49-F238E27FC236}">
                <a16:creationId xmlns:a16="http://schemas.microsoft.com/office/drawing/2014/main" id="{2E2F7BF6-E24B-333E-187C-5303A97023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226" y="101600"/>
            <a:ext cx="1546225"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8" name="TextBox 5">
            <a:extLst>
              <a:ext uri="{FF2B5EF4-FFF2-40B4-BE49-F238E27FC236}">
                <a16:creationId xmlns:a16="http://schemas.microsoft.com/office/drawing/2014/main" id="{FD1F785F-9BC7-EE98-FF4D-038FFCB0B5D4}"/>
              </a:ext>
            </a:extLst>
          </p:cNvPr>
          <p:cNvSpPr txBox="1">
            <a:spLocks noChangeArrowheads="1"/>
          </p:cNvSpPr>
          <p:nvPr/>
        </p:nvSpPr>
        <p:spPr bwMode="auto">
          <a:xfrm>
            <a:off x="1523999" y="107088"/>
            <a:ext cx="89362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latin typeface="Times New Roman" panose="02020603050405020304" pitchFamily="18" charset="0"/>
                <a:cs typeface="Times New Roman" panose="02020603050405020304" pitchFamily="18" charset="0"/>
              </a:rPr>
              <a:t>Aspects of MOS Transistor THRESHOLD VOLTAGE </a:t>
            </a:r>
            <a:r>
              <a:rPr lang="en-US" altLang="en-US" sz="2800" b="1" i="1" dirty="0">
                <a:latin typeface="Times New Roman" panose="02020603050405020304" pitchFamily="18" charset="0"/>
                <a:cs typeface="Times New Roman" panose="02020603050405020304" pitchFamily="18" charset="0"/>
              </a:rPr>
              <a:t>Vt</a:t>
            </a:r>
            <a:r>
              <a:rPr lang="en-US" altLang="en-US" sz="3200" dirty="0">
                <a:latin typeface="Times New Roman" panose="02020603050405020304" pitchFamily="18" charset="0"/>
                <a:cs typeface="Times New Roman" panose="02020603050405020304" pitchFamily="18" charset="0"/>
              </a:rPr>
              <a:t> </a:t>
            </a:r>
            <a:endParaRPr lang="en-IN" altLang="en-US" sz="3200" b="1" dirty="0">
              <a:latin typeface="Times New Roman" panose="02020603050405020304" pitchFamily="18" charset="0"/>
              <a:cs typeface="Times New Roman" panose="02020603050405020304" pitchFamily="18" charset="0"/>
            </a:endParaRPr>
          </a:p>
        </p:txBody>
      </p:sp>
      <p:pic>
        <p:nvPicPr>
          <p:cNvPr id="84999" name="Picture 6">
            <a:extLst>
              <a:ext uri="{FF2B5EF4-FFF2-40B4-BE49-F238E27FC236}">
                <a16:creationId xmlns:a16="http://schemas.microsoft.com/office/drawing/2014/main" id="{FD988FDC-402B-1D78-7E0F-8363AF9091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68474" y="1217050"/>
            <a:ext cx="8655050" cy="520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73F365-6B60-E9C2-8B49-F65C49585489}"/>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86021" name="Picture 4">
            <a:extLst>
              <a:ext uri="{FF2B5EF4-FFF2-40B4-BE49-F238E27FC236}">
                <a16:creationId xmlns:a16="http://schemas.microsoft.com/office/drawing/2014/main" id="{3CE74FD5-CD73-C0A0-9E06-29982F138E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3093"/>
            <a:ext cx="154622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2" name="TextBox 5">
            <a:extLst>
              <a:ext uri="{FF2B5EF4-FFF2-40B4-BE49-F238E27FC236}">
                <a16:creationId xmlns:a16="http://schemas.microsoft.com/office/drawing/2014/main" id="{04D31C6B-602E-1E52-5F47-C9E50E588E12}"/>
              </a:ext>
            </a:extLst>
          </p:cNvPr>
          <p:cNvSpPr txBox="1">
            <a:spLocks noChangeArrowheads="1"/>
          </p:cNvSpPr>
          <p:nvPr/>
        </p:nvSpPr>
        <p:spPr bwMode="auto">
          <a:xfrm>
            <a:off x="1546225" y="133093"/>
            <a:ext cx="90063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latin typeface="Times New Roman" panose="02020603050405020304" pitchFamily="18" charset="0"/>
                <a:cs typeface="Times New Roman" panose="02020603050405020304" pitchFamily="18" charset="0"/>
              </a:rPr>
              <a:t>Aspects of MOS Transistor THRESHOLD VOLTAGE </a:t>
            </a:r>
            <a:r>
              <a:rPr lang="en-US" altLang="en-US" sz="2800" b="1" i="1" dirty="0">
                <a:latin typeface="Times New Roman" panose="02020603050405020304" pitchFamily="18" charset="0"/>
                <a:cs typeface="Times New Roman" panose="02020603050405020304" pitchFamily="18" charset="0"/>
              </a:rPr>
              <a:t>Vt</a:t>
            </a:r>
            <a:r>
              <a:rPr lang="en-US" altLang="en-US" sz="2800" dirty="0">
                <a:latin typeface="Times New Roman" panose="02020603050405020304" pitchFamily="18" charset="0"/>
                <a:cs typeface="Times New Roman" panose="02020603050405020304" pitchFamily="18" charset="0"/>
              </a:rPr>
              <a:t> </a:t>
            </a:r>
            <a:endParaRPr lang="en-IN" altLang="en-US" sz="2800" b="1" dirty="0">
              <a:latin typeface="Times New Roman" panose="02020603050405020304" pitchFamily="18" charset="0"/>
              <a:cs typeface="Times New Roman" panose="02020603050405020304" pitchFamily="18" charset="0"/>
            </a:endParaRPr>
          </a:p>
        </p:txBody>
      </p:sp>
      <p:pic>
        <p:nvPicPr>
          <p:cNvPr id="86023" name="Picture 2">
            <a:extLst>
              <a:ext uri="{FF2B5EF4-FFF2-40B4-BE49-F238E27FC236}">
                <a16:creationId xmlns:a16="http://schemas.microsoft.com/office/drawing/2014/main" id="{F0D8CF03-1269-DFC9-02FB-37C64A59BB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7832" y="1379128"/>
            <a:ext cx="8521842" cy="4362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859B-4987-C063-87D3-A4C1B26AFD29}"/>
              </a:ext>
            </a:extLst>
          </p:cNvPr>
          <p:cNvSpPr>
            <a:spLocks noGrp="1"/>
          </p:cNvSpPr>
          <p:nvPr>
            <p:ph type="ctrTitle"/>
          </p:nvPr>
        </p:nvSpPr>
        <p:spPr>
          <a:xfrm>
            <a:off x="1455174" y="357170"/>
            <a:ext cx="9212826" cy="500062"/>
          </a:xfrm>
          <a:solidFill>
            <a:srgbClr val="C00000"/>
          </a:solidFill>
          <a:ln>
            <a:miter lim="800000"/>
            <a:headEnd/>
            <a:tailEnd/>
          </a:ln>
        </p:spPr>
        <p:txBody>
          <a:bodyPr rtlCol="0">
            <a:noAutofit/>
          </a:bodyPr>
          <a:lstStyle/>
          <a:p>
            <a:pPr>
              <a:defRPr/>
            </a:pPr>
            <a:r>
              <a:rPr lang="en-IN" sz="2800" b="1" dirty="0">
                <a:solidFill>
                  <a:schemeClr val="bg1"/>
                </a:solidFill>
                <a:latin typeface="Times New Roman" panose="02020603050405020304" pitchFamily="18" charset="0"/>
                <a:cs typeface="Times New Roman" panose="02020603050405020304" pitchFamily="18" charset="0"/>
              </a:rPr>
              <a:t>Basic Electrical Properties of MOS and Bi CMOS circuits</a:t>
            </a:r>
            <a:endParaRPr lang="en-IN" sz="28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42A59A1-ACCD-5F1B-552A-9D245D3CA6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8156" y="137327"/>
            <a:ext cx="1196653" cy="83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8E73079F-5BB8-3627-7593-C72A846BD417}"/>
              </a:ext>
            </a:extLst>
          </p:cNvPr>
          <p:cNvSpPr/>
          <p:nvPr/>
        </p:nvSpPr>
        <p:spPr>
          <a:xfrm>
            <a:off x="1524001" y="974983"/>
            <a:ext cx="2873375" cy="369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IN" b="1" dirty="0">
                <a:latin typeface="Times New Roman" panose="02020603050405020304" pitchFamily="18" charset="0"/>
                <a:cs typeface="Times New Roman" panose="02020603050405020304" pitchFamily="18" charset="0"/>
              </a:rPr>
              <a:t>Body Effect</a:t>
            </a:r>
            <a:endParaRPr lang="en-IN"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099B129-BF36-07A3-74D0-2E0106D45DE1}"/>
              </a:ext>
            </a:extLst>
          </p:cNvPr>
          <p:cNvSpPr/>
          <p:nvPr/>
        </p:nvSpPr>
        <p:spPr>
          <a:xfrm>
            <a:off x="1524000" y="1357313"/>
            <a:ext cx="9144000" cy="2678112"/>
          </a:xfrm>
          <a:prstGeom prst="rect">
            <a:avLst/>
          </a:prstGeom>
        </p:spPr>
        <p:txBody>
          <a:bodyPr>
            <a:spAutoFit/>
          </a:bodyPr>
          <a:lstStyle/>
          <a:p>
            <a:pPr algn="just">
              <a:buFont typeface="Wingdings" pitchFamily="2" charset="2"/>
              <a:buChar char="§"/>
              <a:defRPr/>
            </a:pPr>
            <a:r>
              <a:rPr lang="en-IN" sz="1400" b="1" dirty="0">
                <a:solidFill>
                  <a:srgbClr val="551BF7"/>
                </a:solidFill>
                <a:latin typeface="Times New Roman" panose="02020603050405020304" pitchFamily="18" charset="0"/>
                <a:cs typeface="Times New Roman" panose="02020603050405020304" pitchFamily="18" charset="0"/>
              </a:rPr>
              <a:t>Generally while studying the MOS transistors it is treated as a three terminal device. </a:t>
            </a:r>
          </a:p>
          <a:p>
            <a:pPr lvl="1" algn="just">
              <a:buFont typeface="Wingdings" pitchFamily="2" charset="2"/>
              <a:buChar char="§"/>
              <a:defRPr/>
            </a:pPr>
            <a:r>
              <a:rPr lang="en-IN" sz="1400" dirty="0">
                <a:solidFill>
                  <a:schemeClr val="bg2">
                    <a:lumMod val="25000"/>
                  </a:schemeClr>
                </a:solidFill>
                <a:latin typeface="Times New Roman" panose="02020603050405020304" pitchFamily="18" charset="0"/>
                <a:cs typeface="Times New Roman" panose="02020603050405020304" pitchFamily="18" charset="0"/>
              </a:rPr>
              <a:t>But, the body of the transistor is also an implicit terminal </a:t>
            </a:r>
          </a:p>
          <a:p>
            <a:pPr lvl="1" algn="just">
              <a:buFont typeface="Wingdings" pitchFamily="2" charset="2"/>
              <a:buChar char="§"/>
              <a:defRPr/>
            </a:pPr>
            <a:r>
              <a:rPr lang="en-IN" sz="1400" dirty="0">
                <a:solidFill>
                  <a:schemeClr val="bg2">
                    <a:lumMod val="25000"/>
                  </a:schemeClr>
                </a:solidFill>
                <a:latin typeface="Times New Roman" panose="02020603050405020304" pitchFamily="18" charset="0"/>
                <a:cs typeface="Times New Roman" panose="02020603050405020304" pitchFamily="18" charset="0"/>
              </a:rPr>
              <a:t>which helps </a:t>
            </a:r>
            <a:r>
              <a:rPr lang="en-IN" sz="1400" b="1" dirty="0">
                <a:solidFill>
                  <a:schemeClr val="accent5">
                    <a:lumMod val="50000"/>
                  </a:schemeClr>
                </a:solidFill>
                <a:latin typeface="Times New Roman" panose="02020603050405020304" pitchFamily="18" charset="0"/>
                <a:cs typeface="Times New Roman" panose="02020603050405020304" pitchFamily="18" charset="0"/>
              </a:rPr>
              <a:t>to understand the characteristics of the transistor</a:t>
            </a:r>
            <a:r>
              <a:rPr lang="en-IN" sz="1400" dirty="0">
                <a:solidFill>
                  <a:schemeClr val="bg2">
                    <a:lumMod val="25000"/>
                  </a:schemeClr>
                </a:solidFill>
                <a:latin typeface="Times New Roman" panose="02020603050405020304" pitchFamily="18" charset="0"/>
                <a:cs typeface="Times New Roman" panose="02020603050405020304" pitchFamily="18" charset="0"/>
              </a:rPr>
              <a:t>.</a:t>
            </a:r>
          </a:p>
          <a:p>
            <a:pPr algn="just">
              <a:buFont typeface="Wingdings" pitchFamily="2" charset="2"/>
              <a:buChar char="§"/>
              <a:defRPr/>
            </a:pPr>
            <a:endParaRPr lang="en-IN" sz="1400" dirty="0">
              <a:solidFill>
                <a:srgbClr val="551BF7"/>
              </a:solidFill>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400" dirty="0">
                <a:solidFill>
                  <a:srgbClr val="551BF7"/>
                </a:solidFill>
                <a:latin typeface="Times New Roman" panose="02020603050405020304" pitchFamily="18" charset="0"/>
                <a:cs typeface="Times New Roman" panose="02020603050405020304" pitchFamily="18" charset="0"/>
              </a:rPr>
              <a:t>Considering the body of the MOS transistor as a terminal is known as the body effect. </a:t>
            </a:r>
          </a:p>
          <a:p>
            <a:pPr algn="just">
              <a:buFont typeface="Wingdings" pitchFamily="2" charset="2"/>
              <a:buChar char="§"/>
              <a:defRPr/>
            </a:pPr>
            <a:endParaRPr lang="en-IN" sz="1400" dirty="0">
              <a:solidFill>
                <a:schemeClr val="bg2">
                  <a:lumMod val="25000"/>
                </a:schemeClr>
              </a:solidFill>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400" dirty="0">
                <a:solidFill>
                  <a:schemeClr val="bg2">
                    <a:lumMod val="25000"/>
                  </a:schemeClr>
                </a:solidFill>
                <a:latin typeface="Times New Roman" panose="02020603050405020304" pitchFamily="18" charset="0"/>
                <a:cs typeface="Times New Roman" panose="02020603050405020304" pitchFamily="18" charset="0"/>
              </a:rPr>
              <a:t>The potential difference between the </a:t>
            </a:r>
            <a:r>
              <a:rPr lang="en-IN" sz="1400" b="1" dirty="0">
                <a:solidFill>
                  <a:schemeClr val="accent5">
                    <a:lumMod val="50000"/>
                  </a:schemeClr>
                </a:solidFill>
                <a:latin typeface="Times New Roman" panose="02020603050405020304" pitchFamily="18" charset="0"/>
                <a:cs typeface="Times New Roman" panose="02020603050405020304" pitchFamily="18" charset="0"/>
              </a:rPr>
              <a:t>source and the body (</a:t>
            </a:r>
            <a:r>
              <a:rPr lang="en-IN" sz="1400" b="1" dirty="0" err="1">
                <a:solidFill>
                  <a:schemeClr val="accent5">
                    <a:lumMod val="50000"/>
                  </a:schemeClr>
                </a:solidFill>
                <a:latin typeface="Times New Roman" panose="02020603050405020304" pitchFamily="18" charset="0"/>
                <a:cs typeface="Times New Roman" panose="02020603050405020304" pitchFamily="18" charset="0"/>
              </a:rPr>
              <a:t>V</a:t>
            </a:r>
            <a:r>
              <a:rPr lang="en-IN" sz="1400" b="1" baseline="-25000" dirty="0" err="1">
                <a:solidFill>
                  <a:schemeClr val="accent5">
                    <a:lumMod val="50000"/>
                  </a:schemeClr>
                </a:solidFill>
                <a:latin typeface="Times New Roman" panose="02020603050405020304" pitchFamily="18" charset="0"/>
                <a:cs typeface="Times New Roman" panose="02020603050405020304" pitchFamily="18" charset="0"/>
              </a:rPr>
              <a:t>sb</a:t>
            </a:r>
            <a:r>
              <a:rPr lang="en-IN" sz="1400" b="1" dirty="0">
                <a:solidFill>
                  <a:schemeClr val="accent5">
                    <a:lumMod val="50000"/>
                  </a:schemeClr>
                </a:solidFill>
                <a:latin typeface="Times New Roman" panose="02020603050405020304" pitchFamily="18" charset="0"/>
                <a:cs typeface="Times New Roman" panose="02020603050405020304" pitchFamily="18" charset="0"/>
              </a:rPr>
              <a:t>) </a:t>
            </a:r>
            <a:r>
              <a:rPr lang="en-IN" sz="1400" dirty="0">
                <a:solidFill>
                  <a:schemeClr val="bg2">
                    <a:lumMod val="25000"/>
                  </a:schemeClr>
                </a:solidFill>
                <a:latin typeface="Times New Roman" panose="02020603050405020304" pitchFamily="18" charset="0"/>
                <a:cs typeface="Times New Roman" panose="02020603050405020304" pitchFamily="18" charset="0"/>
              </a:rPr>
              <a:t>affects the </a:t>
            </a:r>
            <a:r>
              <a:rPr lang="en-IN" sz="1400" b="1" dirty="0">
                <a:solidFill>
                  <a:schemeClr val="accent5">
                    <a:lumMod val="50000"/>
                  </a:schemeClr>
                </a:solidFill>
                <a:latin typeface="Times New Roman" panose="02020603050405020304" pitchFamily="18" charset="0"/>
                <a:cs typeface="Times New Roman" panose="02020603050405020304" pitchFamily="18" charset="0"/>
              </a:rPr>
              <a:t>threshold  voltage of the transistor</a:t>
            </a:r>
            <a:r>
              <a:rPr lang="en-IN" sz="1400" dirty="0">
                <a:solidFill>
                  <a:schemeClr val="bg2">
                    <a:lumMod val="25000"/>
                  </a:schemeClr>
                </a:solidFill>
                <a:latin typeface="Times New Roman" panose="02020603050405020304" pitchFamily="18" charset="0"/>
                <a:cs typeface="Times New Roman" panose="02020603050405020304" pitchFamily="18" charset="0"/>
              </a:rPr>
              <a:t>. </a:t>
            </a:r>
          </a:p>
          <a:p>
            <a:pPr algn="just">
              <a:buFont typeface="Wingdings" pitchFamily="2" charset="2"/>
              <a:buChar char="§"/>
              <a:defRPr/>
            </a:pPr>
            <a:endParaRPr lang="en-IN" sz="1400" dirty="0">
              <a:solidFill>
                <a:schemeClr val="bg2">
                  <a:lumMod val="25000"/>
                </a:schemeClr>
              </a:solidFill>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400" b="1" dirty="0">
                <a:solidFill>
                  <a:srgbClr val="551BF7"/>
                </a:solidFill>
                <a:latin typeface="Times New Roman" panose="02020603050405020304" pitchFamily="18" charset="0"/>
                <a:cs typeface="Times New Roman" panose="02020603050405020304" pitchFamily="18" charset="0"/>
              </a:rPr>
              <a:t>In many situations,</a:t>
            </a:r>
          </a:p>
          <a:p>
            <a:pPr lvl="1" algn="just">
              <a:buFont typeface="Wingdings" pitchFamily="2" charset="2"/>
              <a:buChar char="§"/>
              <a:defRPr/>
            </a:pPr>
            <a:r>
              <a:rPr lang="en-IN" sz="1400" b="1" dirty="0">
                <a:solidFill>
                  <a:srgbClr val="551BF7"/>
                </a:solidFill>
                <a:latin typeface="Times New Roman" panose="02020603050405020304" pitchFamily="18" charset="0"/>
                <a:cs typeface="Times New Roman" panose="02020603050405020304" pitchFamily="18" charset="0"/>
              </a:rPr>
              <a:t> this Body Effect is relatively insignificant, so we can (unless otherwise stated) ignore the Body Effect</a:t>
            </a:r>
            <a:r>
              <a:rPr lang="en-IN" sz="1400" b="1" dirty="0">
                <a:solidFill>
                  <a:schemeClr val="bg2">
                    <a:lumMod val="25000"/>
                  </a:schemeClr>
                </a:solidFill>
                <a:latin typeface="Times New Roman" panose="02020603050405020304" pitchFamily="18" charset="0"/>
                <a:cs typeface="Times New Roman" panose="02020603050405020304" pitchFamily="18" charset="0"/>
              </a:rPr>
              <a:t>.</a:t>
            </a:r>
          </a:p>
          <a:p>
            <a:pPr lvl="1" algn="just">
              <a:buFont typeface="Wingdings" pitchFamily="2" charset="2"/>
              <a:buChar char="§"/>
              <a:defRPr/>
            </a:pPr>
            <a:r>
              <a:rPr lang="en-IN" sz="1400" dirty="0">
                <a:solidFill>
                  <a:schemeClr val="bg2">
                    <a:lumMod val="25000"/>
                  </a:schemeClr>
                </a:solidFill>
                <a:latin typeface="Times New Roman" panose="02020603050405020304" pitchFamily="18" charset="0"/>
                <a:cs typeface="Times New Roman" panose="02020603050405020304" pitchFamily="18" charset="0"/>
              </a:rPr>
              <a:t>But it is not always insignificant, </a:t>
            </a:r>
          </a:p>
          <a:p>
            <a:pPr lvl="1" algn="just">
              <a:buFont typeface="Wingdings" pitchFamily="2" charset="2"/>
              <a:buChar char="§"/>
              <a:defRPr/>
            </a:pPr>
            <a:r>
              <a:rPr lang="en-IN" sz="1400" dirty="0">
                <a:solidFill>
                  <a:srgbClr val="551BF7"/>
                </a:solidFill>
                <a:latin typeface="Times New Roman" panose="02020603050405020304" pitchFamily="18" charset="0"/>
                <a:cs typeface="Times New Roman" panose="02020603050405020304" pitchFamily="18" charset="0"/>
              </a:rPr>
              <a:t>in some cases it can have a tremendous impact on MOSFET circuit performance. </a:t>
            </a:r>
          </a:p>
        </p:txBody>
      </p:sp>
      <p:pic>
        <p:nvPicPr>
          <p:cNvPr id="87048" name="Picture 2">
            <a:extLst>
              <a:ext uri="{FF2B5EF4-FFF2-40B4-BE49-F238E27FC236}">
                <a16:creationId xmlns:a16="http://schemas.microsoft.com/office/drawing/2014/main" id="{FC1A9CA5-AB57-F645-4176-4C8CF3022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214814"/>
            <a:ext cx="4381500"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5EE8-FF3C-E79C-805F-3D3AD50798DD}"/>
              </a:ext>
            </a:extLst>
          </p:cNvPr>
          <p:cNvSpPr>
            <a:spLocks noGrp="1"/>
          </p:cNvSpPr>
          <p:nvPr>
            <p:ph type="ctrTitle"/>
          </p:nvPr>
        </p:nvSpPr>
        <p:spPr>
          <a:xfrm>
            <a:off x="1327355" y="226142"/>
            <a:ext cx="9340645" cy="572097"/>
          </a:xfrm>
          <a:solidFill>
            <a:srgbClr val="C00000"/>
          </a:solidFill>
          <a:ln>
            <a:miter lim="800000"/>
            <a:headEnd/>
            <a:tailEnd/>
          </a:ln>
        </p:spPr>
        <p:txBody>
          <a:bodyPr rtlCol="0">
            <a:noAutofit/>
          </a:bodyPr>
          <a:lstStyle/>
          <a:p>
            <a:pPr>
              <a:defRPr/>
            </a:pPr>
            <a:r>
              <a:rPr lang="en-IN" sz="2800" b="1" dirty="0">
                <a:solidFill>
                  <a:schemeClr val="bg1"/>
                </a:solidFill>
                <a:latin typeface="Times New Roman" panose="02020603050405020304" pitchFamily="18" charset="0"/>
                <a:cs typeface="Times New Roman" panose="02020603050405020304" pitchFamily="18" charset="0"/>
              </a:rPr>
              <a:t>Basic Electrical Properties of MOS and Bi CMOS circuits</a:t>
            </a:r>
            <a:endParaRPr lang="en-IN" sz="28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7CC7563-173B-06A2-89B3-F2720C7574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577" y="58593"/>
            <a:ext cx="1282777" cy="73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44CA92E7-168D-3E74-9C92-6D35612E8C0B}"/>
              </a:ext>
            </a:extLst>
          </p:cNvPr>
          <p:cNvSpPr/>
          <p:nvPr/>
        </p:nvSpPr>
        <p:spPr>
          <a:xfrm>
            <a:off x="1524001" y="915989"/>
            <a:ext cx="2873375" cy="369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IN" b="1" dirty="0">
                <a:latin typeface="Times New Roman" panose="02020603050405020304" pitchFamily="18" charset="0"/>
                <a:cs typeface="Times New Roman" panose="02020603050405020304" pitchFamily="18" charset="0"/>
              </a:rPr>
              <a:t>Body Effect</a:t>
            </a:r>
            <a:endParaRPr lang="en-IN"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8E8FD2C3-2064-524B-2894-5A98013E8E35}"/>
              </a:ext>
            </a:extLst>
          </p:cNvPr>
          <p:cNvSpPr/>
          <p:nvPr/>
        </p:nvSpPr>
        <p:spPr>
          <a:xfrm>
            <a:off x="1524000" y="1357314"/>
            <a:ext cx="9144000" cy="3539430"/>
          </a:xfrm>
          <a:prstGeom prst="rect">
            <a:avLst/>
          </a:prstGeom>
        </p:spPr>
        <p:txBody>
          <a:bodyPr>
            <a:spAutoFit/>
          </a:bodyPr>
          <a:lstStyle/>
          <a:p>
            <a:pPr algn="just">
              <a:buFont typeface="Wingdings" pitchFamily="2" charset="2"/>
              <a:buChar char="§"/>
              <a:defRPr/>
            </a:pPr>
            <a:r>
              <a:rPr lang="en-IN" sz="1600" dirty="0">
                <a:latin typeface="Times New Roman" panose="02020603050405020304" pitchFamily="18" charset="0"/>
                <a:cs typeface="Times New Roman" panose="02020603050405020304" pitchFamily="18" charset="0"/>
              </a:rPr>
              <a:t>Increasing </a:t>
            </a:r>
            <a:r>
              <a:rPr lang="en-IN" sz="1600" dirty="0" err="1">
                <a:latin typeface="Times New Roman" panose="02020603050405020304" pitchFamily="18" charset="0"/>
                <a:cs typeface="Times New Roman" panose="02020603050405020304" pitchFamily="18" charset="0"/>
              </a:rPr>
              <a:t>Vsb</a:t>
            </a:r>
            <a:r>
              <a:rPr lang="en-IN" sz="1600" dirty="0">
                <a:latin typeface="Times New Roman" panose="02020603050405020304" pitchFamily="18" charset="0"/>
                <a:cs typeface="Times New Roman" panose="02020603050405020304" pitchFamily="18" charset="0"/>
              </a:rPr>
              <a:t> causes the channel to be depleted of charge carriers and </a:t>
            </a:r>
          </a:p>
          <a:p>
            <a:pPr lvl="1" algn="just">
              <a:buFont typeface="Wingdings" pitchFamily="2" charset="2"/>
              <a:buChar char="§"/>
              <a:defRPr/>
            </a:pPr>
            <a:r>
              <a:rPr lang="en-IN" sz="1600" b="1" dirty="0">
                <a:latin typeface="Times New Roman" panose="02020603050405020304" pitchFamily="18" charset="0"/>
                <a:cs typeface="Times New Roman" panose="02020603050405020304" pitchFamily="18" charset="0"/>
              </a:rPr>
              <a:t>Thus, the threshold voltage is raised. </a:t>
            </a:r>
          </a:p>
          <a:p>
            <a:pPr algn="just">
              <a:buFont typeface="Wingdings" pitchFamily="2" charset="2"/>
              <a:buChar char="§"/>
              <a:defRPr/>
            </a:pPr>
            <a:endParaRPr lang="en-IN" sz="16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600" dirty="0">
                <a:latin typeface="Times New Roman" panose="02020603050405020304" pitchFamily="18" charset="0"/>
                <a:cs typeface="Times New Roman" panose="02020603050405020304" pitchFamily="18" charset="0"/>
              </a:rPr>
              <a:t>Change in </a:t>
            </a:r>
            <a:r>
              <a:rPr lang="en-IN" sz="1600" dirty="0" err="1">
                <a:latin typeface="Times New Roman" panose="02020603050405020304" pitchFamily="18" charset="0"/>
                <a:cs typeface="Times New Roman" panose="02020603050405020304" pitchFamily="18" charset="0"/>
              </a:rPr>
              <a:t>Vt</a:t>
            </a:r>
            <a:r>
              <a:rPr lang="en-IN" sz="1600" dirty="0">
                <a:latin typeface="Times New Roman" panose="02020603050405020304" pitchFamily="18" charset="0"/>
                <a:cs typeface="Times New Roman" panose="02020603050405020304" pitchFamily="18" charset="0"/>
              </a:rPr>
              <a:t> is given by </a:t>
            </a:r>
            <a:r>
              <a:rPr lang="en-IN" sz="1600" dirty="0" err="1">
                <a:latin typeface="Times New Roman" panose="02020603050405020304" pitchFamily="18" charset="0"/>
                <a:cs typeface="Times New Roman" panose="02020603050405020304" pitchFamily="18" charset="0"/>
              </a:rPr>
              <a:t>ΔVt</a:t>
            </a:r>
            <a:r>
              <a:rPr lang="en-IN" sz="1600" dirty="0">
                <a:latin typeface="Times New Roman" panose="02020603050405020304" pitchFamily="18" charset="0"/>
                <a:cs typeface="Times New Roman" panose="02020603050405020304" pitchFamily="18" charset="0"/>
              </a:rPr>
              <a:t> = γ.(</a:t>
            </a:r>
            <a:r>
              <a:rPr lang="en-IN" sz="1600" dirty="0" err="1">
                <a:latin typeface="Times New Roman" panose="02020603050405020304" pitchFamily="18" charset="0"/>
                <a:cs typeface="Times New Roman" panose="02020603050405020304" pitchFamily="18" charset="0"/>
              </a:rPr>
              <a:t>Vsb</a:t>
            </a:r>
            <a:r>
              <a:rPr lang="en-IN" sz="1600" dirty="0">
                <a:latin typeface="Times New Roman" panose="02020603050405020304" pitchFamily="18" charset="0"/>
                <a:cs typeface="Times New Roman" panose="02020603050405020304" pitchFamily="18" charset="0"/>
              </a:rPr>
              <a:t>)1/2 </a:t>
            </a:r>
          </a:p>
          <a:p>
            <a:pPr algn="just">
              <a:defRPr/>
            </a:pPr>
            <a:r>
              <a:rPr lang="en-IN" sz="1600" dirty="0">
                <a:latin typeface="Times New Roman" panose="02020603050405020304" pitchFamily="18" charset="0"/>
                <a:cs typeface="Times New Roman" panose="02020603050405020304" pitchFamily="18" charset="0"/>
              </a:rPr>
              <a:t>	where γ is a constant which depends on substrate doping </a:t>
            </a:r>
          </a:p>
          <a:p>
            <a:pPr algn="just">
              <a:defRPr/>
            </a:pPr>
            <a:r>
              <a:rPr lang="en-IN" sz="1600" dirty="0">
                <a:latin typeface="Times New Roman" panose="02020603050405020304" pitchFamily="18" charset="0"/>
                <a:cs typeface="Times New Roman" panose="02020603050405020304" pitchFamily="18" charset="0"/>
              </a:rPr>
              <a:t>	so that the more lightly doped the substrate, the smaller will be the body effect </a:t>
            </a:r>
          </a:p>
          <a:p>
            <a:pPr algn="just">
              <a:buFont typeface="Wingdings" pitchFamily="2" charset="2"/>
              <a:buChar char="§"/>
              <a:defRPr/>
            </a:pPr>
            <a:endParaRPr lang="en-IN" sz="16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600" dirty="0">
                <a:latin typeface="Times New Roman" panose="02020603050405020304" pitchFamily="18" charset="0"/>
                <a:cs typeface="Times New Roman" panose="02020603050405020304" pitchFamily="18" charset="0"/>
              </a:rPr>
              <a:t>The threshold voltage can be written as</a:t>
            </a:r>
          </a:p>
          <a:p>
            <a:pPr algn="just">
              <a:buFont typeface="Wingdings" pitchFamily="2" charset="2"/>
              <a:buChar char="§"/>
              <a:defRPr/>
            </a:pPr>
            <a:endParaRPr lang="en-US" sz="1600" dirty="0">
              <a:latin typeface="Times New Roman" panose="02020603050405020304" pitchFamily="18" charset="0"/>
              <a:cs typeface="Times New Roman" panose="02020603050405020304" pitchFamily="18" charset="0"/>
            </a:endParaRPr>
          </a:p>
          <a:p>
            <a:pPr algn="just">
              <a:defRPr/>
            </a:pPr>
            <a:r>
              <a:rPr lang="en-IN" sz="1600" dirty="0">
                <a:latin typeface="Times New Roman" panose="02020603050405020304" pitchFamily="18" charset="0"/>
                <a:cs typeface="Times New Roman" panose="02020603050405020304" pitchFamily="18" charset="0"/>
              </a:rPr>
              <a:t>			Where </a:t>
            </a:r>
            <a:r>
              <a:rPr lang="en-IN" sz="1600" dirty="0" err="1">
                <a:latin typeface="Times New Roman" panose="02020603050405020304" pitchFamily="18" charset="0"/>
                <a:cs typeface="Times New Roman" panose="02020603050405020304" pitchFamily="18" charset="0"/>
              </a:rPr>
              <a:t>Vt</a:t>
            </a:r>
            <a:r>
              <a:rPr lang="en-IN" sz="1600" dirty="0">
                <a:latin typeface="Times New Roman" panose="02020603050405020304" pitchFamily="18" charset="0"/>
                <a:cs typeface="Times New Roman" panose="02020603050405020304" pitchFamily="18" charset="0"/>
              </a:rPr>
              <a:t>(0) is the threshold voltage for </a:t>
            </a:r>
            <a:r>
              <a:rPr lang="en-IN" sz="1600" dirty="0" err="1">
                <a:latin typeface="Times New Roman" panose="02020603050405020304" pitchFamily="18" charset="0"/>
                <a:cs typeface="Times New Roman" panose="02020603050405020304" pitchFamily="18" charset="0"/>
              </a:rPr>
              <a:t>Vsd</a:t>
            </a:r>
            <a:r>
              <a:rPr lang="en-IN" sz="1600" dirty="0">
                <a:latin typeface="Times New Roman" panose="02020603050405020304" pitchFamily="18" charset="0"/>
                <a:cs typeface="Times New Roman" panose="02020603050405020304" pitchFamily="18" charset="0"/>
              </a:rPr>
              <a:t> = 0</a:t>
            </a:r>
          </a:p>
          <a:p>
            <a:pPr algn="just">
              <a:defRPr/>
            </a:pPr>
            <a:endParaRPr lang="en-IN" sz="1600" dirty="0">
              <a:latin typeface="Times New Roman" panose="02020603050405020304" pitchFamily="18" charset="0"/>
              <a:cs typeface="Times New Roman" panose="02020603050405020304" pitchFamily="18" charset="0"/>
            </a:endParaRPr>
          </a:p>
          <a:p>
            <a:pPr algn="just">
              <a:buFont typeface="Wingdings" pitchFamily="2" charset="2"/>
              <a:buChar char="§"/>
              <a:defRPr/>
            </a:pPr>
            <a:r>
              <a:rPr lang="en-IN" sz="1600" dirty="0">
                <a:latin typeface="Times New Roman" panose="02020603050405020304" pitchFamily="18" charset="0"/>
                <a:cs typeface="Times New Roman" panose="02020603050405020304" pitchFamily="18" charset="0"/>
              </a:rPr>
              <a:t> For n-MOS depletion mode transistors ,the body voltage values at different VDD voltages are given below. </a:t>
            </a:r>
          </a:p>
          <a:p>
            <a:pPr lvl="1" algn="just">
              <a:buFont typeface="Wingdings" pitchFamily="2" charset="2"/>
              <a:buChar char="§"/>
              <a:defRPr/>
            </a:pPr>
            <a:r>
              <a:rPr lang="en-IN" sz="1600" dirty="0">
                <a:latin typeface="Times New Roman" panose="02020603050405020304" pitchFamily="18" charset="0"/>
                <a:cs typeface="Times New Roman" panose="02020603050405020304" pitchFamily="18" charset="0"/>
              </a:rPr>
              <a:t>VSB = 0 V ; </a:t>
            </a:r>
            <a:r>
              <a:rPr lang="en-IN" sz="1600" dirty="0" err="1">
                <a:latin typeface="Times New Roman" panose="02020603050405020304" pitchFamily="18" charset="0"/>
                <a:cs typeface="Times New Roman" panose="02020603050405020304" pitchFamily="18" charset="0"/>
              </a:rPr>
              <a:t>Vsd</a:t>
            </a:r>
            <a:r>
              <a:rPr lang="en-IN" sz="1600" dirty="0">
                <a:latin typeface="Times New Roman" panose="02020603050405020304" pitchFamily="18" charset="0"/>
                <a:cs typeface="Times New Roman" panose="02020603050405020304" pitchFamily="18" charset="0"/>
              </a:rPr>
              <a:t> = -0.7VDD (= - 3.5 V for VDD =+5V )</a:t>
            </a:r>
          </a:p>
          <a:p>
            <a:pPr lvl="1" algn="just">
              <a:buFont typeface="Wingdings" pitchFamily="2" charset="2"/>
              <a:buChar char="§"/>
              <a:defRPr/>
            </a:pPr>
            <a:r>
              <a:rPr lang="en-IN" sz="1600" dirty="0">
                <a:latin typeface="Times New Roman" panose="02020603050405020304" pitchFamily="18" charset="0"/>
                <a:cs typeface="Times New Roman" panose="02020603050405020304" pitchFamily="18" charset="0"/>
              </a:rPr>
              <a:t>VSB = 5 V ; </a:t>
            </a:r>
            <a:r>
              <a:rPr lang="en-IN" sz="1600" dirty="0" err="1">
                <a:latin typeface="Times New Roman" panose="02020603050405020304" pitchFamily="18" charset="0"/>
                <a:cs typeface="Times New Roman" panose="02020603050405020304" pitchFamily="18" charset="0"/>
              </a:rPr>
              <a:t>Vsd</a:t>
            </a:r>
            <a:r>
              <a:rPr lang="en-IN" sz="1600" dirty="0">
                <a:latin typeface="Times New Roman" panose="02020603050405020304" pitchFamily="18" charset="0"/>
                <a:cs typeface="Times New Roman" panose="02020603050405020304" pitchFamily="18" charset="0"/>
              </a:rPr>
              <a:t> = -0.6VDD (= - 3.0 V for VDD =+5V )</a:t>
            </a:r>
          </a:p>
        </p:txBody>
      </p:sp>
      <p:pic>
        <p:nvPicPr>
          <p:cNvPr id="88072" name="Picture 2">
            <a:extLst>
              <a:ext uri="{FF2B5EF4-FFF2-40B4-BE49-F238E27FC236}">
                <a16:creationId xmlns:a16="http://schemas.microsoft.com/office/drawing/2014/main" id="{F413FA42-82B8-9425-2B88-25AFC5CC1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1445" y="4896744"/>
            <a:ext cx="43815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3" name="Picture 2">
            <a:extLst>
              <a:ext uri="{FF2B5EF4-FFF2-40B4-BE49-F238E27FC236}">
                <a16:creationId xmlns:a16="http://schemas.microsoft.com/office/drawing/2014/main" id="{B1D68DEF-AF99-331C-589B-8EAEE2BA34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25" y="2857501"/>
            <a:ext cx="27241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F8556A-8279-67B3-1273-723D3747B0E3}"/>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89093" name="Picture 4">
            <a:extLst>
              <a:ext uri="{FF2B5EF4-FFF2-40B4-BE49-F238E27FC236}">
                <a16:creationId xmlns:a16="http://schemas.microsoft.com/office/drawing/2014/main" id="{83142AB6-2EDE-1E02-0F24-9D6844CFC7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6" y="161192"/>
            <a:ext cx="1263548"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4" name="TextBox 5">
            <a:extLst>
              <a:ext uri="{FF2B5EF4-FFF2-40B4-BE49-F238E27FC236}">
                <a16:creationId xmlns:a16="http://schemas.microsoft.com/office/drawing/2014/main" id="{D80B7ED8-F5A2-4218-775A-EF90C736D9B6}"/>
              </a:ext>
            </a:extLst>
          </p:cNvPr>
          <p:cNvSpPr txBox="1">
            <a:spLocks noChangeArrowheads="1"/>
          </p:cNvSpPr>
          <p:nvPr/>
        </p:nvSpPr>
        <p:spPr bwMode="auto">
          <a:xfrm>
            <a:off x="1473201" y="147845"/>
            <a:ext cx="103631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highlight>
                  <a:srgbClr val="E3293B"/>
                </a:highlight>
                <a:latin typeface="Times New Roman" panose="02020603050405020304" pitchFamily="18" charset="0"/>
                <a:cs typeface="Times New Roman" panose="02020603050405020304" pitchFamily="18" charset="0"/>
              </a:rPr>
              <a:t>Aspects of MOS Transistor THRESHOLD VOLTAGE </a:t>
            </a:r>
            <a:r>
              <a:rPr lang="en-US" altLang="en-US" sz="2800" b="1" i="1" dirty="0">
                <a:highlight>
                  <a:srgbClr val="E3293B"/>
                </a:highlight>
                <a:latin typeface="Times New Roman" panose="02020603050405020304" pitchFamily="18" charset="0"/>
                <a:cs typeface="Times New Roman" panose="02020603050405020304" pitchFamily="18" charset="0"/>
              </a:rPr>
              <a:t>Vt</a:t>
            </a:r>
            <a:r>
              <a:rPr lang="en-US" altLang="en-US" sz="2800" dirty="0">
                <a:highlight>
                  <a:srgbClr val="E3293B"/>
                </a:highlight>
                <a:latin typeface="Times New Roman" panose="02020603050405020304" pitchFamily="18" charset="0"/>
                <a:cs typeface="Times New Roman" panose="02020603050405020304" pitchFamily="18" charset="0"/>
              </a:rPr>
              <a:t> </a:t>
            </a:r>
            <a:endParaRPr lang="en-IN" altLang="en-US" sz="2800" b="1" dirty="0">
              <a:highlight>
                <a:srgbClr val="E3293B"/>
              </a:highlight>
              <a:latin typeface="Times New Roman" panose="02020603050405020304" pitchFamily="18" charset="0"/>
              <a:cs typeface="Times New Roman" panose="02020603050405020304" pitchFamily="18" charset="0"/>
            </a:endParaRPr>
          </a:p>
        </p:txBody>
      </p:sp>
      <p:sp>
        <p:nvSpPr>
          <p:cNvPr id="86021" name="TextBox 7">
            <a:extLst>
              <a:ext uri="{FF2B5EF4-FFF2-40B4-BE49-F238E27FC236}">
                <a16:creationId xmlns:a16="http://schemas.microsoft.com/office/drawing/2014/main" id="{018E6125-9221-1D65-C93F-4B267E600572}"/>
              </a:ext>
            </a:extLst>
          </p:cNvPr>
          <p:cNvSpPr txBox="1">
            <a:spLocks noChangeArrowheads="1"/>
          </p:cNvSpPr>
          <p:nvPr/>
        </p:nvSpPr>
        <p:spPr bwMode="auto">
          <a:xfrm>
            <a:off x="1592264" y="1730376"/>
            <a:ext cx="9075737" cy="646113"/>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spAutoFit/>
          </a:bodyPr>
          <a:lstStyle/>
          <a:p>
            <a:pPr algn="just">
              <a:defRPr/>
            </a:pPr>
            <a:r>
              <a:rPr lang="en-US" dirty="0">
                <a:solidFill>
                  <a:srgbClr val="0D090A"/>
                </a:solidFill>
                <a:latin typeface="Times New Roman" panose="02020603050405020304" pitchFamily="18" charset="0"/>
                <a:cs typeface="Times New Roman" panose="02020603050405020304" pitchFamily="18" charset="0"/>
              </a:rPr>
              <a:t>The body effects may also be considered since the substrate may be biased with</a:t>
            </a:r>
            <a:br>
              <a:rPr lang="en-US" dirty="0">
                <a:solidFill>
                  <a:srgbClr val="0D090A"/>
                </a:solidFill>
                <a:latin typeface="Times New Roman" panose="02020603050405020304" pitchFamily="18" charset="0"/>
                <a:cs typeface="Times New Roman" panose="02020603050405020304" pitchFamily="18" charset="0"/>
              </a:rPr>
            </a:br>
            <a:r>
              <a:rPr lang="en-US" dirty="0">
                <a:solidFill>
                  <a:srgbClr val="0D090A"/>
                </a:solidFill>
                <a:latin typeface="Times New Roman" panose="02020603050405020304" pitchFamily="18" charset="0"/>
                <a:cs typeface="Times New Roman" panose="02020603050405020304" pitchFamily="18" charset="0"/>
              </a:rPr>
              <a:t>respect to the source, as shown in Figure 2.3 </a:t>
            </a:r>
            <a:r>
              <a:rPr lang="en-US" dirty="0">
                <a:solidFill>
                  <a:srgbClr val="322A28"/>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89096" name="Picture 8">
            <a:extLst>
              <a:ext uri="{FF2B5EF4-FFF2-40B4-BE49-F238E27FC236}">
                <a16:creationId xmlns:a16="http://schemas.microsoft.com/office/drawing/2014/main" id="{E8D90F34-9336-51D3-B0D4-2DBB03F1F7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44776" y="2424114"/>
            <a:ext cx="6791325" cy="242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7" name="TextBox 10">
            <a:extLst>
              <a:ext uri="{FF2B5EF4-FFF2-40B4-BE49-F238E27FC236}">
                <a16:creationId xmlns:a16="http://schemas.microsoft.com/office/drawing/2014/main" id="{9698AB5C-CB11-87FD-3357-1F8CB9ADBAD5}"/>
              </a:ext>
            </a:extLst>
          </p:cNvPr>
          <p:cNvSpPr txBox="1">
            <a:spLocks noChangeArrowheads="1"/>
          </p:cNvSpPr>
          <p:nvPr/>
        </p:nvSpPr>
        <p:spPr bwMode="auto">
          <a:xfrm>
            <a:off x="1600200" y="4795838"/>
            <a:ext cx="90678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
            </a:pPr>
            <a:r>
              <a:rPr lang="en-US" altLang="en-US" b="1" dirty="0">
                <a:latin typeface="Bell MT" panose="02020503060305020303" pitchFamily="18" charset="0"/>
              </a:rPr>
              <a:t>Increasing </a:t>
            </a:r>
            <a:r>
              <a:rPr lang="en-US" altLang="en-US" sz="1400" b="1" i="1" dirty="0">
                <a:latin typeface="Bell MT" panose="02020503060305020303" pitchFamily="18" charset="0"/>
              </a:rPr>
              <a:t>Vs</a:t>
            </a:r>
            <a:r>
              <a:rPr lang="en-US" altLang="en-US" sz="800" b="1" i="1" dirty="0">
                <a:latin typeface="Bell MT" panose="02020503060305020303" pitchFamily="18" charset="0"/>
              </a:rPr>
              <a:t>8 </a:t>
            </a:r>
            <a:r>
              <a:rPr lang="en-US" altLang="en-US" b="1" dirty="0">
                <a:latin typeface="Bell MT" panose="02020503060305020303" pitchFamily="18" charset="0"/>
              </a:rPr>
              <a:t>causes the channel to be depleted of charge carriers and thus the threshold voltage is raised.</a:t>
            </a:r>
          </a:p>
          <a:p>
            <a:pPr algn="just" eaLnBrk="1" hangingPunct="1">
              <a:buFont typeface="Wingdings" panose="05000000000000000000" pitchFamily="2" charset="2"/>
              <a:buChar char="§"/>
            </a:pPr>
            <a:endParaRPr lang="en-US" altLang="en-US" dirty="0">
              <a:latin typeface="Bell MT" panose="02020503060305020303" pitchFamily="18" charset="0"/>
            </a:endParaRPr>
          </a:p>
          <a:p>
            <a:pPr algn="just" eaLnBrk="1" hangingPunct="1">
              <a:buFont typeface="Wingdings" panose="05000000000000000000" pitchFamily="2" charset="2"/>
              <a:buChar char="§"/>
            </a:pPr>
            <a:r>
              <a:rPr lang="en-US" altLang="en-US" b="1" dirty="0">
                <a:latin typeface="Bell MT" panose="02020503060305020303" pitchFamily="18" charset="0"/>
              </a:rPr>
              <a:t>Change in Vt is given by </a:t>
            </a:r>
          </a:p>
          <a:p>
            <a:pPr algn="just" eaLnBrk="1" hangingPunct="1">
              <a:buFont typeface="Wingdings" panose="05000000000000000000" pitchFamily="2" charset="2"/>
              <a:buChar char="§"/>
            </a:pPr>
            <a:endParaRPr lang="en-US" altLang="en-US" dirty="0">
              <a:latin typeface="Bell MT" panose="02020503060305020303" pitchFamily="18" charset="0"/>
            </a:endParaRPr>
          </a:p>
          <a:p>
            <a:pPr algn="just" eaLnBrk="1" hangingPunct="1"/>
            <a:r>
              <a:rPr lang="en-US" altLang="en-US" dirty="0">
                <a:latin typeface="Bell MT" panose="02020503060305020303" pitchFamily="18" charset="0"/>
              </a:rPr>
              <a:t>	where </a:t>
            </a:r>
            <a:r>
              <a:rPr lang="en-US" altLang="en-US" i="1" dirty="0">
                <a:latin typeface="Bell MT" panose="02020503060305020303" pitchFamily="18" charset="0"/>
              </a:rPr>
              <a:t>gamma </a:t>
            </a:r>
            <a:r>
              <a:rPr lang="en-US" altLang="en-US" dirty="0">
                <a:latin typeface="Bell MT" panose="02020503060305020303" pitchFamily="18" charset="0"/>
              </a:rPr>
              <a:t>is a constant which depends on substrate doping so that the more lightly doped the substrate, the smaller will be the body effect. </a:t>
            </a:r>
            <a:endParaRPr lang="en-IN" altLang="en-US" dirty="0">
              <a:latin typeface="Bell MT" panose="02020503060305020303" pitchFamily="18" charset="0"/>
            </a:endParaRPr>
          </a:p>
        </p:txBody>
      </p:sp>
      <p:sp>
        <p:nvSpPr>
          <p:cNvPr id="8" name="Rectangle 7">
            <a:extLst>
              <a:ext uri="{FF2B5EF4-FFF2-40B4-BE49-F238E27FC236}">
                <a16:creationId xmlns:a16="http://schemas.microsoft.com/office/drawing/2014/main" id="{C56FE7FB-A838-C567-EEDE-4BFD5C38AC63}"/>
              </a:ext>
            </a:extLst>
          </p:cNvPr>
          <p:cNvSpPr/>
          <p:nvPr/>
        </p:nvSpPr>
        <p:spPr>
          <a:xfrm>
            <a:off x="1595439" y="949325"/>
            <a:ext cx="1558925"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b="1" dirty="0">
                <a:solidFill>
                  <a:srgbClr val="FFFF00"/>
                </a:solidFill>
                <a:latin typeface="Bell MT" pitchFamily="18" charset="0"/>
              </a:rPr>
              <a:t>Body effects </a:t>
            </a:r>
            <a:endParaRPr lang="en-IN" b="1" dirty="0">
              <a:solidFill>
                <a:srgbClr val="FFFF00"/>
              </a:solidFill>
            </a:endParaRPr>
          </a:p>
        </p:txBody>
      </p:sp>
      <p:pic>
        <p:nvPicPr>
          <p:cNvPr id="89099" name="Picture 8">
            <a:extLst>
              <a:ext uri="{FF2B5EF4-FFF2-40B4-BE49-F238E27FC236}">
                <a16:creationId xmlns:a16="http://schemas.microsoft.com/office/drawing/2014/main" id="{ACFB9ACF-CB7B-323F-D031-A2397D2479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1201" y="5648326"/>
            <a:ext cx="16668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4CBC8F9D-B95F-CACC-0E78-2232353950C4}"/>
              </a:ext>
            </a:extLst>
          </p:cNvPr>
          <p:cNvSpPr/>
          <p:nvPr/>
        </p:nvSpPr>
        <p:spPr>
          <a:xfrm>
            <a:off x="3171825" y="928689"/>
            <a:ext cx="7461250" cy="73977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just">
              <a:defRPr/>
            </a:pPr>
            <a:r>
              <a:rPr lang="en-IN" sz="1400" dirty="0">
                <a:latin typeface="Bell MT" pitchFamily="18" charset="0"/>
              </a:rPr>
              <a:t>Body bias is </a:t>
            </a:r>
            <a:r>
              <a:rPr lang="en-IN" sz="1400" b="1" dirty="0">
                <a:latin typeface="Bell MT" pitchFamily="18" charset="0"/>
              </a:rPr>
              <a:t>used to dynamically adjust the threshold voltage (</a:t>
            </a:r>
            <a:r>
              <a:rPr lang="en-IN" sz="1400" b="1" dirty="0" err="1">
                <a:latin typeface="Bell MT" pitchFamily="18" charset="0"/>
              </a:rPr>
              <a:t>V</a:t>
            </a:r>
            <a:r>
              <a:rPr lang="en-IN" sz="1400" b="1" baseline="-25000" dirty="0" err="1">
                <a:latin typeface="Bell MT" pitchFamily="18" charset="0"/>
              </a:rPr>
              <a:t>t</a:t>
            </a:r>
            <a:r>
              <a:rPr lang="en-IN" sz="1400" b="1" dirty="0">
                <a:latin typeface="Bell MT" pitchFamily="18" charset="0"/>
              </a:rPr>
              <a:t>) of a CMOS transistor</a:t>
            </a:r>
            <a:r>
              <a:rPr lang="en-IN" sz="1400" dirty="0">
                <a:latin typeface="Bell MT" pitchFamily="18" charset="0"/>
              </a:rPr>
              <a:t>. ... Because the voltage difference between the source voltage (V</a:t>
            </a:r>
            <a:r>
              <a:rPr lang="en-IN" sz="1400" baseline="-25000" dirty="0">
                <a:latin typeface="Bell MT" pitchFamily="18" charset="0"/>
              </a:rPr>
              <a:t>s</a:t>
            </a:r>
            <a:r>
              <a:rPr lang="en-IN" sz="1400" dirty="0">
                <a:latin typeface="Bell MT" pitchFamily="18" charset="0"/>
              </a:rPr>
              <a:t>) and body voltage (</a:t>
            </a:r>
            <a:r>
              <a:rPr lang="en-IN" sz="1400" dirty="0" err="1">
                <a:latin typeface="Bell MT" pitchFamily="18" charset="0"/>
              </a:rPr>
              <a:t>V</a:t>
            </a:r>
            <a:r>
              <a:rPr lang="en-IN" sz="1400" baseline="-25000" dirty="0" err="1">
                <a:latin typeface="Bell MT" pitchFamily="18" charset="0"/>
              </a:rPr>
              <a:t>b</a:t>
            </a:r>
            <a:r>
              <a:rPr lang="en-IN" sz="1400" dirty="0">
                <a:latin typeface="Bell MT" pitchFamily="18" charset="0"/>
              </a:rPr>
              <a:t>) affects the </a:t>
            </a:r>
            <a:r>
              <a:rPr lang="en-IN" sz="1400" dirty="0" err="1">
                <a:latin typeface="Bell MT" pitchFamily="18" charset="0"/>
              </a:rPr>
              <a:t>V</a:t>
            </a:r>
            <a:r>
              <a:rPr lang="en-IN" sz="1400" baseline="-25000" dirty="0" err="1">
                <a:latin typeface="Bell MT" pitchFamily="18" charset="0"/>
              </a:rPr>
              <a:t>t</a:t>
            </a:r>
            <a:r>
              <a:rPr lang="en-IN" sz="1400" dirty="0">
                <a:latin typeface="Bell MT" pitchFamily="18" charset="0"/>
              </a:rPr>
              <a:t>, the body can be thought of as a second gate that helps determine how a transistor turns on and off.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CE6CDF-E6A3-C5C5-75A1-61F7BB1579B3}"/>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90117" name="Picture 4">
            <a:extLst>
              <a:ext uri="{FF2B5EF4-FFF2-40B4-BE49-F238E27FC236}">
                <a16:creationId xmlns:a16="http://schemas.microsoft.com/office/drawing/2014/main" id="{E4CAFC78-40BE-0C24-88D7-60BA4956B7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733" y="43825"/>
            <a:ext cx="89166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TextBox 5">
            <a:extLst>
              <a:ext uri="{FF2B5EF4-FFF2-40B4-BE49-F238E27FC236}">
                <a16:creationId xmlns:a16="http://schemas.microsoft.com/office/drawing/2014/main" id="{73C2C0EE-11DD-2657-981A-0BC1CB3B413F}"/>
              </a:ext>
            </a:extLst>
          </p:cNvPr>
          <p:cNvSpPr txBox="1">
            <a:spLocks noChangeArrowheads="1"/>
          </p:cNvSpPr>
          <p:nvPr/>
        </p:nvSpPr>
        <p:spPr bwMode="auto">
          <a:xfrm>
            <a:off x="1140542" y="33993"/>
            <a:ext cx="111694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2800" b="1" dirty="0">
                <a:highlight>
                  <a:srgbClr val="E3293B"/>
                </a:highlight>
                <a:latin typeface="Times New Roman" panose="02020603050405020304" pitchFamily="18" charset="0"/>
                <a:cs typeface="Times New Roman" panose="02020603050405020304" pitchFamily="18" charset="0"/>
              </a:rPr>
              <a:t>MOS Transistor Transconductance gm,  and Output Conductance gds.</a:t>
            </a:r>
            <a:r>
              <a:rPr lang="en-IN" altLang="en-US" sz="2800" dirty="0">
                <a:highlight>
                  <a:srgbClr val="E3293B"/>
                </a:highlight>
                <a:latin typeface="Times New Roman" panose="02020603050405020304" pitchFamily="18" charset="0"/>
                <a:cs typeface="Times New Roman" panose="02020603050405020304" pitchFamily="18" charset="0"/>
              </a:rPr>
              <a:t> </a:t>
            </a:r>
            <a:endParaRPr lang="en-IN" altLang="en-US" sz="2800" b="1" dirty="0">
              <a:highlight>
                <a:srgbClr val="E3293B"/>
              </a:highlight>
              <a:latin typeface="Times New Roman" panose="02020603050405020304" pitchFamily="18" charset="0"/>
              <a:cs typeface="Times New Roman" panose="02020603050405020304" pitchFamily="18" charset="0"/>
            </a:endParaRPr>
          </a:p>
        </p:txBody>
      </p:sp>
      <p:sp>
        <p:nvSpPr>
          <p:cNvPr id="88069" name="TextBox 6">
            <a:extLst>
              <a:ext uri="{FF2B5EF4-FFF2-40B4-BE49-F238E27FC236}">
                <a16:creationId xmlns:a16="http://schemas.microsoft.com/office/drawing/2014/main" id="{1CA58BC8-5624-BE29-FB92-CF650C6A989C}"/>
              </a:ext>
            </a:extLst>
          </p:cNvPr>
          <p:cNvSpPr txBox="1">
            <a:spLocks noChangeArrowheads="1"/>
          </p:cNvSpPr>
          <p:nvPr/>
        </p:nvSpPr>
        <p:spPr bwMode="auto">
          <a:xfrm>
            <a:off x="1524000" y="1408113"/>
            <a:ext cx="9144000" cy="64611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n-US" dirty="0">
                <a:solidFill>
                  <a:srgbClr val="002060"/>
                </a:solidFill>
                <a:latin typeface="Bell MT" pitchFamily="18" charset="0"/>
              </a:rPr>
              <a:t>Transconductance expresses the relationship between output current Ids and the input voltage</a:t>
            </a:r>
            <a:br>
              <a:rPr lang="en-US" dirty="0">
                <a:solidFill>
                  <a:srgbClr val="002060"/>
                </a:solidFill>
                <a:latin typeface="Bell MT" pitchFamily="18" charset="0"/>
              </a:rPr>
            </a:br>
            <a:r>
              <a:rPr lang="en-US" dirty="0">
                <a:solidFill>
                  <a:srgbClr val="002060"/>
                </a:solidFill>
                <a:latin typeface="Bell MT" pitchFamily="18" charset="0"/>
              </a:rPr>
              <a:t>V </a:t>
            </a:r>
            <a:r>
              <a:rPr lang="en-US" dirty="0" err="1">
                <a:solidFill>
                  <a:srgbClr val="002060"/>
                </a:solidFill>
                <a:latin typeface="Bell MT" pitchFamily="18" charset="0"/>
              </a:rPr>
              <a:t>gs</a:t>
            </a:r>
            <a:r>
              <a:rPr lang="en-US" dirty="0">
                <a:solidFill>
                  <a:srgbClr val="002060"/>
                </a:solidFill>
                <a:latin typeface="Bell MT" pitchFamily="18" charset="0"/>
              </a:rPr>
              <a:t> and is defined as </a:t>
            </a:r>
            <a:endParaRPr lang="en-IN" dirty="0"/>
          </a:p>
        </p:txBody>
      </p:sp>
      <p:pic>
        <p:nvPicPr>
          <p:cNvPr id="88070" name="Picture 8">
            <a:extLst>
              <a:ext uri="{FF2B5EF4-FFF2-40B4-BE49-F238E27FC236}">
                <a16:creationId xmlns:a16="http://schemas.microsoft.com/office/drawing/2014/main" id="{4137BA9B-B847-2996-5E92-CBD38AF693D5}"/>
              </a:ext>
            </a:extLst>
          </p:cNvPr>
          <p:cNvPicPr>
            <a:picLocks noChangeAspect="1"/>
          </p:cNvPicPr>
          <p:nvPr/>
        </p:nvPicPr>
        <p:blipFill>
          <a:blip r:embed="rId3"/>
          <a:srcRect/>
          <a:stretch>
            <a:fillRect/>
          </a:stretch>
        </p:blipFill>
        <p:spPr bwMode="auto">
          <a:xfrm>
            <a:off x="4573589" y="2044701"/>
            <a:ext cx="2638425" cy="714375"/>
          </a:xfrm>
          <a:prstGeom prst="rect">
            <a:avLst/>
          </a:prstGeom>
          <a:ln>
            <a:headEnd/>
            <a:tailEnd/>
          </a:ln>
        </p:spPr>
        <p:style>
          <a:lnRef idx="2">
            <a:schemeClr val="accent2"/>
          </a:lnRef>
          <a:fillRef idx="1">
            <a:schemeClr val="lt1"/>
          </a:fillRef>
          <a:effectRef idx="0">
            <a:schemeClr val="accent2"/>
          </a:effectRef>
          <a:fontRef idx="minor">
            <a:schemeClr val="dk1"/>
          </a:fontRef>
        </p:style>
      </p:pic>
      <p:sp>
        <p:nvSpPr>
          <p:cNvPr id="88071" name="TextBox 10">
            <a:extLst>
              <a:ext uri="{FF2B5EF4-FFF2-40B4-BE49-F238E27FC236}">
                <a16:creationId xmlns:a16="http://schemas.microsoft.com/office/drawing/2014/main" id="{72FBAE1C-BC5B-C7E4-D897-E077799C24FB}"/>
              </a:ext>
            </a:extLst>
          </p:cNvPr>
          <p:cNvSpPr txBox="1">
            <a:spLocks noChangeArrowheads="1"/>
          </p:cNvSpPr>
          <p:nvPr/>
        </p:nvSpPr>
        <p:spPr bwMode="auto">
          <a:xfrm>
            <a:off x="1524001" y="2822576"/>
            <a:ext cx="9070975" cy="646113"/>
          </a:xfrm>
          <a:prstGeom prst="rect">
            <a:avLst/>
          </a:prstGeom>
          <a:ln>
            <a:headEnd/>
            <a:tailEnd/>
          </a:ln>
        </p:spPr>
        <p:style>
          <a:lnRef idx="3">
            <a:schemeClr val="lt1"/>
          </a:lnRef>
          <a:fillRef idx="1">
            <a:schemeClr val="accent4"/>
          </a:fillRef>
          <a:effectRef idx="1">
            <a:schemeClr val="accent4"/>
          </a:effectRef>
          <a:fontRef idx="minor">
            <a:schemeClr val="lt1"/>
          </a:fontRef>
        </p:style>
        <p:txBody>
          <a:bodyPr>
            <a:spAutoFit/>
          </a:bodyPr>
          <a:lstStyle/>
          <a:p>
            <a:pPr algn="just">
              <a:defRPr/>
            </a:pPr>
            <a:r>
              <a:rPr lang="en-US" dirty="0">
                <a:solidFill>
                  <a:srgbClr val="002060"/>
                </a:solidFill>
                <a:latin typeface="Bell MT" pitchFamily="18" charset="0"/>
              </a:rPr>
              <a:t>To find an expression for </a:t>
            </a:r>
            <a:r>
              <a:rPr lang="en-US" sz="1400" i="1" dirty="0">
                <a:solidFill>
                  <a:srgbClr val="002060"/>
                </a:solidFill>
                <a:latin typeface="Bell MT" pitchFamily="18" charset="0"/>
              </a:rPr>
              <a:t>g,. </a:t>
            </a:r>
            <a:r>
              <a:rPr lang="en-US" dirty="0">
                <a:solidFill>
                  <a:srgbClr val="002060"/>
                </a:solidFill>
                <a:latin typeface="Bell MT" pitchFamily="18" charset="0"/>
              </a:rPr>
              <a:t>in terms of circuit and transistor parameters, consider that</a:t>
            </a:r>
            <a:br>
              <a:rPr lang="en-US" dirty="0">
                <a:solidFill>
                  <a:srgbClr val="002060"/>
                </a:solidFill>
                <a:latin typeface="Bell MT" pitchFamily="18" charset="0"/>
              </a:rPr>
            </a:br>
            <a:r>
              <a:rPr lang="en-US" dirty="0">
                <a:solidFill>
                  <a:srgbClr val="002060"/>
                </a:solidFill>
                <a:latin typeface="Bell MT" pitchFamily="18" charset="0"/>
              </a:rPr>
              <a:t>the charge in channel </a:t>
            </a:r>
            <a:r>
              <a:rPr lang="en-US" i="1" dirty="0">
                <a:solidFill>
                  <a:srgbClr val="002060"/>
                </a:solidFill>
                <a:latin typeface="Bell MT" pitchFamily="18" charset="0"/>
              </a:rPr>
              <a:t>Qc </a:t>
            </a:r>
            <a:r>
              <a:rPr lang="en-US" dirty="0">
                <a:solidFill>
                  <a:srgbClr val="002060"/>
                </a:solidFill>
                <a:latin typeface="Bell MT" pitchFamily="18" charset="0"/>
              </a:rPr>
              <a:t>is such that </a:t>
            </a:r>
            <a:endParaRPr lang="en-IN" dirty="0">
              <a:solidFill>
                <a:srgbClr val="002060"/>
              </a:solidFill>
              <a:latin typeface="Bell MT" pitchFamily="18" charset="0"/>
            </a:endParaRPr>
          </a:p>
        </p:txBody>
      </p:sp>
      <p:pic>
        <p:nvPicPr>
          <p:cNvPr id="90122" name="Picture 12">
            <a:extLst>
              <a:ext uri="{FF2B5EF4-FFF2-40B4-BE49-F238E27FC236}">
                <a16:creationId xmlns:a16="http://schemas.microsoft.com/office/drawing/2014/main" id="{DD032F28-EE77-72D5-606A-6787B9FF18F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08376" y="3502026"/>
            <a:ext cx="5133975"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778E1F74-F678-49CC-C9B2-922EE7FB97C6}"/>
              </a:ext>
            </a:extLst>
          </p:cNvPr>
          <p:cNvSpPr/>
          <p:nvPr/>
        </p:nvSpPr>
        <p:spPr>
          <a:xfrm>
            <a:off x="1524001" y="941388"/>
            <a:ext cx="2422525" cy="368300"/>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pPr>
              <a:defRPr/>
            </a:pPr>
            <a:r>
              <a:rPr lang="en-IN" b="1" dirty="0">
                <a:solidFill>
                  <a:srgbClr val="FFFF00"/>
                </a:solidFill>
                <a:latin typeface="Bell MT" pitchFamily="18" charset="0"/>
              </a:rPr>
              <a:t>Transconductance gm</a:t>
            </a:r>
            <a:endParaRPr lang="en-IN" dirty="0">
              <a:solidFill>
                <a:srgbClr val="FFFF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E78801-6276-46E9-E012-72E43CF3CAEB}"/>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91141" name="Picture 4">
            <a:extLst>
              <a:ext uri="{FF2B5EF4-FFF2-40B4-BE49-F238E27FC236}">
                <a16:creationId xmlns:a16="http://schemas.microsoft.com/office/drawing/2014/main" id="{0BFA9F92-0CB7-C9E4-998E-C5D4EB1E19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94450"/>
            <a:ext cx="1317523"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2" name="TextBox 5">
            <a:extLst>
              <a:ext uri="{FF2B5EF4-FFF2-40B4-BE49-F238E27FC236}">
                <a16:creationId xmlns:a16="http://schemas.microsoft.com/office/drawing/2014/main" id="{46C8D599-2EDD-4F67-8F2B-330D4EF9A757}"/>
              </a:ext>
            </a:extLst>
          </p:cNvPr>
          <p:cNvSpPr txBox="1">
            <a:spLocks noChangeArrowheads="1"/>
          </p:cNvSpPr>
          <p:nvPr/>
        </p:nvSpPr>
        <p:spPr bwMode="auto">
          <a:xfrm>
            <a:off x="1524001" y="127000"/>
            <a:ext cx="94193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2400" b="1" dirty="0">
                <a:latin typeface="Times New Roman" panose="02020603050405020304" pitchFamily="18" charset="0"/>
                <a:cs typeface="Times New Roman" panose="02020603050405020304" pitchFamily="18" charset="0"/>
              </a:rPr>
              <a:t>MOS Transistor Transconductance gm,  and Output Conductance gds.</a:t>
            </a:r>
            <a:r>
              <a:rPr lang="en-IN" altLang="en-US" sz="2400" dirty="0">
                <a:latin typeface="Times New Roman" panose="02020603050405020304" pitchFamily="18" charset="0"/>
                <a:cs typeface="Times New Roman" panose="02020603050405020304" pitchFamily="18" charset="0"/>
              </a:rPr>
              <a:t> </a:t>
            </a:r>
            <a:endParaRPr lang="en-IN" altLang="en-US" sz="2400" b="1" dirty="0">
              <a:latin typeface="Times New Roman" panose="02020603050405020304" pitchFamily="18" charset="0"/>
              <a:cs typeface="Times New Roman" panose="02020603050405020304" pitchFamily="18" charset="0"/>
            </a:endParaRPr>
          </a:p>
        </p:txBody>
      </p:sp>
      <p:pic>
        <p:nvPicPr>
          <p:cNvPr id="91143" name="Picture 2">
            <a:extLst>
              <a:ext uri="{FF2B5EF4-FFF2-40B4-BE49-F238E27FC236}">
                <a16:creationId xmlns:a16="http://schemas.microsoft.com/office/drawing/2014/main" id="{6D0DDE1C-5E4F-F3C6-64A2-2C431CF7B8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0364" y="1076326"/>
            <a:ext cx="6391275"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405344-0A37-C21E-800E-2B7CBA6F765F}"/>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92165" name="Picture 4">
            <a:extLst>
              <a:ext uri="{FF2B5EF4-FFF2-40B4-BE49-F238E27FC236}">
                <a16:creationId xmlns:a16="http://schemas.microsoft.com/office/drawing/2014/main" id="{C728414A-3886-B63C-352E-D211A808AB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164" y="101601"/>
            <a:ext cx="1287359"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6" name="TextBox 5">
            <a:extLst>
              <a:ext uri="{FF2B5EF4-FFF2-40B4-BE49-F238E27FC236}">
                <a16:creationId xmlns:a16="http://schemas.microsoft.com/office/drawing/2014/main" id="{1A1B2CC1-A080-5B60-CC77-9C196C34564B}"/>
              </a:ext>
            </a:extLst>
          </p:cNvPr>
          <p:cNvSpPr txBox="1">
            <a:spLocks noChangeArrowheads="1"/>
          </p:cNvSpPr>
          <p:nvPr/>
        </p:nvSpPr>
        <p:spPr bwMode="auto">
          <a:xfrm>
            <a:off x="1524001" y="68006"/>
            <a:ext cx="9497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2400" b="1" dirty="0">
                <a:solidFill>
                  <a:srgbClr val="9933FF"/>
                </a:solidFill>
                <a:latin typeface="Times New Roman" panose="02020603050405020304" pitchFamily="18" charset="0"/>
                <a:cs typeface="Times New Roman" panose="02020603050405020304" pitchFamily="18" charset="0"/>
              </a:rPr>
              <a:t>MOS Transistor Transconductance gm,  and Output Conductance gds.</a:t>
            </a:r>
            <a:r>
              <a:rPr lang="en-IN" altLang="en-US" sz="2400" dirty="0">
                <a:latin typeface="Times New Roman" panose="02020603050405020304" pitchFamily="18" charset="0"/>
                <a:cs typeface="Times New Roman" panose="02020603050405020304" pitchFamily="18" charset="0"/>
              </a:rPr>
              <a:t> </a:t>
            </a:r>
            <a:endParaRPr lang="en-IN" altLang="en-US" sz="2400" b="1" dirty="0">
              <a:solidFill>
                <a:srgbClr val="9933FF"/>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AF7E046-52F8-129A-55F3-F6D4B4018FC5}"/>
              </a:ext>
            </a:extLst>
          </p:cNvPr>
          <p:cNvSpPr txBox="1"/>
          <p:nvPr/>
        </p:nvSpPr>
        <p:spPr>
          <a:xfrm>
            <a:off x="1524000" y="989014"/>
            <a:ext cx="9144000" cy="2586037"/>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marL="285750" indent="-285750" algn="just">
              <a:buFont typeface="Wingdings" panose="05000000000000000000" pitchFamily="2" charset="2"/>
              <a:buChar char="§"/>
              <a:defRPr/>
            </a:pPr>
            <a:r>
              <a:rPr lang="en-US" dirty="0">
                <a:solidFill>
                  <a:srgbClr val="002060"/>
                </a:solidFill>
                <a:latin typeface="Bell MT" panose="02020503060305020303" pitchFamily="18" charset="0"/>
              </a:rPr>
              <a:t>It is possible to </a:t>
            </a:r>
            <a:r>
              <a:rPr lang="en-US" b="1" dirty="0">
                <a:solidFill>
                  <a:srgbClr val="002060"/>
                </a:solidFill>
                <a:latin typeface="Bell MT" panose="02020503060305020303" pitchFamily="18" charset="0"/>
              </a:rPr>
              <a:t>increase the </a:t>
            </a:r>
            <a:r>
              <a:rPr lang="en-US" b="1" i="1" dirty="0">
                <a:solidFill>
                  <a:srgbClr val="002060"/>
                </a:solidFill>
                <a:latin typeface="Bell MT" panose="02020503060305020303" pitchFamily="18" charset="0"/>
              </a:rPr>
              <a:t>gm, </a:t>
            </a:r>
            <a:r>
              <a:rPr lang="en-US" b="1" dirty="0">
                <a:solidFill>
                  <a:srgbClr val="002060"/>
                </a:solidFill>
                <a:latin typeface="Bell MT" panose="02020503060305020303" pitchFamily="18" charset="0"/>
              </a:rPr>
              <a:t>of a MOS device by increasing its width</a:t>
            </a:r>
            <a:r>
              <a:rPr lang="en-US" dirty="0">
                <a:solidFill>
                  <a:srgbClr val="002060"/>
                </a:solidFill>
                <a:latin typeface="Bell MT" panose="02020503060305020303" pitchFamily="18" charset="0"/>
              </a:rPr>
              <a:t>. </a:t>
            </a:r>
          </a:p>
          <a:p>
            <a:pPr marL="285750" indent="-285750" algn="just">
              <a:buFont typeface="Wingdings" panose="05000000000000000000" pitchFamily="2" charset="2"/>
              <a:buChar char="§"/>
              <a:defRPr/>
            </a:pPr>
            <a:r>
              <a:rPr lang="en-US" b="1" dirty="0">
                <a:solidFill>
                  <a:srgbClr val="002060"/>
                </a:solidFill>
                <a:latin typeface="Bell MT" panose="02020503060305020303" pitchFamily="18" charset="0"/>
              </a:rPr>
              <a:t>However, </a:t>
            </a:r>
            <a:r>
              <a:rPr lang="en-US" dirty="0">
                <a:solidFill>
                  <a:srgbClr val="002060"/>
                </a:solidFill>
                <a:latin typeface="Bell MT" panose="02020503060305020303" pitchFamily="18" charset="0"/>
              </a:rPr>
              <a:t>this will also increase the input capacitance and area occupied.</a:t>
            </a:r>
          </a:p>
          <a:p>
            <a:pPr marL="285750" indent="-285750" algn="just">
              <a:buFont typeface="Wingdings" panose="05000000000000000000" pitchFamily="2" charset="2"/>
              <a:buChar char="§"/>
              <a:defRPr/>
            </a:pPr>
            <a:endParaRPr lang="en-US" dirty="0">
              <a:solidFill>
                <a:srgbClr val="002060"/>
              </a:solidFill>
              <a:latin typeface="Bell MT" panose="02020503060305020303" pitchFamily="18" charset="0"/>
            </a:endParaRPr>
          </a:p>
          <a:p>
            <a:pPr marL="285750" indent="-285750" algn="just">
              <a:buFont typeface="Wingdings" panose="05000000000000000000" pitchFamily="2" charset="2"/>
              <a:buChar char="§"/>
              <a:defRPr/>
            </a:pPr>
            <a:endParaRPr lang="en-US" dirty="0">
              <a:solidFill>
                <a:srgbClr val="002060"/>
              </a:solidFill>
              <a:latin typeface="Bell MT" panose="02020503060305020303" pitchFamily="18" charset="0"/>
            </a:endParaRPr>
          </a:p>
          <a:p>
            <a:pPr marL="285750" indent="-285750" algn="just">
              <a:buFont typeface="Wingdings" panose="05000000000000000000" pitchFamily="2" charset="2"/>
              <a:buChar char="§"/>
              <a:defRPr/>
            </a:pPr>
            <a:r>
              <a:rPr lang="en-US" dirty="0">
                <a:solidFill>
                  <a:srgbClr val="002060"/>
                </a:solidFill>
                <a:latin typeface="Bell MT" panose="02020503060305020303" pitchFamily="18" charset="0"/>
              </a:rPr>
              <a:t>A </a:t>
            </a:r>
            <a:r>
              <a:rPr lang="en-US" b="1" u="sng" dirty="0">
                <a:solidFill>
                  <a:srgbClr val="002060"/>
                </a:solidFill>
                <a:latin typeface="Bell MT" panose="02020503060305020303" pitchFamily="18" charset="0"/>
              </a:rPr>
              <a:t>reduction</a:t>
            </a:r>
            <a:r>
              <a:rPr lang="en-US" dirty="0">
                <a:solidFill>
                  <a:srgbClr val="002060"/>
                </a:solidFill>
                <a:latin typeface="Bell MT" panose="02020503060305020303" pitchFamily="18" charset="0"/>
              </a:rPr>
              <a:t> in the </a:t>
            </a:r>
            <a:r>
              <a:rPr lang="en-US" b="1" dirty="0">
                <a:solidFill>
                  <a:srgbClr val="002060"/>
                </a:solidFill>
                <a:latin typeface="Bell MT" panose="02020503060305020303" pitchFamily="18" charset="0"/>
              </a:rPr>
              <a:t>channel length results in an increase in </a:t>
            </a:r>
            <a:r>
              <a:rPr lang="el-GR" b="1" dirty="0">
                <a:solidFill>
                  <a:srgbClr val="002060"/>
                </a:solidFill>
                <a:latin typeface="Garamond"/>
              </a:rPr>
              <a:t>ω</a:t>
            </a:r>
            <a:r>
              <a:rPr lang="en-US" b="1" dirty="0">
                <a:solidFill>
                  <a:srgbClr val="002060"/>
                </a:solidFill>
                <a:latin typeface="Garamond"/>
              </a:rPr>
              <a:t>0</a:t>
            </a:r>
            <a:r>
              <a:rPr lang="en-US" b="1" dirty="0">
                <a:solidFill>
                  <a:srgbClr val="002060"/>
                </a:solidFill>
                <a:latin typeface="Bell MT" panose="02020503060305020303" pitchFamily="18" charset="0"/>
              </a:rPr>
              <a:t> owing to the higher </a:t>
            </a:r>
            <a:r>
              <a:rPr lang="en-US" b="1" i="1" dirty="0">
                <a:solidFill>
                  <a:srgbClr val="002060"/>
                </a:solidFill>
                <a:latin typeface="Bell MT" panose="02020503060305020303" pitchFamily="18" charset="0"/>
              </a:rPr>
              <a:t>gm.</a:t>
            </a:r>
          </a:p>
          <a:p>
            <a:pPr marL="285750" indent="-285750" algn="just">
              <a:buFont typeface="Wingdings" panose="05000000000000000000" pitchFamily="2" charset="2"/>
              <a:buChar char="§"/>
              <a:defRPr/>
            </a:pPr>
            <a:endParaRPr lang="en-US" i="1" dirty="0">
              <a:solidFill>
                <a:srgbClr val="002060"/>
              </a:solidFill>
              <a:latin typeface="Bell MT" panose="02020503060305020303" pitchFamily="18" charset="0"/>
            </a:endParaRPr>
          </a:p>
          <a:p>
            <a:pPr marL="285750" indent="-285750" algn="just">
              <a:buFont typeface="Wingdings" panose="05000000000000000000" pitchFamily="2" charset="2"/>
              <a:buChar char="§"/>
              <a:defRPr/>
            </a:pPr>
            <a:r>
              <a:rPr lang="en-US" b="1" dirty="0">
                <a:solidFill>
                  <a:srgbClr val="002060"/>
                </a:solidFill>
                <a:latin typeface="Bell MT" panose="02020503060305020303" pitchFamily="18" charset="0"/>
              </a:rPr>
              <a:t>However, </a:t>
            </a:r>
          </a:p>
          <a:p>
            <a:pPr marL="285750" indent="-285750" algn="just">
              <a:buFont typeface="Wingdings" panose="05000000000000000000" pitchFamily="2" charset="2"/>
              <a:buChar char="§"/>
              <a:defRPr/>
            </a:pPr>
            <a:r>
              <a:rPr lang="en-US" dirty="0">
                <a:solidFill>
                  <a:srgbClr val="002060"/>
                </a:solidFill>
                <a:latin typeface="Bell MT" panose="02020503060305020303" pitchFamily="18" charset="0"/>
              </a:rPr>
              <a:t>The gain of the </a:t>
            </a:r>
            <a:r>
              <a:rPr lang="en-US" b="1" dirty="0">
                <a:solidFill>
                  <a:srgbClr val="002060"/>
                </a:solidFill>
                <a:latin typeface="Bell MT" panose="02020503060305020303" pitchFamily="18" charset="0"/>
              </a:rPr>
              <a:t>MOS device decreases </a:t>
            </a:r>
            <a:r>
              <a:rPr lang="en-US" dirty="0">
                <a:solidFill>
                  <a:srgbClr val="002060"/>
                </a:solidFill>
                <a:latin typeface="Bell MT" panose="02020503060305020303" pitchFamily="18" charset="0"/>
              </a:rPr>
              <a:t>owing to the strong degradation of the </a:t>
            </a:r>
            <a:r>
              <a:rPr lang="en-US" b="1" dirty="0">
                <a:solidFill>
                  <a:srgbClr val="002060"/>
                </a:solidFill>
                <a:latin typeface="Bell MT" panose="02020503060305020303" pitchFamily="18" charset="0"/>
              </a:rPr>
              <a:t>output resistance = 1/gds· </a:t>
            </a:r>
            <a:endParaRPr lang="en-IN" b="1" dirty="0"/>
          </a:p>
        </p:txBody>
      </p:sp>
      <p:pic>
        <p:nvPicPr>
          <p:cNvPr id="92168" name="Picture 8">
            <a:extLst>
              <a:ext uri="{FF2B5EF4-FFF2-40B4-BE49-F238E27FC236}">
                <a16:creationId xmlns:a16="http://schemas.microsoft.com/office/drawing/2014/main" id="{3FB64986-9275-58BE-F3D4-55B0E24CE7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79701" y="4176714"/>
            <a:ext cx="6651625" cy="268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own Arrow 7">
            <a:extLst>
              <a:ext uri="{FF2B5EF4-FFF2-40B4-BE49-F238E27FC236}">
                <a16:creationId xmlns:a16="http://schemas.microsoft.com/office/drawing/2014/main" id="{6F0E14E4-BF54-B9E2-2D19-02F76576DADB}"/>
              </a:ext>
            </a:extLst>
          </p:cNvPr>
          <p:cNvSpPr/>
          <p:nvPr/>
        </p:nvSpPr>
        <p:spPr>
          <a:xfrm>
            <a:off x="5103813" y="1544638"/>
            <a:ext cx="1225550" cy="5778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9" name="Curved Left Arrow 8">
            <a:extLst>
              <a:ext uri="{FF2B5EF4-FFF2-40B4-BE49-F238E27FC236}">
                <a16:creationId xmlns:a16="http://schemas.microsoft.com/office/drawing/2014/main" id="{A87CFD31-7E36-5D13-9E72-D60A2490ECB5}"/>
              </a:ext>
            </a:extLst>
          </p:cNvPr>
          <p:cNvSpPr/>
          <p:nvPr/>
        </p:nvSpPr>
        <p:spPr>
          <a:xfrm>
            <a:off x="9288464" y="3649664"/>
            <a:ext cx="1266825" cy="2846387"/>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schemeClr val="tx1"/>
              </a:solidFill>
            </a:endParaRPr>
          </a:p>
        </p:txBody>
      </p:sp>
      <p:sp>
        <p:nvSpPr>
          <p:cNvPr id="10" name="Curved Right Arrow 9">
            <a:extLst>
              <a:ext uri="{FF2B5EF4-FFF2-40B4-BE49-F238E27FC236}">
                <a16:creationId xmlns:a16="http://schemas.microsoft.com/office/drawing/2014/main" id="{344F00F5-1420-9EF7-4DF6-C2DED6F1037B}"/>
              </a:ext>
            </a:extLst>
          </p:cNvPr>
          <p:cNvSpPr/>
          <p:nvPr/>
        </p:nvSpPr>
        <p:spPr>
          <a:xfrm>
            <a:off x="1576389" y="3640138"/>
            <a:ext cx="1216025" cy="286385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schemeClr val="tx1"/>
              </a:solidFill>
            </a:endParaRPr>
          </a:p>
        </p:txBody>
      </p:sp>
      <p:sp>
        <p:nvSpPr>
          <p:cNvPr id="11" name="Down Arrow 10">
            <a:extLst>
              <a:ext uri="{FF2B5EF4-FFF2-40B4-BE49-F238E27FC236}">
                <a16:creationId xmlns:a16="http://schemas.microsoft.com/office/drawing/2014/main" id="{19351AB0-9686-F468-2865-DB3D2B587354}"/>
              </a:ext>
            </a:extLst>
          </p:cNvPr>
          <p:cNvSpPr/>
          <p:nvPr/>
        </p:nvSpPr>
        <p:spPr>
          <a:xfrm>
            <a:off x="5118100" y="3605213"/>
            <a:ext cx="1225550" cy="4556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B201F5-E588-11A5-F14E-CC81DE19073F}"/>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5" name="Picture 4">
            <a:extLst>
              <a:ext uri="{FF2B5EF4-FFF2-40B4-BE49-F238E27FC236}">
                <a16:creationId xmlns:a16="http://schemas.microsoft.com/office/drawing/2014/main" id="{7B0D784E-5407-FE04-E370-8D2086CF0D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1397" y="127000"/>
            <a:ext cx="1546225"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37BBE2B-DD3A-CE69-CF43-FC047296E619}"/>
              </a:ext>
            </a:extLst>
          </p:cNvPr>
          <p:cNvSpPr txBox="1">
            <a:spLocks noChangeArrowheads="1"/>
          </p:cNvSpPr>
          <p:nvPr/>
        </p:nvSpPr>
        <p:spPr bwMode="auto">
          <a:xfrm>
            <a:off x="3234815" y="123478"/>
            <a:ext cx="43950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2400" b="1" dirty="0">
                <a:latin typeface="Times New Roman" panose="02020603050405020304" pitchFamily="18" charset="0"/>
                <a:cs typeface="Times New Roman" panose="02020603050405020304" pitchFamily="18" charset="0"/>
              </a:rPr>
              <a:t>MOS Transistor Figure of Merit</a:t>
            </a:r>
          </a:p>
        </p:txBody>
      </p:sp>
      <p:sp>
        <p:nvSpPr>
          <p:cNvPr id="7" name="Rectangle 6">
            <a:extLst>
              <a:ext uri="{FF2B5EF4-FFF2-40B4-BE49-F238E27FC236}">
                <a16:creationId xmlns:a16="http://schemas.microsoft.com/office/drawing/2014/main" id="{F797F84A-194C-BB3B-D73D-8DEC6C24C941}"/>
              </a:ext>
            </a:extLst>
          </p:cNvPr>
          <p:cNvSpPr/>
          <p:nvPr/>
        </p:nvSpPr>
        <p:spPr>
          <a:xfrm>
            <a:off x="1524000" y="992188"/>
            <a:ext cx="9144000" cy="368300"/>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n-IN" dirty="0">
                <a:latin typeface="Bell MT" pitchFamily="18" charset="0"/>
              </a:rPr>
              <a:t>An indication of frequency response may be obtained from the parameter </a:t>
            </a:r>
            <a:r>
              <a:rPr lang="el-GR" dirty="0">
                <a:latin typeface="Garamond"/>
              </a:rPr>
              <a:t>ω</a:t>
            </a:r>
            <a:r>
              <a:rPr lang="en-IN" dirty="0">
                <a:latin typeface="Bell MT" pitchFamily="18" charset="0"/>
              </a:rPr>
              <a:t>o where</a:t>
            </a:r>
          </a:p>
        </p:txBody>
      </p:sp>
      <p:pic>
        <p:nvPicPr>
          <p:cNvPr id="91142" name="Picture 6">
            <a:extLst>
              <a:ext uri="{FF2B5EF4-FFF2-40B4-BE49-F238E27FC236}">
                <a16:creationId xmlns:a16="http://schemas.microsoft.com/office/drawing/2014/main" id="{D1CA94B0-1968-7580-7660-6D4F7B7AA71F}"/>
              </a:ext>
            </a:extLst>
          </p:cNvPr>
          <p:cNvPicPr>
            <a:picLocks noChangeAspect="1" noChangeArrowheads="1"/>
          </p:cNvPicPr>
          <p:nvPr/>
        </p:nvPicPr>
        <p:blipFill>
          <a:blip r:embed="rId3"/>
          <a:srcRect/>
          <a:stretch>
            <a:fillRect/>
          </a:stretch>
        </p:blipFill>
        <p:spPr bwMode="auto">
          <a:xfrm>
            <a:off x="2435226" y="1554163"/>
            <a:ext cx="6543675" cy="990600"/>
          </a:xfrm>
          <a:prstGeom prst="rect">
            <a:avLst/>
          </a:prstGeom>
          <a:ln>
            <a:headEnd/>
            <a:tailEnd/>
          </a:ln>
        </p:spPr>
        <p:style>
          <a:lnRef idx="2">
            <a:schemeClr val="accent1"/>
          </a:lnRef>
          <a:fillRef idx="1">
            <a:schemeClr val="lt1"/>
          </a:fillRef>
          <a:effectRef idx="0">
            <a:schemeClr val="accent1"/>
          </a:effectRef>
          <a:fontRef idx="minor">
            <a:schemeClr val="dk1"/>
          </a:fontRef>
        </p:style>
      </p:pic>
      <p:sp>
        <p:nvSpPr>
          <p:cNvPr id="8" name="Rectangle 7">
            <a:extLst>
              <a:ext uri="{FF2B5EF4-FFF2-40B4-BE49-F238E27FC236}">
                <a16:creationId xmlns:a16="http://schemas.microsoft.com/office/drawing/2014/main" id="{CA3F5209-2301-C01B-BE97-CA080680612D}"/>
              </a:ext>
            </a:extLst>
          </p:cNvPr>
          <p:cNvSpPr/>
          <p:nvPr/>
        </p:nvSpPr>
        <p:spPr>
          <a:xfrm>
            <a:off x="2024064" y="3128963"/>
            <a:ext cx="7616825" cy="12001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just">
              <a:buFont typeface="Wingdings" pitchFamily="2" charset="2"/>
              <a:buChar char="§"/>
              <a:defRPr/>
            </a:pPr>
            <a:r>
              <a:rPr lang="en-IN" dirty="0">
                <a:latin typeface="Bell MT" pitchFamily="18" charset="0"/>
              </a:rPr>
              <a:t>This shows that switching speed depends on gate voltage above threshold </a:t>
            </a:r>
          </a:p>
          <a:p>
            <a:pPr algn="just">
              <a:defRPr/>
            </a:pPr>
            <a:r>
              <a:rPr lang="en-IN" dirty="0">
                <a:latin typeface="Bell MT" pitchFamily="18" charset="0"/>
              </a:rPr>
              <a:t>                                                           &amp; </a:t>
            </a:r>
          </a:p>
          <a:p>
            <a:pPr algn="just">
              <a:buFont typeface="Wingdings" pitchFamily="2" charset="2"/>
              <a:buChar char="§"/>
              <a:defRPr/>
            </a:pPr>
            <a:r>
              <a:rPr lang="en-IN" dirty="0">
                <a:latin typeface="Bell MT" pitchFamily="18" charset="0"/>
              </a:rPr>
              <a:t>on carrier mobility and inversely as the square of channel length. </a:t>
            </a:r>
          </a:p>
          <a:p>
            <a:pPr algn="just">
              <a:buFont typeface="Wingdings" pitchFamily="2" charset="2"/>
              <a:buChar char="§"/>
              <a:defRPr/>
            </a:pPr>
            <a:r>
              <a:rPr lang="en-IN" dirty="0">
                <a:latin typeface="Bell MT" pitchFamily="18" charset="0"/>
              </a:rPr>
              <a:t>A fast circuit requires that </a:t>
            </a:r>
            <a:r>
              <a:rPr lang="en-IN" i="1" dirty="0">
                <a:latin typeface="Bell MT" pitchFamily="18" charset="0"/>
              </a:rPr>
              <a:t>gm be as </a:t>
            </a:r>
            <a:r>
              <a:rPr lang="en-IN" dirty="0">
                <a:latin typeface="Bell MT" pitchFamily="18" charset="0"/>
              </a:rPr>
              <a:t>high as possible.</a:t>
            </a:r>
          </a:p>
        </p:txBody>
      </p:sp>
      <p:sp>
        <p:nvSpPr>
          <p:cNvPr id="9" name="Rectangle 8">
            <a:extLst>
              <a:ext uri="{FF2B5EF4-FFF2-40B4-BE49-F238E27FC236}">
                <a16:creationId xmlns:a16="http://schemas.microsoft.com/office/drawing/2014/main" id="{7C35D17D-C5A5-2B1B-9E02-D2CEE7E7ADB2}"/>
              </a:ext>
            </a:extLst>
          </p:cNvPr>
          <p:cNvSpPr/>
          <p:nvPr/>
        </p:nvSpPr>
        <p:spPr>
          <a:xfrm>
            <a:off x="1524000" y="4681538"/>
            <a:ext cx="9144000" cy="2216150"/>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pPr algn="just">
              <a:buFont typeface="Wingdings" pitchFamily="2" charset="2"/>
              <a:buChar char="§"/>
              <a:defRPr/>
            </a:pPr>
            <a:r>
              <a:rPr lang="en-IN" sz="1600" b="1" dirty="0">
                <a:latin typeface="Bell MT" pitchFamily="18" charset="0"/>
              </a:rPr>
              <a:t>Electron mobility on a (100) oriented n-type inversion layer surface (un) is larger than that on  a (111) oriented surface, </a:t>
            </a:r>
          </a:p>
          <a:p>
            <a:pPr algn="just">
              <a:defRPr/>
            </a:pPr>
            <a:r>
              <a:rPr lang="en-US" dirty="0">
                <a:latin typeface="Bell MT" pitchFamily="18" charset="0"/>
              </a:rPr>
              <a:t>								&amp;</a:t>
            </a:r>
            <a:endParaRPr lang="en-IN" dirty="0">
              <a:latin typeface="Bell MT" pitchFamily="18" charset="0"/>
            </a:endParaRPr>
          </a:p>
          <a:p>
            <a:pPr algn="just">
              <a:buFont typeface="Wingdings" pitchFamily="2" charset="2"/>
              <a:buChar char="§"/>
              <a:defRPr/>
            </a:pPr>
            <a:r>
              <a:rPr lang="en-IN" sz="1600" b="1" dirty="0">
                <a:latin typeface="Bell MT" pitchFamily="18" charset="0"/>
              </a:rPr>
              <a:t>is in fact about three times as large as hole mobility on a (111) oriented p-type inversion layer.</a:t>
            </a:r>
          </a:p>
          <a:p>
            <a:pPr algn="just">
              <a:buFont typeface="Wingdings" pitchFamily="2" charset="2"/>
              <a:buChar char="§"/>
              <a:defRPr/>
            </a:pPr>
            <a:endParaRPr lang="en-US" dirty="0">
              <a:latin typeface="Bell MT" pitchFamily="18" charset="0"/>
            </a:endParaRPr>
          </a:p>
          <a:p>
            <a:pPr algn="just">
              <a:buFont typeface="Wingdings" pitchFamily="2" charset="2"/>
              <a:buChar char="§"/>
              <a:defRPr/>
            </a:pPr>
            <a:endParaRPr lang="en-US" dirty="0">
              <a:latin typeface="Bell MT" pitchFamily="18" charset="0"/>
            </a:endParaRPr>
          </a:p>
          <a:p>
            <a:pPr algn="just">
              <a:buFont typeface="Wingdings" pitchFamily="2" charset="2"/>
              <a:buChar char="§"/>
              <a:defRPr/>
            </a:pPr>
            <a:endParaRPr lang="en-IN" dirty="0">
              <a:latin typeface="Bell MT" pitchFamily="18" charset="0"/>
            </a:endParaRPr>
          </a:p>
          <a:p>
            <a:pPr algn="just">
              <a:buFont typeface="Wingdings" pitchFamily="2" charset="2"/>
              <a:buChar char="§"/>
              <a:defRPr/>
            </a:pPr>
            <a:r>
              <a:rPr lang="en-IN" dirty="0">
                <a:latin typeface="Bell MT" pitchFamily="18" charset="0"/>
              </a:rPr>
              <a:t> </a:t>
            </a:r>
            <a:r>
              <a:rPr lang="en-IN" b="1" dirty="0">
                <a:solidFill>
                  <a:srgbClr val="C00000"/>
                </a:solidFill>
                <a:latin typeface="Bell MT" pitchFamily="18" charset="0"/>
              </a:rPr>
              <a:t>Surface mobility is also dependent on the effective gate voltage (</a:t>
            </a:r>
            <a:r>
              <a:rPr lang="en-IN" b="1" dirty="0" err="1">
                <a:solidFill>
                  <a:srgbClr val="C00000"/>
                </a:solidFill>
                <a:latin typeface="Bell MT" pitchFamily="18" charset="0"/>
              </a:rPr>
              <a:t>Vgs</a:t>
            </a:r>
            <a:r>
              <a:rPr lang="en-IN" b="1" dirty="0">
                <a:solidFill>
                  <a:srgbClr val="C00000"/>
                </a:solidFill>
                <a:latin typeface="Bell MT" pitchFamily="18" charset="0"/>
              </a:rPr>
              <a:t> - V1).</a:t>
            </a:r>
          </a:p>
        </p:txBody>
      </p:sp>
      <p:sp>
        <p:nvSpPr>
          <p:cNvPr id="10" name="Down Arrow 9">
            <a:extLst>
              <a:ext uri="{FF2B5EF4-FFF2-40B4-BE49-F238E27FC236}">
                <a16:creationId xmlns:a16="http://schemas.microsoft.com/office/drawing/2014/main" id="{C2E21533-6725-C82A-D1C7-673E4D7EBFF3}"/>
              </a:ext>
            </a:extLst>
          </p:cNvPr>
          <p:cNvSpPr/>
          <p:nvPr/>
        </p:nvSpPr>
        <p:spPr>
          <a:xfrm>
            <a:off x="4646613" y="2579689"/>
            <a:ext cx="1682750" cy="542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1" name="Down Arrow 10">
            <a:extLst>
              <a:ext uri="{FF2B5EF4-FFF2-40B4-BE49-F238E27FC236}">
                <a16:creationId xmlns:a16="http://schemas.microsoft.com/office/drawing/2014/main" id="{0C1579CA-8746-87C9-A502-7A27EFDB7BA6}"/>
              </a:ext>
            </a:extLst>
          </p:cNvPr>
          <p:cNvSpPr/>
          <p:nvPr/>
        </p:nvSpPr>
        <p:spPr>
          <a:xfrm>
            <a:off x="4695825" y="5862638"/>
            <a:ext cx="1682750" cy="5445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C68C02-0099-7835-4DE2-06E9577201DF}"/>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5" name="Picture 4">
            <a:extLst>
              <a:ext uri="{FF2B5EF4-FFF2-40B4-BE49-F238E27FC236}">
                <a16:creationId xmlns:a16="http://schemas.microsoft.com/office/drawing/2014/main" id="{097C7F36-6891-95D1-26F1-E0D7BC2274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3" y="47677"/>
            <a:ext cx="1546225"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12B9126B-20B6-CBE9-B840-1CC4BF52936B}"/>
              </a:ext>
            </a:extLst>
          </p:cNvPr>
          <p:cNvSpPr txBox="1">
            <a:spLocks noChangeArrowheads="1"/>
          </p:cNvSpPr>
          <p:nvPr/>
        </p:nvSpPr>
        <p:spPr bwMode="auto">
          <a:xfrm>
            <a:off x="3451124" y="225189"/>
            <a:ext cx="48669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2400" b="1" dirty="0">
                <a:latin typeface="Times New Roman" panose="02020603050405020304" pitchFamily="18" charset="0"/>
                <a:cs typeface="Times New Roman" panose="02020603050405020304" pitchFamily="18" charset="0"/>
              </a:rPr>
              <a:t>MOS Transistor Figure of Merit</a:t>
            </a:r>
          </a:p>
        </p:txBody>
      </p:sp>
      <p:sp>
        <p:nvSpPr>
          <p:cNvPr id="10" name="Down Arrow 9">
            <a:extLst>
              <a:ext uri="{FF2B5EF4-FFF2-40B4-BE49-F238E27FC236}">
                <a16:creationId xmlns:a16="http://schemas.microsoft.com/office/drawing/2014/main" id="{9800735E-0E62-AA16-D09A-123D07772D90}"/>
              </a:ext>
            </a:extLst>
          </p:cNvPr>
          <p:cNvSpPr/>
          <p:nvPr/>
        </p:nvSpPr>
        <p:spPr>
          <a:xfrm>
            <a:off x="4646613" y="2579689"/>
            <a:ext cx="1682750" cy="542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94216" name="Rectangle 11">
            <a:extLst>
              <a:ext uri="{FF2B5EF4-FFF2-40B4-BE49-F238E27FC236}">
                <a16:creationId xmlns:a16="http://schemas.microsoft.com/office/drawing/2014/main" id="{08B7C08F-2F4A-9C88-D9C5-C463EBB88A2B}"/>
              </a:ext>
            </a:extLst>
          </p:cNvPr>
          <p:cNvSpPr>
            <a:spLocks noChangeArrowheads="1"/>
          </p:cNvSpPr>
          <p:nvPr/>
        </p:nvSpPr>
        <p:spPr bwMode="auto">
          <a:xfrm>
            <a:off x="1774825" y="938214"/>
            <a:ext cx="85661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IN" altLang="en-US" b="1">
                <a:solidFill>
                  <a:srgbClr val="C00000"/>
                </a:solidFill>
                <a:latin typeface="Bell MT" panose="02020503060305020303" pitchFamily="18" charset="0"/>
              </a:rPr>
              <a:t>For faster nMOS circuits</a:t>
            </a:r>
            <a:r>
              <a:rPr lang="en-IN" altLang="en-US">
                <a:latin typeface="Bell MT" panose="02020503060305020303" pitchFamily="18" charset="0"/>
              </a:rPr>
              <a:t>, then, one would choose a (100) oriented p-type substrate in which the inversion layer will have </a:t>
            </a:r>
            <a:r>
              <a:rPr lang="en-IN" altLang="en-US" b="1">
                <a:solidFill>
                  <a:srgbClr val="C00000"/>
                </a:solidFill>
                <a:latin typeface="Bell MT" panose="02020503060305020303" pitchFamily="18" charset="0"/>
              </a:rPr>
              <a:t>a surface carrier mobility</a:t>
            </a:r>
            <a:r>
              <a:rPr lang="en-IN" altLang="en-US">
                <a:latin typeface="Bell MT" panose="02020503060305020303" pitchFamily="18" charset="0"/>
              </a:rPr>
              <a:t>                                 </a:t>
            </a:r>
            <a:r>
              <a:rPr lang="en-IN" altLang="en-US" i="1">
                <a:latin typeface="Bell MT" panose="02020503060305020303" pitchFamily="18" charset="0"/>
              </a:rPr>
              <a:t>sec at </a:t>
            </a:r>
            <a:r>
              <a:rPr lang="en-IN" altLang="en-US" b="1" i="1">
                <a:solidFill>
                  <a:srgbClr val="C00000"/>
                </a:solidFill>
                <a:latin typeface="Bell MT" panose="02020503060305020303" pitchFamily="18" charset="0"/>
              </a:rPr>
              <a:t>room </a:t>
            </a:r>
            <a:r>
              <a:rPr lang="en-IN" altLang="en-US" b="1">
                <a:solidFill>
                  <a:srgbClr val="C00000"/>
                </a:solidFill>
                <a:latin typeface="Bell MT" panose="02020503060305020303" pitchFamily="18" charset="0"/>
              </a:rPr>
              <a:t>temperature.</a:t>
            </a:r>
          </a:p>
        </p:txBody>
      </p:sp>
      <p:pic>
        <p:nvPicPr>
          <p:cNvPr id="94217" name="Picture 2">
            <a:extLst>
              <a:ext uri="{FF2B5EF4-FFF2-40B4-BE49-F238E27FC236}">
                <a16:creationId xmlns:a16="http://schemas.microsoft.com/office/drawing/2014/main" id="{C9890C8B-B521-63F7-0759-784CD528E2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1926" y="1247775"/>
            <a:ext cx="1666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7" name="Picture 3">
            <a:extLst>
              <a:ext uri="{FF2B5EF4-FFF2-40B4-BE49-F238E27FC236}">
                <a16:creationId xmlns:a16="http://schemas.microsoft.com/office/drawing/2014/main" id="{E1C45730-E650-B0C1-D24D-51A6AEEF6532}"/>
              </a:ext>
            </a:extLst>
          </p:cNvPr>
          <p:cNvPicPr>
            <a:picLocks noChangeAspect="1" noChangeArrowheads="1"/>
          </p:cNvPicPr>
          <p:nvPr/>
        </p:nvPicPr>
        <p:blipFill>
          <a:blip r:embed="rId4"/>
          <a:srcRect/>
          <a:stretch>
            <a:fillRect/>
          </a:stretch>
        </p:blipFill>
        <p:spPr bwMode="auto">
          <a:xfrm>
            <a:off x="1565276" y="2549525"/>
            <a:ext cx="9102725" cy="1809750"/>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14" name="Down Arrow 13">
            <a:extLst>
              <a:ext uri="{FF2B5EF4-FFF2-40B4-BE49-F238E27FC236}">
                <a16:creationId xmlns:a16="http://schemas.microsoft.com/office/drawing/2014/main" id="{BD65BD26-EB97-1779-0B73-B1F3C3D02AA5}"/>
              </a:ext>
            </a:extLst>
          </p:cNvPr>
          <p:cNvSpPr/>
          <p:nvPr/>
        </p:nvSpPr>
        <p:spPr>
          <a:xfrm>
            <a:off x="5578475" y="1577975"/>
            <a:ext cx="1035050" cy="863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DC9E4DF-69B5-4ACC-A9E4-E18C8C2BA12F}"/>
              </a:ext>
            </a:extLst>
          </p:cNvPr>
          <p:cNvSpPr/>
          <p:nvPr/>
        </p:nvSpPr>
        <p:spPr>
          <a:xfrm>
            <a:off x="466722" y="586855"/>
            <a:ext cx="3201366" cy="33874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algn="r">
              <a:lnSpc>
                <a:spcPct val="90000"/>
              </a:lnSpc>
              <a:spcBef>
                <a:spcPct val="0"/>
              </a:spcBef>
              <a:spcAft>
                <a:spcPts val="600"/>
              </a:spcAft>
              <a:defRPr/>
            </a:pPr>
            <a:r>
              <a:rPr lang="en-US" sz="4000" b="1" kern="1200">
                <a:solidFill>
                  <a:srgbClr val="FFFFFF"/>
                </a:solidFill>
                <a:latin typeface="+mj-lt"/>
                <a:ea typeface="+mj-ea"/>
                <a:cs typeface="+mj-cs"/>
              </a:rPr>
              <a:t>Technology Scaling Motivation</a:t>
            </a:r>
            <a:endParaRPr lang="en-US" sz="4000" kern="1200">
              <a:solidFill>
                <a:srgbClr val="FFFFFF"/>
              </a:solidFill>
              <a:latin typeface="+mj-lt"/>
              <a:ea typeface="+mj-ea"/>
              <a:cs typeface="+mj-cs"/>
            </a:endParaRPr>
          </a:p>
        </p:txBody>
      </p:sp>
      <p:sp>
        <p:nvSpPr>
          <p:cNvPr id="3" name="Rectangle 2">
            <a:extLst>
              <a:ext uri="{FF2B5EF4-FFF2-40B4-BE49-F238E27FC236}">
                <a16:creationId xmlns:a16="http://schemas.microsoft.com/office/drawing/2014/main" id="{84169D01-E6F7-AE2A-6BA0-111139C77CF7}"/>
              </a:ext>
            </a:extLst>
          </p:cNvPr>
          <p:cNvSpPr/>
          <p:nvPr/>
        </p:nvSpPr>
        <p:spPr>
          <a:xfrm>
            <a:off x="4810259" y="649480"/>
            <a:ext cx="6555347" cy="5546047"/>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defRPr/>
            </a:pPr>
            <a:r>
              <a:rPr lang="en-US" sz="2000" b="1"/>
              <a:t>The demand for battery-operated portable gadgets have increased day by day with tons of applications including hearing aids, cellular phone, laptops etc. </a:t>
            </a:r>
          </a:p>
          <a:p>
            <a:pPr marL="285750" indent="-228600">
              <a:lnSpc>
                <a:spcPct val="90000"/>
              </a:lnSpc>
              <a:spcAft>
                <a:spcPts val="600"/>
              </a:spcAft>
              <a:buFont typeface="Arial" panose="020B0604020202020204" pitchFamily="34" charset="0"/>
              <a:buChar char="•"/>
              <a:defRPr/>
            </a:pPr>
            <a:endParaRPr lang="en-US" sz="2000" b="1"/>
          </a:p>
          <a:p>
            <a:pPr marL="285750" indent="-228600">
              <a:lnSpc>
                <a:spcPct val="90000"/>
              </a:lnSpc>
              <a:spcAft>
                <a:spcPts val="600"/>
              </a:spcAft>
              <a:buFont typeface="Arial" panose="020B0604020202020204" pitchFamily="34" charset="0"/>
              <a:buChar char="•"/>
              <a:defRPr/>
            </a:pPr>
            <a:r>
              <a:rPr lang="en-US" sz="2000" b="1"/>
              <a:t>The “basic requirements” of such an application are less area, lower power consumption and cheaper development. </a:t>
            </a:r>
          </a:p>
          <a:p>
            <a:pPr marL="285750" indent="-228600">
              <a:lnSpc>
                <a:spcPct val="90000"/>
              </a:lnSpc>
              <a:spcAft>
                <a:spcPts val="600"/>
              </a:spcAft>
              <a:buFont typeface="Arial" panose="020B0604020202020204" pitchFamily="34" charset="0"/>
              <a:buChar char="•"/>
              <a:defRPr/>
            </a:pPr>
            <a:endParaRPr lang="en-US" sz="2000" b="1"/>
          </a:p>
          <a:p>
            <a:pPr marL="285750" indent="-228600">
              <a:lnSpc>
                <a:spcPct val="90000"/>
              </a:lnSpc>
              <a:spcAft>
                <a:spcPts val="600"/>
              </a:spcAft>
              <a:buFont typeface="Arial" panose="020B0604020202020204" pitchFamily="34" charset="0"/>
              <a:buChar char="•"/>
              <a:defRPr/>
            </a:pPr>
            <a:r>
              <a:rPr lang="en-US" sz="2000" b="1"/>
              <a:t>For such portable devices, power dissipation is important because the power provided by the battery is rather limited. Unfortunately, battery technologies cannot be expected to improve the battery storage capacity by more than 30% every five years. This is not sufficient to handle the increasing power needed in portable devices.</a:t>
            </a:r>
          </a:p>
        </p:txBody>
      </p:sp>
      <p:pic>
        <p:nvPicPr>
          <p:cNvPr id="4" name="Picture 3">
            <a:extLst>
              <a:ext uri="{FF2B5EF4-FFF2-40B4-BE49-F238E27FC236}">
                <a16:creationId xmlns:a16="http://schemas.microsoft.com/office/drawing/2014/main" id="{D63264B5-7043-BFCA-88C2-16D2663475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3" y="47677"/>
            <a:ext cx="1546225"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8D12E5D-0547-0782-CA66-7F74EB9639EB}"/>
              </a:ext>
            </a:extLst>
          </p:cNvPr>
          <p:cNvSpPr/>
          <p:nvPr/>
        </p:nvSpPr>
        <p:spPr>
          <a:xfrm>
            <a:off x="466722" y="586855"/>
            <a:ext cx="3201366" cy="33874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algn="r">
              <a:lnSpc>
                <a:spcPct val="90000"/>
              </a:lnSpc>
              <a:spcBef>
                <a:spcPct val="0"/>
              </a:spcBef>
              <a:spcAft>
                <a:spcPts val="600"/>
              </a:spcAft>
              <a:defRPr/>
            </a:pPr>
            <a:r>
              <a:rPr lang="en-US" sz="4000" b="1" kern="1200">
                <a:solidFill>
                  <a:srgbClr val="FFFFFF"/>
                </a:solidFill>
                <a:latin typeface="+mj-lt"/>
                <a:ea typeface="+mj-ea"/>
                <a:cs typeface="+mj-cs"/>
              </a:rPr>
              <a:t>Scaling and Technology Node</a:t>
            </a:r>
            <a:endParaRPr lang="en-US" sz="4000" kern="1200">
              <a:solidFill>
                <a:srgbClr val="FFFFFF"/>
              </a:solidFill>
              <a:latin typeface="+mj-lt"/>
              <a:ea typeface="+mj-ea"/>
              <a:cs typeface="+mj-cs"/>
            </a:endParaRPr>
          </a:p>
        </p:txBody>
      </p:sp>
      <p:sp>
        <p:nvSpPr>
          <p:cNvPr id="2" name="Rectangle 1">
            <a:extLst>
              <a:ext uri="{FF2B5EF4-FFF2-40B4-BE49-F238E27FC236}">
                <a16:creationId xmlns:a16="http://schemas.microsoft.com/office/drawing/2014/main" id="{2AAD0199-CE1F-B983-4FAF-1A5FA7FF16F3}"/>
              </a:ext>
            </a:extLst>
          </p:cNvPr>
          <p:cNvSpPr/>
          <p:nvPr/>
        </p:nvSpPr>
        <p:spPr>
          <a:xfrm>
            <a:off x="4810259" y="649480"/>
            <a:ext cx="6555347" cy="5546047"/>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defRPr/>
            </a:pPr>
            <a:r>
              <a:rPr lang="en-US" sz="1600" b="1"/>
              <a:t>By making transistors smaller, more circuits can be fabricated on the silicon wafer and therefore, the circuit becomes cheaper. </a:t>
            </a:r>
          </a:p>
          <a:p>
            <a:pPr marL="285750" indent="-228600">
              <a:lnSpc>
                <a:spcPct val="90000"/>
              </a:lnSpc>
              <a:spcAft>
                <a:spcPts val="600"/>
              </a:spcAft>
              <a:buFont typeface="Arial" panose="020B0604020202020204" pitchFamily="34" charset="0"/>
              <a:buChar char="•"/>
              <a:defRPr/>
            </a:pPr>
            <a:endParaRPr lang="en-US" sz="1600" b="1"/>
          </a:p>
          <a:p>
            <a:pPr marL="285750" indent="-228600">
              <a:lnSpc>
                <a:spcPct val="90000"/>
              </a:lnSpc>
              <a:spcAft>
                <a:spcPts val="600"/>
              </a:spcAft>
              <a:buFont typeface="Arial" panose="020B0604020202020204" pitchFamily="34" charset="0"/>
              <a:buChar char="•"/>
              <a:defRPr/>
            </a:pPr>
            <a:r>
              <a:rPr lang="en-US" sz="1600" b="1"/>
              <a:t>The reduction in channel length enables faster switching operations since less time is needed for the current to flow from drain to source. </a:t>
            </a:r>
          </a:p>
          <a:p>
            <a:pPr marL="285750" indent="-228600">
              <a:lnSpc>
                <a:spcPct val="90000"/>
              </a:lnSpc>
              <a:spcAft>
                <a:spcPts val="600"/>
              </a:spcAft>
              <a:buFont typeface="Arial" panose="020B0604020202020204" pitchFamily="34" charset="0"/>
              <a:buChar char="•"/>
              <a:defRPr/>
            </a:pPr>
            <a:endParaRPr lang="en-US" sz="1600" b="1"/>
          </a:p>
          <a:p>
            <a:pPr marL="285750" indent="-228600">
              <a:lnSpc>
                <a:spcPct val="90000"/>
              </a:lnSpc>
              <a:spcAft>
                <a:spcPts val="600"/>
              </a:spcAft>
              <a:buFont typeface="Arial" panose="020B0604020202020204" pitchFamily="34" charset="0"/>
              <a:buChar char="•"/>
              <a:defRPr/>
            </a:pPr>
            <a:r>
              <a:rPr lang="en-US" sz="1600" b="1"/>
              <a:t>In other words, a smaller transistor leads to smaller capacitance. This causes a reduction in transistor delay. </a:t>
            </a:r>
          </a:p>
          <a:p>
            <a:pPr marL="285750" indent="-228600">
              <a:lnSpc>
                <a:spcPct val="90000"/>
              </a:lnSpc>
              <a:spcAft>
                <a:spcPts val="600"/>
              </a:spcAft>
              <a:buFont typeface="Arial" panose="020B0604020202020204" pitchFamily="34" charset="0"/>
              <a:buChar char="•"/>
              <a:defRPr/>
            </a:pPr>
            <a:endParaRPr lang="en-US" sz="1600" b="1"/>
          </a:p>
          <a:p>
            <a:pPr marL="285750" indent="-228600">
              <a:lnSpc>
                <a:spcPct val="90000"/>
              </a:lnSpc>
              <a:spcAft>
                <a:spcPts val="600"/>
              </a:spcAft>
              <a:buFont typeface="Arial" panose="020B0604020202020204" pitchFamily="34" charset="0"/>
              <a:buChar char="•"/>
              <a:defRPr/>
            </a:pPr>
            <a:r>
              <a:rPr lang="en-US" sz="1600" b="1"/>
              <a:t>As dynamic power is proportional to capacitance, the power consumption also reduces. This reduction of transistor size is called scaling. </a:t>
            </a:r>
          </a:p>
          <a:p>
            <a:pPr marL="285750" indent="-228600">
              <a:lnSpc>
                <a:spcPct val="90000"/>
              </a:lnSpc>
              <a:spcAft>
                <a:spcPts val="600"/>
              </a:spcAft>
              <a:buFont typeface="Arial" panose="020B0604020202020204" pitchFamily="34" charset="0"/>
              <a:buChar char="•"/>
              <a:defRPr/>
            </a:pPr>
            <a:endParaRPr lang="en-US" sz="1600" b="1"/>
          </a:p>
          <a:p>
            <a:pPr marL="285750" indent="-228600">
              <a:lnSpc>
                <a:spcPct val="90000"/>
              </a:lnSpc>
              <a:spcAft>
                <a:spcPts val="600"/>
              </a:spcAft>
              <a:buFont typeface="Arial" panose="020B0604020202020204" pitchFamily="34" charset="0"/>
              <a:buChar char="•"/>
              <a:defRPr/>
            </a:pPr>
            <a:r>
              <a:rPr lang="en-US" sz="1600" b="1"/>
              <a:t>Each time a transistor is scaled, we say a new technology node has been introduced. The minimum channel length of transistor is called the technology node. For example, 0.18 micrometer, 0.13 micrometer, 90 nanometer etc. </a:t>
            </a:r>
          </a:p>
          <a:p>
            <a:pPr marL="285750" indent="-228600">
              <a:lnSpc>
                <a:spcPct val="90000"/>
              </a:lnSpc>
              <a:spcAft>
                <a:spcPts val="600"/>
              </a:spcAft>
              <a:buFont typeface="Arial" panose="020B0604020202020204" pitchFamily="34" charset="0"/>
              <a:buChar char="•"/>
              <a:defRPr/>
            </a:pPr>
            <a:endParaRPr lang="en-US" sz="1600" b="1"/>
          </a:p>
          <a:p>
            <a:pPr marL="285750" indent="-228600">
              <a:lnSpc>
                <a:spcPct val="90000"/>
              </a:lnSpc>
              <a:spcAft>
                <a:spcPts val="600"/>
              </a:spcAft>
              <a:buFont typeface="Arial" panose="020B0604020202020204" pitchFamily="34" charset="0"/>
              <a:buChar char="•"/>
              <a:defRPr/>
            </a:pPr>
            <a:r>
              <a:rPr lang="en-US" sz="1600" b="1"/>
              <a:t>The scaling improves cost, performance and power consumption with every new generation of technology.</a:t>
            </a:r>
          </a:p>
        </p:txBody>
      </p:sp>
      <p:pic>
        <p:nvPicPr>
          <p:cNvPr id="4" name="Picture 3">
            <a:extLst>
              <a:ext uri="{FF2B5EF4-FFF2-40B4-BE49-F238E27FC236}">
                <a16:creationId xmlns:a16="http://schemas.microsoft.com/office/drawing/2014/main" id="{90DBECDB-7D76-8678-1DF4-BEB517C744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3" y="47677"/>
            <a:ext cx="1546225"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7288" name="Rectangle 9728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7290" name="Rectangle 9728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92" name="Rectangle 9729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94" name="Rectangle 9729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96" name="Rectangle 9729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298" name="Freeform: Shape 9729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7300" name="Rectangle 9729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49A067A-9CB9-F687-420E-4ADC6B37646E}"/>
              </a:ext>
            </a:extLst>
          </p:cNvPr>
          <p:cNvSpPr/>
          <p:nvPr/>
        </p:nvSpPr>
        <p:spPr>
          <a:xfrm>
            <a:off x="466722" y="586855"/>
            <a:ext cx="3201366" cy="33874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a:lnSpc>
                <a:spcPct val="90000"/>
              </a:lnSpc>
              <a:spcBef>
                <a:spcPct val="0"/>
              </a:spcBef>
              <a:spcAft>
                <a:spcPts val="600"/>
              </a:spcAft>
              <a:defRPr/>
            </a:pPr>
            <a:r>
              <a:rPr lang="en-US" sz="4000" b="1" kern="1200" dirty="0">
                <a:solidFill>
                  <a:srgbClr val="FFFFFF"/>
                </a:solidFill>
                <a:latin typeface="Times New Roman" panose="02020603050405020304" pitchFamily="18" charset="0"/>
                <a:ea typeface="+mj-ea"/>
                <a:cs typeface="Times New Roman" panose="02020603050405020304" pitchFamily="18" charset="0"/>
              </a:rPr>
              <a:t>Effects of Scaling/Small Dimension </a:t>
            </a:r>
            <a:endParaRPr lang="en-US" sz="4000"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97283" name="Rectangle 2">
            <a:extLst>
              <a:ext uri="{FF2B5EF4-FFF2-40B4-BE49-F238E27FC236}">
                <a16:creationId xmlns:a16="http://schemas.microsoft.com/office/drawing/2014/main" id="{FF6F11EB-A921-88FB-B346-74E8CCC0DF48}"/>
              </a:ext>
            </a:extLst>
          </p:cNvPr>
          <p:cNvSpPr>
            <a:spLocks noChangeArrowheads="1"/>
          </p:cNvSpPr>
          <p:nvPr/>
        </p:nvSpPr>
        <p:spPr bwMode="auto">
          <a:xfrm>
            <a:off x="4810259" y="649480"/>
            <a:ext cx="6555347" cy="5546047"/>
          </a:xfrm>
          <a:prstGeom prst="rect">
            <a:avLst/>
          </a:prstGeom>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indent="-228600" algn="just" eaLnBrk="1" hangingPunct="1">
              <a:lnSpc>
                <a:spcPct val="90000"/>
              </a:lnSpc>
              <a:spcAft>
                <a:spcPts val="60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For long channel devices, “edge effects” along the four sides of the channel are negligible. For long channel devices, the electric field lines are everywhere perpendicular to the surface of the channel. These electric fields are controlled by gate voltage and back gate voltage. </a:t>
            </a:r>
          </a:p>
          <a:p>
            <a:pPr indent="-228600" algn="just" eaLnBrk="1" hangingPunct="1">
              <a:lnSpc>
                <a:spcPct val="90000"/>
              </a:lnSpc>
              <a:spcAft>
                <a:spcPts val="60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But, for short channel devices, the drain and source structure are closer to the channel, especially when the longitudinal electric field in the channel comes into picture. </a:t>
            </a:r>
          </a:p>
          <a:p>
            <a:pPr indent="-228600" algn="just" eaLnBrk="1" hangingPunct="1">
              <a:lnSpc>
                <a:spcPct val="90000"/>
              </a:lnSpc>
              <a:spcAft>
                <a:spcPts val="60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The longitudinal electric field is controlled by drain-source voltage. The longitudinal electric field is parallel to the current flow direction. The device is called short channel device if channel length is not much larger than the sum of source and drain depletion widths.</a:t>
            </a:r>
          </a:p>
          <a:p>
            <a:pPr indent="-228600" algn="just" eaLnBrk="1" hangingPunct="1">
              <a:lnSpc>
                <a:spcPct val="90000"/>
              </a:lnSpc>
              <a:spcAft>
                <a:spcPts val="600"/>
              </a:spcAft>
              <a:buFont typeface="Arial" panose="020B0604020202020204" pitchFamily="34" charset="0"/>
              <a:buChar char="•"/>
            </a:pPr>
            <a:endParaRPr lang="en-US" altLang="en-US"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A82D0A8-0F70-2C58-2402-7A2A411556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3" y="82918"/>
            <a:ext cx="1477675" cy="858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4">
            <a:extLst>
              <a:ext uri="{FF2B5EF4-FFF2-40B4-BE49-F238E27FC236}">
                <a16:creationId xmlns:a16="http://schemas.microsoft.com/office/drawing/2014/main" id="{7C84BEF7-11A0-7752-B941-8CABA923D378}"/>
              </a:ext>
            </a:extLst>
          </p:cNvPr>
          <p:cNvGrpSpPr>
            <a:grpSpLocks/>
          </p:cNvGrpSpPr>
          <p:nvPr/>
        </p:nvGrpSpPr>
        <p:grpSpPr bwMode="auto">
          <a:xfrm>
            <a:off x="7010400" y="1066801"/>
            <a:ext cx="3513138" cy="2378075"/>
            <a:chOff x="2352" y="2358"/>
            <a:chExt cx="2213" cy="1498"/>
          </a:xfrm>
        </p:grpSpPr>
        <p:grpSp>
          <p:nvGrpSpPr>
            <p:cNvPr id="98318" name="Group 5">
              <a:extLst>
                <a:ext uri="{FF2B5EF4-FFF2-40B4-BE49-F238E27FC236}">
                  <a16:creationId xmlns:a16="http://schemas.microsoft.com/office/drawing/2014/main" id="{8DD67015-4700-54A0-4E2C-12666E7D5F15}"/>
                </a:ext>
              </a:extLst>
            </p:cNvPr>
            <p:cNvGrpSpPr>
              <a:grpSpLocks/>
            </p:cNvGrpSpPr>
            <p:nvPr/>
          </p:nvGrpSpPr>
          <p:grpSpPr bwMode="auto">
            <a:xfrm>
              <a:off x="2352" y="2592"/>
              <a:ext cx="2213" cy="1264"/>
              <a:chOff x="1920" y="2682"/>
              <a:chExt cx="2213" cy="1264"/>
            </a:xfrm>
          </p:grpSpPr>
          <p:sp>
            <p:nvSpPr>
              <p:cNvPr id="98337" name="Rectangle 6">
                <a:extLst>
                  <a:ext uri="{FF2B5EF4-FFF2-40B4-BE49-F238E27FC236}">
                    <a16:creationId xmlns:a16="http://schemas.microsoft.com/office/drawing/2014/main" id="{B1AA555B-EDFF-55F5-675A-3299E767CF9D}"/>
                  </a:ext>
                </a:extLst>
              </p:cNvPr>
              <p:cNvSpPr>
                <a:spLocks noChangeArrowheads="1"/>
              </p:cNvSpPr>
              <p:nvPr/>
            </p:nvSpPr>
            <p:spPr bwMode="auto">
              <a:xfrm>
                <a:off x="1920" y="3360"/>
                <a:ext cx="1981" cy="576"/>
              </a:xfrm>
              <a:prstGeom prst="rect">
                <a:avLst/>
              </a:prstGeom>
              <a:solidFill>
                <a:srgbClr val="FFCC00"/>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FFCC00"/>
                </a:extrusionClr>
                <a:contourClr>
                  <a:srgbClr val="FFCC00"/>
                </a:contourClr>
              </a:sp3d>
            </p:spPr>
            <p:txBody>
              <a:bodyPr wrap="none" anchor="ct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38" name="Rectangle 7">
                <a:extLst>
                  <a:ext uri="{FF2B5EF4-FFF2-40B4-BE49-F238E27FC236}">
                    <a16:creationId xmlns:a16="http://schemas.microsoft.com/office/drawing/2014/main" id="{62724B0A-00C2-CA5F-C9BD-32C5BF6FFC7D}"/>
                  </a:ext>
                </a:extLst>
              </p:cNvPr>
              <p:cNvSpPr>
                <a:spLocks noChangeArrowheads="1"/>
              </p:cNvSpPr>
              <p:nvPr/>
            </p:nvSpPr>
            <p:spPr bwMode="auto">
              <a:xfrm>
                <a:off x="1924" y="3189"/>
                <a:ext cx="252" cy="189"/>
              </a:xfrm>
              <a:prstGeom prst="rect">
                <a:avLst/>
              </a:prstGeom>
              <a:solidFill>
                <a:srgbClr val="FFB03D"/>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FFB03D"/>
                </a:extrusionClr>
                <a:contourClr>
                  <a:srgbClr val="FFB03D"/>
                </a:contourClr>
              </a:sp3d>
            </p:spPr>
            <p:txBody>
              <a:bodyPr wrap="none" anchor="ct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39" name="Rectangle 8">
                <a:extLst>
                  <a:ext uri="{FF2B5EF4-FFF2-40B4-BE49-F238E27FC236}">
                    <a16:creationId xmlns:a16="http://schemas.microsoft.com/office/drawing/2014/main" id="{C567F75A-A0CF-B854-21CB-9FAE18BDC225}"/>
                  </a:ext>
                </a:extLst>
              </p:cNvPr>
              <p:cNvSpPr>
                <a:spLocks noChangeArrowheads="1"/>
              </p:cNvSpPr>
              <p:nvPr/>
            </p:nvSpPr>
            <p:spPr bwMode="auto">
              <a:xfrm>
                <a:off x="2176" y="3312"/>
                <a:ext cx="1471" cy="48"/>
              </a:xfrm>
              <a:prstGeom prst="rect">
                <a:avLst/>
              </a:prstGeom>
              <a:solidFill>
                <a:srgbClr val="C0C0C0"/>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C0C0C0"/>
                </a:extrusionClr>
                <a:contourClr>
                  <a:srgbClr val="C0C0C0"/>
                </a:contourClr>
              </a:sp3d>
            </p:spPr>
            <p:txBody>
              <a:bodyPr wrap="none" anchor="ct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40" name="Rectangle 9">
                <a:extLst>
                  <a:ext uri="{FF2B5EF4-FFF2-40B4-BE49-F238E27FC236}">
                    <a16:creationId xmlns:a16="http://schemas.microsoft.com/office/drawing/2014/main" id="{2144B202-07C8-EAAC-01C4-CD48BF2FEE65}"/>
                  </a:ext>
                </a:extLst>
              </p:cNvPr>
              <p:cNvSpPr>
                <a:spLocks noChangeArrowheads="1"/>
              </p:cNvSpPr>
              <p:nvPr/>
            </p:nvSpPr>
            <p:spPr bwMode="auto">
              <a:xfrm>
                <a:off x="3644" y="3195"/>
                <a:ext cx="261" cy="190"/>
              </a:xfrm>
              <a:prstGeom prst="rect">
                <a:avLst/>
              </a:prstGeom>
              <a:solidFill>
                <a:srgbClr val="FFB03D"/>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FFB03D"/>
                </a:extrusionClr>
                <a:contourClr>
                  <a:srgbClr val="FFB03D"/>
                </a:contourClr>
              </a:sp3d>
            </p:spPr>
            <p:txBody>
              <a:bodyPr wrap="none" anchor="ct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pSp>
            <p:nvGrpSpPr>
              <p:cNvPr id="98341" name="Group 10">
                <a:extLst>
                  <a:ext uri="{FF2B5EF4-FFF2-40B4-BE49-F238E27FC236}">
                    <a16:creationId xmlns:a16="http://schemas.microsoft.com/office/drawing/2014/main" id="{F04ECB8A-FEB7-9E0D-B8A9-60F9189E8E1E}"/>
                  </a:ext>
                </a:extLst>
              </p:cNvPr>
              <p:cNvGrpSpPr>
                <a:grpSpLocks/>
              </p:cNvGrpSpPr>
              <p:nvPr/>
            </p:nvGrpSpPr>
            <p:grpSpPr bwMode="auto">
              <a:xfrm>
                <a:off x="3072" y="3360"/>
                <a:ext cx="833" cy="240"/>
                <a:chOff x="3072" y="3360"/>
                <a:chExt cx="833" cy="240"/>
              </a:xfrm>
            </p:grpSpPr>
            <p:sp>
              <p:nvSpPr>
                <p:cNvPr id="98356" name="Rectangle 11">
                  <a:extLst>
                    <a:ext uri="{FF2B5EF4-FFF2-40B4-BE49-F238E27FC236}">
                      <a16:creationId xmlns:a16="http://schemas.microsoft.com/office/drawing/2014/main" id="{E7AF6AE3-4286-E3B3-6061-32E4FFB5CD71}"/>
                    </a:ext>
                  </a:extLst>
                </p:cNvPr>
                <p:cNvSpPr>
                  <a:spLocks noChangeArrowheads="1"/>
                </p:cNvSpPr>
                <p:nvPr/>
              </p:nvSpPr>
              <p:spPr bwMode="auto">
                <a:xfrm flipH="1">
                  <a:off x="3360" y="3360"/>
                  <a:ext cx="545" cy="24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57" name="AutoShape 12">
                  <a:extLst>
                    <a:ext uri="{FF2B5EF4-FFF2-40B4-BE49-F238E27FC236}">
                      <a16:creationId xmlns:a16="http://schemas.microsoft.com/office/drawing/2014/main" id="{5A6ACBF8-74BC-DF46-4CA2-FE96228C3F58}"/>
                    </a:ext>
                  </a:extLst>
                </p:cNvPr>
                <p:cNvSpPr>
                  <a:spLocks noChangeArrowheads="1"/>
                </p:cNvSpPr>
                <p:nvPr/>
              </p:nvSpPr>
              <p:spPr bwMode="auto">
                <a:xfrm rot="16200000" flipH="1">
                  <a:off x="3276" y="3300"/>
                  <a:ext cx="240" cy="360"/>
                </a:xfrm>
                <a:prstGeom prst="flowChartDelay">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58" name="AutoShape 13">
                  <a:extLst>
                    <a:ext uri="{FF2B5EF4-FFF2-40B4-BE49-F238E27FC236}">
                      <a16:creationId xmlns:a16="http://schemas.microsoft.com/office/drawing/2014/main" id="{95129D58-A063-A226-5BB8-7AD2C3B7B5D3}"/>
                    </a:ext>
                  </a:extLst>
                </p:cNvPr>
                <p:cNvSpPr>
                  <a:spLocks noChangeArrowheads="1"/>
                </p:cNvSpPr>
                <p:nvPr/>
              </p:nvSpPr>
              <p:spPr bwMode="auto">
                <a:xfrm rot="16200000" flipH="1">
                  <a:off x="3150" y="3282"/>
                  <a:ext cx="125" cy="281"/>
                </a:xfrm>
                <a:prstGeom prst="flowChartDelay">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pSp>
          <p:sp>
            <p:nvSpPr>
              <p:cNvPr id="98342" name="Freeform 14">
                <a:extLst>
                  <a:ext uri="{FF2B5EF4-FFF2-40B4-BE49-F238E27FC236}">
                    <a16:creationId xmlns:a16="http://schemas.microsoft.com/office/drawing/2014/main" id="{739EF924-6EA1-C6A4-78F7-C91502E40ABC}"/>
                  </a:ext>
                </a:extLst>
              </p:cNvPr>
              <p:cNvSpPr>
                <a:spLocks/>
              </p:cNvSpPr>
              <p:nvPr/>
            </p:nvSpPr>
            <p:spPr bwMode="auto">
              <a:xfrm>
                <a:off x="3899" y="3144"/>
                <a:ext cx="234" cy="456"/>
              </a:xfrm>
              <a:custGeom>
                <a:avLst/>
                <a:gdLst>
                  <a:gd name="T0" fmla="*/ 0 w 226"/>
                  <a:gd name="T1" fmla="*/ 102 h 504"/>
                  <a:gd name="T2" fmla="*/ 0 w 226"/>
                  <a:gd name="T3" fmla="*/ 227 h 504"/>
                  <a:gd name="T4" fmla="*/ 299 w 226"/>
                  <a:gd name="T5" fmla="*/ 125 h 504"/>
                  <a:gd name="T6" fmla="*/ 299 w 226"/>
                  <a:gd name="T7" fmla="*/ 0 h 504"/>
                  <a:gd name="T8" fmla="*/ 0 w 226"/>
                  <a:gd name="T9" fmla="*/ 102 h 504"/>
                  <a:gd name="T10" fmla="*/ 0 60000 65536"/>
                  <a:gd name="T11" fmla="*/ 0 60000 65536"/>
                  <a:gd name="T12" fmla="*/ 0 60000 65536"/>
                  <a:gd name="T13" fmla="*/ 0 60000 65536"/>
                  <a:gd name="T14" fmla="*/ 0 60000 65536"/>
                  <a:gd name="T15" fmla="*/ 0 w 226"/>
                  <a:gd name="T16" fmla="*/ 0 h 504"/>
                  <a:gd name="T17" fmla="*/ 226 w 226"/>
                  <a:gd name="T18" fmla="*/ 504 h 504"/>
                </a:gdLst>
                <a:ahLst/>
                <a:cxnLst>
                  <a:cxn ang="T10">
                    <a:pos x="T0" y="T1"/>
                  </a:cxn>
                  <a:cxn ang="T11">
                    <a:pos x="T2" y="T3"/>
                  </a:cxn>
                  <a:cxn ang="T12">
                    <a:pos x="T4" y="T5"/>
                  </a:cxn>
                  <a:cxn ang="T13">
                    <a:pos x="T6" y="T7"/>
                  </a:cxn>
                  <a:cxn ang="T14">
                    <a:pos x="T8" y="T9"/>
                  </a:cxn>
                </a:cxnLst>
                <a:rect l="T15" t="T16" r="T17" b="T18"/>
                <a:pathLst>
                  <a:path w="226" h="504">
                    <a:moveTo>
                      <a:pt x="0" y="228"/>
                    </a:moveTo>
                    <a:lnTo>
                      <a:pt x="0" y="504"/>
                    </a:lnTo>
                    <a:lnTo>
                      <a:pt x="226" y="278"/>
                    </a:lnTo>
                    <a:lnTo>
                      <a:pt x="226" y="0"/>
                    </a:lnTo>
                    <a:lnTo>
                      <a:pt x="0" y="228"/>
                    </a:lnTo>
                    <a:close/>
                  </a:path>
                </a:pathLst>
              </a:cu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43" name="Text Box 15">
                <a:extLst>
                  <a:ext uri="{FF2B5EF4-FFF2-40B4-BE49-F238E27FC236}">
                    <a16:creationId xmlns:a16="http://schemas.microsoft.com/office/drawing/2014/main" id="{0ADA3EE5-F221-9126-7871-5032E1697BC4}"/>
                  </a:ext>
                </a:extLst>
              </p:cNvPr>
              <p:cNvSpPr txBox="1">
                <a:spLocks noChangeArrowheads="1"/>
              </p:cNvSpPr>
              <p:nvPr/>
            </p:nvSpPr>
            <p:spPr bwMode="auto">
              <a:xfrm>
                <a:off x="1920" y="3696"/>
                <a:ext cx="8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TW" sz="2000">
                    <a:solidFill>
                      <a:schemeClr val="bg1"/>
                    </a:solidFill>
                  </a:rPr>
                  <a:t>Substrate</a:t>
                </a:r>
              </a:p>
            </p:txBody>
          </p:sp>
          <p:grpSp>
            <p:nvGrpSpPr>
              <p:cNvPr id="98344" name="Group 16">
                <a:extLst>
                  <a:ext uri="{FF2B5EF4-FFF2-40B4-BE49-F238E27FC236}">
                    <a16:creationId xmlns:a16="http://schemas.microsoft.com/office/drawing/2014/main" id="{C2471CDD-F42C-AD14-4E11-AF9AE5D7E470}"/>
                  </a:ext>
                </a:extLst>
              </p:cNvPr>
              <p:cNvGrpSpPr>
                <a:grpSpLocks/>
              </p:cNvGrpSpPr>
              <p:nvPr/>
            </p:nvGrpSpPr>
            <p:grpSpPr bwMode="auto">
              <a:xfrm flipH="1">
                <a:off x="1920" y="3360"/>
                <a:ext cx="833" cy="240"/>
                <a:chOff x="3072" y="3360"/>
                <a:chExt cx="833" cy="240"/>
              </a:xfrm>
            </p:grpSpPr>
            <p:sp>
              <p:nvSpPr>
                <p:cNvPr id="98353" name="Rectangle 17">
                  <a:extLst>
                    <a:ext uri="{FF2B5EF4-FFF2-40B4-BE49-F238E27FC236}">
                      <a16:creationId xmlns:a16="http://schemas.microsoft.com/office/drawing/2014/main" id="{9B366264-F8AB-A6A2-32A8-933F6D7C1654}"/>
                    </a:ext>
                  </a:extLst>
                </p:cNvPr>
                <p:cNvSpPr>
                  <a:spLocks noChangeArrowheads="1"/>
                </p:cNvSpPr>
                <p:nvPr/>
              </p:nvSpPr>
              <p:spPr bwMode="auto">
                <a:xfrm flipH="1">
                  <a:off x="3360" y="3360"/>
                  <a:ext cx="545" cy="24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54" name="AutoShape 18">
                  <a:extLst>
                    <a:ext uri="{FF2B5EF4-FFF2-40B4-BE49-F238E27FC236}">
                      <a16:creationId xmlns:a16="http://schemas.microsoft.com/office/drawing/2014/main" id="{31410C92-824A-2ABE-84A7-133FD800BB06}"/>
                    </a:ext>
                  </a:extLst>
                </p:cNvPr>
                <p:cNvSpPr>
                  <a:spLocks noChangeArrowheads="1"/>
                </p:cNvSpPr>
                <p:nvPr/>
              </p:nvSpPr>
              <p:spPr bwMode="auto">
                <a:xfrm rot="16200000" flipH="1">
                  <a:off x="3276" y="3300"/>
                  <a:ext cx="240" cy="360"/>
                </a:xfrm>
                <a:prstGeom prst="flowChartDelay">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55" name="AutoShape 19">
                  <a:extLst>
                    <a:ext uri="{FF2B5EF4-FFF2-40B4-BE49-F238E27FC236}">
                      <a16:creationId xmlns:a16="http://schemas.microsoft.com/office/drawing/2014/main" id="{6C710B20-F5A5-D2D3-7BB1-97E9D4F09823}"/>
                    </a:ext>
                  </a:extLst>
                </p:cNvPr>
                <p:cNvSpPr>
                  <a:spLocks noChangeArrowheads="1"/>
                </p:cNvSpPr>
                <p:nvPr/>
              </p:nvSpPr>
              <p:spPr bwMode="auto">
                <a:xfrm rot="16200000" flipH="1">
                  <a:off x="3150" y="3282"/>
                  <a:ext cx="125" cy="281"/>
                </a:xfrm>
                <a:prstGeom prst="flowChartDelay">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pSp>
          <p:sp>
            <p:nvSpPr>
              <p:cNvPr id="98345" name="Freeform 20">
                <a:extLst>
                  <a:ext uri="{FF2B5EF4-FFF2-40B4-BE49-F238E27FC236}">
                    <a16:creationId xmlns:a16="http://schemas.microsoft.com/office/drawing/2014/main" id="{A95B295E-6801-716F-FAFB-6CC373D6F9F9}"/>
                  </a:ext>
                </a:extLst>
              </p:cNvPr>
              <p:cNvSpPr>
                <a:spLocks/>
              </p:cNvSpPr>
              <p:nvPr/>
            </p:nvSpPr>
            <p:spPr bwMode="auto">
              <a:xfrm>
                <a:off x="2499" y="2914"/>
                <a:ext cx="171" cy="388"/>
              </a:xfrm>
              <a:custGeom>
                <a:avLst/>
                <a:gdLst>
                  <a:gd name="T0" fmla="*/ 0 w 240"/>
                  <a:gd name="T1" fmla="*/ 417 h 344"/>
                  <a:gd name="T2" fmla="*/ 0 w 240"/>
                  <a:gd name="T3" fmla="*/ 901 h 344"/>
                  <a:gd name="T4" fmla="*/ 16 w 240"/>
                  <a:gd name="T5" fmla="*/ 901 h 344"/>
                  <a:gd name="T6" fmla="*/ 16 w 240"/>
                  <a:gd name="T7" fmla="*/ 0 h 344"/>
                  <a:gd name="T8" fmla="*/ 14 w 240"/>
                  <a:gd name="T9" fmla="*/ 0 h 344"/>
                  <a:gd name="T10" fmla="*/ 11 w 240"/>
                  <a:gd name="T11" fmla="*/ 12 h 344"/>
                  <a:gd name="T12" fmla="*/ 10 w 240"/>
                  <a:gd name="T13" fmla="*/ 33 h 344"/>
                  <a:gd name="T14" fmla="*/ 8 w 240"/>
                  <a:gd name="T15" fmla="*/ 62 h 344"/>
                  <a:gd name="T16" fmla="*/ 6 w 240"/>
                  <a:gd name="T17" fmla="*/ 104 h 344"/>
                  <a:gd name="T18" fmla="*/ 4 w 240"/>
                  <a:gd name="T19" fmla="*/ 159 h 344"/>
                  <a:gd name="T20" fmla="*/ 2 w 240"/>
                  <a:gd name="T21" fmla="*/ 229 h 344"/>
                  <a:gd name="T22" fmla="*/ 1 w 240"/>
                  <a:gd name="T23" fmla="*/ 334 h 344"/>
                  <a:gd name="T24" fmla="*/ 0 w 240"/>
                  <a:gd name="T25" fmla="*/ 417 h 3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
                  <a:gd name="T40" fmla="*/ 0 h 344"/>
                  <a:gd name="T41" fmla="*/ 240 w 240"/>
                  <a:gd name="T42" fmla="*/ 344 h 3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 h="344">
                    <a:moveTo>
                      <a:pt x="0" y="160"/>
                    </a:moveTo>
                    <a:lnTo>
                      <a:pt x="0" y="344"/>
                    </a:lnTo>
                    <a:lnTo>
                      <a:pt x="240" y="344"/>
                    </a:lnTo>
                    <a:lnTo>
                      <a:pt x="240" y="0"/>
                    </a:lnTo>
                    <a:lnTo>
                      <a:pt x="212" y="0"/>
                    </a:lnTo>
                    <a:lnTo>
                      <a:pt x="172" y="4"/>
                    </a:lnTo>
                    <a:lnTo>
                      <a:pt x="140" y="12"/>
                    </a:lnTo>
                    <a:lnTo>
                      <a:pt x="116" y="24"/>
                    </a:lnTo>
                    <a:lnTo>
                      <a:pt x="88" y="40"/>
                    </a:lnTo>
                    <a:lnTo>
                      <a:pt x="56" y="60"/>
                    </a:lnTo>
                    <a:lnTo>
                      <a:pt x="28" y="88"/>
                    </a:lnTo>
                    <a:lnTo>
                      <a:pt x="4" y="128"/>
                    </a:lnTo>
                    <a:lnTo>
                      <a:pt x="0" y="160"/>
                    </a:lnTo>
                    <a:close/>
                  </a:path>
                </a:pathLst>
              </a:custGeom>
              <a:solidFill>
                <a:srgbClr val="9999FF"/>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9999FF"/>
                </a:extrusionClr>
                <a:contourClr>
                  <a:srgbClr val="9999FF"/>
                </a:contourClr>
              </a:sp3d>
            </p:spPr>
            <p:txBody>
              <a:bodyP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46" name="Rectangle 21">
                <a:extLst>
                  <a:ext uri="{FF2B5EF4-FFF2-40B4-BE49-F238E27FC236}">
                    <a16:creationId xmlns:a16="http://schemas.microsoft.com/office/drawing/2014/main" id="{5B374874-BF3F-03A3-4A22-59DF7B55E8E8}"/>
                  </a:ext>
                </a:extLst>
              </p:cNvPr>
              <p:cNvSpPr>
                <a:spLocks noChangeArrowheads="1"/>
              </p:cNvSpPr>
              <p:nvPr/>
            </p:nvSpPr>
            <p:spPr bwMode="auto">
              <a:xfrm>
                <a:off x="2676" y="2911"/>
                <a:ext cx="31" cy="395"/>
              </a:xfrm>
              <a:prstGeom prst="rect">
                <a:avLst/>
              </a:prstGeom>
              <a:solidFill>
                <a:srgbClr val="C0C0C0"/>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C0C0C0"/>
                </a:extrusionClr>
                <a:contourClr>
                  <a:srgbClr val="C0C0C0"/>
                </a:contourClr>
              </a:sp3d>
            </p:spPr>
            <p:txBody>
              <a:bodyPr wrap="none" anchor="ct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47" name="AutoShape 22">
                <a:extLst>
                  <a:ext uri="{FF2B5EF4-FFF2-40B4-BE49-F238E27FC236}">
                    <a16:creationId xmlns:a16="http://schemas.microsoft.com/office/drawing/2014/main" id="{76E2EC4A-F2CA-D615-EC17-2D8446805A89}"/>
                  </a:ext>
                </a:extLst>
              </p:cNvPr>
              <p:cNvSpPr>
                <a:spLocks noChangeArrowheads="1"/>
              </p:cNvSpPr>
              <p:nvPr/>
            </p:nvSpPr>
            <p:spPr bwMode="auto">
              <a:xfrm>
                <a:off x="2712" y="2682"/>
                <a:ext cx="624" cy="621"/>
              </a:xfrm>
              <a:prstGeom prst="cube">
                <a:avLst>
                  <a:gd name="adj" fmla="val 36319"/>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48" name="Rectangle 23">
                <a:extLst>
                  <a:ext uri="{FF2B5EF4-FFF2-40B4-BE49-F238E27FC236}">
                    <a16:creationId xmlns:a16="http://schemas.microsoft.com/office/drawing/2014/main" id="{50689243-E574-774A-AA43-F5F1F5D5968B}"/>
                  </a:ext>
                </a:extLst>
              </p:cNvPr>
              <p:cNvSpPr>
                <a:spLocks noChangeArrowheads="1"/>
              </p:cNvSpPr>
              <p:nvPr/>
            </p:nvSpPr>
            <p:spPr bwMode="auto">
              <a:xfrm>
                <a:off x="3105" y="2911"/>
                <a:ext cx="31" cy="395"/>
              </a:xfrm>
              <a:prstGeom prst="rect">
                <a:avLst/>
              </a:prstGeom>
              <a:solidFill>
                <a:srgbClr val="C0C0C0"/>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C0C0C0"/>
                </a:extrusionClr>
                <a:contourClr>
                  <a:srgbClr val="C0C0C0"/>
                </a:contourClr>
              </a:sp3d>
            </p:spPr>
            <p:txBody>
              <a:bodyPr wrap="none" anchor="ct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49" name="Freeform 24">
                <a:extLst>
                  <a:ext uri="{FF2B5EF4-FFF2-40B4-BE49-F238E27FC236}">
                    <a16:creationId xmlns:a16="http://schemas.microsoft.com/office/drawing/2014/main" id="{ADE845D9-81E6-139A-346B-0DBD91164126}"/>
                  </a:ext>
                </a:extLst>
              </p:cNvPr>
              <p:cNvSpPr>
                <a:spLocks/>
              </p:cNvSpPr>
              <p:nvPr/>
            </p:nvSpPr>
            <p:spPr bwMode="auto">
              <a:xfrm flipH="1">
                <a:off x="3138" y="2914"/>
                <a:ext cx="171" cy="388"/>
              </a:xfrm>
              <a:custGeom>
                <a:avLst/>
                <a:gdLst>
                  <a:gd name="T0" fmla="*/ 0 w 240"/>
                  <a:gd name="T1" fmla="*/ 417 h 344"/>
                  <a:gd name="T2" fmla="*/ 0 w 240"/>
                  <a:gd name="T3" fmla="*/ 901 h 344"/>
                  <a:gd name="T4" fmla="*/ 16 w 240"/>
                  <a:gd name="T5" fmla="*/ 901 h 344"/>
                  <a:gd name="T6" fmla="*/ 16 w 240"/>
                  <a:gd name="T7" fmla="*/ 0 h 344"/>
                  <a:gd name="T8" fmla="*/ 14 w 240"/>
                  <a:gd name="T9" fmla="*/ 0 h 344"/>
                  <a:gd name="T10" fmla="*/ 11 w 240"/>
                  <a:gd name="T11" fmla="*/ 12 h 344"/>
                  <a:gd name="T12" fmla="*/ 10 w 240"/>
                  <a:gd name="T13" fmla="*/ 33 h 344"/>
                  <a:gd name="T14" fmla="*/ 8 w 240"/>
                  <a:gd name="T15" fmla="*/ 62 h 344"/>
                  <a:gd name="T16" fmla="*/ 6 w 240"/>
                  <a:gd name="T17" fmla="*/ 104 h 344"/>
                  <a:gd name="T18" fmla="*/ 4 w 240"/>
                  <a:gd name="T19" fmla="*/ 159 h 344"/>
                  <a:gd name="T20" fmla="*/ 2 w 240"/>
                  <a:gd name="T21" fmla="*/ 229 h 344"/>
                  <a:gd name="T22" fmla="*/ 1 w 240"/>
                  <a:gd name="T23" fmla="*/ 334 h 344"/>
                  <a:gd name="T24" fmla="*/ 0 w 240"/>
                  <a:gd name="T25" fmla="*/ 417 h 3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
                  <a:gd name="T40" fmla="*/ 0 h 344"/>
                  <a:gd name="T41" fmla="*/ 240 w 240"/>
                  <a:gd name="T42" fmla="*/ 344 h 3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 h="344">
                    <a:moveTo>
                      <a:pt x="0" y="160"/>
                    </a:moveTo>
                    <a:lnTo>
                      <a:pt x="0" y="344"/>
                    </a:lnTo>
                    <a:lnTo>
                      <a:pt x="240" y="344"/>
                    </a:lnTo>
                    <a:lnTo>
                      <a:pt x="240" y="0"/>
                    </a:lnTo>
                    <a:lnTo>
                      <a:pt x="212" y="0"/>
                    </a:lnTo>
                    <a:lnTo>
                      <a:pt x="172" y="4"/>
                    </a:lnTo>
                    <a:lnTo>
                      <a:pt x="140" y="12"/>
                    </a:lnTo>
                    <a:lnTo>
                      <a:pt x="116" y="24"/>
                    </a:lnTo>
                    <a:lnTo>
                      <a:pt x="88" y="40"/>
                    </a:lnTo>
                    <a:lnTo>
                      <a:pt x="56" y="60"/>
                    </a:lnTo>
                    <a:lnTo>
                      <a:pt x="28" y="88"/>
                    </a:lnTo>
                    <a:lnTo>
                      <a:pt x="4" y="128"/>
                    </a:lnTo>
                    <a:lnTo>
                      <a:pt x="0" y="160"/>
                    </a:lnTo>
                    <a:close/>
                  </a:path>
                </a:pathLst>
              </a:custGeom>
              <a:solidFill>
                <a:srgbClr val="9999FF"/>
              </a:solidFill>
              <a:ln w="9525">
                <a:miter lim="800000"/>
                <a:headEnd/>
                <a:tailEnd/>
              </a:ln>
              <a:scene3d>
                <a:camera prst="legacyObliqueTopRight"/>
                <a:lightRig rig="legacyFlat3" dir="b"/>
              </a:scene3d>
              <a:sp3d extrusionH="989000" prstMaterial="legacyMatte">
                <a:bevelT w="13500" h="13500" prst="angle"/>
                <a:bevelB w="13500" h="13500" prst="angle"/>
                <a:extrusionClr>
                  <a:srgbClr val="9999FF"/>
                </a:extrusionClr>
                <a:contourClr>
                  <a:srgbClr val="9999FF"/>
                </a:contourClr>
              </a:sp3d>
            </p:spPr>
            <p:txBody>
              <a:bodyPr>
                <a:flatTx/>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8350" name="Text Box 25">
                <a:extLst>
                  <a:ext uri="{FF2B5EF4-FFF2-40B4-BE49-F238E27FC236}">
                    <a16:creationId xmlns:a16="http://schemas.microsoft.com/office/drawing/2014/main" id="{844340FF-5BE4-66BA-F8A5-7CE74069992A}"/>
                  </a:ext>
                </a:extLst>
              </p:cNvPr>
              <p:cNvSpPr txBox="1">
                <a:spLocks noChangeArrowheads="1"/>
              </p:cNvSpPr>
              <p:nvPr/>
            </p:nvSpPr>
            <p:spPr bwMode="auto">
              <a:xfrm>
                <a:off x="2640" y="2976"/>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TW" sz="2000">
                    <a:solidFill>
                      <a:schemeClr val="bg1"/>
                    </a:solidFill>
                  </a:rPr>
                  <a:t>Gate</a:t>
                </a:r>
              </a:p>
            </p:txBody>
          </p:sp>
          <p:sp>
            <p:nvSpPr>
              <p:cNvPr id="98351" name="Text Box 26">
                <a:extLst>
                  <a:ext uri="{FF2B5EF4-FFF2-40B4-BE49-F238E27FC236}">
                    <a16:creationId xmlns:a16="http://schemas.microsoft.com/office/drawing/2014/main" id="{3570BB8D-711A-B131-9DF0-D143EAB6F213}"/>
                  </a:ext>
                </a:extLst>
              </p:cNvPr>
              <p:cNvSpPr txBox="1">
                <a:spLocks noChangeArrowheads="1"/>
              </p:cNvSpPr>
              <p:nvPr/>
            </p:nvSpPr>
            <p:spPr bwMode="auto">
              <a:xfrm>
                <a:off x="1920" y="3360"/>
                <a:ext cx="6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TW" sz="2000">
                    <a:solidFill>
                      <a:schemeClr val="bg1"/>
                    </a:solidFill>
                  </a:rPr>
                  <a:t>Source</a:t>
                </a:r>
              </a:p>
            </p:txBody>
          </p:sp>
          <p:sp>
            <p:nvSpPr>
              <p:cNvPr id="98352" name="Text Box 27">
                <a:extLst>
                  <a:ext uri="{FF2B5EF4-FFF2-40B4-BE49-F238E27FC236}">
                    <a16:creationId xmlns:a16="http://schemas.microsoft.com/office/drawing/2014/main" id="{95B760BF-F1A2-D438-8008-C3AD4A9459F7}"/>
                  </a:ext>
                </a:extLst>
              </p:cNvPr>
              <p:cNvSpPr txBox="1">
                <a:spLocks noChangeArrowheads="1"/>
              </p:cNvSpPr>
              <p:nvPr/>
            </p:nvSpPr>
            <p:spPr bwMode="auto">
              <a:xfrm>
                <a:off x="3408" y="3360"/>
                <a:ext cx="5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TW" sz="2000">
                    <a:solidFill>
                      <a:schemeClr val="bg1"/>
                    </a:solidFill>
                  </a:rPr>
                  <a:t>Drain</a:t>
                </a:r>
              </a:p>
            </p:txBody>
          </p:sp>
        </p:grpSp>
        <p:grpSp>
          <p:nvGrpSpPr>
            <p:cNvPr id="98319" name="Group 28">
              <a:extLst>
                <a:ext uri="{FF2B5EF4-FFF2-40B4-BE49-F238E27FC236}">
                  <a16:creationId xmlns:a16="http://schemas.microsoft.com/office/drawing/2014/main" id="{E7771361-CE68-14A7-8000-7DCB06424EE0}"/>
                </a:ext>
              </a:extLst>
            </p:cNvPr>
            <p:cNvGrpSpPr>
              <a:grpSpLocks/>
            </p:cNvGrpSpPr>
            <p:nvPr/>
          </p:nvGrpSpPr>
          <p:grpSpPr bwMode="auto">
            <a:xfrm>
              <a:off x="3120" y="2358"/>
              <a:ext cx="1392" cy="1450"/>
              <a:chOff x="2688" y="2448"/>
              <a:chExt cx="1392" cy="1450"/>
            </a:xfrm>
          </p:grpSpPr>
          <p:sp>
            <p:nvSpPr>
              <p:cNvPr id="98320" name="Text Box 29">
                <a:extLst>
                  <a:ext uri="{FF2B5EF4-FFF2-40B4-BE49-F238E27FC236}">
                    <a16:creationId xmlns:a16="http://schemas.microsoft.com/office/drawing/2014/main" id="{A89EFFCB-C884-8D4A-5D91-84281F3CE687}"/>
                  </a:ext>
                </a:extLst>
              </p:cNvPr>
              <p:cNvSpPr txBox="1">
                <a:spLocks noChangeArrowheads="1"/>
              </p:cNvSpPr>
              <p:nvPr/>
            </p:nvSpPr>
            <p:spPr bwMode="auto">
              <a:xfrm>
                <a:off x="2688" y="3504"/>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TW" sz="2000" b="1" i="1"/>
                  <a:t>L</a:t>
                </a:r>
                <a:r>
                  <a:rPr lang="en-US" altLang="zh-TW" sz="2000" b="1" i="1" baseline="-25000"/>
                  <a:t>eff</a:t>
                </a:r>
              </a:p>
            </p:txBody>
          </p:sp>
          <p:sp>
            <p:nvSpPr>
              <p:cNvPr id="98321" name="Text Box 30">
                <a:extLst>
                  <a:ext uri="{FF2B5EF4-FFF2-40B4-BE49-F238E27FC236}">
                    <a16:creationId xmlns:a16="http://schemas.microsoft.com/office/drawing/2014/main" id="{3097F609-F063-46F5-B4C3-1EE89F8414A8}"/>
                  </a:ext>
                </a:extLst>
              </p:cNvPr>
              <p:cNvSpPr txBox="1">
                <a:spLocks noChangeArrowheads="1"/>
              </p:cNvSpPr>
              <p:nvPr/>
            </p:nvSpPr>
            <p:spPr bwMode="auto">
              <a:xfrm>
                <a:off x="3456" y="364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zh-TW" sz="2000" b="1" i="1"/>
                  <a:t>N</a:t>
                </a:r>
                <a:r>
                  <a:rPr lang="en-US" altLang="zh-TW" sz="2000" b="1" i="1" baseline="-25000"/>
                  <a:t>sub</a:t>
                </a:r>
              </a:p>
            </p:txBody>
          </p:sp>
          <p:sp>
            <p:nvSpPr>
              <p:cNvPr id="98322" name="Text Box 31">
                <a:extLst>
                  <a:ext uri="{FF2B5EF4-FFF2-40B4-BE49-F238E27FC236}">
                    <a16:creationId xmlns:a16="http://schemas.microsoft.com/office/drawing/2014/main" id="{5179DB96-E65A-DC50-AEC6-B5980ECEF975}"/>
                  </a:ext>
                </a:extLst>
              </p:cNvPr>
              <p:cNvSpPr txBox="1">
                <a:spLocks noChangeArrowheads="1"/>
              </p:cNvSpPr>
              <p:nvPr/>
            </p:nvSpPr>
            <p:spPr bwMode="auto">
              <a:xfrm>
                <a:off x="3168" y="3312"/>
                <a:ext cx="2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TW" sz="2000" b="1" i="1"/>
                  <a:t>X</a:t>
                </a:r>
                <a:r>
                  <a:rPr lang="en-US" altLang="zh-TW" sz="2000" b="1" i="1" baseline="-25000"/>
                  <a:t>j</a:t>
                </a:r>
              </a:p>
            </p:txBody>
          </p:sp>
          <p:sp>
            <p:nvSpPr>
              <p:cNvPr id="98323" name="Line 32">
                <a:extLst>
                  <a:ext uri="{FF2B5EF4-FFF2-40B4-BE49-F238E27FC236}">
                    <a16:creationId xmlns:a16="http://schemas.microsoft.com/office/drawing/2014/main" id="{410B8A61-2FBC-34E9-1923-F26512EC4745}"/>
                  </a:ext>
                </a:extLst>
              </p:cNvPr>
              <p:cNvSpPr>
                <a:spLocks noChangeShapeType="1"/>
              </p:cNvSpPr>
              <p:nvPr/>
            </p:nvSpPr>
            <p:spPr bwMode="auto">
              <a:xfrm>
                <a:off x="2841" y="2782"/>
                <a:ext cx="375" cy="2"/>
              </a:xfrm>
              <a:prstGeom prst="line">
                <a:avLst/>
              </a:prstGeom>
              <a:noFill/>
              <a:ln w="19050">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en-IN"/>
              </a:p>
            </p:txBody>
          </p:sp>
          <p:sp>
            <p:nvSpPr>
              <p:cNvPr id="98324" name="Line 33">
                <a:extLst>
                  <a:ext uri="{FF2B5EF4-FFF2-40B4-BE49-F238E27FC236}">
                    <a16:creationId xmlns:a16="http://schemas.microsoft.com/office/drawing/2014/main" id="{CD02D0CC-8396-3D4D-76BF-444F085D5FD6}"/>
                  </a:ext>
                </a:extLst>
              </p:cNvPr>
              <p:cNvSpPr>
                <a:spLocks noChangeShapeType="1"/>
              </p:cNvSpPr>
              <p:nvPr/>
            </p:nvSpPr>
            <p:spPr bwMode="auto">
              <a:xfrm flipH="1">
                <a:off x="3040" y="2766"/>
                <a:ext cx="747" cy="571"/>
              </a:xfrm>
              <a:prstGeom prst="line">
                <a:avLst/>
              </a:prstGeom>
              <a:noFill/>
              <a:ln w="19050">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98325" name="Line 34">
                <a:extLst>
                  <a:ext uri="{FF2B5EF4-FFF2-40B4-BE49-F238E27FC236}">
                    <a16:creationId xmlns:a16="http://schemas.microsoft.com/office/drawing/2014/main" id="{017784D4-474D-54B0-8323-99B2040EF4E9}"/>
                  </a:ext>
                </a:extLst>
              </p:cNvPr>
              <p:cNvSpPr>
                <a:spLocks noChangeShapeType="1"/>
              </p:cNvSpPr>
              <p:nvPr/>
            </p:nvSpPr>
            <p:spPr bwMode="auto">
              <a:xfrm>
                <a:off x="3178" y="3362"/>
                <a:ext cx="0" cy="116"/>
              </a:xfrm>
              <a:prstGeom prst="line">
                <a:avLst/>
              </a:prstGeom>
              <a:noFill/>
              <a:ln w="19050">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en-IN"/>
              </a:p>
            </p:txBody>
          </p:sp>
          <p:sp>
            <p:nvSpPr>
              <p:cNvPr id="98326" name="Text Box 35">
                <a:extLst>
                  <a:ext uri="{FF2B5EF4-FFF2-40B4-BE49-F238E27FC236}">
                    <a16:creationId xmlns:a16="http://schemas.microsoft.com/office/drawing/2014/main" id="{19A47595-3909-9BDD-0874-E9C9C54764CF}"/>
                  </a:ext>
                </a:extLst>
              </p:cNvPr>
              <p:cNvSpPr txBox="1">
                <a:spLocks noChangeArrowheads="1"/>
              </p:cNvSpPr>
              <p:nvPr/>
            </p:nvSpPr>
            <p:spPr bwMode="auto">
              <a:xfrm>
                <a:off x="2880" y="2448"/>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zh-TW" altLang="en-US" sz="2000" b="1" i="1"/>
                  <a:t> </a:t>
                </a:r>
                <a:r>
                  <a:rPr lang="en-US" altLang="zh-TW" sz="2000" b="1" i="1"/>
                  <a:t>L</a:t>
                </a:r>
                <a:r>
                  <a:rPr lang="en-US" altLang="zh-TW" sz="2000" b="1" i="1" baseline="-25000"/>
                  <a:t>g</a:t>
                </a:r>
              </a:p>
            </p:txBody>
          </p:sp>
          <p:sp>
            <p:nvSpPr>
              <p:cNvPr id="98327" name="Text Box 36">
                <a:extLst>
                  <a:ext uri="{FF2B5EF4-FFF2-40B4-BE49-F238E27FC236}">
                    <a16:creationId xmlns:a16="http://schemas.microsoft.com/office/drawing/2014/main" id="{26D50ADE-0837-1FBA-2B01-53F7DB0986A2}"/>
                  </a:ext>
                </a:extLst>
              </p:cNvPr>
              <p:cNvSpPr txBox="1">
                <a:spLocks noChangeArrowheads="1"/>
              </p:cNvSpPr>
              <p:nvPr/>
            </p:nvSpPr>
            <p:spPr bwMode="auto">
              <a:xfrm>
                <a:off x="3744" y="2640"/>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TW" sz="2000" b="1" i="1"/>
                  <a:t>T</a:t>
                </a:r>
                <a:r>
                  <a:rPr lang="en-US" altLang="zh-TW" sz="2000" b="1" i="1" baseline="-25000"/>
                  <a:t>ox</a:t>
                </a:r>
              </a:p>
            </p:txBody>
          </p:sp>
          <p:grpSp>
            <p:nvGrpSpPr>
              <p:cNvPr id="98328" name="Group 37">
                <a:extLst>
                  <a:ext uri="{FF2B5EF4-FFF2-40B4-BE49-F238E27FC236}">
                    <a16:creationId xmlns:a16="http://schemas.microsoft.com/office/drawing/2014/main" id="{DF67FE0A-25F8-0CC6-37AF-EED66F8BC012}"/>
                  </a:ext>
                </a:extLst>
              </p:cNvPr>
              <p:cNvGrpSpPr>
                <a:grpSpLocks/>
              </p:cNvGrpSpPr>
              <p:nvPr/>
            </p:nvGrpSpPr>
            <p:grpSpPr bwMode="auto">
              <a:xfrm>
                <a:off x="2750" y="3456"/>
                <a:ext cx="322" cy="96"/>
                <a:chOff x="2750" y="3456"/>
                <a:chExt cx="322" cy="96"/>
              </a:xfrm>
            </p:grpSpPr>
            <p:sp>
              <p:nvSpPr>
                <p:cNvPr id="98334" name="Line 38">
                  <a:extLst>
                    <a:ext uri="{FF2B5EF4-FFF2-40B4-BE49-F238E27FC236}">
                      <a16:creationId xmlns:a16="http://schemas.microsoft.com/office/drawing/2014/main" id="{9D004AD3-98FF-BC13-B775-DA56444A9C7C}"/>
                    </a:ext>
                  </a:extLst>
                </p:cNvPr>
                <p:cNvSpPr>
                  <a:spLocks noChangeShapeType="1"/>
                </p:cNvSpPr>
                <p:nvPr/>
              </p:nvSpPr>
              <p:spPr bwMode="auto">
                <a:xfrm>
                  <a:off x="2753" y="3504"/>
                  <a:ext cx="315" cy="0"/>
                </a:xfrm>
                <a:prstGeom prst="line">
                  <a:avLst/>
                </a:prstGeom>
                <a:noFill/>
                <a:ln w="19050">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en-IN"/>
                </a:p>
              </p:txBody>
            </p:sp>
            <p:sp>
              <p:nvSpPr>
                <p:cNvPr id="98335" name="Line 39">
                  <a:extLst>
                    <a:ext uri="{FF2B5EF4-FFF2-40B4-BE49-F238E27FC236}">
                      <a16:creationId xmlns:a16="http://schemas.microsoft.com/office/drawing/2014/main" id="{D4529697-5001-55CE-3697-ECC455C4E87F}"/>
                    </a:ext>
                  </a:extLst>
                </p:cNvPr>
                <p:cNvSpPr>
                  <a:spLocks noChangeShapeType="1"/>
                </p:cNvSpPr>
                <p:nvPr/>
              </p:nvSpPr>
              <p:spPr bwMode="auto">
                <a:xfrm>
                  <a:off x="3072" y="3456"/>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8336" name="Line 40">
                  <a:extLst>
                    <a:ext uri="{FF2B5EF4-FFF2-40B4-BE49-F238E27FC236}">
                      <a16:creationId xmlns:a16="http://schemas.microsoft.com/office/drawing/2014/main" id="{F55C572A-11DF-3D7D-8439-B0C876AD5106}"/>
                    </a:ext>
                  </a:extLst>
                </p:cNvPr>
                <p:cNvSpPr>
                  <a:spLocks noChangeShapeType="1"/>
                </p:cNvSpPr>
                <p:nvPr/>
              </p:nvSpPr>
              <p:spPr bwMode="auto">
                <a:xfrm>
                  <a:off x="2750" y="3456"/>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98329" name="Group 41">
                <a:extLst>
                  <a:ext uri="{FF2B5EF4-FFF2-40B4-BE49-F238E27FC236}">
                    <a16:creationId xmlns:a16="http://schemas.microsoft.com/office/drawing/2014/main" id="{6BB91F5D-3613-C61E-DA60-2C0DD5D077C1}"/>
                  </a:ext>
                </a:extLst>
              </p:cNvPr>
              <p:cNvGrpSpPr>
                <a:grpSpLocks/>
              </p:cNvGrpSpPr>
              <p:nvPr/>
            </p:nvGrpSpPr>
            <p:grpSpPr bwMode="auto">
              <a:xfrm>
                <a:off x="3001" y="3204"/>
                <a:ext cx="48" cy="252"/>
                <a:chOff x="3001" y="3204"/>
                <a:chExt cx="48" cy="252"/>
              </a:xfrm>
            </p:grpSpPr>
            <p:sp>
              <p:nvSpPr>
                <p:cNvPr id="98330" name="Line 42">
                  <a:extLst>
                    <a:ext uri="{FF2B5EF4-FFF2-40B4-BE49-F238E27FC236}">
                      <a16:creationId xmlns:a16="http://schemas.microsoft.com/office/drawing/2014/main" id="{EADDFBF0-283B-EE27-5722-4A27D953B03C}"/>
                    </a:ext>
                  </a:extLst>
                </p:cNvPr>
                <p:cNvSpPr>
                  <a:spLocks noChangeShapeType="1"/>
                </p:cNvSpPr>
                <p:nvPr/>
              </p:nvSpPr>
              <p:spPr bwMode="auto">
                <a:xfrm>
                  <a:off x="3001" y="3357"/>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8331" name="Line 43">
                  <a:extLst>
                    <a:ext uri="{FF2B5EF4-FFF2-40B4-BE49-F238E27FC236}">
                      <a16:creationId xmlns:a16="http://schemas.microsoft.com/office/drawing/2014/main" id="{A372CF71-793E-3540-206F-215FCA5A9168}"/>
                    </a:ext>
                  </a:extLst>
                </p:cNvPr>
                <p:cNvSpPr>
                  <a:spLocks noChangeShapeType="1"/>
                </p:cNvSpPr>
                <p:nvPr/>
              </p:nvSpPr>
              <p:spPr bwMode="auto">
                <a:xfrm flipV="1">
                  <a:off x="3024" y="3204"/>
                  <a:ext cx="0" cy="96"/>
                </a:xfrm>
                <a:prstGeom prst="line">
                  <a:avLst/>
                </a:prstGeom>
                <a:noFill/>
                <a:ln w="19050">
                  <a:solidFill>
                    <a:schemeClr val="tx1"/>
                  </a:solidFill>
                  <a:round/>
                  <a:headEnd type="arrow" w="sm" len="sm"/>
                  <a:tailEnd/>
                </a:ln>
                <a:extLst>
                  <a:ext uri="{909E8E84-426E-40DD-AFC4-6F175D3DCCD1}">
                    <a14:hiddenFill xmlns:a14="http://schemas.microsoft.com/office/drawing/2010/main">
                      <a:noFill/>
                    </a14:hiddenFill>
                  </a:ext>
                </a:extLst>
              </p:spPr>
              <p:txBody>
                <a:bodyPr/>
                <a:lstStyle/>
                <a:p>
                  <a:endParaRPr lang="en-IN"/>
                </a:p>
              </p:txBody>
            </p:sp>
            <p:sp>
              <p:nvSpPr>
                <p:cNvPr id="98332" name="Line 44">
                  <a:extLst>
                    <a:ext uri="{FF2B5EF4-FFF2-40B4-BE49-F238E27FC236}">
                      <a16:creationId xmlns:a16="http://schemas.microsoft.com/office/drawing/2014/main" id="{6530551A-9BF7-6F29-78B3-56B1581E1DB7}"/>
                    </a:ext>
                  </a:extLst>
                </p:cNvPr>
                <p:cNvSpPr>
                  <a:spLocks noChangeShapeType="1"/>
                </p:cNvSpPr>
                <p:nvPr/>
              </p:nvSpPr>
              <p:spPr bwMode="auto">
                <a:xfrm>
                  <a:off x="3024" y="3360"/>
                  <a:ext cx="0" cy="96"/>
                </a:xfrm>
                <a:prstGeom prst="line">
                  <a:avLst/>
                </a:prstGeom>
                <a:noFill/>
                <a:ln w="19050">
                  <a:solidFill>
                    <a:schemeClr val="tx1"/>
                  </a:solidFill>
                  <a:round/>
                  <a:headEnd type="arrow" w="sm" len="sm"/>
                  <a:tailEnd/>
                </a:ln>
                <a:extLst>
                  <a:ext uri="{909E8E84-426E-40DD-AFC4-6F175D3DCCD1}">
                    <a14:hiddenFill xmlns:a14="http://schemas.microsoft.com/office/drawing/2010/main">
                      <a:noFill/>
                    </a14:hiddenFill>
                  </a:ext>
                </a:extLst>
              </p:spPr>
              <p:txBody>
                <a:bodyPr/>
                <a:lstStyle/>
                <a:p>
                  <a:endParaRPr lang="en-IN"/>
                </a:p>
              </p:txBody>
            </p:sp>
            <p:sp>
              <p:nvSpPr>
                <p:cNvPr id="98333" name="Line 45">
                  <a:extLst>
                    <a:ext uri="{FF2B5EF4-FFF2-40B4-BE49-F238E27FC236}">
                      <a16:creationId xmlns:a16="http://schemas.microsoft.com/office/drawing/2014/main" id="{B62DCE86-8922-74A9-A3DB-6505C59B3677}"/>
                    </a:ext>
                  </a:extLst>
                </p:cNvPr>
                <p:cNvSpPr>
                  <a:spLocks noChangeShapeType="1"/>
                </p:cNvSpPr>
                <p:nvPr/>
              </p:nvSpPr>
              <p:spPr bwMode="auto">
                <a:xfrm>
                  <a:off x="3001" y="330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grpSp>
      <p:sp>
        <p:nvSpPr>
          <p:cNvPr id="46" name="Text Box 46">
            <a:extLst>
              <a:ext uri="{FF2B5EF4-FFF2-40B4-BE49-F238E27FC236}">
                <a16:creationId xmlns:a16="http://schemas.microsoft.com/office/drawing/2014/main" id="{C3ADD7FB-3870-A4B5-3CFF-4CE7CFE9B1F6}"/>
              </a:ext>
            </a:extLst>
          </p:cNvPr>
          <p:cNvSpPr txBox="1">
            <a:spLocks noChangeArrowheads="1"/>
          </p:cNvSpPr>
          <p:nvPr/>
        </p:nvSpPr>
        <p:spPr bwMode="auto">
          <a:xfrm>
            <a:off x="7010400" y="5562600"/>
            <a:ext cx="3543300" cy="979488"/>
          </a:xfrm>
          <a:prstGeom prst="rect">
            <a:avLst/>
          </a:prstGeom>
          <a:noFill/>
          <a:ln>
            <a:noFill/>
          </a:ln>
          <a:effectLst/>
        </p:spPr>
        <p:txBody>
          <a:bodyPr>
            <a:spAutoFit/>
          </a:bodyPr>
          <a:lstStyle>
            <a:lvl1pPr eaLnBrk="0" hangingPunct="0">
              <a:defRPr baseline="-25000">
                <a:solidFill>
                  <a:schemeClr val="tx1"/>
                </a:solidFill>
                <a:latin typeface="Arial" charset="0"/>
              </a:defRPr>
            </a:lvl1pPr>
            <a:lvl2pPr marL="742950" indent="-285750" eaLnBrk="0" hangingPunct="0">
              <a:defRPr baseline="-25000">
                <a:solidFill>
                  <a:schemeClr val="tx1"/>
                </a:solidFill>
                <a:latin typeface="Arial" charset="0"/>
              </a:defRPr>
            </a:lvl2pPr>
            <a:lvl3pPr marL="1143000" indent="-228600" eaLnBrk="0" hangingPunct="0">
              <a:defRPr baseline="-25000">
                <a:solidFill>
                  <a:schemeClr val="tx1"/>
                </a:solidFill>
                <a:latin typeface="Arial" charset="0"/>
              </a:defRPr>
            </a:lvl3pPr>
            <a:lvl4pPr marL="1600200" indent="-228600" eaLnBrk="0" hangingPunct="0">
              <a:defRPr baseline="-25000">
                <a:solidFill>
                  <a:schemeClr val="tx1"/>
                </a:solidFill>
                <a:latin typeface="Arial" charset="0"/>
              </a:defRPr>
            </a:lvl4pPr>
            <a:lvl5pPr marL="2057400" indent="-228600" eaLnBrk="0" hangingPunct="0">
              <a:defRPr baseline="-25000">
                <a:solidFill>
                  <a:schemeClr val="tx1"/>
                </a:solidFill>
                <a:latin typeface="Arial" charset="0"/>
              </a:defRPr>
            </a:lvl5pPr>
            <a:lvl6pPr marL="2514600" indent="-228600" eaLnBrk="0" fontAlgn="base" hangingPunct="0">
              <a:spcBef>
                <a:spcPct val="50000"/>
              </a:spcBef>
              <a:spcAft>
                <a:spcPct val="0"/>
              </a:spcAft>
              <a:defRPr baseline="-25000">
                <a:solidFill>
                  <a:schemeClr val="tx1"/>
                </a:solidFill>
                <a:latin typeface="Arial" charset="0"/>
              </a:defRPr>
            </a:lvl6pPr>
            <a:lvl7pPr marL="2971800" indent="-228600" eaLnBrk="0" fontAlgn="base" hangingPunct="0">
              <a:spcBef>
                <a:spcPct val="50000"/>
              </a:spcBef>
              <a:spcAft>
                <a:spcPct val="0"/>
              </a:spcAft>
              <a:defRPr baseline="-25000">
                <a:solidFill>
                  <a:schemeClr val="tx1"/>
                </a:solidFill>
                <a:latin typeface="Arial" charset="0"/>
              </a:defRPr>
            </a:lvl7pPr>
            <a:lvl8pPr marL="3429000" indent="-228600" eaLnBrk="0" fontAlgn="base" hangingPunct="0">
              <a:spcBef>
                <a:spcPct val="50000"/>
              </a:spcBef>
              <a:spcAft>
                <a:spcPct val="0"/>
              </a:spcAft>
              <a:defRPr baseline="-25000">
                <a:solidFill>
                  <a:schemeClr val="tx1"/>
                </a:solidFill>
                <a:latin typeface="Arial" charset="0"/>
              </a:defRPr>
            </a:lvl8pPr>
            <a:lvl9pPr marL="3886200" indent="-228600" eaLnBrk="0" fontAlgn="base" hangingPunct="0">
              <a:spcBef>
                <a:spcPct val="50000"/>
              </a:spcBef>
              <a:spcAft>
                <a:spcPct val="0"/>
              </a:spcAft>
              <a:defRPr baseline="-25000">
                <a:solidFill>
                  <a:schemeClr val="tx1"/>
                </a:solidFill>
                <a:latin typeface="Arial" charset="0"/>
              </a:defRPr>
            </a:lvl9pPr>
          </a:lstStyle>
          <a:p>
            <a:pPr>
              <a:defRPr/>
            </a:pPr>
            <a:r>
              <a:rPr lang="en-US" altLang="zh-TW" b="1" u="sng" baseline="0" dirty="0">
                <a:solidFill>
                  <a:schemeClr val="tx2">
                    <a:lumMod val="50000"/>
                  </a:schemeClr>
                </a:solidFill>
                <a:latin typeface="Verdana" pitchFamily="34" charset="0"/>
              </a:rPr>
              <a:t>Desired characteristics</a:t>
            </a:r>
            <a:r>
              <a:rPr lang="en-US" altLang="zh-TW" b="1" baseline="0" dirty="0">
                <a:solidFill>
                  <a:schemeClr val="tx2">
                    <a:lumMod val="50000"/>
                  </a:schemeClr>
                </a:solidFill>
                <a:latin typeface="Verdana" pitchFamily="34" charset="0"/>
              </a:rPr>
              <a:t>:</a:t>
            </a:r>
          </a:p>
          <a:p>
            <a:pPr>
              <a:defRPr/>
            </a:pPr>
            <a:r>
              <a:rPr lang="en-US" altLang="zh-TW" b="1" baseline="0" dirty="0">
                <a:solidFill>
                  <a:schemeClr val="tx2">
                    <a:lumMod val="50000"/>
                  </a:schemeClr>
                </a:solidFill>
                <a:latin typeface="Verdana" pitchFamily="34" charset="0"/>
              </a:rPr>
              <a:t>- High ON current (</a:t>
            </a:r>
            <a:r>
              <a:rPr lang="en-US" altLang="zh-TW" b="1" i="1" baseline="0" dirty="0" err="1">
                <a:solidFill>
                  <a:schemeClr val="tx2">
                    <a:lumMod val="50000"/>
                  </a:schemeClr>
                </a:solidFill>
                <a:latin typeface="Verdana" pitchFamily="34" charset="0"/>
              </a:rPr>
              <a:t>I</a:t>
            </a:r>
            <a:r>
              <a:rPr lang="en-US" altLang="zh-TW" b="1" i="1" dirty="0" err="1">
                <a:solidFill>
                  <a:schemeClr val="tx2">
                    <a:lumMod val="50000"/>
                  </a:schemeClr>
                </a:solidFill>
                <a:latin typeface="Verdana" pitchFamily="34" charset="0"/>
              </a:rPr>
              <a:t>dsat</a:t>
            </a:r>
            <a:r>
              <a:rPr lang="en-US" altLang="zh-TW" b="1" baseline="0" dirty="0">
                <a:solidFill>
                  <a:schemeClr val="tx2">
                    <a:lumMod val="50000"/>
                  </a:schemeClr>
                </a:solidFill>
                <a:latin typeface="Verdana" pitchFamily="34" charset="0"/>
              </a:rPr>
              <a:t>)</a:t>
            </a:r>
          </a:p>
          <a:p>
            <a:pPr>
              <a:spcBef>
                <a:spcPct val="20000"/>
              </a:spcBef>
              <a:defRPr/>
            </a:pPr>
            <a:r>
              <a:rPr lang="en-US" altLang="zh-TW" b="1" baseline="0" dirty="0">
                <a:solidFill>
                  <a:schemeClr val="tx2">
                    <a:lumMod val="50000"/>
                  </a:schemeClr>
                </a:solidFill>
                <a:latin typeface="Verdana" pitchFamily="34" charset="0"/>
              </a:rPr>
              <a:t>- Low OFF current</a:t>
            </a:r>
          </a:p>
        </p:txBody>
      </p:sp>
      <p:grpSp>
        <p:nvGrpSpPr>
          <p:cNvPr id="98308" name="Group 47">
            <a:extLst>
              <a:ext uri="{FF2B5EF4-FFF2-40B4-BE49-F238E27FC236}">
                <a16:creationId xmlns:a16="http://schemas.microsoft.com/office/drawing/2014/main" id="{0B63E4FF-A4A2-D0D9-521E-B972A03DB32B}"/>
              </a:ext>
            </a:extLst>
          </p:cNvPr>
          <p:cNvGrpSpPr>
            <a:grpSpLocks/>
          </p:cNvGrpSpPr>
          <p:nvPr/>
        </p:nvGrpSpPr>
        <p:grpSpPr bwMode="auto">
          <a:xfrm>
            <a:off x="7658100" y="3581402"/>
            <a:ext cx="1955800" cy="1985963"/>
            <a:chOff x="4416" y="1584"/>
            <a:chExt cx="1232" cy="1251"/>
          </a:xfrm>
        </p:grpSpPr>
        <p:pic>
          <p:nvPicPr>
            <p:cNvPr id="98314" name="Picture 48" descr="fat1">
              <a:extLst>
                <a:ext uri="{FF2B5EF4-FFF2-40B4-BE49-F238E27FC236}">
                  <a16:creationId xmlns:a16="http://schemas.microsoft.com/office/drawing/2014/main" id="{991AA75F-AF84-6A40-8CA9-E829F2751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6" y="1824"/>
              <a:ext cx="967" cy="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5" name="Rectangle 49">
              <a:extLst>
                <a:ext uri="{FF2B5EF4-FFF2-40B4-BE49-F238E27FC236}">
                  <a16:creationId xmlns:a16="http://schemas.microsoft.com/office/drawing/2014/main" id="{EC440FB0-77E2-4DA8-9C7F-CDBBF8EB3DCC}"/>
                </a:ext>
              </a:extLst>
            </p:cNvPr>
            <p:cNvSpPr>
              <a:spLocks noChangeArrowheads="1"/>
            </p:cNvSpPr>
            <p:nvPr/>
          </p:nvSpPr>
          <p:spPr bwMode="auto">
            <a:xfrm>
              <a:off x="4967" y="1584"/>
              <a:ext cx="2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kumimoji="1" lang="en-US" altLang="ja-JP" sz="2400" b="1">
                  <a:solidFill>
                    <a:srgbClr val="000099"/>
                  </a:solidFill>
                  <a:latin typeface="Calibri" panose="020F0502020204030204" pitchFamily="34" charset="0"/>
                </a:rPr>
                <a:t>G</a:t>
              </a:r>
            </a:p>
          </p:txBody>
        </p:sp>
        <p:sp>
          <p:nvSpPr>
            <p:cNvPr id="98316" name="Rectangle 50">
              <a:extLst>
                <a:ext uri="{FF2B5EF4-FFF2-40B4-BE49-F238E27FC236}">
                  <a16:creationId xmlns:a16="http://schemas.microsoft.com/office/drawing/2014/main" id="{6E72B7BB-E544-CA80-ACB5-482B34B8D279}"/>
                </a:ext>
              </a:extLst>
            </p:cNvPr>
            <p:cNvSpPr>
              <a:spLocks noChangeArrowheads="1"/>
            </p:cNvSpPr>
            <p:nvPr/>
          </p:nvSpPr>
          <p:spPr bwMode="auto">
            <a:xfrm>
              <a:off x="4416" y="2208"/>
              <a:ext cx="2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kumimoji="1" lang="en-US" altLang="ja-JP" sz="2400" b="1">
                  <a:solidFill>
                    <a:srgbClr val="000099"/>
                  </a:solidFill>
                  <a:latin typeface="Calibri" panose="020F0502020204030204" pitchFamily="34" charset="0"/>
                </a:rPr>
                <a:t>S</a:t>
              </a:r>
            </a:p>
          </p:txBody>
        </p:sp>
        <p:sp>
          <p:nvSpPr>
            <p:cNvPr id="98317" name="Rectangle 51">
              <a:extLst>
                <a:ext uri="{FF2B5EF4-FFF2-40B4-BE49-F238E27FC236}">
                  <a16:creationId xmlns:a16="http://schemas.microsoft.com/office/drawing/2014/main" id="{A6EF4992-376A-E598-4E49-9D69BB5D7DB4}"/>
                </a:ext>
              </a:extLst>
            </p:cNvPr>
            <p:cNvSpPr>
              <a:spLocks noChangeArrowheads="1"/>
            </p:cNvSpPr>
            <p:nvPr/>
          </p:nvSpPr>
          <p:spPr bwMode="auto">
            <a:xfrm>
              <a:off x="5409" y="2544"/>
              <a:ext cx="23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kumimoji="1" lang="en-US" altLang="ja-JP" sz="2400" b="1">
                  <a:solidFill>
                    <a:srgbClr val="000099"/>
                  </a:solidFill>
                  <a:latin typeface="Calibri" panose="020F0502020204030204" pitchFamily="34" charset="0"/>
                </a:rPr>
                <a:t>D</a:t>
              </a:r>
            </a:p>
          </p:txBody>
        </p:sp>
      </p:grpSp>
      <p:sp>
        <p:nvSpPr>
          <p:cNvPr id="54" name="Rectangle 2">
            <a:extLst>
              <a:ext uri="{FF2B5EF4-FFF2-40B4-BE49-F238E27FC236}">
                <a16:creationId xmlns:a16="http://schemas.microsoft.com/office/drawing/2014/main" id="{2FFEA611-6303-1020-BB86-6EAEE6951689}"/>
              </a:ext>
            </a:extLst>
          </p:cNvPr>
          <p:cNvSpPr txBox="1">
            <a:spLocks noChangeArrowheads="1"/>
          </p:cNvSpPr>
          <p:nvPr/>
        </p:nvSpPr>
        <p:spPr>
          <a:xfrm>
            <a:off x="1600200" y="1143000"/>
            <a:ext cx="4343400" cy="427038"/>
          </a:xfrm>
          <a:prstGeom prst="rect">
            <a:avLst/>
          </a:prstGeom>
        </p:spPr>
        <p:txBody>
          <a:bodyP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b="1" dirty="0">
                <a:latin typeface="Arial Narrow" pitchFamily="34" charset="0"/>
              </a:rPr>
              <a:t>Issues for Scaling </a:t>
            </a:r>
            <a:r>
              <a:rPr lang="en-US" altLang="zh-TW" b="1" i="1" dirty="0" err="1">
                <a:latin typeface="Arial Narrow" pitchFamily="34" charset="0"/>
              </a:rPr>
              <a:t>L</a:t>
            </a:r>
            <a:r>
              <a:rPr lang="en-US" altLang="zh-TW" b="1" i="1" baseline="-25000" dirty="0" err="1">
                <a:latin typeface="Arial Narrow" pitchFamily="34" charset="0"/>
              </a:rPr>
              <a:t>g</a:t>
            </a:r>
            <a:r>
              <a:rPr lang="en-US" altLang="zh-TW" b="1" dirty="0">
                <a:latin typeface="Arial Narrow" pitchFamily="34" charset="0"/>
              </a:rPr>
              <a:t> to &lt;25 nm</a:t>
            </a:r>
            <a:endParaRPr lang="zh-TW" altLang="en-US" b="1" dirty="0">
              <a:latin typeface="Arial Narrow" pitchFamily="34" charset="0"/>
            </a:endParaRPr>
          </a:p>
        </p:txBody>
      </p:sp>
      <p:sp>
        <p:nvSpPr>
          <p:cNvPr id="98311" name="Rectangle 3">
            <a:extLst>
              <a:ext uri="{FF2B5EF4-FFF2-40B4-BE49-F238E27FC236}">
                <a16:creationId xmlns:a16="http://schemas.microsoft.com/office/drawing/2014/main" id="{68FE1EC6-3AB1-071D-096A-1F3F67ED9C19}"/>
              </a:ext>
            </a:extLst>
          </p:cNvPr>
          <p:cNvSpPr txBox="1">
            <a:spLocks noChangeArrowheads="1"/>
          </p:cNvSpPr>
          <p:nvPr/>
        </p:nvSpPr>
        <p:spPr bwMode="auto">
          <a:xfrm>
            <a:off x="1676400" y="1677988"/>
            <a:ext cx="4953000" cy="479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1"/>
              </a:buClr>
              <a:buFont typeface="Arial" panose="020B0604020202020204" pitchFamily="34" charset="0"/>
              <a:buNone/>
            </a:pPr>
            <a:r>
              <a:rPr lang="en-US" altLang="zh-TW" sz="2000" b="1" i="1">
                <a:latin typeface="Arial Narrow" panose="020B0606020202030204" pitchFamily="34" charset="0"/>
              </a:rPr>
              <a:t>V</a:t>
            </a:r>
            <a:r>
              <a:rPr lang="en-US" altLang="zh-TW" sz="2000" b="1" i="1" baseline="-25000">
                <a:latin typeface="Arial Narrow" panose="020B0606020202030204" pitchFamily="34" charset="0"/>
              </a:rPr>
              <a:t>T</a:t>
            </a:r>
            <a:r>
              <a:rPr lang="en-US" altLang="zh-TW" sz="2000" b="1">
                <a:latin typeface="Arial Narrow" panose="020B0606020202030204" pitchFamily="34" charset="0"/>
              </a:rPr>
              <a:t> variation (statistical dopant fluctuations)</a:t>
            </a:r>
          </a:p>
          <a:p>
            <a:pPr eaLnBrk="1" hangingPunct="1">
              <a:spcBef>
                <a:spcPct val="75000"/>
              </a:spcBef>
              <a:buClr>
                <a:schemeClr val="hlink"/>
              </a:buClr>
              <a:buFont typeface="Arial" panose="020B0604020202020204" pitchFamily="34" charset="0"/>
              <a:buNone/>
            </a:pPr>
            <a:r>
              <a:rPr lang="en-US" altLang="zh-TW" sz="2000" b="1">
                <a:solidFill>
                  <a:srgbClr val="FF0000"/>
                </a:solidFill>
                <a:latin typeface="Arial Narrow" panose="020B0606020202030204" pitchFamily="34" charset="0"/>
              </a:rPr>
              <a:t>Leakage</a:t>
            </a:r>
            <a:endParaRPr lang="zh-TW" altLang="en-US" sz="2000" b="1">
              <a:latin typeface="Arial Narrow" panose="020B0606020202030204" pitchFamily="34" charset="0"/>
            </a:endParaRPr>
          </a:p>
        </p:txBody>
      </p:sp>
      <p:pic>
        <p:nvPicPr>
          <p:cNvPr id="98312" name="Picture 4" descr="drops">
            <a:extLst>
              <a:ext uri="{FF2B5EF4-FFF2-40B4-BE49-F238E27FC236}">
                <a16:creationId xmlns:a16="http://schemas.microsoft.com/office/drawing/2014/main" id="{C785DFE3-D8D9-C918-7A5D-9764BB0C0B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0188" y="2590800"/>
            <a:ext cx="1878012"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3" name="Rectangle 5">
            <a:extLst>
              <a:ext uri="{FF2B5EF4-FFF2-40B4-BE49-F238E27FC236}">
                <a16:creationId xmlns:a16="http://schemas.microsoft.com/office/drawing/2014/main" id="{66E6505D-3513-2C2F-2E94-02DAA00C2512}"/>
              </a:ext>
            </a:extLst>
          </p:cNvPr>
          <p:cNvSpPr>
            <a:spLocks noChangeArrowheads="1"/>
          </p:cNvSpPr>
          <p:nvPr/>
        </p:nvSpPr>
        <p:spPr bwMode="auto">
          <a:xfrm>
            <a:off x="1676400" y="5232400"/>
            <a:ext cx="4724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SzPct val="60000"/>
            </a:pPr>
            <a:r>
              <a:rPr lang="en-US" altLang="zh-TW" sz="2000" b="1">
                <a:latin typeface="Arial Narrow" panose="020B0606020202030204" pitchFamily="34" charset="0"/>
              </a:rPr>
              <a:t>Incommensurate gains in </a:t>
            </a:r>
            <a:r>
              <a:rPr lang="en-US" altLang="zh-TW" sz="2000" b="1" i="1">
                <a:latin typeface="Arial Narrow" panose="020B0606020202030204" pitchFamily="34" charset="0"/>
              </a:rPr>
              <a:t>I</a:t>
            </a:r>
            <a:r>
              <a:rPr lang="en-US" altLang="zh-TW" sz="1600" b="1" i="1">
                <a:latin typeface="Arial Narrow" panose="020B0606020202030204" pitchFamily="34" charset="0"/>
              </a:rPr>
              <a:t>dsat</a:t>
            </a:r>
            <a:r>
              <a:rPr lang="en-US" altLang="zh-TW" sz="2000" b="1">
                <a:latin typeface="Arial Narrow" panose="020B0606020202030204" pitchFamily="34" charset="0"/>
              </a:rPr>
              <a:t> with scaling</a:t>
            </a:r>
          </a:p>
          <a:p>
            <a:pPr lvl="1">
              <a:buSzPct val="60000"/>
              <a:buFontTx/>
              <a:buChar char="—"/>
            </a:pPr>
            <a:r>
              <a:rPr lang="en-US" altLang="zh-TW" sz="2000" b="1">
                <a:latin typeface="Arial Narrow" panose="020B0606020202030204" pitchFamily="34" charset="0"/>
              </a:rPr>
              <a:t> limited carrier mobilities</a:t>
            </a:r>
          </a:p>
          <a:p>
            <a:pPr lvl="1">
              <a:buSzPct val="60000"/>
              <a:buFontTx/>
              <a:buChar char="—"/>
            </a:pPr>
            <a:r>
              <a:rPr lang="en-US" altLang="zh-TW" sz="2000" b="1">
                <a:latin typeface="Arial Narrow" panose="020B0606020202030204" pitchFamily="34" charset="0"/>
              </a:rPr>
              <a:t> parasitic resistance</a:t>
            </a:r>
          </a:p>
        </p:txBody>
      </p:sp>
      <p:sp>
        <p:nvSpPr>
          <p:cNvPr id="2" name="Rounded Rectangle 17">
            <a:extLst>
              <a:ext uri="{FF2B5EF4-FFF2-40B4-BE49-F238E27FC236}">
                <a16:creationId xmlns:a16="http://schemas.microsoft.com/office/drawing/2014/main" id="{CB57192F-C4C9-E9F4-178F-8F610972E6EE}"/>
              </a:ext>
            </a:extLst>
          </p:cNvPr>
          <p:cNvSpPr/>
          <p:nvPr/>
        </p:nvSpPr>
        <p:spPr>
          <a:xfrm>
            <a:off x="2792186" y="34987"/>
            <a:ext cx="6676279" cy="90891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Problem Discussion</a:t>
            </a:r>
          </a:p>
        </p:txBody>
      </p:sp>
      <p:pic>
        <p:nvPicPr>
          <p:cNvPr id="3" name="Picture 2">
            <a:extLst>
              <a:ext uri="{FF2B5EF4-FFF2-40B4-BE49-F238E27FC236}">
                <a16:creationId xmlns:a16="http://schemas.microsoft.com/office/drawing/2014/main" id="{AE946310-1E12-9B6E-7DB5-D84EBEF6278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323" y="82918"/>
            <a:ext cx="1477675" cy="858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Times New Roman" panose="02020603050405020304" pitchFamily="18" charset="0"/>
                <a:ea typeface="Calibri"/>
                <a:cs typeface="Times New Roman" panose="02020603050405020304" pitchFamily="18" charset="0"/>
                <a:sym typeface="Calibri"/>
              </a:rPr>
              <a:t>1. </a:t>
            </a:r>
            <a:r>
              <a:rPr lang="en-US" dirty="0">
                <a:solidFill>
                  <a:schemeClr val="bg1"/>
                </a:solidFill>
                <a:latin typeface="Times New Roman" panose="02020603050405020304" pitchFamily="18" charset="0"/>
                <a:cs typeface="Times New Roman" panose="02020603050405020304" pitchFamily="18" charset="0"/>
                <a:sym typeface="Calibri"/>
              </a:rPr>
              <a:t>Which of the following is FALSE for a CMOS Transmission Gate?</a:t>
            </a:r>
            <a:endParaRPr sz="16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1002761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It has one NMOS and one PMOS connected in Parallel</a:t>
            </a:r>
            <a:endParaRPr lang="en-IN" sz="1400" dirty="0">
              <a:latin typeface="Times New Roman" panose="02020603050405020304" pitchFamily="18" charset="0"/>
              <a:cs typeface="Times New Roman" panose="02020603050405020304" pitchFamily="18" charset="0"/>
            </a:endParaRPr>
          </a:p>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Control input is connected to get of NMOS and completed of the control input to get of PMOS</a:t>
            </a:r>
          </a:p>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It has one NMOS and one PMOS connected in series.</a:t>
            </a:r>
            <a:endParaRPr lang="en-IN" sz="1600" dirty="0">
              <a:latin typeface="Times New Roman" panose="02020603050405020304" pitchFamily="18" charset="0"/>
              <a:cs typeface="Times New Roman" panose="02020603050405020304" pitchFamily="18" charset="0"/>
            </a:endParaRP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It works as a controlled electronic switch.</a:t>
            </a:r>
            <a:endParaRPr lang="en-US" sz="1600" dirty="0">
              <a:latin typeface="Times New Roman" panose="02020603050405020304" pitchFamily="18" charset="0"/>
              <a:cs typeface="Times New Roman" panose="02020603050405020304" pitchFamily="18" charset="0"/>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IN" sz="2000" dirty="0">
                <a:solidFill>
                  <a:schemeClr val="bg1"/>
                </a:solidFill>
                <a:latin typeface="Times New Roman" panose="02020603050405020304" pitchFamily="18" charset="0"/>
                <a:ea typeface="Calibri"/>
                <a:cs typeface="Times New Roman" panose="02020603050405020304" pitchFamily="18" charset="0"/>
                <a:sym typeface="Calibri"/>
              </a:rPr>
              <a:t>As compared to other members of the logic family, power dissipation of CMOS is:</a:t>
            </a:r>
            <a:endParaRPr sz="20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10044548"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Zero</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Extremely Low</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Extremely High</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Moderate</a:t>
            </a:r>
            <a:endParaRPr lang="en-US" sz="1600" dirty="0">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542363"/>
          </a:xfrm>
          <a:prstGeom prst="rect">
            <a:avLst/>
          </a:prstGeom>
          <a:noFill/>
        </p:spPr>
        <p:txBody>
          <a:bodyPr wrap="square" rtlCol="0">
            <a:spAutoFit/>
          </a:bodyPr>
          <a:lstStyle/>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Define threshold voltage? Drive the Vt equation for MOS transistor.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Explain with neat diagrams the various NMOS fabrication technology.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 Draw and explain </a:t>
            </a:r>
            <a:r>
              <a:rPr lang="en-IN" sz="1800" b="1" dirty="0" err="1">
                <a:solidFill>
                  <a:schemeClr val="bg2">
                    <a:lumMod val="25000"/>
                  </a:schemeClr>
                </a:solidFill>
                <a:latin typeface="Times New Roman" panose="02020603050405020304" pitchFamily="18" charset="0"/>
                <a:cs typeface="Times New Roman" panose="02020603050405020304" pitchFamily="18" charset="0"/>
              </a:rPr>
              <a:t>BiCMOS</a:t>
            </a:r>
            <a:r>
              <a:rPr lang="en-IN" sz="1800" b="1" dirty="0">
                <a:solidFill>
                  <a:schemeClr val="bg2">
                    <a:lumMod val="25000"/>
                  </a:schemeClr>
                </a:solidFill>
                <a:latin typeface="Times New Roman" panose="02020603050405020304" pitchFamily="18" charset="0"/>
                <a:cs typeface="Times New Roman" panose="02020603050405020304" pitchFamily="18" charset="0"/>
              </a:rPr>
              <a:t> inverter circuit.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 Discuss the Basic Electrical Properties of MOS and </a:t>
            </a:r>
            <a:r>
              <a:rPr lang="en-IN" sz="1800" b="1" dirty="0" err="1">
                <a:solidFill>
                  <a:schemeClr val="bg2">
                    <a:lumMod val="25000"/>
                  </a:schemeClr>
                </a:solidFill>
                <a:latin typeface="Times New Roman" panose="02020603050405020304" pitchFamily="18" charset="0"/>
                <a:cs typeface="Times New Roman" panose="02020603050405020304" pitchFamily="18" charset="0"/>
              </a:rPr>
              <a:t>BiCMOS</a:t>
            </a:r>
            <a:r>
              <a:rPr lang="en-IN" sz="1800" b="1" dirty="0">
                <a:solidFill>
                  <a:schemeClr val="bg2">
                    <a:lumMod val="25000"/>
                  </a:schemeClr>
                </a:solidFill>
                <a:latin typeface="Times New Roman" panose="02020603050405020304" pitchFamily="18" charset="0"/>
                <a:cs typeface="Times New Roman" panose="02020603050405020304" pitchFamily="18" charset="0"/>
              </a:rPr>
              <a:t> Circuits.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 Derive the expression for estimation of Pull-Up to Pull-Down ratio of an n-MOS inverter driven by another n-MOS inverter.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04569"/>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Reference Books: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1. Sung-Mo Kong, Yusuf </a:t>
            </a:r>
            <a:r>
              <a:rPr lang="en-US" dirty="0" err="1">
                <a:latin typeface="Times New Roman" panose="02020603050405020304" pitchFamily="18" charset="0"/>
                <a:cs typeface="Times New Roman" panose="02020603050405020304" pitchFamily="18" charset="0"/>
              </a:rPr>
              <a:t>Leblebici</a:t>
            </a:r>
            <a:r>
              <a:rPr lang="en-US" dirty="0">
                <a:latin typeface="Times New Roman" panose="02020603050405020304" pitchFamily="18" charset="0"/>
                <a:cs typeface="Times New Roman" panose="02020603050405020304" pitchFamily="18" charset="0"/>
              </a:rPr>
              <a:t>, “CMOS Digital Integrated Circuits Analysis and Design” Third Edition.</a:t>
            </a:r>
          </a:p>
          <a:p>
            <a:pPr>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Debaprasad</a:t>
            </a:r>
            <a:r>
              <a:rPr lang="en-US" dirty="0">
                <a:latin typeface="Times New Roman" panose="02020603050405020304" pitchFamily="18" charset="0"/>
                <a:cs typeface="Times New Roman" panose="02020603050405020304" pitchFamily="18" charset="0"/>
              </a:rPr>
              <a:t> Das, “CMOS DESIGN” Second </a:t>
            </a:r>
            <a:r>
              <a:rPr lang="en-US">
                <a:latin typeface="Times New Roman" panose="02020603050405020304" pitchFamily="18" charset="0"/>
                <a:cs typeface="Times New Roman" panose="02020603050405020304" pitchFamily="18" charset="0"/>
              </a:rPr>
              <a:t>Edition.</a:t>
            </a:r>
            <a:endParaRPr lang="en-US" dirty="0">
              <a:latin typeface="Times New Roman" panose="02020603050405020304" pitchFamily="18" charset="0"/>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562</TotalTime>
  <Words>1643</Words>
  <Application>Microsoft Office PowerPoint</Application>
  <PresentationFormat>Widescreen</PresentationFormat>
  <Paragraphs>173</Paragraphs>
  <Slides>21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Arial</vt:lpstr>
      <vt:lpstr>Arial Narrow</vt:lpstr>
      <vt:lpstr>Bell MT</vt:lpstr>
      <vt:lpstr>Calibri</vt:lpstr>
      <vt:lpstr>Calibri Light</vt:lpstr>
      <vt:lpstr>Garamond</vt:lpstr>
      <vt:lpstr>Poppins</vt:lpstr>
      <vt:lpstr>Times New Roman</vt:lpstr>
      <vt:lpstr>Verdana</vt:lpstr>
      <vt:lpstr>Wingdings</vt:lpstr>
      <vt:lpstr>1_Office Theme</vt:lpstr>
      <vt:lpstr>PowerPoint Presentation</vt:lpstr>
      <vt:lpstr>PowerPoint Presentation</vt:lpstr>
      <vt:lpstr>PowerPoint Presentation</vt:lpstr>
      <vt:lpstr>PowerPoint Presentation</vt:lpstr>
      <vt:lpstr>PowerPoint Presentation</vt:lpstr>
      <vt:lpstr>Basic Electrical Properties of MOS and Bi CMOS circuits</vt:lpstr>
      <vt:lpstr>Basic Electrical Properties of MOS and Bi CMOS circuits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Dr.Ashish Kumar</cp:lastModifiedBy>
  <cp:revision>63</cp:revision>
  <dcterms:created xsi:type="dcterms:W3CDTF">2020-02-08T09:57:44Z</dcterms:created>
  <dcterms:modified xsi:type="dcterms:W3CDTF">2022-11-22T11:06:59Z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