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71" r:id="rId5"/>
    <p:sldId id="300" r:id="rId6"/>
    <p:sldId id="258" r:id="rId7"/>
    <p:sldId id="288" r:id="rId8"/>
    <p:sldId id="306" r:id="rId9"/>
    <p:sldId id="307" r:id="rId10"/>
    <p:sldId id="308" r:id="rId11"/>
    <p:sldId id="309" r:id="rId12"/>
    <p:sldId id="310" r:id="rId13"/>
    <p:sldId id="311" r:id="rId14"/>
    <p:sldId id="299" r:id="rId15"/>
    <p:sldId id="285" r:id="rId16"/>
    <p:sldId id="287" r:id="rId17"/>
    <p:sldId id="301" r:id="rId18"/>
    <p:sldId id="302" r:id="rId19"/>
    <p:sldId id="303"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82" d="100"/>
          <a:sy n="82" d="100"/>
        </p:scale>
        <p:origin x="691"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bwrcs.eecs.berkeley.edu/Classes/icdesign/ee141_f01/Notes/chapter5.pdf" TargetMode="External"/><Relationship Id="rId2" Type="http://schemas.openxmlformats.org/officeDocument/2006/relationships/hyperlink" Target="https://www.egr.msu.edu/classes/ece410/mason/files/Ch7.pdf"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23161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VLSI DESIGN</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21EC2211</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MOS inverter Design with various pull - up Enhancement Load</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992171" y="553559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598" y="684469"/>
            <a:ext cx="8791575" cy="3385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r>
              <a:rPr lang="en-US" sz="1600" dirty="0"/>
              <a:t>To nurture students with Concepts of design rules for wires, transistors and contacts. </a:t>
            </a:r>
            <a:endParaRPr lang="en-IN" sz="1600" dirty="0"/>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dirty="0">
                <a:latin typeface="Arial" panose="020B0604020202020204" pitchFamily="34" charset="0"/>
              </a:rPr>
              <a:t>Describe the working principle of CMOS Inverter</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Voltage transfer characteristics of a CMOS Inverter</a:t>
            </a:r>
          </a:p>
          <a:p>
            <a:pPr marL="342900" indent="-342900">
              <a:buAutoNum type="arabicPeriod"/>
            </a:pPr>
            <a:r>
              <a:rPr lang="en-US" sz="1600" dirty="0">
                <a:latin typeface="Arial" panose="020B0604020202020204" pitchFamily="34" charset="0"/>
              </a:rPr>
              <a:t>Describe the Operating regions of the CMOS Inverter</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598" y="4765771"/>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the operating modes of CMOS Inverter</a:t>
            </a:r>
          </a:p>
          <a:p>
            <a:pPr marL="342900" indent="-342900">
              <a:buAutoNum type="arabicPeriod"/>
            </a:pPr>
            <a:r>
              <a:rPr lang="en-US" sz="1600" dirty="0">
                <a:latin typeface="Arial" panose="020B0604020202020204" pitchFamily="34" charset="0"/>
              </a:rPr>
              <a:t>Define the operating regions of CMOS Inverter</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291629" y="1128457"/>
            <a:ext cx="10086536" cy="3365024"/>
          </a:xfrm>
          <a:prstGeom prst="rect">
            <a:avLst/>
          </a:prstGeom>
          <a:noFill/>
        </p:spPr>
        <p:txBody>
          <a:bodyPr wrap="square" rtlCol="0">
            <a:spAutoFit/>
          </a:bodyPr>
          <a:lstStyle/>
          <a:p>
            <a:endParaRPr lang="en-US" dirty="0"/>
          </a:p>
          <a:p>
            <a:pPr algn="ctr">
              <a:lnSpc>
                <a:spcPct val="150000"/>
              </a:lnSpc>
              <a:spcAft>
                <a:spcPts val="1000"/>
              </a:spcAft>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“MOS inverter Design with various pull - up Enhancement Load”</a:t>
            </a:r>
          </a:p>
          <a:p>
            <a:pPr algn="ctr">
              <a:lnSpc>
                <a:spcPct val="150000"/>
              </a:lnSpc>
              <a:spcAft>
                <a:spcPts val="1000"/>
              </a:spcAft>
            </a:pPr>
            <a:endParaRPr lang="en-US" b="1" i="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session starts with the introduction of the CMOS Inverter. </a:t>
            </a: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regions of operation and operating modes are clearly explained.</a:t>
            </a:r>
            <a:endParaRPr lang="en-US" dirty="0"/>
          </a:p>
          <a:p>
            <a:endParaRPr lang="en-US"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214184" y="895662"/>
            <a:ext cx="7447006" cy="5962338"/>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CMOS Inverter: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CMOS, or complementary MOS, inverter uses a pMOS transistor in the pull-up network, and nMOS transistor in the pull-down network, as illustrated in Fig. 2.9. </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 input is at logic low, the pMOS transistor is ON, and the nMOS transistor is OFF. </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Therefore, the output is at logic high. On the other hand, when the input is at logic high, the pMOS transistor is OFF, and the nMOS transistor is ON, and hence the output is at logic low.</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advantage of a CMOS inverter is that as the nMOS and pMOS transistors functionally complement each other, they are never ON together; and hence, there is no direct path from VDD to the ground for static current to flow.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5527F9E4-127A-2B8F-D7CE-18E4A9912C96}"/>
              </a:ext>
            </a:extLst>
          </p:cNvPr>
          <p:cNvPicPr>
            <a:picLocks noChangeAspect="1"/>
          </p:cNvPicPr>
          <p:nvPr/>
        </p:nvPicPr>
        <p:blipFill>
          <a:blip r:embed="rId3"/>
          <a:stretch>
            <a:fillRect/>
          </a:stretch>
        </p:blipFill>
        <p:spPr>
          <a:xfrm>
            <a:off x="7734300" y="1670864"/>
            <a:ext cx="4457700" cy="3648075"/>
          </a:xfrm>
          <a:prstGeom prst="rect">
            <a:avLst/>
          </a:prstGeo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5815913" cy="2798843"/>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Voltage Transfer Characteristics:</a:t>
            </a: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VTC of a CMOS inverter are shown in Fig. 2.10. We see that the VTC curve is divided into five different parts, depending on the operating region of the nMOS and pMOS transistors.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8A99F74-6D09-900B-EBE2-6418EE342761}"/>
              </a:ext>
            </a:extLst>
          </p:cNvPr>
          <p:cNvPicPr>
            <a:picLocks noChangeAspect="1"/>
          </p:cNvPicPr>
          <p:nvPr/>
        </p:nvPicPr>
        <p:blipFill>
          <a:blip r:embed="rId3"/>
          <a:stretch>
            <a:fillRect/>
          </a:stretch>
        </p:blipFill>
        <p:spPr>
          <a:xfrm>
            <a:off x="7436982" y="861710"/>
            <a:ext cx="4279154" cy="3363869"/>
          </a:xfrm>
          <a:prstGeom prst="rect">
            <a:avLst/>
          </a:prstGeom>
        </p:spPr>
      </p:pic>
      <p:pic>
        <p:nvPicPr>
          <p:cNvPr id="7" name="Picture 6">
            <a:extLst>
              <a:ext uri="{FF2B5EF4-FFF2-40B4-BE49-F238E27FC236}">
                <a16:creationId xmlns:a16="http://schemas.microsoft.com/office/drawing/2014/main" id="{708A1764-983E-A393-D040-2659A7E1A0FD}"/>
              </a:ext>
            </a:extLst>
          </p:cNvPr>
          <p:cNvPicPr>
            <a:picLocks noChangeAspect="1"/>
          </p:cNvPicPr>
          <p:nvPr/>
        </p:nvPicPr>
        <p:blipFill>
          <a:blip r:embed="rId4"/>
          <a:stretch>
            <a:fillRect/>
          </a:stretch>
        </p:blipFill>
        <p:spPr>
          <a:xfrm>
            <a:off x="217032" y="3363097"/>
            <a:ext cx="7219950" cy="3019425"/>
          </a:xfrm>
          <a:prstGeom prst="rect">
            <a:avLst/>
          </a:prstGeom>
        </p:spPr>
      </p:pic>
    </p:spTree>
    <p:extLst>
      <p:ext uri="{BB962C8B-B14F-4D97-AF65-F5344CB8AC3E}">
        <p14:creationId xmlns:p14="http://schemas.microsoft.com/office/powerpoint/2010/main" val="28162310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605603" y="737602"/>
            <a:ext cx="5968697" cy="5931560"/>
          </a:xfrm>
          <a:prstGeom prst="rect">
            <a:avLst/>
          </a:prstGeom>
          <a:noFill/>
        </p:spPr>
        <p:txBody>
          <a:bodyPr wrap="square" rtlCol="0">
            <a:spAutoFit/>
          </a:bodyPr>
          <a:lstStyle/>
          <a:p>
            <a:pPr algn="just">
              <a:lnSpc>
                <a:spcPct val="150000"/>
              </a:lnSpc>
              <a:spcAft>
                <a:spcPts val="10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O</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perating regions of the nMOS and pMOS transistors in CMOS Inverter: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Region-1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this region the input is in the range of (0,Vtn).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Since the input voltage is less than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NMOS is in cutoff region.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No current flows from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entire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will appear at the Output terminal.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NMOS is in cutoff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PMOS is in linear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Zero current flows from supply voltage and the power dissipation is zero.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463F625-BAFD-4FA1-9773-6F87DDDFEC15}"/>
              </a:ext>
            </a:extLst>
          </p:cNvPr>
          <p:cNvPicPr>
            <a:picLocks noChangeAspect="1"/>
          </p:cNvPicPr>
          <p:nvPr/>
        </p:nvPicPr>
        <p:blipFill>
          <a:blip r:embed="rId3"/>
          <a:stretch>
            <a:fillRect/>
          </a:stretch>
        </p:blipFill>
        <p:spPr>
          <a:xfrm>
            <a:off x="6697362" y="1017689"/>
            <a:ext cx="5211720" cy="2582662"/>
          </a:xfrm>
          <a:prstGeom prst="rect">
            <a:avLst/>
          </a:prstGeom>
        </p:spPr>
      </p:pic>
    </p:spTree>
    <p:extLst>
      <p:ext uri="{BB962C8B-B14F-4D97-AF65-F5344CB8AC3E}">
        <p14:creationId xmlns:p14="http://schemas.microsoft.com/office/powerpoint/2010/main" val="14937903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605603" y="737602"/>
            <a:ext cx="5968697" cy="5803320"/>
          </a:xfrm>
          <a:prstGeom prst="rect">
            <a:avLst/>
          </a:prstGeom>
          <a:noFill/>
        </p:spPr>
        <p:txBody>
          <a:bodyPr wrap="square" rtlCol="0">
            <a:spAutoFit/>
          </a:bodyPr>
          <a:lstStyle/>
          <a:p>
            <a:pPr algn="just">
              <a:lnSpc>
                <a:spcPct val="150000"/>
              </a:lnSpc>
              <a:spcAft>
                <a:spcPts val="10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O</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perating regions of the nMOS and pMOS transistors in CMOS Inverter: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Region-2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this region the input is in the range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Since the input voltage is greater than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NMOS is conducting and it jumps to saturation as it has large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across it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high).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PMOS still remains in the linear region.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NMOS is in saturation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&gt;Vin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PMOS is in linear region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since both the transistors are conducting some amount of current flows from supply in this</a:t>
            </a:r>
            <a:r>
              <a:rPr lang="en-IN" dirty="0">
                <a:latin typeface="Calibri" panose="020F050202020403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463F625-BAFD-4FA1-9773-6F87DDDFEC15}"/>
              </a:ext>
            </a:extLst>
          </p:cNvPr>
          <p:cNvPicPr>
            <a:picLocks noChangeAspect="1"/>
          </p:cNvPicPr>
          <p:nvPr/>
        </p:nvPicPr>
        <p:blipFill>
          <a:blip r:embed="rId3"/>
          <a:stretch>
            <a:fillRect/>
          </a:stretch>
        </p:blipFill>
        <p:spPr>
          <a:xfrm>
            <a:off x="6697362" y="1017689"/>
            <a:ext cx="5211720" cy="2582662"/>
          </a:xfrm>
          <a:prstGeom prst="rect">
            <a:avLst/>
          </a:prstGeom>
        </p:spPr>
      </p:pic>
    </p:spTree>
    <p:extLst>
      <p:ext uri="{BB962C8B-B14F-4D97-AF65-F5344CB8AC3E}">
        <p14:creationId xmlns:p14="http://schemas.microsoft.com/office/powerpoint/2010/main" val="30353768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605603" y="737602"/>
            <a:ext cx="5968697" cy="2554545"/>
          </a:xfrm>
          <a:prstGeom prst="rect">
            <a:avLst/>
          </a:prstGeom>
          <a:noFill/>
        </p:spPr>
        <p:txBody>
          <a:bodyPr wrap="square" rtlCol="0">
            <a:spAutoFit/>
          </a:bodyPr>
          <a:lstStyle/>
          <a:p>
            <a:pPr algn="just">
              <a:lnSpc>
                <a:spcPct val="150000"/>
              </a:lnSpc>
              <a:spcAft>
                <a:spcPts val="10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O</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perating regions of the nMOS and pMOS transistors in CMOS Inverter: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Region-3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this region the input voltage is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this point the output voltage is also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as one can see in figure.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463F625-BAFD-4FA1-9773-6F87DDDFEC15}"/>
              </a:ext>
            </a:extLst>
          </p:cNvPr>
          <p:cNvPicPr>
            <a:picLocks noChangeAspect="1"/>
          </p:cNvPicPr>
          <p:nvPr/>
        </p:nvPicPr>
        <p:blipFill>
          <a:blip r:embed="rId3"/>
          <a:stretch>
            <a:fillRect/>
          </a:stretch>
        </p:blipFill>
        <p:spPr>
          <a:xfrm>
            <a:off x="6779740" y="709485"/>
            <a:ext cx="5211720" cy="2582662"/>
          </a:xfrm>
          <a:prstGeom prst="rect">
            <a:avLst/>
          </a:prstGeom>
        </p:spPr>
      </p:pic>
      <p:sp>
        <p:nvSpPr>
          <p:cNvPr id="3" name="TextBox 2">
            <a:extLst>
              <a:ext uri="{FF2B5EF4-FFF2-40B4-BE49-F238E27FC236}">
                <a16:creationId xmlns:a16="http://schemas.microsoft.com/office/drawing/2014/main" id="{9C8B0AF9-552B-7727-0E87-B39F76015674}"/>
              </a:ext>
            </a:extLst>
          </p:cNvPr>
          <p:cNvSpPr txBox="1"/>
          <p:nvPr/>
        </p:nvSpPr>
        <p:spPr>
          <a:xfrm>
            <a:off x="653622" y="3429000"/>
            <a:ext cx="11337838" cy="3077766"/>
          </a:xfrm>
          <a:prstGeom prst="rect">
            <a:avLst/>
          </a:prstGeom>
          <a:noFill/>
        </p:spPr>
        <p:txBody>
          <a:bodyPr wrap="square">
            <a:spAutoFit/>
          </a:bodyPr>
          <a:lstStyle/>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this voltage both the NMOS and PMOS are in saturation and the output drops drastically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to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this point a large amount of current flows from the supply. Most of the power consumed in CMOS inverter is at this point.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So care should be taken that the Input should not stay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for more amount of 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NMOS is in saturation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&gt;Vin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PMOS is in saturation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Large amount of current is drawn from supply and hence large power dissipation.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25011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605603" y="737602"/>
            <a:ext cx="6322419" cy="5803320"/>
          </a:xfrm>
          <a:prstGeom prst="rect">
            <a:avLst/>
          </a:prstGeom>
          <a:noFill/>
        </p:spPr>
        <p:txBody>
          <a:bodyPr wrap="square" rtlCol="0">
            <a:spAutoFit/>
          </a:bodyPr>
          <a:lstStyle/>
          <a:p>
            <a:pPr algn="just">
              <a:lnSpc>
                <a:spcPct val="150000"/>
              </a:lnSpc>
              <a:spcAft>
                <a:spcPts val="10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O</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perating regions of the nMOS and pMOS transistors in CMOS Inverter: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Region-4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this region the input voltage is in the range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Here the PMOS remains in saturation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Vin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But the NMOS moves from saturation to linear region since the drain to source voltage now is less than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Vgsn-Vtn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NMOS is in linear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Vin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PMOS is in saturation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medium amount of current is drawn as NMOS is in linear region and power dissipation is low.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463F625-BAFD-4FA1-9773-6F87DDDFEC15}"/>
              </a:ext>
            </a:extLst>
          </p:cNvPr>
          <p:cNvPicPr>
            <a:picLocks noChangeAspect="1"/>
          </p:cNvPicPr>
          <p:nvPr/>
        </p:nvPicPr>
        <p:blipFill>
          <a:blip r:embed="rId3"/>
          <a:stretch>
            <a:fillRect/>
          </a:stretch>
        </p:blipFill>
        <p:spPr>
          <a:xfrm>
            <a:off x="6928022" y="1050641"/>
            <a:ext cx="5178768" cy="2566333"/>
          </a:xfrm>
          <a:prstGeom prst="rect">
            <a:avLst/>
          </a:prstGeom>
        </p:spPr>
      </p:pic>
    </p:spTree>
    <p:extLst>
      <p:ext uri="{BB962C8B-B14F-4D97-AF65-F5344CB8AC3E}">
        <p14:creationId xmlns:p14="http://schemas.microsoft.com/office/powerpoint/2010/main" val="41406458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605603" y="737602"/>
            <a:ext cx="5968697" cy="5006499"/>
          </a:xfrm>
          <a:prstGeom prst="rect">
            <a:avLst/>
          </a:prstGeom>
          <a:noFill/>
        </p:spPr>
        <p:txBody>
          <a:bodyPr wrap="square" rtlCol="0">
            <a:spAutoFit/>
          </a:bodyPr>
          <a:lstStyle/>
          <a:p>
            <a:pPr algn="just">
              <a:lnSpc>
                <a:spcPct val="150000"/>
              </a:lnSpc>
              <a:spcAft>
                <a:spcPts val="1000"/>
              </a:spcAft>
            </a:pPr>
            <a:r>
              <a:rPr lang="en-US" b="1" u="sng" dirty="0">
                <a:latin typeface="Times New Roman" panose="02020603050405020304" pitchFamily="18" charset="0"/>
                <a:ea typeface="Calibri" panose="020F0502020204030204" pitchFamily="34" charset="0"/>
                <a:cs typeface="Times New Roman" panose="02020603050405020304" pitchFamily="18" charset="0"/>
              </a:rPr>
              <a:t>O</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perating regions of the nMOS and pMOS transistors in CMOS Inverter: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Region-5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In this region the input voltage is in the range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Vdd-Vtp,Vdd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Here the PMOS moves from saturation to cutoff as the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is so high that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NMOS still remains in linear as the drain to source voltage now is less than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Vgsn-Vtn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NMOS is in linear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&lt; Vin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PMOS is in cutoff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Vgsp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&gt;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Vtp</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Zero current flows from the supply and so the power dissipation is zero.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7463F625-BAFD-4FA1-9773-6F87DDDFEC15}"/>
              </a:ext>
            </a:extLst>
          </p:cNvPr>
          <p:cNvPicPr>
            <a:picLocks noChangeAspect="1"/>
          </p:cNvPicPr>
          <p:nvPr/>
        </p:nvPicPr>
        <p:blipFill>
          <a:blip r:embed="rId3"/>
          <a:stretch>
            <a:fillRect/>
          </a:stretch>
        </p:blipFill>
        <p:spPr>
          <a:xfrm>
            <a:off x="6697362" y="1017689"/>
            <a:ext cx="5211720" cy="2582662"/>
          </a:xfrm>
          <a:prstGeom prst="rect">
            <a:avLst/>
          </a:prstGeom>
        </p:spPr>
      </p:pic>
    </p:spTree>
    <p:extLst>
      <p:ext uri="{BB962C8B-B14F-4D97-AF65-F5344CB8AC3E}">
        <p14:creationId xmlns:p14="http://schemas.microsoft.com/office/powerpoint/2010/main" val="19026932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238897" y="815927"/>
            <a:ext cx="11714205" cy="6004016"/>
          </a:xfrm>
          <a:prstGeom prst="rect">
            <a:avLst/>
          </a:prstGeom>
          <a:noFill/>
        </p:spPr>
        <p:txBody>
          <a:bodyPr wrap="square" rtlCol="0">
            <a:spAutoFit/>
          </a:bodyPr>
          <a:lstStyle/>
          <a:p>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Activities:</a:t>
            </a: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Design an enhancement type of complementary metal-oxide semiconductor (CMOS) transistors for three-valued logic circuit.</a:t>
            </a:r>
          </a:p>
          <a:p>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Articles: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Y. Yasuda, Y.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Tokuda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Zaima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K. Pak, T. Nakamura and A. Yoshida, "Realization of quaternary logic circuits by n-channel MOS devices," in IEEE Journal of Solid-State Circuits, vol. 21, no. 1, pp. 162-168, Feb. 1986,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10.1109/JSSC.1986.1052493.</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Terman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Lewis M. "MOSFET memory circuits." Proceedings of the IEEE 59, no. 7 (1971): 1044-1058. (https://www.ee.bgu.ac.il/~kushnero/ternary/Using%20CMOS%20gates/Depletion-Enhancement%20CMOS%20Low%20Power%20Three-Valued%20Logic.pdf)</a:t>
            </a: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Case Studies: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NMOS Inverter with Enhancement Load (http://www.ece.mcgill.ca/~grober4/SPICE/SPICE_Decks/1st_Edition/chapter13/Chapter%2013%20MOS%20Digital%20Ccts%20web%20version.html)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Analytical transient response and propagation delay evaluation of the CMOS inverter for short-channel devices (https://www.researchgate.net/publication/2977672_Analytical_transient_response_and_propagation_delay_evaluation_of_the_CMOS_inverter_for_short-channel_devices)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305633" y="2668933"/>
            <a:ext cx="10086536" cy="2535566"/>
          </a:xfrm>
          <a:prstGeom prst="rect">
            <a:avLst/>
          </a:prstGeom>
          <a:noFill/>
        </p:spPr>
        <p:txBody>
          <a:bodyPr wrap="square" rtlCol="0">
            <a:spAutoFit/>
          </a:bodyPr>
          <a:lstStyle/>
          <a:p>
            <a:pPr algn="just" fontAlgn="base">
              <a:lnSpc>
                <a:spcPct val="150000"/>
              </a:lnSpc>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 These are found in mobile devices, digital cameras, home computers, cell phones, routers, network servers, modems &amp; virtually each other electronic device that needs logic functions.</a:t>
            </a:r>
          </a:p>
          <a:p>
            <a:pPr algn="just" fontAlgn="base">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CMOS inverters are the most frequently used flexible MOSFET inverters that are used in designing integrated circuits like CD4069UB CMOS hex inverter, CD4069UBE, CD40106BE, etc. They function through very little power loss &amp; high speed. These inverters are used for generating data in small electronic circuits.</a:t>
            </a:r>
            <a:endParaRPr lang="en-IN"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182066" y="2578317"/>
            <a:ext cx="10086536" cy="709233"/>
          </a:xfrm>
          <a:prstGeom prst="rect">
            <a:avLst/>
          </a:prstGeom>
          <a:noFill/>
        </p:spPr>
        <p:txBody>
          <a:bodyPr wrap="square" rtlCol="0">
            <a:spAutoFit/>
          </a:bodyPr>
          <a:lstStyle/>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MOS inverter with depletion-type nMOS load is discussed in this session. The VTC for CMOS Inverter with various operating modes and regions are also explained.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Draw transfer characteristics of CMOS inverter.</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230851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Summarize the properties of static CMOS inverter.</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7483BB5B-7A6F-1A0C-0DB8-273FFA9B8D04}"/>
              </a:ext>
            </a:extLst>
          </p:cNvPr>
          <p:cNvSpPr/>
          <p:nvPr/>
        </p:nvSpPr>
        <p:spPr>
          <a:xfrm>
            <a:off x="1009895" y="342900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3. What is the condition, at which the CMOS inverter becomes saturated?</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3" name="Google Shape;502;p17">
            <a:extLst>
              <a:ext uri="{FF2B5EF4-FFF2-40B4-BE49-F238E27FC236}">
                <a16:creationId xmlns:a16="http://schemas.microsoft.com/office/drawing/2014/main" id="{85A295FE-5838-D2E0-5A99-9F2C7B3953A7}"/>
              </a:ext>
            </a:extLst>
          </p:cNvPr>
          <p:cNvSpPr/>
          <p:nvPr/>
        </p:nvSpPr>
        <p:spPr>
          <a:xfrm>
            <a:off x="1009895" y="464435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a:solidFill>
                  <a:schemeClr val="bg1"/>
                </a:solidFill>
                <a:latin typeface="Poppins" panose="00000500000000000000" pitchFamily="2" charset="0"/>
                <a:ea typeface="Calibri"/>
                <a:cs typeface="Poppins" panose="00000500000000000000" pitchFamily="2" charset="0"/>
                <a:sym typeface="Calibri"/>
              </a:rPr>
              <a:t>Define Threshold voltage.</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P spid="2" grpId="0" animBg="1"/>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185435" y="2395055"/>
            <a:ext cx="9608234" cy="1156022"/>
          </a:xfrm>
          <a:prstGeom prst="rect">
            <a:avLst/>
          </a:prstGeom>
          <a:noFill/>
        </p:spPr>
        <p:txBody>
          <a:bodyPr wrap="square" rtlCol="0">
            <a:spAutoFit/>
          </a:bodyPr>
          <a:lstStyle/>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Derive the expression for transfer characteristics of CMOS Inverter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With reference to the Operating regions of the nMOS and the pMOS transistors, illustrate the working principle of CMOS Inverter.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600076"/>
            <a:ext cx="9608234" cy="5718617"/>
          </a:xfrm>
          <a:prstGeom prst="rect">
            <a:avLst/>
          </a:prstGeom>
          <a:noFill/>
        </p:spPr>
        <p:txBody>
          <a:bodyPr wrap="square" rtlCol="0">
            <a:spAutoFit/>
          </a:bodyPr>
          <a:lstStyle/>
          <a:p>
            <a:pPr>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1.Douglas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Pucknell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&amp; Kamran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Eshraghian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Basic VLSI Design, PHI, 3rd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Neil 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Weste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David Harris, Ayan Banerjee, CMOS VLSI Design, A Circuits and Systems Perspective, Pearson Education, 4th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Sung-Mo Kang, Yusuf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Leblebici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CMOS Digital Integrated Circuits Analysis and Design, Tata Mc-Graw-Hill, 3rd Ed., 2003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Jab 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Rabaey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Anantha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Chandra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Kasan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Borivoje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Nikolic, Digital Integrated Circuits - A Design Perspective, PHI, 2</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Ed., 2012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Michal John Sebastian Smith, Application-Specific Integrated Circuits, Pearson Education, 6th Ed., 2009</a:t>
            </a:r>
            <a:endParaRPr lang="en-US" dirty="0"/>
          </a:p>
          <a:p>
            <a:pPr>
              <a:lnSpc>
                <a:spcPct val="150000"/>
              </a:lnSpc>
            </a:pPr>
            <a:r>
              <a:rPr lang="en-US" b="1" dirty="0"/>
              <a:t>Sites and Web links: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https://www.egr.msu.edu/classes/ece410/mason/files/Ch7.pdf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2.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http://bwrcs.eecs.berkeley.edu/Classes/icdesign/ee141_f01/Notes/chapter5.pdf</a:t>
            </a:r>
            <a:endParaRPr lang="en-US" u="sng" dirty="0"/>
          </a:p>
          <a:p>
            <a:pPr>
              <a:lnSpc>
                <a:spcPct val="150000"/>
              </a:lnSpc>
            </a:pPr>
            <a:r>
              <a:rPr lang="en-US" dirty="0"/>
              <a:t>3. https://nptelvideos.com/video.php?id=1317</a:t>
            </a:r>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181</TotalTime>
  <Words>1620</Words>
  <Application>Microsoft Office PowerPoint</Application>
  <PresentationFormat>Widescreen</PresentationFormat>
  <Paragraphs>124</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Naren Das</cp:lastModifiedBy>
  <cp:revision>53</cp:revision>
  <dcterms:created xsi:type="dcterms:W3CDTF">2020-02-08T09:57:44Z</dcterms:created>
  <dcterms:modified xsi:type="dcterms:W3CDTF">2022-11-25T09:20:29Z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