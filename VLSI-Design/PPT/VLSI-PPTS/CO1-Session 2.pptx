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2"/>
  </p:notesMasterIdLst>
  <p:sldIdLst>
    <p:sldId id="271" r:id="rId5"/>
    <p:sldId id="300" r:id="rId6"/>
    <p:sldId id="288" r:id="rId7"/>
    <p:sldId id="306" r:id="rId8"/>
    <p:sldId id="290" r:id="rId9"/>
    <p:sldId id="305" r:id="rId10"/>
    <p:sldId id="309" r:id="rId11"/>
    <p:sldId id="299" r:id="rId12"/>
    <p:sldId id="310" r:id="rId13"/>
    <p:sldId id="311" r:id="rId14"/>
    <p:sldId id="312" r:id="rId15"/>
    <p:sldId id="285" r:id="rId16"/>
    <p:sldId id="287" r:id="rId17"/>
    <p:sldId id="301" r:id="rId18"/>
    <p:sldId id="302" r:id="rId19"/>
    <p:sldId id="303" r:id="rId20"/>
    <p:sldId id="30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9E4C"/>
    <a:srgbClr val="FF9900"/>
    <a:srgbClr val="E84845"/>
    <a:srgbClr val="FAD2D2"/>
    <a:srgbClr val="A81E24"/>
    <a:srgbClr val="FFF2CC"/>
    <a:srgbClr val="CF2F33"/>
    <a:srgbClr val="BA2532"/>
    <a:srgbClr val="E3293B"/>
    <a:srgbClr val="FFF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89"/>
  </p:normalViewPr>
  <p:slideViewPr>
    <p:cSldViewPr snapToGrid="0">
      <p:cViewPr varScale="1">
        <p:scale>
          <a:sx n="44" d="100"/>
          <a:sy n="44" d="100"/>
        </p:scale>
        <p:origin x="36" y="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pPr/>
              <a:t>11/17/2022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5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16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24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91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9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97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45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970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8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51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62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892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F4508AD-1BA8-6D49-AD89-BB8C58C99DD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CAD2B12-09F5-6D4A-9C1D-AFF6A38F62BF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72F43C-0ACD-CF48-BDDC-4CA06CD195D7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D4A3453C-FFE4-E949-B42B-748B5090DD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A8F9C9-F65C-BB4A-BF8E-4636F166836D}"/>
              </a:ext>
            </a:extLst>
          </p:cNvPr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  <p:extLst>
      <p:ext uri="{BB962C8B-B14F-4D97-AF65-F5344CB8AC3E}">
        <p14:creationId xmlns:p14="http://schemas.microsoft.com/office/powerpoint/2010/main" val="62684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-1" y="16329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394455" y="1933408"/>
            <a:ext cx="6902548" cy="2185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BioRhyme ExtraBold"/>
              </a:rPr>
              <a:t>VLSI Design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BioRhyme ExtraBold"/>
              </a:rPr>
              <a:t>COURSE CODE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BioRhyme ExtraBold"/>
              <a:cs typeface="Times New Roman" panose="02020603050405020304" pitchFamily="18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BioRhyme ExtraBold"/>
                <a:cs typeface="Times New Roman" panose="02020603050405020304" pitchFamily="18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 Technology</a:t>
            </a:r>
            <a:endParaRPr lang="en-US" sz="3200" b="1" dirty="0">
              <a:solidFill>
                <a:srgbClr val="C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5899355" y="492137"/>
            <a:ext cx="5909187" cy="830956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5658320" y="492137"/>
            <a:ext cx="6410633" cy="83095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and Communication Engineering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623168" y="4758078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- 2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914400" y="684469"/>
            <a:ext cx="10731286" cy="79611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the basic </a:t>
            </a:r>
            <a:r>
              <a:rPr lang="en-US" sz="1600" dirty="0">
                <a:latin typeface="Poppins"/>
                <a:cs typeface="Poppins"/>
              </a:rPr>
              <a:t>idea about MOS Transistors and Their </a:t>
            </a:r>
            <a:r>
              <a:rPr lang="en-US" sz="1600" dirty="0" err="1">
                <a:latin typeface="Poppins"/>
                <a:cs typeface="Poppins"/>
              </a:rPr>
              <a:t>Varios</a:t>
            </a:r>
            <a:r>
              <a:rPr lang="en-US" sz="1600" dirty="0">
                <a:latin typeface="Poppins"/>
                <a:cs typeface="Poppins"/>
              </a:rPr>
              <a:t> Types</a:t>
            </a:r>
            <a:endParaRPr lang="en-US" sz="1600" b="0" i="0" dirty="0">
              <a:effectLst/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8791575" cy="10772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Discuss the MOS Technology.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the kinds of MOS Transistors and their Applications.</a:t>
            </a: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752600" y="4890606"/>
            <a:ext cx="8791575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Discuss MOS Technology and Their Uses.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Discuss the all kinds of MOS Transistor and their applications.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Summarize the theory of MOS Technology and Applications.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MOS Technology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6" name="TextBox 25"/>
          <p:cNvSpPr txBox="1"/>
          <p:nvPr/>
        </p:nvSpPr>
        <p:spPr>
          <a:xfrm>
            <a:off x="1139483" y="984738"/>
            <a:ext cx="10176217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§"/>
              <a:defRPr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 technology is considered as one of the very important and promising technologies in the VLSI design process. </a:t>
            </a:r>
          </a:p>
          <a:p>
            <a:pPr algn="just">
              <a:buFont typeface="Wingdings" pitchFamily="2" charset="2"/>
              <a:buChar char="§"/>
              <a:defRPr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itchFamily="2" charset="2"/>
              <a:buChar char="§"/>
              <a:defRPr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circuit designs are realized based on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pMOS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nMOS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CMOS and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BiCMOS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devices. </a:t>
            </a:r>
          </a:p>
          <a:p>
            <a:pPr algn="just">
              <a:buFont typeface="Wingdings" pitchFamily="2" charset="2"/>
              <a:buChar char="§"/>
              <a:defRPr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itchFamily="2" charset="2"/>
              <a:buChar char="§"/>
              <a:defRPr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itchFamily="2" charset="2"/>
              <a:buChar char="§"/>
              <a:defRPr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devices are based on the p-channel MOS transistors. </a:t>
            </a:r>
          </a:p>
          <a:p>
            <a:pPr algn="just">
              <a:defRPr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-Specifically, the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pMOS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channel is part of a n-type substrate lying between two heavily doped p+ wells beneath the source and drain electrodes. </a:t>
            </a:r>
          </a:p>
          <a:p>
            <a:pPr algn="just">
              <a:defRPr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-Generally speaking, a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pMOS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transistor is only constructed in consort with an NMOS transistor. </a:t>
            </a:r>
          </a:p>
          <a:p>
            <a:pPr algn="just">
              <a:buFont typeface="Wingdings" pitchFamily="2" charset="2"/>
              <a:buChar char="§"/>
              <a:defRPr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itchFamily="2" charset="2"/>
              <a:buChar char="§"/>
              <a:defRPr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itchFamily="2" charset="2"/>
              <a:buChar char="§"/>
              <a:defRPr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nMOS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technology and design processes provide an excellent background for other technologies.</a:t>
            </a:r>
          </a:p>
          <a:p>
            <a:pPr algn="just">
              <a:defRPr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-In particular, some familiarity with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nMOS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a relatively easy transition to CMOS technology and design.</a:t>
            </a:r>
          </a:p>
          <a:p>
            <a:pPr algn="just">
              <a:defRPr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itchFamily="2" charset="2"/>
              <a:buChar char="§"/>
              <a:defRPr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techniques employed in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nMOS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technology for logic design are like GaAs technology.. </a:t>
            </a:r>
          </a:p>
          <a:p>
            <a:pPr algn="just">
              <a:defRPr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itchFamily="2" charset="2"/>
              <a:buChar char="§"/>
              <a:defRPr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understanding the basics of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nMOS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will help in the layout of GaAs circuits</a:t>
            </a:r>
          </a:p>
        </p:txBody>
      </p:sp>
    </p:spTree>
    <p:extLst>
      <p:ext uri="{BB962C8B-B14F-4D97-AF65-F5344CB8AC3E}">
        <p14:creationId xmlns:p14="http://schemas.microsoft.com/office/powerpoint/2010/main" val="680355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73653" y="95400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 Technology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6" name="TextBox 25"/>
          <p:cNvSpPr txBox="1"/>
          <p:nvPr/>
        </p:nvSpPr>
        <p:spPr>
          <a:xfrm>
            <a:off x="775688" y="1166842"/>
            <a:ext cx="633303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§"/>
              <a:defRPr/>
            </a:pPr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addition to VLSI technology, </a:t>
            </a:r>
          </a:p>
          <a:p>
            <a:pPr algn="just">
              <a:defRPr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-the VLSI design processes also provides a new degree of freedom for designers which helps for the significant developments. </a:t>
            </a:r>
          </a:p>
          <a:p>
            <a:pPr algn="just">
              <a:defRPr/>
            </a:pPr>
            <a:endParaRPr lang="en-IN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itchFamily="2" charset="2"/>
              <a:buChar char="§"/>
              <a:defRPr/>
            </a:pPr>
            <a:r>
              <a:rPr lang="en-IN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the rapid advances in technology the </a:t>
            </a:r>
            <a:r>
              <a:rPr lang="en-IN" b="1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IN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size of the ICs is shrinking, and the integration density is increasing.</a:t>
            </a:r>
          </a:p>
          <a:p>
            <a:pPr algn="just">
              <a:buFont typeface="Wingdings" pitchFamily="2" charset="2"/>
              <a:buChar char="§"/>
              <a:defRPr/>
            </a:pPr>
            <a:endParaRPr lang="en-IN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itchFamily="2" charset="2"/>
              <a:buChar char="§"/>
              <a:defRPr/>
            </a:pPr>
            <a:r>
              <a:rPr lang="en-IN" b="1" dirty="0">
                <a:solidFill>
                  <a:srgbClr val="3027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minimum line width of commercial products over the years is shown in the graph below. </a:t>
            </a:r>
          </a:p>
          <a:p>
            <a:pPr algn="just">
              <a:buFont typeface="Wingdings" pitchFamily="2" charset="2"/>
              <a:buChar char="§"/>
              <a:defRPr/>
            </a:pPr>
            <a:endParaRPr lang="en-US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itchFamily="2" charset="2"/>
              <a:buChar char="§"/>
              <a:defRPr/>
            </a:pPr>
            <a:endParaRPr lang="en-US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itchFamily="2" charset="2"/>
              <a:buChar char="§"/>
              <a:defRPr/>
            </a:pPr>
            <a:endParaRPr lang="en-US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itchFamily="2" charset="2"/>
              <a:buChar char="§"/>
              <a:defRPr/>
            </a:pPr>
            <a:r>
              <a:rPr lang="en-IN" b="1" dirty="0">
                <a:solidFill>
                  <a:srgbClr val="3027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graph shows a significant decrease in the size of the chip in recent years which implicitly indicates the advancements in the VLSI technology. 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813E4D43-C968-E5F8-3E0F-75AC702F1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8721" y="2004822"/>
            <a:ext cx="4925435" cy="2418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4023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121964" y="70605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 Transistors Symbols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6B4567D6-3E2C-5931-5E8B-E665049C2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5737" y="885771"/>
            <a:ext cx="6740525" cy="421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DC1A14-A9BD-4353-B722-195BCE745991}"/>
              </a:ext>
            </a:extLst>
          </p:cNvPr>
          <p:cNvSpPr txBox="1"/>
          <p:nvPr/>
        </p:nvSpPr>
        <p:spPr>
          <a:xfrm>
            <a:off x="4204045" y="5105346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800" b="1" dirty="0" err="1">
                <a:solidFill>
                  <a:schemeClr val="bg2">
                    <a:lumMod val="25000"/>
                  </a:schemeClr>
                </a:solidFill>
              </a:rPr>
              <a:t>Figure.MOS</a:t>
            </a:r>
            <a:r>
              <a:rPr lang="en-US" sz="1800" b="1" dirty="0">
                <a:solidFill>
                  <a:schemeClr val="bg2">
                    <a:lumMod val="25000"/>
                  </a:schemeClr>
                </a:solidFill>
              </a:rPr>
              <a:t> Transistor Symbols</a:t>
            </a:r>
            <a:endParaRPr lang="en-IN" sz="1800" b="1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424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121964" y="70605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 Transistors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B9740EA-CEF1-E056-0A3C-1078869B95A1}"/>
              </a:ext>
            </a:extLst>
          </p:cNvPr>
          <p:cNvSpPr txBox="1"/>
          <p:nvPr/>
        </p:nvSpPr>
        <p:spPr>
          <a:xfrm>
            <a:off x="1484671" y="924519"/>
            <a:ext cx="922265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Wingdings" pitchFamily="2" charset="2"/>
              <a:buChar char="§"/>
              <a:defRPr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 Transistors initially built on a silicon substrate.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Silicon which is a group IV material is the eighth most common element in the universe by mass,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very rarely occurs as the pure free element in nature.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itchFamily="2" charset="2"/>
              <a:buChar char="§"/>
              <a:defRPr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itchFamily="2" charset="2"/>
              <a:buChar char="§"/>
              <a:defRPr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most widely distributed in dusts,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sands, planetoids, and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planets as various forms of silicon dioxide (silica) or silicates.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forms crystal lattice with bonds to four neighbours. </a:t>
            </a:r>
          </a:p>
          <a:p>
            <a:pPr algn="just">
              <a:defRPr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itchFamily="2" charset="2"/>
              <a:buChar char="§"/>
              <a:defRPr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Silicon is a semiconductor. Pure silicon has no free carriers and conducts poorly.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adding dopants to silicon increases its conductivity.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group V material i.e. an extra electron is added, it forms an n-type semiconductor.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group III material i.e. missing electron pattern is formed (hole),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resulting semiconductor is called a p-type semiconductor.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itchFamily="2" charset="2"/>
              <a:buChar char="§"/>
              <a:defRPr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buFont typeface="Wingdings" pitchFamily="2" charset="2"/>
              <a:buChar char="§"/>
              <a:defRPr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junction between p-type and n-type semiconductor forms a conduction path. </a:t>
            </a:r>
          </a:p>
          <a:p>
            <a:pPr lvl="1" algn="just">
              <a:buFont typeface="Wingdings" pitchFamily="2" charset="2"/>
              <a:buChar char="§"/>
              <a:defRPr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and Drain of the Metal Oxide Semiconductor (MOS) Transistor is formed by the “doped” regions on the  surface of chip.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Oxide layer is formed by means of deposition of the silicon dioxide (SiO2) layer which forms as an insulator and is a very thin pattern </a:t>
            </a:r>
          </a:p>
        </p:txBody>
      </p:sp>
    </p:spTree>
    <p:extLst>
      <p:ext uri="{BB962C8B-B14F-4D97-AF65-F5344CB8AC3E}">
        <p14:creationId xmlns:p14="http://schemas.microsoft.com/office/powerpoint/2010/main" val="3385424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121964" y="70605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Schematic of PMOS and NMOS Transistors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B9740EA-CEF1-E056-0A3C-1078869B95A1}"/>
              </a:ext>
            </a:extLst>
          </p:cNvPr>
          <p:cNvSpPr txBox="1"/>
          <p:nvPr/>
        </p:nvSpPr>
        <p:spPr>
          <a:xfrm>
            <a:off x="1990725" y="4582119"/>
            <a:ext cx="96840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Wingdings" pitchFamily="2" charset="2"/>
              <a:buChar char="§"/>
              <a:defRPr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1.5  shows the schematic of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pMOS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nMOS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Transistors with Channel and without Channel.</a:t>
            </a:r>
            <a:endParaRPr lang="en-IN" sz="1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5698E127-B3FB-6909-1E8A-8C78D4F17D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946047"/>
            <a:ext cx="5715000" cy="2141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C64D7DB-E674-D995-1EFF-E3B4586B2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39" y="1907154"/>
            <a:ext cx="5734050" cy="221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7715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18B84F3E-0BAB-4FEE-A20F-074E440ADCC6}"/>
              </a:ext>
            </a:extLst>
          </p:cNvPr>
          <p:cNvSpPr/>
          <p:nvPr/>
        </p:nvSpPr>
        <p:spPr>
          <a:xfrm>
            <a:off x="2274963" y="94372"/>
            <a:ext cx="9147998" cy="72155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of MOS Transistors</a:t>
            </a:r>
          </a:p>
        </p:txBody>
      </p:sp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53" y="118790"/>
            <a:ext cx="1827204" cy="721555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1861457" y="1219100"/>
            <a:ext cx="914799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21DDD9-0C07-A413-F6CF-EA12185A9F17}"/>
              </a:ext>
            </a:extLst>
          </p:cNvPr>
          <p:cNvSpPr txBox="1"/>
          <p:nvPr/>
        </p:nvSpPr>
        <p:spPr>
          <a:xfrm>
            <a:off x="1861457" y="1076972"/>
            <a:ext cx="9147998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Wingdings" pitchFamily="2" charset="2"/>
              <a:buChar char="§"/>
              <a:defRPr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depletion mode devices are doped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that a channel exists even with zero voltage from gate to source during manufacturing of the device. </a:t>
            </a:r>
          </a:p>
          <a:p>
            <a:pPr algn="just">
              <a:buFont typeface="Wingdings" pitchFamily="2" charset="2"/>
              <a:buChar char="§"/>
              <a:defRPr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itchFamily="2" charset="2"/>
              <a:buChar char="§"/>
              <a:defRPr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 the channel always appears in the device. </a:t>
            </a:r>
          </a:p>
          <a:p>
            <a:pPr algn="just">
              <a:buFont typeface="Wingdings" pitchFamily="2" charset="2"/>
              <a:buChar char="§"/>
              <a:defRPr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itchFamily="2" charset="2"/>
              <a:buChar char="§"/>
              <a:defRPr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control the channel,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negative voltage is applied to the gate (for an N-channel device),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depleting the channel, which reduces the current flow through the device.</a:t>
            </a:r>
          </a:p>
          <a:p>
            <a:pPr algn="just">
              <a:buFont typeface="Wingdings" pitchFamily="2" charset="2"/>
              <a:buChar char="§"/>
              <a:defRPr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itchFamily="2" charset="2"/>
              <a:buChar char="§"/>
              <a:defRPr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essence, the depletion-mode device is equivalent to a closed (ON) switch,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the enhancement-mode device does not have the built-in channel and is equivalent to an open (OFF) switch. </a:t>
            </a:r>
          </a:p>
          <a:p>
            <a:pPr algn="just">
              <a:buFont typeface="Wingdings" pitchFamily="2" charset="2"/>
              <a:buChar char="§"/>
              <a:defRPr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itchFamily="2" charset="2"/>
              <a:buChar char="§"/>
              <a:defRPr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the difficulty of turning off the depletion mode devices, they are rarely used </a:t>
            </a:r>
          </a:p>
          <a:p>
            <a:pPr algn="just">
              <a:buFont typeface="Wingdings" pitchFamily="2" charset="2"/>
              <a:buChar char="§"/>
              <a:defRPr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itchFamily="2" charset="2"/>
              <a:buChar char="§"/>
              <a:defRPr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itchFamily="2" charset="2"/>
              <a:buChar char="§"/>
              <a:defRPr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itchFamily="2" charset="2"/>
              <a:buChar char="§"/>
              <a:defRPr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enhancement mode devices do not have the in-built channel.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applying the required potentials, the channel can be formed. </a:t>
            </a:r>
          </a:p>
          <a:p>
            <a:pPr algn="just">
              <a:buFont typeface="Wingdings" pitchFamily="2" charset="2"/>
              <a:buChar char="§"/>
              <a:defRPr/>
            </a:pP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itchFamily="2" charset="2"/>
              <a:buChar char="§"/>
              <a:defRPr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Also, for the MOS devices, there is a threshold voltage (Vt),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below which not enough charges will be attracted for the channel to be formed. </a:t>
            </a:r>
          </a:p>
          <a:p>
            <a:pPr lvl="1" algn="just">
              <a:buFont typeface="Wingdings" pitchFamily="2" charset="2"/>
              <a:buChar char="§"/>
              <a:defRPr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itchFamily="2" charset="2"/>
              <a:buChar char="§"/>
              <a:defRPr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threshold voltage for a MOS transistor is a function of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doping levels  &amp;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thickness of the oxide layer.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1A4AD2-1572-E9A3-C473-33D5175A5D30}"/>
              </a:ext>
            </a:extLst>
          </p:cNvPr>
          <p:cNvSpPr/>
          <p:nvPr/>
        </p:nvSpPr>
        <p:spPr>
          <a:xfrm>
            <a:off x="1934894" y="3959225"/>
            <a:ext cx="4500562" cy="3698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IN" b="1" dirty="0"/>
              <a:t>Working of Enhancement Mode Transistor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01463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18B84F3E-0BAB-4FEE-A20F-074E440ADCC6}"/>
              </a:ext>
            </a:extLst>
          </p:cNvPr>
          <p:cNvSpPr/>
          <p:nvPr/>
        </p:nvSpPr>
        <p:spPr>
          <a:xfrm>
            <a:off x="2274963" y="94372"/>
            <a:ext cx="9147998" cy="72155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of MOS Transistors (Conti..)</a:t>
            </a:r>
          </a:p>
        </p:txBody>
      </p:sp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53" y="118790"/>
            <a:ext cx="1827204" cy="721555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1861457" y="1219100"/>
            <a:ext cx="914799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3E4D71-B498-2204-059B-B73B8254B88C}"/>
              </a:ext>
            </a:extLst>
          </p:cNvPr>
          <p:cNvSpPr/>
          <p:nvPr/>
        </p:nvSpPr>
        <p:spPr>
          <a:xfrm>
            <a:off x="1714500" y="1219100"/>
            <a:ext cx="8616042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itchFamily="2" charset="2"/>
              <a:buChar char="§"/>
              <a:defRPr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itchFamily="2" charset="2"/>
              <a:buChar char="§"/>
              <a:defRPr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maximum voltage greater than the threshold voltage Vt (i.e.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Vgs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Vt) is applied,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high concentration of negative charge carriers forms an inversion layer located by a thin layer next to the interface between the semiconductor and the oxide insulator. </a:t>
            </a:r>
          </a:p>
          <a:p>
            <a:pPr lvl="1" algn="just">
              <a:buFont typeface="Wingdings" pitchFamily="2" charset="2"/>
              <a:buChar char="§"/>
              <a:defRPr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forms a channel between the source and drain of the transistor.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shown in the Figure 1.7 (b).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F38235-A8EB-F711-01D0-EDAB8FE73535}"/>
              </a:ext>
            </a:extLst>
          </p:cNvPr>
          <p:cNvSpPr/>
          <p:nvPr/>
        </p:nvSpPr>
        <p:spPr>
          <a:xfrm>
            <a:off x="1861458" y="1321696"/>
            <a:ext cx="1845128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2: </a:t>
            </a:r>
            <a:r>
              <a:rPr lang="en-IN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Vgs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Vt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33E4F2-3FAF-E7AC-80AF-12F7DDB12AE4}"/>
              </a:ext>
            </a:extLst>
          </p:cNvPr>
          <p:cNvSpPr/>
          <p:nvPr/>
        </p:nvSpPr>
        <p:spPr>
          <a:xfrm>
            <a:off x="3170801" y="6265004"/>
            <a:ext cx="575480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1.7: (b) Formation of Channel for charge transport.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F811B26B-4EEE-6B2B-EB9C-6848D5B5EB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1340" y="3907566"/>
            <a:ext cx="6700838" cy="235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97168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18B84F3E-0BAB-4FEE-A20F-074E440ADCC6}"/>
              </a:ext>
            </a:extLst>
          </p:cNvPr>
          <p:cNvSpPr/>
          <p:nvPr/>
        </p:nvSpPr>
        <p:spPr>
          <a:xfrm>
            <a:off x="2274963" y="94372"/>
            <a:ext cx="9147998" cy="72155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of MOS Transistors (Conti..)</a:t>
            </a:r>
          </a:p>
        </p:txBody>
      </p:sp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53" y="118790"/>
            <a:ext cx="1827204" cy="721555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1861457" y="1219100"/>
            <a:ext cx="914799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3E4D71-B498-2204-059B-B73B8254B88C}"/>
              </a:ext>
            </a:extLst>
          </p:cNvPr>
          <p:cNvSpPr/>
          <p:nvPr/>
        </p:nvSpPr>
        <p:spPr>
          <a:xfrm>
            <a:off x="1714500" y="1219100"/>
            <a:ext cx="9708461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Wingdings" pitchFamily="2" charset="2"/>
              <a:buChar char="§"/>
              <a:defRPr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positive 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Vds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reverse biases the drain substrate junction,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 the depletion region around the drain widens, and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 drain is adjacent to the gate edge, the depletion region widens in the channel.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shown in Figure 1.7 (c). </a:t>
            </a:r>
          </a:p>
          <a:p>
            <a:pPr algn="just">
              <a:buFont typeface="Wingdings" pitchFamily="2" charset="2"/>
              <a:buChar char="§"/>
              <a:defRPr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results in flow of electron from source to drain resulting in current Ids..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device is said to operate in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region during this phase.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itchFamily="2" charset="2"/>
              <a:buChar char="§"/>
              <a:defRPr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Further increase in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Vds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 the reverse bias on the drain substrate junction in contact with the inversion layer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causes inversion layer density to decrease.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shown in Figure 1.7 (d). </a:t>
            </a:r>
          </a:p>
          <a:p>
            <a:pPr algn="just">
              <a:buFont typeface="Wingdings" pitchFamily="2" charset="2"/>
              <a:buChar char="§"/>
              <a:defRPr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point at which the inversion layer density becomes very small (nearly zero) at the drain end is termed pinch-off.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 of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Vds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pinch-off is denoted as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Vds,sat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termed as saturation region for the MOS device. 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itchFamily="2" charset="2"/>
              <a:buChar char="§"/>
              <a:defRPr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Diffusion current completes the path from source to drain in this case,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causing the channel to exhibit a high resistance and behaves as a constant current source.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33E4F2-3FAF-E7AC-80AF-12F7DDB12AE4}"/>
              </a:ext>
            </a:extLst>
          </p:cNvPr>
          <p:cNvSpPr/>
          <p:nvPr/>
        </p:nvSpPr>
        <p:spPr>
          <a:xfrm>
            <a:off x="2864472" y="6411965"/>
            <a:ext cx="6463056" cy="351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1.7: (b) Schematic representation of linear and saturation region.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23DBA51-AB85-E344-949C-36DF3782A0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48"/>
          <a:stretch/>
        </p:blipFill>
        <p:spPr bwMode="auto">
          <a:xfrm>
            <a:off x="3094601" y="4474242"/>
            <a:ext cx="5330942" cy="192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94611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18B84F3E-0BAB-4FEE-A20F-074E440ADCC6}"/>
              </a:ext>
            </a:extLst>
          </p:cNvPr>
          <p:cNvSpPr/>
          <p:nvPr/>
        </p:nvSpPr>
        <p:spPr>
          <a:xfrm>
            <a:off x="2274963" y="94372"/>
            <a:ext cx="9147998" cy="72155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of MOS Transistors (Conti..)</a:t>
            </a:r>
          </a:p>
        </p:txBody>
      </p:sp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53" y="118790"/>
            <a:ext cx="1827204" cy="721555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1861457" y="1219100"/>
            <a:ext cx="914799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3E4D71-B498-2204-059B-B73B8254B88C}"/>
              </a:ext>
            </a:extLst>
          </p:cNvPr>
          <p:cNvSpPr/>
          <p:nvPr/>
        </p:nvSpPr>
        <p:spPr>
          <a:xfrm>
            <a:off x="1714500" y="1219100"/>
            <a:ext cx="970846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Wingdings" pitchFamily="2" charset="2"/>
              <a:buChar char="§"/>
              <a:defRPr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MOSFET ID versus VDS characteristics (V-I Characteristics) is shown in the Figure 1.8.</a:t>
            </a:r>
          </a:p>
          <a:p>
            <a:pPr algn="just">
              <a:buFont typeface="Wingdings" pitchFamily="2" charset="2"/>
              <a:buChar char="§"/>
              <a:defRPr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buFont typeface="Wingdings" pitchFamily="2" charset="2"/>
              <a:buChar char="§"/>
              <a:defRPr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VGS &lt; Vt, ID = 0 and device is in cut-off region.</a:t>
            </a:r>
          </a:p>
          <a:p>
            <a:pPr algn="just">
              <a:buFont typeface="Wingdings" pitchFamily="2" charset="2"/>
              <a:buChar char="§"/>
              <a:defRPr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VDS increases at a fixed VGS,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 increases in the linear region due to the increased lateral field,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at a decreasing rate since the inversion layer density is decreasing. </a:t>
            </a:r>
          </a:p>
          <a:p>
            <a:pPr algn="just">
              <a:buFont typeface="Wingdings" pitchFamily="2" charset="2"/>
              <a:buChar char="§"/>
              <a:defRPr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pinch-off is reached,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further increase in VDS results in increase in ID;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the formation of the high field region which is very small.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device starts in linear region, and moves into saturation region at higher VDS.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33E4F2-3FAF-E7AC-80AF-12F7DDB12AE4}"/>
              </a:ext>
            </a:extLst>
          </p:cNvPr>
          <p:cNvSpPr/>
          <p:nvPr/>
        </p:nvSpPr>
        <p:spPr>
          <a:xfrm>
            <a:off x="2864472" y="6411965"/>
            <a:ext cx="6463056" cy="351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1.8: Output characteristics of MOS Transistor.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IV Characteristics of MOSFET">
            <a:extLst>
              <a:ext uri="{FF2B5EF4-FFF2-40B4-BE49-F238E27FC236}">
                <a16:creationId xmlns:a16="http://schemas.microsoft.com/office/drawing/2014/main" id="{DF1CBAF7-EB42-1E45-5C1C-4249F8BAAF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058"/>
          <a:stretch/>
        </p:blipFill>
        <p:spPr bwMode="auto">
          <a:xfrm>
            <a:off x="3276751" y="3465869"/>
            <a:ext cx="4981878" cy="2780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178337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54D31061-350D-4864-BF25-E3C3C4699CDC}"/>
              </a:ext>
            </a:extLst>
          </p:cNvPr>
          <p:cNvSpPr/>
          <p:nvPr/>
        </p:nvSpPr>
        <p:spPr>
          <a:xfrm>
            <a:off x="3771922" y="93980"/>
            <a:ext cx="5696543" cy="90891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EXAMPLES of Working of </a:t>
            </a:r>
            <a:r>
              <a:rPr lang="en-US" sz="2400" dirty="0" err="1"/>
              <a:t>pMOS</a:t>
            </a:r>
            <a:r>
              <a:rPr lang="en-US" sz="2400" dirty="0"/>
              <a:t> and </a:t>
            </a:r>
            <a:r>
              <a:rPr lang="en-US" sz="2400" dirty="0" err="1"/>
              <a:t>nMOS</a:t>
            </a:r>
            <a:endParaRPr lang="en-US" sz="2400" dirty="0"/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1026" name="Picture 2" descr="Introduction to NMOS and PMOS Transistors - AnySilicon">
            <a:extLst>
              <a:ext uri="{FF2B5EF4-FFF2-40B4-BE49-F238E27FC236}">
                <a16:creationId xmlns:a16="http://schemas.microsoft.com/office/drawing/2014/main" id="{BD628D77-917D-CC0C-0A0C-A9ACE63461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33" b="4265"/>
          <a:stretch/>
        </p:blipFill>
        <p:spPr bwMode="auto">
          <a:xfrm>
            <a:off x="2547263" y="1207807"/>
            <a:ext cx="8360229" cy="555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9629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1FA19A5-9588-483E-843E-C76873B71790}"/>
              </a:ext>
            </a:extLst>
          </p:cNvPr>
          <p:cNvSpPr/>
          <p:nvPr/>
        </p:nvSpPr>
        <p:spPr>
          <a:xfrm>
            <a:off x="3530991" y="8440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SUMMARY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1052732" y="1255186"/>
            <a:ext cx="1008653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Metal Oxide Transistors are voltage countertrolled devices. The polarity of Gate voltage is responsible for depletion and enhancement mode.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There are basically two types of MOS transistor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pMOS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nMOS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314" name="Picture 2" descr="MOS: Metal-Oxide-Silicon">
            <a:extLst>
              <a:ext uri="{FF2B5EF4-FFF2-40B4-BE49-F238E27FC236}">
                <a16:creationId xmlns:a16="http://schemas.microsoft.com/office/drawing/2014/main" id="{81B45801-F380-8BE5-33C6-E730A5CEF7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493539">
            <a:off x="3381715" y="2413753"/>
            <a:ext cx="5428569" cy="3843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4978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1009895" y="109315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1. Metal Oxide Semiconductor Field Effect Transistor represents for..</a:t>
            </a:r>
            <a:endParaRPr sz="1600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026828" y="1977905"/>
            <a:ext cx="2901705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Transistor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MOSFET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AC-DC Converter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Resistor</a:t>
            </a: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1009895" y="3820343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 startAt="2"/>
            </a:pP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nMOS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and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pMOS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transistor represents for..</a:t>
            </a:r>
            <a:endParaRPr sz="1600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1009895" y="4727197"/>
            <a:ext cx="4558148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n-Channel and p-Channel Mos Transistor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Bipolar Junction Transistor.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n-Channel Diode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Above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927661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2230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Discuss the MOS Technology and its importance in VLSI.</a:t>
            </a:r>
          </a:p>
          <a:p>
            <a:pPr>
              <a:lnSpc>
                <a:spcPct val="2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Discuss the types of MOS Transistors.</a:t>
            </a:r>
          </a:p>
          <a:p>
            <a:pPr>
              <a:lnSpc>
                <a:spcPct val="2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Describe the working of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nMOS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pMOS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Transistor.</a:t>
            </a:r>
          </a:p>
          <a:p>
            <a:pPr marL="342900" indent="-342900">
              <a:lnSpc>
                <a:spcPct val="2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Summarize the various aspects of MOS Technology.</a:t>
            </a: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2126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Reference Books: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1. Sung-Mo Kong, Yusuf </a:t>
            </a:r>
            <a:r>
              <a:rPr lang="en-US" dirty="0" err="1"/>
              <a:t>Leblebici</a:t>
            </a:r>
            <a:r>
              <a:rPr lang="en-US" dirty="0"/>
              <a:t>, “CMOS Digital Integrated Circuits Analysis and Design” Third Edition.</a:t>
            </a:r>
          </a:p>
          <a:p>
            <a:pPr>
              <a:lnSpc>
                <a:spcPct val="150000"/>
              </a:lnSpc>
            </a:pPr>
            <a:r>
              <a:rPr lang="en-US" dirty="0"/>
              <a:t>2. </a:t>
            </a:r>
            <a:r>
              <a:rPr lang="en-US" dirty="0" err="1"/>
              <a:t>Debaprasad</a:t>
            </a:r>
            <a:r>
              <a:rPr lang="en-US" dirty="0"/>
              <a:t> Das, “CMOS DESIGN” Second Edition.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– VLSI DESIGN</a:t>
            </a: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BBD0A98-E68B-4DAA-8964-2F739D6D4075}">
  <ds:schemaRefs>
    <ds:schemaRef ds:uri="0125a647-8023-46ae-ae6e-85cf36d841bd"/>
    <ds:schemaRef ds:uri="d43ee83c-3e71-4748-8ebc-8eaadf79342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DA00F5F-5366-4B1C-9406-30DECA796A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89A6ECA-0C1B-4F00-836D-A696F073E5C2}">
  <ds:schemaRefs>
    <ds:schemaRef ds:uri="0125a647-8023-46ae-ae6e-85cf36d841bd"/>
    <ds:schemaRef ds:uri="d43ee83c-3e71-4748-8ebc-8eaadf7934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238</TotalTime>
  <Words>1410</Words>
  <Application>Microsoft Office PowerPoint</Application>
  <PresentationFormat>Widescreen</PresentationFormat>
  <Paragraphs>233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Poppins</vt:lpstr>
      <vt:lpstr>Times New Roman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Dr.Ashish Kumar</cp:lastModifiedBy>
  <cp:revision>32</cp:revision>
  <dcterms:created xsi:type="dcterms:W3CDTF">2020-02-08T09:57:44Z</dcterms:created>
  <dcterms:modified xsi:type="dcterms:W3CDTF">2022-11-17T05:42:04Z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</Properties>
</file>