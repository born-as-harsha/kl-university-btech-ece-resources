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71" r:id="rId5"/>
    <p:sldId id="300" r:id="rId6"/>
    <p:sldId id="381" r:id="rId7"/>
    <p:sldId id="382" r:id="rId8"/>
    <p:sldId id="383" r:id="rId9"/>
    <p:sldId id="384" r:id="rId10"/>
    <p:sldId id="385" r:id="rId11"/>
    <p:sldId id="386" r:id="rId12"/>
    <p:sldId id="387" r:id="rId13"/>
    <p:sldId id="388" r:id="rId14"/>
    <p:sldId id="389" r:id="rId15"/>
    <p:sldId id="390" r:id="rId16"/>
    <p:sldId id="391" r:id="rId17"/>
    <p:sldId id="372" r:id="rId18"/>
    <p:sldId id="301" r:id="rId19"/>
    <p:sldId id="303"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9E4C"/>
    <a:srgbClr val="E3293B"/>
    <a:srgbClr val="FF9900"/>
    <a:srgbClr val="E84845"/>
    <a:srgbClr val="FAD2D2"/>
    <a:srgbClr val="A81E24"/>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39" d="100"/>
          <a:sy n="39" d="100"/>
        </p:scale>
        <p:origin x="60" y="6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E1D31A-95D0-4173-9027-70305C3A0CA5}"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3E9B27A4-1F44-4958-A0E2-5309CE5330C8}">
      <dgm:prSet custT="1"/>
      <dgm:spPr/>
      <dgm:t>
        <a:bodyPr/>
        <a:lstStyle/>
        <a:p>
          <a:pPr algn="just">
            <a:lnSpc>
              <a:spcPct val="100000"/>
            </a:lnSpc>
          </a:pPr>
          <a:r>
            <a:rPr lang="en-US" sz="1800" dirty="0">
              <a:latin typeface="Times New Roman" panose="02020603050405020304" pitchFamily="18" charset="0"/>
              <a:cs typeface="Times New Roman" panose="02020603050405020304" pitchFamily="18" charset="0"/>
            </a:rPr>
            <a:t>Mobility is the defined as the ease with which the charge carriers drift in the substrate material.</a:t>
          </a:r>
        </a:p>
      </dgm:t>
    </dgm:pt>
    <dgm:pt modelId="{AEAFFF32-3224-4308-BDB2-7BBAEFA70DC8}" type="parTrans" cxnId="{B783FF5C-A852-47F3-A968-5C310E0DB8F0}">
      <dgm:prSet/>
      <dgm:spPr/>
      <dgm:t>
        <a:bodyPr/>
        <a:lstStyle/>
        <a:p>
          <a:endParaRPr lang="en-US"/>
        </a:p>
      </dgm:t>
    </dgm:pt>
    <dgm:pt modelId="{26FCC093-2F18-489E-8A7D-4F527D01FB54}" type="sibTrans" cxnId="{B783FF5C-A852-47F3-A968-5C310E0DB8F0}">
      <dgm:prSet/>
      <dgm:spPr/>
      <dgm:t>
        <a:bodyPr/>
        <a:lstStyle/>
        <a:p>
          <a:endParaRPr lang="en-US"/>
        </a:p>
      </dgm:t>
    </dgm:pt>
    <dgm:pt modelId="{DAF7E774-A821-415D-948F-C0917EA806E4}">
      <dgm:prSet/>
      <dgm:spPr/>
      <dgm:t>
        <a:bodyPr/>
        <a:lstStyle/>
        <a:p>
          <a:pPr algn="just">
            <a:lnSpc>
              <a:spcPct val="100000"/>
            </a:lnSpc>
          </a:pPr>
          <a:r>
            <a:rPr lang="en-US" dirty="0">
              <a:latin typeface="Times New Roman" panose="02020603050405020304" pitchFamily="18" charset="0"/>
              <a:cs typeface="Times New Roman" panose="02020603050405020304" pitchFamily="18" charset="0"/>
            </a:rPr>
            <a:t>Mobility decreases with increase in doping concentration and increase in temperature.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Mobility is the ratio of average carrier drift velocity and electric field.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Ø Mobility is represented by the symbol μ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dgm:t>
    </dgm:pt>
    <dgm:pt modelId="{98E567B4-4212-4D3C-A1FC-CF81EF34BC5A}" type="parTrans" cxnId="{A5EE0419-F571-4D9A-AF06-12AE49759A0C}">
      <dgm:prSet/>
      <dgm:spPr/>
      <dgm:t>
        <a:bodyPr/>
        <a:lstStyle/>
        <a:p>
          <a:endParaRPr lang="en-US"/>
        </a:p>
      </dgm:t>
    </dgm:pt>
    <dgm:pt modelId="{4B4C75B6-4702-409D-B1B5-41E9962C0251}" type="sibTrans" cxnId="{A5EE0419-F571-4D9A-AF06-12AE49759A0C}">
      <dgm:prSet/>
      <dgm:spPr/>
      <dgm:t>
        <a:bodyPr/>
        <a:lstStyle/>
        <a:p>
          <a:endParaRPr lang="en-US"/>
        </a:p>
      </dgm:t>
    </dgm:pt>
    <dgm:pt modelId="{9D6B12A1-522D-49B1-9FA5-00D3865239E0}" type="pres">
      <dgm:prSet presAssocID="{4CE1D31A-95D0-4173-9027-70305C3A0CA5}" presName="diagram" presStyleCnt="0">
        <dgm:presLayoutVars>
          <dgm:dir/>
          <dgm:resizeHandles val="exact"/>
        </dgm:presLayoutVars>
      </dgm:prSet>
      <dgm:spPr/>
    </dgm:pt>
    <dgm:pt modelId="{8E38B8BF-DC0F-41F6-8F5D-17721C0343DD}" type="pres">
      <dgm:prSet presAssocID="{3E9B27A4-1F44-4958-A0E2-5309CE5330C8}" presName="node" presStyleLbl="node1" presStyleIdx="0" presStyleCnt="2">
        <dgm:presLayoutVars>
          <dgm:bulletEnabled val="1"/>
        </dgm:presLayoutVars>
      </dgm:prSet>
      <dgm:spPr/>
    </dgm:pt>
    <dgm:pt modelId="{9114D331-7A2B-4BEC-8272-270B2DE16E9C}" type="pres">
      <dgm:prSet presAssocID="{26FCC093-2F18-489E-8A7D-4F527D01FB54}" presName="sibTrans" presStyleLbl="sibTrans2D1" presStyleIdx="0" presStyleCnt="1"/>
      <dgm:spPr/>
    </dgm:pt>
    <dgm:pt modelId="{B847AB0E-DF56-4526-B604-C949B513BA8D}" type="pres">
      <dgm:prSet presAssocID="{26FCC093-2F18-489E-8A7D-4F527D01FB54}" presName="connectorText" presStyleLbl="sibTrans2D1" presStyleIdx="0" presStyleCnt="1"/>
      <dgm:spPr/>
    </dgm:pt>
    <dgm:pt modelId="{34F94AB7-34BD-4573-B7AA-68D7539DA85C}" type="pres">
      <dgm:prSet presAssocID="{DAF7E774-A821-415D-948F-C0917EA806E4}" presName="node" presStyleLbl="node1" presStyleIdx="1" presStyleCnt="2" custScaleX="122143">
        <dgm:presLayoutVars>
          <dgm:bulletEnabled val="1"/>
        </dgm:presLayoutVars>
      </dgm:prSet>
      <dgm:spPr/>
    </dgm:pt>
  </dgm:ptLst>
  <dgm:cxnLst>
    <dgm:cxn modelId="{2CB7A912-44C1-47C1-84C0-500AB198FE6C}" type="presOf" srcId="{3E9B27A4-1F44-4958-A0E2-5309CE5330C8}" destId="{8E38B8BF-DC0F-41F6-8F5D-17721C0343DD}" srcOrd="0" destOrd="0" presId="urn:microsoft.com/office/officeart/2005/8/layout/process5"/>
    <dgm:cxn modelId="{6F1D3B16-6864-468F-82E4-476C02CF1A4F}" type="presOf" srcId="{26FCC093-2F18-489E-8A7D-4F527D01FB54}" destId="{9114D331-7A2B-4BEC-8272-270B2DE16E9C}" srcOrd="0" destOrd="0" presId="urn:microsoft.com/office/officeart/2005/8/layout/process5"/>
    <dgm:cxn modelId="{A5EE0419-F571-4D9A-AF06-12AE49759A0C}" srcId="{4CE1D31A-95D0-4173-9027-70305C3A0CA5}" destId="{DAF7E774-A821-415D-948F-C0917EA806E4}" srcOrd="1" destOrd="0" parTransId="{98E567B4-4212-4D3C-A1FC-CF81EF34BC5A}" sibTransId="{4B4C75B6-4702-409D-B1B5-41E9962C0251}"/>
    <dgm:cxn modelId="{4854F91F-BBDB-45C5-A503-91CE9C2BB779}" type="presOf" srcId="{26FCC093-2F18-489E-8A7D-4F527D01FB54}" destId="{B847AB0E-DF56-4526-B604-C949B513BA8D}" srcOrd="1" destOrd="0" presId="urn:microsoft.com/office/officeart/2005/8/layout/process5"/>
    <dgm:cxn modelId="{B783FF5C-A852-47F3-A968-5C310E0DB8F0}" srcId="{4CE1D31A-95D0-4173-9027-70305C3A0CA5}" destId="{3E9B27A4-1F44-4958-A0E2-5309CE5330C8}" srcOrd="0" destOrd="0" parTransId="{AEAFFF32-3224-4308-BDB2-7BBAEFA70DC8}" sibTransId="{26FCC093-2F18-489E-8A7D-4F527D01FB54}"/>
    <dgm:cxn modelId="{E428F684-6699-4D95-B643-7C0A8BD7B983}" type="presOf" srcId="{DAF7E774-A821-415D-948F-C0917EA806E4}" destId="{34F94AB7-34BD-4573-B7AA-68D7539DA85C}" srcOrd="0" destOrd="0" presId="urn:microsoft.com/office/officeart/2005/8/layout/process5"/>
    <dgm:cxn modelId="{44852FBC-CCE8-4117-B1C0-BE24C811AB05}" type="presOf" srcId="{4CE1D31A-95D0-4173-9027-70305C3A0CA5}" destId="{9D6B12A1-522D-49B1-9FA5-00D3865239E0}" srcOrd="0" destOrd="0" presId="urn:microsoft.com/office/officeart/2005/8/layout/process5"/>
    <dgm:cxn modelId="{25734B1C-32AB-4FF4-AABF-6F961F44CFA5}" type="presParOf" srcId="{9D6B12A1-522D-49B1-9FA5-00D3865239E0}" destId="{8E38B8BF-DC0F-41F6-8F5D-17721C0343DD}" srcOrd="0" destOrd="0" presId="urn:microsoft.com/office/officeart/2005/8/layout/process5"/>
    <dgm:cxn modelId="{09B0957E-4E6F-4FC2-BA8B-FED3BB923EFC}" type="presParOf" srcId="{9D6B12A1-522D-49B1-9FA5-00D3865239E0}" destId="{9114D331-7A2B-4BEC-8272-270B2DE16E9C}" srcOrd="1" destOrd="0" presId="urn:microsoft.com/office/officeart/2005/8/layout/process5"/>
    <dgm:cxn modelId="{8CFA6D5B-03B3-4D89-8A29-48B9621057FD}" type="presParOf" srcId="{9114D331-7A2B-4BEC-8272-270B2DE16E9C}" destId="{B847AB0E-DF56-4526-B604-C949B513BA8D}" srcOrd="0" destOrd="0" presId="urn:microsoft.com/office/officeart/2005/8/layout/process5"/>
    <dgm:cxn modelId="{22D89375-1DE5-465E-BA48-107F986E6FC0}" type="presParOf" srcId="{9D6B12A1-522D-49B1-9FA5-00D3865239E0}" destId="{34F94AB7-34BD-4573-B7AA-68D7539DA85C}" srcOrd="2"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620A3E-0575-45BD-926E-A2E4188921D7}"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238A8249-07F0-4CCD-AD4D-15CD087AB679}">
      <dgm:prSet custT="1"/>
      <dgm:spPr/>
      <dgm:t>
        <a:bodyPr/>
        <a:lstStyle/>
        <a:p>
          <a:pPr algn="just"/>
          <a:r>
            <a:rPr lang="en-US" sz="1400" dirty="0">
              <a:latin typeface="Times New Roman" panose="02020603050405020304" pitchFamily="18" charset="0"/>
              <a:cs typeface="Times New Roman" panose="02020603050405020304" pitchFamily="18" charset="0"/>
            </a:rPr>
            <a:t>When the length of the transistor is reduced, the electric field at the drain increases.</a:t>
          </a:r>
        </a:p>
      </dgm:t>
    </dgm:pt>
    <dgm:pt modelId="{049585D2-3C9C-4495-9DAE-6DFEE828828B}" type="parTrans" cxnId="{C6DC9E2D-537F-4684-B712-7CE9528A108E}">
      <dgm:prSet/>
      <dgm:spPr/>
      <dgm:t>
        <a:bodyPr/>
        <a:lstStyle/>
        <a:p>
          <a:endParaRPr lang="en-US"/>
        </a:p>
      </dgm:t>
    </dgm:pt>
    <dgm:pt modelId="{FBFD98A1-F971-4A2B-8C4F-DF881858A7DF}" type="sibTrans" cxnId="{C6DC9E2D-537F-4684-B712-7CE9528A108E}">
      <dgm:prSet/>
      <dgm:spPr/>
      <dgm:t>
        <a:bodyPr/>
        <a:lstStyle/>
        <a:p>
          <a:endParaRPr lang="en-US"/>
        </a:p>
      </dgm:t>
    </dgm:pt>
    <dgm:pt modelId="{AF9892DC-F69C-497A-A86E-CEB2F856FFFC}">
      <dgm:prSet/>
      <dgm:spPr/>
      <dgm:t>
        <a:bodyPr/>
        <a:lstStyle/>
        <a:p>
          <a:pPr algn="just"/>
          <a:r>
            <a:rPr lang="en-US" dirty="0">
              <a:latin typeface="Times New Roman" panose="02020603050405020304" pitchFamily="18" charset="0"/>
              <a:cs typeface="Times New Roman" panose="02020603050405020304" pitchFamily="18" charset="0"/>
            </a:rPr>
            <a:t>Ø The field can become so high that electrons are imparted with enough energy we can term them as hot.</a:t>
          </a:r>
        </a:p>
      </dgm:t>
    </dgm:pt>
    <dgm:pt modelId="{4A44EBBF-5CD6-4982-B32B-0C0F4F9F7A88}" type="parTrans" cxnId="{37949681-7549-40A5-97D5-DE78F0AD210B}">
      <dgm:prSet/>
      <dgm:spPr/>
      <dgm:t>
        <a:bodyPr/>
        <a:lstStyle/>
        <a:p>
          <a:endParaRPr lang="en-US"/>
        </a:p>
      </dgm:t>
    </dgm:pt>
    <dgm:pt modelId="{419E3C15-44B6-4019-A005-94EB0760BF6C}" type="sibTrans" cxnId="{37949681-7549-40A5-97D5-DE78F0AD210B}">
      <dgm:prSet/>
      <dgm:spPr/>
      <dgm:t>
        <a:bodyPr/>
        <a:lstStyle/>
        <a:p>
          <a:endParaRPr lang="en-US"/>
        </a:p>
      </dgm:t>
    </dgm:pt>
    <dgm:pt modelId="{59B0F09B-44B2-4988-8770-9FF280B8F73D}">
      <dgm:prSet custT="1"/>
      <dgm:spPr/>
      <dgm:t>
        <a:bodyPr/>
        <a:lstStyle/>
        <a:p>
          <a:pPr algn="just"/>
          <a:r>
            <a:rPr lang="en-US" sz="1200" dirty="0">
              <a:latin typeface="Times New Roman" panose="02020603050405020304" pitchFamily="18" charset="0"/>
              <a:cs typeface="Times New Roman" panose="02020603050405020304" pitchFamily="18" charset="0"/>
            </a:rPr>
            <a:t>Ø These hot electrons impact the drain, dislodging holes that are then swept toward the negatively charged substrate and appear as a substrate current.</a:t>
          </a:r>
        </a:p>
      </dgm:t>
    </dgm:pt>
    <dgm:pt modelId="{80305090-E53F-4F96-9782-9B9B2C8190AF}" type="parTrans" cxnId="{58EBA312-6840-4CE2-8A7D-8FE8238277D9}">
      <dgm:prSet/>
      <dgm:spPr/>
      <dgm:t>
        <a:bodyPr/>
        <a:lstStyle/>
        <a:p>
          <a:endParaRPr lang="en-US"/>
        </a:p>
      </dgm:t>
    </dgm:pt>
    <dgm:pt modelId="{33C0E19F-B104-4055-9095-E58E197AFBDC}" type="sibTrans" cxnId="{58EBA312-6840-4CE2-8A7D-8FE8238277D9}">
      <dgm:prSet/>
      <dgm:spPr/>
      <dgm:t>
        <a:bodyPr/>
        <a:lstStyle/>
        <a:p>
          <a:endParaRPr lang="en-US"/>
        </a:p>
      </dgm:t>
    </dgm:pt>
    <dgm:pt modelId="{41BFB13A-0D7F-492E-9A59-521031B76B47}">
      <dgm:prSet/>
      <dgm:spPr/>
      <dgm:t>
        <a:bodyPr/>
        <a:lstStyle/>
        <a:p>
          <a:pPr algn="just"/>
          <a:r>
            <a:rPr lang="en-US" dirty="0">
              <a:latin typeface="Times New Roman" panose="02020603050405020304" pitchFamily="18" charset="0"/>
              <a:cs typeface="Times New Roman" panose="02020603050405020304" pitchFamily="18" charset="0"/>
            </a:rPr>
            <a:t>Ø This effect is known as Impact Ionization </a:t>
          </a:r>
        </a:p>
      </dgm:t>
    </dgm:pt>
    <dgm:pt modelId="{61F1DC7E-0C36-4984-91BB-25A90A726984}" type="parTrans" cxnId="{FD05464B-47A5-4692-B0C5-9F618C9589AD}">
      <dgm:prSet/>
      <dgm:spPr/>
      <dgm:t>
        <a:bodyPr/>
        <a:lstStyle/>
        <a:p>
          <a:endParaRPr lang="en-US"/>
        </a:p>
      </dgm:t>
    </dgm:pt>
    <dgm:pt modelId="{5B974712-8B46-4A63-BF07-A72FC5FB220D}" type="sibTrans" cxnId="{FD05464B-47A5-4692-B0C5-9F618C9589AD}">
      <dgm:prSet/>
      <dgm:spPr/>
      <dgm:t>
        <a:bodyPr/>
        <a:lstStyle/>
        <a:p>
          <a:endParaRPr lang="en-US"/>
        </a:p>
      </dgm:t>
    </dgm:pt>
    <dgm:pt modelId="{488737E0-7EB3-4499-8620-9019875578A2}" type="pres">
      <dgm:prSet presAssocID="{17620A3E-0575-45BD-926E-A2E4188921D7}" presName="hierChild1" presStyleCnt="0">
        <dgm:presLayoutVars>
          <dgm:chPref val="1"/>
          <dgm:dir/>
          <dgm:animOne val="branch"/>
          <dgm:animLvl val="lvl"/>
          <dgm:resizeHandles/>
        </dgm:presLayoutVars>
      </dgm:prSet>
      <dgm:spPr/>
    </dgm:pt>
    <dgm:pt modelId="{C79EA6AD-40F6-46FB-9B87-354D48D68681}" type="pres">
      <dgm:prSet presAssocID="{238A8249-07F0-4CCD-AD4D-15CD087AB679}" presName="hierRoot1" presStyleCnt="0"/>
      <dgm:spPr/>
    </dgm:pt>
    <dgm:pt modelId="{5CE275C7-CFC4-409B-A8D4-934CE2EFABA2}" type="pres">
      <dgm:prSet presAssocID="{238A8249-07F0-4CCD-AD4D-15CD087AB679}" presName="composite" presStyleCnt="0"/>
      <dgm:spPr/>
    </dgm:pt>
    <dgm:pt modelId="{BBF8D20A-F673-49F0-A714-86BEC1863207}" type="pres">
      <dgm:prSet presAssocID="{238A8249-07F0-4CCD-AD4D-15CD087AB679}" presName="background" presStyleLbl="node0" presStyleIdx="0" presStyleCnt="4"/>
      <dgm:spPr/>
    </dgm:pt>
    <dgm:pt modelId="{C43667DA-32AC-4ED7-B2DC-05E536CFBC00}" type="pres">
      <dgm:prSet presAssocID="{238A8249-07F0-4CCD-AD4D-15CD087AB679}" presName="text" presStyleLbl="fgAcc0" presStyleIdx="0" presStyleCnt="4">
        <dgm:presLayoutVars>
          <dgm:chPref val="3"/>
        </dgm:presLayoutVars>
      </dgm:prSet>
      <dgm:spPr/>
    </dgm:pt>
    <dgm:pt modelId="{5E3872D7-FB75-429C-83B3-C94161FF4E51}" type="pres">
      <dgm:prSet presAssocID="{238A8249-07F0-4CCD-AD4D-15CD087AB679}" presName="hierChild2" presStyleCnt="0"/>
      <dgm:spPr/>
    </dgm:pt>
    <dgm:pt modelId="{7D757F8F-5A17-4D67-80B7-A3000A53BC49}" type="pres">
      <dgm:prSet presAssocID="{AF9892DC-F69C-497A-A86E-CEB2F856FFFC}" presName="hierRoot1" presStyleCnt="0"/>
      <dgm:spPr/>
    </dgm:pt>
    <dgm:pt modelId="{DDBFE449-3DCC-4B3A-BB24-645E30C7BBEA}" type="pres">
      <dgm:prSet presAssocID="{AF9892DC-F69C-497A-A86E-CEB2F856FFFC}" presName="composite" presStyleCnt="0"/>
      <dgm:spPr/>
    </dgm:pt>
    <dgm:pt modelId="{6F76845B-F68C-43F3-8380-75165D39619A}" type="pres">
      <dgm:prSet presAssocID="{AF9892DC-F69C-497A-A86E-CEB2F856FFFC}" presName="background" presStyleLbl="node0" presStyleIdx="1" presStyleCnt="4"/>
      <dgm:spPr/>
    </dgm:pt>
    <dgm:pt modelId="{BFC309B7-C11C-4777-8B77-0CBE58025C89}" type="pres">
      <dgm:prSet presAssocID="{AF9892DC-F69C-497A-A86E-CEB2F856FFFC}" presName="text" presStyleLbl="fgAcc0" presStyleIdx="1" presStyleCnt="4">
        <dgm:presLayoutVars>
          <dgm:chPref val="3"/>
        </dgm:presLayoutVars>
      </dgm:prSet>
      <dgm:spPr/>
    </dgm:pt>
    <dgm:pt modelId="{6E9A8579-F0AC-4E7B-BE9F-CBCB5371B738}" type="pres">
      <dgm:prSet presAssocID="{AF9892DC-F69C-497A-A86E-CEB2F856FFFC}" presName="hierChild2" presStyleCnt="0"/>
      <dgm:spPr/>
    </dgm:pt>
    <dgm:pt modelId="{D1D34787-677D-403C-91F0-30061FFC4F02}" type="pres">
      <dgm:prSet presAssocID="{59B0F09B-44B2-4988-8770-9FF280B8F73D}" presName="hierRoot1" presStyleCnt="0"/>
      <dgm:spPr/>
    </dgm:pt>
    <dgm:pt modelId="{2DE8B291-1A33-42C9-A595-69D3914A3056}" type="pres">
      <dgm:prSet presAssocID="{59B0F09B-44B2-4988-8770-9FF280B8F73D}" presName="composite" presStyleCnt="0"/>
      <dgm:spPr/>
    </dgm:pt>
    <dgm:pt modelId="{EE378181-56DD-4EFA-ADD7-F25D91A3EB19}" type="pres">
      <dgm:prSet presAssocID="{59B0F09B-44B2-4988-8770-9FF280B8F73D}" presName="background" presStyleLbl="node0" presStyleIdx="2" presStyleCnt="4"/>
      <dgm:spPr/>
    </dgm:pt>
    <dgm:pt modelId="{496D8AC9-A4FC-4FD2-89CD-31E95E8AD007}" type="pres">
      <dgm:prSet presAssocID="{59B0F09B-44B2-4988-8770-9FF280B8F73D}" presName="text" presStyleLbl="fgAcc0" presStyleIdx="2" presStyleCnt="4">
        <dgm:presLayoutVars>
          <dgm:chPref val="3"/>
        </dgm:presLayoutVars>
      </dgm:prSet>
      <dgm:spPr/>
    </dgm:pt>
    <dgm:pt modelId="{081AC3D9-1493-4F22-95B5-8CE3A3C29E0A}" type="pres">
      <dgm:prSet presAssocID="{59B0F09B-44B2-4988-8770-9FF280B8F73D}" presName="hierChild2" presStyleCnt="0"/>
      <dgm:spPr/>
    </dgm:pt>
    <dgm:pt modelId="{E854A33C-4D27-4ECA-BCB1-4346A7A8455B}" type="pres">
      <dgm:prSet presAssocID="{41BFB13A-0D7F-492E-9A59-521031B76B47}" presName="hierRoot1" presStyleCnt="0"/>
      <dgm:spPr/>
    </dgm:pt>
    <dgm:pt modelId="{811ED92F-3EA9-47EB-85FF-4ED03A3A2ECA}" type="pres">
      <dgm:prSet presAssocID="{41BFB13A-0D7F-492E-9A59-521031B76B47}" presName="composite" presStyleCnt="0"/>
      <dgm:spPr/>
    </dgm:pt>
    <dgm:pt modelId="{4A125D62-4751-4A90-8316-767DB3CBFD92}" type="pres">
      <dgm:prSet presAssocID="{41BFB13A-0D7F-492E-9A59-521031B76B47}" presName="background" presStyleLbl="node0" presStyleIdx="3" presStyleCnt="4"/>
      <dgm:spPr/>
    </dgm:pt>
    <dgm:pt modelId="{CE735E11-F4D8-4278-A7CF-0731F732D781}" type="pres">
      <dgm:prSet presAssocID="{41BFB13A-0D7F-492E-9A59-521031B76B47}" presName="text" presStyleLbl="fgAcc0" presStyleIdx="3" presStyleCnt="4">
        <dgm:presLayoutVars>
          <dgm:chPref val="3"/>
        </dgm:presLayoutVars>
      </dgm:prSet>
      <dgm:spPr/>
    </dgm:pt>
    <dgm:pt modelId="{40A0EAFE-C1DE-47DA-AA80-9D71438F9427}" type="pres">
      <dgm:prSet presAssocID="{41BFB13A-0D7F-492E-9A59-521031B76B47}" presName="hierChild2" presStyleCnt="0"/>
      <dgm:spPr/>
    </dgm:pt>
  </dgm:ptLst>
  <dgm:cxnLst>
    <dgm:cxn modelId="{2100AE09-8B46-436F-81AB-0D298034E5F9}" type="presOf" srcId="{59B0F09B-44B2-4988-8770-9FF280B8F73D}" destId="{496D8AC9-A4FC-4FD2-89CD-31E95E8AD007}" srcOrd="0" destOrd="0" presId="urn:microsoft.com/office/officeart/2005/8/layout/hierarchy1"/>
    <dgm:cxn modelId="{58EBA312-6840-4CE2-8A7D-8FE8238277D9}" srcId="{17620A3E-0575-45BD-926E-A2E4188921D7}" destId="{59B0F09B-44B2-4988-8770-9FF280B8F73D}" srcOrd="2" destOrd="0" parTransId="{80305090-E53F-4F96-9782-9B9B2C8190AF}" sibTransId="{33C0E19F-B104-4055-9095-E58E197AFBDC}"/>
    <dgm:cxn modelId="{C6DC9E2D-537F-4684-B712-7CE9528A108E}" srcId="{17620A3E-0575-45BD-926E-A2E4188921D7}" destId="{238A8249-07F0-4CCD-AD4D-15CD087AB679}" srcOrd="0" destOrd="0" parTransId="{049585D2-3C9C-4495-9DAE-6DFEE828828B}" sibTransId="{FBFD98A1-F971-4A2B-8C4F-DF881858A7DF}"/>
    <dgm:cxn modelId="{FD05464B-47A5-4692-B0C5-9F618C9589AD}" srcId="{17620A3E-0575-45BD-926E-A2E4188921D7}" destId="{41BFB13A-0D7F-492E-9A59-521031B76B47}" srcOrd="3" destOrd="0" parTransId="{61F1DC7E-0C36-4984-91BB-25A90A726984}" sibTransId="{5B974712-8B46-4A63-BF07-A72FC5FB220D}"/>
    <dgm:cxn modelId="{FB17966B-E3F1-4FE5-AC46-98D8173D9598}" type="presOf" srcId="{AF9892DC-F69C-497A-A86E-CEB2F856FFFC}" destId="{BFC309B7-C11C-4777-8B77-0CBE58025C89}" srcOrd="0" destOrd="0" presId="urn:microsoft.com/office/officeart/2005/8/layout/hierarchy1"/>
    <dgm:cxn modelId="{F40D2077-E7B7-417B-A4F8-EB56E00B66A4}" type="presOf" srcId="{238A8249-07F0-4CCD-AD4D-15CD087AB679}" destId="{C43667DA-32AC-4ED7-B2DC-05E536CFBC00}" srcOrd="0" destOrd="0" presId="urn:microsoft.com/office/officeart/2005/8/layout/hierarchy1"/>
    <dgm:cxn modelId="{37949681-7549-40A5-97D5-DE78F0AD210B}" srcId="{17620A3E-0575-45BD-926E-A2E4188921D7}" destId="{AF9892DC-F69C-497A-A86E-CEB2F856FFFC}" srcOrd="1" destOrd="0" parTransId="{4A44EBBF-5CD6-4982-B32B-0C0F4F9F7A88}" sibTransId="{419E3C15-44B6-4019-A005-94EB0760BF6C}"/>
    <dgm:cxn modelId="{EA5BCFCC-B5DB-4C83-BBC9-EF3180009960}" type="presOf" srcId="{17620A3E-0575-45BD-926E-A2E4188921D7}" destId="{488737E0-7EB3-4499-8620-9019875578A2}" srcOrd="0" destOrd="0" presId="urn:microsoft.com/office/officeart/2005/8/layout/hierarchy1"/>
    <dgm:cxn modelId="{02E082D1-6922-4CD4-A13F-85161F21D3B1}" type="presOf" srcId="{41BFB13A-0D7F-492E-9A59-521031B76B47}" destId="{CE735E11-F4D8-4278-A7CF-0731F732D781}" srcOrd="0" destOrd="0" presId="urn:microsoft.com/office/officeart/2005/8/layout/hierarchy1"/>
    <dgm:cxn modelId="{6739D0AA-EFEB-4B8A-B4FA-4CCC4F4D8E39}" type="presParOf" srcId="{488737E0-7EB3-4499-8620-9019875578A2}" destId="{C79EA6AD-40F6-46FB-9B87-354D48D68681}" srcOrd="0" destOrd="0" presId="urn:microsoft.com/office/officeart/2005/8/layout/hierarchy1"/>
    <dgm:cxn modelId="{CB59E71E-3804-461D-9F53-B02B0215D760}" type="presParOf" srcId="{C79EA6AD-40F6-46FB-9B87-354D48D68681}" destId="{5CE275C7-CFC4-409B-A8D4-934CE2EFABA2}" srcOrd="0" destOrd="0" presId="urn:microsoft.com/office/officeart/2005/8/layout/hierarchy1"/>
    <dgm:cxn modelId="{9F11FBE4-0E03-4F6F-8B70-6CE934EFE379}" type="presParOf" srcId="{5CE275C7-CFC4-409B-A8D4-934CE2EFABA2}" destId="{BBF8D20A-F673-49F0-A714-86BEC1863207}" srcOrd="0" destOrd="0" presId="urn:microsoft.com/office/officeart/2005/8/layout/hierarchy1"/>
    <dgm:cxn modelId="{28B0A0B6-F181-4ADE-9757-6B2C5896FA8B}" type="presParOf" srcId="{5CE275C7-CFC4-409B-A8D4-934CE2EFABA2}" destId="{C43667DA-32AC-4ED7-B2DC-05E536CFBC00}" srcOrd="1" destOrd="0" presId="urn:microsoft.com/office/officeart/2005/8/layout/hierarchy1"/>
    <dgm:cxn modelId="{6C647B7A-5A88-41DA-A3EF-4901531E81ED}" type="presParOf" srcId="{C79EA6AD-40F6-46FB-9B87-354D48D68681}" destId="{5E3872D7-FB75-429C-83B3-C94161FF4E51}" srcOrd="1" destOrd="0" presId="urn:microsoft.com/office/officeart/2005/8/layout/hierarchy1"/>
    <dgm:cxn modelId="{7EBCAF8B-D8CE-47D2-A3E6-1ABC517E1F84}" type="presParOf" srcId="{488737E0-7EB3-4499-8620-9019875578A2}" destId="{7D757F8F-5A17-4D67-80B7-A3000A53BC49}" srcOrd="1" destOrd="0" presId="urn:microsoft.com/office/officeart/2005/8/layout/hierarchy1"/>
    <dgm:cxn modelId="{D5EF2A16-D995-4DEA-8BE5-A222971105B0}" type="presParOf" srcId="{7D757F8F-5A17-4D67-80B7-A3000A53BC49}" destId="{DDBFE449-3DCC-4B3A-BB24-645E30C7BBEA}" srcOrd="0" destOrd="0" presId="urn:microsoft.com/office/officeart/2005/8/layout/hierarchy1"/>
    <dgm:cxn modelId="{4A926641-500C-4846-81CA-499EC20F4BA8}" type="presParOf" srcId="{DDBFE449-3DCC-4B3A-BB24-645E30C7BBEA}" destId="{6F76845B-F68C-43F3-8380-75165D39619A}" srcOrd="0" destOrd="0" presId="urn:microsoft.com/office/officeart/2005/8/layout/hierarchy1"/>
    <dgm:cxn modelId="{6C72DEA8-3195-43BA-99EE-294747DD0A8A}" type="presParOf" srcId="{DDBFE449-3DCC-4B3A-BB24-645E30C7BBEA}" destId="{BFC309B7-C11C-4777-8B77-0CBE58025C89}" srcOrd="1" destOrd="0" presId="urn:microsoft.com/office/officeart/2005/8/layout/hierarchy1"/>
    <dgm:cxn modelId="{3E2DE252-80AC-4E8D-A306-E5D914120A7D}" type="presParOf" srcId="{7D757F8F-5A17-4D67-80B7-A3000A53BC49}" destId="{6E9A8579-F0AC-4E7B-BE9F-CBCB5371B738}" srcOrd="1" destOrd="0" presId="urn:microsoft.com/office/officeart/2005/8/layout/hierarchy1"/>
    <dgm:cxn modelId="{02C87E50-7373-41A9-8034-41DB05D46F44}" type="presParOf" srcId="{488737E0-7EB3-4499-8620-9019875578A2}" destId="{D1D34787-677D-403C-91F0-30061FFC4F02}" srcOrd="2" destOrd="0" presId="urn:microsoft.com/office/officeart/2005/8/layout/hierarchy1"/>
    <dgm:cxn modelId="{B96EAB5A-0375-43CF-A138-A3F27B073034}" type="presParOf" srcId="{D1D34787-677D-403C-91F0-30061FFC4F02}" destId="{2DE8B291-1A33-42C9-A595-69D3914A3056}" srcOrd="0" destOrd="0" presId="urn:microsoft.com/office/officeart/2005/8/layout/hierarchy1"/>
    <dgm:cxn modelId="{DE150914-244B-49B2-877D-E64E161B979E}" type="presParOf" srcId="{2DE8B291-1A33-42C9-A595-69D3914A3056}" destId="{EE378181-56DD-4EFA-ADD7-F25D91A3EB19}" srcOrd="0" destOrd="0" presId="urn:microsoft.com/office/officeart/2005/8/layout/hierarchy1"/>
    <dgm:cxn modelId="{4C3E3F2F-D77B-434A-80AD-35269EF897AC}" type="presParOf" srcId="{2DE8B291-1A33-42C9-A595-69D3914A3056}" destId="{496D8AC9-A4FC-4FD2-89CD-31E95E8AD007}" srcOrd="1" destOrd="0" presId="urn:microsoft.com/office/officeart/2005/8/layout/hierarchy1"/>
    <dgm:cxn modelId="{834ABF1B-F39D-40C3-9A72-5E5D887DEED9}" type="presParOf" srcId="{D1D34787-677D-403C-91F0-30061FFC4F02}" destId="{081AC3D9-1493-4F22-95B5-8CE3A3C29E0A}" srcOrd="1" destOrd="0" presId="urn:microsoft.com/office/officeart/2005/8/layout/hierarchy1"/>
    <dgm:cxn modelId="{140FE331-B112-482D-9700-667A984D6CA6}" type="presParOf" srcId="{488737E0-7EB3-4499-8620-9019875578A2}" destId="{E854A33C-4D27-4ECA-BCB1-4346A7A8455B}" srcOrd="3" destOrd="0" presId="urn:microsoft.com/office/officeart/2005/8/layout/hierarchy1"/>
    <dgm:cxn modelId="{4BBBEC88-DE2B-49AE-AFC5-FF7690FD1166}" type="presParOf" srcId="{E854A33C-4D27-4ECA-BCB1-4346A7A8455B}" destId="{811ED92F-3EA9-47EB-85FF-4ED03A3A2ECA}" srcOrd="0" destOrd="0" presId="urn:microsoft.com/office/officeart/2005/8/layout/hierarchy1"/>
    <dgm:cxn modelId="{D553EA12-7E15-44A5-8CE9-670BA857BBD3}" type="presParOf" srcId="{811ED92F-3EA9-47EB-85FF-4ED03A3A2ECA}" destId="{4A125D62-4751-4A90-8316-767DB3CBFD92}" srcOrd="0" destOrd="0" presId="urn:microsoft.com/office/officeart/2005/8/layout/hierarchy1"/>
    <dgm:cxn modelId="{2D776B04-F09B-46E0-8710-1A3BDC40678D}" type="presParOf" srcId="{811ED92F-3EA9-47EB-85FF-4ED03A3A2ECA}" destId="{CE735E11-F4D8-4278-A7CF-0731F732D781}" srcOrd="1" destOrd="0" presId="urn:microsoft.com/office/officeart/2005/8/layout/hierarchy1"/>
    <dgm:cxn modelId="{D32100DD-200F-47C0-ABBB-A86B2026C3B2}" type="presParOf" srcId="{E854A33C-4D27-4ECA-BCB1-4346A7A8455B}" destId="{40A0EAFE-C1DE-47DA-AA80-9D71438F9427}"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38B8BF-DC0F-41F6-8F5D-17721C0343DD}">
      <dsp:nvSpPr>
        <dsp:cNvPr id="0" name=""/>
        <dsp:cNvSpPr/>
      </dsp:nvSpPr>
      <dsp:spPr>
        <a:xfrm>
          <a:off x="233357" y="1020"/>
          <a:ext cx="3277432" cy="19664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just" defTabSz="800100">
            <a:lnSpc>
              <a:spcPct val="10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Mobility is the defined as the ease with which the charge carriers drift in the substrate material.</a:t>
          </a:r>
        </a:p>
      </dsp:txBody>
      <dsp:txXfrm>
        <a:off x="290953" y="58616"/>
        <a:ext cx="3162240" cy="1851267"/>
      </dsp:txXfrm>
    </dsp:sp>
    <dsp:sp modelId="{9114D331-7A2B-4BEC-8272-270B2DE16E9C}">
      <dsp:nvSpPr>
        <dsp:cNvPr id="0" name=""/>
        <dsp:cNvSpPr/>
      </dsp:nvSpPr>
      <dsp:spPr>
        <a:xfrm>
          <a:off x="3799204" y="577848"/>
          <a:ext cx="694815" cy="81280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799204" y="740409"/>
        <a:ext cx="486371" cy="487681"/>
      </dsp:txXfrm>
    </dsp:sp>
    <dsp:sp modelId="{34F94AB7-34BD-4573-B7AA-68D7539DA85C}">
      <dsp:nvSpPr>
        <dsp:cNvPr id="0" name=""/>
        <dsp:cNvSpPr/>
      </dsp:nvSpPr>
      <dsp:spPr>
        <a:xfrm>
          <a:off x="4821763" y="1020"/>
          <a:ext cx="4003154" cy="19664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just" defTabSz="755650">
            <a:lnSpc>
              <a:spcPct val="100000"/>
            </a:lnSpc>
            <a:spcBef>
              <a:spcPct val="0"/>
            </a:spcBef>
            <a:spcAft>
              <a:spcPct val="35000"/>
            </a:spcAft>
            <a:buNone/>
          </a:pPr>
          <a:r>
            <a:rPr lang="en-US" sz="1700" kern="1200" dirty="0">
              <a:latin typeface="Times New Roman" panose="02020603050405020304" pitchFamily="18" charset="0"/>
              <a:cs typeface="Times New Roman" panose="02020603050405020304" pitchFamily="18" charset="0"/>
            </a:rPr>
            <a:t>Mobility decreases with increase in doping concentration and increase in temperature.</a:t>
          </a:r>
          <a:br>
            <a:rPr lang="en-US" sz="1700" kern="1200" dirty="0">
              <a:latin typeface="Times New Roman" panose="02020603050405020304" pitchFamily="18" charset="0"/>
              <a:cs typeface="Times New Roman" panose="02020603050405020304" pitchFamily="18" charset="0"/>
            </a:rPr>
          </a:br>
          <a:r>
            <a:rPr lang="en-US" sz="1700" kern="1200" dirty="0">
              <a:latin typeface="Times New Roman" panose="02020603050405020304" pitchFamily="18" charset="0"/>
              <a:cs typeface="Times New Roman" panose="02020603050405020304" pitchFamily="18" charset="0"/>
            </a:rPr>
            <a:t> Mobility is the ratio of average carrier drift velocity and electric field.</a:t>
          </a:r>
          <a:br>
            <a:rPr lang="en-US" sz="1700" kern="1200" dirty="0">
              <a:latin typeface="Times New Roman" panose="02020603050405020304" pitchFamily="18" charset="0"/>
              <a:cs typeface="Times New Roman" panose="02020603050405020304" pitchFamily="18" charset="0"/>
            </a:rPr>
          </a:br>
          <a:r>
            <a:rPr lang="en-US" sz="1700" kern="1200" dirty="0">
              <a:latin typeface="Times New Roman" panose="02020603050405020304" pitchFamily="18" charset="0"/>
              <a:cs typeface="Times New Roman" panose="02020603050405020304" pitchFamily="18" charset="0"/>
            </a:rPr>
            <a:t>Ø Mobility is represented by the symbol μ </a:t>
          </a:r>
          <a:br>
            <a:rPr lang="en-US" sz="1700" kern="1200" dirty="0">
              <a:latin typeface="Times New Roman" panose="02020603050405020304" pitchFamily="18" charset="0"/>
              <a:cs typeface="Times New Roman" panose="02020603050405020304" pitchFamily="18" charset="0"/>
            </a:rPr>
          </a:br>
          <a:endParaRPr lang="en-US" sz="1700" kern="1200" dirty="0">
            <a:latin typeface="Times New Roman" panose="02020603050405020304" pitchFamily="18" charset="0"/>
            <a:cs typeface="Times New Roman" panose="02020603050405020304" pitchFamily="18" charset="0"/>
          </a:endParaRPr>
        </a:p>
      </dsp:txBody>
      <dsp:txXfrm>
        <a:off x="4879359" y="58616"/>
        <a:ext cx="3887962" cy="18512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8D20A-F673-49F0-A714-86BEC1863207}">
      <dsp:nvSpPr>
        <dsp:cNvPr id="0" name=""/>
        <dsp:cNvSpPr/>
      </dsp:nvSpPr>
      <dsp:spPr>
        <a:xfrm>
          <a:off x="2653" y="698570"/>
          <a:ext cx="1894807" cy="12032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3667DA-32AC-4ED7-B2DC-05E536CFBC00}">
      <dsp:nvSpPr>
        <dsp:cNvPr id="0" name=""/>
        <dsp:cNvSpPr/>
      </dsp:nvSpPr>
      <dsp:spPr>
        <a:xfrm>
          <a:off x="213187" y="898577"/>
          <a:ext cx="1894807" cy="12032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When the length of the transistor is reduced, the electric field at the drain increases.</a:t>
          </a:r>
        </a:p>
      </dsp:txBody>
      <dsp:txXfrm>
        <a:off x="248428" y="933818"/>
        <a:ext cx="1824325" cy="1132720"/>
      </dsp:txXfrm>
    </dsp:sp>
    <dsp:sp modelId="{6F76845B-F68C-43F3-8380-75165D39619A}">
      <dsp:nvSpPr>
        <dsp:cNvPr id="0" name=""/>
        <dsp:cNvSpPr/>
      </dsp:nvSpPr>
      <dsp:spPr>
        <a:xfrm>
          <a:off x="2318529" y="698570"/>
          <a:ext cx="1894807" cy="12032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C309B7-C11C-4777-8B77-0CBE58025C89}">
      <dsp:nvSpPr>
        <dsp:cNvPr id="0" name=""/>
        <dsp:cNvSpPr/>
      </dsp:nvSpPr>
      <dsp:spPr>
        <a:xfrm>
          <a:off x="2529063" y="898577"/>
          <a:ext cx="1894807" cy="12032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Ø The field can become so high that electrons are imparted with enough energy we can term them as hot.</a:t>
          </a:r>
        </a:p>
      </dsp:txBody>
      <dsp:txXfrm>
        <a:off x="2564304" y="933818"/>
        <a:ext cx="1824325" cy="1132720"/>
      </dsp:txXfrm>
    </dsp:sp>
    <dsp:sp modelId="{EE378181-56DD-4EFA-ADD7-F25D91A3EB19}">
      <dsp:nvSpPr>
        <dsp:cNvPr id="0" name=""/>
        <dsp:cNvSpPr/>
      </dsp:nvSpPr>
      <dsp:spPr>
        <a:xfrm>
          <a:off x="4634404" y="698570"/>
          <a:ext cx="1894807" cy="12032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6D8AC9-A4FC-4FD2-89CD-31E95E8AD007}">
      <dsp:nvSpPr>
        <dsp:cNvPr id="0" name=""/>
        <dsp:cNvSpPr/>
      </dsp:nvSpPr>
      <dsp:spPr>
        <a:xfrm>
          <a:off x="4844938" y="898577"/>
          <a:ext cx="1894807" cy="12032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just"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Ø These hot electrons impact the drain, dislodging holes that are then swept toward the negatively charged substrate and appear as a substrate current.</a:t>
          </a:r>
        </a:p>
      </dsp:txBody>
      <dsp:txXfrm>
        <a:off x="4880179" y="933818"/>
        <a:ext cx="1824325" cy="1132720"/>
      </dsp:txXfrm>
    </dsp:sp>
    <dsp:sp modelId="{4A125D62-4751-4A90-8316-767DB3CBFD92}">
      <dsp:nvSpPr>
        <dsp:cNvPr id="0" name=""/>
        <dsp:cNvSpPr/>
      </dsp:nvSpPr>
      <dsp:spPr>
        <a:xfrm>
          <a:off x="6950279" y="698570"/>
          <a:ext cx="1894807" cy="120320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735E11-F4D8-4278-A7CF-0731F732D781}">
      <dsp:nvSpPr>
        <dsp:cNvPr id="0" name=""/>
        <dsp:cNvSpPr/>
      </dsp:nvSpPr>
      <dsp:spPr>
        <a:xfrm>
          <a:off x="7160814" y="898577"/>
          <a:ext cx="1894807" cy="120320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Ø This effect is known as Impact Ionization </a:t>
          </a:r>
        </a:p>
      </dsp:txBody>
      <dsp:txXfrm>
        <a:off x="7196055" y="933818"/>
        <a:ext cx="1824325" cy="11327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11/22/2022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1.png"/><Relationship Id="rId7" Type="http://schemas.openxmlformats.org/officeDocument/2006/relationships/diagramColors" Target="../diagrams/colors1.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1.png"/><Relationship Id="rId7" Type="http://schemas.openxmlformats.org/officeDocument/2006/relationships/diagramColors" Target="../diagrams/colors2.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212272" y="228601"/>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000507"/>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latin typeface="Times New Roman" panose="02020603050405020304" pitchFamily="18" charset="0"/>
                <a:cs typeface="Times New Roman" panose="02020603050405020304" pitchFamily="18" charset="0"/>
                <a:sym typeface="BioRhyme ExtraBold"/>
              </a:rPr>
              <a:t>VLSI Design</a:t>
            </a:r>
          </a:p>
          <a:p>
            <a:pPr marR="0" lvl="0" indent="0" algn="ctr">
              <a:spcBef>
                <a:spcPts val="0"/>
              </a:spcBef>
              <a:spcAft>
                <a:spcPts val="0"/>
              </a:spcAft>
              <a:buNone/>
            </a:pPr>
            <a:r>
              <a:rPr lang="en-US" sz="3200" b="1" cap="all" dirty="0">
                <a:ln/>
                <a:solidFill>
                  <a:srgbClr val="C00000"/>
                </a:solidFill>
                <a:highlight>
                  <a:srgbClr val="FFFF00"/>
                </a:highlight>
                <a:latin typeface="Times New Roman" panose="02020603050405020304" pitchFamily="18" charset="0"/>
                <a:cs typeface="Times New Roman" panose="02020603050405020304" pitchFamily="18" charset="0"/>
                <a:sym typeface="BioRhyme ExtraBold"/>
              </a:rPr>
              <a:t>COURSE CODE</a:t>
            </a:r>
          </a:p>
          <a:p>
            <a:pPr marR="0" lvl="0" indent="0" algn="ctr">
              <a:spcBef>
                <a:spcPts val="0"/>
              </a:spcBef>
              <a:spcAft>
                <a:spcPts val="0"/>
              </a:spcAft>
              <a:buNone/>
            </a:pP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sz="16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pPr marR="0" lvl="0" indent="0" algn="ctr">
              <a:spcBef>
                <a:spcPts val="0"/>
              </a:spcBef>
              <a:spcAft>
                <a:spcPts val="0"/>
              </a:spcAft>
              <a:buNone/>
            </a:pPr>
            <a:r>
              <a:rPr lang="en-US" sz="2400" b="1" cap="all" dirty="0">
                <a:ln/>
                <a:solidFill>
                  <a:srgbClr val="C00000"/>
                </a:solidFill>
                <a:effectLst/>
                <a:latin typeface="Times New Roman" panose="02020603050405020304" pitchFamily="18" charset="0"/>
                <a:cs typeface="Times New Roman" panose="02020603050405020304" pitchFamily="18" charset="0"/>
              </a:rPr>
              <a:t>Second order effects</a:t>
            </a:r>
            <a:endParaRPr lang="en-US" sz="2400" b="1" dirty="0">
              <a:solidFill>
                <a:srgbClr val="C00000"/>
              </a:solidFill>
              <a:effectLst/>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5899355" y="492137"/>
            <a:ext cx="5909187" cy="830956"/>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5658320" y="492137"/>
            <a:ext cx="6410633" cy="830956"/>
          </a:xfrm>
          <a:prstGeom prst="rect">
            <a:avLst/>
          </a:prstGeom>
          <a:noFill/>
          <a:ln>
            <a:noFill/>
          </a:ln>
          <a:effectLst/>
        </p:spPr>
        <p:txBody>
          <a:bodyPr spcFirstLastPara="1" wrap="square" lIns="91425" tIns="45700" rIns="91425" bIns="45700" anchor="t" anchorCtr="0">
            <a:spAutoFit/>
          </a:bodyPr>
          <a:lstStyle/>
          <a:p>
            <a:pPr algn="ctr"/>
            <a:r>
              <a:rPr lang="en-US" sz="2400" dirty="0">
                <a:solidFill>
                  <a:srgbClr val="C00000"/>
                </a:solidFill>
                <a:latin typeface="Times New Roman" panose="02020603050405020304" pitchFamily="18" charset="0"/>
                <a:cs typeface="Times New Roman" panose="02020603050405020304" pitchFamily="18" charset="0"/>
              </a:rPr>
              <a:t>Department of Electronics and Communication Engineering</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574182" y="4333536"/>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Times New Roman" panose="02020603050405020304" pitchFamily="18" charset="0"/>
                <a:ea typeface="Calibri"/>
                <a:cs typeface="Times New Roman" panose="02020603050405020304" pitchFamily="18" charset="0"/>
                <a:sym typeface="Calibri"/>
              </a:rPr>
              <a:t>Session - 8</a:t>
            </a:r>
            <a:endParaRPr sz="2400" dirty="0">
              <a:solidFill>
                <a:schemeClr val="lt1"/>
              </a:solidFill>
              <a:latin typeface="Times New Roman" panose="02020603050405020304" pitchFamily="18" charset="0"/>
              <a:ea typeface="Calibri"/>
              <a:cs typeface="Times New Roman" panose="02020603050405020304" pitchFamily="18"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632857" y="692886"/>
            <a:ext cx="8911318" cy="45807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b="0" i="0" dirty="0">
                <a:effectLst/>
                <a:latin typeface="Times New Roman" panose="02020603050405020304" pitchFamily="18" charset="0"/>
                <a:cs typeface="Times New Roman" panose="02020603050405020304" pitchFamily="18" charset="0"/>
              </a:rPr>
              <a:t>To familiarize students with aspects the Second Order Effects.</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Times New Roman" panose="02020603050405020304" pitchFamily="18" charset="0"/>
                <a:cs typeface="Times New Roman" panose="02020603050405020304" pitchFamily="18" charset="0"/>
              </a:rPr>
              <a:t>This</a:t>
            </a:r>
            <a:r>
              <a:rPr lang="en-US" sz="1600" b="0" i="0" dirty="0">
                <a:effectLst/>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is designed to:</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Discuss the </a:t>
            </a:r>
            <a:r>
              <a:rPr lang="en-US" sz="1600" dirty="0">
                <a:latin typeface="Times New Roman" panose="02020603050405020304" pitchFamily="18" charset="0"/>
                <a:cs typeface="Times New Roman" panose="02020603050405020304" pitchFamily="18" charset="0"/>
              </a:rPr>
              <a:t>second order effect.</a:t>
            </a:r>
          </a:p>
          <a:p>
            <a:pPr marL="342900" indent="-342900">
              <a:buAutoNum type="arabicPeriod"/>
            </a:pPr>
            <a:r>
              <a:rPr lang="en-US" sz="1600" b="0" i="0" dirty="0">
                <a:effectLst/>
                <a:latin typeface="Times New Roman" panose="02020603050405020304" pitchFamily="18" charset="0"/>
                <a:cs typeface="Times New Roman" panose="02020603050405020304" pitchFamily="18" charset="0"/>
              </a:rPr>
              <a:t>Describe the second order </a:t>
            </a:r>
            <a:r>
              <a:rPr lang="en-US" sz="1600" dirty="0">
                <a:latin typeface="Times New Roman" panose="02020603050405020304" pitchFamily="18" charset="0"/>
                <a:cs typeface="Times New Roman" panose="02020603050405020304" pitchFamily="18" charset="0"/>
              </a:rPr>
              <a:t>effect on device performance</a:t>
            </a:r>
            <a:r>
              <a:rPr lang="en-US" sz="1600" b="0" i="0" dirty="0">
                <a:effectLst/>
                <a:latin typeface="Times New Roman" panose="02020603050405020304" pitchFamily="18" charset="0"/>
                <a:cs typeface="Times New Roman" panose="02020603050405020304" pitchFamily="18" charset="0"/>
              </a:rPr>
              <a: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890606"/>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Times New Roman" panose="02020603050405020304" pitchFamily="18" charset="0"/>
                <a:cs typeface="Times New Roman" panose="02020603050405020304" pitchFamily="18" charset="0"/>
              </a:rPr>
              <a:t>At the end of this </a:t>
            </a:r>
            <a:r>
              <a:rPr lang="en-US" sz="1600" dirty="0">
                <a:latin typeface="Times New Roman" panose="02020603050405020304" pitchFamily="18" charset="0"/>
                <a:cs typeface="Times New Roman" panose="02020603050405020304" pitchFamily="18" charset="0"/>
              </a:rPr>
              <a:t>session</a:t>
            </a:r>
            <a:r>
              <a:rPr lang="en-US" sz="1600" b="0" i="0" dirty="0">
                <a:effectLst/>
                <a:latin typeface="Times New Roman" panose="02020603050405020304" pitchFamily="18" charset="0"/>
                <a:cs typeface="Times New Roman" panose="02020603050405020304" pitchFamily="18" charset="0"/>
              </a:rPr>
              <a:t>, you should be able to:</a:t>
            </a:r>
          </a:p>
          <a:p>
            <a:pPr marL="342900" indent="-342900">
              <a:buAutoNum type="arabicPeriod"/>
            </a:pPr>
            <a:r>
              <a:rPr lang="en-US" sz="1600" dirty="0">
                <a:latin typeface="Times New Roman" panose="02020603050405020304" pitchFamily="18" charset="0"/>
                <a:cs typeface="Times New Roman" panose="02020603050405020304" pitchFamily="18" charset="0"/>
              </a:rPr>
              <a:t>Discuss the second order effect.</a:t>
            </a:r>
          </a:p>
          <a:p>
            <a:pPr marL="342900" indent="-342900">
              <a:buAutoNum type="arabicPeriod"/>
            </a:pPr>
            <a:r>
              <a:rPr lang="en-US" sz="1600" dirty="0">
                <a:latin typeface="Times New Roman" panose="02020603050405020304" pitchFamily="18" charset="0"/>
                <a:cs typeface="Times New Roman" panose="02020603050405020304" pitchFamily="18" charset="0"/>
              </a:rPr>
              <a:t>Describe the second order effect on device performance.</a:t>
            </a:r>
          </a:p>
          <a:p>
            <a:pPr marL="342900" indent="-342900">
              <a:buAutoNum type="arabicPeriod"/>
            </a:pPr>
            <a:r>
              <a:rPr lang="en-US" sz="1600" dirty="0">
                <a:latin typeface="Times New Roman" panose="02020603050405020304" pitchFamily="18" charset="0"/>
                <a:cs typeface="Times New Roman" panose="02020603050405020304" pitchFamily="18" charset="0"/>
              </a:rPr>
              <a:t>Summarize the second order effect.</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DD4420-527C-69EC-7765-155DB8C1BF31}"/>
              </a:ext>
            </a:extLst>
          </p:cNvPr>
          <p:cNvSpPr/>
          <p:nvPr/>
        </p:nvSpPr>
        <p:spPr>
          <a:xfrm>
            <a:off x="1524000" y="712789"/>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pic>
        <p:nvPicPr>
          <p:cNvPr id="5" name="Picture 4">
            <a:extLst>
              <a:ext uri="{FF2B5EF4-FFF2-40B4-BE49-F238E27FC236}">
                <a16:creationId xmlns:a16="http://schemas.microsoft.com/office/drawing/2014/main" id="{A3FE7874-AC50-D9F9-6732-BE0B717567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A516AF0-2793-69E6-ACBC-B0CFB3DCB322}"/>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
        <p:nvSpPr>
          <p:cNvPr id="107527" name="Rectangle 11">
            <a:extLst>
              <a:ext uri="{FF2B5EF4-FFF2-40B4-BE49-F238E27FC236}">
                <a16:creationId xmlns:a16="http://schemas.microsoft.com/office/drawing/2014/main" id="{1756CC00-B3E6-BF14-9378-E5DE88420049}"/>
              </a:ext>
            </a:extLst>
          </p:cNvPr>
          <p:cNvSpPr>
            <a:spLocks noChangeArrowheads="1"/>
          </p:cNvSpPr>
          <p:nvPr/>
        </p:nvSpPr>
        <p:spPr bwMode="auto">
          <a:xfrm>
            <a:off x="1627414" y="1474788"/>
            <a:ext cx="88169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r>
              <a:rPr lang="en-US" altLang="en-US" dirty="0">
                <a:solidFill>
                  <a:srgbClr val="222222"/>
                </a:solidFill>
                <a:latin typeface="Bell MT" panose="02020503060305020303" pitchFamily="18" charset="0"/>
              </a:rPr>
              <a:t>Threshold voltage – Body effect</a:t>
            </a:r>
          </a:p>
          <a:p>
            <a:pPr eaLnBrk="1" hangingPunct="1">
              <a:buFont typeface="Arial" panose="020B0604020202020204" pitchFamily="34" charset="0"/>
              <a:buChar char="•"/>
            </a:pPr>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r>
              <a:rPr lang="en-US" altLang="en-US" dirty="0">
                <a:solidFill>
                  <a:srgbClr val="222222"/>
                </a:solidFill>
                <a:latin typeface="Bell MT" panose="02020503060305020303" pitchFamily="18" charset="0"/>
              </a:rPr>
              <a:t>Subthreshold region</a:t>
            </a:r>
          </a:p>
          <a:p>
            <a:pPr eaLnBrk="1" hangingPunct="1">
              <a:buFont typeface="Arial" panose="020B0604020202020204" pitchFamily="34" charset="0"/>
              <a:buChar char="•"/>
            </a:pPr>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r>
              <a:rPr lang="en-US" altLang="en-US" dirty="0">
                <a:solidFill>
                  <a:srgbClr val="222222"/>
                </a:solidFill>
                <a:latin typeface="Bell MT" panose="02020503060305020303" pitchFamily="18" charset="0"/>
              </a:rPr>
              <a:t>Channel length modulation</a:t>
            </a:r>
          </a:p>
          <a:p>
            <a:pPr eaLnBrk="1" hangingPunct="1">
              <a:buFont typeface="Arial" panose="020B0604020202020204" pitchFamily="34" charset="0"/>
              <a:buChar char="•"/>
            </a:pPr>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r>
              <a:rPr lang="en-US" altLang="en-US" dirty="0">
                <a:solidFill>
                  <a:srgbClr val="222222"/>
                </a:solidFill>
                <a:latin typeface="Bell MT" panose="02020503060305020303" pitchFamily="18" charset="0"/>
              </a:rPr>
              <a:t>Mobility variation</a:t>
            </a:r>
          </a:p>
          <a:p>
            <a:pPr eaLnBrk="1" hangingPunct="1">
              <a:buFont typeface="Arial" panose="020B0604020202020204" pitchFamily="34" charset="0"/>
              <a:buChar char="•"/>
            </a:pPr>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r>
              <a:rPr lang="en-US" altLang="en-US" dirty="0">
                <a:solidFill>
                  <a:srgbClr val="222222"/>
                </a:solidFill>
                <a:latin typeface="Bell MT" panose="02020503060305020303" pitchFamily="18" charset="0"/>
              </a:rPr>
              <a:t>Fowler_Nordheim Tunneling</a:t>
            </a:r>
          </a:p>
          <a:p>
            <a:pPr eaLnBrk="1" hangingPunct="1">
              <a:buFont typeface="Arial" panose="020B0604020202020204" pitchFamily="34" charset="0"/>
              <a:buChar char="•"/>
            </a:pPr>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r>
              <a:rPr lang="en-US" altLang="en-US" dirty="0">
                <a:solidFill>
                  <a:srgbClr val="222222"/>
                </a:solidFill>
                <a:latin typeface="Bell MT" panose="02020503060305020303" pitchFamily="18" charset="0"/>
              </a:rPr>
              <a:t>Drain Punch through</a:t>
            </a:r>
          </a:p>
          <a:p>
            <a:pPr eaLnBrk="1" hangingPunct="1">
              <a:buFont typeface="Arial" panose="020B0604020202020204" pitchFamily="34" charset="0"/>
              <a:buChar char="•"/>
            </a:pPr>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endParaRPr lang="en-US" altLang="en-US" dirty="0">
              <a:solidFill>
                <a:srgbClr val="222222"/>
              </a:solidFill>
              <a:latin typeface="Bell MT" panose="02020503060305020303" pitchFamily="18" charset="0"/>
            </a:endParaRPr>
          </a:p>
          <a:p>
            <a:pPr eaLnBrk="1" hangingPunct="1">
              <a:buFont typeface="Arial" panose="020B0604020202020204" pitchFamily="34" charset="0"/>
              <a:buChar char="•"/>
            </a:pPr>
            <a:r>
              <a:rPr lang="en-US" altLang="en-US" dirty="0">
                <a:solidFill>
                  <a:srgbClr val="222222"/>
                </a:solidFill>
                <a:latin typeface="Bell MT" panose="02020503060305020303" pitchFamily="18" charset="0"/>
              </a:rPr>
              <a:t>Impact Ionization – Hot Electrons</a:t>
            </a:r>
          </a:p>
        </p:txBody>
      </p:sp>
      <p:sp>
        <p:nvSpPr>
          <p:cNvPr id="11" name="TextBox 10">
            <a:extLst>
              <a:ext uri="{FF2B5EF4-FFF2-40B4-BE49-F238E27FC236}">
                <a16:creationId xmlns:a16="http://schemas.microsoft.com/office/drawing/2014/main" id="{DD7C440D-1FEE-5BCC-CF13-3C5CD73942E9}"/>
              </a:ext>
            </a:extLst>
          </p:cNvPr>
          <p:cNvSpPr txBox="1"/>
          <p:nvPr/>
        </p:nvSpPr>
        <p:spPr>
          <a:xfrm>
            <a:off x="1631951" y="1046163"/>
            <a:ext cx="8816975" cy="368300"/>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defRPr/>
            </a:pPr>
            <a:r>
              <a:rPr lang="en-US" dirty="0">
                <a:solidFill>
                  <a:srgbClr val="222222"/>
                </a:solidFill>
                <a:latin typeface="Bell MT" panose="02020503060305020303" pitchFamily="18" charset="0"/>
              </a:rPr>
              <a:t>Following are the list of second order effects of MOSFET.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5DD656-D572-6A01-D000-5A8E9D66EAA8}"/>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08551" name="TextBox 12">
            <a:extLst>
              <a:ext uri="{FF2B5EF4-FFF2-40B4-BE49-F238E27FC236}">
                <a16:creationId xmlns:a16="http://schemas.microsoft.com/office/drawing/2014/main" id="{A84D32A4-E145-2DE9-C2F8-30E6BCD67161}"/>
              </a:ext>
            </a:extLst>
          </p:cNvPr>
          <p:cNvSpPr txBox="1">
            <a:spLocks noChangeArrowheads="1"/>
          </p:cNvSpPr>
          <p:nvPr/>
        </p:nvSpPr>
        <p:spPr bwMode="auto">
          <a:xfrm>
            <a:off x="1608138" y="1593851"/>
            <a:ext cx="9059862" cy="529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Arial" panose="020B0604020202020204" pitchFamily="34" charset="0"/>
              <a:buChar char="•"/>
            </a:pPr>
            <a:r>
              <a:rPr lang="en-US" altLang="en-US" sz="1600" b="1" dirty="0">
                <a:solidFill>
                  <a:srgbClr val="002060"/>
                </a:solidFill>
                <a:latin typeface="Times New Roman" panose="02020603050405020304" pitchFamily="18" charset="0"/>
                <a:cs typeface="Times New Roman" panose="02020603050405020304" pitchFamily="18" charset="0"/>
              </a:rPr>
              <a:t>The change in the threshold voltage of a MOSFET, because of the voltage difference between body and source is called body effect.</a:t>
            </a:r>
          </a:p>
          <a:p>
            <a:pPr algn="just"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r>
              <a:rPr lang="en-US" altLang="en-US" b="1" dirty="0">
                <a:solidFill>
                  <a:srgbClr val="C00000"/>
                </a:solidFill>
                <a:latin typeface="Times New Roman" panose="02020603050405020304" pitchFamily="18" charset="0"/>
                <a:cs typeface="Times New Roman" panose="02020603050405020304" pitchFamily="18" charset="0"/>
              </a:rPr>
              <a:t>The expression for the threshold voltage is given by the following expression.</a:t>
            </a: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dirty="0">
                <a:solidFill>
                  <a:srgbClr val="222222"/>
                </a:solidFill>
                <a:latin typeface="Times New Roman" panose="02020603050405020304" pitchFamily="18" charset="0"/>
                <a:cs typeface="Times New Roman" panose="02020603050405020304" pitchFamily="18" charset="0"/>
              </a:rPr>
              <a:t>If </a:t>
            </a:r>
            <a:r>
              <a:rPr lang="en-US" altLang="en-US" dirty="0" err="1">
                <a:solidFill>
                  <a:srgbClr val="222222"/>
                </a:solidFill>
                <a:latin typeface="Times New Roman" panose="02020603050405020304" pitchFamily="18" charset="0"/>
                <a:cs typeface="Times New Roman" panose="02020603050405020304" pitchFamily="18" charset="0"/>
              </a:rPr>
              <a:t>Vsb</a:t>
            </a:r>
            <a:r>
              <a:rPr lang="en-US" altLang="en-US" dirty="0">
                <a:solidFill>
                  <a:srgbClr val="222222"/>
                </a:solidFill>
                <a:latin typeface="Times New Roman" panose="02020603050405020304" pitchFamily="18" charset="0"/>
                <a:cs typeface="Times New Roman" panose="02020603050405020304" pitchFamily="18" charset="0"/>
              </a:rPr>
              <a:t> is zero, then Vt=Vt(0) that means the value of the threshold voltage will not be changed.</a:t>
            </a:r>
          </a:p>
          <a:p>
            <a:pPr algn="just"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dirty="0">
                <a:solidFill>
                  <a:srgbClr val="222222"/>
                </a:solidFill>
                <a:latin typeface="Times New Roman" panose="02020603050405020304" pitchFamily="18" charset="0"/>
                <a:cs typeface="Times New Roman" panose="02020603050405020304" pitchFamily="18" charset="0"/>
              </a:rPr>
              <a:t>Therefore, we short circuit the source and substrate so that, </a:t>
            </a:r>
            <a:r>
              <a:rPr lang="en-US" altLang="en-US" dirty="0" err="1">
                <a:solidFill>
                  <a:srgbClr val="222222"/>
                </a:solidFill>
                <a:latin typeface="Times New Roman" panose="02020603050405020304" pitchFamily="18" charset="0"/>
                <a:cs typeface="Times New Roman" panose="02020603050405020304" pitchFamily="18" charset="0"/>
              </a:rPr>
              <a:t>Vsb</a:t>
            </a:r>
            <a:r>
              <a:rPr lang="en-US" altLang="en-US" dirty="0">
                <a:solidFill>
                  <a:srgbClr val="222222"/>
                </a:solidFill>
                <a:latin typeface="Times New Roman" panose="02020603050405020304" pitchFamily="18" charset="0"/>
                <a:cs typeface="Times New Roman" panose="02020603050405020304" pitchFamily="18" charset="0"/>
              </a:rPr>
              <a:t> will be zero.</a:t>
            </a:r>
          </a:p>
          <a:p>
            <a:pPr eaLnBrk="1" hangingPunct="1">
              <a:buFont typeface="Arial" panose="020B0604020202020204" pitchFamily="34" charset="0"/>
              <a:buChar char="•"/>
            </a:pPr>
            <a:endParaRPr lang="en-US" altLang="en-US" dirty="0">
              <a:solidFill>
                <a:srgbClr val="222222"/>
              </a:solidFill>
              <a:latin typeface="Times New Roman" panose="02020603050405020304" pitchFamily="18" charset="0"/>
              <a:cs typeface="Times New Roman" panose="02020603050405020304" pitchFamily="18" charset="0"/>
            </a:endParaRPr>
          </a:p>
        </p:txBody>
      </p:sp>
      <p:pic>
        <p:nvPicPr>
          <p:cNvPr id="41992" name="Picture 8">
            <a:extLst>
              <a:ext uri="{FF2B5EF4-FFF2-40B4-BE49-F238E27FC236}">
                <a16:creationId xmlns:a16="http://schemas.microsoft.com/office/drawing/2014/main" id="{FA9611D6-8413-C770-9BB6-382953D3AA7C}"/>
              </a:ext>
            </a:extLst>
          </p:cNvPr>
          <p:cNvPicPr>
            <a:picLocks noChangeAspect="1" noChangeArrowheads="1"/>
          </p:cNvPicPr>
          <p:nvPr/>
        </p:nvPicPr>
        <p:blipFill>
          <a:blip r:embed="rId2"/>
          <a:srcRect/>
          <a:stretch>
            <a:fillRect/>
          </a:stretch>
        </p:blipFill>
        <p:spPr bwMode="auto">
          <a:xfrm>
            <a:off x="3455989" y="2886076"/>
            <a:ext cx="4067175" cy="542925"/>
          </a:xfrm>
          <a:prstGeom prst="rect">
            <a:avLst/>
          </a:prstGeom>
        </p:spPr>
        <p:style>
          <a:lnRef idx="2">
            <a:schemeClr val="dk1"/>
          </a:lnRef>
          <a:fillRef idx="1">
            <a:schemeClr val="lt1"/>
          </a:fillRef>
          <a:effectRef idx="0">
            <a:schemeClr val="dk1"/>
          </a:effectRef>
          <a:fontRef idx="minor">
            <a:schemeClr val="dk1"/>
          </a:fontRef>
        </p:style>
      </p:pic>
      <p:pic>
        <p:nvPicPr>
          <p:cNvPr id="41993" name="Picture 9">
            <a:extLst>
              <a:ext uri="{FF2B5EF4-FFF2-40B4-BE49-F238E27FC236}">
                <a16:creationId xmlns:a16="http://schemas.microsoft.com/office/drawing/2014/main" id="{A55B7B0D-D882-E413-2D02-E7AB995A53EF}"/>
              </a:ext>
            </a:extLst>
          </p:cNvPr>
          <p:cNvPicPr>
            <a:picLocks noChangeAspect="1" noChangeArrowheads="1"/>
          </p:cNvPicPr>
          <p:nvPr/>
        </p:nvPicPr>
        <p:blipFill>
          <a:blip r:embed="rId3"/>
          <a:srcRect/>
          <a:stretch>
            <a:fillRect/>
          </a:stretch>
        </p:blipFill>
        <p:spPr bwMode="auto">
          <a:xfrm>
            <a:off x="2719388" y="3689351"/>
            <a:ext cx="5943600" cy="1590675"/>
          </a:xfrm>
          <a:prstGeom prst="rect">
            <a:avLst/>
          </a:prstGeom>
        </p:spPr>
        <p:style>
          <a:lnRef idx="2">
            <a:schemeClr val="accent6"/>
          </a:lnRef>
          <a:fillRef idx="1">
            <a:schemeClr val="lt1"/>
          </a:fillRef>
          <a:effectRef idx="0">
            <a:schemeClr val="accent6"/>
          </a:effectRef>
          <a:fontRef idx="minor">
            <a:schemeClr val="dk1"/>
          </a:fontRef>
        </p:style>
      </p:pic>
      <p:sp>
        <p:nvSpPr>
          <p:cNvPr id="17" name="TextBox 16">
            <a:extLst>
              <a:ext uri="{FF2B5EF4-FFF2-40B4-BE49-F238E27FC236}">
                <a16:creationId xmlns:a16="http://schemas.microsoft.com/office/drawing/2014/main" id="{73635D30-F202-8E7D-9EF4-514FE1D3882B}"/>
              </a:ext>
            </a:extLst>
          </p:cNvPr>
          <p:cNvSpPr txBox="1"/>
          <p:nvPr/>
        </p:nvSpPr>
        <p:spPr>
          <a:xfrm>
            <a:off x="1608139" y="1038226"/>
            <a:ext cx="4638675"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Threshold Voltage </a:t>
            </a:r>
            <a:endParaRPr lang="en-IN" sz="2400" b="1" dirty="0">
              <a:solidFill>
                <a:schemeClr val="bg1"/>
              </a:solidFill>
            </a:endParaRPr>
          </a:p>
        </p:txBody>
      </p:sp>
      <p:pic>
        <p:nvPicPr>
          <p:cNvPr id="2" name="Picture 1">
            <a:extLst>
              <a:ext uri="{FF2B5EF4-FFF2-40B4-BE49-F238E27FC236}">
                <a16:creationId xmlns:a16="http://schemas.microsoft.com/office/drawing/2014/main" id="{CA16A65B-C755-FA4C-E957-959787A61E8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A1C07F8-4B77-18EB-497D-0AA99C0023CF}"/>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4D2D93-77BA-C8D0-019F-4BAD0EE4EEC9}"/>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3" name="TextBox 12">
            <a:extLst>
              <a:ext uri="{FF2B5EF4-FFF2-40B4-BE49-F238E27FC236}">
                <a16:creationId xmlns:a16="http://schemas.microsoft.com/office/drawing/2014/main" id="{37F427F4-C806-7772-AD3C-D55341A5688C}"/>
              </a:ext>
            </a:extLst>
          </p:cNvPr>
          <p:cNvSpPr txBox="1"/>
          <p:nvPr/>
        </p:nvSpPr>
        <p:spPr>
          <a:xfrm>
            <a:off x="1608138" y="1593851"/>
            <a:ext cx="9059862" cy="646331"/>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lgn="just">
              <a:defRPr/>
            </a:pPr>
            <a:r>
              <a:rPr lang="en-US" b="1" dirty="0">
                <a:solidFill>
                  <a:srgbClr val="C00000"/>
                </a:solidFill>
                <a:latin typeface="Times New Roman" panose="02020603050405020304" pitchFamily="18" charset="0"/>
                <a:cs typeface="Times New Roman" panose="02020603050405020304" pitchFamily="18" charset="0"/>
              </a:rPr>
              <a:t>Subthreshold region: </a:t>
            </a:r>
            <a:r>
              <a:rPr lang="en-US" dirty="0">
                <a:solidFill>
                  <a:srgbClr val="222222"/>
                </a:solidFill>
                <a:latin typeface="Times New Roman" panose="02020603050405020304" pitchFamily="18" charset="0"/>
                <a:cs typeface="Times New Roman" panose="02020603050405020304" pitchFamily="18" charset="0"/>
              </a:rPr>
              <a:t>For </a:t>
            </a:r>
            <a:r>
              <a:rPr lang="en-US" dirty="0" err="1">
                <a:solidFill>
                  <a:srgbClr val="222222"/>
                </a:solidFill>
                <a:latin typeface="Times New Roman" panose="02020603050405020304" pitchFamily="18" charset="0"/>
                <a:cs typeface="Times New Roman" panose="02020603050405020304" pitchFamily="18" charset="0"/>
              </a:rPr>
              <a:t>Vgs</a:t>
            </a:r>
            <a:r>
              <a:rPr lang="en-US" dirty="0">
                <a:solidFill>
                  <a:srgbClr val="222222"/>
                </a:solidFill>
                <a:latin typeface="Times New Roman" panose="02020603050405020304" pitchFamily="18" charset="0"/>
                <a:cs typeface="Times New Roman" panose="02020603050405020304" pitchFamily="18" charset="0"/>
              </a:rPr>
              <a:t>&lt;Vt also we will get some value of Drain current this is called as Subthreshold current, and the region is called as Subthreshold region.</a:t>
            </a:r>
            <a:endParaRPr lang="en-US" sz="2000" dirty="0">
              <a:solidFill>
                <a:srgbClr val="222222"/>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03E5F513-E573-067E-A8CA-9D1130E2C21B}"/>
              </a:ext>
            </a:extLst>
          </p:cNvPr>
          <p:cNvSpPr txBox="1"/>
          <p:nvPr/>
        </p:nvSpPr>
        <p:spPr>
          <a:xfrm>
            <a:off x="1608139" y="1038226"/>
            <a:ext cx="4638675"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Threshold Voltage </a:t>
            </a:r>
            <a:endParaRPr lang="en-IN" sz="2400" b="1" dirty="0">
              <a:solidFill>
                <a:schemeClr val="bg1"/>
              </a:solidFill>
            </a:endParaRPr>
          </a:p>
        </p:txBody>
      </p:sp>
      <p:sp>
        <p:nvSpPr>
          <p:cNvPr id="109577" name="TextBox 9">
            <a:extLst>
              <a:ext uri="{FF2B5EF4-FFF2-40B4-BE49-F238E27FC236}">
                <a16:creationId xmlns:a16="http://schemas.microsoft.com/office/drawing/2014/main" id="{75EA2832-8841-585C-D526-DA4DD8150BCF}"/>
              </a:ext>
            </a:extLst>
          </p:cNvPr>
          <p:cNvSpPr txBox="1">
            <a:spLocks noChangeArrowheads="1"/>
          </p:cNvSpPr>
          <p:nvPr/>
        </p:nvSpPr>
        <p:spPr bwMode="auto">
          <a:xfrm>
            <a:off x="1608138" y="2293938"/>
            <a:ext cx="9059862" cy="206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Char char="§"/>
            </a:pPr>
            <a:r>
              <a:rPr lang="en-US" altLang="en-US" sz="1600" b="1" dirty="0">
                <a:solidFill>
                  <a:srgbClr val="000000"/>
                </a:solidFill>
                <a:latin typeface="Times New Roman" panose="02020603050405020304" pitchFamily="18" charset="0"/>
                <a:cs typeface="Times New Roman" panose="02020603050405020304" pitchFamily="18" charset="0"/>
              </a:rPr>
              <a:t>We have assumed that the device turns off abruptly as </a:t>
            </a:r>
            <a:r>
              <a:rPr lang="en-US" altLang="en-US" sz="1600" b="1" dirty="0">
                <a:solidFill>
                  <a:srgbClr val="FF0000"/>
                </a:solidFill>
                <a:latin typeface="Times New Roman" panose="02020603050405020304" pitchFamily="18" charset="0"/>
                <a:cs typeface="Times New Roman" panose="02020603050405020304" pitchFamily="18" charset="0"/>
              </a:rPr>
              <a:t>VGS drop below VTH.</a:t>
            </a:r>
          </a:p>
          <a:p>
            <a:pPr eaLnBrk="1" hangingPunct="1">
              <a:buFont typeface="Wingdings" panose="05000000000000000000" pitchFamily="2" charset="2"/>
              <a:buChar char="§"/>
            </a:pPr>
            <a:endParaRPr lang="en-US" altLang="en-US" sz="1600" dirty="0">
              <a:solidFill>
                <a:srgbClr val="FF0000"/>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1600" dirty="0">
                <a:solidFill>
                  <a:srgbClr val="000000"/>
                </a:solidFill>
                <a:latin typeface="Times New Roman" panose="02020603050405020304" pitchFamily="18" charset="0"/>
                <a:cs typeface="Times New Roman" panose="02020603050405020304" pitchFamily="18" charset="0"/>
              </a:rPr>
              <a:t>In reality, for VGS ≈ VTH, a “weak” inversion layer still exists and some current flow from D to S.</a:t>
            </a:r>
          </a:p>
          <a:p>
            <a:pPr eaLnBrk="1" hangingPunct="1">
              <a:buFont typeface="Wingdings" panose="05000000000000000000" pitchFamily="2" charset="2"/>
              <a:buChar char="§"/>
            </a:pPr>
            <a:r>
              <a:rPr lang="en-US" altLang="en-US" sz="1600" dirty="0">
                <a:solidFill>
                  <a:srgbClr val="000000"/>
                </a:solidFill>
                <a:latin typeface="Times New Roman" panose="02020603050405020304" pitchFamily="18" charset="0"/>
                <a:cs typeface="Times New Roman" panose="02020603050405020304" pitchFamily="18" charset="0"/>
              </a:rPr>
              <a:t>Even for VGS &lt; VTH, ID is finite, but it exhibits an exponential dependence on VGS.</a:t>
            </a:r>
            <a:br>
              <a:rPr lang="en-US" altLang="en-US" sz="1600" dirty="0">
                <a:solidFill>
                  <a:srgbClr val="000000"/>
                </a:solidFill>
                <a:latin typeface="Times New Roman" panose="02020603050405020304" pitchFamily="18" charset="0"/>
                <a:cs typeface="Times New Roman" panose="02020603050405020304" pitchFamily="18" charset="0"/>
              </a:rPr>
            </a:br>
            <a:r>
              <a:rPr lang="en-US" altLang="en-US" sz="1600" dirty="0">
                <a:solidFill>
                  <a:srgbClr val="000000"/>
                </a:solidFill>
                <a:latin typeface="Times New Roman" panose="02020603050405020304" pitchFamily="18" charset="0"/>
                <a:cs typeface="Times New Roman" panose="02020603050405020304" pitchFamily="18" charset="0"/>
              </a:rPr>
              <a:t>                             This is called “</a:t>
            </a:r>
            <a:r>
              <a:rPr lang="en-US" altLang="en-US" sz="1600" b="1" u="sng" dirty="0">
                <a:solidFill>
                  <a:srgbClr val="FF0000"/>
                </a:solidFill>
                <a:latin typeface="Times New Roman" panose="02020603050405020304" pitchFamily="18" charset="0"/>
                <a:cs typeface="Times New Roman" panose="02020603050405020304" pitchFamily="18" charset="0"/>
              </a:rPr>
              <a:t>subthreshold conduction </a:t>
            </a:r>
            <a:r>
              <a:rPr lang="en-US" altLang="en-US" sz="1600" dirty="0">
                <a:solidFill>
                  <a:srgbClr val="FF0000"/>
                </a:solidFill>
                <a:latin typeface="Times New Roman" panose="02020603050405020304" pitchFamily="18" charset="0"/>
                <a:cs typeface="Times New Roman" panose="02020603050405020304" pitchFamily="18" charset="0"/>
              </a:rPr>
              <a:t>”</a:t>
            </a:r>
            <a:br>
              <a:rPr lang="en-US" altLang="en-US" sz="1600" dirty="0">
                <a:solidFill>
                  <a:srgbClr val="FF0000"/>
                </a:solidFill>
                <a:latin typeface="Times New Roman" panose="02020603050405020304" pitchFamily="18" charset="0"/>
                <a:cs typeface="Times New Roman" panose="02020603050405020304" pitchFamily="18" charset="0"/>
              </a:rPr>
            </a:br>
            <a:r>
              <a:rPr lang="en-US" altLang="en-US" sz="1600" dirty="0">
                <a:solidFill>
                  <a:srgbClr val="FF0000"/>
                </a:solidFill>
                <a:latin typeface="Times New Roman" panose="02020603050405020304" pitchFamily="18" charset="0"/>
                <a:cs typeface="Times New Roman" panose="02020603050405020304" pitchFamily="18" charset="0"/>
              </a:rPr>
              <a:t>                                                                     </a:t>
            </a:r>
            <a:r>
              <a:rPr lang="en-US" altLang="en-US" sz="1600" dirty="0">
                <a:solidFill>
                  <a:srgbClr val="000000"/>
                </a:solidFill>
                <a:latin typeface="Times New Roman" panose="02020603050405020304" pitchFamily="18" charset="0"/>
                <a:cs typeface="Times New Roman" panose="02020603050405020304" pitchFamily="18" charset="0"/>
              </a:rPr>
              <a:t>Or</a:t>
            </a:r>
          </a:p>
          <a:p>
            <a:pPr algn="just" eaLnBrk="1" hangingPunct="1">
              <a:buFont typeface="Wingdings" panose="05000000000000000000" pitchFamily="2" charset="2"/>
              <a:buChar char="§"/>
            </a:pPr>
            <a:r>
              <a:rPr lang="en-US" altLang="en-US" sz="1600" dirty="0">
                <a:solidFill>
                  <a:srgbClr val="000000"/>
                </a:solidFill>
                <a:latin typeface="Times New Roman" panose="02020603050405020304" pitchFamily="18" charset="0"/>
                <a:cs typeface="Times New Roman" panose="02020603050405020304" pitchFamily="18" charset="0"/>
              </a:rPr>
              <a:t>For </a:t>
            </a:r>
            <a:r>
              <a:rPr lang="en-US" altLang="en-US" sz="1600" dirty="0" err="1">
                <a:solidFill>
                  <a:srgbClr val="000000"/>
                </a:solidFill>
                <a:latin typeface="Times New Roman" panose="02020603050405020304" pitchFamily="18" charset="0"/>
                <a:cs typeface="Times New Roman" panose="02020603050405020304" pitchFamily="18" charset="0"/>
              </a:rPr>
              <a:t>Vgs</a:t>
            </a:r>
            <a:r>
              <a:rPr lang="en-US" altLang="en-US" sz="1600" dirty="0">
                <a:solidFill>
                  <a:srgbClr val="000000"/>
                </a:solidFill>
                <a:latin typeface="Times New Roman" panose="02020603050405020304" pitchFamily="18" charset="0"/>
                <a:cs typeface="Times New Roman" panose="02020603050405020304" pitchFamily="18" charset="0"/>
              </a:rPr>
              <a:t>&lt;Vt also we will get some value of Drain current this is called as Subthreshold current, and the region is called as </a:t>
            </a:r>
            <a:r>
              <a:rPr lang="en-US" altLang="en-US" sz="1600" b="1" dirty="0">
                <a:solidFill>
                  <a:srgbClr val="FF0000"/>
                </a:solidFill>
                <a:latin typeface="Times New Roman" panose="02020603050405020304" pitchFamily="18" charset="0"/>
                <a:cs typeface="Times New Roman" panose="02020603050405020304" pitchFamily="18" charset="0"/>
              </a:rPr>
              <a:t>Subthreshold region</a:t>
            </a:r>
            <a:r>
              <a:rPr lang="en-US" altLang="en-US" sz="1600" dirty="0">
                <a:solidFill>
                  <a:srgbClr val="FF0000"/>
                </a:solidFill>
                <a:latin typeface="Times New Roman" panose="02020603050405020304" pitchFamily="18" charset="0"/>
                <a:cs typeface="Times New Roman" panose="02020603050405020304" pitchFamily="18" charset="0"/>
              </a:rPr>
              <a:t>.</a:t>
            </a:r>
            <a:r>
              <a:rPr lang="en-US" altLang="en-US" sz="1400" dirty="0">
                <a:latin typeface="Times New Roman" panose="02020603050405020304" pitchFamily="18" charset="0"/>
                <a:cs typeface="Times New Roman" panose="02020603050405020304" pitchFamily="18" charset="0"/>
              </a:rPr>
              <a:t> </a:t>
            </a:r>
            <a:endParaRPr lang="en-US" altLang="en-US" sz="1400" dirty="0">
              <a:solidFill>
                <a:srgbClr val="222222"/>
              </a:solidFill>
              <a:latin typeface="Times New Roman" panose="02020603050405020304" pitchFamily="18" charset="0"/>
              <a:cs typeface="Times New Roman" panose="02020603050405020304" pitchFamily="18" charset="0"/>
            </a:endParaRPr>
          </a:p>
        </p:txBody>
      </p:sp>
      <p:pic>
        <p:nvPicPr>
          <p:cNvPr id="109578" name="Picture 6">
            <a:extLst>
              <a:ext uri="{FF2B5EF4-FFF2-40B4-BE49-F238E27FC236}">
                <a16:creationId xmlns:a16="http://schemas.microsoft.com/office/drawing/2014/main" id="{8B375296-DBC4-4F43-EF40-67823D94BA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7325" y="4349750"/>
            <a:ext cx="4656818" cy="2413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7EA2DFA9-A1CD-1575-54F6-F111409376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479D89E2-8D50-095F-96F8-1062A0C182FB}"/>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A75B7D-8CD6-701E-DEB4-A955CC4C67E9}"/>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3" name="TextBox 12">
            <a:extLst>
              <a:ext uri="{FF2B5EF4-FFF2-40B4-BE49-F238E27FC236}">
                <a16:creationId xmlns:a16="http://schemas.microsoft.com/office/drawing/2014/main" id="{A8448B39-3AFE-8710-643E-A2DEC049261E}"/>
              </a:ext>
            </a:extLst>
          </p:cNvPr>
          <p:cNvSpPr txBox="1"/>
          <p:nvPr/>
        </p:nvSpPr>
        <p:spPr>
          <a:xfrm>
            <a:off x="1590676" y="1593850"/>
            <a:ext cx="9058275" cy="585788"/>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algn="just">
              <a:buFont typeface="Arial" panose="020B0604020202020204" pitchFamily="34" charset="0"/>
              <a:buChar char="•"/>
              <a:defRPr/>
            </a:pPr>
            <a:r>
              <a:rPr lang="en-US" sz="1600" dirty="0">
                <a:solidFill>
                  <a:srgbClr val="222222"/>
                </a:solidFill>
                <a:latin typeface="Times New Roman" panose="02020603050405020304" pitchFamily="18" charset="0"/>
                <a:cs typeface="Times New Roman" panose="02020603050405020304" pitchFamily="18" charset="0"/>
              </a:rPr>
              <a:t>The channel length of the MOSFET is changed due to the change in the drain to source voltage.</a:t>
            </a:r>
          </a:p>
          <a:p>
            <a:pPr algn="just">
              <a:buFont typeface="Arial" panose="020B0604020202020204" pitchFamily="34" charset="0"/>
              <a:buChar char="•"/>
              <a:defRPr/>
            </a:pPr>
            <a:r>
              <a:rPr lang="en-US" sz="1600" dirty="0">
                <a:solidFill>
                  <a:srgbClr val="222222"/>
                </a:solidFill>
                <a:latin typeface="Times New Roman" panose="02020603050405020304" pitchFamily="18" charset="0"/>
                <a:cs typeface="Times New Roman" panose="02020603050405020304" pitchFamily="18" charset="0"/>
              </a:rPr>
              <a:t>This effect is called as the channel length modulation.</a:t>
            </a:r>
            <a:endParaRPr lang="en-US" dirty="0">
              <a:solidFill>
                <a:srgbClr val="222222"/>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35388A1D-F1BD-2C2E-CECC-5F66D6C02CEB}"/>
              </a:ext>
            </a:extLst>
          </p:cNvPr>
          <p:cNvSpPr txBox="1"/>
          <p:nvPr/>
        </p:nvSpPr>
        <p:spPr>
          <a:xfrm>
            <a:off x="1608139" y="1038226"/>
            <a:ext cx="4638675"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Channel Length Modulation</a:t>
            </a:r>
            <a:endParaRPr lang="en-IN" sz="2400" b="1" dirty="0">
              <a:solidFill>
                <a:schemeClr val="bg1"/>
              </a:solidFill>
            </a:endParaRPr>
          </a:p>
        </p:txBody>
      </p:sp>
      <p:sp>
        <p:nvSpPr>
          <p:cNvPr id="8" name="TextBox 7">
            <a:extLst>
              <a:ext uri="{FF2B5EF4-FFF2-40B4-BE49-F238E27FC236}">
                <a16:creationId xmlns:a16="http://schemas.microsoft.com/office/drawing/2014/main" id="{ED3CE11B-C085-BDBE-C563-D3069110409E}"/>
              </a:ext>
            </a:extLst>
          </p:cNvPr>
          <p:cNvSpPr txBox="1"/>
          <p:nvPr/>
        </p:nvSpPr>
        <p:spPr>
          <a:xfrm>
            <a:off x="1581150" y="2239964"/>
            <a:ext cx="5137150" cy="1754187"/>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gn="just">
              <a:defRPr/>
            </a:pPr>
            <a:r>
              <a:rPr lang="en-US" dirty="0">
                <a:solidFill>
                  <a:srgbClr val="000000"/>
                </a:solidFill>
                <a:latin typeface="Times New Roman" panose="02020603050405020304" pitchFamily="18" charset="0"/>
                <a:cs typeface="Times New Roman" panose="02020603050405020304" pitchFamily="18" charset="0"/>
              </a:rPr>
              <a:t>The </a:t>
            </a:r>
            <a:r>
              <a:rPr lang="en-US" dirty="0">
                <a:solidFill>
                  <a:srgbClr val="FF0000"/>
                </a:solidFill>
                <a:latin typeface="Times New Roman" panose="02020603050405020304" pitchFamily="18" charset="0"/>
                <a:cs typeface="Times New Roman" panose="02020603050405020304" pitchFamily="18" charset="0"/>
              </a:rPr>
              <a:t>channel length </a:t>
            </a:r>
            <a:r>
              <a:rPr lang="en-US" dirty="0">
                <a:solidFill>
                  <a:srgbClr val="000000"/>
                </a:solidFill>
                <a:latin typeface="Times New Roman" panose="02020603050405020304" pitchFamily="18" charset="0"/>
                <a:cs typeface="Times New Roman" panose="02020603050405020304" pitchFamily="18" charset="0"/>
              </a:rPr>
              <a:t>of the MOSFET is changed due to the change in the </a:t>
            </a:r>
            <a:r>
              <a:rPr lang="en-US" dirty="0">
                <a:solidFill>
                  <a:srgbClr val="FF0000"/>
                </a:solidFill>
                <a:latin typeface="Times New Roman" panose="02020603050405020304" pitchFamily="18" charset="0"/>
                <a:cs typeface="Times New Roman" panose="02020603050405020304" pitchFamily="18" charset="0"/>
              </a:rPr>
              <a:t>drain to source voltage</a:t>
            </a:r>
            <a:r>
              <a:rPr lang="en-US" dirty="0">
                <a:solidFill>
                  <a:srgbClr val="000000"/>
                </a:solidFill>
                <a:latin typeface="Times New Roman" panose="02020603050405020304" pitchFamily="18" charset="0"/>
                <a:cs typeface="Times New Roman" panose="02020603050405020304" pitchFamily="18" charset="0"/>
              </a:rPr>
              <a:t>.</a:t>
            </a:r>
          </a:p>
          <a:p>
            <a:pPr algn="just">
              <a:defRPr/>
            </a:pPr>
            <a:r>
              <a:rPr lang="en-US" dirty="0">
                <a:solidFill>
                  <a:srgbClr val="000000"/>
                </a:solidFill>
                <a:latin typeface="Times New Roman" panose="02020603050405020304" pitchFamily="18" charset="0"/>
                <a:cs typeface="Times New Roman" panose="02020603050405020304" pitchFamily="18" charset="0"/>
              </a:rPr>
              <a:t>This effect is called as the </a:t>
            </a:r>
            <a:r>
              <a:rPr lang="en-US" dirty="0">
                <a:solidFill>
                  <a:srgbClr val="FF0000"/>
                </a:solidFill>
                <a:latin typeface="Times New Roman" panose="02020603050405020304" pitchFamily="18" charset="0"/>
                <a:cs typeface="Times New Roman" panose="02020603050405020304" pitchFamily="18" charset="0"/>
              </a:rPr>
              <a:t>channel length modulation</a:t>
            </a:r>
            <a:r>
              <a:rPr lang="en-US" dirty="0">
                <a:solidFill>
                  <a:srgbClr val="000000"/>
                </a:solidFill>
                <a:latin typeface="Times New Roman" panose="02020603050405020304" pitchFamily="18" charset="0"/>
                <a:cs typeface="Times New Roman" panose="02020603050405020304" pitchFamily="18" charset="0"/>
              </a:rPr>
              <a:t>.</a:t>
            </a:r>
          </a:p>
          <a:p>
            <a:pPr algn="just">
              <a:defRPr/>
            </a:pPr>
            <a:r>
              <a:rPr lang="en-US" dirty="0">
                <a:solidFill>
                  <a:srgbClr val="000000"/>
                </a:solidFill>
                <a:latin typeface="Times New Roman" panose="02020603050405020304" pitchFamily="18" charset="0"/>
                <a:cs typeface="Times New Roman" panose="02020603050405020304" pitchFamily="18" charset="0"/>
              </a:rPr>
              <a:t> The effective channel length &amp; the value of the drain current considering channel length modulation into effect is given by</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110602" name="Picture 6">
            <a:extLst>
              <a:ext uri="{FF2B5EF4-FFF2-40B4-BE49-F238E27FC236}">
                <a16:creationId xmlns:a16="http://schemas.microsoft.com/office/drawing/2014/main" id="{B495020A-A373-3943-6824-E107E14C9C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3389" y="2222500"/>
            <a:ext cx="384968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71BFDBC1-724A-B4E9-A896-47A0F5CC59CB}"/>
              </a:ext>
            </a:extLst>
          </p:cNvPr>
          <p:cNvSpPr txBox="1"/>
          <p:nvPr/>
        </p:nvSpPr>
        <p:spPr>
          <a:xfrm>
            <a:off x="6729414" y="3687764"/>
            <a:ext cx="3938587" cy="3079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a:defRPr/>
            </a:pPr>
            <a:r>
              <a:rPr lang="en-US" sz="1400" dirty="0">
                <a:solidFill>
                  <a:srgbClr val="000000"/>
                </a:solidFill>
                <a:latin typeface="Bell MT" panose="02020503060305020303" pitchFamily="18" charset="0"/>
              </a:rPr>
              <a:t>Where λ is the channel length modulation factor.</a:t>
            </a:r>
            <a:endParaRPr lang="en-IN" sz="1400" dirty="0">
              <a:latin typeface="Bell MT" panose="02020503060305020303" pitchFamily="18" charset="0"/>
            </a:endParaRPr>
          </a:p>
        </p:txBody>
      </p:sp>
      <p:pic>
        <p:nvPicPr>
          <p:cNvPr id="110604" name="Picture 10">
            <a:extLst>
              <a:ext uri="{FF2B5EF4-FFF2-40B4-BE49-F238E27FC236}">
                <a16:creationId xmlns:a16="http://schemas.microsoft.com/office/drawing/2014/main" id="{C608DDE1-3179-B59E-A4F6-2FC4DB24B9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9764" y="4054475"/>
            <a:ext cx="8372475"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35E93834-5785-C6A2-5DED-2C64B96EE8D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F1B778CA-C3E4-50F0-624E-045197CE8C25}"/>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86CADA-F84C-9DD5-53C6-44AF4853962B}"/>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7" name="TextBox 16">
            <a:extLst>
              <a:ext uri="{FF2B5EF4-FFF2-40B4-BE49-F238E27FC236}">
                <a16:creationId xmlns:a16="http://schemas.microsoft.com/office/drawing/2014/main" id="{39AC75A9-2255-B28B-E38E-3207C27622ED}"/>
              </a:ext>
            </a:extLst>
          </p:cNvPr>
          <p:cNvSpPr txBox="1"/>
          <p:nvPr/>
        </p:nvSpPr>
        <p:spPr>
          <a:xfrm>
            <a:off x="1608139" y="1038226"/>
            <a:ext cx="4638675"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Mobility Variation</a:t>
            </a:r>
            <a:endParaRPr lang="en-IN" sz="2400" b="1" dirty="0">
              <a:solidFill>
                <a:schemeClr val="bg1"/>
              </a:solidFill>
            </a:endParaRPr>
          </a:p>
        </p:txBody>
      </p:sp>
      <p:pic>
        <p:nvPicPr>
          <p:cNvPr id="111625" name="Picture 2" descr="Chart, line chart&#10;&#10;Description automatically generated">
            <a:extLst>
              <a:ext uri="{FF2B5EF4-FFF2-40B4-BE49-F238E27FC236}">
                <a16:creationId xmlns:a16="http://schemas.microsoft.com/office/drawing/2014/main" id="{E701CAF1-32C9-A9CE-3EF2-1903A89A7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9" y="3492501"/>
            <a:ext cx="8658225"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Down 7">
            <a:extLst>
              <a:ext uri="{FF2B5EF4-FFF2-40B4-BE49-F238E27FC236}">
                <a16:creationId xmlns:a16="http://schemas.microsoft.com/office/drawing/2014/main" id="{8C97AA38-59C4-583B-FFED-83C097C13068}"/>
              </a:ext>
            </a:extLst>
          </p:cNvPr>
          <p:cNvSpPr/>
          <p:nvPr/>
        </p:nvSpPr>
        <p:spPr>
          <a:xfrm>
            <a:off x="5087938" y="1905001"/>
            <a:ext cx="1460500" cy="6318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pic>
        <p:nvPicPr>
          <p:cNvPr id="2" name="Picture 1" descr="A red and white logo&#10;&#10;Description automatically generated with low confidence">
            <a:extLst>
              <a:ext uri="{FF2B5EF4-FFF2-40B4-BE49-F238E27FC236}">
                <a16:creationId xmlns:a16="http://schemas.microsoft.com/office/drawing/2014/main" id="{5201A5E9-3FC7-8BB1-CC89-D6F0AC6E25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57C0A14-C5D3-86EF-E151-87C44B73C7E2}"/>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graphicFrame>
        <p:nvGraphicFramePr>
          <p:cNvPr id="111627" name="TextBox 9">
            <a:extLst>
              <a:ext uri="{FF2B5EF4-FFF2-40B4-BE49-F238E27FC236}">
                <a16:creationId xmlns:a16="http://schemas.microsoft.com/office/drawing/2014/main" id="{841B91F1-CB8C-97F5-BCDC-DFDBCB1172DA}"/>
              </a:ext>
            </a:extLst>
          </p:cNvPr>
          <p:cNvGraphicFramePr/>
          <p:nvPr>
            <p:extLst>
              <p:ext uri="{D42A27DB-BD31-4B8C-83A1-F6EECF244321}">
                <p14:modId xmlns:p14="http://schemas.microsoft.com/office/powerpoint/2010/main" val="2975097641"/>
              </p:ext>
            </p:extLst>
          </p:nvPr>
        </p:nvGraphicFramePr>
        <p:xfrm>
          <a:off x="1689924" y="1612904"/>
          <a:ext cx="9058275" cy="19685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4C958B-B904-B473-DB81-89900A480CBC}"/>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7" name="TextBox 16">
            <a:extLst>
              <a:ext uri="{FF2B5EF4-FFF2-40B4-BE49-F238E27FC236}">
                <a16:creationId xmlns:a16="http://schemas.microsoft.com/office/drawing/2014/main" id="{7414ACA5-F4F4-4EB3-29A7-6D2665CDFF75}"/>
              </a:ext>
            </a:extLst>
          </p:cNvPr>
          <p:cNvSpPr txBox="1"/>
          <p:nvPr/>
        </p:nvSpPr>
        <p:spPr>
          <a:xfrm>
            <a:off x="1608139" y="1038226"/>
            <a:ext cx="4638675"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Fowler-</a:t>
            </a:r>
            <a:r>
              <a:rPr lang="en-US" sz="2400" b="1" dirty="0" err="1">
                <a:solidFill>
                  <a:schemeClr val="bg1"/>
                </a:solidFill>
                <a:latin typeface="Bell MT" panose="02020503060305020303" pitchFamily="18" charset="0"/>
              </a:rPr>
              <a:t>Nordheim</a:t>
            </a:r>
            <a:r>
              <a:rPr lang="en-US" sz="2400" b="1" dirty="0">
                <a:solidFill>
                  <a:schemeClr val="bg1"/>
                </a:solidFill>
                <a:latin typeface="Bell MT" panose="02020503060305020303" pitchFamily="18" charset="0"/>
              </a:rPr>
              <a:t> Tunnelling</a:t>
            </a:r>
            <a:endParaRPr lang="en-IN" sz="2400" b="1" dirty="0">
              <a:solidFill>
                <a:schemeClr val="bg1"/>
              </a:solidFill>
            </a:endParaRPr>
          </a:p>
        </p:txBody>
      </p:sp>
      <p:sp>
        <p:nvSpPr>
          <p:cNvPr id="10" name="TextBox 9">
            <a:extLst>
              <a:ext uri="{FF2B5EF4-FFF2-40B4-BE49-F238E27FC236}">
                <a16:creationId xmlns:a16="http://schemas.microsoft.com/office/drawing/2014/main" id="{3453854A-A1C8-BD80-996D-793FBF87B5BD}"/>
              </a:ext>
            </a:extLst>
          </p:cNvPr>
          <p:cNvSpPr txBox="1"/>
          <p:nvPr/>
        </p:nvSpPr>
        <p:spPr>
          <a:xfrm>
            <a:off x="1600201" y="1606550"/>
            <a:ext cx="9058275" cy="3385542"/>
          </a:xfrm>
          <a:prstGeom prst="rect">
            <a:avLst/>
          </a:prstGeom>
          <a:noFill/>
        </p:spPr>
        <p:txBody>
          <a:bodyPr>
            <a:spAutoFit/>
          </a:bodyPr>
          <a:lstStyle/>
          <a:p>
            <a:pPr marL="285750" indent="-285750">
              <a:buFont typeface="Wingdings" panose="05000000000000000000" pitchFamily="2" charset="2"/>
              <a:buChar char="§"/>
              <a:defRPr/>
            </a:pPr>
            <a:r>
              <a:rPr lang="en-US" sz="2000" dirty="0">
                <a:solidFill>
                  <a:srgbClr val="551BF7"/>
                </a:solidFill>
                <a:latin typeface="Times New Roman" panose="02020603050405020304" pitchFamily="18" charset="0"/>
                <a:cs typeface="Times New Roman" panose="02020603050405020304" pitchFamily="18" charset="0"/>
              </a:rPr>
              <a:t>When the gate oxide is very thin a current can flow from gate to source or drain by electron tunnelling through the gate. This called Fowler‐</a:t>
            </a:r>
            <a:r>
              <a:rPr lang="en-US" sz="2000" dirty="0" err="1">
                <a:solidFill>
                  <a:srgbClr val="551BF7"/>
                </a:solidFill>
                <a:latin typeface="Times New Roman" panose="02020603050405020304" pitchFamily="18" charset="0"/>
                <a:cs typeface="Times New Roman" panose="02020603050405020304" pitchFamily="18" charset="0"/>
              </a:rPr>
              <a:t>Nordheim</a:t>
            </a:r>
            <a:r>
              <a:rPr lang="en-US" sz="2000" dirty="0">
                <a:solidFill>
                  <a:srgbClr val="551BF7"/>
                </a:solidFill>
                <a:latin typeface="Times New Roman" panose="02020603050405020304" pitchFamily="18" charset="0"/>
                <a:cs typeface="Times New Roman" panose="02020603050405020304" pitchFamily="18" charset="0"/>
              </a:rPr>
              <a:t> tunnelling.</a:t>
            </a:r>
          </a:p>
          <a:p>
            <a:pPr marL="285750" indent="-285750">
              <a:buFont typeface="Wingdings" panose="05000000000000000000" pitchFamily="2" charset="2"/>
              <a:buChar char="§"/>
              <a:defRPr/>
            </a:pPr>
            <a:endParaRPr lang="en-US" sz="2000" dirty="0">
              <a:solidFill>
                <a:srgbClr val="551BF7"/>
              </a:solidFill>
              <a:latin typeface="Times New Roman" panose="02020603050405020304" pitchFamily="18" charset="0"/>
              <a:cs typeface="Times New Roman" panose="02020603050405020304" pitchFamily="18" charset="0"/>
            </a:endParaRPr>
          </a:p>
          <a:p>
            <a:pPr>
              <a:defRPr/>
            </a:pPr>
            <a:r>
              <a:rPr lang="en-US" sz="2000" dirty="0">
                <a:solidFill>
                  <a:srgbClr val="551BF7"/>
                </a:solidFill>
                <a:latin typeface="Times New Roman" panose="02020603050405020304" pitchFamily="18" charset="0"/>
                <a:cs typeface="Times New Roman" panose="02020603050405020304" pitchFamily="18" charset="0"/>
              </a:rPr>
              <a:t>								OR</a:t>
            </a:r>
          </a:p>
          <a:p>
            <a:pPr marL="285750" indent="-285750">
              <a:buFont typeface="Wingdings" panose="05000000000000000000" pitchFamily="2" charset="2"/>
              <a:buChar char="§"/>
              <a:defRPr/>
            </a:pPr>
            <a:endParaRPr lang="en-US" sz="2000" dirty="0">
              <a:solidFill>
                <a:srgbClr val="551BF7"/>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defRPr/>
            </a:pPr>
            <a:r>
              <a:rPr lang="en-US" sz="2000" b="1" dirty="0">
                <a:solidFill>
                  <a:srgbClr val="551BF7"/>
                </a:solidFill>
                <a:latin typeface="Times New Roman" panose="02020603050405020304" pitchFamily="18" charset="0"/>
                <a:cs typeface="Times New Roman" panose="02020603050405020304" pitchFamily="18" charset="0"/>
              </a:rPr>
              <a:t>When the gate oxide is very thin there can be a current between gate and source or</a:t>
            </a:r>
            <a:br>
              <a:rPr lang="en-US" sz="2000" b="1" dirty="0">
                <a:solidFill>
                  <a:srgbClr val="551BF7"/>
                </a:solidFill>
                <a:latin typeface="Times New Roman" panose="02020603050405020304" pitchFamily="18" charset="0"/>
                <a:cs typeface="Times New Roman" panose="02020603050405020304" pitchFamily="18" charset="0"/>
              </a:rPr>
            </a:br>
            <a:r>
              <a:rPr lang="en-US" sz="2000" b="1" dirty="0">
                <a:solidFill>
                  <a:srgbClr val="551BF7"/>
                </a:solidFill>
                <a:latin typeface="Times New Roman" panose="02020603050405020304" pitchFamily="18" charset="0"/>
                <a:cs typeface="Times New Roman" panose="02020603050405020304" pitchFamily="18" charset="0"/>
              </a:rPr>
              <a:t>drain by electron tunneling through the gate oxide.</a:t>
            </a:r>
          </a:p>
          <a:p>
            <a:pPr>
              <a:defRPr/>
            </a:pPr>
            <a:br>
              <a:rPr lang="en-US" sz="2000" dirty="0">
                <a:solidFill>
                  <a:srgbClr val="551BF7"/>
                </a:solidFill>
                <a:latin typeface="Times New Roman" panose="02020603050405020304" pitchFamily="18" charset="0"/>
                <a:cs typeface="Times New Roman" panose="02020603050405020304" pitchFamily="18" charset="0"/>
              </a:rPr>
            </a:br>
            <a:r>
              <a:rPr lang="en-US" sz="2000" dirty="0">
                <a:solidFill>
                  <a:srgbClr val="551BF7"/>
                </a:solidFill>
                <a:latin typeface="Times New Roman" panose="02020603050405020304" pitchFamily="18" charset="0"/>
                <a:cs typeface="Times New Roman" panose="02020603050405020304" pitchFamily="18" charset="0"/>
              </a:rPr>
              <a:t> This current is proportional to the area of the gate of the transistor. </a:t>
            </a:r>
            <a:br>
              <a:rPr lang="en-US" sz="2000" dirty="0">
                <a:latin typeface="Times New Roman" panose="02020603050405020304" pitchFamily="18" charset="0"/>
                <a:cs typeface="Times New Roman" panose="02020603050405020304" pitchFamily="18" charset="0"/>
              </a:rPr>
            </a:br>
            <a:endParaRPr lang="en-US" sz="1600" dirty="0">
              <a:solidFill>
                <a:srgbClr val="222222"/>
              </a:solidFill>
              <a:latin typeface="Times New Roman" panose="02020603050405020304" pitchFamily="18" charset="0"/>
              <a:cs typeface="Times New Roman" panose="02020603050405020304" pitchFamily="18" charset="0"/>
            </a:endParaRPr>
          </a:p>
        </p:txBody>
      </p:sp>
      <p:pic>
        <p:nvPicPr>
          <p:cNvPr id="112649" name="Picture 6">
            <a:extLst>
              <a:ext uri="{FF2B5EF4-FFF2-40B4-BE49-F238E27FC236}">
                <a16:creationId xmlns:a16="http://schemas.microsoft.com/office/drawing/2014/main" id="{75C936C2-EFE4-3445-D704-5A564B255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8247" y="5053210"/>
            <a:ext cx="5875505" cy="134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743FAC5E-BB21-A22E-3A6F-82B0191C517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7629C8D-EB7E-685E-6EC1-DDD5D7FC13DB}"/>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AD24C8F-38B4-49BB-A5F3-A94AE7C8BE69}"/>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7" name="TextBox 16">
            <a:extLst>
              <a:ext uri="{FF2B5EF4-FFF2-40B4-BE49-F238E27FC236}">
                <a16:creationId xmlns:a16="http://schemas.microsoft.com/office/drawing/2014/main" id="{835C6BB0-2DBD-A3C1-0551-FF57F1F39549}"/>
              </a:ext>
            </a:extLst>
          </p:cNvPr>
          <p:cNvSpPr txBox="1"/>
          <p:nvPr/>
        </p:nvSpPr>
        <p:spPr>
          <a:xfrm>
            <a:off x="1608139" y="1038226"/>
            <a:ext cx="4638675"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Drain Punch through</a:t>
            </a:r>
            <a:endParaRPr lang="en-IN" sz="2400" b="1" dirty="0">
              <a:solidFill>
                <a:schemeClr val="bg1"/>
              </a:solidFill>
            </a:endParaRPr>
          </a:p>
        </p:txBody>
      </p:sp>
      <p:sp>
        <p:nvSpPr>
          <p:cNvPr id="10" name="TextBox 9">
            <a:extLst>
              <a:ext uri="{FF2B5EF4-FFF2-40B4-BE49-F238E27FC236}">
                <a16:creationId xmlns:a16="http://schemas.microsoft.com/office/drawing/2014/main" id="{28FCF05B-03FE-89A9-8CB6-40A05396DDE5}"/>
              </a:ext>
            </a:extLst>
          </p:cNvPr>
          <p:cNvSpPr txBox="1"/>
          <p:nvPr/>
        </p:nvSpPr>
        <p:spPr>
          <a:xfrm>
            <a:off x="1600201" y="1606551"/>
            <a:ext cx="9058275" cy="2585323"/>
          </a:xfrm>
          <a:prstGeom prst="rect">
            <a:avLst/>
          </a:prstGeom>
          <a:noFill/>
        </p:spPr>
        <p:txBody>
          <a:bodyPr>
            <a:spAutoFit/>
          </a:bodyPr>
          <a:lstStyle/>
          <a:p>
            <a:pPr marL="285750" indent="-285750" algn="just">
              <a:buFont typeface="Wingdings" panose="05000000000000000000" pitchFamily="2" charset="2"/>
              <a:buChar char="§"/>
              <a:defRPr/>
            </a:pPr>
            <a:r>
              <a:rPr lang="en-US" dirty="0">
                <a:solidFill>
                  <a:srgbClr val="551BF7"/>
                </a:solidFill>
                <a:latin typeface="Times New Roman" panose="02020603050405020304" pitchFamily="18" charset="0"/>
                <a:cs typeface="Times New Roman" panose="02020603050405020304" pitchFamily="18" charset="0"/>
              </a:rPr>
              <a:t>When the drain voltage is very high w.r.t source, depletion region around drain may extend to the source causing current to flow irrespective of the gate voltage (even if it is zero).</a:t>
            </a:r>
          </a:p>
          <a:p>
            <a:pPr marL="285750" indent="-285750" algn="just">
              <a:buFont typeface="Wingdings" panose="05000000000000000000" pitchFamily="2" charset="2"/>
              <a:buChar char="§"/>
              <a:defRPr/>
            </a:pPr>
            <a:endParaRPr lang="en-US" dirty="0">
              <a:solidFill>
                <a:srgbClr val="551BF7"/>
              </a:solidFill>
              <a:latin typeface="Times New Roman" panose="02020603050405020304" pitchFamily="18" charset="0"/>
              <a:cs typeface="Times New Roman" panose="02020603050405020304" pitchFamily="18" charset="0"/>
            </a:endParaRPr>
          </a:p>
          <a:p>
            <a:pPr algn="just">
              <a:defRPr/>
            </a:pPr>
            <a:r>
              <a:rPr lang="en-US" dirty="0">
                <a:solidFill>
                  <a:srgbClr val="551BF7"/>
                </a:solidFill>
                <a:latin typeface="Times New Roman" panose="02020603050405020304" pitchFamily="18" charset="0"/>
                <a:cs typeface="Times New Roman" panose="02020603050405020304" pitchFamily="18" charset="0"/>
              </a:rPr>
              <a:t>				OR</a:t>
            </a:r>
          </a:p>
          <a:p>
            <a:pPr marL="285750" indent="-285750" algn="just">
              <a:buFont typeface="Wingdings" panose="05000000000000000000" pitchFamily="2" charset="2"/>
              <a:buChar char="§"/>
              <a:defRPr/>
            </a:pPr>
            <a:endParaRPr lang="en-US" dirty="0">
              <a:solidFill>
                <a:srgbClr val="551BF7"/>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defRPr/>
            </a:pPr>
            <a:r>
              <a:rPr lang="en-US" dirty="0">
                <a:solidFill>
                  <a:srgbClr val="551BF7"/>
                </a:solidFill>
                <a:latin typeface="Times New Roman" panose="02020603050405020304" pitchFamily="18" charset="0"/>
                <a:cs typeface="Times New Roman" panose="02020603050405020304" pitchFamily="18" charset="0"/>
              </a:rPr>
              <a:t>When the drain is a high voltage, the depletion region around the drain may extend to the source, causing the current to flow even it gate voltage is zero.</a:t>
            </a:r>
          </a:p>
          <a:p>
            <a:pPr algn="just">
              <a:defRPr/>
            </a:pPr>
            <a:endParaRPr lang="en-US" dirty="0">
              <a:solidFill>
                <a:srgbClr val="551BF7"/>
              </a:solidFill>
              <a:latin typeface="Times New Roman" panose="02020603050405020304" pitchFamily="18" charset="0"/>
              <a:cs typeface="Times New Roman" panose="02020603050405020304" pitchFamily="18" charset="0"/>
            </a:endParaRPr>
          </a:p>
          <a:p>
            <a:pPr algn="just">
              <a:defRPr/>
            </a:pPr>
            <a:r>
              <a:rPr lang="en-US" b="1" dirty="0">
                <a:solidFill>
                  <a:srgbClr val="551BF7"/>
                </a:solidFill>
                <a:latin typeface="Times New Roman" panose="02020603050405020304" pitchFamily="18" charset="0"/>
                <a:cs typeface="Times New Roman" panose="02020603050405020304" pitchFamily="18" charset="0"/>
              </a:rPr>
              <a:t>   This is known Punch through condition. </a:t>
            </a:r>
          </a:p>
        </p:txBody>
      </p:sp>
      <p:pic>
        <p:nvPicPr>
          <p:cNvPr id="113673" name="Picture 2">
            <a:extLst>
              <a:ext uri="{FF2B5EF4-FFF2-40B4-BE49-F238E27FC236}">
                <a16:creationId xmlns:a16="http://schemas.microsoft.com/office/drawing/2014/main" id="{31C1FA8C-FA1D-045A-A37C-3C1E86FA93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446" y="4191874"/>
            <a:ext cx="6681107" cy="2422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F5D1ABF8-6D52-7AE2-5017-4A24C880FCF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C8EC4472-A63D-1BD5-AD72-9A1ED942EC5C}"/>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C0D8F8-04E9-B5AA-1452-782EB6D8C83D}"/>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7" name="TextBox 16">
            <a:extLst>
              <a:ext uri="{FF2B5EF4-FFF2-40B4-BE49-F238E27FC236}">
                <a16:creationId xmlns:a16="http://schemas.microsoft.com/office/drawing/2014/main" id="{42324A2A-D9EF-6B11-0BB2-16A0D0A8B5C8}"/>
              </a:ext>
            </a:extLst>
          </p:cNvPr>
          <p:cNvSpPr txBox="1"/>
          <p:nvPr/>
        </p:nvSpPr>
        <p:spPr>
          <a:xfrm>
            <a:off x="1608138" y="1038226"/>
            <a:ext cx="6259512"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Impact Ionization -- hot Electrons</a:t>
            </a:r>
            <a:endParaRPr lang="en-IN" sz="2400" b="1" dirty="0">
              <a:solidFill>
                <a:schemeClr val="bg1"/>
              </a:solidFill>
            </a:endParaRPr>
          </a:p>
        </p:txBody>
      </p:sp>
      <p:pic>
        <p:nvPicPr>
          <p:cNvPr id="114697" name="Picture 6" descr="Diagram&#10;&#10;Description automatically generated">
            <a:extLst>
              <a:ext uri="{FF2B5EF4-FFF2-40B4-BE49-F238E27FC236}">
                <a16:creationId xmlns:a16="http://schemas.microsoft.com/office/drawing/2014/main" id="{7450E170-6B83-5606-825D-4AD040056C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2364" y="4038600"/>
            <a:ext cx="4867275"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A red and white logo&#10;&#10;Description automatically generated with low confidence">
            <a:extLst>
              <a:ext uri="{FF2B5EF4-FFF2-40B4-BE49-F238E27FC236}">
                <a16:creationId xmlns:a16="http://schemas.microsoft.com/office/drawing/2014/main" id="{7E979652-1B8B-333D-2FE1-3DD175CF7E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209689E2-0CCA-CCAB-570E-69B7DFBA3921}"/>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graphicFrame>
        <p:nvGraphicFramePr>
          <p:cNvPr id="114699" name="TextBox 9">
            <a:extLst>
              <a:ext uri="{FF2B5EF4-FFF2-40B4-BE49-F238E27FC236}">
                <a16:creationId xmlns:a16="http://schemas.microsoft.com/office/drawing/2014/main" id="{13A1D085-20A2-7B11-FF33-EA1C7F20D4C3}"/>
              </a:ext>
            </a:extLst>
          </p:cNvPr>
          <p:cNvGraphicFramePr/>
          <p:nvPr>
            <p:extLst>
              <p:ext uri="{D42A27DB-BD31-4B8C-83A1-F6EECF244321}">
                <p14:modId xmlns:p14="http://schemas.microsoft.com/office/powerpoint/2010/main" val="202285920"/>
              </p:ext>
            </p:extLst>
          </p:nvPr>
        </p:nvGraphicFramePr>
        <p:xfrm>
          <a:off x="1600201" y="1606550"/>
          <a:ext cx="9058275" cy="28003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B3BCA4-B5B5-4D04-ED18-4143ED180990}"/>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7" name="TextBox 16">
            <a:extLst>
              <a:ext uri="{FF2B5EF4-FFF2-40B4-BE49-F238E27FC236}">
                <a16:creationId xmlns:a16="http://schemas.microsoft.com/office/drawing/2014/main" id="{C500BB8C-EDB5-DF5E-39F9-15A782431E26}"/>
              </a:ext>
            </a:extLst>
          </p:cNvPr>
          <p:cNvSpPr txBox="1"/>
          <p:nvPr/>
        </p:nvSpPr>
        <p:spPr>
          <a:xfrm>
            <a:off x="1608138" y="1038226"/>
            <a:ext cx="6259512"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Velocity Saturation</a:t>
            </a:r>
            <a:endParaRPr lang="en-IN" sz="2400" b="1" dirty="0">
              <a:solidFill>
                <a:schemeClr val="bg1"/>
              </a:solidFill>
            </a:endParaRPr>
          </a:p>
        </p:txBody>
      </p:sp>
      <p:sp>
        <p:nvSpPr>
          <p:cNvPr id="115720" name="TextBox 9">
            <a:extLst>
              <a:ext uri="{FF2B5EF4-FFF2-40B4-BE49-F238E27FC236}">
                <a16:creationId xmlns:a16="http://schemas.microsoft.com/office/drawing/2014/main" id="{F2D9DD68-0AEE-4F4F-1413-26A6AE236E98}"/>
              </a:ext>
            </a:extLst>
          </p:cNvPr>
          <p:cNvSpPr txBox="1">
            <a:spLocks noChangeArrowheads="1"/>
          </p:cNvSpPr>
          <p:nvPr/>
        </p:nvSpPr>
        <p:spPr bwMode="auto">
          <a:xfrm>
            <a:off x="1600201" y="1606551"/>
            <a:ext cx="9058275"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
            </a:pPr>
            <a:r>
              <a:rPr lang="en-US" altLang="en-US" b="1" dirty="0">
                <a:solidFill>
                  <a:srgbClr val="551BF7"/>
                </a:solidFill>
                <a:latin typeface="Times New Roman" panose="02020603050405020304" pitchFamily="18" charset="0"/>
                <a:cs typeface="Times New Roman" panose="02020603050405020304" pitchFamily="18" charset="0"/>
              </a:rPr>
              <a:t>For high VDS, carriers experience higher lateral electric fields.</a:t>
            </a:r>
          </a:p>
          <a:p>
            <a:pPr algn="just" eaLnBrk="1" hangingPunct="1">
              <a:buFont typeface="Wingdings" panose="05000000000000000000" pitchFamily="2" charset="2"/>
              <a:buChar char="§"/>
            </a:pPr>
            <a:r>
              <a:rPr lang="en-US" altLang="en-US" dirty="0">
                <a:solidFill>
                  <a:srgbClr val="551BF7"/>
                </a:solidFill>
                <a:latin typeface="Times New Roman" panose="02020603050405020304" pitchFamily="18" charset="0"/>
                <a:cs typeface="Times New Roman" panose="02020603050405020304" pitchFamily="18" charset="0"/>
              </a:rPr>
              <a:t> Carrier velocity increases with increasing lateral electric fields.</a:t>
            </a:r>
          </a:p>
          <a:p>
            <a:pPr algn="just" eaLnBrk="1" hangingPunct="1">
              <a:buFont typeface="Wingdings" panose="05000000000000000000" pitchFamily="2" charset="2"/>
              <a:buChar char="§"/>
            </a:pPr>
            <a:r>
              <a:rPr lang="en-US" altLang="en-US" dirty="0">
                <a:solidFill>
                  <a:srgbClr val="551BF7"/>
                </a:solidFill>
                <a:latin typeface="Times New Roman" panose="02020603050405020304" pitchFamily="18" charset="0"/>
                <a:cs typeface="Times New Roman" panose="02020603050405020304" pitchFamily="18" charset="0"/>
              </a:rPr>
              <a:t> However, once the critical lateral electric field is reached, the velocity of the carriers</a:t>
            </a:r>
            <a:br>
              <a:rPr lang="en-US" altLang="en-US" dirty="0">
                <a:solidFill>
                  <a:srgbClr val="551BF7"/>
                </a:solidFill>
                <a:latin typeface="Times New Roman" panose="02020603050405020304" pitchFamily="18" charset="0"/>
                <a:cs typeface="Times New Roman" panose="02020603050405020304" pitchFamily="18" charset="0"/>
              </a:rPr>
            </a:br>
            <a:r>
              <a:rPr lang="en-US" altLang="en-US" dirty="0">
                <a:solidFill>
                  <a:srgbClr val="551BF7"/>
                </a:solidFill>
                <a:latin typeface="Times New Roman" panose="02020603050405020304" pitchFamily="18" charset="0"/>
                <a:cs typeface="Times New Roman" panose="02020603050405020304" pitchFamily="18" charset="0"/>
              </a:rPr>
              <a:t>does not increase any further.</a:t>
            </a:r>
          </a:p>
          <a:p>
            <a:pPr algn="just" eaLnBrk="1" hangingPunct="1">
              <a:buFont typeface="Wingdings" panose="05000000000000000000" pitchFamily="2" charset="2"/>
              <a:buChar char="§"/>
            </a:pPr>
            <a:r>
              <a:rPr lang="en-US" altLang="en-US" dirty="0">
                <a:solidFill>
                  <a:srgbClr val="551BF7"/>
                </a:solidFill>
                <a:latin typeface="Times New Roman" panose="02020603050405020304" pitchFamily="18" charset="0"/>
                <a:cs typeface="Times New Roman" panose="02020603050405020304" pitchFamily="18" charset="0"/>
              </a:rPr>
              <a:t> This is caused by an increased rate of collision and carrier scattering.</a:t>
            </a:r>
          </a:p>
          <a:p>
            <a:pPr algn="just" eaLnBrk="1" hangingPunct="1">
              <a:buFont typeface="Wingdings" panose="05000000000000000000" pitchFamily="2" charset="2"/>
              <a:buChar char="§"/>
            </a:pPr>
            <a:r>
              <a:rPr lang="en-US" altLang="en-US" dirty="0">
                <a:solidFill>
                  <a:srgbClr val="551BF7"/>
                </a:solidFill>
                <a:latin typeface="Times New Roman" panose="02020603050405020304" pitchFamily="18" charset="0"/>
                <a:cs typeface="Times New Roman" panose="02020603050405020304" pitchFamily="18" charset="0"/>
              </a:rPr>
              <a:t> The current does not increase at the expected rate.</a:t>
            </a:r>
          </a:p>
          <a:p>
            <a:pPr algn="just" eaLnBrk="1" hangingPunct="1">
              <a:buFont typeface="Wingdings" panose="05000000000000000000" pitchFamily="2" charset="2"/>
              <a:buChar char="§"/>
            </a:pPr>
            <a:r>
              <a:rPr lang="en-US" altLang="en-US" dirty="0">
                <a:solidFill>
                  <a:srgbClr val="551BF7"/>
                </a:solidFill>
                <a:latin typeface="Times New Roman" panose="02020603050405020304" pitchFamily="18" charset="0"/>
                <a:cs typeface="Times New Roman" panose="02020603050405020304" pitchFamily="18" charset="0"/>
              </a:rPr>
              <a:t> Rather, the current increases very little, if at all. </a:t>
            </a:r>
            <a:endParaRPr lang="en-US" altLang="en-US" sz="1600" dirty="0">
              <a:solidFill>
                <a:srgbClr val="551BF7"/>
              </a:solidFill>
              <a:latin typeface="Times New Roman" panose="02020603050405020304" pitchFamily="18" charset="0"/>
              <a:cs typeface="Times New Roman" panose="02020603050405020304" pitchFamily="18" charset="0"/>
            </a:endParaRPr>
          </a:p>
        </p:txBody>
      </p:sp>
      <p:pic>
        <p:nvPicPr>
          <p:cNvPr id="115721" name="Picture 2">
            <a:extLst>
              <a:ext uri="{FF2B5EF4-FFF2-40B4-BE49-F238E27FC236}">
                <a16:creationId xmlns:a16="http://schemas.microsoft.com/office/drawing/2014/main" id="{9AD9C2B9-BBC1-ABA7-A43B-645CBCD757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5547" y="3200401"/>
            <a:ext cx="4162609" cy="313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0489F0BE-A7AE-E7D5-E492-70BD39D6B7F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E4604B35-0A52-DC31-1744-36345F85F83B}"/>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EACCE6A-718A-84DA-F18F-DBB3D8274394}"/>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7" name="TextBox 16">
            <a:extLst>
              <a:ext uri="{FF2B5EF4-FFF2-40B4-BE49-F238E27FC236}">
                <a16:creationId xmlns:a16="http://schemas.microsoft.com/office/drawing/2014/main" id="{DFD9FE72-B5B0-16D5-B7D7-9291CD3BA599}"/>
              </a:ext>
            </a:extLst>
          </p:cNvPr>
          <p:cNvSpPr txBox="1"/>
          <p:nvPr/>
        </p:nvSpPr>
        <p:spPr>
          <a:xfrm>
            <a:off x="1608138" y="1038226"/>
            <a:ext cx="6259512"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Velocity Saturation</a:t>
            </a:r>
            <a:endParaRPr lang="en-IN" sz="2400" b="1" dirty="0">
              <a:solidFill>
                <a:schemeClr val="bg1"/>
              </a:solidFill>
            </a:endParaRPr>
          </a:p>
        </p:txBody>
      </p:sp>
      <p:pic>
        <p:nvPicPr>
          <p:cNvPr id="116744" name="Picture 6">
            <a:extLst>
              <a:ext uri="{FF2B5EF4-FFF2-40B4-BE49-F238E27FC236}">
                <a16:creationId xmlns:a16="http://schemas.microsoft.com/office/drawing/2014/main" id="{8DE02BCD-BCD6-D471-36B0-C9CF2FCA6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138" y="1874385"/>
            <a:ext cx="9194334" cy="3367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E8DB5D42-2862-A975-13BC-3743B6D2EB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A3E5731D-4D8E-8156-3F79-14E3FC9CA755}"/>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6B16A1-67F3-A5D6-61E9-AAC52A61F213}"/>
              </a:ext>
            </a:extLst>
          </p:cNvPr>
          <p:cNvSpPr/>
          <p:nvPr/>
        </p:nvSpPr>
        <p:spPr>
          <a:xfrm>
            <a:off x="1524000" y="703264"/>
            <a:ext cx="9144000" cy="168275"/>
          </a:xfrm>
          <a:prstGeom prst="rect">
            <a:avLst/>
          </a:prstGeom>
          <a:pattFill prst="pct70">
            <a:fgClr>
              <a:srgbClr val="FF0000"/>
            </a:fgClr>
            <a:bgClr>
              <a:schemeClr val="bg1"/>
            </a:bgClr>
          </a:pattFill>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IN"/>
          </a:p>
        </p:txBody>
      </p:sp>
      <p:sp>
        <p:nvSpPr>
          <p:cNvPr id="17" name="TextBox 16">
            <a:extLst>
              <a:ext uri="{FF2B5EF4-FFF2-40B4-BE49-F238E27FC236}">
                <a16:creationId xmlns:a16="http://schemas.microsoft.com/office/drawing/2014/main" id="{6F4ECBA4-75FD-0AE3-CEC3-102B186E7A70}"/>
              </a:ext>
            </a:extLst>
          </p:cNvPr>
          <p:cNvSpPr txBox="1"/>
          <p:nvPr/>
        </p:nvSpPr>
        <p:spPr>
          <a:xfrm>
            <a:off x="1608138" y="1101726"/>
            <a:ext cx="6259512" cy="461963"/>
          </a:xfrm>
          <a:prstGeom prst="rect">
            <a:avLst/>
          </a:prstGeom>
        </p:spPr>
        <p:style>
          <a:lnRef idx="2">
            <a:schemeClr val="dk1">
              <a:shade val="50000"/>
            </a:schemeClr>
          </a:lnRef>
          <a:fillRef idx="1">
            <a:schemeClr val="dk1"/>
          </a:fillRef>
          <a:effectRef idx="0">
            <a:schemeClr val="dk1"/>
          </a:effectRef>
          <a:fontRef idx="minor">
            <a:schemeClr val="lt1"/>
          </a:fontRef>
        </p:style>
        <p:txBody>
          <a:bodyPr>
            <a:spAutoFit/>
          </a:bodyPr>
          <a:lstStyle/>
          <a:p>
            <a:pPr>
              <a:defRPr/>
            </a:pPr>
            <a:r>
              <a:rPr lang="en-US" sz="2400" b="1" dirty="0">
                <a:solidFill>
                  <a:schemeClr val="bg1"/>
                </a:solidFill>
                <a:latin typeface="Bell MT" panose="02020503060305020303" pitchFamily="18" charset="0"/>
              </a:rPr>
              <a:t>Temperature Dependence</a:t>
            </a:r>
            <a:endParaRPr lang="en-IN" sz="2400" b="1" dirty="0">
              <a:solidFill>
                <a:schemeClr val="bg1"/>
              </a:solidFill>
            </a:endParaRPr>
          </a:p>
        </p:txBody>
      </p:sp>
      <p:sp>
        <p:nvSpPr>
          <p:cNvPr id="8" name="TextBox 7">
            <a:extLst>
              <a:ext uri="{FF2B5EF4-FFF2-40B4-BE49-F238E27FC236}">
                <a16:creationId xmlns:a16="http://schemas.microsoft.com/office/drawing/2014/main" id="{E6B402AF-6FB7-08BD-87C8-5AF62C2084C1}"/>
              </a:ext>
            </a:extLst>
          </p:cNvPr>
          <p:cNvSpPr txBox="1"/>
          <p:nvPr/>
        </p:nvSpPr>
        <p:spPr>
          <a:xfrm>
            <a:off x="1524000" y="2078038"/>
            <a:ext cx="9144000" cy="3416300"/>
          </a:xfrm>
          <a:prstGeom prst="rect">
            <a:avLst/>
          </a:prstGeom>
          <a:noFill/>
        </p:spPr>
        <p:txBody>
          <a:bodyPr wrap="square">
            <a:spAutoFit/>
          </a:bodyPr>
          <a:lstStyle/>
          <a:p>
            <a:pPr>
              <a:defRPr/>
            </a:pPr>
            <a:r>
              <a:rPr lang="en-US" b="1" dirty="0">
                <a:solidFill>
                  <a:srgbClr val="551BF7"/>
                </a:solidFill>
                <a:latin typeface="Times New Roman" panose="02020603050405020304" pitchFamily="18" charset="0"/>
                <a:cs typeface="Times New Roman" panose="02020603050405020304" pitchFamily="18" charset="0"/>
              </a:rPr>
              <a:t>Carrier Mobility: Decreases with temperature</a:t>
            </a:r>
          </a:p>
          <a:p>
            <a:pPr algn="just">
              <a:defRPr/>
            </a:pPr>
            <a:br>
              <a:rPr lang="en-US" dirty="0">
                <a:solidFill>
                  <a:srgbClr val="551BF7"/>
                </a:solidFill>
                <a:latin typeface="Times New Roman" panose="02020603050405020304" pitchFamily="18" charset="0"/>
                <a:cs typeface="Times New Roman" panose="02020603050405020304" pitchFamily="18" charset="0"/>
              </a:rPr>
            </a:br>
            <a:r>
              <a:rPr lang="en-US" dirty="0">
                <a:solidFill>
                  <a:srgbClr val="551BF7"/>
                </a:solidFill>
                <a:latin typeface="Times New Roman" panose="02020603050405020304" pitchFamily="18" charset="0"/>
                <a:cs typeface="Times New Roman" panose="02020603050405020304" pitchFamily="18" charset="0"/>
              </a:rPr>
              <a:t>Threshold Voltage: Decreases with temperature</a:t>
            </a:r>
          </a:p>
          <a:p>
            <a:pPr marL="285750" indent="-285750" algn="just">
              <a:buFont typeface="Wingdings" panose="05000000000000000000" pitchFamily="2" charset="2"/>
              <a:buChar char="Ø"/>
              <a:defRPr/>
            </a:pPr>
            <a:r>
              <a:rPr lang="en-US" dirty="0">
                <a:solidFill>
                  <a:srgbClr val="551BF7"/>
                </a:solidFill>
                <a:latin typeface="Times New Roman" panose="02020603050405020304" pitchFamily="18" charset="0"/>
                <a:cs typeface="Times New Roman" panose="02020603050405020304" pitchFamily="18" charset="0"/>
              </a:rPr>
              <a:t>Junction Leakage: Increases with temperature</a:t>
            </a:r>
          </a:p>
          <a:p>
            <a:pPr marL="285750" indent="-285750" algn="just">
              <a:buFont typeface="Wingdings" panose="05000000000000000000" pitchFamily="2" charset="2"/>
              <a:buChar char="Ø"/>
              <a:defRPr/>
            </a:pPr>
            <a:r>
              <a:rPr lang="en-US" dirty="0">
                <a:solidFill>
                  <a:srgbClr val="551BF7"/>
                </a:solidFill>
                <a:latin typeface="Times New Roman" panose="02020603050405020304" pitchFamily="18" charset="0"/>
                <a:cs typeface="Times New Roman" panose="02020603050405020304" pitchFamily="18" charset="0"/>
              </a:rPr>
              <a:t>Velocity Saturation: Occurs sooner with higher temperature</a:t>
            </a:r>
          </a:p>
          <a:p>
            <a:pPr marL="285750" indent="-285750" algn="just">
              <a:buFont typeface="Wingdings" panose="05000000000000000000" pitchFamily="2" charset="2"/>
              <a:buChar char="Ø"/>
              <a:defRPr/>
            </a:pPr>
            <a:r>
              <a:rPr lang="en-US" dirty="0">
                <a:solidFill>
                  <a:srgbClr val="551BF7"/>
                </a:solidFill>
                <a:latin typeface="Times New Roman" panose="02020603050405020304" pitchFamily="18" charset="0"/>
                <a:cs typeface="Times New Roman" panose="02020603050405020304" pitchFamily="18" charset="0"/>
              </a:rPr>
              <a:t>Sub-threshold conduction: Increases exponentially with temperature. This means that</a:t>
            </a:r>
            <a:br>
              <a:rPr lang="en-US" dirty="0">
                <a:solidFill>
                  <a:srgbClr val="551BF7"/>
                </a:solidFill>
                <a:latin typeface="Times New Roman" panose="02020603050405020304" pitchFamily="18" charset="0"/>
                <a:cs typeface="Times New Roman" panose="02020603050405020304" pitchFamily="18" charset="0"/>
              </a:rPr>
            </a:br>
            <a:r>
              <a:rPr lang="en-US" dirty="0">
                <a:solidFill>
                  <a:srgbClr val="551BF7"/>
                </a:solidFill>
                <a:latin typeface="Times New Roman" panose="02020603050405020304" pitchFamily="18" charset="0"/>
                <a:cs typeface="Times New Roman" panose="02020603050405020304" pitchFamily="18" charset="0"/>
              </a:rPr>
              <a:t>at low temperatures, lower threshold voltages can be used.</a:t>
            </a:r>
          </a:p>
          <a:p>
            <a:pPr marL="285750" indent="-285750" algn="just">
              <a:buFont typeface="Wingdings" panose="05000000000000000000" pitchFamily="2" charset="2"/>
              <a:buChar char="Ø"/>
              <a:defRPr/>
            </a:pPr>
            <a:endParaRPr lang="en-US" dirty="0">
              <a:solidFill>
                <a:srgbClr val="551BF7"/>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defRPr/>
            </a:pPr>
            <a:r>
              <a:rPr lang="en-US" dirty="0">
                <a:solidFill>
                  <a:srgbClr val="551BF7"/>
                </a:solidFill>
                <a:latin typeface="Times New Roman" panose="02020603050405020304" pitchFamily="18" charset="0"/>
                <a:cs typeface="Times New Roman" panose="02020603050405020304" pitchFamily="18" charset="0"/>
              </a:rPr>
              <a:t>Most wear out mechanisms are temperature dependent, </a:t>
            </a:r>
            <a:r>
              <a:rPr lang="en-US" b="1" dirty="0">
                <a:solidFill>
                  <a:srgbClr val="551BF7"/>
                </a:solidFill>
                <a:latin typeface="Times New Roman" panose="02020603050405020304" pitchFamily="18" charset="0"/>
                <a:cs typeface="Times New Roman" panose="02020603050405020304" pitchFamily="18" charset="0"/>
              </a:rPr>
              <a:t>so transistors are more reliable at lower temperatures.</a:t>
            </a:r>
            <a:r>
              <a:rPr lang="en-US" dirty="0">
                <a:solidFill>
                  <a:srgbClr val="551BF7"/>
                </a:solidFill>
                <a:latin typeface="Times New Roman" panose="02020603050405020304" pitchFamily="18" charset="0"/>
                <a:cs typeface="Times New Roman" panose="02020603050405020304" pitchFamily="18" charset="0"/>
              </a:rPr>
              <a:t> </a:t>
            </a:r>
          </a:p>
          <a:p>
            <a:pPr algn="just">
              <a:defRPr/>
            </a:pP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20E92F4-A6D7-BC14-D8C0-BAC5A33FEF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425" y="119065"/>
            <a:ext cx="1614499"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C98E0CD7-F19A-0E5A-B678-41955738D77E}"/>
              </a:ext>
            </a:extLst>
          </p:cNvPr>
          <p:cNvSpPr txBox="1">
            <a:spLocks noChangeArrowheads="1"/>
          </p:cNvSpPr>
          <p:nvPr/>
        </p:nvSpPr>
        <p:spPr bwMode="auto">
          <a:xfrm>
            <a:off x="1689924" y="6133"/>
            <a:ext cx="85121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sz="3600" b="1" dirty="0">
                <a:solidFill>
                  <a:schemeClr val="bg1"/>
                </a:solidFill>
                <a:highlight>
                  <a:srgbClr val="800000"/>
                </a:highlight>
                <a:latin typeface="Times New Roman" panose="02020603050405020304" pitchFamily="18" charset="0"/>
                <a:cs typeface="Times New Roman" panose="02020603050405020304" pitchFamily="18" charset="0"/>
              </a:rPr>
              <a:t>Second Order Effects</a:t>
            </a:r>
            <a:endParaRPr lang="en-IN" altLang="en-US" sz="4000" b="1" dirty="0">
              <a:solidFill>
                <a:schemeClr val="bg1"/>
              </a:solidFill>
              <a:highlight>
                <a:srgbClr val="800000"/>
              </a:highligh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id="{CB57192F-C4C9-E9F4-178F-8F610972E6EE}"/>
              </a:ext>
            </a:extLst>
          </p:cNvPr>
          <p:cNvSpPr/>
          <p:nvPr/>
        </p:nvSpPr>
        <p:spPr>
          <a:xfrm>
            <a:off x="2792186" y="34987"/>
            <a:ext cx="6676279" cy="90891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New Roman" panose="02020603050405020304" pitchFamily="18" charset="0"/>
                <a:cs typeface="Times New Roman" panose="02020603050405020304" pitchFamily="18" charset="0"/>
              </a:rPr>
              <a:t>Problem Discussion</a:t>
            </a:r>
          </a:p>
        </p:txBody>
      </p:sp>
      <p:pic>
        <p:nvPicPr>
          <p:cNvPr id="3" name="Picture 2">
            <a:extLst>
              <a:ext uri="{FF2B5EF4-FFF2-40B4-BE49-F238E27FC236}">
                <a16:creationId xmlns:a16="http://schemas.microsoft.com/office/drawing/2014/main" id="{AE946310-1E12-9B6E-7DB5-D84EBEF627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23" y="82918"/>
            <a:ext cx="1477675" cy="858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9B72543-1BC5-DC9A-9040-A3635BE37993}"/>
              </a:ext>
            </a:extLst>
          </p:cNvPr>
          <p:cNvSpPr txBox="1"/>
          <p:nvPr/>
        </p:nvSpPr>
        <p:spPr>
          <a:xfrm>
            <a:off x="1289956" y="1371600"/>
            <a:ext cx="9682843" cy="2120068"/>
          </a:xfrm>
          <a:prstGeom prst="rect">
            <a:avLst/>
          </a:prstGeom>
          <a:noFill/>
        </p:spPr>
        <p:txBody>
          <a:bodyPr wrap="square">
            <a:spAutoFit/>
          </a:bodyPr>
          <a:lstStyle/>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Mention about the BICMOS Inverters and alternative BICMOS Inverters.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Determine the pull-up to pull down ratio for NMOS inverter driven by another NMOS Inverter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Draw the fabrication steps of CMOS transistor and explain its operation in detail. </a:t>
            </a:r>
          </a:p>
          <a:p>
            <a:pPr marL="800100" lvl="1" indent="-342900" algn="just">
              <a:lnSpc>
                <a:spcPct val="150000"/>
              </a:lnSpc>
              <a:buFont typeface="+mj-lt"/>
              <a:buAutoNum type="arabicPeriod"/>
              <a:defRPr/>
            </a:pPr>
            <a:r>
              <a:rPr lang="en-IN" sz="1800" b="1" dirty="0">
                <a:solidFill>
                  <a:schemeClr val="bg2">
                    <a:lumMod val="25000"/>
                  </a:schemeClr>
                </a:solidFill>
                <a:latin typeface="Times New Roman" panose="02020603050405020304" pitchFamily="18" charset="0"/>
                <a:cs typeface="Times New Roman" panose="02020603050405020304" pitchFamily="18" charset="0"/>
              </a:rPr>
              <a:t>Draw the fabrication steps of NMOS transistor and explain its operation in detail.</a:t>
            </a:r>
            <a:endParaRPr lang="en-US" sz="1800" b="1" dirty="0">
              <a:solidFill>
                <a:schemeClr val="bg2">
                  <a:lumMod val="25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2400" dirty="0">
                <a:solidFill>
                  <a:schemeClr val="bg1"/>
                </a:solidFill>
                <a:latin typeface="Times New Roman" panose="02020603050405020304" pitchFamily="18" charset="0"/>
                <a:ea typeface="Calibri"/>
                <a:cs typeface="Times New Roman" panose="02020603050405020304" pitchFamily="18" charset="0"/>
                <a:sym typeface="Calibri"/>
              </a:rPr>
              <a:t>1. CMOS Inverter can be used as an amplifier when:</a:t>
            </a:r>
            <a:endParaRPr sz="24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101552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PMOS is in linear, NMOS is in cut-off.</a:t>
            </a:r>
            <a:endParaRPr lang="en-IN" sz="1400" dirty="0">
              <a:latin typeface="Times New Roman" panose="02020603050405020304" pitchFamily="18" charset="0"/>
              <a:cs typeface="Times New Roman" panose="02020603050405020304" pitchFamily="18" charset="0"/>
            </a:endParaRPr>
          </a:p>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Both are in linear region</a:t>
            </a:r>
          </a:p>
          <a:p>
            <a:pPr marL="342900" indent="-342900">
              <a:lnSpc>
                <a:spcPct val="150000"/>
              </a:lnSpc>
              <a:buAutoNum type="alphaLcParenBoth"/>
            </a:pPr>
            <a:r>
              <a:rPr lang="en-IN" dirty="0">
                <a:latin typeface="Times New Roman" panose="02020603050405020304" pitchFamily="18" charset="0"/>
                <a:cs typeface="Times New Roman" panose="02020603050405020304" pitchFamily="18" charset="0"/>
              </a:rPr>
              <a:t>Both PMOS and NMOS are in saturation.</a:t>
            </a:r>
            <a:endParaRPr lang="en-IN" sz="1600" dirty="0">
              <a:latin typeface="Times New Roman" panose="02020603050405020304" pitchFamily="18" charset="0"/>
              <a:cs typeface="Times New Roman" panose="02020603050405020304" pitchFamily="18" charset="0"/>
            </a:endParaRP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NMOS is in linear, PMOS is in cut-off.</a:t>
            </a:r>
            <a:endParaRPr lang="en-US" sz="1600" dirty="0">
              <a:latin typeface="Times New Roman" panose="02020603050405020304" pitchFamily="18" charset="0"/>
              <a:cs typeface="Times New Roman" panose="02020603050405020304" pitchFamily="18" charset="0"/>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400" dirty="0">
                <a:solidFill>
                  <a:schemeClr val="bg1"/>
                </a:solidFill>
                <a:latin typeface="Times New Roman" panose="02020603050405020304" pitchFamily="18" charset="0"/>
                <a:cs typeface="Times New Roman" panose="02020603050405020304" pitchFamily="18" charset="0"/>
                <a:sym typeface="Calibri"/>
              </a:rPr>
              <a:t>Which of the following characteristics does an active loaded MOS differential circuit possess?</a:t>
            </a:r>
            <a:endParaRPr sz="2000"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1017221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High CMRR.</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Low CMRR.</a:t>
            </a:r>
          </a:p>
          <a:p>
            <a:pPr marL="342900" indent="-342900">
              <a:lnSpc>
                <a:spcPct val="150000"/>
              </a:lnSpc>
              <a:buAutoNum type="alphaLcParenBoth"/>
            </a:pPr>
            <a:r>
              <a:rPr lang="en-US" dirty="0">
                <a:latin typeface="Times New Roman" panose="02020603050405020304" pitchFamily="18" charset="0"/>
                <a:cs typeface="Times New Roman" panose="02020603050405020304" pitchFamily="18" charset="0"/>
              </a:rPr>
              <a:t>High Delay.</a:t>
            </a:r>
          </a:p>
          <a:p>
            <a:pPr marL="342900" indent="-342900">
              <a:lnSpc>
                <a:spcPct val="150000"/>
              </a:lnSpc>
              <a:buAutoNum type="alphaLcParenBoth"/>
            </a:pPr>
            <a:r>
              <a:rPr lang="en-US">
                <a:latin typeface="Times New Roman" panose="02020603050405020304" pitchFamily="18" charset="0"/>
                <a:cs typeface="Times New Roman" panose="02020603050405020304" pitchFamily="18" charset="0"/>
              </a:rPr>
              <a:t>High Differential Gain.</a:t>
            </a:r>
            <a:endParaRPr lang="en-US" sz="1600" dirty="0">
              <a:latin typeface="Times New Roman" panose="02020603050405020304" pitchFamily="18" charset="0"/>
              <a:cs typeface="Times New Roman" panose="02020603050405020304" pitchFamily="18" charset="0"/>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212686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Reference Books: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1. Sung-Mo Kong, Yusuf </a:t>
            </a:r>
            <a:r>
              <a:rPr lang="en-US" dirty="0" err="1">
                <a:latin typeface="Times New Roman" panose="02020603050405020304" pitchFamily="18" charset="0"/>
                <a:cs typeface="Times New Roman" panose="02020603050405020304" pitchFamily="18" charset="0"/>
              </a:rPr>
              <a:t>Leblebici</a:t>
            </a:r>
            <a:r>
              <a:rPr lang="en-US" dirty="0">
                <a:latin typeface="Times New Roman" panose="02020603050405020304" pitchFamily="18" charset="0"/>
                <a:cs typeface="Times New Roman" panose="02020603050405020304" pitchFamily="18" charset="0"/>
              </a:rPr>
              <a:t>, “CMOS Digital Integrated Circuits Analysis and Design” Third Edition.</a:t>
            </a:r>
          </a:p>
          <a:p>
            <a:pPr>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Debaprasad</a:t>
            </a:r>
            <a:r>
              <a:rPr lang="en-US" dirty="0">
                <a:latin typeface="Times New Roman" panose="02020603050405020304" pitchFamily="18" charset="0"/>
                <a:cs typeface="Times New Roman" panose="02020603050405020304" pitchFamily="18" charset="0"/>
              </a:rPr>
              <a:t> Das, “CMOS DESIGN” Second Edition.</a:t>
            </a:r>
          </a:p>
          <a:p>
            <a:pPr>
              <a:lnSpc>
                <a:spcPct val="150000"/>
              </a:lnSpc>
            </a:pPr>
            <a:endParaRPr lang="en-US" dirty="0">
              <a:latin typeface="Times New Roman" panose="02020603050405020304" pitchFamily="18" charset="0"/>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664</TotalTime>
  <Words>1108</Words>
  <Application>Microsoft Office PowerPoint</Application>
  <PresentationFormat>Widescreen</PresentationFormat>
  <Paragraphs>146</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Bell MT</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Dr.Ashish Kumar</cp:lastModifiedBy>
  <cp:revision>74</cp:revision>
  <dcterms:created xsi:type="dcterms:W3CDTF">2020-02-08T09:57:44Z</dcterms:created>
  <dcterms:modified xsi:type="dcterms:W3CDTF">2022-11-22T11:23:00Z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