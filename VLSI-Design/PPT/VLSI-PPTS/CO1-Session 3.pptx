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71" r:id="rId5"/>
    <p:sldId id="300" r:id="rId6"/>
    <p:sldId id="288" r:id="rId7"/>
    <p:sldId id="306" r:id="rId8"/>
    <p:sldId id="312" r:id="rId9"/>
    <p:sldId id="313" r:id="rId10"/>
    <p:sldId id="314" r:id="rId11"/>
    <p:sldId id="315" r:id="rId12"/>
    <p:sldId id="285" r:id="rId13"/>
    <p:sldId id="287" r:id="rId14"/>
    <p:sldId id="301" r:id="rId15"/>
    <p:sldId id="302" r:id="rId16"/>
    <p:sldId id="30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E4C"/>
    <a:srgbClr val="FF9900"/>
    <a:srgbClr val="E84845"/>
    <a:srgbClr val="FAD2D2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44" d="100"/>
          <a:sy n="44" d="100"/>
        </p:scale>
        <p:origin x="3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485F9D-8C88-49AC-A251-A1C9F04F4A0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A0DEC3-4DE3-4164-9C6E-190ED1BBA9EA}">
      <dgm:prSet custT="1"/>
      <dgm:spPr/>
      <dgm:t>
        <a:bodyPr/>
        <a:lstStyle/>
        <a:p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The following description explains the basic steps used in the process of fabrication.  (Only for Silicon Substrate)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089115-6DCF-40F6-8A20-657ACEC4A60E}" type="parTrans" cxnId="{1E41B0FE-50C1-4C65-BF81-CF1C753C2E53}">
      <dgm:prSet/>
      <dgm:spPr/>
      <dgm:t>
        <a:bodyPr/>
        <a:lstStyle/>
        <a:p>
          <a:endParaRPr lang="en-US"/>
        </a:p>
      </dgm:t>
    </dgm:pt>
    <dgm:pt modelId="{A0D85045-DDFE-4AF7-8112-EC85E97232CF}" type="sibTrans" cxnId="{1E41B0FE-50C1-4C65-BF81-CF1C753C2E53}">
      <dgm:prSet/>
      <dgm:spPr/>
      <dgm:t>
        <a:bodyPr/>
        <a:lstStyle/>
        <a:p>
          <a:endParaRPr lang="en-US"/>
        </a:p>
      </dgm:t>
    </dgm:pt>
    <dgm:pt modelId="{5F2C0EC5-9D2E-4607-BD6E-D96C0BF5A766}">
      <dgm:prSet custT="1"/>
      <dgm:spPr/>
      <dgm:t>
        <a:bodyPr/>
        <a:lstStyle/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(a) The fabrication process starts with the oxidation of the silicon substrate. </a:t>
          </a: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It is shown in the Figure 1.9 (a). 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67B887-D6E4-4C90-8327-2A48FE0013C4}" type="parTrans" cxnId="{56AD8513-E7FE-473A-831F-8CE2A6A8CF68}">
      <dgm:prSet/>
      <dgm:spPr/>
      <dgm:t>
        <a:bodyPr/>
        <a:lstStyle/>
        <a:p>
          <a:endParaRPr lang="en-US"/>
        </a:p>
      </dgm:t>
    </dgm:pt>
    <dgm:pt modelId="{A3C9B04C-FCBC-4D8F-A051-3776C0B69CD3}" type="sibTrans" cxnId="{56AD8513-E7FE-473A-831F-8CE2A6A8CF68}">
      <dgm:prSet/>
      <dgm:spPr/>
      <dgm:t>
        <a:bodyPr/>
        <a:lstStyle/>
        <a:p>
          <a:endParaRPr lang="en-US"/>
        </a:p>
      </dgm:t>
    </dgm:pt>
    <dgm:pt modelId="{BB4D59A6-6E89-4BD1-918D-C3B5F1F0F890}">
      <dgm:prSet custT="1"/>
      <dgm:spPr/>
      <dgm:t>
        <a:bodyPr/>
        <a:lstStyle/>
        <a:p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(b) A relatively thick silicon dioxide layer, also called field oxide, is created on the surface of the substrate. 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B7B5F9-2A51-46AE-94C7-109950235FF2}" type="parTrans" cxnId="{C4A34B44-17EB-4734-B196-93770C9CB580}">
      <dgm:prSet/>
      <dgm:spPr/>
      <dgm:t>
        <a:bodyPr/>
        <a:lstStyle/>
        <a:p>
          <a:endParaRPr lang="en-US"/>
        </a:p>
      </dgm:t>
    </dgm:pt>
    <dgm:pt modelId="{B125B445-9E93-4F5A-9084-ED3FA6CEBA8A}" type="sibTrans" cxnId="{C4A34B44-17EB-4734-B196-93770C9CB580}">
      <dgm:prSet/>
      <dgm:spPr/>
      <dgm:t>
        <a:bodyPr/>
        <a:lstStyle/>
        <a:p>
          <a:endParaRPr lang="en-US"/>
        </a:p>
      </dgm:t>
    </dgm:pt>
    <dgm:pt modelId="{5916A422-1B37-4FEF-AEC1-904B56376FBD}">
      <dgm:prSet custT="1"/>
      <dgm:spPr/>
      <dgm:t>
        <a:bodyPr/>
        <a:lstStyle/>
        <a:p>
          <a:r>
            <a:rPr lang="en-IN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This is shown in the Figure 1.9 (b). </a:t>
          </a:r>
          <a:endParaRPr lang="en-US" sz="1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83D80E-D4BB-4C7A-937B-87B3B3781249}" type="parTrans" cxnId="{5BBD30E4-0FC0-44FE-90F8-9ED049F53472}">
      <dgm:prSet/>
      <dgm:spPr/>
      <dgm:t>
        <a:bodyPr/>
        <a:lstStyle/>
        <a:p>
          <a:endParaRPr lang="en-US"/>
        </a:p>
      </dgm:t>
    </dgm:pt>
    <dgm:pt modelId="{173457D3-8170-4A70-8C2F-96552552927B}" type="sibTrans" cxnId="{5BBD30E4-0FC0-44FE-90F8-9ED049F53472}">
      <dgm:prSet/>
      <dgm:spPr/>
      <dgm:t>
        <a:bodyPr/>
        <a:lstStyle/>
        <a:p>
          <a:endParaRPr lang="en-US"/>
        </a:p>
      </dgm:t>
    </dgm:pt>
    <dgm:pt modelId="{0D357973-F469-4C36-A0D9-6DF4821C6BC3}">
      <dgm:prSet custT="1"/>
      <dgm:spPr/>
      <dgm:t>
        <a:bodyPr/>
        <a:lstStyle/>
        <a:p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(c) Then, the field oxide is selectively etched to expose the silicon surface on which the MOS transistor will be created. </a:t>
          </a:r>
          <a:r>
            <a:rPr lang="en-IN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This is indicated in the Figure 1.9 (c). 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BAAFE4-BF85-436F-B6FD-1C7A80E193E3}" type="parTrans" cxnId="{1A5F6897-9D38-431F-97EC-A24D00A49F3F}">
      <dgm:prSet/>
      <dgm:spPr/>
      <dgm:t>
        <a:bodyPr/>
        <a:lstStyle/>
        <a:p>
          <a:endParaRPr lang="en-US"/>
        </a:p>
      </dgm:t>
    </dgm:pt>
    <dgm:pt modelId="{A59DF7E6-4AC6-4407-BB34-68F3D2EE8942}" type="sibTrans" cxnId="{1A5F6897-9D38-431F-97EC-A24D00A49F3F}">
      <dgm:prSet/>
      <dgm:spPr/>
      <dgm:t>
        <a:bodyPr/>
        <a:lstStyle/>
        <a:p>
          <a:endParaRPr lang="en-US"/>
        </a:p>
      </dgm:t>
    </dgm:pt>
    <dgm:pt modelId="{2A2EFD3A-EBFC-4CC6-BB4B-3C37314CE18A}">
      <dgm:prSet custT="1"/>
      <dgm:spPr/>
      <dgm:t>
        <a:bodyPr/>
        <a:lstStyle/>
        <a:p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(d) This is followed by covering the surface of substrate with a thin, high-quality oxide layer, which will eventually form the gate oxide of the MOS transistor </a:t>
          </a: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as illustrated in Figure 1.9 (d).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F127C9-F76B-42E3-BA21-CB05BFCD2480}" type="parTrans" cxnId="{4C7172BF-3016-4FE7-8C6D-4E0EB97FA4E4}">
      <dgm:prSet/>
      <dgm:spPr/>
      <dgm:t>
        <a:bodyPr/>
        <a:lstStyle/>
        <a:p>
          <a:endParaRPr lang="en-US"/>
        </a:p>
      </dgm:t>
    </dgm:pt>
    <dgm:pt modelId="{3BE1A740-0DAB-4322-A446-034AB70163A3}" type="sibTrans" cxnId="{4C7172BF-3016-4FE7-8C6D-4E0EB97FA4E4}">
      <dgm:prSet/>
      <dgm:spPr/>
      <dgm:t>
        <a:bodyPr/>
        <a:lstStyle/>
        <a:p>
          <a:endParaRPr lang="en-US"/>
        </a:p>
      </dgm:t>
    </dgm:pt>
    <dgm:pt modelId="{6BCC0645-EB79-4465-9AD6-C0F2B20E4402}" type="pres">
      <dgm:prSet presAssocID="{57485F9D-8C88-49AC-A251-A1C9F04F4A0E}" presName="outerComposite" presStyleCnt="0">
        <dgm:presLayoutVars>
          <dgm:chMax val="5"/>
          <dgm:dir/>
          <dgm:resizeHandles val="exact"/>
        </dgm:presLayoutVars>
      </dgm:prSet>
      <dgm:spPr/>
    </dgm:pt>
    <dgm:pt modelId="{018C64D2-FB85-4A2C-A3D1-C83E004B9880}" type="pres">
      <dgm:prSet presAssocID="{57485F9D-8C88-49AC-A251-A1C9F04F4A0E}" presName="dummyMaxCanvas" presStyleCnt="0">
        <dgm:presLayoutVars/>
      </dgm:prSet>
      <dgm:spPr/>
    </dgm:pt>
    <dgm:pt modelId="{CD752FDF-1A15-45A2-9053-A4E9DF357AF8}" type="pres">
      <dgm:prSet presAssocID="{57485F9D-8C88-49AC-A251-A1C9F04F4A0E}" presName="FiveNodes_1" presStyleLbl="node1" presStyleIdx="0" presStyleCnt="5">
        <dgm:presLayoutVars>
          <dgm:bulletEnabled val="1"/>
        </dgm:presLayoutVars>
      </dgm:prSet>
      <dgm:spPr/>
    </dgm:pt>
    <dgm:pt modelId="{1E315D30-DEB0-4AD7-82F2-A9A08E98CE89}" type="pres">
      <dgm:prSet presAssocID="{57485F9D-8C88-49AC-A251-A1C9F04F4A0E}" presName="FiveNodes_2" presStyleLbl="node1" presStyleIdx="1" presStyleCnt="5">
        <dgm:presLayoutVars>
          <dgm:bulletEnabled val="1"/>
        </dgm:presLayoutVars>
      </dgm:prSet>
      <dgm:spPr/>
    </dgm:pt>
    <dgm:pt modelId="{572C4715-F8D3-4E49-83C1-F77C5941E1EB}" type="pres">
      <dgm:prSet presAssocID="{57485F9D-8C88-49AC-A251-A1C9F04F4A0E}" presName="FiveNodes_3" presStyleLbl="node1" presStyleIdx="2" presStyleCnt="5">
        <dgm:presLayoutVars>
          <dgm:bulletEnabled val="1"/>
        </dgm:presLayoutVars>
      </dgm:prSet>
      <dgm:spPr/>
    </dgm:pt>
    <dgm:pt modelId="{7C261AE5-87E5-4E33-A47E-8FD0C221C7FE}" type="pres">
      <dgm:prSet presAssocID="{57485F9D-8C88-49AC-A251-A1C9F04F4A0E}" presName="FiveNodes_4" presStyleLbl="node1" presStyleIdx="3" presStyleCnt="5">
        <dgm:presLayoutVars>
          <dgm:bulletEnabled val="1"/>
        </dgm:presLayoutVars>
      </dgm:prSet>
      <dgm:spPr/>
    </dgm:pt>
    <dgm:pt modelId="{6193C431-55A3-4F6F-89AB-735EBFA1E797}" type="pres">
      <dgm:prSet presAssocID="{57485F9D-8C88-49AC-A251-A1C9F04F4A0E}" presName="FiveNodes_5" presStyleLbl="node1" presStyleIdx="4" presStyleCnt="5">
        <dgm:presLayoutVars>
          <dgm:bulletEnabled val="1"/>
        </dgm:presLayoutVars>
      </dgm:prSet>
      <dgm:spPr/>
    </dgm:pt>
    <dgm:pt modelId="{260E1A3F-46B7-430F-B4D6-EFE532601CA9}" type="pres">
      <dgm:prSet presAssocID="{57485F9D-8C88-49AC-A251-A1C9F04F4A0E}" presName="FiveConn_1-2" presStyleLbl="fgAccFollowNode1" presStyleIdx="0" presStyleCnt="4">
        <dgm:presLayoutVars>
          <dgm:bulletEnabled val="1"/>
        </dgm:presLayoutVars>
      </dgm:prSet>
      <dgm:spPr/>
    </dgm:pt>
    <dgm:pt modelId="{9103324F-6450-45C6-8121-AF53A058A960}" type="pres">
      <dgm:prSet presAssocID="{57485F9D-8C88-49AC-A251-A1C9F04F4A0E}" presName="FiveConn_2-3" presStyleLbl="fgAccFollowNode1" presStyleIdx="1" presStyleCnt="4">
        <dgm:presLayoutVars>
          <dgm:bulletEnabled val="1"/>
        </dgm:presLayoutVars>
      </dgm:prSet>
      <dgm:spPr/>
    </dgm:pt>
    <dgm:pt modelId="{A2289BD6-A604-4E49-87ED-497AB736475D}" type="pres">
      <dgm:prSet presAssocID="{57485F9D-8C88-49AC-A251-A1C9F04F4A0E}" presName="FiveConn_3-4" presStyleLbl="fgAccFollowNode1" presStyleIdx="2" presStyleCnt="4">
        <dgm:presLayoutVars>
          <dgm:bulletEnabled val="1"/>
        </dgm:presLayoutVars>
      </dgm:prSet>
      <dgm:spPr/>
    </dgm:pt>
    <dgm:pt modelId="{2C84FB0C-1028-4374-AF2F-40B330398BE7}" type="pres">
      <dgm:prSet presAssocID="{57485F9D-8C88-49AC-A251-A1C9F04F4A0E}" presName="FiveConn_4-5" presStyleLbl="fgAccFollowNode1" presStyleIdx="3" presStyleCnt="4">
        <dgm:presLayoutVars>
          <dgm:bulletEnabled val="1"/>
        </dgm:presLayoutVars>
      </dgm:prSet>
      <dgm:spPr/>
    </dgm:pt>
    <dgm:pt modelId="{AD4F4DF3-CDE5-43CF-A8B7-744198EE8F32}" type="pres">
      <dgm:prSet presAssocID="{57485F9D-8C88-49AC-A251-A1C9F04F4A0E}" presName="FiveNodes_1_text" presStyleLbl="node1" presStyleIdx="4" presStyleCnt="5">
        <dgm:presLayoutVars>
          <dgm:bulletEnabled val="1"/>
        </dgm:presLayoutVars>
      </dgm:prSet>
      <dgm:spPr/>
    </dgm:pt>
    <dgm:pt modelId="{C4AF95AF-5403-4883-A5C1-C14DE9A4D17D}" type="pres">
      <dgm:prSet presAssocID="{57485F9D-8C88-49AC-A251-A1C9F04F4A0E}" presName="FiveNodes_2_text" presStyleLbl="node1" presStyleIdx="4" presStyleCnt="5">
        <dgm:presLayoutVars>
          <dgm:bulletEnabled val="1"/>
        </dgm:presLayoutVars>
      </dgm:prSet>
      <dgm:spPr/>
    </dgm:pt>
    <dgm:pt modelId="{965DCE0D-5812-40B3-A8E1-D5E05E69C562}" type="pres">
      <dgm:prSet presAssocID="{57485F9D-8C88-49AC-A251-A1C9F04F4A0E}" presName="FiveNodes_3_text" presStyleLbl="node1" presStyleIdx="4" presStyleCnt="5">
        <dgm:presLayoutVars>
          <dgm:bulletEnabled val="1"/>
        </dgm:presLayoutVars>
      </dgm:prSet>
      <dgm:spPr/>
    </dgm:pt>
    <dgm:pt modelId="{1588016F-7A39-4413-B2F4-8F68733E7E9E}" type="pres">
      <dgm:prSet presAssocID="{57485F9D-8C88-49AC-A251-A1C9F04F4A0E}" presName="FiveNodes_4_text" presStyleLbl="node1" presStyleIdx="4" presStyleCnt="5">
        <dgm:presLayoutVars>
          <dgm:bulletEnabled val="1"/>
        </dgm:presLayoutVars>
      </dgm:prSet>
      <dgm:spPr/>
    </dgm:pt>
    <dgm:pt modelId="{93973B98-DBED-4A8B-8A72-2BF480B062E4}" type="pres">
      <dgm:prSet presAssocID="{57485F9D-8C88-49AC-A251-A1C9F04F4A0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1C40005-02D3-45B0-ABE6-F743DEF23C57}" type="presOf" srcId="{5F2C0EC5-9D2E-4607-BD6E-D96C0BF5A766}" destId="{C4AF95AF-5403-4883-A5C1-C14DE9A4D17D}" srcOrd="1" destOrd="0" presId="urn:microsoft.com/office/officeart/2005/8/layout/vProcess5"/>
    <dgm:cxn modelId="{56AD8513-E7FE-473A-831F-8CE2A6A8CF68}" srcId="{57485F9D-8C88-49AC-A251-A1C9F04F4A0E}" destId="{5F2C0EC5-9D2E-4607-BD6E-D96C0BF5A766}" srcOrd="1" destOrd="0" parTransId="{1A67B887-D6E4-4C90-8327-2A48FE0013C4}" sibTransId="{A3C9B04C-FCBC-4D8F-A051-3776C0B69CD3}"/>
    <dgm:cxn modelId="{7836C125-B817-4EA2-A4D3-6549442C37BE}" type="presOf" srcId="{2A2EFD3A-EBFC-4CC6-BB4B-3C37314CE18A}" destId="{93973B98-DBED-4A8B-8A72-2BF480B062E4}" srcOrd="1" destOrd="0" presId="urn:microsoft.com/office/officeart/2005/8/layout/vProcess5"/>
    <dgm:cxn modelId="{6BFACD28-ECA4-49D2-A437-782459FC8E2A}" type="presOf" srcId="{A59DF7E6-4AC6-4407-BB34-68F3D2EE8942}" destId="{2C84FB0C-1028-4374-AF2F-40B330398BE7}" srcOrd="0" destOrd="0" presId="urn:microsoft.com/office/officeart/2005/8/layout/vProcess5"/>
    <dgm:cxn modelId="{77B4403B-6F96-42CB-830E-9F0C896EAAFB}" type="presOf" srcId="{70A0DEC3-4DE3-4164-9C6E-190ED1BBA9EA}" destId="{CD752FDF-1A15-45A2-9053-A4E9DF357AF8}" srcOrd="0" destOrd="0" presId="urn:microsoft.com/office/officeart/2005/8/layout/vProcess5"/>
    <dgm:cxn modelId="{C045783B-EEA9-4C1F-B9EA-BE9F48CD5292}" type="presOf" srcId="{B125B445-9E93-4F5A-9084-ED3FA6CEBA8A}" destId="{A2289BD6-A604-4E49-87ED-497AB736475D}" srcOrd="0" destOrd="0" presId="urn:microsoft.com/office/officeart/2005/8/layout/vProcess5"/>
    <dgm:cxn modelId="{C88AA83C-EE74-40D9-8E0C-F1721F785132}" type="presOf" srcId="{5916A422-1B37-4FEF-AEC1-904B56376FBD}" destId="{965DCE0D-5812-40B3-A8E1-D5E05E69C562}" srcOrd="1" destOrd="1" presId="urn:microsoft.com/office/officeart/2005/8/layout/vProcess5"/>
    <dgm:cxn modelId="{C4A34B44-17EB-4734-B196-93770C9CB580}" srcId="{57485F9D-8C88-49AC-A251-A1C9F04F4A0E}" destId="{BB4D59A6-6E89-4BD1-918D-C3B5F1F0F890}" srcOrd="2" destOrd="0" parTransId="{21B7B5F9-2A51-46AE-94C7-109950235FF2}" sibTransId="{B125B445-9E93-4F5A-9084-ED3FA6CEBA8A}"/>
    <dgm:cxn modelId="{239B2046-7D64-4AFC-8E34-8B02E7CD3DEE}" type="presOf" srcId="{2A2EFD3A-EBFC-4CC6-BB4B-3C37314CE18A}" destId="{6193C431-55A3-4F6F-89AB-735EBFA1E797}" srcOrd="0" destOrd="0" presId="urn:microsoft.com/office/officeart/2005/8/layout/vProcess5"/>
    <dgm:cxn modelId="{49EC2C49-BAEA-42DB-ABE0-4001597B5828}" type="presOf" srcId="{0D357973-F469-4C36-A0D9-6DF4821C6BC3}" destId="{7C261AE5-87E5-4E33-A47E-8FD0C221C7FE}" srcOrd="0" destOrd="0" presId="urn:microsoft.com/office/officeart/2005/8/layout/vProcess5"/>
    <dgm:cxn modelId="{D85B2D54-77E3-4609-AA16-FE8039314246}" type="presOf" srcId="{70A0DEC3-4DE3-4164-9C6E-190ED1BBA9EA}" destId="{AD4F4DF3-CDE5-43CF-A8B7-744198EE8F32}" srcOrd="1" destOrd="0" presId="urn:microsoft.com/office/officeart/2005/8/layout/vProcess5"/>
    <dgm:cxn modelId="{F0618178-D238-4A48-939D-D525E7375AA0}" type="presOf" srcId="{BB4D59A6-6E89-4BD1-918D-C3B5F1F0F890}" destId="{965DCE0D-5812-40B3-A8E1-D5E05E69C562}" srcOrd="1" destOrd="0" presId="urn:microsoft.com/office/officeart/2005/8/layout/vProcess5"/>
    <dgm:cxn modelId="{BD5E308C-F30F-4A04-9E1C-C9FC650E562A}" type="presOf" srcId="{A0D85045-DDFE-4AF7-8112-EC85E97232CF}" destId="{260E1A3F-46B7-430F-B4D6-EFE532601CA9}" srcOrd="0" destOrd="0" presId="urn:microsoft.com/office/officeart/2005/8/layout/vProcess5"/>
    <dgm:cxn modelId="{5E820E94-963B-42FF-9575-A1B4D602D347}" type="presOf" srcId="{A3C9B04C-FCBC-4D8F-A051-3776C0B69CD3}" destId="{9103324F-6450-45C6-8121-AF53A058A960}" srcOrd="0" destOrd="0" presId="urn:microsoft.com/office/officeart/2005/8/layout/vProcess5"/>
    <dgm:cxn modelId="{1A5F6897-9D38-431F-97EC-A24D00A49F3F}" srcId="{57485F9D-8C88-49AC-A251-A1C9F04F4A0E}" destId="{0D357973-F469-4C36-A0D9-6DF4821C6BC3}" srcOrd="3" destOrd="0" parTransId="{A3BAAFE4-BF85-436F-B6FD-1C7A80E193E3}" sibTransId="{A59DF7E6-4AC6-4407-BB34-68F3D2EE8942}"/>
    <dgm:cxn modelId="{4C7172BF-3016-4FE7-8C6D-4E0EB97FA4E4}" srcId="{57485F9D-8C88-49AC-A251-A1C9F04F4A0E}" destId="{2A2EFD3A-EBFC-4CC6-BB4B-3C37314CE18A}" srcOrd="4" destOrd="0" parTransId="{8DF127C9-F76B-42E3-BA21-CB05BFCD2480}" sibTransId="{3BE1A740-0DAB-4322-A446-034AB70163A3}"/>
    <dgm:cxn modelId="{AD0DB1BF-100F-4A44-8404-9BD85351969F}" type="presOf" srcId="{5F2C0EC5-9D2E-4607-BD6E-D96C0BF5A766}" destId="{1E315D30-DEB0-4AD7-82F2-A9A08E98CE89}" srcOrd="0" destOrd="0" presId="urn:microsoft.com/office/officeart/2005/8/layout/vProcess5"/>
    <dgm:cxn modelId="{CE1897C7-B4B6-4FB8-ACAB-792B41A4BF96}" type="presOf" srcId="{0D357973-F469-4C36-A0D9-6DF4821C6BC3}" destId="{1588016F-7A39-4413-B2F4-8F68733E7E9E}" srcOrd="1" destOrd="0" presId="urn:microsoft.com/office/officeart/2005/8/layout/vProcess5"/>
    <dgm:cxn modelId="{02F58BDB-0B0F-4EDC-AEFC-8B26F22EEF43}" type="presOf" srcId="{BB4D59A6-6E89-4BD1-918D-C3B5F1F0F890}" destId="{572C4715-F8D3-4E49-83C1-F77C5941E1EB}" srcOrd="0" destOrd="0" presId="urn:microsoft.com/office/officeart/2005/8/layout/vProcess5"/>
    <dgm:cxn modelId="{5BBD30E4-0FC0-44FE-90F8-9ED049F53472}" srcId="{BB4D59A6-6E89-4BD1-918D-C3B5F1F0F890}" destId="{5916A422-1B37-4FEF-AEC1-904B56376FBD}" srcOrd="0" destOrd="0" parTransId="{8283D80E-D4BB-4C7A-937B-87B3B3781249}" sibTransId="{173457D3-8170-4A70-8C2F-96552552927B}"/>
    <dgm:cxn modelId="{BA88EDFC-BEF3-470B-B3B5-0B3F0453226E}" type="presOf" srcId="{5916A422-1B37-4FEF-AEC1-904B56376FBD}" destId="{572C4715-F8D3-4E49-83C1-F77C5941E1EB}" srcOrd="0" destOrd="1" presId="urn:microsoft.com/office/officeart/2005/8/layout/vProcess5"/>
    <dgm:cxn modelId="{82001FFE-9341-45A1-8921-7032907EB00F}" type="presOf" srcId="{57485F9D-8C88-49AC-A251-A1C9F04F4A0E}" destId="{6BCC0645-EB79-4465-9AD6-C0F2B20E4402}" srcOrd="0" destOrd="0" presId="urn:microsoft.com/office/officeart/2005/8/layout/vProcess5"/>
    <dgm:cxn modelId="{1E41B0FE-50C1-4C65-BF81-CF1C753C2E53}" srcId="{57485F9D-8C88-49AC-A251-A1C9F04F4A0E}" destId="{70A0DEC3-4DE3-4164-9C6E-190ED1BBA9EA}" srcOrd="0" destOrd="0" parTransId="{DC089115-6DCF-40F6-8A20-657ACEC4A60E}" sibTransId="{A0D85045-DDFE-4AF7-8112-EC85E97232CF}"/>
    <dgm:cxn modelId="{F5BE37BE-BE4D-4A7D-B699-097BE87CCA97}" type="presParOf" srcId="{6BCC0645-EB79-4465-9AD6-C0F2B20E4402}" destId="{018C64D2-FB85-4A2C-A3D1-C83E004B9880}" srcOrd="0" destOrd="0" presId="urn:microsoft.com/office/officeart/2005/8/layout/vProcess5"/>
    <dgm:cxn modelId="{E8DB483A-5574-4033-8EA0-D6F937A277F9}" type="presParOf" srcId="{6BCC0645-EB79-4465-9AD6-C0F2B20E4402}" destId="{CD752FDF-1A15-45A2-9053-A4E9DF357AF8}" srcOrd="1" destOrd="0" presId="urn:microsoft.com/office/officeart/2005/8/layout/vProcess5"/>
    <dgm:cxn modelId="{6F0304CE-824B-4BD3-BDFA-AFCBDEBE9DF0}" type="presParOf" srcId="{6BCC0645-EB79-4465-9AD6-C0F2B20E4402}" destId="{1E315D30-DEB0-4AD7-82F2-A9A08E98CE89}" srcOrd="2" destOrd="0" presId="urn:microsoft.com/office/officeart/2005/8/layout/vProcess5"/>
    <dgm:cxn modelId="{D6BA0EED-43A3-496D-AC8C-922430D5B643}" type="presParOf" srcId="{6BCC0645-EB79-4465-9AD6-C0F2B20E4402}" destId="{572C4715-F8D3-4E49-83C1-F77C5941E1EB}" srcOrd="3" destOrd="0" presId="urn:microsoft.com/office/officeart/2005/8/layout/vProcess5"/>
    <dgm:cxn modelId="{DB8902D1-2898-4E40-AA1B-4B36D5DE6D43}" type="presParOf" srcId="{6BCC0645-EB79-4465-9AD6-C0F2B20E4402}" destId="{7C261AE5-87E5-4E33-A47E-8FD0C221C7FE}" srcOrd="4" destOrd="0" presId="urn:microsoft.com/office/officeart/2005/8/layout/vProcess5"/>
    <dgm:cxn modelId="{16ED866D-7A10-41DE-9C9D-EE64173C4805}" type="presParOf" srcId="{6BCC0645-EB79-4465-9AD6-C0F2B20E4402}" destId="{6193C431-55A3-4F6F-89AB-735EBFA1E797}" srcOrd="5" destOrd="0" presId="urn:microsoft.com/office/officeart/2005/8/layout/vProcess5"/>
    <dgm:cxn modelId="{FCD9B371-AC37-419D-A827-09E54E8925C0}" type="presParOf" srcId="{6BCC0645-EB79-4465-9AD6-C0F2B20E4402}" destId="{260E1A3F-46B7-430F-B4D6-EFE532601CA9}" srcOrd="6" destOrd="0" presId="urn:microsoft.com/office/officeart/2005/8/layout/vProcess5"/>
    <dgm:cxn modelId="{94DEB38E-546C-4E92-A83A-63CC11F84E58}" type="presParOf" srcId="{6BCC0645-EB79-4465-9AD6-C0F2B20E4402}" destId="{9103324F-6450-45C6-8121-AF53A058A960}" srcOrd="7" destOrd="0" presId="urn:microsoft.com/office/officeart/2005/8/layout/vProcess5"/>
    <dgm:cxn modelId="{EB5D8FDD-3F51-4470-BECF-2E1A37E1C82C}" type="presParOf" srcId="{6BCC0645-EB79-4465-9AD6-C0F2B20E4402}" destId="{A2289BD6-A604-4E49-87ED-497AB736475D}" srcOrd="8" destOrd="0" presId="urn:microsoft.com/office/officeart/2005/8/layout/vProcess5"/>
    <dgm:cxn modelId="{22B1329F-467E-4204-AC37-7330B4A01C1D}" type="presParOf" srcId="{6BCC0645-EB79-4465-9AD6-C0F2B20E4402}" destId="{2C84FB0C-1028-4374-AF2F-40B330398BE7}" srcOrd="9" destOrd="0" presId="urn:microsoft.com/office/officeart/2005/8/layout/vProcess5"/>
    <dgm:cxn modelId="{9D9A07B1-B72F-4F8A-BF90-87CF8CDBE7F1}" type="presParOf" srcId="{6BCC0645-EB79-4465-9AD6-C0F2B20E4402}" destId="{AD4F4DF3-CDE5-43CF-A8B7-744198EE8F32}" srcOrd="10" destOrd="0" presId="urn:microsoft.com/office/officeart/2005/8/layout/vProcess5"/>
    <dgm:cxn modelId="{7927584E-6693-4D44-AB81-9B61C0B6431C}" type="presParOf" srcId="{6BCC0645-EB79-4465-9AD6-C0F2B20E4402}" destId="{C4AF95AF-5403-4883-A5C1-C14DE9A4D17D}" srcOrd="11" destOrd="0" presId="urn:microsoft.com/office/officeart/2005/8/layout/vProcess5"/>
    <dgm:cxn modelId="{69AB8DB0-9280-45BE-946A-684F41273CCB}" type="presParOf" srcId="{6BCC0645-EB79-4465-9AD6-C0F2B20E4402}" destId="{965DCE0D-5812-40B3-A8E1-D5E05E69C562}" srcOrd="12" destOrd="0" presId="urn:microsoft.com/office/officeart/2005/8/layout/vProcess5"/>
    <dgm:cxn modelId="{D894A1AA-F38F-419B-8C27-5EACA25A066A}" type="presParOf" srcId="{6BCC0645-EB79-4465-9AD6-C0F2B20E4402}" destId="{1588016F-7A39-4413-B2F4-8F68733E7E9E}" srcOrd="13" destOrd="0" presId="urn:microsoft.com/office/officeart/2005/8/layout/vProcess5"/>
    <dgm:cxn modelId="{E78F9465-90FC-40BE-8330-F5B4BD3FB1B4}" type="presParOf" srcId="{6BCC0645-EB79-4465-9AD6-C0F2B20E4402}" destId="{93973B98-DBED-4A8B-8A72-2BF480B062E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52FDF-1A15-45A2-9053-A4E9DF357AF8}">
      <dsp:nvSpPr>
        <dsp:cNvPr id="0" name=""/>
        <dsp:cNvSpPr/>
      </dsp:nvSpPr>
      <dsp:spPr>
        <a:xfrm>
          <a:off x="0" y="0"/>
          <a:ext cx="8225450" cy="565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following description explains the basic steps used in the process of fabrication.  (Only for Silicon Substrate)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551" y="16551"/>
        <a:ext cx="7549572" cy="531975"/>
      </dsp:txXfrm>
    </dsp:sp>
    <dsp:sp modelId="{1E315D30-DEB0-4AD7-82F2-A9A08E98CE89}">
      <dsp:nvSpPr>
        <dsp:cNvPr id="0" name=""/>
        <dsp:cNvSpPr/>
      </dsp:nvSpPr>
      <dsp:spPr>
        <a:xfrm>
          <a:off x="614238" y="643560"/>
          <a:ext cx="8225450" cy="565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(a) The fabrication process starts with the oxidation of the silicon substrate. </a:t>
          </a: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is shown in the Figure 1.9 (a). 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0789" y="660111"/>
        <a:ext cx="7210809" cy="531975"/>
      </dsp:txXfrm>
    </dsp:sp>
    <dsp:sp modelId="{572C4715-F8D3-4E49-83C1-F77C5941E1EB}">
      <dsp:nvSpPr>
        <dsp:cNvPr id="0" name=""/>
        <dsp:cNvSpPr/>
      </dsp:nvSpPr>
      <dsp:spPr>
        <a:xfrm>
          <a:off x="1228476" y="1287121"/>
          <a:ext cx="8225450" cy="565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(b) A relatively thick silicon dioxide layer, also called field oxide, is created on the surface of the substrate. 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is shown in the Figure 1.9 (b). 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45027" y="1303672"/>
        <a:ext cx="7210809" cy="531975"/>
      </dsp:txXfrm>
    </dsp:sp>
    <dsp:sp modelId="{7C261AE5-87E5-4E33-A47E-8FD0C221C7FE}">
      <dsp:nvSpPr>
        <dsp:cNvPr id="0" name=""/>
        <dsp:cNvSpPr/>
      </dsp:nvSpPr>
      <dsp:spPr>
        <a:xfrm>
          <a:off x="1842714" y="1930682"/>
          <a:ext cx="8225450" cy="565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(c) Then, the field oxide is selectively etched to expose the silicon surface on which the MOS transistor will be created. </a:t>
          </a:r>
          <a:r>
            <a:rPr lang="en-IN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is indicated in the Figure 1.9 (c). 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59265" y="1947233"/>
        <a:ext cx="7210809" cy="531975"/>
      </dsp:txXfrm>
    </dsp:sp>
    <dsp:sp modelId="{6193C431-55A3-4F6F-89AB-735EBFA1E797}">
      <dsp:nvSpPr>
        <dsp:cNvPr id="0" name=""/>
        <dsp:cNvSpPr/>
      </dsp:nvSpPr>
      <dsp:spPr>
        <a:xfrm>
          <a:off x="2456952" y="2574243"/>
          <a:ext cx="8225450" cy="565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(d) This is followed by covering the surface of substrate with a thin, high-quality oxide layer, which will eventually form the gate oxide of the MOS transistor </a:t>
          </a: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 illustrated in Figure 1.9 (d).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73503" y="2590794"/>
        <a:ext cx="7210809" cy="531975"/>
      </dsp:txXfrm>
    </dsp:sp>
    <dsp:sp modelId="{260E1A3F-46B7-430F-B4D6-EFE532601CA9}">
      <dsp:nvSpPr>
        <dsp:cNvPr id="0" name=""/>
        <dsp:cNvSpPr/>
      </dsp:nvSpPr>
      <dsp:spPr>
        <a:xfrm>
          <a:off x="7858149" y="412820"/>
          <a:ext cx="367300" cy="367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940791" y="412820"/>
        <a:ext cx="202016" cy="276393"/>
      </dsp:txXfrm>
    </dsp:sp>
    <dsp:sp modelId="{9103324F-6450-45C6-8121-AF53A058A960}">
      <dsp:nvSpPr>
        <dsp:cNvPr id="0" name=""/>
        <dsp:cNvSpPr/>
      </dsp:nvSpPr>
      <dsp:spPr>
        <a:xfrm>
          <a:off x="8472387" y="1056381"/>
          <a:ext cx="367300" cy="367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555029" y="1056381"/>
        <a:ext cx="202016" cy="276393"/>
      </dsp:txXfrm>
    </dsp:sp>
    <dsp:sp modelId="{A2289BD6-A604-4E49-87ED-497AB736475D}">
      <dsp:nvSpPr>
        <dsp:cNvPr id="0" name=""/>
        <dsp:cNvSpPr/>
      </dsp:nvSpPr>
      <dsp:spPr>
        <a:xfrm>
          <a:off x="9086626" y="1690524"/>
          <a:ext cx="367300" cy="367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169268" y="1690524"/>
        <a:ext cx="202016" cy="276393"/>
      </dsp:txXfrm>
    </dsp:sp>
    <dsp:sp modelId="{2C84FB0C-1028-4374-AF2F-40B330398BE7}">
      <dsp:nvSpPr>
        <dsp:cNvPr id="0" name=""/>
        <dsp:cNvSpPr/>
      </dsp:nvSpPr>
      <dsp:spPr>
        <a:xfrm>
          <a:off x="9700864" y="2340363"/>
          <a:ext cx="367300" cy="367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783506" y="2340363"/>
        <a:ext cx="202016" cy="276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11.png"/><Relationship Id="rId7" Type="http://schemas.openxmlformats.org/officeDocument/2006/relationships/diagramData" Target="../diagrams/data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microsoft.com/office/2007/relationships/diagramDrawing" Target="../diagrams/drawing1.xml"/><Relationship Id="rId5" Type="http://schemas.openxmlformats.org/officeDocument/2006/relationships/image" Target="../media/image13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12.png"/><Relationship Id="rId9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97972" y="16329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NMOS </a:t>
            </a:r>
            <a:r>
              <a:rPr lang="en-US" sz="3200" b="1" cap="all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Fabrication process</a:t>
            </a:r>
            <a:endParaRPr lang="en-US" sz="32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5899355" y="492137"/>
            <a:ext cx="5909187" cy="830956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5658320" y="492137"/>
            <a:ext cx="6410633" cy="83095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- 3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26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</a:t>
            </a:r>
            <a:r>
              <a:rPr lang="en-US" sz="1600" dirty="0">
                <a:latin typeface="Poppins"/>
                <a:cs typeface="Poppins"/>
              </a:rPr>
              <a:t>Fabrication Process and Their Various Steps.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the Fabrication Process of NMOS Transistor.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various steps of NMOS Fabrication steps..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890606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Fabrication Process of MOS Technology.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Step wise Fabrication process of NMOS..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all steps of NMOS Fabrication.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NMOS Fabrication Process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2" descr="Diagram&#10;&#10;Description automatically generated with low confidence">
            <a:extLst>
              <a:ext uri="{FF2B5EF4-FFF2-40B4-BE49-F238E27FC236}">
                <a16:creationId xmlns:a16="http://schemas.microsoft.com/office/drawing/2014/main" id="{F8391042-7F49-A60F-FF94-89214D807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957" y="4124058"/>
            <a:ext cx="3565043" cy="83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Diagram&#10;&#10;Description automatically generated with low confidence">
            <a:extLst>
              <a:ext uri="{FF2B5EF4-FFF2-40B4-BE49-F238E27FC236}">
                <a16:creationId xmlns:a16="http://schemas.microsoft.com/office/drawing/2014/main" id="{089E0820-004D-9041-F681-069F60023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38227"/>
            <a:ext cx="3286524" cy="827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71AD8EA-4F76-2A28-C7C5-CB3A927B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300" y="5075216"/>
            <a:ext cx="3318355" cy="1042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250921F4-07C4-9FB7-D69E-13125E772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372" y="5197965"/>
            <a:ext cx="3039836" cy="96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" name="TextBox 25">
            <a:extLst>
              <a:ext uri="{FF2B5EF4-FFF2-40B4-BE49-F238E27FC236}">
                <a16:creationId xmlns:a16="http://schemas.microsoft.com/office/drawing/2014/main" id="{848AA583-42FF-5164-1D9E-935D346070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9909105"/>
              </p:ext>
            </p:extLst>
          </p:nvPr>
        </p:nvGraphicFramePr>
        <p:xfrm>
          <a:off x="1139483" y="984738"/>
          <a:ext cx="10682403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9540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NMOS Fabrication Process (Continue..)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775688" y="1166842"/>
            <a:ext cx="633303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description explains the basic steps used in the process of fabrication.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On top of the thin oxide, a layer of polysilicon (polycrystalline silicon) is deposited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shown in the Figure 1.9 (e).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Polysilicon is used both as gate electrode material for MOS transistors and also as an interconnect medium in silicon integrated circuits.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Undoped polysilicon has relatively high resistivity. The resistivity of polysilicon can be reduced, however, by doping it with impurity atoms.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(f) After deposition, the polysilicon layer is patterned and etched to form the interconnects and the MOS transistor gates.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shown in Figure 1.9 (f). 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The thin gate oxide not covered by polysilicon is also etched along, which exposes the bare silicon surface on which the source and drain junctions are to be formed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(Figure 1.9 (g)).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66A0E-B558-0CAE-F4E6-54A06F53B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137" y="1166842"/>
            <a:ext cx="40671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CD3B8CAA-F91A-C99E-23E7-7872F7671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008" y="2762250"/>
            <a:ext cx="3883001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91812424-CA08-066D-9224-E8BB9DF92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661" y="4407974"/>
            <a:ext cx="43719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02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9540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NMOS Fabrication Process (Continue..)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1371609" y="845639"/>
            <a:ext cx="104053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 The entire silicon surface is then doped with high concentration of impurities, either through diffusion or ion implantation (in this case with donor atoms to produce n-type doping).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is achieved by heating the wafer to a high temperature and passing the gas containing desired impurities over the surface.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1.9 (h)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that the doping penetrates the exposed areas on the silicon surface,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 creating two n-type regions (source and drain junctions) in the p-type substrate.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impurity doping also penetrates the polysilicon on the surface, reducing its resistivity.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Once the source and drain regions are completed, the entire surface is again covered with an insulating layer of silicon dioxide,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Figure 1.9 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(j) The insulating oxide layer is then patterned in order to provide contact windows for the drain and source junctions, as illustrated in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1.9 (j). 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58C255C-77F2-3D9D-4F5C-94B39828C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625" y="3637595"/>
            <a:ext cx="3943350" cy="108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790D4C6-DF58-6146-FC86-A9ECC8CA8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493" y="4779449"/>
            <a:ext cx="9001125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62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9540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NMOS Fabrication Process (On </a:t>
            </a:r>
            <a:r>
              <a:rPr lang="en-US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GaN</a:t>
            </a:r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Substrate)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1371609" y="845639"/>
            <a:ext cx="104053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fabrication of the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-MOSFET structure with the implantation technique starts with the 500 nm-thick homoepitaxial Mg-doped p-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 × 10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cm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−3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layer grown by MOCVD on a free standing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substrate consisting of a thin unintentionally doped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(UID-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high-resistance insulation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substrate, as shown in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1.9 (a).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SiO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hard mask is deposited on the top of the free standing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structure using the plasma enhanced </a:t>
            </a:r>
            <a:r>
              <a:rPr lang="en-US" sz="16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chemical vapor deposition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(PECVD) with tetraethyl orthosilicate and oxygen. Subsequently, mesa structures are defined using the conventional lithography and wet etching of the SiO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hard mask. The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mesa-insulation regions are formed using Cl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/BCl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reactive-ion etching, as shown in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Figure 1.9 (b).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SiO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hard mask is removed using the buffered hydrofluoric (BHF) acid. Subsequently, the source and drain (S/D) regions are implanted with Si atoms at room temperature with 10 nm-thick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SiO</a:t>
            </a:r>
            <a:r>
              <a:rPr lang="en-US" sz="1600" b="0" i="0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0" i="0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photoresist protection layer on the gate regions, as shown in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Figure 1.9 (c).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Materials | Free Full-Text | Fabrication and Evaluation of N-Channel GaN  Metal–Oxide–Semiconductor Field-Effect Transistors Based on Regrown and  Implantation Methods | HTML">
            <a:extLst>
              <a:ext uri="{FF2B5EF4-FFF2-40B4-BE49-F238E27FC236}">
                <a16:creationId xmlns:a16="http://schemas.microsoft.com/office/drawing/2014/main" id="{3559F918-C651-AE65-8538-61E4DED5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842" y="3457817"/>
            <a:ext cx="6159428" cy="272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4B477-FB61-0FDC-DB33-2B0123A0C855}"/>
              </a:ext>
            </a:extLst>
          </p:cNvPr>
          <p:cNvSpPr txBox="1"/>
          <p:nvPr/>
        </p:nvSpPr>
        <p:spPr>
          <a:xfrm>
            <a:off x="718457" y="6259828"/>
            <a:ext cx="11283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1.9: Fabrication process of the gallium nitride-metal-oxide field-effect transistors (</a:t>
            </a:r>
            <a:r>
              <a:rPr lang="en-IN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-MOSFETs) fabricated using the implantation technique. (</a:t>
            </a: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p-</a:t>
            </a:r>
            <a:r>
              <a:rPr lang="en-IN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grown on a free standing </a:t>
            </a:r>
            <a:r>
              <a:rPr lang="en-IN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substrate, (</a:t>
            </a: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mesa structure, (</a:t>
            </a: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implantation of Si atoms, (</a:t>
            </a: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Al</a:t>
            </a:r>
            <a:r>
              <a:rPr lang="en-IN" sz="12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2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deposition, (</a:t>
            </a: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contact deposition and annealing.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0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2884463" y="111909"/>
            <a:ext cx="7711418" cy="58356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NMOS Fabrication Process (On </a:t>
            </a:r>
            <a:r>
              <a:rPr lang="en-US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GaN</a:t>
            </a:r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Substrate) (Conti…)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1371609" y="845639"/>
            <a:ext cx="104053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implantation energy is 15 keV and the dose implantation is 10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cm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−2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rapid thermal annealing (RTA) in the N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atmosphere at 1000 °C is used to activate the dopants after the implantation. For the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-MOSFET structure fabricated by the regrowth method, the fabrication process is based on the n-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(3 × 10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cm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−3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as shown in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1.10 (a)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mesa-insulation regions and n-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layer on the gate-body region are etched using the reactive-ion etching with Cl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/BCl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gas mixture, as shown in 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1.10 (b) </a:t>
            </a:r>
            <a:r>
              <a:rPr lang="en-US" sz="1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sample is immerged in the tetramethyl ammonium hydroxide (TMAH) with 10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at 70 °C in 5 min to etch the damaged n-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vertical side because of the reactive-ion etching. Subsequently, 200 nm-thick Mg-doped p-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 × 10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cm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−3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is selectively regrown on the gate region. The regrown p-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layer is formed using trimethylgallium (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TMGa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bis (cyclopentadienyl) magnesium (Cp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Mg), and NH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as precursors at 950 °C. 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4B477-FB61-0FDC-DB33-2B0123A0C855}"/>
              </a:ext>
            </a:extLst>
          </p:cNvPr>
          <p:cNvSpPr txBox="1"/>
          <p:nvPr/>
        </p:nvSpPr>
        <p:spPr>
          <a:xfrm>
            <a:off x="734786" y="6112867"/>
            <a:ext cx="112830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1.10: 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Fabrication process of the gallium nitride-metal-oxide field-effect transistors (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-MOSFETs) fabricated using the regrowth method.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n-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grown on a free standing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substrate,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mesa structure,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etching n-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layer on the gate-body region,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regrowth of p-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Al</a:t>
            </a:r>
            <a:r>
              <a:rPr lang="en-US" sz="1200" b="0" i="0" baseline="-25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200" b="0" i="0" baseline="-25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deposition,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contact deposition and annealing,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the top view of the fabricated MOSFETs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4" name="Picture 6" descr="Materials 13 00899 g002">
            <a:extLst>
              <a:ext uri="{FF2B5EF4-FFF2-40B4-BE49-F238E27FC236}">
                <a16:creationId xmlns:a16="http://schemas.microsoft.com/office/drawing/2014/main" id="{C43F551A-E52E-20A7-8A06-76159379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555" y="3400184"/>
            <a:ext cx="4184890" cy="263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14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2884463" y="111909"/>
            <a:ext cx="7711418" cy="58356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NMOS Fabrication Process (On </a:t>
            </a:r>
            <a:r>
              <a:rPr lang="en-US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GaN</a:t>
            </a:r>
            <a:r>
              <a:rPr lang="en-US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Substrate) (Conti…)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979714" y="845639"/>
            <a:ext cx="1079727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growth is performed with the NH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flux of 10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slm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TMGa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flux of 20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sccm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An ozone oxidation at 300 °C is used to form the sacrificial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GaO</a:t>
            </a:r>
            <a:r>
              <a:rPr lang="en-US" sz="1600" b="0" i="0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damaged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layer, which is subsequently removed using BHF acid. The treatment of forming and removing the sacrificial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GaO</a:t>
            </a:r>
            <a:r>
              <a:rPr lang="en-US" sz="1600" b="0" i="0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layer is repeated two times and re-cleaned using diluted hydrofluoric (DHF) acid and HCl acid with the concentration of 0.8 M (mole/litter). The 28 nm-thick Al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thin film as a dielectric is deposited using PEALD with trimethylaluminum and oxygen plasma, as shown in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1.9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1.10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previous studies, the Al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thin film transforms from amorphous to crystalline phase at over 800 °C. Therefore, Al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dielectric is annealed at 700 °C in a nitrogen (N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ambience for 1 minute using the rapid temperature annealing (RTA) technique. The electron beam evaporation and conventional wet etching methods are used to form the Ni gate electrodes. The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/Al stack structure is formed on the S/D regions by the lift-off technique and subsequently treated with the metallization annealing (PMA) at 600 °C in a N</a:t>
            </a:r>
            <a:r>
              <a:rPr lang="en-US" sz="1600" b="0" i="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ambience to obtain the ohmic contact, as shown in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1.9 (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1.10 (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top view of the fabricated MOSFETs is shown in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1.10 (f)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4B477-FB61-0FDC-DB33-2B0123A0C855}"/>
              </a:ext>
            </a:extLst>
          </p:cNvPr>
          <p:cNvSpPr txBox="1"/>
          <p:nvPr/>
        </p:nvSpPr>
        <p:spPr>
          <a:xfrm>
            <a:off x="734786" y="6112867"/>
            <a:ext cx="112830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1.10: 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Fabrication process of the gallium nitride-metal-oxide field-effect transistors (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-MOSFETs) fabricated using the regrowth method.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n-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grown on a free standing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substrate,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mesa structure,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etching n-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layer on the gate-body region,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regrowth of p-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Al</a:t>
            </a:r>
            <a:r>
              <a:rPr lang="en-US" sz="1200" b="0" i="0" baseline="-25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200" b="0" i="0" baseline="-25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deposition,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contact deposition and annealing, (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the top view of the fabricated MOSFETs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4" name="Picture 6" descr="Materials 13 00899 g002">
            <a:extLst>
              <a:ext uri="{FF2B5EF4-FFF2-40B4-BE49-F238E27FC236}">
                <a16:creationId xmlns:a16="http://schemas.microsoft.com/office/drawing/2014/main" id="{C43F551A-E52E-20A7-8A06-76159379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554" y="3646406"/>
            <a:ext cx="3916643" cy="246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02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2792186" y="93980"/>
            <a:ext cx="6676279" cy="90891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 of Fab Lab for Process Engineering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28" name="Picture 4" descr="Semiconductor device fabrication - Wikipedia">
            <a:extLst>
              <a:ext uri="{FF2B5EF4-FFF2-40B4-BE49-F238E27FC236}">
                <a16:creationId xmlns:a16="http://schemas.microsoft.com/office/drawing/2014/main" id="{CFD672A4-E281-05B9-6C17-B16DB6070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639" y="1070305"/>
            <a:ext cx="7325405" cy="567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52732" y="1255186"/>
            <a:ext cx="100865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Engineering dived in various steps: 1. Substrate Selection, 2. Well Diffusion 3. Oxide Layer Deposition, 4. Metal Deposition (Electrode Formation).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different substrate for device fabrication. Every substrate has their own pros and cons. Such as Silicon substrate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Substrate.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Hierarchy of technology CAD tools building from the process level to circuits. Left side icons show typical manufacturing issues; right side icons reflect MOS scaling results based on TCAD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F7E550F7-EA1B-7480-44A3-9CA0C813E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292" y="2582633"/>
            <a:ext cx="6341442" cy="336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1. What is main aspect fabrication design.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Design 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simulation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Substrate Selection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Above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What is the effect of high K Oxide on Device Fabrication.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455814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Oxide thickness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Length.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Diffusion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Above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111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Describe the various step of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fabrication process.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Discuss the importance of substrate selection in Process Engineering.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Sung-Mo Kong, Yusuf </a:t>
            </a:r>
            <a:r>
              <a:rPr lang="en-US" dirty="0" err="1"/>
              <a:t>Leblebici</a:t>
            </a:r>
            <a:r>
              <a:rPr lang="en-US" dirty="0"/>
              <a:t>, “CMOS Digital Integrated Circuits Analysis and Design” Third Edition.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  <a:r>
              <a:rPr lang="en-US" dirty="0" err="1"/>
              <a:t>Debaprasad</a:t>
            </a:r>
            <a:r>
              <a:rPr lang="en-US" dirty="0"/>
              <a:t> Das, “CMOS DESIGN” Second Edition.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</TotalTime>
  <Words>1693</Words>
  <Application>Microsoft Office PowerPoint</Application>
  <PresentationFormat>Widescreen</PresentationFormat>
  <Paragraphs>103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Dr.Ashish Kumar</cp:lastModifiedBy>
  <cp:revision>41</cp:revision>
  <dcterms:created xsi:type="dcterms:W3CDTF">2020-02-08T09:57:44Z</dcterms:created>
  <dcterms:modified xsi:type="dcterms:W3CDTF">2022-11-17T07:13:52Z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