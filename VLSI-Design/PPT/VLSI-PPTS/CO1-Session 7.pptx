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71" r:id="rId5"/>
    <p:sldId id="300" r:id="rId6"/>
    <p:sldId id="398" r:id="rId7"/>
    <p:sldId id="345" r:id="rId8"/>
    <p:sldId id="369" r:id="rId9"/>
    <p:sldId id="364" r:id="rId10"/>
    <p:sldId id="365" r:id="rId11"/>
    <p:sldId id="366" r:id="rId12"/>
    <p:sldId id="348" r:id="rId13"/>
    <p:sldId id="349" r:id="rId14"/>
    <p:sldId id="372" r:id="rId15"/>
    <p:sldId id="301" r:id="rId16"/>
    <p:sldId id="302" r:id="rId17"/>
    <p:sldId id="303" r:id="rId18"/>
    <p:sldId id="30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9E4C"/>
    <a:srgbClr val="E3293B"/>
    <a:srgbClr val="FF9900"/>
    <a:srgbClr val="E84845"/>
    <a:srgbClr val="FAD2D2"/>
    <a:srgbClr val="A81E24"/>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39" d="100"/>
          <a:sy n="39" d="100"/>
        </p:scale>
        <p:origin x="60" y="6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26C740-D2C9-45F8-8987-2175FDDBFA9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4612CB9-89D1-42EC-B9C5-D32688EB239C}">
      <dgm:prSet phldrT="[Text]" custT="1"/>
      <dgm:spPr/>
      <dgm:t>
        <a:bodyPr/>
        <a:lstStyle/>
        <a:p>
          <a:pPr algn="just"/>
          <a:r>
            <a:rPr lang="en-US" sz="2400" b="1" dirty="0">
              <a:latin typeface="Times New Roman" panose="02020603050405020304" pitchFamily="18" charset="0"/>
              <a:cs typeface="Times New Roman" panose="02020603050405020304" pitchFamily="18" charset="0"/>
            </a:rPr>
            <a:t>We observed in the previous section that if </a:t>
          </a:r>
          <a:r>
            <a:rPr lang="en-US" sz="2400" b="1" dirty="0">
              <a:solidFill>
                <a:srgbClr val="FF0000"/>
              </a:solidFill>
              <a:latin typeface="Times New Roman" panose="02020603050405020304" pitchFamily="18" charset="0"/>
              <a:cs typeface="Times New Roman" panose="02020603050405020304" pitchFamily="18" charset="0"/>
            </a:rPr>
            <a:t>channel length is small compared to the depletion regions</a:t>
          </a:r>
          <a:r>
            <a:rPr lang="en-US" sz="2400" b="1" dirty="0">
              <a:latin typeface="Times New Roman" panose="02020603050405020304" pitchFamily="18" charset="0"/>
              <a:cs typeface="Times New Roman" panose="02020603050405020304" pitchFamily="18" charset="0"/>
            </a:rPr>
            <a:t>, short channel effects become intolerable. This limits the further reduction achievable in gate length. </a:t>
          </a:r>
          <a:endParaRPr lang="en-US" sz="2400" dirty="0">
            <a:latin typeface="Times New Roman" panose="02020603050405020304" pitchFamily="18" charset="0"/>
            <a:cs typeface="Times New Roman" panose="02020603050405020304" pitchFamily="18" charset="0"/>
          </a:endParaRPr>
        </a:p>
      </dgm:t>
    </dgm:pt>
    <dgm:pt modelId="{AEB9357D-0517-4D13-914B-0A8345BFE0CC}" type="parTrans" cxnId="{56E1CD28-F2BD-403C-BE81-0BCC36510396}">
      <dgm:prSet/>
      <dgm:spPr/>
      <dgm:t>
        <a:bodyPr/>
        <a:lstStyle/>
        <a:p>
          <a:endParaRPr lang="en-US"/>
        </a:p>
      </dgm:t>
    </dgm:pt>
    <dgm:pt modelId="{34B8F3E1-3994-43B7-9B9B-8ADB353670F3}" type="sibTrans" cxnId="{56E1CD28-F2BD-403C-BE81-0BCC36510396}">
      <dgm:prSet/>
      <dgm:spPr/>
      <dgm:t>
        <a:bodyPr/>
        <a:lstStyle/>
        <a:p>
          <a:endParaRPr lang="en-US"/>
        </a:p>
      </dgm:t>
    </dgm:pt>
    <dgm:pt modelId="{273D6861-B56D-43B3-824D-EA1D4E40DCFF}">
      <dgm:prSet phldrT="[Text]" custT="1"/>
      <dgm:spPr/>
      <dgm:t>
        <a:bodyPr/>
        <a:lstStyle/>
        <a:p>
          <a:pPr algn="just"/>
          <a:r>
            <a:rPr lang="en-US" sz="2400" dirty="0"/>
            <a:t>----------------------------</a:t>
          </a:r>
        </a:p>
      </dgm:t>
    </dgm:pt>
    <dgm:pt modelId="{7B2B2DD4-F63D-44DC-9166-A5D97789610D}" type="parTrans" cxnId="{A1E20090-5B0B-47CD-9592-9318E579FD99}">
      <dgm:prSet/>
      <dgm:spPr/>
      <dgm:t>
        <a:bodyPr/>
        <a:lstStyle/>
        <a:p>
          <a:endParaRPr lang="en-US"/>
        </a:p>
      </dgm:t>
    </dgm:pt>
    <dgm:pt modelId="{46DDC622-331B-40FE-AA42-A2290009E335}" type="sibTrans" cxnId="{A1E20090-5B0B-47CD-9592-9318E579FD99}">
      <dgm:prSet/>
      <dgm:spPr/>
      <dgm:t>
        <a:bodyPr/>
        <a:lstStyle/>
        <a:p>
          <a:endParaRPr lang="en-US"/>
        </a:p>
      </dgm:t>
    </dgm:pt>
    <dgm:pt modelId="{3A5D0DB3-5378-44A1-8A26-6E4AF6805C24}">
      <dgm:prSet phldrT="[Text]" custT="1"/>
      <dgm:spPr/>
      <dgm:t>
        <a:bodyPr/>
        <a:lstStyle/>
        <a:p>
          <a:pPr algn="just"/>
          <a:r>
            <a:rPr lang="en-US" sz="2400" b="1" dirty="0">
              <a:latin typeface="Times New Roman" panose="02020603050405020304" pitchFamily="18" charset="0"/>
              <a:cs typeface="Times New Roman" panose="02020603050405020304" pitchFamily="18" charset="0"/>
            </a:rPr>
            <a:t>To limit these effects, the </a:t>
          </a:r>
          <a:r>
            <a:rPr lang="en-US" sz="2400" b="1" dirty="0">
              <a:solidFill>
                <a:srgbClr val="FF0000"/>
              </a:solidFill>
              <a:latin typeface="Times New Roman" panose="02020603050405020304" pitchFamily="18" charset="0"/>
              <a:cs typeface="Times New Roman" panose="02020603050405020304" pitchFamily="18" charset="0"/>
            </a:rPr>
            <a:t>depletion region width should be reduced with corresponding reduction in channel leng</a:t>
          </a:r>
          <a:r>
            <a:rPr lang="en-US" sz="2400" b="1" dirty="0">
              <a:latin typeface="Times New Roman" panose="02020603050405020304" pitchFamily="18" charset="0"/>
              <a:cs typeface="Times New Roman" panose="02020603050405020304" pitchFamily="18" charset="0"/>
            </a:rPr>
            <a:t>th. </a:t>
          </a:r>
          <a:endParaRPr lang="en-US" sz="2400" dirty="0">
            <a:latin typeface="Times New Roman" panose="02020603050405020304" pitchFamily="18" charset="0"/>
            <a:cs typeface="Times New Roman" panose="02020603050405020304" pitchFamily="18" charset="0"/>
          </a:endParaRPr>
        </a:p>
      </dgm:t>
    </dgm:pt>
    <dgm:pt modelId="{0F99A8CE-5C43-47C4-B9E8-133CAB25FCE1}" type="parTrans" cxnId="{645E4B71-1D73-4277-9E8F-F8BDD35876A8}">
      <dgm:prSet/>
      <dgm:spPr/>
      <dgm:t>
        <a:bodyPr/>
        <a:lstStyle/>
        <a:p>
          <a:endParaRPr lang="en-US"/>
        </a:p>
      </dgm:t>
    </dgm:pt>
    <dgm:pt modelId="{BCA30890-BBF3-43B3-B85C-F1E26E900F3C}" type="sibTrans" cxnId="{645E4B71-1D73-4277-9E8F-F8BDD35876A8}">
      <dgm:prSet/>
      <dgm:spPr/>
      <dgm:t>
        <a:bodyPr/>
        <a:lstStyle/>
        <a:p>
          <a:endParaRPr lang="en-US"/>
        </a:p>
      </dgm:t>
    </dgm:pt>
    <dgm:pt modelId="{71E42899-9FD8-42D9-8834-77945279DB6D}">
      <dgm:prSet phldrT="[Text]" custT="1"/>
      <dgm:spPr/>
      <dgm:t>
        <a:bodyPr/>
        <a:lstStyle/>
        <a:p>
          <a:pPr algn="just"/>
          <a:r>
            <a:rPr lang="en-US" sz="2400" dirty="0"/>
            <a:t>-----------------------------------------</a:t>
          </a:r>
        </a:p>
      </dgm:t>
    </dgm:pt>
    <dgm:pt modelId="{8071303C-4E8D-4F96-8D5F-4CB91CEB0B3F}" type="parTrans" cxnId="{9B8B6519-B924-4135-A332-E557C7A0C90A}">
      <dgm:prSet/>
      <dgm:spPr/>
      <dgm:t>
        <a:bodyPr/>
        <a:lstStyle/>
        <a:p>
          <a:endParaRPr lang="en-US"/>
        </a:p>
      </dgm:t>
    </dgm:pt>
    <dgm:pt modelId="{30FEAFBC-77BC-4EA6-90F1-74D071DF4E07}" type="sibTrans" cxnId="{9B8B6519-B924-4135-A332-E557C7A0C90A}">
      <dgm:prSet/>
      <dgm:spPr/>
      <dgm:t>
        <a:bodyPr/>
        <a:lstStyle/>
        <a:p>
          <a:endParaRPr lang="en-US"/>
        </a:p>
      </dgm:t>
    </dgm:pt>
    <dgm:pt modelId="{B20DE581-1D07-48CA-B247-40015B92DEDE}">
      <dgm:prSet phldrT="[Text]" custT="1"/>
      <dgm:spPr/>
      <dgm:t>
        <a:bodyPr/>
        <a:lstStyle/>
        <a:p>
          <a:pPr algn="just"/>
          <a:r>
            <a:rPr lang="en-US" sz="2400" b="1" dirty="0">
              <a:solidFill>
                <a:schemeClr val="tx1"/>
              </a:solidFill>
              <a:latin typeface="Times New Roman" panose="02020603050405020304" pitchFamily="18" charset="0"/>
              <a:cs typeface="Times New Roman" panose="02020603050405020304" pitchFamily="18" charset="0"/>
            </a:rPr>
            <a:t>This can be achieved by either </a:t>
          </a:r>
          <a:r>
            <a:rPr lang="en-US" sz="2400" b="1" dirty="0">
              <a:solidFill>
                <a:srgbClr val="FF0000"/>
              </a:solidFill>
              <a:latin typeface="Times New Roman" panose="02020603050405020304" pitchFamily="18" charset="0"/>
              <a:cs typeface="Times New Roman" panose="02020603050405020304" pitchFamily="18" charset="0"/>
            </a:rPr>
            <a:t>increasing channel doping concentration or increasing gate capacitance, or both. </a:t>
          </a:r>
          <a:r>
            <a:rPr lang="en-US" sz="2400" b="1" dirty="0">
              <a:solidFill>
                <a:schemeClr val="tx1"/>
              </a:solidFill>
              <a:latin typeface="Times New Roman" panose="02020603050405020304" pitchFamily="18" charset="0"/>
              <a:cs typeface="Times New Roman" panose="02020603050405020304" pitchFamily="18" charset="0"/>
            </a:rPr>
            <a:t>Gate capacitance determines the gate’s control over the channel. </a:t>
          </a:r>
          <a:endParaRPr lang="en-US" sz="2400" dirty="0">
            <a:solidFill>
              <a:schemeClr val="tx1"/>
            </a:solidFill>
            <a:latin typeface="Times New Roman" panose="02020603050405020304" pitchFamily="18" charset="0"/>
            <a:cs typeface="Times New Roman" panose="02020603050405020304" pitchFamily="18" charset="0"/>
          </a:endParaRPr>
        </a:p>
      </dgm:t>
    </dgm:pt>
    <dgm:pt modelId="{A44FDB90-12EB-42BD-990F-DE5665BBB5C5}" type="parTrans" cxnId="{96D40C4F-CDB8-441B-8535-DA96CC4E58D0}">
      <dgm:prSet/>
      <dgm:spPr/>
      <dgm:t>
        <a:bodyPr/>
        <a:lstStyle/>
        <a:p>
          <a:endParaRPr lang="en-US"/>
        </a:p>
      </dgm:t>
    </dgm:pt>
    <dgm:pt modelId="{B32156D5-CF55-424F-8BB1-F6320A91C867}" type="sibTrans" cxnId="{96D40C4F-CDB8-441B-8535-DA96CC4E58D0}">
      <dgm:prSet/>
      <dgm:spPr/>
      <dgm:t>
        <a:bodyPr/>
        <a:lstStyle/>
        <a:p>
          <a:endParaRPr lang="en-US"/>
        </a:p>
      </dgm:t>
    </dgm:pt>
    <dgm:pt modelId="{39644787-C33D-4F51-A3CF-F61639E1BB1D}">
      <dgm:prSet phldrT="[Text]" custT="1"/>
      <dgm:spPr/>
      <dgm:t>
        <a:bodyPr/>
        <a:lstStyle/>
        <a:p>
          <a:pPr algn="just"/>
          <a:r>
            <a:rPr lang="en-US" sz="2400" dirty="0"/>
            <a:t>-----------------------</a:t>
          </a:r>
        </a:p>
      </dgm:t>
    </dgm:pt>
    <dgm:pt modelId="{7FADADB9-7892-472B-870C-559FE1215D62}" type="sibTrans" cxnId="{158C20AC-9E25-478C-9064-61ACF10E6526}">
      <dgm:prSet/>
      <dgm:spPr/>
      <dgm:t>
        <a:bodyPr/>
        <a:lstStyle/>
        <a:p>
          <a:endParaRPr lang="en-US"/>
        </a:p>
      </dgm:t>
    </dgm:pt>
    <dgm:pt modelId="{A3B2A855-60AF-4837-9999-E935B3DAFD7A}" type="parTrans" cxnId="{158C20AC-9E25-478C-9064-61ACF10E6526}">
      <dgm:prSet/>
      <dgm:spPr/>
      <dgm:t>
        <a:bodyPr/>
        <a:lstStyle/>
        <a:p>
          <a:endParaRPr lang="en-US"/>
        </a:p>
      </dgm:t>
    </dgm:pt>
    <dgm:pt modelId="{D43AFC93-DD33-4B07-BDBD-26DC3A40A405}" type="pres">
      <dgm:prSet presAssocID="{DE26C740-D2C9-45F8-8987-2175FDDBFA93}" presName="linear" presStyleCnt="0">
        <dgm:presLayoutVars>
          <dgm:dir/>
          <dgm:animLvl val="lvl"/>
          <dgm:resizeHandles val="exact"/>
        </dgm:presLayoutVars>
      </dgm:prSet>
      <dgm:spPr/>
    </dgm:pt>
    <dgm:pt modelId="{48135FD7-86E6-4675-8374-E79EDDAD45E6}" type="pres">
      <dgm:prSet presAssocID="{39644787-C33D-4F51-A3CF-F61639E1BB1D}" presName="parentLin" presStyleCnt="0"/>
      <dgm:spPr/>
    </dgm:pt>
    <dgm:pt modelId="{DB6D2DB3-3316-4453-B822-52EDB4818C61}" type="pres">
      <dgm:prSet presAssocID="{39644787-C33D-4F51-A3CF-F61639E1BB1D}" presName="parentLeftMargin" presStyleLbl="node1" presStyleIdx="0" presStyleCnt="3"/>
      <dgm:spPr/>
    </dgm:pt>
    <dgm:pt modelId="{43D989C6-57A6-4F15-8547-F3B5BFD0D9D4}" type="pres">
      <dgm:prSet presAssocID="{39644787-C33D-4F51-A3CF-F61639E1BB1D}" presName="parentText" presStyleLbl="node1" presStyleIdx="0" presStyleCnt="3" custLinFactNeighborX="76379" custLinFactNeighborY="81096">
        <dgm:presLayoutVars>
          <dgm:chMax val="0"/>
          <dgm:bulletEnabled val="1"/>
        </dgm:presLayoutVars>
      </dgm:prSet>
      <dgm:spPr/>
    </dgm:pt>
    <dgm:pt modelId="{EA8FF7BA-7770-418B-9D45-47B95755AB9B}" type="pres">
      <dgm:prSet presAssocID="{39644787-C33D-4F51-A3CF-F61639E1BB1D}" presName="negativeSpace" presStyleCnt="0"/>
      <dgm:spPr/>
    </dgm:pt>
    <dgm:pt modelId="{049AF4BF-FBF5-46AD-B494-E60C92053157}" type="pres">
      <dgm:prSet presAssocID="{39644787-C33D-4F51-A3CF-F61639E1BB1D}" presName="childText" presStyleLbl="conFgAcc1" presStyleIdx="0" presStyleCnt="3" custLinFactY="22216" custLinFactNeighborX="11875" custLinFactNeighborY="100000">
        <dgm:presLayoutVars>
          <dgm:bulletEnabled val="1"/>
        </dgm:presLayoutVars>
      </dgm:prSet>
      <dgm:spPr/>
    </dgm:pt>
    <dgm:pt modelId="{92824723-97AB-46C9-9341-48DCD729C0B2}" type="pres">
      <dgm:prSet presAssocID="{7FADADB9-7892-472B-870C-559FE1215D62}" presName="spaceBetweenRectangles" presStyleCnt="0"/>
      <dgm:spPr/>
    </dgm:pt>
    <dgm:pt modelId="{E52E3FD6-E3E6-477E-B38B-7BB3FBC74340}" type="pres">
      <dgm:prSet presAssocID="{273D6861-B56D-43B3-824D-EA1D4E40DCFF}" presName="parentLin" presStyleCnt="0"/>
      <dgm:spPr/>
    </dgm:pt>
    <dgm:pt modelId="{F6AC0777-260C-4269-A1A9-D6D78DA3A79A}" type="pres">
      <dgm:prSet presAssocID="{273D6861-B56D-43B3-824D-EA1D4E40DCFF}" presName="parentLeftMargin" presStyleLbl="node1" presStyleIdx="0" presStyleCnt="3"/>
      <dgm:spPr/>
    </dgm:pt>
    <dgm:pt modelId="{B2D1132B-A593-47E5-9E94-158F6A3EEB08}" type="pres">
      <dgm:prSet presAssocID="{273D6861-B56D-43B3-824D-EA1D4E40DCFF}" presName="parentText" presStyleLbl="node1" presStyleIdx="1" presStyleCnt="3" custLinFactNeighborX="11145" custLinFactNeighborY="58547">
        <dgm:presLayoutVars>
          <dgm:chMax val="0"/>
          <dgm:bulletEnabled val="1"/>
        </dgm:presLayoutVars>
      </dgm:prSet>
      <dgm:spPr/>
    </dgm:pt>
    <dgm:pt modelId="{328D3076-FA53-4FCA-8959-28500FB03199}" type="pres">
      <dgm:prSet presAssocID="{273D6861-B56D-43B3-824D-EA1D4E40DCFF}" presName="negativeSpace" presStyleCnt="0"/>
      <dgm:spPr/>
    </dgm:pt>
    <dgm:pt modelId="{FF2E16E5-0FC5-4415-8DED-76744920DCB3}" type="pres">
      <dgm:prSet presAssocID="{273D6861-B56D-43B3-824D-EA1D4E40DCFF}" presName="childText" presStyleLbl="conFgAcc1" presStyleIdx="1" presStyleCnt="3" custLinFactY="18402" custLinFactNeighborX="-1038" custLinFactNeighborY="100000">
        <dgm:presLayoutVars>
          <dgm:bulletEnabled val="1"/>
        </dgm:presLayoutVars>
      </dgm:prSet>
      <dgm:spPr/>
    </dgm:pt>
    <dgm:pt modelId="{33D4E2E6-E7A8-45BA-809B-167E6C605B9F}" type="pres">
      <dgm:prSet presAssocID="{46DDC622-331B-40FE-AA42-A2290009E335}" presName="spaceBetweenRectangles" presStyleCnt="0"/>
      <dgm:spPr/>
    </dgm:pt>
    <dgm:pt modelId="{0BC72E8C-04E1-42A2-A309-D5A50BE755CC}" type="pres">
      <dgm:prSet presAssocID="{71E42899-9FD8-42D9-8834-77945279DB6D}" presName="parentLin" presStyleCnt="0"/>
      <dgm:spPr/>
    </dgm:pt>
    <dgm:pt modelId="{F4CC30AA-9CD4-4242-AC3D-A9444035C5E9}" type="pres">
      <dgm:prSet presAssocID="{71E42899-9FD8-42D9-8834-77945279DB6D}" presName="parentLeftMargin" presStyleLbl="node1" presStyleIdx="1" presStyleCnt="3"/>
      <dgm:spPr/>
    </dgm:pt>
    <dgm:pt modelId="{6C8A24CC-8C9E-4151-9EBF-B056F0C30490}" type="pres">
      <dgm:prSet presAssocID="{71E42899-9FD8-42D9-8834-77945279DB6D}" presName="parentText" presStyleLbl="node1" presStyleIdx="2" presStyleCnt="3" custLinFactNeighborX="45038" custLinFactNeighborY="12993">
        <dgm:presLayoutVars>
          <dgm:chMax val="0"/>
          <dgm:bulletEnabled val="1"/>
        </dgm:presLayoutVars>
      </dgm:prSet>
      <dgm:spPr/>
    </dgm:pt>
    <dgm:pt modelId="{42234487-57DB-49AA-B135-D51CEDA1C618}" type="pres">
      <dgm:prSet presAssocID="{71E42899-9FD8-42D9-8834-77945279DB6D}" presName="negativeSpace" presStyleCnt="0"/>
      <dgm:spPr/>
    </dgm:pt>
    <dgm:pt modelId="{2B23CD90-85CD-4778-9CB0-257A25153EFA}" type="pres">
      <dgm:prSet presAssocID="{71E42899-9FD8-42D9-8834-77945279DB6D}" presName="childText" presStyleLbl="conFgAcc1" presStyleIdx="2" presStyleCnt="3" custLinFactY="28100" custLinFactNeighborX="11875" custLinFactNeighborY="100000">
        <dgm:presLayoutVars>
          <dgm:bulletEnabled val="1"/>
        </dgm:presLayoutVars>
      </dgm:prSet>
      <dgm:spPr/>
    </dgm:pt>
  </dgm:ptLst>
  <dgm:cxnLst>
    <dgm:cxn modelId="{9B8B6519-B924-4135-A332-E557C7A0C90A}" srcId="{DE26C740-D2C9-45F8-8987-2175FDDBFA93}" destId="{71E42899-9FD8-42D9-8834-77945279DB6D}" srcOrd="2" destOrd="0" parTransId="{8071303C-4E8D-4F96-8D5F-4CB91CEB0B3F}" sibTransId="{30FEAFBC-77BC-4EA6-90F1-74D071DF4E07}"/>
    <dgm:cxn modelId="{56E1CD28-F2BD-403C-BE81-0BCC36510396}" srcId="{39644787-C33D-4F51-A3CF-F61639E1BB1D}" destId="{A4612CB9-89D1-42EC-B9C5-D32688EB239C}" srcOrd="0" destOrd="0" parTransId="{AEB9357D-0517-4D13-914B-0A8345BFE0CC}" sibTransId="{34B8F3E1-3994-43B7-9B9B-8ADB353670F3}"/>
    <dgm:cxn modelId="{DE850833-8901-47C9-9B7C-FDB1DC13656B}" type="presOf" srcId="{71E42899-9FD8-42D9-8834-77945279DB6D}" destId="{6C8A24CC-8C9E-4151-9EBF-B056F0C30490}" srcOrd="1" destOrd="0" presId="urn:microsoft.com/office/officeart/2005/8/layout/list1"/>
    <dgm:cxn modelId="{EEDE0037-D82D-4E73-8EAE-F70B91437E1A}" type="presOf" srcId="{B20DE581-1D07-48CA-B247-40015B92DEDE}" destId="{2B23CD90-85CD-4778-9CB0-257A25153EFA}" srcOrd="0" destOrd="0" presId="urn:microsoft.com/office/officeart/2005/8/layout/list1"/>
    <dgm:cxn modelId="{96D40C4F-CDB8-441B-8535-DA96CC4E58D0}" srcId="{71E42899-9FD8-42D9-8834-77945279DB6D}" destId="{B20DE581-1D07-48CA-B247-40015B92DEDE}" srcOrd="0" destOrd="0" parTransId="{A44FDB90-12EB-42BD-990F-DE5665BBB5C5}" sibTransId="{B32156D5-CF55-424F-8BB1-F6320A91C867}"/>
    <dgm:cxn modelId="{44270B50-2F16-4BDD-BED7-1E7FC7870198}" type="presOf" srcId="{71E42899-9FD8-42D9-8834-77945279DB6D}" destId="{F4CC30AA-9CD4-4242-AC3D-A9444035C5E9}" srcOrd="0" destOrd="0" presId="urn:microsoft.com/office/officeart/2005/8/layout/list1"/>
    <dgm:cxn modelId="{645E4B71-1D73-4277-9E8F-F8BDD35876A8}" srcId="{273D6861-B56D-43B3-824D-EA1D4E40DCFF}" destId="{3A5D0DB3-5378-44A1-8A26-6E4AF6805C24}" srcOrd="0" destOrd="0" parTransId="{0F99A8CE-5C43-47C4-B9E8-133CAB25FCE1}" sibTransId="{BCA30890-BBF3-43B3-B85C-F1E26E900F3C}"/>
    <dgm:cxn modelId="{DA6D7354-DCA0-40A5-95C9-64E5B68406BA}" type="presOf" srcId="{39644787-C33D-4F51-A3CF-F61639E1BB1D}" destId="{DB6D2DB3-3316-4453-B822-52EDB4818C61}" srcOrd="0" destOrd="0" presId="urn:microsoft.com/office/officeart/2005/8/layout/list1"/>
    <dgm:cxn modelId="{5153DD84-0DD0-4660-96B8-A202A568C1D3}" type="presOf" srcId="{273D6861-B56D-43B3-824D-EA1D4E40DCFF}" destId="{B2D1132B-A593-47E5-9E94-158F6A3EEB08}" srcOrd="1" destOrd="0" presId="urn:microsoft.com/office/officeart/2005/8/layout/list1"/>
    <dgm:cxn modelId="{A1E20090-5B0B-47CD-9592-9318E579FD99}" srcId="{DE26C740-D2C9-45F8-8987-2175FDDBFA93}" destId="{273D6861-B56D-43B3-824D-EA1D4E40DCFF}" srcOrd="1" destOrd="0" parTransId="{7B2B2DD4-F63D-44DC-9166-A5D97789610D}" sibTransId="{46DDC622-331B-40FE-AA42-A2290009E335}"/>
    <dgm:cxn modelId="{18C6129A-73BF-4AE2-9A28-97E6304B425B}" type="presOf" srcId="{39644787-C33D-4F51-A3CF-F61639E1BB1D}" destId="{43D989C6-57A6-4F15-8547-F3B5BFD0D9D4}" srcOrd="1" destOrd="0" presId="urn:microsoft.com/office/officeart/2005/8/layout/list1"/>
    <dgm:cxn modelId="{158C20AC-9E25-478C-9064-61ACF10E6526}" srcId="{DE26C740-D2C9-45F8-8987-2175FDDBFA93}" destId="{39644787-C33D-4F51-A3CF-F61639E1BB1D}" srcOrd="0" destOrd="0" parTransId="{A3B2A855-60AF-4837-9999-E935B3DAFD7A}" sibTransId="{7FADADB9-7892-472B-870C-559FE1215D62}"/>
    <dgm:cxn modelId="{E2374FC3-BB3B-4186-A69A-588206EACD8F}" type="presOf" srcId="{273D6861-B56D-43B3-824D-EA1D4E40DCFF}" destId="{F6AC0777-260C-4269-A1A9-D6D78DA3A79A}" srcOrd="0" destOrd="0" presId="urn:microsoft.com/office/officeart/2005/8/layout/list1"/>
    <dgm:cxn modelId="{299CD4C9-4C5E-483A-8605-5B2589B958D9}" type="presOf" srcId="{3A5D0DB3-5378-44A1-8A26-6E4AF6805C24}" destId="{FF2E16E5-0FC5-4415-8DED-76744920DCB3}" srcOrd="0" destOrd="0" presId="urn:microsoft.com/office/officeart/2005/8/layout/list1"/>
    <dgm:cxn modelId="{65C7CBE2-1F25-49EF-9B69-E1056EE42D3E}" type="presOf" srcId="{DE26C740-D2C9-45F8-8987-2175FDDBFA93}" destId="{D43AFC93-DD33-4B07-BDBD-26DC3A40A405}" srcOrd="0" destOrd="0" presId="urn:microsoft.com/office/officeart/2005/8/layout/list1"/>
    <dgm:cxn modelId="{1F2A21F1-BA95-45FC-9DE4-CFEA14C7D080}" type="presOf" srcId="{A4612CB9-89D1-42EC-B9C5-D32688EB239C}" destId="{049AF4BF-FBF5-46AD-B494-E60C92053157}" srcOrd="0" destOrd="0" presId="urn:microsoft.com/office/officeart/2005/8/layout/list1"/>
    <dgm:cxn modelId="{9487C8CE-6A9B-468C-A8BE-4C84F7308A95}" type="presParOf" srcId="{D43AFC93-DD33-4B07-BDBD-26DC3A40A405}" destId="{48135FD7-86E6-4675-8374-E79EDDAD45E6}" srcOrd="0" destOrd="0" presId="urn:microsoft.com/office/officeart/2005/8/layout/list1"/>
    <dgm:cxn modelId="{C1550DA6-D14D-4090-A3B6-03D0B68EB35E}" type="presParOf" srcId="{48135FD7-86E6-4675-8374-E79EDDAD45E6}" destId="{DB6D2DB3-3316-4453-B822-52EDB4818C61}" srcOrd="0" destOrd="0" presId="urn:microsoft.com/office/officeart/2005/8/layout/list1"/>
    <dgm:cxn modelId="{C287FCF6-76D1-42D6-82C0-79FA4F45418C}" type="presParOf" srcId="{48135FD7-86E6-4675-8374-E79EDDAD45E6}" destId="{43D989C6-57A6-4F15-8547-F3B5BFD0D9D4}" srcOrd="1" destOrd="0" presId="urn:microsoft.com/office/officeart/2005/8/layout/list1"/>
    <dgm:cxn modelId="{79DF3F0C-6C4C-428A-A6F6-21D0F5EE26A5}" type="presParOf" srcId="{D43AFC93-DD33-4B07-BDBD-26DC3A40A405}" destId="{EA8FF7BA-7770-418B-9D45-47B95755AB9B}" srcOrd="1" destOrd="0" presId="urn:microsoft.com/office/officeart/2005/8/layout/list1"/>
    <dgm:cxn modelId="{4D314FD0-5F59-4614-A3EF-920EC160B84A}" type="presParOf" srcId="{D43AFC93-DD33-4B07-BDBD-26DC3A40A405}" destId="{049AF4BF-FBF5-46AD-B494-E60C92053157}" srcOrd="2" destOrd="0" presId="urn:microsoft.com/office/officeart/2005/8/layout/list1"/>
    <dgm:cxn modelId="{E328EC01-BB7E-447B-B7BF-353A2B75503F}" type="presParOf" srcId="{D43AFC93-DD33-4B07-BDBD-26DC3A40A405}" destId="{92824723-97AB-46C9-9341-48DCD729C0B2}" srcOrd="3" destOrd="0" presId="urn:microsoft.com/office/officeart/2005/8/layout/list1"/>
    <dgm:cxn modelId="{0AD79BA8-6BCD-4E77-A911-31C5C0D4674B}" type="presParOf" srcId="{D43AFC93-DD33-4B07-BDBD-26DC3A40A405}" destId="{E52E3FD6-E3E6-477E-B38B-7BB3FBC74340}" srcOrd="4" destOrd="0" presId="urn:microsoft.com/office/officeart/2005/8/layout/list1"/>
    <dgm:cxn modelId="{5F4DEDC3-4A0F-4801-AD59-37E0014B03B4}" type="presParOf" srcId="{E52E3FD6-E3E6-477E-B38B-7BB3FBC74340}" destId="{F6AC0777-260C-4269-A1A9-D6D78DA3A79A}" srcOrd="0" destOrd="0" presId="urn:microsoft.com/office/officeart/2005/8/layout/list1"/>
    <dgm:cxn modelId="{97F2CE88-13DF-4909-B032-D3B5A63DF97C}" type="presParOf" srcId="{E52E3FD6-E3E6-477E-B38B-7BB3FBC74340}" destId="{B2D1132B-A593-47E5-9E94-158F6A3EEB08}" srcOrd="1" destOrd="0" presId="urn:microsoft.com/office/officeart/2005/8/layout/list1"/>
    <dgm:cxn modelId="{AA5A2688-E9CA-4DD4-89A4-DD5B4EAB5E21}" type="presParOf" srcId="{D43AFC93-DD33-4B07-BDBD-26DC3A40A405}" destId="{328D3076-FA53-4FCA-8959-28500FB03199}" srcOrd="5" destOrd="0" presId="urn:microsoft.com/office/officeart/2005/8/layout/list1"/>
    <dgm:cxn modelId="{01D61EEC-CF90-4CE7-8C0C-866DCC1E00AC}" type="presParOf" srcId="{D43AFC93-DD33-4B07-BDBD-26DC3A40A405}" destId="{FF2E16E5-0FC5-4415-8DED-76744920DCB3}" srcOrd="6" destOrd="0" presId="urn:microsoft.com/office/officeart/2005/8/layout/list1"/>
    <dgm:cxn modelId="{5A4BEF59-24B9-47D9-B5D4-8D1999F72DC1}" type="presParOf" srcId="{D43AFC93-DD33-4B07-BDBD-26DC3A40A405}" destId="{33D4E2E6-E7A8-45BA-809B-167E6C605B9F}" srcOrd="7" destOrd="0" presId="urn:microsoft.com/office/officeart/2005/8/layout/list1"/>
    <dgm:cxn modelId="{07687A79-2AFA-4AD2-81D2-5B53043F566C}" type="presParOf" srcId="{D43AFC93-DD33-4B07-BDBD-26DC3A40A405}" destId="{0BC72E8C-04E1-42A2-A309-D5A50BE755CC}" srcOrd="8" destOrd="0" presId="urn:microsoft.com/office/officeart/2005/8/layout/list1"/>
    <dgm:cxn modelId="{035B0D98-782F-4E62-9BB0-9711E445C07C}" type="presParOf" srcId="{0BC72E8C-04E1-42A2-A309-D5A50BE755CC}" destId="{F4CC30AA-9CD4-4242-AC3D-A9444035C5E9}" srcOrd="0" destOrd="0" presId="urn:microsoft.com/office/officeart/2005/8/layout/list1"/>
    <dgm:cxn modelId="{BC0FF5F2-F96C-41E6-923E-CFE7FCB91407}" type="presParOf" srcId="{0BC72E8C-04E1-42A2-A309-D5A50BE755CC}" destId="{6C8A24CC-8C9E-4151-9EBF-B056F0C30490}" srcOrd="1" destOrd="0" presId="urn:microsoft.com/office/officeart/2005/8/layout/list1"/>
    <dgm:cxn modelId="{50B8F425-6B10-4F24-95DC-A42F7CD7D0C0}" type="presParOf" srcId="{D43AFC93-DD33-4B07-BDBD-26DC3A40A405}" destId="{42234487-57DB-49AA-B135-D51CEDA1C618}" srcOrd="9" destOrd="0" presId="urn:microsoft.com/office/officeart/2005/8/layout/list1"/>
    <dgm:cxn modelId="{4FCC9167-B247-41E5-AA98-C961B64A4570}" type="presParOf" srcId="{D43AFC93-DD33-4B07-BDBD-26DC3A40A405}" destId="{2B23CD90-85CD-4778-9CB0-257A25153EF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9AF4BF-FBF5-46AD-B494-E60C92053157}">
      <dsp:nvSpPr>
        <dsp:cNvPr id="0" name=""/>
        <dsp:cNvSpPr/>
      </dsp:nvSpPr>
      <dsp:spPr>
        <a:xfrm>
          <a:off x="0" y="817059"/>
          <a:ext cx="9378042" cy="18585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7840" tIns="416560" rIns="727840" bIns="170688" numCol="1" spcCol="1270" anchor="t" anchorCtr="0">
          <a:noAutofit/>
        </a:bodyPr>
        <a:lstStyle/>
        <a:p>
          <a:pPr marL="228600" lvl="1" indent="-228600" algn="just" defTabSz="1066800">
            <a:lnSpc>
              <a:spcPct val="90000"/>
            </a:lnSpc>
            <a:spcBef>
              <a:spcPct val="0"/>
            </a:spcBef>
            <a:spcAft>
              <a:spcPct val="15000"/>
            </a:spcAft>
            <a:buChar char="•"/>
          </a:pPr>
          <a:r>
            <a:rPr lang="en-US" sz="2400" b="1" kern="1200" dirty="0">
              <a:latin typeface="Times New Roman" panose="02020603050405020304" pitchFamily="18" charset="0"/>
              <a:cs typeface="Times New Roman" panose="02020603050405020304" pitchFamily="18" charset="0"/>
            </a:rPr>
            <a:t>We observed in the previous section that if </a:t>
          </a:r>
          <a:r>
            <a:rPr lang="en-US" sz="2400" b="1" kern="1200" dirty="0">
              <a:solidFill>
                <a:srgbClr val="FF0000"/>
              </a:solidFill>
              <a:latin typeface="Times New Roman" panose="02020603050405020304" pitchFamily="18" charset="0"/>
              <a:cs typeface="Times New Roman" panose="02020603050405020304" pitchFamily="18" charset="0"/>
            </a:rPr>
            <a:t>channel length is small compared to the depletion regions</a:t>
          </a:r>
          <a:r>
            <a:rPr lang="en-US" sz="2400" b="1" kern="1200" dirty="0">
              <a:latin typeface="Times New Roman" panose="02020603050405020304" pitchFamily="18" charset="0"/>
              <a:cs typeface="Times New Roman" panose="02020603050405020304" pitchFamily="18" charset="0"/>
            </a:rPr>
            <a:t>, short channel effects become intolerable. This limits the further reduction achievable in gate length. </a:t>
          </a:r>
          <a:endParaRPr lang="en-US" sz="2400" kern="1200" dirty="0">
            <a:latin typeface="Times New Roman" panose="02020603050405020304" pitchFamily="18" charset="0"/>
            <a:cs typeface="Times New Roman" panose="02020603050405020304" pitchFamily="18" charset="0"/>
          </a:endParaRPr>
        </a:p>
      </dsp:txBody>
      <dsp:txXfrm>
        <a:off x="0" y="817059"/>
        <a:ext cx="9378042" cy="1858500"/>
      </dsp:txXfrm>
    </dsp:sp>
    <dsp:sp modelId="{43D989C6-57A6-4F15-8547-F3B5BFD0D9D4}">
      <dsp:nvSpPr>
        <dsp:cNvPr id="0" name=""/>
        <dsp:cNvSpPr/>
      </dsp:nvSpPr>
      <dsp:spPr>
        <a:xfrm>
          <a:off x="827044" y="479766"/>
          <a:ext cx="6564630"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8127" tIns="0" rIns="248127" bIns="0" numCol="1" spcCol="1270" anchor="ctr" anchorCtr="0">
          <a:noAutofit/>
        </a:bodyPr>
        <a:lstStyle/>
        <a:p>
          <a:pPr marL="0" lvl="0" indent="0" algn="just" defTabSz="1066800">
            <a:lnSpc>
              <a:spcPct val="90000"/>
            </a:lnSpc>
            <a:spcBef>
              <a:spcPct val="0"/>
            </a:spcBef>
            <a:spcAft>
              <a:spcPct val="35000"/>
            </a:spcAft>
            <a:buNone/>
          </a:pPr>
          <a:r>
            <a:rPr lang="en-US" sz="2400" kern="1200" dirty="0"/>
            <a:t>-----------------------</a:t>
          </a:r>
        </a:p>
      </dsp:txBody>
      <dsp:txXfrm>
        <a:off x="855865" y="508587"/>
        <a:ext cx="6506988" cy="532758"/>
      </dsp:txXfrm>
    </dsp:sp>
    <dsp:sp modelId="{FF2E16E5-0FC5-4415-8DED-76744920DCB3}">
      <dsp:nvSpPr>
        <dsp:cNvPr id="0" name=""/>
        <dsp:cNvSpPr/>
      </dsp:nvSpPr>
      <dsp:spPr>
        <a:xfrm>
          <a:off x="0" y="2891944"/>
          <a:ext cx="9378042" cy="12285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7840" tIns="416560" rIns="727840" bIns="170688" numCol="1" spcCol="1270" anchor="t" anchorCtr="0">
          <a:noAutofit/>
        </a:bodyPr>
        <a:lstStyle/>
        <a:p>
          <a:pPr marL="228600" lvl="1" indent="-228600" algn="just" defTabSz="1066800">
            <a:lnSpc>
              <a:spcPct val="90000"/>
            </a:lnSpc>
            <a:spcBef>
              <a:spcPct val="0"/>
            </a:spcBef>
            <a:spcAft>
              <a:spcPct val="15000"/>
            </a:spcAft>
            <a:buChar char="•"/>
          </a:pPr>
          <a:r>
            <a:rPr lang="en-US" sz="2400" b="1" kern="1200" dirty="0">
              <a:latin typeface="Times New Roman" panose="02020603050405020304" pitchFamily="18" charset="0"/>
              <a:cs typeface="Times New Roman" panose="02020603050405020304" pitchFamily="18" charset="0"/>
            </a:rPr>
            <a:t>To limit these effects, the </a:t>
          </a:r>
          <a:r>
            <a:rPr lang="en-US" sz="2400" b="1" kern="1200" dirty="0">
              <a:solidFill>
                <a:srgbClr val="FF0000"/>
              </a:solidFill>
              <a:latin typeface="Times New Roman" panose="02020603050405020304" pitchFamily="18" charset="0"/>
              <a:cs typeface="Times New Roman" panose="02020603050405020304" pitchFamily="18" charset="0"/>
            </a:rPr>
            <a:t>depletion region width should be reduced with corresponding reduction in channel leng</a:t>
          </a:r>
          <a:r>
            <a:rPr lang="en-US" sz="2400" b="1" kern="1200" dirty="0">
              <a:latin typeface="Times New Roman" panose="02020603050405020304" pitchFamily="18" charset="0"/>
              <a:cs typeface="Times New Roman" panose="02020603050405020304" pitchFamily="18" charset="0"/>
            </a:rPr>
            <a:t>th. </a:t>
          </a:r>
          <a:endParaRPr lang="en-US" sz="2400" kern="1200" dirty="0">
            <a:latin typeface="Times New Roman" panose="02020603050405020304" pitchFamily="18" charset="0"/>
            <a:cs typeface="Times New Roman" panose="02020603050405020304" pitchFamily="18" charset="0"/>
          </a:endParaRPr>
        </a:p>
      </dsp:txBody>
      <dsp:txXfrm>
        <a:off x="0" y="2891944"/>
        <a:ext cx="9378042" cy="1228500"/>
      </dsp:txXfrm>
    </dsp:sp>
    <dsp:sp modelId="{B2D1132B-A593-47E5-9E94-158F6A3EEB08}">
      <dsp:nvSpPr>
        <dsp:cNvPr id="0" name=""/>
        <dsp:cNvSpPr/>
      </dsp:nvSpPr>
      <dsp:spPr>
        <a:xfrm>
          <a:off x="521161" y="2608336"/>
          <a:ext cx="6564630"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8127" tIns="0" rIns="248127" bIns="0" numCol="1" spcCol="1270" anchor="ctr" anchorCtr="0">
          <a:noAutofit/>
        </a:bodyPr>
        <a:lstStyle/>
        <a:p>
          <a:pPr marL="0" lvl="0" indent="0" algn="just" defTabSz="1066800">
            <a:lnSpc>
              <a:spcPct val="90000"/>
            </a:lnSpc>
            <a:spcBef>
              <a:spcPct val="0"/>
            </a:spcBef>
            <a:spcAft>
              <a:spcPct val="35000"/>
            </a:spcAft>
            <a:buNone/>
          </a:pPr>
          <a:r>
            <a:rPr lang="en-US" sz="2400" kern="1200" dirty="0"/>
            <a:t>----------------------------</a:t>
          </a:r>
        </a:p>
      </dsp:txBody>
      <dsp:txXfrm>
        <a:off x="549982" y="2637157"/>
        <a:ext cx="6506988" cy="532758"/>
      </dsp:txXfrm>
    </dsp:sp>
    <dsp:sp modelId="{2B23CD90-85CD-4778-9CB0-257A25153EFA}">
      <dsp:nvSpPr>
        <dsp:cNvPr id="0" name=""/>
        <dsp:cNvSpPr/>
      </dsp:nvSpPr>
      <dsp:spPr>
        <a:xfrm>
          <a:off x="0" y="4190550"/>
          <a:ext cx="9378042" cy="15435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7840" tIns="416560" rIns="727840" bIns="170688" numCol="1" spcCol="1270" anchor="t" anchorCtr="0">
          <a:noAutofit/>
        </a:bodyPr>
        <a:lstStyle/>
        <a:p>
          <a:pPr marL="228600" lvl="1" indent="-228600" algn="just" defTabSz="1066800">
            <a:lnSpc>
              <a:spcPct val="90000"/>
            </a:lnSpc>
            <a:spcBef>
              <a:spcPct val="0"/>
            </a:spcBef>
            <a:spcAft>
              <a:spcPct val="15000"/>
            </a:spcAft>
            <a:buChar char="•"/>
          </a:pPr>
          <a:r>
            <a:rPr lang="en-US" sz="2400" b="1" kern="1200" dirty="0">
              <a:solidFill>
                <a:schemeClr val="tx1"/>
              </a:solidFill>
              <a:latin typeface="Times New Roman" panose="02020603050405020304" pitchFamily="18" charset="0"/>
              <a:cs typeface="Times New Roman" panose="02020603050405020304" pitchFamily="18" charset="0"/>
            </a:rPr>
            <a:t>This can be achieved by either </a:t>
          </a:r>
          <a:r>
            <a:rPr lang="en-US" sz="2400" b="1" kern="1200" dirty="0">
              <a:solidFill>
                <a:srgbClr val="FF0000"/>
              </a:solidFill>
              <a:latin typeface="Times New Roman" panose="02020603050405020304" pitchFamily="18" charset="0"/>
              <a:cs typeface="Times New Roman" panose="02020603050405020304" pitchFamily="18" charset="0"/>
            </a:rPr>
            <a:t>increasing channel doping concentration or increasing gate capacitance, or both. </a:t>
          </a:r>
          <a:r>
            <a:rPr lang="en-US" sz="2400" b="1" kern="1200" dirty="0">
              <a:solidFill>
                <a:schemeClr val="tx1"/>
              </a:solidFill>
              <a:latin typeface="Times New Roman" panose="02020603050405020304" pitchFamily="18" charset="0"/>
              <a:cs typeface="Times New Roman" panose="02020603050405020304" pitchFamily="18" charset="0"/>
            </a:rPr>
            <a:t>Gate capacitance determines the gate’s control over the channel. </a:t>
          </a:r>
          <a:endParaRPr lang="en-US" sz="2400" kern="1200" dirty="0">
            <a:solidFill>
              <a:schemeClr val="tx1"/>
            </a:solidFill>
            <a:latin typeface="Times New Roman" panose="02020603050405020304" pitchFamily="18" charset="0"/>
            <a:cs typeface="Times New Roman" panose="02020603050405020304" pitchFamily="18" charset="0"/>
          </a:endParaRPr>
        </a:p>
      </dsp:txBody>
      <dsp:txXfrm>
        <a:off x="0" y="4190550"/>
        <a:ext cx="9378042" cy="1543500"/>
      </dsp:txXfrm>
    </dsp:sp>
    <dsp:sp modelId="{6C8A24CC-8C9E-4151-9EBF-B056F0C30490}">
      <dsp:nvSpPr>
        <dsp:cNvPr id="0" name=""/>
        <dsp:cNvSpPr/>
      </dsp:nvSpPr>
      <dsp:spPr>
        <a:xfrm>
          <a:off x="680086" y="3971086"/>
          <a:ext cx="6564630" cy="590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8127" tIns="0" rIns="248127" bIns="0" numCol="1" spcCol="1270" anchor="ctr" anchorCtr="0">
          <a:noAutofit/>
        </a:bodyPr>
        <a:lstStyle/>
        <a:p>
          <a:pPr marL="0" lvl="0" indent="0" algn="just" defTabSz="1066800">
            <a:lnSpc>
              <a:spcPct val="90000"/>
            </a:lnSpc>
            <a:spcBef>
              <a:spcPct val="0"/>
            </a:spcBef>
            <a:spcAft>
              <a:spcPct val="35000"/>
            </a:spcAft>
            <a:buNone/>
          </a:pPr>
          <a:r>
            <a:rPr lang="en-US" sz="2400" kern="1200" dirty="0"/>
            <a:t>-----------------------------------------</a:t>
          </a:r>
        </a:p>
      </dsp:txBody>
      <dsp:txXfrm>
        <a:off x="708907" y="3999907"/>
        <a:ext cx="6506988" cy="53275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212272" y="16329"/>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6983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latin typeface="Times New Roman" panose="02020603050405020304" pitchFamily="18" charset="0"/>
                <a:cs typeface="Times New Roman" panose="02020603050405020304" pitchFamily="18" charset="0"/>
                <a:sym typeface="BioRhyme ExtraBold"/>
              </a:rPr>
              <a:t>VLSI Design</a:t>
            </a:r>
          </a:p>
          <a:p>
            <a:pPr marR="0" lvl="0" indent="0" algn="ctr">
              <a:spcBef>
                <a:spcPts val="0"/>
              </a:spcBef>
              <a:spcAft>
                <a:spcPts val="0"/>
              </a:spcAft>
              <a:buNone/>
            </a:pPr>
            <a:r>
              <a:rPr lang="en-US" sz="3200" b="1" cap="all" dirty="0">
                <a:ln/>
                <a:solidFill>
                  <a:srgbClr val="C00000"/>
                </a:solidFill>
                <a:highlight>
                  <a:srgbClr val="FFFF00"/>
                </a:highlight>
                <a:latin typeface="Times New Roman" panose="02020603050405020304" pitchFamily="18" charset="0"/>
                <a:cs typeface="Times New Roman" panose="02020603050405020304" pitchFamily="18" charset="0"/>
                <a:sym typeface="BioRhyme ExtraBold"/>
              </a:rPr>
              <a:t>COURSE CODE</a:t>
            </a:r>
          </a:p>
          <a:p>
            <a:pPr marR="0" lvl="0" indent="0" algn="ctr">
              <a:spcBef>
                <a:spcPts val="0"/>
              </a:spcBef>
              <a:spcAft>
                <a:spcPts val="0"/>
              </a:spcAft>
              <a:buNone/>
            </a:pP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sz="16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pPr marR="0" lvl="0" indent="0" algn="ctr">
              <a:spcBef>
                <a:spcPts val="0"/>
              </a:spcBef>
              <a:spcAft>
                <a:spcPts val="0"/>
              </a:spcAft>
              <a:buNone/>
            </a:pPr>
            <a:r>
              <a:rPr lang="en-US" sz="2400" b="1" cap="all" dirty="0">
                <a:ln/>
                <a:solidFill>
                  <a:srgbClr val="C00000"/>
                </a:solidFill>
                <a:effectLst/>
                <a:latin typeface="Times New Roman" panose="02020603050405020304" pitchFamily="18" charset="0"/>
                <a:cs typeface="Times New Roman" panose="02020603050405020304" pitchFamily="18" charset="0"/>
              </a:rPr>
              <a:t>Effect of Scaling on device performance</a:t>
            </a:r>
            <a:endParaRPr lang="en-US" sz="2400" b="1" dirty="0">
              <a:solidFill>
                <a:srgbClr val="C00000"/>
              </a:solidFill>
              <a:effectLst/>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5899355" y="492137"/>
            <a:ext cx="5909187" cy="830956"/>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5658320" y="492137"/>
            <a:ext cx="6410633" cy="830956"/>
          </a:xfrm>
          <a:prstGeom prst="rect">
            <a:avLst/>
          </a:prstGeom>
          <a:noFill/>
          <a:ln>
            <a:noFill/>
          </a:ln>
          <a:effectLst/>
        </p:spPr>
        <p:txBody>
          <a:bodyPr spcFirstLastPara="1" wrap="square" lIns="91425" tIns="45700" rIns="91425" bIns="45700" anchor="t" anchorCtr="0">
            <a:spAutoFit/>
          </a:bodyPr>
          <a:lstStyle/>
          <a:p>
            <a:pPr algn="ctr"/>
            <a:r>
              <a:rPr lang="en-US" sz="2400" dirty="0">
                <a:solidFill>
                  <a:srgbClr val="C00000"/>
                </a:solidFill>
                <a:latin typeface="Times New Roman" panose="02020603050405020304" pitchFamily="18" charset="0"/>
                <a:cs typeface="Times New Roman" panose="02020603050405020304" pitchFamily="18" charset="0"/>
              </a:rPr>
              <a:t>Department of Electronics and Communication Engineering</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574182" y="4545807"/>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- 7</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632857" y="692886"/>
            <a:ext cx="8911318" cy="45807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b="0" i="0" dirty="0">
                <a:effectLst/>
                <a:latin typeface="Times New Roman" panose="02020603050405020304" pitchFamily="18" charset="0"/>
                <a:cs typeface="Times New Roman" panose="02020603050405020304" pitchFamily="18" charset="0"/>
              </a:rPr>
              <a:t>To familiarize students with aspects the effect of scaling on device performance.</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pitchFamily="18" charset="0"/>
                <a:cs typeface="Times New Roman" panose="02020603050405020304" pitchFamily="18" charset="0"/>
              </a:rPr>
              <a:t>This</a:t>
            </a:r>
            <a:r>
              <a:rPr lang="en-US" sz="1600" b="0" i="0" dirty="0">
                <a:effectLst/>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is designed to:</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Discuss the </a:t>
            </a:r>
            <a:r>
              <a:rPr lang="en-US" sz="1600" dirty="0">
                <a:latin typeface="Times New Roman" panose="02020603050405020304" pitchFamily="18" charset="0"/>
                <a:cs typeface="Times New Roman" panose="02020603050405020304" pitchFamily="18" charset="0"/>
              </a:rPr>
              <a:t>effect of scaling.</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Describe the </a:t>
            </a:r>
            <a:r>
              <a:rPr lang="en-US" sz="1600" dirty="0">
                <a:latin typeface="Times New Roman" panose="02020603050405020304" pitchFamily="18" charset="0"/>
                <a:cs typeface="Times New Roman" panose="02020603050405020304" pitchFamily="18" charset="0"/>
              </a:rPr>
              <a:t>effect of scaling on device performance</a:t>
            </a:r>
            <a:r>
              <a:rPr lang="en-US" sz="1600" b="0" i="0" dirty="0">
                <a:effectLst/>
                <a:latin typeface="Times New Roman" panose="02020603050405020304" pitchFamily="18" charset="0"/>
                <a:cs typeface="Times New Roman" panose="02020603050405020304" pitchFamily="18" charset="0"/>
              </a:rPr>
              <a: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890606"/>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pitchFamily="18" charset="0"/>
                <a:cs typeface="Times New Roman" panose="02020603050405020304" pitchFamily="18" charset="0"/>
              </a:rPr>
              <a:t>At the end of this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you should be able to:</a:t>
            </a:r>
          </a:p>
          <a:p>
            <a:pPr marL="342900" indent="-342900">
              <a:buAutoNum type="arabicPeriod"/>
            </a:pPr>
            <a:r>
              <a:rPr lang="en-US" sz="1600" dirty="0">
                <a:latin typeface="Times New Roman" panose="02020603050405020304" pitchFamily="18" charset="0"/>
                <a:cs typeface="Times New Roman" panose="02020603050405020304" pitchFamily="18" charset="0"/>
              </a:rPr>
              <a:t>Discuss the effect of scaling.</a:t>
            </a:r>
          </a:p>
          <a:p>
            <a:pPr marL="342900" indent="-342900">
              <a:buAutoNum type="arabicPeriod"/>
            </a:pPr>
            <a:r>
              <a:rPr lang="en-US" sz="1600" dirty="0">
                <a:latin typeface="Times New Roman" panose="02020603050405020304" pitchFamily="18" charset="0"/>
                <a:cs typeface="Times New Roman" panose="02020603050405020304" pitchFamily="18" charset="0"/>
              </a:rPr>
              <a:t>Describe the effect of scaling on device performance.</a:t>
            </a:r>
          </a:p>
          <a:p>
            <a:pPr marL="342900" indent="-342900">
              <a:buAutoNum type="arabicPeriod"/>
            </a:pPr>
            <a:r>
              <a:rPr lang="en-US" sz="1600" dirty="0">
                <a:latin typeface="Times New Roman" panose="02020603050405020304" pitchFamily="18" charset="0"/>
                <a:cs typeface="Times New Roman" panose="02020603050405020304" pitchFamily="18" charset="0"/>
              </a:rPr>
              <a:t>Summarize the effect of scaling.</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83C04C-5586-6217-3B6F-EB81AD4D335C}"/>
              </a:ext>
            </a:extLst>
          </p:cNvPr>
          <p:cNvSpPr/>
          <p:nvPr/>
        </p:nvSpPr>
        <p:spPr>
          <a:xfrm>
            <a:off x="1524000" y="0"/>
            <a:ext cx="9857014" cy="990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en-US" sz="3600" b="1" dirty="0">
                <a:solidFill>
                  <a:schemeClr val="tx1"/>
                </a:solidFill>
                <a:latin typeface="Times New Roman" panose="02020603050405020304" pitchFamily="18" charset="0"/>
                <a:cs typeface="Times New Roman" panose="02020603050405020304" pitchFamily="18" charset="0"/>
              </a:rPr>
              <a:t>Effect of Scaling/Short Channel</a:t>
            </a:r>
            <a:endParaRPr lang="en-IN" altLang="en-US" sz="3600" b="1" dirty="0">
              <a:solidFill>
                <a:schemeClr val="tx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FECB950-E303-F321-9FBB-027E6AE9ADEF}"/>
              </a:ext>
            </a:extLst>
          </p:cNvPr>
          <p:cNvSpPr/>
          <p:nvPr/>
        </p:nvSpPr>
        <p:spPr>
          <a:xfrm>
            <a:off x="1690687" y="1143000"/>
            <a:ext cx="9380083" cy="3970318"/>
          </a:xfrm>
          <a:prstGeom prst="rect">
            <a:avLst/>
          </a:prstGeom>
        </p:spPr>
        <p:txBody>
          <a:bodyPr wrap="square">
            <a:spAutoFit/>
          </a:bodyPr>
          <a:lstStyle/>
          <a:p>
            <a:pPr marL="571500" indent="-571500" eaLnBrk="1" hangingPunct="1">
              <a:buFont typeface="Wingdings" panose="05000000000000000000" pitchFamily="2" charset="2"/>
              <a:buChar char="Ø"/>
            </a:pPr>
            <a:r>
              <a:rPr lang="en-US" altLang="en-US" sz="3600" b="1" dirty="0">
                <a:latin typeface="Times New Roman" panose="02020603050405020304" pitchFamily="18" charset="0"/>
                <a:cs typeface="Times New Roman" panose="02020603050405020304" pitchFamily="18" charset="0"/>
              </a:rPr>
              <a:t>Gate Leakage</a:t>
            </a:r>
          </a:p>
          <a:p>
            <a:pPr marL="571500" indent="-571500" eaLnBrk="1" hangingPunct="1">
              <a:buFont typeface="Wingdings" panose="05000000000000000000" pitchFamily="2" charset="2"/>
              <a:buChar char="Ø"/>
            </a:pPr>
            <a:r>
              <a:rPr lang="en-US" altLang="en-US" sz="3600" b="1" dirty="0">
                <a:latin typeface="Times New Roman" panose="02020603050405020304" pitchFamily="18" charset="0"/>
                <a:cs typeface="Times New Roman" panose="02020603050405020304" pitchFamily="18" charset="0"/>
              </a:rPr>
              <a:t>Carrier Velocity Saturation &amp; Mobility Degradation.</a:t>
            </a:r>
          </a:p>
          <a:p>
            <a:pPr marL="571500" indent="-571500" eaLnBrk="1" hangingPunct="1">
              <a:buFont typeface="Wingdings" panose="05000000000000000000" pitchFamily="2" charset="2"/>
              <a:buChar char="Ø"/>
            </a:pPr>
            <a:r>
              <a:rPr lang="en-US" altLang="en-US" sz="3600" b="1" dirty="0">
                <a:latin typeface="Times New Roman" panose="02020603050405020304" pitchFamily="18" charset="0"/>
                <a:cs typeface="Times New Roman" panose="02020603050405020304" pitchFamily="18" charset="0"/>
              </a:rPr>
              <a:t>Drain Induced Barrier Lowering</a:t>
            </a:r>
          </a:p>
          <a:p>
            <a:pPr marL="571500" indent="-571500" eaLnBrk="1" hangingPunct="1">
              <a:buFont typeface="Wingdings" panose="05000000000000000000" pitchFamily="2" charset="2"/>
              <a:buChar char="Ø"/>
            </a:pPr>
            <a:r>
              <a:rPr lang="en-US" altLang="en-US" sz="3600" b="1" dirty="0">
                <a:latin typeface="Times New Roman" panose="02020603050405020304" pitchFamily="18" charset="0"/>
                <a:cs typeface="Times New Roman" panose="02020603050405020304" pitchFamily="18" charset="0"/>
              </a:rPr>
              <a:t>Sub-threshold Swing</a:t>
            </a:r>
            <a:endParaRPr lang="en-US" altLang="en-US" sz="3600" dirty="0">
              <a:latin typeface="Times New Roman" panose="02020603050405020304" pitchFamily="18" charset="0"/>
              <a:cs typeface="Times New Roman" panose="02020603050405020304" pitchFamily="18" charset="0"/>
            </a:endParaRPr>
          </a:p>
          <a:p>
            <a:pPr marL="571500" indent="-571500" eaLnBrk="1" hangingPunct="1">
              <a:buFont typeface="Wingdings" panose="05000000000000000000" pitchFamily="2" charset="2"/>
              <a:buChar char="Ø"/>
            </a:pPr>
            <a:r>
              <a:rPr lang="en-US" altLang="en-US" sz="3600" b="1" dirty="0">
                <a:latin typeface="Times New Roman" panose="02020603050405020304" pitchFamily="18" charset="0"/>
                <a:cs typeface="Times New Roman" panose="02020603050405020304" pitchFamily="18" charset="0"/>
              </a:rPr>
              <a:t>Punch-through</a:t>
            </a:r>
            <a:endParaRPr lang="en-US" altLang="en-US" sz="3600" dirty="0">
              <a:latin typeface="Times New Roman" panose="02020603050405020304" pitchFamily="18" charset="0"/>
              <a:cs typeface="Times New Roman" panose="02020603050405020304" pitchFamily="18" charset="0"/>
            </a:endParaRPr>
          </a:p>
          <a:p>
            <a:pPr marL="571500" indent="-571500" eaLnBrk="1" hangingPunct="1">
              <a:buFont typeface="Wingdings" panose="05000000000000000000" pitchFamily="2" charset="2"/>
              <a:buChar char="Ø"/>
            </a:pPr>
            <a:r>
              <a:rPr lang="en-US" altLang="en-US" sz="3600" b="1" dirty="0">
                <a:latin typeface="Times New Roman" panose="02020603050405020304" pitchFamily="18" charset="0"/>
                <a:cs typeface="Times New Roman" panose="02020603050405020304" pitchFamily="18" charset="0"/>
              </a:rPr>
              <a:t>Hot Carrier Effects</a:t>
            </a:r>
            <a:endParaRPr lang="en-US" altLang="en-US" sz="3600" dirty="0">
              <a:latin typeface="Times New Roman" panose="02020603050405020304" pitchFamily="18" charset="0"/>
              <a:cs typeface="Times New Roman" panose="02020603050405020304" pitchFamily="18" charset="0"/>
            </a:endParaRPr>
          </a:p>
        </p:txBody>
      </p:sp>
      <p:pic>
        <p:nvPicPr>
          <p:cNvPr id="3" name="Picture 2" descr="KL Deemed to be University Logo">
            <a:extLst>
              <a:ext uri="{FF2B5EF4-FFF2-40B4-BE49-F238E27FC236}">
                <a16:creationId xmlns:a16="http://schemas.microsoft.com/office/drawing/2014/main" id="{4EA46287-5F4A-6739-B5BD-656593ED139B}"/>
              </a:ext>
            </a:extLst>
          </p:cNvPr>
          <p:cNvPicPr>
            <a:picLocks noChangeAspect="1" noChangeArrowheads="1"/>
          </p:cNvPicPr>
          <p:nvPr/>
        </p:nvPicPr>
        <p:blipFill rotWithShape="1">
          <a:blip r:embed="rId2"/>
          <a:srcRect t="1" r="28380" b="-4451"/>
          <a:stretch/>
        </p:blipFill>
        <p:spPr bwMode="auto">
          <a:xfrm>
            <a:off x="0" y="-2"/>
            <a:ext cx="1634295" cy="990599"/>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0089E5-1630-237B-F174-A8987034B8DB}"/>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84997" name="Picture 4">
            <a:extLst>
              <a:ext uri="{FF2B5EF4-FFF2-40B4-BE49-F238E27FC236}">
                <a16:creationId xmlns:a16="http://schemas.microsoft.com/office/drawing/2014/main" id="{2E2F7BF6-E24B-333E-187C-5303A97023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226" y="101600"/>
            <a:ext cx="1546225"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8" name="TextBox 5">
            <a:extLst>
              <a:ext uri="{FF2B5EF4-FFF2-40B4-BE49-F238E27FC236}">
                <a16:creationId xmlns:a16="http://schemas.microsoft.com/office/drawing/2014/main" id="{FD1F785F-9BC7-EE98-FF4D-038FFCB0B5D4}"/>
              </a:ext>
            </a:extLst>
          </p:cNvPr>
          <p:cNvSpPr txBox="1">
            <a:spLocks noChangeArrowheads="1"/>
          </p:cNvSpPr>
          <p:nvPr/>
        </p:nvSpPr>
        <p:spPr bwMode="auto">
          <a:xfrm>
            <a:off x="1523999" y="107088"/>
            <a:ext cx="1002030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auto">
              <a:spcBef>
                <a:spcPts val="0"/>
              </a:spcBef>
              <a:spcAft>
                <a:spcPts val="0"/>
              </a:spcAft>
              <a:defRPr/>
            </a:pPr>
            <a:r>
              <a:rPr lang="en-US" sz="3200" b="1" dirty="0">
                <a:highlight>
                  <a:srgbClr val="F89E4C"/>
                </a:highlight>
              </a:rPr>
              <a:t>Carrier Velocity Saturation &amp; Mobility Degradation</a:t>
            </a:r>
            <a:endParaRPr lang="en-US" sz="3200" dirty="0">
              <a:highlight>
                <a:srgbClr val="F89E4C"/>
              </a:highlight>
            </a:endParaRPr>
          </a:p>
        </p:txBody>
      </p:sp>
      <p:sp>
        <p:nvSpPr>
          <p:cNvPr id="2" name="Rectangle 4">
            <a:extLst>
              <a:ext uri="{FF2B5EF4-FFF2-40B4-BE49-F238E27FC236}">
                <a16:creationId xmlns:a16="http://schemas.microsoft.com/office/drawing/2014/main" id="{EF8DD03C-91A6-2F98-0D1F-8A28F2F2355A}"/>
              </a:ext>
            </a:extLst>
          </p:cNvPr>
          <p:cNvSpPr>
            <a:spLocks noChangeArrowheads="1"/>
          </p:cNvSpPr>
          <p:nvPr/>
        </p:nvSpPr>
        <p:spPr bwMode="auto">
          <a:xfrm>
            <a:off x="1012370" y="1209675"/>
            <a:ext cx="10989129" cy="1200329"/>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The electron drift velocity in the channel is proportional to the electric field for lower electric field values. These drift velocities tend to saturate at high electric fields. This is called velocity saturation. </a:t>
            </a:r>
          </a:p>
        </p:txBody>
      </p:sp>
      <p:sp>
        <p:nvSpPr>
          <p:cNvPr id="3" name="Rectangle 5">
            <a:extLst>
              <a:ext uri="{FF2B5EF4-FFF2-40B4-BE49-F238E27FC236}">
                <a16:creationId xmlns:a16="http://schemas.microsoft.com/office/drawing/2014/main" id="{033C5500-7E80-4FE3-9ED9-1582E0ADEA19}"/>
              </a:ext>
            </a:extLst>
          </p:cNvPr>
          <p:cNvSpPr>
            <a:spLocks noChangeArrowheads="1"/>
          </p:cNvSpPr>
          <p:nvPr/>
        </p:nvSpPr>
        <p:spPr bwMode="auto">
          <a:xfrm>
            <a:off x="1012369" y="2496005"/>
            <a:ext cx="10989129"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b="1" dirty="0">
                <a:solidFill>
                  <a:srgbClr val="002060"/>
                </a:solidFill>
                <a:latin typeface="Times New Roman" panose="02020603050405020304" pitchFamily="18" charset="0"/>
                <a:cs typeface="Times New Roman" panose="02020603050405020304" pitchFamily="18" charset="0"/>
              </a:rPr>
              <a:t>For short channel devices, the longitudinal electric field typically also increases. At such high electric fields, a velocity saturation occurs which affects I-V characteristics of the MOSFET. </a:t>
            </a:r>
          </a:p>
        </p:txBody>
      </p:sp>
      <p:sp>
        <p:nvSpPr>
          <p:cNvPr id="5" name="Rectangle 2">
            <a:extLst>
              <a:ext uri="{FF2B5EF4-FFF2-40B4-BE49-F238E27FC236}">
                <a16:creationId xmlns:a16="http://schemas.microsoft.com/office/drawing/2014/main" id="{9B13973F-29F8-6B69-3E44-047FCD505C1A}"/>
              </a:ext>
            </a:extLst>
          </p:cNvPr>
          <p:cNvSpPr>
            <a:spLocks noChangeArrowheads="1"/>
          </p:cNvSpPr>
          <p:nvPr/>
        </p:nvSpPr>
        <p:spPr bwMode="auto">
          <a:xfrm>
            <a:off x="1012370" y="3706411"/>
            <a:ext cx="1076053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Due to higher vertical electric fields, the carriers of the channel scatter of the oxide interface. This results in the degradation of carrier mobility and the reduction in drain current.</a:t>
            </a:r>
          </a:p>
        </p:txBody>
      </p:sp>
      <p:sp>
        <p:nvSpPr>
          <p:cNvPr id="6" name="Rectangle 3">
            <a:extLst>
              <a:ext uri="{FF2B5EF4-FFF2-40B4-BE49-F238E27FC236}">
                <a16:creationId xmlns:a16="http://schemas.microsoft.com/office/drawing/2014/main" id="{7D3A97D4-1281-3CC0-5A56-D81F98379ABD}"/>
              </a:ext>
            </a:extLst>
          </p:cNvPr>
          <p:cNvSpPr>
            <a:spLocks noChangeArrowheads="1"/>
          </p:cNvSpPr>
          <p:nvPr/>
        </p:nvSpPr>
        <p:spPr bwMode="auto">
          <a:xfrm>
            <a:off x="4106635" y="4906740"/>
            <a:ext cx="5527222" cy="156966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latin typeface="Times New Roman" panose="02020603050405020304" pitchFamily="18" charset="0"/>
                <a:cs typeface="Times New Roman" panose="02020603050405020304" pitchFamily="18" charset="0"/>
              </a:rPr>
              <a:t>V = </a:t>
            </a:r>
            <a:r>
              <a:rPr lang="en-US" altLang="en-US" sz="2400" dirty="0" err="1">
                <a:latin typeface="Times New Roman" panose="02020603050405020304" pitchFamily="18" charset="0"/>
                <a:cs typeface="Times New Roman" panose="02020603050405020304" pitchFamily="18" charset="0"/>
              </a:rPr>
              <a:t>uE</a:t>
            </a:r>
            <a:r>
              <a:rPr lang="en-US" altLang="en-US" sz="2400" dirty="0">
                <a:latin typeface="Times New Roman" panose="02020603050405020304" pitchFamily="18" charset="0"/>
                <a:cs typeface="Times New Roman" panose="02020603050405020304" pitchFamily="18" charset="0"/>
              </a:rPr>
              <a:t> ( E is small enough)</a:t>
            </a:r>
          </a:p>
          <a:p>
            <a:pPr eaLnBrk="1" hangingPunct="1"/>
            <a:r>
              <a:rPr lang="en-US" altLang="en-US" sz="2400" dirty="0">
                <a:latin typeface="Times New Roman" panose="02020603050405020304" pitchFamily="18" charset="0"/>
                <a:cs typeface="Times New Roman" panose="02020603050405020304" pitchFamily="18" charset="0"/>
              </a:rPr>
              <a:t>V = </a:t>
            </a:r>
            <a:r>
              <a:rPr lang="en-US" altLang="en-US" sz="2400" dirty="0" err="1">
                <a:latin typeface="Times New Roman" panose="02020603050405020304" pitchFamily="18" charset="0"/>
                <a:cs typeface="Times New Roman" panose="02020603050405020304" pitchFamily="18" charset="0"/>
              </a:rPr>
              <a:t>V</a:t>
            </a:r>
            <a:r>
              <a:rPr lang="en-US" altLang="en-US" sz="2400" baseline="-25000" dirty="0" err="1">
                <a:latin typeface="Times New Roman" panose="02020603050405020304" pitchFamily="18" charset="0"/>
                <a:cs typeface="Times New Roman" panose="02020603050405020304" pitchFamily="18" charset="0"/>
              </a:rPr>
              <a:t>sat</a:t>
            </a:r>
            <a:r>
              <a:rPr lang="en-US" altLang="en-US" sz="2400" dirty="0">
                <a:latin typeface="Times New Roman" panose="02020603050405020304" pitchFamily="18" charset="0"/>
                <a:cs typeface="Times New Roman" panose="02020603050405020304" pitchFamily="18" charset="0"/>
              </a:rPr>
              <a:t> ( E is strong enough)</a:t>
            </a:r>
          </a:p>
          <a:p>
            <a:pPr eaLnBrk="1" hangingPunct="1"/>
            <a:r>
              <a:rPr lang="en-US" altLang="en-US" sz="2400" dirty="0">
                <a:latin typeface="Times New Roman" panose="02020603050405020304" pitchFamily="18" charset="0"/>
                <a:cs typeface="Times New Roman" panose="02020603050405020304" pitchFamily="18" charset="0"/>
              </a:rPr>
              <a:t>As </a:t>
            </a:r>
            <a:r>
              <a:rPr lang="en-US" altLang="en-US" sz="2400" dirty="0" err="1">
                <a:latin typeface="Times New Roman" panose="02020603050405020304" pitchFamily="18" charset="0"/>
                <a:cs typeface="Times New Roman" panose="02020603050405020304" pitchFamily="18" charset="0"/>
              </a:rPr>
              <a:t>V</a:t>
            </a:r>
            <a:r>
              <a:rPr lang="en-US" altLang="en-US" sz="2400" baseline="-25000" dirty="0" err="1">
                <a:latin typeface="Times New Roman" panose="02020603050405020304" pitchFamily="18" charset="0"/>
                <a:cs typeface="Times New Roman" panose="02020603050405020304" pitchFamily="18" charset="0"/>
              </a:rPr>
              <a:t>gs</a:t>
            </a:r>
            <a:r>
              <a:rPr lang="en-US" altLang="en-US" sz="2400" dirty="0">
                <a:latin typeface="Times New Roman" panose="02020603050405020304" pitchFamily="18" charset="0"/>
                <a:cs typeface="Times New Roman" panose="02020603050405020304" pitchFamily="18" charset="0"/>
              </a:rPr>
              <a:t> increases , the drain current saturates well before pinch-off occurs.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73F365-6B60-E9C2-8B49-F65C49585489}"/>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86021" name="Picture 4">
            <a:extLst>
              <a:ext uri="{FF2B5EF4-FFF2-40B4-BE49-F238E27FC236}">
                <a16:creationId xmlns:a16="http://schemas.microsoft.com/office/drawing/2014/main" id="{3CE74FD5-CD73-C0A0-9E06-29982F138E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3093"/>
            <a:ext cx="154622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2" name="TextBox 5">
            <a:extLst>
              <a:ext uri="{FF2B5EF4-FFF2-40B4-BE49-F238E27FC236}">
                <a16:creationId xmlns:a16="http://schemas.microsoft.com/office/drawing/2014/main" id="{04D31C6B-602E-1E52-5F47-C9E50E588E12}"/>
              </a:ext>
            </a:extLst>
          </p:cNvPr>
          <p:cNvSpPr txBox="1">
            <a:spLocks noChangeArrowheads="1"/>
          </p:cNvSpPr>
          <p:nvPr/>
        </p:nvSpPr>
        <p:spPr bwMode="auto">
          <a:xfrm>
            <a:off x="1546225" y="133093"/>
            <a:ext cx="90063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en-US" sz="3200" b="1" dirty="0">
                <a:highlight>
                  <a:srgbClr val="F89E4C"/>
                </a:highlight>
                <a:latin typeface="Times New Roman" panose="02020603050405020304" pitchFamily="18" charset="0"/>
                <a:cs typeface="Times New Roman" panose="02020603050405020304" pitchFamily="18" charset="0"/>
              </a:rPr>
              <a:t>Drain Induced Barrier Lowering</a:t>
            </a:r>
            <a:endParaRPr lang="en-US" sz="3200" dirty="0">
              <a:highlight>
                <a:srgbClr val="F89E4C"/>
              </a:highligh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0348D94-9434-9CED-9A86-99D8B405E0E9}"/>
              </a:ext>
            </a:extLst>
          </p:cNvPr>
          <p:cNvSpPr>
            <a:spLocks noChangeArrowheads="1"/>
          </p:cNvSpPr>
          <p:nvPr/>
        </p:nvSpPr>
        <p:spPr bwMode="auto">
          <a:xfrm>
            <a:off x="1251855" y="1920770"/>
            <a:ext cx="968829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000" b="1" dirty="0">
                <a:solidFill>
                  <a:srgbClr val="FF0000"/>
                </a:solidFill>
                <a:latin typeface="Times New Roman" panose="02020603050405020304" pitchFamily="18" charset="0"/>
                <a:cs typeface="Times New Roman" panose="02020603050405020304" pitchFamily="18" charset="0"/>
              </a:rPr>
              <a:t>If the gate voltage is not sufficient to invert the surface (i.e., gate voltage &lt; threshold voltage), the carriers in the channel will face a potential barrier that could block the flow. By increasing gate potential, we eliminate this potential barrier. But, for short channel devices, such a potential barrier is controlled by both </a:t>
            </a:r>
            <a:r>
              <a:rPr lang="en-US" altLang="en-US" sz="2000" b="1" dirty="0" err="1">
                <a:solidFill>
                  <a:srgbClr val="FF0000"/>
                </a:solidFill>
                <a:latin typeface="Times New Roman" panose="02020603050405020304" pitchFamily="18" charset="0"/>
                <a:cs typeface="Times New Roman" panose="02020603050405020304" pitchFamily="18" charset="0"/>
              </a:rPr>
              <a:t>V</a:t>
            </a:r>
            <a:r>
              <a:rPr lang="en-US" altLang="en-US" sz="2000" b="1" baseline="-25000" dirty="0" err="1">
                <a:solidFill>
                  <a:srgbClr val="FF0000"/>
                </a:solidFill>
                <a:latin typeface="Times New Roman" panose="02020603050405020304" pitchFamily="18" charset="0"/>
                <a:cs typeface="Times New Roman" panose="02020603050405020304" pitchFamily="18" charset="0"/>
              </a:rPr>
              <a:t>gs</a:t>
            </a:r>
            <a:r>
              <a:rPr lang="en-US" altLang="en-US" sz="2000" b="1" dirty="0">
                <a:solidFill>
                  <a:srgbClr val="FF0000"/>
                </a:solidFill>
                <a:latin typeface="Times New Roman" panose="02020603050405020304" pitchFamily="18" charset="0"/>
                <a:cs typeface="Times New Roman" panose="02020603050405020304" pitchFamily="18" charset="0"/>
              </a:rPr>
              <a:t> and </a:t>
            </a:r>
            <a:r>
              <a:rPr lang="en-US" altLang="en-US" sz="2000" b="1" dirty="0" err="1">
                <a:solidFill>
                  <a:srgbClr val="FF0000"/>
                </a:solidFill>
                <a:latin typeface="Times New Roman" panose="02020603050405020304" pitchFamily="18" charset="0"/>
                <a:cs typeface="Times New Roman" panose="02020603050405020304" pitchFamily="18" charset="0"/>
              </a:rPr>
              <a:t>V</a:t>
            </a:r>
            <a:r>
              <a:rPr lang="en-US" altLang="en-US" sz="2000" b="1" baseline="-25000" dirty="0" err="1">
                <a:solidFill>
                  <a:srgbClr val="FF0000"/>
                </a:solidFill>
                <a:latin typeface="Times New Roman" panose="02020603050405020304" pitchFamily="18" charset="0"/>
                <a:cs typeface="Times New Roman" panose="02020603050405020304" pitchFamily="18" charset="0"/>
              </a:rPr>
              <a:t>ds</a:t>
            </a:r>
            <a:r>
              <a:rPr lang="en-US" altLang="en-US" sz="2000" b="1" dirty="0">
                <a:solidFill>
                  <a:srgbClr val="FF0000"/>
                </a:solidFill>
                <a:latin typeface="Times New Roman" panose="02020603050405020304" pitchFamily="18" charset="0"/>
                <a:cs typeface="Times New Roman" panose="02020603050405020304" pitchFamily="18" charset="0"/>
              </a:rPr>
              <a:t>. If this drain voltage is increased, the depletion region of the drain-body increases in size and extends under the gate. So, the potential barrier in the channel decreases leading to carriers (electrons) flowing between source and drain, even at </a:t>
            </a:r>
            <a:r>
              <a:rPr lang="en-US" altLang="en-US" sz="2000" b="1" dirty="0" err="1">
                <a:solidFill>
                  <a:srgbClr val="FF0000"/>
                </a:solidFill>
                <a:latin typeface="Times New Roman" panose="02020603050405020304" pitchFamily="18" charset="0"/>
                <a:cs typeface="Times New Roman" panose="02020603050405020304" pitchFamily="18" charset="0"/>
              </a:rPr>
              <a:t>Vgs</a:t>
            </a:r>
            <a:r>
              <a:rPr lang="en-US" altLang="en-US" sz="2000" b="1" dirty="0">
                <a:solidFill>
                  <a:srgbClr val="FF0000"/>
                </a:solidFill>
                <a:latin typeface="Times New Roman" panose="02020603050405020304" pitchFamily="18" charset="0"/>
                <a:cs typeface="Times New Roman" panose="02020603050405020304" pitchFamily="18" charset="0"/>
              </a:rPr>
              <a:t> lower than Vt. The concept of drain lowering the channel barrier and reducing the threshold voltage is called DIBL. </a:t>
            </a:r>
          </a:p>
        </p:txBody>
      </p:sp>
      <p:sp>
        <p:nvSpPr>
          <p:cNvPr id="3" name="Rectangle 7">
            <a:extLst>
              <a:ext uri="{FF2B5EF4-FFF2-40B4-BE49-F238E27FC236}">
                <a16:creationId xmlns:a16="http://schemas.microsoft.com/office/drawing/2014/main" id="{13CD3AB5-8CF5-C363-C3D6-9250320E26E5}"/>
              </a:ext>
            </a:extLst>
          </p:cNvPr>
          <p:cNvSpPr>
            <a:spLocks noChangeArrowheads="1"/>
          </p:cNvSpPr>
          <p:nvPr/>
        </p:nvSpPr>
        <p:spPr bwMode="auto">
          <a:xfrm>
            <a:off x="3165823" y="5521491"/>
            <a:ext cx="6223108" cy="904863"/>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400" b="1" dirty="0">
                <a:latin typeface="Times New Roman" panose="02020603050405020304" pitchFamily="18" charset="0"/>
                <a:cs typeface="Times New Roman" panose="02020603050405020304" pitchFamily="18" charset="0"/>
              </a:rPr>
              <a:t>DIBL: drain induced barrier lowering. </a:t>
            </a:r>
          </a:p>
          <a:p>
            <a:pPr eaLnBrk="1" hangingPunct="1">
              <a:spcBef>
                <a:spcPct val="20000"/>
              </a:spcBef>
            </a:pPr>
            <a:r>
              <a:rPr lang="en-US" altLang="en-US" sz="2400" b="1" dirty="0">
                <a:latin typeface="Times New Roman" panose="02020603050405020304" pitchFamily="18" charset="0"/>
                <a:cs typeface="Times New Roman" panose="02020603050405020304" pitchFamily="18" charset="0"/>
              </a:rPr>
              <a:t>DIBL = d(V</a:t>
            </a:r>
            <a:r>
              <a:rPr lang="en-US" altLang="en-US" b="1" baseline="-25000" dirty="0">
                <a:latin typeface="Times New Roman" panose="02020603050405020304" pitchFamily="18" charset="0"/>
                <a:cs typeface="Times New Roman" panose="02020603050405020304" pitchFamily="18" charset="0"/>
              </a:rPr>
              <a:t>th</a:t>
            </a:r>
            <a:r>
              <a:rPr lang="en-US" altLang="en-US" sz="2400" b="1" dirty="0">
                <a:latin typeface="Times New Roman" panose="02020603050405020304" pitchFamily="18" charset="0"/>
                <a:cs typeface="Times New Roman" panose="02020603050405020304" pitchFamily="18" charset="0"/>
              </a:rPr>
              <a:t>)/d(</a:t>
            </a:r>
            <a:r>
              <a:rPr lang="en-US" altLang="en-US" sz="2400" b="1" dirty="0" err="1">
                <a:latin typeface="Times New Roman" panose="02020603050405020304" pitchFamily="18" charset="0"/>
                <a:cs typeface="Times New Roman" panose="02020603050405020304" pitchFamily="18" charset="0"/>
              </a:rPr>
              <a:t>V</a:t>
            </a:r>
            <a:r>
              <a:rPr lang="en-US" altLang="en-US" b="1" baseline="-25000" dirty="0" err="1">
                <a:latin typeface="Times New Roman" panose="02020603050405020304" pitchFamily="18" charset="0"/>
                <a:cs typeface="Times New Roman" panose="02020603050405020304" pitchFamily="18" charset="0"/>
              </a:rPr>
              <a:t>ds</a:t>
            </a:r>
            <a:r>
              <a:rPr lang="en-US" altLang="en-US" sz="2400" b="1" dirty="0">
                <a:latin typeface="Times New Roman" panose="02020603050405020304" pitchFamily="18" charset="0"/>
                <a:cs typeface="Times New Roman" panose="02020603050405020304" pitchFamily="18" charset="0"/>
              </a:rPr>
              <a:t>)</a:t>
            </a:r>
          </a:p>
        </p:txBody>
      </p:sp>
      <p:sp>
        <p:nvSpPr>
          <p:cNvPr id="5" name="Rectangle 4">
            <a:extLst>
              <a:ext uri="{FF2B5EF4-FFF2-40B4-BE49-F238E27FC236}">
                <a16:creationId xmlns:a16="http://schemas.microsoft.com/office/drawing/2014/main" id="{41D3E7F1-75AB-9086-980F-16D4356BD384}"/>
              </a:ext>
            </a:extLst>
          </p:cNvPr>
          <p:cNvSpPr>
            <a:spLocks noChangeArrowheads="1"/>
          </p:cNvSpPr>
          <p:nvPr/>
        </p:nvSpPr>
        <p:spPr bwMode="auto">
          <a:xfrm>
            <a:off x="1322614" y="1061358"/>
            <a:ext cx="9617531" cy="830997"/>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b="1" dirty="0">
                <a:solidFill>
                  <a:schemeClr val="bg1"/>
                </a:solidFill>
                <a:latin typeface="Times New Roman" panose="02020603050405020304" pitchFamily="18" charset="0"/>
                <a:cs typeface="Times New Roman" panose="02020603050405020304" pitchFamily="18" charset="0"/>
              </a:rPr>
              <a:t>DIBL which refers to the reduction of threshold voltage at higher drain voltage. </a:t>
            </a:r>
          </a:p>
        </p:txBody>
      </p:sp>
      <p:sp>
        <p:nvSpPr>
          <p:cNvPr id="6" name="Rectangle 5">
            <a:extLst>
              <a:ext uri="{FF2B5EF4-FFF2-40B4-BE49-F238E27FC236}">
                <a16:creationId xmlns:a16="http://schemas.microsoft.com/office/drawing/2014/main" id="{92BF5AFE-3606-6305-15BB-B848C0E6AFD0}"/>
              </a:ext>
            </a:extLst>
          </p:cNvPr>
          <p:cNvSpPr>
            <a:spLocks noChangeArrowheads="1"/>
          </p:cNvSpPr>
          <p:nvPr/>
        </p:nvSpPr>
        <p:spPr bwMode="auto">
          <a:xfrm>
            <a:off x="1322614" y="4664784"/>
            <a:ext cx="96175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b="1" dirty="0">
                <a:solidFill>
                  <a:srgbClr val="0070C0"/>
                </a:solidFill>
                <a:latin typeface="Times New Roman" panose="02020603050405020304" pitchFamily="18" charset="0"/>
                <a:cs typeface="Times New Roman" panose="02020603050405020304" pitchFamily="18" charset="0"/>
              </a:rPr>
              <a:t>The current that flows under such conditions is called sub-threshold current (off-state current).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859B-4987-C063-87D3-A4C1B26AFD29}"/>
              </a:ext>
            </a:extLst>
          </p:cNvPr>
          <p:cNvSpPr>
            <a:spLocks noGrp="1"/>
          </p:cNvSpPr>
          <p:nvPr>
            <p:ph type="ctrTitle"/>
          </p:nvPr>
        </p:nvSpPr>
        <p:spPr>
          <a:xfrm>
            <a:off x="1455174" y="357170"/>
            <a:ext cx="9212826" cy="500062"/>
          </a:xfrm>
          <a:solidFill>
            <a:srgbClr val="C00000"/>
          </a:solidFill>
          <a:ln>
            <a:miter lim="800000"/>
            <a:headEnd/>
            <a:tailEnd/>
          </a:ln>
        </p:spPr>
        <p:txBody>
          <a:bodyPr rtlCol="0">
            <a:noAutofit/>
          </a:bodyPr>
          <a:lstStyle/>
          <a:p>
            <a:pPr algn="ctr" fontAlgn="auto">
              <a:spcBef>
                <a:spcPts val="0"/>
              </a:spcBef>
              <a:spcAft>
                <a:spcPts val="0"/>
              </a:spcAft>
              <a:defRPr/>
            </a:pPr>
            <a:r>
              <a:rPr lang="en-US" sz="3200" b="1" dirty="0">
                <a:solidFill>
                  <a:schemeClr val="bg1"/>
                </a:solidFill>
                <a:latin typeface="Times New Roman" panose="02020603050405020304" pitchFamily="18" charset="0"/>
                <a:cs typeface="Times New Roman" panose="02020603050405020304" pitchFamily="18" charset="0"/>
              </a:rPr>
              <a:t>Sub-threshold Swing</a:t>
            </a:r>
          </a:p>
        </p:txBody>
      </p:sp>
      <p:pic>
        <p:nvPicPr>
          <p:cNvPr id="8" name="Picture 7">
            <a:extLst>
              <a:ext uri="{FF2B5EF4-FFF2-40B4-BE49-F238E27FC236}">
                <a16:creationId xmlns:a16="http://schemas.microsoft.com/office/drawing/2014/main" id="{E42A59A1-ACCD-5F1B-552A-9D245D3CA6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8156" y="137327"/>
            <a:ext cx="1196653" cy="83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3">
            <a:extLst>
              <a:ext uri="{FF2B5EF4-FFF2-40B4-BE49-F238E27FC236}">
                <a16:creationId xmlns:a16="http://schemas.microsoft.com/office/drawing/2014/main" id="{18C4381B-373A-AE5D-AC32-D65C297AB5AE}"/>
              </a:ext>
            </a:extLst>
          </p:cNvPr>
          <p:cNvSpPr txBox="1">
            <a:spLocks noChangeArrowheads="1"/>
          </p:cNvSpPr>
          <p:nvPr/>
        </p:nvSpPr>
        <p:spPr bwMode="auto">
          <a:xfrm>
            <a:off x="1455174" y="1202871"/>
            <a:ext cx="9212826" cy="2993572"/>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Font typeface="Wingdings" panose="05000000000000000000" pitchFamily="2" charset="2"/>
              <a:buChar char="Ø"/>
            </a:pPr>
            <a:r>
              <a:rPr lang="en-US" altLang="en-US" sz="2400" b="1" dirty="0">
                <a:solidFill>
                  <a:schemeClr val="bg1"/>
                </a:solidFill>
                <a:latin typeface="Times New Roman" panose="02020603050405020304" pitchFamily="18" charset="0"/>
                <a:cs typeface="Times New Roman" panose="02020603050405020304" pitchFamily="18" charset="0"/>
              </a:rPr>
              <a:t>Biasing a n-</a:t>
            </a:r>
            <a:r>
              <a:rPr lang="en-US" altLang="en-US" sz="2400" b="1" dirty="0" err="1">
                <a:solidFill>
                  <a:schemeClr val="bg1"/>
                </a:solidFill>
                <a:latin typeface="Times New Roman" panose="02020603050405020304" pitchFamily="18" charset="0"/>
                <a:cs typeface="Times New Roman" panose="02020603050405020304" pitchFamily="18" charset="0"/>
              </a:rPr>
              <a:t>mos</a:t>
            </a:r>
            <a:r>
              <a:rPr lang="en-US" altLang="en-US" sz="2400" b="1" dirty="0">
                <a:solidFill>
                  <a:schemeClr val="bg1"/>
                </a:solidFill>
                <a:latin typeface="Times New Roman" panose="02020603050405020304" pitchFamily="18" charset="0"/>
                <a:cs typeface="Times New Roman" panose="02020603050405020304" pitchFamily="18" charset="0"/>
              </a:rPr>
              <a:t> in sub-threshold region, </a:t>
            </a:r>
            <a:r>
              <a:rPr lang="en-US" altLang="en-US" sz="2400" b="1" dirty="0" err="1">
                <a:solidFill>
                  <a:schemeClr val="bg1"/>
                </a:solidFill>
                <a:latin typeface="Times New Roman" panose="02020603050405020304" pitchFamily="18" charset="0"/>
                <a:cs typeface="Times New Roman" panose="02020603050405020304" pitchFamily="18" charset="0"/>
              </a:rPr>
              <a:t>V</a:t>
            </a:r>
            <a:r>
              <a:rPr lang="en-US" altLang="en-US" sz="2400" b="1" baseline="-25000" dirty="0" err="1">
                <a:solidFill>
                  <a:schemeClr val="bg1"/>
                </a:solidFill>
                <a:latin typeface="Times New Roman" panose="02020603050405020304" pitchFamily="18" charset="0"/>
                <a:cs typeface="Times New Roman" panose="02020603050405020304" pitchFamily="18" charset="0"/>
              </a:rPr>
              <a:t>gs</a:t>
            </a:r>
            <a:r>
              <a:rPr lang="en-US" altLang="en-US" sz="2400" b="1" dirty="0">
                <a:solidFill>
                  <a:schemeClr val="bg1"/>
                </a:solidFill>
                <a:latin typeface="Times New Roman" panose="02020603050405020304" pitchFamily="18" charset="0"/>
                <a:cs typeface="Times New Roman" panose="02020603050405020304" pitchFamily="18" charset="0"/>
              </a:rPr>
              <a:t> &lt; V</a:t>
            </a:r>
            <a:r>
              <a:rPr lang="en-US" altLang="en-US" sz="2400" b="1" baseline="-25000" dirty="0">
                <a:solidFill>
                  <a:schemeClr val="bg1"/>
                </a:solidFill>
                <a:latin typeface="Times New Roman" panose="02020603050405020304" pitchFamily="18" charset="0"/>
                <a:cs typeface="Times New Roman" panose="02020603050405020304" pitchFamily="18" charset="0"/>
              </a:rPr>
              <a:t>th</a:t>
            </a:r>
            <a:r>
              <a:rPr lang="en-US" altLang="en-US" sz="2400" b="1" dirty="0">
                <a:solidFill>
                  <a:schemeClr val="bg1"/>
                </a:solidFill>
                <a:latin typeface="Times New Roman" panose="02020603050405020304" pitchFamily="18" charset="0"/>
                <a:cs typeface="Times New Roman" panose="02020603050405020304" pitchFamily="18" charset="0"/>
              </a:rPr>
              <a:t>, </a:t>
            </a:r>
            <a:r>
              <a:rPr lang="en-US" altLang="en-US" sz="2400" b="1" dirty="0" err="1">
                <a:solidFill>
                  <a:schemeClr val="bg1"/>
                </a:solidFill>
                <a:latin typeface="Times New Roman" panose="02020603050405020304" pitchFamily="18" charset="0"/>
                <a:cs typeface="Times New Roman" panose="02020603050405020304" pitchFamily="18" charset="0"/>
              </a:rPr>
              <a:t>V</a:t>
            </a:r>
            <a:r>
              <a:rPr lang="en-US" altLang="en-US" sz="2400" b="1" baseline="-25000" dirty="0" err="1">
                <a:solidFill>
                  <a:schemeClr val="bg1"/>
                </a:solidFill>
                <a:latin typeface="Times New Roman" panose="02020603050405020304" pitchFamily="18" charset="0"/>
                <a:cs typeface="Times New Roman" panose="02020603050405020304" pitchFamily="18" charset="0"/>
              </a:rPr>
              <a:t>ds</a:t>
            </a:r>
            <a:r>
              <a:rPr lang="en-US" altLang="en-US" sz="2400" b="1" dirty="0">
                <a:solidFill>
                  <a:schemeClr val="bg1"/>
                </a:solidFill>
                <a:latin typeface="Times New Roman" panose="02020603050405020304" pitchFamily="18" charset="0"/>
                <a:cs typeface="Times New Roman" panose="02020603050405020304" pitchFamily="18" charset="0"/>
              </a:rPr>
              <a:t> is large enough.</a:t>
            </a:r>
          </a:p>
          <a:p>
            <a:pPr algn="just" eaLnBrk="1" hangingPunct="1">
              <a:spcBef>
                <a:spcPct val="20000"/>
              </a:spcBef>
              <a:buFont typeface="Wingdings" panose="05000000000000000000" pitchFamily="2" charset="2"/>
              <a:buChar char="Ø"/>
            </a:pPr>
            <a:r>
              <a:rPr lang="en-US" altLang="en-US" sz="2400" b="1" dirty="0">
                <a:solidFill>
                  <a:schemeClr val="bg1"/>
                </a:solidFill>
                <a:latin typeface="Times New Roman" panose="02020603050405020304" pitchFamily="18" charset="0"/>
                <a:cs typeface="Times New Roman" panose="02020603050405020304" pitchFamily="18" charset="0"/>
              </a:rPr>
              <a:t>Sub-threshold Swing   S = d(</a:t>
            </a:r>
            <a:r>
              <a:rPr lang="en-US" altLang="en-US" sz="2400" b="1" dirty="0" err="1">
                <a:solidFill>
                  <a:schemeClr val="bg1"/>
                </a:solidFill>
                <a:latin typeface="Times New Roman" panose="02020603050405020304" pitchFamily="18" charset="0"/>
                <a:cs typeface="Times New Roman" panose="02020603050405020304" pitchFamily="18" charset="0"/>
              </a:rPr>
              <a:t>V</a:t>
            </a:r>
            <a:r>
              <a:rPr lang="en-US" altLang="en-US" sz="2400" b="1" baseline="-25000" dirty="0" err="1">
                <a:solidFill>
                  <a:schemeClr val="bg1"/>
                </a:solidFill>
                <a:latin typeface="Times New Roman" panose="02020603050405020304" pitchFamily="18" charset="0"/>
                <a:cs typeface="Times New Roman" panose="02020603050405020304" pitchFamily="18" charset="0"/>
              </a:rPr>
              <a:t>gs</a:t>
            </a:r>
            <a:r>
              <a:rPr lang="en-US" altLang="en-US" sz="2400" b="1" dirty="0">
                <a:solidFill>
                  <a:schemeClr val="bg1"/>
                </a:solidFill>
                <a:latin typeface="Times New Roman" panose="02020603050405020304" pitchFamily="18" charset="0"/>
                <a:cs typeface="Times New Roman" panose="02020603050405020304" pitchFamily="18" charset="0"/>
              </a:rPr>
              <a:t>)/d(log(I</a:t>
            </a:r>
            <a:r>
              <a:rPr lang="en-US" altLang="en-US" sz="2400" b="1" baseline="-25000" dirty="0">
                <a:solidFill>
                  <a:schemeClr val="bg1"/>
                </a:solidFill>
                <a:latin typeface="Times New Roman" panose="02020603050405020304" pitchFamily="18" charset="0"/>
                <a:cs typeface="Times New Roman" panose="02020603050405020304" pitchFamily="18" charset="0"/>
              </a:rPr>
              <a:t>d</a:t>
            </a:r>
            <a:r>
              <a:rPr lang="en-US" altLang="en-US" sz="2400" b="1" dirty="0">
                <a:solidFill>
                  <a:schemeClr val="bg1"/>
                </a:solidFill>
                <a:latin typeface="Times New Roman" panose="02020603050405020304" pitchFamily="18" charset="0"/>
                <a:cs typeface="Times New Roman" panose="02020603050405020304" pitchFamily="18" charset="0"/>
              </a:rPr>
              <a:t>)) = 2.3 KT/q(1+ C</a:t>
            </a:r>
            <a:r>
              <a:rPr lang="en-US" altLang="en-US" sz="2400" b="1" baseline="-25000" dirty="0">
                <a:solidFill>
                  <a:schemeClr val="bg1"/>
                </a:solidFill>
                <a:latin typeface="Times New Roman" panose="02020603050405020304" pitchFamily="18" charset="0"/>
                <a:cs typeface="Times New Roman" panose="02020603050405020304" pitchFamily="18" charset="0"/>
              </a:rPr>
              <a:t>d</a:t>
            </a:r>
            <a:r>
              <a:rPr lang="en-US" altLang="en-US" sz="2400" b="1" dirty="0">
                <a:solidFill>
                  <a:schemeClr val="bg1"/>
                </a:solidFill>
                <a:latin typeface="Times New Roman" panose="02020603050405020304" pitchFamily="18" charset="0"/>
                <a:cs typeface="Times New Roman" panose="02020603050405020304" pitchFamily="18" charset="0"/>
              </a:rPr>
              <a:t>/C</a:t>
            </a:r>
            <a:r>
              <a:rPr lang="en-US" altLang="en-US" sz="2400" b="1" baseline="-25000" dirty="0">
                <a:solidFill>
                  <a:schemeClr val="bg1"/>
                </a:solidFill>
                <a:latin typeface="Times New Roman" panose="02020603050405020304" pitchFamily="18" charset="0"/>
                <a:cs typeface="Times New Roman" panose="02020603050405020304" pitchFamily="18" charset="0"/>
              </a:rPr>
              <a:t>ox</a:t>
            </a:r>
            <a:r>
              <a:rPr lang="en-US" altLang="en-US" sz="2400" b="1" dirty="0">
                <a:solidFill>
                  <a:schemeClr val="bg1"/>
                </a:solidFill>
                <a:latin typeface="Times New Roman" panose="02020603050405020304" pitchFamily="18" charset="0"/>
                <a:cs typeface="Times New Roman" panose="02020603050405020304" pitchFamily="18" charset="0"/>
              </a:rPr>
              <a:t>) </a:t>
            </a:r>
          </a:p>
          <a:p>
            <a:pPr algn="just" eaLnBrk="1" hangingPunct="1">
              <a:spcBef>
                <a:spcPct val="20000"/>
              </a:spcBef>
              <a:buFont typeface="Wingdings" panose="05000000000000000000" pitchFamily="2" charset="2"/>
              <a:buChar char="Ø"/>
            </a:pPr>
            <a:r>
              <a:rPr lang="en-US" altLang="en-US" sz="2400" b="1" dirty="0">
                <a:solidFill>
                  <a:schemeClr val="bg1"/>
                </a:solidFill>
                <a:latin typeface="Times New Roman" panose="02020603050405020304" pitchFamily="18" charset="0"/>
                <a:cs typeface="Times New Roman" panose="02020603050405020304" pitchFamily="18" charset="0"/>
              </a:rPr>
              <a:t>The smaller S is , the better it is.</a:t>
            </a:r>
          </a:p>
          <a:p>
            <a:pPr algn="just" eaLnBrk="1" hangingPunct="1">
              <a:spcBef>
                <a:spcPct val="20000"/>
              </a:spcBef>
              <a:buFont typeface="Wingdings" panose="05000000000000000000" pitchFamily="2" charset="2"/>
              <a:buChar char="Ø"/>
            </a:pPr>
            <a:r>
              <a:rPr lang="en-US" altLang="en-US" sz="2400" b="1" dirty="0">
                <a:solidFill>
                  <a:schemeClr val="bg1"/>
                </a:solidFill>
                <a:latin typeface="Times New Roman" panose="02020603050405020304" pitchFamily="18" charset="0"/>
                <a:cs typeface="Times New Roman" panose="02020603050405020304" pitchFamily="18" charset="0"/>
              </a:rPr>
              <a:t>Bad Sub-threshold Swing will result in higher off-state current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5EE8-FF3C-E79C-805F-3D3AD50798DD}"/>
              </a:ext>
            </a:extLst>
          </p:cNvPr>
          <p:cNvSpPr>
            <a:spLocks noGrp="1"/>
          </p:cNvSpPr>
          <p:nvPr>
            <p:ph type="ctrTitle"/>
          </p:nvPr>
        </p:nvSpPr>
        <p:spPr>
          <a:xfrm>
            <a:off x="1327355" y="226142"/>
            <a:ext cx="9340645" cy="572097"/>
          </a:xfrm>
          <a:solidFill>
            <a:srgbClr val="C00000"/>
          </a:solidFill>
          <a:ln>
            <a:miter lim="800000"/>
            <a:headEnd/>
            <a:tailEnd/>
          </a:ln>
        </p:spPr>
        <p:txBody>
          <a:bodyPr rtlCol="0">
            <a:noAutofit/>
          </a:bodyPr>
          <a:lstStyle/>
          <a:p>
            <a:pPr algn="ctr" fontAlgn="auto">
              <a:spcBef>
                <a:spcPts val="0"/>
              </a:spcBef>
              <a:spcAft>
                <a:spcPts val="0"/>
              </a:spcAft>
              <a:defRPr/>
            </a:pPr>
            <a:r>
              <a:rPr lang="en-US" sz="3600" b="1" dirty="0">
                <a:solidFill>
                  <a:schemeClr val="bg1"/>
                </a:solidFill>
                <a:latin typeface="Times New Roman" panose="02020603050405020304" pitchFamily="18" charset="0"/>
                <a:cs typeface="Times New Roman" panose="02020603050405020304" pitchFamily="18" charset="0"/>
              </a:rPr>
              <a:t>Punch-through</a:t>
            </a:r>
            <a:endParaRPr lang="en-US" sz="36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7CC7563-173B-06A2-89B3-F2720C7574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577" y="58593"/>
            <a:ext cx="1282777" cy="73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3B229DF8-B17C-7B2F-632E-57FFBA55CAB3}"/>
              </a:ext>
            </a:extLst>
          </p:cNvPr>
          <p:cNvSpPr>
            <a:spLocks noChangeArrowheads="1"/>
          </p:cNvSpPr>
          <p:nvPr/>
        </p:nvSpPr>
        <p:spPr bwMode="auto">
          <a:xfrm>
            <a:off x="1327354" y="1101044"/>
            <a:ext cx="9340644" cy="1200329"/>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When the drain bias is increased, the depletion region surrounding the drain can extend further towards the source with two depletion regions merging. This condition is called punch-through. </a:t>
            </a:r>
          </a:p>
        </p:txBody>
      </p:sp>
      <p:sp>
        <p:nvSpPr>
          <p:cNvPr id="4" name="Rectangle 2">
            <a:extLst>
              <a:ext uri="{FF2B5EF4-FFF2-40B4-BE49-F238E27FC236}">
                <a16:creationId xmlns:a16="http://schemas.microsoft.com/office/drawing/2014/main" id="{72C8602F-6E86-8425-0642-A011092980F4}"/>
              </a:ext>
            </a:extLst>
          </p:cNvPr>
          <p:cNvSpPr>
            <a:spLocks noChangeArrowheads="1"/>
          </p:cNvSpPr>
          <p:nvPr/>
        </p:nvSpPr>
        <p:spPr bwMode="auto">
          <a:xfrm>
            <a:off x="1282776" y="2781896"/>
            <a:ext cx="9314467" cy="1038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000" b="1" dirty="0">
                <a:solidFill>
                  <a:srgbClr val="FF0000"/>
                </a:solidFill>
                <a:latin typeface="Times New Roman" panose="02020603050405020304" pitchFamily="18" charset="0"/>
                <a:cs typeface="Times New Roman" panose="02020603050405020304" pitchFamily="18" charset="0"/>
              </a:rPr>
              <a:t>The punch-through effect increases with decreasing channel length. Due to punch-through, we cannot turn off the device, so the device becomes useless as shown in the figure 4.</a:t>
            </a:r>
          </a:p>
        </p:txBody>
      </p:sp>
      <p:pic>
        <p:nvPicPr>
          <p:cNvPr id="5" name="Picture 2" descr="https://static.designandreuse.com/news_img17/20170201_4.jpg">
            <a:extLst>
              <a:ext uri="{FF2B5EF4-FFF2-40B4-BE49-F238E27FC236}">
                <a16:creationId xmlns:a16="http://schemas.microsoft.com/office/drawing/2014/main" id="{9EBFA776-615C-E75B-D86B-E4D5EEDB4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7876" y="3820886"/>
            <a:ext cx="44196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a:extLst>
              <a:ext uri="{FF2B5EF4-FFF2-40B4-BE49-F238E27FC236}">
                <a16:creationId xmlns:a16="http://schemas.microsoft.com/office/drawing/2014/main" id="{33E07D20-8968-C5BF-8E8B-64E0DCCE4285}"/>
              </a:ext>
            </a:extLst>
          </p:cNvPr>
          <p:cNvSpPr>
            <a:spLocks noChangeArrowheads="1"/>
          </p:cNvSpPr>
          <p:nvPr/>
        </p:nvSpPr>
        <p:spPr bwMode="auto">
          <a:xfrm>
            <a:off x="3082925" y="5921149"/>
            <a:ext cx="60447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latin typeface="Times New Roman" panose="02020603050405020304" pitchFamily="18" charset="0"/>
                <a:cs typeface="Times New Roman" panose="02020603050405020304" pitchFamily="18" charset="0"/>
              </a:rPr>
              <a:t> Figure: Punch through – merging of two depletion region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F8556A-8279-67B3-1273-723D3747B0E3}"/>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89093" name="Picture 4">
            <a:extLst>
              <a:ext uri="{FF2B5EF4-FFF2-40B4-BE49-F238E27FC236}">
                <a16:creationId xmlns:a16="http://schemas.microsoft.com/office/drawing/2014/main" id="{83142AB6-2EDE-1E02-0F24-9D6844CFC7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6" y="161192"/>
            <a:ext cx="1263548"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4" name="TextBox 5">
            <a:extLst>
              <a:ext uri="{FF2B5EF4-FFF2-40B4-BE49-F238E27FC236}">
                <a16:creationId xmlns:a16="http://schemas.microsoft.com/office/drawing/2014/main" id="{D80B7ED8-F5A2-4218-775A-EF90C736D9B6}"/>
              </a:ext>
            </a:extLst>
          </p:cNvPr>
          <p:cNvSpPr txBox="1">
            <a:spLocks noChangeArrowheads="1"/>
          </p:cNvSpPr>
          <p:nvPr/>
        </p:nvSpPr>
        <p:spPr bwMode="auto">
          <a:xfrm>
            <a:off x="1197429" y="60735"/>
            <a:ext cx="103631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en-US" sz="3600" b="1" dirty="0">
                <a:solidFill>
                  <a:schemeClr val="bg1"/>
                </a:solidFill>
                <a:highlight>
                  <a:srgbClr val="FF0000"/>
                </a:highlight>
                <a:latin typeface="Times New Roman" panose="02020603050405020304" pitchFamily="18" charset="0"/>
                <a:cs typeface="Times New Roman" panose="02020603050405020304" pitchFamily="18" charset="0"/>
              </a:rPr>
              <a:t>Hot Carrier Effects</a:t>
            </a:r>
            <a:endParaRPr lang="en-US" sz="3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68CED78F-4411-9D5A-15C0-A516EE79FDC5}"/>
              </a:ext>
            </a:extLst>
          </p:cNvPr>
          <p:cNvSpPr>
            <a:spLocks noChangeArrowheads="1"/>
          </p:cNvSpPr>
          <p:nvPr/>
        </p:nvSpPr>
        <p:spPr bwMode="auto">
          <a:xfrm>
            <a:off x="1676400" y="1942420"/>
            <a:ext cx="8991600" cy="2677656"/>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For smaller geometric devices, the electric field increases especially near the drain. As a result, the electrons (carriers) get a significant amount of energy which are called hot carriers.</a:t>
            </a:r>
          </a:p>
          <a:p>
            <a:pPr algn="just" eaLnBrk="1" hangingPunct="1">
              <a:buFont typeface="Wingdings" panose="05000000000000000000" pitchFamily="2" charset="2"/>
              <a:buChar char="Ø"/>
            </a:pPr>
            <a:r>
              <a:rPr lang="en-US" altLang="en-US" sz="2400" b="1" dirty="0">
                <a:solidFill>
                  <a:srgbClr val="FF0000"/>
                </a:solidFill>
                <a:latin typeface="Times New Roman" panose="02020603050405020304" pitchFamily="18" charset="0"/>
                <a:cs typeface="Times New Roman" panose="02020603050405020304" pitchFamily="18" charset="0"/>
              </a:rPr>
              <a:t>Some of them get nearly enough energy which lead to impact ionization near drain, whereby new electron-hole pairs are generated. </a:t>
            </a:r>
          </a:p>
          <a:p>
            <a:pPr algn="just" eaLnBrk="1" hangingPunct="1">
              <a:buFont typeface="Wingdings" panose="05000000000000000000" pitchFamily="2" charset="2"/>
              <a:buChar char="Ø"/>
            </a:pPr>
            <a:r>
              <a:rPr lang="en-US" altLang="en-US" sz="2400" b="1" dirty="0">
                <a:solidFill>
                  <a:srgbClr val="FF0000"/>
                </a:solidFill>
                <a:latin typeface="Times New Roman" panose="02020603050405020304" pitchFamily="18" charset="0"/>
                <a:cs typeface="Times New Roman" panose="02020603050405020304" pitchFamily="18" charset="0"/>
              </a:rPr>
              <a:t>As an effect, it gives rise to drain-to-body current (</a:t>
            </a:r>
            <a:r>
              <a:rPr lang="en-US" altLang="en-US" sz="2400" b="1" dirty="0" err="1">
                <a:solidFill>
                  <a:srgbClr val="FF0000"/>
                </a:solidFill>
                <a:latin typeface="Times New Roman" panose="02020603050405020304" pitchFamily="18" charset="0"/>
                <a:cs typeface="Times New Roman" panose="02020603050405020304" pitchFamily="18" charset="0"/>
              </a:rPr>
              <a:t>I</a:t>
            </a:r>
            <a:r>
              <a:rPr lang="en-US" altLang="en-US" sz="2400" b="1" baseline="-25000" dirty="0" err="1">
                <a:solidFill>
                  <a:srgbClr val="FF0000"/>
                </a:solidFill>
                <a:latin typeface="Times New Roman" panose="02020603050405020304" pitchFamily="18" charset="0"/>
                <a:cs typeface="Times New Roman" panose="02020603050405020304" pitchFamily="18" charset="0"/>
              </a:rPr>
              <a:t>db</a:t>
            </a:r>
            <a:r>
              <a:rPr lang="en-US" altLang="en-US" sz="2400" b="1" dirty="0">
                <a:solidFill>
                  <a:srgbClr val="FF0000"/>
                </a:solidFill>
                <a:latin typeface="Times New Roman" panose="02020603050405020304" pitchFamily="18" charset="0"/>
                <a:cs typeface="Times New Roman" panose="02020603050405020304"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CE6CDF-E6A3-C5C5-75A1-61F7BB1579B3}"/>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90117" name="Picture 4">
            <a:extLst>
              <a:ext uri="{FF2B5EF4-FFF2-40B4-BE49-F238E27FC236}">
                <a16:creationId xmlns:a16="http://schemas.microsoft.com/office/drawing/2014/main" id="{E4CAFC78-40BE-0C24-88D7-60BA4956B7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733" y="43825"/>
            <a:ext cx="89166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TextBox 5">
            <a:extLst>
              <a:ext uri="{FF2B5EF4-FFF2-40B4-BE49-F238E27FC236}">
                <a16:creationId xmlns:a16="http://schemas.microsoft.com/office/drawing/2014/main" id="{73C2C0EE-11DD-2657-981A-0BC1CB3B413F}"/>
              </a:ext>
            </a:extLst>
          </p:cNvPr>
          <p:cNvSpPr txBox="1">
            <a:spLocks noChangeArrowheads="1"/>
          </p:cNvSpPr>
          <p:nvPr/>
        </p:nvSpPr>
        <p:spPr bwMode="auto">
          <a:xfrm>
            <a:off x="813970" y="111781"/>
            <a:ext cx="111694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en-US" sz="3200" b="1" dirty="0">
                <a:solidFill>
                  <a:schemeClr val="bg1"/>
                </a:solidFill>
                <a:highlight>
                  <a:srgbClr val="FF0000"/>
                </a:highlight>
                <a:latin typeface="Times New Roman" panose="02020603050405020304" pitchFamily="18" charset="0"/>
                <a:cs typeface="Times New Roman" panose="02020603050405020304" pitchFamily="18" charset="0"/>
              </a:rPr>
              <a:t>Controlling Effects of Scaling/ Short Channel </a:t>
            </a:r>
            <a:endParaRPr lang="en-US" sz="3200" dirty="0">
              <a:solidFill>
                <a:schemeClr val="bg1"/>
              </a:solidFill>
              <a:highlight>
                <a:srgbClr val="FF0000"/>
              </a:highlight>
              <a:latin typeface="Times New Roman" panose="02020603050405020304" pitchFamily="18" charset="0"/>
              <a:cs typeface="Times New Roman" panose="02020603050405020304" pitchFamily="18" charset="0"/>
            </a:endParaRPr>
          </a:p>
        </p:txBody>
      </p:sp>
      <p:graphicFrame>
        <p:nvGraphicFramePr>
          <p:cNvPr id="3" name="Diagram 2">
            <a:extLst>
              <a:ext uri="{FF2B5EF4-FFF2-40B4-BE49-F238E27FC236}">
                <a16:creationId xmlns:a16="http://schemas.microsoft.com/office/drawing/2014/main" id="{4BFB4D76-ED7F-887D-043E-78732ABC20AA}"/>
              </a:ext>
            </a:extLst>
          </p:cNvPr>
          <p:cNvGraphicFramePr/>
          <p:nvPr>
            <p:extLst>
              <p:ext uri="{D42A27DB-BD31-4B8C-83A1-F6EECF244321}">
                <p14:modId xmlns:p14="http://schemas.microsoft.com/office/powerpoint/2010/main" val="2039473299"/>
              </p:ext>
            </p:extLst>
          </p:nvPr>
        </p:nvGraphicFramePr>
        <p:xfrm>
          <a:off x="2133599" y="557213"/>
          <a:ext cx="9378043" cy="57340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E78801-6276-46E9-E012-72E43CF3CAEB}"/>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91141" name="Picture 4">
            <a:extLst>
              <a:ext uri="{FF2B5EF4-FFF2-40B4-BE49-F238E27FC236}">
                <a16:creationId xmlns:a16="http://schemas.microsoft.com/office/drawing/2014/main" id="{0BFA9F92-0CB7-C9E4-998E-C5D4EB1E19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94450"/>
            <a:ext cx="1317523"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2" name="TextBox 5">
            <a:extLst>
              <a:ext uri="{FF2B5EF4-FFF2-40B4-BE49-F238E27FC236}">
                <a16:creationId xmlns:a16="http://schemas.microsoft.com/office/drawing/2014/main" id="{46C8D599-2EDD-4F67-8F2B-330D4EF9A757}"/>
              </a:ext>
            </a:extLst>
          </p:cNvPr>
          <p:cNvSpPr txBox="1">
            <a:spLocks noChangeArrowheads="1"/>
          </p:cNvSpPr>
          <p:nvPr/>
        </p:nvSpPr>
        <p:spPr bwMode="auto">
          <a:xfrm>
            <a:off x="1524001" y="127000"/>
            <a:ext cx="94193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en-US" sz="3200" b="1" dirty="0">
                <a:solidFill>
                  <a:schemeClr val="bg1"/>
                </a:solidFill>
                <a:highlight>
                  <a:srgbClr val="FF0000"/>
                </a:highlight>
                <a:latin typeface="Times New Roman" panose="02020603050405020304" pitchFamily="18" charset="0"/>
                <a:cs typeface="Times New Roman" panose="02020603050405020304" pitchFamily="18" charset="0"/>
              </a:rPr>
              <a:t>Controlling Effects </a:t>
            </a:r>
            <a:r>
              <a:rPr lang="bn-BD" sz="3200" b="1" dirty="0">
                <a:solidFill>
                  <a:schemeClr val="bg1"/>
                </a:solidFill>
                <a:highlight>
                  <a:srgbClr val="FF0000"/>
                </a:highlight>
                <a:latin typeface="Times New Roman" panose="02020603050405020304" pitchFamily="18" charset="0"/>
              </a:rPr>
              <a:t>o</a:t>
            </a:r>
            <a:r>
              <a:rPr lang="en-US" sz="3200" b="1" dirty="0">
                <a:solidFill>
                  <a:schemeClr val="bg1"/>
                </a:solidFill>
                <a:highlight>
                  <a:srgbClr val="FF0000"/>
                </a:highlight>
                <a:latin typeface="Times New Roman" panose="02020603050405020304" pitchFamily="18" charset="0"/>
                <a:cs typeface="Times New Roman" panose="02020603050405020304" pitchFamily="18" charset="0"/>
              </a:rPr>
              <a:t>f Scaling/ Short Channel </a:t>
            </a:r>
            <a:endParaRPr lang="en-US" sz="32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081CE7E-AE8E-DAF5-5A23-2EBCE453F5BC}"/>
              </a:ext>
            </a:extLst>
          </p:cNvPr>
          <p:cNvSpPr txBox="1"/>
          <p:nvPr/>
        </p:nvSpPr>
        <p:spPr>
          <a:xfrm>
            <a:off x="1524000" y="1322614"/>
            <a:ext cx="9144000" cy="2246769"/>
          </a:xfrm>
          <a:prstGeom prst="rect">
            <a:avLst/>
          </a:prstGeom>
          <a:noFill/>
        </p:spPr>
        <p:txBody>
          <a:bodyPr wrap="square">
            <a:spAutoFit/>
          </a:bodyPr>
          <a:lstStyle/>
          <a:p>
            <a:pPr eaLnBrk="1" hangingPunct="1">
              <a:buFont typeface="Wingdings" panose="05000000000000000000" pitchFamily="2" charset="2"/>
              <a:buChar char="Ø"/>
            </a:pPr>
            <a:r>
              <a:rPr lang="en-US" altLang="en-US" sz="2800" b="1" dirty="0">
                <a:solidFill>
                  <a:srgbClr val="FF0000"/>
                </a:solidFill>
                <a:latin typeface="Times New Roman" panose="02020603050405020304" pitchFamily="18" charset="0"/>
                <a:cs typeface="Times New Roman" panose="02020603050405020304" pitchFamily="18" charset="0"/>
              </a:rPr>
              <a:t>Increasing</a:t>
            </a:r>
            <a:r>
              <a:rPr lang="en-US" altLang="en-US" sz="2800" b="1" dirty="0">
                <a:latin typeface="Times New Roman" panose="02020603050405020304" pitchFamily="18" charset="0"/>
                <a:cs typeface="Times New Roman" panose="02020603050405020304" pitchFamily="18" charset="0"/>
              </a:rPr>
              <a:t>  Channel doping concentration </a:t>
            </a:r>
          </a:p>
          <a:p>
            <a:pPr eaLnBrk="1" hangingPunct="1">
              <a:buFont typeface="Wingdings" panose="05000000000000000000" pitchFamily="2" charset="2"/>
              <a:buChar char="Ø"/>
            </a:pPr>
            <a:r>
              <a:rPr lang="en-US" altLang="en-US" sz="2800" b="1" dirty="0">
                <a:solidFill>
                  <a:srgbClr val="FF0000"/>
                </a:solidFill>
                <a:latin typeface="Times New Roman" panose="02020603050405020304" pitchFamily="18" charset="0"/>
                <a:cs typeface="Times New Roman" panose="02020603050405020304" pitchFamily="18" charset="0"/>
              </a:rPr>
              <a:t>Increasing</a:t>
            </a:r>
            <a:r>
              <a:rPr lang="en-US" altLang="en-US" sz="2800" b="1" dirty="0">
                <a:latin typeface="Times New Roman" panose="02020603050405020304" pitchFamily="18" charset="0"/>
                <a:cs typeface="Times New Roman" panose="02020603050405020304" pitchFamily="18" charset="0"/>
              </a:rPr>
              <a:t>  Gate capacitance, </a:t>
            </a:r>
            <a:r>
              <a:rPr lang="en-US" altLang="en-US" sz="2800" b="1" dirty="0">
                <a:solidFill>
                  <a:srgbClr val="FF0000"/>
                </a:solidFill>
                <a:latin typeface="Times New Roman" panose="02020603050405020304" pitchFamily="18" charset="0"/>
                <a:cs typeface="Times New Roman" panose="02020603050405020304" pitchFamily="18" charset="0"/>
              </a:rPr>
              <a:t>or both. </a:t>
            </a:r>
          </a:p>
          <a:p>
            <a:pPr eaLnBrk="1" hangingPunct="1">
              <a:buFont typeface="Wingdings" panose="05000000000000000000" pitchFamily="2" charset="2"/>
              <a:buChar char="Ø"/>
            </a:pPr>
            <a:r>
              <a:rPr lang="en-US" altLang="en-US" sz="2800" b="1" dirty="0">
                <a:solidFill>
                  <a:srgbClr val="FF0000"/>
                </a:solidFill>
                <a:latin typeface="Times New Roman" panose="02020603050405020304" pitchFamily="18" charset="0"/>
                <a:cs typeface="Times New Roman" panose="02020603050405020304" pitchFamily="18" charset="0"/>
              </a:rPr>
              <a:t>Mobility Booster</a:t>
            </a:r>
            <a:r>
              <a:rPr lang="en-US" altLang="en-US" sz="2800" b="1" dirty="0">
                <a:latin typeface="Times New Roman" panose="02020603050405020304" pitchFamily="18" charset="0"/>
                <a:cs typeface="Times New Roman" panose="02020603050405020304" pitchFamily="18" charset="0"/>
              </a:rPr>
              <a:t>: Strained Silicon Technology</a:t>
            </a:r>
          </a:p>
          <a:p>
            <a:pPr eaLnBrk="1" hangingPunct="1">
              <a:buFont typeface="Wingdings" panose="05000000000000000000" pitchFamily="2" charset="2"/>
              <a:buChar char="Ø"/>
            </a:pPr>
            <a:r>
              <a:rPr lang="en-US" altLang="en-US" sz="2800" b="1" dirty="0">
                <a:solidFill>
                  <a:srgbClr val="FF0000"/>
                </a:solidFill>
                <a:latin typeface="Times New Roman" panose="02020603050405020304" pitchFamily="18" charset="0"/>
                <a:cs typeface="Times New Roman" panose="02020603050405020304" pitchFamily="18" charset="0"/>
              </a:rPr>
              <a:t>Gate Leakage Reduction</a:t>
            </a:r>
            <a:r>
              <a:rPr lang="en-US" altLang="en-US" sz="2800" b="1" dirty="0">
                <a:latin typeface="Times New Roman" panose="02020603050405020304" pitchFamily="18" charset="0"/>
                <a:cs typeface="Times New Roman" panose="02020603050405020304" pitchFamily="18" charset="0"/>
              </a:rPr>
              <a:t>: High-K Dielectric</a:t>
            </a:r>
            <a:endParaRPr lang="en-US" altLang="en-US" sz="28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2800" b="1" dirty="0">
                <a:solidFill>
                  <a:srgbClr val="FF0000"/>
                </a:solidFill>
                <a:latin typeface="Times New Roman" panose="02020603050405020304" pitchFamily="18" charset="0"/>
                <a:cs typeface="Times New Roman" panose="02020603050405020304" pitchFamily="18" charset="0"/>
              </a:rPr>
              <a:t>Poly Depletion Elimination</a:t>
            </a:r>
            <a:r>
              <a:rPr lang="en-US" altLang="en-US" sz="2800" b="1" dirty="0">
                <a:latin typeface="Times New Roman" panose="02020603050405020304" pitchFamily="18" charset="0"/>
                <a:cs typeface="Times New Roman" panose="02020603050405020304" pitchFamily="18" charset="0"/>
              </a:rPr>
              <a:t>: Metal Gate</a:t>
            </a: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id="{CB57192F-C4C9-E9F4-178F-8F610972E6EE}"/>
              </a:ext>
            </a:extLst>
          </p:cNvPr>
          <p:cNvSpPr/>
          <p:nvPr/>
        </p:nvSpPr>
        <p:spPr>
          <a:xfrm>
            <a:off x="2792186" y="34987"/>
            <a:ext cx="6676279" cy="90891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Problem Discussion</a:t>
            </a:r>
          </a:p>
        </p:txBody>
      </p:sp>
      <p:pic>
        <p:nvPicPr>
          <p:cNvPr id="3" name="Picture 2">
            <a:extLst>
              <a:ext uri="{FF2B5EF4-FFF2-40B4-BE49-F238E27FC236}">
                <a16:creationId xmlns:a16="http://schemas.microsoft.com/office/drawing/2014/main" id="{AE946310-1E12-9B6E-7DB5-D84EBEF627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3" y="82918"/>
            <a:ext cx="1477675" cy="858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050248E-2C4D-8945-A654-57F9F7939024}"/>
              </a:ext>
            </a:extLst>
          </p:cNvPr>
          <p:cNvSpPr txBox="1"/>
          <p:nvPr/>
        </p:nvSpPr>
        <p:spPr>
          <a:xfrm>
            <a:off x="1897516" y="1835770"/>
            <a:ext cx="8396968" cy="873572"/>
          </a:xfrm>
          <a:prstGeom prst="rect">
            <a:avLst/>
          </a:prstGeom>
          <a:noFill/>
        </p:spPr>
        <p:txBody>
          <a:bodyPr wrap="square">
            <a:spAutoFit/>
          </a:bodyPr>
          <a:lstStyle/>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Derive the relationship between Ids and </a:t>
            </a:r>
            <a:r>
              <a:rPr lang="en-IN" sz="1800" b="1" dirty="0" err="1">
                <a:solidFill>
                  <a:schemeClr val="bg2">
                    <a:lumMod val="25000"/>
                  </a:schemeClr>
                </a:solidFill>
                <a:latin typeface="Times New Roman" panose="02020603050405020304" pitchFamily="18" charset="0"/>
                <a:cs typeface="Times New Roman" panose="02020603050405020304" pitchFamily="18" charset="0"/>
              </a:rPr>
              <a:t>Vds</a:t>
            </a:r>
            <a:r>
              <a:rPr lang="en-IN" sz="1800" b="1" dirty="0">
                <a:solidFill>
                  <a:schemeClr val="bg2">
                    <a:lumMod val="25000"/>
                  </a:schemeClr>
                </a:solidFill>
                <a:latin typeface="Times New Roman" panose="02020603050405020304" pitchFamily="18" charset="0"/>
                <a:cs typeface="Times New Roman" panose="02020603050405020304" pitchFamily="18" charset="0"/>
              </a:rPr>
              <a:t>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Derive the expression for transfer characteristics of CMOS Inverter.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Times New Roman" panose="02020603050405020304" pitchFamily="18" charset="0"/>
                <a:ea typeface="Calibri"/>
                <a:cs typeface="Times New Roman" panose="02020603050405020304" pitchFamily="18" charset="0"/>
                <a:sym typeface="Calibri"/>
              </a:rPr>
              <a:t>1. What is the minimum number of CMOS required for constructing a two input NOR logic gate?</a:t>
            </a:r>
            <a:endParaRPr sz="16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191231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2</a:t>
            </a:r>
          </a:p>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400" dirty="0">
                <a:solidFill>
                  <a:schemeClr val="bg1"/>
                </a:solidFill>
                <a:latin typeface="Times New Roman" panose="02020603050405020304" pitchFamily="18" charset="0"/>
                <a:cs typeface="Times New Roman" panose="02020603050405020304" pitchFamily="18" charset="0"/>
                <a:sym typeface="Calibri"/>
              </a:rPr>
              <a:t>Select the correct statement(s) regarding CMOS implementation of NOT gates </a:t>
            </a:r>
            <a:endParaRPr sz="20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1017221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Noise Margin High is always equal to the noise margin low irrespective of the sizing of transistors.</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Dynamic power consumption during switching is zero.</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For a logical high input under steady state, the </a:t>
            </a:r>
            <a:r>
              <a:rPr lang="en-US" dirty="0" err="1">
                <a:latin typeface="Times New Roman" panose="02020603050405020304" pitchFamily="18" charset="0"/>
                <a:cs typeface="Times New Roman" panose="02020603050405020304" pitchFamily="18" charset="0"/>
              </a:rPr>
              <a:t>nMOSFET</a:t>
            </a:r>
            <a:r>
              <a:rPr lang="en-US" dirty="0">
                <a:latin typeface="Times New Roman" panose="02020603050405020304" pitchFamily="18" charset="0"/>
                <a:cs typeface="Times New Roman" panose="02020603050405020304" pitchFamily="18" charset="0"/>
              </a:rPr>
              <a:t> is in the linear regime of operation.</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Mobility of electrons never influences the switching speed of the NOT gate.</a:t>
            </a:r>
            <a:endParaRPr lang="en-US" sz="1600" dirty="0">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873572"/>
          </a:xfrm>
          <a:prstGeom prst="rect">
            <a:avLst/>
          </a:prstGeom>
          <a:noFill/>
        </p:spPr>
        <p:txBody>
          <a:bodyPr wrap="square" rtlCol="0">
            <a:spAutoFit/>
          </a:bodyPr>
          <a:lstStyle/>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Write about </a:t>
            </a:r>
            <a:r>
              <a:rPr lang="en-IN" sz="1800" b="1" dirty="0" err="1">
                <a:solidFill>
                  <a:schemeClr val="bg2">
                    <a:lumMod val="25000"/>
                  </a:schemeClr>
                </a:solidFill>
                <a:latin typeface="Times New Roman" panose="02020603050405020304" pitchFamily="18" charset="0"/>
                <a:cs typeface="Times New Roman" panose="02020603050405020304" pitchFamily="18" charset="0"/>
              </a:rPr>
              <a:t>BiCMOS</a:t>
            </a:r>
            <a:r>
              <a:rPr lang="en-IN" sz="1800" b="1" dirty="0">
                <a:solidFill>
                  <a:schemeClr val="bg2">
                    <a:lumMod val="25000"/>
                  </a:schemeClr>
                </a:solidFill>
                <a:latin typeface="Times New Roman" panose="02020603050405020304" pitchFamily="18" charset="0"/>
                <a:cs typeface="Times New Roman" panose="02020603050405020304" pitchFamily="18" charset="0"/>
              </a:rPr>
              <a:t> fabrication in a n-well process with a diagram.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Distinguish between Bipolar and CMOS devices technologies in brief.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212686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Reference Books: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1. Sung-Mo Kong, Yusuf </a:t>
            </a:r>
            <a:r>
              <a:rPr lang="en-US" dirty="0" err="1">
                <a:latin typeface="Times New Roman" panose="02020603050405020304" pitchFamily="18" charset="0"/>
                <a:cs typeface="Times New Roman" panose="02020603050405020304" pitchFamily="18" charset="0"/>
              </a:rPr>
              <a:t>Leblebici</a:t>
            </a:r>
            <a:r>
              <a:rPr lang="en-US" dirty="0">
                <a:latin typeface="Times New Roman" panose="02020603050405020304" pitchFamily="18" charset="0"/>
                <a:cs typeface="Times New Roman" panose="02020603050405020304" pitchFamily="18" charset="0"/>
              </a:rPr>
              <a:t>, “CMOS Digital Integrated Circuits Analysis and Design” Third Edition.</a:t>
            </a:r>
          </a:p>
          <a:p>
            <a:pPr>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Debaprasad</a:t>
            </a:r>
            <a:r>
              <a:rPr lang="en-US" dirty="0">
                <a:latin typeface="Times New Roman" panose="02020603050405020304" pitchFamily="18" charset="0"/>
                <a:cs typeface="Times New Roman" panose="02020603050405020304" pitchFamily="18" charset="0"/>
              </a:rPr>
              <a:t> Das, “CMOS DESIGN” Second Edition.</a:t>
            </a:r>
          </a:p>
          <a:p>
            <a:pPr>
              <a:lnSpc>
                <a:spcPct val="150000"/>
              </a:lnSpc>
            </a:pPr>
            <a:endParaRPr lang="en-US" dirty="0">
              <a:latin typeface="Times New Roman" panose="02020603050405020304" pitchFamily="18" charset="0"/>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658</TotalTime>
  <Words>970</Words>
  <Application>Microsoft Office PowerPoint</Application>
  <PresentationFormat>Widescreen</PresentationFormat>
  <Paragraphs>94</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Sub-threshold Swing</vt:lpstr>
      <vt:lpstr>Punch-through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Dr.Ashish Kumar</cp:lastModifiedBy>
  <cp:revision>69</cp:revision>
  <dcterms:created xsi:type="dcterms:W3CDTF">2020-02-08T09:57:44Z</dcterms:created>
  <dcterms:modified xsi:type="dcterms:W3CDTF">2022-11-22T11:15:50Z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