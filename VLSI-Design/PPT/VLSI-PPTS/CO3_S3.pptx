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2"/>
  </p:notesMasterIdLst>
  <p:sldIdLst>
    <p:sldId id="271" r:id="rId5"/>
    <p:sldId id="300" r:id="rId6"/>
    <p:sldId id="258" r:id="rId7"/>
    <p:sldId id="288" r:id="rId8"/>
    <p:sldId id="308" r:id="rId9"/>
    <p:sldId id="311" r:id="rId10"/>
    <p:sldId id="315" r:id="rId11"/>
    <p:sldId id="316" r:id="rId12"/>
    <p:sldId id="310" r:id="rId13"/>
    <p:sldId id="309" r:id="rId14"/>
    <p:sldId id="299" r:id="rId15"/>
    <p:sldId id="285" r:id="rId16"/>
    <p:sldId id="287" r:id="rId17"/>
    <p:sldId id="301" r:id="rId18"/>
    <p:sldId id="302" r:id="rId19"/>
    <p:sldId id="303" r:id="rId20"/>
    <p:sldId id="30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E84845"/>
    <a:srgbClr val="FAD2D2"/>
    <a:srgbClr val="F89E4C"/>
    <a:srgbClr val="A81E24"/>
    <a:srgbClr val="FFF2CC"/>
    <a:srgbClr val="CF2F33"/>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B850D1-3DE1-5E49-ABFC-00B1F4CAB20B}" v="706" dt="2022-04-26T05:00:35.908"/>
    <p1510:client id="{B8906113-84A5-D6EE-8131-D504648287C4}" v="62" dt="2022-09-08T10:44:06.607"/>
  </p1510:revLst>
</p1510:revInfo>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89"/>
  </p:normalViewPr>
  <p:slideViewPr>
    <p:cSldViewPr snapToGrid="0">
      <p:cViewPr varScale="1">
        <p:scale>
          <a:sx n="82" d="100"/>
          <a:sy n="82" d="100"/>
        </p:scale>
        <p:origin x="691" y="5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11/25/2022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val="3228435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11/25/2022</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11/25/2022</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11/25/2022</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11/25/2022</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11/25/2022</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11/25/2022</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11/25/2022</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11/25/2022</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11/25/2022</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11/25/2022</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archive.nptel.ac.in/courses/106/105/106105034/"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2616060"/>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VLSI DESIGN</a:t>
            </a:r>
          </a:p>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21EC2211</a:t>
            </a: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b="1" cap="all" dirty="0">
                <a:ln/>
                <a:solidFill>
                  <a:srgbClr val="C00000"/>
                </a:solidFill>
                <a:effectLst/>
                <a:cs typeface="Poppins" panose="00000500000000000000" pitchFamily="2" charset="0"/>
              </a:rPr>
              <a:t>CMOS Inverter- Static and Dynamic characteristics</a:t>
            </a:r>
            <a:endParaRPr lang="en-US" sz="4000" b="1" dirty="0">
              <a:solidFill>
                <a:srgbClr val="C00000"/>
              </a:solidFill>
              <a:effectLst/>
              <a:cs typeface="Poppins" panose="00000500000000000000" pitchFamily="2" charset="0"/>
            </a:endParaRPr>
          </a:p>
        </p:txBody>
      </p:sp>
      <p:sp>
        <p:nvSpPr>
          <p:cNvPr id="19" name="Rectangle: Rounded Corners 18">
            <a:extLst>
              <a:ext uri="{FF2B5EF4-FFF2-40B4-BE49-F238E27FC236}">
                <a16:creationId xmlns:a16="http://schemas.microsoft.com/office/drawing/2014/main" id="{B9F0C376-F4D3-1950-3474-EFF28411BDC6}"/>
              </a:ext>
            </a:extLst>
          </p:cNvPr>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ECE</a:t>
            </a:r>
          </a:p>
        </p:txBody>
      </p:sp>
      <p:sp>
        <p:nvSpPr>
          <p:cNvPr id="8" name="Google Shape;502;p17">
            <a:extLst>
              <a:ext uri="{FF2B5EF4-FFF2-40B4-BE49-F238E27FC236}">
                <a16:creationId xmlns:a16="http://schemas.microsoft.com/office/drawing/2014/main" id="{7153E61F-4441-DBE3-3DFF-6E9EF6C48D23}"/>
              </a:ext>
            </a:extLst>
          </p:cNvPr>
          <p:cNvSpPr/>
          <p:nvPr/>
        </p:nvSpPr>
        <p:spPr>
          <a:xfrm>
            <a:off x="7992171" y="5535597"/>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- 3</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1752598" y="684469"/>
            <a:ext cx="8791575" cy="338554"/>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r>
              <a:rPr lang="en-US" sz="1600" dirty="0"/>
              <a:t>To nurture students with Concepts of design rules for wires, transistors and contacts. </a:t>
            </a:r>
            <a:endParaRPr lang="en-IN" sz="1600" dirty="0"/>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p>
          <a:p>
            <a:pPr marL="342900" indent="-342900">
              <a:buAutoNum type="arabicPeriod"/>
            </a:pPr>
            <a:r>
              <a:rPr lang="en-US" sz="1600" dirty="0">
                <a:latin typeface="Arial" panose="020B0604020202020204" pitchFamily="34" charset="0"/>
              </a:rPr>
              <a:t>Describe the different types of power dissipation in CMOS Inverter.</a:t>
            </a:r>
            <a:endParaRPr lang="en-US" sz="1600" b="0" i="0" dirty="0">
              <a:effectLst/>
              <a:latin typeface="Arial" panose="020B0604020202020204" pitchFamily="34" charset="0"/>
            </a:endParaRPr>
          </a:p>
          <a:p>
            <a:pPr marL="342900" indent="-342900">
              <a:buAutoNum type="arabicPeriod"/>
            </a:pPr>
            <a:r>
              <a:rPr lang="en-US" sz="1600" b="0" i="0" dirty="0">
                <a:effectLst/>
                <a:latin typeface="Arial" panose="020B0604020202020204" pitchFamily="34" charset="0"/>
              </a:rPr>
              <a:t>Demonstrate the static and dynamic power dissipation </a:t>
            </a:r>
            <a:r>
              <a:rPr lang="en-US" sz="1600" dirty="0">
                <a:latin typeface="Arial" panose="020B0604020202020204" pitchFamily="34" charset="0"/>
              </a:rPr>
              <a:t>of a CMOS Inverter.</a:t>
            </a:r>
          </a:p>
          <a:p>
            <a:pPr marL="342900" indent="-342900">
              <a:buAutoNum type="arabicPeriod"/>
            </a:pPr>
            <a:r>
              <a:rPr lang="en-US" sz="1600" dirty="0">
                <a:latin typeface="Arial" panose="020B0604020202020204" pitchFamily="34" charset="0"/>
              </a:rPr>
              <a:t>Describe the Area consideration in CMOS Inverter w.r.t power dissipation.</a:t>
            </a:r>
            <a:endParaRPr lang="en-US" sz="1600" b="0" i="0" dirty="0">
              <a:effectLst/>
              <a:latin typeface="Arial" panose="020B0604020202020204" pitchFamily="34" charset="0"/>
            </a:endParaRP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52598" y="4765771"/>
            <a:ext cx="8791575" cy="107721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marL="342900" indent="-342900">
              <a:buAutoNum type="arabicPeriod"/>
            </a:pPr>
            <a:r>
              <a:rPr lang="en-US" sz="1600" b="0" i="0" dirty="0">
                <a:effectLst/>
                <a:latin typeface="Arial" panose="020B0604020202020204" pitchFamily="34" charset="0"/>
              </a:rPr>
              <a:t>Define the </a:t>
            </a:r>
            <a:r>
              <a:rPr lang="en-US" sz="1600" dirty="0">
                <a:latin typeface="Arial" panose="020B0604020202020204" pitchFamily="34" charset="0"/>
              </a:rPr>
              <a:t>different types of power dissipation in the CMOS Inverter.</a:t>
            </a:r>
            <a:endParaRPr lang="en-US" sz="1600" b="0" i="0" dirty="0">
              <a:effectLst/>
              <a:latin typeface="Arial" panose="020B0604020202020204" pitchFamily="34" charset="0"/>
            </a:endParaRPr>
          </a:p>
          <a:p>
            <a:pPr marL="342900" indent="-342900">
              <a:buAutoNum type="arabicPeriod"/>
            </a:pPr>
            <a:r>
              <a:rPr lang="en-US" sz="1600" dirty="0">
                <a:latin typeface="Arial" panose="020B0604020202020204" pitchFamily="34" charset="0"/>
              </a:rPr>
              <a:t>Determine the static and dynamic power dissipation.</a:t>
            </a:r>
            <a:endParaRPr lang="en-US" sz="1600" dirty="0">
              <a:latin typeface="Poppins" panose="00000500000000000000" pitchFamily="2" charset="0"/>
              <a:cs typeface="Poppins" panose="00000500000000000000" pitchFamily="2" charset="0"/>
            </a:endParaRP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1291629" y="1128457"/>
            <a:ext cx="10086536" cy="3330848"/>
          </a:xfrm>
          <a:prstGeom prst="rect">
            <a:avLst/>
          </a:prstGeom>
          <a:noFill/>
        </p:spPr>
        <p:txBody>
          <a:bodyPr wrap="square" rtlCol="0">
            <a:spAutoFit/>
          </a:bodyPr>
          <a:lstStyle/>
          <a:p>
            <a:endParaRPr lang="en-US" dirty="0"/>
          </a:p>
          <a:p>
            <a:pPr algn="ctr">
              <a:lnSpc>
                <a:spcPct val="150000"/>
              </a:lnSpc>
              <a:spcAft>
                <a:spcPts val="1000"/>
              </a:spcAft>
            </a:pPr>
            <a:r>
              <a:rPr lang="en-US" sz="1800" b="1" i="1" dirty="0">
                <a:effectLst/>
                <a:latin typeface="Times New Roman" panose="02020603050405020304" pitchFamily="18" charset="0"/>
                <a:ea typeface="Calibri" panose="020F0502020204030204" pitchFamily="34" charset="0"/>
                <a:cs typeface="Times New Roman" panose="02020603050405020304" pitchFamily="18" charset="0"/>
              </a:rPr>
              <a:t>“CMOS Inverter- Static and Dynamic characteristics”</a:t>
            </a:r>
          </a:p>
          <a:p>
            <a:pPr algn="ctr">
              <a:lnSpc>
                <a:spcPct val="150000"/>
              </a:lnSpc>
              <a:spcAft>
                <a:spcPts val="1000"/>
              </a:spcAft>
            </a:pPr>
            <a:endParaRPr lang="en-US" b="1" i="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50000"/>
              </a:lnSpc>
              <a:spcAft>
                <a:spcPts val="1000"/>
              </a:spcAf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50000"/>
              </a:lnSpc>
              <a:spcAft>
                <a:spcPts val="1000"/>
              </a:spcAft>
              <a:buFont typeface="Wingdings" panose="05000000000000000000" pitchFamily="2" charset="2"/>
              <a:buChar char="v"/>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session starts with the DC characteristics of CMOS inverter followed by its Dynamic characteristics. </a:t>
            </a:r>
          </a:p>
          <a:p>
            <a:pPr marL="285750" indent="-285750" algn="just">
              <a:lnSpc>
                <a:spcPct val="150000"/>
              </a:lnSpc>
              <a:spcAft>
                <a:spcPts val="1000"/>
              </a:spcAft>
              <a:buFont typeface="Wingdings" panose="05000000000000000000" pitchFamily="2" charset="2"/>
              <a:buChar char="v"/>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power and area considerations are explained in this session.</a:t>
            </a:r>
            <a:endParaRPr lang="en-US" dirty="0"/>
          </a:p>
        </p:txBody>
      </p:sp>
    </p:spTree>
    <p:extLst>
      <p:ext uri="{BB962C8B-B14F-4D97-AF65-F5344CB8AC3E}">
        <p14:creationId xmlns:p14="http://schemas.microsoft.com/office/powerpoint/2010/main" val="40690523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996778" y="895662"/>
            <a:ext cx="10396152" cy="5261056"/>
          </a:xfrm>
          <a:prstGeom prst="rect">
            <a:avLst/>
          </a:prstGeom>
          <a:noFill/>
        </p:spPr>
        <p:txBody>
          <a:bodyPr wrap="square" rtlCol="0">
            <a:spAutoFit/>
          </a:bodyPr>
          <a:lstStyle/>
          <a:p>
            <a:pPr algn="just">
              <a:lnSpc>
                <a:spcPct val="150000"/>
              </a:lnSpc>
              <a:spcAft>
                <a:spcPts val="1000"/>
              </a:spcAft>
            </a:pPr>
            <a:r>
              <a:rPr lang="en-US" sz="1800" b="1" u="sng" dirty="0">
                <a:effectLst/>
                <a:latin typeface="Times New Roman" panose="02020603050405020304" pitchFamily="18" charset="0"/>
                <a:ea typeface="Calibri" panose="020F0502020204030204" pitchFamily="34" charset="0"/>
                <a:cs typeface="Times New Roman" panose="02020603050405020304" pitchFamily="18" charset="0"/>
              </a:rPr>
              <a:t>POWER AND AREA CONSIDERATIONS: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50000"/>
              </a:lnSpc>
              <a:spcAft>
                <a:spcPts val="1000"/>
              </a:spcAft>
              <a:buFont typeface="Arial" panose="020B0604020202020204" pitchFamily="34" charset="0"/>
              <a:buChar char="•"/>
            </a:pPr>
            <a:r>
              <a:rPr lang="en-US" dirty="0">
                <a:latin typeface="Calibri" panose="020F0502020204030204" pitchFamily="34" charset="0"/>
                <a:ea typeface="Calibri" panose="020F0502020204030204" pitchFamily="34" charset="0"/>
                <a:cs typeface="Times New Roman" panose="02020603050405020304" pitchFamily="18" charset="0"/>
              </a:rPr>
              <a:t>W</a:t>
            </a:r>
            <a:r>
              <a:rPr lang="en-US" sz="1800" dirty="0">
                <a:effectLst/>
                <a:latin typeface="Calibri" panose="020F0502020204030204" pitchFamily="34" charset="0"/>
                <a:ea typeface="Calibri" panose="020F0502020204030204" pitchFamily="34" charset="0"/>
                <a:cs typeface="Times New Roman" panose="02020603050405020304" pitchFamily="18" charset="0"/>
              </a:rPr>
              <a:t>e can identify two other issues that play significant roles in inverter design: power consumption and the chip area occupied by the inverter circuit. </a:t>
            </a:r>
          </a:p>
          <a:p>
            <a:pPr marL="285750" indent="-285750" algn="just">
              <a:lnSpc>
                <a:spcPct val="150000"/>
              </a:lnSpc>
              <a:spcAft>
                <a:spcPts val="100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About one million logic gates can be accommodated on a very large scale integrated (VLSI) chip using 0.5 μm MOS technology, and the circuit density is expected to increase even further in future-generation chips.</a:t>
            </a:r>
          </a:p>
          <a:p>
            <a:pPr marL="285750" indent="-285750" algn="just">
              <a:lnSpc>
                <a:spcPct val="150000"/>
              </a:lnSpc>
              <a:spcAft>
                <a:spcPts val="100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Since each gate on the chip dissipates power and thus generates heat, the removal of this thermal energy, i.e., cooling of the chip, becomes an essential and usually very expensive task.</a:t>
            </a:r>
          </a:p>
          <a:p>
            <a:pPr marL="285750" indent="-285750" algn="just">
              <a:lnSpc>
                <a:spcPct val="150000"/>
              </a:lnSpc>
              <a:spcAft>
                <a:spcPts val="1000"/>
              </a:spcAft>
              <a:buFont typeface="Arial" panose="020B0604020202020204" pitchFamily="34" charset="0"/>
              <a:buChar char="•"/>
            </a:pPr>
            <a:r>
              <a:rPr lang="en-US" dirty="0">
                <a:latin typeface="Calibri" panose="020F0502020204030204" pitchFamily="34" charset="0"/>
                <a:ea typeface="Calibri" panose="020F0502020204030204" pitchFamily="34" charset="0"/>
                <a:cs typeface="Times New Roman" panose="02020603050405020304" pitchFamily="18" charset="0"/>
              </a:rPr>
              <a:t>I</a:t>
            </a:r>
            <a:r>
              <a:rPr lang="en-US" sz="1800" dirty="0">
                <a:effectLst/>
                <a:latin typeface="Calibri" panose="020F0502020204030204" pitchFamily="34" charset="0"/>
                <a:ea typeface="Calibri" panose="020F0502020204030204" pitchFamily="34" charset="0"/>
                <a:cs typeface="Times New Roman" panose="02020603050405020304" pitchFamily="18" charset="0"/>
              </a:rPr>
              <a:t>t is very important to reduce the amount of power dissipated by the circuit in both DC and dynamic operation.</a:t>
            </a:r>
          </a:p>
          <a:p>
            <a:pPr marL="285750" indent="-285750" algn="just">
              <a:lnSpc>
                <a:spcPct val="150000"/>
              </a:lnSpc>
              <a:spcAft>
                <a:spcPts val="1000"/>
              </a:spcAft>
              <a:buFont typeface="Arial" panose="020B0604020202020204" pitchFamily="34" charset="0"/>
              <a:buChar char="•"/>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8035526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881448" y="895662"/>
            <a:ext cx="10495005" cy="3886320"/>
          </a:xfrm>
          <a:prstGeom prst="rect">
            <a:avLst/>
          </a:prstGeom>
          <a:noFill/>
        </p:spPr>
        <p:txBody>
          <a:bodyPr wrap="square" rtlCol="0">
            <a:spAutoFit/>
          </a:bodyPr>
          <a:lstStyle/>
          <a:p>
            <a:pPr algn="just">
              <a:lnSpc>
                <a:spcPct val="150000"/>
              </a:lnSpc>
              <a:spcAft>
                <a:spcPts val="1000"/>
              </a:spcAft>
            </a:pPr>
            <a:r>
              <a:rPr lang="en-US" sz="1800" b="1" u="sng" dirty="0">
                <a:effectLst/>
                <a:latin typeface="Times New Roman" panose="02020603050405020304" pitchFamily="18" charset="0"/>
                <a:ea typeface="Calibri" panose="020F0502020204030204" pitchFamily="34" charset="0"/>
                <a:cs typeface="Times New Roman" panose="02020603050405020304" pitchFamily="18" charset="0"/>
              </a:rPr>
              <a:t>DC power dissipation of an inverter circuit: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50000"/>
              </a:lnSpc>
              <a:spcAft>
                <a:spcPts val="100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DC power dissipation of an inverter circuit can be calculated as the product of its power supply voltage and the amount of current drawn from the power supply during steady state.</a:t>
            </a:r>
          </a:p>
          <a:p>
            <a:pPr algn="just">
              <a:lnSpc>
                <a:spcPct val="150000"/>
              </a:lnSpc>
              <a:spcAft>
                <a:spcPts val="1000"/>
              </a:spcAft>
            </a:pP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lnSpc>
                <a:spcPct val="150000"/>
              </a:lnSpc>
              <a:spcAft>
                <a:spcPts val="100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Notice that the DC current drawn by the inverter circuit may vary depending on the input and output voltage levels.</a:t>
            </a:r>
          </a:p>
          <a:p>
            <a:pPr marL="285750" indent="-285750" algn="just">
              <a:lnSpc>
                <a:spcPct val="150000"/>
              </a:lnSpc>
              <a:spcAft>
                <a:spcPts val="100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Assuming that the input voltage level corresponds to logic "0” during 50% of the operation time and to logic " 1 " during the other 50%, the overall DC power consumption of the circuit can be estimated as follows: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9C3857BD-6C2D-7AD8-11CB-CA36B8D7EF8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62487" y="2443360"/>
            <a:ext cx="1496576" cy="398694"/>
          </a:xfrm>
          <a:prstGeom prst="rect">
            <a:avLst/>
          </a:prstGeom>
          <a:noFill/>
          <a:ln>
            <a:noFill/>
          </a:ln>
        </p:spPr>
      </p:pic>
      <p:pic>
        <p:nvPicPr>
          <p:cNvPr id="3" name="Picture 2">
            <a:extLst>
              <a:ext uri="{FF2B5EF4-FFF2-40B4-BE49-F238E27FC236}">
                <a16:creationId xmlns:a16="http://schemas.microsoft.com/office/drawing/2014/main" id="{02C3220B-0E4B-F1A7-70BE-B9C012DA0091}"/>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94825" y="5077568"/>
            <a:ext cx="5037914" cy="670383"/>
          </a:xfrm>
          <a:prstGeom prst="rect">
            <a:avLst/>
          </a:prstGeom>
          <a:noFill/>
          <a:ln>
            <a:noFill/>
          </a:ln>
        </p:spPr>
      </p:pic>
    </p:spTree>
    <p:extLst>
      <p:ext uri="{BB962C8B-B14F-4D97-AF65-F5344CB8AC3E}">
        <p14:creationId xmlns:p14="http://schemas.microsoft.com/office/powerpoint/2010/main" val="41218562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963827" y="1126322"/>
            <a:ext cx="10165492" cy="4430059"/>
          </a:xfrm>
          <a:prstGeom prst="rect">
            <a:avLst/>
          </a:prstGeom>
          <a:noFill/>
        </p:spPr>
        <p:txBody>
          <a:bodyPr wrap="square" rtlCol="0">
            <a:spAutoFit/>
          </a:bodyPr>
          <a:lstStyle/>
          <a:p>
            <a:pPr algn="just">
              <a:lnSpc>
                <a:spcPct val="150000"/>
              </a:lnSpc>
              <a:spcAft>
                <a:spcPts val="1000"/>
              </a:spcAft>
            </a:pPr>
            <a:r>
              <a:rPr lang="en-US" sz="1800" b="1" u="sng" dirty="0">
                <a:effectLst/>
                <a:latin typeface="Times New Roman" panose="02020603050405020304" pitchFamily="18" charset="0"/>
                <a:ea typeface="Calibri" panose="020F0502020204030204" pitchFamily="34" charset="0"/>
                <a:cs typeface="Times New Roman" panose="02020603050405020304" pitchFamily="18" charset="0"/>
              </a:rPr>
              <a:t>Dynamic power dissipation of an inverter circuit: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50000"/>
              </a:lnSpc>
              <a:spcAft>
                <a:spcPts val="100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In a CMOS inverter, the dynamic power dissipation occurs when the load capacitor is charged and discharged. </a:t>
            </a:r>
          </a:p>
          <a:p>
            <a:pPr marL="285750" indent="-285750" algn="just">
              <a:lnSpc>
                <a:spcPct val="150000"/>
              </a:lnSpc>
              <a:spcAft>
                <a:spcPts val="100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When the load capacitor is charged, it takes some energy from the power supply; part of this energy is stored in the load capacitor and the remainder is dissipated across the pMOS transistor. </a:t>
            </a:r>
          </a:p>
          <a:p>
            <a:pPr marL="285750" indent="-285750" algn="just">
              <a:lnSpc>
                <a:spcPct val="150000"/>
              </a:lnSpc>
              <a:spcAft>
                <a:spcPts val="100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Next, during the discharge of the load capacitor, the stored energy is discharged through the nMOS transistor.</a:t>
            </a:r>
          </a:p>
          <a:p>
            <a:pPr marL="285750" indent="-285750" algn="just">
              <a:lnSpc>
                <a:spcPct val="150000"/>
              </a:lnSpc>
              <a:spcAft>
                <a:spcPts val="100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Dynamic power dissipation has maximum contribution in the total power dissipation.</a:t>
            </a:r>
          </a:p>
          <a:p>
            <a:pPr marL="285750" indent="-285750" algn="just">
              <a:lnSpc>
                <a:spcPct val="150000"/>
              </a:lnSpc>
              <a:spcAft>
                <a:spcPts val="1000"/>
              </a:spcAft>
              <a:buFont typeface="Arial" panose="020B0604020202020204" pitchFamily="34" charset="0"/>
              <a:buChar char="•"/>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5433409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963827" y="1126322"/>
            <a:ext cx="10165492" cy="1008609"/>
          </a:xfrm>
          <a:prstGeom prst="rect">
            <a:avLst/>
          </a:prstGeom>
          <a:noFill/>
        </p:spPr>
        <p:txBody>
          <a:bodyPr wrap="square" rtlCol="0">
            <a:spAutoFit/>
          </a:bodyPr>
          <a:lstStyle/>
          <a:p>
            <a:pPr algn="just">
              <a:lnSpc>
                <a:spcPct val="150000"/>
              </a:lnSpc>
              <a:spcAft>
                <a:spcPts val="1000"/>
              </a:spcAft>
            </a:pPr>
            <a:r>
              <a:rPr lang="en-US" sz="1800" b="1" u="sng" dirty="0">
                <a:effectLst/>
                <a:latin typeface="Times New Roman" panose="02020603050405020304" pitchFamily="18" charset="0"/>
                <a:ea typeface="Calibri" panose="020F0502020204030204" pitchFamily="34" charset="0"/>
                <a:cs typeface="Times New Roman" panose="02020603050405020304" pitchFamily="18" charset="0"/>
              </a:rPr>
              <a:t>Dynamic power dissipation of an inverter circuit: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50000"/>
              </a:lnSpc>
              <a:spcAft>
                <a:spcPts val="100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average energy dissipated over one switching cycle is calculated as follows: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18034F23-BF47-F98C-FAE7-1FC2F07CEAD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73397" y="2303298"/>
            <a:ext cx="5222179" cy="1510819"/>
          </a:xfrm>
          <a:prstGeom prst="rect">
            <a:avLst/>
          </a:prstGeom>
          <a:noFill/>
          <a:ln>
            <a:noFill/>
          </a:ln>
        </p:spPr>
      </p:pic>
      <p:pic>
        <p:nvPicPr>
          <p:cNvPr id="3" name="Picture 2">
            <a:extLst>
              <a:ext uri="{FF2B5EF4-FFF2-40B4-BE49-F238E27FC236}">
                <a16:creationId xmlns:a16="http://schemas.microsoft.com/office/drawing/2014/main" id="{68810332-BD97-16D4-80EB-7C492E27319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487518" y="3740089"/>
            <a:ext cx="5382184" cy="1581553"/>
          </a:xfrm>
          <a:prstGeom prst="rect">
            <a:avLst/>
          </a:prstGeom>
          <a:noFill/>
          <a:ln>
            <a:noFill/>
          </a:ln>
        </p:spPr>
      </p:pic>
    </p:spTree>
    <p:extLst>
      <p:ext uri="{BB962C8B-B14F-4D97-AF65-F5344CB8AC3E}">
        <p14:creationId xmlns:p14="http://schemas.microsoft.com/office/powerpoint/2010/main" val="309664678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955589" y="1126322"/>
            <a:ext cx="10165492" cy="2094612"/>
          </a:xfrm>
          <a:prstGeom prst="rect">
            <a:avLst/>
          </a:prstGeom>
          <a:noFill/>
        </p:spPr>
        <p:txBody>
          <a:bodyPr wrap="square" rtlCol="0">
            <a:spAutoFit/>
          </a:bodyPr>
          <a:lstStyle/>
          <a:p>
            <a:pPr algn="just">
              <a:lnSpc>
                <a:spcPct val="150000"/>
              </a:lnSpc>
              <a:spcAft>
                <a:spcPts val="1000"/>
              </a:spcAft>
            </a:pPr>
            <a:r>
              <a:rPr lang="en-US" sz="1800" b="1" u="sng" dirty="0">
                <a:effectLst/>
                <a:latin typeface="Times New Roman" panose="02020603050405020304" pitchFamily="18" charset="0"/>
                <a:ea typeface="Calibri" panose="020F0502020204030204" pitchFamily="34" charset="0"/>
                <a:cs typeface="Times New Roman" panose="02020603050405020304" pitchFamily="18" charset="0"/>
              </a:rPr>
              <a:t>Dynamic power dissipation of an inverter circuit: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1000"/>
              </a:spcAft>
            </a:pP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If the circuit switching frequency is f, then the dynamic power dissipation is determined as follows: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E36F155C-633A-6F15-23B2-54567228BAF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30218" y="3368342"/>
            <a:ext cx="2144082" cy="537450"/>
          </a:xfrm>
          <a:prstGeom prst="rect">
            <a:avLst/>
          </a:prstGeom>
          <a:noFill/>
          <a:ln>
            <a:noFill/>
          </a:ln>
        </p:spPr>
      </p:pic>
      <p:sp>
        <p:nvSpPr>
          <p:cNvPr id="7" name="TextBox 6">
            <a:extLst>
              <a:ext uri="{FF2B5EF4-FFF2-40B4-BE49-F238E27FC236}">
                <a16:creationId xmlns:a16="http://schemas.microsoft.com/office/drawing/2014/main" id="{6C93E4A7-CEE2-DF4D-4C90-1E8E60D462D7}"/>
              </a:ext>
            </a:extLst>
          </p:cNvPr>
          <p:cNvSpPr txBox="1"/>
          <p:nvPr/>
        </p:nvSpPr>
        <p:spPr>
          <a:xfrm>
            <a:off x="3526300" y="4171425"/>
            <a:ext cx="6096000" cy="463397"/>
          </a:xfrm>
          <a:prstGeom prst="rect">
            <a:avLst/>
          </a:prstGeom>
          <a:noFill/>
        </p:spPr>
        <p:txBody>
          <a:bodyPr wrap="square">
            <a:spAutoFit/>
          </a:bodyPr>
          <a:lstStyle/>
          <a:p>
            <a:pPr algn="just">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where α (0 &lt; α &lt; 1) is the activity factor.</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831344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1103870" y="1422884"/>
            <a:ext cx="10107826" cy="3886320"/>
          </a:xfrm>
          <a:prstGeom prst="rect">
            <a:avLst/>
          </a:prstGeom>
          <a:noFill/>
        </p:spPr>
        <p:txBody>
          <a:bodyPr wrap="square" rtlCol="0">
            <a:spAutoFit/>
          </a:bodyPr>
          <a:lstStyle/>
          <a:p>
            <a:pPr algn="just">
              <a:lnSpc>
                <a:spcPct val="150000"/>
              </a:lnSpc>
              <a:spcAft>
                <a:spcPts val="1000"/>
              </a:spcAft>
            </a:pPr>
            <a:r>
              <a:rPr lang="en-US" sz="1800" b="1" u="sng" dirty="0">
                <a:effectLst/>
                <a:latin typeface="Times New Roman" panose="02020603050405020304" pitchFamily="18" charset="0"/>
                <a:ea typeface="Calibri" panose="020F0502020204030204" pitchFamily="34" charset="0"/>
                <a:cs typeface="Times New Roman" panose="02020603050405020304" pitchFamily="18" charset="0"/>
              </a:rPr>
              <a:t>Area Considerations: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50000"/>
              </a:lnSpc>
              <a:spcAft>
                <a:spcPts val="100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To reduce the chip area occupied by the inverter circuit, it is necessary to reduce the area of the MOS transistors used in the circuit.</a:t>
            </a:r>
          </a:p>
          <a:p>
            <a:pPr marL="285750" indent="-285750" algn="just">
              <a:lnSpc>
                <a:spcPct val="150000"/>
              </a:lnSpc>
              <a:spcAft>
                <a:spcPts val="100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As a practical measure, we use the gate area of the MOS transistor, i.e., the product of W and L. </a:t>
            </a:r>
          </a:p>
          <a:p>
            <a:pPr marL="285750" indent="-285750" algn="just">
              <a:lnSpc>
                <a:spcPct val="150000"/>
              </a:lnSpc>
              <a:spcAft>
                <a:spcPts val="100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Thus, an MOS transistor has minimum area when both of the gate (channel) dimensions are made as small as possible within the constraints of the particular technology. </a:t>
            </a:r>
          </a:p>
          <a:p>
            <a:pPr marL="285750" indent="-285750" algn="just">
              <a:lnSpc>
                <a:spcPct val="150000"/>
              </a:lnSpc>
              <a:spcAft>
                <a:spcPts val="1000"/>
              </a:spcAft>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It follows that the ratio of the gate width to gate length (W/L) should also be as close to unity as possible, in order to achieve minimum transistor area.</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3104982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1194486" y="895662"/>
            <a:ext cx="9934832" cy="2096087"/>
          </a:xfrm>
          <a:prstGeom prst="rect">
            <a:avLst/>
          </a:prstGeom>
          <a:noFill/>
        </p:spPr>
        <p:txBody>
          <a:bodyPr wrap="square" rtlCol="0">
            <a:spAutoFit/>
          </a:bodyPr>
          <a:lstStyle/>
          <a:p>
            <a:pPr algn="just">
              <a:lnSpc>
                <a:spcPct val="150000"/>
              </a:lnSpc>
              <a:spcAft>
                <a:spcPts val="1000"/>
              </a:spcAft>
            </a:pPr>
            <a:r>
              <a:rPr lang="en-US" sz="1800" b="1" u="sng" dirty="0">
                <a:effectLst/>
                <a:latin typeface="Times New Roman" panose="02020603050405020304" pitchFamily="18" charset="0"/>
                <a:ea typeface="Calibri" panose="020F0502020204030204" pitchFamily="34" charset="0"/>
                <a:cs typeface="Times New Roman" panose="02020603050405020304" pitchFamily="18" charset="0"/>
              </a:rPr>
              <a:t>Delays: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50000"/>
              </a:lnSpc>
              <a:spcAft>
                <a:spcPts val="100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Inverter propagation delay: time delay between input and output signals</a:t>
            </a:r>
            <a:endParaRPr lang="en-IN" dirty="0">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50000"/>
              </a:lnSpc>
              <a:spcAft>
                <a:spcPts val="1000"/>
              </a:spcAft>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Typical propagation delays: &lt; 100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ps</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Propagation delay denoted as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tp</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50000"/>
              </a:lnSpc>
              <a:spcAft>
                <a:spcPts val="1000"/>
              </a:spcAft>
              <a:buFont typeface="Arial" panose="020B0604020202020204" pitchFamily="34" charset="0"/>
              <a:buChar char="•"/>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4634317F-E1A6-BC71-3A22-A3E6FC79CCDE}"/>
              </a:ext>
            </a:extLst>
          </p:cNvPr>
          <p:cNvPicPr>
            <a:picLocks noChangeAspect="1"/>
          </p:cNvPicPr>
          <p:nvPr/>
        </p:nvPicPr>
        <p:blipFill>
          <a:blip r:embed="rId3"/>
          <a:stretch>
            <a:fillRect/>
          </a:stretch>
        </p:blipFill>
        <p:spPr>
          <a:xfrm>
            <a:off x="2704877" y="2646149"/>
            <a:ext cx="6970071" cy="3037960"/>
          </a:xfrm>
          <a:prstGeom prst="rect">
            <a:avLst/>
          </a:prstGeom>
        </p:spPr>
      </p:pic>
    </p:spTree>
    <p:extLst>
      <p:ext uri="{BB962C8B-B14F-4D97-AF65-F5344CB8AC3E}">
        <p14:creationId xmlns:p14="http://schemas.microsoft.com/office/powerpoint/2010/main" val="55242140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18B84F3E-0BAB-4FEE-A20F-074E440ADCC6}"/>
              </a:ext>
            </a:extLst>
          </p:cNvPr>
          <p:cNvSpPr/>
          <p:nvPr/>
        </p:nvSpPr>
        <p:spPr>
          <a:xfrm>
            <a:off x="2274963" y="94372"/>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ACTIVITIES/ CASE STUDIES/ IMPORTANT FACTS RELATED TO THE SESSION</a:t>
            </a:r>
          </a:p>
        </p:txBody>
      </p:sp>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7" name="TextBox 16"/>
          <p:cNvSpPr txBox="1"/>
          <p:nvPr/>
        </p:nvSpPr>
        <p:spPr>
          <a:xfrm>
            <a:off x="238897" y="1269009"/>
            <a:ext cx="11714205" cy="3374065"/>
          </a:xfrm>
          <a:prstGeom prst="rect">
            <a:avLst/>
          </a:prstGeom>
          <a:noFill/>
        </p:spPr>
        <p:txBody>
          <a:bodyPr wrap="square" rtlCol="0">
            <a:spAutoFit/>
          </a:bodyPr>
          <a:lstStyle/>
          <a:p>
            <a:r>
              <a:rPr lang="en-US" sz="1800" b="1" i="1" u="sng" dirty="0">
                <a:effectLst/>
                <a:latin typeface="Times New Roman" panose="02020603050405020304" pitchFamily="18" charset="0"/>
                <a:ea typeface="Calibri" panose="020F0502020204030204" pitchFamily="34" charset="0"/>
                <a:cs typeface="Times New Roman" panose="02020603050405020304" pitchFamily="18" charset="0"/>
              </a:rPr>
              <a:t>Activities:</a:t>
            </a:r>
          </a:p>
          <a:p>
            <a:pPr>
              <a:lnSpc>
                <a:spcPct val="115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Design any circuits using CMOS inverter considering low power dissipation.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800" b="1" i="1" u="sng" dirty="0">
                <a:effectLst/>
                <a:latin typeface="Times New Roman" panose="02020603050405020304" pitchFamily="18" charset="0"/>
                <a:ea typeface="Calibri" panose="020F0502020204030204" pitchFamily="34" charset="0"/>
                <a:cs typeface="Times New Roman" panose="02020603050405020304" pitchFamily="18" charset="0"/>
              </a:rPr>
              <a:t>Articles:</a:t>
            </a:r>
          </a:p>
          <a:p>
            <a:pPr algn="just">
              <a:lnSpc>
                <a:spcPct val="115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 R. X. Gu and M. I.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Elmasry</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"Power dissipation analysis and optimization of deep submicron CMOS digital circuits," in IEEE Journal of Solid-State Circuits, vol. 31, no. 5, pp. 707-713, May 1996,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doi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10.1109/4.509853</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800" b="1" i="1" u="sng" dirty="0">
                <a:effectLst/>
                <a:latin typeface="Times New Roman" panose="02020603050405020304" pitchFamily="18" charset="0"/>
                <a:ea typeface="Calibri" panose="020F0502020204030204" pitchFamily="34" charset="0"/>
                <a:cs typeface="Times New Roman" panose="02020603050405020304" pitchFamily="18" charset="0"/>
              </a:rPr>
              <a:t>Case Studies:</a:t>
            </a:r>
          </a:p>
          <a:p>
            <a:pPr>
              <a:lnSpc>
                <a:spcPct val="115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 CMOS Power Dissipation and Trends (https://www.ece.ucdavis.edu/~ramirtha/EEC216/W08/lecture1_updated.pdf)</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Bef>
                <a:spcPts val="1200"/>
              </a:spcBef>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 CMOS inverter propagation delay. (http://www.ece.sunysb.edu/~oe/Leon/ESE314F12/Lab09.pdf)</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001463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54D31061-350D-4864-BF25-E3C3C4699CDC}"/>
              </a:ext>
            </a:extLst>
          </p:cNvPr>
          <p:cNvSpPr/>
          <p:nvPr/>
        </p:nvSpPr>
        <p:spPr>
          <a:xfrm>
            <a:off x="3771922" y="93980"/>
            <a:ext cx="5475773"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EXAMPLES</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1305633" y="2668933"/>
            <a:ext cx="10086536" cy="878895"/>
          </a:xfrm>
          <a:prstGeom prst="rect">
            <a:avLst/>
          </a:prstGeom>
          <a:noFill/>
        </p:spPr>
        <p:txBody>
          <a:bodyPr wrap="square" rtlCol="0">
            <a:spAutoFit/>
          </a:bodyPr>
          <a:lstStyle/>
          <a:p>
            <a:pPr algn="just">
              <a:lnSpc>
                <a:spcPct val="150000"/>
              </a:lnSpc>
              <a:spcAft>
                <a:spcPts val="1000"/>
              </a:spcAft>
            </a:pPr>
            <a:r>
              <a:rPr lang="en-IN" b="0" i="0" dirty="0">
                <a:effectLst/>
                <a:latin typeface="Times New Roman" panose="02020603050405020304" pitchFamily="18" charset="0"/>
                <a:cs typeface="Times New Roman" panose="02020603050405020304" pitchFamily="18" charset="0"/>
              </a:rPr>
              <a:t> </a:t>
            </a:r>
            <a:r>
              <a:rPr lang="en-US" b="0" i="0" dirty="0">
                <a:latin typeface="Times New Roman" panose="02020603050405020304" pitchFamily="18" charset="0"/>
                <a:cs typeface="Times New Roman" panose="02020603050405020304" pitchFamily="18" charset="0"/>
              </a:rPr>
              <a:t>M</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ost portable systems, such as cellular communication devices and laptop and palmtop computers, operate from a limited power supply, and the extension of battery-based operation time is a significant design goal.</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69629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1FA19A5-9588-483E-843E-C76873B71790}"/>
              </a:ext>
            </a:extLst>
          </p:cNvPr>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1412725" y="2719767"/>
            <a:ext cx="10086536" cy="709233"/>
          </a:xfrm>
          <a:prstGeom prst="rect">
            <a:avLst/>
          </a:prstGeom>
          <a:noFill/>
        </p:spPr>
        <p:txBody>
          <a:bodyPr wrap="square" rtlCol="0">
            <a:spAutoFit/>
          </a:bodyPr>
          <a:lstStyle/>
          <a:p>
            <a:pPr algn="just">
              <a:lnSpc>
                <a:spcPct val="115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DC characteristics of CMOS inverter followed by its Dynamic characteristics are described in this session. The power and area considerations are explained.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549784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a:pPr>
            <a:r>
              <a:rPr lang="en-US" sz="1600" dirty="0">
                <a:solidFill>
                  <a:schemeClr val="bg1"/>
                </a:solidFill>
                <a:latin typeface="Poppins" panose="00000500000000000000" pitchFamily="2" charset="0"/>
                <a:ea typeface="Calibri"/>
                <a:cs typeface="Poppins" panose="00000500000000000000" pitchFamily="2" charset="0"/>
                <a:sym typeface="Calibri"/>
              </a:rPr>
              <a:t>How is the static power dissipation is almost zero in CMOS Inverter?</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3" name="Google Shape;502;p17">
            <a:extLst>
              <a:ext uri="{FF2B5EF4-FFF2-40B4-BE49-F238E27FC236}">
                <a16:creationId xmlns:a16="http://schemas.microsoft.com/office/drawing/2014/main" id="{BB41B87C-BE5F-4BF2-531D-57DC21D1A451}"/>
              </a:ext>
            </a:extLst>
          </p:cNvPr>
          <p:cNvSpPr/>
          <p:nvPr/>
        </p:nvSpPr>
        <p:spPr>
          <a:xfrm>
            <a:off x="995362" y="2308514"/>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startAt="2"/>
            </a:pPr>
            <a:r>
              <a:rPr lang="en-US" sz="1600" dirty="0">
                <a:solidFill>
                  <a:schemeClr val="bg1"/>
                </a:solidFill>
                <a:latin typeface="Poppins" panose="00000500000000000000" pitchFamily="2" charset="0"/>
                <a:ea typeface="Calibri"/>
                <a:cs typeface="Poppins" panose="00000500000000000000" pitchFamily="2" charset="0"/>
                <a:sym typeface="Calibri"/>
              </a:rPr>
              <a:t>List out the sources of static and dynamic power consumption.</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Google Shape;502;p17">
            <a:extLst>
              <a:ext uri="{FF2B5EF4-FFF2-40B4-BE49-F238E27FC236}">
                <a16:creationId xmlns:a16="http://schemas.microsoft.com/office/drawing/2014/main" id="{7483BB5B-7A6F-1A0C-0DB8-273FFA9B8D04}"/>
              </a:ext>
            </a:extLst>
          </p:cNvPr>
          <p:cNvSpPr/>
          <p:nvPr/>
        </p:nvSpPr>
        <p:spPr>
          <a:xfrm>
            <a:off x="1009895" y="3429000"/>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US" sz="1600" dirty="0">
                <a:solidFill>
                  <a:schemeClr val="bg1"/>
                </a:solidFill>
                <a:latin typeface="Poppins" panose="00000500000000000000" pitchFamily="2" charset="0"/>
                <a:ea typeface="Calibri"/>
                <a:cs typeface="Poppins" panose="00000500000000000000" pitchFamily="2" charset="0"/>
                <a:sym typeface="Calibri"/>
              </a:rPr>
              <a:t>3. Write the expression for the average propagation delay of CMOS Inverter.</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Tree>
    <p:extLst>
      <p:ext uri="{BB962C8B-B14F-4D97-AF65-F5344CB8AC3E}">
        <p14:creationId xmlns:p14="http://schemas.microsoft.com/office/powerpoint/2010/main" val="41927661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3" grpId="0" animBg="1"/>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2185435" y="2395055"/>
            <a:ext cx="9608234" cy="837473"/>
          </a:xfrm>
          <a:prstGeom prst="rect">
            <a:avLst/>
          </a:prstGeom>
          <a:noFill/>
        </p:spPr>
        <p:txBody>
          <a:bodyPr wrap="square" rtlCol="0">
            <a:spAutoFit/>
          </a:bodyPr>
          <a:lstStyle/>
          <a:p>
            <a:pPr>
              <a:lnSpc>
                <a:spcPct val="115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 Derive the expression for dynamic power dissipation in CMOS Inverter.</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 Briefly explain the requirements to reduce the area of the MOS transistors used in the circuit.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909789" y="954303"/>
            <a:ext cx="9608234" cy="4745530"/>
          </a:xfrm>
          <a:prstGeom prst="rect">
            <a:avLst/>
          </a:prstGeom>
          <a:noFill/>
        </p:spPr>
        <p:txBody>
          <a:bodyPr wrap="square" rtlCol="0">
            <a:spAutoFit/>
          </a:bodyPr>
          <a:lstStyle/>
          <a:p>
            <a:pPr>
              <a:spcAft>
                <a:spcPts val="10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Text Books: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1.Douglas A.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Pucknell</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&amp; Kamran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Eshraghian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Basic VLSI Design, PHI, 3rd Ed., 2011</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2. Neil H.E.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Weste</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David Harris, Ayan Banerjee, CMOS VLSI Design, A Circuits and Systems Perspective, Pearson Education, 4th Ed., 2011</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3. Sung-Mo Kang, Yusuf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Leblebici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CMOS Digital Integrated Circuits Analysis and Design, Tata Mc-Graw-Hill, 3rd Ed., 2003</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Reference Books: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1. Jab M.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Rabaey</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Anantha</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Chandra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Kasan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Borivoje</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Nikolic, Digital Integrated Circuits - A Design Perspective, PHI, 2</a:t>
            </a:r>
            <a:r>
              <a:rPr lang="en-US" sz="1800" baseline="30000" dirty="0">
                <a:effectLst/>
                <a:latin typeface="Times New Roman" panose="02020603050405020304" pitchFamily="18" charset="0"/>
                <a:ea typeface="Calibri" panose="020F0502020204030204" pitchFamily="34" charset="0"/>
                <a:cs typeface="Times New Roman" panose="02020603050405020304" pitchFamily="18" charset="0"/>
              </a:rPr>
              <a:t>nd</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Ed., 2012</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2. Michal John Sebastian Smith, Application-Specific Integrated Circuits, Pearson Education, 6th Ed., 2009</a:t>
            </a:r>
            <a:endParaRPr lang="en-US" dirty="0"/>
          </a:p>
          <a:p>
            <a:pPr>
              <a:lnSpc>
                <a:spcPct val="150000"/>
              </a:lnSpc>
            </a:pPr>
            <a:r>
              <a:rPr lang="en-US" b="1" dirty="0"/>
              <a:t>Sites and Web links:</a:t>
            </a:r>
          </a:p>
          <a:p>
            <a:pPr marL="342900" indent="-342900">
              <a:lnSpc>
                <a:spcPct val="115000"/>
              </a:lnSpc>
              <a:spcAft>
                <a:spcPts val="1000"/>
              </a:spcAf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hlinkClick r:id="rId2"/>
              </a:rPr>
              <a:t>https://archive.nptel.ac.in/courses/106/105/106105034/</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5"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VLSI Design</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BBD0A98-E68B-4DAA-8964-2F739D6D4075}">
  <ds:schemaRefs>
    <ds:schemaRef ds:uri="0125a647-8023-46ae-ae6e-85cf36d841bd"/>
    <ds:schemaRef ds:uri="d43ee83c-3e71-4748-8ebc-8eaadf79342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3.xml><?xml version="1.0" encoding="utf-8"?>
<ds:datastoreItem xmlns:ds="http://schemas.openxmlformats.org/officeDocument/2006/customXml" ds:itemID="{C89A6ECA-0C1B-4F00-836D-A696F073E5C2}">
  <ds:schemaRefs>
    <ds:schemaRef ds:uri="0125a647-8023-46ae-ae6e-85cf36d841bd"/>
    <ds:schemaRef ds:uri="d43ee83c-3e71-4748-8ebc-8eaadf7934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1351</TotalTime>
  <Words>1142</Words>
  <Application>Microsoft Office PowerPoint</Application>
  <PresentationFormat>Widescreen</PresentationFormat>
  <Paragraphs>100</Paragraphs>
  <Slides>17</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Calibri Light</vt:lpstr>
      <vt:lpstr>Poppins</vt:lpstr>
      <vt:lpstr>Times New Roman</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Naren Das</cp:lastModifiedBy>
  <cp:revision>80</cp:revision>
  <dcterms:created xsi:type="dcterms:W3CDTF">2020-02-08T09:57:44Z</dcterms:created>
  <dcterms:modified xsi:type="dcterms:W3CDTF">2022-11-25T09:21:35Z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