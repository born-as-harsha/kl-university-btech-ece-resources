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sldIdLst>
    <p:sldId id="271" r:id="rId5"/>
    <p:sldId id="300" r:id="rId6"/>
    <p:sldId id="258" r:id="rId7"/>
    <p:sldId id="288" r:id="rId8"/>
    <p:sldId id="308" r:id="rId9"/>
    <p:sldId id="323" r:id="rId10"/>
    <p:sldId id="324" r:id="rId11"/>
    <p:sldId id="311" r:id="rId12"/>
    <p:sldId id="315" r:id="rId13"/>
    <p:sldId id="316" r:id="rId14"/>
    <p:sldId id="310" r:id="rId15"/>
    <p:sldId id="309" r:id="rId16"/>
    <p:sldId id="317" r:id="rId17"/>
    <p:sldId id="318" r:id="rId18"/>
    <p:sldId id="319" r:id="rId19"/>
    <p:sldId id="320" r:id="rId20"/>
    <p:sldId id="321" r:id="rId21"/>
    <p:sldId id="322" r:id="rId22"/>
    <p:sldId id="299" r:id="rId23"/>
    <p:sldId id="285" r:id="rId24"/>
    <p:sldId id="287" r:id="rId25"/>
    <p:sldId id="301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4845"/>
    <a:srgbClr val="FF9900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9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3/14/2023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xmlns="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xmlns="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chive.nptel.ac.in/courses/106/105/106105034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289451" y="1924578"/>
            <a:ext cx="6902548" cy="2787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21EC2211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600" b="1" dirty="0">
                <a:solidFill>
                  <a:srgbClr val="E8484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 Transistor and Transmission Gate based logics</a:t>
            </a:r>
            <a:endParaRPr lang="en-IN" sz="3600" dirty="0">
              <a:solidFill>
                <a:srgbClr val="E8484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7992171" y="5535597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- 5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1752598" y="656507"/>
            <a:ext cx="8791575" cy="369332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To nurture students with Concepts of design rules for wires, transistors and contacts. </a:t>
            </a:r>
            <a:endParaRPr lang="en-IN" dirty="0"/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69277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r>
              <a:rPr lang="en-US" dirty="0"/>
              <a:t>1. Introduction of </a:t>
            </a:r>
            <a:r>
              <a:rPr lang="en-IN" dirty="0"/>
              <a:t>Pass Transistor and Transmission Gate</a:t>
            </a:r>
            <a:r>
              <a:rPr lang="en-US" dirty="0"/>
              <a:t>. </a:t>
            </a:r>
          </a:p>
          <a:p>
            <a:r>
              <a:rPr lang="en-US" dirty="0"/>
              <a:t>2. A popular and widely-used alternative to complementary CMOS is pass-transistor logic, which attempts to reduce the number of transistors required to implement logic by allowing the primary inputs to drive gate terminals as well as source/drain terminals.</a:t>
            </a:r>
            <a:endParaRPr lang="en-IN" dirty="0"/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52598" y="4765771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r>
              <a:rPr lang="en-US" sz="1600" dirty="0"/>
              <a:t>1</a:t>
            </a:r>
            <a:r>
              <a:rPr lang="en-US" sz="1600" dirty="0">
                <a:latin typeface="Arial"/>
                <a:cs typeface="Arial"/>
              </a:rPr>
              <a:t>. Understand the basic of </a:t>
            </a:r>
            <a:r>
              <a:rPr lang="en-IN" sz="1600" dirty="0">
                <a:latin typeface="Arial"/>
                <a:cs typeface="Arial"/>
              </a:rPr>
              <a:t>Pass Transistor and Transmission Gate</a:t>
            </a:r>
            <a:r>
              <a:rPr lang="en-US" sz="1600" dirty="0">
                <a:latin typeface="Arial"/>
                <a:cs typeface="Arial"/>
              </a:rPr>
              <a:t>. </a:t>
            </a:r>
          </a:p>
          <a:p>
            <a:r>
              <a:rPr lang="en-US" sz="1600" dirty="0">
                <a:latin typeface="Arial"/>
                <a:cs typeface="Arial"/>
              </a:rPr>
              <a:t>2. Reduce the number of transistors required to implement logic gates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xmlns="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291629" y="1128457"/>
            <a:ext cx="10086536" cy="3746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r>
              <a:rPr lang="en-US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“Pass Transistor and Transmission Gate based logics”</a:t>
            </a: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endParaRPr lang="en-US" b="1" i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session starts with the introduction of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 Transistor and Transmission Gate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popular and widely-used alternative to complementary CMOS is pass-transistor logic, which attempts to reduce the number of transistors required to implement logic by allowing the primary inputs to drive gate terminals as well as source/drain terminals.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995362" y="600076"/>
            <a:ext cx="10396152" cy="4973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b="1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Pass-Transistor Logic: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popular and widely-used alternative to complementary CMOS is pass-transistor logic, which attempts to reduce the number of transistors required to implement logic by allowing the primary inputs to drive gate terminals as well as source/drain terminals. This is in contrast to logic families that we have studied so far, which only allow primary inputs to drive the gate terminals of MOSFETS.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alternative to implementing complex logic is to realize it using a logic network of pass transistors (switches).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EB487D4D-8BAB-7D77-8F5F-0B3679028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936" y="4951172"/>
            <a:ext cx="5730240" cy="1577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9796158-9889-F884-65B5-866AC41E4DA1}"/>
              </a:ext>
            </a:extLst>
          </p:cNvPr>
          <p:cNvSpPr txBox="1"/>
          <p:nvPr/>
        </p:nvSpPr>
        <p:spPr>
          <a:xfrm>
            <a:off x="363894" y="946148"/>
            <a:ext cx="11206065" cy="878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have already observed a series connection of two switches implements AND while a parallel connection implements OR.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9598BDC7-7D89-36E4-30B9-5CA32B398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7156" y="1676400"/>
            <a:ext cx="393954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49901A5-2D5A-6A98-FD09-34658DBE7C0B}"/>
              </a:ext>
            </a:extLst>
          </p:cNvPr>
          <p:cNvSpPr txBox="1"/>
          <p:nvPr/>
        </p:nvSpPr>
        <p:spPr>
          <a:xfrm>
            <a:off x="699796" y="3426524"/>
            <a:ext cx="11066106" cy="321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 is not redundant; it ensures a low impedance path exists when B is low.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 Gate Logic Advantage: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Fast and simple.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Complex gates can be implemented using minimum number of transistors, which also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parasitics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and dynamic performance depends on a switch with low parasitic resistance and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capacitance.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8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3126" y="461900"/>
            <a:ext cx="67652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Switch 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Logic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- </a:t>
            </a:r>
            <a:r>
              <a:rPr spc="-25" dirty="0">
                <a:solidFill>
                  <a:srgbClr val="000000"/>
                </a:solidFill>
                <a:latin typeface="Calibri"/>
                <a:cs typeface="Calibri"/>
              </a:rPr>
              <a:t>Pass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50" dirty="0">
                <a:solidFill>
                  <a:srgbClr val="000000"/>
                </a:solidFill>
                <a:latin typeface="Calibri"/>
                <a:cs typeface="Calibri"/>
              </a:rPr>
              <a:t>Transistors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9941" y="1509942"/>
            <a:ext cx="5281295" cy="11969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Use </a:t>
            </a:r>
            <a:r>
              <a:rPr sz="3200" spc="-20" dirty="0">
                <a:latin typeface="Calibri"/>
                <a:cs typeface="Calibri"/>
              </a:rPr>
              <a:t>n-transistor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“switches”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“Threshold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problem”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444" y="2683660"/>
            <a:ext cx="563880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6385">
              <a:spcBef>
                <a:spcPts val="7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35" dirty="0">
                <a:latin typeface="Calibri"/>
                <a:cs typeface="Calibri"/>
              </a:rPr>
              <a:t>Transistor </a:t>
            </a:r>
            <a:r>
              <a:rPr sz="2800" spc="-10" dirty="0">
                <a:latin typeface="Calibri"/>
                <a:cs typeface="Calibri"/>
              </a:rPr>
              <a:t>switches </a:t>
            </a:r>
            <a:r>
              <a:rPr sz="2800" spc="-15" dirty="0">
                <a:latin typeface="Calibri"/>
                <a:cs typeface="Calibri"/>
              </a:rPr>
              <a:t>off </a:t>
            </a: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50" dirty="0">
                <a:latin typeface="Calibri"/>
                <a:cs typeface="Calibri"/>
              </a:rPr>
              <a:t>Vgs </a:t>
            </a:r>
            <a:r>
              <a:rPr sz="2800" spc="-5" dirty="0">
                <a:latin typeface="Calibri"/>
                <a:cs typeface="Calibri"/>
              </a:rPr>
              <a:t>&lt;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Vt</a:t>
            </a:r>
            <a:endParaRPr sz="2800" dirty="0">
              <a:latin typeface="Calibri"/>
              <a:cs typeface="Calibri"/>
            </a:endParaRPr>
          </a:p>
          <a:p>
            <a:pPr marL="299085" indent="-286385">
              <a:spcBef>
                <a:spcPts val="670"/>
              </a:spcBef>
              <a:buFont typeface="Arial"/>
              <a:buChar char="–"/>
              <a:tabLst>
                <a:tab pos="299720" algn="l"/>
              </a:tabLst>
            </a:pPr>
            <a:r>
              <a:rPr sz="2800" spc="-5" dirty="0">
                <a:latin typeface="Calibri"/>
                <a:cs typeface="Calibri"/>
              </a:rPr>
              <a:t>VDD </a:t>
            </a:r>
            <a:r>
              <a:rPr sz="2800" spc="-10" dirty="0">
                <a:latin typeface="Calibri"/>
                <a:cs typeface="Calibri"/>
              </a:rPr>
              <a:t>input </a:t>
            </a:r>
            <a:r>
              <a:rPr sz="2800" spc="-5" dirty="0">
                <a:latin typeface="Calibri"/>
                <a:cs typeface="Calibri"/>
              </a:rPr>
              <a:t>-&gt; </a:t>
            </a:r>
            <a:r>
              <a:rPr sz="2800" spc="-10" dirty="0">
                <a:latin typeface="Calibri"/>
                <a:cs typeface="Calibri"/>
              </a:rPr>
              <a:t>VDD-Vt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output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1" y="3802761"/>
            <a:ext cx="68433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Special </a:t>
            </a:r>
            <a:r>
              <a:rPr sz="3200" spc="-30" dirty="0">
                <a:latin typeface="Calibri"/>
                <a:cs typeface="Calibri"/>
              </a:rPr>
              <a:t>gate </a:t>
            </a:r>
            <a:r>
              <a:rPr sz="3200" spc="-5" dirty="0">
                <a:latin typeface="Calibri"/>
                <a:cs typeface="Calibri"/>
              </a:rPr>
              <a:t>needed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20" dirty="0">
                <a:latin typeface="Calibri"/>
                <a:cs typeface="Calibri"/>
              </a:rPr>
              <a:t>“restore” </a:t>
            </a:r>
            <a:r>
              <a:rPr sz="3200" spc="-10" dirty="0">
                <a:latin typeface="Calibri"/>
                <a:cs typeface="Calibri"/>
              </a:rPr>
              <a:t>values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27492" y="2272283"/>
            <a:ext cx="1575816" cy="762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7733791" y="1953005"/>
            <a:ext cx="39751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20600"/>
              </a:lnSpc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IN:  </a:t>
            </a:r>
            <a:r>
              <a:rPr sz="2700" b="1" spc="-7" baseline="13888" dirty="0">
                <a:latin typeface="Arial"/>
                <a:cs typeface="Arial"/>
              </a:rPr>
              <a:t>V</a:t>
            </a:r>
            <a:r>
              <a:rPr sz="1200" b="1" spc="-10" dirty="0">
                <a:latin typeface="Arial"/>
                <a:cs typeface="Arial"/>
              </a:rPr>
              <a:t>DD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17026" y="2943985"/>
            <a:ext cx="397510" cy="68707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8895">
              <a:spcBef>
                <a:spcPts val="540"/>
              </a:spcBef>
            </a:pPr>
            <a:r>
              <a:rPr b="1" spc="-60" dirty="0">
                <a:latin typeface="Arial"/>
                <a:cs typeface="Arial"/>
              </a:rPr>
              <a:t>A:</a:t>
            </a:r>
            <a:endParaRPr dirty="0">
              <a:latin typeface="Arial"/>
              <a:cs typeface="Arial"/>
            </a:endParaRPr>
          </a:p>
          <a:p>
            <a:pPr marL="12700">
              <a:spcBef>
                <a:spcPts val="445"/>
              </a:spcBef>
            </a:pPr>
            <a:r>
              <a:rPr sz="2700" b="1" spc="-7" baseline="13888" dirty="0">
                <a:latin typeface="Arial"/>
                <a:cs typeface="Arial"/>
              </a:rPr>
              <a:t>V</a:t>
            </a:r>
            <a:r>
              <a:rPr sz="1200" b="1" spc="-10" dirty="0">
                <a:latin typeface="Arial"/>
                <a:cs typeface="Arial"/>
              </a:rPr>
              <a:t>DD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05518" y="1953005"/>
            <a:ext cx="769620" cy="68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4775">
              <a:lnSpc>
                <a:spcPct val="120600"/>
              </a:lnSpc>
              <a:spcBef>
                <a:spcPts val="100"/>
              </a:spcBef>
            </a:pPr>
            <a:r>
              <a:rPr b="1" spc="-55" dirty="0">
                <a:latin typeface="Arial"/>
                <a:cs typeface="Arial"/>
              </a:rPr>
              <a:t>OUT:  </a:t>
            </a:r>
            <a:r>
              <a:rPr sz="2700" b="1" baseline="13888" dirty="0">
                <a:latin typeface="Arial"/>
                <a:cs typeface="Arial"/>
              </a:rPr>
              <a:t>V</a:t>
            </a:r>
            <a:r>
              <a:rPr sz="1200" b="1" spc="-10" dirty="0">
                <a:latin typeface="Arial"/>
                <a:cs typeface="Arial"/>
              </a:rPr>
              <a:t>DD</a:t>
            </a:r>
            <a:r>
              <a:rPr sz="2700" b="1" spc="-7" baseline="13888" dirty="0">
                <a:latin typeface="Arial"/>
                <a:cs typeface="Arial"/>
              </a:rPr>
              <a:t>-</a:t>
            </a:r>
            <a:r>
              <a:rPr sz="2700" b="1" spc="-15" baseline="13888" dirty="0">
                <a:latin typeface="Arial"/>
                <a:cs typeface="Arial"/>
              </a:rPr>
              <a:t>V</a:t>
            </a:r>
            <a:r>
              <a:rPr sz="1200" b="1" spc="-10" dirty="0">
                <a:latin typeface="Arial"/>
                <a:cs typeface="Arial"/>
              </a:rPr>
              <a:t>tn</a:t>
            </a:r>
            <a:endParaRPr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908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171" y="461900"/>
            <a:ext cx="75876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>
                <a:solidFill>
                  <a:srgbClr val="000000"/>
                </a:solidFill>
                <a:latin typeface="Calibri"/>
                <a:cs typeface="Calibri"/>
              </a:rPr>
              <a:t>Switch </a:t>
            </a:r>
            <a:r>
              <a:rPr spc="-5" dirty="0">
                <a:solidFill>
                  <a:srgbClr val="000000"/>
                </a:solidFill>
                <a:latin typeface="Calibri"/>
                <a:cs typeface="Calibri"/>
              </a:rPr>
              <a:t>Logic </a:t>
            </a:r>
            <a:r>
              <a:rPr dirty="0">
                <a:solidFill>
                  <a:srgbClr val="000000"/>
                </a:solidFill>
                <a:latin typeface="Calibri"/>
                <a:cs typeface="Calibri"/>
              </a:rPr>
              <a:t>- </a:t>
            </a:r>
            <a:r>
              <a:rPr spc="-35" dirty="0">
                <a:solidFill>
                  <a:srgbClr val="000000"/>
                </a:solidFill>
                <a:latin typeface="Calibri"/>
                <a:cs typeface="Calibri"/>
              </a:rPr>
              <a:t>Transmission</a:t>
            </a:r>
            <a:r>
              <a:rPr spc="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000000"/>
                </a:solidFill>
                <a:latin typeface="Calibri"/>
                <a:cs typeface="Calibri"/>
              </a:rPr>
              <a:t>Gates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5842" y="6204000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spc="-5" dirty="0">
                <a:latin typeface="Arial"/>
                <a:cs typeface="Arial"/>
              </a:rPr>
              <a:t>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2824" y="4224528"/>
            <a:ext cx="2286000" cy="205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248144" y="4671060"/>
            <a:ext cx="1257300" cy="1257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774052" y="5917794"/>
            <a:ext cx="1911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A</a:t>
            </a:r>
            <a:endParaRPr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4294967295"/>
          </p:nvPr>
        </p:nvSpPr>
        <p:spPr>
          <a:xfrm>
            <a:off x="2059941" y="6464910"/>
            <a:ext cx="68706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1</a:t>
            </a:r>
            <a:r>
              <a:rPr dirty="0"/>
              <a:t>2</a:t>
            </a:r>
            <a:r>
              <a:rPr dirty="0"/>
              <a:t>/5</a:t>
            </a:r>
            <a:r>
              <a:rPr dirty="0"/>
              <a:t>/</a:t>
            </a:r>
            <a:r>
              <a:rPr dirty="0"/>
              <a:t>2</a:t>
            </a:r>
            <a:r>
              <a:rPr dirty="0"/>
              <a:t>0</a:t>
            </a:r>
            <a:r>
              <a:rPr dirty="0"/>
              <a:t>15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9860534" y="6409436"/>
            <a:ext cx="284479" cy="363791"/>
          </a:xfrm>
          <a:prstGeom prst="rect">
            <a:avLst/>
          </a:prstGeom>
        </p:spPr>
        <p:txBody>
          <a:bodyPr vert="horz" wrap="square" lIns="0" tIns="55473" rIns="0" bIns="0" rtlCol="0">
            <a:spAutoFit/>
          </a:bodyPr>
          <a:lstStyle/>
          <a:p>
            <a:pPr marL="25400">
              <a:lnSpc>
                <a:spcPts val="1240"/>
              </a:lnSpc>
            </a:pPr>
            <a:r>
              <a:rPr dirty="0"/>
              <a:t>286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59941" y="1509941"/>
            <a:ext cx="7016115" cy="3183890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5600" indent="-342900">
              <a:spcBef>
                <a:spcPts val="86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Complementary </a:t>
            </a:r>
            <a:r>
              <a:rPr sz="3200" spc="-25" dirty="0">
                <a:latin typeface="Calibri"/>
                <a:cs typeface="Calibri"/>
              </a:rPr>
              <a:t>transistors </a:t>
            </a:r>
            <a:r>
              <a:rPr sz="3200" dirty="0">
                <a:latin typeface="Calibri"/>
                <a:cs typeface="Calibri"/>
              </a:rPr>
              <a:t>- n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</a:t>
            </a: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No </a:t>
            </a:r>
            <a:r>
              <a:rPr sz="3200" spc="-10" dirty="0">
                <a:latin typeface="Calibri"/>
                <a:cs typeface="Calibri"/>
              </a:rPr>
              <a:t>threshold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problem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libri"/>
                <a:cs typeface="Calibri"/>
              </a:rPr>
              <a:t>Cost: </a:t>
            </a:r>
            <a:r>
              <a:rPr sz="3200" spc="-25" dirty="0">
                <a:latin typeface="Calibri"/>
                <a:cs typeface="Calibri"/>
              </a:rPr>
              <a:t>extra </a:t>
            </a:r>
            <a:r>
              <a:rPr sz="3200" spc="-45" dirty="0">
                <a:latin typeface="Calibri"/>
                <a:cs typeface="Calibri"/>
              </a:rPr>
              <a:t>transistor, </a:t>
            </a:r>
            <a:r>
              <a:rPr sz="3200" spc="-25" dirty="0">
                <a:latin typeface="Calibri"/>
                <a:cs typeface="Calibri"/>
              </a:rPr>
              <a:t>extra </a:t>
            </a:r>
            <a:r>
              <a:rPr sz="3200" spc="-15" dirty="0">
                <a:latin typeface="Calibri"/>
                <a:cs typeface="Calibri"/>
              </a:rPr>
              <a:t>control</a:t>
            </a:r>
            <a:r>
              <a:rPr sz="3200" spc="7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input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Not a </a:t>
            </a:r>
            <a:r>
              <a:rPr sz="3200" spc="-15" dirty="0">
                <a:latin typeface="Calibri"/>
                <a:cs typeface="Calibri"/>
              </a:rPr>
              <a:t>perfect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conductor!</a:t>
            </a:r>
            <a:endParaRPr sz="3200" dirty="0">
              <a:latin typeface="Calibri"/>
              <a:cs typeface="Calibri"/>
            </a:endParaRPr>
          </a:p>
          <a:p>
            <a:pPr marL="1780539">
              <a:spcBef>
                <a:spcPts val="865"/>
              </a:spcBef>
            </a:pPr>
            <a:r>
              <a:rPr b="1" spc="-150" dirty="0">
                <a:latin typeface="Arial"/>
                <a:cs typeface="Arial"/>
              </a:rPr>
              <a:t>A’</a:t>
            </a:r>
            <a:endParaRPr dirty="0">
              <a:latin typeface="Arial"/>
              <a:cs typeface="Arial"/>
            </a:endParaRPr>
          </a:p>
          <a:p>
            <a:pPr marR="1078865" algn="r">
              <a:spcBef>
                <a:spcPts val="1240"/>
              </a:spcBef>
            </a:pPr>
            <a:r>
              <a:rPr b="1" spc="-150" dirty="0">
                <a:latin typeface="Arial"/>
                <a:cs typeface="Arial"/>
              </a:rPr>
              <a:t>A’</a:t>
            </a:r>
            <a:endParaRPr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2442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35979D6-D061-9F20-F32F-B640D8A84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645" y="588727"/>
            <a:ext cx="42672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FE7947D1-ADC9-CB5F-2E87-0466DC1C3579}"/>
              </a:ext>
            </a:extLst>
          </p:cNvPr>
          <p:cNvSpPr txBox="1"/>
          <p:nvPr/>
        </p:nvSpPr>
        <p:spPr>
          <a:xfrm>
            <a:off x="205274" y="993460"/>
            <a:ext cx="7751371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pass gate networks are often constructed from bi-directional transmission gates.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Both transistors are important:</a:t>
            </a:r>
            <a:endParaRPr lang="en-IN" dirty="0"/>
          </a:p>
        </p:txBody>
      </p:sp>
      <p:pic>
        <p:nvPicPr>
          <p:cNvPr id="1026" name="Picture 2" descr="Transmission gate based 4:1 MUX | Download Scientific Diagra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5" y="2493047"/>
            <a:ext cx="7917550" cy="452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334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77773B6-3CD2-7BE5-B1DD-C098C4528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180" y="728799"/>
            <a:ext cx="5730240" cy="2004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AAE925B-9799-77FB-5753-69264304D7AA}"/>
              </a:ext>
            </a:extLst>
          </p:cNvPr>
          <p:cNvSpPr txBox="1"/>
          <p:nvPr/>
        </p:nvSpPr>
        <p:spPr>
          <a:xfrm>
            <a:off x="258925" y="2925432"/>
            <a:ext cx="6097554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b="1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Issues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Resistance: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C4189B53-BCB7-D782-F569-0DE1A0188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76" y="3147707"/>
            <a:ext cx="5730240" cy="15697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64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780D7AE-9142-5DE9-A328-11784B8238B2}"/>
              </a:ext>
            </a:extLst>
          </p:cNvPr>
          <p:cNvSpPr txBox="1"/>
          <p:nvPr/>
        </p:nvSpPr>
        <p:spPr>
          <a:xfrm>
            <a:off x="576943" y="807258"/>
            <a:ext cx="11038113" cy="4141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During the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low-to-high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transition, the pass transistors pass through several operation modes.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always equal to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the NMOS is either in saturation or off.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GS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the PMOS is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the device changes from saturation to linear.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􀂁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|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|: NMOS and PMOS saturated.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􀂁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|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Tp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| &lt;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NMOS saturated, PMOS linear.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􀂁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</a:t>
            </a:r>
            <a:r>
              <a:rPr lang="en-IN" sz="1800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Tn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&lt;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IN" sz="1800" baseline="-25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NMOS cut off, PMOS linear.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is important to incorporate the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body effect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when computing Ip and In. The expression for the resistance of a pass gate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without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effect.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DEA96D6-FE93-4E78-F206-A93CD3532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544" y="4948585"/>
            <a:ext cx="4008120" cy="80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31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AAD7343-B29C-7585-8009-20EE23D43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33" y="1025331"/>
            <a:ext cx="5587695" cy="3667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95F9A4-C096-38C2-D27E-04BF1F182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767" y="1025331"/>
            <a:ext cx="5546094" cy="39899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04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28E39D4-2A18-E4F9-DE4F-B7F454369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25" y="884853"/>
            <a:ext cx="573024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F3D47FC-2272-E0CD-3A17-00A8A5E56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637" y="3129772"/>
            <a:ext cx="5210263" cy="3384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242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07AE18D-BE81-A1CE-485A-0B626335FD41}"/>
              </a:ext>
            </a:extLst>
          </p:cNvPr>
          <p:cNvSpPr txBox="1"/>
          <p:nvPr/>
        </p:nvSpPr>
        <p:spPr>
          <a:xfrm>
            <a:off x="354563" y="576072"/>
            <a:ext cx="11392678" cy="362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􀂄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Transistor sizing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 gate logic family is a member of the </a:t>
            </a:r>
            <a:r>
              <a:rPr lang="en-IN" sz="1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ratio less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 class.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dc characteristics are not affected by the sizes.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Performance, to the first order, is 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 impacted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changing the W/L.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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Increasing the size reduces the resistance, but this is offset by the increase in diffusion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capacitance.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Therefore, minimum sized devices should ALWAYS be used, unless the chain drives a significant external load capacitance. In this case, ordering transistors from largest to smallest in the pass gate chain will help reduce delay.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BCAA44F-1E37-E570-9019-CBBB0CDBEB11}"/>
              </a:ext>
            </a:extLst>
          </p:cNvPr>
          <p:cNvSpPr txBox="1"/>
          <p:nvPr/>
        </p:nvSpPr>
        <p:spPr>
          <a:xfrm>
            <a:off x="650810" y="4454459"/>
            <a:ext cx="9500896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analogous to the argument given earlier for logic gate transistors close to the output.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573402D-FE32-5A05-A8F5-47E4EEB66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0076"/>
            <a:ext cx="6385389" cy="334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CE8C07A-DD93-D65F-B284-221F6B51F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059" y="2763619"/>
            <a:ext cx="5730240" cy="35585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18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10F04B40-E40C-3B8E-97E9-2BF3F40FBD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" y="717601"/>
            <a:ext cx="5730240" cy="3649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D3CBA74-71A7-5C6D-4B2F-A7AF896679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221" y="2679285"/>
            <a:ext cx="5722620" cy="37947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423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7BF5215-BE71-C3E8-A1C2-9627DF1ED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17" y="745983"/>
            <a:ext cx="5730240" cy="3611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FE3D53BE-CA62-F78C-4053-20C96A2B25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209" y="2346500"/>
            <a:ext cx="5923915" cy="402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54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65A04EA-481E-DDA1-19FE-2E6930624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96" y="769296"/>
            <a:ext cx="5724525" cy="3826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B209533-9FAB-1384-48E8-C9920C4B29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4749" y="2898744"/>
            <a:ext cx="5730240" cy="3832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5214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/>
              <a:t>SESSION DESCRIPTION</a:t>
            </a: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Poppins"/>
                <a:cs typeface="Poppins"/>
              </a:rPr>
              <a:t> </a:t>
            </a:r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B06A4B6-3F36-B08A-DF9B-6A2C4385E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56" y="736010"/>
            <a:ext cx="8136631" cy="5459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342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238897" y="1269009"/>
            <a:ext cx="11714205" cy="365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Activities: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 the basic of 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Pass Transistor and Transmission Gate based logics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Articles: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LOGIC CIRCUITS AND CMOS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https://courses.engr.illinois.edu/ece110/sp2021/content/courseNotes/files/?logicAndCMOS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Studies: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DESIGNING COMBINATIONAL LOGIC GATES IN CMOS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http://bwrcs.eecs.berkeley.edu/Classes/icdesign/ee141_f01/Notes/chapter6.pdf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305633" y="2668933"/>
            <a:ext cx="10086536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ost portable systems, such as cellular communication devices and laptop and palmtop computers, operate from a limited power supply, and the extension of battery-based operation time is a significant design goal.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412725" y="2719767"/>
            <a:ext cx="10086536" cy="878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Pass-transistor logic is good for certain classes of circuits (MUX/adders). Dynamic logic gives fast and small circuits but complicates the design process and restricts the minimum clock rate.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1. Explain the requirement and operation of pass transistors and transmission gates.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xmlns="" id="{BB41B87C-BE5F-4BF2-531D-57DC21D1A451}"/>
              </a:ext>
            </a:extLst>
          </p:cNvPr>
          <p:cNvSpPr/>
          <p:nvPr/>
        </p:nvSpPr>
        <p:spPr>
          <a:xfrm>
            <a:off x="995362" y="2308514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2. </a:t>
            </a:r>
            <a:r>
              <a:rPr lang="en-IN" dirty="0">
                <a:solidFill>
                  <a:schemeClr val="bg1"/>
                </a:solidFill>
              </a:rPr>
              <a:t>Describe Switch Logic and pass transistor.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8904" y="2376392"/>
            <a:ext cx="9860386" cy="105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 the minimum CMOS transistor network that implements the functionality of Boolean equation F= ((A+B) C + D)'. You can assume both the original and complemented versions of each literal are available as gate inputs.</a:t>
            </a: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789" y="954303"/>
            <a:ext cx="9608234" cy="4745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1.Douglas A.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Pucknell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Kamran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Eshraghian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Basic VLSI Design, PHI, 3rd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Neil H.E.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Weste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David Harris, Ayan Banerjee, CMOS VLSI Design, A Circuits and Systems Perspective, Pearson Education, 4th Ed., 2011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Sung-Mo Kang, Yusuf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Leblebici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CMOS Digital Integrated Circuits Analysis and Design, Tata Mc-Graw-Hill, 3rd Ed., 2003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Jab M.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Rabaey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Anantha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Chandra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Kasan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Borivoje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Nikolic, Digital Integrated Circuits - A Design Perspective, PHI, 2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Ed., 2012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Michal John Sebastian Smith, Application-Specific Integrated Circuits, Pearson Education, 6th Ed., 2009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https://archive.nptel.ac.in/courses/106/105/106105034/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VLSI Design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1497</TotalTime>
  <Words>1039</Words>
  <Application>Microsoft Office PowerPoint</Application>
  <PresentationFormat>Widescreen</PresentationFormat>
  <Paragraphs>126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BioRhyme ExtraBold</vt:lpstr>
      <vt:lpstr>Calibri</vt:lpstr>
      <vt:lpstr>Calibri Light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 Logic - Pass Transistors</vt:lpstr>
      <vt:lpstr>Switch Logic - Transmission Gates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123</cp:lastModifiedBy>
  <cp:revision>127</cp:revision>
  <dcterms:created xsi:type="dcterms:W3CDTF">2020-02-08T09:57:44Z</dcterms:created>
  <dcterms:modified xsi:type="dcterms:W3CDTF">2023-03-14T07:59:40Z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