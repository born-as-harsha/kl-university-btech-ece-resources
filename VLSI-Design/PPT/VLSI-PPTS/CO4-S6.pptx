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71" r:id="rId5"/>
    <p:sldId id="300" r:id="rId6"/>
    <p:sldId id="258" r:id="rId7"/>
    <p:sldId id="288" r:id="rId8"/>
    <p:sldId id="306" r:id="rId9"/>
    <p:sldId id="307" r:id="rId10"/>
    <p:sldId id="308" r:id="rId11"/>
    <p:sldId id="309" r:id="rId12"/>
    <p:sldId id="287" r:id="rId13"/>
    <p:sldId id="301" r:id="rId14"/>
    <p:sldId id="302" r:id="rId15"/>
    <p:sldId id="303"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p:scale>
          <a:sx n="75" d="100"/>
          <a:sy n="75" d="100"/>
        </p:scale>
        <p:origin x="946" y="120"/>
      </p:cViewPr>
      <p:guideLst>
        <p:guide orient="horz" pos="2160"/>
        <p:guide pos="3840"/>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11/24/2022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11/24/2022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bwrcs.eecs.berkeley.edu/Classes/icdesign/ee141_f01/Notes/chapter5.pdf" TargetMode="External"/><Relationship Id="rId2" Type="http://schemas.openxmlformats.org/officeDocument/2006/relationships/hyperlink" Target="https://www.egr.msu.edu/classes/ece410/mason/files/Ch7.pdf"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6854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6546"/>
            <a:ext cx="6027459" cy="6623931"/>
          </a:xfrm>
          <a:prstGeom prst="rect">
            <a:avLst/>
          </a:prstGeom>
          <a:noFill/>
          <a:ln>
            <a:noFill/>
          </a:ln>
        </p:spPr>
      </p:pic>
      <p:sp>
        <p:nvSpPr>
          <p:cNvPr id="476" name="Google Shape;476;p16"/>
          <p:cNvSpPr txBox="1"/>
          <p:nvPr/>
        </p:nvSpPr>
        <p:spPr>
          <a:xfrm>
            <a:off x="5394455" y="1962904"/>
            <a:ext cx="6902548" cy="212361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VLSI DESIGN</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21EC2211</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IN" sz="4800" b="1" dirty="0">
                <a:solidFill>
                  <a:srgbClr val="C00000"/>
                </a:solidFill>
              </a:rPr>
              <a:t>Scan design techniques</a:t>
            </a: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ECE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728171" y="4067289"/>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- 6</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a:t>
            </a:r>
            <a:r>
              <a:rPr lang="en-US" sz="1600" dirty="0">
                <a:latin typeface="Poppins"/>
                <a:cs typeface="Poppins"/>
              </a:rPr>
              <a:t>scan design techniques</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dirty="0">
                <a:latin typeface="Arial" panose="020B0604020202020204" pitchFamily="34" charset="0"/>
              </a:rPr>
              <a:t>Describe about Scan Design techniques .</a:t>
            </a:r>
          </a:p>
          <a:p>
            <a:pPr marL="342900" indent="-342900">
              <a:buAutoNum type="arabicPeriod"/>
            </a:pPr>
            <a:r>
              <a:rPr lang="en-US" sz="1600" b="0" i="0" dirty="0">
                <a:effectLst/>
                <a:latin typeface="Arial" panose="020B0604020202020204" pitchFamily="34" charset="0"/>
              </a:rPr>
              <a:t>Describe about Scan path.</a:t>
            </a:r>
          </a:p>
          <a:p>
            <a:pPr marL="342900" indent="-342900">
              <a:buAutoNum type="arabicPeriod"/>
            </a:pPr>
            <a:r>
              <a:rPr lang="en-US" sz="1600" dirty="0">
                <a:latin typeface="Arial" panose="020B0604020202020204" pitchFamily="34" charset="0"/>
              </a:rPr>
              <a:t>Describe about Boundary Scan Test.</a:t>
            </a:r>
            <a:endParaRPr lang="en-US" sz="1600" b="0" i="0" dirty="0">
              <a:effectLst/>
              <a:latin typeface="Arial" panose="020B0604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dirty="0">
                <a:latin typeface="Arial" panose="020B0604020202020204" pitchFamily="34" charset="0"/>
              </a:rPr>
              <a:t>Describe about Scan Design techniques .</a:t>
            </a:r>
          </a:p>
          <a:p>
            <a:pPr marL="342900" indent="-342900">
              <a:buAutoNum type="arabicPeriod"/>
            </a:pPr>
            <a:r>
              <a:rPr lang="en-US" sz="1600" dirty="0">
                <a:latin typeface="Arial" panose="020B0604020202020204" pitchFamily="34" charset="0"/>
              </a:rPr>
              <a:t>Describe about Scan path.</a:t>
            </a:r>
          </a:p>
          <a:p>
            <a:pPr marL="342900" indent="-342900">
              <a:buAutoNum type="arabicPeriod"/>
            </a:pPr>
            <a:r>
              <a:rPr lang="en-US" sz="1600" dirty="0">
                <a:latin typeface="Arial" panose="020B0604020202020204" pitchFamily="34" charset="0"/>
              </a:rPr>
              <a:t>Describe about Boundary Scan Test.</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TextBox 4">
            <a:extLst>
              <a:ext uri="{FF2B5EF4-FFF2-40B4-BE49-F238E27FC236}">
                <a16:creationId xmlns:a16="http://schemas.microsoft.com/office/drawing/2014/main" id="{06D241EC-56EC-0DFA-EACF-878C079BB986}"/>
              </a:ext>
            </a:extLst>
          </p:cNvPr>
          <p:cNvSpPr txBox="1"/>
          <p:nvPr/>
        </p:nvSpPr>
        <p:spPr>
          <a:xfrm>
            <a:off x="-31628" y="1186094"/>
            <a:ext cx="12267390" cy="4884992"/>
          </a:xfrm>
          <a:prstGeom prst="rect">
            <a:avLst/>
          </a:prstGeom>
          <a:noFill/>
        </p:spPr>
        <p:txBody>
          <a:bodyPr wrap="square">
            <a:spAutoFit/>
          </a:bodyPr>
          <a:lstStyle/>
          <a:p>
            <a:pPr>
              <a:lnSpc>
                <a:spcPct val="107000"/>
              </a:lnSpc>
              <a:spcAft>
                <a:spcPts val="800"/>
              </a:spcAft>
            </a:pPr>
            <a:r>
              <a:rPr lang="en-IN" sz="2800" b="1"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Scan Design Techniques</a:t>
            </a:r>
            <a:endParaRPr lang="en-IN" sz="28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2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The set of design for testability guidelines presented above is a set of ad hoc methods to design random logic in respect with testability requirements. The scan design techniques are a set of structured approaches to design (for testability) the sequential circuits.</a:t>
            </a:r>
            <a:endParaRPr lang="en-IN" sz="28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2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The major difficulty in testing sequential circuits is determining the internal state of the circuit. Scan design techniques are directed at improving the controllability and observability of the internal states of a sequential circuit. By this the problem of testing a sequential circuit is reduced to that of testing a combinational circuit, since the internal states of the circuit are under control.</a:t>
            </a:r>
            <a:endParaRPr lang="en-IN" sz="28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7A43A2DC-BD78-1A72-FA97-EF04AEE8AC26}"/>
              </a:ext>
            </a:extLst>
          </p:cNvPr>
          <p:cNvSpPr txBox="1"/>
          <p:nvPr/>
        </p:nvSpPr>
        <p:spPr>
          <a:xfrm>
            <a:off x="0" y="908584"/>
            <a:ext cx="6420256" cy="5362237"/>
          </a:xfrm>
          <a:prstGeom prst="rect">
            <a:avLst/>
          </a:prstGeom>
          <a:noFill/>
        </p:spPr>
        <p:txBody>
          <a:bodyPr wrap="square">
            <a:spAutoFit/>
          </a:bodyPr>
          <a:lstStyle/>
          <a:p>
            <a:pPr>
              <a:lnSpc>
                <a:spcPct val="107000"/>
              </a:lnSpc>
              <a:spcAft>
                <a:spcPts val="800"/>
              </a:spcAft>
            </a:pPr>
            <a:r>
              <a:rPr lang="en-IN" sz="1800" b="1"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Scan Path</a:t>
            </a:r>
            <a:endParaRPr lang="en-IN" sz="14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1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The goal of the scan path technique is to reconfigure a sequential circuit, for the purpose of testing, into a combinational circuit. Since a sequential circuit is based on a combinational circuit and some storage elements, the technique of scan path consists in connecting together all the storage elements to form a long serial shift register. Thus the internal state of the circuit can be observed and controlled by shifting (scanning) out the contents of the storage elements. The shift register is then called a scan path.</a:t>
            </a:r>
          </a:p>
          <a:p>
            <a:pPr>
              <a:lnSpc>
                <a:spcPct val="107000"/>
              </a:lnSpc>
              <a:spcAft>
                <a:spcPts val="800"/>
              </a:spcAft>
            </a:pPr>
            <a:r>
              <a:rPr lang="en-IN" sz="1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The storage elements can either be D, J-K, or R-S types of flip-flops, but simple latches cannot be used in scan path. However, the structure of storage elements is slightly different than classical ones. Generally the selection of the input source is achieved using a multiplexer on the data input controlled by an external mode signal. This multiplexer is integrated into the D-flip-flop, in our case; the D-flip-flop is then called MD-flip-flop (multiplexed-flip-flop).</a:t>
            </a:r>
            <a:endParaRPr lang="en-IN" sz="18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endParaRPr lang="en-IN" sz="1400" dirty="0">
              <a:effectLst/>
              <a:latin typeface="Calibri" panose="020F0502020204030204" pitchFamily="34" charset="0"/>
              <a:ea typeface="Calibri" panose="020F0502020204030204" pitchFamily="34" charset="0"/>
              <a:cs typeface="Cordia New" panose="020B0304020202020204" pitchFamily="34" charset="-34"/>
            </a:endParaRPr>
          </a:p>
        </p:txBody>
      </p:sp>
      <p:pic>
        <p:nvPicPr>
          <p:cNvPr id="9" name="Picture 8">
            <a:extLst>
              <a:ext uri="{FF2B5EF4-FFF2-40B4-BE49-F238E27FC236}">
                <a16:creationId xmlns:a16="http://schemas.microsoft.com/office/drawing/2014/main" id="{9F884F6C-7109-6218-E7D9-2D90243FAD2B}"/>
              </a:ext>
            </a:extLst>
          </p:cNvPr>
          <p:cNvPicPr>
            <a:picLocks noChangeAspect="1"/>
          </p:cNvPicPr>
          <p:nvPr/>
        </p:nvPicPr>
        <p:blipFill>
          <a:blip r:embed="rId3"/>
          <a:stretch>
            <a:fillRect/>
          </a:stretch>
        </p:blipFill>
        <p:spPr>
          <a:xfrm>
            <a:off x="7249600" y="1517548"/>
            <a:ext cx="4162425" cy="2800350"/>
          </a:xfrm>
          <a:prstGeom prst="rect">
            <a:avLst/>
          </a:prstGeom>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extBox 5">
            <a:extLst>
              <a:ext uri="{FF2B5EF4-FFF2-40B4-BE49-F238E27FC236}">
                <a16:creationId xmlns:a16="http://schemas.microsoft.com/office/drawing/2014/main" id="{79C703DA-6145-02F7-1AF7-17DA854C0B40}"/>
              </a:ext>
            </a:extLst>
          </p:cNvPr>
          <p:cNvSpPr txBox="1"/>
          <p:nvPr/>
        </p:nvSpPr>
        <p:spPr>
          <a:xfrm>
            <a:off x="1622" y="600076"/>
            <a:ext cx="12190378" cy="5620513"/>
          </a:xfrm>
          <a:prstGeom prst="rect">
            <a:avLst/>
          </a:prstGeom>
          <a:noFill/>
        </p:spPr>
        <p:txBody>
          <a:bodyPr wrap="square">
            <a:spAutoFit/>
          </a:bodyPr>
          <a:lstStyle/>
          <a:p>
            <a:pPr>
              <a:lnSpc>
                <a:spcPct val="107000"/>
              </a:lnSpc>
              <a:spcAft>
                <a:spcPts val="800"/>
              </a:spcAf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The sequential circuit containing a scan path has two modes of operation : a normal mode and a test mode which configure the storage elements in the scan path.</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In the normal mode, the storage elements are connected to the combinational circuit, in the loops of the global sequential circuit, which is considered then as a finite state machine.</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In the test mode, the loops are broken and the storage elements are connected together as a serial shift register (scan path), receiving the same clock signal. The input of the scan path is called scan-in and the output scan-out. Several scan paths can be implemented in one same complex circuit if it is necessary, though having several scan-in inputs and scan-out outputs.</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A large sequential circuit can be partitioned into sub-circuits, containing combinational sub-circuits, associated with one scan path each. Efficiency of the test pattern generation for a combinational sub-circuit is greatly improved by partitioning, since its depth is reduced.</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Before applying test patterns, the shift register itself has to be verified by shifting in all ones i.e. 111...11, or zeros i.e. 000...00, and comparing.</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28162310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TextBox 8">
            <a:extLst>
              <a:ext uri="{FF2B5EF4-FFF2-40B4-BE49-F238E27FC236}">
                <a16:creationId xmlns:a16="http://schemas.microsoft.com/office/drawing/2014/main" id="{6460550F-9FA4-489B-698B-BB3B0815C6B8}"/>
              </a:ext>
            </a:extLst>
          </p:cNvPr>
          <p:cNvSpPr txBox="1"/>
          <p:nvPr/>
        </p:nvSpPr>
        <p:spPr>
          <a:xfrm>
            <a:off x="0" y="1201595"/>
            <a:ext cx="12029440" cy="4450193"/>
          </a:xfrm>
          <a:prstGeom prst="rect">
            <a:avLst/>
          </a:prstGeom>
          <a:noFill/>
        </p:spPr>
        <p:txBody>
          <a:bodyPr wrap="square">
            <a:spAutoFit/>
          </a:bodyPr>
          <a:lstStyle/>
          <a:p>
            <a:pPr>
              <a:lnSpc>
                <a:spcPct val="107000"/>
              </a:lnSpc>
              <a:spcAft>
                <a:spcPts val="800"/>
              </a:spcAf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The method of testing a circuit with the scan path is as follows:</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tabLst>
                <a:tab pos="457200" algn="l"/>
              </a:tabLs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Set test mode signal, flip-flops accept data from input scan-in</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tabLst>
                <a:tab pos="457200" algn="l"/>
              </a:tabLs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Verify the scan path by shifting in and out test data</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tabLst>
                <a:tab pos="457200" algn="l"/>
              </a:tabLs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Set the shift register to an initial state</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tabLst>
                <a:tab pos="457200" algn="l"/>
              </a:tabLs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Apply a test pattern to the primary inputs of the circuit</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tabLst>
                <a:tab pos="457200" algn="l"/>
              </a:tabLs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Set normal mode, the circuit settles and can monitor the primary outputs of the circuit</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tabLst>
                <a:tab pos="457200" algn="l"/>
              </a:tabLs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Activate the circuit clock for one cycle</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tabLst>
                <a:tab pos="457200" algn="l"/>
              </a:tabLs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Return to test mode</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tabLst>
                <a:tab pos="457200" algn="l"/>
              </a:tabLst>
            </a:pPr>
            <a:r>
              <a:rPr lang="en-IN" sz="24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Scan out the contents of the registers, simultaneously scan in the next pattern</a:t>
            </a:r>
            <a:endParaRPr lang="en-IN" sz="24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14937903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TextBox 4">
            <a:extLst>
              <a:ext uri="{FF2B5EF4-FFF2-40B4-BE49-F238E27FC236}">
                <a16:creationId xmlns:a16="http://schemas.microsoft.com/office/drawing/2014/main" id="{D5FBB46F-E4A1-4092-F466-1F8F6F353F9F}"/>
              </a:ext>
            </a:extLst>
          </p:cNvPr>
          <p:cNvSpPr txBox="1"/>
          <p:nvPr/>
        </p:nvSpPr>
        <p:spPr>
          <a:xfrm>
            <a:off x="0" y="775197"/>
            <a:ext cx="8229600" cy="5578835"/>
          </a:xfrm>
          <a:prstGeom prst="rect">
            <a:avLst/>
          </a:prstGeom>
          <a:noFill/>
        </p:spPr>
        <p:txBody>
          <a:bodyPr wrap="square">
            <a:spAutoFit/>
          </a:bodyPr>
          <a:lstStyle/>
          <a:p>
            <a:pPr>
              <a:lnSpc>
                <a:spcPct val="107000"/>
              </a:lnSpc>
              <a:spcAft>
                <a:spcPts val="800"/>
              </a:spcAft>
            </a:pPr>
            <a:r>
              <a:rPr lang="en-IN" sz="1800" b="1"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Boundary Scan Test (BST)</a:t>
            </a:r>
            <a:endParaRPr lang="en-IN" sz="14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1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Boundary Scan Test (BST) is a technique involving scan path and self-testing techniques to resolve the problem of testing boards carrying VLSI integrated circuits and/or surface mounted devices (SMD).</a:t>
            </a:r>
            <a:endParaRPr lang="en-IN" sz="14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1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Printed circuit boards (PCB) are becoming very dense and complex, especially with SMD circuits, that most test equipment cannot guarantee a good fault coverage.</a:t>
            </a:r>
          </a:p>
          <a:p>
            <a:pPr>
              <a:lnSpc>
                <a:spcPct val="107000"/>
              </a:lnSpc>
              <a:spcAft>
                <a:spcPts val="800"/>
              </a:spcAft>
            </a:pPr>
            <a:r>
              <a:rPr lang="en-IN" sz="1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BST consists in placing a scan path (shift register) adjacent to each component pin and to interconnect the cells in order to form a chain around the border of the circuit. The BST circuits contained on one board are then connected together to form a single path through the board.</a:t>
            </a:r>
            <a:endParaRPr lang="en-IN" sz="18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1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The boundary scan path is provided with serial input and output pads and appropriate clock pads which make it possible to :</a:t>
            </a:r>
            <a:endParaRPr lang="en-IN" sz="18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Test the interconnections between the various chip</a:t>
            </a:r>
            <a:endParaRPr lang="en-IN" sz="1800" dirty="0">
              <a:solidFill>
                <a:srgbClr val="404080"/>
              </a:solidFill>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Deliver test data to the chips on board for self-testing</a:t>
            </a:r>
            <a:endParaRPr lang="en-IN" sz="1800" dirty="0">
              <a:solidFill>
                <a:srgbClr val="404080"/>
              </a:solidFill>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Test the chips themselves with internal self-test</a:t>
            </a:r>
            <a:endParaRPr lang="en-IN" sz="1800" dirty="0">
              <a:solidFill>
                <a:srgbClr val="404080"/>
              </a:solidFill>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endParaRPr lang="en-IN" sz="1400" dirty="0">
              <a:effectLst/>
              <a:latin typeface="Calibri" panose="020F0502020204030204" pitchFamily="34" charset="0"/>
              <a:ea typeface="Calibri" panose="020F0502020204030204" pitchFamily="34" charset="0"/>
              <a:cs typeface="Cordia New" panose="020B0304020202020204" pitchFamily="34" charset="-34"/>
            </a:endParaRPr>
          </a:p>
        </p:txBody>
      </p:sp>
      <p:pic>
        <p:nvPicPr>
          <p:cNvPr id="8" name="Picture 7">
            <a:extLst>
              <a:ext uri="{FF2B5EF4-FFF2-40B4-BE49-F238E27FC236}">
                <a16:creationId xmlns:a16="http://schemas.microsoft.com/office/drawing/2014/main" id="{D2922B8B-25FF-DB9D-4FBF-920B01509E8A}"/>
              </a:ext>
            </a:extLst>
          </p:cNvPr>
          <p:cNvPicPr>
            <a:picLocks noChangeAspect="1"/>
          </p:cNvPicPr>
          <p:nvPr/>
        </p:nvPicPr>
        <p:blipFill>
          <a:blip r:embed="rId3"/>
          <a:stretch>
            <a:fillRect/>
          </a:stretch>
        </p:blipFill>
        <p:spPr>
          <a:xfrm>
            <a:off x="8075840" y="600076"/>
            <a:ext cx="3974646" cy="2838450"/>
          </a:xfrm>
          <a:prstGeom prst="rect">
            <a:avLst/>
          </a:prstGeom>
        </p:spPr>
      </p:pic>
      <p:pic>
        <p:nvPicPr>
          <p:cNvPr id="11" name="Picture 10">
            <a:extLst>
              <a:ext uri="{FF2B5EF4-FFF2-40B4-BE49-F238E27FC236}">
                <a16:creationId xmlns:a16="http://schemas.microsoft.com/office/drawing/2014/main" id="{96170C52-11C3-F3AC-AE9B-B73A7E2AD3C2}"/>
              </a:ext>
            </a:extLst>
          </p:cNvPr>
          <p:cNvPicPr>
            <a:picLocks noChangeAspect="1"/>
          </p:cNvPicPr>
          <p:nvPr/>
        </p:nvPicPr>
        <p:blipFill>
          <a:blip r:embed="rId4"/>
          <a:stretch>
            <a:fillRect/>
          </a:stretch>
        </p:blipFill>
        <p:spPr>
          <a:xfrm>
            <a:off x="8075840" y="3958547"/>
            <a:ext cx="4116160" cy="2657475"/>
          </a:xfrm>
          <a:prstGeom prst="rect">
            <a:avLst/>
          </a:prstGeom>
        </p:spPr>
      </p:pic>
    </p:spTree>
    <p:extLst>
      <p:ext uri="{BB962C8B-B14F-4D97-AF65-F5344CB8AC3E}">
        <p14:creationId xmlns:p14="http://schemas.microsoft.com/office/powerpoint/2010/main" val="37653874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TextBox 7">
            <a:extLst>
              <a:ext uri="{FF2B5EF4-FFF2-40B4-BE49-F238E27FC236}">
                <a16:creationId xmlns:a16="http://schemas.microsoft.com/office/drawing/2014/main" id="{3F0B7D88-DB2D-E8FD-A758-EC87A9119135}"/>
              </a:ext>
            </a:extLst>
          </p:cNvPr>
          <p:cNvSpPr txBox="1"/>
          <p:nvPr/>
        </p:nvSpPr>
        <p:spPr>
          <a:xfrm>
            <a:off x="0" y="824728"/>
            <a:ext cx="12120880" cy="5631413"/>
          </a:xfrm>
          <a:prstGeom prst="rect">
            <a:avLst/>
          </a:prstGeom>
          <a:noFill/>
        </p:spPr>
        <p:txBody>
          <a:bodyPr wrap="square">
            <a:spAutoFit/>
          </a:bodyPr>
          <a:lstStyle/>
          <a:p>
            <a:pPr>
              <a:lnSpc>
                <a:spcPct val="107000"/>
              </a:lnSpc>
              <a:spcAft>
                <a:spcPts val="800"/>
              </a:spcAft>
            </a:pPr>
            <a:r>
              <a:rPr lang="en-IN" sz="20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The advantages of Boundary scan techniques are as follows :</a:t>
            </a:r>
            <a:endParaRPr lang="en-IN" sz="20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0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No need for complex testers in PCB testing</a:t>
            </a:r>
            <a:endParaRPr lang="en-IN" sz="2000" dirty="0">
              <a:solidFill>
                <a:srgbClr val="404080"/>
              </a:solidFill>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0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Test engineers work is simplified and more efficient</a:t>
            </a:r>
            <a:endParaRPr lang="en-IN" sz="2000" dirty="0">
              <a:solidFill>
                <a:srgbClr val="404080"/>
              </a:solidFill>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0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Time to spend on test pattern generation and application is reduced</a:t>
            </a:r>
            <a:endParaRPr lang="en-IN" sz="2000" dirty="0">
              <a:solidFill>
                <a:srgbClr val="404080"/>
              </a:solidFill>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0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Fault coverage is greatly increased.</a:t>
            </a:r>
            <a:endParaRPr lang="en-IN" sz="2000" dirty="0">
              <a:solidFill>
                <a:srgbClr val="404080"/>
              </a:solidFill>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20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BS Techniques are grouped by the IEEE Standard Organization in a "standard test access port and boundary scan architecture", namely IEEE P1149.1-1990. The Joint Test Action Group (JTAG), formed basically in 1986 at Philips, is an international committee composed of IC manufacturers who have set the technical development of the IEEE P1149 standard and promoted its use by all sectors of electronics industry.</a:t>
            </a:r>
            <a:endParaRPr lang="en-IN" sz="20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2000" dirty="0">
                <a:solidFill>
                  <a:srgbClr val="404080"/>
                </a:solidFill>
                <a:effectLst/>
                <a:latin typeface="Times New Roman" panose="02020603050405020304" pitchFamily="18" charset="0"/>
                <a:ea typeface="Times New Roman" panose="02020603050405020304" pitchFamily="18" charset="0"/>
                <a:cs typeface="Cordia New" panose="020B0304020202020204" pitchFamily="34" charset="-34"/>
              </a:rPr>
              <a:t>The IEEE 1149 is a family of overall testability bus standards, defined by the Joint Test Action Group (JTAG), formed basically in 1986 at Philips. JTAG is an international committee composed of European and American IC manufacturers. The "standard Test Access Port and Boundary Scan architecture", namely IEEE P1149.1 accepted by the IEEE standard committee in February1990, is the first one of this family. Several other ongoing standards are developed and suggested as drafts to the technical committee of the IEEE 1149 standard in order to promote their use by all sectors of electronics industry.</a:t>
            </a:r>
            <a:endParaRPr lang="en-IN" sz="20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38914463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369332"/>
          </a:xfrm>
          <a:prstGeom prst="rect">
            <a:avLst/>
          </a:prstGeom>
          <a:noFill/>
        </p:spPr>
        <p:txBody>
          <a:bodyPr wrap="square" rtlCol="0">
            <a:spAutoFit/>
          </a:bodyPr>
          <a:lstStyle/>
          <a:p>
            <a:pPr algn="ctr"/>
            <a:r>
              <a:rPr lang="en-US" dirty="0"/>
              <a:t>About brief description of Scan Design Techniques is taken out in this ppt.</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AutoNum type="arabicPeriod"/>
            </a:pPr>
            <a:r>
              <a:rPr lang="en-US" sz="1600" dirty="0">
                <a:latin typeface="Arial" panose="020B0604020202020204" pitchFamily="34" charset="0"/>
              </a:rPr>
              <a:t>Describe about Scan Design techniques?</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995362" y="230851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startAt="2"/>
            </a:pPr>
            <a:r>
              <a:rPr lang="en-US" sz="1600" dirty="0">
                <a:latin typeface="Arial" panose="020B0604020202020204" pitchFamily="34" charset="0"/>
              </a:rPr>
              <a:t>Describe about Scan path?</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a16="http://schemas.microsoft.com/office/drawing/2014/main" id="{7483BB5B-7A6F-1A0C-0DB8-273FFA9B8D04}"/>
              </a:ext>
            </a:extLst>
          </p:cNvPr>
          <p:cNvSpPr/>
          <p:nvPr/>
        </p:nvSpPr>
        <p:spPr>
          <a:xfrm>
            <a:off x="1009895" y="3429000"/>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endParaRPr lang="en-US" sz="1600" dirty="0">
              <a:solidFill>
                <a:schemeClr val="bg1"/>
              </a:solidFill>
              <a:latin typeface="Poppins" panose="00000500000000000000" pitchFamily="2" charset="0"/>
              <a:cs typeface="Poppins" panose="00000500000000000000" pitchFamily="2" charset="0"/>
              <a:sym typeface="Calibri"/>
            </a:endParaRPr>
          </a:p>
          <a:p>
            <a:r>
              <a:rPr lang="en-US" sz="1600" dirty="0">
                <a:latin typeface="Arial" panose="020B0604020202020204" pitchFamily="34" charset="0"/>
              </a:rPr>
              <a:t>3 Describe about Boundary Scan Test?</a:t>
            </a:r>
            <a:endParaRPr lang="en-US" sz="1600" dirty="0">
              <a:solidFill>
                <a:schemeClr val="bg1"/>
              </a:solidFill>
              <a:latin typeface="Poppins" panose="00000500000000000000" pitchFamily="2" charset="0"/>
              <a:ea typeface="Calibri"/>
              <a:cs typeface="Poppins" panose="00000500000000000000" pitchFamily="2" charset="0"/>
              <a:sym typeface="Calibri"/>
            </a:endParaRPr>
          </a:p>
          <a:p>
            <a:pPr lvl="0"/>
            <a:endParaRPr sz="1600" dirty="0">
              <a:solidFill>
                <a:schemeClr val="bg1"/>
              </a:solidFill>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3" grpId="0" animBg="1"/>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1990725" y="2562737"/>
            <a:ext cx="9608234" cy="1732526"/>
          </a:xfrm>
          <a:prstGeom prst="rect">
            <a:avLst/>
          </a:prstGeom>
          <a:noFill/>
        </p:spPr>
        <p:txBody>
          <a:bodyPr wrap="square" rtlCol="0">
            <a:spAutoFit/>
          </a:bodyPr>
          <a:lstStyle/>
          <a:p>
            <a:pPr marL="285750" indent="-285750">
              <a:lnSpc>
                <a:spcPct val="115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Describe the basics and types of BIST.</a:t>
            </a:r>
          </a:p>
          <a:p>
            <a:pPr marL="285750" indent="-285750">
              <a:lnSpc>
                <a:spcPct val="115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Demonstrate the Architecture and Working of the BIST.</a:t>
            </a:r>
          </a:p>
          <a:p>
            <a:pPr marL="285750" indent="-285750">
              <a:lnSpc>
                <a:spcPct val="115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Describe the Issues of design, advantages and dis-advantages of BIST?.</a:t>
            </a:r>
          </a:p>
          <a:p>
            <a:pPr marL="285750" indent="-285750">
              <a:lnSpc>
                <a:spcPct val="115000"/>
              </a:lnSpc>
              <a:spcAft>
                <a:spcPts val="1000"/>
              </a:spcAft>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600076"/>
            <a:ext cx="9608234" cy="5718617"/>
          </a:xfrm>
          <a:prstGeom prst="rect">
            <a:avLst/>
          </a:prstGeom>
          <a:noFill/>
        </p:spPr>
        <p:txBody>
          <a:bodyPr wrap="square" rtlCol="0">
            <a:spAutoFit/>
          </a:bodyPr>
          <a:lstStyle/>
          <a:p>
            <a:pPr>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1.Douglas 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Pucknell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&amp; Kamran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Eshraghian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Basic VLSI Design, PHI, 3rd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Neil 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Weste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David Harris, Ayan Banerjee, CMOS VLSI Design, A Circuits and Systems Perspective, Pearson Education, 4th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3. Sung-Mo Kang, Yusuf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Leblebici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CMOS Digital Integrated Circuits Analysis and Design, Tata Mc-Graw-Hill, 3rd Ed., 2003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Jab M.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Rabaey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Anantha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Chandra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Kasan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Borivoje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Nikolic, Digital Integrated Circuits - A Design Perspective, PHI, 2</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Ed., 2012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Michal John Sebastian Smith, Application-Specific Integrated Circuits, Pearson Education, 6th Ed., 2009</a:t>
            </a:r>
            <a:endParaRPr lang="en-US" dirty="0"/>
          </a:p>
          <a:p>
            <a:pPr>
              <a:lnSpc>
                <a:spcPct val="150000"/>
              </a:lnSpc>
            </a:pPr>
            <a:r>
              <a:rPr lang="en-US" b="1" dirty="0"/>
              <a:t>Sites and Web links: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https://www.egr.msu.edu/classes/ece410/mason/files/Ch7.pdf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u="sng" dirty="0">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2.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http://bwrcs.eecs.berkeley.edu/Classes/icdesign/ee141_f01/Notes/chapter5.pdf</a:t>
            </a:r>
            <a:endParaRPr lang="en-US" u="sng" dirty="0"/>
          </a:p>
          <a:p>
            <a:pPr>
              <a:lnSpc>
                <a:spcPct val="150000"/>
              </a:lnSpc>
            </a:pPr>
            <a:r>
              <a:rPr lang="en-US" dirty="0"/>
              <a:t>3. https://nptelvideos.com/video.php?id=1317</a:t>
            </a:r>
          </a:p>
        </p:txBody>
      </p:sp>
      <p:pic>
        <p:nvPicPr>
          <p:cNvPr id="5"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VLSI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234</TotalTime>
  <Words>1367</Words>
  <Application>Microsoft Office PowerPoint</Application>
  <PresentationFormat>Widescreen</PresentationFormat>
  <Paragraphs>92</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Poppins</vt:lpstr>
      <vt:lpstr>Symbol</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vineethaammu72@gmail.com</cp:lastModifiedBy>
  <cp:revision>52</cp:revision>
  <dcterms:created xsi:type="dcterms:W3CDTF">2020-02-08T09:57:44Z</dcterms:created>
  <dcterms:modified xsi:type="dcterms:W3CDTF">2022-11-24T11:58:09Z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