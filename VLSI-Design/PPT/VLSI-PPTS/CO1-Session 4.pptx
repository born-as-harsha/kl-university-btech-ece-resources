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71" r:id="rId5"/>
    <p:sldId id="300" r:id="rId6"/>
    <p:sldId id="316" r:id="rId7"/>
    <p:sldId id="308" r:id="rId8"/>
    <p:sldId id="305" r:id="rId9"/>
    <p:sldId id="317" r:id="rId10"/>
    <p:sldId id="307" r:id="rId11"/>
    <p:sldId id="309" r:id="rId12"/>
    <p:sldId id="310" r:id="rId13"/>
    <p:sldId id="311" r:id="rId14"/>
    <p:sldId id="318" r:id="rId15"/>
    <p:sldId id="319" r:id="rId16"/>
    <p:sldId id="320" r:id="rId17"/>
    <p:sldId id="321" r:id="rId18"/>
    <p:sldId id="322" r:id="rId19"/>
    <p:sldId id="323" r:id="rId20"/>
    <p:sldId id="285" r:id="rId21"/>
    <p:sldId id="287" r:id="rId22"/>
    <p:sldId id="301" r:id="rId23"/>
    <p:sldId id="302" r:id="rId24"/>
    <p:sldId id="303" r:id="rId25"/>
    <p:sldId id="3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E4C"/>
    <a:srgbClr val="FF9900"/>
    <a:srgbClr val="E84845"/>
    <a:srgbClr val="FAD2D2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44" d="100"/>
          <a:sy n="44" d="100"/>
        </p:scale>
        <p:origin x="36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11/17/2022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97972" y="16329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VLSI Design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CMOS Fabrication Process</a:t>
            </a:r>
            <a:endParaRPr lang="en-US" sz="32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5899355" y="492137"/>
            <a:ext cx="5909187" cy="830956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5658320" y="492137"/>
            <a:ext cx="6410633" cy="83095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</a:t>
            </a:r>
            <a:r>
              <a:rPr lang="en-US" sz="240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- 4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426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</a:t>
            </a:r>
            <a:r>
              <a:rPr lang="en-US" sz="1600" dirty="0">
                <a:latin typeface="Poppins"/>
                <a:cs typeface="Poppins"/>
              </a:rPr>
              <a:t>CMOS Fabrication Process.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Discuss the design aspects CMOS inverter.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various steps of CMOS Fabrication steps..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890606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Discuss Fabrication Process of CMOS Technology.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Discuss Step wise Fabrication process of CMOS..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the all steps of CMOS Fabrication.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725A-CFEA-56F7-D034-013054DC7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57231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CMOS Fabrication Process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2C20B6-50AB-C95C-2B20-42432569E3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9" y="178585"/>
            <a:ext cx="1123270" cy="78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2DFB655-E2A1-2B3A-1F04-74B7B27F0B4F}"/>
              </a:ext>
            </a:extLst>
          </p:cNvPr>
          <p:cNvSpPr/>
          <p:nvPr/>
        </p:nvSpPr>
        <p:spPr>
          <a:xfrm>
            <a:off x="1524000" y="1167493"/>
            <a:ext cx="9144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CMOS fabrication can be accomplished using either of the three technologies: </a:t>
            </a:r>
          </a:p>
          <a:p>
            <a:pPr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N-well technologies/P-well technologies </a:t>
            </a:r>
          </a:p>
          <a:p>
            <a:pPr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Twin well technology </a:t>
            </a:r>
          </a:p>
          <a:p>
            <a:pPr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Silicon On Insulator (SOI) </a:t>
            </a:r>
          </a:p>
          <a:p>
            <a:pPr algn="just"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fabrication of CMOS can be done by following the below shown twenty steps, </a:t>
            </a:r>
          </a:p>
          <a:p>
            <a:pPr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--by which CMOS can be obtained by integrating both the NMOS and PMOS transistors on the same chip substrate. </a:t>
            </a:r>
          </a:p>
          <a:p>
            <a:pPr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integrating these NMOS and PMOS devices on the same chip,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regions called as wells or tubs are required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 semiconductor type and substrate type are opposite to each other.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P-well has to be created on a N-substrate or N-well has to be created on a P-substrate.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fabrication of CMOS is described using the P-substrate,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 the NMOS transistor is fabricated on a P-type substrate and the PMOS transistor is fabricated in N-well.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fabrication process involves twenty steps, which are as follows: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E0F21-BF40-77E2-6BC9-43E3F76FF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57231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CMOS Fabrication Process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5AE8A2-D74A-6F58-9CE2-0B18B6EFFD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30" y="178584"/>
            <a:ext cx="969497" cy="678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3D1BC5E-82AE-C4C7-CEB9-D2F1CD526B4B}"/>
              </a:ext>
            </a:extLst>
          </p:cNvPr>
          <p:cNvSpPr/>
          <p:nvPr/>
        </p:nvSpPr>
        <p:spPr>
          <a:xfrm>
            <a:off x="1524000" y="857250"/>
            <a:ext cx="9144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fabrication process involves twenty steps, which are as follows:</a:t>
            </a: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 Substrate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Primarily, start the process with a P-substrate.</a:t>
            </a: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 Oxidation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oxidation process is done by using high-purity oxygen and hydrogen,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are exposed in an oxidation furnace approximately at 1000 degree centigrade.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519487-118E-6AC0-4111-B9CED3655A9A}"/>
              </a:ext>
            </a:extLst>
          </p:cNvPr>
          <p:cNvSpPr/>
          <p:nvPr/>
        </p:nvSpPr>
        <p:spPr>
          <a:xfrm>
            <a:off x="1524000" y="1285875"/>
            <a:ext cx="2209800" cy="3698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IN" b="1" dirty="0"/>
              <a:t>N-Well Process </a:t>
            </a:r>
            <a:endParaRPr lang="en-IN" dirty="0"/>
          </a:p>
        </p:txBody>
      </p:sp>
      <p:pic>
        <p:nvPicPr>
          <p:cNvPr id="46088" name="Picture 2">
            <a:extLst>
              <a:ext uri="{FF2B5EF4-FFF2-40B4-BE49-F238E27FC236}">
                <a16:creationId xmlns:a16="http://schemas.microsoft.com/office/drawing/2014/main" id="{1ED550F4-3DF2-CEF2-06EF-85A01CCC6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9" y="2571751"/>
            <a:ext cx="58007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9" name="Picture 3">
            <a:extLst>
              <a:ext uri="{FF2B5EF4-FFF2-40B4-BE49-F238E27FC236}">
                <a16:creationId xmlns:a16="http://schemas.microsoft.com/office/drawing/2014/main" id="{56081C97-B472-B544-3CBE-370FE741E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188" y="4900614"/>
            <a:ext cx="561975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BBD4-10E9-00E0-60D4-62A33092D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57231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CMOS Fabrication Process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3AFA26-BDC7-CC2A-ABA6-EB83DBE890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15" y="178584"/>
            <a:ext cx="969497" cy="678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6983681-A96F-1F0E-F8A5-F5B0E33F27A1}"/>
              </a:ext>
            </a:extLst>
          </p:cNvPr>
          <p:cNvSpPr/>
          <p:nvPr/>
        </p:nvSpPr>
        <p:spPr>
          <a:xfrm>
            <a:off x="1524000" y="857251"/>
            <a:ext cx="9144000" cy="3293209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Step3: Photoresist </a:t>
            </a:r>
          </a:p>
          <a:p>
            <a:pPr lvl="1"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light-sensitive polymer that softens whenever exposed to light is called as Photoresist layer. It is formed. </a:t>
            </a: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Step4: Masking</a:t>
            </a:r>
          </a:p>
          <a:p>
            <a:pPr lvl="1"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photoresist is exposed to UV rays through the N-well mask </a:t>
            </a:r>
          </a:p>
        </p:txBody>
      </p:sp>
      <p:pic>
        <p:nvPicPr>
          <p:cNvPr id="47111" name="Picture 2">
            <a:extLst>
              <a:ext uri="{FF2B5EF4-FFF2-40B4-BE49-F238E27FC236}">
                <a16:creationId xmlns:a16="http://schemas.microsoft.com/office/drawing/2014/main" id="{62E021B0-5644-3992-D12C-C4F783C9C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529" y="1575167"/>
            <a:ext cx="6693074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2" name="Picture 3">
            <a:extLst>
              <a:ext uri="{FF2B5EF4-FFF2-40B4-BE49-F238E27FC236}">
                <a16:creationId xmlns:a16="http://schemas.microsoft.com/office/drawing/2014/main" id="{30799A41-CA4C-2554-1087-9D03372F0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529" y="4359729"/>
            <a:ext cx="6693074" cy="2220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924B-D657-547E-2EBD-13E54B561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57231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CMOS Fabrication Process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E7AB26-68E5-C3AA-7165-A5216B6F16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178584"/>
            <a:ext cx="969497" cy="678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B884FAB-423A-AB75-495F-93D0CFB768C0}"/>
              </a:ext>
            </a:extLst>
          </p:cNvPr>
          <p:cNvSpPr/>
          <p:nvPr/>
        </p:nvSpPr>
        <p:spPr>
          <a:xfrm>
            <a:off x="1524000" y="857251"/>
            <a:ext cx="9144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Step5: Photoresist removal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part of the photoresist layer is removed by treating the wafer with the basic or acidic solution.</a:t>
            </a: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Step6: Removal of SiO2 using acid etching 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SiO2 oxidation layer is removed through the open area made by the removal of photoresist using hydrofluoric acid.</a:t>
            </a:r>
          </a:p>
        </p:txBody>
      </p:sp>
      <p:pic>
        <p:nvPicPr>
          <p:cNvPr id="48135" name="Picture 2">
            <a:extLst>
              <a:ext uri="{FF2B5EF4-FFF2-40B4-BE49-F238E27FC236}">
                <a16:creationId xmlns:a16="http://schemas.microsoft.com/office/drawing/2014/main" id="{067E813D-851A-5E14-A4F1-AB9C248B3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388" y="1501419"/>
            <a:ext cx="6852298" cy="17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6" name="Picture 3">
            <a:extLst>
              <a:ext uri="{FF2B5EF4-FFF2-40B4-BE49-F238E27FC236}">
                <a16:creationId xmlns:a16="http://schemas.microsoft.com/office/drawing/2014/main" id="{67DEE955-4520-4846-0AF1-187723CA4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388" y="4531522"/>
            <a:ext cx="6689077" cy="165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03C84-034E-8AB5-0A3C-0DAE61642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57231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CMOS Fabrication Process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2B5AA-9F11-BDC8-1209-A1C7601268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3" y="178584"/>
            <a:ext cx="1224617" cy="857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694A89A-C7C3-1917-AEC1-5C52FDC49E15}"/>
              </a:ext>
            </a:extLst>
          </p:cNvPr>
          <p:cNvSpPr/>
          <p:nvPr/>
        </p:nvSpPr>
        <p:spPr>
          <a:xfrm>
            <a:off x="1524000" y="857251"/>
            <a:ext cx="9144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Step7: Removal of photoresist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entire photoresist layer is stripped off, as shown in the below figure. </a:t>
            </a: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Step8: Formation of the N-well 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ion implantation or diffusion process N-well is formed. </a:t>
            </a:r>
          </a:p>
        </p:txBody>
      </p:sp>
      <p:pic>
        <p:nvPicPr>
          <p:cNvPr id="49159" name="Picture 2">
            <a:extLst>
              <a:ext uri="{FF2B5EF4-FFF2-40B4-BE49-F238E27FC236}">
                <a16:creationId xmlns:a16="http://schemas.microsoft.com/office/drawing/2014/main" id="{10F100D3-028D-8F22-B2CA-82BAC20E3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739" y="1571625"/>
            <a:ext cx="57245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0" name="Picture 3">
            <a:extLst>
              <a:ext uri="{FF2B5EF4-FFF2-40B4-BE49-F238E27FC236}">
                <a16:creationId xmlns:a16="http://schemas.microsoft.com/office/drawing/2014/main" id="{5F9ABE77-88B9-3345-A7D2-31BBC16FA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9" y="4462464"/>
            <a:ext cx="58007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7232-61D9-E123-0FBF-C0090D04C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57231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CMOS Fabrication Process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DE34EF-2F8A-556B-917C-C3726C8F30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178584"/>
            <a:ext cx="969497" cy="678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0D36300-3F93-0093-6D2B-8A6C378637ED}"/>
              </a:ext>
            </a:extLst>
          </p:cNvPr>
          <p:cNvSpPr/>
          <p:nvPr/>
        </p:nvSpPr>
        <p:spPr>
          <a:xfrm>
            <a:off x="1524000" y="857251"/>
            <a:ext cx="9144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Step9: Removal of SiO2 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hydrofluoric acid, the remaining SiO2 is removed.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Step10: Deposition of polysilicon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Vapor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Deposition (CVD) process is used to deposit a very thin layer of gate oxide. </a:t>
            </a:r>
          </a:p>
        </p:txBody>
      </p:sp>
      <p:pic>
        <p:nvPicPr>
          <p:cNvPr id="50183" name="Picture 2">
            <a:extLst>
              <a:ext uri="{FF2B5EF4-FFF2-40B4-BE49-F238E27FC236}">
                <a16:creationId xmlns:a16="http://schemas.microsoft.com/office/drawing/2014/main" id="{2FA56E94-8442-DD3B-F258-590399BF6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9" y="1643063"/>
            <a:ext cx="5942041" cy="1361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4" name="Picture 3">
            <a:extLst>
              <a:ext uri="{FF2B5EF4-FFF2-40B4-BE49-F238E27FC236}">
                <a16:creationId xmlns:a16="http://schemas.microsoft.com/office/drawing/2014/main" id="{0BAA7C32-7137-8C7A-641E-7E1A0C118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9" y="4408715"/>
            <a:ext cx="6784270" cy="1747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57AC-5A04-866A-63DD-16FE5F602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57231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CMOS Fabrication Process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93A662-5A26-37F2-A840-8867CAB6E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8584"/>
            <a:ext cx="969497" cy="678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D14142-5364-0C81-EB85-CF5B550C8AFF}"/>
              </a:ext>
            </a:extLst>
          </p:cNvPr>
          <p:cNvSpPr/>
          <p:nvPr/>
        </p:nvSpPr>
        <p:spPr>
          <a:xfrm>
            <a:off x="1524000" y="857251"/>
            <a:ext cx="9144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Step11: Removing the layer barring a small area for the Gates 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 the two small regions required for forming the Gates of NMOS and PMOS, the remaining layer is stripped off.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Step12: Oxidation process 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Next, an oxidation layer is formed on this layer with two small regions for the formation of the gate terminals of NMOS and PMOS.</a:t>
            </a:r>
          </a:p>
        </p:txBody>
      </p:sp>
      <p:pic>
        <p:nvPicPr>
          <p:cNvPr id="51207" name="Picture 2">
            <a:extLst>
              <a:ext uri="{FF2B5EF4-FFF2-40B4-BE49-F238E27FC236}">
                <a16:creationId xmlns:a16="http://schemas.microsoft.com/office/drawing/2014/main" id="{7F363BD9-E5EF-D357-C155-E06880911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64" y="1428751"/>
            <a:ext cx="585787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8" name="Picture 3">
            <a:extLst>
              <a:ext uri="{FF2B5EF4-FFF2-40B4-BE49-F238E27FC236}">
                <a16:creationId xmlns:a16="http://schemas.microsoft.com/office/drawing/2014/main" id="{4F84C72D-64B0-FFC0-C592-2444AE948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75" y="4576764"/>
            <a:ext cx="581025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8F6E1-01FD-AD4F-4127-995371F7D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57231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CMOS Fabrication Process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5BA827-0D9D-7596-5646-0A72E7B846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72" y="178584"/>
            <a:ext cx="1006928" cy="70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99189D3-0F4F-25BB-54C0-438EDE5F041C}"/>
              </a:ext>
            </a:extLst>
          </p:cNvPr>
          <p:cNvSpPr/>
          <p:nvPr/>
        </p:nvSpPr>
        <p:spPr>
          <a:xfrm>
            <a:off x="1524000" y="857251"/>
            <a:ext cx="9144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Step13: Masking and N-diffusion</a:t>
            </a:r>
          </a:p>
          <a:p>
            <a:pPr lvl="1" algn="just"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using the masking process small gaps are made for the purpose of N -diffusion. </a:t>
            </a:r>
          </a:p>
          <a:p>
            <a:pPr lvl="1" algn="just"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n-type (n+) dopants are diffused, or ion implanted, and the three n+ are formed for the formation of the terminals of NMOS. 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231" name="Picture 2">
            <a:extLst>
              <a:ext uri="{FF2B5EF4-FFF2-40B4-BE49-F238E27FC236}">
                <a16:creationId xmlns:a16="http://schemas.microsoft.com/office/drawing/2014/main" id="{0A23643C-5C73-F5D2-9EBD-74E45963D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1" y="1428751"/>
            <a:ext cx="576262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2" name="Picture 3">
            <a:extLst>
              <a:ext uri="{FF2B5EF4-FFF2-40B4-BE49-F238E27FC236}">
                <a16:creationId xmlns:a16="http://schemas.microsoft.com/office/drawing/2014/main" id="{E0C4D0E5-A719-AD33-CFB3-D1F6D973D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990974"/>
            <a:ext cx="57912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64BA-9FE9-4ECC-5B0A-FCC3133F9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57231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CMOS Fabrication Process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B34665-FD6B-630C-B522-2FB573E4EB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8" y="178584"/>
            <a:ext cx="969497" cy="678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0FD27E-0C87-0432-376E-478FA2F4A356}"/>
              </a:ext>
            </a:extLst>
          </p:cNvPr>
          <p:cNvSpPr/>
          <p:nvPr/>
        </p:nvSpPr>
        <p:spPr>
          <a:xfrm>
            <a:off x="1524000" y="857250"/>
            <a:ext cx="9144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Step14: Oxide stripping 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oxidation layer is stripped off. </a:t>
            </a:r>
          </a:p>
          <a:p>
            <a:pPr lvl="1" algn="just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Step15: P-diffusion 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the above N-diffusion process, the P-diffusion regions are diffused to form the terminals of the PMOS.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255" name="Picture 2">
            <a:extLst>
              <a:ext uri="{FF2B5EF4-FFF2-40B4-BE49-F238E27FC236}">
                <a16:creationId xmlns:a16="http://schemas.microsoft.com/office/drawing/2014/main" id="{3E8770FF-C260-5D47-FC65-FCB46F085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643064"/>
            <a:ext cx="56769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6" name="Picture 3">
            <a:extLst>
              <a:ext uri="{FF2B5EF4-FFF2-40B4-BE49-F238E27FC236}">
                <a16:creationId xmlns:a16="http://schemas.microsoft.com/office/drawing/2014/main" id="{ED5B66B1-E971-F4B7-B5EF-C38E613DD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154" y="4476748"/>
            <a:ext cx="580072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457-35D1-25FB-9780-46EB462A9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57231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CMOS Fabrication Process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F290A8-28D5-2235-27C2-BD2CD672DD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5" y="178585"/>
            <a:ext cx="976312" cy="683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7239F0-1C94-8BCC-3E86-61303764AF12}"/>
              </a:ext>
            </a:extLst>
          </p:cNvPr>
          <p:cNvSpPr/>
          <p:nvPr/>
        </p:nvSpPr>
        <p:spPr>
          <a:xfrm>
            <a:off x="1524000" y="857250"/>
            <a:ext cx="9144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Step16: Thick field oxide 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thick-field oxide is formed in all regions except the terminals of the PMOS and NMOS.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Step17: Metallization 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Aluminium is sputtered on the whole wafer. </a:t>
            </a: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279" name="Picture 2">
            <a:extLst>
              <a:ext uri="{FF2B5EF4-FFF2-40B4-BE49-F238E27FC236}">
                <a16:creationId xmlns:a16="http://schemas.microsoft.com/office/drawing/2014/main" id="{DFE8C832-7B91-9BC9-CE1F-CFA3C9839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214" y="1533526"/>
            <a:ext cx="57435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80" name="Picture 3">
            <a:extLst>
              <a:ext uri="{FF2B5EF4-FFF2-40B4-BE49-F238E27FC236}">
                <a16:creationId xmlns:a16="http://schemas.microsoft.com/office/drawing/2014/main" id="{C8815A6C-202B-39EB-1816-00382D336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581526"/>
            <a:ext cx="57912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F1B4C-BD1D-5367-DF13-7448C2CE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57231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CMOS Fabrication Process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10745B-D36A-CDAF-CBD7-A5B51AD35D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4" y="178585"/>
            <a:ext cx="1224616" cy="85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D608CBD-88D0-C5FC-199B-0B15906773B9}"/>
              </a:ext>
            </a:extLst>
          </p:cNvPr>
          <p:cNvSpPr/>
          <p:nvPr/>
        </p:nvSpPr>
        <p:spPr>
          <a:xfrm>
            <a:off x="1524000" y="857251"/>
            <a:ext cx="9144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Step18: Removal of excess metal 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excess metal is removed from the wafer layer. </a:t>
            </a: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Step19: Terminals </a:t>
            </a:r>
          </a:p>
          <a:p>
            <a:pPr lvl="1" algn="just"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terminals of the PMOS and NMOS are made from respective gaps.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303" name="Picture 2">
            <a:extLst>
              <a:ext uri="{FF2B5EF4-FFF2-40B4-BE49-F238E27FC236}">
                <a16:creationId xmlns:a16="http://schemas.microsoft.com/office/drawing/2014/main" id="{78F9E8A8-6481-0BD7-FEB7-5A8AA2DBB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9" y="1490663"/>
            <a:ext cx="5800725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4" name="Picture 3">
            <a:extLst>
              <a:ext uri="{FF2B5EF4-FFF2-40B4-BE49-F238E27FC236}">
                <a16:creationId xmlns:a16="http://schemas.microsoft.com/office/drawing/2014/main" id="{771BED70-5EDE-10A4-F1ED-5FFFB6ED4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25" y="4552950"/>
            <a:ext cx="569595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AB7B-0D94-CA13-5099-1CD3A28D6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57231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8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CMOS Fabrication Process</a:t>
            </a:r>
            <a:endParaRPr lang="en-IN" sz="48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CEAE5C-ADBE-A676-2B6A-64DEEBC67E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584"/>
            <a:ext cx="1110343" cy="777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16CE2A-E6E8-84BD-132A-DA7E9614E026}"/>
              </a:ext>
            </a:extLst>
          </p:cNvPr>
          <p:cNvSpPr/>
          <p:nvPr/>
        </p:nvSpPr>
        <p:spPr>
          <a:xfrm>
            <a:off x="1524000" y="857251"/>
            <a:ext cx="856705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Step20: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Assigning the names of the terminals of the NMOS and PMOS </a:t>
            </a: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327" name="Picture 2">
            <a:extLst>
              <a:ext uri="{FF2B5EF4-FFF2-40B4-BE49-F238E27FC236}">
                <a16:creationId xmlns:a16="http://schemas.microsoft.com/office/drawing/2014/main" id="{04269574-543E-F7B4-92C4-FF79298CB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6" y="1214438"/>
            <a:ext cx="5953125" cy="192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577D377-7BDD-17C7-1452-414386938EFE}"/>
              </a:ext>
            </a:extLst>
          </p:cNvPr>
          <p:cNvSpPr/>
          <p:nvPr/>
        </p:nvSpPr>
        <p:spPr>
          <a:xfrm>
            <a:off x="1524000" y="3900488"/>
            <a:ext cx="9144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en-IN" b="1" dirty="0">
                <a:solidFill>
                  <a:srgbClr val="551B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Fabrication of CMOS using P-well process </a:t>
            </a:r>
          </a:p>
          <a:p>
            <a:pPr algn="just">
              <a:defRPr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all the fabrication processes of the CMOS, N-well process is mostly used for the fabrication of the CMOS.</a:t>
            </a:r>
          </a:p>
          <a:p>
            <a:pPr algn="just">
              <a:buFont typeface="Wingdings" pitchFamily="2" charset="2"/>
              <a:buChar char="§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P-well process is almost similar to the N-well.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§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the only difference in p-well process is that it consists of a main N-substrate and, </a:t>
            </a:r>
          </a:p>
          <a:p>
            <a:pPr algn="just">
              <a:buFont typeface="Wingdings" pitchFamily="2" charset="2"/>
              <a:buChar char="§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P-wells itself acts as substrate for the N devices. 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DC3FDE09-0B26-5FC1-5A2B-08DC4A834853}"/>
              </a:ext>
            </a:extLst>
          </p:cNvPr>
          <p:cNvSpPr/>
          <p:nvPr/>
        </p:nvSpPr>
        <p:spPr>
          <a:xfrm>
            <a:off x="5271746" y="3178968"/>
            <a:ext cx="1071563" cy="500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424C2-82D3-15D0-9E98-F206270CD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57231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IN" b="1" dirty="0">
                <a:solidFill>
                  <a:schemeClr val="bg1"/>
                </a:solidFill>
              </a:rPr>
              <a:t>Twin tub-CMOS Fabrication Process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37BEF8-9D74-CA65-CF40-8EF5600E62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939"/>
            <a:ext cx="1240971" cy="868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A73CCBD-D6F8-108E-7281-EBF03EE92848}"/>
              </a:ext>
            </a:extLst>
          </p:cNvPr>
          <p:cNvSpPr/>
          <p:nvPr/>
        </p:nvSpPr>
        <p:spPr>
          <a:xfrm>
            <a:off x="1524000" y="857251"/>
            <a:ext cx="10668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process, separate optimization of the n-type and p-type transistors will be provided.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independent optimization of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body effect and gain of the P-devices, N-devices can be made possible with this process.</a:t>
            </a: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steps of the fabrication of the CMOS using the twin-tub process are as follows: </a:t>
            </a:r>
          </a:p>
          <a:p>
            <a:pPr lvl="1" algn="just">
              <a:defRPr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 Lightly doped n+ or p+ substrate is taken and, to protect the latch up, epitaxial layer is used. </a:t>
            </a:r>
          </a:p>
          <a:p>
            <a:pPr lvl="1"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 The high-purity controlled thickness of the layers of silicon are grown with exact dopant concentrations. </a:t>
            </a:r>
          </a:p>
          <a:p>
            <a:pPr lvl="1"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 The dopant and its concentration in Silicon are used to determine electrical properties.</a:t>
            </a:r>
          </a:p>
          <a:p>
            <a:pPr lvl="1"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 Formation of the tub </a:t>
            </a:r>
          </a:p>
          <a:p>
            <a:pPr lvl="1"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 Thin oxide construction Implantation of the source and drain </a:t>
            </a:r>
          </a:p>
          <a:p>
            <a:pPr lvl="1"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 Cuts for making contacts </a:t>
            </a:r>
          </a:p>
          <a:p>
            <a:pPr lvl="1"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 Metallization </a:t>
            </a:r>
          </a:p>
          <a:p>
            <a:pPr lvl="1" algn="just"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the above steps, we can fabricate CMOS using twin tub process method.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351" name="Picture 2">
            <a:extLst>
              <a:ext uri="{FF2B5EF4-FFF2-40B4-BE49-F238E27FC236}">
                <a16:creationId xmlns:a16="http://schemas.microsoft.com/office/drawing/2014/main" id="{7C4A1C02-F02D-5CD5-95B1-57A4BA300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1" y="1500188"/>
            <a:ext cx="332422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3A2F-8914-1CA0-A791-265B2E8D5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584"/>
            <a:ext cx="9144000" cy="678648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Autofit/>
          </a:bodyPr>
          <a:lstStyle/>
          <a:p>
            <a:pPr>
              <a:defRPr/>
            </a:pPr>
            <a:r>
              <a:rPr lang="en-IN" sz="3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Silicon-on-Insulator (SOI) CMOS Process </a:t>
            </a:r>
            <a:endParaRPr lang="en-IN" sz="38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A15DC3-85F8-AE89-FF53-C5DD2C3FB1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8" y="178584"/>
            <a:ext cx="969497" cy="678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9608AC-E035-CD40-6849-54F7BEFAE7B5}"/>
              </a:ext>
            </a:extLst>
          </p:cNvPr>
          <p:cNvSpPr/>
          <p:nvPr/>
        </p:nvSpPr>
        <p:spPr>
          <a:xfrm>
            <a:off x="1524000" y="857251"/>
            <a:ext cx="9144000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buFont typeface="Wingdings" pitchFamily="2" charset="2"/>
              <a:buChar char="§"/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using silicon as the substrate material, </a:t>
            </a:r>
          </a:p>
          <a:p>
            <a:pPr lvl="2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Technologists have sought to use an insulating substrate to improve process characteristics such as </a:t>
            </a:r>
          </a:p>
          <a:p>
            <a:pPr lvl="3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and latch-up susceptibility. </a:t>
            </a:r>
          </a:p>
          <a:p>
            <a:pPr lvl="3" algn="just">
              <a:buFont typeface="Wingdings" pitchFamily="2" charset="2"/>
              <a:buChar char="§"/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SOI CMOS technology allows the creation of independent, completely isolated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pMOS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transistors virtually side-by-side on an insulating substrate. </a:t>
            </a:r>
          </a:p>
          <a:p>
            <a:pPr lvl="1" algn="just">
              <a:buFont typeface="Wingdings" pitchFamily="2" charset="2"/>
              <a:buChar char="§"/>
              <a:defRPr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advantages of this technology are the higher integration density (because of the absence of well regions),</a:t>
            </a:r>
          </a:p>
          <a:p>
            <a:pPr lvl="2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avoidance of the latch-up problem, and</a:t>
            </a:r>
          </a:p>
          <a:p>
            <a:pPr lvl="2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 parasitic capacitances compared to the conventional p &amp; n-well or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twintub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CMOS processes. </a:t>
            </a: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cross-section of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pMOS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devicesusing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SOI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shown below. </a:t>
            </a: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SOI CMOS process is considerably more costly than the standard p &amp; n-well CMOS process.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Yet the improvements of device performance and the absence of latch-up problems can justify its use,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 for deep-sub-micron devices.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375" name="Picture 2">
            <a:extLst>
              <a:ext uri="{FF2B5EF4-FFF2-40B4-BE49-F238E27FC236}">
                <a16:creationId xmlns:a16="http://schemas.microsoft.com/office/drawing/2014/main" id="{E65327D0-0766-2608-4E71-9FA39558F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789" y="3862388"/>
            <a:ext cx="568642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4D31061-350D-4864-BF25-E3C3C4699CDC}"/>
              </a:ext>
            </a:extLst>
          </p:cNvPr>
          <p:cNvSpPr/>
          <p:nvPr/>
        </p:nvSpPr>
        <p:spPr>
          <a:xfrm>
            <a:off x="2792186" y="93980"/>
            <a:ext cx="6676279" cy="90891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 of CMOS Fab Process Schematic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30" name="Picture 6" descr="CMOS Fabrication Process | vlsi4freshers">
            <a:extLst>
              <a:ext uri="{FF2B5EF4-FFF2-40B4-BE49-F238E27FC236}">
                <a16:creationId xmlns:a16="http://schemas.microsoft.com/office/drawing/2014/main" id="{41F4C7A7-8BA4-498A-D89C-A13194CB7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025" y="2077131"/>
            <a:ext cx="9674632" cy="381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62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3318" name="Picture 6" descr="Implant P+ Impurities: CMOS Processing (Part 5) |VLSI Concepts">
            <a:extLst>
              <a:ext uri="{FF2B5EF4-FFF2-40B4-BE49-F238E27FC236}">
                <a16:creationId xmlns:a16="http://schemas.microsoft.com/office/drawing/2014/main" id="{52A2A08A-D7DA-B83D-F1C5-C6BE8D465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350" y="644517"/>
            <a:ext cx="5180693" cy="6022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1. What is main aspect fabrication design.</a:t>
            </a:r>
            <a:endParaRPr sz="16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Design 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simulation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Substrate Selection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of Above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What is the effect of high K Oxide on Device Fabrication.</a:t>
            </a:r>
            <a:endParaRPr sz="16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4558148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Oxide thickness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Length.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Diffusion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Above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22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fabrication steps of CMOS transistor and explain its operation in detail.</a:t>
            </a:r>
          </a:p>
          <a:p>
            <a:pPr marL="800100" lvl="1" indent="-34290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with neat diagrams the various NMOS fabrication technology. </a:t>
            </a:r>
          </a:p>
          <a:p>
            <a:pPr marL="800100" lvl="1" indent="-34290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about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BiCMOS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fabrication in a n-well process with a diagram. </a:t>
            </a:r>
          </a:p>
          <a:p>
            <a:pPr marL="800100" lvl="1" indent="-34290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Distinguish between Bipolar and CMOS devices technologies in brief.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Sung-Mo Kong, Yusuf </a:t>
            </a:r>
            <a:r>
              <a:rPr lang="en-US" dirty="0" err="1"/>
              <a:t>Leblebici</a:t>
            </a:r>
            <a:r>
              <a:rPr lang="en-US" dirty="0"/>
              <a:t>, “CMOS Digital Integrated Circuits Analysis and Design” Third Edition.</a:t>
            </a:r>
          </a:p>
          <a:p>
            <a:pPr>
              <a:lnSpc>
                <a:spcPct val="150000"/>
              </a:lnSpc>
            </a:pPr>
            <a:r>
              <a:rPr lang="en-US" dirty="0"/>
              <a:t>2. </a:t>
            </a:r>
            <a:r>
              <a:rPr lang="en-US" dirty="0" err="1"/>
              <a:t>Debaprasad</a:t>
            </a:r>
            <a:r>
              <a:rPr lang="en-US" dirty="0"/>
              <a:t> Das, “CMOS DESIGN” Second Edition.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VLSI DESIGN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365</TotalTime>
  <Words>1258</Words>
  <Application>Microsoft Office PowerPoint</Application>
  <PresentationFormat>Widescreen</PresentationFormat>
  <Paragraphs>249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CMOS Fabrication Process</vt:lpstr>
      <vt:lpstr>CMOS Fabrication Process</vt:lpstr>
      <vt:lpstr>CMOS Fabrication Process</vt:lpstr>
      <vt:lpstr>CMOS Fabrication Process</vt:lpstr>
      <vt:lpstr>CMOS Fabrication Process</vt:lpstr>
      <vt:lpstr>CMOS Fabrication Process</vt:lpstr>
      <vt:lpstr>CMOS Fabrication Process</vt:lpstr>
      <vt:lpstr>CMOS Fabrication Process</vt:lpstr>
      <vt:lpstr>CMOS Fabrication Process</vt:lpstr>
      <vt:lpstr>CMOS Fabrication Process</vt:lpstr>
      <vt:lpstr>CMOS Fabrication Process</vt:lpstr>
      <vt:lpstr>CMOS Fabrication Process</vt:lpstr>
      <vt:lpstr>Twin tub-CMOS Fabrication Process</vt:lpstr>
      <vt:lpstr>Silicon-on-Insulator (SOI) CMOS Process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Dr.Ashish Kumar</cp:lastModifiedBy>
  <cp:revision>46</cp:revision>
  <dcterms:created xsi:type="dcterms:W3CDTF">2020-02-08T09:57:44Z</dcterms:created>
  <dcterms:modified xsi:type="dcterms:W3CDTF">2022-11-17T07:12:10Z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