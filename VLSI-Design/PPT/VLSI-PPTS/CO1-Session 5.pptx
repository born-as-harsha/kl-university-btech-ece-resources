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71" r:id="rId5"/>
    <p:sldId id="300" r:id="rId6"/>
    <p:sldId id="398" r:id="rId7"/>
    <p:sldId id="399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68" r:id="rId21"/>
    <p:sldId id="285" r:id="rId22"/>
    <p:sldId id="287" r:id="rId23"/>
    <p:sldId id="301" r:id="rId24"/>
    <p:sldId id="302" r:id="rId25"/>
    <p:sldId id="303" r:id="rId26"/>
    <p:sldId id="30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E4C"/>
    <a:srgbClr val="FF9900"/>
    <a:srgbClr val="E84845"/>
    <a:srgbClr val="FAD2D2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39" d="100"/>
          <a:sy n="39" d="100"/>
        </p:scale>
        <p:origin x="60" y="6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11/17/2022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212272" y="16329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 Device analysis</a:t>
            </a:r>
            <a:endParaRPr lang="en-US" sz="32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5899355" y="492137"/>
            <a:ext cx="5909187" cy="830956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5658320" y="492137"/>
            <a:ext cx="6410633" cy="83095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- 5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632857" y="692886"/>
            <a:ext cx="8911318" cy="45807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familiarize students with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Device (Basic Structure, Operation and Important Terms)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 the MOSFET Device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Basic Structure.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Operation of MOSFETs Device and Important Terms..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890606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 the basic structure of MOSFET Device..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 the operation of MOSFET device.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all the important terms of MOS device.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83C04C-5586-6217-3B6F-EB81AD4D335C}"/>
              </a:ext>
            </a:extLst>
          </p:cNvPr>
          <p:cNvSpPr/>
          <p:nvPr/>
        </p:nvSpPr>
        <p:spPr>
          <a:xfrm>
            <a:off x="1524000" y="0"/>
            <a:ext cx="9144000" cy="9906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 DEVICE (Basic Structure, Operation and Important terms)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ECB950-E303-F321-9FBB-027E6AE9ADEF}"/>
              </a:ext>
            </a:extLst>
          </p:cNvPr>
          <p:cNvSpPr/>
          <p:nvPr/>
        </p:nvSpPr>
        <p:spPr>
          <a:xfrm>
            <a:off x="1690687" y="1143000"/>
            <a:ext cx="93800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successful MOS transistor would use metals for the gate material, SiO2 (oxide) for insulator and semiconductor for substrate. For that reason, this device was named MOS transistor. </a:t>
            </a:r>
          </a:p>
          <a:p>
            <a:pPr algn="just"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Effect Transistor (FET) refers to the fact that the gate is turned on and off by the transistor with an electric field passing through the gate oxide.</a:t>
            </a:r>
          </a:p>
        </p:txBody>
      </p:sp>
      <p:pic>
        <p:nvPicPr>
          <p:cNvPr id="68612" name="Picture 2" descr="Image result for mosfet">
            <a:extLst>
              <a:ext uri="{FF2B5EF4-FFF2-40B4-BE49-F238E27FC236}">
                <a16:creationId xmlns:a16="http://schemas.microsoft.com/office/drawing/2014/main" id="{1E73BF55-DAE7-F566-1C5A-1DCA8293E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3276601"/>
            <a:ext cx="4524375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4EA46287-5F4A-6739-B5BD-656593ED1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t="1" r="28380" b="-4451"/>
          <a:stretch/>
        </p:blipFill>
        <p:spPr bwMode="auto">
          <a:xfrm>
            <a:off x="0" y="-2"/>
            <a:ext cx="1634295" cy="990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0D0E3A-2ABC-82C3-3F93-383B3BAB61BA}"/>
              </a:ext>
            </a:extLst>
          </p:cNvPr>
          <p:cNvSpPr/>
          <p:nvPr/>
        </p:nvSpPr>
        <p:spPr>
          <a:xfrm>
            <a:off x="1524000" y="0"/>
            <a:ext cx="9144000" cy="9906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MOS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A4323BA-2DCE-63E0-A3F3-B21D90076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3114" y="2667854"/>
            <a:ext cx="603068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transistor is a 4-terminal device having terminal drains, source, gate and body (substrate).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 shows the 3-dimentional structure of NMOS. The NMOS transistor is formed on a p-type silicon substrate (also called body).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top center part of the device, a low resistivity electrode is formed which is separated from the body by an insulator. Generally, poly-silicon with heavy doping of either n-type or p-type is used as gate material.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silicon dioxide (SiO</a:t>
            </a:r>
            <a:r>
              <a:rPr lang="en-US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 simply oxide) is used as an insulator.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63DA6-A9DE-B1FB-AE24-42001FF5CD70}"/>
              </a:ext>
            </a:extLst>
          </p:cNvPr>
          <p:cNvSpPr/>
          <p:nvPr/>
        </p:nvSpPr>
        <p:spPr>
          <a:xfrm>
            <a:off x="1524000" y="1036638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type of conducting channel, two kinds of MOS structures are evident: </a:t>
            </a:r>
          </a:p>
          <a:p>
            <a:pPr marL="285750" indent="-285750" algn="just">
              <a:buFont typeface="Wingdings" pitchFamily="2" charset="2"/>
              <a:buChar char="Ø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n-channel and</a:t>
            </a:r>
          </a:p>
          <a:p>
            <a:pPr marL="285750" indent="-285750" algn="just">
              <a:buFont typeface="Wingdings" pitchFamily="2" charset="2"/>
              <a:buChar char="Ø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p-channel MOS. </a:t>
            </a:r>
          </a:p>
          <a:p>
            <a:pPr algn="just"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will only overview the NMOS transistor because both transistors are complementary in nature.</a:t>
            </a:r>
          </a:p>
        </p:txBody>
      </p:sp>
      <p:pic>
        <p:nvPicPr>
          <p:cNvPr id="69637" name="Picture 2" descr="https://static.designandreuse.com/news_img17/20170201_1.jpg">
            <a:extLst>
              <a:ext uri="{FF2B5EF4-FFF2-40B4-BE49-F238E27FC236}">
                <a16:creationId xmlns:a16="http://schemas.microsoft.com/office/drawing/2014/main" id="{A278BD09-1DDE-F75B-BB88-D7DE4AB58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686" y="2876977"/>
            <a:ext cx="37338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Rectangle 7">
            <a:extLst>
              <a:ext uri="{FF2B5EF4-FFF2-40B4-BE49-F238E27FC236}">
                <a16:creationId xmlns:a16="http://schemas.microsoft.com/office/drawing/2014/main" id="{F3D7BA05-D5C5-E8A4-41F7-F4C0A1B49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686" y="5301734"/>
            <a:ext cx="40876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Structure of NMOS transistor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FBE89D-7CF3-A29D-0049-B2F562D3F972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0661" name="Picture 4">
            <a:extLst>
              <a:ext uri="{FF2B5EF4-FFF2-40B4-BE49-F238E27FC236}">
                <a16:creationId xmlns:a16="http://schemas.microsoft.com/office/drawing/2014/main" id="{F356E079-B32F-8513-E145-6CD6EFA93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63514"/>
            <a:ext cx="154622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6" name="Picture 2">
            <a:extLst>
              <a:ext uri="{FF2B5EF4-FFF2-40B4-BE49-F238E27FC236}">
                <a16:creationId xmlns:a16="http://schemas.microsoft.com/office/drawing/2014/main" id="{3178521A-A6D3-E9DB-7EE9-9E294D27D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428" y="1191308"/>
            <a:ext cx="8485867" cy="549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291824-5939-19AF-D274-73301420E3F0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1685" name="Picture 4">
            <a:extLst>
              <a:ext uri="{FF2B5EF4-FFF2-40B4-BE49-F238E27FC236}">
                <a16:creationId xmlns:a16="http://schemas.microsoft.com/office/drawing/2014/main" id="{A064E4B7-5A11-E09C-95F3-A2D310A8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81215"/>
            <a:ext cx="1688193" cy="66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Picture 2">
            <a:extLst>
              <a:ext uri="{FF2B5EF4-FFF2-40B4-BE49-F238E27FC236}">
                <a16:creationId xmlns:a16="http://schemas.microsoft.com/office/drawing/2014/main" id="{AC512E80-FD94-F370-4103-BD1A40B21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992189"/>
            <a:ext cx="441642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Picture 3">
            <a:extLst>
              <a:ext uri="{FF2B5EF4-FFF2-40B4-BE49-F238E27FC236}">
                <a16:creationId xmlns:a16="http://schemas.microsoft.com/office/drawing/2014/main" id="{DC029220-3FB0-0212-A767-B304DDDEA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939800"/>
            <a:ext cx="39433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8" name="Picture 4">
            <a:extLst>
              <a:ext uri="{FF2B5EF4-FFF2-40B4-BE49-F238E27FC236}">
                <a16:creationId xmlns:a16="http://schemas.microsoft.com/office/drawing/2014/main" id="{2986075D-454B-BD93-8936-D285300DA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5" y="3640139"/>
            <a:ext cx="4235450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9" name="Picture 5">
            <a:extLst>
              <a:ext uri="{FF2B5EF4-FFF2-40B4-BE49-F238E27FC236}">
                <a16:creationId xmlns:a16="http://schemas.microsoft.com/office/drawing/2014/main" id="{F383A95C-DBFC-D674-7114-9DEA191EC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4" y="3725864"/>
            <a:ext cx="4046537" cy="263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0" name="Picture 2">
            <a:extLst>
              <a:ext uri="{FF2B5EF4-FFF2-40B4-BE49-F238E27FC236}">
                <a16:creationId xmlns:a16="http://schemas.microsoft.com/office/drawing/2014/main" id="{F9C0EEDE-55DD-6317-517D-A377AC79D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6" y="957263"/>
            <a:ext cx="9040813" cy="575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1D22B-87AF-B938-F088-CAE91ED428F6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2709" name="Picture 4">
            <a:extLst>
              <a:ext uri="{FF2B5EF4-FFF2-40B4-BE49-F238E27FC236}">
                <a16:creationId xmlns:a16="http://schemas.microsoft.com/office/drawing/2014/main" id="{CDD9A262-EDDA-B098-8027-57D852458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85738"/>
            <a:ext cx="154622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2">
            <a:extLst>
              <a:ext uri="{FF2B5EF4-FFF2-40B4-BE49-F238E27FC236}">
                <a16:creationId xmlns:a16="http://schemas.microsoft.com/office/drawing/2014/main" id="{18B5087C-3374-65F8-44E2-A1EB2F0C6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981076"/>
            <a:ext cx="9023350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5127A5-D22C-0269-751F-A8977E2D803A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3733" name="Picture 4">
            <a:extLst>
              <a:ext uri="{FF2B5EF4-FFF2-40B4-BE49-F238E27FC236}">
                <a16:creationId xmlns:a16="http://schemas.microsoft.com/office/drawing/2014/main" id="{E3021D51-2277-5B3F-89B7-3454BCB1E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29"/>
            <a:ext cx="1546225" cy="666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4" name="Picture 2">
            <a:extLst>
              <a:ext uri="{FF2B5EF4-FFF2-40B4-BE49-F238E27FC236}">
                <a16:creationId xmlns:a16="http://schemas.microsoft.com/office/drawing/2014/main" id="{F8BB0850-BA04-CFCE-F32C-CD42AA39E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6" y="957264"/>
            <a:ext cx="55975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5" name="Picture 3">
            <a:extLst>
              <a:ext uri="{FF2B5EF4-FFF2-40B4-BE49-F238E27FC236}">
                <a16:creationId xmlns:a16="http://schemas.microsoft.com/office/drawing/2014/main" id="{A8538EEC-FDEF-96F1-5F8D-428586DEC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2" y="3857399"/>
            <a:ext cx="5629275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CAC6A5-8D2E-24D0-C891-83F0397E12CB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4757" name="Picture 4">
            <a:extLst>
              <a:ext uri="{FF2B5EF4-FFF2-40B4-BE49-F238E27FC236}">
                <a16:creationId xmlns:a16="http://schemas.microsoft.com/office/drawing/2014/main" id="{6651270B-89E3-FC00-883A-CBB772F60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7309"/>
            <a:ext cx="154622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8" name="TextBox 5">
            <a:extLst>
              <a:ext uri="{FF2B5EF4-FFF2-40B4-BE49-F238E27FC236}">
                <a16:creationId xmlns:a16="http://schemas.microsoft.com/office/drawing/2014/main" id="{F2653528-7F58-C05B-1575-EA1F18EF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146707"/>
            <a:ext cx="91741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9" name="TextBox 8">
            <a:extLst>
              <a:ext uri="{FF2B5EF4-FFF2-40B4-BE49-F238E27FC236}">
                <a16:creationId xmlns:a16="http://schemas.microsoft.com/office/drawing/2014/main" id="{9E0EE6B1-6CDB-A396-41F1-3BC722C23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955676"/>
            <a:ext cx="91741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</p:txBody>
      </p:sp>
      <p:sp>
        <p:nvSpPr>
          <p:cNvPr id="74760" name="TextBox 10">
            <a:extLst>
              <a:ext uri="{FF2B5EF4-FFF2-40B4-BE49-F238E27FC236}">
                <a16:creationId xmlns:a16="http://schemas.microsoft.com/office/drawing/2014/main" id="{1B03CD5A-B4F7-012E-6491-EBE426B0D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343026"/>
            <a:ext cx="91440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concept of the MOS transistor evolves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use of a voltage on the gate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induce a charge in the channel between source and drain, </a:t>
            </a:r>
          </a:p>
          <a:p>
            <a:pPr lvl="1" algn="just" eaLnBrk="1" hangingPunct="1"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may then be caused to move from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to drain </a:t>
            </a:r>
          </a:p>
          <a:p>
            <a:pPr lvl="1" algn="just" eaLnBrk="1" hangingPunct="1"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influence of an electric field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voltage </a:t>
            </a:r>
            <a:r>
              <a:rPr lang="en-US" alt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between drain and source. 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charge induced is dependent on the gate to source voltage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endParaRPr lang="en-US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dependent on both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</a:p>
          <a:p>
            <a:pPr lvl="1" algn="just" eaLnBrk="1" hangingPunct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structure, as in Figure2.1, in which electrons will flow source to drain: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783" name="Picture 6">
            <a:extLst>
              <a:ext uri="{FF2B5EF4-FFF2-40B4-BE49-F238E27FC236}">
                <a16:creationId xmlns:a16="http://schemas.microsoft.com/office/drawing/2014/main" id="{71097F96-4F61-9EB1-0DDA-409549A6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6389" y="3932239"/>
            <a:ext cx="4416425" cy="28733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75784" name="TextBox 14">
            <a:extLst>
              <a:ext uri="{FF2B5EF4-FFF2-40B4-BE49-F238E27FC236}">
                <a16:creationId xmlns:a16="http://schemas.microsoft.com/office/drawing/2014/main" id="{05276BB7-9A61-B41C-1DE9-D269FD31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950914"/>
            <a:ext cx="9144000" cy="3698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>
                <a:solidFill>
                  <a:srgbClr val="0B0809"/>
                </a:solidFill>
                <a:latin typeface="Helvetica-Bold"/>
              </a:rPr>
              <a:t>DRAIN-TO-SOURCE CURRENT </a:t>
            </a:r>
            <a:r>
              <a:rPr lang="en-IN" sz="1200" b="1" i="1" dirty="0">
                <a:solidFill>
                  <a:srgbClr val="0B0809"/>
                </a:solidFill>
                <a:latin typeface="Times-BoldItalic"/>
              </a:rPr>
              <a:t>Ids </a:t>
            </a:r>
            <a:r>
              <a:rPr lang="en-IN" b="1" dirty="0">
                <a:solidFill>
                  <a:srgbClr val="0B0809"/>
                </a:solidFill>
                <a:latin typeface="Helvetica-Bold"/>
              </a:rPr>
              <a:t>versus VOLTAGE </a:t>
            </a:r>
            <a:r>
              <a:rPr lang="en-IN" sz="1200" b="1" i="1" dirty="0" err="1">
                <a:solidFill>
                  <a:srgbClr val="0B0809"/>
                </a:solidFill>
                <a:latin typeface="Times-BoldItalic"/>
              </a:rPr>
              <a:t>Vds</a:t>
            </a:r>
            <a:r>
              <a:rPr lang="en-IN" sz="1200" b="1" i="1" dirty="0">
                <a:solidFill>
                  <a:srgbClr val="0B0809"/>
                </a:solidFill>
                <a:latin typeface="Times-BoldItalic"/>
              </a:rPr>
              <a:t> </a:t>
            </a:r>
            <a:r>
              <a:rPr lang="en-IN" b="1" dirty="0">
                <a:solidFill>
                  <a:srgbClr val="0B0809"/>
                </a:solidFill>
                <a:latin typeface="Helvetica-Bold"/>
              </a:rPr>
              <a:t>RELATIONSHIPS</a:t>
            </a:r>
            <a:r>
              <a:rPr lang="en-IN" dirty="0"/>
              <a:t> </a:t>
            </a:r>
          </a:p>
        </p:txBody>
      </p:sp>
      <p:pic>
        <p:nvPicPr>
          <p:cNvPr id="26633" name="Picture 2">
            <a:extLst>
              <a:ext uri="{FF2B5EF4-FFF2-40B4-BE49-F238E27FC236}">
                <a16:creationId xmlns:a16="http://schemas.microsoft.com/office/drawing/2014/main" id="{40E04BDB-0480-0AC6-CB80-61DE241F10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05324" y="4851399"/>
            <a:ext cx="4067628" cy="158796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55D27AF1-5792-C978-D088-C2F04C300EBC}"/>
              </a:ext>
            </a:extLst>
          </p:cNvPr>
          <p:cNvSpPr/>
          <p:nvPr/>
        </p:nvSpPr>
        <p:spPr>
          <a:xfrm>
            <a:off x="7907338" y="3924300"/>
            <a:ext cx="863600" cy="8207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2858B9E3-0164-530E-9321-74C40FD21D3B}"/>
              </a:ext>
            </a:extLst>
          </p:cNvPr>
          <p:cNvSpPr/>
          <p:nvPr/>
        </p:nvSpPr>
        <p:spPr>
          <a:xfrm>
            <a:off x="6291263" y="1354139"/>
            <a:ext cx="863600" cy="7762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12" name="Picture 2" descr="https://static.designandreuse.com/news_img17/20170201_3.jpg">
            <a:extLst>
              <a:ext uri="{FF2B5EF4-FFF2-40B4-BE49-F238E27FC236}">
                <a16:creationId xmlns:a16="http://schemas.microsoft.com/office/drawing/2014/main" id="{910F4DC7-6398-EAC0-DA11-07BBB4B01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049432" y="1511074"/>
            <a:ext cx="2460625" cy="1143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1B40F3-0B3E-CEEE-A22B-D9D38FE444A5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5781" name="Picture 4">
            <a:extLst>
              <a:ext uri="{FF2B5EF4-FFF2-40B4-BE49-F238E27FC236}">
                <a16:creationId xmlns:a16="http://schemas.microsoft.com/office/drawing/2014/main" id="{1E5BB591-4CC6-A3BA-4CE0-F958F042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23837"/>
            <a:ext cx="154622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2" name="TextBox 5">
            <a:extLst>
              <a:ext uri="{FF2B5EF4-FFF2-40B4-BE49-F238E27FC236}">
                <a16:creationId xmlns:a16="http://schemas.microsoft.com/office/drawing/2014/main" id="{F62B9CBB-5FF2-32D2-EA31-FE3FE931E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86409"/>
            <a:ext cx="102488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83" name="TextBox 8">
            <a:extLst>
              <a:ext uri="{FF2B5EF4-FFF2-40B4-BE49-F238E27FC236}">
                <a16:creationId xmlns:a16="http://schemas.microsoft.com/office/drawing/2014/main" id="{113D484E-C743-74BF-4E8B-A816B8196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955676"/>
            <a:ext cx="91741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</p:txBody>
      </p:sp>
      <p:pic>
        <p:nvPicPr>
          <p:cNvPr id="76806" name="Picture 2">
            <a:extLst>
              <a:ext uri="{FF2B5EF4-FFF2-40B4-BE49-F238E27FC236}">
                <a16:creationId xmlns:a16="http://schemas.microsoft.com/office/drawing/2014/main" id="{EF895475-2CC7-EDA6-7621-43A44B9C78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84767" y="1016456"/>
            <a:ext cx="4572000" cy="20637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76807" name="Picture 9">
            <a:extLst>
              <a:ext uri="{FF2B5EF4-FFF2-40B4-BE49-F238E27FC236}">
                <a16:creationId xmlns:a16="http://schemas.microsoft.com/office/drawing/2014/main" id="{672C751D-7EAB-26E3-50BC-BECAE85CF5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82670" y="1016456"/>
            <a:ext cx="4508500" cy="20732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76808" name="Picture 12">
            <a:extLst>
              <a:ext uri="{FF2B5EF4-FFF2-40B4-BE49-F238E27FC236}">
                <a16:creationId xmlns:a16="http://schemas.microsoft.com/office/drawing/2014/main" id="{ABC22CB1-51F8-944C-830B-301DA5E2C1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49626" y="3935414"/>
            <a:ext cx="5114925" cy="26765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9" name="Curved Right Arrow 8">
            <a:extLst>
              <a:ext uri="{FF2B5EF4-FFF2-40B4-BE49-F238E27FC236}">
                <a16:creationId xmlns:a16="http://schemas.microsoft.com/office/drawing/2014/main" id="{B46E8B41-DB01-D982-F988-2E398C25CDC2}"/>
              </a:ext>
            </a:extLst>
          </p:cNvPr>
          <p:cNvSpPr/>
          <p:nvPr/>
        </p:nvSpPr>
        <p:spPr>
          <a:xfrm>
            <a:off x="3344863" y="3036888"/>
            <a:ext cx="869950" cy="8445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Curved Left Arrow 9">
            <a:extLst>
              <a:ext uri="{FF2B5EF4-FFF2-40B4-BE49-F238E27FC236}">
                <a16:creationId xmlns:a16="http://schemas.microsoft.com/office/drawing/2014/main" id="{E2871B51-7DBB-D720-B5BD-FA358685BEC7}"/>
              </a:ext>
            </a:extLst>
          </p:cNvPr>
          <p:cNvSpPr/>
          <p:nvPr/>
        </p:nvSpPr>
        <p:spPr>
          <a:xfrm>
            <a:off x="7527925" y="3009900"/>
            <a:ext cx="896938" cy="94138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79006E-CEAB-5290-F44B-84D35964445E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6805" name="Picture 4">
            <a:extLst>
              <a:ext uri="{FF2B5EF4-FFF2-40B4-BE49-F238E27FC236}">
                <a16:creationId xmlns:a16="http://schemas.microsoft.com/office/drawing/2014/main" id="{B3C84850-AA8B-B7F8-EA17-7D8F6AC05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69978"/>
            <a:ext cx="154622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TextBox 5">
            <a:extLst>
              <a:ext uri="{FF2B5EF4-FFF2-40B4-BE49-F238E27FC236}">
                <a16:creationId xmlns:a16="http://schemas.microsoft.com/office/drawing/2014/main" id="{88348D35-2CA0-E1F4-960C-A103787E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2314"/>
            <a:ext cx="95141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807" name="TextBox 8">
            <a:extLst>
              <a:ext uri="{FF2B5EF4-FFF2-40B4-BE49-F238E27FC236}">
                <a16:creationId xmlns:a16="http://schemas.microsoft.com/office/drawing/2014/main" id="{017B14CF-AD56-11C3-6D82-57E8C84CE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955676"/>
            <a:ext cx="91741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</p:txBody>
      </p:sp>
      <p:sp>
        <p:nvSpPr>
          <p:cNvPr id="76808" name="TextBox 10">
            <a:extLst>
              <a:ext uri="{FF2B5EF4-FFF2-40B4-BE49-F238E27FC236}">
                <a16:creationId xmlns:a16="http://schemas.microsoft.com/office/drawing/2014/main" id="{F45C96AF-D928-3D57-5A08-AD0B796A5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12875"/>
            <a:ext cx="914400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induced in channel due to gate voltage is 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voltage difference between the gate and the channel,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/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(assuming substrate connected to source). 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note that the voltage along the channel varies linearly with distance </a:t>
            </a:r>
            <a:r>
              <a:rPr lang="en-US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source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in the channel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(see Figure 1.5) and 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that the device is not saturated then the average value is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Vds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/2. </a:t>
            </a: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</a:t>
            </a:r>
          </a:p>
          <a:p>
            <a:pPr lvl="1" algn="just" eaLnBrk="1" hangingPunct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gate voltage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</a:p>
          <a:p>
            <a:pPr lvl="1" algn="just" eaLnBrk="1" hangingPunct="1"/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threshold voltage needed to invert the charge under the gate and establish the channel.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01777-29DB-D751-0174-7208B1714F47}"/>
              </a:ext>
            </a:extLst>
          </p:cNvPr>
          <p:cNvSpPr txBox="1"/>
          <p:nvPr/>
        </p:nvSpPr>
        <p:spPr>
          <a:xfrm>
            <a:off x="1524000" y="950914"/>
            <a:ext cx="3735388" cy="369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>
                <a:solidFill>
                  <a:schemeClr val="tx1"/>
                </a:solidFill>
                <a:latin typeface="Bell MT" pitchFamily="18" charset="0"/>
              </a:rPr>
              <a:t>The Non-saturated Region</a:t>
            </a:r>
            <a:r>
              <a:rPr lang="en-IN" dirty="0">
                <a:solidFill>
                  <a:schemeClr val="tx1"/>
                </a:solidFill>
                <a:latin typeface="Bell MT" pitchFamily="18" charset="0"/>
              </a:rPr>
              <a:t> </a:t>
            </a:r>
          </a:p>
        </p:txBody>
      </p:sp>
      <p:pic>
        <p:nvPicPr>
          <p:cNvPr id="77832" name="Picture 2">
            <a:extLst>
              <a:ext uri="{FF2B5EF4-FFF2-40B4-BE49-F238E27FC236}">
                <a16:creationId xmlns:a16="http://schemas.microsoft.com/office/drawing/2014/main" id="{05315014-0A9D-2576-557A-4CB2C6559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28900" y="4805363"/>
            <a:ext cx="6934200" cy="19859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9D05EF-18FD-923B-CB7C-2EC4FEDFFB97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7829" name="Picture 4">
            <a:extLst>
              <a:ext uri="{FF2B5EF4-FFF2-40B4-BE49-F238E27FC236}">
                <a16:creationId xmlns:a16="http://schemas.microsoft.com/office/drawing/2014/main" id="{0698F2BF-1D5B-5936-4F1A-2408656EC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495"/>
            <a:ext cx="154622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5">
            <a:extLst>
              <a:ext uri="{FF2B5EF4-FFF2-40B4-BE49-F238E27FC236}">
                <a16:creationId xmlns:a16="http://schemas.microsoft.com/office/drawing/2014/main" id="{7B350A83-F5BA-F318-2643-F7622FCE8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163703"/>
            <a:ext cx="9174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31" name="TextBox 8">
            <a:extLst>
              <a:ext uri="{FF2B5EF4-FFF2-40B4-BE49-F238E27FC236}">
                <a16:creationId xmlns:a16="http://schemas.microsoft.com/office/drawing/2014/main" id="{CD3EAB0E-6E40-2EF6-6561-C7EF1164B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955676"/>
            <a:ext cx="91741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C02D5D-F480-5FAB-4676-494A8D577AB8}"/>
              </a:ext>
            </a:extLst>
          </p:cNvPr>
          <p:cNvSpPr txBox="1"/>
          <p:nvPr/>
        </p:nvSpPr>
        <p:spPr>
          <a:xfrm>
            <a:off x="1524000" y="950914"/>
            <a:ext cx="3709988" cy="369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>
                <a:solidFill>
                  <a:srgbClr val="080606"/>
                </a:solidFill>
                <a:latin typeface="Times-Bold"/>
              </a:rPr>
              <a:t>The Non-saturated Region</a:t>
            </a:r>
            <a:r>
              <a:rPr lang="en-IN" dirty="0"/>
              <a:t> </a:t>
            </a:r>
          </a:p>
        </p:txBody>
      </p:sp>
      <p:pic>
        <p:nvPicPr>
          <p:cNvPr id="77833" name="Picture 6">
            <a:extLst>
              <a:ext uri="{FF2B5EF4-FFF2-40B4-BE49-F238E27FC236}">
                <a16:creationId xmlns:a16="http://schemas.microsoft.com/office/drawing/2014/main" id="{2D4B727E-ECA1-6AA0-7BC7-9BAB3907A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4" y="1387476"/>
            <a:ext cx="608647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4" name="Picture 9">
            <a:extLst>
              <a:ext uri="{FF2B5EF4-FFF2-40B4-BE49-F238E27FC236}">
                <a16:creationId xmlns:a16="http://schemas.microsoft.com/office/drawing/2014/main" id="{ADBADCC2-7D94-B31A-8B5F-7578779ED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4" y="4908551"/>
            <a:ext cx="608647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1FDED2-4BD5-EE09-26F4-C5F55882B8CA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8853" name="Picture 4">
            <a:extLst>
              <a:ext uri="{FF2B5EF4-FFF2-40B4-BE49-F238E27FC236}">
                <a16:creationId xmlns:a16="http://schemas.microsoft.com/office/drawing/2014/main" id="{A6B5BB99-ACF9-45C4-CCBC-001B9CB68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957"/>
            <a:ext cx="1546225" cy="662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5" name="TextBox 8">
            <a:extLst>
              <a:ext uri="{FF2B5EF4-FFF2-40B4-BE49-F238E27FC236}">
                <a16:creationId xmlns:a16="http://schemas.microsoft.com/office/drawing/2014/main" id="{DDF4FFCD-6776-3B95-38A9-3CC889A5C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955676"/>
            <a:ext cx="91741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3F957-4745-7E4D-0CC2-680862628821}"/>
              </a:ext>
            </a:extLst>
          </p:cNvPr>
          <p:cNvSpPr txBox="1"/>
          <p:nvPr/>
        </p:nvSpPr>
        <p:spPr>
          <a:xfrm>
            <a:off x="1524000" y="950914"/>
            <a:ext cx="4019550" cy="369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>
                <a:solidFill>
                  <a:srgbClr val="080606"/>
                </a:solidFill>
                <a:latin typeface="Times-Bold"/>
              </a:rPr>
              <a:t>The Non-saturated Region</a:t>
            </a:r>
            <a:r>
              <a:rPr lang="en-IN" dirty="0"/>
              <a:t> </a:t>
            </a:r>
          </a:p>
        </p:txBody>
      </p:sp>
      <p:pic>
        <p:nvPicPr>
          <p:cNvPr id="78857" name="Picture 2">
            <a:extLst>
              <a:ext uri="{FF2B5EF4-FFF2-40B4-BE49-F238E27FC236}">
                <a16:creationId xmlns:a16="http://schemas.microsoft.com/office/drawing/2014/main" id="{4D6F5E4A-85AD-5125-A70B-C5F962371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1462088"/>
            <a:ext cx="61341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EB7FF5F2-F83F-B6B3-8C74-5C8847AC9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163703"/>
            <a:ext cx="9174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79EF67-6E60-A391-5098-F45E4DB308F1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79877" name="Picture 4">
            <a:extLst>
              <a:ext uri="{FF2B5EF4-FFF2-40B4-BE49-F238E27FC236}">
                <a16:creationId xmlns:a16="http://schemas.microsoft.com/office/drawing/2014/main" id="{22AAEBC3-43BD-0652-DF17-09E6968D5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87943" cy="784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9" name="TextBox 8">
            <a:extLst>
              <a:ext uri="{FF2B5EF4-FFF2-40B4-BE49-F238E27FC236}">
                <a16:creationId xmlns:a16="http://schemas.microsoft.com/office/drawing/2014/main" id="{226C0DFB-4A62-66DC-734A-6A50B0305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955676"/>
            <a:ext cx="91741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BBB0D-AF91-DCD1-8074-FEC28B3A2C60}"/>
              </a:ext>
            </a:extLst>
          </p:cNvPr>
          <p:cNvSpPr txBox="1"/>
          <p:nvPr/>
        </p:nvSpPr>
        <p:spPr>
          <a:xfrm>
            <a:off x="1524001" y="950914"/>
            <a:ext cx="3787775" cy="369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>
                <a:solidFill>
                  <a:srgbClr val="080606"/>
                </a:solidFill>
                <a:latin typeface="Times-Bold"/>
              </a:rPr>
              <a:t>The Non-saturated Region</a:t>
            </a:r>
            <a:r>
              <a:rPr lang="en-IN" dirty="0"/>
              <a:t> </a:t>
            </a:r>
          </a:p>
        </p:txBody>
      </p:sp>
      <p:pic>
        <p:nvPicPr>
          <p:cNvPr id="79881" name="Picture 6">
            <a:extLst>
              <a:ext uri="{FF2B5EF4-FFF2-40B4-BE49-F238E27FC236}">
                <a16:creationId xmlns:a16="http://schemas.microsoft.com/office/drawing/2014/main" id="{3D7B1082-DB11-5521-C08F-8448C9FD0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1411289"/>
            <a:ext cx="6383338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82" name="Picture 9">
            <a:extLst>
              <a:ext uri="{FF2B5EF4-FFF2-40B4-BE49-F238E27FC236}">
                <a16:creationId xmlns:a16="http://schemas.microsoft.com/office/drawing/2014/main" id="{D06DD4D5-AF9F-1C34-35CF-FDE896A39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9" y="4159251"/>
            <a:ext cx="652462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46AC5A8E-18F5-FD34-4411-E602AC43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163703"/>
            <a:ext cx="9174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7EB84A-349C-B353-002F-E56F57C37913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80901" name="Picture 4">
            <a:extLst>
              <a:ext uri="{FF2B5EF4-FFF2-40B4-BE49-F238E27FC236}">
                <a16:creationId xmlns:a16="http://schemas.microsoft.com/office/drawing/2014/main" id="{89144FBA-33FC-8CBD-500A-521F542CE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738"/>
            <a:ext cx="154622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3" name="TextBox 8">
            <a:extLst>
              <a:ext uri="{FF2B5EF4-FFF2-40B4-BE49-F238E27FC236}">
                <a16:creationId xmlns:a16="http://schemas.microsoft.com/office/drawing/2014/main" id="{87083630-4BB3-85F9-3D8E-6DBCB5B3C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955676"/>
            <a:ext cx="9174163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§"/>
            </a:pPr>
            <a:endParaRPr lang="en-US" altLang="en-US"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46109-691E-D12B-2A73-90AE9D061C9D}"/>
              </a:ext>
            </a:extLst>
          </p:cNvPr>
          <p:cNvSpPr txBox="1"/>
          <p:nvPr/>
        </p:nvSpPr>
        <p:spPr>
          <a:xfrm>
            <a:off x="1524000" y="950914"/>
            <a:ext cx="2997200" cy="369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>
                <a:solidFill>
                  <a:srgbClr val="080606"/>
                </a:solidFill>
                <a:latin typeface="Times-Bold"/>
              </a:rPr>
              <a:t>The Saturated Region</a:t>
            </a:r>
            <a:r>
              <a:rPr lang="en-IN" dirty="0"/>
              <a:t> </a:t>
            </a:r>
          </a:p>
        </p:txBody>
      </p:sp>
      <p:pic>
        <p:nvPicPr>
          <p:cNvPr id="81927" name="Picture 2">
            <a:extLst>
              <a:ext uri="{FF2B5EF4-FFF2-40B4-BE49-F238E27FC236}">
                <a16:creationId xmlns:a16="http://schemas.microsoft.com/office/drawing/2014/main" id="{7BA73700-FED1-CA72-7C97-FDE1FB67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1370013"/>
            <a:ext cx="6953250" cy="800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pic>
        <p:nvPicPr>
          <p:cNvPr id="80906" name="Picture 10">
            <a:extLst>
              <a:ext uri="{FF2B5EF4-FFF2-40B4-BE49-F238E27FC236}">
                <a16:creationId xmlns:a16="http://schemas.microsoft.com/office/drawing/2014/main" id="{4B5B1CE3-6E3D-29FD-63B9-3E9985405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4" y="2233613"/>
            <a:ext cx="5514975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9" name="TextBox 13">
            <a:extLst>
              <a:ext uri="{FF2B5EF4-FFF2-40B4-BE49-F238E27FC236}">
                <a16:creationId xmlns:a16="http://schemas.microsoft.com/office/drawing/2014/main" id="{029CD098-3186-8F9A-D315-8FA278514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949951"/>
            <a:ext cx="9144000" cy="8302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expressions derived for </a:t>
            </a:r>
            <a:r>
              <a:rPr lang="en-US" sz="1600" b="1" i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for both enhancement and depletion mode devices, but</a:t>
            </a:r>
            <a:b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noted that the threshold voltage for the </a:t>
            </a:r>
            <a:r>
              <a:rPr lang="en-US" sz="1600" b="1" dirty="0" err="1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depletion mode device (denoted</a:t>
            </a:r>
            <a:b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1600" b="1" i="1" dirty="0" err="1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v,d</a:t>
            </a:r>
            <a:r>
              <a:rPr lang="en-US" sz="1600" b="1" i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sz="1600" b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600" b="1" i="1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negative.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14BF3288-856E-2F75-1367-B8124AB45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163703"/>
            <a:ext cx="9174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7102A1-5181-64F4-108D-54FF2ACDCFC2}"/>
              </a:ext>
            </a:extLst>
          </p:cNvPr>
          <p:cNvSpPr/>
          <p:nvPr/>
        </p:nvSpPr>
        <p:spPr>
          <a:xfrm>
            <a:off x="1524000" y="712789"/>
            <a:ext cx="9144000" cy="168275"/>
          </a:xfrm>
          <a:prstGeom prst="rect">
            <a:avLst/>
          </a:prstGeom>
          <a:pattFill prst="pct70">
            <a:fgClr>
              <a:srgbClr val="FF0000"/>
            </a:fgClr>
            <a:bgClr>
              <a:schemeClr val="bg1"/>
            </a:bgClr>
          </a:patt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81925" name="Picture 4">
            <a:extLst>
              <a:ext uri="{FF2B5EF4-FFF2-40B4-BE49-F238E27FC236}">
                <a16:creationId xmlns:a16="http://schemas.microsoft.com/office/drawing/2014/main" id="{10A5D415-53B7-3634-934D-6B1D5B51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" y="152288"/>
            <a:ext cx="15462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50" name="TextBox 11">
            <a:extLst>
              <a:ext uri="{FF2B5EF4-FFF2-40B4-BE49-F238E27FC236}">
                <a16:creationId xmlns:a16="http://schemas.microsoft.com/office/drawing/2014/main" id="{5ABE7D1F-E0A0-AC4E-E42A-48B0210D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3413"/>
            <a:ext cx="9144000" cy="647700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en-US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characteristics for </a:t>
            </a:r>
            <a:r>
              <a:rPr lang="en-US" dirty="0" err="1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transistors are given in Figure 2.2. </a:t>
            </a:r>
            <a:r>
              <a:rPr lang="en-US" dirty="0" err="1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US" dirty="0">
                <a:solidFill>
                  <a:srgbClr val="0503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transistor characteristics are similar, with suitable reversal of polarity</a:t>
            </a:r>
            <a:r>
              <a:rPr lang="en-US" dirty="0">
                <a:solidFill>
                  <a:srgbClr val="2B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C7EA9B-D552-94F9-367C-5B916A4F13B2}"/>
              </a:ext>
            </a:extLst>
          </p:cNvPr>
          <p:cNvSpPr/>
          <p:nvPr/>
        </p:nvSpPr>
        <p:spPr>
          <a:xfrm>
            <a:off x="3344864" y="5470525"/>
            <a:ext cx="5183187" cy="3683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2.2 MOS transistor characteristics .</a:t>
            </a:r>
          </a:p>
        </p:txBody>
      </p:sp>
      <p:pic>
        <p:nvPicPr>
          <p:cNvPr id="81929" name="Picture 8">
            <a:extLst>
              <a:ext uri="{FF2B5EF4-FFF2-40B4-BE49-F238E27FC236}">
                <a16:creationId xmlns:a16="http://schemas.microsoft.com/office/drawing/2014/main" id="{8483F465-808A-3D43-2495-763F0BBE6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2406651"/>
            <a:ext cx="4476750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30" name="Picture 9">
            <a:extLst>
              <a:ext uri="{FF2B5EF4-FFF2-40B4-BE49-F238E27FC236}">
                <a16:creationId xmlns:a16="http://schemas.microsoft.com/office/drawing/2014/main" id="{F7B7AAE0-C2F9-827B-0E52-9A63B845A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2398713"/>
            <a:ext cx="403225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34002FF4-744E-87DB-251A-6C4B3640B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225" y="163703"/>
            <a:ext cx="91741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Circuits</a:t>
            </a: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D9F75-62FA-F678-24FE-F60DB5708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6" y="166479"/>
            <a:ext cx="10297886" cy="579646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>
            <a:noAutofit/>
          </a:bodyPr>
          <a:lstStyle/>
          <a:p>
            <a:pPr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Properties of MOS and Bi CMOS circuits</a:t>
            </a:r>
            <a:endParaRPr lang="en-IN" sz="32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E54E67-A845-8D9C-A39F-E8E93013C2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094"/>
            <a:ext cx="1404256" cy="73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B9ED96-B2FE-B5AE-8BCB-87872FC2055E}"/>
              </a:ext>
            </a:extLst>
          </p:cNvPr>
          <p:cNvSpPr/>
          <p:nvPr/>
        </p:nvSpPr>
        <p:spPr>
          <a:xfrm>
            <a:off x="1524000" y="1428750"/>
            <a:ext cx="9144000" cy="20320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below shows the ID Vs VDS characteristics of an n- MOS transistor for several values of VGS .</a:t>
            </a:r>
          </a:p>
          <a:p>
            <a:pPr lvl="2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clear that there are two conduction states when the device is ON. </a:t>
            </a:r>
          </a:p>
          <a:p>
            <a:pPr lvl="2"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saturated state and the non-saturated state. </a:t>
            </a:r>
          </a:p>
          <a:p>
            <a:pPr lvl="2" algn="just">
              <a:buFont typeface="Wingdings" pitchFamily="2" charset="2"/>
              <a:buChar char="§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saturated curve is the flat portion and defines the saturation region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VDS +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is conducting and ID is independent of VDS. 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VDS +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Vth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transistor is in the non-saturation region and the curve is a half parabola.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transistor is OFF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then ID is zero for any VDS value.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730" name="Picture 2">
            <a:extLst>
              <a:ext uri="{FF2B5EF4-FFF2-40B4-BE49-F238E27FC236}">
                <a16:creationId xmlns:a16="http://schemas.microsoft.com/office/drawing/2014/main" id="{5C5C1139-03FC-EF6D-8B53-3EB0CB3C2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66939" y="3643314"/>
            <a:ext cx="3857625" cy="264318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12D520-A85E-1D3F-EAC8-51B4ACF1E212}"/>
              </a:ext>
            </a:extLst>
          </p:cNvPr>
          <p:cNvSpPr/>
          <p:nvPr/>
        </p:nvSpPr>
        <p:spPr>
          <a:xfrm>
            <a:off x="1524001" y="928689"/>
            <a:ext cx="4214813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b="1" dirty="0">
                <a:latin typeface="+mj-lt"/>
              </a:rPr>
              <a:t>ID-VDS Characteristics of MOS Transistor  </a:t>
            </a:r>
            <a:endParaRPr lang="en-IN" dirty="0">
              <a:latin typeface="+mj-lt"/>
            </a:endParaRPr>
          </a:p>
        </p:txBody>
      </p:sp>
      <p:pic>
        <p:nvPicPr>
          <p:cNvPr id="73731" name="Picture 3">
            <a:extLst>
              <a:ext uri="{FF2B5EF4-FFF2-40B4-BE49-F238E27FC236}">
                <a16:creationId xmlns:a16="http://schemas.microsoft.com/office/drawing/2014/main" id="{7E165B37-A942-D97C-D343-E3CFFE971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53188" y="3643313"/>
            <a:ext cx="3810000" cy="26479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2792186" y="93980"/>
            <a:ext cx="6676279" cy="90891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 of </a:t>
            </a:r>
            <a:r>
              <a:rPr lang="en-US" sz="2400" dirty="0" err="1"/>
              <a:t>BiMOS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32" name="Picture 8" descr="High-performance flexible BiCMOS electronics based on single-crystal Si  nanomembrane | npj Flexible Electronics">
            <a:extLst>
              <a:ext uri="{FF2B5EF4-FFF2-40B4-BE49-F238E27FC236}">
                <a16:creationId xmlns:a16="http://schemas.microsoft.com/office/drawing/2014/main" id="{FDB4264C-3748-ADC7-C8DB-684490843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1184481"/>
            <a:ext cx="8557532" cy="524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A8CC3D-F6A6-DAE8-9306-0373EE34FF27}"/>
              </a:ext>
            </a:extLst>
          </p:cNvPr>
          <p:cNvSpPr txBox="1"/>
          <p:nvPr/>
        </p:nvSpPr>
        <p:spPr>
          <a:xfrm>
            <a:off x="1990725" y="6364007"/>
            <a:ext cx="8968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flexible </a:t>
            </a:r>
            <a:r>
              <a:rPr lang="en-US" b="1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BiCMOS</a:t>
            </a:r>
            <a:r>
              <a:rPr lang="en-US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based on single-crystal Si nanomembrane</a:t>
            </a:r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Article Work Demonstration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3320" name="Picture 8" descr="figure 2">
            <a:extLst>
              <a:ext uri="{FF2B5EF4-FFF2-40B4-BE49-F238E27FC236}">
                <a16:creationId xmlns:a16="http://schemas.microsoft.com/office/drawing/2014/main" id="{7C660D1B-1656-AB84-8E15-3B7E81DA7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353" y="942579"/>
            <a:ext cx="4741624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5B7555-D789-58A7-3E87-AE9F70734026}"/>
              </a:ext>
            </a:extLst>
          </p:cNvPr>
          <p:cNvSpPr txBox="1"/>
          <p:nvPr/>
        </p:nvSpPr>
        <p:spPr>
          <a:xfrm>
            <a:off x="195942" y="942579"/>
            <a:ext cx="566170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of ion implantation processes and their simulations </a:t>
            </a:r>
            <a:r>
              <a:rPr lang="en-US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Process flow for ion implantations.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Preparation of SOI wafer. ii, Formation of a lightly doped 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-well for NMOS. iii, Formation of a heavily doped 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baseline="30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regions for the source/drain contacts in PMOS and for the base region in BJT. iv, Formation of a heavily doped 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baseline="300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regions for source/drain contacts in NMOS and emitter/collector regions in BJT. Note that a patterned screen oxide was covering “the emitter region” (step iii) or “the emitter and the collector regions” (step iv) of BJT in order to reduce the implantation depth. </a:t>
            </a:r>
            <a:r>
              <a:rPr lang="en-US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Simulated doping profiles for each type of device formed on the same layer. The simulated ion implantation values (dose and energy) were used to fabricate the actual doped Si NM. </a:t>
            </a:r>
            <a:r>
              <a:rPr lang="en-US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Plots of doping profiles in each of the corresponding regions. (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NMOS (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 source/drain regions, p-well and the net doping), (ii) PMOS (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 source/drain regions and substrate), (iii) NPN BJT (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 emitter, 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 base, </a:t>
            </a:r>
            <a:r>
              <a:rPr lang="en-US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-collector and the net doping)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1.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oxide layer formed in the MOSFET is: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oxide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dioxide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 Silicon oxide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Oxides of Nonmetals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drain current is varied by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455814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to source voltage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current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Voltage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 of the mentioned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Mos Transistors are required in CMOS Inverter.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the condition for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 in saturation region.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figure of merits of MOS transistors. 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drain current characteristics of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Sung-Mo Kong, Yusuf </a:t>
            </a:r>
            <a:r>
              <a:rPr lang="en-US" dirty="0" err="1"/>
              <a:t>Leblebici</a:t>
            </a:r>
            <a:r>
              <a:rPr lang="en-US" dirty="0"/>
              <a:t>, “CMOS Digital Integrated Circuits Analysis and Design” Third Edition.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  <a:r>
              <a:rPr lang="en-US" dirty="0" err="1"/>
              <a:t>Debaprasad</a:t>
            </a:r>
            <a:r>
              <a:rPr lang="en-US" dirty="0"/>
              <a:t> Das, “CMOS DESIGN” Second Edition.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</TotalTime>
  <Words>1194</Words>
  <Application>Microsoft Office PowerPoint</Application>
  <PresentationFormat>Widescreen</PresentationFormat>
  <Paragraphs>170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Bell MT</vt:lpstr>
      <vt:lpstr>Calibri</vt:lpstr>
      <vt:lpstr>Calibri Light</vt:lpstr>
      <vt:lpstr>Helvetica-Bold</vt:lpstr>
      <vt:lpstr>Poppins</vt:lpstr>
      <vt:lpstr>Times New Roman</vt:lpstr>
      <vt:lpstr>Times-Bold</vt:lpstr>
      <vt:lpstr>Times-BoldItalic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Electrical Properties of MOS and Bi CMOS circuits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Dr.Ashish Kumar</cp:lastModifiedBy>
  <cp:revision>56</cp:revision>
  <dcterms:created xsi:type="dcterms:W3CDTF">2020-02-08T09:57:44Z</dcterms:created>
  <dcterms:modified xsi:type="dcterms:W3CDTF">2022-11-17T08:47:48Z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