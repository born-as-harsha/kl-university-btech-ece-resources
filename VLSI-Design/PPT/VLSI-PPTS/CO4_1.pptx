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21"/>
  </p:notesMasterIdLst>
  <p:sldIdLst>
    <p:sldId id="271" r:id="rId5"/>
    <p:sldId id="300" r:id="rId6"/>
    <p:sldId id="258" r:id="rId7"/>
    <p:sldId id="305" r:id="rId8"/>
    <p:sldId id="306" r:id="rId9"/>
    <p:sldId id="307" r:id="rId10"/>
    <p:sldId id="308" r:id="rId11"/>
    <p:sldId id="309" r:id="rId12"/>
    <p:sldId id="310" r:id="rId13"/>
    <p:sldId id="311" r:id="rId14"/>
    <p:sldId id="312" r:id="rId15"/>
    <p:sldId id="287" r:id="rId16"/>
    <p:sldId id="301" r:id="rId17"/>
    <p:sldId id="302" r:id="rId18"/>
    <p:sldId id="303" r:id="rId19"/>
    <p:sldId id="304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9900"/>
    <a:srgbClr val="E84845"/>
    <a:srgbClr val="FAD2D2"/>
    <a:srgbClr val="F89E4C"/>
    <a:srgbClr val="A81E24"/>
    <a:srgbClr val="FFF2CC"/>
    <a:srgbClr val="CF2F33"/>
    <a:srgbClr val="BA2532"/>
    <a:srgbClr val="E3293B"/>
    <a:srgbClr val="FFFCF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0"/>
    <p:restoredTop sz="94689"/>
  </p:normalViewPr>
  <p:slideViewPr>
    <p:cSldViewPr snapToGrid="0">
      <p:cViewPr varScale="1">
        <p:scale>
          <a:sx n="78" d="100"/>
          <a:sy n="78" d="100"/>
        </p:scale>
        <p:origin x="850" y="77"/>
      </p:cViewPr>
      <p:guideLst>
        <p:guide orient="horz" pos="2160"/>
        <p:guide pos="3840"/>
      </p:guideLst>
    </p:cSldViewPr>
  </p:slideViewPr>
  <p:notesTextViewPr>
    <p:cViewPr>
      <p:scale>
        <a:sx n="400" d="100"/>
        <a:sy n="4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ADD66ED-011C-444B-AF08-9B316B070C56}" type="datetimeFigureOut">
              <a:rPr lang="en-US" smtClean="0"/>
              <a:pPr/>
              <a:t>12/2/2022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4E4ADD7-897F-4F47-A317-DE24AB827DD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66589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p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2" name="Google Shape;462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42443036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E4ADD7-897F-4F47-A317-DE24AB827DD3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843521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E4ADD7-897F-4F47-A317-DE24AB827DD3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755879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E4ADD7-897F-4F47-A317-DE24AB827DD3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709954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E4ADD7-897F-4F47-A317-DE24AB827DD3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116945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E4ADD7-897F-4F47-A317-DE24AB827DD3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697640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E4ADD7-897F-4F47-A317-DE24AB827DD3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018907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E4ADD7-897F-4F47-A317-DE24AB827DD3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845241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E4ADD7-897F-4F47-A317-DE24AB827DD3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240044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E4ADD7-897F-4F47-A317-DE24AB827DD3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263238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E934FF-F4E1-47C5-9CA5-30A81DDE2BE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12/2/2022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3561BA9-CDCF-4958-B8AB-66F3BF063E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741656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E934FF-F4E1-47C5-9CA5-30A81DDE2BE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12/2/2022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3561BA9-CDCF-4958-B8AB-66F3BF063E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312422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E934FF-F4E1-47C5-9CA5-30A81DDE2BE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12/2/2022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3561BA9-CDCF-4958-B8AB-66F3BF063E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789190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E934FF-F4E1-47C5-9CA5-30A81DDE2BE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12/2/2022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3561BA9-CDCF-4958-B8AB-66F3BF063E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42919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E934FF-F4E1-47C5-9CA5-30A81DDE2BE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12/2/2022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3561BA9-CDCF-4958-B8AB-66F3BF063E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339771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E934FF-F4E1-47C5-9CA5-30A81DDE2BE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12/2/2022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3561BA9-CDCF-4958-B8AB-66F3BF063E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024589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E934FF-F4E1-47C5-9CA5-30A81DDE2BE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12/2/2022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3561BA9-CDCF-4958-B8AB-66F3BF063E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399709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E934FF-F4E1-47C5-9CA5-30A81DDE2BE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12/2/2022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3561BA9-CDCF-4958-B8AB-66F3BF063E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38835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E934FF-F4E1-47C5-9CA5-30A81DDE2BE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12/2/2022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3561BA9-CDCF-4958-B8AB-66F3BF063E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365154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/>
          </p:nvPr>
        </p:nvSpPr>
        <p:spPr>
          <a:xfrm>
            <a:off x="838200" y="365125"/>
            <a:ext cx="10515600" cy="58118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E934FF-F4E1-47C5-9CA5-30A81DDE2BE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12/2/2022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3561BA9-CDCF-4958-B8AB-66F3BF063E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176286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>
  <p:cSld name="1_Title and Content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47"/>
          <p:cNvSpPr>
            <a:spLocks noGrp="1"/>
          </p:cNvSpPr>
          <p:nvPr>
            <p:ph type="pic" idx="2"/>
          </p:nvPr>
        </p:nvSpPr>
        <p:spPr>
          <a:xfrm>
            <a:off x="0" y="0"/>
            <a:ext cx="5467350" cy="59879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3789292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20000"/>
            <a:lumOff val="80000"/>
            <a:alpha val="20747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Background pattern&#10;&#10;Description automatically generated">
            <a:extLst>
              <a:ext uri="{FF2B5EF4-FFF2-40B4-BE49-F238E27FC236}">
                <a16:creationId xmlns:a16="http://schemas.microsoft.com/office/drawing/2014/main" id="{2F4508AD-1BA8-6D49-AD89-BB8C58C99DDF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003452" cy="3003452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ACAD2B12-09F5-6D4A-9C1D-AFF6A38F62BF}"/>
              </a:ext>
            </a:extLst>
          </p:cNvPr>
          <p:cNvSpPr/>
          <p:nvPr userDrawn="1"/>
        </p:nvSpPr>
        <p:spPr>
          <a:xfrm>
            <a:off x="0" y="6812281"/>
            <a:ext cx="12192000" cy="45719"/>
          </a:xfrm>
          <a:prstGeom prst="rect">
            <a:avLst/>
          </a:prstGeom>
          <a:solidFill>
            <a:srgbClr val="BA253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072F43C-0ACD-CF48-BDDC-4CA06CD195D7}"/>
              </a:ext>
            </a:extLst>
          </p:cNvPr>
          <p:cNvSpPr/>
          <p:nvPr userDrawn="1"/>
        </p:nvSpPr>
        <p:spPr>
          <a:xfrm>
            <a:off x="0" y="0"/>
            <a:ext cx="12192000" cy="45719"/>
          </a:xfrm>
          <a:prstGeom prst="rect">
            <a:avLst/>
          </a:prstGeom>
          <a:solidFill>
            <a:srgbClr val="BA253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4" name="Picture 13" descr="Background pattern&#10;&#10;Description automatically generated">
            <a:extLst>
              <a:ext uri="{FF2B5EF4-FFF2-40B4-BE49-F238E27FC236}">
                <a16:creationId xmlns:a16="http://schemas.microsoft.com/office/drawing/2014/main" id="{D4A3453C-FFE4-E949-B42B-748B5090DD3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4">
            <a:clrChange>
              <a:clrFrom>
                <a:srgbClr val="F6F6F6"/>
              </a:clrFrom>
              <a:clrTo>
                <a:srgbClr val="F6F6F6">
                  <a:alpha val="0"/>
                </a:srgbClr>
              </a:clrTo>
            </a:clrChange>
            <a:duotone>
              <a:schemeClr val="bg2">
                <a:shade val="45000"/>
                <a:satMod val="135000"/>
              </a:schemeClr>
              <a:prstClr val="white"/>
            </a:duotone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6721" b="8103"/>
          <a:stretch/>
        </p:blipFill>
        <p:spPr>
          <a:xfrm>
            <a:off x="8376334" y="4104641"/>
            <a:ext cx="3815666" cy="270764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1A8F9C9-F65C-BB4A-BF8E-4636F166836D}"/>
              </a:ext>
            </a:extLst>
          </p:cNvPr>
          <p:cNvSpPr txBox="1"/>
          <p:nvPr userDrawn="1"/>
        </p:nvSpPr>
        <p:spPr>
          <a:xfrm>
            <a:off x="1" y="6602979"/>
            <a:ext cx="213206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>
                <a:solidFill>
                  <a:schemeClr val="bg1">
                    <a:lumMod val="95000"/>
                  </a:schemeClr>
                </a:solidFill>
              </a:rPr>
              <a:t>CREATED BY K. VICTOR BABU</a:t>
            </a:r>
          </a:p>
        </p:txBody>
      </p:sp>
    </p:spTree>
    <p:extLst>
      <p:ext uri="{BB962C8B-B14F-4D97-AF65-F5344CB8AC3E}">
        <p14:creationId xmlns:p14="http://schemas.microsoft.com/office/powerpoint/2010/main" val="6268412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image" Target="../media/image6.svg"/><Relationship Id="rId7" Type="http://schemas.openxmlformats.org/officeDocument/2006/relationships/image" Target="../media/image10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9.png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://bwrcs.eecs.berkeley.edu/Classes/icdesign/ee141_f01/Notes/chapter5.pdf" TargetMode="External"/><Relationship Id="rId2" Type="http://schemas.openxmlformats.org/officeDocument/2006/relationships/hyperlink" Target="https://www.egr.msu.edu/classes/ece410/mason/files/Ch7.pdf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398423B-5803-30F8-31C4-BF716BD7197E}"/>
              </a:ext>
            </a:extLst>
          </p:cNvPr>
          <p:cNvSpPr/>
          <p:nvPr/>
        </p:nvSpPr>
        <p:spPr>
          <a:xfrm>
            <a:off x="-68541" y="0"/>
            <a:ext cx="12192000" cy="68580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64" name="Google Shape;464;p16"/>
          <p:cNvPicPr preferRelativeResize="0"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65540"/>
            <a:ext cx="6027459" cy="6623931"/>
          </a:xfrm>
          <a:prstGeom prst="rect">
            <a:avLst/>
          </a:prstGeom>
          <a:noFill/>
          <a:ln>
            <a:noFill/>
          </a:ln>
        </p:spPr>
      </p:pic>
      <p:sp>
        <p:nvSpPr>
          <p:cNvPr id="476" name="Google Shape;476;p16"/>
          <p:cNvSpPr txBox="1"/>
          <p:nvPr/>
        </p:nvSpPr>
        <p:spPr>
          <a:xfrm>
            <a:off x="5394455" y="1962904"/>
            <a:ext cx="6902548" cy="21236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cap="all" dirty="0">
                <a:ln/>
                <a:solidFill>
                  <a:srgbClr val="C00000"/>
                </a:solidFill>
                <a:cs typeface="Poppins" panose="00000500000000000000" pitchFamily="2" charset="0"/>
                <a:sym typeface="BioRhyme ExtraBold"/>
              </a:rPr>
              <a:t>VLSI DESIGN</a:t>
            </a:r>
          </a:p>
          <a:p>
            <a:pPr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cap="all" dirty="0">
                <a:ln/>
                <a:solidFill>
                  <a:srgbClr val="C00000"/>
                </a:solidFill>
                <a:cs typeface="Poppins" panose="00000500000000000000" pitchFamily="2" charset="0"/>
                <a:sym typeface="BioRhyme ExtraBold"/>
              </a:rPr>
              <a:t>21EC2211</a:t>
            </a:r>
            <a:endParaRPr lang="en-US" sz="2000" b="1" dirty="0">
              <a:solidFill>
                <a:schemeClr val="bg1">
                  <a:lumMod val="50000"/>
                </a:schemeClr>
              </a:solidFill>
              <a:ea typeface="BioRhyme ExtraBold"/>
              <a:cs typeface="Poppins" panose="00000500000000000000" pitchFamily="2" charset="0"/>
              <a:sym typeface="BioRhyme ExtraBold"/>
            </a:endParaRPr>
          </a:p>
          <a:p>
            <a:pPr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dirty="0">
                <a:solidFill>
                  <a:schemeClr val="bg1">
                    <a:lumMod val="50000"/>
                  </a:schemeClr>
                </a:solidFill>
                <a:ea typeface="BioRhyme ExtraBold"/>
                <a:cs typeface="Poppins" panose="00000500000000000000" pitchFamily="2" charset="0"/>
                <a:sym typeface="BioRhyme ExtraBold"/>
              </a:rPr>
              <a:t>Topic: </a:t>
            </a:r>
          </a:p>
          <a:p>
            <a:pPr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>
                <a:solidFill>
                  <a:srgbClr val="C00000"/>
                </a:solidFill>
              </a:rPr>
              <a:t>Sheet Resistance RS, Area Capacitance and Delay calculations.</a:t>
            </a:r>
            <a:endParaRPr lang="en-IN" sz="2400" b="1" dirty="0">
              <a:solidFill>
                <a:srgbClr val="C00000"/>
              </a:solidFill>
            </a:endParaRP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B9F0C376-F4D3-1950-3474-EFF28411BDC6}"/>
              </a:ext>
            </a:extLst>
          </p:cNvPr>
          <p:cNvSpPr/>
          <p:nvPr/>
        </p:nvSpPr>
        <p:spPr>
          <a:xfrm>
            <a:off x="6233250" y="925390"/>
            <a:ext cx="4486331" cy="574765"/>
          </a:xfrm>
          <a:prstGeom prst="roundRect">
            <a:avLst/>
          </a:prstGeom>
          <a:solidFill>
            <a:schemeClr val="bg1">
              <a:alpha val="6000"/>
            </a:schemeClr>
          </a:solidFill>
          <a:ln>
            <a:solidFill>
              <a:srgbClr val="C00000"/>
            </a:solidFill>
          </a:ln>
          <a:effectLst>
            <a:innerShdw blurRad="114300">
              <a:schemeClr val="bg1">
                <a:lumMod val="85000"/>
              </a:scheme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5" name="Google Shape;475;p16"/>
          <p:cNvSpPr txBox="1"/>
          <p:nvPr/>
        </p:nvSpPr>
        <p:spPr>
          <a:xfrm>
            <a:off x="6095999" y="830715"/>
            <a:ext cx="4595447" cy="707846"/>
          </a:xfrm>
          <a:prstGeom prst="rect">
            <a:avLst/>
          </a:prstGeom>
          <a:noFill/>
          <a:ln>
            <a:noFill/>
          </a:ln>
          <a:effectLst/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ctr"/>
            <a:r>
              <a:rPr lang="en-US" sz="4000" dirty="0">
                <a:solidFill>
                  <a:srgbClr val="C00000"/>
                </a:solidFill>
                <a:cs typeface="Poppins" pitchFamily="2" charset="77"/>
              </a:rPr>
              <a:t>Department of ECE</a:t>
            </a:r>
          </a:p>
        </p:txBody>
      </p:sp>
      <p:sp>
        <p:nvSpPr>
          <p:cNvPr id="8" name="Google Shape;502;p17">
            <a:extLst>
              <a:ext uri="{FF2B5EF4-FFF2-40B4-BE49-F238E27FC236}">
                <a16:creationId xmlns:a16="http://schemas.microsoft.com/office/drawing/2014/main" id="{7153E61F-4441-DBE3-3DFF-6E9EF6C48D23}"/>
              </a:ext>
            </a:extLst>
          </p:cNvPr>
          <p:cNvSpPr/>
          <p:nvPr/>
        </p:nvSpPr>
        <p:spPr>
          <a:xfrm>
            <a:off x="7728171" y="4362256"/>
            <a:ext cx="2235116" cy="453054"/>
          </a:xfrm>
          <a:prstGeom prst="roundRect">
            <a:avLst>
              <a:gd name="adj" fmla="val 35613"/>
            </a:avLst>
          </a:prstGeom>
          <a:solidFill>
            <a:srgbClr val="C00000"/>
          </a:solidFill>
          <a:ln>
            <a:noFill/>
          </a:ln>
          <a:effectLst>
            <a:outerShdw blurRad="190500" sx="102000" sy="102000" algn="ctr" rotWithShape="0">
              <a:srgbClr val="000000">
                <a:alpha val="24705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>
                <a:solidFill>
                  <a:schemeClr val="lt1"/>
                </a:solidFill>
                <a:ea typeface="Calibri"/>
                <a:cs typeface="Poppins" panose="00000500000000000000" pitchFamily="2" charset="0"/>
                <a:sym typeface="Calibri"/>
              </a:rPr>
              <a:t>Session – 1&amp;2</a:t>
            </a:r>
            <a:endParaRPr sz="2400" dirty="0">
              <a:solidFill>
                <a:schemeClr val="lt1"/>
              </a:solidFill>
              <a:ea typeface="Calibri"/>
              <a:cs typeface="Poppins" panose="00000500000000000000" pitchFamily="2" charset="0"/>
              <a:sym typeface="Calibri"/>
            </a:endParaRP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A2BDCC77-0491-FC57-401C-380586D8ED1D}"/>
              </a:ext>
            </a:extLst>
          </p:cNvPr>
          <p:cNvSpPr/>
          <p:nvPr/>
        </p:nvSpPr>
        <p:spPr>
          <a:xfrm>
            <a:off x="0" y="6812281"/>
            <a:ext cx="12192000" cy="45719"/>
          </a:xfrm>
          <a:prstGeom prst="rect">
            <a:avLst/>
          </a:prstGeom>
          <a:solidFill>
            <a:srgbClr val="BA253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38D9C68F-2EE2-5410-B640-4F43BF92A6C1}"/>
              </a:ext>
            </a:extLst>
          </p:cNvPr>
          <p:cNvSpPr/>
          <p:nvPr/>
        </p:nvSpPr>
        <p:spPr>
          <a:xfrm>
            <a:off x="0" y="0"/>
            <a:ext cx="12192000" cy="45719"/>
          </a:xfrm>
          <a:prstGeom prst="rect">
            <a:avLst/>
          </a:prstGeom>
          <a:solidFill>
            <a:srgbClr val="BA253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7" name="Picture 2" descr="KL Deemed to be University Logo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222703" y="81945"/>
            <a:ext cx="2509863" cy="1061599"/>
          </a:xfrm>
          <a:prstGeom prst="rect">
            <a:avLst/>
          </a:prstGeom>
          <a:noFill/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17">
            <a:extLst>
              <a:ext uri="{FF2B5EF4-FFF2-40B4-BE49-F238E27FC236}">
                <a16:creationId xmlns:a16="http://schemas.microsoft.com/office/drawing/2014/main" id="{D530E72E-233E-E443-1A84-D3CD02ECB889}"/>
              </a:ext>
            </a:extLst>
          </p:cNvPr>
          <p:cNvSpPr/>
          <p:nvPr/>
        </p:nvSpPr>
        <p:spPr>
          <a:xfrm>
            <a:off x="4471372" y="84408"/>
            <a:ext cx="3011576" cy="390698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AIM OF THE SESSION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7C61438-200D-827A-D4DD-5B5127AFA187}"/>
              </a:ext>
            </a:extLst>
          </p:cNvPr>
          <p:cNvSpPr txBox="1"/>
          <p:nvPr/>
        </p:nvSpPr>
        <p:spPr>
          <a:xfrm>
            <a:off x="1828800" y="496025"/>
            <a:ext cx="9458633" cy="426784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5000"/>
                  <a:lumOff val="95000"/>
                  <a:alpha val="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 cap="rnd">
            <a:solidFill>
              <a:schemeClr val="accent1">
                <a:lumMod val="20000"/>
                <a:lumOff val="80000"/>
              </a:schemeClr>
            </a:solidFill>
            <a:round/>
          </a:ln>
          <a:effectLst>
            <a:outerShdw blurRad="50800" dist="38100" algn="l" rotWithShape="0">
              <a:schemeClr val="accent1">
                <a:lumMod val="40000"/>
                <a:lumOff val="60000"/>
                <a:alpha val="0"/>
              </a:schemeClr>
            </a:outerShdw>
          </a:effectLst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600" b="0" i="0" dirty="0">
                <a:effectLst/>
                <a:latin typeface="Poppins"/>
                <a:cs typeface="Poppins"/>
              </a:rPr>
              <a:t>To familiarize students with combinational and sequential circuits.</a:t>
            </a:r>
          </a:p>
        </p:txBody>
      </p:sp>
      <p:sp>
        <p:nvSpPr>
          <p:cNvPr id="7" name="Rounded Rectangle 17">
            <a:extLst>
              <a:ext uri="{FF2B5EF4-FFF2-40B4-BE49-F238E27FC236}">
                <a16:creationId xmlns:a16="http://schemas.microsoft.com/office/drawing/2014/main" id="{7F3AABB0-F8BA-C900-B6BF-45F4B58E9490}"/>
              </a:ext>
            </a:extLst>
          </p:cNvPr>
          <p:cNvSpPr/>
          <p:nvPr/>
        </p:nvSpPr>
        <p:spPr>
          <a:xfrm>
            <a:off x="4169560" y="984642"/>
            <a:ext cx="3870831" cy="390698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INSTRUCTIONAL OBJECTIVES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B5EAD4E-C007-9DE7-A40A-12802D3C9611}"/>
              </a:ext>
            </a:extLst>
          </p:cNvPr>
          <p:cNvSpPr txBox="1"/>
          <p:nvPr/>
        </p:nvSpPr>
        <p:spPr>
          <a:xfrm>
            <a:off x="1752600" y="1346013"/>
            <a:ext cx="10301748" cy="2488117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5000"/>
                  <a:lumOff val="9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accent1">
                <a:lumMod val="20000"/>
                <a:lumOff val="80000"/>
              </a:schemeClr>
            </a:solidFill>
          </a:ln>
          <a:effectLst>
            <a:outerShdw blurRad="50800" dist="38100" algn="l" rotWithShape="0">
              <a:schemeClr val="accent1">
                <a:lumMod val="40000"/>
                <a:lumOff val="60000"/>
                <a:alpha val="40000"/>
              </a:schemeClr>
            </a:outerShdw>
          </a:effectLst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200000"/>
              </a:lnSpc>
            </a:pPr>
            <a:r>
              <a:rPr lang="en-US" sz="1600" dirty="0">
                <a:latin typeface="Poppins"/>
                <a:cs typeface="Poppins"/>
              </a:rPr>
              <a:t>This</a:t>
            </a:r>
            <a:r>
              <a:rPr lang="en-US" sz="1600" b="0" i="0" dirty="0">
                <a:effectLst/>
                <a:latin typeface="Poppins"/>
                <a:cs typeface="Poppins"/>
              </a:rPr>
              <a:t> </a:t>
            </a:r>
            <a:r>
              <a:rPr lang="en-US" sz="1600" dirty="0">
                <a:latin typeface="Poppins"/>
                <a:cs typeface="Poppins"/>
              </a:rPr>
              <a:t>Session</a:t>
            </a:r>
            <a:r>
              <a:rPr lang="en-US" sz="1600" b="0" i="0" dirty="0">
                <a:effectLst/>
                <a:latin typeface="Poppins"/>
                <a:cs typeface="Poppins"/>
              </a:rPr>
              <a:t> is designed to:</a:t>
            </a:r>
          </a:p>
          <a:p>
            <a:pPr>
              <a:lnSpc>
                <a:spcPct val="200000"/>
              </a:lnSpc>
            </a:pPr>
            <a:r>
              <a:rPr lang="en-US" sz="1600" dirty="0"/>
              <a:t>1.Discuss about the logics implemented in gate level design and explain the switch logic implementation for a four way multiplexer. </a:t>
            </a:r>
          </a:p>
          <a:p>
            <a:pPr>
              <a:lnSpc>
                <a:spcPct val="200000"/>
              </a:lnSpc>
            </a:pPr>
            <a:r>
              <a:rPr lang="en-US" sz="1600" dirty="0"/>
              <a:t>2.Describe about the methods for driving large capacitive loads. </a:t>
            </a:r>
          </a:p>
          <a:p>
            <a:pPr>
              <a:lnSpc>
                <a:spcPct val="200000"/>
              </a:lnSpc>
            </a:pPr>
            <a:r>
              <a:rPr lang="en-US" sz="1600" dirty="0"/>
              <a:t>3.Describe about the choice of fan – in and fan – out selection in gate level design. </a:t>
            </a:r>
            <a:endParaRPr lang="en-US" sz="1600" b="0" i="0" dirty="0">
              <a:effectLst/>
              <a:latin typeface="Poppins"/>
              <a:cs typeface="Poppins"/>
            </a:endParaRPr>
          </a:p>
        </p:txBody>
      </p:sp>
      <p:pic>
        <p:nvPicPr>
          <p:cNvPr id="11" name="Graphic 10" descr="Bullseye outline">
            <a:extLst>
              <a:ext uri="{FF2B5EF4-FFF2-40B4-BE49-F238E27FC236}">
                <a16:creationId xmlns:a16="http://schemas.microsoft.com/office/drawing/2014/main" id="{AB75B03E-9C0C-0AF7-2A76-D8618F8F999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625326"/>
            <a:ext cx="914400" cy="914400"/>
          </a:xfrm>
          <a:prstGeom prst="rect">
            <a:avLst/>
          </a:prstGeom>
        </p:spPr>
      </p:pic>
      <p:pic>
        <p:nvPicPr>
          <p:cNvPr id="27" name="Graphic 26" descr="Presentation with checklist outline">
            <a:extLst>
              <a:ext uri="{FF2B5EF4-FFF2-40B4-BE49-F238E27FC236}">
                <a16:creationId xmlns:a16="http://schemas.microsoft.com/office/drawing/2014/main" id="{1E9F25CA-EF99-00B6-5FFA-810D1F1806C7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38200" y="2438605"/>
            <a:ext cx="914400" cy="914400"/>
          </a:xfrm>
          <a:prstGeom prst="rect">
            <a:avLst/>
          </a:prstGeom>
        </p:spPr>
      </p:pic>
      <p:sp>
        <p:nvSpPr>
          <p:cNvPr id="29" name="Rounded Rectangle 17">
            <a:extLst>
              <a:ext uri="{FF2B5EF4-FFF2-40B4-BE49-F238E27FC236}">
                <a16:creationId xmlns:a16="http://schemas.microsoft.com/office/drawing/2014/main" id="{6652A33D-9A9E-3EAC-0CAE-113901ECA179}"/>
              </a:ext>
            </a:extLst>
          </p:cNvPr>
          <p:cNvSpPr/>
          <p:nvPr/>
        </p:nvSpPr>
        <p:spPr>
          <a:xfrm>
            <a:off x="4169560" y="3804803"/>
            <a:ext cx="3870831" cy="390698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LEARNING OUTCOMES</a:t>
            </a:r>
          </a:p>
        </p:txBody>
      </p:sp>
      <p:pic>
        <p:nvPicPr>
          <p:cNvPr id="31" name="Graphic 30" descr="Idea outline">
            <a:extLst>
              <a:ext uri="{FF2B5EF4-FFF2-40B4-BE49-F238E27FC236}">
                <a16:creationId xmlns:a16="http://schemas.microsoft.com/office/drawing/2014/main" id="{5F765FC3-60CF-297F-C1BD-F5A7B8B943AF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14400" y="4765771"/>
            <a:ext cx="914400" cy="914400"/>
          </a:xfrm>
          <a:prstGeom prst="rect">
            <a:avLst/>
          </a:prstGeom>
        </p:spPr>
      </p:pic>
      <p:sp>
        <p:nvSpPr>
          <p:cNvPr id="37" name="TextBox 36">
            <a:extLst>
              <a:ext uri="{FF2B5EF4-FFF2-40B4-BE49-F238E27FC236}">
                <a16:creationId xmlns:a16="http://schemas.microsoft.com/office/drawing/2014/main" id="{B0BB8E68-8B73-12DE-615E-1091F19A9A9A}"/>
              </a:ext>
            </a:extLst>
          </p:cNvPr>
          <p:cNvSpPr txBox="1"/>
          <p:nvPr/>
        </p:nvSpPr>
        <p:spPr>
          <a:xfrm>
            <a:off x="1752600" y="4195501"/>
            <a:ext cx="10301748" cy="2488117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5000"/>
                  <a:lumOff val="9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accent1">
                <a:lumMod val="20000"/>
                <a:lumOff val="80000"/>
              </a:schemeClr>
            </a:solidFill>
          </a:ln>
          <a:effectLst>
            <a:outerShdw blurRad="50800" dist="38100" algn="l" rotWithShape="0">
              <a:schemeClr val="accent1">
                <a:lumMod val="40000"/>
                <a:lumOff val="60000"/>
                <a:alpha val="40000"/>
              </a:schemeClr>
            </a:outerShdw>
          </a:effectLst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200000"/>
              </a:lnSpc>
            </a:pPr>
            <a:r>
              <a:rPr lang="en-US" sz="1600" b="0" i="0" dirty="0">
                <a:effectLst/>
                <a:latin typeface="Arial"/>
                <a:cs typeface="Arial"/>
              </a:rPr>
              <a:t>At the end of this </a:t>
            </a:r>
            <a:r>
              <a:rPr lang="en-US" sz="1600" dirty="0">
                <a:latin typeface="Arial"/>
                <a:cs typeface="Arial"/>
              </a:rPr>
              <a:t>session</a:t>
            </a:r>
            <a:r>
              <a:rPr lang="en-US" sz="1600" b="0" i="0" dirty="0">
                <a:effectLst/>
                <a:latin typeface="Arial"/>
                <a:cs typeface="Arial"/>
              </a:rPr>
              <a:t>, you should be able to:</a:t>
            </a:r>
          </a:p>
          <a:p>
            <a:pPr>
              <a:lnSpc>
                <a:spcPct val="200000"/>
              </a:lnSpc>
            </a:pPr>
            <a:r>
              <a:rPr lang="en-US" sz="1600" dirty="0"/>
              <a:t>1.Discuss about the logics implemented in gate level design and explain the switch logic implementation for a four way multiplexer. </a:t>
            </a:r>
          </a:p>
          <a:p>
            <a:pPr>
              <a:lnSpc>
                <a:spcPct val="200000"/>
              </a:lnSpc>
            </a:pPr>
            <a:r>
              <a:rPr lang="en-US" sz="1600" dirty="0"/>
              <a:t>2.Describe about the methods for driving large capacitive loads. </a:t>
            </a:r>
          </a:p>
          <a:p>
            <a:pPr>
              <a:lnSpc>
                <a:spcPct val="200000"/>
              </a:lnSpc>
            </a:pPr>
            <a:r>
              <a:rPr lang="en-US" sz="1600" dirty="0"/>
              <a:t>3.Describe about the choice of fan – in and fan – out selection in gate level design. </a:t>
            </a:r>
            <a:endParaRPr lang="en-US" sz="1600" dirty="0">
              <a:latin typeface="Poppins"/>
              <a:cs typeface="Poppins"/>
            </a:endParaRPr>
          </a:p>
        </p:txBody>
      </p:sp>
      <p:pic>
        <p:nvPicPr>
          <p:cNvPr id="12" name="Picture 2" descr="KL Deemed to be University Logo"/>
          <p:cNvPicPr>
            <a:picLocks noChangeAspect="1" noChangeArrowheads="1"/>
          </p:cNvPicPr>
          <p:nvPr/>
        </p:nvPicPr>
        <p:blipFill>
          <a:blip r:embed="rId8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38860798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7" grpId="0" animBg="1"/>
      <p:bldP spid="9" grpId="0" animBg="1"/>
      <p:bldP spid="29" grpId="0" animBg="1"/>
      <p:bldP spid="37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ounded Rectangle 17">
            <a:extLst>
              <a:ext uri="{FF2B5EF4-FFF2-40B4-BE49-F238E27FC236}">
                <a16:creationId xmlns:a16="http://schemas.microsoft.com/office/drawing/2014/main" id="{9EB8A4A0-26E8-41C7-BE65-3B55B361B40D}"/>
              </a:ext>
            </a:extLst>
          </p:cNvPr>
          <p:cNvSpPr/>
          <p:nvPr/>
        </p:nvSpPr>
        <p:spPr>
          <a:xfrm>
            <a:off x="3263704" y="84673"/>
            <a:ext cx="6639951" cy="478035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SESSION INTRODUCTION </a:t>
            </a:r>
          </a:p>
        </p:txBody>
      </p:sp>
      <p:pic>
        <p:nvPicPr>
          <p:cNvPr id="42" name="Picture 2" descr="KL Deemed to be University Logo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6C1B6A5-70CD-5A17-35ED-D249248CA446}"/>
              </a:ext>
            </a:extLst>
          </p:cNvPr>
          <p:cNvSpPr txBox="1"/>
          <p:nvPr/>
        </p:nvSpPr>
        <p:spPr>
          <a:xfrm>
            <a:off x="334297" y="945813"/>
            <a:ext cx="4345858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dirty="0"/>
              <a:t>Sheet Resistance Rs and its concepts to MOS The sheet resistance is a measure of resistance of thin films that have a uniform thickness. It is commonly used to characterize materials made by semiconductor doping, metal deposition, resistive paste printing, and glass coating. Example of these processes are: doped semiconductor regions (</a:t>
            </a:r>
            <a:r>
              <a:rPr lang="en-US" dirty="0" err="1"/>
              <a:t>eg</a:t>
            </a:r>
            <a:r>
              <a:rPr lang="en-US" dirty="0"/>
              <a:t>: silicon or polysilicon) and resistors.</a:t>
            </a:r>
            <a:endParaRPr lang="en-IN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228B925-2CF9-5AEC-F5E5-B119F876682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68645" y="945813"/>
            <a:ext cx="7089058" cy="574078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87062ED8-A895-9B98-3EED-4FA67C56570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4297" y="4045125"/>
            <a:ext cx="4010788" cy="23261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9052342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ounded Rectangle 17">
            <a:extLst>
              <a:ext uri="{FF2B5EF4-FFF2-40B4-BE49-F238E27FC236}">
                <a16:creationId xmlns:a16="http://schemas.microsoft.com/office/drawing/2014/main" id="{9EB8A4A0-26E8-41C7-BE65-3B55B361B40D}"/>
              </a:ext>
            </a:extLst>
          </p:cNvPr>
          <p:cNvSpPr/>
          <p:nvPr/>
        </p:nvSpPr>
        <p:spPr>
          <a:xfrm>
            <a:off x="3263704" y="84673"/>
            <a:ext cx="6639951" cy="478035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SESSION INTRODUCTION </a:t>
            </a:r>
          </a:p>
        </p:txBody>
      </p:sp>
      <p:pic>
        <p:nvPicPr>
          <p:cNvPr id="42" name="Picture 2" descr="KL Deemed to be University Logo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B3DDC8E6-4807-F901-B327-474214C2BE4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300" y="878271"/>
            <a:ext cx="12055400" cy="5101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2417196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ounded Rectangle 17">
            <a:extLst>
              <a:ext uri="{FF2B5EF4-FFF2-40B4-BE49-F238E27FC236}">
                <a16:creationId xmlns:a16="http://schemas.microsoft.com/office/drawing/2014/main" id="{9EB8A4A0-26E8-41C7-BE65-3B55B361B40D}"/>
              </a:ext>
            </a:extLst>
          </p:cNvPr>
          <p:cNvSpPr/>
          <p:nvPr/>
        </p:nvSpPr>
        <p:spPr>
          <a:xfrm>
            <a:off x="3263704" y="84673"/>
            <a:ext cx="6639951" cy="478035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SESSION INTRODUCTION </a:t>
            </a:r>
          </a:p>
        </p:txBody>
      </p:sp>
      <p:pic>
        <p:nvPicPr>
          <p:cNvPr id="42" name="Picture 2" descr="KL Deemed to be University Logo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CD276AF0-6E26-B6D6-97BD-48585346D39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658" y="1020153"/>
            <a:ext cx="5928852" cy="546913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8EBAF61-3CAC-274C-8305-0975E09BA3B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78100" y="1020153"/>
            <a:ext cx="5194468" cy="53487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1933589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ounded Rectangle 17">
            <a:extLst>
              <a:ext uri="{FF2B5EF4-FFF2-40B4-BE49-F238E27FC236}">
                <a16:creationId xmlns:a16="http://schemas.microsoft.com/office/drawing/2014/main" id="{9EB8A4A0-26E8-41C7-BE65-3B55B361B40D}"/>
              </a:ext>
            </a:extLst>
          </p:cNvPr>
          <p:cNvSpPr/>
          <p:nvPr/>
        </p:nvSpPr>
        <p:spPr>
          <a:xfrm>
            <a:off x="3263704" y="84673"/>
            <a:ext cx="6639951" cy="478035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SESSION INTRODUCTION </a:t>
            </a:r>
          </a:p>
        </p:txBody>
      </p:sp>
      <p:pic>
        <p:nvPicPr>
          <p:cNvPr id="42" name="Picture 2" descr="KL Deemed to be University Logo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EF81242C-13B6-6792-DBED-93C97A6E1CA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63704" y="455610"/>
            <a:ext cx="8923266" cy="6317717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B6E16A0D-554E-EA18-85F1-88317C61A2C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68734" y="323690"/>
            <a:ext cx="8923266" cy="631771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60674A0-DC79-7819-C2AF-666128486BB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095" y="2525568"/>
            <a:ext cx="3160579" cy="10902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1067576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ounded Rectangle 17">
            <a:extLst>
              <a:ext uri="{FF2B5EF4-FFF2-40B4-BE49-F238E27FC236}">
                <a16:creationId xmlns:a16="http://schemas.microsoft.com/office/drawing/2014/main" id="{9EB8A4A0-26E8-41C7-BE65-3B55B361B40D}"/>
              </a:ext>
            </a:extLst>
          </p:cNvPr>
          <p:cNvSpPr/>
          <p:nvPr/>
        </p:nvSpPr>
        <p:spPr>
          <a:xfrm>
            <a:off x="3263704" y="84673"/>
            <a:ext cx="6639951" cy="478035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SESSION INTRODUCTION </a:t>
            </a:r>
          </a:p>
        </p:txBody>
      </p:sp>
      <p:pic>
        <p:nvPicPr>
          <p:cNvPr id="42" name="Picture 2" descr="KL Deemed to be University Logo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33DA0D5D-63B7-7C0B-E38E-22FCEE750E1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774" y="682870"/>
            <a:ext cx="5904736" cy="608312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99B80B8-87A0-78FA-29B3-E394D32F098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84492" y="558754"/>
            <a:ext cx="6007508" cy="316567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EAFD447-C1B3-DD9A-98F0-C7CBD630382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84492" y="3838463"/>
            <a:ext cx="5742037" cy="25918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0772287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ounded Rectangle 17">
            <a:extLst>
              <a:ext uri="{FF2B5EF4-FFF2-40B4-BE49-F238E27FC236}">
                <a16:creationId xmlns:a16="http://schemas.microsoft.com/office/drawing/2014/main" id="{9EB8A4A0-26E8-41C7-BE65-3B55B361B40D}"/>
              </a:ext>
            </a:extLst>
          </p:cNvPr>
          <p:cNvSpPr/>
          <p:nvPr/>
        </p:nvSpPr>
        <p:spPr>
          <a:xfrm>
            <a:off x="3263704" y="84673"/>
            <a:ext cx="6639951" cy="478035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SESSION INTRODUCTION </a:t>
            </a:r>
          </a:p>
        </p:txBody>
      </p:sp>
      <p:pic>
        <p:nvPicPr>
          <p:cNvPr id="42" name="Picture 2" descr="KL Deemed to be University Logo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B9957C2B-BD98-F6EE-7EF7-F0A7D78B60C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0191" y="705013"/>
            <a:ext cx="6247026" cy="585310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273E900-6158-093C-D23D-F23BD2E7657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17110" y="705012"/>
            <a:ext cx="5574890" cy="27952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2514812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ounded Rectangle 17">
            <a:extLst>
              <a:ext uri="{FF2B5EF4-FFF2-40B4-BE49-F238E27FC236}">
                <a16:creationId xmlns:a16="http://schemas.microsoft.com/office/drawing/2014/main" id="{9EB8A4A0-26E8-41C7-BE65-3B55B361B40D}"/>
              </a:ext>
            </a:extLst>
          </p:cNvPr>
          <p:cNvSpPr/>
          <p:nvPr/>
        </p:nvSpPr>
        <p:spPr>
          <a:xfrm>
            <a:off x="3263704" y="84673"/>
            <a:ext cx="6639951" cy="478035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SESSION INTRODUCTION </a:t>
            </a:r>
          </a:p>
        </p:txBody>
      </p:sp>
      <p:pic>
        <p:nvPicPr>
          <p:cNvPr id="42" name="Picture 2" descr="KL Deemed to be University Logo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AF5693E1-53AD-B74C-D748-89549C955CD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690143"/>
            <a:ext cx="6542053" cy="589746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38710C4-283F-45FB-0D7D-54688144CE2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83679" y="690143"/>
            <a:ext cx="5500166" cy="23086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5443916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ounded Rectangle 17">
            <a:extLst>
              <a:ext uri="{FF2B5EF4-FFF2-40B4-BE49-F238E27FC236}">
                <a16:creationId xmlns:a16="http://schemas.microsoft.com/office/drawing/2014/main" id="{9EB8A4A0-26E8-41C7-BE65-3B55B361B40D}"/>
              </a:ext>
            </a:extLst>
          </p:cNvPr>
          <p:cNvSpPr/>
          <p:nvPr/>
        </p:nvSpPr>
        <p:spPr>
          <a:xfrm>
            <a:off x="3263704" y="84673"/>
            <a:ext cx="6639951" cy="478035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SESSION INTRODUCTION </a:t>
            </a:r>
          </a:p>
        </p:txBody>
      </p:sp>
      <p:pic>
        <p:nvPicPr>
          <p:cNvPr id="42" name="Picture 2" descr="KL Deemed to be University Logo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875194E1-CBA4-519E-91F1-E11DE9A363B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7282" y="562708"/>
            <a:ext cx="6696373" cy="59103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306307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ounded Rectangle 17">
            <a:extLst>
              <a:ext uri="{FF2B5EF4-FFF2-40B4-BE49-F238E27FC236}">
                <a16:creationId xmlns:a16="http://schemas.microsoft.com/office/drawing/2014/main" id="{9EB8A4A0-26E8-41C7-BE65-3B55B361B40D}"/>
              </a:ext>
            </a:extLst>
          </p:cNvPr>
          <p:cNvSpPr/>
          <p:nvPr/>
        </p:nvSpPr>
        <p:spPr>
          <a:xfrm>
            <a:off x="3263704" y="84673"/>
            <a:ext cx="6639951" cy="478035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SESSION INTRODUCTION </a:t>
            </a:r>
          </a:p>
        </p:txBody>
      </p:sp>
      <p:pic>
        <p:nvPicPr>
          <p:cNvPr id="42" name="Picture 2" descr="KL Deemed to be University Logo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EA305EEA-6053-2731-0FE4-002D5A598FD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6020" y="676103"/>
            <a:ext cx="6195786" cy="578777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CB7EA39-B0DD-2E52-D63C-AF02FA9BEC3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78950" y="600076"/>
            <a:ext cx="5567030" cy="57877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004851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17">
            <a:extLst>
              <a:ext uri="{FF2B5EF4-FFF2-40B4-BE49-F238E27FC236}">
                <a16:creationId xmlns:a16="http://schemas.microsoft.com/office/drawing/2014/main" id="{01FA19A5-9588-483E-843E-C76873B71790}"/>
              </a:ext>
            </a:extLst>
          </p:cNvPr>
          <p:cNvSpPr/>
          <p:nvPr/>
        </p:nvSpPr>
        <p:spPr>
          <a:xfrm>
            <a:off x="3530991" y="84408"/>
            <a:ext cx="6414867" cy="560109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SUMMARY</a:t>
            </a:r>
          </a:p>
        </p:txBody>
      </p:sp>
      <p:pic>
        <p:nvPicPr>
          <p:cNvPr id="17" name="Picture 2" descr="KL Deemed to be University Logo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  <p:sp>
        <p:nvSpPr>
          <p:cNvPr id="18" name="TextBox 17"/>
          <p:cNvSpPr txBox="1"/>
          <p:nvPr/>
        </p:nvSpPr>
        <p:spPr>
          <a:xfrm>
            <a:off x="1083212" y="1252025"/>
            <a:ext cx="100865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About brief description of sheet resistance, area of capacitance and delay calculation is taken out in this ppt.</a:t>
            </a:r>
          </a:p>
        </p:txBody>
      </p:sp>
    </p:spTree>
    <p:extLst>
      <p:ext uri="{BB962C8B-B14F-4D97-AF65-F5344CB8AC3E}">
        <p14:creationId xmlns:p14="http://schemas.microsoft.com/office/powerpoint/2010/main" val="42549784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17">
            <a:extLst>
              <a:ext uri="{FF2B5EF4-FFF2-40B4-BE49-F238E27FC236}">
                <a16:creationId xmlns:a16="http://schemas.microsoft.com/office/drawing/2014/main" id="{ED7FD29D-BBDE-078E-D487-E57247CDB50D}"/>
              </a:ext>
            </a:extLst>
          </p:cNvPr>
          <p:cNvSpPr/>
          <p:nvPr/>
        </p:nvSpPr>
        <p:spPr>
          <a:xfrm>
            <a:off x="3390636" y="94783"/>
            <a:ext cx="5410728" cy="412293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SELF-ASSESSMENT QUESTIONS</a:t>
            </a:r>
          </a:p>
        </p:txBody>
      </p:sp>
      <p:sp>
        <p:nvSpPr>
          <p:cNvPr id="7" name="Google Shape;502;p17">
            <a:extLst>
              <a:ext uri="{FF2B5EF4-FFF2-40B4-BE49-F238E27FC236}">
                <a16:creationId xmlns:a16="http://schemas.microsoft.com/office/drawing/2014/main" id="{AE3D0AA7-0A5F-7BD6-7BC7-1D38F326B8B4}"/>
              </a:ext>
            </a:extLst>
          </p:cNvPr>
          <p:cNvSpPr/>
          <p:nvPr/>
        </p:nvSpPr>
        <p:spPr>
          <a:xfrm>
            <a:off x="1009895" y="1093156"/>
            <a:ext cx="10172210" cy="710244"/>
          </a:xfrm>
          <a:prstGeom prst="roundRect">
            <a:avLst>
              <a:gd name="adj" fmla="val 35613"/>
            </a:avLst>
          </a:prstGeom>
          <a:solidFill>
            <a:srgbClr val="E84845"/>
          </a:solidFill>
          <a:ln>
            <a:noFill/>
          </a:ln>
          <a:effectLst>
            <a:outerShdw blurRad="190500" sx="102000" sy="102000" algn="ctr" rotWithShape="0">
              <a:srgbClr val="000000">
                <a:alpha val="24705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42900" indent="-342900">
              <a:lnSpc>
                <a:spcPct val="200000"/>
              </a:lnSpc>
              <a:buAutoNum type="arabicPeriod"/>
            </a:pPr>
            <a:r>
              <a:rPr lang="en-US" sz="1600" dirty="0">
                <a:latin typeface="Poppins"/>
                <a:cs typeface="Poppins"/>
              </a:rPr>
              <a:t>Define combinational logic circuits with relevant examples.</a:t>
            </a:r>
          </a:p>
        </p:txBody>
      </p:sp>
      <p:sp>
        <p:nvSpPr>
          <p:cNvPr id="13" name="Google Shape;502;p17">
            <a:extLst>
              <a:ext uri="{FF2B5EF4-FFF2-40B4-BE49-F238E27FC236}">
                <a16:creationId xmlns:a16="http://schemas.microsoft.com/office/drawing/2014/main" id="{BB41B87C-BE5F-4BF2-531D-57DC21D1A451}"/>
              </a:ext>
            </a:extLst>
          </p:cNvPr>
          <p:cNvSpPr/>
          <p:nvPr/>
        </p:nvSpPr>
        <p:spPr>
          <a:xfrm>
            <a:off x="995362" y="2296480"/>
            <a:ext cx="10172210" cy="710244"/>
          </a:xfrm>
          <a:prstGeom prst="roundRect">
            <a:avLst>
              <a:gd name="adj" fmla="val 35613"/>
            </a:avLst>
          </a:prstGeom>
          <a:solidFill>
            <a:srgbClr val="E84845"/>
          </a:solidFill>
          <a:ln>
            <a:noFill/>
          </a:ln>
          <a:effectLst>
            <a:outerShdw blurRad="190500" sx="102000" sy="102000" algn="ctr" rotWithShape="0">
              <a:srgbClr val="000000">
                <a:alpha val="24705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en-US" sz="1600" dirty="0">
                <a:latin typeface="Poppins"/>
                <a:cs typeface="Poppins"/>
              </a:rPr>
              <a:t>2.Define sequential logic circuits with relevant examples.</a:t>
            </a:r>
          </a:p>
        </p:txBody>
      </p:sp>
      <p:pic>
        <p:nvPicPr>
          <p:cNvPr id="8" name="Picture 2" descr="KL Deemed to be University Logo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4192766172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7" grpId="0" animBg="1"/>
      <p:bldP spid="13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17">
            <a:extLst>
              <a:ext uri="{FF2B5EF4-FFF2-40B4-BE49-F238E27FC236}">
                <a16:creationId xmlns:a16="http://schemas.microsoft.com/office/drawing/2014/main" id="{045E056E-10BD-0B9E-4ACE-A3F54C31FD9F}"/>
              </a:ext>
            </a:extLst>
          </p:cNvPr>
          <p:cNvSpPr/>
          <p:nvPr/>
        </p:nvSpPr>
        <p:spPr>
          <a:xfrm>
            <a:off x="3390636" y="94783"/>
            <a:ext cx="5410728" cy="412293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TERMINAL QUESTIONS</a:t>
            </a:r>
          </a:p>
        </p:txBody>
      </p:sp>
      <p:pic>
        <p:nvPicPr>
          <p:cNvPr id="10" name="Picture 2" descr="KL Deemed to be University Logo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4035BBA-2192-68EA-FCBA-BF13589380F1}"/>
              </a:ext>
            </a:extLst>
          </p:cNvPr>
          <p:cNvSpPr txBox="1"/>
          <p:nvPr/>
        </p:nvSpPr>
        <p:spPr>
          <a:xfrm>
            <a:off x="2706726" y="2099233"/>
            <a:ext cx="7351674" cy="11264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200000"/>
              </a:lnSpc>
              <a:buAutoNum type="arabicPeriod"/>
            </a:pPr>
            <a:r>
              <a:rPr lang="en-US" sz="1800" dirty="0">
                <a:latin typeface="Poppins"/>
                <a:cs typeface="Poppins"/>
              </a:rPr>
              <a:t>Define combinational logic circuits with relevant examples.</a:t>
            </a:r>
          </a:p>
          <a:p>
            <a:pPr marL="342900" indent="-342900">
              <a:lnSpc>
                <a:spcPct val="200000"/>
              </a:lnSpc>
              <a:buFontTx/>
              <a:buAutoNum type="arabicPeriod"/>
            </a:pPr>
            <a:r>
              <a:rPr lang="en-US" sz="1800" dirty="0">
                <a:latin typeface="Poppins"/>
                <a:cs typeface="Poppins"/>
              </a:rPr>
              <a:t>Define sequential logic circuits with relevant examples.</a:t>
            </a:r>
          </a:p>
        </p:txBody>
      </p:sp>
    </p:spTree>
    <p:extLst>
      <p:ext uri="{BB962C8B-B14F-4D97-AF65-F5344CB8AC3E}">
        <p14:creationId xmlns:p14="http://schemas.microsoft.com/office/powerpoint/2010/main" val="2602073769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17">
            <a:extLst>
              <a:ext uri="{FF2B5EF4-FFF2-40B4-BE49-F238E27FC236}">
                <a16:creationId xmlns:a16="http://schemas.microsoft.com/office/drawing/2014/main" id="{045E056E-10BD-0B9E-4ACE-A3F54C31FD9F}"/>
              </a:ext>
            </a:extLst>
          </p:cNvPr>
          <p:cNvSpPr/>
          <p:nvPr/>
        </p:nvSpPr>
        <p:spPr>
          <a:xfrm>
            <a:off x="2161309" y="93891"/>
            <a:ext cx="7105194" cy="412293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REFERENCES FOR FURTHER LEARNING OF THE SESSION</a:t>
            </a:r>
            <a:endParaRPr lang="en-US" sz="2400" dirty="0">
              <a:solidFill>
                <a:schemeClr val="bg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909789" y="600076"/>
            <a:ext cx="9608234" cy="57186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1000"/>
              </a:spcAft>
            </a:pPr>
            <a:r>
              <a:rPr lang="en-US" sz="1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Text Books:</a:t>
            </a:r>
            <a:endParaRPr lang="en-IN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spcAft>
                <a:spcPts val="1000"/>
              </a:spcAft>
            </a:pP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1.Douglas A.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Pucknell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&amp; Kamran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Eshraghian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Basic VLSI Design, PHI, 3rd Ed., 2011</a:t>
            </a:r>
            <a:endParaRPr lang="en-IN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spcAft>
                <a:spcPts val="1000"/>
              </a:spcAft>
            </a:pP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2. Neil H.E.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Weste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David Harris, Ayan Banerjee, CMOS VLSI Design, A Circuits and Systems Perspective, Pearson Education, 4th Ed., 2011</a:t>
            </a:r>
            <a:endParaRPr lang="en-IN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spcAft>
                <a:spcPts val="1000"/>
              </a:spcAft>
            </a:pP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3. Sung-Mo Kang, Yusuf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Leblebici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CMOS Digital Integrated Circuits Analysis and Design, Tata Mc-Graw-Hill, 3rd Ed., 2003</a:t>
            </a:r>
            <a:endParaRPr lang="en-IN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spcAft>
                <a:spcPts val="1000"/>
              </a:spcAft>
            </a:pPr>
            <a:r>
              <a:rPr lang="en-US" sz="1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Reference Books:</a:t>
            </a:r>
            <a:endParaRPr lang="en-IN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spcAft>
                <a:spcPts val="1000"/>
              </a:spcAft>
            </a:pP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1. Jab M.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Rabaey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Anantha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Chandra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Kasan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Borivoje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Nikolic, Digital Integrated Circuits - A Design Perspective, PHI, 2</a:t>
            </a:r>
            <a:r>
              <a:rPr lang="en-US" sz="1800" baseline="30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nd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Ed., 2012</a:t>
            </a:r>
            <a:endParaRPr lang="en-IN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spcAft>
                <a:spcPts val="1000"/>
              </a:spcAft>
            </a:pP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2. Michal John Sebastian Smith, Application-Specific Integrated Circuits, Pearson Education, 6th Ed., 2009</a:t>
            </a:r>
            <a:endParaRPr lang="en-US" dirty="0"/>
          </a:p>
          <a:p>
            <a:pPr>
              <a:lnSpc>
                <a:spcPct val="150000"/>
              </a:lnSpc>
            </a:pPr>
            <a:r>
              <a:rPr lang="en-US" b="1" dirty="0"/>
              <a:t>Sites and Web links: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1. </a:t>
            </a:r>
            <a:r>
              <a:rPr lang="en-US" sz="1800" u="sng" dirty="0">
                <a:solidFill>
                  <a:srgbClr val="0563C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hlinkClick r:id="rId2"/>
              </a:rPr>
              <a:t>https://www.egr.msu.edu/classes/ece410/mason/files/Ch7.pdf</a:t>
            </a:r>
            <a:endParaRPr lang="en-IN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US" sz="1800" u="sng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2. </a:t>
            </a:r>
            <a:r>
              <a:rPr lang="en-US" sz="1800" u="sng" dirty="0">
                <a:solidFill>
                  <a:srgbClr val="0563C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http://bwrcs.eecs.berkeley.edu/Classes/icdesign/ee141_f01/Notes/chapter5.pdf</a:t>
            </a:r>
            <a:endParaRPr lang="en-US" u="sng" dirty="0"/>
          </a:p>
          <a:p>
            <a:pPr>
              <a:lnSpc>
                <a:spcPct val="150000"/>
              </a:lnSpc>
            </a:pPr>
            <a:r>
              <a:rPr lang="en-US" dirty="0"/>
              <a:t>3. https://nptelvideos.com/video.php?id=1317</a:t>
            </a:r>
          </a:p>
        </p:txBody>
      </p:sp>
      <p:pic>
        <p:nvPicPr>
          <p:cNvPr id="5" name="Picture 2" descr="KL Deemed to be University Logo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602073769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E792BE84-3448-2348-B352-CD5BC083E5FD}"/>
              </a:ext>
            </a:extLst>
          </p:cNvPr>
          <p:cNvSpPr/>
          <p:nvPr/>
        </p:nvSpPr>
        <p:spPr>
          <a:xfrm>
            <a:off x="2602523" y="1856934"/>
            <a:ext cx="7920111" cy="2883877"/>
          </a:xfrm>
          <a:prstGeom prst="roundRect">
            <a:avLst/>
          </a:prstGeom>
          <a:solidFill>
            <a:schemeClr val="accent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dirty="0">
              <a:latin typeface="Poppins" pitchFamily="2" charset="77"/>
              <a:cs typeface="Poppins" pitchFamily="2" charset="77"/>
            </a:endParaRPr>
          </a:p>
          <a:p>
            <a:pPr algn="ctr"/>
            <a:endParaRPr lang="en-US" sz="2400" b="1" dirty="0">
              <a:latin typeface="Poppins" pitchFamily="2" charset="77"/>
              <a:cs typeface="Poppins" pitchFamily="2" charset="77"/>
            </a:endParaRPr>
          </a:p>
          <a:p>
            <a:pPr algn="ctr"/>
            <a:r>
              <a:rPr lang="en-US" sz="2400" b="1" dirty="0">
                <a:latin typeface="Poppins" pitchFamily="2" charset="77"/>
                <a:cs typeface="Poppins" pitchFamily="2" charset="77"/>
              </a:rPr>
              <a:t>THANK YOU</a:t>
            </a:r>
          </a:p>
          <a:p>
            <a:pPr algn="ctr"/>
            <a:endParaRPr lang="en-US" sz="2400" dirty="0">
              <a:latin typeface="Poppins" pitchFamily="2" charset="77"/>
              <a:cs typeface="Poppins" pitchFamily="2" charset="77"/>
            </a:endParaRPr>
          </a:p>
          <a:p>
            <a:pPr algn="ctr"/>
            <a:endParaRPr lang="en-US" sz="2400" dirty="0">
              <a:latin typeface="Poppins" pitchFamily="2" charset="77"/>
              <a:cs typeface="Poppins" pitchFamily="2" charset="77"/>
            </a:endParaRPr>
          </a:p>
          <a:p>
            <a:pPr algn="ctr"/>
            <a:endParaRPr lang="en-US" sz="2400" dirty="0">
              <a:latin typeface="Poppins" pitchFamily="2" charset="77"/>
              <a:cs typeface="Poppins" pitchFamily="2" charset="77"/>
            </a:endParaRPr>
          </a:p>
          <a:p>
            <a:pPr algn="ctr"/>
            <a:endParaRPr lang="en-US" sz="2400" dirty="0">
              <a:latin typeface="Poppins" pitchFamily="2" charset="77"/>
              <a:cs typeface="Poppins" pitchFamily="2" charset="77"/>
            </a:endParaRPr>
          </a:p>
          <a:p>
            <a:pPr algn="ctr"/>
            <a:r>
              <a:rPr lang="en-US" sz="2400" b="1" dirty="0">
                <a:latin typeface="Poppins" pitchFamily="2" charset="77"/>
                <a:cs typeface="Poppins" pitchFamily="2" charset="77"/>
              </a:rPr>
              <a:t>Team – VLSI Design</a:t>
            </a:r>
          </a:p>
          <a:p>
            <a:pPr algn="ctr"/>
            <a:endParaRPr lang="en-US" sz="2400" dirty="0">
              <a:solidFill>
                <a:schemeClr val="bg1"/>
              </a:solidFill>
              <a:latin typeface="Poppins" pitchFamily="2" charset="77"/>
              <a:cs typeface="Poppins" pitchFamily="2" charset="77"/>
            </a:endParaRPr>
          </a:p>
          <a:p>
            <a:pPr algn="ctr"/>
            <a:endParaRPr lang="en-US" sz="2400" dirty="0">
              <a:solidFill>
                <a:schemeClr val="bg1"/>
              </a:solidFill>
              <a:latin typeface="Poppins" pitchFamily="2" charset="77"/>
              <a:cs typeface="Poppins" pitchFamily="2" charset="77"/>
            </a:endParaRPr>
          </a:p>
          <a:p>
            <a:pPr algn="ctr"/>
            <a:endParaRPr lang="en-US" sz="2400" dirty="0">
              <a:solidFill>
                <a:schemeClr val="bg1"/>
              </a:solidFill>
              <a:latin typeface="Poppins" pitchFamily="2" charset="77"/>
              <a:cs typeface="Poppins" pitchFamily="2" charset="77"/>
            </a:endParaRPr>
          </a:p>
        </p:txBody>
      </p:sp>
      <p:pic>
        <p:nvPicPr>
          <p:cNvPr id="6" name="Picture 2" descr="KL Deemed to be University Logo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514534" y="2560321"/>
            <a:ext cx="3235570" cy="1083212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xtreme Shadow">
      <a:fillStyleLst>
        <a:solidFill>
          <a:schemeClr val="phClr"/>
        </a:solidFill>
        <a:gradFill rotWithShape="1">
          <a:gsLst>
            <a:gs pos="0">
              <a:schemeClr val="phClr">
                <a:tint val="90000"/>
              </a:schemeClr>
            </a:gs>
            <a:gs pos="48000">
              <a:schemeClr val="phClr">
                <a:tint val="54000"/>
                <a:satMod val="140000"/>
              </a:schemeClr>
            </a:gs>
            <a:gs pos="100000">
              <a:schemeClr val="phClr">
                <a:tint val="24000"/>
                <a:satMod val="260000"/>
              </a:schemeClr>
            </a:gs>
          </a:gsLst>
          <a:lin ang="16200000" scaled="1"/>
        </a:gradFill>
        <a:gradFill rotWithShape="1">
          <a:gsLst>
            <a:gs pos="0">
              <a:schemeClr val="phClr"/>
            </a:gs>
            <a:gs pos="100000">
              <a:schemeClr val="phClr">
                <a:shade val="48000"/>
                <a:satMod val="180000"/>
                <a:lumMod val="94000"/>
              </a:schemeClr>
            </a:gs>
            <a:gs pos="100000">
              <a:schemeClr val="phClr">
                <a:shade val="48000"/>
                <a:satMod val="180000"/>
                <a:lumMod val="94000"/>
              </a:schemeClr>
            </a:gs>
          </a:gsLst>
          <a:lin ang="4140000" scaled="1"/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8575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12700" dir="5400000" sx="102000" sy="102000" rotWithShape="0">
              <a:srgbClr val="000000">
                <a:alpha val="32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9800000"/>
            </a:lightRig>
          </a:scene3d>
          <a:sp3d prstMaterial="plastic">
            <a:bevelT w="25400" h="19050"/>
          </a:sp3d>
        </a:effectStyle>
        <a:effectStyle>
          <a:effectLst>
            <a:outerShdw blurRad="114300" dist="114300" dir="5400000" rotWithShape="0">
              <a:srgbClr val="000000">
                <a:alpha val="7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plastic">
            <a:bevelT w="38100" h="3175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45058B0D91A7444BDF69F20EF097C18" ma:contentTypeVersion="14" ma:contentTypeDescription="Create a new document." ma:contentTypeScope="" ma:versionID="0ede872240208156a106060c7bf37a70">
  <xsd:schema xmlns:xsd="http://www.w3.org/2001/XMLSchema" xmlns:xs="http://www.w3.org/2001/XMLSchema" xmlns:p="http://schemas.microsoft.com/office/2006/metadata/properties" xmlns:ns3="d43ee83c-3e71-4748-8ebc-8eaadf793425" xmlns:ns4="0125a647-8023-46ae-ae6e-85cf36d841bd" targetNamespace="http://schemas.microsoft.com/office/2006/metadata/properties" ma:root="true" ma:fieldsID="e836ceb473825fb8f3d8aa266dca4abb" ns3:_="" ns4:_="">
    <xsd:import namespace="d43ee83c-3e71-4748-8ebc-8eaadf793425"/>
    <xsd:import namespace="0125a647-8023-46ae-ae6e-85cf36d841bd"/>
    <xsd:element name="properties">
      <xsd:complexType>
        <xsd:sequence>
          <xsd:element name="documentManagement">
            <xsd:complexType>
              <xsd:all>
                <xsd:element ref="ns3:SharedWithUsers" minOccurs="0"/>
                <xsd:element ref="ns3:SharedWithDetails" minOccurs="0"/>
                <xsd:element ref="ns3:SharingHintHash" minOccurs="0"/>
                <xsd:element ref="ns4:MediaServiceMetadata" minOccurs="0"/>
                <xsd:element ref="ns4:MediaServiceFastMetadata" minOccurs="0"/>
                <xsd:element ref="ns4:MediaServiceDateTaken" minOccurs="0"/>
                <xsd:element ref="ns4:MediaServiceAutoTags" minOccurs="0"/>
                <xsd:element ref="ns4:MediaServiceGenerationTime" minOccurs="0"/>
                <xsd:element ref="ns4:MediaServiceEventHashCode" minOccurs="0"/>
                <xsd:element ref="ns4:MediaServiceOCR" minOccurs="0"/>
                <xsd:element ref="ns4:MediaLengthInSeconds" minOccurs="0"/>
                <xsd:element ref="ns4:MediaServiceAutoKeyPoints" minOccurs="0"/>
                <xsd:element ref="ns4:MediaServiceKeyPoints" minOccurs="0"/>
                <xsd:element ref="ns4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43ee83c-3e71-4748-8ebc-8eaadf793425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0" nillable="true" ma:displayName="Sharing Hint Hash" ma:hidden="true" ma:internalName="SharingHintHash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125a647-8023-46ae-ae6e-85cf36d841b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3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4" nillable="true" ma:displayName="Tags" ma:internalName="MediaServiceAutoTags" ma:readOnly="true">
      <xsd:simpleType>
        <xsd:restriction base="dms:Text"/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LengthInSeconds" ma:index="18" nillable="true" ma:displayName="Length (seconds)" ma:internalName="MediaLengthInSeconds" ma:readOnly="true">
      <xsd:simpleType>
        <xsd:restriction base="dms:Unknown"/>
      </xsd:simpleType>
    </xsd:element>
    <xsd:element name="MediaServiceAutoKeyPoints" ma:index="19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20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Location" ma:index="21" nillable="true" ma:displayName="Location" ma:internalName="MediaServiceLocation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EBBD0A98-E68B-4DAA-8964-2F739D6D4075}">
  <ds:schemaRefs>
    <ds:schemaRef ds:uri="0125a647-8023-46ae-ae6e-85cf36d841bd"/>
    <ds:schemaRef ds:uri="d43ee83c-3e71-4748-8ebc-8eaadf793425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3DA00F5F-5366-4B1C-9406-30DECA796ABB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C89A6ECA-0C1B-4F00-836D-A696F073E5C2}">
  <ds:schemaRefs>
    <ds:schemaRef ds:uri="0125a647-8023-46ae-ae6e-85cf36d841bd"/>
    <ds:schemaRef ds:uri="d43ee83c-3e71-4748-8ebc-8eaadf793425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349</TotalTime>
  <Words>528</Words>
  <Application>Microsoft Office PowerPoint</Application>
  <PresentationFormat>Widescreen</PresentationFormat>
  <Paragraphs>66</Paragraphs>
  <Slides>16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2" baseType="lpstr">
      <vt:lpstr>Arial</vt:lpstr>
      <vt:lpstr>Calibri</vt:lpstr>
      <vt:lpstr>Calibri Light</vt:lpstr>
      <vt:lpstr>Poppins</vt:lpstr>
      <vt:lpstr>Times New Roman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1 : FUNDMENTALS OF ORGANIZATIONAL BEHAVIOUR</dc:title>
  <dc:creator>Younus Sayyad</dc:creator>
  <cp:lastModifiedBy>vineethaammu72@gmail.com</cp:lastModifiedBy>
  <cp:revision>61</cp:revision>
  <dcterms:created xsi:type="dcterms:W3CDTF">2020-02-08T09:57:44Z</dcterms:created>
  <dcterms:modified xsi:type="dcterms:W3CDTF">2022-12-02T05:07:08Z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0x010100845058B0D91A7444BDF69F20EF097C18</vt:lpwstr>
  </property>
</Properties>
</file>