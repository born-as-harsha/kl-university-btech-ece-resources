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26"/>
  </p:notesMasterIdLst>
  <p:sldIdLst>
    <p:sldId id="271" r:id="rId5"/>
    <p:sldId id="300" r:id="rId6"/>
    <p:sldId id="258" r:id="rId7"/>
    <p:sldId id="288" r:id="rId8"/>
    <p:sldId id="306" r:id="rId9"/>
    <p:sldId id="307" r:id="rId10"/>
    <p:sldId id="308" r:id="rId11"/>
    <p:sldId id="310" r:id="rId12"/>
    <p:sldId id="309" r:id="rId13"/>
    <p:sldId id="311" r:id="rId14"/>
    <p:sldId id="315" r:id="rId15"/>
    <p:sldId id="316" r:id="rId16"/>
    <p:sldId id="317" r:id="rId17"/>
    <p:sldId id="312" r:id="rId18"/>
    <p:sldId id="299" r:id="rId19"/>
    <p:sldId id="285" r:id="rId20"/>
    <p:sldId id="287" r:id="rId21"/>
    <p:sldId id="301" r:id="rId22"/>
    <p:sldId id="302" r:id="rId23"/>
    <p:sldId id="303" r:id="rId24"/>
    <p:sldId id="304"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9900"/>
    <a:srgbClr val="E84845"/>
    <a:srgbClr val="FAD2D2"/>
    <a:srgbClr val="F89E4C"/>
    <a:srgbClr val="A81E24"/>
    <a:srgbClr val="FFF2CC"/>
    <a:srgbClr val="CF2F33"/>
    <a:srgbClr val="BA2532"/>
    <a:srgbClr val="E3293B"/>
    <a:srgbClr val="FFFC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B850D1-3DE1-5E49-ABFC-00B1F4CAB20B}" v="706" dt="2022-04-26T05:00:35.908"/>
    <p1510:client id="{B8906113-84A5-D6EE-8131-D504648287C4}" v="62" dt="2022-09-08T10:44:06.607"/>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89"/>
  </p:normalViewPr>
  <p:slideViewPr>
    <p:cSldViewPr snapToGrid="0">
      <p:cViewPr varScale="1">
        <p:scale>
          <a:sx n="82" d="100"/>
          <a:sy n="82" d="100"/>
        </p:scale>
        <p:origin x="691" y="5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ADD66ED-011C-444B-AF08-9B316B070C56}" type="datetimeFigureOut">
              <a:rPr lang="en-US" smtClean="0"/>
              <a:pPr/>
              <a:t>11/25/2022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4ADD7-897F-4F47-A317-DE24AB827DD3}" type="slidenum">
              <a:rPr lang="en-US" smtClean="0"/>
              <a:pPr/>
              <a:t>‹#›</a:t>
            </a:fld>
            <a:endParaRPr lang="en-US"/>
          </a:p>
        </p:txBody>
      </p:sp>
    </p:spTree>
    <p:extLst>
      <p:ext uri="{BB962C8B-B14F-4D97-AF65-F5344CB8AC3E}">
        <p14:creationId xmlns:p14="http://schemas.microsoft.com/office/powerpoint/2010/main" val="3986658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62" name="Google Shape;46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4244303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pPr/>
              <a:t>3</a:t>
            </a:fld>
            <a:endParaRPr lang="en-US"/>
          </a:p>
        </p:txBody>
      </p:sp>
    </p:spTree>
    <p:extLst>
      <p:ext uri="{BB962C8B-B14F-4D97-AF65-F5344CB8AC3E}">
        <p14:creationId xmlns:p14="http://schemas.microsoft.com/office/powerpoint/2010/main" val="32284352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41656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3124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5789190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54291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33977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024589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39970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138835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365154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838200" y="365125"/>
            <a:ext cx="10515600" cy="58118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FDE934FF-F4E1-47C5-9CA5-30A81DDE2BE4}" type="datetimeFigureOut">
              <a:rPr lang="en-US" smtClean="0">
                <a:solidFill>
                  <a:prstClr val="black">
                    <a:tint val="75000"/>
                  </a:prstClr>
                </a:solidFill>
              </a:rPr>
              <a:pPr/>
              <a:t>11/25/2022</a:t>
            </a:fld>
            <a:endParaRPr lang="en-US">
              <a:solidFill>
                <a:prstClr val="black">
                  <a:tint val="75000"/>
                </a:prstClr>
              </a:solidFill>
            </a:endParaRPr>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B3561BA9-CDCF-4958-B8AB-66F3BF063E13}"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176286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extLst>
      <p:ext uri="{BB962C8B-B14F-4D97-AF65-F5344CB8AC3E}">
        <p14:creationId xmlns:p14="http://schemas.microsoft.com/office/powerpoint/2010/main" val="33789292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alpha val="20747"/>
          </a:schemeClr>
        </a:solidFill>
        <a:effectLst/>
      </p:bgPr>
    </p:bg>
    <p:spTree>
      <p:nvGrpSpPr>
        <p:cNvPr id="1" name=""/>
        <p:cNvGrpSpPr/>
        <p:nvPr/>
      </p:nvGrpSpPr>
      <p:grpSpPr>
        <a:xfrm>
          <a:off x="0" y="0"/>
          <a:ext cx="0" cy="0"/>
          <a:chOff x="0" y="0"/>
          <a:chExt cx="0" cy="0"/>
        </a:xfrm>
      </p:grpSpPr>
      <p:pic>
        <p:nvPicPr>
          <p:cNvPr id="11" name="Picture 10" descr="Background pattern&#10;&#10;Description automatically generated">
            <a:extLst>
              <a:ext uri="{FF2B5EF4-FFF2-40B4-BE49-F238E27FC236}">
                <a16:creationId xmlns:a16="http://schemas.microsoft.com/office/drawing/2014/main" id="{2F4508AD-1BA8-6D49-AD89-BB8C58C99DDF}"/>
              </a:ext>
            </a:extLst>
          </p:cNvPr>
          <p:cNvPicPr>
            <a:picLocks noChangeAspect="1"/>
          </p:cNvPicPr>
          <p:nvPr userDrawn="1"/>
        </p:nvPicPr>
        <p:blipFill>
          <a:blip r:embed="rId13">
            <a:clrChange>
              <a:clrFrom>
                <a:srgbClr val="FFFFFF"/>
              </a:clrFrom>
              <a:clrTo>
                <a:srgbClr val="FFFFFF">
                  <a:alpha val="0"/>
                </a:srgbClr>
              </a:clrTo>
            </a:clrChange>
            <a:alphaModFix amt="50000"/>
            <a:extLst>
              <a:ext uri="{28A0092B-C50C-407E-A947-70E740481C1C}">
                <a14:useLocalDpi xmlns:a14="http://schemas.microsoft.com/office/drawing/2010/main" val="0"/>
              </a:ext>
            </a:extLst>
          </a:blip>
          <a:stretch>
            <a:fillRect/>
          </a:stretch>
        </p:blipFill>
        <p:spPr>
          <a:xfrm>
            <a:off x="0" y="0"/>
            <a:ext cx="3003452" cy="3003452"/>
          </a:xfrm>
          <a:prstGeom prst="rect">
            <a:avLst/>
          </a:prstGeom>
        </p:spPr>
      </p:pic>
      <p:sp>
        <p:nvSpPr>
          <p:cNvPr id="2" name="Rectangle 1">
            <a:extLst>
              <a:ext uri="{FF2B5EF4-FFF2-40B4-BE49-F238E27FC236}">
                <a16:creationId xmlns:a16="http://schemas.microsoft.com/office/drawing/2014/main" id="{ACAD2B12-09F5-6D4A-9C1D-AFF6A38F62BF}"/>
              </a:ext>
            </a:extLst>
          </p:cNvPr>
          <p:cNvSpPr/>
          <p:nvPr userDrawn="1"/>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072F43C-0ACD-CF48-BDDC-4CA06CD195D7}"/>
              </a:ext>
            </a:extLst>
          </p:cNvPr>
          <p:cNvSpPr/>
          <p:nvPr userDrawn="1"/>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Background pattern&#10;&#10;Description automatically generated">
            <a:extLst>
              <a:ext uri="{FF2B5EF4-FFF2-40B4-BE49-F238E27FC236}">
                <a16:creationId xmlns:a16="http://schemas.microsoft.com/office/drawing/2014/main" id="{D4A3453C-FFE4-E949-B42B-748B5090DD36}"/>
              </a:ext>
            </a:extLst>
          </p:cNvPr>
          <p:cNvPicPr>
            <a:picLocks noChangeAspect="1"/>
          </p:cNvPicPr>
          <p:nvPr userDrawn="1"/>
        </p:nvPicPr>
        <p:blipFill rotWithShape="1">
          <a:blip r:embed="rId14">
            <a:clrChange>
              <a:clrFrom>
                <a:srgbClr val="F6F6F6"/>
              </a:clrFrom>
              <a:clrTo>
                <a:srgbClr val="F6F6F6">
                  <a:alpha val="0"/>
                </a:srgbClr>
              </a:clrTo>
            </a:clrChange>
            <a:duotone>
              <a:schemeClr val="bg2">
                <a:shade val="45000"/>
                <a:satMod val="135000"/>
              </a:schemeClr>
              <a:prstClr val="white"/>
            </a:duotone>
            <a:alphaModFix amt="35000"/>
            <a:extLst>
              <a:ext uri="{28A0092B-C50C-407E-A947-70E740481C1C}">
                <a14:useLocalDpi xmlns:a14="http://schemas.microsoft.com/office/drawing/2010/main" val="0"/>
              </a:ext>
            </a:extLst>
          </a:blip>
          <a:srcRect r="26721" b="8103"/>
          <a:stretch/>
        </p:blipFill>
        <p:spPr>
          <a:xfrm>
            <a:off x="8376334" y="4104641"/>
            <a:ext cx="3815666" cy="2707640"/>
          </a:xfrm>
          <a:prstGeom prst="rect">
            <a:avLst/>
          </a:prstGeom>
        </p:spPr>
      </p:pic>
      <p:sp>
        <p:nvSpPr>
          <p:cNvPr id="7" name="TextBox 6">
            <a:extLst>
              <a:ext uri="{FF2B5EF4-FFF2-40B4-BE49-F238E27FC236}">
                <a16:creationId xmlns:a16="http://schemas.microsoft.com/office/drawing/2014/main" id="{C1A8F9C9-F65C-BB4A-BF8E-4636F166836D}"/>
              </a:ext>
            </a:extLst>
          </p:cNvPr>
          <p:cNvSpPr txBox="1"/>
          <p:nvPr userDrawn="1"/>
        </p:nvSpPr>
        <p:spPr>
          <a:xfrm>
            <a:off x="1" y="6602979"/>
            <a:ext cx="2132068" cy="215444"/>
          </a:xfrm>
          <a:prstGeom prst="rect">
            <a:avLst/>
          </a:prstGeom>
          <a:noFill/>
        </p:spPr>
        <p:txBody>
          <a:bodyPr wrap="square" rtlCol="0">
            <a:spAutoFit/>
          </a:bodyPr>
          <a:lstStyle/>
          <a:p>
            <a:r>
              <a:rPr lang="en-US" sz="800">
                <a:solidFill>
                  <a:schemeClr val="bg1">
                    <a:lumMod val="95000"/>
                  </a:schemeClr>
                </a:solidFill>
              </a:rPr>
              <a:t>CREATED BY K. VICTOR BABU</a:t>
            </a:r>
          </a:p>
        </p:txBody>
      </p:sp>
    </p:spTree>
    <p:extLst>
      <p:ext uri="{BB962C8B-B14F-4D97-AF65-F5344CB8AC3E}">
        <p14:creationId xmlns:p14="http://schemas.microsoft.com/office/powerpoint/2010/main" val="626841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11.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egr.msu.edu/classes/ece410/mason/files/Ch7.pdf" TargetMode="Externa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hyperlink" Target="http://bwrcs.eecs.berkeley.edu/Classes/icdesign/ee141_f01/Notes/chapter5.pdf"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bwrcs.eecs.berkeley.edu/Classes/icdesign/ee141_f01/Notes/chapter5.pdf" TargetMode="External"/><Relationship Id="rId2" Type="http://schemas.openxmlformats.org/officeDocument/2006/relationships/hyperlink" Target="https://www.egr.msu.edu/classes/ece410/mason/files/Ch7.pdf" TargetMode="Externa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2" name="Rectangle 1">
            <a:extLst>
              <a:ext uri="{FF2B5EF4-FFF2-40B4-BE49-F238E27FC236}">
                <a16:creationId xmlns:a16="http://schemas.microsoft.com/office/drawing/2014/main" id="{6398423B-5803-30F8-31C4-BF716BD7197E}"/>
              </a:ext>
            </a:extLst>
          </p:cNvPr>
          <p:cNvSpPr/>
          <p:nvPr/>
        </p:nvSpPr>
        <p:spPr>
          <a:xfrm>
            <a:off x="-1" y="0"/>
            <a:ext cx="12192000" cy="6858000"/>
          </a:xfrm>
          <a:prstGeom prst="rect">
            <a:avLst/>
          </a:prstGeom>
          <a:solidFill>
            <a:schemeClr val="bg1"/>
          </a:solidFill>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pic>
        <p:nvPicPr>
          <p:cNvPr id="464" name="Google Shape;464;p16"/>
          <p:cNvPicPr preferRelativeResize="0"/>
          <p:nvPr/>
        </p:nvPicPr>
        <p:blipFill>
          <a:blip r:embed="rId3">
            <a:extLst>
              <a:ext uri="{28A0092B-C50C-407E-A947-70E740481C1C}">
                <a14:useLocalDpi xmlns:a14="http://schemas.microsoft.com/office/drawing/2010/main" val="0"/>
              </a:ext>
            </a:extLst>
          </a:blip>
          <a:stretch>
            <a:fillRect/>
          </a:stretch>
        </p:blipFill>
        <p:spPr>
          <a:xfrm>
            <a:off x="0" y="117034"/>
            <a:ext cx="6027459" cy="6623931"/>
          </a:xfrm>
          <a:prstGeom prst="rect">
            <a:avLst/>
          </a:prstGeom>
          <a:noFill/>
          <a:ln>
            <a:noFill/>
          </a:ln>
        </p:spPr>
      </p:pic>
      <p:sp>
        <p:nvSpPr>
          <p:cNvPr id="476" name="Google Shape;476;p16"/>
          <p:cNvSpPr txBox="1"/>
          <p:nvPr/>
        </p:nvSpPr>
        <p:spPr>
          <a:xfrm>
            <a:off x="5394455" y="1933408"/>
            <a:ext cx="6902548" cy="2616060"/>
          </a:xfrm>
          <a:prstGeom prst="rect">
            <a:avLst/>
          </a:prstGeom>
          <a:noFill/>
          <a:ln>
            <a:noFill/>
          </a:ln>
        </p:spPr>
        <p:txBody>
          <a:bodyPr spcFirstLastPara="1" wrap="square" lIns="91425" tIns="45700" rIns="91425" bIns="45700" anchor="t" anchorCtr="0">
            <a:spAutoFit/>
          </a:bodyPr>
          <a:lstStyle/>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VLSI DESIGN</a:t>
            </a:r>
          </a:p>
          <a:p>
            <a:pPr marR="0" lvl="0" indent="0" algn="ctr">
              <a:spcBef>
                <a:spcPts val="0"/>
              </a:spcBef>
              <a:spcAft>
                <a:spcPts val="0"/>
              </a:spcAft>
              <a:buNone/>
            </a:pPr>
            <a:r>
              <a:rPr lang="en-US" sz="3200" b="1" cap="all" dirty="0">
                <a:ln/>
                <a:solidFill>
                  <a:srgbClr val="C00000"/>
                </a:solidFill>
                <a:cs typeface="Poppins" panose="00000500000000000000" pitchFamily="2" charset="0"/>
                <a:sym typeface="BioRhyme ExtraBold"/>
              </a:rPr>
              <a:t>21EC2211</a:t>
            </a:r>
            <a:endParaRPr lang="en-US" sz="2000" b="1" dirty="0">
              <a:solidFill>
                <a:schemeClr val="bg1">
                  <a:lumMod val="50000"/>
                </a:schemeClr>
              </a:solidFill>
              <a:ea typeface="BioRhyme ExtraBold"/>
              <a:cs typeface="Poppins" panose="00000500000000000000" pitchFamily="2" charset="0"/>
              <a:sym typeface="BioRhyme ExtraBold"/>
            </a:endParaRPr>
          </a:p>
          <a:p>
            <a:pPr marR="0" lvl="0" indent="0" algn="ctr">
              <a:spcBef>
                <a:spcPts val="0"/>
              </a:spcBef>
              <a:spcAft>
                <a:spcPts val="0"/>
              </a:spcAft>
              <a:buNone/>
            </a:pPr>
            <a:r>
              <a:rPr lang="en-US" sz="2000" b="1" dirty="0">
                <a:solidFill>
                  <a:schemeClr val="bg1">
                    <a:lumMod val="50000"/>
                  </a:schemeClr>
                </a:solidFill>
                <a:ea typeface="BioRhyme ExtraBold"/>
                <a:cs typeface="Poppins" panose="00000500000000000000" pitchFamily="2" charset="0"/>
                <a:sym typeface="BioRhyme ExtraBold"/>
              </a:rPr>
              <a:t>Topic: </a:t>
            </a:r>
          </a:p>
          <a:p>
            <a:pPr marR="0" lvl="0" indent="0" algn="ctr">
              <a:spcBef>
                <a:spcPts val="0"/>
              </a:spcBef>
              <a:spcAft>
                <a:spcPts val="0"/>
              </a:spcAft>
              <a:buNone/>
            </a:pPr>
            <a:r>
              <a:rPr lang="en-US" sz="4000" b="1" dirty="0">
                <a:solidFill>
                  <a:srgbClr val="FF0000"/>
                </a:solidFill>
                <a:effectLst/>
                <a:latin typeface="Times New Roman" panose="02020603050405020304" pitchFamily="18" charset="0"/>
                <a:ea typeface="Calibri" panose="020F0502020204030204" pitchFamily="34" charset="0"/>
              </a:rPr>
              <a:t>NMOS inverter Design and analysis</a:t>
            </a:r>
            <a:endParaRPr lang="en-US" sz="4000" b="1" dirty="0">
              <a:solidFill>
                <a:srgbClr val="FF0000"/>
              </a:solidFill>
              <a:effectLst/>
              <a:cs typeface="Poppins" panose="00000500000000000000" pitchFamily="2" charset="0"/>
            </a:endParaRPr>
          </a:p>
        </p:txBody>
      </p:sp>
      <p:sp>
        <p:nvSpPr>
          <p:cNvPr id="19" name="Rectangle: Rounded Corners 18">
            <a:extLst>
              <a:ext uri="{FF2B5EF4-FFF2-40B4-BE49-F238E27FC236}">
                <a16:creationId xmlns:a16="http://schemas.microsoft.com/office/drawing/2014/main" id="{B9F0C376-F4D3-1950-3474-EFF28411BDC6}"/>
              </a:ext>
            </a:extLst>
          </p:cNvPr>
          <p:cNvSpPr/>
          <p:nvPr/>
        </p:nvSpPr>
        <p:spPr>
          <a:xfrm>
            <a:off x="6233250" y="925390"/>
            <a:ext cx="4486331" cy="574765"/>
          </a:xfrm>
          <a:prstGeom prst="roundRect">
            <a:avLst/>
          </a:prstGeom>
          <a:solidFill>
            <a:schemeClr val="bg1">
              <a:alpha val="6000"/>
            </a:schemeClr>
          </a:solidFill>
          <a:ln>
            <a:solidFill>
              <a:srgbClr val="C00000"/>
            </a:solid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5" name="Google Shape;475;p16"/>
          <p:cNvSpPr txBox="1"/>
          <p:nvPr/>
        </p:nvSpPr>
        <p:spPr>
          <a:xfrm>
            <a:off x="6095999" y="830715"/>
            <a:ext cx="4595447" cy="707846"/>
          </a:xfrm>
          <a:prstGeom prst="rect">
            <a:avLst/>
          </a:prstGeom>
          <a:noFill/>
          <a:ln>
            <a:noFill/>
          </a:ln>
          <a:effectLst/>
        </p:spPr>
        <p:txBody>
          <a:bodyPr spcFirstLastPara="1" wrap="square" lIns="91425" tIns="45700" rIns="91425" bIns="45700" anchor="t" anchorCtr="0">
            <a:spAutoFit/>
          </a:bodyPr>
          <a:lstStyle/>
          <a:p>
            <a:pPr algn="ctr"/>
            <a:r>
              <a:rPr lang="en-US" sz="4000" dirty="0">
                <a:solidFill>
                  <a:srgbClr val="C00000"/>
                </a:solidFill>
                <a:cs typeface="Poppins" pitchFamily="2" charset="77"/>
              </a:rPr>
              <a:t>Department of ECE</a:t>
            </a:r>
          </a:p>
        </p:txBody>
      </p:sp>
      <p:sp>
        <p:nvSpPr>
          <p:cNvPr id="8" name="Google Shape;502;p17">
            <a:extLst>
              <a:ext uri="{FF2B5EF4-FFF2-40B4-BE49-F238E27FC236}">
                <a16:creationId xmlns:a16="http://schemas.microsoft.com/office/drawing/2014/main" id="{7153E61F-4441-DBE3-3DFF-6E9EF6C48D23}"/>
              </a:ext>
            </a:extLst>
          </p:cNvPr>
          <p:cNvSpPr/>
          <p:nvPr/>
        </p:nvSpPr>
        <p:spPr>
          <a:xfrm>
            <a:off x="7656120" y="5535597"/>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ea typeface="Calibri"/>
                <a:cs typeface="Poppins" panose="00000500000000000000" pitchFamily="2" charset="0"/>
                <a:sym typeface="Calibri"/>
              </a:rPr>
              <a:t>Session - 1</a:t>
            </a:r>
            <a:endParaRPr sz="2400" dirty="0">
              <a:solidFill>
                <a:schemeClr val="lt1"/>
              </a:solidFill>
              <a:ea typeface="Calibri"/>
              <a:cs typeface="Poppins" panose="00000500000000000000" pitchFamily="2" charset="0"/>
              <a:sym typeface="Calibri"/>
            </a:endParaRPr>
          </a:p>
        </p:txBody>
      </p:sp>
      <p:sp>
        <p:nvSpPr>
          <p:cNvPr id="33" name="Rectangle 32">
            <a:extLst>
              <a:ext uri="{FF2B5EF4-FFF2-40B4-BE49-F238E27FC236}">
                <a16:creationId xmlns:a16="http://schemas.microsoft.com/office/drawing/2014/main" id="{A2BDCC77-0491-FC57-401C-380586D8ED1D}"/>
              </a:ext>
            </a:extLst>
          </p:cNvPr>
          <p:cNvSpPr/>
          <p:nvPr/>
        </p:nvSpPr>
        <p:spPr>
          <a:xfrm>
            <a:off x="0" y="6812281"/>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38D9C68F-2EE2-5410-B640-4F43BF92A6C1}"/>
              </a:ext>
            </a:extLst>
          </p:cNvPr>
          <p:cNvSpPr/>
          <p:nvPr/>
        </p:nvSpPr>
        <p:spPr>
          <a:xfrm>
            <a:off x="0" y="0"/>
            <a:ext cx="12192000" cy="45719"/>
          </a:xfrm>
          <a:prstGeom prst="rect">
            <a:avLst/>
          </a:prstGeom>
          <a:solidFill>
            <a:srgbClr val="BA253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7" name="Picture 2" descr="KL Deemed to be University Logo"/>
          <p:cNvPicPr>
            <a:picLocks noChangeAspect="1" noChangeArrowheads="1"/>
          </p:cNvPicPr>
          <p:nvPr/>
        </p:nvPicPr>
        <p:blipFill>
          <a:blip r:embed="rId4"/>
          <a:srcRect/>
          <a:stretch>
            <a:fillRect/>
          </a:stretch>
        </p:blipFill>
        <p:spPr bwMode="auto">
          <a:xfrm>
            <a:off x="222703" y="81945"/>
            <a:ext cx="2509863" cy="1061599"/>
          </a:xfrm>
          <a:prstGeom prst="rect">
            <a:avLst/>
          </a:prstGeom>
          <a:noFill/>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D530E72E-233E-E443-1A84-D3CD02ECB889}"/>
              </a:ext>
            </a:extLst>
          </p:cNvPr>
          <p:cNvSpPr/>
          <p:nvPr/>
        </p:nvSpPr>
        <p:spPr>
          <a:xfrm>
            <a:off x="4471372" y="84408"/>
            <a:ext cx="3011576"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AIM OF THE SESSION</a:t>
            </a:r>
          </a:p>
        </p:txBody>
      </p:sp>
      <p:sp>
        <p:nvSpPr>
          <p:cNvPr id="5" name="TextBox 4">
            <a:extLst>
              <a:ext uri="{FF2B5EF4-FFF2-40B4-BE49-F238E27FC236}">
                <a16:creationId xmlns:a16="http://schemas.microsoft.com/office/drawing/2014/main" id="{D7C61438-200D-827A-D4DD-5B5127AFA187}"/>
              </a:ext>
            </a:extLst>
          </p:cNvPr>
          <p:cNvSpPr txBox="1"/>
          <p:nvPr/>
        </p:nvSpPr>
        <p:spPr>
          <a:xfrm>
            <a:off x="1752600" y="684469"/>
            <a:ext cx="8791575" cy="338554"/>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r>
              <a:rPr lang="en-US" sz="1600" dirty="0"/>
              <a:t>To nurture students with Concepts of design rules for wires, transistors and contacts. </a:t>
            </a:r>
            <a:endParaRPr lang="en-IN" sz="1600" dirty="0"/>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2" y="1807062"/>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INSTRUCTIONAL OBJECTIVES</a:t>
            </a:r>
          </a:p>
        </p:txBody>
      </p:sp>
      <p:sp>
        <p:nvSpPr>
          <p:cNvPr id="9" name="TextBox 8">
            <a:extLst>
              <a:ext uri="{FF2B5EF4-FFF2-40B4-BE49-F238E27FC236}">
                <a16:creationId xmlns:a16="http://schemas.microsoft.com/office/drawing/2014/main" id="{2B5EAD4E-C007-9DE7-A40A-12802D3C9611}"/>
              </a:ext>
            </a:extLst>
          </p:cNvPr>
          <p:cNvSpPr txBox="1"/>
          <p:nvPr/>
        </p:nvSpPr>
        <p:spPr>
          <a:xfrm>
            <a:off x="1752600" y="2438605"/>
            <a:ext cx="8791575" cy="156966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dirty="0">
                <a:latin typeface="Arial" panose="020B0604020202020204" pitchFamily="34" charset="0"/>
              </a:rPr>
              <a:t>Describe the working principle of CMOS Inverter</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Demonstrate the electrical behavior of </a:t>
            </a:r>
            <a:r>
              <a:rPr lang="en-US" sz="1600" dirty="0">
                <a:latin typeface="Poppins"/>
                <a:cs typeface="Poppins"/>
              </a:rPr>
              <a:t>Inverter with pull up resistive and depletion loads. </a:t>
            </a:r>
            <a:endParaRPr lang="en-US" sz="1600" b="0" i="0" dirty="0">
              <a:effectLst/>
              <a:latin typeface="Arial" panose="020B0604020202020204" pitchFamily="34" charset="0"/>
            </a:endParaRPr>
          </a:p>
          <a:p>
            <a:pPr marL="342900" indent="-342900">
              <a:buAutoNum type="arabicPeriod"/>
            </a:pPr>
            <a:r>
              <a:rPr lang="en-US" sz="1600" dirty="0">
                <a:latin typeface="Arial" panose="020B0604020202020204" pitchFamily="34" charset="0"/>
              </a:rPr>
              <a:t>Describe the Voltage Transfer Characteristic.</a:t>
            </a:r>
            <a:endParaRPr lang="en-US" sz="1600" b="0" i="0" dirty="0">
              <a:effectLst/>
              <a:latin typeface="Arial" panose="020B0604020202020204" pitchFamily="34" charset="0"/>
            </a:endParaRPr>
          </a:p>
        </p:txBody>
      </p:sp>
      <p:pic>
        <p:nvPicPr>
          <p:cNvPr id="11"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0" y="625326"/>
            <a:ext cx="914400" cy="914400"/>
          </a:xfrm>
          <a:prstGeom prst="rect">
            <a:avLst/>
          </a:prstGeom>
        </p:spPr>
      </p:pic>
      <p:pic>
        <p:nvPicPr>
          <p:cNvPr id="27"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38200" y="2438605"/>
            <a:ext cx="914400" cy="914400"/>
          </a:xfrm>
          <a:prstGeom prst="rect">
            <a:avLst/>
          </a:prstGeom>
        </p:spPr>
      </p:pic>
      <p:sp>
        <p:nvSpPr>
          <p:cNvPr id="29" name="Rounded Rectangle 17">
            <a:extLst>
              <a:ext uri="{FF2B5EF4-FFF2-40B4-BE49-F238E27FC236}">
                <a16:creationId xmlns:a16="http://schemas.microsoft.com/office/drawing/2014/main" id="{6652A33D-9A9E-3EAC-0CAE-113901ECA179}"/>
              </a:ext>
            </a:extLst>
          </p:cNvPr>
          <p:cNvSpPr/>
          <p:nvPr/>
        </p:nvSpPr>
        <p:spPr>
          <a:xfrm>
            <a:off x="4212971" y="4249110"/>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LEARNING OUTCOMES</a:t>
            </a:r>
          </a:p>
        </p:txBody>
      </p:sp>
      <p:pic>
        <p:nvPicPr>
          <p:cNvPr id="31"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37" name="TextBox 36">
            <a:extLst>
              <a:ext uri="{FF2B5EF4-FFF2-40B4-BE49-F238E27FC236}">
                <a16:creationId xmlns:a16="http://schemas.microsoft.com/office/drawing/2014/main" id="{B0BB8E68-8B73-12DE-615E-1091F19A9A9A}"/>
              </a:ext>
            </a:extLst>
          </p:cNvPr>
          <p:cNvSpPr txBox="1"/>
          <p:nvPr/>
        </p:nvSpPr>
        <p:spPr>
          <a:xfrm>
            <a:off x="1752600" y="4772230"/>
            <a:ext cx="8791575" cy="1323439"/>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a:t>
            </a:r>
            <a:r>
              <a:rPr lang="en-US" sz="1600" dirty="0">
                <a:latin typeface="Arial"/>
                <a:cs typeface="Arial"/>
              </a:rPr>
              <a:t>session</a:t>
            </a:r>
            <a:r>
              <a:rPr lang="en-US" sz="1600" b="0" i="0" dirty="0">
                <a:effectLst/>
                <a:latin typeface="Arial"/>
                <a:cs typeface="Arial"/>
              </a:rPr>
              <a:t>, you should be able to:</a:t>
            </a:r>
          </a:p>
          <a:p>
            <a:pPr marL="342900" indent="-342900">
              <a:buAutoNum type="arabicPeriod"/>
            </a:pPr>
            <a:r>
              <a:rPr lang="en-US" sz="1600" b="0" i="0" dirty="0">
                <a:effectLst/>
                <a:latin typeface="Arial" panose="020B0604020202020204" pitchFamily="34" charset="0"/>
              </a:rPr>
              <a:t>Define the properties of CMOS Inverter</a:t>
            </a:r>
          </a:p>
          <a:p>
            <a:pPr marL="342900" indent="-342900">
              <a:buAutoNum type="arabicPeriod"/>
            </a:pPr>
            <a:r>
              <a:rPr lang="en-US" sz="1600" dirty="0">
                <a:latin typeface="Arial" panose="020B0604020202020204" pitchFamily="34" charset="0"/>
              </a:rPr>
              <a:t>Calculation of VOH and VOL </a:t>
            </a:r>
            <a:endParaRPr lang="en-US" sz="1600" b="0" i="0" dirty="0">
              <a:effectLst/>
              <a:latin typeface="Arial" panose="020B0604020202020204" pitchFamily="34" charset="0"/>
            </a:endParaRPr>
          </a:p>
          <a:p>
            <a:pPr marL="342900" indent="-342900">
              <a:buAutoNum type="arabicPeriod"/>
            </a:pPr>
            <a:r>
              <a:rPr lang="en-US" sz="1600" dirty="0">
                <a:latin typeface="Arial" panose="020B0604020202020204" pitchFamily="34" charset="0"/>
              </a:rPr>
              <a:t>Design the network/circuit using CMOS Inverters.</a:t>
            </a:r>
            <a:endParaRPr lang="en-US" sz="1600" dirty="0">
              <a:latin typeface="Poppins" panose="00000500000000000000" pitchFamily="2" charset="0"/>
              <a:cs typeface="Poppins" panose="00000500000000000000" pitchFamily="2" charset="0"/>
            </a:endParaRPr>
          </a:p>
        </p:txBody>
      </p:sp>
      <p:pic>
        <p:nvPicPr>
          <p:cNvPr id="12" name="Picture 2" descr="KL Deemed to be University Logo"/>
          <p:cNvPicPr>
            <a:picLocks noChangeAspect="1" noChangeArrowheads="1"/>
          </p:cNvPicPr>
          <p:nvPr/>
        </p:nvPicPr>
        <p:blipFill>
          <a:blip r:embed="rId8"/>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138860798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9" grpId="0" animBg="1"/>
      <p:bldP spid="29" grpId="0" animBg="1"/>
      <p:bldP spid="3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3263704" y="84673"/>
            <a:ext cx="6639951" cy="47803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SESSION INTRODUCTION </a:t>
            </a:r>
          </a:p>
        </p:txBody>
      </p:sp>
      <p:pic>
        <p:nvPicPr>
          <p:cNvPr id="42" name="Picture 2" descr="KL Deemed to be University Logo"/>
          <p:cNvPicPr>
            <a:picLocks noChangeAspect="1" noChangeArrowheads="1"/>
          </p:cNvPicPr>
          <p:nvPr/>
        </p:nvPicPr>
        <p:blipFill>
          <a:blip r:embed="rId3"/>
          <a:srcRect/>
          <a:stretch>
            <a:fillRect/>
          </a:stretch>
        </p:blipFill>
        <p:spPr bwMode="auto">
          <a:xfrm>
            <a:off x="0" y="0"/>
            <a:ext cx="1990725" cy="600076"/>
          </a:xfrm>
          <a:prstGeom prst="rect">
            <a:avLst/>
          </a:prstGeom>
          <a:noFill/>
        </p:spPr>
      </p:pic>
      <p:sp>
        <p:nvSpPr>
          <p:cNvPr id="53" name="TextBox 52"/>
          <p:cNvSpPr txBox="1"/>
          <p:nvPr/>
        </p:nvSpPr>
        <p:spPr>
          <a:xfrm>
            <a:off x="1291629" y="1128457"/>
            <a:ext cx="10086536" cy="4739759"/>
          </a:xfrm>
          <a:prstGeom prst="rect">
            <a:avLst/>
          </a:prstGeom>
          <a:noFill/>
        </p:spPr>
        <p:txBody>
          <a:bodyPr wrap="square" rtlCol="0">
            <a:spAutoFit/>
          </a:bodyPr>
          <a:lstStyle/>
          <a:p>
            <a:endParaRPr lang="en-US" dirty="0"/>
          </a:p>
          <a:p>
            <a:pPr algn="ctr">
              <a:lnSpc>
                <a:spcPct val="150000"/>
              </a:lnSpc>
              <a:spcAft>
                <a:spcPts val="1000"/>
              </a:spcAft>
            </a:pPr>
            <a:r>
              <a:rPr lang="en-US" sz="1800" b="1" i="1" dirty="0">
                <a:effectLst/>
                <a:latin typeface="Times New Roman" panose="02020603050405020304" pitchFamily="18" charset="0"/>
                <a:ea typeface="Calibri" panose="020F0502020204030204" pitchFamily="34" charset="0"/>
                <a:cs typeface="Times New Roman" panose="02020603050405020304" pitchFamily="18" charset="0"/>
              </a:rPr>
              <a:t>“NMOS inverter Design and analysis”</a:t>
            </a:r>
          </a:p>
          <a:p>
            <a:pPr algn="ctr">
              <a:lnSpc>
                <a:spcPct val="150000"/>
              </a:lnSpc>
              <a:spcAft>
                <a:spcPts val="1000"/>
              </a:spcAft>
            </a:pPr>
            <a:endParaRPr lang="en-US" b="1" i="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50000"/>
              </a:lnSpc>
              <a:spcAft>
                <a:spcPts val="1000"/>
              </a:spcAft>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spcAft>
                <a:spcPts val="1000"/>
              </a:spcAft>
              <a:buFont typeface="Wingdings" panose="05000000000000000000" pitchFamily="2" charset="2"/>
              <a:buChar char="v"/>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session starts with the introduction of the Inverter, as the nucleus of all digital designs. </a:t>
            </a:r>
          </a:p>
          <a:p>
            <a:pPr marL="285750" indent="-285750" algn="just">
              <a:lnSpc>
                <a:spcPct val="150000"/>
              </a:lnSpc>
              <a:spcAft>
                <a:spcPts val="1000"/>
              </a:spcAft>
              <a:buFont typeface="Wingdings" panose="05000000000000000000" pitchFamily="2" charset="2"/>
              <a:buChar char="v"/>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Once its operation and properties are clearly understood, designing MOS Inverter</a:t>
            </a:r>
            <a:r>
              <a:rPr lang="en-US" sz="1800" dirty="0">
                <a:effectLst/>
                <a:latin typeface="Calibri" panose="020F0502020204030204" pitchFamily="34" charset="0"/>
                <a:ea typeface="Calibri" panose="020F0502020204030204" pitchFamily="34" charset="0"/>
                <a:cs typeface="Times New Roman" panose="02020603050405020304" pitchFamily="18" charset="0"/>
              </a:rPr>
              <a:t>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with various pull up Resistive &amp; Depletion Load is greatly simplified. </a:t>
            </a:r>
          </a:p>
          <a:p>
            <a:pPr marL="285750" indent="-285750" algn="just">
              <a:lnSpc>
                <a:spcPct val="150000"/>
              </a:lnSpc>
              <a:spcAft>
                <a:spcPts val="1000"/>
              </a:spcAft>
              <a:buFont typeface="Wingdings" panose="05000000000000000000" pitchFamily="2" charset="2"/>
              <a:buChar char="v"/>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electrical behavior of these complex circuits can be almost completely derived by extrapolating the results obtained for inverters.</a:t>
            </a:r>
            <a:endParaRPr lang="en-US" dirty="0"/>
          </a:p>
          <a:p>
            <a:endParaRPr lang="en-US" dirty="0"/>
          </a:p>
        </p:txBody>
      </p:sp>
    </p:spTree>
    <p:extLst>
      <p:ext uri="{BB962C8B-B14F-4D97-AF65-F5344CB8AC3E}">
        <p14:creationId xmlns:p14="http://schemas.microsoft.com/office/powerpoint/2010/main" val="406905234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832022" y="1017689"/>
            <a:ext cx="5815913" cy="5291833"/>
          </a:xfrm>
          <a:prstGeom prst="rect">
            <a:avLst/>
          </a:prstGeom>
          <a:noFill/>
        </p:spPr>
        <p:txBody>
          <a:bodyPr wrap="square" rtlCol="0">
            <a:spAutoFit/>
          </a:bodyPr>
          <a:lstStyle/>
          <a:p>
            <a:pPr algn="just">
              <a:lnSpc>
                <a:spcPct val="150000"/>
              </a:lnSpc>
              <a:spcAft>
                <a:spcPts val="1000"/>
              </a:spcAft>
            </a:pP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Introduction: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inverter is the most fundamental logic gate that performs a Boolean operation on a single input variable.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logic symbol and the truth table of the ideal inverter are given in figure 2.1.</a:t>
            </a:r>
          </a:p>
          <a:p>
            <a:pPr marL="342900" lvl="0" indent="-342900" algn="just">
              <a:lnSpc>
                <a:spcPct val="150000"/>
              </a:lnSpc>
              <a:spcAft>
                <a:spcPts val="1000"/>
              </a:spcAft>
              <a:buFont typeface="Symbol" panose="05050102010706020507" pitchFamily="18" charset="2"/>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In MOS inverter circuits, both the input variable A and the output variable B are represented by node voltages, referenced to the ground potential. Using positive logic convention, the Boolean (or logic) value of "1" can be represented by a high voltage of VDD, and the Boolean (or logic) value of "0" can be represented by a low voltage of 0.</a:t>
            </a:r>
          </a:p>
        </p:txBody>
      </p:sp>
      <p:pic>
        <p:nvPicPr>
          <p:cNvPr id="6" name="Picture 5">
            <a:extLst>
              <a:ext uri="{FF2B5EF4-FFF2-40B4-BE49-F238E27FC236}">
                <a16:creationId xmlns:a16="http://schemas.microsoft.com/office/drawing/2014/main" id="{77E608A4-1D1D-2E3C-988F-BF9102BDCF78}"/>
              </a:ext>
            </a:extLst>
          </p:cNvPr>
          <p:cNvPicPr>
            <a:picLocks noChangeAspect="1"/>
          </p:cNvPicPr>
          <p:nvPr/>
        </p:nvPicPr>
        <p:blipFill>
          <a:blip r:embed="rId3"/>
          <a:stretch>
            <a:fillRect/>
          </a:stretch>
        </p:blipFill>
        <p:spPr>
          <a:xfrm>
            <a:off x="6853881" y="1734194"/>
            <a:ext cx="5222789" cy="3076575"/>
          </a:xfrm>
          <a:prstGeom prst="rect">
            <a:avLst/>
          </a:prstGeom>
        </p:spPr>
      </p:pic>
    </p:spTree>
    <p:extLst>
      <p:ext uri="{BB962C8B-B14F-4D97-AF65-F5344CB8AC3E}">
        <p14:creationId xmlns:p14="http://schemas.microsoft.com/office/powerpoint/2010/main" val="680355262"/>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832022" y="1017689"/>
            <a:ext cx="5815913" cy="5705857"/>
          </a:xfrm>
          <a:prstGeom prst="rect">
            <a:avLst/>
          </a:prstGeom>
          <a:noFill/>
        </p:spPr>
        <p:txBody>
          <a:bodyPr wrap="square" rtlCol="0">
            <a:spAutoFit/>
          </a:bodyPr>
          <a:lstStyle/>
          <a:p>
            <a:pPr algn="just">
              <a:lnSpc>
                <a:spcPct val="150000"/>
              </a:lnSpc>
              <a:spcAft>
                <a:spcPts val="1000"/>
              </a:spcAft>
            </a:pP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Introduction: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DC voltage transfer characteristic (VTC) of the ideal inverter circuit is shown in below figure 2.2.</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voltage, Vth is called the inverter threshold voltage.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Note that for any input voltage between 0 and Vth = VDD/2, the output voltage is equal to VDD (logic “1”).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output switches from VDD to 0 when the input is equal to Vth.</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For any input voltage between Vth and VDD, the output voltage assumes a value of 0 (logic "0").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Thus, an input voltage 0 &lt; Vin&lt; Vth is interpreted by this ideal inverter as a logic "0" while an input voltage Vth &lt;Vin &lt; VDD is interpreted as a logic "1".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91A4C739-1CE3-2CDF-7239-13984E2D4773}"/>
              </a:ext>
            </a:extLst>
          </p:cNvPr>
          <p:cNvPicPr>
            <a:picLocks noChangeAspect="1"/>
          </p:cNvPicPr>
          <p:nvPr/>
        </p:nvPicPr>
        <p:blipFill>
          <a:blip r:embed="rId3"/>
          <a:stretch>
            <a:fillRect/>
          </a:stretch>
        </p:blipFill>
        <p:spPr>
          <a:xfrm>
            <a:off x="6778068" y="2236960"/>
            <a:ext cx="5413932" cy="3011448"/>
          </a:xfrm>
          <a:prstGeom prst="rect">
            <a:avLst/>
          </a:prstGeom>
        </p:spPr>
      </p:pic>
    </p:spTree>
    <p:extLst>
      <p:ext uri="{BB962C8B-B14F-4D97-AF65-F5344CB8AC3E}">
        <p14:creationId xmlns:p14="http://schemas.microsoft.com/office/powerpoint/2010/main" val="281623107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667265" y="1017689"/>
            <a:ext cx="7199869" cy="5572295"/>
          </a:xfrm>
          <a:prstGeom prst="rect">
            <a:avLst/>
          </a:prstGeom>
          <a:noFill/>
        </p:spPr>
        <p:txBody>
          <a:bodyPr wrap="square" rtlCol="0">
            <a:spAutoFit/>
          </a:bodyPr>
          <a:lstStyle/>
          <a:p>
            <a:pPr algn="just">
              <a:lnSpc>
                <a:spcPct val="150000"/>
              </a:lnSpc>
              <a:spcAft>
                <a:spcPts val="1000"/>
              </a:spcAft>
            </a:pP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Introduction: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An inverter circuit is a very important circuit for producing a complete range of logic circuits.</a:t>
            </a:r>
          </a:p>
          <a:p>
            <a:pPr marL="342900" lvl="0" indent="-342900" algn="just">
              <a:lnSpc>
                <a:spcPct val="150000"/>
              </a:lnSpc>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This is needed for restoring logic levels, </a:t>
            </a:r>
          </a:p>
          <a:p>
            <a:pPr lvl="0" algn="just">
              <a:lnSpc>
                <a:spcPct val="15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for NAND and NOR gates, and </a:t>
            </a:r>
          </a:p>
          <a:p>
            <a:pPr lvl="0" algn="just">
              <a:lnSpc>
                <a:spcPct val="15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for sequential and memory circuits of various forms.</a:t>
            </a:r>
          </a:p>
          <a:p>
            <a:pPr marL="285750" lvl="0" indent="-285750" algn="just">
              <a:lnSpc>
                <a:spcPct val="150000"/>
              </a:lnSpc>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Figure 2.3 shows the generalized circuit structure of an nMOS inverter. </a:t>
            </a:r>
          </a:p>
          <a:p>
            <a:pPr marL="285750" lvl="0" indent="-285750" algn="just">
              <a:lnSpc>
                <a:spcPct val="150000"/>
              </a:lnSpc>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input voltage of the inverter circuit is also the gate-to-source voltage of the nMOS transistor (Vin = VGs), while the output voltage of the circuit is equal to the drain-to-source voltage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Vout</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 VDS). </a:t>
            </a:r>
          </a:p>
          <a:p>
            <a:pPr marL="285750" lvl="0" indent="-285750" algn="just">
              <a:lnSpc>
                <a:spcPct val="150000"/>
              </a:lnSpc>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source and the substrate terminals of the nMOS transistor, also called the driver transistor, are connected to ground potential; hence, the source-to-substrate voltage is VSB = 0. </a:t>
            </a:r>
          </a:p>
        </p:txBody>
      </p:sp>
      <p:pic>
        <p:nvPicPr>
          <p:cNvPr id="3" name="Picture 2">
            <a:extLst>
              <a:ext uri="{FF2B5EF4-FFF2-40B4-BE49-F238E27FC236}">
                <a16:creationId xmlns:a16="http://schemas.microsoft.com/office/drawing/2014/main" id="{DA5EB882-16DE-39F6-C752-983E32069925}"/>
              </a:ext>
            </a:extLst>
          </p:cNvPr>
          <p:cNvPicPr>
            <a:picLocks noChangeAspect="1"/>
          </p:cNvPicPr>
          <p:nvPr/>
        </p:nvPicPr>
        <p:blipFill>
          <a:blip r:embed="rId3"/>
          <a:stretch>
            <a:fillRect/>
          </a:stretch>
        </p:blipFill>
        <p:spPr>
          <a:xfrm>
            <a:off x="7978731" y="1017689"/>
            <a:ext cx="4064988" cy="3686175"/>
          </a:xfrm>
          <a:prstGeom prst="rect">
            <a:avLst/>
          </a:prstGeom>
        </p:spPr>
      </p:pic>
    </p:spTree>
    <p:extLst>
      <p:ext uri="{BB962C8B-B14F-4D97-AF65-F5344CB8AC3E}">
        <p14:creationId xmlns:p14="http://schemas.microsoft.com/office/powerpoint/2010/main" val="149379031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518984" y="1017689"/>
            <a:ext cx="4819135" cy="5004575"/>
          </a:xfrm>
          <a:prstGeom prst="rect">
            <a:avLst/>
          </a:prstGeom>
          <a:noFill/>
        </p:spPr>
        <p:txBody>
          <a:bodyPr wrap="square" rtlCol="0">
            <a:spAutoFit/>
          </a:bodyPr>
          <a:lstStyle/>
          <a:p>
            <a:pPr algn="just">
              <a:lnSpc>
                <a:spcPct val="150000"/>
              </a:lnSpc>
              <a:spcAft>
                <a:spcPts val="1000"/>
              </a:spcAft>
            </a:pP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Voltage Transfer Characteristic (VTC)</a:t>
            </a:r>
          </a:p>
          <a:p>
            <a:pPr marL="285750" indent="-285750" algn="just">
              <a:lnSpc>
                <a:spcPct val="150000"/>
              </a:lnSpc>
              <a:spcAft>
                <a:spcPts val="1000"/>
              </a:spcAft>
              <a:buFont typeface="Arial" panose="020B0604020202020204" pitchFamily="34" charset="0"/>
              <a:buChar char="•"/>
            </a:pPr>
            <a:r>
              <a:rPr lang="en-US" dirty="0"/>
              <a:t>Applying Kirchhoff s Current Law (KCL) to this simple circuit, we see that the load current is always equal to the nMOS drain current.</a:t>
            </a:r>
          </a:p>
          <a:p>
            <a:pPr marL="285750" indent="-285750" algn="just">
              <a:lnSpc>
                <a:spcPct val="150000"/>
              </a:lnSpc>
              <a:spcAft>
                <a:spcPts val="1000"/>
              </a:spcAft>
              <a:buFont typeface="Arial" panose="020B0604020202020204" pitchFamily="34" charset="0"/>
              <a:buChar char="•"/>
            </a:pPr>
            <a:endParaRPr lang="en-US" dirty="0"/>
          </a:p>
          <a:p>
            <a:pPr marL="285750" indent="-285750" algn="just">
              <a:lnSpc>
                <a:spcPct val="150000"/>
              </a:lnSpc>
              <a:spcAft>
                <a:spcPts val="1000"/>
              </a:spcAft>
              <a:buFont typeface="Arial" panose="020B0604020202020204" pitchFamily="34" charset="0"/>
              <a:buChar char="•"/>
            </a:pPr>
            <a:r>
              <a:rPr lang="en-US" dirty="0"/>
              <a:t>The voltage transfer characteristic describing V as a function of Vin under DC conditions can then be found by analytically solving (2.1) for various input voltage values. The typical VTC of a realistic nMOS inverter is shown in Figure 2.4. </a:t>
            </a:r>
          </a:p>
        </p:txBody>
      </p:sp>
      <p:pic>
        <p:nvPicPr>
          <p:cNvPr id="7" name="Picture 6">
            <a:extLst>
              <a:ext uri="{FF2B5EF4-FFF2-40B4-BE49-F238E27FC236}">
                <a16:creationId xmlns:a16="http://schemas.microsoft.com/office/drawing/2014/main" id="{A60C6FC8-C096-F024-7800-DFB97C5BCD10}"/>
              </a:ext>
            </a:extLst>
          </p:cNvPr>
          <p:cNvPicPr>
            <a:picLocks noChangeAspect="1"/>
          </p:cNvPicPr>
          <p:nvPr/>
        </p:nvPicPr>
        <p:blipFill>
          <a:blip r:embed="rId3"/>
          <a:stretch>
            <a:fillRect/>
          </a:stretch>
        </p:blipFill>
        <p:spPr>
          <a:xfrm>
            <a:off x="1891344" y="3009900"/>
            <a:ext cx="2752725" cy="419100"/>
          </a:xfrm>
          <a:prstGeom prst="rect">
            <a:avLst/>
          </a:prstGeom>
        </p:spPr>
      </p:pic>
      <p:pic>
        <p:nvPicPr>
          <p:cNvPr id="9" name="Picture 8">
            <a:extLst>
              <a:ext uri="{FF2B5EF4-FFF2-40B4-BE49-F238E27FC236}">
                <a16:creationId xmlns:a16="http://schemas.microsoft.com/office/drawing/2014/main" id="{E2379914-4939-BF00-1A5E-A50B8C632778}"/>
              </a:ext>
            </a:extLst>
          </p:cNvPr>
          <p:cNvPicPr>
            <a:picLocks noChangeAspect="1"/>
          </p:cNvPicPr>
          <p:nvPr/>
        </p:nvPicPr>
        <p:blipFill>
          <a:blip r:embed="rId4"/>
          <a:stretch>
            <a:fillRect/>
          </a:stretch>
        </p:blipFill>
        <p:spPr>
          <a:xfrm>
            <a:off x="5499787" y="1809750"/>
            <a:ext cx="6629400" cy="3238500"/>
          </a:xfrm>
          <a:prstGeom prst="rect">
            <a:avLst/>
          </a:prstGeom>
        </p:spPr>
      </p:pic>
    </p:spTree>
    <p:extLst>
      <p:ext uri="{BB962C8B-B14F-4D97-AF65-F5344CB8AC3E}">
        <p14:creationId xmlns:p14="http://schemas.microsoft.com/office/powerpoint/2010/main" val="3765387430"/>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313038" y="1017689"/>
            <a:ext cx="7158681" cy="5418599"/>
          </a:xfrm>
          <a:prstGeom prst="rect">
            <a:avLst/>
          </a:prstGeom>
          <a:noFill/>
        </p:spPr>
        <p:txBody>
          <a:bodyPr wrap="square" rtlCol="0">
            <a:spAutoFit/>
          </a:bodyPr>
          <a:lstStyle/>
          <a:p>
            <a:pPr algn="just">
              <a:lnSpc>
                <a:spcPct val="150000"/>
              </a:lnSpc>
              <a:spcAft>
                <a:spcPts val="1000"/>
              </a:spcAft>
            </a:pP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Resistive Load:</a:t>
            </a: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basic structure of a resistive load inverter is shown in the figure 2.5. </a:t>
            </a:r>
          </a:p>
          <a:p>
            <a:pPr algn="just">
              <a:lnSpc>
                <a:spcPct val="150000"/>
              </a:lnSpc>
              <a:spcAft>
                <a:spcPts val="1000"/>
              </a:spcAft>
            </a:pPr>
            <a:r>
              <a:rPr lang="en-US" sz="1800" b="1" i="1" dirty="0">
                <a:effectLst/>
                <a:latin typeface="Times New Roman" panose="02020603050405020304" pitchFamily="18" charset="0"/>
                <a:ea typeface="Calibri" panose="020F0502020204030204" pitchFamily="34" charset="0"/>
                <a:cs typeface="Times New Roman" panose="02020603050405020304" pitchFamily="18" charset="0"/>
              </a:rPr>
              <a:t>Circuit Operation: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When the input of the driver transistor is less than threshold voltage VTH (Vin &lt;VTH), driver transistor is in the cut – off region and does not conduct any current.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So, the voltage drop across the load resistor is ZERO and output voltage is equal to the VDD.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Now, when the input voltage increases further, driver transistor will start conducting the non-zero current and nMOS goes in saturation region.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spcAft>
                <a:spcPts val="1000"/>
              </a:spcAft>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various operating regions of the driver transistor and the corresponding input-output conditions are listed in the following table.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3" name="Picture 2">
            <a:extLst>
              <a:ext uri="{FF2B5EF4-FFF2-40B4-BE49-F238E27FC236}">
                <a16:creationId xmlns:a16="http://schemas.microsoft.com/office/drawing/2014/main" id="{4F27A756-D553-A457-27EA-4DBC3A3DF06B}"/>
              </a:ext>
            </a:extLst>
          </p:cNvPr>
          <p:cNvPicPr>
            <a:picLocks noChangeAspect="1"/>
          </p:cNvPicPr>
          <p:nvPr/>
        </p:nvPicPr>
        <p:blipFill>
          <a:blip r:embed="rId3"/>
          <a:stretch>
            <a:fillRect/>
          </a:stretch>
        </p:blipFill>
        <p:spPr>
          <a:xfrm>
            <a:off x="7471719" y="1017689"/>
            <a:ext cx="4646141" cy="4544401"/>
          </a:xfrm>
          <a:prstGeom prst="rect">
            <a:avLst/>
          </a:prstGeom>
        </p:spPr>
      </p:pic>
    </p:spTree>
    <p:extLst>
      <p:ext uri="{BB962C8B-B14F-4D97-AF65-F5344CB8AC3E}">
        <p14:creationId xmlns:p14="http://schemas.microsoft.com/office/powerpoint/2010/main" val="399517129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2224216" y="1297776"/>
            <a:ext cx="8163698" cy="4142801"/>
          </a:xfrm>
          <a:prstGeom prst="rect">
            <a:avLst/>
          </a:prstGeom>
          <a:noFill/>
        </p:spPr>
        <p:txBody>
          <a:bodyPr wrap="square" rtlCol="0">
            <a:spAutoFit/>
          </a:bodyPr>
          <a:lstStyle/>
          <a:p>
            <a:pPr algn="just">
              <a:lnSpc>
                <a:spcPct val="150000"/>
              </a:lnSpc>
              <a:spcAft>
                <a:spcPts val="1000"/>
              </a:spcAft>
            </a:pPr>
            <a:r>
              <a:rPr lang="en-US" sz="1800" b="1" u="sng" dirty="0">
                <a:effectLst/>
                <a:latin typeface="Times New Roman" panose="02020603050405020304" pitchFamily="18" charset="0"/>
                <a:ea typeface="Calibri" panose="020F0502020204030204" pitchFamily="34" charset="0"/>
              </a:rPr>
              <a:t>ALTERMTIVE FORMS OF PULL –UP </a:t>
            </a:r>
            <a:r>
              <a:rPr lang="en-US" sz="1800" b="1" u="sng"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Generally, the inverter circuit will have a depletion mode pull-up transistor as its load. But there are also other configurations. Let us consider four such arrangements.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Load resistance R</a:t>
            </a:r>
            <a:r>
              <a:rPr lang="en-US" sz="1800" baseline="-25000" dirty="0">
                <a:effectLst/>
                <a:latin typeface="Times New Roman" panose="02020603050405020304" pitchFamily="18" charset="0"/>
                <a:ea typeface="Calibri" panose="020F0502020204030204" pitchFamily="34" charset="0"/>
                <a:cs typeface="Times New Roman" panose="02020603050405020304" pitchFamily="18" charset="0"/>
              </a:rPr>
              <a:t>L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(ii) nMOS depletion mode transistor pull-up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(iii) nMOS enhancement mode pull-up</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(iv) Complementary transistor pull-up (CMOS)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pPr>
            <a:endParaRPr lang="en-US" dirty="0"/>
          </a:p>
        </p:txBody>
      </p:sp>
    </p:spTree>
    <p:extLst>
      <p:ext uri="{BB962C8B-B14F-4D97-AF65-F5344CB8AC3E}">
        <p14:creationId xmlns:p14="http://schemas.microsoft.com/office/powerpoint/2010/main" val="186931475"/>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832022" y="1017689"/>
            <a:ext cx="4917989" cy="5577617"/>
          </a:xfrm>
          <a:prstGeom prst="rect">
            <a:avLst/>
          </a:prstGeom>
          <a:noFill/>
        </p:spPr>
        <p:txBody>
          <a:bodyPr wrap="square" rtlCol="0">
            <a:spAutoFit/>
          </a:bodyPr>
          <a:lstStyle/>
          <a:p>
            <a:pPr algn="just">
              <a:lnSpc>
                <a:spcPct val="150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Load resistance R</a:t>
            </a:r>
            <a:r>
              <a:rPr lang="en-US" sz="1800" b="1" baseline="-25000" dirty="0">
                <a:effectLst/>
                <a:latin typeface="Times New Roman" panose="02020603050405020304" pitchFamily="18" charset="0"/>
                <a:ea typeface="Calibri" panose="020F0502020204030204" pitchFamily="34" charset="0"/>
                <a:cs typeface="Times New Roman" panose="02020603050405020304" pitchFamily="18" charset="0"/>
              </a:rPr>
              <a:t>L</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US" dirty="0"/>
              <a:t>This arrangement consists of a load resistor as a pull-up as shown in the figure 2.6 below. </a:t>
            </a:r>
          </a:p>
          <a:p>
            <a:pPr marL="342900" lvl="0" indent="-342900" algn="just">
              <a:lnSpc>
                <a:spcPct val="150000"/>
              </a:lnSpc>
              <a:buFont typeface="Symbol" panose="05050102010706020507" pitchFamily="18" charset="2"/>
              <a:buChar char=""/>
            </a:pPr>
            <a:r>
              <a:rPr lang="en-US" dirty="0"/>
              <a:t>It consists of an nMOS transistor connected between the output node and the ground, and is controlled by the input voltage applied at its gate terminal. </a:t>
            </a:r>
          </a:p>
          <a:p>
            <a:pPr marL="342900" lvl="0" indent="-342900" algn="just">
              <a:lnSpc>
                <a:spcPct val="150000"/>
              </a:lnSpc>
              <a:buFont typeface="Symbol" panose="05050102010706020507" pitchFamily="18" charset="2"/>
              <a:buChar char=""/>
            </a:pPr>
            <a:r>
              <a:rPr lang="en-US" dirty="0"/>
              <a:t>A load is connected between the power supply (VDD) and the output terminal.</a:t>
            </a:r>
          </a:p>
          <a:p>
            <a:pPr marL="342900" lvl="0" indent="-342900" algn="just">
              <a:lnSpc>
                <a:spcPct val="150000"/>
              </a:lnSpc>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rPr>
              <a:t>We now analyze the output voltage levels for logic ‘0’ and logic ‘1’. Let us consider the load as a resistor of value R</a:t>
            </a:r>
            <a:r>
              <a:rPr lang="en-US" sz="1800" baseline="-25000" dirty="0">
                <a:effectLst/>
                <a:latin typeface="Times New Roman" panose="02020603050405020304" pitchFamily="18" charset="0"/>
                <a:ea typeface="Calibri" panose="020F0502020204030204" pitchFamily="34" charset="0"/>
              </a:rPr>
              <a:t>L</a:t>
            </a:r>
            <a:r>
              <a:rPr lang="en-US" sz="1800" dirty="0">
                <a:effectLst/>
                <a:latin typeface="Times New Roman" panose="02020603050405020304" pitchFamily="18" charset="0"/>
                <a:ea typeface="Calibri" panose="020F0502020204030204" pitchFamily="34" charset="0"/>
              </a:rPr>
              <a:t>; and let the resistance of the driver nMOS transistor be R</a:t>
            </a:r>
            <a:r>
              <a:rPr lang="en-US" sz="1800" baseline="-25000" dirty="0">
                <a:effectLst/>
                <a:latin typeface="Times New Roman" panose="02020603050405020304" pitchFamily="18" charset="0"/>
                <a:ea typeface="Calibri" panose="020F0502020204030204" pitchFamily="34" charset="0"/>
              </a:rPr>
              <a:t>D</a:t>
            </a:r>
            <a:r>
              <a:rPr lang="en-US" sz="1800" dirty="0">
                <a:effectLst/>
                <a:latin typeface="Times New Roman" panose="02020603050405020304" pitchFamily="18" charset="0"/>
                <a:ea typeface="Calibri" panose="020F0502020204030204" pitchFamily="34" charset="0"/>
              </a:rPr>
              <a:t>.</a:t>
            </a:r>
            <a:endParaRPr lang="en-US" dirty="0"/>
          </a:p>
        </p:txBody>
      </p:sp>
      <p:pic>
        <p:nvPicPr>
          <p:cNvPr id="3" name="Picture 2">
            <a:extLst>
              <a:ext uri="{FF2B5EF4-FFF2-40B4-BE49-F238E27FC236}">
                <a16:creationId xmlns:a16="http://schemas.microsoft.com/office/drawing/2014/main" id="{DC2D2270-01F9-AF36-C13E-1F22D8FF5FC6}"/>
              </a:ext>
            </a:extLst>
          </p:cNvPr>
          <p:cNvPicPr>
            <a:picLocks noChangeAspect="1"/>
          </p:cNvPicPr>
          <p:nvPr/>
        </p:nvPicPr>
        <p:blipFill>
          <a:blip r:embed="rId3"/>
          <a:stretch>
            <a:fillRect/>
          </a:stretch>
        </p:blipFill>
        <p:spPr>
          <a:xfrm>
            <a:off x="5835198" y="1656063"/>
            <a:ext cx="6157806" cy="3006553"/>
          </a:xfrm>
          <a:prstGeom prst="rect">
            <a:avLst/>
          </a:prstGeom>
        </p:spPr>
      </p:pic>
      <p:pic>
        <p:nvPicPr>
          <p:cNvPr id="6" name="Picture 5">
            <a:extLst>
              <a:ext uri="{FF2B5EF4-FFF2-40B4-BE49-F238E27FC236}">
                <a16:creationId xmlns:a16="http://schemas.microsoft.com/office/drawing/2014/main" id="{1FF3C26E-2CFA-17B2-24FB-5E6CD7E26A5C}"/>
              </a:ext>
            </a:extLst>
          </p:cNvPr>
          <p:cNvPicPr>
            <a:picLocks noChangeAspect="1"/>
          </p:cNvPicPr>
          <p:nvPr/>
        </p:nvPicPr>
        <p:blipFill>
          <a:blip r:embed="rId4"/>
          <a:stretch>
            <a:fillRect/>
          </a:stretch>
        </p:blipFill>
        <p:spPr>
          <a:xfrm>
            <a:off x="6020957" y="5281613"/>
            <a:ext cx="2390775" cy="561975"/>
          </a:xfrm>
          <a:prstGeom prst="rect">
            <a:avLst/>
          </a:prstGeom>
        </p:spPr>
      </p:pic>
    </p:spTree>
    <p:extLst>
      <p:ext uri="{BB962C8B-B14F-4D97-AF65-F5344CB8AC3E}">
        <p14:creationId xmlns:p14="http://schemas.microsoft.com/office/powerpoint/2010/main" val="87075003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832022" y="1017689"/>
            <a:ext cx="10766854" cy="3086101"/>
          </a:xfrm>
          <a:prstGeom prst="rect">
            <a:avLst/>
          </a:prstGeom>
          <a:noFill/>
        </p:spPr>
        <p:txBody>
          <a:bodyPr wrap="square" rtlCol="0">
            <a:spAutoFit/>
          </a:bodyPr>
          <a:lstStyle/>
          <a:p>
            <a:pPr algn="ctr">
              <a:lnSpc>
                <a:spcPct val="150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Load resistance R</a:t>
            </a:r>
            <a:r>
              <a:rPr lang="en-US" sz="1800" b="1" baseline="-25000" dirty="0">
                <a:effectLst/>
                <a:latin typeface="Times New Roman" panose="02020603050405020304" pitchFamily="18" charset="0"/>
                <a:ea typeface="Calibri" panose="020F0502020204030204" pitchFamily="34" charset="0"/>
                <a:cs typeface="Times New Roman" panose="02020603050405020304" pitchFamily="18" charset="0"/>
              </a:rPr>
              <a:t>L</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sz="1800" b="1" i="1" dirty="0">
                <a:effectLst/>
                <a:latin typeface="Times New Roman" panose="02020603050405020304" pitchFamily="18" charset="0"/>
                <a:ea typeface="Calibri" panose="020F0502020204030204" pitchFamily="34" charset="0"/>
                <a:cs typeface="Times New Roman" panose="02020603050405020304" pitchFamily="18" charset="0"/>
              </a:rPr>
              <a:t>Calculation of V</a:t>
            </a:r>
            <a:r>
              <a:rPr lang="en-US" sz="1800" b="1" i="1" baseline="-25000" dirty="0">
                <a:effectLst/>
                <a:latin typeface="Times New Roman" panose="02020603050405020304" pitchFamily="18" charset="0"/>
                <a:ea typeface="Calibri" panose="020F0502020204030204" pitchFamily="34" charset="0"/>
                <a:cs typeface="Times New Roman" panose="02020603050405020304" pitchFamily="18" charset="0"/>
              </a:rPr>
              <a:t>OH</a:t>
            </a:r>
            <a:r>
              <a:rPr lang="en-US" sz="1800" b="1" i="1" dirty="0">
                <a:effectLst/>
                <a:latin typeface="Times New Roman" panose="02020603050405020304" pitchFamily="18" charset="0"/>
                <a:ea typeface="Calibri" panose="020F0502020204030204" pitchFamily="34" charset="0"/>
                <a:cs typeface="Times New Roman" panose="02020603050405020304" pitchFamily="18" charset="0"/>
              </a:rPr>
              <a:t> and V</a:t>
            </a:r>
            <a:r>
              <a:rPr lang="en-US" sz="1800" b="1" i="1" baseline="-25000" dirty="0">
                <a:effectLst/>
                <a:latin typeface="Times New Roman" panose="02020603050405020304" pitchFamily="18" charset="0"/>
                <a:ea typeface="Calibri" panose="020F0502020204030204" pitchFamily="34" charset="0"/>
                <a:cs typeface="Times New Roman" panose="02020603050405020304" pitchFamily="18" charset="0"/>
              </a:rPr>
              <a:t>OL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output voltage is expressed as follows: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endParaRPr lang="en-US" dirty="0"/>
          </a:p>
          <a:p>
            <a:pPr algn="just">
              <a:lnSpc>
                <a:spcPct val="15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For maximum VOL, we consider only the positive sign in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Eqn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(2.3). Therefore, the equation is rewritten as follows: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pPr>
            <a:endParaRPr lang="en-US" dirty="0"/>
          </a:p>
        </p:txBody>
      </p:sp>
      <p:pic>
        <p:nvPicPr>
          <p:cNvPr id="10" name="Picture 9">
            <a:extLst>
              <a:ext uri="{FF2B5EF4-FFF2-40B4-BE49-F238E27FC236}">
                <a16:creationId xmlns:a16="http://schemas.microsoft.com/office/drawing/2014/main" id="{4998473F-8C89-E26D-A37F-7C4B5FF0F3F8}"/>
              </a:ext>
            </a:extLst>
          </p:cNvPr>
          <p:cNvPicPr>
            <a:picLocks noChangeAspect="1"/>
          </p:cNvPicPr>
          <p:nvPr/>
        </p:nvPicPr>
        <p:blipFill>
          <a:blip r:embed="rId3"/>
          <a:stretch>
            <a:fillRect/>
          </a:stretch>
        </p:blipFill>
        <p:spPr>
          <a:xfrm>
            <a:off x="5002685" y="2064865"/>
            <a:ext cx="1428750" cy="438150"/>
          </a:xfrm>
          <a:prstGeom prst="rect">
            <a:avLst/>
          </a:prstGeom>
        </p:spPr>
      </p:pic>
      <p:pic>
        <p:nvPicPr>
          <p:cNvPr id="12" name="Picture 11">
            <a:extLst>
              <a:ext uri="{FF2B5EF4-FFF2-40B4-BE49-F238E27FC236}">
                <a16:creationId xmlns:a16="http://schemas.microsoft.com/office/drawing/2014/main" id="{7BDAFD81-AECC-EE3F-841F-7201AB0EC937}"/>
              </a:ext>
            </a:extLst>
          </p:cNvPr>
          <p:cNvPicPr>
            <a:picLocks noChangeAspect="1"/>
          </p:cNvPicPr>
          <p:nvPr/>
        </p:nvPicPr>
        <p:blipFill>
          <a:blip r:embed="rId4"/>
          <a:stretch>
            <a:fillRect/>
          </a:stretch>
        </p:blipFill>
        <p:spPr>
          <a:xfrm>
            <a:off x="3043881" y="3475140"/>
            <a:ext cx="5791200" cy="628650"/>
          </a:xfrm>
          <a:prstGeom prst="rect">
            <a:avLst/>
          </a:prstGeom>
        </p:spPr>
      </p:pic>
    </p:spTree>
    <p:extLst>
      <p:ext uri="{BB962C8B-B14F-4D97-AF65-F5344CB8AC3E}">
        <p14:creationId xmlns:p14="http://schemas.microsoft.com/office/powerpoint/2010/main" val="194084996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832022" y="1017689"/>
            <a:ext cx="10766854" cy="4045338"/>
          </a:xfrm>
          <a:prstGeom prst="rect">
            <a:avLst/>
          </a:prstGeom>
          <a:noFill/>
        </p:spPr>
        <p:txBody>
          <a:bodyPr wrap="square" rtlCol="0">
            <a:spAutoFit/>
          </a:bodyPr>
          <a:lstStyle/>
          <a:p>
            <a:pPr algn="ctr">
              <a:lnSpc>
                <a:spcPct val="150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Load resistance R</a:t>
            </a:r>
            <a:r>
              <a:rPr lang="en-US" sz="1800" b="1" baseline="-25000" dirty="0">
                <a:effectLst/>
                <a:latin typeface="Times New Roman" panose="02020603050405020304" pitchFamily="18" charset="0"/>
                <a:ea typeface="Calibri" panose="020F0502020204030204" pitchFamily="34" charset="0"/>
                <a:cs typeface="Times New Roman" panose="02020603050405020304" pitchFamily="18" charset="0"/>
              </a:rPr>
              <a:t>L</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1000"/>
              </a:spcAft>
            </a:pPr>
            <a:r>
              <a:rPr lang="en-US" sz="1800" b="1" i="1" dirty="0">
                <a:effectLst/>
                <a:latin typeface="Times New Roman" panose="02020603050405020304" pitchFamily="18" charset="0"/>
                <a:ea typeface="Calibri" panose="020F0502020204030204" pitchFamily="34" charset="0"/>
                <a:cs typeface="Times New Roman" panose="02020603050405020304" pitchFamily="18" charset="0"/>
              </a:rPr>
              <a:t>Calculation of V</a:t>
            </a:r>
            <a:r>
              <a:rPr lang="en-US" sz="1800" b="1" i="1" baseline="-25000" dirty="0">
                <a:effectLst/>
                <a:latin typeface="Times New Roman" panose="02020603050405020304" pitchFamily="18" charset="0"/>
                <a:ea typeface="Calibri" panose="020F0502020204030204" pitchFamily="34" charset="0"/>
                <a:cs typeface="Times New Roman" panose="02020603050405020304" pitchFamily="18" charset="0"/>
              </a:rPr>
              <a:t>IL</a:t>
            </a:r>
            <a:r>
              <a:rPr lang="en-US" sz="1800" b="1" i="1" dirty="0">
                <a:effectLst/>
                <a:latin typeface="Times New Roman" panose="02020603050405020304" pitchFamily="18" charset="0"/>
                <a:ea typeface="Calibri" panose="020F0502020204030204" pitchFamily="34" charset="0"/>
                <a:cs typeface="Times New Roman" panose="02020603050405020304" pitchFamily="18" charset="0"/>
              </a:rPr>
              <a:t> and V</a:t>
            </a:r>
            <a:r>
              <a:rPr lang="en-US" sz="1800" b="1" i="1" baseline="-25000" dirty="0">
                <a:effectLst/>
                <a:latin typeface="Times New Roman" panose="02020603050405020304" pitchFamily="18" charset="0"/>
                <a:ea typeface="Calibri" panose="020F0502020204030204" pitchFamily="34" charset="0"/>
                <a:cs typeface="Times New Roman" panose="02020603050405020304" pitchFamily="18" charset="0"/>
              </a:rPr>
              <a:t>IH</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By definition, V</a:t>
            </a:r>
            <a:r>
              <a:rPr lang="en-US" sz="1800" baseline="-25000" dirty="0">
                <a:effectLst/>
                <a:latin typeface="Times New Roman" panose="02020603050405020304" pitchFamily="18" charset="0"/>
                <a:ea typeface="Calibri" panose="020F0502020204030204" pitchFamily="34" charset="0"/>
                <a:cs typeface="Times New Roman" panose="02020603050405020304" pitchFamily="18" charset="0"/>
              </a:rPr>
              <a:t>IL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and V</a:t>
            </a:r>
            <a:r>
              <a:rPr lang="en-US" sz="1800" baseline="-25000" dirty="0">
                <a:effectLst/>
                <a:latin typeface="Times New Roman" panose="02020603050405020304" pitchFamily="18" charset="0"/>
                <a:ea typeface="Calibri" panose="020F0502020204030204" pitchFamily="34" charset="0"/>
                <a:cs typeface="Times New Roman" panose="02020603050405020304" pitchFamily="18" charset="0"/>
              </a:rPr>
              <a:t>IH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are input voltages such that</a:t>
            </a:r>
          </a:p>
          <a:p>
            <a:pPr algn="just">
              <a:lnSpc>
                <a:spcPct val="150000"/>
              </a:lnSpc>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V</a:t>
            </a:r>
            <a:r>
              <a:rPr lang="en-US" sz="1800" baseline="-25000" dirty="0">
                <a:effectLst/>
                <a:latin typeface="Times New Roman" panose="02020603050405020304" pitchFamily="18" charset="0"/>
                <a:ea typeface="Calibri" panose="020F0502020204030204" pitchFamily="34" charset="0"/>
                <a:cs typeface="Times New Roman" panose="02020603050405020304" pitchFamily="18" charset="0"/>
              </a:rPr>
              <a:t>IL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the nMOS transistor is in its saturation region as VDS &gt; VGS –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Vtn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Therefore, we have the following equation:</a:t>
            </a:r>
          </a:p>
          <a:p>
            <a:pPr algn="just">
              <a:lnSpc>
                <a:spcPct val="150000"/>
              </a:lnSpc>
            </a:pP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V</a:t>
            </a:r>
            <a:r>
              <a:rPr lang="en-US" sz="1800" baseline="-25000" dirty="0">
                <a:effectLst/>
                <a:latin typeface="Times New Roman" panose="02020603050405020304" pitchFamily="18" charset="0"/>
                <a:ea typeface="Calibri" panose="020F0502020204030204" pitchFamily="34" charset="0"/>
                <a:cs typeface="Times New Roman" panose="02020603050405020304" pitchFamily="18" charset="0"/>
              </a:rPr>
              <a:t>IH</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the nMOS transistor is in the linear region. Therefore, we have the following equation</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pPr>
            <a:endParaRPr lang="en-US" dirty="0"/>
          </a:p>
        </p:txBody>
      </p:sp>
      <p:pic>
        <p:nvPicPr>
          <p:cNvPr id="3" name="Picture 2">
            <a:extLst>
              <a:ext uri="{FF2B5EF4-FFF2-40B4-BE49-F238E27FC236}">
                <a16:creationId xmlns:a16="http://schemas.microsoft.com/office/drawing/2014/main" id="{84FCF42B-19DF-A73D-B8E3-2DA8F0270B2D}"/>
              </a:ext>
            </a:extLst>
          </p:cNvPr>
          <p:cNvPicPr>
            <a:picLocks noChangeAspect="1"/>
          </p:cNvPicPr>
          <p:nvPr/>
        </p:nvPicPr>
        <p:blipFill>
          <a:blip r:embed="rId3"/>
          <a:stretch>
            <a:fillRect/>
          </a:stretch>
        </p:blipFill>
        <p:spPr>
          <a:xfrm>
            <a:off x="5981828" y="2064094"/>
            <a:ext cx="1019175" cy="571500"/>
          </a:xfrm>
          <a:prstGeom prst="rect">
            <a:avLst/>
          </a:prstGeom>
        </p:spPr>
      </p:pic>
      <p:pic>
        <p:nvPicPr>
          <p:cNvPr id="6" name="Picture 5">
            <a:extLst>
              <a:ext uri="{FF2B5EF4-FFF2-40B4-BE49-F238E27FC236}">
                <a16:creationId xmlns:a16="http://schemas.microsoft.com/office/drawing/2014/main" id="{122F852F-75CC-22D8-3C0C-0BD16F432F05}"/>
              </a:ext>
            </a:extLst>
          </p:cNvPr>
          <p:cNvPicPr>
            <a:picLocks noChangeAspect="1"/>
          </p:cNvPicPr>
          <p:nvPr/>
        </p:nvPicPr>
        <p:blipFill>
          <a:blip r:embed="rId4"/>
          <a:stretch>
            <a:fillRect/>
          </a:stretch>
        </p:blipFill>
        <p:spPr>
          <a:xfrm>
            <a:off x="1990725" y="3378466"/>
            <a:ext cx="2809875" cy="781050"/>
          </a:xfrm>
          <a:prstGeom prst="rect">
            <a:avLst/>
          </a:prstGeom>
        </p:spPr>
      </p:pic>
      <p:pic>
        <p:nvPicPr>
          <p:cNvPr id="8" name="Picture 7">
            <a:extLst>
              <a:ext uri="{FF2B5EF4-FFF2-40B4-BE49-F238E27FC236}">
                <a16:creationId xmlns:a16="http://schemas.microsoft.com/office/drawing/2014/main" id="{4CB00555-2403-2E36-1D6A-4A7CB91D4BEC}"/>
              </a:ext>
            </a:extLst>
          </p:cNvPr>
          <p:cNvPicPr>
            <a:picLocks noChangeAspect="1"/>
          </p:cNvPicPr>
          <p:nvPr/>
        </p:nvPicPr>
        <p:blipFill>
          <a:blip r:embed="rId5"/>
          <a:stretch>
            <a:fillRect/>
          </a:stretch>
        </p:blipFill>
        <p:spPr>
          <a:xfrm>
            <a:off x="3473653" y="4757884"/>
            <a:ext cx="3314700" cy="809625"/>
          </a:xfrm>
          <a:prstGeom prst="rect">
            <a:avLst/>
          </a:prstGeom>
        </p:spPr>
      </p:pic>
    </p:spTree>
    <p:extLst>
      <p:ext uri="{BB962C8B-B14F-4D97-AF65-F5344CB8AC3E}">
        <p14:creationId xmlns:p14="http://schemas.microsoft.com/office/powerpoint/2010/main" val="2272879976"/>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832022" y="1017689"/>
            <a:ext cx="5329881" cy="3501600"/>
          </a:xfrm>
          <a:prstGeom prst="rect">
            <a:avLst/>
          </a:prstGeom>
          <a:noFill/>
        </p:spPr>
        <p:txBody>
          <a:bodyPr wrap="square" rtlCol="0">
            <a:spAutoFit/>
          </a:bodyPr>
          <a:lstStyle/>
          <a:p>
            <a:pPr algn="just">
              <a:lnSpc>
                <a:spcPct val="150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nMOS enhancement mode pull-up</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50000"/>
              </a:lnSpc>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disadvantage of a resistive inverter is that it requires a large area on silicon in order to implement the resistive load. </a:t>
            </a:r>
          </a:p>
          <a:p>
            <a:pPr marL="285750" indent="-285750" algn="just">
              <a:lnSpc>
                <a:spcPct val="150000"/>
              </a:lnSpc>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Therefore, as an alternative to resistive load, it is possible to design a MOS inverter with an enhancement-type nMOS transistor acting as a load, as shown in Fig. 2.7.</a:t>
            </a:r>
          </a:p>
        </p:txBody>
      </p:sp>
      <p:pic>
        <p:nvPicPr>
          <p:cNvPr id="5" name="Picture 4">
            <a:extLst>
              <a:ext uri="{FF2B5EF4-FFF2-40B4-BE49-F238E27FC236}">
                <a16:creationId xmlns:a16="http://schemas.microsoft.com/office/drawing/2014/main" id="{99523DC3-4250-7C4F-B80F-C9472DDC76C1}"/>
              </a:ext>
            </a:extLst>
          </p:cNvPr>
          <p:cNvPicPr>
            <a:picLocks noChangeAspect="1"/>
          </p:cNvPicPr>
          <p:nvPr/>
        </p:nvPicPr>
        <p:blipFill>
          <a:blip r:embed="rId3"/>
          <a:stretch>
            <a:fillRect/>
          </a:stretch>
        </p:blipFill>
        <p:spPr>
          <a:xfrm>
            <a:off x="6334125" y="859582"/>
            <a:ext cx="5857875" cy="3762375"/>
          </a:xfrm>
          <a:prstGeom prst="rect">
            <a:avLst/>
          </a:prstGeom>
        </p:spPr>
      </p:pic>
      <p:sp>
        <p:nvSpPr>
          <p:cNvPr id="9" name="TextBox 8">
            <a:extLst>
              <a:ext uri="{FF2B5EF4-FFF2-40B4-BE49-F238E27FC236}">
                <a16:creationId xmlns:a16="http://schemas.microsoft.com/office/drawing/2014/main" id="{9E22D76C-E35F-0A07-208F-BE9178C5C15F}"/>
              </a:ext>
            </a:extLst>
          </p:cNvPr>
          <p:cNvSpPr txBox="1"/>
          <p:nvPr/>
        </p:nvSpPr>
        <p:spPr>
          <a:xfrm>
            <a:off x="832022" y="4809587"/>
            <a:ext cx="11107320" cy="1711366"/>
          </a:xfrm>
          <a:prstGeom prst="rect">
            <a:avLst/>
          </a:prstGeom>
          <a:noFill/>
        </p:spPr>
        <p:txBody>
          <a:bodyPr wrap="square">
            <a:spAutoFit/>
          </a:bodyPr>
          <a:lstStyle/>
          <a:p>
            <a:pPr marL="285750" indent="-285750" algn="just">
              <a:lnSpc>
                <a:spcPct val="150000"/>
              </a:lnSpc>
              <a:buFont typeface="Arial" panose="020B0604020202020204" pitchFamily="34" charset="0"/>
              <a:buChar char="•"/>
            </a:pPr>
            <a:r>
              <a:rPr lang="en-US" sz="1800" dirty="0">
                <a:effectLst/>
                <a:latin typeface="Calibri" panose="020F0502020204030204" pitchFamily="34" charset="0"/>
                <a:ea typeface="Calibri" panose="020F0502020204030204" pitchFamily="34" charset="0"/>
                <a:cs typeface="Times New Roman" panose="02020603050405020304" pitchFamily="18" charset="0"/>
              </a:rPr>
              <a:t>The load nMOS transistor ML can operate both in the saturation region and in the linear region, as explained in following: In Fig. 2.7(a), ML operates in the saturation region as its gate and drain are shorted together and tied to the power supply, VDD. On the other hand, in Fig. 2.7(b), ML operates in the linear region depending on the bias voltage VDD1.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42182074"/>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39DC903D-9003-4F3D-87E9-EE7D5BEB5D03}"/>
              </a:ext>
            </a:extLst>
          </p:cNvPr>
          <p:cNvSpPr/>
          <p:nvPr/>
        </p:nvSpPr>
        <p:spPr>
          <a:xfrm>
            <a:off x="3473653" y="84408"/>
            <a:ext cx="6201295" cy="42879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2400" dirty="0"/>
              <a:t>SESSION DESCRIPTION</a:t>
            </a:r>
            <a:r>
              <a:rPr lang="en-US" sz="2000" dirty="0">
                <a:ln w="0"/>
                <a:solidFill>
                  <a:schemeClr val="bg1"/>
                </a:solidFill>
                <a:effectLst>
                  <a:outerShdw blurRad="38100" dist="19050" dir="2700000" algn="tl" rotWithShape="0">
                    <a:schemeClr val="dk1">
                      <a:alpha val="40000"/>
                    </a:schemeClr>
                  </a:outerShdw>
                </a:effectLst>
                <a:latin typeface="Poppins"/>
                <a:cs typeface="Poppins"/>
              </a:rPr>
              <a:t> </a:t>
            </a:r>
            <a:endParaRPr lang="en-US" sz="20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24"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6" name="TextBox 25"/>
          <p:cNvSpPr txBox="1"/>
          <p:nvPr/>
        </p:nvSpPr>
        <p:spPr>
          <a:xfrm>
            <a:off x="486032" y="1017689"/>
            <a:ext cx="6944498" cy="3917098"/>
          </a:xfrm>
          <a:prstGeom prst="rect">
            <a:avLst/>
          </a:prstGeom>
          <a:noFill/>
        </p:spPr>
        <p:txBody>
          <a:bodyPr wrap="square" rtlCol="0">
            <a:spAutoFit/>
          </a:bodyPr>
          <a:lstStyle/>
          <a:p>
            <a:pPr algn="just">
              <a:lnSpc>
                <a:spcPct val="150000"/>
              </a:lnSpc>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nMOS depletion mode transistor pull-up</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50000"/>
              </a:lnSpc>
              <a:buFont typeface="Symbol" panose="05050102010706020507" pitchFamily="18" charset="2"/>
              <a:buChar char=""/>
            </a:pPr>
            <a:r>
              <a:rPr lang="en-US" dirty="0"/>
              <a:t>It is also possible to design an MOS inverter with a depletion-type nMOS transistor acting as load, as shown in Fig. 2.8. </a:t>
            </a:r>
          </a:p>
          <a:p>
            <a:pPr marL="342900" lvl="0" indent="-342900" algn="just">
              <a:lnSpc>
                <a:spcPct val="150000"/>
              </a:lnSpc>
              <a:buFont typeface="Symbol" panose="05050102010706020507" pitchFamily="18" charset="2"/>
              <a:buChar char=""/>
            </a:pPr>
            <a:r>
              <a:rPr lang="en-US" dirty="0"/>
              <a:t>The depletion-type nMOS transistor has a built-in channel region. Therefore, with zero gate voltage, the nMOS is ON, whereas for large gate voltage, the channel region gets depleted and the nMOS transistor becomes OFF. </a:t>
            </a:r>
          </a:p>
          <a:p>
            <a:pPr marL="342900" lvl="0" indent="-342900" algn="just">
              <a:lnSpc>
                <a:spcPct val="150000"/>
              </a:lnSpc>
              <a:buFont typeface="Symbol" panose="05050102010706020507" pitchFamily="18" charset="2"/>
              <a:buChar char=""/>
            </a:pPr>
            <a:r>
              <a:rPr lang="en-US" dirty="0"/>
              <a:t>In Fig. 2.8, we see that ML is always ON as its gate is shorted to the source terminal.</a:t>
            </a:r>
          </a:p>
        </p:txBody>
      </p:sp>
      <p:pic>
        <p:nvPicPr>
          <p:cNvPr id="3" name="Picture 2">
            <a:extLst>
              <a:ext uri="{FF2B5EF4-FFF2-40B4-BE49-F238E27FC236}">
                <a16:creationId xmlns:a16="http://schemas.microsoft.com/office/drawing/2014/main" id="{91EC7994-5DF2-87D3-3708-F5F48AB83388}"/>
              </a:ext>
            </a:extLst>
          </p:cNvPr>
          <p:cNvPicPr>
            <a:picLocks noChangeAspect="1"/>
          </p:cNvPicPr>
          <p:nvPr/>
        </p:nvPicPr>
        <p:blipFill>
          <a:blip r:embed="rId3"/>
          <a:stretch>
            <a:fillRect/>
          </a:stretch>
        </p:blipFill>
        <p:spPr>
          <a:xfrm>
            <a:off x="7514195" y="879260"/>
            <a:ext cx="4562475" cy="3781425"/>
          </a:xfrm>
          <a:prstGeom prst="rect">
            <a:avLst/>
          </a:prstGeom>
        </p:spPr>
      </p:pic>
      <p:sp>
        <p:nvSpPr>
          <p:cNvPr id="6" name="TextBox 5">
            <a:extLst>
              <a:ext uri="{FF2B5EF4-FFF2-40B4-BE49-F238E27FC236}">
                <a16:creationId xmlns:a16="http://schemas.microsoft.com/office/drawing/2014/main" id="{B1BBB404-46C9-701A-880D-878A258716BC}"/>
              </a:ext>
            </a:extLst>
          </p:cNvPr>
          <p:cNvSpPr txBox="1"/>
          <p:nvPr/>
        </p:nvSpPr>
        <p:spPr>
          <a:xfrm>
            <a:off x="486032" y="5026738"/>
            <a:ext cx="10824014" cy="1294393"/>
          </a:xfrm>
          <a:prstGeom prst="rect">
            <a:avLst/>
          </a:prstGeom>
          <a:noFill/>
        </p:spPr>
        <p:txBody>
          <a:bodyPr wrap="square">
            <a:spAutoFit/>
          </a:bodyPr>
          <a:lstStyle/>
          <a:p>
            <a:pPr marL="342900" indent="-342900" algn="just">
              <a:lnSpc>
                <a:spcPct val="150000"/>
              </a:lnSpc>
              <a:buFont typeface="Symbol" panose="05050102010706020507" pitchFamily="18" charset="2"/>
              <a:buChar cha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 this type of circuit, when the input is at logic low, the driver nMOS transistor MD is OFF, and the output is at logic high through the load transistor ML. On the other hand, when the input is at logic high, the driver nMOS transistor becomes ON, and the output is connected to the ground through MD.</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41795217"/>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4"/>
                                        </p:tgtEl>
                                      </p:cBhvr>
                                    </p:animEffect>
                                    <p:animScale>
                                      <p:cBhvr>
                                        <p:cTn id="7" dur="250" autoRev="1" fill="hold"/>
                                        <p:tgtEl>
                                          <p:spTgt spid="4"/>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18B84F3E-0BAB-4FEE-A20F-074E440ADCC6}"/>
              </a:ext>
            </a:extLst>
          </p:cNvPr>
          <p:cNvSpPr/>
          <p:nvPr/>
        </p:nvSpPr>
        <p:spPr>
          <a:xfrm>
            <a:off x="2274963" y="94372"/>
            <a:ext cx="9147998" cy="72155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ACTIVITIES/ CASE STUDIES/ IMPORTANT FACTS RELATED TO THE SESSION</a:t>
            </a:r>
          </a:p>
        </p:txBody>
      </p:sp>
      <p:pic>
        <p:nvPicPr>
          <p:cNvPr id="31"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7" name="TextBox 16"/>
          <p:cNvSpPr txBox="1"/>
          <p:nvPr/>
        </p:nvSpPr>
        <p:spPr>
          <a:xfrm>
            <a:off x="1262285" y="1063508"/>
            <a:ext cx="10086536" cy="5176610"/>
          </a:xfrm>
          <a:prstGeom prst="rect">
            <a:avLst/>
          </a:prstGeom>
          <a:noFill/>
        </p:spPr>
        <p:txBody>
          <a:bodyPr wrap="square" rtlCol="0">
            <a:spAutoFit/>
          </a:bodyPr>
          <a:lstStyle/>
          <a:p>
            <a:r>
              <a:rPr lang="en-US" sz="1800" b="1" i="1" u="sng" dirty="0">
                <a:effectLst/>
                <a:latin typeface="Times New Roman" panose="02020603050405020304" pitchFamily="18" charset="0"/>
                <a:ea typeface="Calibri" panose="020F0502020204030204" pitchFamily="34" charset="0"/>
                <a:cs typeface="Times New Roman" panose="02020603050405020304" pitchFamily="18" charset="0"/>
              </a:rPr>
              <a:t>Activities:</a:t>
            </a:r>
          </a:p>
          <a:p>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Design a network of Pull-Up to Pull-Down of an n-MOS inverter driven by another n-MOS inverter.</a:t>
            </a:r>
          </a:p>
          <a:p>
            <a:endParaRPr lang="en-US" sz="1800" dirty="0">
              <a:effectLst/>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1000"/>
              </a:spcAft>
            </a:pPr>
            <a:r>
              <a:rPr lang="en-US" sz="1800" b="1" i="1" u="sng" dirty="0">
                <a:effectLst/>
                <a:latin typeface="Times New Roman" panose="02020603050405020304" pitchFamily="18" charset="0"/>
                <a:ea typeface="Calibri" panose="020F0502020204030204" pitchFamily="34" charset="0"/>
                <a:cs typeface="Times New Roman" panose="02020603050405020304" pitchFamily="18" charset="0"/>
              </a:rPr>
              <a:t>Articles:</a:t>
            </a: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 T. F. Knight and A.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Krymm</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 self-terminating low-voltage swing CMOS output driver," in IEEE Journal of Solid-State Circuits, vol. 23, no. 2, pp. 457-464, April 1988,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doi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10.1109/4.1007.</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 T. J.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Gabara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and S. C. Knauer, "Digitally adjustable resistors in CMOS for high-performance applications," in IEEE Journal of Solid-State Circuits, vol. 27, no. 8, pp. 1176-1185, Aug. 1992,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doi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10.1109/4.148326.</a:t>
            </a: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15000"/>
              </a:lnSpc>
              <a:spcAft>
                <a:spcPts val="1000"/>
              </a:spcAft>
            </a:pPr>
            <a:r>
              <a:rPr lang="en-US" sz="1800" b="1" i="1" u="sng" dirty="0">
                <a:effectLst/>
                <a:latin typeface="Times New Roman" panose="02020603050405020304" pitchFamily="18" charset="0"/>
                <a:ea typeface="Calibri" panose="020F0502020204030204" pitchFamily="34" charset="0"/>
                <a:cs typeface="Times New Roman" panose="02020603050405020304" pitchFamily="18" charset="0"/>
              </a:rPr>
              <a:t>Case Studies:</a:t>
            </a: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 CMOS Inverter: DC Analysis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r>
              <a:rPr lang="en-US" sz="18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rPr>
              <a:t>https://www.egr.msu.edu/classes/ece410/mason/files/Ch7.pdf</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 THE CMOS INVERTER (</a:t>
            </a:r>
            <a:r>
              <a:rPr lang="en-US" sz="18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4"/>
              </a:rPr>
              <a:t>http://bwrcs.eecs.berkeley.edu/Classes/icdesign/ee141_f01/Notes/chapter5.pdf</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US" dirty="0"/>
          </a:p>
        </p:txBody>
      </p:sp>
    </p:spTree>
    <p:extLst>
      <p:ext uri="{BB962C8B-B14F-4D97-AF65-F5344CB8AC3E}">
        <p14:creationId xmlns:p14="http://schemas.microsoft.com/office/powerpoint/2010/main" val="13001463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54D31061-350D-4864-BF25-E3C3C4699CDC}"/>
              </a:ext>
            </a:extLst>
          </p:cNvPr>
          <p:cNvSpPr/>
          <p:nvPr/>
        </p:nvSpPr>
        <p:spPr>
          <a:xfrm>
            <a:off x="3771922" y="93980"/>
            <a:ext cx="5475773"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EXAMPLES</a:t>
            </a:r>
          </a:p>
        </p:txBody>
      </p:sp>
      <p:pic>
        <p:nvPicPr>
          <p:cNvPr id="12"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3" name="TextBox 12"/>
          <p:cNvSpPr txBox="1"/>
          <p:nvPr/>
        </p:nvSpPr>
        <p:spPr>
          <a:xfrm>
            <a:off x="1305633" y="2668933"/>
            <a:ext cx="10086536" cy="2535566"/>
          </a:xfrm>
          <a:prstGeom prst="rect">
            <a:avLst/>
          </a:prstGeom>
          <a:noFill/>
        </p:spPr>
        <p:txBody>
          <a:bodyPr wrap="square" rtlCol="0">
            <a:spAutoFit/>
          </a:bodyPr>
          <a:lstStyle/>
          <a:p>
            <a:pPr algn="just" fontAlgn="base">
              <a:lnSpc>
                <a:spcPct val="150000"/>
              </a:lnSpc>
              <a:buFont typeface="Arial" panose="020B0604020202020204" pitchFamily="34" charset="0"/>
              <a:buChar char="•"/>
            </a:pPr>
            <a:r>
              <a:rPr lang="en-IN" b="0" i="0" dirty="0">
                <a:effectLst/>
                <a:latin typeface="Times New Roman" panose="02020603050405020304" pitchFamily="18" charset="0"/>
                <a:cs typeface="Times New Roman" panose="02020603050405020304" pitchFamily="18" charset="0"/>
              </a:rPr>
              <a:t> These are found in mobile devices, digital cameras, home computers, cell phones, routers, network servers, modems &amp; virtually each other electronic device that needs logic functions.</a:t>
            </a:r>
          </a:p>
          <a:p>
            <a:pPr algn="just" fontAlgn="base">
              <a:lnSpc>
                <a:spcPct val="150000"/>
              </a:lnSpc>
              <a:buFont typeface="Arial" panose="020B0604020202020204" pitchFamily="34" charset="0"/>
              <a:buChar char="•"/>
            </a:pPr>
            <a:r>
              <a:rPr lang="en-US" b="0" i="0" dirty="0">
                <a:effectLst/>
                <a:latin typeface="Times New Roman" panose="02020603050405020304" pitchFamily="18" charset="0"/>
                <a:cs typeface="Times New Roman" panose="02020603050405020304" pitchFamily="18" charset="0"/>
              </a:rPr>
              <a:t> CMOS inverters are the most frequently used flexible MOSFET inverters that are used in designing integrated circuits like CD4069UB CMOS hex inverter, CD4069UBE, CD40106BE, etc. They function through very little power loss &amp; high speed. These inverters are used for generating data in small electronic circuits.</a:t>
            </a:r>
            <a:endParaRPr lang="en-IN"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9629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1FA19A5-9588-483E-843E-C76873B71790}"/>
              </a:ext>
            </a:extLst>
          </p:cNvPr>
          <p:cNvSpPr/>
          <p:nvPr/>
        </p:nvSpPr>
        <p:spPr>
          <a:xfrm>
            <a:off x="3530991" y="84408"/>
            <a:ext cx="6414867" cy="560109"/>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SUMMARY</a:t>
            </a:r>
          </a:p>
        </p:txBody>
      </p:sp>
      <p:pic>
        <p:nvPicPr>
          <p:cNvPr id="17"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18" name="TextBox 17"/>
          <p:cNvSpPr txBox="1"/>
          <p:nvPr/>
        </p:nvSpPr>
        <p:spPr>
          <a:xfrm>
            <a:off x="1083212" y="1252025"/>
            <a:ext cx="10086536" cy="1477328"/>
          </a:xfrm>
          <a:prstGeom prst="rect">
            <a:avLst/>
          </a:prstGeom>
          <a:noFill/>
        </p:spPr>
        <p:txBody>
          <a:bodyPr wrap="square" rtlCol="0">
            <a:spAutoFit/>
          </a:bodyPr>
          <a:lstStyle/>
          <a:p>
            <a:pPr>
              <a:lnSpc>
                <a:spcPct val="200000"/>
              </a:lnSpc>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The CMOS Inverter is introduced in this session with different Resistive &amp; Depletion Load. The enhancement and depletion modes of nMOS are also described.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S" dirty="0"/>
          </a:p>
        </p:txBody>
      </p:sp>
    </p:spTree>
    <p:extLst>
      <p:ext uri="{BB962C8B-B14F-4D97-AF65-F5344CB8AC3E}">
        <p14:creationId xmlns:p14="http://schemas.microsoft.com/office/powerpoint/2010/main" val="4254978408"/>
      </p:ext>
    </p:extLst>
  </p:cSld>
  <p:clrMapOvr>
    <a:masterClrMapping/>
  </p:clrMapOvr>
  <mc:AlternateContent xmlns:mc="http://schemas.openxmlformats.org/markup-compatibility/2006" xmlns:p14="http://schemas.microsoft.com/office/powerpoint/2010/main">
    <mc:Choice Requires="p14">
      <p:transition spd="slow" p14:dur="1600">
        <p:blinds dir="vert"/>
      </p:transition>
    </mc:Choice>
    <mc:Fallback xmlns="">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SELF-ASSESSMENT QUESTIONS</a:t>
            </a: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5" y="1093156"/>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sz="1600" dirty="0">
                <a:solidFill>
                  <a:schemeClr val="bg1"/>
                </a:solidFill>
                <a:latin typeface="Poppins" panose="00000500000000000000" pitchFamily="2" charset="0"/>
                <a:ea typeface="Calibri"/>
                <a:cs typeface="Poppins" panose="00000500000000000000" pitchFamily="2" charset="0"/>
                <a:sym typeface="Calibri"/>
              </a:rPr>
              <a:t>Why is Inverter considered as the nucleus of all digital designs?</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3" name="Google Shape;502;p17">
            <a:extLst>
              <a:ext uri="{FF2B5EF4-FFF2-40B4-BE49-F238E27FC236}">
                <a16:creationId xmlns:a16="http://schemas.microsoft.com/office/drawing/2014/main" id="{BB41B87C-BE5F-4BF2-531D-57DC21D1A451}"/>
              </a:ext>
            </a:extLst>
          </p:cNvPr>
          <p:cNvSpPr/>
          <p:nvPr/>
        </p:nvSpPr>
        <p:spPr>
          <a:xfrm>
            <a:off x="995362" y="2308514"/>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sz="1600" dirty="0">
                <a:solidFill>
                  <a:schemeClr val="bg1"/>
                </a:solidFill>
                <a:latin typeface="Poppins" panose="00000500000000000000" pitchFamily="2" charset="0"/>
                <a:ea typeface="Calibri"/>
                <a:cs typeface="Poppins" panose="00000500000000000000" pitchFamily="2" charset="0"/>
                <a:sym typeface="Calibri"/>
              </a:rPr>
              <a:t>Differentiate between nMOS enhancement mode transistor pull-up and depletion mode transistor pull-up.</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pic>
        <p:nvPicPr>
          <p:cNvPr id="8"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
        <p:nvSpPr>
          <p:cNvPr id="2" name="Google Shape;502;p17">
            <a:extLst>
              <a:ext uri="{FF2B5EF4-FFF2-40B4-BE49-F238E27FC236}">
                <a16:creationId xmlns:a16="http://schemas.microsoft.com/office/drawing/2014/main" id="{7483BB5B-7A6F-1A0C-0DB8-273FFA9B8D04}"/>
              </a:ext>
            </a:extLst>
          </p:cNvPr>
          <p:cNvSpPr/>
          <p:nvPr/>
        </p:nvSpPr>
        <p:spPr>
          <a:xfrm>
            <a:off x="1009895" y="3429000"/>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Poppins" panose="00000500000000000000" pitchFamily="2" charset="0"/>
                <a:ea typeface="Calibri"/>
                <a:cs typeface="Poppins" panose="00000500000000000000" pitchFamily="2" charset="0"/>
                <a:sym typeface="Calibri"/>
              </a:rPr>
              <a:t>3. What is the disadvantage of resistive load while implementing Inverter? Suggest any solution to this problem.</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3" name="Google Shape;502;p17">
            <a:extLst>
              <a:ext uri="{FF2B5EF4-FFF2-40B4-BE49-F238E27FC236}">
                <a16:creationId xmlns:a16="http://schemas.microsoft.com/office/drawing/2014/main" id="{85A295FE-5838-D2E0-5A99-9F2C7B3953A7}"/>
              </a:ext>
            </a:extLst>
          </p:cNvPr>
          <p:cNvSpPr/>
          <p:nvPr/>
        </p:nvSpPr>
        <p:spPr>
          <a:xfrm>
            <a:off x="1009895" y="4644358"/>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lvl="0"/>
            <a:r>
              <a:rPr lang="en-US" sz="1600" dirty="0">
                <a:solidFill>
                  <a:schemeClr val="bg1"/>
                </a:solidFill>
                <a:latin typeface="Poppins" panose="00000500000000000000" pitchFamily="2" charset="0"/>
                <a:ea typeface="Calibri"/>
                <a:cs typeface="Poppins" panose="00000500000000000000" pitchFamily="2" charset="0"/>
                <a:sym typeface="Calibri"/>
              </a:rPr>
              <a:t>4. Why nMOS technology is preferred more than pMOS technology?</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Tree>
    <p:extLst>
      <p:ext uri="{BB962C8B-B14F-4D97-AF65-F5344CB8AC3E}">
        <p14:creationId xmlns:p14="http://schemas.microsoft.com/office/powerpoint/2010/main" val="41927661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up)">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fade">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3" grpId="0" animBg="1"/>
      <p:bldP spid="2" grpId="0" animBg="1"/>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2440807" y="2090256"/>
            <a:ext cx="9608234" cy="1731051"/>
          </a:xfrm>
          <a:prstGeom prst="rect">
            <a:avLst/>
          </a:prstGeom>
          <a:noFill/>
        </p:spPr>
        <p:txBody>
          <a:bodyPr wrap="square" rtlCol="0">
            <a:spAutoFit/>
          </a:bodyPr>
          <a:lstStyle/>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 What are pull-ups? Write about the resistor pull-up and its usage.</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 Derive the expression for estimation of Pull-Up to Pull-Down ratio of an n-MOS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inverter driven by another n-MOS inverter.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c. Illustrate the typical voltage transfer characteristic (VTC) of a realistic nMOS inverter.</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2161309" y="93891"/>
            <a:ext cx="7105194"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REFERENCES FOR FURTHER LEARNING OF THE SESSION</a:t>
            </a:r>
            <a:endParaRPr lang="en-US" sz="2400" dirty="0">
              <a:solidFill>
                <a:schemeClr val="bg1"/>
              </a:solidFill>
              <a:latin typeface="Poppins" panose="00000500000000000000" pitchFamily="2" charset="0"/>
              <a:cs typeface="Poppins" panose="00000500000000000000" pitchFamily="2" charset="0"/>
            </a:endParaRPr>
          </a:p>
        </p:txBody>
      </p:sp>
      <p:sp>
        <p:nvSpPr>
          <p:cNvPr id="9" name="TextBox 8"/>
          <p:cNvSpPr txBox="1"/>
          <p:nvPr/>
        </p:nvSpPr>
        <p:spPr>
          <a:xfrm>
            <a:off x="909789" y="600076"/>
            <a:ext cx="9608234" cy="5718617"/>
          </a:xfrm>
          <a:prstGeom prst="rect">
            <a:avLst/>
          </a:prstGeom>
          <a:noFill/>
        </p:spPr>
        <p:txBody>
          <a:bodyPr wrap="square" rtlCol="0">
            <a:spAutoFit/>
          </a:bodyPr>
          <a:lstStyle/>
          <a:p>
            <a:pPr>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Text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1.Douglas A.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Pucknell</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&amp; Kamran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Eshraghian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Basic VLSI Design, PHI, 3rd Ed., 2011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 Neil H.E.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Weste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David Harris, Ayan Banerjee, CMOS VLSI Design, A Circuits and Systems Perspective, Pearson Education, 4th Ed., 2011</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3. Sung-Mo Kang, Yusuf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Leblebici</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CMOS Digital Integrated Circuits Analysis and Design, Tata Mc-Graw-Hill, 3rd Ed., 2003</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Reference Books:</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1. Jab M.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Rabaey</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Anantha</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Chandra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Kasan</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Borivoje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Nikolic, Digital Integrated Circuits - A Design Perspective, PHI, 2</a:t>
            </a:r>
            <a:r>
              <a:rPr lang="en-US" sz="1800" baseline="30000" dirty="0">
                <a:effectLst/>
                <a:latin typeface="Times New Roman" panose="02020603050405020304" pitchFamily="18" charset="0"/>
                <a:ea typeface="Calibri" panose="020F0502020204030204" pitchFamily="34" charset="0"/>
                <a:cs typeface="Times New Roman" panose="02020603050405020304" pitchFamily="18" charset="0"/>
              </a:rPr>
              <a:t>nd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Ed., 2012</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gn="just">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2. Michal John Sebastian Smith, Application-Specific Integrated Circuits, Pearson Education, 6th Ed., 2009</a:t>
            </a:r>
            <a:endParaRPr lang="en-US" dirty="0"/>
          </a:p>
          <a:p>
            <a:pPr>
              <a:lnSpc>
                <a:spcPct val="150000"/>
              </a:lnSpc>
            </a:pPr>
            <a:r>
              <a:rPr lang="en-US" b="1" dirty="0"/>
              <a:t>Sites and Web links:</a:t>
            </a:r>
          </a:p>
          <a:p>
            <a:pPr>
              <a:lnSpc>
                <a:spcPct val="115000"/>
              </a:lnSpc>
              <a:spcAft>
                <a:spcPts val="1000"/>
              </a:spcAft>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1. </a:t>
            </a:r>
            <a:r>
              <a:rPr lang="en-US" sz="18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2"/>
              </a:rPr>
              <a:t>https://www.egr.msu.edu/classes/ece410/mason/files/Ch7.pdf</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1000"/>
              </a:spcAft>
            </a:pPr>
            <a:r>
              <a:rPr lang="en-US" sz="1800" u="sng" dirty="0">
                <a:effectLst/>
                <a:latin typeface="Times New Roman" panose="02020603050405020304" pitchFamily="18"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2. </a:t>
            </a:r>
            <a:r>
              <a:rPr lang="en-US" sz="1800" u="sng" dirty="0">
                <a:solidFill>
                  <a:srgbClr val="0563C1"/>
                </a:solidFill>
                <a:effectLst/>
                <a:latin typeface="Times New Roman" panose="02020603050405020304" pitchFamily="18" charset="0"/>
                <a:ea typeface="Calibri" panose="020F0502020204030204" pitchFamily="34" charset="0"/>
                <a:cs typeface="Times New Roman" panose="02020603050405020304" pitchFamily="18" charset="0"/>
                <a:hlinkClick r:id="rId3">
                  <a:extLst>
                    <a:ext uri="{A12FA001-AC4F-418D-AE19-62706E023703}">
                      <ahyp:hlinkClr xmlns:ahyp="http://schemas.microsoft.com/office/drawing/2018/hyperlinkcolor" val="tx"/>
                    </a:ext>
                  </a:extLst>
                </a:hlinkClick>
              </a:rPr>
              <a:t>http://bwrcs.eecs.berkeley.edu/Classes/icdesign/ee141_f01/Notes/chapter5.pdf</a:t>
            </a:r>
            <a:endParaRPr lang="en-US" u="sng" dirty="0"/>
          </a:p>
          <a:p>
            <a:pPr>
              <a:lnSpc>
                <a:spcPct val="150000"/>
              </a:lnSpc>
            </a:pPr>
            <a:r>
              <a:rPr lang="en-US" dirty="0"/>
              <a:t>3. https://nptelvideos.com/video.php?id=1317</a:t>
            </a:r>
          </a:p>
        </p:txBody>
      </p:sp>
      <p:pic>
        <p:nvPicPr>
          <p:cNvPr id="5" name="Picture 2" descr="KL Deemed to be University Logo"/>
          <p:cNvPicPr>
            <a:picLocks noChangeAspect="1" noChangeArrowheads="1"/>
          </p:cNvPicPr>
          <p:nvPr/>
        </p:nvPicPr>
        <p:blipFill>
          <a:blip r:embed="rId4"/>
          <a:srcRect/>
          <a:stretch>
            <a:fillRect/>
          </a:stretch>
        </p:blipFill>
        <p:spPr bwMode="auto">
          <a:xfrm>
            <a:off x="0" y="0"/>
            <a:ext cx="1990725" cy="600076"/>
          </a:xfrm>
          <a:prstGeom prst="rect">
            <a:avLst/>
          </a:prstGeom>
          <a:noFill/>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602523" y="185693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400" b="1" dirty="0">
                <a:latin typeface="Poppins" pitchFamily="2" charset="77"/>
                <a:cs typeface="Poppins" pitchFamily="2" charset="77"/>
              </a:rPr>
              <a:t>Team – VLSI Design</a:t>
            </a: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514534" y="2560321"/>
            <a:ext cx="3235570" cy="1083212"/>
          </a:xfrm>
          <a:prstGeom prst="rect">
            <a:avLst/>
          </a:prstGeom>
          <a:noFill/>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xtreme Shadow">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threePt" dir="tl">
              <a:rot lat="0" lon="0" rev="19800000"/>
            </a:lightRig>
          </a:scene3d>
          <a:sp3d prstMaterial="plastic">
            <a:bevelT w="25400" h="1905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38100" h="3175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45058B0D91A7444BDF69F20EF097C18" ma:contentTypeVersion="14" ma:contentTypeDescription="Create a new document." ma:contentTypeScope="" ma:versionID="0ede872240208156a106060c7bf37a70">
  <xsd:schema xmlns:xsd="http://www.w3.org/2001/XMLSchema" xmlns:xs="http://www.w3.org/2001/XMLSchema" xmlns:p="http://schemas.microsoft.com/office/2006/metadata/properties" xmlns:ns3="d43ee83c-3e71-4748-8ebc-8eaadf793425" xmlns:ns4="0125a647-8023-46ae-ae6e-85cf36d841bd" targetNamespace="http://schemas.microsoft.com/office/2006/metadata/properties" ma:root="true" ma:fieldsID="e836ceb473825fb8f3d8aa266dca4abb" ns3:_="" ns4:_="">
    <xsd:import namespace="d43ee83c-3e71-4748-8ebc-8eaadf793425"/>
    <xsd:import namespace="0125a647-8023-46ae-ae6e-85cf36d841bd"/>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DateTaken" minOccurs="0"/>
                <xsd:element ref="ns4:MediaServiceAutoTags" minOccurs="0"/>
                <xsd:element ref="ns4:MediaServiceGenerationTime" minOccurs="0"/>
                <xsd:element ref="ns4:MediaServiceEventHashCode" minOccurs="0"/>
                <xsd:element ref="ns4:MediaServiceOCR" minOccurs="0"/>
                <xsd:element ref="ns4:MediaLengthInSeconds" minOccurs="0"/>
                <xsd:element ref="ns4:MediaServiceAutoKeyPoints" minOccurs="0"/>
                <xsd:element ref="ns4:MediaServiceKeyPoints" minOccurs="0"/>
                <xsd:element ref="ns4: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43ee83c-3e71-4748-8ebc-8eaadf79342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125a647-8023-46ae-ae6e-85cf36d841bd"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Length (seconds)" ma:internalName="MediaLengthInSeconds" ma:readOnly="true">
      <xsd:simpleType>
        <xsd:restriction base="dms:Unknown"/>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ServiceLocation" ma:index="21" nillable="true" ma:displayName="Location"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89A6ECA-0C1B-4F00-836D-A696F073E5C2}">
  <ds:schemaRefs>
    <ds:schemaRef ds:uri="0125a647-8023-46ae-ae6e-85cf36d841bd"/>
    <ds:schemaRef ds:uri="d43ee83c-3e71-4748-8ebc-8eaadf79342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3DA00F5F-5366-4B1C-9406-30DECA796ABB}">
  <ds:schemaRefs>
    <ds:schemaRef ds:uri="http://schemas.microsoft.com/sharepoint/v3/contenttype/forms"/>
  </ds:schemaRefs>
</ds:datastoreItem>
</file>

<file path=customXml/itemProps3.xml><?xml version="1.0" encoding="utf-8"?>
<ds:datastoreItem xmlns:ds="http://schemas.openxmlformats.org/officeDocument/2006/customXml" ds:itemID="{EBBD0A98-E68B-4DAA-8964-2F739D6D4075}">
  <ds:schemaRefs>
    <ds:schemaRef ds:uri="0125a647-8023-46ae-ae6e-85cf36d841bd"/>
    <ds:schemaRef ds:uri="d43ee83c-3e71-4748-8ebc-8eaadf79342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Office Theme</Template>
  <TotalTime>124</TotalTime>
  <Words>1984</Words>
  <Application>Microsoft Office PowerPoint</Application>
  <PresentationFormat>Widescreen</PresentationFormat>
  <Paragraphs>147</Paragraphs>
  <Slides>21</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Calibri Light</vt:lpstr>
      <vt:lpstr>Poppins</vt:lpstr>
      <vt:lpstr>Symbol</vt:lpstr>
      <vt:lpstr>Times New Roman</vt:lpstr>
      <vt:lpstr>Wingdings</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 FUNDMENTALS OF ORGANIZATIONAL BEHAVIOUR</dc:title>
  <dc:creator>Younus Sayyad</dc:creator>
  <cp:lastModifiedBy>Naren Das</cp:lastModifiedBy>
  <cp:revision>43</cp:revision>
  <dcterms:created xsi:type="dcterms:W3CDTF">2020-02-08T09:57:44Z</dcterms:created>
  <dcterms:modified xsi:type="dcterms:W3CDTF">2022-11-25T09:19:57Z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0x010100845058B0D91A7444BDF69F20EF097C18</vt:lpwstr>
  </property>
</Properties>
</file>