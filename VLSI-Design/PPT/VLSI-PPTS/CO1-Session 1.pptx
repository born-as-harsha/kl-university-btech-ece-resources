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3"/>
  </p:notesMasterIdLst>
  <p:sldIdLst>
    <p:sldId id="271" r:id="rId5"/>
    <p:sldId id="300" r:id="rId6"/>
    <p:sldId id="288" r:id="rId7"/>
    <p:sldId id="306" r:id="rId8"/>
    <p:sldId id="290" r:id="rId9"/>
    <p:sldId id="305" r:id="rId10"/>
    <p:sldId id="299" r:id="rId11"/>
    <p:sldId id="307" r:id="rId12"/>
    <p:sldId id="283" r:id="rId13"/>
    <p:sldId id="284" r:id="rId14"/>
    <p:sldId id="308" r:id="rId15"/>
    <p:sldId id="286" r:id="rId16"/>
    <p:sldId id="285" r:id="rId17"/>
    <p:sldId id="287" r:id="rId18"/>
    <p:sldId id="301" r:id="rId19"/>
    <p:sldId id="302" r:id="rId20"/>
    <p:sldId id="303" r:id="rId21"/>
    <p:sldId id="30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84845"/>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89"/>
  </p:normalViewPr>
  <p:slideViewPr>
    <p:cSldViewPr snapToGrid="0">
      <p:cViewPr varScale="1">
        <p:scale>
          <a:sx n="65" d="100"/>
          <a:sy n="65" d="100"/>
        </p:scale>
        <p:origin x="700"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11/17/2022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11/17/2022</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11/17/2022</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11/17/2022</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11/17/2022</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11/17/2022</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11/17/2022</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11/17/2022</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11/17/2022</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11/17/2022</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11/17/2022</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hitachi-hightech.com/global/en/knowledge/semiconductor/room/about/history.html"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1" y="16329"/>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2185173"/>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VLSI Design</a:t>
            </a:r>
          </a:p>
          <a:p>
            <a:pPr marR="0" lvl="0" indent="0" algn="ctr">
              <a:spcBef>
                <a:spcPts val="0"/>
              </a:spcBef>
              <a:spcAft>
                <a:spcPts val="0"/>
              </a:spcAft>
              <a:buNone/>
            </a:pPr>
            <a:r>
              <a:rPr lang="en-US" sz="3200" b="1" cap="all" dirty="0">
                <a:ln/>
                <a:solidFill>
                  <a:srgbClr val="C00000"/>
                </a:solidFill>
                <a:highlight>
                  <a:srgbClr val="FFFF00"/>
                </a:highlight>
                <a:cs typeface="Poppins" panose="00000500000000000000" pitchFamily="2" charset="0"/>
                <a:sym typeface="BioRhyme ExtraBold"/>
              </a:rPr>
              <a:t>COURSE CODE</a:t>
            </a: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3200" b="1" cap="all" dirty="0">
                <a:ln/>
                <a:solidFill>
                  <a:srgbClr val="C00000"/>
                </a:solidFill>
                <a:effectLst/>
                <a:cs typeface="Poppins" panose="00000500000000000000" pitchFamily="2" charset="0"/>
              </a:rPr>
              <a:t>Introduction to IC Technology</a:t>
            </a:r>
            <a:endParaRPr lang="en-US" sz="3200" b="1" dirty="0">
              <a:solidFill>
                <a:srgbClr val="C00000"/>
              </a:solidFill>
              <a:effectLst/>
              <a:cs typeface="Poppins" panose="00000500000000000000" pitchFamily="2" charset="0"/>
            </a:endParaRP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5899355" y="492137"/>
            <a:ext cx="5909187" cy="830956"/>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5658320" y="492137"/>
            <a:ext cx="6410633" cy="830956"/>
          </a:xfrm>
          <a:prstGeom prst="rect">
            <a:avLst/>
          </a:prstGeom>
          <a:noFill/>
          <a:ln>
            <a:noFill/>
          </a:ln>
          <a:effectLst/>
        </p:spPr>
        <p:txBody>
          <a:bodyPr spcFirstLastPara="1" wrap="square" lIns="91425" tIns="45700" rIns="91425" bIns="45700" anchor="t" anchorCtr="0">
            <a:spAutoFit/>
          </a:bodyPr>
          <a:lstStyle/>
          <a:p>
            <a:pPr algn="ctr"/>
            <a:r>
              <a:rPr lang="en-US" sz="2400" dirty="0">
                <a:solidFill>
                  <a:srgbClr val="C00000"/>
                </a:solidFill>
                <a:cs typeface="Poppins" pitchFamily="2" charset="77"/>
              </a:rPr>
              <a:t>Department of Electronics and Communication Engineering</a:t>
            </a:r>
          </a:p>
        </p:txBody>
      </p:sp>
      <p:sp>
        <p:nvSpPr>
          <p:cNvPr id="8" name="Google Shape;502;p17">
            <a:extLst>
              <a:ext uri="{FF2B5EF4-FFF2-40B4-BE49-F238E27FC236}">
                <a16:creationId xmlns:a16="http://schemas.microsoft.com/office/drawing/2014/main" id="{7153E61F-4441-DBE3-3DFF-6E9EF6C48D23}"/>
              </a:ext>
            </a:extLst>
          </p:cNvPr>
          <p:cNvSpPr/>
          <p:nvPr/>
        </p:nvSpPr>
        <p:spPr>
          <a:xfrm>
            <a:off x="7623168" y="4758078"/>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- 1</a:t>
            </a:r>
            <a:endParaRPr sz="240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914400" y="684469"/>
            <a:ext cx="10731286" cy="79611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concept of IC Technology</a:t>
            </a:r>
          </a:p>
          <a:p>
            <a:pPr>
              <a:lnSpc>
                <a:spcPct val="150000"/>
              </a:lnSpc>
            </a:pP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342900" indent="-342900">
              <a:buAutoNum type="arabicPeriod"/>
            </a:pPr>
            <a:r>
              <a:rPr lang="en-US" sz="1600" b="0" i="0" dirty="0">
                <a:effectLst/>
                <a:latin typeface="Arial" panose="020B0604020202020204" pitchFamily="34" charset="0"/>
              </a:rPr>
              <a:t>Demonstrate the various phases of development of IC Technology </a:t>
            </a:r>
          </a:p>
          <a:p>
            <a:pPr marL="342900" indent="-342900">
              <a:buAutoNum type="arabicPeriod"/>
            </a:pPr>
            <a:r>
              <a:rPr lang="en-US" sz="1600" b="0" i="0" dirty="0">
                <a:effectLst/>
                <a:latin typeface="Arial" panose="020B0604020202020204" pitchFamily="34" charset="0"/>
              </a:rPr>
              <a:t>Describe the history of IC Technology.</a:t>
            </a: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600" y="4772230"/>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b="0" i="0" dirty="0">
                <a:effectLst/>
                <a:latin typeface="Arial" panose="020B0604020202020204" pitchFamily="34" charset="0"/>
              </a:rPr>
              <a:t>Define IC Technology</a:t>
            </a:r>
          </a:p>
          <a:p>
            <a:pPr marL="342900" indent="-342900">
              <a:buAutoNum type="arabicPeriod"/>
            </a:pPr>
            <a:r>
              <a:rPr lang="en-US" sz="1600" b="0" i="0" dirty="0">
                <a:effectLst/>
                <a:latin typeface="Arial" panose="020B0604020202020204" pitchFamily="34" charset="0"/>
              </a:rPr>
              <a:t>Describe the various phases of development of IC Technology.</a:t>
            </a:r>
          </a:p>
          <a:p>
            <a:pPr marL="342900" indent="-342900">
              <a:buAutoNum type="arabicPeriod"/>
            </a:pPr>
            <a:r>
              <a:rPr lang="en-US" sz="1600" dirty="0">
                <a:latin typeface="Arial" panose="020B0604020202020204" pitchFamily="34" charset="0"/>
              </a:rPr>
              <a:t>Summarize The IC Era and Future Perspective.</a:t>
            </a:r>
            <a:endParaRPr lang="en-US" sz="1600" dirty="0">
              <a:latin typeface="Poppins" panose="00000500000000000000" pitchFamily="2" charset="0"/>
              <a:cs typeface="Poppins" panose="00000500000000000000" pitchFamily="2" charset="0"/>
            </a:endParaRP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Background of IC Technology</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1139483" y="984738"/>
            <a:ext cx="10176217" cy="5047536"/>
          </a:xfrm>
          <a:prstGeom prst="rect">
            <a:avLst/>
          </a:prstGeom>
          <a:noFill/>
        </p:spPr>
        <p:txBody>
          <a:bodyPr wrap="square" rtlCol="0">
            <a:spAutoFit/>
          </a:bodyPr>
          <a:lstStyle/>
          <a:p>
            <a:pPr algn="just">
              <a:buFont typeface="Wingdings" pitchFamily="2" charset="2"/>
              <a:buChar char="§"/>
              <a:defRPr/>
            </a:pPr>
            <a:r>
              <a:rPr lang="en-IN" dirty="0">
                <a:latin typeface="Times New Roman" panose="02020603050405020304" pitchFamily="18" charset="0"/>
                <a:cs typeface="Times New Roman" panose="02020603050405020304" pitchFamily="18" charset="0"/>
              </a:rPr>
              <a:t>The development of electronics endless with invention of vacuum tubes and associated electronic circuits.</a:t>
            </a:r>
          </a:p>
          <a:p>
            <a:pPr algn="just">
              <a:buFont typeface="Wingdings" pitchFamily="2" charset="2"/>
              <a:buChar char="§"/>
              <a:defRPr/>
            </a:pPr>
            <a:endParaRPr lang="en-IN" dirty="0">
              <a:latin typeface="Times New Roman" panose="02020603050405020304" pitchFamily="18" charset="0"/>
              <a:cs typeface="Times New Roman" panose="02020603050405020304" pitchFamily="18" charset="0"/>
            </a:endParaRPr>
          </a:p>
          <a:p>
            <a:pPr algn="just">
              <a:buFont typeface="Wingdings" pitchFamily="2" charset="2"/>
              <a:buChar char="§"/>
              <a:defRPr/>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This activity termed as vacuum tube electronics, </a:t>
            </a:r>
          </a:p>
          <a:p>
            <a:pPr lvl="2" algn="just">
              <a:defRPr/>
            </a:pPr>
            <a:r>
              <a:rPr lang="en-IN" dirty="0">
                <a:latin typeface="Times New Roman" panose="02020603050405020304" pitchFamily="18" charset="0"/>
                <a:cs typeface="Times New Roman" panose="02020603050405020304" pitchFamily="18" charset="0"/>
              </a:rPr>
              <a:t>Afterward, the evolution of solid-state devices and consequent development of integrated circuits are responsible for the present status of communication, computing and instrumentation. </a:t>
            </a:r>
          </a:p>
          <a:p>
            <a:pPr algn="just">
              <a:buFont typeface="Wingdings" pitchFamily="2" charset="2"/>
              <a:buChar char="§"/>
              <a:defRPr/>
            </a:pPr>
            <a:endParaRPr lang="en-US" dirty="0">
              <a:latin typeface="Times New Roman" panose="02020603050405020304" pitchFamily="18" charset="0"/>
              <a:cs typeface="Times New Roman" panose="02020603050405020304" pitchFamily="18" charset="0"/>
            </a:endParaRPr>
          </a:p>
          <a:p>
            <a:pPr algn="just">
              <a:defRPr/>
            </a:pPr>
            <a:r>
              <a:rPr lang="en-IN" dirty="0">
                <a:latin typeface="Times New Roman" panose="02020603050405020304" pitchFamily="18" charset="0"/>
                <a:cs typeface="Times New Roman" panose="02020603050405020304" pitchFamily="18" charset="0"/>
              </a:rPr>
              <a:t>	• The first vacuum tube diode was invented by </a:t>
            </a:r>
            <a:r>
              <a:rPr lang="en-IN" b="1" dirty="0">
                <a:latin typeface="Times New Roman" panose="02020603050405020304" pitchFamily="18" charset="0"/>
                <a:cs typeface="Times New Roman" panose="02020603050405020304" pitchFamily="18" charset="0"/>
              </a:rPr>
              <a:t>John Ambrose Fleming </a:t>
            </a:r>
            <a:r>
              <a:rPr lang="en-IN" dirty="0">
                <a:latin typeface="Times New Roman" panose="02020603050405020304" pitchFamily="18" charset="0"/>
                <a:cs typeface="Times New Roman" panose="02020603050405020304" pitchFamily="18" charset="0"/>
              </a:rPr>
              <a:t>in 1904. </a:t>
            </a:r>
          </a:p>
          <a:p>
            <a:pPr algn="just">
              <a:defRPr/>
            </a:pPr>
            <a:r>
              <a:rPr lang="en-IN" dirty="0">
                <a:latin typeface="Times New Roman" panose="02020603050405020304" pitchFamily="18" charset="0"/>
                <a:cs typeface="Times New Roman" panose="02020603050405020304" pitchFamily="18" charset="0"/>
              </a:rPr>
              <a:t>	• The vacuum triode was invented by </a:t>
            </a:r>
            <a:r>
              <a:rPr lang="en-IN" b="1" dirty="0">
                <a:latin typeface="Times New Roman" panose="02020603050405020304" pitchFamily="18" charset="0"/>
                <a:cs typeface="Times New Roman" panose="02020603050405020304" pitchFamily="18" charset="0"/>
              </a:rPr>
              <a:t>Lee de forest </a:t>
            </a:r>
            <a:r>
              <a:rPr lang="en-IN" dirty="0">
                <a:latin typeface="Times New Roman" panose="02020603050405020304" pitchFamily="18" charset="0"/>
                <a:cs typeface="Times New Roman" panose="02020603050405020304" pitchFamily="18" charset="0"/>
              </a:rPr>
              <a:t>in 1906. </a:t>
            </a:r>
          </a:p>
          <a:p>
            <a:pPr algn="just">
              <a:buFont typeface="Wingdings" pitchFamily="2" charset="2"/>
              <a:buChar char="§"/>
              <a:defRPr/>
            </a:pPr>
            <a:endParaRPr lang="en-US" sz="1800" b="1" dirty="0">
              <a:solidFill>
                <a:schemeClr val="bg2">
                  <a:lumMod val="25000"/>
                </a:schemeClr>
              </a:solidFill>
            </a:endParaRPr>
          </a:p>
          <a:p>
            <a:pPr marL="285750" indent="-285750" algn="just">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Solid-State Device has a vast history. </a:t>
            </a:r>
            <a:r>
              <a:rPr lang="en-US" sz="1600" b="0" i="0" dirty="0">
                <a:effectLst/>
                <a:latin typeface="Times New Roman" panose="02020603050405020304" pitchFamily="18" charset="0"/>
                <a:cs typeface="Times New Roman" panose="02020603050405020304" pitchFamily="18" charset="0"/>
              </a:rPr>
              <a:t>The birth history of semiconductors can be traced back to the invention of the rectifier (AC-DC converter) in 1874. </a:t>
            </a:r>
          </a:p>
          <a:p>
            <a:pPr marL="285750" indent="-285750" algn="just">
              <a:buFont typeface="Wingdings" panose="05000000000000000000" pitchFamily="2" charset="2"/>
              <a:buChar char="§"/>
            </a:pPr>
            <a:r>
              <a:rPr lang="en-US" sz="1600" b="0" i="0" dirty="0">
                <a:effectLst/>
                <a:latin typeface="Times New Roman" panose="02020603050405020304" pitchFamily="18" charset="0"/>
                <a:cs typeface="Times New Roman" panose="02020603050405020304" pitchFamily="18" charset="0"/>
              </a:rPr>
              <a:t>Decades later, Bardeen and Brattain at Bell Laboratories in the US invented the point-contact transistor in 1947, and Shockley invented the junction  transistor  in 1948. </a:t>
            </a:r>
          </a:p>
          <a:p>
            <a:pPr marL="285750" indent="-285750" algn="just">
              <a:buFont typeface="Wingdings" panose="05000000000000000000" pitchFamily="2" charset="2"/>
              <a:buChar char="§"/>
            </a:pPr>
            <a:r>
              <a:rPr lang="en-US" sz="1600" b="0" i="0" dirty="0">
                <a:effectLst/>
                <a:latin typeface="Times New Roman" panose="02020603050405020304" pitchFamily="18" charset="0"/>
                <a:cs typeface="Times New Roman" panose="02020603050405020304" pitchFamily="18" charset="0"/>
              </a:rPr>
              <a:t>This heralded the arrival of the transistor  era. In 1946, the University of Pennsylvania in the US built a computer using the vacuum tubes. The computer was so large that its vacuum tubes occupied the entire building, and it consumed a huge amount of electricity and produced a lot of heat. Later, the innovative  transistor calculator (computer) was developed, and since then computers have grown by leaps and bounds. </a:t>
            </a:r>
          </a:p>
          <a:p>
            <a:pPr marL="285750" indent="-285750" algn="just">
              <a:buFont typeface="Wingdings" panose="05000000000000000000" pitchFamily="2" charset="2"/>
              <a:buChar char="§"/>
            </a:pPr>
            <a:r>
              <a:rPr lang="en-US" sz="1600" b="0" i="0" dirty="0">
                <a:effectLst/>
                <a:latin typeface="Times New Roman" panose="02020603050405020304" pitchFamily="18" charset="0"/>
                <a:cs typeface="Times New Roman" panose="02020603050405020304" pitchFamily="18" charset="0"/>
              </a:rPr>
              <a:t>In 1956, the Nobel Prize in Physics was awarded jointly to Shockley, Bardeen and Brattain for their contribution to  transistor research and the development of the  transistor.</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03552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95400"/>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Various Phase of ICs Development</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775689" y="896247"/>
            <a:ext cx="6333033" cy="5509200"/>
          </a:xfrm>
          <a:prstGeom prst="rect">
            <a:avLst/>
          </a:prstGeom>
          <a:noFill/>
        </p:spPr>
        <p:txBody>
          <a:bodyPr wrap="square" rtlCol="0">
            <a:spAutoFit/>
          </a:bodyPr>
          <a:lstStyle/>
          <a:p>
            <a:pPr marL="285750" indent="-285750" algn="just">
              <a:buFont typeface="Wingdings" panose="05000000000000000000" pitchFamily="2" charset="2"/>
              <a:buChar char="§"/>
              <a:defRPr/>
            </a:pPr>
            <a:r>
              <a:rPr lang="en-US" sz="1600" b="0" i="0" dirty="0">
                <a:effectLst/>
                <a:latin typeface="Times New Roman" panose="02020603050405020304" pitchFamily="18" charset="0"/>
                <a:cs typeface="Times New Roman" panose="02020603050405020304" pitchFamily="18" charset="0"/>
              </a:rPr>
              <a:t>The semiconductor industry grew rapidly following the invention of the transistor. In 1957, it already exceeded the scale of 100 million dollars. In 1959, the bipolar integrated circuit (IC) was invented by Kilby of Texas Instruments and Noyce of Fairchild Semiconductor in the US. This invention had a major impact on the history of semiconductors, and it marked the dawn of the IC era. Being small and light in weight, the IC was widely used in a variety of  electric appliances.</a:t>
            </a:r>
          </a:p>
          <a:p>
            <a:pPr marL="285750" indent="-285750" algn="just">
              <a:buFont typeface="Wingdings" panose="05000000000000000000" pitchFamily="2" charset="2"/>
              <a:buChar char="§"/>
              <a:defRPr/>
            </a:pPr>
            <a:r>
              <a:rPr lang="en-US" sz="1600" b="0" i="0" dirty="0">
                <a:effectLst/>
                <a:latin typeface="Times New Roman" panose="02020603050405020304" pitchFamily="18" charset="0"/>
                <a:cs typeface="Times New Roman" panose="02020603050405020304" pitchFamily="18" charset="0"/>
              </a:rPr>
              <a:t>In 1967, Texas Instruments developed the electronic desktop calculator (the calculator) using IC. In Japan, electronic equipment manufacturers released calculators one after another, and fierce “calculator wars” continued until the end of the 1970s. IC integration advanced even further, and the large-scale integrated circuit (LSI) was developed. </a:t>
            </a:r>
          </a:p>
          <a:p>
            <a:pPr marL="285750" indent="-285750" algn="just">
              <a:buFont typeface="Wingdings" panose="05000000000000000000" pitchFamily="2" charset="2"/>
              <a:buChar char="§"/>
              <a:defRPr/>
            </a:pPr>
            <a:r>
              <a:rPr lang="en-US" sz="1600" b="0" i="0" dirty="0">
                <a:effectLst/>
                <a:latin typeface="Times New Roman" panose="02020603050405020304" pitchFamily="18" charset="0"/>
                <a:cs typeface="Times New Roman" panose="02020603050405020304" pitchFamily="18" charset="0"/>
              </a:rPr>
              <a:t>The technologies continue to advance. The VLSI (from 100 thousand to 10 million electronic components per chip) was developed in the 1980s, and the ULSI (more than 10 million electronic components per chip) was developed in the 1990s. In the 2000s, the system LSI (a multifunction LSI with multiple functions integrated in a single chip) was put into full-scale production. As IC progresses toward high performance and multiple functions, its field of application is expanding broadly. Semicond</a:t>
            </a:r>
            <a:r>
              <a:rPr lang="en-US" sz="1600" dirty="0">
                <a:latin typeface="Times New Roman" panose="02020603050405020304" pitchFamily="18" charset="0"/>
                <a:cs typeface="Times New Roman" panose="02020603050405020304" pitchFamily="18" charset="0"/>
              </a:rPr>
              <a:t>uctor</a:t>
            </a:r>
            <a:r>
              <a:rPr lang="en-US" sz="1600" b="0" i="0" dirty="0">
                <a:effectLst/>
                <a:latin typeface="Times New Roman" panose="02020603050405020304" pitchFamily="18" charset="0"/>
                <a:cs typeface="Times New Roman" panose="02020603050405020304" pitchFamily="18" charset="0"/>
              </a:rPr>
              <a:t> are now used in every corner of our society and support everyday life.</a:t>
            </a:r>
            <a:endParaRPr lang="en-US" dirty="0"/>
          </a:p>
        </p:txBody>
      </p:sp>
      <p:pic>
        <p:nvPicPr>
          <p:cNvPr id="1026" name="Picture 2" descr="History">
            <a:extLst>
              <a:ext uri="{FF2B5EF4-FFF2-40B4-BE49-F238E27FC236}">
                <a16:creationId xmlns:a16="http://schemas.microsoft.com/office/drawing/2014/main" id="{0700EF04-94BC-FC22-3D5E-B22CD5148D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49475" y="1661652"/>
            <a:ext cx="4650946" cy="26940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402326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IC Technology</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052732" y="701105"/>
            <a:ext cx="10086536" cy="5909310"/>
          </a:xfrm>
          <a:prstGeom prst="rect">
            <a:avLst/>
          </a:prstGeom>
          <a:noFill/>
        </p:spPr>
        <p:txBody>
          <a:bodyPr wrap="square" rtlCol="0">
            <a:spAutoFit/>
          </a:bodyPr>
          <a:lstStyle/>
          <a:p>
            <a:pPr algn="just">
              <a:buFont typeface="Wingdings" pitchFamily="2" charset="2"/>
              <a:buChar char="§"/>
              <a:defRPr/>
            </a:pPr>
            <a:r>
              <a:rPr lang="en-IN" sz="1800" b="1" dirty="0">
                <a:latin typeface="Times New Roman" panose="02020603050405020304" pitchFamily="18" charset="0"/>
                <a:cs typeface="Times New Roman" panose="02020603050405020304" pitchFamily="18" charset="0"/>
              </a:rPr>
              <a:t>The integration of large numbers of tiny transistors into a small chip was an enormous improvement </a:t>
            </a:r>
          </a:p>
          <a:p>
            <a:pPr algn="just">
              <a:defRPr/>
            </a:pPr>
            <a:r>
              <a:rPr lang="en-IN" sz="1800" dirty="0">
                <a:latin typeface="Times New Roman" panose="02020603050405020304" pitchFamily="18" charset="0"/>
                <a:cs typeface="Times New Roman" panose="02020603050405020304" pitchFamily="18" charset="0"/>
              </a:rPr>
              <a:t>	-Over the manual assembly of circuits using electronic components.</a:t>
            </a:r>
          </a:p>
          <a:p>
            <a:pPr algn="just">
              <a:buFont typeface="Wingdings" pitchFamily="2" charset="2"/>
              <a:buChar char="§"/>
              <a:defRPr/>
            </a:pPr>
            <a:endParaRPr lang="en-US" sz="1800" dirty="0">
              <a:latin typeface="Times New Roman" panose="02020603050405020304" pitchFamily="18" charset="0"/>
              <a:cs typeface="Times New Roman" panose="02020603050405020304" pitchFamily="18" charset="0"/>
            </a:endParaRPr>
          </a:p>
          <a:p>
            <a:pPr algn="just">
              <a:buFont typeface="Wingdings" pitchFamily="2" charset="2"/>
              <a:buChar char="§"/>
              <a:defRPr/>
            </a:pPr>
            <a:endParaRPr lang="en-US" sz="1800" dirty="0">
              <a:latin typeface="Times New Roman" panose="02020603050405020304" pitchFamily="18" charset="0"/>
              <a:cs typeface="Times New Roman" panose="02020603050405020304" pitchFamily="18" charset="0"/>
            </a:endParaRPr>
          </a:p>
          <a:p>
            <a:pPr algn="just">
              <a:buFont typeface="Wingdings" pitchFamily="2" charset="2"/>
              <a:buChar char="§"/>
              <a:defRPr/>
            </a:pPr>
            <a:endParaRPr lang="en-IN" sz="1800" dirty="0">
              <a:latin typeface="Times New Roman" panose="02020603050405020304" pitchFamily="18" charset="0"/>
              <a:cs typeface="Times New Roman" panose="02020603050405020304" pitchFamily="18" charset="0"/>
            </a:endParaRPr>
          </a:p>
          <a:p>
            <a:pPr algn="just">
              <a:buFont typeface="Wingdings" pitchFamily="2" charset="2"/>
              <a:buChar char="§"/>
              <a:defRPr/>
            </a:pP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The integrated circuits mass production capability,</a:t>
            </a:r>
          </a:p>
          <a:p>
            <a:pPr algn="just">
              <a:defRPr/>
            </a:pPr>
            <a:r>
              <a:rPr lang="en-IN" sz="1800" dirty="0">
                <a:latin typeface="Times New Roman" panose="02020603050405020304" pitchFamily="18" charset="0"/>
                <a:cs typeface="Times New Roman" panose="02020603050405020304" pitchFamily="18" charset="0"/>
              </a:rPr>
              <a:t>	-Reliability, and </a:t>
            </a:r>
          </a:p>
          <a:p>
            <a:pPr algn="just">
              <a:defRPr/>
            </a:pPr>
            <a:r>
              <a:rPr lang="en-IN" sz="1800" dirty="0">
                <a:latin typeface="Times New Roman" panose="02020603050405020304" pitchFamily="18" charset="0"/>
                <a:cs typeface="Times New Roman" panose="02020603050405020304" pitchFamily="18" charset="0"/>
              </a:rPr>
              <a:t>	-Building-block approach to circuit design ensured the rapid adoption of standardized ICs in place of designs using discrete transistors. </a:t>
            </a:r>
          </a:p>
          <a:p>
            <a:pPr algn="just">
              <a:buFont typeface="Wingdings" pitchFamily="2" charset="2"/>
              <a:buChar char="§"/>
              <a:defRPr/>
            </a:pPr>
            <a:endParaRPr lang="en-US" sz="1800" dirty="0">
              <a:latin typeface="Times New Roman" panose="02020603050405020304" pitchFamily="18" charset="0"/>
              <a:cs typeface="Times New Roman" panose="02020603050405020304" pitchFamily="18" charset="0"/>
            </a:endParaRPr>
          </a:p>
          <a:p>
            <a:pPr algn="just">
              <a:buFont typeface="Wingdings" pitchFamily="2" charset="2"/>
              <a:buChar char="§"/>
              <a:defRPr/>
            </a:pPr>
            <a:endParaRPr lang="en-US" sz="1800" dirty="0">
              <a:latin typeface="Times New Roman" panose="02020603050405020304" pitchFamily="18" charset="0"/>
              <a:cs typeface="Times New Roman" panose="02020603050405020304" pitchFamily="18" charset="0"/>
            </a:endParaRPr>
          </a:p>
          <a:p>
            <a:pPr algn="just">
              <a:buFont typeface="Wingdings" pitchFamily="2" charset="2"/>
              <a:buChar char="§"/>
              <a:defRPr/>
            </a:pPr>
            <a:endParaRPr lang="en-IN" sz="1800" dirty="0">
              <a:latin typeface="Times New Roman" panose="02020603050405020304" pitchFamily="18" charset="0"/>
              <a:cs typeface="Times New Roman" panose="02020603050405020304" pitchFamily="18" charset="0"/>
            </a:endParaRPr>
          </a:p>
          <a:p>
            <a:pPr algn="just">
              <a:buFont typeface="Wingdings" pitchFamily="2" charset="2"/>
              <a:buChar char="§"/>
              <a:defRPr/>
            </a:pPr>
            <a:r>
              <a:rPr lang="en-IN" sz="1800" b="1" dirty="0">
                <a:latin typeface="Times New Roman" panose="02020603050405020304" pitchFamily="18" charset="0"/>
                <a:cs typeface="Times New Roman" panose="02020603050405020304" pitchFamily="18" charset="0"/>
              </a:rPr>
              <a:t>An integrated circuit (IC) is a small semiconductor-based electronic device consisting of fabricated transistors, resistors and capacitors. </a:t>
            </a:r>
          </a:p>
          <a:p>
            <a:pPr algn="just">
              <a:defRPr/>
            </a:pPr>
            <a:r>
              <a:rPr lang="en-IN" sz="1800" dirty="0">
                <a:latin typeface="Times New Roman" panose="02020603050405020304" pitchFamily="18" charset="0"/>
                <a:cs typeface="Times New Roman" panose="02020603050405020304" pitchFamily="18" charset="0"/>
              </a:rPr>
              <a:t>	-Integrated circuits are the building blocks of  most electronic devices and equipment. </a:t>
            </a:r>
          </a:p>
          <a:p>
            <a:pPr algn="just">
              <a:buFont typeface="Wingdings" pitchFamily="2" charset="2"/>
              <a:buChar char="§"/>
              <a:defRPr/>
            </a:pPr>
            <a:endParaRPr lang="en-US" sz="1800" dirty="0">
              <a:latin typeface="Times New Roman" panose="02020603050405020304" pitchFamily="18" charset="0"/>
              <a:cs typeface="Times New Roman" panose="02020603050405020304" pitchFamily="18" charset="0"/>
            </a:endParaRPr>
          </a:p>
          <a:p>
            <a:pPr algn="just">
              <a:buFont typeface="Wingdings" pitchFamily="2" charset="2"/>
              <a:buChar char="§"/>
              <a:defRPr/>
            </a:pPr>
            <a:endParaRPr lang="en-US" sz="1800" dirty="0">
              <a:latin typeface="Times New Roman" panose="02020603050405020304" pitchFamily="18" charset="0"/>
              <a:cs typeface="Times New Roman" panose="02020603050405020304" pitchFamily="18" charset="0"/>
            </a:endParaRPr>
          </a:p>
          <a:p>
            <a:pPr algn="just">
              <a:buFont typeface="Wingdings" pitchFamily="2" charset="2"/>
              <a:buChar char="§"/>
              <a:defRPr/>
            </a:pPr>
            <a:endParaRPr lang="en-IN" sz="1800" b="1" dirty="0">
              <a:latin typeface="Times New Roman" panose="02020603050405020304" pitchFamily="18" charset="0"/>
              <a:cs typeface="Times New Roman" panose="02020603050405020304" pitchFamily="18" charset="0"/>
            </a:endParaRPr>
          </a:p>
          <a:p>
            <a:pPr algn="just">
              <a:buFont typeface="Wingdings" pitchFamily="2" charset="2"/>
              <a:buChar char="§"/>
              <a:defRPr/>
            </a:pPr>
            <a:r>
              <a:rPr lang="en-IN" sz="1800" b="1" dirty="0">
                <a:latin typeface="Times New Roman" panose="02020603050405020304" pitchFamily="18" charset="0"/>
                <a:cs typeface="Times New Roman" panose="02020603050405020304" pitchFamily="18" charset="0"/>
              </a:rPr>
              <a:t>An integrated circuit is also known as a chip or  microchip.</a:t>
            </a:r>
          </a:p>
          <a:p>
            <a:pPr algn="just">
              <a:defRPr/>
            </a:pPr>
            <a:r>
              <a:rPr lang="en-IN" sz="1800" dirty="0">
                <a:latin typeface="Times New Roman" panose="02020603050405020304" pitchFamily="18" charset="0"/>
                <a:cs typeface="Times New Roman" panose="02020603050405020304" pitchFamily="18" charset="0"/>
              </a:rPr>
              <a:t>	-There are two main advantages of ICs over discrete circuits: cost and performance.</a:t>
            </a:r>
          </a:p>
          <a:p>
            <a:pPr algn="just">
              <a:defRPr/>
            </a:pPr>
            <a:r>
              <a:rPr lang="en-IN" sz="18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IC Technology</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TextBox 2">
            <a:extLst>
              <a:ext uri="{FF2B5EF4-FFF2-40B4-BE49-F238E27FC236}">
                <a16:creationId xmlns:a16="http://schemas.microsoft.com/office/drawing/2014/main" id="{AB9740EA-CEF1-E056-0A3C-1078869B95A1}"/>
              </a:ext>
            </a:extLst>
          </p:cNvPr>
          <p:cNvSpPr txBox="1"/>
          <p:nvPr/>
        </p:nvSpPr>
        <p:spPr>
          <a:xfrm>
            <a:off x="1484671" y="924519"/>
            <a:ext cx="9222658" cy="5724644"/>
          </a:xfrm>
          <a:prstGeom prst="rect">
            <a:avLst/>
          </a:prstGeom>
          <a:noFill/>
        </p:spPr>
        <p:txBody>
          <a:bodyPr wrap="square">
            <a:spAutoFit/>
          </a:bodyPr>
          <a:lstStyle/>
          <a:p>
            <a:pPr marL="285750" indent="-285750" algn="just">
              <a:buFont typeface="Wingdings" panose="05000000000000000000" pitchFamily="2" charset="2"/>
              <a:buChar char="§"/>
              <a:defRPr/>
            </a:pPr>
            <a:r>
              <a:rPr lang="en-IN" sz="1800"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 Low Cost and Scalable Technology</a:t>
            </a:r>
            <a:endParaRPr lang="en-IN" sz="1800" b="1" dirty="0">
              <a:latin typeface="Times New Roman" panose="02020603050405020304" pitchFamily="18" charset="0"/>
              <a:cs typeface="Times New Roman" panose="02020603050405020304" pitchFamily="18" charset="0"/>
            </a:endParaRPr>
          </a:p>
          <a:p>
            <a:pPr marL="742950" lvl="1" indent="-285750" algn="just">
              <a:buFont typeface="Wingdings" panose="05000000000000000000" pitchFamily="2" charset="2"/>
              <a:buChar char="Ø"/>
              <a:defRPr/>
            </a:pPr>
            <a:r>
              <a:rPr lang="en-IN" dirty="0">
                <a:latin typeface="Times New Roman" panose="02020603050405020304" pitchFamily="18" charset="0"/>
                <a:cs typeface="Times New Roman" panose="02020603050405020304" pitchFamily="18" charset="0"/>
              </a:rPr>
              <a:t>Because the chips, with all their components, are printed as a unit by photolithography </a:t>
            </a:r>
          </a:p>
          <a:p>
            <a:pPr marL="742950" lvl="1" indent="-285750" algn="just">
              <a:buFont typeface="Wingdings" panose="05000000000000000000" pitchFamily="2" charset="2"/>
              <a:buChar char="Ø"/>
              <a:defRPr/>
            </a:pPr>
            <a:r>
              <a:rPr lang="en-IN" dirty="0">
                <a:latin typeface="Times New Roman" panose="02020603050405020304" pitchFamily="18" charset="0"/>
                <a:cs typeface="Times New Roman" panose="02020603050405020304" pitchFamily="18" charset="0"/>
              </a:rPr>
              <a:t>Rather than being constructed one transistor at a time.</a:t>
            </a:r>
          </a:p>
          <a:p>
            <a:pPr algn="just">
              <a:defRPr/>
            </a:pPr>
            <a:r>
              <a:rPr lang="en-IN" sz="1800" dirty="0">
                <a:latin typeface="Times New Roman" panose="02020603050405020304" pitchFamily="18" charset="0"/>
                <a:cs typeface="Times New Roman" panose="02020603050405020304" pitchFamily="18" charset="0"/>
              </a:rPr>
              <a:t>	</a:t>
            </a:r>
          </a:p>
          <a:p>
            <a:pPr algn="just">
              <a:defRPr/>
            </a:pPr>
            <a:endParaRPr lang="en-IN" sz="1800" dirty="0">
              <a:latin typeface="Times New Roman" panose="02020603050405020304" pitchFamily="18" charset="0"/>
              <a:cs typeface="Times New Roman" panose="02020603050405020304" pitchFamily="18" charset="0"/>
            </a:endParaRPr>
          </a:p>
          <a:p>
            <a:pPr algn="just">
              <a:defRPr/>
            </a:pPr>
            <a:r>
              <a:rPr lang="en-IN" sz="1800" b="1" dirty="0">
                <a:latin typeface="Times New Roman" panose="02020603050405020304" pitchFamily="18" charset="0"/>
                <a:cs typeface="Times New Roman" panose="02020603050405020304" pitchFamily="18" charset="0"/>
              </a:rPr>
              <a:t>Furthermore, </a:t>
            </a:r>
          </a:p>
          <a:p>
            <a:pPr marL="742950" lvl="1" indent="-285750" algn="just">
              <a:buFont typeface="Wingdings" panose="05000000000000000000" pitchFamily="2" charset="2"/>
              <a:buChar char="Ø"/>
              <a:defRPr/>
            </a:pPr>
            <a:r>
              <a:rPr lang="en-IN" dirty="0">
                <a:latin typeface="Times New Roman" panose="02020603050405020304" pitchFamily="18" charset="0"/>
                <a:cs typeface="Times New Roman" panose="02020603050405020304" pitchFamily="18" charset="0"/>
              </a:rPr>
              <a:t>Much less material is used to construct a packaged IC die than a discrete circuit. </a:t>
            </a:r>
          </a:p>
          <a:p>
            <a:pPr algn="just">
              <a:defRPr/>
            </a:pPr>
            <a:endParaRPr lang="en-US" sz="1800" dirty="0">
              <a:latin typeface="Times New Roman" panose="02020603050405020304" pitchFamily="18" charset="0"/>
              <a:cs typeface="Times New Roman" panose="02020603050405020304" pitchFamily="18" charset="0"/>
            </a:endParaRPr>
          </a:p>
          <a:p>
            <a:pPr algn="just">
              <a:defRPr/>
            </a:pPr>
            <a:endParaRPr lang="en-IN" sz="1800" dirty="0">
              <a:latin typeface="Times New Roman" panose="02020603050405020304" pitchFamily="18" charset="0"/>
              <a:cs typeface="Times New Roman" panose="02020603050405020304" pitchFamily="18" charset="0"/>
            </a:endParaRPr>
          </a:p>
          <a:p>
            <a:pPr algn="just">
              <a:buFont typeface="Wingdings" pitchFamily="2" charset="2"/>
              <a:buChar char="§"/>
              <a:defRPr/>
            </a:pPr>
            <a:r>
              <a:rPr lang="en-IN" sz="1800" b="1" dirty="0">
                <a:latin typeface="Times New Roman" panose="02020603050405020304" pitchFamily="18" charset="0"/>
                <a:cs typeface="Times New Roman" panose="02020603050405020304" pitchFamily="18" charset="0"/>
              </a:rPr>
              <a:t>Performance is high</a:t>
            </a:r>
          </a:p>
          <a:p>
            <a:pPr marL="742950" lvl="1" indent="-285750" algn="just">
              <a:buFont typeface="Wingdings" panose="05000000000000000000" pitchFamily="2" charset="2"/>
              <a:buChar char="Ø"/>
              <a:defRPr/>
            </a:pPr>
            <a:r>
              <a:rPr lang="en-IN" dirty="0">
                <a:latin typeface="Times New Roman" panose="02020603050405020304" pitchFamily="18" charset="0"/>
                <a:cs typeface="Times New Roman" panose="02020603050405020304" pitchFamily="18" charset="0"/>
              </a:rPr>
              <a:t>Since the components switch quickly and consume little power (compared to their discrete counterparts)</a:t>
            </a:r>
          </a:p>
          <a:p>
            <a:pPr marL="742950" lvl="1" indent="-285750" algn="just">
              <a:buFont typeface="Wingdings" panose="05000000000000000000" pitchFamily="2" charset="2"/>
              <a:buChar char="Ø"/>
              <a:defRPr/>
            </a:pPr>
            <a:r>
              <a:rPr lang="en-IN" dirty="0">
                <a:latin typeface="Times New Roman" panose="02020603050405020304" pitchFamily="18" charset="0"/>
                <a:cs typeface="Times New Roman" panose="02020603050405020304" pitchFamily="18" charset="0"/>
              </a:rPr>
              <a:t>Because the components are small and positioned close together. </a:t>
            </a:r>
          </a:p>
          <a:p>
            <a:pPr algn="just">
              <a:buFont typeface="Wingdings" pitchFamily="2" charset="2"/>
              <a:buChar char="§"/>
              <a:defRPr/>
            </a:pPr>
            <a:endParaRPr lang="en-US" sz="1800" dirty="0">
              <a:latin typeface="Times New Roman" panose="02020603050405020304" pitchFamily="18" charset="0"/>
              <a:cs typeface="Times New Roman" panose="02020603050405020304" pitchFamily="18" charset="0"/>
            </a:endParaRPr>
          </a:p>
          <a:p>
            <a:pPr algn="just">
              <a:buFont typeface="Wingdings" pitchFamily="2" charset="2"/>
              <a:buChar char="§"/>
              <a:defRPr/>
            </a:pPr>
            <a:endParaRPr lang="en-IN" sz="1800" dirty="0">
              <a:latin typeface="Times New Roman" panose="02020603050405020304" pitchFamily="18" charset="0"/>
              <a:cs typeface="Times New Roman" panose="02020603050405020304" pitchFamily="18" charset="0"/>
            </a:endParaRPr>
          </a:p>
          <a:p>
            <a:pPr algn="just">
              <a:buFont typeface="Wingdings" pitchFamily="2" charset="2"/>
              <a:buChar char="§"/>
              <a:defRPr/>
            </a:pPr>
            <a:r>
              <a:rPr lang="en-IN" sz="1800" b="1" dirty="0">
                <a:latin typeface="Times New Roman" panose="02020603050405020304" pitchFamily="18" charset="0"/>
                <a:cs typeface="Times New Roman" panose="02020603050405020304" pitchFamily="18" charset="0"/>
              </a:rPr>
              <a:t>As of 2006,</a:t>
            </a:r>
          </a:p>
          <a:p>
            <a:pPr marL="742950" lvl="1" indent="-285750" algn="just">
              <a:buFont typeface="Wingdings" panose="05000000000000000000" pitchFamily="2" charset="2"/>
              <a:buChar char="Ø"/>
              <a:defRPr/>
            </a:pPr>
            <a:r>
              <a:rPr lang="en-IN" dirty="0">
                <a:latin typeface="Times New Roman" panose="02020603050405020304" pitchFamily="18" charset="0"/>
                <a:cs typeface="Times New Roman" panose="02020603050405020304" pitchFamily="18" charset="0"/>
              </a:rPr>
              <a:t>Chip areas range from a few square </a:t>
            </a:r>
            <a:r>
              <a:rPr lang="en-IN" dirty="0" err="1">
                <a:latin typeface="Times New Roman" panose="02020603050405020304" pitchFamily="18" charset="0"/>
                <a:cs typeface="Times New Roman" panose="02020603050405020304" pitchFamily="18" charset="0"/>
              </a:rPr>
              <a:t>millimeters</a:t>
            </a:r>
            <a:r>
              <a:rPr lang="en-IN" dirty="0">
                <a:latin typeface="Times New Roman" panose="02020603050405020304" pitchFamily="18" charset="0"/>
                <a:cs typeface="Times New Roman" panose="02020603050405020304" pitchFamily="18" charset="0"/>
              </a:rPr>
              <a:t> to around 350 mm2, with up to 1 million transistors per mm.</a:t>
            </a:r>
          </a:p>
          <a:p>
            <a:pPr algn="just">
              <a:defRPr/>
            </a:pPr>
            <a:endParaRPr lang="en-US" sz="1800" dirty="0">
              <a:latin typeface="Times New Roman" panose="02020603050405020304" pitchFamily="18" charset="0"/>
              <a:cs typeface="Times New Roman" panose="02020603050405020304" pitchFamily="18" charset="0"/>
            </a:endParaRPr>
          </a:p>
          <a:p>
            <a:pPr algn="just">
              <a:defRPr/>
            </a:pPr>
            <a:r>
              <a:rPr lang="en-IN" sz="2400" b="1" dirty="0">
                <a:latin typeface="Times New Roman" panose="02020603050405020304" pitchFamily="18" charset="0"/>
                <a:cs typeface="Times New Roman" panose="02020603050405020304" pitchFamily="18" charset="0"/>
              </a:rPr>
              <a:t>and Assume for 2021</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18B84F3E-0BAB-4FEE-A20F-074E440ADCC6}"/>
              </a:ext>
            </a:extLst>
          </p:cNvPr>
          <p:cNvSpPr/>
          <p:nvPr/>
        </p:nvSpPr>
        <p:spPr>
          <a:xfrm>
            <a:off x="2274963" y="94372"/>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IMPORTANT FACTS RELATED TO THE IC Invention</a:t>
            </a:r>
          </a:p>
        </p:txBody>
      </p:sp>
      <p:pic>
        <p:nvPicPr>
          <p:cNvPr id="31" name="Picture 2" descr="KL Deemed to be University Logo"/>
          <p:cNvPicPr>
            <a:picLocks noChangeAspect="1" noChangeArrowheads="1"/>
          </p:cNvPicPr>
          <p:nvPr/>
        </p:nvPicPr>
        <p:blipFill>
          <a:blip r:embed="rId2"/>
          <a:srcRect/>
          <a:stretch>
            <a:fillRect/>
          </a:stretch>
        </p:blipFill>
        <p:spPr bwMode="auto">
          <a:xfrm>
            <a:off x="34253" y="118790"/>
            <a:ext cx="1827204" cy="721555"/>
          </a:xfrm>
          <a:prstGeom prst="rect">
            <a:avLst/>
          </a:prstGeom>
          <a:noFill/>
        </p:spPr>
      </p:pic>
      <p:sp>
        <p:nvSpPr>
          <p:cNvPr id="17" name="TextBox 16"/>
          <p:cNvSpPr txBox="1"/>
          <p:nvPr/>
        </p:nvSpPr>
        <p:spPr>
          <a:xfrm>
            <a:off x="1861457" y="1219100"/>
            <a:ext cx="9147998"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2" name="Picture 2">
            <a:extLst>
              <a:ext uri="{FF2B5EF4-FFF2-40B4-BE49-F238E27FC236}">
                <a16:creationId xmlns:a16="http://schemas.microsoft.com/office/drawing/2014/main" id="{15C081A7-4047-EB39-6866-42B80FB443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2107" y="1091227"/>
            <a:ext cx="8715375" cy="4929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001463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18B84F3E-0BAB-4FEE-A20F-074E440ADCC6}"/>
              </a:ext>
            </a:extLst>
          </p:cNvPr>
          <p:cNvSpPr/>
          <p:nvPr/>
        </p:nvSpPr>
        <p:spPr>
          <a:xfrm>
            <a:off x="2274963" y="94372"/>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IMPORTANT FACTS RELATED TO THE IC Invention</a:t>
            </a:r>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7" name="TextBox 16"/>
          <p:cNvSpPr txBox="1"/>
          <p:nvPr/>
        </p:nvSpPr>
        <p:spPr>
          <a:xfrm>
            <a:off x="1083212" y="1311018"/>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3" name="Picture 2">
            <a:extLst>
              <a:ext uri="{FF2B5EF4-FFF2-40B4-BE49-F238E27FC236}">
                <a16:creationId xmlns:a16="http://schemas.microsoft.com/office/drawing/2014/main" id="{9B6BC91E-9E75-1D3C-9B1E-E93CC57F00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0106" y="1761932"/>
            <a:ext cx="9857712" cy="435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781736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4C971-7B5E-DCE2-13A0-A86CF2701D7E}"/>
              </a:ext>
            </a:extLst>
          </p:cNvPr>
          <p:cNvSpPr>
            <a:spLocks noGrp="1"/>
          </p:cNvSpPr>
          <p:nvPr>
            <p:ph type="ctrTitle"/>
          </p:nvPr>
        </p:nvSpPr>
        <p:spPr>
          <a:xfrm>
            <a:off x="1524000" y="1"/>
            <a:ext cx="9144000" cy="857231"/>
          </a:xfrm>
          <a:solidFill>
            <a:srgbClr val="C00000"/>
          </a:solidFill>
          <a:ln>
            <a:miter lim="800000"/>
            <a:headEnd/>
            <a:tailEnd/>
          </a:ln>
        </p:spPr>
        <p:txBody>
          <a:bodyPr rtlCol="0">
            <a:normAutofit fontScale="90000"/>
          </a:bodyPr>
          <a:lstStyle/>
          <a:p>
            <a:pPr>
              <a:defRPr/>
            </a:pP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rPr>
              <a:t>IC Invention</a:t>
            </a:r>
            <a:endParaRPr lang="en-IN"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95A315A6-724D-1D7A-EA96-0F5C1C354CCA}"/>
              </a:ext>
            </a:extLst>
          </p:cNvPr>
          <p:cNvSpPr>
            <a:spLocks noGrp="1"/>
          </p:cNvSpPr>
          <p:nvPr>
            <p:ph type="subTitle" idx="1"/>
          </p:nvPr>
        </p:nvSpPr>
        <p:spPr>
          <a:xfrm>
            <a:off x="1524000" y="857251"/>
            <a:ext cx="9144000" cy="5559878"/>
          </a:xfrm>
        </p:spPr>
        <p:txBody>
          <a:bodyPr rtlCol="0">
            <a:noAutofit/>
          </a:bodyPr>
          <a:lstStyle/>
          <a:p>
            <a:pPr algn="just">
              <a:buFont typeface="Wingdings" pitchFamily="2" charset="2"/>
              <a:buChar char="§"/>
              <a:defRPr/>
            </a:pPr>
            <a:r>
              <a:rPr lang="en-IN" sz="1600" b="1" dirty="0">
                <a:latin typeface="Times New Roman" panose="02020603050405020304" pitchFamily="18" charset="0"/>
                <a:cs typeface="Times New Roman" panose="02020603050405020304" pitchFamily="18" charset="0"/>
              </a:rPr>
              <a:t>Moore’s Law: </a:t>
            </a:r>
          </a:p>
          <a:p>
            <a:pPr algn="just">
              <a:defRPr/>
            </a:pPr>
            <a:r>
              <a:rPr lang="en-IN" sz="1600" b="1"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 Gordon E. Moore - Chairman Emeritus of Intel Corporation</a:t>
            </a:r>
          </a:p>
          <a:p>
            <a:pPr algn="just">
              <a:defRPr/>
            </a:pPr>
            <a:r>
              <a:rPr lang="en-IN" sz="1600" dirty="0">
                <a:latin typeface="Times New Roman" panose="02020603050405020304" pitchFamily="18" charset="0"/>
                <a:cs typeface="Times New Roman" panose="02020603050405020304" pitchFamily="18" charset="0"/>
              </a:rPr>
              <a:t>	 1965 - observed trends in industry - of transistors on ICs </a:t>
            </a:r>
            <a:r>
              <a:rPr lang="en-IN" sz="1600" dirty="0" err="1">
                <a:latin typeface="Times New Roman" panose="02020603050405020304" pitchFamily="18" charset="0"/>
                <a:cs typeface="Times New Roman" panose="02020603050405020304" pitchFamily="18" charset="0"/>
              </a:rPr>
              <a:t>vs</a:t>
            </a:r>
            <a:r>
              <a:rPr lang="en-IN" sz="1600" dirty="0">
                <a:latin typeface="Times New Roman" panose="02020603050405020304" pitchFamily="18" charset="0"/>
                <a:cs typeface="Times New Roman" panose="02020603050405020304" pitchFamily="18" charset="0"/>
              </a:rPr>
              <a:t> release dates </a:t>
            </a:r>
          </a:p>
          <a:p>
            <a:pPr algn="just">
              <a:defRPr/>
            </a:pPr>
            <a:r>
              <a:rPr lang="en-IN" sz="1600" dirty="0">
                <a:latin typeface="Times New Roman" panose="02020603050405020304" pitchFamily="18" charset="0"/>
                <a:cs typeface="Times New Roman" panose="02020603050405020304" pitchFamily="18" charset="0"/>
              </a:rPr>
              <a:t>	 Noticed number of transistors doubling with release of each new IC generation</a:t>
            </a:r>
          </a:p>
          <a:p>
            <a:pPr algn="just">
              <a:defRPr/>
            </a:pPr>
            <a:r>
              <a:rPr lang="en-IN" sz="1600" dirty="0">
                <a:latin typeface="Times New Roman" panose="02020603050405020304" pitchFamily="18" charset="0"/>
                <a:cs typeface="Times New Roman" panose="02020603050405020304" pitchFamily="18" charset="0"/>
              </a:rPr>
              <a:t>	 Release dates (separate generations) were all 18-24 months apart</a:t>
            </a:r>
          </a:p>
          <a:p>
            <a:pPr algn="just">
              <a:buFont typeface="Wingdings" pitchFamily="2" charset="2"/>
              <a:buChar char="§"/>
              <a:defRPr/>
            </a:pPr>
            <a:endParaRPr lang="en-US" sz="1600" b="1" dirty="0">
              <a:latin typeface="Times New Roman" panose="02020603050405020304" pitchFamily="18" charset="0"/>
              <a:cs typeface="Times New Roman" panose="02020603050405020304" pitchFamily="18" charset="0"/>
            </a:endParaRPr>
          </a:p>
          <a:p>
            <a:pPr algn="just">
              <a:defRPr/>
            </a:pPr>
            <a:r>
              <a:rPr lang="en-IN" sz="1600" b="1" dirty="0">
                <a:latin typeface="Times New Roman" panose="02020603050405020304" pitchFamily="18" charset="0"/>
                <a:cs typeface="Times New Roman" panose="02020603050405020304" pitchFamily="18" charset="0"/>
              </a:rPr>
              <a:t>        </a:t>
            </a:r>
          </a:p>
          <a:p>
            <a:pPr algn="just">
              <a:defRPr/>
            </a:pPr>
            <a:r>
              <a:rPr lang="en-IN" sz="1600" b="1" dirty="0">
                <a:latin typeface="Times New Roman" panose="02020603050405020304" pitchFamily="18" charset="0"/>
                <a:cs typeface="Times New Roman" panose="02020603050405020304" pitchFamily="18" charset="0"/>
              </a:rPr>
              <a:t>  “The number of transistors on an integrated circuit will double every 18 months”</a:t>
            </a:r>
          </a:p>
          <a:p>
            <a:pPr algn="just">
              <a:buFont typeface="Wingdings" pitchFamily="2" charset="2"/>
              <a:buChar char="§"/>
              <a:defRPr/>
            </a:pPr>
            <a:r>
              <a:rPr lang="en-IN" sz="1600" dirty="0">
                <a:latin typeface="Times New Roman" panose="02020603050405020304" pitchFamily="18" charset="0"/>
                <a:cs typeface="Times New Roman" panose="02020603050405020304" pitchFamily="18" charset="0"/>
              </a:rPr>
              <a:t>The level of integration of silicon technology as measured in terms of number of devices per IC Semiconductor industry has followed this prediction with surprising accuracy. </a:t>
            </a:r>
          </a:p>
          <a:p>
            <a:pPr algn="just">
              <a:defRPr/>
            </a:pPr>
            <a:endParaRPr lang="en-IN" sz="1600" b="1" dirty="0">
              <a:latin typeface="Times New Roman" panose="02020603050405020304" pitchFamily="18" charset="0"/>
              <a:cs typeface="Times New Roman" panose="02020603050405020304" pitchFamily="18" charset="0"/>
            </a:endParaRPr>
          </a:p>
          <a:p>
            <a:pPr algn="just">
              <a:defRPr/>
            </a:pPr>
            <a:r>
              <a:rPr lang="en-IN" sz="1600" b="1" dirty="0">
                <a:latin typeface="Times New Roman" panose="02020603050405020304" pitchFamily="18" charset="0"/>
                <a:cs typeface="Times New Roman" panose="02020603050405020304" pitchFamily="18" charset="0"/>
              </a:rPr>
              <a:t>IC Technology: </a:t>
            </a:r>
          </a:p>
          <a:p>
            <a:pPr algn="just">
              <a:defRPr/>
            </a:pPr>
            <a:r>
              <a:rPr lang="en-IN" sz="1600" b="1" dirty="0">
                <a:latin typeface="Times New Roman" panose="02020603050405020304" pitchFamily="18" charset="0"/>
                <a:cs typeface="Times New Roman" panose="02020603050405020304" pitchFamily="18" charset="0"/>
              </a:rPr>
              <a:t>	• Speed / Power performance of available technologies </a:t>
            </a:r>
          </a:p>
          <a:p>
            <a:pPr algn="just">
              <a:defRPr/>
            </a:pPr>
            <a:r>
              <a:rPr lang="en-IN" sz="1600" b="1" dirty="0">
                <a:latin typeface="Times New Roman" panose="02020603050405020304" pitchFamily="18" charset="0"/>
                <a:cs typeface="Times New Roman" panose="02020603050405020304" pitchFamily="18" charset="0"/>
              </a:rPr>
              <a:t>	• The microelectronics evolution </a:t>
            </a:r>
          </a:p>
          <a:p>
            <a:pPr algn="just">
              <a:defRPr/>
            </a:pPr>
            <a:r>
              <a:rPr lang="en-IN" sz="1600" b="1" dirty="0">
                <a:latin typeface="Times New Roman" panose="02020603050405020304" pitchFamily="18" charset="0"/>
                <a:cs typeface="Times New Roman" panose="02020603050405020304" pitchFamily="18" charset="0"/>
              </a:rPr>
              <a:t>	• SIA Roadmap</a:t>
            </a:r>
          </a:p>
          <a:p>
            <a:pPr algn="just">
              <a:defRPr/>
            </a:pPr>
            <a:r>
              <a:rPr lang="en-IN" sz="1600" b="1" dirty="0">
                <a:latin typeface="Times New Roman" panose="02020603050405020304" pitchFamily="18" charset="0"/>
                <a:cs typeface="Times New Roman" panose="02020603050405020304" pitchFamily="18" charset="0"/>
              </a:rPr>
              <a:t> 	• Semiconductor Manufacturers 2001 Ranking</a:t>
            </a:r>
            <a:endParaRPr lang="en-IN" sz="16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5CE6AA91-D6AB-7DFF-CDE4-C81B77C57F7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1" y="178584"/>
            <a:ext cx="969497" cy="678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Down Arrow 8">
            <a:extLst>
              <a:ext uri="{FF2B5EF4-FFF2-40B4-BE49-F238E27FC236}">
                <a16:creationId xmlns:a16="http://schemas.microsoft.com/office/drawing/2014/main" id="{AE619C14-A038-198C-53AC-3994E68674E5}"/>
              </a:ext>
            </a:extLst>
          </p:cNvPr>
          <p:cNvSpPr/>
          <p:nvPr/>
        </p:nvSpPr>
        <p:spPr>
          <a:xfrm>
            <a:off x="4389667" y="2688093"/>
            <a:ext cx="688520" cy="463321"/>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6" presetClass="entr" presetSubtype="16"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20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additive="base">
                                        <p:cTn id="2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4"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additive="base">
                                        <p:cTn id="28"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3">
                                            <p:txEl>
                                              <p:pRg st="3" end="3"/>
                                            </p:txEl>
                                          </p:spTgt>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 calcmode="lin" valueType="num">
                                      <p:cBhvr additive="base">
                                        <p:cTn id="32"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anim calcmode="lin" valueType="num">
                                      <p:cBhvr additive="base">
                                        <p:cTn id="38" dur="500" fill="hold"/>
                                        <p:tgtEl>
                                          <p:spTgt spid="9"/>
                                        </p:tgtEl>
                                        <p:attrNameLst>
                                          <p:attrName>ppt_x</p:attrName>
                                        </p:attrNameLst>
                                      </p:cBhvr>
                                      <p:tavLst>
                                        <p:tav tm="0">
                                          <p:val>
                                            <p:strVal val="#ppt_x"/>
                                          </p:val>
                                        </p:tav>
                                        <p:tav tm="100000">
                                          <p:val>
                                            <p:strVal val="#ppt_x"/>
                                          </p:val>
                                        </p:tav>
                                      </p:tavLst>
                                    </p:anim>
                                    <p:anim calcmode="lin" valueType="num">
                                      <p:cBhvr additive="base">
                                        <p:cTn id="39"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 presetClass="entr" presetSubtype="4" fill="hold" nodeType="clickEffect">
                                  <p:stCondLst>
                                    <p:cond delay="0"/>
                                  </p:stCondLst>
                                  <p:childTnLst>
                                    <p:set>
                                      <p:cBhvr>
                                        <p:cTn id="43" dur="1" fill="hold">
                                          <p:stCondLst>
                                            <p:cond delay="0"/>
                                          </p:stCondLst>
                                        </p:cTn>
                                        <p:tgtEl>
                                          <p:spTgt spid="3">
                                            <p:txEl>
                                              <p:pRg st="6" end="6"/>
                                            </p:txEl>
                                          </p:spTgt>
                                        </p:tgtEl>
                                        <p:attrNameLst>
                                          <p:attrName>style.visibility</p:attrName>
                                        </p:attrNameLst>
                                      </p:cBhvr>
                                      <p:to>
                                        <p:strVal val="visible"/>
                                      </p:to>
                                    </p:set>
                                    <p:anim calcmode="lin" valueType="num">
                                      <p:cBhvr additive="base">
                                        <p:cTn id="44"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3">
                                            <p:txEl>
                                              <p:pRg st="7" end="7"/>
                                            </p:txEl>
                                          </p:spTgt>
                                        </p:tgtEl>
                                        <p:attrNameLst>
                                          <p:attrName>style.visibility</p:attrName>
                                        </p:attrNameLst>
                                      </p:cBhvr>
                                      <p:to>
                                        <p:strVal val="visible"/>
                                      </p:to>
                                    </p:set>
                                    <p:anim calcmode="lin" valueType="num">
                                      <p:cBhvr additive="base">
                                        <p:cTn id="50"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2" presetClass="entr" presetSubtype="4" fill="hold" nodeType="clickEffect">
                                  <p:stCondLst>
                                    <p:cond delay="0"/>
                                  </p:stCondLst>
                                  <p:childTnLst>
                                    <p:set>
                                      <p:cBhvr>
                                        <p:cTn id="55" dur="1" fill="hold">
                                          <p:stCondLst>
                                            <p:cond delay="0"/>
                                          </p:stCondLst>
                                        </p:cTn>
                                        <p:tgtEl>
                                          <p:spTgt spid="3">
                                            <p:txEl>
                                              <p:pRg st="8" end="8"/>
                                            </p:txEl>
                                          </p:spTgt>
                                        </p:tgtEl>
                                        <p:attrNameLst>
                                          <p:attrName>style.visibility</p:attrName>
                                        </p:attrNameLst>
                                      </p:cBhvr>
                                      <p:to>
                                        <p:strVal val="visible"/>
                                      </p:to>
                                    </p:set>
                                    <p:anim calcmode="lin" valueType="num">
                                      <p:cBhvr additive="base">
                                        <p:cTn id="56"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2" presetClass="entr" presetSubtype="4" fill="hold" nodeType="clickEffect">
                                  <p:stCondLst>
                                    <p:cond delay="0"/>
                                  </p:stCondLst>
                                  <p:childTnLst>
                                    <p:set>
                                      <p:cBhvr>
                                        <p:cTn id="61" dur="1" fill="hold">
                                          <p:stCondLst>
                                            <p:cond delay="0"/>
                                          </p:stCondLst>
                                        </p:cTn>
                                        <p:tgtEl>
                                          <p:spTgt spid="3">
                                            <p:txEl>
                                              <p:pRg st="10" end="10"/>
                                            </p:txEl>
                                          </p:spTgt>
                                        </p:tgtEl>
                                        <p:attrNameLst>
                                          <p:attrName>style.visibility</p:attrName>
                                        </p:attrNameLst>
                                      </p:cBhvr>
                                      <p:to>
                                        <p:strVal val="visible"/>
                                      </p:to>
                                    </p:set>
                                    <p:anim calcmode="lin" valueType="num">
                                      <p:cBhvr additive="base">
                                        <p:cTn id="62"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3"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64" presetID="2" presetClass="entr" presetSubtype="4" fill="hold" nodeType="withEffect">
                                  <p:stCondLst>
                                    <p:cond delay="0"/>
                                  </p:stCondLst>
                                  <p:childTnLst>
                                    <p:set>
                                      <p:cBhvr>
                                        <p:cTn id="65" dur="1" fill="hold">
                                          <p:stCondLst>
                                            <p:cond delay="0"/>
                                          </p:stCondLst>
                                        </p:cTn>
                                        <p:tgtEl>
                                          <p:spTgt spid="3">
                                            <p:txEl>
                                              <p:pRg st="11" end="11"/>
                                            </p:txEl>
                                          </p:spTgt>
                                        </p:tgtEl>
                                        <p:attrNameLst>
                                          <p:attrName>style.visibility</p:attrName>
                                        </p:attrNameLst>
                                      </p:cBhvr>
                                      <p:to>
                                        <p:strVal val="visible"/>
                                      </p:to>
                                    </p:set>
                                    <p:anim calcmode="lin" valueType="num">
                                      <p:cBhvr additive="base">
                                        <p:cTn id="66"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67"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68" presetID="2" presetClass="entr" presetSubtype="4" fill="hold" nodeType="withEffect">
                                  <p:stCondLst>
                                    <p:cond delay="0"/>
                                  </p:stCondLst>
                                  <p:childTnLst>
                                    <p:set>
                                      <p:cBhvr>
                                        <p:cTn id="69" dur="1" fill="hold">
                                          <p:stCondLst>
                                            <p:cond delay="0"/>
                                          </p:stCondLst>
                                        </p:cTn>
                                        <p:tgtEl>
                                          <p:spTgt spid="3">
                                            <p:txEl>
                                              <p:pRg st="12" end="12"/>
                                            </p:txEl>
                                          </p:spTgt>
                                        </p:tgtEl>
                                        <p:attrNameLst>
                                          <p:attrName>style.visibility</p:attrName>
                                        </p:attrNameLst>
                                      </p:cBhvr>
                                      <p:to>
                                        <p:strVal val="visible"/>
                                      </p:to>
                                    </p:set>
                                    <p:anim calcmode="lin" valueType="num">
                                      <p:cBhvr additive="base">
                                        <p:cTn id="70"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71"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72" presetID="2" presetClass="entr" presetSubtype="4" fill="hold" nodeType="withEffect">
                                  <p:stCondLst>
                                    <p:cond delay="0"/>
                                  </p:stCondLst>
                                  <p:childTnLst>
                                    <p:set>
                                      <p:cBhvr>
                                        <p:cTn id="73" dur="1" fill="hold">
                                          <p:stCondLst>
                                            <p:cond delay="0"/>
                                          </p:stCondLst>
                                        </p:cTn>
                                        <p:tgtEl>
                                          <p:spTgt spid="3">
                                            <p:txEl>
                                              <p:pRg st="13" end="13"/>
                                            </p:txEl>
                                          </p:spTgt>
                                        </p:tgtEl>
                                        <p:attrNameLst>
                                          <p:attrName>style.visibility</p:attrName>
                                        </p:attrNameLst>
                                      </p:cBhvr>
                                      <p:to>
                                        <p:strVal val="visible"/>
                                      </p:to>
                                    </p:set>
                                    <p:anim calcmode="lin" valueType="num">
                                      <p:cBhvr additive="base">
                                        <p:cTn id="74"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75"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76" presetID="2" presetClass="entr" presetSubtype="4" fill="hold" nodeType="withEffect">
                                  <p:stCondLst>
                                    <p:cond delay="0"/>
                                  </p:stCondLst>
                                  <p:childTnLst>
                                    <p:set>
                                      <p:cBhvr>
                                        <p:cTn id="77" dur="1" fill="hold">
                                          <p:stCondLst>
                                            <p:cond delay="0"/>
                                          </p:stCondLst>
                                        </p:cTn>
                                        <p:tgtEl>
                                          <p:spTgt spid="3">
                                            <p:txEl>
                                              <p:pRg st="14" end="14"/>
                                            </p:txEl>
                                          </p:spTgt>
                                        </p:tgtEl>
                                        <p:attrNameLst>
                                          <p:attrName>style.visibility</p:attrName>
                                        </p:attrNameLst>
                                      </p:cBhvr>
                                      <p:to>
                                        <p:strVal val="visible"/>
                                      </p:to>
                                    </p:set>
                                    <p:anim calcmode="lin" valueType="num">
                                      <p:cBhvr additive="base">
                                        <p:cTn id="78"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79"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DFC97-9AB7-7D1A-41EC-7B475513229B}"/>
              </a:ext>
            </a:extLst>
          </p:cNvPr>
          <p:cNvSpPr>
            <a:spLocks noGrp="1"/>
          </p:cNvSpPr>
          <p:nvPr>
            <p:ph type="ctrTitle"/>
          </p:nvPr>
        </p:nvSpPr>
        <p:spPr>
          <a:xfrm>
            <a:off x="1524000" y="1"/>
            <a:ext cx="9144000" cy="857231"/>
          </a:xfrm>
          <a:solidFill>
            <a:srgbClr val="C00000"/>
          </a:solidFill>
          <a:ln>
            <a:miter lim="800000"/>
            <a:headEnd/>
            <a:tailEnd/>
          </a:ln>
        </p:spPr>
        <p:txBody>
          <a:bodyPr rtlCol="0">
            <a:normAutofit fontScale="90000"/>
          </a:bodyPr>
          <a:lstStyle/>
          <a:p>
            <a:pPr>
              <a:defRPr/>
            </a:pP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rPr>
              <a:t>Circuit Technology</a:t>
            </a:r>
            <a:endParaRPr lang="en-IN"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2EE261E4-4421-B87B-1677-DF2B2325266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1" y="178584"/>
            <a:ext cx="969497" cy="678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1" name="Picture 2">
            <a:extLst>
              <a:ext uri="{FF2B5EF4-FFF2-40B4-BE49-F238E27FC236}">
                <a16:creationId xmlns:a16="http://schemas.microsoft.com/office/drawing/2014/main" id="{6FF44A8F-C0E7-796E-427C-3C0D7FF0BA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6416" y="1182801"/>
            <a:ext cx="9072563" cy="5014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6" presetClass="entr" presetSubtype="16"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65164-AD4F-84DE-FE8F-2ECCA3FEDC14}"/>
              </a:ext>
            </a:extLst>
          </p:cNvPr>
          <p:cNvSpPr>
            <a:spLocks noGrp="1"/>
          </p:cNvSpPr>
          <p:nvPr>
            <p:ph type="ctrTitle"/>
          </p:nvPr>
        </p:nvSpPr>
        <p:spPr>
          <a:xfrm>
            <a:off x="1524000" y="1"/>
            <a:ext cx="9144000" cy="857231"/>
          </a:xfrm>
          <a:solidFill>
            <a:srgbClr val="C00000"/>
          </a:solidFill>
          <a:ln>
            <a:miter lim="800000"/>
            <a:headEnd/>
            <a:tailEnd/>
          </a:ln>
        </p:spPr>
        <p:txBody>
          <a:bodyPr rtlCol="0">
            <a:normAutofit fontScale="90000"/>
          </a:bodyPr>
          <a:lstStyle/>
          <a:p>
            <a:pPr>
              <a:defRPr/>
            </a:pP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rPr>
              <a:t>Scale of Integration</a:t>
            </a:r>
            <a:endParaRPr lang="en-IN"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40BBDBA-446E-8EA2-BF19-4027CEEBB6CF}"/>
              </a:ext>
            </a:extLst>
          </p:cNvPr>
          <p:cNvSpPr>
            <a:spLocks noGrp="1"/>
          </p:cNvSpPr>
          <p:nvPr>
            <p:ph type="subTitle" idx="1"/>
          </p:nvPr>
        </p:nvSpPr>
        <p:spPr>
          <a:xfrm>
            <a:off x="1524000" y="857251"/>
            <a:ext cx="9144000" cy="5357813"/>
          </a:xfrm>
        </p:spPr>
        <p:txBody>
          <a:bodyPr rtlCol="0">
            <a:noAutofit/>
          </a:bodyPr>
          <a:lstStyle/>
          <a:p>
            <a:pPr algn="just">
              <a:defRPr/>
            </a:pPr>
            <a:r>
              <a:rPr lang="en-IN" sz="1400" dirty="0">
                <a:latin typeface="Times New Roman" panose="02020603050405020304" pitchFamily="18" charset="0"/>
                <a:cs typeface="Times New Roman" panose="02020603050405020304" pitchFamily="18" charset="0"/>
              </a:rPr>
              <a:t> </a:t>
            </a:r>
          </a:p>
          <a:p>
            <a:pPr algn="just">
              <a:defRPr/>
            </a:pPr>
            <a:r>
              <a:rPr lang="en-IN" sz="1400" b="1" dirty="0">
                <a:latin typeface="Times New Roman" panose="02020603050405020304" pitchFamily="18" charset="0"/>
                <a:cs typeface="Times New Roman" panose="02020603050405020304" pitchFamily="18" charset="0"/>
              </a:rPr>
              <a:t>Small scale integration(SSI) --1960 </a:t>
            </a:r>
          </a:p>
          <a:p>
            <a:pPr algn="just">
              <a:defRPr/>
            </a:pPr>
            <a:r>
              <a:rPr lang="en-IN" sz="1400" dirty="0">
                <a:latin typeface="Times New Roman" panose="02020603050405020304" pitchFamily="18" charset="0"/>
                <a:cs typeface="Times New Roman" panose="02020603050405020304" pitchFamily="18" charset="0"/>
              </a:rPr>
              <a:t>	The technology was developed by integrating the number of transistors of 1-100 on a single chip. </a:t>
            </a:r>
          </a:p>
          <a:p>
            <a:pPr algn="just">
              <a:defRPr/>
            </a:pPr>
            <a:r>
              <a:rPr lang="en-IN" sz="1400" dirty="0">
                <a:latin typeface="Times New Roman" panose="02020603050405020304" pitchFamily="18" charset="0"/>
                <a:cs typeface="Times New Roman" panose="02020603050405020304" pitchFamily="18" charset="0"/>
              </a:rPr>
              <a:t>	</a:t>
            </a:r>
            <a:r>
              <a:rPr lang="en-IN" sz="1400" b="1" i="1" dirty="0">
                <a:latin typeface="Times New Roman" panose="02020603050405020304" pitchFamily="18" charset="0"/>
                <a:cs typeface="Times New Roman" panose="02020603050405020304" pitchFamily="18" charset="0"/>
              </a:rPr>
              <a:t>Ex: Gates, flip-flops, op-amps.</a:t>
            </a:r>
          </a:p>
          <a:p>
            <a:pPr algn="just">
              <a:defRPr/>
            </a:pPr>
            <a:endParaRPr lang="en-IN" sz="1400" dirty="0">
              <a:latin typeface="Times New Roman" panose="02020603050405020304" pitchFamily="18" charset="0"/>
              <a:cs typeface="Times New Roman" panose="02020603050405020304" pitchFamily="18" charset="0"/>
            </a:endParaRPr>
          </a:p>
          <a:p>
            <a:pPr algn="just">
              <a:defRPr/>
            </a:pPr>
            <a:r>
              <a:rPr lang="en-IN" sz="1400" b="1" dirty="0">
                <a:latin typeface="Times New Roman" panose="02020603050405020304" pitchFamily="18" charset="0"/>
                <a:cs typeface="Times New Roman" panose="02020603050405020304" pitchFamily="18" charset="0"/>
              </a:rPr>
              <a:t>Medium scale integration(MSI) --1967 </a:t>
            </a:r>
          </a:p>
          <a:p>
            <a:pPr algn="just">
              <a:defRPr/>
            </a:pPr>
            <a:r>
              <a:rPr lang="en-IN" sz="1400" dirty="0">
                <a:latin typeface="Times New Roman" panose="02020603050405020304" pitchFamily="18" charset="0"/>
                <a:cs typeface="Times New Roman" panose="02020603050405020304" pitchFamily="18" charset="0"/>
              </a:rPr>
              <a:t>	The technology was developed by integrating the number of transistors of 100- 1000 on a single chip. </a:t>
            </a:r>
          </a:p>
          <a:p>
            <a:pPr algn="just">
              <a:defRPr/>
            </a:pPr>
            <a:r>
              <a:rPr lang="en-IN" sz="1400" dirty="0">
                <a:latin typeface="Times New Roman" panose="02020603050405020304" pitchFamily="18" charset="0"/>
                <a:cs typeface="Times New Roman" panose="02020603050405020304" pitchFamily="18" charset="0"/>
              </a:rPr>
              <a:t>	</a:t>
            </a:r>
            <a:r>
              <a:rPr lang="en-IN" sz="1400" b="1" i="1" dirty="0">
                <a:latin typeface="Times New Roman" panose="02020603050405020304" pitchFamily="18" charset="0"/>
                <a:cs typeface="Times New Roman" panose="02020603050405020304" pitchFamily="18" charset="0"/>
              </a:rPr>
              <a:t>Ex: Counters, MUX, adders, 4-bit microprocessors. </a:t>
            </a:r>
          </a:p>
          <a:p>
            <a:pPr algn="just">
              <a:defRPr/>
            </a:pPr>
            <a:endParaRPr lang="en-IN" sz="1400" dirty="0">
              <a:latin typeface="Times New Roman" panose="02020603050405020304" pitchFamily="18" charset="0"/>
              <a:cs typeface="Times New Roman" panose="02020603050405020304" pitchFamily="18" charset="0"/>
            </a:endParaRPr>
          </a:p>
          <a:p>
            <a:pPr algn="just">
              <a:defRPr/>
            </a:pPr>
            <a:r>
              <a:rPr lang="en-IN" sz="1400" b="1" dirty="0">
                <a:latin typeface="Times New Roman" panose="02020603050405020304" pitchFamily="18" charset="0"/>
                <a:cs typeface="Times New Roman" panose="02020603050405020304" pitchFamily="18" charset="0"/>
              </a:rPr>
              <a:t>Large scale integration(LSI) –1972</a:t>
            </a:r>
          </a:p>
          <a:p>
            <a:pPr algn="just">
              <a:defRPr/>
            </a:pPr>
            <a:r>
              <a:rPr lang="en-IN" sz="1400" dirty="0">
                <a:latin typeface="Times New Roman" panose="02020603050405020304" pitchFamily="18" charset="0"/>
                <a:cs typeface="Times New Roman" panose="02020603050405020304" pitchFamily="18" charset="0"/>
              </a:rPr>
              <a:t>	The technology was developed by integrating the number of transistors of 1000- 10000 on a single chip.</a:t>
            </a:r>
          </a:p>
          <a:p>
            <a:pPr algn="just">
              <a:defRPr/>
            </a:pPr>
            <a:r>
              <a:rPr lang="en-IN" sz="1400" dirty="0">
                <a:latin typeface="Times New Roman" panose="02020603050405020304" pitchFamily="18" charset="0"/>
                <a:cs typeface="Times New Roman" panose="02020603050405020304" pitchFamily="18" charset="0"/>
              </a:rPr>
              <a:t>	 </a:t>
            </a:r>
            <a:r>
              <a:rPr lang="en-IN" sz="1400" b="1" i="1" dirty="0">
                <a:latin typeface="Times New Roman" panose="02020603050405020304" pitchFamily="18" charset="0"/>
                <a:cs typeface="Times New Roman" panose="02020603050405020304" pitchFamily="18" charset="0"/>
              </a:rPr>
              <a:t>Ex:8-bit microprocessors, ROM, RAM.</a:t>
            </a:r>
          </a:p>
          <a:p>
            <a:pPr algn="just">
              <a:defRPr/>
            </a:pPr>
            <a:endParaRPr lang="en-IN" sz="1400" dirty="0">
              <a:latin typeface="Times New Roman" panose="02020603050405020304" pitchFamily="18" charset="0"/>
              <a:cs typeface="Times New Roman" panose="02020603050405020304" pitchFamily="18" charset="0"/>
            </a:endParaRPr>
          </a:p>
          <a:p>
            <a:pPr algn="just">
              <a:defRPr/>
            </a:pPr>
            <a:r>
              <a:rPr lang="en-IN" sz="1400" b="1" dirty="0">
                <a:latin typeface="Times New Roman" panose="02020603050405020304" pitchFamily="18" charset="0"/>
                <a:cs typeface="Times New Roman" panose="02020603050405020304" pitchFamily="18" charset="0"/>
              </a:rPr>
              <a:t>Very large scale integration(VLSI) -1978 </a:t>
            </a:r>
          </a:p>
          <a:p>
            <a:pPr algn="just">
              <a:defRPr/>
            </a:pPr>
            <a:r>
              <a:rPr lang="en-IN" sz="1400" dirty="0">
                <a:latin typeface="Times New Roman" panose="02020603050405020304" pitchFamily="18" charset="0"/>
                <a:cs typeface="Times New Roman" panose="02020603050405020304" pitchFamily="18" charset="0"/>
              </a:rPr>
              <a:t>	The technology was developed by integrating the number of transistors of 10000- 1Million on a single chip. 	</a:t>
            </a:r>
            <a:r>
              <a:rPr lang="en-IN" sz="1400" b="1" i="1" dirty="0">
                <a:latin typeface="Times New Roman" panose="02020603050405020304" pitchFamily="18" charset="0"/>
                <a:cs typeface="Times New Roman" panose="02020603050405020304" pitchFamily="18" charset="0"/>
              </a:rPr>
              <a:t>Ex:16-32 bit microprocessors, peripherals, complimentary high MOS. </a:t>
            </a:r>
          </a:p>
        </p:txBody>
      </p:sp>
      <p:pic>
        <p:nvPicPr>
          <p:cNvPr id="8" name="Picture 7">
            <a:extLst>
              <a:ext uri="{FF2B5EF4-FFF2-40B4-BE49-F238E27FC236}">
                <a16:creationId xmlns:a16="http://schemas.microsoft.com/office/drawing/2014/main" id="{19FECFED-2872-0E43-D105-2FE29B06CC0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5045" y="178584"/>
            <a:ext cx="969497" cy="678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6" presetClass="entr" presetSubtype="16"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20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 calcmode="lin" valueType="num">
                                      <p:cBhvr additive="base">
                                        <p:cTn id="16"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 calcmode="lin" valueType="num">
                                      <p:cBhvr additive="base">
                                        <p:cTn id="20"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4"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 calcmode="lin" valueType="num">
                                      <p:cBhvr additive="base">
                                        <p:cTn id="26"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4"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 calcmode="lin" valueType="num">
                                      <p:cBhvr additive="base">
                                        <p:cTn id="3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 calcmode="lin" valueType="num">
                                      <p:cBhvr additive="base">
                                        <p:cTn id="36"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4"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 calcmode="lin" valueType="num">
                                      <p:cBhvr additive="base">
                                        <p:cTn id="42"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 presetClass="entr" presetSubtype="4" fill="hold" nodeType="clickEffect">
                                  <p:stCondLst>
                                    <p:cond delay="0"/>
                                  </p:stCondLst>
                                  <p:childTnLst>
                                    <p:set>
                                      <p:cBhvr>
                                        <p:cTn id="47" dur="1" fill="hold">
                                          <p:stCondLst>
                                            <p:cond delay="0"/>
                                          </p:stCondLst>
                                        </p:cTn>
                                        <p:tgtEl>
                                          <p:spTgt spid="3">
                                            <p:txEl>
                                              <p:pRg st="9" end="9"/>
                                            </p:txEl>
                                          </p:spTgt>
                                        </p:tgtEl>
                                        <p:attrNameLst>
                                          <p:attrName>style.visibility</p:attrName>
                                        </p:attrNameLst>
                                      </p:cBhvr>
                                      <p:to>
                                        <p:strVal val="visible"/>
                                      </p:to>
                                    </p:set>
                                    <p:anim calcmode="lin" valueType="num">
                                      <p:cBhvr additive="base">
                                        <p:cTn id="48"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3">
                                            <p:txEl>
                                              <p:pRg st="9" end="9"/>
                                            </p:txEl>
                                          </p:spTgt>
                                        </p:tgtEl>
                                        <p:attrNameLst>
                                          <p:attrName>ppt_y</p:attrName>
                                        </p:attrNameLst>
                                      </p:cBhvr>
                                      <p:tavLst>
                                        <p:tav tm="0">
                                          <p:val>
                                            <p:strVal val="1+#ppt_h/2"/>
                                          </p:val>
                                        </p:tav>
                                        <p:tav tm="100000">
                                          <p:val>
                                            <p:strVal val="#ppt_y"/>
                                          </p:val>
                                        </p:tav>
                                      </p:tavLst>
                                    </p:anim>
                                  </p:childTnLst>
                                </p:cTn>
                              </p:par>
                              <p:par>
                                <p:cTn id="50" presetID="2" presetClass="entr" presetSubtype="4" fill="hold" nodeType="with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 calcmode="lin" valueType="num">
                                      <p:cBhvr additive="base">
                                        <p:cTn id="52"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4" fill="hold" nodeType="clickPar">
                      <p:stCondLst>
                        <p:cond delay="indefinite"/>
                      </p:stCondLst>
                      <p:childTnLst>
                        <p:par>
                          <p:cTn id="55" fill="hold" nodeType="withGroup">
                            <p:stCondLst>
                              <p:cond delay="0"/>
                            </p:stCondLst>
                            <p:childTnLst>
                              <p:par>
                                <p:cTn id="56" presetID="2" presetClass="entr" presetSubtype="4" fill="hold" nodeType="clickEffect">
                                  <p:stCondLst>
                                    <p:cond delay="0"/>
                                  </p:stCondLst>
                                  <p:childTnLst>
                                    <p:set>
                                      <p:cBhvr>
                                        <p:cTn id="57" dur="1" fill="hold">
                                          <p:stCondLst>
                                            <p:cond delay="0"/>
                                          </p:stCondLst>
                                        </p:cTn>
                                        <p:tgtEl>
                                          <p:spTgt spid="3">
                                            <p:txEl>
                                              <p:pRg st="11" end="11"/>
                                            </p:txEl>
                                          </p:spTgt>
                                        </p:tgtEl>
                                        <p:attrNameLst>
                                          <p:attrName>style.visibility</p:attrName>
                                        </p:attrNameLst>
                                      </p:cBhvr>
                                      <p:to>
                                        <p:strVal val="visible"/>
                                      </p:to>
                                    </p:set>
                                    <p:anim calcmode="lin" valueType="num">
                                      <p:cBhvr additive="base">
                                        <p:cTn id="58"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59"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2" presetClass="entr" presetSubtype="4" fill="hold" nodeType="clickEffect">
                                  <p:stCondLst>
                                    <p:cond delay="0"/>
                                  </p:stCondLst>
                                  <p:childTnLst>
                                    <p:set>
                                      <p:cBhvr>
                                        <p:cTn id="63" dur="1" fill="hold">
                                          <p:stCondLst>
                                            <p:cond delay="0"/>
                                          </p:stCondLst>
                                        </p:cTn>
                                        <p:tgtEl>
                                          <p:spTgt spid="3">
                                            <p:txEl>
                                              <p:pRg st="13" end="13"/>
                                            </p:txEl>
                                          </p:spTgt>
                                        </p:tgtEl>
                                        <p:attrNameLst>
                                          <p:attrName>style.visibility</p:attrName>
                                        </p:attrNameLst>
                                      </p:cBhvr>
                                      <p:to>
                                        <p:strVal val="visible"/>
                                      </p:to>
                                    </p:set>
                                    <p:anim calcmode="lin" valueType="num">
                                      <p:cBhvr additive="base">
                                        <p:cTn id="64"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65"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66" presetID="2" presetClass="entr" presetSubtype="4" fill="hold" nodeType="withEffect">
                                  <p:stCondLst>
                                    <p:cond delay="0"/>
                                  </p:stCondLst>
                                  <p:childTnLst>
                                    <p:set>
                                      <p:cBhvr>
                                        <p:cTn id="67" dur="1" fill="hold">
                                          <p:stCondLst>
                                            <p:cond delay="0"/>
                                          </p:stCondLst>
                                        </p:cTn>
                                        <p:tgtEl>
                                          <p:spTgt spid="3">
                                            <p:txEl>
                                              <p:pRg st="14" end="14"/>
                                            </p:txEl>
                                          </p:spTgt>
                                        </p:tgtEl>
                                        <p:attrNameLst>
                                          <p:attrName>style.visibility</p:attrName>
                                        </p:attrNameLst>
                                      </p:cBhvr>
                                      <p:to>
                                        <p:strVal val="visible"/>
                                      </p:to>
                                    </p:set>
                                    <p:anim calcmode="lin" valueType="num">
                                      <p:cBhvr additive="base">
                                        <p:cTn id="68"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69"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B35BD-4264-9BC5-1EEA-0A874726CA5C}"/>
              </a:ext>
            </a:extLst>
          </p:cNvPr>
          <p:cNvSpPr>
            <a:spLocks noGrp="1"/>
          </p:cNvSpPr>
          <p:nvPr>
            <p:ph type="ctrTitle"/>
          </p:nvPr>
        </p:nvSpPr>
        <p:spPr>
          <a:xfrm>
            <a:off x="1524000" y="1"/>
            <a:ext cx="9144000" cy="857231"/>
          </a:xfrm>
          <a:solidFill>
            <a:srgbClr val="C00000"/>
          </a:solidFill>
          <a:ln>
            <a:miter lim="800000"/>
            <a:headEnd/>
            <a:tailEnd/>
          </a:ln>
        </p:spPr>
        <p:txBody>
          <a:bodyPr rtlCol="0">
            <a:normAutofit fontScale="90000"/>
          </a:bodyPr>
          <a:lstStyle/>
          <a:p>
            <a:pPr>
              <a:defRPr/>
            </a:pP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rPr>
              <a:t>Scale of Integration</a:t>
            </a:r>
            <a:endParaRPr lang="en-IN"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76601496-CCCB-B060-6A87-D1EE0E883401}"/>
              </a:ext>
            </a:extLst>
          </p:cNvPr>
          <p:cNvSpPr>
            <a:spLocks noGrp="1"/>
          </p:cNvSpPr>
          <p:nvPr>
            <p:ph type="subTitle" idx="1"/>
          </p:nvPr>
        </p:nvSpPr>
        <p:spPr>
          <a:xfrm>
            <a:off x="1524000" y="857251"/>
            <a:ext cx="9144000" cy="5357813"/>
          </a:xfrm>
        </p:spPr>
        <p:txBody>
          <a:bodyPr rtlCol="0">
            <a:noAutofit/>
          </a:bodyPr>
          <a:lstStyle/>
          <a:p>
            <a:pPr algn="just">
              <a:defRPr/>
            </a:pPr>
            <a:r>
              <a:rPr lang="en-IN" sz="1400" b="1" dirty="0">
                <a:latin typeface="Times New Roman" panose="02020603050405020304" pitchFamily="18" charset="0"/>
                <a:cs typeface="Times New Roman" panose="02020603050405020304" pitchFamily="18" charset="0"/>
              </a:rPr>
              <a:t>Ultra large-scale integration(ULSI) </a:t>
            </a:r>
          </a:p>
          <a:p>
            <a:pPr algn="just">
              <a:defRPr/>
            </a:pPr>
            <a:r>
              <a:rPr lang="en-IN" sz="1400" dirty="0">
                <a:latin typeface="Times New Roman" panose="02020603050405020304" pitchFamily="18" charset="0"/>
                <a:cs typeface="Times New Roman" panose="02020603050405020304" pitchFamily="18" charset="0"/>
              </a:rPr>
              <a:t>            The technology was developed by integrating the number of transistors of 1Million- 10 Millions on a single chip. </a:t>
            </a:r>
          </a:p>
          <a:p>
            <a:pPr algn="just">
              <a:defRPr/>
            </a:pPr>
            <a:r>
              <a:rPr lang="en-IN" sz="1400" dirty="0">
                <a:latin typeface="Times New Roman" panose="02020603050405020304" pitchFamily="18" charset="0"/>
                <a:cs typeface="Times New Roman" panose="02020603050405020304" pitchFamily="18" charset="0"/>
              </a:rPr>
              <a:t>            </a:t>
            </a:r>
            <a:r>
              <a:rPr lang="en-IN" sz="1400" b="1" i="1" dirty="0">
                <a:latin typeface="Times New Roman" panose="02020603050405020304" pitchFamily="18" charset="0"/>
                <a:cs typeface="Times New Roman" panose="02020603050405020304" pitchFamily="18" charset="0"/>
              </a:rPr>
              <a:t>Ex: special purpose processors. </a:t>
            </a:r>
          </a:p>
          <a:p>
            <a:pPr algn="just">
              <a:defRPr/>
            </a:pPr>
            <a:endParaRPr lang="en-IN" sz="1400" dirty="0">
              <a:latin typeface="Times New Roman" panose="02020603050405020304" pitchFamily="18" charset="0"/>
              <a:cs typeface="Times New Roman" panose="02020603050405020304" pitchFamily="18" charset="0"/>
            </a:endParaRPr>
          </a:p>
          <a:p>
            <a:pPr algn="just">
              <a:defRPr/>
            </a:pPr>
            <a:endParaRPr lang="en-IN" sz="1400" dirty="0">
              <a:latin typeface="Times New Roman" panose="02020603050405020304" pitchFamily="18" charset="0"/>
              <a:cs typeface="Times New Roman" panose="02020603050405020304" pitchFamily="18" charset="0"/>
            </a:endParaRPr>
          </a:p>
          <a:p>
            <a:pPr algn="just">
              <a:defRPr/>
            </a:pPr>
            <a:r>
              <a:rPr lang="en-IN" sz="1400" b="1" dirty="0">
                <a:latin typeface="Times New Roman" panose="02020603050405020304" pitchFamily="18" charset="0"/>
                <a:cs typeface="Times New Roman" panose="02020603050405020304" pitchFamily="18" charset="0"/>
              </a:rPr>
              <a:t>Giant scale integration(GSI) </a:t>
            </a:r>
          </a:p>
          <a:p>
            <a:pPr algn="just">
              <a:defRPr/>
            </a:pPr>
            <a:r>
              <a:rPr lang="en-IN" sz="1400" dirty="0">
                <a:latin typeface="Times New Roman" panose="02020603050405020304" pitchFamily="18" charset="0"/>
                <a:cs typeface="Times New Roman" panose="02020603050405020304" pitchFamily="18" charset="0"/>
              </a:rPr>
              <a:t>           The technology was developed by integrating the number of transistors of above 10 Millions on a single chip. </a:t>
            </a:r>
          </a:p>
          <a:p>
            <a:pPr algn="just">
              <a:defRPr/>
            </a:pPr>
            <a:r>
              <a:rPr lang="en-IN" sz="1400" b="1" i="1" dirty="0">
                <a:latin typeface="Times New Roman" panose="02020603050405020304" pitchFamily="18" charset="0"/>
                <a:cs typeface="Times New Roman" panose="02020603050405020304" pitchFamily="18" charset="0"/>
              </a:rPr>
              <a:t>            Ex: Embedded system, system on chip. </a:t>
            </a:r>
          </a:p>
          <a:p>
            <a:pPr algn="just">
              <a:defRPr/>
            </a:pPr>
            <a:endParaRPr lang="en-US" sz="1400" dirty="0">
              <a:latin typeface="Times New Roman" panose="02020603050405020304" pitchFamily="18" charset="0"/>
              <a:cs typeface="Times New Roman" panose="02020603050405020304" pitchFamily="18" charset="0"/>
            </a:endParaRPr>
          </a:p>
          <a:p>
            <a:pPr algn="just">
              <a:defRPr/>
            </a:pPr>
            <a:endParaRPr lang="en-IN" sz="1400" dirty="0">
              <a:latin typeface="Times New Roman" panose="02020603050405020304" pitchFamily="18" charset="0"/>
              <a:cs typeface="Times New Roman" panose="02020603050405020304" pitchFamily="18" charset="0"/>
            </a:endParaRPr>
          </a:p>
          <a:p>
            <a:pPr algn="just">
              <a:buFont typeface="Wingdings" pitchFamily="2" charset="2"/>
              <a:buChar char="§"/>
              <a:defRPr/>
            </a:pPr>
            <a:r>
              <a:rPr lang="en-IN" sz="1400" dirty="0">
                <a:latin typeface="Times New Roman" panose="02020603050405020304" pitchFamily="18" charset="0"/>
                <a:cs typeface="Times New Roman" panose="02020603050405020304" pitchFamily="18" charset="0"/>
              </a:rPr>
              <a:t>Fabrication technology has advanced to the point that we can put a complete system on a single chip.</a:t>
            </a:r>
          </a:p>
          <a:p>
            <a:pPr algn="just">
              <a:buFont typeface="Wingdings" pitchFamily="2" charset="2"/>
              <a:buChar char="§"/>
              <a:defRPr/>
            </a:pPr>
            <a:endParaRPr lang="en-IN" sz="1400" dirty="0">
              <a:latin typeface="Times New Roman" panose="02020603050405020304" pitchFamily="18" charset="0"/>
              <a:cs typeface="Times New Roman" panose="02020603050405020304" pitchFamily="18" charset="0"/>
            </a:endParaRPr>
          </a:p>
          <a:p>
            <a:pPr algn="just">
              <a:buFont typeface="Wingdings" pitchFamily="2" charset="2"/>
              <a:buChar char="§"/>
              <a:defRPr/>
            </a:pPr>
            <a:r>
              <a:rPr lang="en-IN" sz="1400" b="1" dirty="0">
                <a:latin typeface="Times New Roman" panose="02020603050405020304" pitchFamily="18" charset="0"/>
                <a:cs typeface="Times New Roman" panose="02020603050405020304" pitchFamily="18" charset="0"/>
              </a:rPr>
              <a:t> Single chip computer can include a CPU, bus, I/O devices and memory. </a:t>
            </a:r>
          </a:p>
          <a:p>
            <a:pPr algn="just">
              <a:defRPr/>
            </a:pPr>
            <a:endParaRPr lang="en-US" sz="1400" dirty="0">
              <a:latin typeface="Times New Roman" panose="02020603050405020304" pitchFamily="18" charset="0"/>
              <a:cs typeface="Times New Roman" panose="02020603050405020304" pitchFamily="18" charset="0"/>
            </a:endParaRPr>
          </a:p>
          <a:p>
            <a:pPr algn="just">
              <a:defRPr/>
            </a:pPr>
            <a:endParaRPr lang="en-US" sz="1400" dirty="0">
              <a:latin typeface="Times New Roman" panose="02020603050405020304" pitchFamily="18" charset="0"/>
              <a:cs typeface="Times New Roman" panose="02020603050405020304" pitchFamily="18" charset="0"/>
            </a:endParaRPr>
          </a:p>
          <a:p>
            <a:pPr algn="just">
              <a:buFont typeface="Wingdings" pitchFamily="2" charset="2"/>
              <a:buChar char="§"/>
              <a:defRPr/>
            </a:pPr>
            <a:endParaRPr lang="en-IN" sz="1400" dirty="0">
              <a:latin typeface="Times New Roman" panose="02020603050405020304" pitchFamily="18" charset="0"/>
              <a:cs typeface="Times New Roman" panose="02020603050405020304" pitchFamily="18" charset="0"/>
            </a:endParaRPr>
          </a:p>
          <a:p>
            <a:pPr algn="just">
              <a:buFont typeface="Wingdings" pitchFamily="2" charset="2"/>
              <a:buChar char="§"/>
              <a:defRPr/>
            </a:pPr>
            <a:r>
              <a:rPr lang="en-IN" sz="1400" dirty="0">
                <a:latin typeface="Times New Roman" panose="02020603050405020304" pitchFamily="18" charset="0"/>
                <a:cs typeface="Times New Roman" panose="02020603050405020304" pitchFamily="18" charset="0"/>
              </a:rPr>
              <a:t> This reduces the manufacturing cost than the equivalent board level system with higher performance and lower power. </a:t>
            </a:r>
          </a:p>
        </p:txBody>
      </p:sp>
      <p:pic>
        <p:nvPicPr>
          <p:cNvPr id="8" name="Picture 7">
            <a:extLst>
              <a:ext uri="{FF2B5EF4-FFF2-40B4-BE49-F238E27FC236}">
                <a16:creationId xmlns:a16="http://schemas.microsoft.com/office/drawing/2014/main" id="{944B24C0-5091-0907-1A40-0AF3A84CF0E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6072" y="178584"/>
            <a:ext cx="969497" cy="678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Down Arrow 8">
            <a:extLst>
              <a:ext uri="{FF2B5EF4-FFF2-40B4-BE49-F238E27FC236}">
                <a16:creationId xmlns:a16="http://schemas.microsoft.com/office/drawing/2014/main" id="{8F5D3C16-5A80-314E-9FBE-410DCB8B7938}"/>
              </a:ext>
            </a:extLst>
          </p:cNvPr>
          <p:cNvSpPr/>
          <p:nvPr/>
        </p:nvSpPr>
        <p:spPr>
          <a:xfrm>
            <a:off x="3989614" y="5165953"/>
            <a:ext cx="1055915" cy="532719"/>
          </a:xfrm>
          <a:prstGeom prst="downArrow">
            <a:avLst/>
          </a:prstGeom>
          <a:solidFill>
            <a:schemeClr val="tx2">
              <a:lumMod val="60000"/>
              <a:lumOff val="40000"/>
              <a:alpha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6" presetClass="entr" presetSubtype="16"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20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 calcmode="lin" valueType="num">
                                      <p:cBhvr additive="base">
                                        <p:cTn id="16"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additive="base">
                                        <p:cTn id="2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4"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 calcmode="lin" valueType="num">
                                      <p:cBhvr additive="base">
                                        <p:cTn id="28"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 calcmode="lin" valueType="num">
                                      <p:cBhvr additive="base">
                                        <p:cTn id="32"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4" fill="hold"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 calcmode="lin" valueType="num">
                                      <p:cBhvr additive="base">
                                        <p:cTn id="38"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 presetClass="entr" presetSubtype="4" fill="hold" nodeType="clickEffect">
                                  <p:stCondLst>
                                    <p:cond delay="0"/>
                                  </p:stCondLst>
                                  <p:childTnLst>
                                    <p:set>
                                      <p:cBhvr>
                                        <p:cTn id="43" dur="1" fill="hold">
                                          <p:stCondLst>
                                            <p:cond delay="0"/>
                                          </p:stCondLst>
                                        </p:cTn>
                                        <p:tgtEl>
                                          <p:spTgt spid="3">
                                            <p:txEl>
                                              <p:pRg st="10" end="10"/>
                                            </p:txEl>
                                          </p:spTgt>
                                        </p:tgtEl>
                                        <p:attrNameLst>
                                          <p:attrName>style.visibility</p:attrName>
                                        </p:attrNameLst>
                                      </p:cBhvr>
                                      <p:to>
                                        <p:strVal val="visible"/>
                                      </p:to>
                                    </p:set>
                                    <p:anim calcmode="lin" valueType="num">
                                      <p:cBhvr additive="base">
                                        <p:cTn id="44"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2" presetClass="entr" presetSubtype="4" fill="hold" nodeType="clickEffect">
                                  <p:stCondLst>
                                    <p:cond delay="0"/>
                                  </p:stCondLst>
                                  <p:childTnLst>
                                    <p:set>
                                      <p:cBhvr>
                                        <p:cTn id="49" dur="1" fill="hold">
                                          <p:stCondLst>
                                            <p:cond delay="0"/>
                                          </p:stCondLst>
                                        </p:cTn>
                                        <p:tgtEl>
                                          <p:spTgt spid="3">
                                            <p:txEl>
                                              <p:pRg st="12" end="12"/>
                                            </p:txEl>
                                          </p:spTgt>
                                        </p:tgtEl>
                                        <p:attrNameLst>
                                          <p:attrName>style.visibility</p:attrName>
                                        </p:attrNameLst>
                                      </p:cBhvr>
                                      <p:to>
                                        <p:strVal val="visible"/>
                                      </p:to>
                                    </p:set>
                                    <p:anim calcmode="lin" valueType="num">
                                      <p:cBhvr additive="base">
                                        <p:cTn id="50"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9"/>
                                        </p:tgtEl>
                                        <p:attrNameLst>
                                          <p:attrName>style.visibility</p:attrName>
                                        </p:attrNameLst>
                                      </p:cBhvr>
                                      <p:to>
                                        <p:strVal val="visible"/>
                                      </p:to>
                                    </p:set>
                                    <p:anim calcmode="lin" valueType="num">
                                      <p:cBhvr additive="base">
                                        <p:cTn id="56" dur="500" fill="hold"/>
                                        <p:tgtEl>
                                          <p:spTgt spid="9"/>
                                        </p:tgtEl>
                                        <p:attrNameLst>
                                          <p:attrName>ppt_x</p:attrName>
                                        </p:attrNameLst>
                                      </p:cBhvr>
                                      <p:tavLst>
                                        <p:tav tm="0">
                                          <p:val>
                                            <p:strVal val="#ppt_x"/>
                                          </p:val>
                                        </p:tav>
                                        <p:tav tm="100000">
                                          <p:val>
                                            <p:strVal val="#ppt_x"/>
                                          </p:val>
                                        </p:tav>
                                      </p:tavLst>
                                    </p:anim>
                                    <p:anim calcmode="lin" valueType="num">
                                      <p:cBhvr additive="base">
                                        <p:cTn id="57"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2" presetClass="entr" presetSubtype="4" fill="hold" nodeType="clickEffect">
                                  <p:stCondLst>
                                    <p:cond delay="0"/>
                                  </p:stCondLst>
                                  <p:childTnLst>
                                    <p:set>
                                      <p:cBhvr>
                                        <p:cTn id="61" dur="1" fill="hold">
                                          <p:stCondLst>
                                            <p:cond delay="0"/>
                                          </p:stCondLst>
                                        </p:cTn>
                                        <p:tgtEl>
                                          <p:spTgt spid="3">
                                            <p:txEl>
                                              <p:pRg st="16" end="16"/>
                                            </p:txEl>
                                          </p:spTgt>
                                        </p:tgtEl>
                                        <p:attrNameLst>
                                          <p:attrName>style.visibility</p:attrName>
                                        </p:attrNameLst>
                                      </p:cBhvr>
                                      <p:to>
                                        <p:strVal val="visible"/>
                                      </p:to>
                                    </p:set>
                                    <p:anim calcmode="lin" valueType="num">
                                      <p:cBhvr additive="base">
                                        <p:cTn id="62"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63" dur="500" fill="hold"/>
                                        <p:tgtEl>
                                          <p:spTgt spid="3">
                                            <p:txEl>
                                              <p:pRg st="16" end="1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54D31061-350D-4864-BF25-E3C3C4699CDC}"/>
              </a:ext>
            </a:extLst>
          </p:cNvPr>
          <p:cNvSpPr/>
          <p:nvPr/>
        </p:nvSpPr>
        <p:spPr>
          <a:xfrm>
            <a:off x="3771922" y="93980"/>
            <a:ext cx="5696543" cy="908910"/>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EXAMPLES of IC Technology Uses in Our Daily  Life</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2050" name="Picture 2" descr="Nikon | Semiconductor Lithography Systems | 1. What is a semiconductor, a  device that's so small, yet so essential to everyday life?">
            <a:extLst>
              <a:ext uri="{FF2B5EF4-FFF2-40B4-BE49-F238E27FC236}">
                <a16:creationId xmlns:a16="http://schemas.microsoft.com/office/drawing/2014/main" id="{296FCDA8-5CEE-D6CA-10E8-ECA58BF68A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416152"/>
            <a:ext cx="9144000" cy="5048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9629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994722" y="1255186"/>
            <a:ext cx="10086536" cy="5632311"/>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rigorous effort of various scientist has made possible the today’s IC Technology Advancement.</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has been a roller-costar journey of IC Technology since 1874 until now. Many has contributed to reach the achievement of present era modern ICs and Based Devices Such as-</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4098" name="Picture 2" descr="Recent Prospectives and Challenges of 3D Heterogeneous Integration -  ScienceDirect">
            <a:extLst>
              <a:ext uri="{FF2B5EF4-FFF2-40B4-BE49-F238E27FC236}">
                <a16:creationId xmlns:a16="http://schemas.microsoft.com/office/drawing/2014/main" id="{23DD8848-2A9E-5645-EF06-836F8161B2C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8944"/>
          <a:stretch/>
        </p:blipFill>
        <p:spPr bwMode="auto">
          <a:xfrm>
            <a:off x="2572058" y="2566220"/>
            <a:ext cx="6761506" cy="37231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R="0" lvl="0" rtl="0">
              <a:spcBef>
                <a:spcPts val="0"/>
              </a:spcBef>
              <a:spcAft>
                <a:spcPts val="0"/>
              </a:spcAft>
            </a:pPr>
            <a:r>
              <a:rPr lang="en-US" sz="1600" dirty="0">
                <a:solidFill>
                  <a:schemeClr val="bg1"/>
                </a:solidFill>
                <a:latin typeface="Times New Roman" panose="02020603050405020304" pitchFamily="18" charset="0"/>
                <a:ea typeface="Calibri"/>
                <a:cs typeface="Times New Roman" panose="02020603050405020304" pitchFamily="18" charset="0"/>
                <a:sym typeface="Calibri"/>
              </a:rPr>
              <a:t>1. The First Ever Semiconductor Device..</a:t>
            </a:r>
            <a:endParaRPr sz="1600" dirty="0">
              <a:solidFill>
                <a:schemeClr val="bg1"/>
              </a:solidFill>
              <a:latin typeface="Times New Roman" panose="02020603050405020304" pitchFamily="18" charset="0"/>
              <a:ea typeface="Calibri"/>
              <a:cs typeface="Times New Roman" panose="02020603050405020304" pitchFamily="18"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26828" y="1977905"/>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dirty="0">
                <a:latin typeface="Times New Roman" panose="02020603050405020304" pitchFamily="18" charset="0"/>
                <a:cs typeface="Times New Roman" panose="02020603050405020304" pitchFamily="18" charset="0"/>
              </a:rPr>
              <a:t>Transistor</a:t>
            </a:r>
          </a:p>
          <a:p>
            <a:pPr marL="342900" indent="-342900">
              <a:lnSpc>
                <a:spcPct val="150000"/>
              </a:lnSpc>
              <a:buAutoNum type="alphaLcParenBoth"/>
            </a:pPr>
            <a:r>
              <a:rPr lang="en-US" sz="1600" dirty="0">
                <a:latin typeface="Times New Roman" panose="02020603050405020304" pitchFamily="18" charset="0"/>
                <a:cs typeface="Times New Roman" panose="02020603050405020304" pitchFamily="18" charset="0"/>
              </a:rPr>
              <a:t>MOSFET</a:t>
            </a:r>
          </a:p>
          <a:p>
            <a:pPr marL="342900" indent="-342900">
              <a:lnSpc>
                <a:spcPct val="150000"/>
              </a:lnSpc>
              <a:buAutoNum type="alphaLcParenBoth"/>
            </a:pPr>
            <a:r>
              <a:rPr lang="en-US" sz="1600" dirty="0">
                <a:latin typeface="Times New Roman" panose="02020603050405020304" pitchFamily="18" charset="0"/>
                <a:cs typeface="Times New Roman" panose="02020603050405020304" pitchFamily="18" charset="0"/>
              </a:rPr>
              <a:t>AC-DC Converter</a:t>
            </a:r>
          </a:p>
          <a:p>
            <a:pPr marL="342900" indent="-342900">
              <a:lnSpc>
                <a:spcPct val="150000"/>
              </a:lnSpc>
              <a:buAutoNum type="alphaLcParenBoth"/>
            </a:pPr>
            <a:r>
              <a:rPr lang="en-US" sz="1600" dirty="0">
                <a:latin typeface="Times New Roman" panose="02020603050405020304" pitchFamily="18" charset="0"/>
                <a:cs typeface="Times New Roman" panose="02020603050405020304" pitchFamily="18" charset="0"/>
              </a:rPr>
              <a:t>Resistor</a:t>
            </a:r>
          </a:p>
        </p:txBody>
      </p:sp>
      <p:sp>
        <p:nvSpPr>
          <p:cNvPr id="13" name="Google Shape;502;p17">
            <a:extLst>
              <a:ext uri="{FF2B5EF4-FFF2-40B4-BE49-F238E27FC236}">
                <a16:creationId xmlns:a16="http://schemas.microsoft.com/office/drawing/2014/main" id="{BB41B87C-BE5F-4BF2-531D-57DC21D1A451}"/>
              </a:ext>
            </a:extLst>
          </p:cNvPr>
          <p:cNvSpPr/>
          <p:nvPr/>
        </p:nvSpPr>
        <p:spPr>
          <a:xfrm>
            <a:off x="1009895" y="3820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marR="0" lvl="0" indent="-342900" rtl="0">
              <a:spcBef>
                <a:spcPts val="0"/>
              </a:spcBef>
              <a:spcAft>
                <a:spcPts val="0"/>
              </a:spcAft>
              <a:buFont typeface="+mj-lt"/>
              <a:buAutoNum type="arabicPeriod" startAt="2"/>
            </a:pPr>
            <a:r>
              <a:rPr lang="en-US" sz="1600" dirty="0">
                <a:solidFill>
                  <a:schemeClr val="bg1"/>
                </a:solidFill>
                <a:latin typeface="Times New Roman" panose="02020603050405020304" pitchFamily="18" charset="0"/>
                <a:ea typeface="Calibri"/>
                <a:cs typeface="Times New Roman" panose="02020603050405020304" pitchFamily="18" charset="0"/>
                <a:sym typeface="Calibri"/>
              </a:rPr>
              <a:t>IC Technology Embedded Device in your surroundings..</a:t>
            </a:r>
            <a:endParaRPr sz="1600" dirty="0">
              <a:solidFill>
                <a:schemeClr val="bg1"/>
              </a:solidFill>
              <a:latin typeface="Times New Roman" panose="02020603050405020304" pitchFamily="18" charset="0"/>
              <a:ea typeface="Calibri"/>
              <a:cs typeface="Times New Roman" panose="02020603050405020304" pitchFamily="18" charset="0"/>
              <a:sym typeface="Calibri"/>
            </a:endParaRPr>
          </a:p>
        </p:txBody>
      </p:sp>
      <p:sp>
        <p:nvSpPr>
          <p:cNvPr id="14" name="Rounded Rectangle 17">
            <a:extLst>
              <a:ext uri="{FF2B5EF4-FFF2-40B4-BE49-F238E27FC236}">
                <a16:creationId xmlns:a16="http://schemas.microsoft.com/office/drawing/2014/main" id="{7E00138C-2256-5D01-E821-A57ADA3BBCB0}"/>
              </a:ext>
            </a:extLst>
          </p:cNvPr>
          <p:cNvSpPr/>
          <p:nvPr/>
        </p:nvSpPr>
        <p:spPr>
          <a:xfrm>
            <a:off x="1009895" y="4727197"/>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dirty="0">
                <a:latin typeface="Times New Roman" panose="02020603050405020304" pitchFamily="18" charset="0"/>
                <a:cs typeface="Times New Roman" panose="02020603050405020304" pitchFamily="18" charset="0"/>
              </a:rPr>
              <a:t>Cell Phone</a:t>
            </a:r>
          </a:p>
          <a:p>
            <a:pPr marL="342900" indent="-342900">
              <a:lnSpc>
                <a:spcPct val="150000"/>
              </a:lnSpc>
              <a:buAutoNum type="alphaLcParenBoth"/>
            </a:pPr>
            <a:r>
              <a:rPr lang="en-US" dirty="0">
                <a:latin typeface="Times New Roman" panose="02020603050405020304" pitchFamily="18" charset="0"/>
                <a:cs typeface="Times New Roman" panose="02020603050405020304" pitchFamily="18" charset="0"/>
              </a:rPr>
              <a:t>Televisions</a:t>
            </a:r>
          </a:p>
          <a:p>
            <a:pPr marL="342900" indent="-342900">
              <a:lnSpc>
                <a:spcPct val="150000"/>
              </a:lnSpc>
              <a:buAutoNum type="alphaLcParenBoth"/>
            </a:pPr>
            <a:r>
              <a:rPr lang="en-US" dirty="0">
                <a:latin typeface="Times New Roman" panose="02020603050405020304" pitchFamily="18" charset="0"/>
                <a:cs typeface="Times New Roman" panose="02020603050405020304" pitchFamily="18" charset="0"/>
              </a:rPr>
              <a:t>Computers</a:t>
            </a:r>
          </a:p>
          <a:p>
            <a:pPr marL="342900" indent="-342900">
              <a:lnSpc>
                <a:spcPct val="150000"/>
              </a:lnSpc>
              <a:buAutoNum type="alphaLcParenBoth"/>
            </a:pPr>
            <a:r>
              <a:rPr lang="en-US" sz="1600" dirty="0">
                <a:latin typeface="Times New Roman" panose="02020603050405020304" pitchFamily="18" charset="0"/>
                <a:cs typeface="Times New Roman" panose="02020603050405020304" pitchFamily="18" charset="0"/>
              </a:rPr>
              <a:t>All Above</a:t>
            </a: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1927661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900332" y="1167618"/>
            <a:ext cx="9608234" cy="2230739"/>
          </a:xfrm>
          <a:prstGeom prst="rect">
            <a:avLst/>
          </a:prstGeom>
          <a:noFill/>
        </p:spPr>
        <p:txBody>
          <a:bodyPr wrap="square" rtlCol="0">
            <a:spAutoFit/>
          </a:bodyPr>
          <a:lstStyle/>
          <a:p>
            <a:pPr>
              <a:lnSpc>
                <a:spcPct val="200000"/>
              </a:lnSpc>
            </a:pPr>
            <a:r>
              <a:rPr lang="en-US" b="1" dirty="0"/>
              <a:t>1. Describe the importance of IC Innovation in Modern Era.</a:t>
            </a:r>
          </a:p>
          <a:p>
            <a:pPr>
              <a:lnSpc>
                <a:spcPct val="200000"/>
              </a:lnSpc>
            </a:pPr>
            <a:r>
              <a:rPr lang="en-US" b="1" dirty="0"/>
              <a:t>2. List out the device used by you based on IC Technology.</a:t>
            </a:r>
          </a:p>
          <a:p>
            <a:pPr>
              <a:lnSpc>
                <a:spcPct val="200000"/>
              </a:lnSpc>
            </a:pPr>
            <a:r>
              <a:rPr lang="en-US" b="1" dirty="0"/>
              <a:t>3. Analyze the major event during the development of IC Technology.</a:t>
            </a:r>
          </a:p>
          <a:p>
            <a:pPr marL="342900" indent="-342900">
              <a:lnSpc>
                <a:spcPct val="200000"/>
              </a:lnSpc>
            </a:pPr>
            <a:r>
              <a:rPr lang="en-US" b="1" dirty="0"/>
              <a:t>4. Summarize the various development stages of IC Technology.</a:t>
            </a: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900332" y="1167618"/>
            <a:ext cx="9608234" cy="3373359"/>
          </a:xfrm>
          <a:prstGeom prst="rect">
            <a:avLst/>
          </a:prstGeom>
          <a:noFill/>
        </p:spPr>
        <p:txBody>
          <a:bodyPr wrap="square" rtlCol="0">
            <a:spAutoFit/>
          </a:bodyPr>
          <a:lstStyle/>
          <a:p>
            <a:pPr>
              <a:lnSpc>
                <a:spcPct val="150000"/>
              </a:lnSpc>
            </a:pPr>
            <a:r>
              <a:rPr lang="en-US" b="1" dirty="0"/>
              <a:t>Reference Books:</a:t>
            </a:r>
            <a:endParaRPr lang="en-US" dirty="0"/>
          </a:p>
          <a:p>
            <a:pPr>
              <a:lnSpc>
                <a:spcPct val="150000"/>
              </a:lnSpc>
            </a:pPr>
            <a:r>
              <a:rPr lang="en-US" dirty="0"/>
              <a:t>1. Sung-Mo Kong, Yusuf </a:t>
            </a:r>
            <a:r>
              <a:rPr lang="en-US" dirty="0" err="1"/>
              <a:t>Leblebici</a:t>
            </a:r>
            <a:r>
              <a:rPr lang="en-US" dirty="0"/>
              <a:t>, “CMOS Digital Integrated Circuits Analysis and Design” Third Edition.</a:t>
            </a:r>
          </a:p>
          <a:p>
            <a:pPr>
              <a:lnSpc>
                <a:spcPct val="150000"/>
              </a:lnSpc>
            </a:pPr>
            <a:r>
              <a:rPr lang="en-US" dirty="0"/>
              <a:t>2. </a:t>
            </a:r>
            <a:r>
              <a:rPr lang="en-US" dirty="0" err="1"/>
              <a:t>Debaprasad</a:t>
            </a:r>
            <a:r>
              <a:rPr lang="en-US" dirty="0"/>
              <a:t> Das, “CMOS DESIGN” Second Edition.</a:t>
            </a:r>
          </a:p>
          <a:p>
            <a:pPr>
              <a:lnSpc>
                <a:spcPct val="150000"/>
              </a:lnSpc>
            </a:pPr>
            <a:endParaRPr lang="en-US" dirty="0"/>
          </a:p>
          <a:p>
            <a:pPr>
              <a:lnSpc>
                <a:spcPct val="150000"/>
              </a:lnSpc>
            </a:pPr>
            <a:r>
              <a:rPr lang="en-US" b="1" dirty="0"/>
              <a:t>Sites and Web links:</a:t>
            </a:r>
          </a:p>
          <a:p>
            <a:pPr>
              <a:lnSpc>
                <a:spcPct val="150000"/>
              </a:lnSpc>
            </a:pPr>
            <a:r>
              <a:rPr lang="en-US" dirty="0"/>
              <a:t>1. </a:t>
            </a:r>
            <a:r>
              <a:rPr lang="en-US" dirty="0">
                <a:hlinkClick r:id="rId2"/>
              </a:rPr>
              <a:t>https://www.hitachi-hightech.com/global/en/knowledge/semiconductor/room/about/history.html</a:t>
            </a:r>
            <a:r>
              <a:rPr lang="en-US" dirty="0"/>
              <a:t> (Dated 14-11-2022)</a:t>
            </a:r>
          </a:p>
        </p:txBody>
      </p:sp>
      <p:pic>
        <p:nvPicPr>
          <p:cNvPr id="5"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VLSI DESIGN</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BD0A98-E68B-4DAA-8964-2F739D6D4075}">
  <ds:schemaRefs>
    <ds:schemaRef ds:uri="0125a647-8023-46ae-ae6e-85cf36d841bd"/>
    <ds:schemaRef ds:uri="d43ee83c-3e71-4748-8ebc-8eaadf79342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3.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162</TotalTime>
  <Words>1499</Words>
  <Application>Microsoft Office PowerPoint</Application>
  <PresentationFormat>Widescreen</PresentationFormat>
  <Paragraphs>208</Paragraphs>
  <Slides>18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Calibri Light</vt:lpstr>
      <vt:lpstr>Poppins</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IC Invention</vt:lpstr>
      <vt:lpstr>Circuit Technology</vt:lpstr>
      <vt:lpstr>Scale of Integration</vt:lpstr>
      <vt:lpstr>Scale of Integration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Dr.Ashish Kumar</cp:lastModifiedBy>
  <cp:revision>24</cp:revision>
  <dcterms:created xsi:type="dcterms:W3CDTF">2020-02-08T09:57:44Z</dcterms:created>
  <dcterms:modified xsi:type="dcterms:W3CDTF">2022-11-17T03:47:39Z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