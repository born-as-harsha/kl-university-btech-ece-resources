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71" r:id="rId5"/>
    <p:sldId id="300" r:id="rId6"/>
    <p:sldId id="258" r:id="rId7"/>
    <p:sldId id="288" r:id="rId8"/>
    <p:sldId id="308" r:id="rId9"/>
    <p:sldId id="311" r:id="rId10"/>
    <p:sldId id="315" r:id="rId11"/>
    <p:sldId id="316" r:id="rId12"/>
    <p:sldId id="310" r:id="rId13"/>
    <p:sldId id="309" r:id="rId14"/>
    <p:sldId id="317" r:id="rId15"/>
    <p:sldId id="318" r:id="rId16"/>
    <p:sldId id="299" r:id="rId17"/>
    <p:sldId id="285" r:id="rId18"/>
    <p:sldId id="287" r:id="rId19"/>
    <p:sldId id="301" r:id="rId20"/>
    <p:sldId id="302" r:id="rId21"/>
    <p:sldId id="303"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rchive.nptel.ac.in/courses/106/105/106105034/"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61606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21EC2211</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4000" b="1" dirty="0">
                <a:solidFill>
                  <a:srgbClr val="FF0000"/>
                </a:solidFill>
                <a:effectLst/>
                <a:latin typeface="Times New Roman" panose="02020603050405020304" pitchFamily="18" charset="0"/>
                <a:ea typeface="Calibri" panose="020F0502020204030204" pitchFamily="34" charset="0"/>
              </a:rPr>
              <a:t>NMOS and CMOS Logic circuits design</a:t>
            </a:r>
            <a:endParaRPr lang="en-US" sz="4000" b="1" dirty="0">
              <a:solidFill>
                <a:srgbClr val="FF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992171" y="553559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- 4</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598" y="656507"/>
            <a:ext cx="8791575" cy="36933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US" dirty="0"/>
              <a:t>To nurture students with Concepts of design rules for wires, transistors and contacts. </a:t>
            </a:r>
            <a:endParaRPr lang="en-IN" dirty="0"/>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692771"/>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dirty="0"/>
              <a:t>Describe</a:t>
            </a:r>
            <a:r>
              <a:rPr lang="en-IN" dirty="0"/>
              <a:t> the static and dynamic characteristics of various combinational MOS logic circuits. </a:t>
            </a:r>
          </a:p>
          <a:p>
            <a:pPr marL="342900" indent="-342900">
              <a:buAutoNum type="arabicPeriod"/>
            </a:pPr>
            <a:r>
              <a:rPr lang="en-IN" dirty="0"/>
              <a:t>Basic principles used in the design and analysis of MOS inverters in can be directly applied to combinational logic circuits as well.</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598" y="4765771"/>
            <a:ext cx="8791575" cy="141577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Understand </a:t>
            </a:r>
            <a:r>
              <a:rPr lang="en-IN" dirty="0">
                <a:solidFill>
                  <a:prstClr val="black"/>
                </a:solidFill>
              </a:rPr>
              <a:t>static and dynamic characteristics of various combinational MOS logic circuits</a:t>
            </a:r>
            <a:r>
              <a:rPr lang="en-US" sz="1600" dirty="0">
                <a:latin typeface="Arial" panose="020B0604020202020204" pitchFamily="34" charset="0"/>
              </a:rPr>
              <a:t>.</a:t>
            </a:r>
            <a:endParaRPr lang="en-US" sz="1600" b="0" i="0" dirty="0">
              <a:effectLst/>
              <a:latin typeface="Arial" panose="020B0604020202020204" pitchFamily="34" charset="0"/>
            </a:endParaRPr>
          </a:p>
          <a:p>
            <a:pPr marL="342900" indent="-342900">
              <a:buAutoNum type="arabicPeriod"/>
            </a:pPr>
            <a:r>
              <a:rPr lang="en-IN" dirty="0" err="1">
                <a:solidFill>
                  <a:prstClr val="black"/>
                </a:solidFill>
              </a:rPr>
              <a:t>Analyze</a:t>
            </a:r>
            <a:r>
              <a:rPr lang="en-IN" dirty="0">
                <a:solidFill>
                  <a:prstClr val="black"/>
                </a:solidFill>
              </a:rPr>
              <a:t> basic principles used in the design and analysis of MOS inverters</a:t>
            </a:r>
            <a:r>
              <a:rPr lang="en-US" sz="1600" dirty="0">
                <a:latin typeface="Arial" panose="020B0604020202020204" pitchFamily="34" charset="0"/>
              </a:rPr>
              <a:t>.</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291629" y="1128457"/>
            <a:ext cx="10086536" cy="3746347"/>
          </a:xfrm>
          <a:prstGeom prst="rect">
            <a:avLst/>
          </a:prstGeom>
          <a:noFill/>
        </p:spPr>
        <p:txBody>
          <a:bodyPr wrap="square" rtlCol="0">
            <a:spAutoFit/>
          </a:bodyPr>
          <a:lstStyle/>
          <a:p>
            <a:endParaRPr lang="en-US" dirty="0"/>
          </a:p>
          <a:p>
            <a:pPr algn="ctr">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“NMOS and CMOS Logic circuits design”</a:t>
            </a:r>
          </a:p>
          <a:p>
            <a:pPr algn="ctr">
              <a:lnSpc>
                <a:spcPct val="150000"/>
              </a:lnSpc>
              <a:spcAft>
                <a:spcPts val="1000"/>
              </a:spcAft>
            </a:pPr>
            <a:endParaRPr lang="en-US" b="1" i="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session starts with the introduction of the NMOS and CMOS logic circuit,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we will examine the static and dynamic characteristics of various combinational MOS logic circuits. </a:t>
            </a:r>
          </a:p>
          <a:p>
            <a:pPr marL="285750" indent="-285750" algn="just">
              <a:lnSpc>
                <a:spcPct val="150000"/>
              </a:lnSpc>
              <a:spcAft>
                <a:spcPts val="1000"/>
              </a:spcAft>
              <a:buFont typeface="Wingdings" panose="05000000000000000000" pitchFamily="2" charset="2"/>
              <a:buChar char="v"/>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It will be seen that many of the basic principles used in the design and analysis of MOS inverters in can be directly applied to combinational logic circuits as well.</a:t>
            </a:r>
            <a:endParaRPr lang="en-US"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995362" y="600076"/>
            <a:ext cx="10396152" cy="6635791"/>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INTRODUCTION</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Combinational logic circuits, or gates, which perform Boolean operations on multiple input variables and determine the outputs as Boolean functions of the inputs, are the basic building blocks of all digital systems. </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lecture, we will examine the static and dynamic characteristics of various combinational MOS logic circuits. It will be seen that many of the basic principles used in the design and analysis of MOS inverters can be directly applied to combinational logic circuits as well.</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All input variables are represented by node voltages, referenced to the ground potential. Using positive logic convention, the Boolean (or logic) value of " 1 " can be represented by a high voltage of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the Boolean (or logic) value of "0" can be represented by a low voltage of 0. </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output node is loaded with a capacitance CL, which represents the combined parasitic device capacitances in the circuit and the interconnect capacitance components seen by the output node. This output load capacitance certainly plays a very significant role in the dynamic operation of the logic gate.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5" name="Picture 4">
            <a:extLst>
              <a:ext uri="{FF2B5EF4-FFF2-40B4-BE49-F238E27FC236}">
                <a16:creationId xmlns:a16="http://schemas.microsoft.com/office/drawing/2014/main" id="{1F897112-4F55-B82C-B0C5-ED81EDE1E5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2104" y="850251"/>
            <a:ext cx="8294914" cy="4202275"/>
          </a:xfrm>
          <a:prstGeom prst="rect">
            <a:avLst/>
          </a:prstGeom>
          <a:noFill/>
          <a:ln>
            <a:noFill/>
          </a:ln>
        </p:spPr>
      </p:pic>
      <p:sp>
        <p:nvSpPr>
          <p:cNvPr id="7" name="TextBox 6">
            <a:extLst>
              <a:ext uri="{FF2B5EF4-FFF2-40B4-BE49-F238E27FC236}">
                <a16:creationId xmlns:a16="http://schemas.microsoft.com/office/drawing/2014/main" id="{A58E036D-912A-6E1F-A6F8-3EA212C8E264}"/>
              </a:ext>
            </a:extLst>
          </p:cNvPr>
          <p:cNvSpPr txBox="1"/>
          <p:nvPr/>
        </p:nvSpPr>
        <p:spPr>
          <a:xfrm>
            <a:off x="511628" y="5389570"/>
            <a:ext cx="11168743" cy="923330"/>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As in the simple inverter case, the voltage transfer characteristic (VTC) of a combinational logic gate provides valuable information on the DC operating performance of the circuit. Critical voltage points such as V</a:t>
            </a:r>
            <a:r>
              <a:rPr lang="en-US" sz="1800" baseline="-25000" dirty="0">
                <a:effectLst/>
                <a:latin typeface="Times New Roman" panose="02020603050405020304" pitchFamily="18" charset="0"/>
                <a:ea typeface="Calibri" panose="020F0502020204030204" pitchFamily="34" charset="0"/>
              </a:rPr>
              <a:t>OL</a:t>
            </a:r>
            <a:r>
              <a:rPr lang="en-US" sz="1800" dirty="0">
                <a:effectLst/>
                <a:latin typeface="Times New Roman" panose="02020603050405020304" pitchFamily="18" charset="0"/>
                <a:ea typeface="Calibri" panose="020F0502020204030204" pitchFamily="34" charset="0"/>
              </a:rPr>
              <a:t> or V</a:t>
            </a:r>
            <a:r>
              <a:rPr lang="en-US" sz="1800" baseline="-25000" dirty="0">
                <a:effectLst/>
                <a:latin typeface="Times New Roman" panose="02020603050405020304" pitchFamily="18" charset="0"/>
                <a:ea typeface="Calibri" panose="020F0502020204030204" pitchFamily="34" charset="0"/>
              </a:rPr>
              <a:t>th</a:t>
            </a:r>
            <a:r>
              <a:rPr lang="en-US" sz="1800" dirty="0">
                <a:effectLst/>
                <a:latin typeface="Times New Roman" panose="02020603050405020304" pitchFamily="18" charset="0"/>
                <a:ea typeface="Calibri" panose="020F0502020204030204" pitchFamily="34" charset="0"/>
              </a:rPr>
              <a:t> are considered to be important design parameters for combinational logic circuits. </a:t>
            </a:r>
            <a:endParaRPr lang="en-IN" dirty="0"/>
          </a:p>
        </p:txBody>
      </p:sp>
    </p:spTree>
    <p:extLst>
      <p:ext uri="{BB962C8B-B14F-4D97-AF65-F5344CB8AC3E}">
        <p14:creationId xmlns:p14="http://schemas.microsoft.com/office/powerpoint/2010/main" val="4121856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0647E025-7C5B-586B-9A76-2117BEBFDC79}"/>
              </a:ext>
            </a:extLst>
          </p:cNvPr>
          <p:cNvSpPr txBox="1"/>
          <p:nvPr/>
        </p:nvSpPr>
        <p:spPr>
          <a:xfrm>
            <a:off x="744117" y="668706"/>
            <a:ext cx="6097554" cy="463397"/>
          </a:xfrm>
          <a:prstGeom prst="rect">
            <a:avLst/>
          </a:prstGeom>
          <a:noFill/>
        </p:spPr>
        <p:txBody>
          <a:bodyPr wrap="square">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MOS Logic Circuits with Depletion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nMOS</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Loads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7503EB5-44A1-A457-79F9-251BF9326E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53598" y="1200733"/>
            <a:ext cx="6444068" cy="4078958"/>
          </a:xfrm>
          <a:prstGeom prst="rect">
            <a:avLst/>
          </a:prstGeom>
          <a:noFill/>
          <a:ln>
            <a:noFill/>
          </a:ln>
        </p:spPr>
      </p:pic>
      <p:sp>
        <p:nvSpPr>
          <p:cNvPr id="7" name="TextBox 6">
            <a:extLst>
              <a:ext uri="{FF2B5EF4-FFF2-40B4-BE49-F238E27FC236}">
                <a16:creationId xmlns:a16="http://schemas.microsoft.com/office/drawing/2014/main" id="{0011D1C9-C68B-D35D-04E0-F8604129198A}"/>
              </a:ext>
            </a:extLst>
          </p:cNvPr>
          <p:cNvSpPr txBox="1"/>
          <p:nvPr/>
        </p:nvSpPr>
        <p:spPr>
          <a:xfrm>
            <a:off x="136848" y="5479199"/>
            <a:ext cx="11999166" cy="1294393"/>
          </a:xfrm>
          <a:prstGeom prst="rect">
            <a:avLst/>
          </a:prstGeom>
          <a:noFill/>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DC analysis of the circuit can be simplified significantly by considering the structural similarities between this circuit and the simple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nMOS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depletion-load inverter. In the following, the calculation of output low and output high voltages will be examined.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43340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id="{D215D1C6-F17F-6B31-3F72-98F830E38FAE}"/>
              </a:ext>
            </a:extLst>
          </p:cNvPr>
          <p:cNvSpPr txBox="1"/>
          <p:nvPr/>
        </p:nvSpPr>
        <p:spPr>
          <a:xfrm>
            <a:off x="242596" y="918779"/>
            <a:ext cx="11672595" cy="1838132"/>
          </a:xfrm>
          <a:prstGeom prst="rect">
            <a:avLst/>
          </a:prstGeom>
          <a:noFill/>
        </p:spPr>
        <p:txBody>
          <a:bodyPr wrap="square">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Calculation of V</a:t>
            </a:r>
            <a:r>
              <a:rPr lang="en-US" sz="1800" b="1" baseline="-25000" dirty="0">
                <a:effectLst/>
                <a:latin typeface="Times New Roman" panose="02020603050405020304" pitchFamily="18" charset="0"/>
                <a:ea typeface="Calibri" panose="020F0502020204030204" pitchFamily="34" charset="0"/>
                <a:cs typeface="Times New Roman" panose="02020603050405020304" pitchFamily="18" charset="0"/>
              </a:rPr>
              <a:t>OH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both input voltages VA and VB are lower than the corresponding driver threshold voltage, the driver transistors are turned off and conduct no drain current. Consequently, the load device, which operates in the linear region, also has zero drain current. In linear region, current equation becomes-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A2FD8BEE-3629-13D2-041E-4D678C74B9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0430" y="2878183"/>
            <a:ext cx="7721428" cy="788748"/>
          </a:xfrm>
          <a:prstGeom prst="rect">
            <a:avLst/>
          </a:prstGeom>
          <a:noFill/>
          <a:ln>
            <a:noFill/>
          </a:ln>
        </p:spPr>
      </p:pic>
      <p:sp>
        <p:nvSpPr>
          <p:cNvPr id="9" name="TextBox 8">
            <a:extLst>
              <a:ext uri="{FF2B5EF4-FFF2-40B4-BE49-F238E27FC236}">
                <a16:creationId xmlns:a16="http://schemas.microsoft.com/office/drawing/2014/main" id="{0106231F-2A5D-2C98-22D8-B14BE0D7E9CE}"/>
              </a:ext>
            </a:extLst>
          </p:cNvPr>
          <p:cNvSpPr txBox="1"/>
          <p:nvPr/>
        </p:nvSpPr>
        <p:spPr>
          <a:xfrm>
            <a:off x="242596" y="3788203"/>
            <a:ext cx="11579288" cy="1422634"/>
          </a:xfrm>
          <a:prstGeom prst="rect">
            <a:avLst/>
          </a:prstGeom>
          <a:noFill/>
        </p:spPr>
        <p:txBody>
          <a:bodyPr wrap="square">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Calculation of V</a:t>
            </a:r>
            <a:r>
              <a:rPr lang="en-US" sz="1800" b="1" baseline="-25000" dirty="0">
                <a:effectLst/>
                <a:latin typeface="Times New Roman" panose="02020603050405020304" pitchFamily="18" charset="0"/>
                <a:ea typeface="Calibri" panose="020F0502020204030204" pitchFamily="34" charset="0"/>
                <a:cs typeface="Times New Roman" panose="02020603050405020304" pitchFamily="18" charset="0"/>
              </a:rPr>
              <a:t>OL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calculate the output low voltage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OL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 must consider three different cases, i.e., three different input voltage combinations, which produce a conducting path from the output node to the ground. These cases are-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6EC7765B-4400-34FA-E09D-A8969625A0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83387" y="5332109"/>
            <a:ext cx="2877249" cy="967740"/>
          </a:xfrm>
          <a:prstGeom prst="rect">
            <a:avLst/>
          </a:prstGeom>
          <a:noFill/>
          <a:ln>
            <a:noFill/>
          </a:ln>
        </p:spPr>
      </p:pic>
    </p:spTree>
    <p:extLst>
      <p:ext uri="{BB962C8B-B14F-4D97-AF65-F5344CB8AC3E}">
        <p14:creationId xmlns:p14="http://schemas.microsoft.com/office/powerpoint/2010/main" val="30966467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a:extLst>
              <a:ext uri="{FF2B5EF4-FFF2-40B4-BE49-F238E27FC236}">
                <a16:creationId xmlns:a16="http://schemas.microsoft.com/office/drawing/2014/main" id="{B342A156-C407-D64F-D0E0-1D29FEBC426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67431" y="753368"/>
            <a:ext cx="6220329" cy="1318027"/>
          </a:xfrm>
          <a:prstGeom prst="rect">
            <a:avLst/>
          </a:prstGeom>
          <a:noFill/>
          <a:ln>
            <a:noFill/>
          </a:ln>
        </p:spPr>
      </p:pic>
      <p:pic>
        <p:nvPicPr>
          <p:cNvPr id="3" name="Picture 2">
            <a:extLst>
              <a:ext uri="{FF2B5EF4-FFF2-40B4-BE49-F238E27FC236}">
                <a16:creationId xmlns:a16="http://schemas.microsoft.com/office/drawing/2014/main" id="{23F4C995-DA41-9097-6B9B-B67EE754819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67431" y="2293279"/>
            <a:ext cx="6237755" cy="1485619"/>
          </a:xfrm>
          <a:prstGeom prst="rect">
            <a:avLst/>
          </a:prstGeom>
          <a:noFill/>
          <a:ln>
            <a:noFill/>
          </a:ln>
        </p:spPr>
      </p:pic>
      <p:pic>
        <p:nvPicPr>
          <p:cNvPr id="6" name="Picture 5">
            <a:extLst>
              <a:ext uri="{FF2B5EF4-FFF2-40B4-BE49-F238E27FC236}">
                <a16:creationId xmlns:a16="http://schemas.microsoft.com/office/drawing/2014/main" id="{E565C290-3EC3-953D-BFBB-CC49D7FF60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27062" y="3889840"/>
            <a:ext cx="5749727" cy="785822"/>
          </a:xfrm>
          <a:prstGeom prst="rect">
            <a:avLst/>
          </a:prstGeom>
          <a:noFill/>
          <a:ln>
            <a:noFill/>
          </a:ln>
        </p:spPr>
      </p:pic>
      <p:pic>
        <p:nvPicPr>
          <p:cNvPr id="8" name="Picture 7">
            <a:extLst>
              <a:ext uri="{FF2B5EF4-FFF2-40B4-BE49-F238E27FC236}">
                <a16:creationId xmlns:a16="http://schemas.microsoft.com/office/drawing/2014/main" id="{E8AB90A1-E4CA-5DA8-9E20-78E8CE5E79B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473653" y="4786604"/>
            <a:ext cx="5730240" cy="1844040"/>
          </a:xfrm>
          <a:prstGeom prst="rect">
            <a:avLst/>
          </a:prstGeom>
          <a:noFill/>
          <a:ln>
            <a:noFill/>
          </a:ln>
        </p:spPr>
      </p:pic>
    </p:spTree>
    <p:extLst>
      <p:ext uri="{BB962C8B-B14F-4D97-AF65-F5344CB8AC3E}">
        <p14:creationId xmlns:p14="http://schemas.microsoft.com/office/powerpoint/2010/main" val="3383134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a:extLst>
              <a:ext uri="{FF2B5EF4-FFF2-40B4-BE49-F238E27FC236}">
                <a16:creationId xmlns:a16="http://schemas.microsoft.com/office/drawing/2014/main" id="{FB620E88-00CB-2873-83DF-E627FF10B41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73653" y="982824"/>
            <a:ext cx="5715000" cy="1066800"/>
          </a:xfrm>
          <a:prstGeom prst="rect">
            <a:avLst/>
          </a:prstGeom>
          <a:noFill/>
          <a:ln>
            <a:noFill/>
          </a:ln>
        </p:spPr>
      </p:pic>
      <p:pic>
        <p:nvPicPr>
          <p:cNvPr id="3" name="Picture 2">
            <a:extLst>
              <a:ext uri="{FF2B5EF4-FFF2-40B4-BE49-F238E27FC236}">
                <a16:creationId xmlns:a16="http://schemas.microsoft.com/office/drawing/2014/main" id="{B8402AE1-451C-215F-762E-CF892D0E666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66033" y="2519241"/>
            <a:ext cx="5730240" cy="815340"/>
          </a:xfrm>
          <a:prstGeom prst="rect">
            <a:avLst/>
          </a:prstGeom>
          <a:noFill/>
          <a:ln>
            <a:noFill/>
          </a:ln>
        </p:spPr>
      </p:pic>
      <p:sp>
        <p:nvSpPr>
          <p:cNvPr id="6" name="TextBox 5">
            <a:extLst>
              <a:ext uri="{FF2B5EF4-FFF2-40B4-BE49-F238E27FC236}">
                <a16:creationId xmlns:a16="http://schemas.microsoft.com/office/drawing/2014/main" id="{8F17C72A-4F1F-F70F-2179-B695762DA093}"/>
              </a:ext>
            </a:extLst>
          </p:cNvPr>
          <p:cNvSpPr txBox="1"/>
          <p:nvPr/>
        </p:nvSpPr>
        <p:spPr>
          <a:xfrm>
            <a:off x="371669" y="3668834"/>
            <a:ext cx="11448661" cy="1838132"/>
          </a:xfrm>
          <a:prstGeom prst="rect">
            <a:avLst/>
          </a:prstGeom>
          <a:noFill/>
        </p:spPr>
        <p:txBody>
          <a:bodyPr wrap="square">
            <a:spAutoFit/>
          </a:bodyPr>
          <a:lstStyle/>
          <a:p>
            <a:pPr>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Generalized NOR Structure with Multiple Inputs: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this point, we can expand our analysis to generalized n-input NOR gates, which consist of n parallel driver transistors, as shown in Fig. 3. Note that the combined current ID in this circuit is supplied by the driver transistors which are turned on, i.e., transistors which have gate voltages higher than the threshold voltage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T0</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10498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a:extLst>
              <a:ext uri="{FF2B5EF4-FFF2-40B4-BE49-F238E27FC236}">
                <a16:creationId xmlns:a16="http://schemas.microsoft.com/office/drawing/2014/main" id="{40C579CF-1776-925A-EFA4-264AA3C29C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3269" y="1034765"/>
            <a:ext cx="4475972" cy="3108960"/>
          </a:xfrm>
          <a:prstGeom prst="rect">
            <a:avLst/>
          </a:prstGeom>
          <a:noFill/>
          <a:ln>
            <a:noFill/>
          </a:ln>
        </p:spPr>
      </p:pic>
      <p:pic>
        <p:nvPicPr>
          <p:cNvPr id="5" name="Picture 4">
            <a:extLst>
              <a:ext uri="{FF2B5EF4-FFF2-40B4-BE49-F238E27FC236}">
                <a16:creationId xmlns:a16="http://schemas.microsoft.com/office/drawing/2014/main" id="{A14E9D78-65AC-4F75-D585-597DAD47758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72107" y="1034765"/>
            <a:ext cx="6126480" cy="4894580"/>
          </a:xfrm>
          <a:prstGeom prst="rect">
            <a:avLst/>
          </a:prstGeom>
          <a:noFill/>
          <a:ln>
            <a:noFill/>
          </a:ln>
        </p:spPr>
      </p:pic>
    </p:spTree>
    <p:extLst>
      <p:ext uri="{BB962C8B-B14F-4D97-AF65-F5344CB8AC3E}">
        <p14:creationId xmlns:p14="http://schemas.microsoft.com/office/powerpoint/2010/main" val="5524214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3" name="Picture 2">
            <a:extLst>
              <a:ext uri="{FF2B5EF4-FFF2-40B4-BE49-F238E27FC236}">
                <a16:creationId xmlns:a16="http://schemas.microsoft.com/office/drawing/2014/main" id="{12C857A8-FABD-DB5A-EC90-69BA6C416B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7196" y="805802"/>
            <a:ext cx="7961355" cy="5246395"/>
          </a:xfrm>
          <a:prstGeom prst="rect">
            <a:avLst/>
          </a:prstGeom>
          <a:noFill/>
          <a:ln>
            <a:noFill/>
          </a:ln>
        </p:spPr>
      </p:pic>
    </p:spTree>
    <p:extLst>
      <p:ext uri="{BB962C8B-B14F-4D97-AF65-F5344CB8AC3E}">
        <p14:creationId xmlns:p14="http://schemas.microsoft.com/office/powerpoint/2010/main" val="43018447"/>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id="{D333136E-A333-B5C1-2EED-B595F424C3D5}"/>
              </a:ext>
            </a:extLst>
          </p:cNvPr>
          <p:cNvSpPr txBox="1"/>
          <p:nvPr/>
        </p:nvSpPr>
        <p:spPr>
          <a:xfrm>
            <a:off x="223934" y="600076"/>
            <a:ext cx="11579290" cy="1704569"/>
          </a:xfrm>
          <a:prstGeom prst="rect">
            <a:avLst/>
          </a:prstGeom>
          <a:noFill/>
        </p:spPr>
        <p:txBody>
          <a:bodyPr wrap="square">
            <a:spAutoFit/>
          </a:bodyPr>
          <a:lstStyle/>
          <a:p>
            <a:pPr>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Transient Analysis of NOR Gate: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Figure 5 shows the two-input NOR (NOR2) gate with all of its relevant parasitic device capacitances. As in the inverter case, we can combine the capacitances seen in Fig. 5 into one lumped capacitance, connected between the output node and the ground. The value of this combined load capacitance,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C</a:t>
            </a:r>
            <a:r>
              <a:rPr lang="en-US" sz="1600" baseline="-25000" dirty="0" err="1">
                <a:effectLst/>
                <a:latin typeface="Times New Roman" panose="02020603050405020304" pitchFamily="18" charset="0"/>
                <a:ea typeface="Calibri" panose="020F0502020204030204" pitchFamily="34" charset="0"/>
                <a:cs typeface="Times New Roman" panose="02020603050405020304" pitchFamily="18" charset="0"/>
              </a:rPr>
              <a:t>Load</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can be found as-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A0C1A0E-1C14-4A84-ACAE-6D5D36965D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86955" y="2326957"/>
            <a:ext cx="5722620" cy="396240"/>
          </a:xfrm>
          <a:prstGeom prst="rect">
            <a:avLst/>
          </a:prstGeom>
          <a:noFill/>
          <a:ln>
            <a:noFill/>
          </a:ln>
        </p:spPr>
      </p:pic>
      <p:pic>
        <p:nvPicPr>
          <p:cNvPr id="8" name="Picture 7">
            <a:extLst>
              <a:ext uri="{FF2B5EF4-FFF2-40B4-BE49-F238E27FC236}">
                <a16:creationId xmlns:a16="http://schemas.microsoft.com/office/drawing/2014/main" id="{01E4298D-6F2A-AFAC-163B-72DB16DBF77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33177" y="2777645"/>
            <a:ext cx="7641771" cy="3551422"/>
          </a:xfrm>
          <a:prstGeom prst="rect">
            <a:avLst/>
          </a:prstGeom>
          <a:noFill/>
          <a:ln>
            <a:noFill/>
          </a:ln>
        </p:spPr>
      </p:pic>
    </p:spTree>
    <p:extLst>
      <p:ext uri="{BB962C8B-B14F-4D97-AF65-F5344CB8AC3E}">
        <p14:creationId xmlns:p14="http://schemas.microsoft.com/office/powerpoint/2010/main" val="8818362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238897" y="1269009"/>
            <a:ext cx="11714205" cy="3656194"/>
          </a:xfrm>
          <a:prstGeom prst="rect">
            <a:avLst/>
          </a:prstGeom>
          <a:noFill/>
        </p:spPr>
        <p:txBody>
          <a:bodyPr wrap="square" rtlCol="0">
            <a:spAutoFit/>
          </a:bodyPr>
          <a:lstStyle/>
          <a:p>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Activities: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Discuss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static and dynamic characteristics of MOS logic circuits with depletion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nMOS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loads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Articles: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LOGIC CIRCUITS AND CMOS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https://courses.engr.illinois.edu/ece110/sp2021/content/courseNotes/files/?logicAndCMOS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Case Studies:</a:t>
            </a:r>
          </a:p>
          <a:p>
            <a:pPr>
              <a:lnSpc>
                <a:spcPct val="115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DESIGNING COMBINATIONAL LOGIC GATES IN CMOS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http://bwrcs.eecs.berkeley.edu/Classes/icdesign/ee141_f01/Notes/chapter6.pdf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305633" y="2668933"/>
            <a:ext cx="10086536" cy="878895"/>
          </a:xfrm>
          <a:prstGeom prst="rect">
            <a:avLst/>
          </a:prstGeom>
          <a:noFill/>
        </p:spPr>
        <p:txBody>
          <a:bodyPr wrap="square" rtlCol="0">
            <a:spAutoFit/>
          </a:bodyPr>
          <a:lstStyle/>
          <a:p>
            <a:pPr algn="just">
              <a:lnSpc>
                <a:spcPct val="150000"/>
              </a:lnSpc>
              <a:spcAft>
                <a:spcPts val="1000"/>
              </a:spcAft>
            </a:pPr>
            <a:r>
              <a:rPr lang="en-IN" b="0" i="0" dirty="0">
                <a:effectLst/>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ost portable systems, such as cellular communication devices and laptop and palmtop computers, operate from a limited power supply, and the extension of battery-based operation time is a significant design goal.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412725" y="2719767"/>
            <a:ext cx="10086536" cy="878895"/>
          </a:xfrm>
          <a:prstGeom prst="rect">
            <a:avLst/>
          </a:prstGeom>
          <a:noFill/>
        </p:spPr>
        <p:txBody>
          <a:bodyPr wrap="square" rtlCol="0">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Discus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static and dynamic characteristics of MOS logic circuits </a:t>
            </a:r>
            <a:r>
              <a:rPr lang="en-US" sz="1800" dirty="0">
                <a:effectLst/>
                <a:latin typeface="Calibri" panose="020F0502020204030204" pitchFamily="34" charset="0"/>
                <a:ea typeface="Calibri" panose="020F0502020204030204" pitchFamily="34" charset="0"/>
                <a:cs typeface="Times New Roman" panose="02020603050405020304" pitchFamily="18" charset="0"/>
              </a:rPr>
              <a:t>with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depletion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nMOS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loads for two and multiple inputs NOR gate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Calculate V</a:t>
            </a:r>
            <a:r>
              <a:rPr lang="en-IN" sz="1800" baseline="-25000" dirty="0">
                <a:effectLst/>
                <a:latin typeface="Times New Roman" panose="02020603050405020304" pitchFamily="18" charset="0"/>
                <a:ea typeface="Calibri" panose="020F0502020204030204" pitchFamily="34" charset="0"/>
                <a:cs typeface="Times New Roman" panose="02020603050405020304" pitchFamily="18" charset="0"/>
              </a:rPr>
              <a:t>OH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V</a:t>
            </a:r>
            <a:r>
              <a:rPr lang="en-IN" sz="1800" baseline="-25000" dirty="0">
                <a:effectLst/>
                <a:latin typeface="Times New Roman" panose="02020603050405020304" pitchFamily="18" charset="0"/>
                <a:ea typeface="Calibri" panose="020F0502020204030204" pitchFamily="34" charset="0"/>
                <a:cs typeface="Times New Roman" panose="02020603050405020304" pitchFamily="18" charset="0"/>
              </a:rPr>
              <a:t>OL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for both the cases.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dirty="0">
                <a:solidFill>
                  <a:schemeClr val="bg1"/>
                </a:solidFill>
              </a:rPr>
              <a:t>1. Define threshold voltage? Drive the V</a:t>
            </a:r>
            <a:r>
              <a:rPr lang="en-IN" baseline="-25000" dirty="0">
                <a:solidFill>
                  <a:schemeClr val="bg1"/>
                </a:solidFill>
              </a:rPr>
              <a:t>t </a:t>
            </a:r>
            <a:r>
              <a:rPr lang="en-IN" dirty="0">
                <a:solidFill>
                  <a:schemeClr val="bg1"/>
                </a:solidFill>
              </a:rPr>
              <a:t>equation for MOS transistor.</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23085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dirty="0">
                <a:solidFill>
                  <a:schemeClr val="bg1"/>
                </a:solidFill>
                <a:latin typeface="Times New Roman" panose="02020603050405020304" pitchFamily="18" charset="0"/>
                <a:ea typeface="Calibri" panose="020F0502020204030204" pitchFamily="34" charset="0"/>
              </a:rPr>
              <a:t>2. Find V</a:t>
            </a:r>
            <a:r>
              <a:rPr lang="en-IN" baseline="-25000" dirty="0">
                <a:solidFill>
                  <a:schemeClr val="bg1"/>
                </a:solidFill>
                <a:latin typeface="Times New Roman" panose="02020603050405020304" pitchFamily="18" charset="0"/>
                <a:ea typeface="Calibri" panose="020F0502020204030204" pitchFamily="34" charset="0"/>
              </a:rPr>
              <a:t>OH</a:t>
            </a:r>
            <a:r>
              <a:rPr lang="en-IN" dirty="0">
                <a:solidFill>
                  <a:schemeClr val="bg1"/>
                </a:solidFill>
                <a:latin typeface="Times New Roman" panose="02020603050405020304" pitchFamily="18" charset="0"/>
                <a:ea typeface="Calibri" panose="020F0502020204030204" pitchFamily="34" charset="0"/>
              </a:rPr>
              <a:t> and V</a:t>
            </a:r>
            <a:r>
              <a:rPr lang="en-IN" baseline="-25000" dirty="0">
                <a:solidFill>
                  <a:schemeClr val="bg1"/>
                </a:solidFill>
                <a:latin typeface="Times New Roman" panose="02020603050405020304" pitchFamily="18" charset="0"/>
                <a:ea typeface="Calibri" panose="020F0502020204030204" pitchFamily="34" charset="0"/>
              </a:rPr>
              <a:t>OL</a:t>
            </a:r>
            <a:r>
              <a:rPr lang="en-IN" dirty="0">
                <a:solidFill>
                  <a:schemeClr val="bg1"/>
                </a:solidFill>
                <a:latin typeface="Times New Roman" panose="02020603050405020304" pitchFamily="18" charset="0"/>
                <a:ea typeface="Calibri" panose="020F0502020204030204" pitchFamily="34" charset="0"/>
              </a:rPr>
              <a:t> for resistive load inverter</a:t>
            </a:r>
            <a:r>
              <a:rPr lang="en-IN" sz="1600" dirty="0">
                <a:solidFill>
                  <a:srgbClr val="000000"/>
                </a:solidFill>
                <a:latin typeface="Times New Roman" panose="02020603050405020304" pitchFamily="18" charset="0"/>
                <a:ea typeface="Calibri" panose="020F0502020204030204" pitchFamily="34" charset="0"/>
              </a:rPr>
              <a:t>. </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7483BB5B-7A6F-1A0C-0DB8-273FFA9B8D04}"/>
              </a:ext>
            </a:extLst>
          </p:cNvPr>
          <p:cNvSpPr/>
          <p:nvPr/>
        </p:nvSpPr>
        <p:spPr>
          <a:xfrm>
            <a:off x="1009895" y="34290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sym typeface="Calibri"/>
              </a:rPr>
              <a:t>3. </a:t>
            </a:r>
            <a:r>
              <a:rPr lang="en-IN" dirty="0">
                <a:solidFill>
                  <a:schemeClr val="bg1"/>
                </a:solidFill>
              </a:rPr>
              <a:t>Explain about capacitance associated with </a:t>
            </a:r>
            <a:r>
              <a:rPr lang="en-IN" dirty="0" err="1">
                <a:solidFill>
                  <a:schemeClr val="bg1"/>
                </a:solidFill>
              </a:rPr>
              <a:t>mos</a:t>
            </a:r>
            <a:r>
              <a:rPr lang="en-IN" dirty="0">
                <a:solidFill>
                  <a:schemeClr val="bg1"/>
                </a:solidFill>
              </a:rPr>
              <a:t> logic circuit with depletion </a:t>
            </a:r>
            <a:r>
              <a:rPr lang="en-IN" dirty="0" err="1">
                <a:solidFill>
                  <a:schemeClr val="bg1"/>
                </a:solidFill>
              </a:rPr>
              <a:t>nMOS</a:t>
            </a:r>
            <a:r>
              <a:rPr lang="en-IN" dirty="0">
                <a:solidFill>
                  <a:schemeClr val="bg1"/>
                </a:solidFill>
              </a:rPr>
              <a:t> loads. </a:t>
            </a:r>
            <a:r>
              <a:rPr lang="en-US" sz="1600" dirty="0">
                <a:solidFill>
                  <a:schemeClr val="bg1"/>
                </a:solidFill>
                <a:latin typeface="Poppins" panose="00000500000000000000" pitchFamily="2" charset="0"/>
                <a:ea typeface="Calibri"/>
                <a:cs typeface="Poppins" panose="00000500000000000000" pitchFamily="2" charset="0"/>
                <a:sym typeface="Calibri"/>
              </a:rPr>
              <a: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718904" y="2376393"/>
            <a:ext cx="9608234" cy="709233"/>
          </a:xfrm>
          <a:prstGeom prst="rect">
            <a:avLst/>
          </a:prstGeom>
          <a:noFill/>
        </p:spPr>
        <p:txBody>
          <a:bodyPr wrap="square" rtlCol="0">
            <a:sp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Find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static and dynamic characteristics of MOS logic circuits </a:t>
            </a:r>
            <a:r>
              <a:rPr lang="en-US" sz="1800" dirty="0">
                <a:effectLst/>
                <a:latin typeface="Calibri" panose="020F0502020204030204" pitchFamily="34" charset="0"/>
                <a:ea typeface="Calibri" panose="020F0502020204030204" pitchFamily="34" charset="0"/>
                <a:cs typeface="Times New Roman" panose="02020603050405020304" pitchFamily="18" charset="0"/>
              </a:rPr>
              <a:t>with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depletion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nMOS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loads for two and multiple inputs NAND gate.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954303"/>
            <a:ext cx="9608234" cy="4745530"/>
          </a:xfrm>
          <a:prstGeom prst="rect">
            <a:avLst/>
          </a:prstGeom>
          <a:noFill/>
        </p:spPr>
        <p:txBody>
          <a:bodyPr wrap="square" rtlCol="0">
            <a:spAutoFit/>
          </a:bodyPr>
          <a:lstStyle/>
          <a:p>
            <a:pPr>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1.Douglas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Pucknell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&amp; Kamran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Eshraghian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Basic VLSI Design, PHI, 3rd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Neil 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Weste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David Harris, Ayan Banerjee, CMOS VLSI Design, A Circuits and Systems Perspective, Pearson Education, 4th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Sung-Mo Kang, Yusuf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Leblebici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CMOS Digital Integrated Circuits Analysis and Design, Tata Mc-Graw-Hill, 3rd Ed., 2003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Jab 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Rabaey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Anantha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Chandra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Kasan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Borivoje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Nikolic, Digital Integrated Circuits - A Design Perspective, PHI, 2</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Ed.,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Michal John Sebastian Smith, Application-Specific Integrated Circuits, Pearson Education, 6th Ed., 2009</a:t>
            </a:r>
            <a:endParaRPr lang="en-US" dirty="0"/>
          </a:p>
          <a:p>
            <a:pPr>
              <a:lnSpc>
                <a:spcPct val="150000"/>
              </a:lnSpc>
            </a:pPr>
            <a:r>
              <a:rPr lang="en-US" b="1" dirty="0"/>
              <a:t>Sites and Web links:</a:t>
            </a:r>
          </a:p>
          <a:p>
            <a:pPr marL="342900" indent="-342900">
              <a:lnSpc>
                <a:spcPct val="115000"/>
              </a:lnSpc>
              <a:spcAft>
                <a:spcPts val="1000"/>
              </a:spcAf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hlinkClick r:id="rId2"/>
              </a:rPr>
              <a:t>https://archive.nptel.ac.in/courses/106/105/106105034/</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1414</TotalTime>
  <Words>1136</Words>
  <Application>Microsoft Office PowerPoint</Application>
  <PresentationFormat>Widescreen</PresentationFormat>
  <Paragraphs>87</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Naren Das</cp:lastModifiedBy>
  <cp:revision>104</cp:revision>
  <dcterms:created xsi:type="dcterms:W3CDTF">2020-02-08T09:57:44Z</dcterms:created>
  <dcterms:modified xsi:type="dcterms:W3CDTF">2022-11-25T10:20:02Z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