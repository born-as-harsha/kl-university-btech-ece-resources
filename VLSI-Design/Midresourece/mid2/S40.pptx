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4"/>
  </p:notesMasterIdLst>
  <p:sldIdLst>
    <p:sldId id="375" r:id="rId5"/>
    <p:sldId id="376" r:id="rId6"/>
    <p:sldId id="363" r:id="rId7"/>
    <p:sldId id="364" r:id="rId8"/>
    <p:sldId id="365" r:id="rId9"/>
    <p:sldId id="366" r:id="rId10"/>
    <p:sldId id="367" r:id="rId11"/>
    <p:sldId id="368" r:id="rId12"/>
    <p:sldId id="369" r:id="rId13"/>
    <p:sldId id="370" r:id="rId14"/>
    <p:sldId id="371" r:id="rId15"/>
    <p:sldId id="372" r:id="rId16"/>
    <p:sldId id="373" r:id="rId17"/>
    <p:sldId id="377" r:id="rId18"/>
    <p:sldId id="379" r:id="rId19"/>
    <p:sldId id="381" r:id="rId20"/>
    <p:sldId id="383" r:id="rId21"/>
    <p:sldId id="384" r:id="rId22"/>
    <p:sldId id="38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338" autoAdjust="0"/>
    <p:restoredTop sz="94689"/>
  </p:normalViewPr>
  <p:slideViewPr>
    <p:cSldViewPr snapToGrid="0">
      <p:cViewPr>
        <p:scale>
          <a:sx n="70" d="100"/>
          <a:sy n="70" d="100"/>
        </p:scale>
        <p:origin x="-360"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11/4/2023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514350" y="5791200"/>
            <a:ext cx="41148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62" name="Google Shape;462;p16:notes"/>
          <p:cNvSpPr>
            <a:spLocks noGrp="1" noRot="1" noChangeAspect="1"/>
          </p:cNvSpPr>
          <p:nvPr>
            <p:ph type="sldImg" idx="2"/>
          </p:nvPr>
        </p:nvSpPr>
        <p:spPr>
          <a:xfrm>
            <a:off x="-149225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11/4/2023</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11/4/2023</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11/4/2023</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11/4/2023</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11/4/2023</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11/4/2023</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11/4/2023</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11/4/2023</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11/4/2023</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11/4/2023</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3" y="4"/>
            <a:ext cx="5467351"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800"/>
              <a:buFont typeface="Arial"/>
              <a:buChar char="•"/>
              <a:defRPr sz="21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400"/>
              <a:buFont typeface="Arial"/>
              <a:buChar char="•"/>
              <a:defRPr sz="18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800"/>
              <a:buFont typeface="Arial"/>
              <a:buChar char="•"/>
              <a:defRPr sz="1350" b="0" i="0" u="none" strike="noStrike" cap="none">
                <a:solidFill>
                  <a:schemeClr val="dk1"/>
                </a:solidFill>
                <a:latin typeface="Calibri"/>
                <a:ea typeface="Calibri"/>
                <a:cs typeface="Calibri"/>
                <a:sym typeface="Calibri"/>
              </a:defRPr>
            </a:lvl9pPr>
          </a:lstStyle>
          <a:p>
            <a:r>
              <a:rPr lang="en-US"/>
              <a:t>Click icon to add picture</a:t>
            </a:r>
            <a:endParaRPr/>
          </a:p>
        </p:txBody>
      </p:sp>
    </p:spTree>
    <p:extLst>
      <p:ext uri="{BB962C8B-B14F-4D97-AF65-F5344CB8AC3E}">
        <p14:creationId xmlns:p14="http://schemas.microsoft.com/office/powerpoint/2010/main" val="640085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8.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www.eecs.northwestern.edu/~haizhou/357/lec1.pdf" TargetMode="External"/><Relationship Id="rId2" Type="http://schemas.openxmlformats.org/officeDocument/2006/relationships/hyperlink" Target="https://rajeev2007.github.io/VLSI/0072460539cmos.pdf"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onlinecourses.nptel.ac.in/noc21_ee09/preview"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xmlns=""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476" name="Google Shape;476;p16"/>
          <p:cNvSpPr txBox="1"/>
          <p:nvPr/>
        </p:nvSpPr>
        <p:spPr>
          <a:xfrm>
            <a:off x="6095999" y="2143674"/>
            <a:ext cx="6178213" cy="2677616"/>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smtClean="0">
                <a:ln/>
                <a:solidFill>
                  <a:srgbClr val="C00000"/>
                </a:solidFill>
                <a:cs typeface="Poppins" panose="00000500000000000000" pitchFamily="2" charset="0"/>
                <a:sym typeface="BioRhyme ExtraBold"/>
              </a:rPr>
              <a:t>VLSI </a:t>
            </a:r>
            <a:r>
              <a:rPr lang="en-US" sz="3200" b="1" cap="all" dirty="0">
                <a:ln/>
                <a:solidFill>
                  <a:srgbClr val="C00000"/>
                </a:solidFill>
                <a:cs typeface="Poppins" panose="00000500000000000000" pitchFamily="2" charset="0"/>
                <a:sym typeface="BioRhyme ExtraBold"/>
              </a:rPr>
              <a:t>Design</a:t>
            </a:r>
          </a:p>
          <a:p>
            <a:pPr marR="0" lvl="0" indent="0" algn="ctr">
              <a:spcBef>
                <a:spcPts val="0"/>
              </a:spcBef>
              <a:spcAft>
                <a:spcPts val="0"/>
              </a:spcAft>
              <a:buNone/>
            </a:pPr>
            <a:r>
              <a:rPr lang="en-US" sz="3200" b="1" cap="all" dirty="0" smtClean="0">
                <a:ln/>
                <a:solidFill>
                  <a:srgbClr val="C00000"/>
                </a:solidFill>
                <a:cs typeface="Poppins" panose="00000500000000000000" pitchFamily="2" charset="0"/>
                <a:sym typeface="BioRhyme ExtraBold"/>
              </a:rPr>
              <a:t>22EC2211A</a:t>
            </a:r>
            <a:endParaRPr lang="en-US" sz="3200" b="1" cap="all" dirty="0">
              <a:ln/>
              <a:solidFill>
                <a:srgbClr val="C00000"/>
              </a:solidFill>
              <a:cs typeface="Poppins" panose="00000500000000000000" pitchFamily="2" charset="0"/>
              <a:sym typeface="BioRhyme ExtraBold"/>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algn="ctr"/>
            <a:r>
              <a:rPr lang="en-US" sz="3200" b="1" dirty="0">
                <a:solidFill>
                  <a:srgbClr val="FF0000"/>
                </a:solidFill>
              </a:rPr>
              <a:t>Full Custom Flow and Evolution of CAD Tools in VLSI</a:t>
            </a:r>
            <a:endParaRPr lang="en-US" sz="2800" b="1" dirty="0">
              <a:ln w="0"/>
              <a:solidFill>
                <a:srgbClr val="FF0000"/>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19" name="Rectangle: Rounded Corners 18">
            <a:extLst>
              <a:ext uri="{FF2B5EF4-FFF2-40B4-BE49-F238E27FC236}">
                <a16:creationId xmlns:a16="http://schemas.microsoft.com/office/drawing/2014/main" xmlns="" id="{B9F0C376-F4D3-1950-3474-EFF28411BDC6}"/>
              </a:ext>
            </a:extLst>
          </p:cNvPr>
          <p:cNvSpPr/>
          <p:nvPr/>
        </p:nvSpPr>
        <p:spPr>
          <a:xfrm>
            <a:off x="7014779" y="1108741"/>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7127255" y="975660"/>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ECE</a:t>
            </a:r>
          </a:p>
        </p:txBody>
      </p:sp>
      <p:sp>
        <p:nvSpPr>
          <p:cNvPr id="8" name="Google Shape;502;p17">
            <a:extLst>
              <a:ext uri="{FF2B5EF4-FFF2-40B4-BE49-F238E27FC236}">
                <a16:creationId xmlns:a16="http://schemas.microsoft.com/office/drawing/2014/main" xmlns="" id="{7153E61F-4441-DBE3-3DFF-6E9EF6C48D23}"/>
              </a:ext>
            </a:extLst>
          </p:cNvPr>
          <p:cNvSpPr/>
          <p:nvPr/>
        </p:nvSpPr>
        <p:spPr>
          <a:xfrm>
            <a:off x="8140386" y="5389971"/>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a:t>
            </a:r>
            <a:r>
              <a:rPr lang="en-US" sz="2400" dirty="0" smtClean="0">
                <a:solidFill>
                  <a:schemeClr val="lt1"/>
                </a:solidFill>
                <a:ea typeface="Calibri"/>
                <a:cs typeface="Poppins" panose="00000500000000000000" pitchFamily="2" charset="0"/>
                <a:sym typeface="Calibri"/>
              </a:rPr>
              <a:t>40</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xmlns=""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xmlns=""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3"/>
          <a:srcRect/>
          <a:stretch>
            <a:fillRect/>
          </a:stretch>
        </p:blipFill>
        <p:spPr bwMode="auto">
          <a:xfrm>
            <a:off x="222703" y="81945"/>
            <a:ext cx="2509863" cy="1061599"/>
          </a:xfrm>
          <a:prstGeom prst="rect">
            <a:avLst/>
          </a:prstGeom>
          <a:noFill/>
        </p:spPr>
      </p:pic>
      <p:pic>
        <p:nvPicPr>
          <p:cNvPr id="3" name="Google Shape;464;p16">
            <a:extLst>
              <a:ext uri="{FF2B5EF4-FFF2-40B4-BE49-F238E27FC236}">
                <a16:creationId xmlns:a16="http://schemas.microsoft.com/office/drawing/2014/main" xmlns="" id="{1492D8B8-3FD5-B4E8-5CFD-0F131D565884}"/>
              </a:ext>
            </a:extLst>
          </p:cNvPr>
          <p:cNvPicPr preferRelativeResize="0"/>
          <p:nvPr/>
        </p:nvPicPr>
        <p:blipFill>
          <a:blip r:embed="rId4">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Tree>
    <p:extLst>
      <p:ext uri="{BB962C8B-B14F-4D97-AF65-F5344CB8AC3E}">
        <p14:creationId xmlns:p14="http://schemas.microsoft.com/office/powerpoint/2010/main" val="4008373902"/>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xmlns="" id="{D7C61438-200D-827A-D4DD-5B5127AFA187}"/>
              </a:ext>
            </a:extLst>
          </p:cNvPr>
          <p:cNvSpPr txBox="1"/>
          <p:nvPr/>
        </p:nvSpPr>
        <p:spPr>
          <a:xfrm>
            <a:off x="1828800" y="803217"/>
            <a:ext cx="8810622" cy="830997"/>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gn="ctr">
              <a:lnSpc>
                <a:spcPct val="150000"/>
              </a:lnSpc>
            </a:pPr>
            <a:r>
              <a:rPr lang="en-US" sz="1600" b="0" i="0" dirty="0">
                <a:effectLst/>
                <a:latin typeface="Poppins"/>
                <a:cs typeface="Poppins"/>
              </a:rPr>
              <a:t>To familiarize students with the </a:t>
            </a:r>
            <a:r>
              <a:rPr lang="en-US" sz="1600" dirty="0" smtClean="0">
                <a:latin typeface="Poppins"/>
                <a:cs typeface="Poppins"/>
              </a:rPr>
              <a:t>VLSI full custom design and evolution of CAD for VLSI</a:t>
            </a:r>
            <a:endParaRPr lang="en-US" sz="1600" b="0" i="0" dirty="0">
              <a:effectLst/>
              <a:latin typeface="Poppins"/>
              <a:cs typeface="Poppins"/>
            </a:endParaRP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xmlns=""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xmlns="" id="{2B5EAD4E-C007-9DE7-A40A-12802D3C9611}"/>
              </a:ext>
            </a:extLst>
          </p:cNvPr>
          <p:cNvSpPr txBox="1"/>
          <p:nvPr/>
        </p:nvSpPr>
        <p:spPr>
          <a:xfrm>
            <a:off x="1752600" y="2438605"/>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a:effectLst/>
                <a:latin typeface="Arial" panose="020B0604020202020204" pitchFamily="34" charset="0"/>
              </a:rPr>
              <a:t>Demonstrate the </a:t>
            </a:r>
            <a:r>
              <a:rPr lang="en-US" sz="1600" dirty="0" err="1" smtClean="0">
                <a:latin typeface="Arial" panose="020B0604020202020204" pitchFamily="34" charset="0"/>
              </a:rPr>
              <a:t>heirarchical</a:t>
            </a:r>
            <a:r>
              <a:rPr lang="en-US" sz="1600" dirty="0" smtClean="0">
                <a:latin typeface="Arial" panose="020B0604020202020204" pitchFamily="34" charset="0"/>
              </a:rPr>
              <a:t> flow of full custom design.</a:t>
            </a:r>
            <a:endParaRPr lang="en-US" sz="1600" b="0" i="0" dirty="0">
              <a:effectLst/>
              <a:latin typeface="Arial" panose="020B0604020202020204" pitchFamily="34" charset="0"/>
            </a:endParaRPr>
          </a:p>
          <a:p>
            <a:pPr marL="342900" indent="-342900">
              <a:buAutoNum type="arabicPeriod"/>
            </a:pPr>
            <a:r>
              <a:rPr lang="en-US" sz="1600" dirty="0">
                <a:latin typeface="Arial" panose="020B0604020202020204" pitchFamily="34" charset="0"/>
              </a:rPr>
              <a:t>Describe the </a:t>
            </a:r>
            <a:r>
              <a:rPr lang="en-US" sz="1600" dirty="0" smtClean="0">
                <a:latin typeface="Arial" panose="020B0604020202020204" pitchFamily="34" charset="0"/>
              </a:rPr>
              <a:t>limitations of VLSI full custom design</a:t>
            </a:r>
            <a:endParaRPr lang="en-US" sz="1600" dirty="0">
              <a:latin typeface="Arial" panose="020B0604020202020204" pitchFamily="34" charset="0"/>
            </a:endParaRPr>
          </a:p>
          <a:p>
            <a:pPr marL="342900" indent="-342900">
              <a:buAutoNum type="arabicPeriod"/>
            </a:pPr>
            <a:r>
              <a:rPr lang="en-US" sz="1600" b="0" i="0" dirty="0">
                <a:effectLst/>
                <a:latin typeface="Arial" panose="020B0604020202020204" pitchFamily="34" charset="0"/>
              </a:rPr>
              <a:t>Sketch the </a:t>
            </a:r>
            <a:r>
              <a:rPr lang="en-US" sz="1600" dirty="0" smtClean="0">
                <a:latin typeface="Arial" panose="020B0604020202020204" pitchFamily="34" charset="0"/>
              </a:rPr>
              <a:t>evolution process of CAD.</a:t>
            </a:r>
            <a:endParaRPr lang="en-US" sz="1600" b="0" i="0" dirty="0">
              <a:effectLst/>
              <a:latin typeface="Arial" panose="020B0604020202020204" pitchFamily="34" charset="0"/>
            </a:endParaRPr>
          </a:p>
        </p:txBody>
      </p:sp>
      <p:pic>
        <p:nvPicPr>
          <p:cNvPr id="11" name="Graphic 10" descr="Bullseye outline">
            <a:extLst>
              <a:ext uri="{FF2B5EF4-FFF2-40B4-BE49-F238E27FC236}">
                <a16:creationId xmlns:a16="http://schemas.microsoft.com/office/drawing/2014/main" xmlns=""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xmlns=""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xmlns=""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xmlns=""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xmlns=""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dirty="0">
                <a:latin typeface="Arial" panose="020B0604020202020204" pitchFamily="34" charset="0"/>
              </a:rPr>
              <a:t>Demonstrate the </a:t>
            </a:r>
            <a:r>
              <a:rPr lang="en-US" sz="1600" dirty="0" err="1">
                <a:latin typeface="Arial" panose="020B0604020202020204" pitchFamily="34" charset="0"/>
              </a:rPr>
              <a:t>heirarchical</a:t>
            </a:r>
            <a:r>
              <a:rPr lang="en-US" sz="1600" dirty="0">
                <a:latin typeface="Arial" panose="020B0604020202020204" pitchFamily="34" charset="0"/>
              </a:rPr>
              <a:t> flow of full custom design.</a:t>
            </a:r>
          </a:p>
          <a:p>
            <a:pPr marL="342900" indent="-342900">
              <a:buAutoNum type="arabicPeriod"/>
            </a:pPr>
            <a:r>
              <a:rPr lang="en-US" sz="1600" dirty="0">
                <a:latin typeface="Arial" panose="020B0604020202020204" pitchFamily="34" charset="0"/>
              </a:rPr>
              <a:t>Describe the limitations of VLSI full custom design</a:t>
            </a:r>
          </a:p>
          <a:p>
            <a:pPr marL="342900" indent="-342900">
              <a:buAutoNum type="arabicPeriod"/>
            </a:pPr>
            <a:r>
              <a:rPr lang="en-US" sz="1600" dirty="0">
                <a:latin typeface="Arial" panose="020B0604020202020204" pitchFamily="34" charset="0"/>
              </a:rPr>
              <a:t>Sketch the evolution process of CAD.</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586839916"/>
      </p:ext>
    </p:extLst>
  </p:cSld>
  <p:clrMapOvr>
    <a:masterClrMapping/>
  </p:clrMapOvr>
  <mc:AlternateContent xmlns:mc="http://schemas.openxmlformats.org/markup-compatibility/2006">
    <mc:Choice xmlns:p15="http://schemas.microsoft.com/office/powerpoint/2012/main" xmlns=""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446273"/>
            <a:ext cx="10515600" cy="1325563"/>
          </a:xfrm>
        </p:spPr>
        <p:txBody>
          <a:bodyPr/>
          <a:lstStyle/>
          <a:p>
            <a:r>
              <a:rPr lang="en-US" dirty="0" smtClean="0"/>
              <a:t>Relative Merits of VLSI Design Styles</a:t>
            </a: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199797" y="2079518"/>
            <a:ext cx="6711631" cy="41751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345743" y="1964689"/>
            <a:ext cx="4799463" cy="4524315"/>
          </a:xfrm>
          <a:prstGeom prst="rect">
            <a:avLst/>
          </a:prstGeom>
        </p:spPr>
        <p:txBody>
          <a:bodyPr wrap="square">
            <a:spAutoFit/>
          </a:bodyPr>
          <a:lstStyle/>
          <a:p>
            <a:r>
              <a:rPr lang="en-US" sz="2400" dirty="0"/>
              <a:t>I</a:t>
            </a:r>
            <a:r>
              <a:rPr lang="en-US" sz="2400" dirty="0" smtClean="0"/>
              <a:t>nherent flexibility of adjusting almost every aspect of circuit design allows far more opportunity for circuit performance </a:t>
            </a:r>
            <a:r>
              <a:rPr lang="en-US" sz="2400" dirty="0"/>
              <a:t>improvement during the design cycle. </a:t>
            </a:r>
            <a:endParaRPr lang="en-US" sz="2400" dirty="0" smtClean="0"/>
          </a:p>
          <a:p>
            <a:endParaRPr lang="en-US" sz="2400" dirty="0"/>
          </a:p>
          <a:p>
            <a:r>
              <a:rPr lang="en-US" sz="2400" dirty="0" smtClean="0"/>
              <a:t>The </a:t>
            </a:r>
            <a:r>
              <a:rPr lang="en-US" sz="2400" dirty="0"/>
              <a:t>final product typically has a high level of performance (e.g. high processing speed, low power dissipation) and the silicon area is relatively small because of better area utilization.</a:t>
            </a:r>
          </a:p>
        </p:txBody>
      </p:sp>
      <p:pic>
        <p:nvPicPr>
          <p:cNvPr id="6" name="Picture 2" descr="KL Deemed to be University Logo"/>
          <p:cNvPicPr>
            <a:picLocks noChangeAspect="1" noChangeArrowheads="1"/>
          </p:cNvPicPr>
          <p:nvPr/>
        </p:nvPicPr>
        <p:blipFill>
          <a:blip r:embed="rId3"/>
          <a:srcRect/>
          <a:stretch>
            <a:fillRect/>
          </a:stretch>
        </p:blipFill>
        <p:spPr bwMode="auto">
          <a:xfrm>
            <a:off x="-1" y="508979"/>
            <a:ext cx="1990725" cy="600076"/>
          </a:xfrm>
          <a:prstGeom prst="rect">
            <a:avLst/>
          </a:prstGeom>
          <a:noFill/>
        </p:spPr>
      </p:pic>
    </p:spTree>
    <p:extLst>
      <p:ext uri="{BB962C8B-B14F-4D97-AF65-F5344CB8AC3E}">
        <p14:creationId xmlns:p14="http://schemas.microsoft.com/office/powerpoint/2010/main" val="19959253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1573" y="2212267"/>
            <a:ext cx="9548279" cy="4516079"/>
          </a:xfrm>
          <a:prstGeom prst="rect">
            <a:avLst/>
          </a:prstGeom>
        </p:spPr>
      </p:pic>
      <p:sp>
        <p:nvSpPr>
          <p:cNvPr id="5" name="Rectangle 4"/>
          <p:cNvSpPr/>
          <p:nvPr/>
        </p:nvSpPr>
        <p:spPr>
          <a:xfrm>
            <a:off x="191069" y="1011938"/>
            <a:ext cx="11805313" cy="923330"/>
          </a:xfrm>
          <a:prstGeom prst="rect">
            <a:avLst/>
          </a:prstGeom>
        </p:spPr>
        <p:txBody>
          <a:bodyPr wrap="square">
            <a:spAutoFit/>
          </a:bodyPr>
          <a:lstStyle/>
          <a:p>
            <a:r>
              <a:rPr lang="en-US" dirty="0"/>
              <a:t>In order to make the best use of the current technology, the chip development time has to be short enough to allow the maturing of chip manufacturing and timely delivery of the product to customers. This may require that the level of logic integration and chip performance fall short of the level achievable with the current processing technology,</a:t>
            </a:r>
          </a:p>
        </p:txBody>
      </p:sp>
      <p:sp>
        <p:nvSpPr>
          <p:cNvPr id="6" name="Title 1"/>
          <p:cNvSpPr>
            <a:spLocks noGrp="1"/>
          </p:cNvSpPr>
          <p:nvPr>
            <p:ph type="title"/>
          </p:nvPr>
        </p:nvSpPr>
        <p:spPr>
          <a:xfrm>
            <a:off x="1676401" y="206643"/>
            <a:ext cx="10515600" cy="1325563"/>
          </a:xfrm>
        </p:spPr>
        <p:txBody>
          <a:bodyPr/>
          <a:lstStyle/>
          <a:p>
            <a:r>
              <a:rPr lang="en-US" sz="4000" dirty="0" smtClean="0"/>
              <a:t>Progressive Performance Improvement in VLSI</a:t>
            </a:r>
            <a:endParaRPr lang="en-US" sz="4000" dirty="0"/>
          </a:p>
        </p:txBody>
      </p:sp>
      <p:pic>
        <p:nvPicPr>
          <p:cNvPr id="7" name="Picture 2" descr="KL Deemed to be University Logo"/>
          <p:cNvPicPr>
            <a:picLocks noChangeAspect="1" noChangeArrowheads="1"/>
          </p:cNvPicPr>
          <p:nvPr/>
        </p:nvPicPr>
        <p:blipFill>
          <a:blip r:embed="rId3"/>
          <a:srcRect/>
          <a:stretch>
            <a:fillRect/>
          </a:stretch>
        </p:blipFill>
        <p:spPr bwMode="auto">
          <a:xfrm>
            <a:off x="39095" y="269349"/>
            <a:ext cx="1990725" cy="600076"/>
          </a:xfrm>
          <a:prstGeom prst="rect">
            <a:avLst/>
          </a:prstGeom>
          <a:noFill/>
        </p:spPr>
      </p:pic>
    </p:spTree>
    <p:extLst>
      <p:ext uri="{BB962C8B-B14F-4D97-AF65-F5344CB8AC3E}">
        <p14:creationId xmlns:p14="http://schemas.microsoft.com/office/powerpoint/2010/main" val="40889561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15000"/>
            <a:ext cx="10515600" cy="1325563"/>
          </a:xfrm>
        </p:spPr>
        <p:txBody>
          <a:bodyPr/>
          <a:lstStyle/>
          <a:p>
            <a:r>
              <a:rPr lang="en-US" dirty="0" smtClean="0"/>
              <a:t>VLSI CAD System Design Flow (ASIC)</a:t>
            </a:r>
            <a:endParaRPr lang="en-US" dirty="0"/>
          </a:p>
        </p:txBody>
      </p:sp>
      <p:pic>
        <p:nvPicPr>
          <p:cNvPr id="4" name="Picture 2" descr="KL Deemed to be University Logo"/>
          <p:cNvPicPr>
            <a:picLocks noChangeAspect="1" noChangeArrowheads="1"/>
          </p:cNvPicPr>
          <p:nvPr/>
        </p:nvPicPr>
        <p:blipFill>
          <a:blip r:embed="rId2"/>
          <a:srcRect/>
          <a:stretch>
            <a:fillRect/>
          </a:stretch>
        </p:blipFill>
        <p:spPr bwMode="auto">
          <a:xfrm>
            <a:off x="39095" y="269349"/>
            <a:ext cx="1990725" cy="600076"/>
          </a:xfrm>
          <a:prstGeom prst="rect">
            <a:avLst/>
          </a:prstGeom>
          <a:noFill/>
        </p:spPr>
      </p:pic>
      <p:pic>
        <p:nvPicPr>
          <p:cNvPr id="5" name="Content Placeholder 5"/>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457200" y="1319785"/>
            <a:ext cx="3770026" cy="5181600"/>
          </a:xfr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74558" y="1295400"/>
            <a:ext cx="4724400" cy="5181600"/>
          </a:xfrm>
          <a:prstGeom prst="rect">
            <a:avLst/>
          </a:prstGeom>
        </p:spPr>
      </p:pic>
    </p:spTree>
    <p:extLst>
      <p:ext uri="{BB962C8B-B14F-4D97-AF65-F5344CB8AC3E}">
        <p14:creationId xmlns:p14="http://schemas.microsoft.com/office/powerpoint/2010/main" val="26251285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69349"/>
            <a:ext cx="10515600" cy="1325563"/>
          </a:xfrm>
        </p:spPr>
        <p:txBody>
          <a:bodyPr/>
          <a:lstStyle/>
          <a:p>
            <a:r>
              <a:rPr lang="en-US" dirty="0" smtClean="0"/>
              <a:t>VLSI Design Hierarchy: System Specifications</a:t>
            </a:r>
            <a:endParaRPr lang="en-US" dirty="0"/>
          </a:p>
        </p:txBody>
      </p:sp>
      <p:pic>
        <p:nvPicPr>
          <p:cNvPr id="4" name="Picture 2" descr="KL Deemed to be University Logo"/>
          <p:cNvPicPr>
            <a:picLocks noChangeAspect="1" noChangeArrowheads="1"/>
          </p:cNvPicPr>
          <p:nvPr/>
        </p:nvPicPr>
        <p:blipFill>
          <a:blip r:embed="rId2"/>
          <a:srcRect/>
          <a:stretch>
            <a:fillRect/>
          </a:stretch>
        </p:blipFill>
        <p:spPr bwMode="auto">
          <a:xfrm>
            <a:off x="39095" y="269349"/>
            <a:ext cx="1990725" cy="600076"/>
          </a:xfrm>
          <a:prstGeom prst="rect">
            <a:avLst/>
          </a:prstGeom>
          <a:noFill/>
        </p:spPr>
      </p:pic>
      <p:sp>
        <p:nvSpPr>
          <p:cNvPr id="5" name="Text Placeholder 2"/>
          <p:cNvSpPr txBox="1">
            <a:spLocks/>
          </p:cNvSpPr>
          <p:nvPr/>
        </p:nvSpPr>
        <p:spPr>
          <a:xfrm>
            <a:off x="609599" y="1600200"/>
            <a:ext cx="10868167" cy="5029200"/>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smtClean="0">
                <a:solidFill>
                  <a:srgbClr val="0070C0"/>
                </a:solidFill>
                <a:latin typeface="Times New Roman" pitchFamily="18" charset="0"/>
                <a:cs typeface="Times New Roman" pitchFamily="18" charset="0"/>
              </a:rPr>
              <a:t>1. System Specification: </a:t>
            </a:r>
          </a:p>
          <a:p>
            <a:pPr algn="just">
              <a:buFont typeface="Wingdings" pitchFamily="2" charset="2"/>
              <a:buChar char="Ø"/>
            </a:pPr>
            <a:r>
              <a:rPr lang="en-US" dirty="0" smtClean="0">
                <a:latin typeface="Times New Roman" pitchFamily="18" charset="0"/>
                <a:cs typeface="Times New Roman" pitchFamily="18" charset="0"/>
              </a:rPr>
              <a:t>System specification is a high level representation of the system. The factors to be considered in this process include: performance, functionality, and physical dimensions </a:t>
            </a:r>
          </a:p>
          <a:p>
            <a:pPr algn="just"/>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As an example, the initial design specs of a one-bit binary full adder circuit are listed below:</a:t>
            </a:r>
          </a:p>
          <a:p>
            <a:r>
              <a:rPr lang="en-US" dirty="0" smtClean="0">
                <a:latin typeface="Times New Roman" pitchFamily="18" charset="0"/>
                <a:cs typeface="Times New Roman" pitchFamily="18" charset="0"/>
              </a:rPr>
              <a:t>Technology: 0.8 µm twin-well CMOS</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Propagation delay of “sum” and “</a:t>
            </a:r>
            <a:r>
              <a:rPr lang="en-US" dirty="0" err="1" smtClean="0">
                <a:latin typeface="Times New Roman" pitchFamily="18" charset="0"/>
                <a:cs typeface="Times New Roman" pitchFamily="18" charset="0"/>
              </a:rPr>
              <a:t>carry_out</a:t>
            </a:r>
            <a:r>
              <a:rPr lang="en-US" dirty="0" smtClean="0">
                <a:latin typeface="Times New Roman" pitchFamily="18" charset="0"/>
                <a:cs typeface="Times New Roman" pitchFamily="18" charset="0"/>
              </a:rPr>
              <a:t>” signals &lt; 1.2 ns (worst case)</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Transition times of “sum” and “</a:t>
            </a:r>
            <a:r>
              <a:rPr lang="en-US" dirty="0" err="1" smtClean="0">
                <a:latin typeface="Times New Roman" pitchFamily="18" charset="0"/>
                <a:cs typeface="Times New Roman" pitchFamily="18" charset="0"/>
              </a:rPr>
              <a:t>carry_out</a:t>
            </a:r>
            <a:r>
              <a:rPr lang="en-US" dirty="0" smtClean="0">
                <a:latin typeface="Times New Roman" pitchFamily="18" charset="0"/>
                <a:cs typeface="Times New Roman" pitchFamily="18" charset="0"/>
              </a:rPr>
              <a:t>” signals &lt;1.2 ns (worst case)</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Circuit area &lt; 1500 µm^2</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Dynamic power dissipation (at VDD=5 V and </a:t>
            </a:r>
            <a:r>
              <a:rPr lang="en-US" dirty="0" err="1" smtClean="0">
                <a:latin typeface="Times New Roman" pitchFamily="18" charset="0"/>
                <a:cs typeface="Times New Roman" pitchFamily="18" charset="0"/>
              </a:rPr>
              <a:t>fmax</a:t>
            </a:r>
            <a:r>
              <a:rPr lang="en-US" dirty="0" smtClean="0">
                <a:latin typeface="Times New Roman" pitchFamily="18" charset="0"/>
                <a:cs typeface="Times New Roman" pitchFamily="18" charset="0"/>
              </a:rPr>
              <a:t>=20 MHz) &lt; 1 </a:t>
            </a:r>
            <a:r>
              <a:rPr lang="en-US" dirty="0" err="1" smtClean="0">
                <a:latin typeface="Times New Roman" pitchFamily="18" charset="0"/>
                <a:cs typeface="Times New Roman" pitchFamily="18" charset="0"/>
              </a:rPr>
              <a:t>mW</a:t>
            </a:r>
            <a:endParaRPr lang="en-US" dirty="0" smtClean="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1632678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06643"/>
            <a:ext cx="10515600" cy="1325563"/>
          </a:xfrm>
        </p:spPr>
        <p:txBody>
          <a:bodyPr/>
          <a:lstStyle/>
          <a:p>
            <a:r>
              <a:rPr lang="en-US" dirty="0" smtClean="0"/>
              <a:t>Architectural and Behavioral Design</a:t>
            </a:r>
            <a:endParaRPr lang="en-US" dirty="0"/>
          </a:p>
        </p:txBody>
      </p:sp>
      <p:sp>
        <p:nvSpPr>
          <p:cNvPr id="4" name="Text Placeholder 2"/>
          <p:cNvSpPr txBox="1">
            <a:spLocks/>
          </p:cNvSpPr>
          <p:nvPr/>
        </p:nvSpPr>
        <p:spPr>
          <a:xfrm>
            <a:off x="636894" y="1061113"/>
            <a:ext cx="11291248" cy="6629400"/>
          </a:xfrm>
          <a:prstGeom prst="rect">
            <a:avLst/>
          </a:prstGeom>
        </p:spPr>
        <p:txBody>
          <a:bodyPr vert="horz" lIns="91440" tIns="45720" rIns="91440" bIns="45720" rtlCol="0" anchor="t">
            <a:noAutofit/>
          </a:bodyPr>
          <a:lstStyle>
            <a:lvl1pPr marL="0" indent="0" algn="l" defTabSz="914400" rtl="0" eaLnBrk="1" latinLnBrk="0" hangingPunct="1">
              <a:spcBef>
                <a:spcPct val="20000"/>
              </a:spcBef>
              <a:buClr>
                <a:schemeClr val="accent1"/>
              </a:buClr>
              <a:buSzPct val="76000"/>
              <a:buFont typeface="Wingdings 2" pitchFamily="18" charset="2"/>
              <a:buNone/>
              <a:defRPr sz="2000" kern="1200">
                <a:solidFill>
                  <a:schemeClr val="tx1">
                    <a:tint val="75000"/>
                  </a:schemeClr>
                </a:solidFill>
                <a:latin typeface="+mn-lt"/>
                <a:ea typeface="+mn-ea"/>
                <a:cs typeface="+mn-cs"/>
              </a:defRPr>
            </a:lvl1pPr>
            <a:lvl2pPr marL="457200" indent="0" algn="l" defTabSz="914400" rtl="0" eaLnBrk="1" latinLnBrk="0" hangingPunct="1">
              <a:spcBef>
                <a:spcPct val="20000"/>
              </a:spcBef>
              <a:buClr>
                <a:schemeClr val="accent1"/>
              </a:buClr>
              <a:buSzPct val="76000"/>
              <a:buFont typeface="Wingdings 2" pitchFamily="18" charset="2"/>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Clr>
                <a:schemeClr val="accent1"/>
              </a:buClr>
              <a:buSzPct val="76000"/>
              <a:buFont typeface="Wingdings 2" pitchFamily="18" charset="2"/>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Clr>
                <a:schemeClr val="accent1"/>
              </a:buClr>
              <a:buSzPct val="76000"/>
              <a:buFont typeface="Wingdings 2" pitchFamily="18" charset="2"/>
              <a:buNone/>
              <a:defRPr sz="1400" kern="1200" baseline="0">
                <a:solidFill>
                  <a:schemeClr val="tx1">
                    <a:tint val="75000"/>
                  </a:schemeClr>
                </a:solidFill>
                <a:latin typeface="+mn-lt"/>
                <a:ea typeface="+mn-ea"/>
                <a:cs typeface="+mn-cs"/>
              </a:defRPr>
            </a:lvl5pPr>
            <a:lvl6pPr marL="22860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9pPr>
          </a:lstStyle>
          <a:p>
            <a:r>
              <a:rPr lang="en-US" sz="2400" b="1" dirty="0" smtClean="0">
                <a:solidFill>
                  <a:srgbClr val="0070C0"/>
                </a:solidFill>
                <a:latin typeface="Times New Roman" pitchFamily="18" charset="0"/>
                <a:cs typeface="Times New Roman" pitchFamily="18" charset="0"/>
              </a:rPr>
              <a:t>2. </a:t>
            </a:r>
            <a:r>
              <a:rPr lang="en-US" sz="2400" b="1" dirty="0">
                <a:solidFill>
                  <a:srgbClr val="0070C0"/>
                </a:solidFill>
                <a:latin typeface="Times New Roman" pitchFamily="18" charset="0"/>
                <a:cs typeface="Times New Roman" pitchFamily="18" charset="0"/>
              </a:rPr>
              <a:t>Architectural Design: </a:t>
            </a:r>
            <a:endParaRPr lang="en-US" sz="2400" b="1" dirty="0" smtClean="0">
              <a:solidFill>
                <a:srgbClr val="0070C0"/>
              </a:solidFill>
              <a:latin typeface="Times New Roman" pitchFamily="18" charset="0"/>
              <a:cs typeface="Times New Roman" pitchFamily="18" charset="0"/>
            </a:endParaRPr>
          </a:p>
          <a:p>
            <a:endParaRPr lang="en-US" sz="2400" b="1" dirty="0" smtClean="0">
              <a:solidFill>
                <a:srgbClr val="0070C0"/>
              </a:solidFill>
              <a:latin typeface="Times New Roman" pitchFamily="18" charset="0"/>
              <a:cs typeface="Times New Roman" pitchFamily="18" charset="0"/>
            </a:endParaRPr>
          </a:p>
          <a:p>
            <a:pPr algn="just">
              <a:buFont typeface="Wingdings" pitchFamily="2" charset="2"/>
              <a:buChar char="Ø"/>
            </a:pPr>
            <a:r>
              <a:rPr lang="en-US" dirty="0" smtClean="0">
                <a:solidFill>
                  <a:schemeClr val="tx1"/>
                </a:solidFill>
                <a:latin typeface="Times New Roman" pitchFamily="18" charset="0"/>
                <a:cs typeface="Times New Roman" pitchFamily="18" charset="0"/>
              </a:rPr>
              <a:t>The </a:t>
            </a:r>
            <a:r>
              <a:rPr lang="en-US" dirty="0">
                <a:solidFill>
                  <a:schemeClr val="tx1"/>
                </a:solidFill>
                <a:latin typeface="Times New Roman" pitchFamily="18" charset="0"/>
                <a:cs typeface="Times New Roman" pitchFamily="18" charset="0"/>
              </a:rPr>
              <a:t>basic architecture of the system is designed in this step. </a:t>
            </a:r>
            <a:endParaRPr lang="en-US" dirty="0" smtClean="0">
              <a:solidFill>
                <a:schemeClr val="tx1"/>
              </a:solidFill>
              <a:latin typeface="Times New Roman" pitchFamily="18" charset="0"/>
              <a:cs typeface="Times New Roman" pitchFamily="18" charset="0"/>
            </a:endParaRPr>
          </a:p>
          <a:p>
            <a:pPr algn="just">
              <a:buFont typeface="Wingdings" pitchFamily="2" charset="2"/>
              <a:buChar char="Ø"/>
            </a:pPr>
            <a:endParaRPr lang="en-US" dirty="0" smtClean="0">
              <a:solidFill>
                <a:schemeClr val="tx1"/>
              </a:solidFill>
              <a:latin typeface="Times New Roman" pitchFamily="18" charset="0"/>
              <a:cs typeface="Times New Roman" pitchFamily="18" charset="0"/>
            </a:endParaRPr>
          </a:p>
          <a:p>
            <a:pPr algn="just">
              <a:buFont typeface="Wingdings" pitchFamily="2" charset="2"/>
              <a:buChar char="Ø"/>
            </a:pPr>
            <a:r>
              <a:rPr lang="en-US" dirty="0" smtClean="0">
                <a:solidFill>
                  <a:schemeClr val="tx1"/>
                </a:solidFill>
                <a:latin typeface="Times New Roman" pitchFamily="18" charset="0"/>
                <a:cs typeface="Times New Roman" pitchFamily="18" charset="0"/>
              </a:rPr>
              <a:t>In this stage optimized scheduling, allocation and binding of resources is carried out.</a:t>
            </a:r>
          </a:p>
          <a:p>
            <a:pPr algn="just">
              <a:buFont typeface="Wingdings" pitchFamily="2" charset="2"/>
              <a:buChar char="Ø"/>
            </a:pPr>
            <a:endParaRPr lang="en-US" dirty="0" smtClean="0">
              <a:solidFill>
                <a:schemeClr val="tx1"/>
              </a:solidFill>
              <a:latin typeface="Times New Roman" pitchFamily="18" charset="0"/>
              <a:cs typeface="Times New Roman" pitchFamily="18" charset="0"/>
            </a:endParaRPr>
          </a:p>
          <a:p>
            <a:r>
              <a:rPr lang="en-US" sz="2400" b="1" dirty="0" smtClean="0">
                <a:solidFill>
                  <a:srgbClr val="0070C0"/>
                </a:solidFill>
                <a:latin typeface="Times New Roman" pitchFamily="18" charset="0"/>
                <a:cs typeface="Times New Roman" pitchFamily="18" charset="0"/>
              </a:rPr>
              <a:t>3</a:t>
            </a:r>
            <a:r>
              <a:rPr lang="en-US" sz="2400" b="1" dirty="0">
                <a:solidFill>
                  <a:srgbClr val="0070C0"/>
                </a:solidFill>
                <a:latin typeface="Times New Roman" pitchFamily="18" charset="0"/>
                <a:cs typeface="Times New Roman" pitchFamily="18" charset="0"/>
              </a:rPr>
              <a:t>. Behavioral or Functional Design: </a:t>
            </a:r>
            <a:endParaRPr lang="en-US" sz="2400" b="1" dirty="0" smtClean="0">
              <a:solidFill>
                <a:srgbClr val="0070C0"/>
              </a:solidFill>
              <a:latin typeface="Times New Roman" pitchFamily="18" charset="0"/>
              <a:cs typeface="Times New Roman" pitchFamily="18" charset="0"/>
            </a:endParaRPr>
          </a:p>
          <a:p>
            <a:endParaRPr lang="en-US" sz="2400" b="1" dirty="0">
              <a:solidFill>
                <a:srgbClr val="0070C0"/>
              </a:solidFill>
              <a:latin typeface="Times New Roman" pitchFamily="18" charset="0"/>
              <a:cs typeface="Times New Roman" pitchFamily="18" charset="0"/>
            </a:endParaRPr>
          </a:p>
          <a:p>
            <a:pPr algn="just">
              <a:buFont typeface="Wingdings" pitchFamily="2" charset="2"/>
              <a:buChar char="Ø"/>
            </a:pPr>
            <a:r>
              <a:rPr lang="en-US" dirty="0" smtClean="0">
                <a:solidFill>
                  <a:schemeClr val="tx1"/>
                </a:solidFill>
                <a:latin typeface="Times New Roman" pitchFamily="18" charset="0"/>
                <a:cs typeface="Times New Roman" pitchFamily="18" charset="0"/>
              </a:rPr>
              <a:t>In this step, main functional units of the system are identified. This also identifies the interconnect requirements between the units.</a:t>
            </a:r>
          </a:p>
          <a:p>
            <a:pPr algn="just">
              <a:buFont typeface="Wingdings" pitchFamily="2" charset="2"/>
              <a:buChar char="Ø"/>
            </a:pPr>
            <a:endParaRPr lang="en-US" dirty="0">
              <a:solidFill>
                <a:schemeClr val="tx1"/>
              </a:solidFill>
              <a:latin typeface="Times New Roman" pitchFamily="18" charset="0"/>
              <a:cs typeface="Times New Roman" pitchFamily="18" charset="0"/>
            </a:endParaRPr>
          </a:p>
          <a:p>
            <a:pPr algn="just">
              <a:buFont typeface="Wingdings" pitchFamily="2" charset="2"/>
              <a:buChar char="Ø"/>
            </a:pPr>
            <a:r>
              <a:rPr lang="en-US" dirty="0">
                <a:solidFill>
                  <a:schemeClr val="tx1"/>
                </a:solidFill>
                <a:latin typeface="Times New Roman" pitchFamily="18" charset="0"/>
                <a:cs typeface="Times New Roman" pitchFamily="18" charset="0"/>
              </a:rPr>
              <a:t>The outcome of functional design is usually a timing diagram or other relationships between units </a:t>
            </a:r>
            <a:endParaRPr lang="en-US" dirty="0" smtClean="0">
              <a:solidFill>
                <a:schemeClr val="tx1"/>
              </a:solidFill>
              <a:latin typeface="Times New Roman" pitchFamily="18" charset="0"/>
              <a:cs typeface="Times New Roman" pitchFamily="18" charset="0"/>
            </a:endParaRPr>
          </a:p>
          <a:p>
            <a:pPr algn="just">
              <a:buFont typeface="Wingdings" pitchFamily="2" charset="2"/>
              <a:buChar char="Ø"/>
            </a:pPr>
            <a:endParaRPr lang="en-US" dirty="0">
              <a:solidFill>
                <a:schemeClr val="tx1"/>
              </a:solidFill>
              <a:latin typeface="Times New Roman" pitchFamily="18" charset="0"/>
              <a:cs typeface="Times New Roman" pitchFamily="18" charset="0"/>
            </a:endParaRPr>
          </a:p>
          <a:p>
            <a:pPr algn="just">
              <a:buFont typeface="Wingdings" pitchFamily="2" charset="2"/>
              <a:buChar char="Ø"/>
            </a:pPr>
            <a:r>
              <a:rPr lang="en-US" dirty="0" smtClean="0">
                <a:solidFill>
                  <a:schemeClr val="tx1"/>
                </a:solidFill>
                <a:latin typeface="Times New Roman" pitchFamily="18" charset="0"/>
                <a:cs typeface="Times New Roman" pitchFamily="18" charset="0"/>
              </a:rPr>
              <a:t>Formal verification done using Hardware Description Languages: </a:t>
            </a:r>
            <a:r>
              <a:rPr lang="en-US" dirty="0" err="1" smtClean="0">
                <a:solidFill>
                  <a:schemeClr val="tx1"/>
                </a:solidFill>
                <a:latin typeface="Times New Roman" pitchFamily="18" charset="0"/>
                <a:cs typeface="Times New Roman" pitchFamily="18" charset="0"/>
              </a:rPr>
              <a:t>Verilog</a:t>
            </a:r>
            <a:r>
              <a:rPr lang="en-US" dirty="0" smtClean="0">
                <a:solidFill>
                  <a:schemeClr val="tx1"/>
                </a:solidFill>
                <a:latin typeface="Times New Roman" pitchFamily="18" charset="0"/>
                <a:cs typeface="Times New Roman" pitchFamily="18" charset="0"/>
              </a:rPr>
              <a:t>, VHDL etc.</a:t>
            </a:r>
          </a:p>
          <a:p>
            <a:pPr algn="just">
              <a:spcBef>
                <a:spcPts val="0"/>
              </a:spcBef>
            </a:pPr>
            <a:endParaRPr lang="en-US" dirty="0">
              <a:solidFill>
                <a:schemeClr val="tx1"/>
              </a:solidFill>
              <a:latin typeface="Times New Roman" pitchFamily="18" charset="0"/>
              <a:cs typeface="Times New Roman" pitchFamily="18" charset="0"/>
            </a:endParaRPr>
          </a:p>
        </p:txBody>
      </p:sp>
      <p:pic>
        <p:nvPicPr>
          <p:cNvPr id="5" name="Picture 2" descr="KL Deemed to be University Logo"/>
          <p:cNvPicPr>
            <a:picLocks noChangeAspect="1" noChangeArrowheads="1"/>
          </p:cNvPicPr>
          <p:nvPr/>
        </p:nvPicPr>
        <p:blipFill>
          <a:blip r:embed="rId2"/>
          <a:srcRect/>
          <a:stretch>
            <a:fillRect/>
          </a:stretch>
        </p:blipFill>
        <p:spPr bwMode="auto">
          <a:xfrm>
            <a:off x="39095" y="269349"/>
            <a:ext cx="1990725" cy="600076"/>
          </a:xfrm>
          <a:prstGeom prst="rect">
            <a:avLst/>
          </a:prstGeom>
          <a:noFill/>
        </p:spPr>
      </p:pic>
    </p:spTree>
    <p:extLst>
      <p:ext uri="{BB962C8B-B14F-4D97-AF65-F5344CB8AC3E}">
        <p14:creationId xmlns:p14="http://schemas.microsoft.com/office/powerpoint/2010/main" val="20483808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2668" y="206643"/>
            <a:ext cx="10515600" cy="1325563"/>
          </a:xfrm>
        </p:spPr>
        <p:txBody>
          <a:bodyPr/>
          <a:lstStyle/>
          <a:p>
            <a:r>
              <a:rPr lang="en-US" dirty="0" smtClean="0"/>
              <a:t>Logic Design</a:t>
            </a:r>
            <a:endParaRPr lang="en-US" dirty="0"/>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6563" y="3858098"/>
            <a:ext cx="3811237" cy="2401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cstate="print">
            <a:extLst>
              <a:ext uri="{28A0092B-C50C-407E-A947-70E740481C1C}">
                <a14:useLocalDpi xmlns:a14="http://schemas.microsoft.com/office/drawing/2010/main" val="0"/>
              </a:ext>
            </a:extLst>
          </a:blip>
          <a:srcRect/>
          <a:stretch>
            <a:fillRect/>
          </a:stretch>
        </p:blipFill>
        <p:spPr bwMode="auto">
          <a:xfrm>
            <a:off x="8782564" y="4222825"/>
            <a:ext cx="2858427" cy="1699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1344818" y="6444365"/>
            <a:ext cx="4176250" cy="369332"/>
          </a:xfrm>
          <a:prstGeom prst="rect">
            <a:avLst/>
          </a:prstGeom>
        </p:spPr>
        <p:txBody>
          <a:bodyPr wrap="square">
            <a:spAutoFit/>
          </a:bodyPr>
          <a:lstStyle/>
          <a:p>
            <a:r>
              <a:rPr lang="en-US" dirty="0">
                <a:latin typeface="Times New Roman" pitchFamily="18" charset="0"/>
                <a:cs typeface="Times New Roman" pitchFamily="18" charset="0"/>
              </a:rPr>
              <a:t>Register Transfer Level (RTL) </a:t>
            </a:r>
            <a:r>
              <a:rPr lang="en-US" dirty="0" smtClean="0">
                <a:latin typeface="Times New Roman" pitchFamily="18" charset="0"/>
                <a:cs typeface="Times New Roman" pitchFamily="18" charset="0"/>
              </a:rPr>
              <a:t> Design</a:t>
            </a:r>
            <a:endParaRPr lang="en-US" dirty="0"/>
          </a:p>
        </p:txBody>
      </p:sp>
      <p:sp>
        <p:nvSpPr>
          <p:cNvPr id="7" name="Rectangle 6"/>
          <p:cNvSpPr/>
          <p:nvPr/>
        </p:nvSpPr>
        <p:spPr>
          <a:xfrm>
            <a:off x="9352680" y="6075033"/>
            <a:ext cx="1718194" cy="369332"/>
          </a:xfrm>
          <a:prstGeom prst="rect">
            <a:avLst/>
          </a:prstGeom>
        </p:spPr>
        <p:txBody>
          <a:bodyPr wrap="square">
            <a:spAutoFit/>
          </a:bodyPr>
          <a:lstStyle/>
          <a:p>
            <a:r>
              <a:rPr lang="en-US" dirty="0" smtClean="0">
                <a:latin typeface="Times New Roman" pitchFamily="18" charset="0"/>
                <a:cs typeface="Times New Roman" pitchFamily="18" charset="0"/>
              </a:rPr>
              <a:t>Logic Design  </a:t>
            </a:r>
            <a:endParaRPr lang="en-US" dirty="0"/>
          </a:p>
        </p:txBody>
      </p:sp>
      <p:sp>
        <p:nvSpPr>
          <p:cNvPr id="8" name="Text Placeholder 2"/>
          <p:cNvSpPr txBox="1">
            <a:spLocks/>
          </p:cNvSpPr>
          <p:nvPr/>
        </p:nvSpPr>
        <p:spPr>
          <a:xfrm>
            <a:off x="533399" y="868907"/>
            <a:ext cx="11544869" cy="5638800"/>
          </a:xfrm>
          <a:prstGeom prst="rect">
            <a:avLst/>
          </a:prstGeom>
        </p:spPr>
        <p:txBody>
          <a:bodyPr vert="horz" lIns="91440" tIns="45720" rIns="91440" bIns="45720" rtlCol="0" anchor="t">
            <a:normAutofit/>
          </a:bodyPr>
          <a:lstStyle>
            <a:lvl1pPr marL="0" indent="0" algn="l" defTabSz="914400" rtl="0" eaLnBrk="1" latinLnBrk="0" hangingPunct="1">
              <a:spcBef>
                <a:spcPct val="20000"/>
              </a:spcBef>
              <a:buClr>
                <a:schemeClr val="accent1"/>
              </a:buClr>
              <a:buSzPct val="76000"/>
              <a:buFont typeface="Wingdings 2" pitchFamily="18" charset="2"/>
              <a:buNone/>
              <a:defRPr sz="2000" kern="1200">
                <a:solidFill>
                  <a:schemeClr val="tx1">
                    <a:tint val="75000"/>
                  </a:schemeClr>
                </a:solidFill>
                <a:latin typeface="+mn-lt"/>
                <a:ea typeface="+mn-ea"/>
                <a:cs typeface="+mn-cs"/>
              </a:defRPr>
            </a:lvl1pPr>
            <a:lvl2pPr marL="457200" indent="0" algn="l" defTabSz="914400" rtl="0" eaLnBrk="1" latinLnBrk="0" hangingPunct="1">
              <a:spcBef>
                <a:spcPct val="20000"/>
              </a:spcBef>
              <a:buClr>
                <a:schemeClr val="accent1"/>
              </a:buClr>
              <a:buSzPct val="76000"/>
              <a:buFont typeface="Wingdings 2" pitchFamily="18" charset="2"/>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Clr>
                <a:schemeClr val="accent1"/>
              </a:buClr>
              <a:buSzPct val="76000"/>
              <a:buFont typeface="Wingdings 2" pitchFamily="18" charset="2"/>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Clr>
                <a:schemeClr val="accent1"/>
              </a:buClr>
              <a:buSzPct val="76000"/>
              <a:buFont typeface="Wingdings 2" pitchFamily="18" charset="2"/>
              <a:buNone/>
              <a:defRPr sz="1400" kern="1200" baseline="0">
                <a:solidFill>
                  <a:schemeClr val="tx1">
                    <a:tint val="75000"/>
                  </a:schemeClr>
                </a:solidFill>
                <a:latin typeface="+mn-lt"/>
                <a:ea typeface="+mn-ea"/>
                <a:cs typeface="+mn-cs"/>
              </a:defRPr>
            </a:lvl5pPr>
            <a:lvl6pPr marL="22860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9pPr>
          </a:lstStyle>
          <a:p>
            <a:pPr algn="just">
              <a:buFont typeface="Wingdings" pitchFamily="2" charset="2"/>
              <a:buChar char="Ø"/>
            </a:pPr>
            <a:r>
              <a:rPr lang="en-US" dirty="0" smtClean="0">
                <a:solidFill>
                  <a:schemeClr val="tx1"/>
                </a:solidFill>
                <a:latin typeface="Times New Roman" pitchFamily="18" charset="0"/>
                <a:cs typeface="Times New Roman" pitchFamily="18" charset="0"/>
              </a:rPr>
              <a:t>In </a:t>
            </a:r>
            <a:r>
              <a:rPr lang="en-US" dirty="0">
                <a:solidFill>
                  <a:schemeClr val="tx1"/>
                </a:solidFill>
                <a:latin typeface="Times New Roman" pitchFamily="18" charset="0"/>
                <a:cs typeface="Times New Roman" pitchFamily="18" charset="0"/>
              </a:rPr>
              <a:t>this step the control flow, word widths, register allocation, arithmetic operations, </a:t>
            </a:r>
            <a:r>
              <a:rPr lang="en-US" dirty="0" smtClean="0">
                <a:solidFill>
                  <a:schemeClr val="tx1"/>
                </a:solidFill>
                <a:latin typeface="Times New Roman" pitchFamily="18" charset="0"/>
                <a:cs typeface="Times New Roman" pitchFamily="18" charset="0"/>
              </a:rPr>
              <a:t>and logic </a:t>
            </a:r>
            <a:r>
              <a:rPr lang="en-US" dirty="0">
                <a:solidFill>
                  <a:schemeClr val="tx1"/>
                </a:solidFill>
                <a:latin typeface="Times New Roman" pitchFamily="18" charset="0"/>
                <a:cs typeface="Times New Roman" pitchFamily="18" charset="0"/>
              </a:rPr>
              <a:t>operations of the design that represent the functional design are derived </a:t>
            </a:r>
            <a:r>
              <a:rPr lang="en-US" dirty="0" smtClean="0">
                <a:solidFill>
                  <a:schemeClr val="tx1"/>
                </a:solidFill>
                <a:latin typeface="Times New Roman" pitchFamily="18" charset="0"/>
                <a:cs typeface="Times New Roman" pitchFamily="18" charset="0"/>
              </a:rPr>
              <a:t>and tested.</a:t>
            </a:r>
          </a:p>
          <a:p>
            <a:pPr algn="just">
              <a:buFont typeface="Wingdings" pitchFamily="2" charset="2"/>
              <a:buChar char="Ø"/>
            </a:pPr>
            <a:endParaRPr lang="en-US" dirty="0">
              <a:solidFill>
                <a:schemeClr val="tx1"/>
              </a:solidFill>
              <a:latin typeface="Times New Roman" pitchFamily="18" charset="0"/>
              <a:cs typeface="Times New Roman" pitchFamily="18" charset="0"/>
            </a:endParaRPr>
          </a:p>
          <a:p>
            <a:pPr algn="just">
              <a:buFont typeface="Wingdings" pitchFamily="2" charset="2"/>
              <a:buChar char="Ø"/>
            </a:pPr>
            <a:r>
              <a:rPr lang="en-US" dirty="0">
                <a:solidFill>
                  <a:schemeClr val="tx1"/>
                </a:solidFill>
                <a:latin typeface="Times New Roman" pitchFamily="18" charset="0"/>
                <a:cs typeface="Times New Roman" pitchFamily="18" charset="0"/>
              </a:rPr>
              <a:t>This description is called Register Transfer Level (RTL) description. RTL is expressed </a:t>
            </a:r>
            <a:r>
              <a:rPr lang="en-US" dirty="0" smtClean="0">
                <a:solidFill>
                  <a:schemeClr val="tx1"/>
                </a:solidFill>
                <a:latin typeface="Times New Roman" pitchFamily="18" charset="0"/>
                <a:cs typeface="Times New Roman" pitchFamily="18" charset="0"/>
              </a:rPr>
              <a:t>in a </a:t>
            </a:r>
            <a:r>
              <a:rPr lang="en-US" dirty="0">
                <a:solidFill>
                  <a:schemeClr val="tx1"/>
                </a:solidFill>
                <a:latin typeface="Times New Roman" pitchFamily="18" charset="0"/>
                <a:cs typeface="Times New Roman" pitchFamily="18" charset="0"/>
              </a:rPr>
              <a:t>Hardware Description Language (HDL), such as VHDL or Verilog. This description </a:t>
            </a:r>
            <a:r>
              <a:rPr lang="en-US" dirty="0" smtClean="0">
                <a:solidFill>
                  <a:schemeClr val="tx1"/>
                </a:solidFill>
                <a:latin typeface="Times New Roman" pitchFamily="18" charset="0"/>
                <a:cs typeface="Times New Roman" pitchFamily="18" charset="0"/>
              </a:rPr>
              <a:t>can be </a:t>
            </a:r>
            <a:r>
              <a:rPr lang="en-US" dirty="0">
                <a:solidFill>
                  <a:schemeClr val="tx1"/>
                </a:solidFill>
                <a:latin typeface="Times New Roman" pitchFamily="18" charset="0"/>
                <a:cs typeface="Times New Roman" pitchFamily="18" charset="0"/>
              </a:rPr>
              <a:t>used in simulation and verification</a:t>
            </a:r>
            <a:r>
              <a:rPr lang="en-US" dirty="0" smtClean="0">
                <a:solidFill>
                  <a:schemeClr val="tx1"/>
                </a:solidFill>
                <a:latin typeface="Times New Roman" pitchFamily="18" charset="0"/>
                <a:cs typeface="Times New Roman" pitchFamily="18" charset="0"/>
              </a:rPr>
              <a:t>.</a:t>
            </a:r>
          </a:p>
          <a:p>
            <a:pPr algn="just">
              <a:buFont typeface="Wingdings" pitchFamily="2" charset="2"/>
              <a:buChar char="Ø"/>
            </a:pPr>
            <a:endParaRPr lang="en-US" dirty="0" smtClean="0">
              <a:solidFill>
                <a:schemeClr val="tx1"/>
              </a:solidFill>
              <a:latin typeface="Times New Roman" pitchFamily="18" charset="0"/>
              <a:cs typeface="Times New Roman" pitchFamily="18" charset="0"/>
            </a:endParaRPr>
          </a:p>
          <a:p>
            <a:pPr algn="just">
              <a:buFont typeface="Wingdings" pitchFamily="2" charset="2"/>
              <a:buChar char="Ø"/>
            </a:pPr>
            <a:r>
              <a:rPr lang="en-US" dirty="0" smtClean="0">
                <a:solidFill>
                  <a:schemeClr val="tx1"/>
                </a:solidFill>
                <a:latin typeface="Times New Roman" pitchFamily="18" charset="0"/>
                <a:cs typeface="Times New Roman" pitchFamily="18" charset="0"/>
              </a:rPr>
              <a:t>After RTL, matching between RTL and functional design should be performed.</a:t>
            </a:r>
          </a:p>
          <a:p>
            <a:pPr algn="just"/>
            <a:endParaRPr lang="en-US" dirty="0">
              <a:solidFill>
                <a:schemeClr val="tx1"/>
              </a:solidFill>
              <a:latin typeface="Times New Roman" pitchFamily="18" charset="0"/>
              <a:cs typeface="Times New Roman" pitchFamily="18" charset="0"/>
            </a:endParaRPr>
          </a:p>
        </p:txBody>
      </p:sp>
      <p:pic>
        <p:nvPicPr>
          <p:cNvPr id="9" name="Picture 2" descr="KL Deemed to be University Logo"/>
          <p:cNvPicPr>
            <a:picLocks noChangeAspect="1" noChangeArrowheads="1"/>
          </p:cNvPicPr>
          <p:nvPr/>
        </p:nvPicPr>
        <p:blipFill>
          <a:blip r:embed="rId3"/>
          <a:srcRect/>
          <a:stretch>
            <a:fillRect/>
          </a:stretch>
        </p:blipFill>
        <p:spPr bwMode="auto">
          <a:xfrm>
            <a:off x="39095" y="269349"/>
            <a:ext cx="1990725" cy="600076"/>
          </a:xfrm>
          <a:prstGeom prst="rect">
            <a:avLst/>
          </a:prstGeom>
          <a:noFill/>
        </p:spPr>
      </p:pic>
    </p:spTree>
    <p:extLst>
      <p:ext uri="{BB962C8B-B14F-4D97-AF65-F5344CB8AC3E}">
        <p14:creationId xmlns:p14="http://schemas.microsoft.com/office/powerpoint/2010/main" val="6153961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533399" y="609600"/>
            <a:ext cx="11517573" cy="5638800"/>
          </a:xfrm>
          <a:prstGeom prst="rect">
            <a:avLst/>
          </a:prstGeom>
        </p:spPr>
        <p:txBody>
          <a:bodyPr vert="horz" lIns="91440" tIns="45720" rIns="91440" bIns="45720" rtlCol="0" anchor="t">
            <a:normAutofit/>
          </a:bodyPr>
          <a:lstStyle>
            <a:lvl1pPr marL="0" indent="0" algn="l" defTabSz="914400" rtl="0" eaLnBrk="1" latinLnBrk="0" hangingPunct="1">
              <a:spcBef>
                <a:spcPct val="20000"/>
              </a:spcBef>
              <a:buClr>
                <a:schemeClr val="accent1"/>
              </a:buClr>
              <a:buSzPct val="76000"/>
              <a:buFont typeface="Wingdings 2" pitchFamily="18" charset="2"/>
              <a:buNone/>
              <a:defRPr sz="2000" kern="1200">
                <a:solidFill>
                  <a:schemeClr val="tx1">
                    <a:tint val="75000"/>
                  </a:schemeClr>
                </a:solidFill>
                <a:latin typeface="+mn-lt"/>
                <a:ea typeface="+mn-ea"/>
                <a:cs typeface="+mn-cs"/>
              </a:defRPr>
            </a:lvl1pPr>
            <a:lvl2pPr marL="457200" indent="0" algn="l" defTabSz="914400" rtl="0" eaLnBrk="1" latinLnBrk="0" hangingPunct="1">
              <a:spcBef>
                <a:spcPct val="20000"/>
              </a:spcBef>
              <a:buClr>
                <a:schemeClr val="accent1"/>
              </a:buClr>
              <a:buSzPct val="76000"/>
              <a:buFont typeface="Wingdings 2" pitchFamily="18" charset="2"/>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Clr>
                <a:schemeClr val="accent1"/>
              </a:buClr>
              <a:buSzPct val="76000"/>
              <a:buFont typeface="Wingdings 2" pitchFamily="18" charset="2"/>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Clr>
                <a:schemeClr val="accent1"/>
              </a:buClr>
              <a:buSzPct val="76000"/>
              <a:buFont typeface="Wingdings 2" pitchFamily="18" charset="2"/>
              <a:buNone/>
              <a:defRPr sz="1400" kern="1200" baseline="0">
                <a:solidFill>
                  <a:schemeClr val="tx1">
                    <a:tint val="75000"/>
                  </a:schemeClr>
                </a:solidFill>
                <a:latin typeface="+mn-lt"/>
                <a:ea typeface="+mn-ea"/>
                <a:cs typeface="+mn-cs"/>
              </a:defRPr>
            </a:lvl5pPr>
            <a:lvl6pPr marL="22860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9pPr>
          </a:lstStyle>
          <a:p>
            <a:pPr algn="just"/>
            <a:endParaRPr lang="en-US" dirty="0" smtClean="0">
              <a:solidFill>
                <a:schemeClr val="tx1"/>
              </a:solidFill>
              <a:latin typeface="Times New Roman" pitchFamily="18" charset="0"/>
              <a:cs typeface="Times New Roman" pitchFamily="18" charset="0"/>
            </a:endParaRPr>
          </a:p>
          <a:p>
            <a:pPr algn="just"/>
            <a:endParaRPr lang="en-US" dirty="0">
              <a:solidFill>
                <a:schemeClr val="tx1"/>
              </a:solidFill>
              <a:latin typeface="Times New Roman" pitchFamily="18" charset="0"/>
              <a:cs typeface="Times New Roman" pitchFamily="18" charset="0"/>
            </a:endParaRPr>
          </a:p>
          <a:p>
            <a:pPr algn="just"/>
            <a:r>
              <a:rPr lang="en-US" dirty="0" smtClean="0">
                <a:solidFill>
                  <a:schemeClr val="tx1"/>
                </a:solidFill>
                <a:latin typeface="Times New Roman" pitchFamily="18" charset="0"/>
                <a:cs typeface="Times New Roman" pitchFamily="18" charset="0"/>
              </a:rPr>
              <a:t>The </a:t>
            </a:r>
            <a:r>
              <a:rPr lang="en-US" dirty="0">
                <a:solidFill>
                  <a:schemeClr val="tx1"/>
                </a:solidFill>
                <a:latin typeface="Times New Roman" pitchFamily="18" charset="0"/>
                <a:cs typeface="Times New Roman" pitchFamily="18" charset="0"/>
              </a:rPr>
              <a:t>purpose of circuit design is to develop a circuit </a:t>
            </a:r>
            <a:r>
              <a:rPr lang="en-US" dirty="0" smtClean="0">
                <a:solidFill>
                  <a:schemeClr val="tx1"/>
                </a:solidFill>
                <a:latin typeface="Times New Roman" pitchFamily="18" charset="0"/>
                <a:cs typeface="Times New Roman" pitchFamily="18" charset="0"/>
              </a:rPr>
              <a:t>representation using all the functional blocks whose logic synthesis is complete.</a:t>
            </a:r>
          </a:p>
          <a:p>
            <a:pPr algn="just"/>
            <a:r>
              <a:rPr lang="en-US" dirty="0">
                <a:solidFill>
                  <a:schemeClr val="tx1"/>
                </a:solidFill>
                <a:latin typeface="Times New Roman" pitchFamily="18" charset="0"/>
                <a:cs typeface="Times New Roman" pitchFamily="18" charset="0"/>
              </a:rPr>
              <a:t>The circuit design is usually expressed in a detailed circuit diagram. This diagram </a:t>
            </a:r>
            <a:r>
              <a:rPr lang="en-US" dirty="0" smtClean="0">
                <a:solidFill>
                  <a:schemeClr val="tx1"/>
                </a:solidFill>
                <a:latin typeface="Times New Roman" pitchFamily="18" charset="0"/>
                <a:cs typeface="Times New Roman" pitchFamily="18" charset="0"/>
              </a:rPr>
              <a:t>shows the </a:t>
            </a:r>
            <a:r>
              <a:rPr lang="en-US" dirty="0">
                <a:solidFill>
                  <a:schemeClr val="tx1"/>
                </a:solidFill>
                <a:latin typeface="Times New Roman" pitchFamily="18" charset="0"/>
                <a:cs typeface="Times New Roman" pitchFamily="18" charset="0"/>
              </a:rPr>
              <a:t>circuit elements (cells, macros, gates, transistors) and interconnection between </a:t>
            </a:r>
            <a:r>
              <a:rPr lang="en-US" dirty="0" smtClean="0">
                <a:solidFill>
                  <a:schemeClr val="tx1"/>
                </a:solidFill>
                <a:latin typeface="Times New Roman" pitchFamily="18" charset="0"/>
                <a:cs typeface="Times New Roman" pitchFamily="18" charset="0"/>
              </a:rPr>
              <a:t>these elements</a:t>
            </a:r>
            <a:r>
              <a:rPr lang="en-US" dirty="0">
                <a:solidFill>
                  <a:schemeClr val="tx1"/>
                </a:solidFill>
                <a:latin typeface="Times New Roman" pitchFamily="18" charset="0"/>
                <a:cs typeface="Times New Roman" pitchFamily="18" charset="0"/>
              </a:rPr>
              <a:t>. This representation is also called a </a:t>
            </a:r>
            <a:r>
              <a:rPr lang="en-US" dirty="0" smtClean="0">
                <a:solidFill>
                  <a:schemeClr val="tx1"/>
                </a:solidFill>
                <a:latin typeface="Times New Roman" pitchFamily="18" charset="0"/>
                <a:cs typeface="Times New Roman" pitchFamily="18" charset="0"/>
              </a:rPr>
              <a:t>net list.</a:t>
            </a:r>
            <a:endParaRPr lang="en-US" dirty="0">
              <a:solidFill>
                <a:schemeClr val="tx1"/>
              </a:solidFill>
              <a:latin typeface="Times New Roman" pitchFamily="18" charset="0"/>
              <a:cs typeface="Times New Roman" pitchFamily="18" charset="0"/>
            </a:endParaRPr>
          </a:p>
          <a:p>
            <a:pPr algn="just"/>
            <a:endParaRPr lang="en-US" dirty="0">
              <a:solidFill>
                <a:schemeClr val="tx1"/>
              </a:solidFill>
              <a:latin typeface="Times New Roman" pitchFamily="18" charset="0"/>
              <a:cs typeface="Times New Roman" pitchFamily="18" charset="0"/>
            </a:endParaRPr>
          </a:p>
        </p:txBody>
      </p:sp>
      <p:sp>
        <p:nvSpPr>
          <p:cNvPr id="6" name="Rectangle 5"/>
          <p:cNvSpPr/>
          <p:nvPr/>
        </p:nvSpPr>
        <p:spPr>
          <a:xfrm>
            <a:off x="1981200" y="3352800"/>
            <a:ext cx="1066800" cy="1676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733800" y="3276600"/>
            <a:ext cx="914400"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581400" y="4495800"/>
            <a:ext cx="19812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524000" y="4495800"/>
            <a:ext cx="762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1600200" y="4572000"/>
            <a:ext cx="381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1524000" y="3733800"/>
            <a:ext cx="762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p:nvPr/>
        </p:nvCxnSpPr>
        <p:spPr>
          <a:xfrm>
            <a:off x="1600200" y="3810000"/>
            <a:ext cx="381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048000" y="3581400"/>
            <a:ext cx="381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200400" y="3581400"/>
            <a:ext cx="0" cy="1143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200400" y="4724400"/>
            <a:ext cx="381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429000" y="3429000"/>
            <a:ext cx="0" cy="304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429000" y="3733800"/>
            <a:ext cx="304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429000" y="3429000"/>
            <a:ext cx="304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1524000" y="5181600"/>
            <a:ext cx="762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p:cNvCxnSpPr/>
          <p:nvPr/>
        </p:nvCxnSpPr>
        <p:spPr>
          <a:xfrm>
            <a:off x="1600200" y="5257800"/>
            <a:ext cx="1981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endCxn id="22" idx="3"/>
          </p:cNvCxnSpPr>
          <p:nvPr/>
        </p:nvCxnSpPr>
        <p:spPr>
          <a:xfrm>
            <a:off x="4648200" y="3581400"/>
            <a:ext cx="1295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5867400" y="3505200"/>
            <a:ext cx="762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p:cNvCxnSpPr/>
          <p:nvPr/>
        </p:nvCxnSpPr>
        <p:spPr>
          <a:xfrm>
            <a:off x="5562600" y="4953000"/>
            <a:ext cx="381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5943600" y="4876800"/>
            <a:ext cx="76200" cy="1524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1447800" y="5772090"/>
            <a:ext cx="4876800" cy="400110"/>
          </a:xfrm>
          <a:prstGeom prst="rect">
            <a:avLst/>
          </a:prstGeom>
          <a:noFill/>
        </p:spPr>
        <p:txBody>
          <a:bodyPr wrap="square" rtlCol="0">
            <a:spAutoFit/>
          </a:bodyPr>
          <a:lstStyle/>
          <a:p>
            <a:r>
              <a:rPr lang="en-US" sz="2000" dirty="0" smtClean="0">
                <a:latin typeface="Times New Roman" pitchFamily="18" charset="0"/>
                <a:cs typeface="Times New Roman" pitchFamily="18" charset="0"/>
              </a:rPr>
              <a:t>Logic synthesis of these blocks are complete</a:t>
            </a:r>
            <a:endParaRPr lang="en-US" sz="2000" dirty="0">
              <a:latin typeface="Times New Roman" pitchFamily="18" charset="0"/>
              <a:cs typeface="Times New Roman" pitchFamily="18" charset="0"/>
            </a:endParaRPr>
          </a:p>
        </p:txBody>
      </p:sp>
      <p:cxnSp>
        <p:nvCxnSpPr>
          <p:cNvPr id="26" name="Straight Arrow Connector 25"/>
          <p:cNvCxnSpPr/>
          <p:nvPr/>
        </p:nvCxnSpPr>
        <p:spPr>
          <a:xfrm>
            <a:off x="2514600" y="4876800"/>
            <a:ext cx="0" cy="8382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3886200" y="5181600"/>
            <a:ext cx="0" cy="5334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4191000" y="3810000"/>
            <a:ext cx="0" cy="19050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057400" y="4038600"/>
            <a:ext cx="947760" cy="369332"/>
          </a:xfrm>
          <a:prstGeom prst="rect">
            <a:avLst/>
          </a:prstGeom>
          <a:noFill/>
        </p:spPr>
        <p:txBody>
          <a:bodyPr wrap="none" rtlCol="0">
            <a:spAutoFit/>
          </a:bodyPr>
          <a:lstStyle/>
          <a:p>
            <a:r>
              <a:rPr lang="en-US" dirty="0" smtClean="0">
                <a:latin typeface="Times New Roman" pitchFamily="18" charset="0"/>
                <a:cs typeface="Times New Roman" pitchFamily="18" charset="0"/>
              </a:rPr>
              <a:t>Block A</a:t>
            </a:r>
            <a:endParaRPr lang="en-US" dirty="0">
              <a:latin typeface="Times New Roman" pitchFamily="18" charset="0"/>
              <a:cs typeface="Times New Roman" pitchFamily="18" charset="0"/>
            </a:endParaRPr>
          </a:p>
        </p:txBody>
      </p:sp>
      <p:sp>
        <p:nvSpPr>
          <p:cNvPr id="30" name="TextBox 29"/>
          <p:cNvSpPr txBox="1"/>
          <p:nvPr/>
        </p:nvSpPr>
        <p:spPr>
          <a:xfrm>
            <a:off x="3700440" y="3429000"/>
            <a:ext cx="947695" cy="369332"/>
          </a:xfrm>
          <a:prstGeom prst="rect">
            <a:avLst/>
          </a:prstGeom>
          <a:noFill/>
        </p:spPr>
        <p:txBody>
          <a:bodyPr wrap="none" rtlCol="0">
            <a:spAutoFit/>
          </a:bodyPr>
          <a:lstStyle/>
          <a:p>
            <a:r>
              <a:rPr lang="en-US" dirty="0" smtClean="0">
                <a:latin typeface="Times New Roman" pitchFamily="18" charset="0"/>
                <a:cs typeface="Times New Roman" pitchFamily="18" charset="0"/>
              </a:rPr>
              <a:t>Block B</a:t>
            </a:r>
            <a:endParaRPr lang="en-US" dirty="0">
              <a:latin typeface="Times New Roman" pitchFamily="18" charset="0"/>
              <a:cs typeface="Times New Roman" pitchFamily="18" charset="0"/>
            </a:endParaRPr>
          </a:p>
        </p:txBody>
      </p:sp>
      <p:sp>
        <p:nvSpPr>
          <p:cNvPr id="31" name="TextBox 30"/>
          <p:cNvSpPr txBox="1"/>
          <p:nvPr/>
        </p:nvSpPr>
        <p:spPr>
          <a:xfrm>
            <a:off x="4157640" y="4724400"/>
            <a:ext cx="947695" cy="369332"/>
          </a:xfrm>
          <a:prstGeom prst="rect">
            <a:avLst/>
          </a:prstGeom>
          <a:noFill/>
        </p:spPr>
        <p:txBody>
          <a:bodyPr wrap="none" rtlCol="0">
            <a:spAutoFit/>
          </a:bodyPr>
          <a:lstStyle/>
          <a:p>
            <a:r>
              <a:rPr lang="en-US" dirty="0" smtClean="0">
                <a:latin typeface="Times New Roman" pitchFamily="18" charset="0"/>
                <a:cs typeface="Times New Roman" pitchFamily="18" charset="0"/>
              </a:rPr>
              <a:t>Block C</a:t>
            </a:r>
            <a:endParaRPr lang="en-US" dirty="0">
              <a:latin typeface="Times New Roman" pitchFamily="18" charset="0"/>
              <a:cs typeface="Times New Roman" pitchFamily="18" charset="0"/>
            </a:endParaRPr>
          </a:p>
        </p:txBody>
      </p:sp>
      <p:sp>
        <p:nvSpPr>
          <p:cNvPr id="32" name="Rectangle 31"/>
          <p:cNvSpPr/>
          <p:nvPr/>
        </p:nvSpPr>
        <p:spPr>
          <a:xfrm>
            <a:off x="1219200" y="3200400"/>
            <a:ext cx="5029200" cy="2362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Arrow Connector 32"/>
          <p:cNvCxnSpPr/>
          <p:nvPr/>
        </p:nvCxnSpPr>
        <p:spPr>
          <a:xfrm>
            <a:off x="6096000" y="4343400"/>
            <a:ext cx="3810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400800" y="4114800"/>
            <a:ext cx="1790875" cy="707886"/>
          </a:xfrm>
          <a:prstGeom prst="rect">
            <a:avLst/>
          </a:prstGeom>
          <a:noFill/>
        </p:spPr>
        <p:txBody>
          <a:bodyPr wrap="none" rtlCol="0">
            <a:spAutoFit/>
          </a:bodyPr>
          <a:lstStyle/>
          <a:p>
            <a:r>
              <a:rPr lang="en-US" sz="2000" dirty="0" smtClean="0">
                <a:latin typeface="Times New Roman" pitchFamily="18" charset="0"/>
                <a:cs typeface="Times New Roman" pitchFamily="18" charset="0"/>
              </a:rPr>
              <a:t>Overall Circuit </a:t>
            </a:r>
          </a:p>
          <a:p>
            <a:r>
              <a:rPr lang="en-US" sz="2000" dirty="0" smtClean="0">
                <a:latin typeface="Times New Roman" pitchFamily="18" charset="0"/>
                <a:cs typeface="Times New Roman" pitchFamily="18" charset="0"/>
              </a:rPr>
              <a:t>Design</a:t>
            </a:r>
            <a:endParaRPr lang="en-US" sz="2000" dirty="0">
              <a:latin typeface="Times New Roman" pitchFamily="18" charset="0"/>
              <a:cs typeface="Times New Roman" pitchFamily="18" charset="0"/>
            </a:endParaRPr>
          </a:p>
        </p:txBody>
      </p:sp>
      <p:sp>
        <p:nvSpPr>
          <p:cNvPr id="35" name="Title 1"/>
          <p:cNvSpPr>
            <a:spLocks noGrp="1"/>
          </p:cNvSpPr>
          <p:nvPr>
            <p:ph type="title"/>
          </p:nvPr>
        </p:nvSpPr>
        <p:spPr>
          <a:xfrm>
            <a:off x="1562668" y="206643"/>
            <a:ext cx="10515600" cy="1325563"/>
          </a:xfrm>
        </p:spPr>
        <p:txBody>
          <a:bodyPr/>
          <a:lstStyle/>
          <a:p>
            <a:r>
              <a:rPr lang="en-US" dirty="0" smtClean="0"/>
              <a:t>Circuit Design</a:t>
            </a:r>
            <a:endParaRPr lang="en-US" dirty="0"/>
          </a:p>
        </p:txBody>
      </p:sp>
      <p:pic>
        <p:nvPicPr>
          <p:cNvPr id="36" name="Picture 2" descr="KL Deemed to be University Logo"/>
          <p:cNvPicPr>
            <a:picLocks noChangeAspect="1" noChangeArrowheads="1"/>
          </p:cNvPicPr>
          <p:nvPr/>
        </p:nvPicPr>
        <p:blipFill>
          <a:blip r:embed="rId2"/>
          <a:srcRect/>
          <a:stretch>
            <a:fillRect/>
          </a:stretch>
        </p:blipFill>
        <p:spPr bwMode="auto">
          <a:xfrm>
            <a:off x="39095" y="269349"/>
            <a:ext cx="1990725" cy="600076"/>
          </a:xfrm>
          <a:prstGeom prst="rect">
            <a:avLst/>
          </a:prstGeom>
          <a:noFill/>
        </p:spPr>
      </p:pic>
    </p:spTree>
    <p:extLst>
      <p:ext uri="{BB962C8B-B14F-4D97-AF65-F5344CB8AC3E}">
        <p14:creationId xmlns:p14="http://schemas.microsoft.com/office/powerpoint/2010/main" val="315996934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533399" y="609600"/>
            <a:ext cx="11422039" cy="5638800"/>
          </a:xfrm>
          <a:prstGeom prst="rect">
            <a:avLst/>
          </a:prstGeom>
        </p:spPr>
        <p:txBody>
          <a:bodyPr vert="horz" lIns="91440" tIns="45720" rIns="91440" bIns="45720" rtlCol="0" anchor="t">
            <a:normAutofit/>
          </a:bodyPr>
          <a:lstStyle>
            <a:lvl1pPr marL="0" indent="0" algn="l" defTabSz="914400" rtl="0" eaLnBrk="1" latinLnBrk="0" hangingPunct="1">
              <a:spcBef>
                <a:spcPct val="20000"/>
              </a:spcBef>
              <a:buClr>
                <a:schemeClr val="accent1"/>
              </a:buClr>
              <a:buSzPct val="76000"/>
              <a:buFont typeface="Wingdings 2" pitchFamily="18" charset="2"/>
              <a:buNone/>
              <a:defRPr sz="2000" kern="1200">
                <a:solidFill>
                  <a:schemeClr val="tx1">
                    <a:tint val="75000"/>
                  </a:schemeClr>
                </a:solidFill>
                <a:latin typeface="+mn-lt"/>
                <a:ea typeface="+mn-ea"/>
                <a:cs typeface="+mn-cs"/>
              </a:defRPr>
            </a:lvl1pPr>
            <a:lvl2pPr marL="457200" indent="0" algn="l" defTabSz="914400" rtl="0" eaLnBrk="1" latinLnBrk="0" hangingPunct="1">
              <a:spcBef>
                <a:spcPct val="20000"/>
              </a:spcBef>
              <a:buClr>
                <a:schemeClr val="accent1"/>
              </a:buClr>
              <a:buSzPct val="76000"/>
              <a:buFont typeface="Wingdings 2" pitchFamily="18" charset="2"/>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Clr>
                <a:schemeClr val="accent1"/>
              </a:buClr>
              <a:buSzPct val="76000"/>
              <a:buFont typeface="Wingdings 2" pitchFamily="18" charset="2"/>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Clr>
                <a:schemeClr val="accent1"/>
              </a:buClr>
              <a:buSzPct val="76000"/>
              <a:buFont typeface="Wingdings 2" pitchFamily="18" charset="2"/>
              <a:buNone/>
              <a:defRPr sz="1400" kern="1200" baseline="0">
                <a:solidFill>
                  <a:schemeClr val="tx1">
                    <a:tint val="75000"/>
                  </a:schemeClr>
                </a:solidFill>
                <a:latin typeface="+mn-lt"/>
                <a:ea typeface="+mn-ea"/>
                <a:cs typeface="+mn-cs"/>
              </a:defRPr>
            </a:lvl5pPr>
            <a:lvl6pPr marL="22860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9pPr>
          </a:lstStyle>
          <a:p>
            <a:endParaRPr lang="en-US" sz="2400" b="1" dirty="0">
              <a:solidFill>
                <a:srgbClr val="0070C0"/>
              </a:solidFill>
              <a:latin typeface="Times New Roman" pitchFamily="18" charset="0"/>
              <a:cs typeface="Times New Roman" pitchFamily="18" charset="0"/>
            </a:endParaRPr>
          </a:p>
          <a:p>
            <a:endParaRPr lang="en-US" sz="2400" b="1" dirty="0">
              <a:solidFill>
                <a:srgbClr val="0070C0"/>
              </a:solidFill>
              <a:latin typeface="Times New Roman" pitchFamily="18" charset="0"/>
              <a:cs typeface="Times New Roman" pitchFamily="18" charset="0"/>
            </a:endParaRPr>
          </a:p>
          <a:p>
            <a:pPr algn="just">
              <a:buFont typeface="Wingdings" pitchFamily="2" charset="2"/>
              <a:buChar char="Ø"/>
            </a:pPr>
            <a:r>
              <a:rPr lang="en-US" dirty="0" smtClean="0">
                <a:solidFill>
                  <a:schemeClr val="tx1"/>
                </a:solidFill>
                <a:latin typeface="Times New Roman" pitchFamily="18" charset="0"/>
                <a:cs typeface="Times New Roman" pitchFamily="18" charset="0"/>
              </a:rPr>
              <a:t>In </a:t>
            </a:r>
            <a:r>
              <a:rPr lang="en-US" dirty="0">
                <a:solidFill>
                  <a:schemeClr val="tx1"/>
                </a:solidFill>
                <a:latin typeface="Times New Roman" pitchFamily="18" charset="0"/>
                <a:cs typeface="Times New Roman" pitchFamily="18" charset="0"/>
              </a:rPr>
              <a:t>this step the circuit representation (or </a:t>
            </a:r>
            <a:r>
              <a:rPr lang="en-US" dirty="0" smtClean="0">
                <a:solidFill>
                  <a:schemeClr val="tx1"/>
                </a:solidFill>
                <a:latin typeface="Times New Roman" pitchFamily="18" charset="0"/>
                <a:cs typeface="Times New Roman" pitchFamily="18" charset="0"/>
              </a:rPr>
              <a:t>net list) </a:t>
            </a:r>
            <a:r>
              <a:rPr lang="en-US" dirty="0">
                <a:solidFill>
                  <a:schemeClr val="tx1"/>
                </a:solidFill>
                <a:latin typeface="Times New Roman" pitchFamily="18" charset="0"/>
                <a:cs typeface="Times New Roman" pitchFamily="18" charset="0"/>
              </a:rPr>
              <a:t>is converted into a </a:t>
            </a:r>
            <a:r>
              <a:rPr lang="en-US" dirty="0" smtClean="0">
                <a:solidFill>
                  <a:schemeClr val="tx1"/>
                </a:solidFill>
                <a:latin typeface="Times New Roman" pitchFamily="18" charset="0"/>
                <a:cs typeface="Times New Roman" pitchFamily="18" charset="0"/>
              </a:rPr>
              <a:t>geometric representation</a:t>
            </a:r>
            <a:r>
              <a:rPr lang="en-US" dirty="0">
                <a:solidFill>
                  <a:schemeClr val="tx1"/>
                </a:solidFill>
                <a:latin typeface="Times New Roman" pitchFamily="18" charset="0"/>
                <a:cs typeface="Times New Roman" pitchFamily="18" charset="0"/>
              </a:rPr>
              <a:t>. </a:t>
            </a:r>
            <a:r>
              <a:rPr lang="en-US" dirty="0" smtClean="0">
                <a:solidFill>
                  <a:schemeClr val="tx1"/>
                </a:solidFill>
                <a:latin typeface="Times New Roman" pitchFamily="18" charset="0"/>
                <a:cs typeface="Times New Roman" pitchFamily="18" charset="0"/>
              </a:rPr>
              <a:t>This </a:t>
            </a:r>
            <a:r>
              <a:rPr lang="en-US" dirty="0">
                <a:solidFill>
                  <a:schemeClr val="tx1"/>
                </a:solidFill>
                <a:latin typeface="Times New Roman" pitchFamily="18" charset="0"/>
                <a:cs typeface="Times New Roman" pitchFamily="18" charset="0"/>
              </a:rPr>
              <a:t>geometric representation of a circuit is called </a:t>
            </a:r>
            <a:r>
              <a:rPr lang="en-US" dirty="0" smtClean="0">
                <a:solidFill>
                  <a:schemeClr val="tx1"/>
                </a:solidFill>
                <a:latin typeface="Times New Roman" pitchFamily="18" charset="0"/>
                <a:cs typeface="Times New Roman" pitchFamily="18" charset="0"/>
              </a:rPr>
              <a:t>a layout.</a:t>
            </a:r>
          </a:p>
          <a:p>
            <a:pPr algn="just">
              <a:buFont typeface="Wingdings" pitchFamily="2" charset="2"/>
              <a:buChar char="Ø"/>
            </a:pPr>
            <a:r>
              <a:rPr lang="en-US" dirty="0">
                <a:solidFill>
                  <a:schemeClr val="tx1"/>
                </a:solidFill>
                <a:latin typeface="Times New Roman" pitchFamily="18" charset="0"/>
                <a:cs typeface="Times New Roman" pitchFamily="18" charset="0"/>
              </a:rPr>
              <a:t>The exact details of the layout also depend on design rules, which are guidelines </a:t>
            </a:r>
            <a:r>
              <a:rPr lang="en-US" dirty="0" smtClean="0">
                <a:solidFill>
                  <a:schemeClr val="tx1"/>
                </a:solidFill>
                <a:latin typeface="Times New Roman" pitchFamily="18" charset="0"/>
                <a:cs typeface="Times New Roman" pitchFamily="18" charset="0"/>
              </a:rPr>
              <a:t>based on </a:t>
            </a:r>
            <a:r>
              <a:rPr lang="en-US" dirty="0">
                <a:solidFill>
                  <a:schemeClr val="tx1"/>
                </a:solidFill>
                <a:latin typeface="Times New Roman" pitchFamily="18" charset="0"/>
                <a:cs typeface="Times New Roman" pitchFamily="18" charset="0"/>
              </a:rPr>
              <a:t>the limitations of the fabrication process and the electrical properties of </a:t>
            </a:r>
            <a:r>
              <a:rPr lang="en-US" dirty="0" smtClean="0">
                <a:solidFill>
                  <a:schemeClr val="tx1"/>
                </a:solidFill>
                <a:latin typeface="Times New Roman" pitchFamily="18" charset="0"/>
                <a:cs typeface="Times New Roman" pitchFamily="18" charset="0"/>
              </a:rPr>
              <a:t>the fabrication materials.</a:t>
            </a:r>
          </a:p>
          <a:p>
            <a:pPr algn="just">
              <a:buFont typeface="Wingdings" pitchFamily="2" charset="2"/>
              <a:buChar char="Ø"/>
            </a:pPr>
            <a:r>
              <a:rPr lang="en-US" dirty="0">
                <a:solidFill>
                  <a:schemeClr val="tx1"/>
                </a:solidFill>
                <a:latin typeface="Times New Roman" pitchFamily="18" charset="0"/>
                <a:cs typeface="Times New Roman" pitchFamily="18" charset="0"/>
              </a:rPr>
              <a:t>In many cases, physical design can be completely or partially automated and layout </a:t>
            </a:r>
            <a:r>
              <a:rPr lang="en-US" dirty="0" smtClean="0">
                <a:solidFill>
                  <a:schemeClr val="tx1"/>
                </a:solidFill>
                <a:latin typeface="Times New Roman" pitchFamily="18" charset="0"/>
                <a:cs typeface="Times New Roman" pitchFamily="18" charset="0"/>
              </a:rPr>
              <a:t>can be </a:t>
            </a:r>
            <a:r>
              <a:rPr lang="en-US" dirty="0">
                <a:solidFill>
                  <a:schemeClr val="tx1"/>
                </a:solidFill>
                <a:latin typeface="Times New Roman" pitchFamily="18" charset="0"/>
                <a:cs typeface="Times New Roman" pitchFamily="18" charset="0"/>
              </a:rPr>
              <a:t>generated directly from </a:t>
            </a:r>
            <a:r>
              <a:rPr lang="en-US" dirty="0" smtClean="0">
                <a:solidFill>
                  <a:schemeClr val="tx1"/>
                </a:solidFill>
                <a:latin typeface="Times New Roman" pitchFamily="18" charset="0"/>
                <a:cs typeface="Times New Roman" pitchFamily="18" charset="0"/>
              </a:rPr>
              <a:t>net list </a:t>
            </a:r>
            <a:r>
              <a:rPr lang="en-US" dirty="0">
                <a:solidFill>
                  <a:schemeClr val="tx1"/>
                </a:solidFill>
                <a:latin typeface="Times New Roman" pitchFamily="18" charset="0"/>
                <a:cs typeface="Times New Roman" pitchFamily="18" charset="0"/>
              </a:rPr>
              <a:t>by Layout Synthesis tools</a:t>
            </a:r>
            <a:r>
              <a:rPr lang="en-US" dirty="0" smtClean="0">
                <a:solidFill>
                  <a:schemeClr val="tx1"/>
                </a:solidFill>
                <a:latin typeface="Times New Roman" pitchFamily="18" charset="0"/>
                <a:cs typeface="Times New Roman" pitchFamily="18" charset="0"/>
              </a:rPr>
              <a:t>.</a:t>
            </a:r>
          </a:p>
          <a:p>
            <a:pPr algn="just">
              <a:buFont typeface="Wingdings" pitchFamily="2" charset="2"/>
              <a:buChar char="Ø"/>
            </a:pPr>
            <a:r>
              <a:rPr lang="en-US" dirty="0" smtClean="0">
                <a:solidFill>
                  <a:schemeClr val="tx1"/>
                </a:solidFill>
                <a:latin typeface="Times New Roman" pitchFamily="18" charset="0"/>
                <a:cs typeface="Times New Roman" pitchFamily="18" charset="0"/>
              </a:rPr>
              <a:t>After complete layout generation, matching between layout and circuit design should be met.</a:t>
            </a:r>
          </a:p>
          <a:p>
            <a:pPr algn="just">
              <a:buFont typeface="Wingdings" pitchFamily="2" charset="2"/>
              <a:buChar char="Ø"/>
            </a:pPr>
            <a:endParaRPr lang="en-US" dirty="0">
              <a:solidFill>
                <a:schemeClr val="tx1"/>
              </a:solidFill>
              <a:latin typeface="Times New Roman" pitchFamily="18" charset="0"/>
              <a:cs typeface="Times New Roman" pitchFamily="18" charset="0"/>
            </a:endParaRPr>
          </a:p>
        </p:txBody>
      </p:sp>
      <p:sp>
        <p:nvSpPr>
          <p:cNvPr id="5" name="Rectangle 4"/>
          <p:cNvSpPr/>
          <p:nvPr/>
        </p:nvSpPr>
        <p:spPr>
          <a:xfrm>
            <a:off x="762000" y="4719935"/>
            <a:ext cx="2057400" cy="381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031616" y="4643735"/>
            <a:ext cx="1635384" cy="461665"/>
          </a:xfrm>
          <a:prstGeom prst="rect">
            <a:avLst/>
          </a:prstGeom>
          <a:noFill/>
        </p:spPr>
        <p:txBody>
          <a:bodyPr wrap="none" rtlCol="0">
            <a:spAutoFit/>
          </a:bodyPr>
          <a:lstStyle/>
          <a:p>
            <a:r>
              <a:rPr lang="en-US" sz="2400" dirty="0" smtClean="0">
                <a:latin typeface="Times New Roman" pitchFamily="18" charset="0"/>
                <a:cs typeface="Times New Roman" pitchFamily="18" charset="0"/>
              </a:rPr>
              <a:t>Partitioning</a:t>
            </a:r>
            <a:endParaRPr lang="en-US" sz="2400" dirty="0">
              <a:latin typeface="Times New Roman" pitchFamily="18" charset="0"/>
              <a:cs typeface="Times New Roman" pitchFamily="18" charset="0"/>
            </a:endParaRPr>
          </a:p>
        </p:txBody>
      </p:sp>
      <p:sp>
        <p:nvSpPr>
          <p:cNvPr id="7" name="Rectangle 6"/>
          <p:cNvSpPr/>
          <p:nvPr/>
        </p:nvSpPr>
        <p:spPr>
          <a:xfrm>
            <a:off x="3352800" y="4724400"/>
            <a:ext cx="2057400" cy="381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3429000" y="4643735"/>
            <a:ext cx="2021707" cy="461665"/>
          </a:xfrm>
          <a:prstGeom prst="rect">
            <a:avLst/>
          </a:prstGeom>
          <a:noFill/>
        </p:spPr>
        <p:txBody>
          <a:bodyPr wrap="none" rtlCol="0">
            <a:spAutoFit/>
          </a:bodyPr>
          <a:lstStyle/>
          <a:p>
            <a:r>
              <a:rPr lang="en-US" sz="2400" dirty="0" smtClean="0">
                <a:latin typeface="Times New Roman" pitchFamily="18" charset="0"/>
                <a:cs typeface="Times New Roman" pitchFamily="18" charset="0"/>
              </a:rPr>
              <a:t>Floor Planning</a:t>
            </a:r>
            <a:endParaRPr lang="en-US" sz="2400" dirty="0">
              <a:latin typeface="Times New Roman" pitchFamily="18" charset="0"/>
              <a:cs typeface="Times New Roman" pitchFamily="18" charset="0"/>
            </a:endParaRPr>
          </a:p>
        </p:txBody>
      </p:sp>
      <p:sp>
        <p:nvSpPr>
          <p:cNvPr id="9" name="Rectangle 8"/>
          <p:cNvSpPr/>
          <p:nvPr/>
        </p:nvSpPr>
        <p:spPr>
          <a:xfrm>
            <a:off x="5943600" y="4724400"/>
            <a:ext cx="2057400" cy="381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6213216" y="4643735"/>
            <a:ext cx="1463862" cy="461665"/>
          </a:xfrm>
          <a:prstGeom prst="rect">
            <a:avLst/>
          </a:prstGeom>
          <a:noFill/>
        </p:spPr>
        <p:txBody>
          <a:bodyPr wrap="none" rtlCol="0">
            <a:spAutoFit/>
          </a:bodyPr>
          <a:lstStyle/>
          <a:p>
            <a:r>
              <a:rPr lang="en-US" sz="2400" dirty="0" smtClean="0">
                <a:latin typeface="Times New Roman" pitchFamily="18" charset="0"/>
                <a:cs typeface="Times New Roman" pitchFamily="18" charset="0"/>
              </a:rPr>
              <a:t>Placement</a:t>
            </a:r>
            <a:endParaRPr lang="en-US" sz="2400" dirty="0">
              <a:latin typeface="Times New Roman" pitchFamily="18" charset="0"/>
              <a:cs typeface="Times New Roman" pitchFamily="18" charset="0"/>
            </a:endParaRPr>
          </a:p>
        </p:txBody>
      </p:sp>
      <p:sp>
        <p:nvSpPr>
          <p:cNvPr id="11" name="Rectangle 10"/>
          <p:cNvSpPr/>
          <p:nvPr/>
        </p:nvSpPr>
        <p:spPr>
          <a:xfrm>
            <a:off x="5791200" y="5791200"/>
            <a:ext cx="2514600" cy="381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5715000" y="5786735"/>
            <a:ext cx="2661306" cy="461665"/>
          </a:xfrm>
          <a:prstGeom prst="rect">
            <a:avLst/>
          </a:prstGeom>
          <a:noFill/>
        </p:spPr>
        <p:txBody>
          <a:bodyPr wrap="none" rtlCol="0">
            <a:spAutoFit/>
          </a:bodyPr>
          <a:lstStyle/>
          <a:p>
            <a:r>
              <a:rPr lang="en-US" sz="2400" dirty="0" smtClean="0">
                <a:latin typeface="Times New Roman" pitchFamily="18" charset="0"/>
                <a:cs typeface="Times New Roman" pitchFamily="18" charset="0"/>
              </a:rPr>
              <a:t>Clock tree synthesis</a:t>
            </a:r>
            <a:endParaRPr lang="en-US" sz="2400" dirty="0">
              <a:latin typeface="Times New Roman" pitchFamily="18" charset="0"/>
              <a:cs typeface="Times New Roman" pitchFamily="18" charset="0"/>
            </a:endParaRPr>
          </a:p>
        </p:txBody>
      </p:sp>
      <p:sp>
        <p:nvSpPr>
          <p:cNvPr id="13" name="Rectangle 12"/>
          <p:cNvSpPr/>
          <p:nvPr/>
        </p:nvSpPr>
        <p:spPr>
          <a:xfrm>
            <a:off x="3200400" y="5791200"/>
            <a:ext cx="2057400" cy="381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3200400" y="5706070"/>
            <a:ext cx="2037737" cy="461665"/>
          </a:xfrm>
          <a:prstGeom prst="rect">
            <a:avLst/>
          </a:prstGeom>
          <a:noFill/>
        </p:spPr>
        <p:txBody>
          <a:bodyPr wrap="none" rtlCol="0">
            <a:spAutoFit/>
          </a:bodyPr>
          <a:lstStyle/>
          <a:p>
            <a:r>
              <a:rPr lang="en-US" sz="2400" dirty="0" smtClean="0">
                <a:latin typeface="Times New Roman" pitchFamily="18" charset="0"/>
                <a:cs typeface="Times New Roman" pitchFamily="18" charset="0"/>
              </a:rPr>
              <a:t>Signal Routing</a:t>
            </a:r>
            <a:endParaRPr lang="en-US" sz="2400" dirty="0">
              <a:latin typeface="Times New Roman" pitchFamily="18" charset="0"/>
              <a:cs typeface="Times New Roman" pitchFamily="18" charset="0"/>
            </a:endParaRPr>
          </a:p>
        </p:txBody>
      </p:sp>
      <p:sp>
        <p:nvSpPr>
          <p:cNvPr id="15" name="Rectangle 14"/>
          <p:cNvSpPr/>
          <p:nvPr/>
        </p:nvSpPr>
        <p:spPr>
          <a:xfrm>
            <a:off x="685800" y="5715000"/>
            <a:ext cx="2057400" cy="381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685800" y="5706070"/>
            <a:ext cx="2042932" cy="461665"/>
          </a:xfrm>
          <a:prstGeom prst="rect">
            <a:avLst/>
          </a:prstGeom>
          <a:noFill/>
        </p:spPr>
        <p:txBody>
          <a:bodyPr wrap="none" rtlCol="0">
            <a:spAutoFit/>
          </a:bodyPr>
          <a:lstStyle/>
          <a:p>
            <a:r>
              <a:rPr lang="en-US" sz="2400" dirty="0" smtClean="0">
                <a:latin typeface="Times New Roman" pitchFamily="18" charset="0"/>
                <a:cs typeface="Times New Roman" pitchFamily="18" charset="0"/>
              </a:rPr>
              <a:t>Timing closure</a:t>
            </a:r>
            <a:endParaRPr lang="en-US" sz="2400" dirty="0">
              <a:latin typeface="Times New Roman" pitchFamily="18" charset="0"/>
              <a:cs typeface="Times New Roman" pitchFamily="18" charset="0"/>
            </a:endParaRPr>
          </a:p>
        </p:txBody>
      </p:sp>
      <p:cxnSp>
        <p:nvCxnSpPr>
          <p:cNvPr id="17" name="Straight Arrow Connector 16"/>
          <p:cNvCxnSpPr/>
          <p:nvPr/>
        </p:nvCxnSpPr>
        <p:spPr>
          <a:xfrm>
            <a:off x="2895600" y="4948535"/>
            <a:ext cx="381000"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5562600" y="4948535"/>
            <a:ext cx="381000"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7010400" y="5177135"/>
            <a:ext cx="0" cy="60960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a:off x="5334000" y="6015335"/>
            <a:ext cx="304800"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a:off x="2819400" y="6015335"/>
            <a:ext cx="304800"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2" name="Title 1"/>
          <p:cNvSpPr>
            <a:spLocks noGrp="1"/>
          </p:cNvSpPr>
          <p:nvPr>
            <p:ph type="title"/>
          </p:nvPr>
        </p:nvSpPr>
        <p:spPr>
          <a:xfrm>
            <a:off x="1562668" y="206643"/>
            <a:ext cx="10515600" cy="1325563"/>
          </a:xfrm>
        </p:spPr>
        <p:txBody>
          <a:bodyPr/>
          <a:lstStyle/>
          <a:p>
            <a:r>
              <a:rPr lang="en-US" dirty="0" smtClean="0"/>
              <a:t>Physical Design</a:t>
            </a:r>
            <a:endParaRPr lang="en-US" dirty="0"/>
          </a:p>
        </p:txBody>
      </p:sp>
      <p:pic>
        <p:nvPicPr>
          <p:cNvPr id="23" name="Picture 2" descr="KL Deemed to be University Logo"/>
          <p:cNvPicPr>
            <a:picLocks noChangeAspect="1" noChangeArrowheads="1"/>
          </p:cNvPicPr>
          <p:nvPr/>
        </p:nvPicPr>
        <p:blipFill>
          <a:blip r:embed="rId2"/>
          <a:srcRect/>
          <a:stretch>
            <a:fillRect/>
          </a:stretch>
        </p:blipFill>
        <p:spPr bwMode="auto">
          <a:xfrm>
            <a:off x="39095" y="269349"/>
            <a:ext cx="1990725" cy="600076"/>
          </a:xfrm>
          <a:prstGeom prst="rect">
            <a:avLst/>
          </a:prstGeom>
          <a:noFill/>
        </p:spPr>
      </p:pic>
    </p:spTree>
    <p:extLst>
      <p:ext uri="{BB962C8B-B14F-4D97-AF65-F5344CB8AC3E}">
        <p14:creationId xmlns:p14="http://schemas.microsoft.com/office/powerpoint/2010/main" val="21867672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txBox="1">
            <a:spLocks/>
          </p:cNvSpPr>
          <p:nvPr/>
        </p:nvSpPr>
        <p:spPr>
          <a:xfrm>
            <a:off x="533399" y="609600"/>
            <a:ext cx="11203675" cy="5943600"/>
          </a:xfrm>
          <a:prstGeom prst="rect">
            <a:avLst/>
          </a:prstGeom>
        </p:spPr>
        <p:txBody>
          <a:bodyPr vert="horz" lIns="91440" tIns="45720" rIns="91440" bIns="45720" rtlCol="0" anchor="t">
            <a:normAutofit/>
          </a:bodyPr>
          <a:lstStyle>
            <a:lvl1pPr marL="0" indent="0" algn="l" defTabSz="914400" rtl="0" eaLnBrk="1" latinLnBrk="0" hangingPunct="1">
              <a:spcBef>
                <a:spcPct val="20000"/>
              </a:spcBef>
              <a:buClr>
                <a:schemeClr val="accent1"/>
              </a:buClr>
              <a:buSzPct val="76000"/>
              <a:buFont typeface="Wingdings 2" pitchFamily="18" charset="2"/>
              <a:buNone/>
              <a:defRPr sz="2000" kern="1200">
                <a:solidFill>
                  <a:schemeClr val="tx1">
                    <a:tint val="75000"/>
                  </a:schemeClr>
                </a:solidFill>
                <a:latin typeface="+mn-lt"/>
                <a:ea typeface="+mn-ea"/>
                <a:cs typeface="+mn-cs"/>
              </a:defRPr>
            </a:lvl1pPr>
            <a:lvl2pPr marL="457200" indent="0" algn="l" defTabSz="914400" rtl="0" eaLnBrk="1" latinLnBrk="0" hangingPunct="1">
              <a:spcBef>
                <a:spcPct val="20000"/>
              </a:spcBef>
              <a:buClr>
                <a:schemeClr val="accent1"/>
              </a:buClr>
              <a:buSzPct val="76000"/>
              <a:buFont typeface="Wingdings 2" pitchFamily="18" charset="2"/>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Clr>
                <a:schemeClr val="accent1"/>
              </a:buClr>
              <a:buSzPct val="76000"/>
              <a:buFont typeface="Wingdings 2" pitchFamily="18" charset="2"/>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Clr>
                <a:schemeClr val="accent1"/>
              </a:buClr>
              <a:buSzPct val="76000"/>
              <a:buFont typeface="Wingdings 2" pitchFamily="18" charset="2"/>
              <a:buNone/>
              <a:defRPr sz="1400" kern="1200" baseline="0">
                <a:solidFill>
                  <a:schemeClr val="tx1">
                    <a:tint val="75000"/>
                  </a:schemeClr>
                </a:solidFill>
                <a:latin typeface="+mn-lt"/>
                <a:ea typeface="+mn-ea"/>
                <a:cs typeface="+mn-cs"/>
              </a:defRPr>
            </a:lvl5pPr>
            <a:lvl6pPr marL="22860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9pPr>
          </a:lstStyle>
          <a:p>
            <a:pPr algn="just">
              <a:buFont typeface="Wingdings" pitchFamily="2" charset="2"/>
              <a:buChar char="Ø"/>
            </a:pPr>
            <a:endParaRPr lang="en-US" dirty="0" smtClean="0">
              <a:solidFill>
                <a:schemeClr val="tx1"/>
              </a:solidFill>
              <a:latin typeface="Times New Roman" pitchFamily="18" charset="0"/>
              <a:cs typeface="Times New Roman" pitchFamily="18" charset="0"/>
            </a:endParaRPr>
          </a:p>
          <a:p>
            <a:pPr algn="just"/>
            <a:r>
              <a:rPr lang="en-US" dirty="0" smtClean="0">
                <a:solidFill>
                  <a:schemeClr val="tx1"/>
                </a:solidFill>
                <a:latin typeface="Times New Roman" pitchFamily="18" charset="0"/>
                <a:cs typeface="Times New Roman" pitchFamily="18" charset="0"/>
              </a:rPr>
              <a:t>After </a:t>
            </a:r>
            <a:r>
              <a:rPr lang="en-US" dirty="0">
                <a:solidFill>
                  <a:schemeClr val="tx1"/>
                </a:solidFill>
                <a:latin typeface="Times New Roman" pitchFamily="18" charset="0"/>
                <a:cs typeface="Times New Roman" pitchFamily="18" charset="0"/>
              </a:rPr>
              <a:t>layout and verification, the design is ready for fabrication. Since layout data </a:t>
            </a:r>
            <a:r>
              <a:rPr lang="en-US" dirty="0" smtClean="0">
                <a:solidFill>
                  <a:schemeClr val="tx1"/>
                </a:solidFill>
                <a:latin typeface="Times New Roman" pitchFamily="18" charset="0"/>
                <a:cs typeface="Times New Roman" pitchFamily="18" charset="0"/>
              </a:rPr>
              <a:t>is typically </a:t>
            </a:r>
            <a:r>
              <a:rPr lang="en-US" dirty="0">
                <a:solidFill>
                  <a:schemeClr val="tx1"/>
                </a:solidFill>
                <a:latin typeface="Times New Roman" pitchFamily="18" charset="0"/>
                <a:cs typeface="Times New Roman" pitchFamily="18" charset="0"/>
              </a:rPr>
              <a:t>sent to fabrication on a tape, the event of release of data is called Tape Out</a:t>
            </a:r>
            <a:r>
              <a:rPr lang="en-US" dirty="0" smtClean="0">
                <a:solidFill>
                  <a:schemeClr val="tx1"/>
                </a:solidFill>
                <a:latin typeface="Times New Roman" pitchFamily="18" charset="0"/>
                <a:cs typeface="Times New Roman" pitchFamily="18" charset="0"/>
              </a:rPr>
              <a:t>.</a:t>
            </a:r>
          </a:p>
          <a:p>
            <a:pPr algn="just">
              <a:buFont typeface="Wingdings" pitchFamily="2" charset="2"/>
              <a:buChar char="Ø"/>
            </a:pPr>
            <a:r>
              <a:rPr lang="en-US" sz="2400" b="1" dirty="0" smtClean="0">
                <a:solidFill>
                  <a:srgbClr val="0070C0"/>
                </a:solidFill>
                <a:latin typeface="Times New Roman" pitchFamily="18" charset="0"/>
                <a:cs typeface="Times New Roman" pitchFamily="18" charset="0"/>
              </a:rPr>
              <a:t>GDS II Steps:</a:t>
            </a:r>
          </a:p>
          <a:p>
            <a:pPr algn="just">
              <a:buFont typeface="Wingdings" pitchFamily="2" charset="2"/>
              <a:buChar char="Ø"/>
            </a:pPr>
            <a:endParaRPr lang="en-US" sz="2400" dirty="0" smtClean="0">
              <a:solidFill>
                <a:srgbClr val="0070C0"/>
              </a:solidFill>
              <a:latin typeface="Times New Roman" pitchFamily="18" charset="0"/>
              <a:cs typeface="Times New Roman" pitchFamily="18" charset="0"/>
            </a:endParaRPr>
          </a:p>
          <a:p>
            <a:pPr algn="just"/>
            <a:endParaRPr lang="en-US" sz="2400" dirty="0" smtClean="0">
              <a:solidFill>
                <a:schemeClr val="tx1"/>
              </a:solidFill>
              <a:latin typeface="Times New Roman" pitchFamily="18" charset="0"/>
              <a:cs typeface="Times New Roman" pitchFamily="18" charset="0"/>
            </a:endParaRPr>
          </a:p>
          <a:p>
            <a:pPr algn="just">
              <a:buFont typeface="Wingdings" pitchFamily="2" charset="2"/>
              <a:buChar char="Ø"/>
            </a:pPr>
            <a:endParaRPr lang="en-US" dirty="0" smtClean="0">
              <a:solidFill>
                <a:schemeClr val="tx1"/>
              </a:solidFill>
              <a:latin typeface="Times New Roman" pitchFamily="18" charset="0"/>
              <a:cs typeface="Times New Roman" pitchFamily="18" charset="0"/>
            </a:endParaRPr>
          </a:p>
        </p:txBody>
      </p:sp>
      <p:sp>
        <p:nvSpPr>
          <p:cNvPr id="5" name="Rectangle 4"/>
          <p:cNvSpPr/>
          <p:nvPr/>
        </p:nvSpPr>
        <p:spPr>
          <a:xfrm>
            <a:off x="838200" y="2667000"/>
            <a:ext cx="1828800" cy="381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914400" y="2667000"/>
            <a:ext cx="1620957" cy="400110"/>
          </a:xfrm>
          <a:prstGeom prst="rect">
            <a:avLst/>
          </a:prstGeom>
          <a:noFill/>
        </p:spPr>
        <p:txBody>
          <a:bodyPr wrap="none" rtlCol="0">
            <a:spAutoFit/>
          </a:bodyPr>
          <a:lstStyle/>
          <a:p>
            <a:r>
              <a:rPr lang="en-US" sz="2000" dirty="0" smtClean="0">
                <a:latin typeface="Times New Roman" pitchFamily="18" charset="0"/>
                <a:cs typeface="Times New Roman" pitchFamily="18" charset="0"/>
              </a:rPr>
              <a:t>System specs</a:t>
            </a:r>
            <a:r>
              <a:rPr lang="en-US" dirty="0" smtClean="0"/>
              <a:t>.</a:t>
            </a:r>
            <a:endParaRPr lang="en-US" dirty="0"/>
          </a:p>
        </p:txBody>
      </p:sp>
      <p:sp>
        <p:nvSpPr>
          <p:cNvPr id="7" name="Rectangle 6"/>
          <p:cNvSpPr/>
          <p:nvPr/>
        </p:nvSpPr>
        <p:spPr>
          <a:xfrm>
            <a:off x="838200" y="3333690"/>
            <a:ext cx="1828800" cy="70491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914400" y="3333690"/>
            <a:ext cx="1526380" cy="707886"/>
          </a:xfrm>
          <a:prstGeom prst="rect">
            <a:avLst/>
          </a:prstGeom>
          <a:noFill/>
        </p:spPr>
        <p:txBody>
          <a:bodyPr wrap="none" rtlCol="0">
            <a:spAutoFit/>
          </a:bodyPr>
          <a:lstStyle/>
          <a:p>
            <a:r>
              <a:rPr lang="en-US" sz="2000" dirty="0" smtClean="0">
                <a:latin typeface="Times New Roman" pitchFamily="18" charset="0"/>
                <a:cs typeface="Times New Roman" pitchFamily="18" charset="0"/>
              </a:rPr>
              <a:t>Pin out and</a:t>
            </a:r>
          </a:p>
          <a:p>
            <a:r>
              <a:rPr lang="en-US" sz="2000" dirty="0" smtClean="0">
                <a:latin typeface="Times New Roman" pitchFamily="18" charset="0"/>
                <a:cs typeface="Times New Roman" pitchFamily="18" charset="0"/>
              </a:rPr>
              <a:t>area estimate</a:t>
            </a:r>
            <a:endParaRPr lang="en-US" dirty="0"/>
          </a:p>
        </p:txBody>
      </p:sp>
      <p:sp>
        <p:nvSpPr>
          <p:cNvPr id="9" name="Rectangle 8"/>
          <p:cNvSpPr/>
          <p:nvPr/>
        </p:nvSpPr>
        <p:spPr>
          <a:xfrm>
            <a:off x="838200" y="4321314"/>
            <a:ext cx="2209800" cy="70491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789048" y="4267200"/>
            <a:ext cx="2182008" cy="707886"/>
          </a:xfrm>
          <a:prstGeom prst="rect">
            <a:avLst/>
          </a:prstGeom>
          <a:noFill/>
        </p:spPr>
        <p:txBody>
          <a:bodyPr wrap="none" rtlCol="0">
            <a:spAutoFit/>
          </a:bodyPr>
          <a:lstStyle/>
          <a:p>
            <a:r>
              <a:rPr lang="en-US" sz="2000" dirty="0" smtClean="0">
                <a:latin typeface="Times New Roman" pitchFamily="18" charset="0"/>
                <a:cs typeface="Times New Roman" pitchFamily="18" charset="0"/>
              </a:rPr>
              <a:t>VLSI design flow</a:t>
            </a:r>
          </a:p>
          <a:p>
            <a:r>
              <a:rPr lang="en-US" sz="2000" dirty="0" smtClean="0">
                <a:latin typeface="Times New Roman" pitchFamily="18" charset="0"/>
                <a:cs typeface="Times New Roman" pitchFamily="18" charset="0"/>
              </a:rPr>
              <a:t>(up to logic design)</a:t>
            </a:r>
            <a:endParaRPr lang="en-US" dirty="0"/>
          </a:p>
        </p:txBody>
      </p:sp>
      <p:sp>
        <p:nvSpPr>
          <p:cNvPr id="11" name="Rectangle 10"/>
          <p:cNvSpPr/>
          <p:nvPr/>
        </p:nvSpPr>
        <p:spPr>
          <a:xfrm>
            <a:off x="838200" y="5311914"/>
            <a:ext cx="1828800" cy="70491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914400" y="5311914"/>
            <a:ext cx="1526380" cy="707886"/>
          </a:xfrm>
          <a:prstGeom prst="rect">
            <a:avLst/>
          </a:prstGeom>
          <a:noFill/>
        </p:spPr>
        <p:txBody>
          <a:bodyPr wrap="none" rtlCol="0">
            <a:spAutoFit/>
          </a:bodyPr>
          <a:lstStyle/>
          <a:p>
            <a:r>
              <a:rPr lang="en-US" sz="2000" dirty="0" smtClean="0">
                <a:latin typeface="Times New Roman" pitchFamily="18" charset="0"/>
                <a:cs typeface="Times New Roman" pitchFamily="18" charset="0"/>
              </a:rPr>
              <a:t>Pin out and</a:t>
            </a:r>
          </a:p>
          <a:p>
            <a:r>
              <a:rPr lang="en-US" sz="2000" dirty="0" smtClean="0">
                <a:latin typeface="Times New Roman" pitchFamily="18" charset="0"/>
                <a:cs typeface="Times New Roman" pitchFamily="18" charset="0"/>
              </a:rPr>
              <a:t>area estimate</a:t>
            </a:r>
            <a:endParaRPr lang="en-US" dirty="0"/>
          </a:p>
        </p:txBody>
      </p:sp>
      <p:sp>
        <p:nvSpPr>
          <p:cNvPr id="13" name="Rectangle 12"/>
          <p:cNvSpPr/>
          <p:nvPr/>
        </p:nvSpPr>
        <p:spPr>
          <a:xfrm>
            <a:off x="3431003" y="2568714"/>
            <a:ext cx="1588120" cy="70491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3381851" y="2514600"/>
            <a:ext cx="1723549" cy="707886"/>
          </a:xfrm>
          <a:prstGeom prst="rect">
            <a:avLst/>
          </a:prstGeom>
          <a:noFill/>
        </p:spPr>
        <p:txBody>
          <a:bodyPr wrap="none" rtlCol="0">
            <a:spAutoFit/>
          </a:bodyPr>
          <a:lstStyle/>
          <a:p>
            <a:r>
              <a:rPr lang="en-US" sz="2000" dirty="0" smtClean="0">
                <a:latin typeface="Times New Roman" pitchFamily="18" charset="0"/>
                <a:cs typeface="Times New Roman" pitchFamily="18" charset="0"/>
              </a:rPr>
              <a:t>Add bond wire</a:t>
            </a:r>
          </a:p>
          <a:p>
            <a:r>
              <a:rPr lang="en-US" sz="2000" dirty="0" smtClean="0">
                <a:latin typeface="Times New Roman" pitchFamily="18" charset="0"/>
                <a:cs typeface="Times New Roman" pitchFamily="18" charset="0"/>
              </a:rPr>
              <a:t> in top module</a:t>
            </a:r>
          </a:p>
        </p:txBody>
      </p:sp>
      <p:sp>
        <p:nvSpPr>
          <p:cNvPr id="15" name="Rectangle 14"/>
          <p:cNvSpPr/>
          <p:nvPr/>
        </p:nvSpPr>
        <p:spPr>
          <a:xfrm>
            <a:off x="3478152" y="3638490"/>
            <a:ext cx="3303648" cy="70491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3429000" y="3584376"/>
            <a:ext cx="3547766" cy="707886"/>
          </a:xfrm>
          <a:prstGeom prst="rect">
            <a:avLst/>
          </a:prstGeom>
          <a:noFill/>
        </p:spPr>
        <p:txBody>
          <a:bodyPr wrap="none" rtlCol="0">
            <a:spAutoFit/>
          </a:bodyPr>
          <a:lstStyle/>
          <a:p>
            <a:r>
              <a:rPr lang="en-US" sz="2000" dirty="0" smtClean="0">
                <a:latin typeface="Times New Roman" pitchFamily="18" charset="0"/>
                <a:cs typeface="Times New Roman" pitchFamily="18" charset="0"/>
              </a:rPr>
              <a:t>Interconnect top module blocks, </a:t>
            </a:r>
          </a:p>
          <a:p>
            <a:r>
              <a:rPr lang="en-US" sz="2000" dirty="0" smtClean="0">
                <a:latin typeface="Times New Roman" pitchFamily="18" charset="0"/>
                <a:cs typeface="Times New Roman" pitchFamily="18" charset="0"/>
              </a:rPr>
              <a:t>apply shields and guard rings</a:t>
            </a:r>
          </a:p>
        </p:txBody>
      </p:sp>
      <p:sp>
        <p:nvSpPr>
          <p:cNvPr id="17" name="Rectangle 16"/>
          <p:cNvSpPr/>
          <p:nvPr/>
        </p:nvSpPr>
        <p:spPr>
          <a:xfrm>
            <a:off x="3505200" y="4626114"/>
            <a:ext cx="990600" cy="403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3581400" y="4626114"/>
            <a:ext cx="910827" cy="400110"/>
          </a:xfrm>
          <a:prstGeom prst="rect">
            <a:avLst/>
          </a:prstGeom>
          <a:noFill/>
        </p:spPr>
        <p:txBody>
          <a:bodyPr wrap="none" rtlCol="0">
            <a:spAutoFit/>
          </a:bodyPr>
          <a:lstStyle/>
          <a:p>
            <a:r>
              <a:rPr lang="en-US" sz="2000" dirty="0" smtClean="0">
                <a:latin typeface="Times New Roman" pitchFamily="18" charset="0"/>
                <a:cs typeface="Times New Roman" pitchFamily="18" charset="0"/>
              </a:rPr>
              <a:t>Layout</a:t>
            </a:r>
            <a:endParaRPr lang="en-US" dirty="0"/>
          </a:p>
        </p:txBody>
      </p:sp>
      <p:sp>
        <p:nvSpPr>
          <p:cNvPr id="19" name="Rectangle 18"/>
          <p:cNvSpPr/>
          <p:nvPr/>
        </p:nvSpPr>
        <p:spPr>
          <a:xfrm>
            <a:off x="3505200" y="5257800"/>
            <a:ext cx="1828800" cy="70491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581400" y="5257800"/>
            <a:ext cx="1510350" cy="707886"/>
          </a:xfrm>
          <a:prstGeom prst="rect">
            <a:avLst/>
          </a:prstGeom>
          <a:noFill/>
        </p:spPr>
        <p:txBody>
          <a:bodyPr wrap="none" rtlCol="0">
            <a:spAutoFit/>
          </a:bodyPr>
          <a:lstStyle/>
          <a:p>
            <a:r>
              <a:rPr lang="en-US" sz="2000" dirty="0" smtClean="0">
                <a:latin typeface="Times New Roman" pitchFamily="18" charset="0"/>
                <a:cs typeface="Times New Roman" pitchFamily="18" charset="0"/>
              </a:rPr>
              <a:t>Add Decaps </a:t>
            </a:r>
          </a:p>
          <a:p>
            <a:r>
              <a:rPr lang="en-US" sz="2000" dirty="0" smtClean="0">
                <a:latin typeface="Times New Roman" pitchFamily="18" charset="0"/>
                <a:cs typeface="Times New Roman" pitchFamily="18" charset="0"/>
              </a:rPr>
              <a:t>and ESD</a:t>
            </a:r>
            <a:endParaRPr lang="en-US" dirty="0"/>
          </a:p>
        </p:txBody>
      </p:sp>
      <p:sp>
        <p:nvSpPr>
          <p:cNvPr id="21" name="Rectangle 20"/>
          <p:cNvSpPr/>
          <p:nvPr/>
        </p:nvSpPr>
        <p:spPr>
          <a:xfrm>
            <a:off x="7010400" y="2590800"/>
            <a:ext cx="1600200" cy="1066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7010400" y="2590800"/>
            <a:ext cx="1736373" cy="1015663"/>
          </a:xfrm>
          <a:prstGeom prst="rect">
            <a:avLst/>
          </a:prstGeom>
          <a:noFill/>
        </p:spPr>
        <p:txBody>
          <a:bodyPr wrap="none" rtlCol="0">
            <a:spAutoFit/>
          </a:bodyPr>
          <a:lstStyle/>
          <a:p>
            <a:r>
              <a:rPr lang="en-US" sz="2000" dirty="0" smtClean="0">
                <a:latin typeface="Times New Roman" pitchFamily="18" charset="0"/>
                <a:cs typeface="Times New Roman" pitchFamily="18" charset="0"/>
              </a:rPr>
              <a:t>Add dummy &amp;</a:t>
            </a:r>
          </a:p>
          <a:p>
            <a:r>
              <a:rPr lang="en-US" sz="2000" dirty="0" smtClean="0">
                <a:latin typeface="Times New Roman" pitchFamily="18" charset="0"/>
                <a:cs typeface="Times New Roman" pitchFamily="18" charset="0"/>
              </a:rPr>
              <a:t>Slot blocking </a:t>
            </a:r>
          </a:p>
          <a:p>
            <a:r>
              <a:rPr lang="en-US" sz="2000" dirty="0" smtClean="0">
                <a:latin typeface="Times New Roman" pitchFamily="18" charset="0"/>
                <a:cs typeface="Times New Roman" pitchFamily="18" charset="0"/>
              </a:rPr>
              <a:t>layer</a:t>
            </a:r>
            <a:endParaRPr lang="en-US" dirty="0"/>
          </a:p>
        </p:txBody>
      </p:sp>
      <p:sp>
        <p:nvSpPr>
          <p:cNvPr id="23" name="Rectangle 22"/>
          <p:cNvSpPr/>
          <p:nvPr/>
        </p:nvSpPr>
        <p:spPr>
          <a:xfrm>
            <a:off x="7010400" y="4495800"/>
            <a:ext cx="1600200" cy="70491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7391400" y="4648200"/>
            <a:ext cx="933269" cy="400110"/>
          </a:xfrm>
          <a:prstGeom prst="rect">
            <a:avLst/>
          </a:prstGeom>
          <a:noFill/>
        </p:spPr>
        <p:txBody>
          <a:bodyPr wrap="none" rtlCol="0">
            <a:spAutoFit/>
          </a:bodyPr>
          <a:lstStyle/>
          <a:p>
            <a:r>
              <a:rPr lang="en-US" sz="2000" dirty="0" smtClean="0">
                <a:latin typeface="Times New Roman" pitchFamily="18" charset="0"/>
                <a:cs typeface="Times New Roman" pitchFamily="18" charset="0"/>
              </a:rPr>
              <a:t>GDS II</a:t>
            </a:r>
            <a:endParaRPr lang="en-US" dirty="0"/>
          </a:p>
        </p:txBody>
      </p:sp>
      <p:sp>
        <p:nvSpPr>
          <p:cNvPr id="25" name="Rectangle 24"/>
          <p:cNvSpPr/>
          <p:nvPr/>
        </p:nvSpPr>
        <p:spPr>
          <a:xfrm>
            <a:off x="7010400" y="5619690"/>
            <a:ext cx="1600200" cy="70491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7391400" y="5772090"/>
            <a:ext cx="1053494" cy="400110"/>
          </a:xfrm>
          <a:prstGeom prst="rect">
            <a:avLst/>
          </a:prstGeom>
          <a:noFill/>
        </p:spPr>
        <p:txBody>
          <a:bodyPr wrap="none" rtlCol="0">
            <a:spAutoFit/>
          </a:bodyPr>
          <a:lstStyle/>
          <a:p>
            <a:r>
              <a:rPr lang="en-US" sz="2000" dirty="0" smtClean="0">
                <a:latin typeface="Times New Roman" pitchFamily="18" charset="0"/>
                <a:cs typeface="Times New Roman" pitchFamily="18" charset="0"/>
              </a:rPr>
              <a:t>Foundry</a:t>
            </a:r>
            <a:endParaRPr lang="en-US" dirty="0"/>
          </a:p>
        </p:txBody>
      </p:sp>
      <p:cxnSp>
        <p:nvCxnSpPr>
          <p:cNvPr id="27" name="Straight Arrow Connector 26"/>
          <p:cNvCxnSpPr/>
          <p:nvPr/>
        </p:nvCxnSpPr>
        <p:spPr>
          <a:xfrm>
            <a:off x="1752600" y="3048000"/>
            <a:ext cx="0" cy="22860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1752600" y="4038600"/>
            <a:ext cx="0" cy="22860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1752600" y="5029200"/>
            <a:ext cx="0" cy="22860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3886200" y="2362200"/>
            <a:ext cx="0" cy="22860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752600" y="6096000"/>
            <a:ext cx="0" cy="15240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1752600" y="6248400"/>
            <a:ext cx="14478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3200400" y="2362200"/>
            <a:ext cx="0" cy="388620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3200400" y="2362200"/>
            <a:ext cx="6858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3886200" y="3276600"/>
            <a:ext cx="0" cy="38100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3886200" y="4343400"/>
            <a:ext cx="0" cy="22860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3886200" y="5029200"/>
            <a:ext cx="0" cy="22860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7620000" y="2362200"/>
            <a:ext cx="0" cy="22860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3886200" y="6019800"/>
            <a:ext cx="0" cy="22860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3886200" y="6248400"/>
            <a:ext cx="30480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6934200" y="2362200"/>
            <a:ext cx="0" cy="388620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6934200" y="2362200"/>
            <a:ext cx="6858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7620000" y="3657600"/>
            <a:ext cx="0" cy="76200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7620000" y="5181600"/>
            <a:ext cx="0" cy="38100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5" name="Title 1"/>
          <p:cNvSpPr>
            <a:spLocks noGrp="1"/>
          </p:cNvSpPr>
          <p:nvPr>
            <p:ph type="title"/>
          </p:nvPr>
        </p:nvSpPr>
        <p:spPr>
          <a:xfrm>
            <a:off x="1562668" y="206643"/>
            <a:ext cx="10515600" cy="1325563"/>
          </a:xfrm>
        </p:spPr>
        <p:txBody>
          <a:bodyPr/>
          <a:lstStyle/>
          <a:p>
            <a:r>
              <a:rPr lang="en-US" dirty="0" smtClean="0"/>
              <a:t>GDS II Generation </a:t>
            </a:r>
            <a:endParaRPr lang="en-US" dirty="0"/>
          </a:p>
        </p:txBody>
      </p:sp>
      <p:pic>
        <p:nvPicPr>
          <p:cNvPr id="46" name="Picture 2" descr="KL Deemed to be University Logo"/>
          <p:cNvPicPr>
            <a:picLocks noChangeAspect="1" noChangeArrowheads="1"/>
          </p:cNvPicPr>
          <p:nvPr/>
        </p:nvPicPr>
        <p:blipFill>
          <a:blip r:embed="rId2"/>
          <a:srcRect/>
          <a:stretch>
            <a:fillRect/>
          </a:stretch>
        </p:blipFill>
        <p:spPr bwMode="auto">
          <a:xfrm>
            <a:off x="39095" y="269349"/>
            <a:ext cx="1990725" cy="600076"/>
          </a:xfrm>
          <a:prstGeom prst="rect">
            <a:avLst/>
          </a:prstGeom>
          <a:noFill/>
        </p:spPr>
      </p:pic>
    </p:spTree>
    <p:extLst>
      <p:ext uri="{BB962C8B-B14F-4D97-AF65-F5344CB8AC3E}">
        <p14:creationId xmlns:p14="http://schemas.microsoft.com/office/powerpoint/2010/main" val="7188394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06643"/>
            <a:ext cx="10515600" cy="1325563"/>
          </a:xfrm>
        </p:spPr>
        <p:txBody>
          <a:bodyPr/>
          <a:lstStyle/>
          <a:p>
            <a:r>
              <a:rPr lang="en-US" dirty="0" smtClean="0"/>
              <a:t>Evolution of CAD Tools</a:t>
            </a:r>
            <a:endParaRPr lang="en-US" dirty="0"/>
          </a:p>
        </p:txBody>
      </p:sp>
      <p:pic>
        <p:nvPicPr>
          <p:cNvPr id="4" name="Picture 2" descr="KL Deemed to be University Logo"/>
          <p:cNvPicPr>
            <a:picLocks noChangeAspect="1" noChangeArrowheads="1"/>
          </p:cNvPicPr>
          <p:nvPr/>
        </p:nvPicPr>
        <p:blipFill>
          <a:blip r:embed="rId2"/>
          <a:srcRect/>
          <a:stretch>
            <a:fillRect/>
          </a:stretch>
        </p:blipFill>
        <p:spPr bwMode="auto">
          <a:xfrm>
            <a:off x="39095" y="269349"/>
            <a:ext cx="1990725" cy="600076"/>
          </a:xfrm>
          <a:prstGeom prst="rect">
            <a:avLst/>
          </a:prstGeom>
          <a:noFill/>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203" y="1288541"/>
            <a:ext cx="11010565" cy="3665595"/>
          </a:xfrm>
          <a:prstGeom prst="rect">
            <a:avLst/>
          </a:prstGeom>
        </p:spPr>
      </p:pic>
    </p:spTree>
    <p:extLst>
      <p:ext uri="{BB962C8B-B14F-4D97-AF65-F5344CB8AC3E}">
        <p14:creationId xmlns:p14="http://schemas.microsoft.com/office/powerpoint/2010/main" val="40415474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06643"/>
            <a:ext cx="10515600" cy="1325563"/>
          </a:xfrm>
        </p:spPr>
        <p:txBody>
          <a:bodyPr/>
          <a:lstStyle/>
          <a:p>
            <a:r>
              <a:rPr lang="en-US" dirty="0" smtClean="0"/>
              <a:t>Evolution of CAD Tools</a:t>
            </a:r>
            <a:endParaRPr lang="en-US" dirty="0"/>
          </a:p>
        </p:txBody>
      </p:sp>
      <p:pic>
        <p:nvPicPr>
          <p:cNvPr id="4" name="Picture 2" descr="KL Deemed to be University Logo"/>
          <p:cNvPicPr>
            <a:picLocks noChangeAspect="1" noChangeArrowheads="1"/>
          </p:cNvPicPr>
          <p:nvPr/>
        </p:nvPicPr>
        <p:blipFill>
          <a:blip r:embed="rId2"/>
          <a:srcRect/>
          <a:stretch>
            <a:fillRect/>
          </a:stretch>
        </p:blipFill>
        <p:spPr bwMode="auto">
          <a:xfrm>
            <a:off x="39095" y="269349"/>
            <a:ext cx="1990725" cy="600076"/>
          </a:xfrm>
          <a:prstGeom prst="rect">
            <a:avLst/>
          </a:prstGeom>
          <a:noFill/>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0154" y="1071631"/>
            <a:ext cx="11215149" cy="4455712"/>
          </a:xfrm>
          <a:prstGeom prst="rect">
            <a:avLst/>
          </a:prstGeom>
        </p:spPr>
      </p:pic>
    </p:spTree>
    <p:extLst>
      <p:ext uri="{BB962C8B-B14F-4D97-AF65-F5344CB8AC3E}">
        <p14:creationId xmlns:p14="http://schemas.microsoft.com/office/powerpoint/2010/main" val="26452137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18B84F3E-0BAB-4FEE-A20F-074E440ADCC6}"/>
              </a:ext>
            </a:extLst>
          </p:cNvPr>
          <p:cNvSpPr/>
          <p:nvPr/>
        </p:nvSpPr>
        <p:spPr>
          <a:xfrm>
            <a:off x="2103950" y="282109"/>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ACTIVITIES/ CASE STUDIES/ IMPORTANT FACTS RELATED TO THE SESSION</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1143000" y="1504798"/>
            <a:ext cx="10086536" cy="1615827"/>
          </a:xfrm>
          <a:prstGeom prst="rect">
            <a:avLst/>
          </a:prstGeom>
          <a:noFill/>
        </p:spPr>
        <p:txBody>
          <a:bodyPr wrap="square" rtlCol="0">
            <a:spAutoFit/>
          </a:bodyPr>
          <a:lstStyle/>
          <a:p>
            <a:r>
              <a:rPr lang="en-US" sz="1800" b="1" i="1" u="sng" dirty="0">
                <a:effectLst/>
                <a:latin typeface="Times New Roman" panose="02020603050405020304" pitchFamily="18" charset="0"/>
                <a:ea typeface="Calibri" panose="020F0502020204030204" pitchFamily="34" charset="0"/>
                <a:cs typeface="Times New Roman" panose="02020603050405020304" pitchFamily="18" charset="0"/>
              </a:rPr>
              <a:t>Activities:</a:t>
            </a:r>
          </a:p>
          <a:p>
            <a:pPr>
              <a:lnSpc>
                <a:spcPct val="150000"/>
              </a:lnSpc>
            </a:pPr>
            <a:r>
              <a:rPr lang="en-US" dirty="0"/>
              <a:t>"How has the evolution of CAD tools in VLSI impacted the design process and IC industry? Provide examples of key advancements and their influence on chip design, from manual processes to modern automated methodologies, showcasing the pivotal role of CAD tools in VLSI."</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56725308"/>
      </p:ext>
    </p:extLst>
  </p:cSld>
  <p:clrMapOvr>
    <a:masterClrMapping/>
  </p:clrMapOvr>
  <mc:AlternateContent xmlns:mc="http://schemas.openxmlformats.org/markup-compatibility/2006">
    <mc:Choice xmlns=""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533400" y="1066800"/>
            <a:ext cx="11353800" cy="614079"/>
          </a:xfrm>
          <a:prstGeom prst="rect">
            <a:avLst/>
          </a:prstGeom>
          <a:noFill/>
        </p:spPr>
        <p:txBody>
          <a:bodyPr wrap="square" rtlCol="0">
            <a:spAutoFit/>
          </a:bodyPr>
          <a:lstStyle/>
          <a:p>
            <a:pPr>
              <a:lnSpc>
                <a:spcPct val="200000"/>
              </a:lnSpc>
            </a:pPr>
            <a:r>
              <a:rPr lang="en-US" sz="2000" dirty="0" smtClean="0">
                <a:effectLst/>
                <a:latin typeface="Times New Roman" panose="02020603050405020304" pitchFamily="18" charset="0"/>
                <a:ea typeface="Calibri" panose="020F0502020204030204" pitchFamily="34" charset="0"/>
                <a:cs typeface="Times New Roman" panose="02020603050405020304" pitchFamily="18" charset="0"/>
              </a:rPr>
              <a:t>This session summarizes the overview of VLSI full custom design flow and evolution of CAD for VLSI</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4186997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 xmlns:a16="http://schemas.microsoft.com/office/drawing/2014/main" id="{AE3D0AA7-0A5F-7BD6-7BC7-1D38F326B8B4}"/>
              </a:ext>
            </a:extLst>
          </p:cNvPr>
          <p:cNvSpPr/>
          <p:nvPr/>
        </p:nvSpPr>
        <p:spPr>
          <a:xfrm>
            <a:off x="991966" y="814712"/>
            <a:ext cx="10172210" cy="1776088"/>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400" dirty="0" smtClean="0">
                <a:solidFill>
                  <a:schemeClr val="bg1"/>
                </a:solidFill>
                <a:latin typeface="Poppins" panose="00000500000000000000" pitchFamily="2" charset="0"/>
                <a:ea typeface="Calibri"/>
                <a:cs typeface="Poppins" panose="00000500000000000000" pitchFamily="2" charset="0"/>
                <a:sym typeface="Calibri"/>
              </a:rPr>
              <a:t>1. What </a:t>
            </a:r>
            <a:r>
              <a:rPr lang="en-US" sz="1400" dirty="0">
                <a:solidFill>
                  <a:schemeClr val="bg1"/>
                </a:solidFill>
                <a:latin typeface="Poppins" panose="00000500000000000000" pitchFamily="2" charset="0"/>
                <a:ea typeface="Calibri"/>
                <a:cs typeface="Poppins" panose="00000500000000000000" pitchFamily="2" charset="0"/>
                <a:sym typeface="Calibri"/>
              </a:rPr>
              <a:t>is a key characteristic of VLSI full custom design</a:t>
            </a:r>
            <a:r>
              <a:rPr lang="en-US" sz="1400" dirty="0" smtClean="0">
                <a:solidFill>
                  <a:schemeClr val="bg1"/>
                </a:solidFill>
                <a:latin typeface="Poppins" panose="00000500000000000000" pitchFamily="2" charset="0"/>
                <a:ea typeface="Calibri"/>
                <a:cs typeface="Poppins" panose="00000500000000000000" pitchFamily="2" charset="0"/>
                <a:sym typeface="Calibri"/>
              </a:rPr>
              <a:t>?</a:t>
            </a:r>
          </a:p>
          <a:p>
            <a:pPr lvl="0"/>
            <a:r>
              <a:rPr lang="en-US" sz="1400" dirty="0">
                <a:solidFill>
                  <a:schemeClr val="bg1"/>
                </a:solidFill>
                <a:latin typeface="Poppins" panose="00000500000000000000" pitchFamily="2" charset="0"/>
                <a:ea typeface="Calibri"/>
                <a:cs typeface="Poppins" panose="00000500000000000000" pitchFamily="2" charset="0"/>
                <a:sym typeface="Calibri"/>
              </a:rPr>
              <a:t>a) Relies extensively on pre-designed standard cells</a:t>
            </a:r>
          </a:p>
          <a:p>
            <a:pPr lvl="0"/>
            <a:r>
              <a:rPr lang="en-US" sz="1400" dirty="0">
                <a:solidFill>
                  <a:schemeClr val="bg1"/>
                </a:solidFill>
                <a:latin typeface="Poppins" panose="00000500000000000000" pitchFamily="2" charset="0"/>
                <a:ea typeface="Calibri"/>
                <a:cs typeface="Poppins" panose="00000500000000000000" pitchFamily="2" charset="0"/>
                <a:sym typeface="Calibri"/>
              </a:rPr>
              <a:t>b) </a:t>
            </a:r>
            <a:r>
              <a:rPr lang="en-US" sz="1400" b="1" dirty="0">
                <a:solidFill>
                  <a:schemeClr val="bg1"/>
                </a:solidFill>
                <a:latin typeface="Poppins" panose="00000500000000000000" pitchFamily="2" charset="0"/>
                <a:ea typeface="Calibri"/>
                <a:cs typeface="Poppins" panose="00000500000000000000" pitchFamily="2" charset="0"/>
                <a:sym typeface="Calibri"/>
              </a:rPr>
              <a:t>Involves designing custom layout for every transistor</a:t>
            </a:r>
          </a:p>
          <a:p>
            <a:pPr lvl="0"/>
            <a:r>
              <a:rPr lang="en-US" sz="1400" dirty="0">
                <a:solidFill>
                  <a:schemeClr val="bg1"/>
                </a:solidFill>
                <a:latin typeface="Poppins" panose="00000500000000000000" pitchFamily="2" charset="0"/>
                <a:ea typeface="Calibri"/>
                <a:cs typeface="Poppins" panose="00000500000000000000" pitchFamily="2" charset="0"/>
                <a:sym typeface="Calibri"/>
              </a:rPr>
              <a:t>c) Utilizes only fixed, predefined layout templates</a:t>
            </a:r>
          </a:p>
          <a:p>
            <a:pPr lvl="0"/>
            <a:r>
              <a:rPr lang="en-US" sz="1400" dirty="0">
                <a:solidFill>
                  <a:schemeClr val="bg1"/>
                </a:solidFill>
                <a:latin typeface="Poppins" panose="00000500000000000000" pitchFamily="2" charset="0"/>
                <a:ea typeface="Calibri"/>
                <a:cs typeface="Poppins" panose="00000500000000000000" pitchFamily="2" charset="0"/>
                <a:sym typeface="Calibri"/>
              </a:rPr>
              <a:t>d) Primarily focuses on high-level behavioral descriptions</a:t>
            </a:r>
            <a:endParaRPr sz="1400" dirty="0">
              <a:solidFill>
                <a:schemeClr val="bg1"/>
              </a:solidFill>
              <a:latin typeface="Poppins" panose="00000500000000000000" pitchFamily="2" charset="0"/>
              <a:ea typeface="Calibri"/>
              <a:cs typeface="Poppins" panose="00000500000000000000" pitchFamily="2" charset="0"/>
              <a:sym typeface="Calibri"/>
            </a:endParaRP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Google Shape;502;p17">
            <a:extLst>
              <a:ext uri="{FF2B5EF4-FFF2-40B4-BE49-F238E27FC236}">
                <a16:creationId xmlns="" xmlns:a16="http://schemas.microsoft.com/office/drawing/2014/main" id="{85A295FE-5838-D2E0-5A99-9F2C7B3953A7}"/>
              </a:ext>
            </a:extLst>
          </p:cNvPr>
          <p:cNvSpPr/>
          <p:nvPr/>
        </p:nvSpPr>
        <p:spPr>
          <a:xfrm>
            <a:off x="991966" y="2805436"/>
            <a:ext cx="10172210" cy="1604608"/>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400" dirty="0">
                <a:solidFill>
                  <a:schemeClr val="bg1"/>
                </a:solidFill>
                <a:latin typeface="Poppins" panose="00000500000000000000" pitchFamily="2" charset="0"/>
                <a:ea typeface="Calibri"/>
                <a:cs typeface="Poppins" panose="00000500000000000000" pitchFamily="2" charset="0"/>
                <a:sym typeface="Calibri"/>
              </a:rPr>
              <a:t>Which stage is involved in VLSI full custom design flow after logic design and before fabrication</a:t>
            </a:r>
            <a:r>
              <a:rPr lang="en-US" sz="1400" dirty="0" smtClean="0">
                <a:solidFill>
                  <a:schemeClr val="bg1"/>
                </a:solidFill>
                <a:latin typeface="Poppins" panose="00000500000000000000" pitchFamily="2" charset="0"/>
                <a:ea typeface="Calibri"/>
                <a:cs typeface="Poppins" panose="00000500000000000000" pitchFamily="2" charset="0"/>
                <a:sym typeface="Calibri"/>
              </a:rPr>
              <a:t>?</a:t>
            </a:r>
            <a:endParaRPr lang="en-US" sz="1400" dirty="0">
              <a:solidFill>
                <a:schemeClr val="bg1"/>
              </a:solidFill>
              <a:latin typeface="Poppins" panose="00000500000000000000" pitchFamily="2" charset="0"/>
              <a:ea typeface="Calibri"/>
              <a:cs typeface="Poppins" panose="00000500000000000000" pitchFamily="2" charset="0"/>
              <a:sym typeface="Calibri"/>
            </a:endParaRPr>
          </a:p>
          <a:p>
            <a:pPr lvl="0"/>
            <a:r>
              <a:rPr lang="en-US" sz="1400" dirty="0">
                <a:solidFill>
                  <a:schemeClr val="bg1"/>
                </a:solidFill>
                <a:latin typeface="Poppins" panose="00000500000000000000" pitchFamily="2" charset="0"/>
                <a:ea typeface="Calibri"/>
                <a:cs typeface="Poppins" panose="00000500000000000000" pitchFamily="2" charset="0"/>
                <a:sym typeface="Calibri"/>
              </a:rPr>
              <a:t>a) </a:t>
            </a:r>
            <a:r>
              <a:rPr lang="en-US" sz="1400" b="1" dirty="0">
                <a:solidFill>
                  <a:schemeClr val="bg1"/>
                </a:solidFill>
                <a:latin typeface="Poppins" panose="00000500000000000000" pitchFamily="2" charset="0"/>
                <a:ea typeface="Calibri"/>
                <a:cs typeface="Poppins" panose="00000500000000000000" pitchFamily="2" charset="0"/>
                <a:sym typeface="Calibri"/>
              </a:rPr>
              <a:t>Physical design</a:t>
            </a:r>
          </a:p>
          <a:p>
            <a:pPr lvl="0"/>
            <a:r>
              <a:rPr lang="en-US" sz="1400" dirty="0">
                <a:solidFill>
                  <a:schemeClr val="bg1"/>
                </a:solidFill>
                <a:latin typeface="Poppins" panose="00000500000000000000" pitchFamily="2" charset="0"/>
                <a:ea typeface="Calibri"/>
                <a:cs typeface="Poppins" panose="00000500000000000000" pitchFamily="2" charset="0"/>
                <a:sym typeface="Calibri"/>
              </a:rPr>
              <a:t>b) RTL synthesis</a:t>
            </a:r>
          </a:p>
          <a:p>
            <a:pPr lvl="0"/>
            <a:r>
              <a:rPr lang="en-US" sz="1400" dirty="0">
                <a:solidFill>
                  <a:schemeClr val="bg1"/>
                </a:solidFill>
                <a:latin typeface="Poppins" panose="00000500000000000000" pitchFamily="2" charset="0"/>
                <a:ea typeface="Calibri"/>
                <a:cs typeface="Poppins" panose="00000500000000000000" pitchFamily="2" charset="0"/>
                <a:sym typeface="Calibri"/>
              </a:rPr>
              <a:t>c) Functional verification</a:t>
            </a:r>
          </a:p>
          <a:p>
            <a:pPr lvl="0"/>
            <a:r>
              <a:rPr lang="en-US" sz="1400" dirty="0">
                <a:solidFill>
                  <a:schemeClr val="bg1"/>
                </a:solidFill>
                <a:latin typeface="Poppins" panose="00000500000000000000" pitchFamily="2" charset="0"/>
                <a:ea typeface="Calibri"/>
                <a:cs typeface="Poppins" panose="00000500000000000000" pitchFamily="2" charset="0"/>
                <a:sym typeface="Calibri"/>
              </a:rPr>
              <a:t>d) Design validation</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9" name="Google Shape;502;p17">
            <a:extLst>
              <a:ext uri="{FF2B5EF4-FFF2-40B4-BE49-F238E27FC236}">
                <a16:creationId xmlns="" xmlns:a16="http://schemas.microsoft.com/office/drawing/2014/main" id="{7AFF6DBB-A30E-CFC8-E11F-34A34807802E}"/>
              </a:ext>
            </a:extLst>
          </p:cNvPr>
          <p:cNvSpPr/>
          <p:nvPr/>
        </p:nvSpPr>
        <p:spPr>
          <a:xfrm>
            <a:off x="991966" y="4620198"/>
            <a:ext cx="10172210" cy="1604608"/>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400" dirty="0">
                <a:solidFill>
                  <a:schemeClr val="bg1"/>
                </a:solidFill>
                <a:latin typeface="Poppins" panose="00000500000000000000" pitchFamily="2" charset="0"/>
                <a:ea typeface="Calibri"/>
                <a:cs typeface="Poppins" panose="00000500000000000000" pitchFamily="2" charset="0"/>
                <a:sym typeface="Calibri"/>
              </a:rPr>
              <a:t>What is the primary advantage of VLSI full custom design over other methodologies?</a:t>
            </a:r>
          </a:p>
          <a:p>
            <a:pPr lvl="0"/>
            <a:endParaRPr lang="en-US" sz="1400" dirty="0">
              <a:solidFill>
                <a:schemeClr val="bg1"/>
              </a:solidFill>
              <a:latin typeface="Poppins" panose="00000500000000000000" pitchFamily="2" charset="0"/>
              <a:ea typeface="Calibri"/>
              <a:cs typeface="Poppins" panose="00000500000000000000" pitchFamily="2" charset="0"/>
              <a:sym typeface="Calibri"/>
            </a:endParaRPr>
          </a:p>
          <a:p>
            <a:pPr lvl="0"/>
            <a:r>
              <a:rPr lang="en-US" sz="1400" dirty="0">
                <a:solidFill>
                  <a:schemeClr val="bg1"/>
                </a:solidFill>
                <a:latin typeface="Poppins" panose="00000500000000000000" pitchFamily="2" charset="0"/>
                <a:ea typeface="Calibri"/>
                <a:cs typeface="Poppins" panose="00000500000000000000" pitchFamily="2" charset="0"/>
                <a:sym typeface="Calibri"/>
              </a:rPr>
              <a:t>a) Quick design iterations due to standard cell libraries</a:t>
            </a:r>
          </a:p>
          <a:p>
            <a:pPr lvl="0"/>
            <a:r>
              <a:rPr lang="en-US" sz="1400" dirty="0">
                <a:solidFill>
                  <a:schemeClr val="bg1"/>
                </a:solidFill>
                <a:latin typeface="Poppins" panose="00000500000000000000" pitchFamily="2" charset="0"/>
                <a:ea typeface="Calibri"/>
                <a:cs typeface="Poppins" panose="00000500000000000000" pitchFamily="2" charset="0"/>
                <a:sym typeface="Calibri"/>
              </a:rPr>
              <a:t>b) Reduced design effort as it utilizes fixed layouts</a:t>
            </a:r>
          </a:p>
          <a:p>
            <a:pPr lvl="0"/>
            <a:r>
              <a:rPr lang="en-US" sz="1400" dirty="0">
                <a:solidFill>
                  <a:schemeClr val="bg1"/>
                </a:solidFill>
                <a:latin typeface="Poppins" panose="00000500000000000000" pitchFamily="2" charset="0"/>
                <a:ea typeface="Calibri"/>
                <a:cs typeface="Poppins" panose="00000500000000000000" pitchFamily="2" charset="0"/>
                <a:sym typeface="Calibri"/>
              </a:rPr>
              <a:t>c) </a:t>
            </a:r>
            <a:r>
              <a:rPr lang="en-US" sz="1400" b="1" dirty="0">
                <a:solidFill>
                  <a:schemeClr val="bg1"/>
                </a:solidFill>
                <a:latin typeface="Poppins" panose="00000500000000000000" pitchFamily="2" charset="0"/>
                <a:ea typeface="Calibri"/>
                <a:cs typeface="Poppins" panose="00000500000000000000" pitchFamily="2" charset="0"/>
                <a:sym typeface="Calibri"/>
              </a:rPr>
              <a:t>Higher performance and lower power consumption</a:t>
            </a:r>
          </a:p>
          <a:p>
            <a:pPr lvl="0"/>
            <a:r>
              <a:rPr lang="en-US" sz="1400" dirty="0">
                <a:solidFill>
                  <a:schemeClr val="bg1"/>
                </a:solidFill>
                <a:latin typeface="Poppins" panose="00000500000000000000" pitchFamily="2" charset="0"/>
                <a:ea typeface="Calibri"/>
                <a:cs typeface="Poppins" panose="00000500000000000000" pitchFamily="2" charset="0"/>
                <a:sym typeface="Calibri"/>
              </a:rPr>
              <a:t>d) Simplified design process with predefined modules</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Tree>
    <p:extLst>
      <p:ext uri="{BB962C8B-B14F-4D97-AF65-F5344CB8AC3E}">
        <p14:creationId xmlns:p14="http://schemas.microsoft.com/office/powerpoint/2010/main" val="3192099497"/>
      </p:ext>
    </p:extLst>
  </p:cSld>
  <p:clrMapOvr>
    <a:masterClrMapping/>
  </p:clrMapOvr>
  <mc:AlternateContent xmlns:mc="http://schemas.openxmlformats.org/markup-compatibility/2006">
    <mc:Choice xmlns=""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3"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204716" y="600076"/>
            <a:ext cx="11987284" cy="6343275"/>
          </a:xfrm>
          <a:prstGeom prst="rect">
            <a:avLst/>
          </a:prstGeom>
          <a:noFill/>
        </p:spPr>
        <p:txBody>
          <a:bodyPr wrap="square" rtlCol="0">
            <a:spAutoFit/>
          </a:bodyPr>
          <a:lstStyle/>
          <a:p>
            <a:pPr>
              <a:lnSpc>
                <a:spcPct val="115000"/>
              </a:lnSpc>
              <a:spcAft>
                <a:spcPts val="1000"/>
              </a:spcAft>
            </a:pP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1. </a:t>
            </a:r>
            <a:r>
              <a:rPr lang="en-US" dirty="0" smtClean="0">
                <a:latin typeface="Times New Roman" panose="02020603050405020304" pitchFamily="18" charset="0"/>
                <a:ea typeface="Calibri" panose="020F0502020204030204" pitchFamily="34" charset="0"/>
                <a:cs typeface="Times New Roman" panose="02020603050405020304" pitchFamily="18" charset="0"/>
              </a:rPr>
              <a:t>Describe </a:t>
            </a:r>
            <a:r>
              <a:rPr lang="en-US" dirty="0">
                <a:latin typeface="Times New Roman" panose="02020603050405020304" pitchFamily="18" charset="0"/>
                <a:ea typeface="Calibri" panose="020F0502020204030204" pitchFamily="34" charset="0"/>
                <a:cs typeface="Times New Roman" panose="02020603050405020304" pitchFamily="18" charset="0"/>
              </a:rPr>
              <a:t>the step-by-step process of the VLSI full custom design flow. How does it differ from other design methodologies like semi-custom or ASIC design</a:t>
            </a:r>
            <a:r>
              <a:rPr lang="en-US"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1000"/>
              </a:spcAft>
            </a:pP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2. </a:t>
            </a:r>
            <a:r>
              <a:rPr lang="en-US" dirty="0" smtClean="0">
                <a:latin typeface="Times New Roman" panose="02020603050405020304" pitchFamily="18" charset="0"/>
                <a:ea typeface="Calibri" panose="020F0502020204030204" pitchFamily="34" charset="0"/>
                <a:cs typeface="Times New Roman" panose="02020603050405020304" pitchFamily="18" charset="0"/>
              </a:rPr>
              <a:t>Explain </a:t>
            </a:r>
            <a:r>
              <a:rPr lang="en-US" dirty="0">
                <a:latin typeface="Times New Roman" panose="02020603050405020304" pitchFamily="18" charset="0"/>
                <a:ea typeface="Calibri" panose="020F0502020204030204" pitchFamily="34" charset="0"/>
                <a:cs typeface="Times New Roman" panose="02020603050405020304" pitchFamily="18" charset="0"/>
              </a:rPr>
              <a:t>the role of each stage in the VLSI full custom design flow (such as specification, architectural design, logic design, physical design, and fabrication). How do these stages integrate to create a final VLSI product</a:t>
            </a:r>
            <a:r>
              <a:rPr lang="en-US"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1000"/>
              </a:spcAft>
            </a:pP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3. </a:t>
            </a:r>
            <a:r>
              <a:rPr lang="en-US" dirty="0" smtClean="0">
                <a:latin typeface="Times New Roman" panose="02020603050405020304" pitchFamily="18" charset="0"/>
                <a:ea typeface="Calibri" panose="020F0502020204030204" pitchFamily="34" charset="0"/>
                <a:cs typeface="Times New Roman" panose="02020603050405020304" pitchFamily="18" charset="0"/>
              </a:rPr>
              <a:t>Discuss </a:t>
            </a:r>
            <a:r>
              <a:rPr lang="en-US" dirty="0">
                <a:latin typeface="Times New Roman" panose="02020603050405020304" pitchFamily="18" charset="0"/>
                <a:ea typeface="Calibri" panose="020F0502020204030204" pitchFamily="34" charset="0"/>
                <a:cs typeface="Times New Roman" panose="02020603050405020304" pitchFamily="18" charset="0"/>
              </a:rPr>
              <a:t>the evolution of CAD tools for VLSI design. How have these tools evolved over time, and what are the key advancements that have significantly impacted the design and manufacturing of VLSI circuits</a:t>
            </a:r>
            <a:r>
              <a:rPr lang="en-US"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1000"/>
              </a:spcAft>
            </a:pP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4. </a:t>
            </a:r>
            <a:r>
              <a:rPr lang="en-US" dirty="0" smtClean="0">
                <a:latin typeface="Times New Roman" panose="02020603050405020304" pitchFamily="18" charset="0"/>
                <a:ea typeface="Calibri" panose="020F0502020204030204" pitchFamily="34" charset="0"/>
                <a:cs typeface="Times New Roman" panose="02020603050405020304" pitchFamily="18" charset="0"/>
              </a:rPr>
              <a:t>What </a:t>
            </a:r>
            <a:r>
              <a:rPr lang="en-US" dirty="0">
                <a:latin typeface="Times New Roman" panose="02020603050405020304" pitchFamily="18" charset="0"/>
                <a:ea typeface="Calibri" panose="020F0502020204030204" pitchFamily="34" charset="0"/>
                <a:cs typeface="Times New Roman" panose="02020603050405020304" pitchFamily="18" charset="0"/>
              </a:rPr>
              <a:t>are the major challenges faced in the full custom design flow for VLSI? How do CAD tools address these challenges, and what improvements are continually being made to streamline this process</a:t>
            </a:r>
            <a:r>
              <a:rPr lang="en-US"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5. </a:t>
            </a:r>
            <a:r>
              <a:rPr lang="en-US" dirty="0" smtClean="0">
                <a:latin typeface="Times New Roman" panose="02020603050405020304" pitchFamily="18" charset="0"/>
                <a:ea typeface="Calibri" panose="020F0502020204030204" pitchFamily="34" charset="0"/>
                <a:cs typeface="Times New Roman" panose="02020603050405020304" pitchFamily="18" charset="0"/>
              </a:rPr>
              <a:t>Considering </a:t>
            </a:r>
            <a:r>
              <a:rPr lang="en-US" dirty="0">
                <a:latin typeface="Times New Roman" panose="02020603050405020304" pitchFamily="18" charset="0"/>
                <a:ea typeface="Calibri" panose="020F0502020204030204" pitchFamily="34" charset="0"/>
                <a:cs typeface="Times New Roman" panose="02020603050405020304" pitchFamily="18" charset="0"/>
              </a:rPr>
              <a:t>the current technological advancements and trends in VLSI, how are CAD tools adapting to meet the demands of increasingly complex designs, smaller process nodes, and higher performance expectations? What methodologies or tools are being developed to aid VLSI designers in this context</a:t>
            </a:r>
            <a:r>
              <a:rPr lang="en-US"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1000"/>
              </a:spcAft>
            </a:pPr>
            <a:endParaRPr lang="en-US"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3726665006"/>
      </p:ext>
    </p:extLst>
  </p:cSld>
  <p:clrMapOvr>
    <a:masterClrMapping/>
  </p:clrMapOvr>
  <mc:AlternateContent xmlns:mc="http://schemas.openxmlformats.org/markup-compatibility/2006">
    <mc:Choice xmlns=""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313899" y="600076"/>
            <a:ext cx="11655187" cy="5835444"/>
          </a:xfrm>
          <a:prstGeom prst="rect">
            <a:avLst/>
          </a:prstGeom>
          <a:noFill/>
        </p:spPr>
        <p:txBody>
          <a:bodyPr wrap="square" rtlCol="0">
            <a:spAutoFit/>
          </a:bodyPr>
          <a:lstStyle/>
          <a:p>
            <a:pPr marL="0" marR="0">
              <a:lnSpc>
                <a:spcPct val="115000"/>
              </a:lnSpc>
              <a:spcBef>
                <a:spcPts val="1200"/>
              </a:spcBef>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Text Books: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AutoNum type="arabicPeriod"/>
            </a:pPr>
            <a:r>
              <a:rPr lang="en-US" dirty="0" smtClean="0"/>
              <a:t>N</a:t>
            </a:r>
            <a:r>
              <a:rPr lang="en-US" dirty="0"/>
              <a:t>. H. E. </a:t>
            </a:r>
            <a:r>
              <a:rPr lang="en-US" dirty="0" err="1"/>
              <a:t>Weste</a:t>
            </a:r>
            <a:r>
              <a:rPr lang="en-US" dirty="0"/>
              <a:t> and C. Harris - Principles of CMOS VLSI Design: A System Perspective, 3rd Edition, Pearson Education </a:t>
            </a:r>
            <a:r>
              <a:rPr lang="en-US" dirty="0" smtClean="0"/>
              <a:t>2007</a:t>
            </a:r>
          </a:p>
          <a:p>
            <a:endParaRPr lang="en-US" dirty="0"/>
          </a:p>
          <a:p>
            <a:r>
              <a:rPr lang="en-US" dirty="0"/>
              <a:t>2. J. </a:t>
            </a:r>
            <a:r>
              <a:rPr lang="en-US" dirty="0" err="1"/>
              <a:t>Rabaey</a:t>
            </a:r>
            <a:r>
              <a:rPr lang="en-US" dirty="0"/>
              <a:t>, A. </a:t>
            </a:r>
            <a:r>
              <a:rPr lang="en-US" dirty="0" err="1"/>
              <a:t>Chandrakasan</a:t>
            </a:r>
            <a:r>
              <a:rPr lang="en-US" dirty="0"/>
              <a:t> and B. Nikolic, Digital Integrated Circuits: A Design Perspective, 2nd Edition, Prentice Hall 2004.</a:t>
            </a:r>
          </a:p>
          <a:p>
            <a:pPr marL="0" marR="0">
              <a:lnSpc>
                <a:spcPct val="115000"/>
              </a:lnSpc>
              <a:spcBef>
                <a:spcPts val="1200"/>
              </a:spcBef>
              <a:spcAft>
                <a:spcPts val="1000"/>
              </a:spcAft>
            </a:pPr>
            <a:r>
              <a:rPr lang="en-US" sz="1800" b="1" dirty="0" smtClean="0">
                <a:effectLst/>
                <a:latin typeface="Times New Roman" panose="02020603050405020304" pitchFamily="18" charset="0"/>
                <a:ea typeface="Calibri" panose="020F0502020204030204" pitchFamily="34" charset="0"/>
                <a:cs typeface="Times New Roman" panose="02020603050405020304" pitchFamily="18" charset="0"/>
              </a:rPr>
              <a:t>Reference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Books: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AutoNum type="arabicPeriod"/>
            </a:pPr>
            <a:r>
              <a:rPr lang="en-US" dirty="0" smtClean="0"/>
              <a:t>Douglas </a:t>
            </a:r>
            <a:r>
              <a:rPr lang="en-US" dirty="0"/>
              <a:t>A</a:t>
            </a:r>
            <a:r>
              <a:rPr lang="en-US" dirty="0" smtClean="0"/>
              <a:t>.</a:t>
            </a:r>
            <a:r>
              <a:rPr lang="en-US" dirty="0"/>
              <a:t> </a:t>
            </a:r>
            <a:r>
              <a:rPr lang="en-US" dirty="0" err="1" smtClean="0"/>
              <a:t>Pucknell</a:t>
            </a:r>
            <a:r>
              <a:rPr lang="en-US" dirty="0" smtClean="0"/>
              <a:t> </a:t>
            </a:r>
            <a:r>
              <a:rPr lang="en-US" dirty="0"/>
              <a:t>and Kamran </a:t>
            </a:r>
            <a:r>
              <a:rPr lang="en-US" dirty="0" err="1"/>
              <a:t>Eshraghian</a:t>
            </a:r>
            <a:r>
              <a:rPr lang="en-US" dirty="0"/>
              <a:t> - Basic VLSI design. Prentice-Hall, Inc., 1994</a:t>
            </a:r>
            <a:r>
              <a:rPr lang="en-US" dirty="0" smtClean="0"/>
              <a:t>.</a:t>
            </a:r>
          </a:p>
          <a:p>
            <a:pPr lvl="0"/>
            <a:endParaRPr lang="en-US" dirty="0"/>
          </a:p>
          <a:p>
            <a:pPr lvl="0"/>
            <a:r>
              <a:rPr lang="en-US" dirty="0" smtClean="0"/>
              <a:t>2. Sung Mo</a:t>
            </a:r>
            <a:r>
              <a:rPr lang="en-US" dirty="0"/>
              <a:t> </a:t>
            </a:r>
            <a:r>
              <a:rPr lang="en-US" dirty="0" smtClean="0"/>
              <a:t>Kang </a:t>
            </a:r>
            <a:r>
              <a:rPr lang="en-US" dirty="0"/>
              <a:t>and Yusuf </a:t>
            </a:r>
            <a:r>
              <a:rPr lang="en-US" dirty="0" err="1"/>
              <a:t>Leblebici</a:t>
            </a:r>
            <a:r>
              <a:rPr lang="en-US" dirty="0"/>
              <a:t>- CMOS digital integrated circuits, </a:t>
            </a:r>
            <a:r>
              <a:rPr lang="en-US" dirty="0" err="1"/>
              <a:t>MacGraw</a:t>
            </a:r>
            <a:r>
              <a:rPr lang="en-US" dirty="0"/>
              <a:t>-Hill, 2003</a:t>
            </a:r>
          </a:p>
          <a:p>
            <a:pPr algn="just">
              <a:spcAft>
                <a:spcPts val="1000"/>
              </a:spcAft>
            </a:pPr>
            <a:endParaRPr lang="en-US" dirty="0"/>
          </a:p>
          <a:p>
            <a:pPr>
              <a:lnSpc>
                <a:spcPct val="150000"/>
              </a:lnSpc>
            </a:pPr>
            <a:r>
              <a:rPr lang="en-US" b="1" dirty="0"/>
              <a:t>Sites and Web links:</a:t>
            </a:r>
          </a:p>
          <a:p>
            <a:pPr marL="342900" indent="-342900">
              <a:lnSpc>
                <a:spcPct val="115000"/>
              </a:lnSpc>
              <a:spcAft>
                <a:spcPts val="1000"/>
              </a:spcAft>
              <a:buAutoNum type="arabicPeriod"/>
            </a:pPr>
            <a:r>
              <a:rPr lang="en-US" dirty="0" smtClean="0">
                <a:hlinkClick r:id="rId2"/>
              </a:rPr>
              <a:t>rajeev2007.github.io/VLSI/0072460539cmos.pdf </a:t>
            </a:r>
            <a:endParaRPr lang="en-US" dirty="0" smtClean="0"/>
          </a:p>
          <a:p>
            <a:pPr marL="342900" indent="-342900">
              <a:lnSpc>
                <a:spcPct val="115000"/>
              </a:lnSpc>
              <a:spcAft>
                <a:spcPts val="1000"/>
              </a:spcAft>
              <a:buAutoNum type="arabicPeriod"/>
            </a:pPr>
            <a:r>
              <a:rPr lang="en-US" u="sng" dirty="0">
                <a:latin typeface="Times New Roman" panose="02020603050405020304" pitchFamily="18" charset="0"/>
                <a:ea typeface="Calibri" panose="020F0502020204030204" pitchFamily="34" charset="0"/>
                <a:cs typeface="Times New Roman" panose="02020603050405020304" pitchFamily="18" charset="0"/>
                <a:hlinkClick r:id="rId3"/>
              </a:rPr>
              <a:t>http://www.eecs.northwestern.edu/~</a:t>
            </a:r>
            <a:r>
              <a:rPr lang="en-US" u="sng" dirty="0" smtClean="0">
                <a:latin typeface="Times New Roman" panose="02020603050405020304" pitchFamily="18" charset="0"/>
                <a:ea typeface="Calibri" panose="020F0502020204030204" pitchFamily="34" charset="0"/>
                <a:cs typeface="Times New Roman" panose="02020603050405020304" pitchFamily="18" charset="0"/>
                <a:hlinkClick r:id="rId3"/>
              </a:rPr>
              <a:t>haizhou/357/lec1.pdf</a:t>
            </a:r>
            <a:endParaRPr lang="en-US" u="sng" dirty="0" smtClean="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15000"/>
              </a:lnSpc>
              <a:spcAft>
                <a:spcPts val="1000"/>
              </a:spcAft>
              <a:buAutoNum type="arabicPeriod"/>
            </a:pPr>
            <a:r>
              <a:rPr lang="en-US" dirty="0" smtClean="0"/>
              <a:t> </a:t>
            </a:r>
            <a:r>
              <a:rPr lang="en-US" dirty="0">
                <a:hlinkClick r:id="rId4"/>
              </a:rPr>
              <a:t>https://</a:t>
            </a:r>
            <a:r>
              <a:rPr lang="en-US" dirty="0" smtClean="0">
                <a:hlinkClick r:id="rId4"/>
              </a:rPr>
              <a:t>onlinecourses.nptel.ac.in/noc21_ee09/preview</a:t>
            </a:r>
            <a:endParaRPr lang="en-US" dirty="0" smtClean="0"/>
          </a:p>
          <a:p>
            <a:pPr>
              <a:lnSpc>
                <a:spcPct val="115000"/>
              </a:lnSpc>
              <a:spcAft>
                <a:spcPts val="1000"/>
              </a:spcAft>
            </a:pPr>
            <a:endParaRPr lang="en-US" dirty="0"/>
          </a:p>
        </p:txBody>
      </p:sp>
      <p:pic>
        <p:nvPicPr>
          <p:cNvPr id="5" name="Picture 2" descr="KL Deemed to be University Logo"/>
          <p:cNvPicPr>
            <a:picLocks noChangeAspect="1" noChangeArrowheads="1"/>
          </p:cNvPicPr>
          <p:nvPr/>
        </p:nvPicPr>
        <p:blipFill>
          <a:blip r:embed="rId5"/>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372518094"/>
      </p:ext>
    </p:extLst>
  </p:cSld>
  <p:clrMapOvr>
    <a:masterClrMapping/>
  </p:clrMapOvr>
  <mc:AlternateContent xmlns:mc="http://schemas.openxmlformats.org/markup-compatibility/2006">
    <mc:Choice xmlns=""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a:t>
            </a:r>
            <a:r>
              <a:rPr lang="en-US" sz="2400" b="1" dirty="0" smtClean="0">
                <a:latin typeface="Poppins" pitchFamily="2" charset="77"/>
                <a:cs typeface="Poppins" pitchFamily="2" charset="77"/>
              </a:rPr>
              <a:t>–VLSI Design (22EC2211A)</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extLst>
      <p:ext uri="{BB962C8B-B14F-4D97-AF65-F5344CB8AC3E}">
        <p14:creationId xmlns:p14="http://schemas.microsoft.com/office/powerpoint/2010/main" val="241684737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2.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BBD0A98-E68B-4DAA-8964-2F739D6D4075}">
  <ds:schemaRefs>
    <ds:schemaRef ds:uri="0125a647-8023-46ae-ae6e-85cf36d841bd"/>
    <ds:schemaRef ds:uri="d43ee83c-3e71-4748-8ebc-8eaadf7934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2802</TotalTime>
  <Words>1284</Words>
  <Application>Microsoft Office PowerPoint</Application>
  <PresentationFormat>Custom</PresentationFormat>
  <Paragraphs>159</Paragraphs>
  <Slides>19</Slides>
  <Notes>1</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1_Office Theme</vt:lpstr>
      <vt:lpstr>PowerPoint Presentation</vt:lpstr>
      <vt:lpstr>PowerPoint Presentation</vt:lpstr>
      <vt:lpstr>Relative Merits of VLSI Design Styles</vt:lpstr>
      <vt:lpstr>Progressive Performance Improvement in VLSI</vt:lpstr>
      <vt:lpstr>VLSI CAD System Design Flow (ASIC)</vt:lpstr>
      <vt:lpstr>VLSI Design Hierarchy: System Specifications</vt:lpstr>
      <vt:lpstr>Architectural and Behavioral Design</vt:lpstr>
      <vt:lpstr>Logic Design</vt:lpstr>
      <vt:lpstr>Circuit Design</vt:lpstr>
      <vt:lpstr>Physical Design</vt:lpstr>
      <vt:lpstr>GDS II Generation </vt:lpstr>
      <vt:lpstr>Evolution of CAD Tools</vt:lpstr>
      <vt:lpstr>Evolution of CAD Tools</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Debajit</cp:lastModifiedBy>
  <cp:revision>203</cp:revision>
  <dcterms:created xsi:type="dcterms:W3CDTF">2020-02-08T09:57:44Z</dcterms:created>
  <dcterms:modified xsi:type="dcterms:W3CDTF">2023-11-04T11:36:07Z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