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4"/>
  </p:sldMasterIdLst>
  <p:notesMasterIdLst>
    <p:notesMasterId r:id="rId24"/>
  </p:notesMasterIdLst>
  <p:handoutMasterIdLst>
    <p:handoutMasterId r:id="rId25"/>
  </p:handoutMasterIdLst>
  <p:sldIdLst>
    <p:sldId id="289" r:id="rId5"/>
    <p:sldId id="282" r:id="rId6"/>
    <p:sldId id="257" r:id="rId7"/>
    <p:sldId id="258" r:id="rId8"/>
    <p:sldId id="441" r:id="rId9"/>
    <p:sldId id="473" r:id="rId10"/>
    <p:sldId id="474" r:id="rId11"/>
    <p:sldId id="470" r:id="rId12"/>
    <p:sldId id="477" r:id="rId13"/>
    <p:sldId id="478" r:id="rId14"/>
    <p:sldId id="479" r:id="rId15"/>
    <p:sldId id="480" r:id="rId16"/>
    <p:sldId id="481" r:id="rId17"/>
    <p:sldId id="482" r:id="rId18"/>
    <p:sldId id="483" r:id="rId19"/>
    <p:sldId id="484" r:id="rId20"/>
    <p:sldId id="475" r:id="rId21"/>
    <p:sldId id="476" r:id="rId22"/>
    <p:sldId id="280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09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25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CDB74D4-5E76-4C47-E7AA-61E2C648C8D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962EDA-0A3B-5C3A-C8DF-7672C339CF9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5D750-AD1D-4C03-A026-1768137CC901}" type="datetimeFigureOut">
              <a:rPr lang="en-IN" smtClean="0"/>
              <a:t>23-02-2025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C80489-5F61-FA08-A147-AE43BE9C499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D387C-1469-6716-E148-98BDCB6976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566E6-FD90-4AE7-9488-620D46A968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391555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6BB4A-8EA9-40D4-95BF-21E04B247614}" type="datetimeFigureOut">
              <a:rPr lang="en-IN" smtClean="0"/>
              <a:t>23-02-2025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3BDDA1-7BB7-447A-97DE-AE5425C8F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00788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FFE7BA5-9AA7-43A8-9EE5-C23B4ED60B7B}" type="slidenum">
              <a:rPr lang="en-US" altLang="en-US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7325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AED47-D61B-E309-5EB2-04BEA12A9E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12015A-4BD5-FB90-2194-40EC34F3C6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CA64A-8775-9B3D-9AE9-FD021694B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AE2E8-54EB-4487-B250-4673592D9C64}" type="datetime1">
              <a:rPr lang="en-US" smtClean="0"/>
              <a:t>2/23/2025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81261-2900-E08E-C669-3DFABF335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EC566-B985-EEED-64AD-AD1E74A84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776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6CA1A-1762-8CB7-50BB-A111D1295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22A42-2CDB-09CC-BE64-F16D5C826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ABE68-4EA6-9203-A5C9-B66C24AFE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69CAE-2264-4555-99EA-EAEF99BEDD65}" type="datetime1">
              <a:rPr lang="en-US" smtClean="0"/>
              <a:t>2/23/2025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AC3-7233-F0A8-8841-E703D8A9C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E67B6A-FEE3-4AC6-8E54-D5FACAB4F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550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38C2C-E2CF-99A3-4B76-ADF5001F7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EC2576-8EE8-91D2-5E72-FA94CB728A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034DF-70BD-585F-9DD0-E4C041783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B918E-E449-4D72-AD42-C4AA8C1EABA8}" type="datetime1">
              <a:rPr lang="en-US" smtClean="0"/>
              <a:t>2/23/2025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EBFF7-3FE4-D642-3C34-C2AB78F74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8487C-E86A-5B42-AFD9-4459C3954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160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B7CD4-BDA6-3911-5E74-51628C7FA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B55A5-127A-FB1A-D6A8-2DB0C02502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972ADF-3BAF-8B6D-CE3D-0630A3BD8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CAF980-DB77-3853-4FE3-4F5B590D7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EB3B6-46C9-406D-B6F1-9343C2C9238F}" type="datetime1">
              <a:rPr lang="en-US" smtClean="0"/>
              <a:t>2/23/2025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6C360-183F-64E6-626F-727D1D8C5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984E52-C247-AD53-8DB0-9ECE2061F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145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2011E-FDD8-C6F9-54EC-646022162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25621B-0845-07C4-189D-F7BBBB0E1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79B479-E026-29B4-BC5D-A2969FF33F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57F45F-1EF7-566D-CAC4-4C5D316E0F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046E26-E4BA-61B4-260D-FE06C29DDE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27DA7C-8C23-E683-8694-DF1F8F91F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97992-28FC-4C56-B8F8-DC3254EDBD9C}" type="datetime1">
              <a:rPr lang="en-US" smtClean="0"/>
              <a:t>2/23/2025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BB2813-0E43-C0C5-55E0-B207BC180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E6E77F-AC73-4C85-9AF3-4E287B76D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5669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EDFC9-9061-5F4F-63A1-3305678EE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6CD372-4898-7A0A-F18E-2955DE194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73630-B4E1-44A3-802A-3326309B55B1}" type="datetime1">
              <a:rPr lang="en-US" smtClean="0"/>
              <a:t>2/23/2025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1026B0-5458-1CA3-28D7-348D05C70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D49DE8-CD82-8DB2-ECF2-2D40EF180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8561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01F90C-55A9-31B0-CBB0-BB754054D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65FD3-090B-4612-A815-2488A55A7E37}" type="datetime1">
              <a:rPr lang="en-US" smtClean="0"/>
              <a:t>2/23/2025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FE083F-F5FA-7EDC-022C-F983177B2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14D4BC-94EA-DC9F-DE3D-52353BCFE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8714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E56F4-13D7-9DF0-566B-6B11FBCF0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662A4-F4B4-465C-1D29-3348E830F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831FD9-C665-610D-0289-9B7B8A5C29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6757DB-B89E-4A29-D0C5-6C71BF3D4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70F3D-B074-4D3A-A7CA-EE0C737BA4D2}" type="datetime1">
              <a:rPr lang="en-US" smtClean="0"/>
              <a:t>2/23/2025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F85567-382F-8CF1-AD95-ABD0EA4CC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ECD8D5-E405-5DA9-B52B-41819F4EB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1239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09B87-55C2-9F19-3623-91B7F4C3B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5A6723-D58C-1102-D7AC-4EB5F54D0B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97D962-ECA6-E890-FA89-C9836AA22F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E0DDB2-6F1C-06B9-6100-0D082679E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7F71C-81B8-4C47-9623-A9FE1C8B5689}" type="datetime1">
              <a:rPr lang="en-US" smtClean="0"/>
              <a:t>2/23/2025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786502-ED0C-6A23-60A8-C9EC1E679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67D0C5-413A-DA84-8A31-11018340B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3061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FD69A-3DC0-DB39-3334-A9BA5A403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1D3BDA-5093-5E89-269A-69491664FB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4D6DE-8E90-0D56-D28B-DE5724905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658D8-3274-480F-B093-EBC3864F012D}" type="datetime1">
              <a:rPr lang="en-US" smtClean="0"/>
              <a:t>2/23/2025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05BF5-4225-BB1D-1457-34DF8A62B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15106-45F8-64CE-C438-3456469AF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7427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AC22B9-DE1E-5F16-BBC3-3C3783BBBA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ACD89A-B728-0F81-7454-DC5E2A878E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58732-2337-1D9F-CEEA-43A1482A4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B1311-5709-4A0D-B7D3-C6195CD191EE}" type="datetime1">
              <a:rPr lang="en-US" smtClean="0"/>
              <a:t>2/23/2025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7DE17-567C-8524-BA24-E118292F3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F672A-C170-9AF8-1F51-A43D912BC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3916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2E7B62-8011-CCDC-959C-C770C92F8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CA46B4-B884-807D-D2D2-4536B041F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D281CC-4DF4-0090-E0ED-584BBD3B4D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9DE9F7-9DD0-4FF1-A737-9B316060B128}" type="datetime1">
              <a:rPr lang="en-US" smtClean="0"/>
              <a:t>2/23/2025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F9F48-0658-B969-E15D-50A0133BC4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4D365-DD42-F8BB-FE9B-3A524593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ABCCC1-BF11-4F37-963E-1BCD5B23FD72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7" name="Picture 6" descr="Icon&#10;&#10;Description automatically generated with medium confidence">
            <a:extLst>
              <a:ext uri="{FF2B5EF4-FFF2-40B4-BE49-F238E27FC236}">
                <a16:creationId xmlns:a16="http://schemas.microsoft.com/office/drawing/2014/main" id="{FA6FD25C-E91B-3776-D178-4D9AF946F9A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B01E73-FD80-735E-7997-6704ACBA21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9" name="Picture 8" descr="Text&#10;&#10;Description automatically generated with medium confidence">
            <a:extLst>
              <a:ext uri="{FF2B5EF4-FFF2-40B4-BE49-F238E27FC236}">
                <a16:creationId xmlns:a16="http://schemas.microsoft.com/office/drawing/2014/main" id="{874DC773-DFA3-0B02-D75F-59F2159E3A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1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ctrTitle"/>
          </p:nvPr>
        </p:nvSpPr>
        <p:spPr>
          <a:xfrm>
            <a:off x="711740" y="-152398"/>
            <a:ext cx="10523706" cy="1470025"/>
          </a:xfrm>
        </p:spPr>
        <p:txBody>
          <a:bodyPr>
            <a:normAutofit/>
          </a:bodyPr>
          <a:lstStyle/>
          <a:p>
            <a:r>
              <a:rPr lang="en-US" altLang="en-US" sz="54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Digital Communication 23EC2208</a:t>
            </a:r>
          </a:p>
        </p:txBody>
      </p:sp>
      <p:sp>
        <p:nvSpPr>
          <p:cNvPr id="4099" name="Subtitle 2"/>
          <p:cNvSpPr>
            <a:spLocks noGrp="1"/>
          </p:cNvSpPr>
          <p:nvPr>
            <p:ph type="subTitle" idx="1"/>
          </p:nvPr>
        </p:nvSpPr>
        <p:spPr>
          <a:xfrm>
            <a:off x="1524000" y="2438400"/>
            <a:ext cx="9144000" cy="3200400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US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M. </a:t>
            </a:r>
            <a:r>
              <a:rPr lang="en-US" altLang="en-US" sz="4000" dirty="0" err="1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Venu</a:t>
            </a:r>
            <a:r>
              <a:rPr lang="en-US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4000" dirty="0">
                <a:solidFill>
                  <a:srgbClr val="025A1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Gopala</a:t>
            </a:r>
            <a:r>
              <a:rPr lang="en-US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Rao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A.M.I.E.T.E</a:t>
            </a:r>
            <a:r>
              <a:rPr lang="en-US" altLang="en-US" sz="4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altLang="en-US" sz="4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M.Tech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Ph.D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dirty="0" err="1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Engg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  <a:p>
            <a:pPr eaLnBrk="1" hangingPunct="1"/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Cert. in R.S.T 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City &amp; Guild’s 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London</a:t>
            </a:r>
            <a:r>
              <a:rPr lang="en-US" altLang="en-US" sz="28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Institute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800" dirty="0">
                <a:solidFill>
                  <a:srgbClr val="0246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London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eaLnBrk="1" hangingPunct="1"/>
            <a:r>
              <a:rPr lang="en-US" altLang="en-US" dirty="0">
                <a:solidFill>
                  <a:srgbClr val="0246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F.I.E.T.E,</a:t>
            </a:r>
            <a:r>
              <a:rPr lang="en-US" alt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L.M.I.S.T.E, </a:t>
            </a:r>
            <a:r>
              <a:rPr lang="en-US" altLang="en-US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I.S.O.I.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S.S.I.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dirty="0">
                <a:solidFill>
                  <a:srgbClr val="0246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M.I.A.E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eaLnBrk="1" hangingPunct="1"/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Professor,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solidFill>
                  <a:srgbClr val="0246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ECE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 L University</a:t>
            </a:r>
          </a:p>
          <a:p>
            <a:pPr eaLnBrk="1" hangingPunct="1"/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mvgr03@kluniversity.in</a:t>
            </a:r>
          </a:p>
        </p:txBody>
      </p:sp>
      <p:sp>
        <p:nvSpPr>
          <p:cNvPr id="4100" name="TextBox 3"/>
          <p:cNvSpPr txBox="1">
            <a:spLocks noChangeArrowheads="1"/>
          </p:cNvSpPr>
          <p:nvPr/>
        </p:nvSpPr>
        <p:spPr bwMode="auto">
          <a:xfrm>
            <a:off x="1752600" y="1524001"/>
            <a:ext cx="89154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dirty="0">
                <a:solidFill>
                  <a:srgbClr val="FF0000"/>
                </a:solidFill>
              </a:rPr>
              <a:t>Digital Carrier Modulation</a:t>
            </a:r>
            <a:endParaRPr lang="en-US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763291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E5EA9-67D8-4F2D-9B5B-F2CCD0A1E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885" y="0"/>
            <a:ext cx="10515600" cy="586345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Digital Signals</a:t>
            </a:r>
            <a:endParaRPr lang="en-I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5EA8F-3414-B0C1-4FCE-52DE2BD8C7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578" y="521973"/>
            <a:ext cx="11541211" cy="59545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addition to being represented by an analog signal, information can also be represented by a digital signal.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F06B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example, a 1 can be encoded as a positive voltage and a 0 as zero voltage as shown below: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F06B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Bit rate is defined as the number of bits transmitted over a second.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Hence the above digital data bit rate is 8 bits per second or bps.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is the bit period / duration ?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0B8233-F0DF-E558-CB6F-B6056540812C}"/>
              </a:ext>
            </a:extLst>
          </p:cNvPr>
          <p:cNvSpPr txBox="1"/>
          <p:nvPr/>
        </p:nvSpPr>
        <p:spPr>
          <a:xfrm>
            <a:off x="261885" y="3022191"/>
            <a:ext cx="446928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What is the bit rate for this digital signal?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6851AB5-8948-D41C-832B-9066E5B45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7643" y="2772790"/>
            <a:ext cx="6903572" cy="270262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0D89504-AD61-7407-A6CD-680AE62691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48" y="4128193"/>
            <a:ext cx="3143590" cy="95410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D9D7586-2525-090D-34E6-EF1C0E46BE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5259" y="5906535"/>
            <a:ext cx="2374109" cy="77636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4AD0FD-E20E-9162-5B37-14BC67E3B1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2090" y="6341083"/>
            <a:ext cx="2743200" cy="365125"/>
          </a:xfrm>
        </p:spPr>
        <p:txBody>
          <a:bodyPr/>
          <a:lstStyle/>
          <a:p>
            <a:fld id="{932DF278-83AE-4178-A4ED-E3D315318F02}" type="datetime1">
              <a:rPr lang="en-US" smtClean="0"/>
              <a:t>2/23/2025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CD0BD-4FDC-9D37-980E-133C3B2AD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17D02-003E-A784-0ED3-A767B1EC3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4870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E5EA9-67D8-4F2D-9B5B-F2CCD0A1E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206" y="94692"/>
            <a:ext cx="10515600" cy="586345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Digital Signals</a:t>
            </a:r>
            <a:endParaRPr lang="en-I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5EA8F-3414-B0C1-4FCE-52DE2BD8C7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778474"/>
            <a:ext cx="11541211" cy="5844747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F06B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digital signal can have more than two levels as shown below. In this case, we can send more than 1 bit for each level.</a:t>
            </a:r>
          </a:p>
          <a:p>
            <a:pPr marL="0" indent="0">
              <a:buNone/>
            </a:pPr>
            <a:endParaRPr lang="en-US" dirty="0">
              <a:solidFill>
                <a:srgbClr val="0F06B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solidFill>
                <a:srgbClr val="0F06B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solidFill>
                <a:srgbClr val="0F06B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solidFill>
                <a:srgbClr val="0F06B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solidFill>
                <a:srgbClr val="0F06B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solidFill>
                <a:srgbClr val="0F06B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solidFill>
                <a:srgbClr val="0F06B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solidFill>
                <a:srgbClr val="0F06B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0F06B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 pulse is represented by two bits. Hence in this case the bit-rate is 8 x 2 = 16 bps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54235E-6FC6-2F12-0D55-240E4A94D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186" y="1660342"/>
            <a:ext cx="7972425" cy="37719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8E0884-AA5C-1DB6-708E-8BB454A68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5DB05-2684-4469-8182-C7969EE60A34}" type="datetime1">
              <a:rPr lang="en-US" smtClean="0"/>
              <a:t>2/23/2025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FAD864-F0F9-296D-9491-16E416DA4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Dr. M. Venu Gopala Rao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17B15-6635-3415-FCCC-84D89B62A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5258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5C9D7-BA2E-664A-F127-D51B352EC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396" y="77821"/>
            <a:ext cx="10515600" cy="623416"/>
          </a:xfrm>
        </p:spPr>
        <p:txBody>
          <a:bodyPr>
            <a:normAutofit/>
          </a:bodyPr>
          <a:lstStyle/>
          <a:p>
            <a:r>
              <a:rPr lang="nn-NO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Signal element versus data element</a:t>
            </a:r>
            <a:endParaRPr lang="en-IN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B4455F-8B52-79E7-5CF3-5983172D7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464" y="2949462"/>
            <a:ext cx="7646882" cy="29649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B7EA7FE-B021-EC60-E857-83456CB99D7C}"/>
              </a:ext>
            </a:extLst>
          </p:cNvPr>
          <p:cNvSpPr txBox="1"/>
          <p:nvPr/>
        </p:nvSpPr>
        <p:spPr>
          <a:xfrm>
            <a:off x="233464" y="701237"/>
            <a:ext cx="1195853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600" b="0" i="0" dirty="0">
                <a:solidFill>
                  <a:srgbClr val="0909B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data element is the smallest entity that represent a piece of information; this is the bit. 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6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signal elements is the shortest unit (timewise) of a digital signal.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600" b="0" i="0" dirty="0">
                <a:solidFill>
                  <a:srgbClr val="2021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 other words, data elements are what we need to send; signal element are what we can send.</a:t>
            </a:r>
            <a:endParaRPr lang="en-IN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9BD4740-3BE2-28F8-4C41-0A3EB950F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6192" y="2403101"/>
            <a:ext cx="2468685" cy="16795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6FAF73E-1E15-9D0C-E3D7-D201C06137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3326" y="4319630"/>
            <a:ext cx="3755210" cy="2360076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7179A6-D3E1-D918-D4FD-658E390A5D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3464" y="6362882"/>
            <a:ext cx="2743200" cy="365125"/>
          </a:xfrm>
        </p:spPr>
        <p:txBody>
          <a:bodyPr/>
          <a:lstStyle/>
          <a:p>
            <a:fld id="{17B2801B-5EA7-4FB9-B571-87E2FC7BB5B8}" type="datetime1">
              <a:rPr lang="en-US" smtClean="0"/>
              <a:t>2/23/2025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9B35DC-781F-C858-8806-C7DB17FA1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D306E-E5FE-F28B-F9EE-8D5EF08F6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7728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699" y="136525"/>
            <a:ext cx="8399440" cy="840658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0C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Bit rate and Baud rate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416" y="1178367"/>
            <a:ext cx="11796583" cy="4501265"/>
          </a:xfrm>
        </p:spPr>
        <p:txBody>
          <a:bodyPr/>
          <a:lstStyle/>
          <a:p>
            <a:pPr lvl="0">
              <a:buFont typeface="Wingdings" pitchFamily="2" charset="2"/>
              <a:buChar char="Ø"/>
            </a:pPr>
            <a:r>
              <a:rPr lang="en-US" sz="3562" dirty="0">
                <a:latin typeface="Arial" pitchFamily="34" charset="0"/>
                <a:cs typeface="Arial" pitchFamily="34" charset="0"/>
              </a:rPr>
              <a:t>Bit rate is the number of bits transmitted over a second.</a:t>
            </a:r>
          </a:p>
          <a:p>
            <a:pPr lvl="0">
              <a:buFont typeface="Wingdings" pitchFamily="2" charset="2"/>
              <a:buChar char="Ø"/>
            </a:pPr>
            <a:r>
              <a:rPr lang="en-US" sz="3562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Baud rate is the number of signal units transmitted over a second.</a:t>
            </a:r>
          </a:p>
          <a:p>
            <a:pPr lvl="0">
              <a:buFont typeface="Wingdings" pitchFamily="2" charset="2"/>
              <a:buChar char="Ø"/>
            </a:pPr>
            <a:r>
              <a:rPr lang="en-US" sz="3562" dirty="0">
                <a:solidFill>
                  <a:srgbClr val="037F29"/>
                </a:solidFill>
                <a:latin typeface="Arial" pitchFamily="34" charset="0"/>
                <a:cs typeface="Arial" pitchFamily="34" charset="0"/>
              </a:rPr>
              <a:t>Baud rate is less than or equal to the bit rate.</a:t>
            </a:r>
          </a:p>
          <a:p>
            <a:pPr lvl="0">
              <a:buFont typeface="Wingdings" pitchFamily="2" charset="2"/>
              <a:buChar char="Ø"/>
            </a:pPr>
            <a:r>
              <a:rPr lang="en-US" sz="3562" dirty="0">
                <a:solidFill>
                  <a:srgbClr val="0C03BD"/>
                </a:solidFill>
                <a:latin typeface="Arial" pitchFamily="34" charset="0"/>
                <a:cs typeface="Arial" pitchFamily="34" charset="0"/>
              </a:rPr>
              <a:t>Baud rate = Bit rate / no. of bits per signal unit</a:t>
            </a:r>
          </a:p>
          <a:p>
            <a:endParaRPr lang="en-US" dirty="0"/>
          </a:p>
        </p:txBody>
      </p:sp>
      <p:graphicFrame>
        <p:nvGraphicFramePr>
          <p:cNvPr id="18944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9989050"/>
              </p:ext>
            </p:extLst>
          </p:nvPr>
        </p:nvGraphicFramePr>
        <p:xfrm>
          <a:off x="4447806" y="4078960"/>
          <a:ext cx="888254" cy="11517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55320" imgH="368280" progId="Equation.DSMT4">
                  <p:embed/>
                </p:oleObj>
              </mc:Choice>
              <mc:Fallback>
                <p:oleObj name="Equation" r:id="rId2" imgW="355320" imgH="368280" progId="Equation.DSMT4">
                  <p:embed/>
                  <p:pic>
                    <p:nvPicPr>
                      <p:cNvPr id="18944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7806" y="4078960"/>
                        <a:ext cx="888254" cy="11517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CDCD3-597D-4FCE-8CEC-B5DFA0DE6487}" type="datetime1">
              <a:rPr lang="en-US" smtClean="0"/>
              <a:t>2/23/2025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E9B9B-DC25-4584-91FA-543B3630D181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</p:spTree>
    <p:extLst>
      <p:ext uri="{BB962C8B-B14F-4D97-AF65-F5344CB8AC3E}">
        <p14:creationId xmlns:p14="http://schemas.microsoft.com/office/powerpoint/2010/main" val="2397171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189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64FFFA-F862-9702-478B-17E355242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093574-8C7F-0684-367E-522C6F257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6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F061C5-EFE4-5AD3-E328-021C2497D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062" y="136525"/>
            <a:ext cx="8055276" cy="31198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369FD52-390F-A6AA-1B66-9260D86A75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062" y="3256325"/>
            <a:ext cx="7938138" cy="34651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EE9F309-F53C-B3E3-9D7B-999475B98F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0515" y="872427"/>
            <a:ext cx="1997180" cy="119956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E0012E2-55F0-1529-3E03-5747185756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4815" y="4444243"/>
            <a:ext cx="1837517" cy="110366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394FA1F-E7E4-2CA2-4B06-36AA36BF2D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7695" y="838380"/>
            <a:ext cx="1204064" cy="58679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E6BD2DA-32CC-5D46-F27F-8C4978A053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8227" y="1485200"/>
            <a:ext cx="1204064" cy="58679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40131D7-A5C4-FB99-461A-5B1BDBCD7F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51768" y="5021038"/>
            <a:ext cx="1204064" cy="58679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92C858C-3958-CE9C-397F-783205C42C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26027" y="4356542"/>
            <a:ext cx="1455546" cy="609653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683E99-3070-1ABF-6697-1FA269698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734B3-9B67-478D-AF47-664BBC9E2107}" type="datetime1">
              <a:rPr lang="en-US" smtClean="0"/>
              <a:t>2/23/2025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1791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2035" y="501883"/>
            <a:ext cx="11819965" cy="5854234"/>
          </a:xfrm>
        </p:spPr>
        <p:txBody>
          <a:bodyPr/>
          <a:lstStyle/>
          <a:p>
            <a:pPr>
              <a:buNone/>
            </a:pPr>
            <a:r>
              <a:rPr lang="en-US" altLang="en-US" dirty="0">
                <a:solidFill>
                  <a:srgbClr val="0C03BD"/>
                </a:solidFill>
                <a:latin typeface="Arial" pitchFamily="34" charset="0"/>
                <a:cs typeface="Arial" pitchFamily="34" charset="0"/>
              </a:rPr>
              <a:t>Ex1: </a:t>
            </a:r>
            <a:r>
              <a:rPr lang="en-US" alt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An analog signal carries 4 bits per signal element. If 1000 signal elements are sent per second, find the bit rate.</a:t>
            </a:r>
          </a:p>
          <a:p>
            <a:pPr>
              <a:buNone/>
            </a:pPr>
            <a:endParaRPr lang="en-US" altLang="en-US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altLang="en-US" dirty="0" err="1">
                <a:latin typeface="Arial" pitchFamily="34" charset="0"/>
                <a:cs typeface="Arial" pitchFamily="34" charset="0"/>
              </a:rPr>
              <a:t>Ans</a:t>
            </a:r>
            <a:r>
              <a:rPr lang="en-US" altLang="en-US" dirty="0">
                <a:latin typeface="Arial" pitchFamily="34" charset="0"/>
                <a:cs typeface="Arial" pitchFamily="34" charset="0"/>
              </a:rPr>
              <a:t>: Baud rate = 1000, No. of elements </a:t>
            </a:r>
            <a:r>
              <a:rPr lang="en-US" altLang="en-US" i="1" dirty="0">
                <a:latin typeface="Arial" pitchFamily="34" charset="0"/>
                <a:cs typeface="Arial" pitchFamily="34" charset="0"/>
              </a:rPr>
              <a:t>N</a:t>
            </a:r>
            <a:r>
              <a:rPr lang="en-US" altLang="en-US" dirty="0">
                <a:latin typeface="Arial" pitchFamily="34" charset="0"/>
                <a:cs typeface="Arial" pitchFamily="34" charset="0"/>
              </a:rPr>
              <a:t> = 4;</a:t>
            </a:r>
          </a:p>
          <a:p>
            <a:pPr>
              <a:buNone/>
            </a:pPr>
            <a:r>
              <a:rPr lang="en-US" altLang="en-US" dirty="0">
                <a:latin typeface="Arial" pitchFamily="34" charset="0"/>
                <a:cs typeface="Arial" pitchFamily="34" charset="0"/>
              </a:rPr>
              <a:t>        Bit rate = 1000 X 4 = 4000 bps.</a:t>
            </a:r>
          </a:p>
          <a:p>
            <a:pPr>
              <a:buNone/>
            </a:pPr>
            <a:endParaRPr lang="en-US" altLang="en-US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alt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Ex2: </a:t>
            </a:r>
            <a:r>
              <a:rPr lang="en-US" altLang="en-US" dirty="0">
                <a:solidFill>
                  <a:srgbClr val="0221BE"/>
                </a:solidFill>
                <a:latin typeface="Arial" pitchFamily="34" charset="0"/>
                <a:cs typeface="Arial" pitchFamily="34" charset="0"/>
              </a:rPr>
              <a:t>An analog signal has a bit rate of 8000 bps and a baud rate of 1000 baud. How many data elements are carried by each signal element? How many signal elements do we need?</a:t>
            </a:r>
          </a:p>
          <a:p>
            <a:pPr>
              <a:buNone/>
            </a:pPr>
            <a:endParaRPr lang="en-US" altLang="en-US" dirty="0">
              <a:solidFill>
                <a:srgbClr val="0221BE"/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altLang="en-US" dirty="0">
                <a:solidFill>
                  <a:srgbClr val="037F29"/>
                </a:solidFill>
                <a:latin typeface="Arial" pitchFamily="34" charset="0"/>
                <a:cs typeface="Arial" pitchFamily="34" charset="0"/>
              </a:rPr>
              <a:t>     Data elements = Bit rate / baud rate = 8 bits / baud</a:t>
            </a:r>
          </a:p>
          <a:p>
            <a:pPr>
              <a:buNone/>
            </a:pPr>
            <a:r>
              <a:rPr lang="en-US" dirty="0">
                <a:solidFill>
                  <a:srgbClr val="0221BE"/>
                </a:solidFill>
                <a:latin typeface="Arial" pitchFamily="34" charset="0"/>
                <a:cs typeface="Arial" pitchFamily="34" charset="0"/>
              </a:rPr>
              <a:t>   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Then the number of signal elements L = 2</a:t>
            </a:r>
            <a:r>
              <a:rPr lang="en-US" baseline="30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8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= 256 levels.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5731CE-36B7-4132-1EE1-B0CBC6EBE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A4343-5FA3-4980-9993-61530FF7485F}" type="datetime1">
              <a:rPr lang="en-US" smtClean="0"/>
              <a:t>2/23/2025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53D978-BF4F-4F54-9FEC-228267436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E2C525-773F-B1D3-2454-06D54414A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7764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96901"/>
            <a:ext cx="10515600" cy="890651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221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Bandwidth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" y="987552"/>
            <a:ext cx="11714048" cy="569563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actual bandwidth necessary to propagate a given bit rate depends on several factors,</a:t>
            </a:r>
          </a:p>
          <a:p>
            <a:pPr marL="1079500">
              <a:buFont typeface="Wingdings" panose="05000000000000000000" pitchFamily="2" charset="2"/>
              <a:buChar char="v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0221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including the type of encoding and modulation used, </a:t>
            </a:r>
          </a:p>
          <a:p>
            <a:pPr marL="107950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0221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types of filters used, system noise, and </a:t>
            </a:r>
          </a:p>
          <a:p>
            <a:pPr marL="107950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desired error performance.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ideal bandwidth is generally used for comparison purposes only.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The relationship between bandwidth and bit rate also applies to the opposite situation. For a given bandwidth (</a:t>
            </a:r>
            <a:r>
              <a:rPr lang="en-US" i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B), the highest theoretical bit rate is 2B.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i="1" dirty="0">
                <a:latin typeface="Arial" pitchFamily="34" charset="0"/>
                <a:cs typeface="Arial" pitchFamily="34" charset="0"/>
              </a:rPr>
              <a:t> </a:t>
            </a:r>
            <a:endParaRPr lang="en-US" dirty="0">
              <a:solidFill>
                <a:srgbClr val="0221B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2EA332-807C-F79B-62AC-6836CCE8C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9E1AC-D6DF-41C2-802F-DA41950515F2}" type="datetime1">
              <a:rPr lang="en-US" smtClean="0"/>
              <a:t>2/23/2025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730BC-F061-3090-91A5-AF553285A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B754C8-ED20-2DC7-A5A2-E9FC5EFEC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25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29297" y="103442"/>
            <a:ext cx="4769168" cy="5313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71512" y="630344"/>
            <a:ext cx="8265223" cy="103795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19684" y="1666871"/>
            <a:ext cx="5286375" cy="23145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374005" y="1689835"/>
            <a:ext cx="4248150" cy="8286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5806059" y="2900449"/>
            <a:ext cx="4286250" cy="7715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609725" y="3688507"/>
            <a:ext cx="7772400" cy="89535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048446" y="4539687"/>
            <a:ext cx="2228850" cy="40957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7853934" y="4574328"/>
            <a:ext cx="2238375" cy="40957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2185131" y="5068054"/>
            <a:ext cx="2857500" cy="13716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7949184" y="5010078"/>
            <a:ext cx="2457663" cy="175235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1E2782-D1E4-C0EE-13A9-6AAEAF72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1A836-C86C-4CA6-A7A1-63A400CF7584}" type="datetime1">
              <a:rPr lang="en-US" smtClean="0"/>
              <a:t>2/23/2025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1499F2-36A1-2EEC-41A1-4FC059E83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FE0D65-CB30-9161-2BEC-90A9D48E3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1383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89026" y="0"/>
            <a:ext cx="3519678" cy="5049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66129" y="607314"/>
            <a:ext cx="8829104" cy="203935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66129" y="2646667"/>
            <a:ext cx="8181593" cy="4099011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2BECA6-C521-3A3C-670E-7DFB992E1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BFDB3-A171-4E3B-91B1-37A2A2A4F9B7}" type="datetime1">
              <a:rPr lang="en-US" smtClean="0"/>
              <a:t>2/23/2025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AA9D32-23C2-5E62-1251-6FAD1DBE0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395ED7-9D03-60E1-35B4-CBBAC1F52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18620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00456" y="99631"/>
            <a:ext cx="4727448" cy="52908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21511" y="737426"/>
            <a:ext cx="6369177" cy="220955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97254" y="3055686"/>
            <a:ext cx="9341739" cy="281905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121664" y="6129719"/>
            <a:ext cx="9737217" cy="497258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8FFA1E-DCA4-6A79-9670-98507954F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F1300-58D0-4C1B-AF28-09321284AC21}" type="datetime1">
              <a:rPr lang="en-US" smtClean="0"/>
              <a:t>2/23/2025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035790-AC58-1D44-5BC4-87B99A8E5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4242A88-49BD-B410-4CB4-CBFAA5BC7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0412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59855" y="155258"/>
            <a:ext cx="4882706" cy="51286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59855" y="668119"/>
            <a:ext cx="7186993" cy="175201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59855" y="2420135"/>
            <a:ext cx="8729853" cy="172358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59855" y="4172151"/>
            <a:ext cx="7457312" cy="109585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658368" y="5649087"/>
            <a:ext cx="4376928" cy="881775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4D9A92-F712-95FF-EC5A-595095965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EDECE-4516-4177-86A8-BD2B05E724FA}" type="datetime1">
              <a:rPr lang="en-US" smtClean="0"/>
              <a:t>2/23/2025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D7BD1B-4C0A-3C22-C655-3212A18FD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54E188-B11B-1B9C-3505-DBFB55EA9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24249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7090" y="163223"/>
            <a:ext cx="6591413" cy="500507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Performance Measures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79317" y="663730"/>
            <a:ext cx="11244596" cy="154057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79317" y="2295726"/>
            <a:ext cx="10999880" cy="287875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159698" y="5334000"/>
            <a:ext cx="6787745" cy="122891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E96891-D2E7-5E48-F8BD-EC33E9E43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54C6E-4848-4F56-9FBB-1FD66271F691}" type="datetime1">
              <a:rPr lang="en-US" smtClean="0"/>
              <a:t>2/23/2025</a:t>
            </a:fld>
            <a:endParaRPr lang="en-IN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636297F-743E-C538-493A-AD4B5CD0D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EA66A42-E137-AFC8-FD26-CCFE6020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36841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4372" y="222694"/>
            <a:ext cx="10790488" cy="234778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509141" y="2910780"/>
            <a:ext cx="9053000" cy="12345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B81423-0158-1F2D-891B-42ECD8DC6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55212-5619-498E-B71D-5C130DA6276B}" type="datetime1">
              <a:rPr lang="en-US" smtClean="0"/>
              <a:t>2/23/2025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3EACDB-BA6F-8694-E7DD-26B928087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A9943-C734-FC61-C869-AB29FB278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88206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4295" y="193458"/>
            <a:ext cx="4908803" cy="61023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Error Function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11201" y="803693"/>
            <a:ext cx="9798304" cy="571252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BF0301-AF64-CEA2-F552-9BF4D361F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A478D-E87B-408A-92C5-5955162E16F5}" type="datetime1">
              <a:rPr lang="en-US" smtClean="0"/>
              <a:t>2/23/2025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7FBA9E-FAC4-8DB8-7782-25EF5F945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82CD7B-E1BF-329F-CF5B-F9B3E2589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25839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" y="145669"/>
            <a:ext cx="10515600" cy="378587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Error Function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131504" y="609600"/>
            <a:ext cx="8694992" cy="6180098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3B53-9FAC-B0A4-94F5-70A7312B9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56405-B15D-49CD-B03E-BAA568BDCD5E}" type="datetime1">
              <a:rPr lang="en-US" smtClean="0"/>
              <a:t>2/23/2025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B642E-5818-AD1E-DF56-B35E0198D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D91BE-B9A7-06B3-0BE8-FA05DBF16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15681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6517" y="397193"/>
            <a:ext cx="9970389" cy="573659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Orthogonal Properties of Sine and Cosine Terms</a:t>
            </a:r>
            <a:br>
              <a:rPr lang="en-US" sz="3200" dirty="0"/>
            </a:br>
            <a:endParaRPr lang="en-US" sz="32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48842" y="971430"/>
            <a:ext cx="9970389" cy="152793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48842" y="2499360"/>
            <a:ext cx="10533396" cy="108248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48842" y="3614489"/>
            <a:ext cx="8934070" cy="118454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67275" y="4982718"/>
            <a:ext cx="9097204" cy="991362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4DE626-F0AD-A76B-BCBE-F8779343B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E9D7E-2B43-4D65-81BF-7817CE5D955E}" type="datetime1">
              <a:rPr lang="en-US" smtClean="0"/>
              <a:t>2/23/2025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1A898-165F-8D52-005B-38DE69030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8F2398-5139-27B2-3AAB-9CA8F302E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39880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05955" y="163448"/>
            <a:ext cx="10761917" cy="6370635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48B3F2-F143-B35C-FED8-E38A85F25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BC718-8D2E-4ADF-B751-EEEEFCF419DA}" type="datetime1">
              <a:rPr lang="en-US" smtClean="0"/>
              <a:t>2/23/2025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78E5FA-8961-2936-E3B1-B0E275DF8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AF1E3D-637E-5EB5-0903-ABFE47C06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28547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45CAC-E977-2F3C-6F5F-44179CEF4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1638" y="2874861"/>
            <a:ext cx="3033409" cy="132556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A7FD3A-5042-3BFF-BAFA-74F708BA0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1A088-8BC8-4A99-A1B7-3988A1762481}" type="datetime1">
              <a:rPr lang="en-US" smtClean="0"/>
              <a:t>2/23/2025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56ADE3-3FCF-5548-1A0E-C257F8DF4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EB8572-0039-FF2B-F9D2-1DEB1A130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93349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df66832-8a96-40a9-b472-27b1b671652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1B4054966B8914981DF84CE0611BBF3" ma:contentTypeVersion="16" ma:contentTypeDescription="Create a new document." ma:contentTypeScope="" ma:versionID="df4401971fe1472aefb2287f2b42b038">
  <xsd:schema xmlns:xsd="http://www.w3.org/2001/XMLSchema" xmlns:xs="http://www.w3.org/2001/XMLSchema" xmlns:p="http://schemas.microsoft.com/office/2006/metadata/properties" xmlns:ns3="9df66832-8a96-40a9-b472-27b1b671652b" xmlns:ns4="3ef07bbe-7178-465e-b37e-c96ad76c7ba2" targetNamespace="http://schemas.microsoft.com/office/2006/metadata/properties" ma:root="true" ma:fieldsID="8f55f25a984c6d559814fe32ab22ce0f" ns3:_="" ns4:_="">
    <xsd:import namespace="9df66832-8a96-40a9-b472-27b1b671652b"/>
    <xsd:import namespace="3ef07bbe-7178-465e-b37e-c96ad76c7ba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_activity" minOccurs="0"/>
                <xsd:element ref="ns3:MediaServiceObjectDetectorVersions" minOccurs="0"/>
                <xsd:element ref="ns3:MediaLengthInSecond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f66832-8a96-40a9-b472-27b1b67165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f07bbe-7178-465e-b37e-c96ad76c7ba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4A4D56B-9EDA-4F8D-84ED-5B5B230CCC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3942E90-F73C-42DC-BE25-1F552216703B}">
  <ds:schemaRefs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9df66832-8a96-40a9-b472-27b1b671652b"/>
    <ds:schemaRef ds:uri="http://purl.org/dc/terms/"/>
    <ds:schemaRef ds:uri="http://purl.org/dc/elements/1.1/"/>
    <ds:schemaRef ds:uri="http://schemas.microsoft.com/office/2006/metadata/properties"/>
    <ds:schemaRef ds:uri="3ef07bbe-7178-465e-b37e-c96ad76c7ba2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824D7D36-6208-4CBE-AB2E-D44A06D3D67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df66832-8a96-40a9-b472-27b1b671652b"/>
    <ds:schemaRef ds:uri="3ef07bbe-7178-465e-b37e-c96ad76c7ba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595</TotalTime>
  <Words>749</Words>
  <Application>Microsoft Office PowerPoint</Application>
  <PresentationFormat>Widescreen</PresentationFormat>
  <Paragraphs>117</Paragraphs>
  <Slides>19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Calibri Light</vt:lpstr>
      <vt:lpstr>Times New Roman</vt:lpstr>
      <vt:lpstr>Wingdings</vt:lpstr>
      <vt:lpstr>Office Theme</vt:lpstr>
      <vt:lpstr>Equation</vt:lpstr>
      <vt:lpstr>Digital Communication 23EC2208</vt:lpstr>
      <vt:lpstr>Digital Signals</vt:lpstr>
      <vt:lpstr>Digital Signals</vt:lpstr>
      <vt:lpstr>Signal element versus data element</vt:lpstr>
      <vt:lpstr>Bit rate and Baud rate </vt:lpstr>
      <vt:lpstr>PowerPoint Presentation</vt:lpstr>
      <vt:lpstr>PowerPoint Presentation</vt:lpstr>
      <vt:lpstr>                        Bandwidth</vt:lpstr>
      <vt:lpstr>PowerPoint Presentation</vt:lpstr>
      <vt:lpstr>PowerPoint Presentation</vt:lpstr>
      <vt:lpstr>PowerPoint Presentation</vt:lpstr>
      <vt:lpstr>PowerPoint Presentation</vt:lpstr>
      <vt:lpstr>Performance Measures</vt:lpstr>
      <vt:lpstr>PowerPoint Presentation</vt:lpstr>
      <vt:lpstr>Error Function</vt:lpstr>
      <vt:lpstr>Error Function</vt:lpstr>
      <vt:lpstr>Orthogonal Properties of Sine and Cosine Terms </vt:lpstr>
      <vt:lpstr>PowerPoint Presentation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MVGR</dc:creator>
  <cp:lastModifiedBy>D Sreenivasa Rao</cp:lastModifiedBy>
  <cp:revision>32</cp:revision>
  <dcterms:created xsi:type="dcterms:W3CDTF">2023-05-08T13:48:07Z</dcterms:created>
  <dcterms:modified xsi:type="dcterms:W3CDTF">2025-02-23T14:24:23Z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0x010100F1B4054966B8914981DF84CE0611BBF3</vt:lpwstr>
  </property>
</Properties>
</file>