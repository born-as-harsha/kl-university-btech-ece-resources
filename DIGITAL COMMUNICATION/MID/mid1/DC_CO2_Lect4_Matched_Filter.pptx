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326" r:id="rId2"/>
    <p:sldId id="256" r:id="rId3"/>
    <p:sldId id="266" r:id="rId4"/>
    <p:sldId id="847" r:id="rId5"/>
    <p:sldId id="267" r:id="rId6"/>
    <p:sldId id="257" r:id="rId7"/>
    <p:sldId id="258" r:id="rId8"/>
    <p:sldId id="259" r:id="rId9"/>
    <p:sldId id="265" r:id="rId10"/>
    <p:sldId id="264" r:id="rId11"/>
    <p:sldId id="263" r:id="rId12"/>
    <p:sldId id="260" r:id="rId13"/>
    <p:sldId id="262" r:id="rId14"/>
    <p:sldId id="33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90"/>
    <a:srgbClr val="574FFB"/>
    <a:srgbClr val="746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DFB1B-B235-4137-9253-6D3AA0B446A3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B0BD0-20E0-40E8-B7D6-BB3E5A568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080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B0BD0-20E0-40E8-B7D6-BB3E5A568AD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017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B0BD0-20E0-40E8-B7D6-BB3E5A568AD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56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0D90-AC71-DA59-C9F1-8815686F5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9A1BA-3D50-B025-B7CA-30A3A590D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58AAF-D574-C803-5D68-6D594E83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2A3A-E36E-40BA-B911-3FC400E74A1E}" type="datetime1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ED6C-0AC3-4BDB-3D15-9E6C1309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892D0-AE74-E213-AC87-57BF2A6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2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75F9-148C-A114-0BB5-53ADA09B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D3288-520E-A564-A44B-909FB6E20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73DCB-06D1-B921-559A-A8700787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24F0-5E18-45AE-B9DC-DE840390367B}" type="datetime1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C6C7E-BDD1-9EFB-733E-EE59DBAD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3087B-DD4E-FFFE-7E95-76C09837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43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C97B-F5BF-228E-3CD4-A999AC69B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ED30C-2160-006F-0906-69A6FA099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9BE88-6897-17DF-2080-9C220008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59A8-6B46-46BF-B173-6339D0FA7500}" type="datetime1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E1DC4-989B-6C9B-C900-77BB23CF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2C416-211B-A44C-8854-824C5F42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87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E799-1552-E792-9995-116C7047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CB7CB-0467-9473-F97C-15916212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EEAC5-FB99-5230-3285-5768F854F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3D40D-39DF-A1AD-4776-D777E421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DFE3D-5A61-4D5A-A9C1-2E994647798D}" type="datetime1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63160-3A70-9FC0-B43E-554F53E4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3B27F-982A-1CD0-7BD5-D378B16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07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BAFB-D97A-3B24-7773-53D118A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B0D97-2698-FDD6-7B49-701837300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0A3ED-F7F4-EC96-C7D3-CD5E44223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24662F-2DEE-EE04-D01C-AB0F542FE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DDC05-4770-F2E8-DD08-1C62746E0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E3BF08-8168-6A58-5529-63896E0C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C70B-0861-4053-97FF-46F91BF0CD5A}" type="datetime1">
              <a:rPr lang="en-IN" smtClean="0"/>
              <a:t>06-02-2025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1E02E-A625-287D-466D-B263330D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4865A-7013-0F8F-E5C5-26941135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88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BCB5-3BD8-766E-8C75-40ECC185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9BA33-8661-B199-0719-4ED261F0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7F18-F6C9-4663-971D-1B4C37E4C0B0}" type="datetime1">
              <a:rPr lang="en-IN" smtClean="0"/>
              <a:t>06-02-2025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2AD10-4D19-A100-61C2-819E64319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AFD07-3873-D9CA-00FD-51B63285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61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43ABF-BA03-15A4-2620-99443AE9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654-305C-4C0F-B066-64A44FAB37DC}" type="datetime1">
              <a:rPr lang="en-IN" smtClean="0"/>
              <a:t>06-02-2025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91A3A-ED17-C481-C1EA-A8CD8B57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01963-50C5-325B-85E9-129F9651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89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67DC-46D2-C9A5-FB24-9047319F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6E1DC-31E7-C3DD-6E73-BD06D4C3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94536-7BCB-2A64-B241-2DF87BA26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24862-0135-D15B-7AD9-E7DB9E41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89310-6C96-47AC-B6C8-B7366026293D}" type="datetime1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A94E1-EB41-4183-091D-5232E9C0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40E80-808D-345D-00A6-4324D20D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66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384-9FA3-154C-9B99-E8965993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AF19B8-6CB9-EFEC-9456-06C59969D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96E2D-D36D-37A4-031E-98C6D049C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C666-1332-5EE6-98BA-92517261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AB55F-98D9-452F-A9B9-DC0896DE969E}" type="datetime1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E0AE7-64EE-C0DC-3668-B2F1EC9F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1DE0B-634E-4200-A3AA-963B1295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673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7E5C-8A2E-A44D-035B-AC47A9A4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48275-567F-A3E0-FBE6-316BA1D94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A5207-0B6D-3667-91EC-5B37057C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2F14-00A0-49C3-B712-B50D11AE89E2}" type="datetime1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F98A4-358D-3CDD-CD14-E936D8A2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4189D-1057-13E7-9E96-7ACACD0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57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C82B7-C54B-36DD-87C8-428CCE136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ACF94-CD69-C6E8-FA2B-3BE9A040A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59701-F96C-A874-1AAE-CD5D9A65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76A-2006-4E1C-9908-A387D0B50951}" type="datetime1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42DC9-9434-A179-E654-BC14E042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686FC-22CE-8E94-204B-D8F28E08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85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609A7D-4267-DFB5-044F-C780B300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500C1-702A-AA7E-06DC-920DD0094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6726A-8563-9D47-6F7E-8E6C4C198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375E1-FE5E-4952-8C53-73679EEBFE2F}" type="datetime1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F8776-5A29-93C8-7E06-0A38A62EA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34BE1-9344-7120-9836-E86AECBB0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0787A-E6B1-46A5-94DD-BCD26C547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73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09800" y="191959"/>
            <a:ext cx="7772400" cy="819237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778476" y="2438400"/>
            <a:ext cx="10223157" cy="3295136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M. </a:t>
            </a:r>
            <a:r>
              <a:rPr lang="en-US" altLang="en-US" sz="4000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Venu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025A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Gopala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A.M.I.E.T.E</a:t>
            </a:r>
            <a:r>
              <a:rPr lang="en-US" altLang="en-US" sz="4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Cert. in R.S.T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&amp; Guild’s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Institute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F.I.E.T.E,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L.M.I.S.T.E,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I.S.O.I.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S.S.I.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M.I.A.E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ECE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L University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mvgr03@kluniversity.in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524000" y="1370785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/>
              <a:t>Matched Filter</a:t>
            </a:r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AFBE-5C38-45CA-FBB3-DF668759F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649" y="726946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Baseband Pulse Transmission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dirty="0">
                <a:solidFill>
                  <a:srgbClr val="7465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Matched Filter</a:t>
            </a:r>
            <a:endParaRPr lang="en-IN" sz="4800" dirty="0">
              <a:solidFill>
                <a:srgbClr val="7465E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E4531-9DDC-123E-10CE-57B4117057FA}"/>
              </a:ext>
            </a:extLst>
          </p:cNvPr>
          <p:cNvSpPr txBox="1"/>
          <p:nvPr/>
        </p:nvSpPr>
        <p:spPr>
          <a:xfrm>
            <a:off x="120474" y="5327480"/>
            <a:ext cx="11902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term base-band is used to designate the band of frequencies representing the original signal delivered by a source of information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43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E842E1-774D-6E2E-98CF-7B1C27591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8" y="172995"/>
            <a:ext cx="11982382" cy="649965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BA4449-EE14-DF59-7ABA-3C6761B33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8733609-880B-FAD0-7C4E-449A2FBC71B7}"/>
              </a:ext>
            </a:extLst>
          </p:cNvPr>
          <p:cNvSpPr/>
          <p:nvPr/>
        </p:nvSpPr>
        <p:spPr>
          <a:xfrm>
            <a:off x="10070761" y="2690785"/>
            <a:ext cx="2088308" cy="162172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08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62080"/>
          </a:xfrm>
        </p:spPr>
        <p:txBody>
          <a:bodyPr>
            <a:normAutofit/>
          </a:bodyPr>
          <a:lstStyle/>
          <a:p>
            <a:pPr algn="ctr"/>
            <a:r>
              <a:rPr lang="en-US" sz="3600" b="1" kern="1200" dirty="0">
                <a:solidFill>
                  <a:srgbClr val="1A0FF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Binary Base-band data transmission System</a:t>
            </a:r>
            <a:endParaRPr lang="en-IN" sz="3600" dirty="0">
              <a:solidFill>
                <a:srgbClr val="1A0FFD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9942A-2C44-4227-E453-F5E39078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957D2C-3FCF-FCEE-EAB9-F7B696F0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3967"/>
            <a:ext cx="12192000" cy="244024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C2B059B-AB10-E05F-9D6B-F65BEB701DE0}"/>
              </a:ext>
            </a:extLst>
          </p:cNvPr>
          <p:cNvSpPr/>
          <p:nvPr/>
        </p:nvSpPr>
        <p:spPr>
          <a:xfrm>
            <a:off x="5202198" y="1529255"/>
            <a:ext cx="1227438" cy="12386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4107C-6F27-DE23-263A-588620DF8D39}"/>
              </a:ext>
            </a:extLst>
          </p:cNvPr>
          <p:cNvSpPr txBox="1"/>
          <p:nvPr/>
        </p:nvSpPr>
        <p:spPr>
          <a:xfrm>
            <a:off x="120474" y="5327480"/>
            <a:ext cx="11902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term base-band is used to designate the band of frequencies representing the original signal delivered by a source of information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9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751A37F-F622-E496-090D-2F8667A5A299}"/>
              </a:ext>
            </a:extLst>
          </p:cNvPr>
          <p:cNvSpPr txBox="1"/>
          <p:nvPr/>
        </p:nvSpPr>
        <p:spPr>
          <a:xfrm>
            <a:off x="340840" y="12357"/>
            <a:ext cx="9668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diagram of a baseband binary transceiver</a:t>
            </a:r>
            <a:endParaRPr lang="en-IN" sz="3200" dirty="0">
              <a:solidFill>
                <a:srgbClr val="574F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420D61-FBFE-32C1-DBF7-01D97DAA9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076" y="691978"/>
            <a:ext cx="7386911" cy="587567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9BBF02-66AF-EE22-C4F4-1F0AF65F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195721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82D4-34C4-91BA-B78B-9D081BE8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92" y="0"/>
            <a:ext cx="10515600" cy="80876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Matched Filter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B9CE9-D453-D40D-1789-12CA50A62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0" y="951470"/>
            <a:ext cx="12031362" cy="554818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transmission of digital data over a baseband channel is affected by channel noise as illustrated below: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basic problem that often arises in the study of communication systems is that of 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detecting a pulse transmitted over a channel that is corrupted by channel noise</a:t>
            </a:r>
            <a:r>
              <a:rPr lang="en-US" sz="3200" b="0" i="0" u="none" strike="noStrike" baseline="0" dirty="0">
                <a:solidFill>
                  <a:srgbClr val="7465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7465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device (an LTI filter) for optimum detection of a pulse corrupted by noise in the channel is referred to as Matched filter.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i.e.,the</a:t>
            </a:r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impulse response of the Matched filter is matched to the pulse signal.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29948-387D-D1A3-8A9D-72E43450C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23" y="1813096"/>
            <a:ext cx="8535829" cy="11388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A074E-35B7-6A47-A119-7DA5C52F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31763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08E3-DA6A-DC12-626E-EA4981CC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02" y="10659"/>
            <a:ext cx="10515600" cy="85819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Matched Filter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D7B50-915F-016D-D22E-00FCB7870BA3}"/>
              </a:ext>
            </a:extLst>
          </p:cNvPr>
          <p:cNvSpPr txBox="1"/>
          <p:nvPr/>
        </p:nvSpPr>
        <p:spPr>
          <a:xfrm>
            <a:off x="140557" y="724341"/>
            <a:ext cx="117378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matched filter is a linear filter designed to provide the maximum signal-to-noise power ratio at its output. This is very often used at the receiver.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94EF58-393D-0948-7E79-F7F6CED98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8045"/>
            <a:ext cx="12192000" cy="40755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62620D-5EFF-236B-0A41-8D805089CBB8}"/>
              </a:ext>
            </a:extLst>
          </p:cNvPr>
          <p:cNvSpPr txBox="1"/>
          <p:nvPr/>
        </p:nvSpPr>
        <p:spPr>
          <a:xfrm>
            <a:off x="358345" y="1900935"/>
            <a:ext cx="2735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</a:t>
            </a:r>
            <a:r>
              <a:rPr lang="en-US" sz="2800" b="1" dirty="0">
                <a:solidFill>
                  <a:srgbClr val="FF0000"/>
                </a:solidFill>
              </a:rPr>
              <a:t> Model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3C787-1B42-1E2B-2A63-88AE731E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59695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D1AE5-B94E-E9B5-81BE-C21FFB468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0" y="182176"/>
            <a:ext cx="12080789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Consider that the filter input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consists of a pulse signal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corrupted by additive noise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assumed that the receiver has knowledge of the waveform of the pulse signal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of uncertainty lies in the noise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function of receiver is to detect the pulse signal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an optimum manner, given the received signal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b="0" i="0" u="none" strike="noStrike" baseline="0" dirty="0">
                <a:solidFill>
                  <a:srgbClr val="574F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purpose of the circuit is to design an impulse response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the filter such that the output signal-to-noise ratio is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maximized.</a:t>
            </a:r>
            <a:endParaRPr lang="en-IN" sz="2400" dirty="0">
              <a:solidFill>
                <a:srgbClr val="574F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DE3D3-8DCC-3AF1-F8E4-26568FAE285F}"/>
              </a:ext>
            </a:extLst>
          </p:cNvPr>
          <p:cNvSpPr txBox="1"/>
          <p:nvPr/>
        </p:nvSpPr>
        <p:spPr>
          <a:xfrm>
            <a:off x="3086100" y="2991020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F5BCDD-9E7D-64A1-0F34-504C97767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88" y="5993028"/>
            <a:ext cx="10534588" cy="813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189CF7-FF2B-AC16-75A7-7511E33B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674" y="3637430"/>
            <a:ext cx="8654430" cy="253176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43AB9E-0DE7-0F71-0559-E5DE4454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59270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D6BAD1-8A1C-F943-14B8-2CA7A5017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86" y="108172"/>
            <a:ext cx="8003060" cy="2675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32B34F-D880-B2CC-06C8-30CAF32C4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528" y="2905125"/>
            <a:ext cx="5972175" cy="523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847182-CFF7-0CB8-9FB3-BCE9FCC2A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142" y="3414782"/>
            <a:ext cx="3933825" cy="514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1E50D4-FDF1-ADC2-F999-6D7D65BDF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012" y="4038739"/>
            <a:ext cx="2162175" cy="400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A5BED3-F784-450D-E309-CEF85D7B82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9393" y="4438790"/>
            <a:ext cx="6750780" cy="8630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1373F5-1464-08A4-881D-7C83B827A3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2829" y="5448579"/>
            <a:ext cx="10151909" cy="86307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2621F7-9A91-13BE-448B-6DA0AEB2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15708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56C094-FD25-79EC-9391-9BA19C91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65" y="0"/>
            <a:ext cx="9018759" cy="259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9F824B-C161-A655-A158-AA6A937A0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8" y="2531376"/>
            <a:ext cx="10445996" cy="545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5EB09B-3BBD-9C54-CC29-B4D817F94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52" y="3039769"/>
            <a:ext cx="8305476" cy="476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25BEAD-6F45-71B5-178A-A3CF99A8D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53" y="3625988"/>
            <a:ext cx="10263476" cy="545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97F0FA-4F53-D593-0516-1C943CCD1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898" y="4224580"/>
            <a:ext cx="7030320" cy="5454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17043A-AC3D-3EA2-894D-8C82327DC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188" y="4831813"/>
            <a:ext cx="10098998" cy="765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A0B582-D865-33C7-D806-60AF8B65A3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014" y="5722604"/>
            <a:ext cx="10020300" cy="92392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F8A286-615E-52F3-F9FE-9225E96B7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57895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C1426D-8854-C0CD-F965-CD2EE5C7D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512" y="162947"/>
            <a:ext cx="5813161" cy="1380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F204C-7D9D-F880-DBF7-D7C163935CF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contrast="20000"/>
          </a:blip>
          <a:stretch>
            <a:fillRect/>
          </a:stretch>
        </p:blipFill>
        <p:spPr>
          <a:xfrm>
            <a:off x="266512" y="1543050"/>
            <a:ext cx="5813161" cy="977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D5A2A-67C4-15CB-8E91-4CBE82A28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5805" y="613839"/>
            <a:ext cx="5813160" cy="2048964"/>
          </a:xfrm>
          <a:prstGeom prst="rect">
            <a:avLst/>
          </a:prstGeom>
          <a:solidFill>
            <a:schemeClr val="accent2"/>
          </a:solidFill>
          <a:ln w="57150">
            <a:solidFill>
              <a:srgbClr val="FF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4EDCA3-B5B5-5F02-FA8E-1AA5819C3B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4559" y="2725885"/>
            <a:ext cx="8109853" cy="65074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290DC9-1A10-4299-DC28-54D100CA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F80E2-2C18-CE42-A66F-6CC78D605D16}"/>
              </a:ext>
            </a:extLst>
          </p:cNvPr>
          <p:cNvSpPr txBox="1"/>
          <p:nvPr/>
        </p:nvSpPr>
        <p:spPr>
          <a:xfrm>
            <a:off x="5106241" y="136525"/>
            <a:ext cx="6094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C00000"/>
                </a:solidFill>
              </a:rPr>
              <a:t>AWGN:</a:t>
            </a:r>
            <a:r>
              <a:rPr lang="en-US" sz="2800" b="1" dirty="0">
                <a:solidFill>
                  <a:srgbClr val="00B050"/>
                </a:solidFill>
              </a:rPr>
              <a:t> Additive White Gaussian Noise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8A090-F281-0530-33BC-AE073753EC1F}"/>
              </a:ext>
            </a:extLst>
          </p:cNvPr>
          <p:cNvSpPr txBox="1"/>
          <p:nvPr/>
        </p:nvSpPr>
        <p:spPr>
          <a:xfrm>
            <a:off x="404560" y="3402604"/>
            <a:ext cx="11662573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Additive white Gaussian noise</a:t>
            </a:r>
            <a:r>
              <a:rPr 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US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AWGN</a:t>
            </a:r>
            <a:r>
              <a:rPr 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is a basic noise model used in 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information theory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 to mimic the effect of many random processes that occur in nature. </a:t>
            </a:r>
          </a:p>
          <a:p>
            <a:pPr algn="just">
              <a:lnSpc>
                <a:spcPct val="150000"/>
              </a:lnSpc>
            </a:pPr>
            <a:r>
              <a:rPr lang="en-US" b="1" i="1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Additive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 because it is added to any noise that might be intrinsic to the information system.</a:t>
            </a:r>
          </a:p>
          <a:p>
            <a:pPr algn="just">
              <a:lnSpc>
                <a:spcPct val="150000"/>
              </a:lnSpc>
            </a:pPr>
            <a:r>
              <a:rPr lang="en-US" b="1" i="1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White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 refers to the idea that it has uniform 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power spectral density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 across the frequency band for the information system. It is an analogy to the 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color white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 which may be realized by uniform emissions at all frequencies in the 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visible spectrum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i="1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Gaussian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 because it has a 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normal distribution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 in the time domain with an average time domain value of zero (</a:t>
            </a:r>
            <a:r>
              <a:rPr lang="en-US" b="0" i="0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Gaussian process</a:t>
            </a:r>
            <a:r>
              <a:rPr lang="en-US" b="0" i="0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7021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EC33D5-45A9-DD11-C802-02E2A441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08" y="297530"/>
            <a:ext cx="8092163" cy="1779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5FC613-207A-58E7-2736-1EA5968F4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31" y="2212511"/>
            <a:ext cx="10644350" cy="666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FA5932-0E7F-1927-840B-10BC50D34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89" y="3138616"/>
            <a:ext cx="11781783" cy="473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6DF93B-71A2-0DAC-3FDC-36C446F48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82" y="3986226"/>
            <a:ext cx="11451929" cy="154960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E0B13E-6E01-DD14-86FA-FF01AF2A4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545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FF8E-B03C-E1A1-8F84-F29AD48A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24" y="0"/>
            <a:ext cx="6378146" cy="67284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Matched Filter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D8C3C-3891-110C-7430-778A13CD9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3" y="672842"/>
            <a:ext cx="11837773" cy="6271655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ts val="3200"/>
              <a:buNone/>
              <a:tabLst>
                <a:tab pos="723265" algn="l"/>
              </a:tabLst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Property1</a:t>
            </a:r>
            <a:r>
              <a:rPr lang="en-US" dirty="0"/>
              <a:t>.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</a:t>
            </a:r>
            <a:r>
              <a:rPr lang="en-US" spc="21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filter</a:t>
            </a:r>
            <a:r>
              <a:rPr lang="en-US" spc="10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matched</a:t>
            </a:r>
            <a:r>
              <a:rPr lang="en-US" i="1" spc="22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to</a:t>
            </a:r>
            <a:r>
              <a:rPr lang="en-US" i="1" spc="14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</a:t>
            </a:r>
            <a:r>
              <a:rPr lang="en-US" i="1" spc="-17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pulse</a:t>
            </a:r>
            <a:r>
              <a:rPr lang="en-US" i="1" spc="49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signal</a:t>
            </a:r>
            <a:r>
              <a:rPr lang="en-US" i="1" spc="37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g(t)</a:t>
            </a:r>
            <a:r>
              <a:rPr lang="en-US" i="1" spc="27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of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duration </a:t>
            </a:r>
            <a:r>
              <a:rPr lang="en-US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characterized</a:t>
            </a:r>
            <a:r>
              <a:rPr lang="en-US" spc="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by an impulse</a:t>
            </a:r>
            <a:r>
              <a:rPr lang="en-US" spc="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response</a:t>
            </a:r>
            <a:r>
              <a:rPr lang="en-US" spc="14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that</a:t>
            </a:r>
            <a:r>
              <a:rPr lang="en-US" spc="7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</a:t>
            </a:r>
            <a:r>
              <a:rPr lang="en-US" spc="4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time-reversed</a:t>
            </a:r>
            <a:r>
              <a:rPr lang="en-US" spc="26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lang="en-US" spc="10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delayed</a:t>
            </a:r>
            <a:r>
              <a:rPr lang="en-US" spc="-77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version</a:t>
            </a:r>
            <a:r>
              <a:rPr lang="en-US" spc="22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pc="24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20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input</a:t>
            </a:r>
            <a:r>
              <a:rPr lang="en-US" spc="135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g(t)</a:t>
            </a: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Property2</a:t>
            </a:r>
            <a:r>
              <a:rPr lang="en-US" dirty="0"/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matched filter is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uniquely defined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the waveform of the pulse but for the: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ts val="3535"/>
              </a:lnSpc>
              <a:spcBef>
                <a:spcPts val="600"/>
              </a:spcBef>
              <a:spcAft>
                <a:spcPts val="600"/>
              </a:spcAft>
              <a:buSzPts val="3200"/>
              <a:buNone/>
              <a:tabLst>
                <a:tab pos="723265" algn="l"/>
              </a:tabLst>
            </a:pPr>
            <a:r>
              <a:rPr lang="en-US" dirty="0">
                <a:solidFill>
                  <a:srgbClr val="574FF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-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time delay T</a:t>
            </a:r>
          </a:p>
          <a:p>
            <a:pPr marL="0" indent="0" algn="just">
              <a:lnSpc>
                <a:spcPts val="3535"/>
              </a:lnSpc>
              <a:spcBef>
                <a:spcPts val="600"/>
              </a:spcBef>
              <a:spcAft>
                <a:spcPts val="600"/>
              </a:spcAft>
              <a:buSzPts val="3200"/>
              <a:buNone/>
              <a:tabLst>
                <a:tab pos="723265" algn="l"/>
              </a:tabLst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- Scaling factor k                                 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1200"/>
              </a:spcAft>
              <a:buSzPts val="3200"/>
              <a:buNone/>
              <a:tabLst>
                <a:tab pos="723265" algn="l"/>
              </a:tabLst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42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peak</a:t>
            </a:r>
            <a:r>
              <a:rPr lang="en-US" spc="47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signal-to-noise </a:t>
            </a:r>
            <a:r>
              <a:rPr lang="en-US" spc="-66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ratio</a:t>
            </a:r>
            <a:r>
              <a:rPr lang="en-US" spc="20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pc="36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17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matched</a:t>
            </a:r>
            <a:r>
              <a:rPr lang="en-US" spc="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filter</a:t>
            </a:r>
            <a:r>
              <a:rPr lang="en-US" spc="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depends</a:t>
            </a:r>
            <a:r>
              <a:rPr lang="en-US" spc="67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only</a:t>
            </a:r>
            <a:r>
              <a:rPr lang="en-US" spc="67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</a:t>
            </a:r>
            <a:r>
              <a:rPr lang="en-US" spc="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14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ratio</a:t>
            </a:r>
            <a:r>
              <a:rPr lang="en-US" spc="7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pc="25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10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signal energy</a:t>
            </a:r>
            <a:r>
              <a:rPr lang="en-US" spc="43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</a:t>
            </a:r>
            <a:r>
              <a:rPr lang="en-US" spc="17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9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power spectral</a:t>
            </a:r>
            <a:r>
              <a:rPr lang="en-US" spc="-4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density</a:t>
            </a:r>
            <a:r>
              <a:rPr lang="en-US" spc="18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pc="-2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white</a:t>
            </a:r>
            <a:r>
              <a:rPr lang="en-US" spc="3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noise</a:t>
            </a:r>
            <a:r>
              <a:rPr lang="en-US" spc="20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</a:t>
            </a:r>
            <a:r>
              <a:rPr lang="en-US" spc="10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pc="-85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74FF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filter input.</a:t>
            </a: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ts val="3535"/>
              </a:lnSpc>
              <a:spcBef>
                <a:spcPts val="1030"/>
              </a:spcBef>
              <a:spcAft>
                <a:spcPts val="0"/>
              </a:spcAft>
              <a:buSzPts val="3200"/>
              <a:buNone/>
              <a:tabLst>
                <a:tab pos="723265" algn="l"/>
              </a:tabLst>
            </a:pPr>
            <a:endParaRPr lang="en-US" dirty="0">
              <a:solidFill>
                <a:srgbClr val="574FFB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8211EB-8DAD-2BE5-E41C-82E87F0C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292" y="1557161"/>
            <a:ext cx="6067167" cy="5192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F2AC8A-49FB-11E1-F2CB-A142C6BA5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303" y="2084057"/>
            <a:ext cx="7361408" cy="6165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FBA72-24DF-84E0-FC7D-2506C747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158523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AA9E-561E-8FC1-690A-3C4B219C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24" y="2766218"/>
            <a:ext cx="1633152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0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</TotalTime>
  <Words>709</Words>
  <Application>Microsoft Office PowerPoint</Application>
  <PresentationFormat>Widescreen</PresentationFormat>
  <Paragraphs>63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Digital Communication</vt:lpstr>
      <vt:lpstr>Baseband Pulse Transmission Matched Filter</vt:lpstr>
      <vt:lpstr>PowerPoint Presentation</vt:lpstr>
      <vt:lpstr>Binary Base-band data transmission System</vt:lpstr>
      <vt:lpstr>PowerPoint Presentation</vt:lpstr>
      <vt:lpstr>Introduction to Matched Filter</vt:lpstr>
      <vt:lpstr>Matched Filter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Properties of Matched Filter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Baseband Pulse Transmission Matched Filter</dc:title>
  <dc:creator>MVGR</dc:creator>
  <cp:lastModifiedBy>syam sundar pillalamarri</cp:lastModifiedBy>
  <cp:revision>19</cp:revision>
  <dcterms:created xsi:type="dcterms:W3CDTF">2023-12-23T13:44:20Z</dcterms:created>
  <dcterms:modified xsi:type="dcterms:W3CDTF">2025-02-06T04:23:04Z</dcterms:modified>
</cp:coreProperties>
</file>