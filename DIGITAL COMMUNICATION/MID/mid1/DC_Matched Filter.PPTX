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61" r:id="rId5"/>
    <p:sldId id="258" r:id="rId6"/>
    <p:sldId id="262" r:id="rId7"/>
    <p:sldId id="259" r:id="rId8"/>
    <p:sldId id="263" r:id="rId9"/>
    <p:sldId id="264" r:id="rId10"/>
    <p:sldId id="265" r:id="rId11"/>
    <p:sldId id="266" r:id="rId12"/>
    <p:sldId id="270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9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01A8A-11D2-121B-4595-D18FA9ECCF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8D1A6C-B5F3-C13D-C83E-60D6FD2AA4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D7674-D67A-AF26-25D5-42897BF28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EBFE-A96B-489A-BBBD-8BC35B4B9472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5FF71-B58E-9C76-E72D-879E7F2DA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18880-DE17-339A-C2C1-F9F58BF5F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4ED6-242C-4A85-9A31-FF117DD1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887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56CE8-6569-79F1-955E-630DC44DB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AB73E-A275-5AB9-D477-CAF1692CF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A0849-C1E5-FE15-72C1-AFA372800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EBFE-A96B-489A-BBBD-8BC35B4B9472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4F6AE-19D5-0A30-1F76-87F74B946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61B0F-4069-3234-DE0F-BF38EA03F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4ED6-242C-4A85-9A31-FF117DD1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228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7CD81-6CAA-FCE8-BD43-12B57D8FA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0A666-8624-4CC5-E168-218AB4311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26AAA-ACA9-A2A3-6EF2-C3293D180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EBFE-A96B-489A-BBBD-8BC35B4B9472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9951B-B7F9-E656-7923-38E982E8E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1EBA2-88C7-C755-3707-C41BAC36A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4ED6-242C-4A85-9A31-FF117DD1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18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B1D52-2523-2944-9B2E-AAA1281D0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D3F4F-CA15-F56B-60C3-CE2BBB647A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9DD3E1-98EF-E5E0-98F3-3FEEB41DD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6B4207-C530-8CD9-555A-48CE4160B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EBFE-A96B-489A-BBBD-8BC35B4B9472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0A311-2220-C558-F4A6-B3A5A8F70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1B8B2D-AA7A-09FE-6EBE-20493486F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4ED6-242C-4A85-9A31-FF117DD1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321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6154E-528C-F165-ACF2-027596B24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9C6CC-1D39-D861-3BAE-F8E85A6C6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842BE-ED5E-9818-5D4E-6623DE38BB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922011-9786-78BB-2BBD-B5619501C2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602719-A083-FF39-FA7E-3496FF236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11AEC3-780D-7A2F-EAA1-F25579206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EBFE-A96B-489A-BBBD-8BC35B4B9472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0E3319-9513-9CAB-269D-8DB91E185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262037-C1FA-2F38-A869-9E4277B97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4ED6-242C-4A85-9A31-FF117DD1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145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5AADA-E1AA-FBB1-41AD-9D88A7249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CCABA2-9138-3639-6D67-D1B9DD221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EBFE-A96B-489A-BBBD-8BC35B4B9472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58C2B0-EA3A-25AC-7695-04869CC94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71C3A5-9E43-A031-5ACC-CC2AA50BF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4ED6-242C-4A85-9A31-FF117DD1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301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3D38D2-A925-6FD8-3CA3-A02C9E0E0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EBFE-A96B-489A-BBBD-8BC35B4B9472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FB0096-5D18-0829-2C8B-69024BD90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8DEA8-75FE-F115-B7DA-52E3A7986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4ED6-242C-4A85-9A31-FF117DD1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871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DDDD4-E045-C4C3-2E62-1E944025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61D81-3186-7FE8-53B7-A6C6FC16C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59D69A-6DE2-8070-00E1-947B2B351C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04ECA-5002-1C6E-1AF6-27099D73B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EBFE-A96B-489A-BBBD-8BC35B4B9472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E6D797-F0F4-1D62-F1FC-9ED49528A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A605A-6731-320A-00BA-080AF4C5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4ED6-242C-4A85-9A31-FF117DD1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6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A85FA-AA03-471D-233B-04283152D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D524DC-C37D-4F96-8D56-9CE1361622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DF57BA-3727-2B42-D77D-3F61A9946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3193B-37E5-7A34-6E38-6CD53ECA2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EBFE-A96B-489A-BBBD-8BC35B4B9472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3B415-A654-2980-6D60-24DCC2D59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8F5D1-DB76-FE8B-9A0D-0B88A9E5D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4ED6-242C-4A85-9A31-FF117DD1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71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BB450-84D0-ADD9-9C7A-DC574AD00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EEB204-DA7F-B09E-2AB2-D5ADE0C04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32676-60A6-804E-CBB8-139A64FEC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EBFE-A96B-489A-BBBD-8BC35B4B9472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7B29F-8EA5-345F-7274-61CCE857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56315-B860-748B-2123-F708C576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4ED6-242C-4A85-9A31-FF117DD1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672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1E740B-A8E7-904D-A1BA-CCF4E5EB6D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56E27-C02A-F8CE-DA03-F83D3E4DEE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5C69E-58C1-9338-1788-233CB291A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EBFE-A96B-489A-BBBD-8BC35B4B9472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011B1-123F-E816-F277-64F075717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E2E26-E865-5E57-E7BE-742DBDB79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4ED6-242C-4A85-9A31-FF117DD1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18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6EEFE7-645E-561B-39A5-FE52A13D8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46033C-177C-8F75-82E2-D27E4B601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F4459-9A7E-171C-71F4-4ECB1BE831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B5EBFE-A96B-489A-BBBD-8BC35B4B9472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DA6A7-A1E8-90A2-1617-561941294B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90633-B550-40E0-5343-30E5F8F27C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2D4ED6-242C-4A85-9A31-FF117DD1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369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microsoft.com/office/2007/relationships/hdphoto" Target="../media/hdphoto4.wdp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6E7D6C-4484-4692-BA0D-8227CAD105BF}"/>
              </a:ext>
            </a:extLst>
          </p:cNvPr>
          <p:cNvSpPr txBox="1"/>
          <p:nvPr/>
        </p:nvSpPr>
        <p:spPr>
          <a:xfrm>
            <a:off x="1019014" y="1674674"/>
            <a:ext cx="10279250" cy="3363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 A matched filter is used at the receiver to maximize the Signal-to-Noise Ratio (SNR) for a given transmitted signal.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 It is designed to match the shape of the transmitted pulse to optimally extract the signal from noise.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 Practical channel impairments (such as multipath effects) can cause signal distortion, leading to ISI.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3E549D-2CBD-541D-ABC1-6493ABA2D2EA}"/>
              </a:ext>
            </a:extLst>
          </p:cNvPr>
          <p:cNvSpPr txBox="1"/>
          <p:nvPr/>
        </p:nvSpPr>
        <p:spPr>
          <a:xfrm>
            <a:off x="1158499" y="768479"/>
            <a:ext cx="60985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Matched Filter</a:t>
            </a:r>
            <a:r>
              <a:rPr lang="en-US" sz="32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192366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0C2592-060A-4837-68CE-0EBA17551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90" y="393992"/>
            <a:ext cx="6070016" cy="60700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4052F6-613D-0307-8F0C-D8FFF67AB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415" y="2923354"/>
            <a:ext cx="5368487" cy="39056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A6BF59-596A-50B8-64C6-F0C284F814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6206" y="393992"/>
            <a:ext cx="2648804" cy="20205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5B66CF-2DF3-CBED-4660-86D30067C1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5536" y="393992"/>
            <a:ext cx="2698683" cy="2020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875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F9FDDF-B6E8-3852-C678-4809655C049C}"/>
              </a:ext>
            </a:extLst>
          </p:cNvPr>
          <p:cNvSpPr txBox="1"/>
          <p:nvPr/>
        </p:nvSpPr>
        <p:spPr>
          <a:xfrm>
            <a:off x="1026117" y="1643280"/>
            <a:ext cx="10139765" cy="391703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buFont typeface="Arial" panose="020B0604020202020204" pitchFamily="34" charset="0"/>
              <a:buChar char="•"/>
              <a:defRPr sz="2400"/>
            </a:lvl1pPr>
          </a:lstStyle>
          <a:p>
            <a:pPr algn="just"/>
            <a:r>
              <a:rPr lang="en-US" dirty="0"/>
              <a:t> ISI occurs when transmitted symbols spread into adjacent symbol periods due to channel imperfections (such as multipath propagation or bandwidth limitations).</a:t>
            </a:r>
          </a:p>
          <a:p>
            <a:pPr algn="just"/>
            <a:r>
              <a:rPr lang="en-US" dirty="0"/>
              <a:t> While a matched filter maximizes SNR, it does not inherently eliminate ISI. </a:t>
            </a:r>
          </a:p>
          <a:p>
            <a:pPr algn="just"/>
            <a:r>
              <a:rPr lang="en-US" dirty="0"/>
              <a:t> It can sometimes enhance it if the channel is dispersive.</a:t>
            </a:r>
          </a:p>
          <a:p>
            <a:pPr algn="just"/>
            <a:r>
              <a:rPr lang="en-US" dirty="0"/>
              <a:t> To mitigate ISI, additional signal processing is required, which leads to the use of equalizers.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267DAD-88C8-F225-B311-1AB12D7F5BD8}"/>
              </a:ext>
            </a:extLst>
          </p:cNvPr>
          <p:cNvSpPr txBox="1"/>
          <p:nvPr/>
        </p:nvSpPr>
        <p:spPr>
          <a:xfrm>
            <a:off x="1344479" y="721984"/>
            <a:ext cx="6098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US" dirty="0"/>
              <a:t>Inter-Symbol Interference (ISI):</a:t>
            </a:r>
          </a:p>
        </p:txBody>
      </p:sp>
    </p:spTree>
    <p:extLst>
      <p:ext uri="{BB962C8B-B14F-4D97-AF65-F5344CB8AC3E}">
        <p14:creationId xmlns:p14="http://schemas.microsoft.com/office/powerpoint/2010/main" val="4237931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FCF533-B51F-6305-86C0-10429B86C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59" y="353264"/>
            <a:ext cx="5937177" cy="59371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7C6E40-1CAD-5CCC-F676-D5F8ADB40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206" y="393992"/>
            <a:ext cx="2648804" cy="20205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1D9D93-DCB4-8CAB-B047-70C9E21584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5536" y="393992"/>
            <a:ext cx="2698683" cy="20205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BC7329-57BD-5706-ECAC-EDDBEA8366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7603" y="2766849"/>
            <a:ext cx="5155818" cy="387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247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52204E-B89E-52C3-0B6D-12FE305D3F54}"/>
              </a:ext>
            </a:extLst>
          </p:cNvPr>
          <p:cNvSpPr txBox="1"/>
          <p:nvPr/>
        </p:nvSpPr>
        <p:spPr>
          <a:xfrm>
            <a:off x="1173997" y="1747481"/>
            <a:ext cx="10077772" cy="336303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lnSpc>
                <a:spcPct val="150000"/>
              </a:lnSpc>
              <a:buFont typeface="Arial" panose="020B0604020202020204" pitchFamily="34" charset="0"/>
              <a:buChar char="•"/>
              <a:defRPr sz="2400"/>
            </a:lvl1pPr>
          </a:lstStyle>
          <a:p>
            <a:r>
              <a:rPr lang="en-US" dirty="0"/>
              <a:t> Equalizers are used to counteract ISI and recover the transmitted symbols as accurately as possible.</a:t>
            </a:r>
          </a:p>
          <a:p>
            <a:r>
              <a:rPr lang="en-US" dirty="0"/>
              <a:t> They attempt to invert the channel effects and restore signal integrity.</a:t>
            </a:r>
          </a:p>
          <a:p>
            <a:r>
              <a:rPr lang="en-US" dirty="0"/>
              <a:t> Common types of equalizers include linear equalizers, decision feedback equalizers (DFE), and adaptive equalizers like the Least Mean Squares (LMS) algorithm.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4C1138-39D4-A91D-B5B2-F1D29B603E6D}"/>
              </a:ext>
            </a:extLst>
          </p:cNvPr>
          <p:cNvSpPr txBox="1"/>
          <p:nvPr/>
        </p:nvSpPr>
        <p:spPr>
          <a:xfrm>
            <a:off x="1421970" y="690987"/>
            <a:ext cx="6098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US"/>
              <a:t>Equalizers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549588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C5E245-3EAE-E8C6-C57B-C0502DCB9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86" y="233562"/>
            <a:ext cx="5978052" cy="59780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CE0EBF8-1FD7-8ACD-12D1-E7C12BCE6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206" y="393992"/>
            <a:ext cx="2648804" cy="20205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19453A-6571-A422-A02D-28301BAD4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5536" y="393992"/>
            <a:ext cx="2698683" cy="20205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940A8E-D123-790E-9025-BF7D23416D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9404" y="2751059"/>
            <a:ext cx="5092263" cy="388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762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619005-3D06-9ECD-2D10-478B6C408961}"/>
              </a:ext>
            </a:extLst>
          </p:cNvPr>
          <p:cNvSpPr txBox="1"/>
          <p:nvPr/>
        </p:nvSpPr>
        <p:spPr>
          <a:xfrm>
            <a:off x="585060" y="228995"/>
            <a:ext cx="11395129" cy="17010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lnSpc>
                <a:spcPct val="150000"/>
              </a:lnSpc>
              <a:buFont typeface="Arial" panose="020B0604020202020204" pitchFamily="34" charset="0"/>
              <a:buChar char="•"/>
              <a:defRPr sz="2400"/>
            </a:lvl1pPr>
          </a:lstStyle>
          <a:p>
            <a:r>
              <a:rPr lang="en-US" dirty="0"/>
              <a:t> A matched filter is typically the first step in the receiver to improve SNR.</a:t>
            </a:r>
          </a:p>
          <a:p>
            <a:r>
              <a:rPr lang="en-US" dirty="0"/>
              <a:t> If the channel introduces ISI, the matched filter alone is not enough, and equalizers are used to mitigate ISI and recover the transmitted data.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171CCF-89A3-07E6-E1ED-9862A3BC0DBA}"/>
              </a:ext>
            </a:extLst>
          </p:cNvPr>
          <p:cNvSpPr txBox="1"/>
          <p:nvPr/>
        </p:nvSpPr>
        <p:spPr>
          <a:xfrm>
            <a:off x="585060" y="1930038"/>
            <a:ext cx="4250411" cy="391703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lnSpc>
                <a:spcPct val="150000"/>
              </a:lnSpc>
              <a:buFont typeface="Arial" panose="020B0604020202020204" pitchFamily="34" charset="0"/>
              <a:buChar char="•"/>
              <a:defRPr sz="2400"/>
            </a:lvl1pPr>
          </a:lstStyle>
          <a:p>
            <a:pPr>
              <a:buNone/>
            </a:pPr>
            <a:r>
              <a:rPr lang="en-US" b="1" dirty="0"/>
              <a:t>Matched filters enhance SNR, </a:t>
            </a:r>
          </a:p>
          <a:p>
            <a:pPr>
              <a:buNone/>
            </a:pPr>
            <a:r>
              <a:rPr lang="en-US" b="1" dirty="0"/>
              <a:t>ISI is an unwanted effect caused by the channel</a:t>
            </a:r>
          </a:p>
          <a:p>
            <a:pPr>
              <a:buNone/>
            </a:pPr>
            <a:r>
              <a:rPr lang="en-US" b="1" dirty="0"/>
              <a:t>Equalizers are used to overcome ISI and improve signal detection.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1DB2C6-6A18-0F65-3535-441CF31BC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830" y="2203812"/>
            <a:ext cx="5722279" cy="435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318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154F33-7EE2-58AA-C886-060B49BD635C}"/>
              </a:ext>
            </a:extLst>
          </p:cNvPr>
          <p:cNvSpPr txBox="1"/>
          <p:nvPr/>
        </p:nvSpPr>
        <p:spPr>
          <a:xfrm>
            <a:off x="523068" y="647450"/>
            <a:ext cx="112401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The transmitted signal consists of rectangular pulses, representing digital symbols (e.g., 1, -1, 1, -1).</a:t>
            </a:r>
          </a:p>
          <a:p>
            <a:pPr algn="just"/>
            <a:r>
              <a:rPr lang="en-US" dirty="0"/>
              <a:t>In the frequency domain, a square wave has high-frequency components, making it look sharp in the time domain.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01A32-CAB3-E377-9028-B73464A6F8BE}"/>
              </a:ext>
            </a:extLst>
          </p:cNvPr>
          <p:cNvSpPr txBox="1"/>
          <p:nvPr/>
        </p:nvSpPr>
        <p:spPr>
          <a:xfrm>
            <a:off x="523068" y="2097723"/>
            <a:ext cx="1124014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(a) Matched Filtering Effect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matched filter</a:t>
            </a:r>
            <a:r>
              <a:rPr lang="en-US" dirty="0"/>
              <a:t> is typically a </a:t>
            </a:r>
            <a:r>
              <a:rPr lang="en-US" b="1" dirty="0"/>
              <a:t>low-pass filter</a:t>
            </a:r>
            <a:r>
              <a:rPr lang="en-US" dirty="0"/>
              <a:t>, designed to </a:t>
            </a:r>
            <a:r>
              <a:rPr lang="en-US" b="1" dirty="0"/>
              <a:t>maximize SNR</a:t>
            </a:r>
            <a:r>
              <a:rPr lang="en-US" dirty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It removes </a:t>
            </a:r>
            <a:r>
              <a:rPr lang="en-US" b="1" dirty="0"/>
              <a:t>high-frequency components</a:t>
            </a:r>
            <a:r>
              <a:rPr lang="en-US" dirty="0"/>
              <a:t>, causing the signal to </a:t>
            </a:r>
            <a:r>
              <a:rPr lang="en-US" b="1" dirty="0"/>
              <a:t>lose its sharp edges</a:t>
            </a:r>
            <a:r>
              <a:rPr lang="en-US" dirty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This makes the signal look more rounded and less like a perfect square wave.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(b) Channel Effects (ISI and Multipath)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channel introduces inter-symbol interference (ISI)</a:t>
            </a:r>
            <a:r>
              <a:rPr lang="en-US" dirty="0"/>
              <a:t>, which causes spreading and overlap between symbols.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This further smoothens the signal because adjacent symbols start affecting each other.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(c) Equalization Process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LMS equalizer</a:t>
            </a:r>
            <a:r>
              <a:rPr lang="en-US" dirty="0"/>
              <a:t> aims to </a:t>
            </a:r>
            <a:r>
              <a:rPr lang="en-US" b="1" dirty="0"/>
              <a:t>remove ISI</a:t>
            </a:r>
            <a:r>
              <a:rPr lang="en-US" dirty="0"/>
              <a:t>, but it does not perfectly reconstruct the original sharp edges.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It compensates for distortions but may still </a:t>
            </a:r>
            <a:r>
              <a:rPr lang="en-US" b="1" dirty="0"/>
              <a:t>preserve some filtering effects</a:t>
            </a:r>
            <a:r>
              <a:rPr lang="en-US" dirty="0"/>
              <a:t>, leading to a smoother waveform.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equalizer output is usually </a:t>
            </a:r>
            <a:r>
              <a:rPr lang="en-US" b="1" dirty="0"/>
              <a:t>closer to the original signal</a:t>
            </a:r>
            <a:r>
              <a:rPr lang="en-US" dirty="0"/>
              <a:t> but not exactly a square wave.</a:t>
            </a:r>
          </a:p>
        </p:txBody>
      </p:sp>
    </p:spTree>
    <p:extLst>
      <p:ext uri="{BB962C8B-B14F-4D97-AF65-F5344CB8AC3E}">
        <p14:creationId xmlns:p14="http://schemas.microsoft.com/office/powerpoint/2010/main" val="620639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DE7F6B-2236-CFEB-C74C-897CE8A5E08C}"/>
              </a:ext>
            </a:extLst>
          </p:cNvPr>
          <p:cNvSpPr txBox="1"/>
          <p:nvPr/>
        </p:nvSpPr>
        <p:spPr>
          <a:xfrm>
            <a:off x="492072" y="448927"/>
            <a:ext cx="1148811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If the system had ideal infinite bandwidth and no noise, we would recover the perfect square wave. </a:t>
            </a:r>
          </a:p>
          <a:p>
            <a:pPr algn="just"/>
            <a:r>
              <a:rPr lang="en-US" dirty="0"/>
              <a:t>In practical systems:</a:t>
            </a:r>
          </a:p>
          <a:p>
            <a:pPr algn="just"/>
            <a:r>
              <a:rPr lang="en-US" dirty="0"/>
              <a:t>The receiver filter limits the signal bandwidth. </a:t>
            </a:r>
          </a:p>
          <a:p>
            <a:pPr algn="just"/>
            <a:r>
              <a:rPr lang="en-US" dirty="0"/>
              <a:t>Equalization improves symbol detection but does not necessarily reconstruct sharp transitions. </a:t>
            </a:r>
          </a:p>
          <a:p>
            <a:pPr algn="just"/>
            <a:r>
              <a:rPr lang="en-US" dirty="0"/>
              <a:t>The band-limited nature of real-world channels prevents perfect square wave recovery.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4F0086-6C73-BAA3-6722-FE869808E44D}"/>
              </a:ext>
            </a:extLst>
          </p:cNvPr>
          <p:cNvSpPr txBox="1"/>
          <p:nvPr/>
        </p:nvSpPr>
        <p:spPr>
          <a:xfrm>
            <a:off x="492072" y="2205193"/>
            <a:ext cx="111936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to Improve Square Wave Recovery</a:t>
            </a:r>
          </a:p>
          <a:p>
            <a:pPr algn="just"/>
            <a:r>
              <a:rPr lang="en-US" dirty="0"/>
              <a:t>✅ </a:t>
            </a:r>
            <a:r>
              <a:rPr lang="en-US" b="1" dirty="0"/>
              <a:t>Use a Higher Bandwidth Channel</a:t>
            </a: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 wider channel bandwidth allows sharper transitions to be preserved.</a:t>
            </a:r>
          </a:p>
          <a:p>
            <a:pPr algn="just"/>
            <a:r>
              <a:rPr lang="en-US" dirty="0"/>
              <a:t>✅ </a:t>
            </a:r>
            <a:r>
              <a:rPr lang="en-US" b="1" dirty="0"/>
              <a:t>Apply Nonlinear Equalization (e.g., Decision Feedback Equalizer - DFE)</a:t>
            </a: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This can </a:t>
            </a:r>
            <a:r>
              <a:rPr lang="en-US" b="1" dirty="0"/>
              <a:t>better restore sharp transitions</a:t>
            </a:r>
            <a:r>
              <a:rPr lang="en-US" dirty="0"/>
              <a:t> compared to linear equalizers.</a:t>
            </a:r>
          </a:p>
          <a:p>
            <a:pPr algn="just"/>
            <a:r>
              <a:rPr lang="en-US" dirty="0"/>
              <a:t>✅ </a:t>
            </a:r>
            <a:r>
              <a:rPr lang="en-US" b="1" dirty="0"/>
              <a:t>Use a Different Transmit Pulse Shape (e.g., Raised Cosine Filter)</a:t>
            </a: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Some pulse shapes reduce ISI while keeping transitions sharper.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2A6568-6F3A-20D4-CD05-E9F0F339F3DC}"/>
              </a:ext>
            </a:extLst>
          </p:cNvPr>
          <p:cNvSpPr txBox="1"/>
          <p:nvPr/>
        </p:nvSpPr>
        <p:spPr>
          <a:xfrm>
            <a:off x="506278" y="4515456"/>
            <a:ext cx="1134863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The </a:t>
            </a:r>
            <a:r>
              <a:rPr lang="en-US" b="1" dirty="0"/>
              <a:t>received equalized signal looks smoother</a:t>
            </a:r>
            <a:r>
              <a:rPr lang="en-US" dirty="0"/>
              <a:t> because: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Matched filtering removes high-frequency components.</a:t>
            </a:r>
            <a:endParaRPr lang="en-US" dirty="0"/>
          </a:p>
          <a:p>
            <a:pPr algn="just">
              <a:buFont typeface="+mj-lt"/>
              <a:buAutoNum type="arabicPeriod"/>
            </a:pPr>
            <a:r>
              <a:rPr lang="en-US" b="1" dirty="0"/>
              <a:t>ISI spreads symbol edges, further smoothing the waveform.</a:t>
            </a:r>
            <a:endParaRPr lang="en-US" dirty="0"/>
          </a:p>
          <a:p>
            <a:pPr algn="just">
              <a:buFont typeface="+mj-lt"/>
              <a:buAutoNum type="arabicPeriod"/>
            </a:pPr>
            <a:r>
              <a:rPr lang="en-US" b="1" dirty="0"/>
              <a:t>The equalizer compensates for distortions but does not fully recover the original sharp transitions.</a:t>
            </a:r>
            <a:endParaRPr lang="en-US" dirty="0"/>
          </a:p>
          <a:p>
            <a:pPr algn="just">
              <a:buFont typeface="+mj-lt"/>
              <a:buAutoNum type="arabicPeriod"/>
            </a:pPr>
            <a:r>
              <a:rPr lang="en-US" b="1" dirty="0"/>
              <a:t>Practical systems always have bandwidth limitations that prevent perfect square wave reconstruction.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69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96EC35C0-D70E-F1F1-B9E8-6649D3113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943" y="2896407"/>
            <a:ext cx="2619375" cy="17430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5E2D407-402D-539D-D537-E7AC3FA9C6DA}"/>
              </a:ext>
            </a:extLst>
          </p:cNvPr>
          <p:cNvSpPr txBox="1"/>
          <p:nvPr/>
        </p:nvSpPr>
        <p:spPr>
          <a:xfrm>
            <a:off x="3678264" y="432870"/>
            <a:ext cx="4835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EYE DIAGRAMS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89FBBD-3B24-48F4-4B4C-5245FC88DECF}"/>
              </a:ext>
            </a:extLst>
          </p:cNvPr>
          <p:cNvSpPr txBox="1"/>
          <p:nvPr/>
        </p:nvSpPr>
        <p:spPr>
          <a:xfrm>
            <a:off x="1131375" y="1105403"/>
            <a:ext cx="10196270" cy="1432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</a:rPr>
              <a:t>SUMMARIZES THE EFFECTS OF ISI BY SHOWING RESPONSES OF 0’S AND 1’S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</a:rPr>
              <a:t>GENERATED BY OVERLAYING PLOTS OF RECEIVED SIGNAL FOR EVERY SYMBOL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</a:rPr>
              <a:t>RESULTANT LOOKS LIKE AN EYE AND HENCE CALLED EYE DIAGRAM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E09FBC2-87DD-E187-6760-BEED913DF1E9}"/>
              </a:ext>
            </a:extLst>
          </p:cNvPr>
          <p:cNvGrpSpPr/>
          <p:nvPr/>
        </p:nvGrpSpPr>
        <p:grpSpPr>
          <a:xfrm>
            <a:off x="1131375" y="2900855"/>
            <a:ext cx="4086184" cy="2052680"/>
            <a:chOff x="1131375" y="2900855"/>
            <a:chExt cx="4086184" cy="205268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E0444F0-E014-2FF9-3962-8B394898F5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2483" t="28483" r="6610" b="16770"/>
            <a:stretch/>
          </p:blipFill>
          <p:spPr>
            <a:xfrm>
              <a:off x="1131375" y="3156265"/>
              <a:ext cx="4086184" cy="179727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016A304-7678-5926-6D5C-163C49E1E0F6}"/>
                </a:ext>
              </a:extLst>
            </p:cNvPr>
            <p:cNvSpPr txBox="1"/>
            <p:nvPr/>
          </p:nvSpPr>
          <p:spPr>
            <a:xfrm>
              <a:off x="1131375" y="2900855"/>
              <a:ext cx="3866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    1           0           1          0          1          0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3FD4565-F2C5-264F-E3A9-07B5D1723EAD}"/>
              </a:ext>
            </a:extLst>
          </p:cNvPr>
          <p:cNvGrpSpPr/>
          <p:nvPr/>
        </p:nvGrpSpPr>
        <p:grpSpPr>
          <a:xfrm>
            <a:off x="6896746" y="2900855"/>
            <a:ext cx="2619213" cy="1593653"/>
            <a:chOff x="6896746" y="2900855"/>
            <a:chExt cx="2619213" cy="159365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9D14031-F410-227B-7607-2503333235A9}"/>
                </a:ext>
              </a:extLst>
            </p:cNvPr>
            <p:cNvCxnSpPr/>
            <p:nvPr/>
          </p:nvCxnSpPr>
          <p:spPr>
            <a:xfrm>
              <a:off x="7191214" y="2900855"/>
              <a:ext cx="0" cy="159365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7557C1C-9BC9-3260-B415-48B00D9D30BA}"/>
                </a:ext>
              </a:extLst>
            </p:cNvPr>
            <p:cNvCxnSpPr/>
            <p:nvPr/>
          </p:nvCxnSpPr>
          <p:spPr>
            <a:xfrm>
              <a:off x="9221490" y="2900855"/>
              <a:ext cx="0" cy="159365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6E01DD-61AF-94A4-191E-8912F2483ECA}"/>
                </a:ext>
              </a:extLst>
            </p:cNvPr>
            <p:cNvCxnSpPr/>
            <p:nvPr/>
          </p:nvCxnSpPr>
          <p:spPr>
            <a:xfrm>
              <a:off x="6896746" y="3595607"/>
              <a:ext cx="2619213" cy="0"/>
            </a:xfrm>
            <a:prstGeom prst="line">
              <a:avLst/>
            </a:prstGeom>
            <a:ln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1E17494-3C6F-D597-13A3-AF42DBBC9F80}"/>
              </a:ext>
            </a:extLst>
          </p:cNvPr>
          <p:cNvSpPr txBox="1"/>
          <p:nvPr/>
        </p:nvSpPr>
        <p:spPr>
          <a:xfrm>
            <a:off x="9672833" y="4309842"/>
            <a:ext cx="1654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MAGNITUDE 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EF9A8E-5001-FA1B-783E-18A23664611F}"/>
              </a:ext>
            </a:extLst>
          </p:cNvPr>
          <p:cNvSpPr txBox="1"/>
          <p:nvPr/>
        </p:nvSpPr>
        <p:spPr>
          <a:xfrm>
            <a:off x="9672833" y="2819021"/>
            <a:ext cx="1654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MAGNITUDE 1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6FDE200-6825-55AE-D281-9624E7BE34DB}"/>
              </a:ext>
            </a:extLst>
          </p:cNvPr>
          <p:cNvGrpSpPr/>
          <p:nvPr/>
        </p:nvGrpSpPr>
        <p:grpSpPr>
          <a:xfrm>
            <a:off x="7191214" y="2854362"/>
            <a:ext cx="2030276" cy="1593653"/>
            <a:chOff x="7191214" y="2885357"/>
            <a:chExt cx="2030276" cy="1593653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F841C52-4098-9FB7-47AB-5ED7FFD6BC7F}"/>
                </a:ext>
              </a:extLst>
            </p:cNvPr>
            <p:cNvCxnSpPr/>
            <p:nvPr/>
          </p:nvCxnSpPr>
          <p:spPr>
            <a:xfrm>
              <a:off x="7191214" y="2900855"/>
              <a:ext cx="203027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D6E672F-F8D7-389E-722F-711569D6B5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21490" y="2885357"/>
              <a:ext cx="0" cy="159365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0308DAB-148B-3458-E0B3-066E4B64A95A}"/>
              </a:ext>
            </a:extLst>
          </p:cNvPr>
          <p:cNvGrpSpPr/>
          <p:nvPr/>
        </p:nvGrpSpPr>
        <p:grpSpPr>
          <a:xfrm>
            <a:off x="7191214" y="2854361"/>
            <a:ext cx="2030276" cy="1593653"/>
            <a:chOff x="7191214" y="2885356"/>
            <a:chExt cx="2030276" cy="1593653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AC9177F-944D-4BC7-0A12-BE2B5E7D1B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91214" y="2885356"/>
              <a:ext cx="0" cy="1593653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9EB591C-3DD1-083F-76E7-5CBB3277D9AA}"/>
                </a:ext>
              </a:extLst>
            </p:cNvPr>
            <p:cNvCxnSpPr/>
            <p:nvPr/>
          </p:nvCxnSpPr>
          <p:spPr>
            <a:xfrm>
              <a:off x="7191214" y="4479009"/>
              <a:ext cx="2030276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700A5DB1-56FC-D13D-1824-990C8583B045}"/>
              </a:ext>
            </a:extLst>
          </p:cNvPr>
          <p:cNvSpPr txBox="1"/>
          <p:nvPr/>
        </p:nvSpPr>
        <p:spPr>
          <a:xfrm>
            <a:off x="9672833" y="3346482"/>
            <a:ext cx="2106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 CASE OF IDEAL RECEPTION</a:t>
            </a:r>
          </a:p>
        </p:txBody>
      </p:sp>
      <p:pic>
        <p:nvPicPr>
          <p:cNvPr id="27" name="Picture 26" descr="A red and white line&#10;&#10;Description automatically generated">
            <a:extLst>
              <a:ext uri="{FF2B5EF4-FFF2-40B4-BE49-F238E27FC236}">
                <a16:creationId xmlns:a16="http://schemas.microsoft.com/office/drawing/2014/main" id="{DBFE8BF8-D36F-0FFB-77A2-B590F947E8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041" y="3270187"/>
            <a:ext cx="1524000" cy="1618827"/>
          </a:xfrm>
          <a:prstGeom prst="rect">
            <a:avLst/>
          </a:prstGeom>
        </p:spPr>
      </p:pic>
      <p:pic>
        <p:nvPicPr>
          <p:cNvPr id="28" name="Picture 27" descr="A red and white line&#10;&#10;Description automatically generated">
            <a:extLst>
              <a:ext uri="{FF2B5EF4-FFF2-40B4-BE49-F238E27FC236}">
                <a16:creationId xmlns:a16="http://schemas.microsoft.com/office/drawing/2014/main" id="{BBB68DA3-B109-5386-057C-976E684BBCF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224" y="3429000"/>
            <a:ext cx="1152040" cy="1379995"/>
          </a:xfrm>
          <a:prstGeom prst="rect">
            <a:avLst/>
          </a:prstGeom>
        </p:spPr>
      </p:pic>
      <p:pic>
        <p:nvPicPr>
          <p:cNvPr id="29" name="Picture 28" descr="A red and white line&#10;&#10;Description automatically generated">
            <a:extLst>
              <a:ext uri="{FF2B5EF4-FFF2-40B4-BE49-F238E27FC236}">
                <a16:creationId xmlns:a16="http://schemas.microsoft.com/office/drawing/2014/main" id="{2BC81758-592F-6A3D-46F8-0B895279A62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1190" y="3270187"/>
            <a:ext cx="1345484" cy="168334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583CE00-01C7-6AA5-683E-5BC63EF64C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275"/>
          <a:stretch/>
        </p:blipFill>
        <p:spPr>
          <a:xfrm>
            <a:off x="7191213" y="2709909"/>
            <a:ext cx="2030276" cy="2243626"/>
          </a:xfrm>
          <a:prstGeom prst="rect">
            <a:avLst/>
          </a:prstGeom>
        </p:spPr>
      </p:pic>
      <p:pic>
        <p:nvPicPr>
          <p:cNvPr id="33" name="Picture 32" descr="A red and white line&#10;&#10;Description automatically generated">
            <a:extLst>
              <a:ext uri="{FF2B5EF4-FFF2-40B4-BE49-F238E27FC236}">
                <a16:creationId xmlns:a16="http://schemas.microsoft.com/office/drawing/2014/main" id="{BAA4ADD0-8759-1CF5-A84F-510FCE81CC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40" r="17083"/>
          <a:stretch/>
        </p:blipFill>
        <p:spPr>
          <a:xfrm>
            <a:off x="7191212" y="2348839"/>
            <a:ext cx="2030276" cy="2330327"/>
          </a:xfrm>
          <a:prstGeom prst="rect">
            <a:avLst/>
          </a:prstGeom>
        </p:spPr>
      </p:pic>
      <p:pic>
        <p:nvPicPr>
          <p:cNvPr id="34" name="Picture 33" descr="A red and white line&#10;&#10;Description automatically generated">
            <a:extLst>
              <a:ext uri="{FF2B5EF4-FFF2-40B4-BE49-F238E27FC236}">
                <a16:creationId xmlns:a16="http://schemas.microsoft.com/office/drawing/2014/main" id="{70739332-4FC3-2CE7-BEE3-6A10D8BDC51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556"/>
          <a:stretch/>
        </p:blipFill>
        <p:spPr>
          <a:xfrm>
            <a:off x="7218397" y="2900855"/>
            <a:ext cx="1946468" cy="1408987"/>
          </a:xfrm>
          <a:prstGeom prst="rect">
            <a:avLst/>
          </a:prstGeom>
        </p:spPr>
      </p:pic>
      <p:pic>
        <p:nvPicPr>
          <p:cNvPr id="35" name="Picture 34" descr="A red and white line&#10;&#10;Description automatically generated">
            <a:extLst>
              <a:ext uri="{FF2B5EF4-FFF2-40B4-BE49-F238E27FC236}">
                <a16:creationId xmlns:a16="http://schemas.microsoft.com/office/drawing/2014/main" id="{E89DD3BF-E396-AB1B-F289-4AD926DDDC0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82" r="15695"/>
          <a:stretch/>
        </p:blipFill>
        <p:spPr>
          <a:xfrm>
            <a:off x="7191210" y="2915350"/>
            <a:ext cx="2030275" cy="1486170"/>
          </a:xfrm>
          <a:prstGeom prst="rect">
            <a:avLst/>
          </a:prstGeom>
        </p:spPr>
      </p:pic>
      <p:pic>
        <p:nvPicPr>
          <p:cNvPr id="36" name="Picture 35" descr="A red and white line&#10;&#10;Description automatically generated">
            <a:extLst>
              <a:ext uri="{FF2B5EF4-FFF2-40B4-BE49-F238E27FC236}">
                <a16:creationId xmlns:a16="http://schemas.microsoft.com/office/drawing/2014/main" id="{94423D93-1682-C63A-8E8D-909EBE4EE74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923"/>
          <a:stretch/>
        </p:blipFill>
        <p:spPr>
          <a:xfrm>
            <a:off x="7186872" y="2594520"/>
            <a:ext cx="2030261" cy="2005278"/>
          </a:xfrm>
          <a:prstGeom prst="rect">
            <a:avLst/>
          </a:prstGeom>
        </p:spPr>
      </p:pic>
      <p:pic>
        <p:nvPicPr>
          <p:cNvPr id="37" name="Picture 36" descr="A red and white line&#10;&#10;Description automatically generated">
            <a:extLst>
              <a:ext uri="{FF2B5EF4-FFF2-40B4-BE49-F238E27FC236}">
                <a16:creationId xmlns:a16="http://schemas.microsoft.com/office/drawing/2014/main" id="{718B3398-787E-2C17-C0E8-59BBB5FC92C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18899"/>
          <a:stretch/>
        </p:blipFill>
        <p:spPr>
          <a:xfrm>
            <a:off x="7146603" y="2610520"/>
            <a:ext cx="2030261" cy="204543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2030830-F767-8202-48DA-F334E5A1CE27}"/>
              </a:ext>
            </a:extLst>
          </p:cNvPr>
          <p:cNvSpPr txBox="1"/>
          <p:nvPr/>
        </p:nvSpPr>
        <p:spPr>
          <a:xfrm>
            <a:off x="6669840" y="5435802"/>
            <a:ext cx="5341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Higher the eye opening, lower the ISI.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ED15756-DE01-BBB2-3B68-0A898C116142}"/>
              </a:ext>
            </a:extLst>
          </p:cNvPr>
          <p:cNvCxnSpPr/>
          <p:nvPr/>
        </p:nvCxnSpPr>
        <p:spPr>
          <a:xfrm>
            <a:off x="8214098" y="2538359"/>
            <a:ext cx="0" cy="2558989"/>
          </a:xfrm>
          <a:prstGeom prst="line">
            <a:avLst/>
          </a:prstGeom>
          <a:ln w="38100">
            <a:solidFill>
              <a:srgbClr val="7030A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2EC53F2-67D0-33DD-02A3-F3342C0D0B48}"/>
              </a:ext>
            </a:extLst>
          </p:cNvPr>
          <p:cNvSpPr txBox="1"/>
          <p:nvPr/>
        </p:nvSpPr>
        <p:spPr>
          <a:xfrm>
            <a:off x="8241300" y="4719600"/>
            <a:ext cx="3335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DECISSION MAKING INSTANT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D688AC5-7ADC-A114-E9E9-8F90B0522746}"/>
              </a:ext>
            </a:extLst>
          </p:cNvPr>
          <p:cNvSpPr txBox="1"/>
          <p:nvPr/>
        </p:nvSpPr>
        <p:spPr>
          <a:xfrm>
            <a:off x="2413414" y="2540299"/>
            <a:ext cx="299286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PRACTICAL SCENARIO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789562D-07D0-66EB-DE52-2D6E2EA740AB}"/>
              </a:ext>
            </a:extLst>
          </p:cNvPr>
          <p:cNvCxnSpPr>
            <a:stCxn id="43" idx="1"/>
          </p:cNvCxnSpPr>
          <p:nvPr/>
        </p:nvCxnSpPr>
        <p:spPr>
          <a:xfrm flipH="1">
            <a:off x="1549831" y="2724965"/>
            <a:ext cx="863583" cy="87064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623839C-44F3-46F9-7FC8-3BE588A92060}"/>
              </a:ext>
            </a:extLst>
          </p:cNvPr>
          <p:cNvCxnSpPr>
            <a:stCxn id="43" idx="3"/>
          </p:cNvCxnSpPr>
          <p:nvPr/>
        </p:nvCxnSpPr>
        <p:spPr>
          <a:xfrm>
            <a:off x="5406274" y="2724965"/>
            <a:ext cx="1740329" cy="54522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50E20F46-F571-611A-0234-CD99CB48D7C7}"/>
              </a:ext>
            </a:extLst>
          </p:cNvPr>
          <p:cNvSpPr txBox="1"/>
          <p:nvPr/>
        </p:nvSpPr>
        <p:spPr>
          <a:xfrm>
            <a:off x="5911376" y="5963465"/>
            <a:ext cx="6245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Higher the data rate, lower the eye opening.</a:t>
            </a:r>
          </a:p>
        </p:txBody>
      </p:sp>
    </p:spTree>
    <p:extLst>
      <p:ext uri="{BB962C8B-B14F-4D97-AF65-F5344CB8AC3E}">
        <p14:creationId xmlns:p14="http://schemas.microsoft.com/office/powerpoint/2010/main" val="1445243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2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000"/>
                            </p:stCondLst>
                            <p:childTnLst>
                              <p:par>
                                <p:cTn id="110" presetID="6" presetClass="emph" presetSubtype="0" repeatCount="indefinite" autoRev="1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111" dur="2000" fill="hold"/>
                                        <p:tgtEl>
                                          <p:spTgt spid="3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1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23" grpId="0"/>
      <p:bldP spid="39" grpId="0"/>
      <p:bldP spid="42" grpId="0"/>
      <p:bldP spid="43" grpId="0" animBg="1"/>
      <p:bldP spid="4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FCDEF4-37AA-54E4-47EA-175C0936E0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40908" y="128580"/>
            <a:ext cx="9710184" cy="66008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251337-09A5-915B-92B4-D0DF77E1EF33}"/>
              </a:ext>
            </a:extLst>
          </p:cNvPr>
          <p:cNvSpPr txBox="1"/>
          <p:nvPr/>
        </p:nvSpPr>
        <p:spPr>
          <a:xfrm>
            <a:off x="2929180" y="1152525"/>
            <a:ext cx="2789695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DISTORTION OF 1’S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2388253-9C6E-E303-3F49-835E0F08C16F}"/>
              </a:ext>
            </a:extLst>
          </p:cNvPr>
          <p:cNvCxnSpPr/>
          <p:nvPr/>
        </p:nvCxnSpPr>
        <p:spPr>
          <a:xfrm>
            <a:off x="5207431" y="1534332"/>
            <a:ext cx="888569" cy="55793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F7C027B-5254-38B2-4FE0-D9533A38C873}"/>
              </a:ext>
            </a:extLst>
          </p:cNvPr>
          <p:cNvSpPr txBox="1"/>
          <p:nvPr/>
        </p:nvSpPr>
        <p:spPr>
          <a:xfrm>
            <a:off x="7111139" y="5179501"/>
            <a:ext cx="2789695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DISTORTION OF 0’S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3589D5C-8D8A-5761-EBC6-CA1BF27ACB8E}"/>
              </a:ext>
            </a:extLst>
          </p:cNvPr>
          <p:cNvCxnSpPr>
            <a:cxnSpLocks/>
          </p:cNvCxnSpPr>
          <p:nvPr/>
        </p:nvCxnSpPr>
        <p:spPr>
          <a:xfrm flipH="1" flipV="1">
            <a:off x="6096000" y="4664990"/>
            <a:ext cx="1521417" cy="49901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A759E8E-C70D-5A81-0E74-C5204D0EE7CC}"/>
              </a:ext>
            </a:extLst>
          </p:cNvPr>
          <p:cNvSpPr txBox="1"/>
          <p:nvPr/>
        </p:nvSpPr>
        <p:spPr>
          <a:xfrm>
            <a:off x="9894102" y="2312358"/>
            <a:ext cx="211398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MARGIN WITHOUT SIGNAL ERROR</a:t>
            </a:r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994AFFEB-FF3F-69A2-0E80-851070FA8EB9}"/>
              </a:ext>
            </a:extLst>
          </p:cNvPr>
          <p:cNvSpPr/>
          <p:nvPr/>
        </p:nvSpPr>
        <p:spPr>
          <a:xfrm flipH="1">
            <a:off x="4435619" y="2686133"/>
            <a:ext cx="771811" cy="369332"/>
          </a:xfrm>
          <a:prstGeom prst="rt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4D0F42-E5F3-192C-BCF8-8FC6FAFF65DF}"/>
              </a:ext>
            </a:extLst>
          </p:cNvPr>
          <p:cNvSpPr txBox="1"/>
          <p:nvPr/>
        </p:nvSpPr>
        <p:spPr>
          <a:xfrm>
            <a:off x="9894102" y="3675748"/>
            <a:ext cx="211398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DISTORTION OF TIMING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C8A162-8634-1974-AADD-5E4924036F96}"/>
              </a:ext>
            </a:extLst>
          </p:cNvPr>
          <p:cNvSpPr txBox="1"/>
          <p:nvPr/>
        </p:nvSpPr>
        <p:spPr>
          <a:xfrm>
            <a:off x="183918" y="451749"/>
            <a:ext cx="292918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WIDTH OF EYE OPENING</a:t>
            </a:r>
          </a:p>
          <a:p>
            <a:r>
              <a:rPr lang="en-US" sz="1600" dirty="0">
                <a:solidFill>
                  <a:srgbClr val="00B050"/>
                </a:solidFill>
              </a:rPr>
              <a:t>TIME INTERVAL OVER WHICH THE RECEIVED DISTORTED SIGNAL CAN BE SAMPLED WITH MINIMUM ERROR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212C67-4F3D-EE9C-B158-06D05C1263BD}"/>
              </a:ext>
            </a:extLst>
          </p:cNvPr>
          <p:cNvSpPr txBox="1"/>
          <p:nvPr/>
        </p:nvSpPr>
        <p:spPr>
          <a:xfrm>
            <a:off x="183918" y="2983250"/>
            <a:ext cx="29291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SENSITIVITY OF THE SYSTEM TO TIMING</a:t>
            </a:r>
          </a:p>
          <a:p>
            <a:r>
              <a:rPr lang="en-US" sz="1600" dirty="0">
                <a:solidFill>
                  <a:srgbClr val="00B050"/>
                </a:solidFill>
              </a:rPr>
              <a:t>RATE OF CLOSURE OF EYE PATTERN WHEN SAMPLING TIME IS VARIED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63E2F4-0297-1BD6-0E65-289677BD9A88}"/>
              </a:ext>
            </a:extLst>
          </p:cNvPr>
          <p:cNvSpPr txBox="1"/>
          <p:nvPr/>
        </p:nvSpPr>
        <p:spPr>
          <a:xfrm>
            <a:off x="183918" y="5544477"/>
            <a:ext cx="292918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MARGIN OVER NOISE</a:t>
            </a:r>
          </a:p>
          <a:p>
            <a:r>
              <a:rPr lang="en-US" sz="1600" dirty="0">
                <a:solidFill>
                  <a:srgbClr val="00B050"/>
                </a:solidFill>
              </a:rPr>
              <a:t>HEIGHT OF EYE OPENING FOR SPECIFIED SAMPLING TIME</a:t>
            </a:r>
          </a:p>
        </p:txBody>
      </p:sp>
    </p:spTree>
    <p:extLst>
      <p:ext uri="{BB962C8B-B14F-4D97-AF65-F5344CB8AC3E}">
        <p14:creationId xmlns:p14="http://schemas.microsoft.com/office/powerpoint/2010/main" val="1917205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846B25-8773-4CCB-8AFD-0BD332AC5DE8}"/>
              </a:ext>
            </a:extLst>
          </p:cNvPr>
          <p:cNvSpPr txBox="1"/>
          <p:nvPr/>
        </p:nvSpPr>
        <p:spPr>
          <a:xfrm>
            <a:off x="740044" y="1299362"/>
            <a:ext cx="107596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400"/>
            </a:lvl1pPr>
          </a:lstStyle>
          <a:p>
            <a:r>
              <a:rPr lang="en-US" dirty="0"/>
              <a:t>The Nyquist criterion for zero ISI states that a signal can be sampled at exactly twice its highest frequency component (Nyquist rate, fs=2B) to avoid ISI. Practically achieving this ideal condition is not feasible due to several reasons.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A0D124-8750-B354-907E-4E2518A6E071}"/>
              </a:ext>
            </a:extLst>
          </p:cNvPr>
          <p:cNvSpPr txBox="1"/>
          <p:nvPr/>
        </p:nvSpPr>
        <p:spPr>
          <a:xfrm>
            <a:off x="1379348" y="2608177"/>
            <a:ext cx="990341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400"/>
            </a:lvl1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Ideal Nyquist Filter is a </a:t>
            </a:r>
            <a:r>
              <a:rPr lang="en-US" dirty="0" err="1"/>
              <a:t>Sinc</a:t>
            </a:r>
            <a:r>
              <a:rPr lang="en-US" dirty="0"/>
              <a:t> Function (Non-Causal &amp; Infinite Duration)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Sharp Cutoff in Frequency Domain Causes Ringing in Time Domain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Bandwidth Constraints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Synchronization Issues in Sampling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dirty="0"/>
              <a:t>Channel Noise &amp; Non-Ideal Transmission Medium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311B75-1A1E-1AFC-9733-040345FCE997}"/>
              </a:ext>
            </a:extLst>
          </p:cNvPr>
          <p:cNvSpPr txBox="1"/>
          <p:nvPr/>
        </p:nvSpPr>
        <p:spPr>
          <a:xfrm>
            <a:off x="740044" y="4976790"/>
            <a:ext cx="107596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400"/>
            </a:lvl1pPr>
          </a:lstStyle>
          <a:p>
            <a:r>
              <a:rPr lang="en-US" dirty="0"/>
              <a:t>Instead of the Nyquist rate, practical systems use slightly higher sampling rates, pulse shaping, and equalization to control ISI while maintaining bandwidth efficiency.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CAD1A0-509C-1FE9-AA6D-9FECECC8CAD3}"/>
              </a:ext>
            </a:extLst>
          </p:cNvPr>
          <p:cNvSpPr txBox="1"/>
          <p:nvPr/>
        </p:nvSpPr>
        <p:spPr>
          <a:xfrm>
            <a:off x="3046709" y="468908"/>
            <a:ext cx="60985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400"/>
            </a:lvl1pPr>
          </a:lstStyle>
          <a:p>
            <a:pPr algn="ctr"/>
            <a:r>
              <a:rPr lang="en-US" sz="3200" b="1" dirty="0">
                <a:solidFill>
                  <a:srgbClr val="C00000"/>
                </a:solidFill>
              </a:rPr>
              <a:t>Nyquist criterion for zero ISI </a:t>
            </a:r>
          </a:p>
        </p:txBody>
      </p:sp>
    </p:spTree>
    <p:extLst>
      <p:ext uri="{BB962C8B-B14F-4D97-AF65-F5344CB8AC3E}">
        <p14:creationId xmlns:p14="http://schemas.microsoft.com/office/powerpoint/2010/main" val="957256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7D1366-6706-A341-19AE-D799A4F61FD3}"/>
              </a:ext>
            </a:extLst>
          </p:cNvPr>
          <p:cNvSpPr txBox="1"/>
          <p:nvPr/>
        </p:nvSpPr>
        <p:spPr>
          <a:xfrm>
            <a:off x="692904" y="648434"/>
            <a:ext cx="108061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The Raised Cosine (RC) spectrum is used to minimize ISI maintaining efficient bandwidth usage. </a:t>
            </a:r>
          </a:p>
          <a:p>
            <a:pPr algn="just"/>
            <a:r>
              <a:rPr lang="en-US" sz="2400" dirty="0"/>
              <a:t>Used in pulse shaping filters to satisfy the Nyquist criterion for zero ISI.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6E40E2-60F4-3101-591C-AEBAFC29868D}"/>
              </a:ext>
            </a:extLst>
          </p:cNvPr>
          <p:cNvSpPr txBox="1"/>
          <p:nvPr/>
        </p:nvSpPr>
        <p:spPr>
          <a:xfrm>
            <a:off x="692904" y="2134300"/>
            <a:ext cx="108061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400"/>
            </a:lvl1pPr>
          </a:lstStyle>
          <a:p>
            <a:r>
              <a:rPr lang="en-US" dirty="0"/>
              <a:t>The Raised Cosine Filter is a frequency-domain pulse shaping function that ensures zero ISI at the sampling instants. It is defined as: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D52563-4D38-5996-A568-053B142B9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956" y="2965296"/>
            <a:ext cx="6709473" cy="16067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5163E4-D757-F267-1EF6-7770813FCB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480" y="2965295"/>
            <a:ext cx="4452699" cy="16477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6D63AA-FA24-688B-43B7-FFAC0246EE85}"/>
              </a:ext>
            </a:extLst>
          </p:cNvPr>
          <p:cNvSpPr txBox="1"/>
          <p:nvPr/>
        </p:nvSpPr>
        <p:spPr>
          <a:xfrm>
            <a:off x="801956" y="4633661"/>
            <a:ext cx="106971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400"/>
            </a:lvl1pPr>
          </a:lstStyle>
          <a:p>
            <a:r>
              <a:rPr lang="en-US" dirty="0"/>
              <a:t>For 𝛼=0, it becomes an ideal Nyquist filter (</a:t>
            </a:r>
            <a:r>
              <a:rPr lang="en-US" dirty="0" err="1"/>
              <a:t>sinc</a:t>
            </a:r>
            <a:r>
              <a:rPr lang="en-US" dirty="0"/>
              <a:t> function).</a:t>
            </a:r>
          </a:p>
          <a:p>
            <a:r>
              <a:rPr lang="en-US" dirty="0"/>
              <a:t>For 𝛼&gt;0, the bandwidth increases but reduces ringing effects in time domain.</a:t>
            </a:r>
          </a:p>
        </p:txBody>
      </p:sp>
    </p:spTree>
    <p:extLst>
      <p:ext uri="{BB962C8B-B14F-4D97-AF65-F5344CB8AC3E}">
        <p14:creationId xmlns:p14="http://schemas.microsoft.com/office/powerpoint/2010/main" val="3168281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6FBFA18F-B9AE-1198-BF10-510CA69E9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610" y="544580"/>
            <a:ext cx="93033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en-US" sz="2400" dirty="0"/>
              <a:t>The roll-off factor α controls the bandwidth and transition of the filter: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236759-1B66-5C78-BAD1-026A7B0FD0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012333"/>
              </p:ext>
            </p:extLst>
          </p:nvPr>
        </p:nvGraphicFramePr>
        <p:xfrm>
          <a:off x="657610" y="1174414"/>
          <a:ext cx="1102811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996">
                  <a:extLst>
                    <a:ext uri="{9D8B030D-6E8A-4147-A177-3AD203B41FA5}">
                      <a16:colId xmlns:a16="http://schemas.microsoft.com/office/drawing/2014/main" val="2638176865"/>
                    </a:ext>
                  </a:extLst>
                </a:gridCol>
                <a:gridCol w="4918634">
                  <a:extLst>
                    <a:ext uri="{9D8B030D-6E8A-4147-A177-3AD203B41FA5}">
                      <a16:colId xmlns:a16="http://schemas.microsoft.com/office/drawing/2014/main" val="1567920386"/>
                    </a:ext>
                  </a:extLst>
                </a:gridCol>
                <a:gridCol w="4806482">
                  <a:extLst>
                    <a:ext uri="{9D8B030D-6E8A-4147-A177-3AD203B41FA5}">
                      <a16:colId xmlns:a16="http://schemas.microsoft.com/office/drawing/2014/main" val="35838046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2400" b="1" dirty="0"/>
                        <a:t>α </a:t>
                      </a:r>
                      <a:r>
                        <a:rPr lang="en-US" sz="2400" b="1" dirty="0"/>
                        <a:t>Value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Effect on Spectrum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Effect on ISI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938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1" dirty="0"/>
                        <a:t>α=0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Minimum bandwidth (Ideal Nyquist)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Sharp transitions, high ringing (ISI)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2750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1" dirty="0"/>
                        <a:t>0&lt;α&lt;1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Controlled bandwidth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Smooth transition, reduced ISI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004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1" dirty="0"/>
                        <a:t>α=1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Maximum bandwidth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Very smooth, completely eliminates ISI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689459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E6E3CB7-1038-AD6D-30B8-48C529546176}"/>
              </a:ext>
            </a:extLst>
          </p:cNvPr>
          <p:cNvSpPr txBox="1"/>
          <p:nvPr/>
        </p:nvSpPr>
        <p:spPr>
          <a:xfrm>
            <a:off x="657610" y="3537143"/>
            <a:ext cx="90072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400"/>
            </a:lvl1pPr>
          </a:lstStyle>
          <a:p>
            <a:r>
              <a:rPr lang="en-US" dirty="0"/>
              <a:t>Higher 𝛼 =&gt; More bandwidth used but reduced ISI.</a:t>
            </a:r>
          </a:p>
          <a:p>
            <a:r>
              <a:rPr lang="en-US" dirty="0"/>
              <a:t>Lower 𝛼 =&gt; Less bandwidth used but more ISI risk.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295BD0-E37D-E67F-E628-2E14647E6712}"/>
              </a:ext>
            </a:extLst>
          </p:cNvPr>
          <p:cNvSpPr txBox="1"/>
          <p:nvPr/>
        </p:nvSpPr>
        <p:spPr>
          <a:xfrm>
            <a:off x="1146633" y="4622871"/>
            <a:ext cx="105390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400"/>
            </a:lvl1pPr>
          </a:lstStyle>
          <a:p>
            <a:r>
              <a:rPr lang="en-US" sz="3200" b="1" dirty="0"/>
              <a:t>Increasing α reduces ISI but requires more bandwidth!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3E7B01-6118-7F48-C293-6747D41488A2}"/>
              </a:ext>
            </a:extLst>
          </p:cNvPr>
          <p:cNvSpPr txBox="1"/>
          <p:nvPr/>
        </p:nvSpPr>
        <p:spPr>
          <a:xfrm>
            <a:off x="657610" y="5462377"/>
            <a:ext cx="105390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400"/>
            </a:lvl1pPr>
          </a:lstStyle>
          <a:p>
            <a:r>
              <a:rPr lang="en-US" dirty="0"/>
              <a:t>𝛼=0 </a:t>
            </a:r>
            <a:r>
              <a:rPr lang="el-GR" dirty="0"/>
              <a:t>(</a:t>
            </a:r>
            <a:r>
              <a:rPr lang="en-US" dirty="0"/>
              <a:t>Nyquist </a:t>
            </a:r>
            <a:r>
              <a:rPr lang="en-US" dirty="0" err="1"/>
              <a:t>Sinc</a:t>
            </a:r>
            <a:r>
              <a:rPr lang="en-US" dirty="0"/>
              <a:t>):   Minimum bandwidth but high ISI.</a:t>
            </a:r>
          </a:p>
          <a:p>
            <a:r>
              <a:rPr lang="en-US" dirty="0"/>
              <a:t>𝛼=0.5</a:t>
            </a:r>
            <a:r>
              <a:rPr lang="el-GR" dirty="0"/>
              <a:t>: </a:t>
            </a:r>
            <a:r>
              <a:rPr lang="en-US" dirty="0"/>
              <a:t> Smooth transition, moderate bandwidth.</a:t>
            </a:r>
          </a:p>
          <a:p>
            <a:r>
              <a:rPr lang="en-US" dirty="0"/>
              <a:t>𝛼=1</a:t>
            </a:r>
            <a:r>
              <a:rPr lang="el-GR" dirty="0"/>
              <a:t>: </a:t>
            </a:r>
            <a:r>
              <a:rPr lang="en-US" dirty="0"/>
              <a:t> Max bandwidth, lowest ISI.</a:t>
            </a:r>
          </a:p>
        </p:txBody>
      </p:sp>
    </p:spTree>
    <p:extLst>
      <p:ext uri="{BB962C8B-B14F-4D97-AF65-F5344CB8AC3E}">
        <p14:creationId xmlns:p14="http://schemas.microsoft.com/office/powerpoint/2010/main" val="3437956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C3C8042-740F-07E5-93F0-7808A92245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7751" y="286718"/>
            <a:ext cx="6284563" cy="6284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041213-621A-1E2E-98D6-65F2BB4294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54392" y="286719"/>
            <a:ext cx="4197377" cy="33234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EFD698-B71F-A9BF-0C12-24F85AF6A6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4392" y="3610121"/>
            <a:ext cx="4197377" cy="315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076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5F87A5-9E1E-9953-9311-5FFE944C7272}"/>
              </a:ext>
            </a:extLst>
          </p:cNvPr>
          <p:cNvSpPr txBox="1"/>
          <p:nvPr/>
        </p:nvSpPr>
        <p:spPr>
          <a:xfrm>
            <a:off x="833035" y="382992"/>
            <a:ext cx="1062021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A telephone line normally has a bandwidth of 3000 Hz (300 to 3300 Hz) assigned for data communication. The SNR is usually 3162. What will be the capacity for this channel?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0AEA93E-DEF4-A4A2-552C-AC696E11B401}"/>
              </a:ext>
            </a:extLst>
          </p:cNvPr>
          <p:cNvGrpSpPr/>
          <p:nvPr/>
        </p:nvGrpSpPr>
        <p:grpSpPr>
          <a:xfrm>
            <a:off x="833035" y="1920280"/>
            <a:ext cx="10883684" cy="4616649"/>
            <a:chOff x="833035" y="1920280"/>
            <a:chExt cx="10883684" cy="461664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3B3F660-158E-A6EE-BF90-F8368F4CAC0E}"/>
                </a:ext>
              </a:extLst>
            </p:cNvPr>
            <p:cNvSpPr txBox="1"/>
            <p:nvPr/>
          </p:nvSpPr>
          <p:spPr>
            <a:xfrm>
              <a:off x="833035" y="1920280"/>
              <a:ext cx="10883684" cy="3416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/>
                <a:t>To determine the channel capacity, we use the Shannon-Hartley theorem: </a:t>
              </a:r>
            </a:p>
            <a:p>
              <a:r>
                <a:rPr lang="en-US" sz="2400" dirty="0"/>
                <a:t>C = B log2 (1 + SNR) </a:t>
              </a:r>
            </a:p>
            <a:p>
              <a:r>
                <a:rPr lang="en-US" sz="2400" dirty="0"/>
                <a:t>where: </a:t>
              </a:r>
            </a:p>
            <a:p>
              <a:r>
                <a:rPr lang="en-US" sz="2400" dirty="0"/>
                <a:t>• C is the channel capacity (in bits per second, bps), </a:t>
              </a:r>
            </a:p>
            <a:p>
              <a:r>
                <a:rPr lang="en-US" sz="2400" dirty="0"/>
                <a:t>• B is the bandwidth (in Hz), </a:t>
              </a:r>
            </a:p>
            <a:p>
              <a:r>
                <a:rPr lang="en-US" sz="2400" dirty="0"/>
                <a:t>• SNR is the signal-to-noise ratio (as a power ratio, not in dB). </a:t>
              </a:r>
            </a:p>
            <a:p>
              <a:r>
                <a:rPr lang="en-US" sz="2400" dirty="0"/>
                <a:t>Given: </a:t>
              </a:r>
            </a:p>
            <a:p>
              <a:r>
                <a:rPr lang="en-US" sz="2400" dirty="0"/>
                <a:t>• B=3000 Hz </a:t>
              </a:r>
            </a:p>
            <a:p>
              <a:r>
                <a:rPr lang="en-US" sz="2400" dirty="0"/>
                <a:t>• SNR = 3162 (not in dB, already in power ratio)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B4700BC-4DBA-2FD1-6CDD-66C22755AEB0}"/>
                </a:ext>
              </a:extLst>
            </p:cNvPr>
            <p:cNvSpPr txBox="1"/>
            <p:nvPr/>
          </p:nvSpPr>
          <p:spPr>
            <a:xfrm>
              <a:off x="833035" y="5336600"/>
              <a:ext cx="8047494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/>
                <a:t>Step-by-step Calculation: </a:t>
              </a:r>
            </a:p>
            <a:p>
              <a:r>
                <a:rPr lang="en-US" sz="2400" dirty="0"/>
                <a:t>C = 3000 X 11.63 = 34.89 kbps The channel capacity is approximately 34.89 kbps.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2D6AB35-14A3-BC57-0676-927A614C0C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23279" y="5165136"/>
              <a:ext cx="2965850" cy="1038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27369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E87689-1A4D-15E3-D76F-9E2238901151}"/>
              </a:ext>
            </a:extLst>
          </p:cNvPr>
          <p:cNvSpPr txBox="1"/>
          <p:nvPr/>
        </p:nvSpPr>
        <p:spPr>
          <a:xfrm>
            <a:off x="585062" y="429487"/>
            <a:ext cx="113021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 Gaussian channel has 2MHz bandwidth. Calculate its Channel Capacity if the Signal to Noise Spectral density ratio is 10^4.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28176D-1B9F-24D9-AFA8-25C86352CE0B}"/>
              </a:ext>
            </a:extLst>
          </p:cNvPr>
          <p:cNvGrpSpPr/>
          <p:nvPr/>
        </p:nvGrpSpPr>
        <p:grpSpPr>
          <a:xfrm>
            <a:off x="585061" y="1560862"/>
            <a:ext cx="10961175" cy="4524315"/>
            <a:chOff x="585061" y="1560862"/>
            <a:chExt cx="10961175" cy="452431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D9FC1DC-FF24-863C-E076-79A2351040D2}"/>
                </a:ext>
              </a:extLst>
            </p:cNvPr>
            <p:cNvSpPr txBox="1"/>
            <p:nvPr/>
          </p:nvSpPr>
          <p:spPr>
            <a:xfrm>
              <a:off x="585061" y="1560862"/>
              <a:ext cx="10961175" cy="45243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/>
                <a:t>Given: </a:t>
              </a:r>
            </a:p>
            <a:p>
              <a:r>
                <a:rPr lang="en-US" sz="2400" dirty="0"/>
                <a:t>• B = 2 MHz </a:t>
              </a:r>
            </a:p>
            <a:p>
              <a:r>
                <a:rPr lang="en-US" sz="2400" dirty="0"/>
                <a:t>• SNR = 10^4 (already in power ratio) </a:t>
              </a:r>
            </a:p>
            <a:p>
              <a:r>
                <a:rPr lang="en-US" sz="2400" dirty="0"/>
                <a:t>Step-by-step Calculation: C = B log2 (1 + SNR) </a:t>
              </a:r>
            </a:p>
            <a:p>
              <a:endParaRPr lang="en-US" sz="2400" dirty="0"/>
            </a:p>
            <a:p>
              <a:endParaRPr lang="en-US" sz="2400" dirty="0"/>
            </a:p>
            <a:p>
              <a:endParaRPr lang="en-US" sz="2400" dirty="0"/>
            </a:p>
            <a:p>
              <a:endParaRPr lang="en-US" sz="2400" dirty="0"/>
            </a:p>
            <a:p>
              <a:endParaRPr lang="en-US" sz="2400" dirty="0"/>
            </a:p>
            <a:p>
              <a:endParaRPr lang="en-US" sz="2400" dirty="0"/>
            </a:p>
            <a:p>
              <a:endParaRPr lang="en-US" sz="2400" dirty="0"/>
            </a:p>
            <a:p>
              <a:r>
                <a:rPr lang="en-US" sz="2400" dirty="0"/>
                <a:t>The channel capacity is approximately 26.58 Mbps.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8B09108-6737-480D-A1C4-46E8FE140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20466" y="3276277"/>
              <a:ext cx="4867851" cy="18508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03408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276337-0982-954D-BF5B-1DABAE3A8210}"/>
              </a:ext>
            </a:extLst>
          </p:cNvPr>
          <p:cNvSpPr txBox="1"/>
          <p:nvPr/>
        </p:nvSpPr>
        <p:spPr>
          <a:xfrm>
            <a:off x="631555" y="308455"/>
            <a:ext cx="1119365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 voice grade channel of the telephone network has a bandwidth of 3.4 KHz. </a:t>
            </a:r>
          </a:p>
          <a:p>
            <a:pPr marL="457200" indent="-457200">
              <a:buAutoNum type="alphaLcParenBoth"/>
            </a:pPr>
            <a:r>
              <a:rPr lang="en-US" sz="2400" dirty="0"/>
              <a:t>Calculate channel capacity of the telephone channel for signal to noise ratio of 30 </a:t>
            </a:r>
            <a:r>
              <a:rPr lang="en-US" sz="2400" dirty="0" err="1"/>
              <a:t>dB.</a:t>
            </a:r>
            <a:r>
              <a:rPr lang="en-US" sz="2400" dirty="0"/>
              <a:t> </a:t>
            </a:r>
          </a:p>
          <a:p>
            <a:pPr marL="457200" indent="-457200">
              <a:buAutoNum type="alphaLcParenBoth"/>
            </a:pPr>
            <a:r>
              <a:rPr lang="en-US" sz="2400" dirty="0"/>
              <a:t>Calculate the minimum SNR required to support information transmission through the telephone channel at the rate of 4800 bits/sec.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AF99A6-525B-AA98-2488-F423CA7613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5468"/>
          <a:stretch/>
        </p:blipFill>
        <p:spPr>
          <a:xfrm>
            <a:off x="631554" y="2667080"/>
            <a:ext cx="10635159" cy="3456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8827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BEA6F5-032B-64C3-0366-97A7B83CF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666" y="296594"/>
            <a:ext cx="8926667" cy="626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846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230DA7-7223-D2EC-BA8A-A917D48BF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357" y="337116"/>
            <a:ext cx="8311241" cy="618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7030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A26B57-720D-5F43-4B60-DA5A1DD39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049" y="1040265"/>
            <a:ext cx="7919567" cy="392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503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1349</Words>
  <Application>Microsoft Office PowerPoint</Application>
  <PresentationFormat>Widescreen</PresentationFormat>
  <Paragraphs>132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syam sundar pillalamarri</dc:creator>
  <cp:lastModifiedBy>syam sundar pillalamarri</cp:lastModifiedBy>
  <cp:revision>29</cp:revision>
  <dcterms:created xsi:type="dcterms:W3CDTF">2025-02-06T01:21:48Z</dcterms:created>
  <dcterms:modified xsi:type="dcterms:W3CDTF">2025-02-13T04:57:49Z</dcterms:modified>
</cp:coreProperties>
</file>