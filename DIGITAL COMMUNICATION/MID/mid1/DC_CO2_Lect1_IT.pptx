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376" r:id="rId5"/>
    <p:sldId id="430" r:id="rId6"/>
    <p:sldId id="275" r:id="rId7"/>
    <p:sldId id="296" r:id="rId8"/>
    <p:sldId id="274" r:id="rId9"/>
    <p:sldId id="497" r:id="rId10"/>
    <p:sldId id="498" r:id="rId11"/>
    <p:sldId id="499" r:id="rId12"/>
    <p:sldId id="272" r:id="rId13"/>
    <p:sldId id="471" r:id="rId14"/>
    <p:sldId id="477" r:id="rId15"/>
    <p:sldId id="495" r:id="rId16"/>
    <p:sldId id="429" r:id="rId17"/>
    <p:sldId id="496" r:id="rId18"/>
    <p:sldId id="434" r:id="rId19"/>
    <p:sldId id="425" r:id="rId20"/>
    <p:sldId id="424" r:id="rId21"/>
    <p:sldId id="500" r:id="rId22"/>
    <p:sldId id="423" r:id="rId23"/>
    <p:sldId id="449" r:id="rId24"/>
    <p:sldId id="501" r:id="rId25"/>
    <p:sldId id="448" r:id="rId26"/>
    <p:sldId id="42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570" autoAdjust="0"/>
  </p:normalViewPr>
  <p:slideViewPr>
    <p:cSldViewPr snapToGrid="0">
      <p:cViewPr varScale="1">
        <p:scale>
          <a:sx n="59" d="100"/>
          <a:sy n="59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0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0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0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3924704852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652413029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003282423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3278363132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3278363132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805654647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234670807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4141040996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3752378041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670996768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4161653826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2983522764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652413029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2003282423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3278363132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2805654647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3234670807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4141040996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3752378041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2670996768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4161653826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2983522764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08-01-2024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35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0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977" y="243069"/>
            <a:ext cx="9144000" cy="9491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  <a:r>
              <a:rPr lang="en-US" altLang="en-US" sz="4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22EC2208</a:t>
            </a:r>
            <a:endParaRPr lang="en-US" sz="4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24000"/>
            <a:ext cx="9144000" cy="5638800"/>
          </a:xfrm>
        </p:spPr>
        <p:txBody>
          <a:bodyPr/>
          <a:lstStyle/>
          <a:p>
            <a:pPr eaLnBrk="1" hangingPunct="1"/>
            <a:r>
              <a:rPr lang="en-US" altLang="en-US" sz="5400" dirty="0">
                <a:ea typeface="新細明體" panose="02020500000000000000" pitchFamily="18" charset="-120"/>
              </a:rPr>
              <a:t>  </a:t>
            </a:r>
            <a:r>
              <a:rPr lang="en-US" altLang="en-US" sz="5400" dirty="0">
                <a:solidFill>
                  <a:srgbClr val="002060"/>
                </a:solidFill>
                <a:ea typeface="新細明體" panose="02020500000000000000" pitchFamily="18" charset="-120"/>
              </a:rPr>
              <a:t>  Dr. </a:t>
            </a: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M. Venu Gopala Rao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5400" dirty="0">
                <a:solidFill>
                  <a:srgbClr val="003DB8"/>
                </a:solidFill>
                <a:ea typeface="新細明體" panose="02020500000000000000" pitchFamily="18" charset="-120"/>
              </a:rPr>
              <a:t>                              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M.Tech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Ph.D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</a:t>
            </a:r>
            <a:r>
              <a:rPr lang="en-US" altLang="en-US" sz="3600" dirty="0" err="1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Engg</a:t>
            </a:r>
            <a:r>
              <a:rPr lang="en-US" altLang="en-US" sz="3600" dirty="0">
                <a:solidFill>
                  <a:srgbClr val="0033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)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F.I.E.T.E, L.M.I.S.T.E, I.S.O.I., I.A.E., S.S.I.</a:t>
            </a:r>
          </a:p>
          <a:p>
            <a:pPr eaLnBrk="1" hangingPunct="1"/>
            <a:r>
              <a:rPr lang="en-US" altLang="en-US" sz="3600" dirty="0">
                <a:solidFill>
                  <a:srgbClr val="003DB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    Cert. in R.S.T ( City &amp; Guild’s London Institute , London)</a:t>
            </a:r>
          </a:p>
          <a:p>
            <a:pPr eaLnBrk="1" hangingPunct="1"/>
            <a:r>
              <a:rPr lang="en-US" altLang="en-US" sz="3600" dirty="0">
                <a:solidFill>
                  <a:srgbClr val="149D0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Professor, Dept. of ECE, K L University</a:t>
            </a:r>
          </a:p>
          <a:p>
            <a:pPr eaLnBrk="1" hangingPunct="1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mvgr03@kluniversity.in</a:t>
            </a:r>
          </a:p>
          <a:p>
            <a:pPr eaLnBrk="1" hangingPunct="1"/>
            <a:endParaRPr lang="en-US" altLang="en-US" sz="3600" dirty="0">
              <a:solidFill>
                <a:srgbClr val="149D0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495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4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Introduction to Information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85" y="844953"/>
            <a:ext cx="11707091" cy="52508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Information theory is a branch of science that deals with the analysis of a communications system.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178F03"/>
                </a:solidFill>
                <a:latin typeface="Arial" pitchFamily="34" charset="0"/>
                <a:cs typeface="Arial" pitchFamily="34" charset="0"/>
              </a:rPr>
              <a:t>Claude Shannon Published a landmark paper in 1948 that was the beginning of the branch of information theory.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We are interested in communicating information from a source to a destination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BC803-84C8-79C9-B7F9-798A836D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7" y="1794080"/>
            <a:ext cx="10660303" cy="22704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39EEF-F976-B2FA-C6F6-8B86E033C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41410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49" y="940650"/>
            <a:ext cx="11858845" cy="356543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highly theoretical study of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use of bandwidth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propagate information through electronic communications systems.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can be used to determine the </a:t>
            </a:r>
            <a:r>
              <a:rPr lang="en-US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data communications system.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capacity is a measure of how much information can be propagated through a communications system and is a function of bandwidth and transmission time.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3320" y="4506085"/>
            <a:ext cx="1630871" cy="5542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37B99-9CDA-3ECD-71D4-E52B319D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0" y="-2533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99281-F9DE-DD59-E0F4-BC2152C6E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84" y="5177266"/>
            <a:ext cx="5240071" cy="136327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CD53A-8589-78EA-7D73-44571A3C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85112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486" y="915172"/>
            <a:ext cx="11783027" cy="449020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represents the number of independent symbols that can be carried through a system in a given unit of time.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basic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to represent information is the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digit,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it is often convenient to express the information capacity of a system as a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 is simply the number of bits transmitted during one second and is expressed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bits per second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(bps).      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2"/>
              <p:cNvSpPr txBox="1"/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3200" i="0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717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6923A-50D9-E621-ECA1-A55CB61E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0857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95" y="405114"/>
            <a:ext cx="11838432" cy="633129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600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capacity is a linear function of bandwidth and transmission time and is directly proportional to both. If either the bandwidth or the transmission time changes, a directly proportional change occurs in the information capacity.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Shannon limit theorem: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37F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higher the signal- to-noise ratio, the better the performance and the higher the information capacity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3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682" y="4896692"/>
            <a:ext cx="11764614" cy="8249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6852" y="5786474"/>
            <a:ext cx="6626810" cy="49334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0295" y="3363251"/>
            <a:ext cx="6393287" cy="1225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99384" y="3288335"/>
            <a:ext cx="5250463" cy="1302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3F792-EA29-61A9-574A-C1CE55BE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55511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153-283D-1B63-28D6-263F4BFA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Problems and Solutions on Channel Capacity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D75D-99C6-A5DC-22E6-8D52F4D7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93" y="2794020"/>
            <a:ext cx="11644009" cy="33463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Ex2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A telephone line normally has a bandwidth of 3000 Hz (300 to 3300 Hz) assigned for data communication. If the SNR is 3162</a:t>
            </a: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w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hat will be the capacity for this channel?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28122-8077-2319-5A52-F065669E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5731D-787A-2F9F-B4E8-F1E9F759A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7" y="1135629"/>
            <a:ext cx="11918005" cy="8131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E0765-DDBB-24F7-829B-97367AC117A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1166" y="2098902"/>
            <a:ext cx="7320864" cy="545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68B4FD-6A69-1E3E-403D-286C3DE5C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247" y="5319696"/>
            <a:ext cx="3490485" cy="538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59343-4828-799C-78FA-54575B1E1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4247" y="4088913"/>
            <a:ext cx="2908570" cy="10147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577169-A1C0-F349-A212-9BE62A909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732" y="5236015"/>
            <a:ext cx="2073736" cy="71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4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3153-283D-1B63-28D6-263F4BFA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73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Problems and Solutions on Channel Capacity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5D75D-99C6-A5DC-22E6-8D52F4D7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4" y="1032772"/>
            <a:ext cx="11644009" cy="4931823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Ex3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 the theoretical channel capacity, if the channel having SNR of 36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the channel bandwidth is 2 </a:t>
            </a:r>
            <a:r>
              <a:rPr lang="en-US" dirty="0" err="1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Ans: 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28122-8077-2319-5A52-F065669E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0E303-90D8-6956-EE70-F72143A1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56" y="2104141"/>
            <a:ext cx="5079487" cy="549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06CBB1-B01E-C7F7-D73F-E5808891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856" y="2869889"/>
            <a:ext cx="3902335" cy="7630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C84437-3D00-5AB8-76C3-B8D96A68A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856" y="3819282"/>
            <a:ext cx="3533960" cy="553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24A6C6-9600-7561-6481-2797AD228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191" y="4618897"/>
            <a:ext cx="4483106" cy="5496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D250E9-C9FF-1F01-58A6-C9C67EF32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028" y="5386648"/>
            <a:ext cx="5840671" cy="6768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762465-4529-C91D-FBF9-366B10FCD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249021"/>
            <a:ext cx="3421677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A9DF-4FDF-2B28-7E1D-51296A6E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319" y="228939"/>
            <a:ext cx="4803843" cy="52009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Exercise questions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9303-2A2D-715F-58B5-ACF1CA03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3" y="992221"/>
            <a:ext cx="11673192" cy="5469546"/>
          </a:xfrm>
        </p:spPr>
        <p:txBody>
          <a:bodyPr>
            <a:normAutofit lnSpcReduction="10000"/>
          </a:bodyPr>
          <a:lstStyle/>
          <a:p>
            <a:pPr marL="514350" lvl="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According to the Shannon-Hartley law, what is the maximum   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achievable bit-rate for a computer modem operating over a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telephone channel with 3 kHz bandwidth and a maximum allowed </a:t>
            </a: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signal power that guarantees only a 30dB SNR?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A voice grade channel of the telephone network has a bandwidth of 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kern="1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3.4 KHz.</a:t>
            </a:r>
            <a:endParaRPr lang="en-IN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indent="-4572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(a) Calculate channel capacity of the telephone channel for signal to noise ratio of 32 </a:t>
            </a:r>
            <a:r>
              <a:rPr lang="en-US" kern="100" dirty="0" err="1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dB.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685800" indent="-4572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kern="100" dirty="0">
                <a:solidFill>
                  <a:srgbClr val="0909B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(b) Calculate the minimum SNR required to support information transmission through the telephone channel at the rate of 4800 bits/sec.</a:t>
            </a:r>
            <a:endParaRPr lang="en-IN" kern="100" dirty="0">
              <a:solidFill>
                <a:srgbClr val="0909B7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BC6D0-B97B-BEF1-742C-9E82DFA6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91924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062" y="123156"/>
            <a:ext cx="6831224" cy="70713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M-</a:t>
            </a:r>
            <a:r>
              <a:rPr lang="en-US" b="1" dirty="0" err="1">
                <a:solidFill>
                  <a:srgbClr val="FF0000"/>
                </a:solidFill>
              </a:rPr>
              <a:t>ary</a:t>
            </a:r>
            <a:r>
              <a:rPr lang="en-US" b="1" dirty="0">
                <a:solidFill>
                  <a:srgbClr val="FF0000"/>
                </a:solidFill>
              </a:rPr>
              <a:t> (Multi-level) Encoding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992" y="995423"/>
            <a:ext cx="11036808" cy="50738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M-ary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term derived from the word </a:t>
            </a: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simply represents a digit that corresponds to the number of conditions, levels, or combinations possible for a given number of binary variables.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often advantageous to encode at a level higher than binary where there are more than two conditions possible.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 digital signal with four possible conditions (voltage levels, frequencies, phases, and so on) is an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-ary system where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there are eight possible conditions,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8 and so forth. 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986E2-44D0-D73F-0163-F76D9194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15088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47" y="0"/>
            <a:ext cx="12008224" cy="6150069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M-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ary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signals: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If more than two levels are used for signaling (higher-than-binary encoding), more than one bit may be transmitted at a time, and it is possible to propagate a bit rate that exceeds 2</a:t>
            </a:r>
            <a:r>
              <a:rPr lang="en-US" sz="2200" i="1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B. </a:t>
            </a:r>
          </a:p>
          <a:p>
            <a:pPr>
              <a:buFont typeface="Wingdings" pitchFamily="2" charset="2"/>
              <a:buChar char="Ø"/>
            </a:pP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Using multilevel signaling, the </a:t>
            </a:r>
            <a:r>
              <a:rPr lang="en-US" sz="2200" i="1" dirty="0" err="1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Nyquist</a:t>
            </a: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 formulation for channel capacity is</a:t>
            </a:r>
            <a:endParaRPr lang="en-US" sz="2200" dirty="0">
              <a:solidFill>
                <a:srgbClr val="037F29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3481" y="1717245"/>
            <a:ext cx="2110520" cy="57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1710" y="2405236"/>
            <a:ext cx="6323711" cy="104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9649" y="3561350"/>
            <a:ext cx="9415099" cy="3067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77B798-6A7A-6714-D294-8E38D9B02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10965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350" y="893912"/>
            <a:ext cx="10351000" cy="69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0" y="2074414"/>
            <a:ext cx="10879498" cy="129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0" y="3766624"/>
            <a:ext cx="12003150" cy="198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1F41FA-22A0-D924-F71F-776D4E796CB3}"/>
              </a:ext>
            </a:extLst>
          </p:cNvPr>
          <p:cNvSpPr txBox="1"/>
          <p:nvPr/>
        </p:nvSpPr>
        <p:spPr>
          <a:xfrm>
            <a:off x="2141316" y="2257063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77C9D-052F-9415-0101-47DE68D05362}"/>
              </a:ext>
            </a:extLst>
          </p:cNvPr>
          <p:cNvSpPr txBox="1"/>
          <p:nvPr/>
        </p:nvSpPr>
        <p:spPr>
          <a:xfrm>
            <a:off x="2141316" y="4257632"/>
            <a:ext cx="1236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4-ary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E893D-BA7B-3FE7-0642-6E9B796B2829}"/>
              </a:ext>
            </a:extLst>
          </p:cNvPr>
          <p:cNvSpPr txBox="1"/>
          <p:nvPr/>
        </p:nvSpPr>
        <p:spPr>
          <a:xfrm>
            <a:off x="3290104" y="19534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M-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Encoding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6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643" y="262924"/>
            <a:ext cx="10422920" cy="69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65" y="1155895"/>
            <a:ext cx="10879498" cy="129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4" y="2487267"/>
            <a:ext cx="5814646" cy="127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538" y="4068746"/>
            <a:ext cx="9318015" cy="247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6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1F6DF-0CA8-9939-172F-156B04D6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1B8EA2-473D-0DFD-E990-E83D718B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56" y="3293137"/>
            <a:ext cx="1371600" cy="1971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B8392013-D424-BABD-B29C-624A9EA144CA}"/>
                  </a:ext>
                </a:extLst>
              </p:cNvPr>
              <p:cNvSpPr txBox="1"/>
              <p:nvPr/>
            </p:nvSpPr>
            <p:spPr bwMode="auto">
              <a:xfrm>
                <a:off x="1411148" y="152155"/>
                <a:ext cx="9422755" cy="1422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3200" i="0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B8392013-D424-BABD-B29C-624A9EA1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48" y="152155"/>
                <a:ext cx="9422755" cy="1422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A89A6C1-4A32-CE6A-4C8C-713DACA27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465062"/>
            <a:ext cx="1209675" cy="1259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D2AAEE-FA09-0C43-5505-E55BA56C5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4" y="995419"/>
            <a:ext cx="5534025" cy="657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7D7293-0CB5-5EE6-94BF-9837F8184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21" y="2017051"/>
            <a:ext cx="4981575" cy="56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43589-A6C9-9524-B3BD-A656A5195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885" y="3103471"/>
            <a:ext cx="3396711" cy="2684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6EDEFD-A140-89C1-CFDC-2F18028C6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525" y="2186673"/>
            <a:ext cx="5762266" cy="380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6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9AAD-218A-0237-07AE-40871BFAF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80" y="726030"/>
            <a:ext cx="10515600" cy="43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are three reasons for the emphasis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Discrete PAM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buAutoNum type="arabicPeriod"/>
            </a:pPr>
            <a:r>
              <a:rPr lang="en-US" b="0" i="0" u="none" strike="noStrike" baseline="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Discrete pulse-amplitude modulation is simple to analyze.</a:t>
            </a:r>
          </a:p>
          <a:p>
            <a:pPr marL="514350" indent="-514350" algn="l">
              <a:buAutoNum type="arabicPeriod"/>
            </a:pPr>
            <a:endParaRPr lang="en-US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It is the most efficient form of discrete pulse modulation in terms of both power and </a:t>
            </a:r>
            <a:r>
              <a:rPr lang="en-IN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bandwidth use.</a:t>
            </a:r>
          </a:p>
          <a:p>
            <a:pPr marL="0" indent="0" algn="l">
              <a:buNone/>
            </a:pPr>
            <a:endParaRPr lang="en-IN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0" i="0" u="none" strike="noStrike" baseline="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analytic techniques developed for handling discrete pulse-amplitude modulation may be extended to other discrete-pulse modulation techniques using phase or frequency.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47C6D-3A0D-C0CE-4216-6B33850F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31793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77982" y="0"/>
            <a:ext cx="10515600" cy="928255"/>
          </a:xfrm>
        </p:spPr>
        <p:txBody>
          <a:bodyPr>
            <a:normAutofit/>
          </a:bodyPr>
          <a:lstStyle/>
          <a:p>
            <a:r>
              <a:rPr lang="sv-SE" sz="4000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Discrete Memoryless Source</a:t>
            </a:r>
            <a:endParaRPr lang="en-US" sz="4000" dirty="0">
              <a:solidFill>
                <a:srgbClr val="0404EC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26" y="767351"/>
            <a:ext cx="11220289" cy="119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80" y="3633574"/>
            <a:ext cx="10819597" cy="115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80" y="4949025"/>
            <a:ext cx="11523268" cy="190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3079653" y="2188181"/>
            <a:ext cx="5353050" cy="1295400"/>
            <a:chOff x="1791" y="3158"/>
            <a:chExt cx="2529" cy="816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1791" y="3158"/>
              <a:ext cx="1134" cy="8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sv-SE" sz="3200" b="1" dirty="0">
                  <a:solidFill>
                    <a:srgbClr val="178F03"/>
                  </a:solidFill>
                  <a:latin typeface="Arial" pitchFamily="34" charset="0"/>
                  <a:cs typeface="Arial" pitchFamily="34" charset="0"/>
                </a:rPr>
                <a:t>Source</a:t>
              </a:r>
              <a:endParaRPr lang="en-US" sz="3200" b="1" dirty="0">
                <a:solidFill>
                  <a:srgbClr val="178F03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25" y="3566"/>
              <a:ext cx="5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560" y="3386"/>
              <a:ext cx="7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sv-SE" sz="2800" b="1" i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s</a:t>
              </a:r>
              <a:r>
                <a:rPr lang="sv-SE" sz="2800" b="1" baseline="-25000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1</a:t>
              </a:r>
              <a:r>
                <a:rPr lang="sv-SE" sz="2800" b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sv-SE" sz="2800" b="1" i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s</a:t>
              </a:r>
              <a:r>
                <a:rPr lang="sv-SE" sz="2800" b="1" baseline="-25000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sv-SE" sz="2800" b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, …</a:t>
              </a:r>
              <a:endParaRPr lang="en-US" sz="2800" b="1" dirty="0">
                <a:solidFill>
                  <a:srgbClr val="0404EC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B7D36-D63B-C1E0-1776-0B974A5B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55" y="1"/>
            <a:ext cx="10515600" cy="7808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Coding</a:t>
            </a:r>
            <a:endParaRPr 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124" y="1691220"/>
            <a:ext cx="11907749" cy="309454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representation of discrete source.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functional requirements.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The code words produced by the encoder are in binary form.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code is uniquely decodable, so that the original source sequence can be reconstructed perfectly from the encoded binary sequence. </a:t>
            </a:r>
            <a:endParaRPr lang="en-US" sz="3200" dirty="0">
              <a:solidFill>
                <a:srgbClr val="178F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04" y="4532794"/>
            <a:ext cx="9256278" cy="182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1C25F-7D9A-8545-A88C-1DCDF5FF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BD043-0FDE-1A66-8B15-BB8F26C24760}"/>
              </a:ext>
            </a:extLst>
          </p:cNvPr>
          <p:cNvSpPr txBox="1"/>
          <p:nvPr/>
        </p:nvSpPr>
        <p:spPr>
          <a:xfrm>
            <a:off x="371122" y="716021"/>
            <a:ext cx="1144975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0" i="0" u="none" strike="noStrike" baseline="0" dirty="0">
                <a:solidFill>
                  <a:srgbClr val="002060"/>
                </a:solidFill>
                <a:latin typeface="Constantia" panose="02030602050306030303" pitchFamily="18" charset="0"/>
              </a:rPr>
              <a:t>A conversion of the output of a discrete memoryless source (DMS) into a sequence of binary symbols (i.e., binary code word) is called source coding.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9464"/>
          </a:xfrm>
        </p:spPr>
        <p:txBody>
          <a:bodyPr/>
          <a:lstStyle/>
          <a:p>
            <a:r>
              <a:rPr lang="en-US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encoder …</a:t>
            </a:r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98" y="2185792"/>
            <a:ext cx="11419488" cy="122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98" y="3796158"/>
            <a:ext cx="11560617" cy="56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031" y="4668093"/>
            <a:ext cx="3424750" cy="1688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1E6F9-8E48-A14B-BC63-93D5B342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79711-5B07-565D-7EB6-A7F14D76BC5D}"/>
              </a:ext>
            </a:extLst>
          </p:cNvPr>
          <p:cNvSpPr txBox="1"/>
          <p:nvPr/>
        </p:nvSpPr>
        <p:spPr>
          <a:xfrm>
            <a:off x="270097" y="1110831"/>
            <a:ext cx="11419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en-US" sz="2800" b="0" i="0" u="none" strike="noStrike" dirty="0">
                <a:solidFill>
                  <a:srgbClr val="000000"/>
                </a:solidFill>
                <a:latin typeface="Copperplate Gothic Bold" panose="020E0705020206020404" pitchFamily="34" charset="0"/>
              </a:rPr>
              <a:t>The device that performs this conversion is called the source encoder. Figure shows a source encoder.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17D19-64F8-7EA4-C4A9-910D7AA4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D297A-32E2-59B0-93E6-B4ADB23A480F}"/>
              </a:ext>
            </a:extLst>
          </p:cNvPr>
          <p:cNvSpPr txBox="1"/>
          <p:nvPr/>
        </p:nvSpPr>
        <p:spPr>
          <a:xfrm>
            <a:off x="1458004" y="2156388"/>
            <a:ext cx="10254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Length of the code word is the no of binary digits in the code word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98ABF6-5C41-60A6-3CBE-089FF6400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8004" y="54249"/>
            <a:ext cx="9765167" cy="21021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3E79A0-EA34-6D10-E7F2-2D5A23EAD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004" y="2650126"/>
            <a:ext cx="9765167" cy="1587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4BDE52-F04A-5D91-7A42-2585D04C8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004" y="4162063"/>
            <a:ext cx="9765167" cy="14290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DF6BBF-E25A-BD05-7350-8740655AC9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8004" y="5590629"/>
            <a:ext cx="9275992" cy="63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50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723"/>
            <a:ext cx="10515600" cy="5903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Encoder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74" y="580168"/>
            <a:ext cx="10222359" cy="1095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67" y="1675421"/>
            <a:ext cx="8865006" cy="66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72" y="2345381"/>
            <a:ext cx="9626458" cy="160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37" y="3949791"/>
            <a:ext cx="11603412" cy="862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68" y="4811964"/>
            <a:ext cx="11831532" cy="44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48" y="5379913"/>
            <a:ext cx="12066785" cy="140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A91A0-1D57-58BE-44B2-C7A5AE6B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368"/>
            <a:ext cx="10515600" cy="81640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Huffman Coding</a:t>
            </a:r>
          </a:p>
        </p:txBody>
      </p:sp>
      <p:pic>
        <p:nvPicPr>
          <p:cNvPr id="137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06" y="1132627"/>
            <a:ext cx="8256978" cy="76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18" y="1986392"/>
            <a:ext cx="11585862" cy="1815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7401" y="4061735"/>
                <a:ext cx="11671443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Five symbols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𝟓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} of the alphabet of a discrete memoryless source (DMS) and their probabilities respectively are {</a:t>
                </a:r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0.2, 0.1, 0.1, 0.2 </a:t>
                </a:r>
                <a:r>
                  <a:rPr lang="en-I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0.4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}. Draw the Huffman code tree and find the average code word length and efficiency.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01" y="4061735"/>
                <a:ext cx="11671443" cy="1815882"/>
              </a:xfrm>
              <a:prstGeom prst="rect">
                <a:avLst/>
              </a:prstGeom>
              <a:blipFill rotWithShape="1">
                <a:blip r:embed="rId4"/>
                <a:stretch>
                  <a:fillRect l="-1097" t="-3356" r="-784" b="-8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63524-ABEF-30E8-BDB3-612DDFF6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298352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824821-8C1E-0238-D7D4-585B314A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5BC59-29DD-12B8-F69A-90D25D20D73F}"/>
              </a:ext>
            </a:extLst>
          </p:cNvPr>
          <p:cNvSpPr txBox="1"/>
          <p:nvPr/>
        </p:nvSpPr>
        <p:spPr>
          <a:xfrm>
            <a:off x="830036" y="1577175"/>
            <a:ext cx="105319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l" rtl="0"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latin typeface="Courier New" panose="02070309020205020404" pitchFamily="49" charset="0"/>
              </a:rPr>
              <a:t>The source symbols are arranged in order of decreasing prob. Then the two of lowest probability are assigned bit 0 and 1.</a:t>
            </a:r>
          </a:p>
          <a:p>
            <a:pPr marL="342900" marR="0" indent="-342900" algn="l" rtl="0"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latin typeface="Courier New" panose="02070309020205020404" pitchFamily="49" charset="0"/>
              </a:rPr>
              <a:t>Then combine last two symbols and move the combined Symbol as high as possible.</a:t>
            </a:r>
          </a:p>
          <a:p>
            <a:pPr marL="342900" marR="0" indent="-342900" algn="l" rtl="0"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latin typeface="Courier New" panose="02070309020205020404" pitchFamily="49" charset="0"/>
              </a:rPr>
              <a:t>Repeat the above step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Courier New" panose="02070309020205020404" pitchFamily="49" charset="0"/>
              </a:rPr>
              <a:t>untill</a:t>
            </a:r>
            <a:r>
              <a:rPr lang="en-US" sz="2400" b="0" i="0" u="none" strike="noStrike" dirty="0">
                <a:solidFill>
                  <a:srgbClr val="000000"/>
                </a:solidFill>
                <a:latin typeface="Courier New" panose="02070309020205020404" pitchFamily="49" charset="0"/>
              </a:rPr>
              <a:t> end.</a:t>
            </a:r>
          </a:p>
          <a:p>
            <a:pPr marL="342900" marR="0" indent="-342900" algn="l" rtl="0"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latin typeface="Courier New" panose="02070309020205020404" pitchFamily="49" charset="0"/>
              </a:rPr>
              <a:t>Code for each symbol is found by moving backward.</a:t>
            </a:r>
          </a:p>
          <a:p>
            <a:pPr marL="342900" marR="0" indent="-342900" algn="l" rtl="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Calculation</a:t>
            </a:r>
            <a:endParaRPr lang="en-US" sz="2400" b="0" i="0" u="none" strike="noStrike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415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66" y="307208"/>
            <a:ext cx="734377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434" y="395555"/>
            <a:ext cx="4209812" cy="2399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22" y="4334678"/>
            <a:ext cx="10279027" cy="168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4C2420-BB3A-69E1-0ACA-31306087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</p:spTree>
    <p:extLst>
      <p:ext uri="{BB962C8B-B14F-4D97-AF65-F5344CB8AC3E}">
        <p14:creationId xmlns:p14="http://schemas.microsoft.com/office/powerpoint/2010/main" val="416165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</TotalTime>
  <Words>1188</Words>
  <Application>Microsoft Office PowerPoint</Application>
  <PresentationFormat>Widescreen</PresentationFormat>
  <Paragraphs>109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Constantia</vt:lpstr>
      <vt:lpstr>Copperplate Gothic Bold</vt:lpstr>
      <vt:lpstr>Courier New</vt:lpstr>
      <vt:lpstr>Times New Roman</vt:lpstr>
      <vt:lpstr>Wingdings</vt:lpstr>
      <vt:lpstr>Office Theme</vt:lpstr>
      <vt:lpstr>Digital Communication 22EC2208</vt:lpstr>
      <vt:lpstr>    Introduction to Information Theory</vt:lpstr>
      <vt:lpstr>Information Theory</vt:lpstr>
      <vt:lpstr>PowerPoint Presentation</vt:lpstr>
      <vt:lpstr>PowerPoint Presentation</vt:lpstr>
      <vt:lpstr>Problems and Solutions on Channel Capacity</vt:lpstr>
      <vt:lpstr>Problems and Solutions on Channel Capacity</vt:lpstr>
      <vt:lpstr>Exercise questions</vt:lpstr>
      <vt:lpstr>M-ary (Multi-level) Encoding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Discrete Memoryless Source</vt:lpstr>
      <vt:lpstr>Source Coding</vt:lpstr>
      <vt:lpstr>Source encoder …</vt:lpstr>
      <vt:lpstr>PowerPoint Presentation</vt:lpstr>
      <vt:lpstr>Source Encoder</vt:lpstr>
      <vt:lpstr>Huffman Coding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syamsundarp@kluniversity.in</cp:lastModifiedBy>
  <cp:revision>31</cp:revision>
  <dcterms:created xsi:type="dcterms:W3CDTF">2023-05-08T13:48:07Z</dcterms:created>
  <dcterms:modified xsi:type="dcterms:W3CDTF">2024-01-08T16:52:08Z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