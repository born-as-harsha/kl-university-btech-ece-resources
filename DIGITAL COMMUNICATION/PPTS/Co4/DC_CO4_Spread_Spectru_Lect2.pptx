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17"/>
  </p:notesMasterIdLst>
  <p:handoutMasterIdLst>
    <p:handoutMasterId r:id="rId18"/>
  </p:handoutMasterIdLst>
  <p:sldIdLst>
    <p:sldId id="289" r:id="rId5"/>
    <p:sldId id="444" r:id="rId6"/>
    <p:sldId id="445" r:id="rId7"/>
    <p:sldId id="446" r:id="rId8"/>
    <p:sldId id="452" r:id="rId9"/>
    <p:sldId id="455" r:id="rId10"/>
    <p:sldId id="447" r:id="rId11"/>
    <p:sldId id="465" r:id="rId12"/>
    <p:sldId id="466" r:id="rId13"/>
    <p:sldId id="453" r:id="rId14"/>
    <p:sldId id="467" r:id="rId15"/>
    <p:sldId id="4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  <a:srgbClr val="3D3D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AED73D35-5D11-49F4-9636-DAE00C90C8A9}" v="2" dt="2023-11-30T05:14:39.196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FFE7BA5-9AA7-43A8-9EE5-C23B4ED60B7B}" type="slidenum">
              <a:rPr lang="en-US" altLang="en-US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732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711740" y="-152398"/>
            <a:ext cx="10523706" cy="1470025"/>
          </a:xfrm>
        </p:spPr>
        <p:txBody>
          <a:bodyPr>
            <a:normAutofit/>
          </a:bodyPr>
          <a:lstStyle/>
          <a:p>
            <a:r>
              <a:rPr lang="en-US" altLang="en-US" sz="5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 24EC2208</a:t>
            </a:r>
          </a:p>
        </p:txBody>
      </p:sp>
      <p:sp>
        <p:nvSpPr>
          <p:cNvPr id="4100" name="TextBox 3"/>
          <p:cNvSpPr txBox="1">
            <a:spLocks noChangeArrowheads="1"/>
          </p:cNvSpPr>
          <p:nvPr/>
        </p:nvSpPr>
        <p:spPr bwMode="auto">
          <a:xfrm>
            <a:off x="1752600" y="1524001"/>
            <a:ext cx="89154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solidFill>
                  <a:srgbClr val="FF0000"/>
                </a:solidFill>
              </a:rPr>
              <a:t>Spread-Spectrum Communications</a:t>
            </a:r>
            <a:endParaRPr lang="en-US" alt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80C941-4278-9CD7-6E0A-176AD4ECC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291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F06A-9C4A-64C1-0F31-517B74B45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435895-31F3-5527-CDC8-00533588C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65D9E-312E-99CF-147A-F9588ED95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4FF4AFF-8804-49FB-3787-4A9638BFB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8638" y="2879725"/>
            <a:ext cx="7947025" cy="6413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Frequency Hop Spread Spectrum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03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A04A-0EDE-0369-A381-74F21536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9E812-78EA-ED2C-2CA7-EE8D7A86C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6463" y="0"/>
            <a:ext cx="11049000" cy="93345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Limitations of DSSS BPSK Modulation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06AD2-63F3-28EC-A17B-733F93FE6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620" y="933450"/>
            <a:ext cx="11794603" cy="5422900"/>
          </a:xfrm>
        </p:spPr>
        <p:txBody>
          <a:bodyPr/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of PN sequence achieves instantaneous spreading of the transmission bandwidth to combat the effects of jammers that is determined by the processing gain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 the system which is a function of chip period (PN Sequence). 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 be increased by narrowing chip duration, but limited capabilities of physical device to implement.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Indeed, the processing gain so attained is not sufficient to achieve large bandwidth.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To overcome these limitations, frequency hopping spread spectrum is proposed.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353EA0-81BC-96B2-93F9-7A0D61830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A3D76-7651-4938-DBF6-2A0EEF29C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36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D8490-2741-F668-B723-3002BA97D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527F5-E13A-1127-E8DB-772AC464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968" y="136525"/>
            <a:ext cx="8734063" cy="61872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Frequency Hop Spread Spectrum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8EAAF-3953-7D90-E292-6F22A3764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1053295"/>
            <a:ext cx="11759878" cy="41553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The type of spread spectrum on which the carrier hops randomly from one frequency to another is referred to as FHSS.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FHSS the spectrum of transmitted signal is spread sequentially rather than instantaneously as in DSSS.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common modulation format for FH system is that M-</a:t>
            </a:r>
            <a:r>
              <a:rPr lang="en-US" sz="2600" dirty="0" err="1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FSK or MFSK.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The combination of two techniques is referred to as FH/MFSK.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 FH does not cover the entire spread spectrum instantaneously that </a:t>
            </a:r>
            <a:r>
              <a:rPr lang="en-US" sz="2600" dirty="0" err="1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leds</a:t>
            </a: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consider the rate at which the hops occur.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FEAB29-A740-0768-41A0-957464B86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F724A-09EB-0193-A2CE-9EEF1B26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1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4606-DA9C-1CFA-BCF9-181BE075B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6A212-D31D-DBBD-5C1B-B89D3A8F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8968" y="136525"/>
            <a:ext cx="8734063" cy="61872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Frequency Hop Spread Spectrum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C8E87-4C41-8010-F538-B180CD361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061" y="925974"/>
            <a:ext cx="11759878" cy="421318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Basic Characteristics: 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Slow frequency hopping </a:t>
            </a: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which symbol rate       of MFSK signal is an integer multiple of hop rate      . That is several symbols are transmitted on each frequency hop.  </a:t>
            </a:r>
          </a:p>
          <a:p>
            <a:pPr>
              <a:lnSpc>
                <a:spcPct val="10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Fast frequency hopping </a:t>
            </a:r>
            <a:r>
              <a:rPr lang="en-US" sz="2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which hop rate       of MFSK signal is an integer multiple of symbol rate     . That is the carrier frequency will change or hop several times during the transmission of one symbol.    </a:t>
            </a:r>
          </a:p>
          <a:p>
            <a:pPr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Generally fast FHSS gives improved performance in noise (or jamming)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IN" sz="26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95D49-97F6-5598-E637-D9079833F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869E8-C133-D917-0133-36B9C0043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5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2727DD-8E9B-C3D5-53F8-1E3B5A32B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461" y="1472329"/>
            <a:ext cx="381000" cy="371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655079B-80AD-DC42-F784-0C21D969D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620" y="1889022"/>
            <a:ext cx="504825" cy="371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65A359-0A9A-BC6A-E4DF-F09CD8FA8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010" y="2782199"/>
            <a:ext cx="504825" cy="3714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E474D6-E3C3-69FA-C05C-1076D1D2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854" y="3175733"/>
            <a:ext cx="38100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93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705A5-E386-E9EF-1E95-7B1D69BB4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3D4B535-5246-3FAA-6F3E-6D244CD906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6839" y="856525"/>
            <a:ext cx="11482686" cy="4926897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0E4A5-06F1-E853-1CFB-6DD60694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9D7D8-D6F9-19A1-32B6-BC9AC8446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6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FF64C-3B5E-BCE7-9B8F-6885271A22AB}"/>
              </a:ext>
            </a:extLst>
          </p:cNvPr>
          <p:cNvSpPr txBox="1"/>
          <p:nvPr/>
        </p:nvSpPr>
        <p:spPr>
          <a:xfrm>
            <a:off x="3175590" y="1312622"/>
            <a:ext cx="9637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FDM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FB5EE8-BEC7-DA6B-5A7B-6A1C5C601894}"/>
              </a:ext>
            </a:extLst>
          </p:cNvPr>
          <p:cNvSpPr txBox="1"/>
          <p:nvPr/>
        </p:nvSpPr>
        <p:spPr>
          <a:xfrm>
            <a:off x="8536599" y="1268247"/>
            <a:ext cx="11416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FHSS</a:t>
            </a:r>
            <a:endParaRPr lang="en-IN" sz="28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500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D5F3D-89D8-23B5-895B-8DD618CA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20936-EC83-DD2C-4DC9-0297F6FDA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62" y="136525"/>
            <a:ext cx="9185476" cy="52612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r>
              <a:rPr lang="en-US" dirty="0"/>
              <a:t>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Frequency Hop Spread Spectrum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1045E2-4E15-4BA9-4D95-D0339C9C3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E8B3D-8C41-764E-3DD2-FC4E6299D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F5C95D-7D3D-4C16-EAD9-0C1CA171C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77" y="630155"/>
            <a:ext cx="10278319" cy="61035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F6A557-6BE9-FC11-CCF9-CC123F1A2849}"/>
              </a:ext>
            </a:extLst>
          </p:cNvPr>
          <p:cNvSpPr txBox="1"/>
          <p:nvPr/>
        </p:nvSpPr>
        <p:spPr>
          <a:xfrm>
            <a:off x="347241" y="879675"/>
            <a:ext cx="22404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Transmitter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710ED0-EC4D-A5CF-4232-10D2701A6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0" y="2929285"/>
            <a:ext cx="3839690" cy="3839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EA3DBC-E96D-4956-DF1F-5DBF9D77D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235" y="4207458"/>
            <a:ext cx="2776196" cy="491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7D499-9A2D-C101-94A3-B05E08887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286" y="5024215"/>
            <a:ext cx="1892763" cy="503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BBC6324-555E-6B97-85ED-60623D5A7A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9162" y="2826588"/>
            <a:ext cx="3121247" cy="651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D140B9-B7F2-A823-08AE-9ADDB3D176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8283" y="3838363"/>
            <a:ext cx="1714251" cy="28750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2C1CFC-0F18-5A4C-5E09-BC705CB5174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3932" y="4874184"/>
            <a:ext cx="3932774" cy="9604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4ADCD8-5671-85B7-1E7F-C178F1042A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90706" y="1345014"/>
            <a:ext cx="1018642" cy="584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028FAF-2AA7-3550-F559-04D041EA650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37726" y="2796552"/>
            <a:ext cx="695476" cy="36512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3A9FC8-EEC3-9771-AE06-630CF7E864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8777" y="2314511"/>
            <a:ext cx="703646" cy="43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3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6BF4F-2EBA-5FBA-C544-3EC4E1C3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0374D-1042-76D4-F975-E33F3CB6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8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C4E66-280E-F83A-B0B1-CB2A9DA243CD}"/>
              </a:ext>
            </a:extLst>
          </p:cNvPr>
          <p:cNvSpPr txBox="1"/>
          <p:nvPr/>
        </p:nvSpPr>
        <p:spPr>
          <a:xfrm>
            <a:off x="2918357" y="162040"/>
            <a:ext cx="34417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FHSS Transmitter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92A4AED-6091-A12D-133D-05855F4C1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5" y="799483"/>
            <a:ext cx="11497701" cy="95031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31BAABA-3E8E-054D-1642-F81660D5A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0" y="1761416"/>
            <a:ext cx="11625024" cy="6724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5982B5D-6E43-356C-84ED-CFB966FE2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625" y="2359414"/>
            <a:ext cx="11625024" cy="60705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9E65AA7-BF99-F8E0-8D1B-F303212FF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637" y="2915975"/>
            <a:ext cx="11782425" cy="9334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970AEAD-63B5-080F-F854-AC6E293586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0829" y="3835052"/>
            <a:ext cx="11497701" cy="133150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58A252A-2CDE-46F5-1007-7C9097F839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521" y="5160011"/>
            <a:ext cx="10096500" cy="70485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B650894-598B-3E57-6D28-952B85C387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34" y="5790598"/>
            <a:ext cx="1118235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17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21F65-060A-1854-DDF6-EE7AB6FE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3BD0D-7C89-2276-9E57-4BC172323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9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C0A41D-8A12-A01D-70EE-30CF964FA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7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94DF1-F2EC-5AC1-95C4-2552D29C8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CAAA-4A30-5A31-8414-535C18148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3262" y="136525"/>
            <a:ext cx="9185476" cy="526126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Slow</a:t>
            </a:r>
            <a:r>
              <a:rPr lang="en-US" dirty="0"/>
              <a:t> </a:t>
            </a:r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Frequency Hop Spread Spectrum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13F94-933E-34D6-2831-C71F04AF7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DD99ED-1801-8961-25EC-7E64BB3C0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43B45-128D-1755-2514-6812845B9603}"/>
              </a:ext>
            </a:extLst>
          </p:cNvPr>
          <p:cNvSpPr txBox="1"/>
          <p:nvPr/>
        </p:nvSpPr>
        <p:spPr>
          <a:xfrm>
            <a:off x="104167" y="879675"/>
            <a:ext cx="18020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Receiver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8906F-C7AF-F394-063A-B7C514DA3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59" y="920439"/>
            <a:ext cx="9850900" cy="56899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D6CD6B-B91E-92B5-099A-69EBC3801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28" y="4286021"/>
            <a:ext cx="2151747" cy="610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2FC660-CC40-FC86-3038-2C032A626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18" y="5387220"/>
            <a:ext cx="2731625" cy="66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9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B7FC-4E7E-291C-326B-D24125B2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3931" y="156778"/>
            <a:ext cx="7981708" cy="595574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FHSS Receiver</a:t>
            </a:r>
            <a:endParaRPr lang="en-IN" sz="3600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300367-4F40-9157-EEE4-5F45E052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37023-B8FE-6AE2-8E6E-4F81FA63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17E833-D72F-0312-DA38-7AFF39C4E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7497"/>
            <a:ext cx="12192000" cy="9498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05FE7C-F3BD-BB8D-09B9-B432CF69C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" y="1838224"/>
            <a:ext cx="12192000" cy="135275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6C3FD2-2ADC-875B-1E5B-E561D550A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96918"/>
            <a:ext cx="12192000" cy="9586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1C8B68-2E5B-B287-4AB7-A0227A93B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957" y="4259846"/>
            <a:ext cx="3202873" cy="3551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91F805-A3C9-3680-B137-C7F3F4AABD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388" y="4694799"/>
            <a:ext cx="7724775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8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723CD8-BED0-5A35-2521-392F28A6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56571-2706-313E-3CF1-9DFF3C1B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TW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830673-1996-66DD-340E-03849AE8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7D19B2-9399-4375-A41B-870151398D4A}" type="slidenum">
              <a:rPr lang="en-US" altLang="zh-TW" smtClean="0"/>
              <a:pPr>
                <a:defRPr/>
              </a:pPr>
              <a:t>12</a:t>
            </a:fld>
            <a:endParaRPr lang="en-US" alt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1030</TotalTime>
  <Words>387</Words>
  <Application>Microsoft Office PowerPoint</Application>
  <PresentationFormat>Widescreen</PresentationFormat>
  <Paragraphs>51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Digital Communication 24EC2208</vt:lpstr>
      <vt:lpstr>Frequency Hop Spread Spectrum</vt:lpstr>
      <vt:lpstr>Limitations of DSSS BPSK Modulation</vt:lpstr>
      <vt:lpstr>Frequency Hop Spread Spectrum</vt:lpstr>
      <vt:lpstr>Frequency Hop Spread Spectrum</vt:lpstr>
      <vt:lpstr>PowerPoint Presentation</vt:lpstr>
      <vt:lpstr>Slow Frequency Hop Spread Spectrum</vt:lpstr>
      <vt:lpstr>PowerPoint Presentation</vt:lpstr>
      <vt:lpstr>PowerPoint Presentation</vt:lpstr>
      <vt:lpstr>Slow Frequency Hop Spread Spectrum</vt:lpstr>
      <vt:lpstr>FHSS Receiver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57</cp:revision>
  <dcterms:created xsi:type="dcterms:W3CDTF">2023-05-08T13:48:07Z</dcterms:created>
  <dcterms:modified xsi:type="dcterms:W3CDTF">2026-03-05T05:50:28Z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