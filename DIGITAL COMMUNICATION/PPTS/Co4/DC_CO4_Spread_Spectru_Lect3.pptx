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4"/>
  </p:notesMasterIdLst>
  <p:handoutMasterIdLst>
    <p:handoutMasterId r:id="rId15"/>
  </p:handoutMasterIdLst>
  <p:sldIdLst>
    <p:sldId id="332" r:id="rId5"/>
    <p:sldId id="470" r:id="rId6"/>
    <p:sldId id="325" r:id="rId7"/>
    <p:sldId id="312" r:id="rId8"/>
    <p:sldId id="326" r:id="rId9"/>
    <p:sldId id="327" r:id="rId10"/>
    <p:sldId id="313" r:id="rId11"/>
    <p:sldId id="314" r:id="rId12"/>
    <p:sldId id="42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  <a:srgbClr val="3D3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Spread Spectrum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4EC4-859C-F52A-8FB3-E2ECDD9D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4233"/>
            <a:ext cx="10515600" cy="757619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Code Division Multiple Axis System 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CDMA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18A1E-A3A9-CBCE-E435-D4F20AE1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1B8AE-78A8-3A48-738B-2DDDDE13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5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297831F-612C-A343-F082-024FD4963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0084" y="52608"/>
            <a:ext cx="8155330" cy="734469"/>
          </a:xfrm>
        </p:spPr>
        <p:txBody>
          <a:bodyPr>
            <a:normAutofit/>
          </a:bodyPr>
          <a:lstStyle/>
          <a:p>
            <a:r>
              <a:rPr lang="en-GB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Division Multiple Access (CDMA)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F6EF033-6E1C-F492-4C97-073A11C02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5760" y="1003820"/>
            <a:ext cx="11650887" cy="43513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Multiplexing Technique used with spread spectrum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 with data signal rate </a:t>
            </a:r>
            <a:r>
              <a:rPr lang="en-GB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c</a:t>
            </a:r>
            <a:r>
              <a:rPr lang="en-GB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alled bit data rate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 each bit into </a:t>
            </a:r>
            <a:r>
              <a:rPr lang="en-GB" altLang="en-US" i="1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alt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chips according to fixed pattern specific to each user. </a:t>
            </a:r>
            <a:r>
              <a:rPr lang="en-GB" alt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User’s code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channel has chip data rate </a:t>
            </a:r>
            <a:r>
              <a:rPr lang="en-GB" altLang="en-US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kD</a:t>
            </a: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chips per second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GB" altLang="en-US" i="1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GB" alt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6, three users (A,B,C) communicating with base receiver 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for A = &lt; 1, -1, -1,  1, -1, 1 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Code for B = &lt; 1,  1, -1, -1, 1,  1 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for C = &lt; 1,  1, -1,  1, 1, -1 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046E9A8-5772-D46C-11D9-25AAC893E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2129" y="87329"/>
            <a:ext cx="4613476" cy="514551"/>
          </a:xfrm>
        </p:spPr>
        <p:txBody>
          <a:bodyPr>
            <a:noAutofit/>
          </a:bodyPr>
          <a:lstStyle/>
          <a:p>
            <a:r>
              <a:rPr lang="en-GB" alt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CDMA Example</a:t>
            </a:r>
          </a:p>
        </p:txBody>
      </p:sp>
      <p:pic>
        <p:nvPicPr>
          <p:cNvPr id="73731" name="Picture 3">
            <a:extLst>
              <a:ext uri="{FF2B5EF4-FFF2-40B4-BE49-F238E27FC236}">
                <a16:creationId xmlns:a16="http://schemas.microsoft.com/office/drawing/2014/main" id="{BD19D68A-52EB-8052-328D-2CAD5B6FC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8"/>
          <a:stretch>
            <a:fillRect/>
          </a:stretch>
        </p:blipFill>
        <p:spPr bwMode="auto">
          <a:xfrm>
            <a:off x="607673" y="765205"/>
            <a:ext cx="9740096" cy="5519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95CE3AA6-03F7-F2BE-95EB-4BB4721D4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7406" y="17884"/>
            <a:ext cx="4844969" cy="931239"/>
          </a:xfrm>
        </p:spPr>
        <p:txBody>
          <a:bodyPr>
            <a:normAutofit/>
          </a:bodyPr>
          <a:lstStyle/>
          <a:p>
            <a:r>
              <a:rPr lang="en-GB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CDMA Explanation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6E2E30AA-629E-A516-4A57-21360FB8D8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0390" y="969098"/>
            <a:ext cx="11678856" cy="43513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Consider </a:t>
            </a: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 communicating with base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Base knows </a:t>
            </a: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’s code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Assume communication already synchronized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en-US" dirty="0">
                <a:solidFill>
                  <a:srgbClr val="3D3D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wants to send a 1</a:t>
            </a:r>
          </a:p>
          <a:p>
            <a:pPr lvl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Send chip pattern &lt;1,-1,-1,1,-1,1&gt;</a:t>
            </a:r>
          </a:p>
          <a:p>
            <a:pPr lvl="2">
              <a:lnSpc>
                <a:spcPct val="90000"/>
              </a:lnSpc>
            </a:pPr>
            <a:r>
              <a:rPr lang="en-GB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A’s code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wants to send 0</a:t>
            </a:r>
          </a:p>
          <a:p>
            <a:pPr lvl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Send chip[ pattern &lt;-1,1,1,-1,1,-1&gt;</a:t>
            </a:r>
          </a:p>
          <a:p>
            <a:pPr lvl="2">
              <a:lnSpc>
                <a:spcPct val="90000"/>
              </a:lnSpc>
            </a:pPr>
            <a:r>
              <a:rPr lang="en-GB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 of A’s code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Decoder ignores other sources when using A’s code to decode</a:t>
            </a:r>
          </a:p>
          <a:p>
            <a:pPr lvl="1">
              <a:lnSpc>
                <a:spcPct val="90000"/>
              </a:lnSpc>
            </a:pP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Orthogonal codes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96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96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796549ED-DE47-5E94-4E94-D3031BDE08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9839" y="388271"/>
            <a:ext cx="3884271" cy="549275"/>
          </a:xfrm>
        </p:spPr>
        <p:txBody>
          <a:bodyPr>
            <a:normAutofit fontScale="90000"/>
          </a:bodyPr>
          <a:lstStyle/>
          <a:p>
            <a:r>
              <a:rPr lang="en-GB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CDMA for DSSS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E16583F7-D611-7AFB-E630-47CB3F38CA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5683" y="1293190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 users each using different orthogonal PN sequence</a:t>
            </a:r>
          </a:p>
          <a:p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Modulate each users data stream</a:t>
            </a:r>
          </a:p>
          <a:p>
            <a:pPr lvl="1"/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Using BPSK</a:t>
            </a:r>
          </a:p>
          <a:p>
            <a:r>
              <a:rPr lang="en-GB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Multiply by spreading code of user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E313A76-2F3F-4579-D6D4-4D0611C1C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3071" y="112310"/>
            <a:ext cx="6662196" cy="477999"/>
          </a:xfrm>
        </p:spPr>
        <p:txBody>
          <a:bodyPr>
            <a:normAutofit fontScale="90000"/>
          </a:bodyPr>
          <a:lstStyle/>
          <a:p>
            <a:r>
              <a:rPr lang="en-GB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CDMA in a DSSS Environment</a:t>
            </a:r>
          </a:p>
        </p:txBody>
      </p:sp>
      <p:pic>
        <p:nvPicPr>
          <p:cNvPr id="74755" name="Picture 3">
            <a:extLst>
              <a:ext uri="{FF2B5EF4-FFF2-40B4-BE49-F238E27FC236}">
                <a16:creationId xmlns:a16="http://schemas.microsoft.com/office/drawing/2014/main" id="{1BF3341C-4CEA-705E-9E8A-2E5832F57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74"/>
          <a:stretch>
            <a:fillRect/>
          </a:stretch>
        </p:blipFill>
        <p:spPr bwMode="auto">
          <a:xfrm>
            <a:off x="1001157" y="590309"/>
            <a:ext cx="9133443" cy="6155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D41527-35C4-CF94-8B24-823F549DD577}"/>
              </a:ext>
            </a:extLst>
          </p:cNvPr>
          <p:cNvSpPr txBox="1"/>
          <p:nvPr/>
        </p:nvSpPr>
        <p:spPr>
          <a:xfrm>
            <a:off x="894143" y="3241440"/>
            <a:ext cx="101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BPSK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12B7F-3B86-FF0F-8514-98BA5985B049}"/>
              </a:ext>
            </a:extLst>
          </p:cNvPr>
          <p:cNvSpPr txBox="1"/>
          <p:nvPr/>
        </p:nvSpPr>
        <p:spPr>
          <a:xfrm>
            <a:off x="896075" y="1240948"/>
            <a:ext cx="101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BPSK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07C63-85C2-C2E7-E85E-CE2B33A81038}"/>
              </a:ext>
            </a:extLst>
          </p:cNvPr>
          <p:cNvSpPr txBox="1"/>
          <p:nvPr/>
        </p:nvSpPr>
        <p:spPr>
          <a:xfrm>
            <a:off x="1044618" y="5787872"/>
            <a:ext cx="101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BPSK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B1D4912-CD66-B16E-9D5A-C263027E5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562" y="98908"/>
            <a:ext cx="10338122" cy="563740"/>
          </a:xfrm>
        </p:spPr>
        <p:txBody>
          <a:bodyPr>
            <a:normAutofit fontScale="90000"/>
          </a:bodyPr>
          <a:lstStyle/>
          <a:p>
            <a:r>
              <a:rPr lang="en-GB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Seven Channel CDMA Encoding and Decoding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4D862579-CBD7-0111-8405-0B86F209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92"/>
          <a:stretch>
            <a:fillRect/>
          </a:stretch>
        </p:blipFill>
        <p:spPr bwMode="auto">
          <a:xfrm>
            <a:off x="127320" y="752353"/>
            <a:ext cx="11865227" cy="599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Words>269</Words>
  <Application>Microsoft Office PowerPoint</Application>
  <PresentationFormat>Widescreen</PresentationFormat>
  <Paragraphs>42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Code Division Multiple Axis System  (CDMA)</vt:lpstr>
      <vt:lpstr>Code Division Multiple Access (CDMA)</vt:lpstr>
      <vt:lpstr>CDMA Example</vt:lpstr>
      <vt:lpstr>CDMA Explanation</vt:lpstr>
      <vt:lpstr>CDMA for DSSS</vt:lpstr>
      <vt:lpstr>CDMA in a DSSS Environment</vt:lpstr>
      <vt:lpstr>Seven Channel CDMA Encoding and Decoding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55</cp:revision>
  <dcterms:created xsi:type="dcterms:W3CDTF">2023-05-08T13:48:07Z</dcterms:created>
  <dcterms:modified xsi:type="dcterms:W3CDTF">2026-03-05T05:51:42Z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