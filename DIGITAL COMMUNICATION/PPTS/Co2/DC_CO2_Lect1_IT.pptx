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376" r:id="rId5"/>
    <p:sldId id="430" r:id="rId6"/>
    <p:sldId id="275" r:id="rId7"/>
    <p:sldId id="296" r:id="rId8"/>
    <p:sldId id="274" r:id="rId9"/>
    <p:sldId id="497" r:id="rId10"/>
    <p:sldId id="498" r:id="rId11"/>
    <p:sldId id="499" r:id="rId12"/>
    <p:sldId id="272" r:id="rId13"/>
    <p:sldId id="471" r:id="rId14"/>
    <p:sldId id="4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9D37986F-7FA2-4F02-BE92-E904027728D3}"/>
    <pc:docChg chg="modSld">
      <pc:chgData name="Harsha Abhi" userId="f8e599a9041de5bd" providerId="LiveId" clId="{9D37986F-7FA2-4F02-BE92-E904027728D3}" dt="2026-02-01T13:09:01.932" v="0" actId="1036"/>
      <pc:docMkLst>
        <pc:docMk/>
      </pc:docMkLst>
      <pc:sldChg chg="modSp mod">
        <pc:chgData name="Harsha Abhi" userId="f8e599a9041de5bd" providerId="LiveId" clId="{9D37986F-7FA2-4F02-BE92-E904027728D3}" dt="2026-02-01T13:09:01.932" v="0" actId="1036"/>
        <pc:sldMkLst>
          <pc:docMk/>
          <pc:sldMk cId="4141040996" sldId="430"/>
        </pc:sldMkLst>
        <pc:picChg chg="mod">
          <ac:chgData name="Harsha Abhi" userId="f8e599a9041de5bd" providerId="LiveId" clId="{9D37986F-7FA2-4F02-BE92-E904027728D3}" dt="2026-02-01T13:09:01.932" v="0" actId="1036"/>
          <ac:picMkLst>
            <pc:docMk/>
            <pc:sldMk cId="4141040996" sldId="430"/>
            <ac:picMk id="4" creationId="{8B3BC803-84C8-79C9-B7F9-798A836DD89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2577" y="1018937"/>
            <a:ext cx="9144000" cy="9491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  <a:r>
              <a:rPr lang="en-US" altLang="en-US" sz="4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24EC2208</a:t>
            </a:r>
            <a:endParaRPr lang="en-US" sz="4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304" y="3048000"/>
            <a:ext cx="9144000" cy="2316480"/>
          </a:xfrm>
        </p:spPr>
        <p:txBody>
          <a:bodyPr/>
          <a:lstStyle/>
          <a:p>
            <a:r>
              <a:rPr lang="en-US" altLang="en-US" sz="5400" dirty="0">
                <a:ea typeface="新細明體" panose="02020500000000000000" pitchFamily="18" charset="-120"/>
              </a:rPr>
              <a:t> </a:t>
            </a:r>
            <a:r>
              <a:rPr lang="en-US" sz="5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Introduction to Information Theory</a:t>
            </a:r>
            <a:endParaRPr lang="en-US" altLang="en-US" sz="3600" dirty="0">
              <a:solidFill>
                <a:srgbClr val="002060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495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4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Introduction to Information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85" y="844953"/>
            <a:ext cx="11707091" cy="52508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Information theory is a branch of science that deals with the analysis of a communications system.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178F03"/>
                </a:solidFill>
                <a:latin typeface="Arial" pitchFamily="34" charset="0"/>
                <a:cs typeface="Arial" pitchFamily="34" charset="0"/>
              </a:rPr>
              <a:t>Claude Shannon Published a landmark paper in 1948 that was the beginning of the branch of information theory.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We are interested in communicating information from a source to a destination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BC803-84C8-79C9-B7F9-798A836D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7" y="1803411"/>
            <a:ext cx="10660303" cy="22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49" y="940650"/>
            <a:ext cx="11858845" cy="356543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highly theoretical study of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use of bandwidth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propagate information through electronic communications systems.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can be used to determine the </a:t>
            </a:r>
            <a:r>
              <a:rPr lang="en-US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data communications system.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capacity is a measure of how much information can be propagated through a communications system and is a function of bandwidth and transmission time.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3320" y="4506085"/>
            <a:ext cx="1630871" cy="5542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37B99-9CDA-3ECD-71D4-E52B319D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0" y="-2533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99281-F9DE-DD59-E0F4-BC2152C6E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84" y="5177266"/>
            <a:ext cx="5240071" cy="136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2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486" y="915172"/>
            <a:ext cx="11783027" cy="449020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represents the number of independent symbols that can be carried through a system in a given unit of time.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basic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to represent information is the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digit,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it is often convenient to express the information capacity of a system as a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 is simply the number of bits transmitted during one second and is expressed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bits per second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(bps).      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2"/>
              <p:cNvSpPr txBox="1"/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3200" i="0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717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7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95" y="405114"/>
            <a:ext cx="11838432" cy="633129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capacity is a linear function of bandwidth and transmission time and is directly proportional to both. If either the bandwidth or the transmission time changes, a directly proportional change occurs in the information capacity.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Shannon limit theorem: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37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higher the signal- to-noise ratio, the better the performance and the higher the information capacity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3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682" y="4896692"/>
            <a:ext cx="11764614" cy="8249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6852" y="5786474"/>
            <a:ext cx="6626810" cy="49334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0295" y="3363251"/>
            <a:ext cx="6393287" cy="1225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99384" y="3288335"/>
            <a:ext cx="5250463" cy="1302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511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153-283D-1B63-28D6-263F4BFA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Problems and Solutions on Channel Capacity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D75D-99C6-A5DC-22E6-8D52F4D7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93" y="2794020"/>
            <a:ext cx="11644009" cy="33463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Ex2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A telephone line normally has a bandwidth of 3000 Hz (300 to 3300 Hz) assigned for data communication. If the SNR is 3162</a:t>
            </a: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hat will be the capacity for this channel?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5731D-787A-2F9F-B4E8-F1E9F759A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7" y="1135629"/>
            <a:ext cx="11918005" cy="8131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E0765-DDBB-24F7-829B-97367AC117A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1166" y="2098902"/>
            <a:ext cx="7320864" cy="545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8B4FD-6A69-1E3E-403D-286C3DE5C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247" y="5319696"/>
            <a:ext cx="3490485" cy="538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59343-4828-799C-78FA-54575B1E1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247" y="4088913"/>
            <a:ext cx="2908570" cy="1014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577169-A1C0-F349-A212-9BE62A909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732" y="5236015"/>
            <a:ext cx="2073736" cy="71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4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153-283D-1B63-28D6-263F4BFA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Problems and Solutions on Channel Capacity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D75D-99C6-A5DC-22E6-8D52F4D7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4" y="1032772"/>
            <a:ext cx="11644009" cy="4931823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Ex3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theoretical channel capacity, if the channel having SNR of 36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the channel bandwidth is 2 </a:t>
            </a:r>
            <a:r>
              <a:rPr lang="en-US" dirty="0" err="1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0E303-90D8-6956-EE70-F72143A1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56" y="2104141"/>
            <a:ext cx="5079487" cy="549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06CBB1-B01E-C7F7-D73F-E5808891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856" y="2869889"/>
            <a:ext cx="3902335" cy="763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C84437-3D00-5AB8-76C3-B8D96A68A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856" y="3819282"/>
            <a:ext cx="3533960" cy="553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4A6C6-9600-7561-6481-2797AD228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191" y="4618897"/>
            <a:ext cx="4483106" cy="5496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D250E9-C9FF-1F01-58A6-C9C67EF32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028" y="5386648"/>
            <a:ext cx="5840671" cy="6768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762465-4529-C91D-FBF9-366B10FCD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249021"/>
            <a:ext cx="3421677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A9DF-4FDF-2B28-7E1D-51296A6E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319" y="228939"/>
            <a:ext cx="4803843" cy="52009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Exercise questions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9303-2A2D-715F-58B5-ACF1CA03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3" y="992221"/>
            <a:ext cx="11673192" cy="5469546"/>
          </a:xfrm>
        </p:spPr>
        <p:txBody>
          <a:bodyPr>
            <a:normAutofit lnSpcReduction="10000"/>
          </a:bodyPr>
          <a:lstStyle/>
          <a:p>
            <a:pPr marL="514350" lvl="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According to the Shannon-Hartley law, what is the maximum   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achievable bit-rate for a computer modem operating over a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telephone channel with 3 kHz bandwidth and a maximum allowed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signal power that guarantees only a 30dB SNR?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A voice grade channel of the telephone network has a bandwidth of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3.4 KHz.</a:t>
            </a:r>
            <a:endParaRPr lang="en-IN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indent="-4572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(a) Calculate channel capacity of the telephone channel for signal to noise ratio of 32 </a:t>
            </a:r>
            <a:r>
              <a:rPr lang="en-US" kern="100" dirty="0" err="1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dB.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indent="-4572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(b) Calculate the minimum SNR required to support information transmission through the telephone channel at the rate of 4800 bits/sec.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24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062" y="123156"/>
            <a:ext cx="6831224" cy="70713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M-</a:t>
            </a:r>
            <a:r>
              <a:rPr lang="en-US" b="1" dirty="0" err="1">
                <a:solidFill>
                  <a:srgbClr val="FF0000"/>
                </a:solidFill>
              </a:rPr>
              <a:t>ary</a:t>
            </a:r>
            <a:r>
              <a:rPr lang="en-US" b="1" dirty="0">
                <a:solidFill>
                  <a:srgbClr val="FF0000"/>
                </a:solidFill>
              </a:rPr>
              <a:t> (Multi-level) Encoding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992" y="995423"/>
            <a:ext cx="11036808" cy="50738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M-ary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term derived from the word </a:t>
            </a: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simply represents a digit that corresponds to the number of conditions, levels, or combinations possible for a given number of binary variables.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often advantageous to encode at a level higher than binary where there are more than two conditions possible.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 digital signal with four possible conditions (voltage levels, frequencies, phases, and so on) is an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-ary system where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there are eight possible conditions,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8 and so forth. 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8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47" y="0"/>
            <a:ext cx="12008224" cy="6150069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M-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ary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signals: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If more than two levels are used for signaling (higher-than-binary encoding), more than one bit may be transmitted at a time, and it is possible to propagate a bit rate that exceeds 2</a:t>
            </a:r>
            <a:r>
              <a:rPr lang="en-US" sz="2200" i="1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B. </a:t>
            </a:r>
          </a:p>
          <a:p>
            <a:pPr>
              <a:buFont typeface="Wingdings" pitchFamily="2" charset="2"/>
              <a:buChar char="Ø"/>
            </a:pP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Using multilevel signaling, the </a:t>
            </a:r>
            <a:r>
              <a:rPr lang="en-US" sz="2200" i="1" dirty="0" err="1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Nyquist</a:t>
            </a: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 formulation for channel capacity is</a:t>
            </a:r>
            <a:endParaRPr lang="en-US" sz="2200" dirty="0">
              <a:solidFill>
                <a:srgbClr val="037F29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3481" y="1717245"/>
            <a:ext cx="2110520" cy="57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1710" y="2405236"/>
            <a:ext cx="6323711" cy="104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9649" y="3561350"/>
            <a:ext cx="9415099" cy="3067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65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</TotalTime>
  <Words>616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Wingdings</vt:lpstr>
      <vt:lpstr>Office Theme</vt:lpstr>
      <vt:lpstr>Digital Communication 24EC2208</vt:lpstr>
      <vt:lpstr>    Introduction to Information Theory</vt:lpstr>
      <vt:lpstr>Information Theory</vt:lpstr>
      <vt:lpstr>PowerPoint Presentation</vt:lpstr>
      <vt:lpstr>PowerPoint Presentation</vt:lpstr>
      <vt:lpstr>Problems and Solutions on Channel Capacity</vt:lpstr>
      <vt:lpstr>Problems and Solutions on Channel Capacity</vt:lpstr>
      <vt:lpstr>Exercise questions</vt:lpstr>
      <vt:lpstr>M-ary (Multi-level) Encoding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Harsha Abhi</cp:lastModifiedBy>
  <cp:revision>29</cp:revision>
  <dcterms:created xsi:type="dcterms:W3CDTF">2023-05-08T13:48:07Z</dcterms:created>
  <dcterms:modified xsi:type="dcterms:W3CDTF">2026-02-01T13:09:10Z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