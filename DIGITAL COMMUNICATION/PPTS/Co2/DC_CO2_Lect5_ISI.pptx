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26" r:id="rId2"/>
    <p:sldId id="847" r:id="rId3"/>
    <p:sldId id="833" r:id="rId4"/>
    <p:sldId id="279" r:id="rId5"/>
    <p:sldId id="830" r:id="rId6"/>
    <p:sldId id="280" r:id="rId7"/>
    <p:sldId id="835" r:id="rId8"/>
    <p:sldId id="834" r:id="rId9"/>
    <p:sldId id="836" r:id="rId10"/>
    <p:sldId id="837" r:id="rId11"/>
    <p:sldId id="33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0FF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1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35BDBB-650D-4050-B32D-8589B2BD05DC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26B768-9392-452C-87A9-0023C70AE1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822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FFE7BA5-9AA7-43A8-9EE5-C23B4ED60B7B}" type="slidenum">
              <a:rPr lang="en-US" altLang="en-US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7325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6B768-9392-452C-87A9-0023C70AE18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862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1910-3B17-44DA-AAC0-0C7157C4CA58}" type="datetime1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110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FFDCA-015E-484D-8CD0-29CE841B9631}" type="datetime1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10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2B1B2-092C-49EC-AF46-9879C79D8BF2}" type="datetime1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353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1B07A-0DF9-46AE-88BD-B19471D7CFFD}" type="datetime1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86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F5931-728E-4AC8-856D-225AB54EF8DD}" type="datetime1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76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31789-264B-4957-A4F9-667A256E20C0}" type="datetime1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108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0339C-239C-47BE-B4CA-BFFA0E2C2048}" type="datetime1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89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5DE03-4904-4553-BDF2-3F79A1816ACA}" type="datetime1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34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DA8E9-BC6F-4E7B-BAC5-FDD72F69E00A}" type="datetime1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632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CBDAB-65D1-46C9-8F56-C994A6886183}" type="datetime1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323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B3504-9214-4481-AE71-4BC2A2DF0744}" type="datetime1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696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D35C05-9542-42DE-AA71-C0DF4647C92B}" type="datetime1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BD17D-DFF1-4424-A2A6-FB2B3AFBD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595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3.wmf"/><Relationship Id="rId18" Type="http://schemas.openxmlformats.org/officeDocument/2006/relationships/oleObject" Target="../embeddings/oleObject10.bin"/><Relationship Id="rId26" Type="http://schemas.openxmlformats.org/officeDocument/2006/relationships/oleObject" Target="../embeddings/oleObject18.bin"/><Relationship Id="rId3" Type="http://schemas.openxmlformats.org/officeDocument/2006/relationships/image" Target="../media/image8.wmf"/><Relationship Id="rId21" Type="http://schemas.openxmlformats.org/officeDocument/2006/relationships/oleObject" Target="../embeddings/oleObject13.bin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6.bin"/><Relationship Id="rId17" Type="http://schemas.openxmlformats.org/officeDocument/2006/relationships/oleObject" Target="../embeddings/oleObject9.bin"/><Relationship Id="rId25" Type="http://schemas.openxmlformats.org/officeDocument/2006/relationships/oleObject" Target="../embeddings/oleObject17.bin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2.wmf"/><Relationship Id="rId24" Type="http://schemas.openxmlformats.org/officeDocument/2006/relationships/oleObject" Target="../embeddings/oleObject16.bin"/><Relationship Id="rId5" Type="http://schemas.openxmlformats.org/officeDocument/2006/relationships/image" Target="../media/image9.wmf"/><Relationship Id="rId15" Type="http://schemas.openxmlformats.org/officeDocument/2006/relationships/image" Target="../media/image14.wmf"/><Relationship Id="rId23" Type="http://schemas.openxmlformats.org/officeDocument/2006/relationships/oleObject" Target="../embeddings/oleObject15.bin"/><Relationship Id="rId10" Type="http://schemas.openxmlformats.org/officeDocument/2006/relationships/oleObject" Target="../embeddings/oleObject5.bin"/><Relationship Id="rId19" Type="http://schemas.openxmlformats.org/officeDocument/2006/relationships/oleObject" Target="../embeddings/oleObject11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11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4.bin"/><Relationship Id="rId27" Type="http://schemas.openxmlformats.org/officeDocument/2006/relationships/oleObject" Target="../embeddings/oleObject19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2209800" y="191959"/>
            <a:ext cx="7772400" cy="819237"/>
          </a:xfrm>
        </p:spPr>
        <p:txBody>
          <a:bodyPr>
            <a:normAutofit fontScale="90000"/>
          </a:bodyPr>
          <a:lstStyle/>
          <a:p>
            <a:r>
              <a:rPr lang="en-US" altLang="en-US" sz="54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Communication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1524000" y="1370785"/>
            <a:ext cx="8915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dirty="0">
                <a:solidFill>
                  <a:srgbClr val="FF0000"/>
                </a:solidFill>
              </a:rPr>
              <a:t>Inter Symbol Interference</a:t>
            </a:r>
            <a:endParaRPr lang="en-US" altLang="en-US" sz="40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9E4DFE-ABF8-36AE-00DA-2674189E1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2E8EF-D54F-4E14-B57F-CD558536E0AD}" type="datetime1">
              <a:rPr lang="en-US" smtClean="0"/>
              <a:t>12/31/2025</a:t>
            </a:fld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023A0A2-8D01-EDEB-18C4-D687156196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291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27E57-2A4D-C608-0263-EE5FD7173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1062080"/>
          </a:xfrm>
        </p:spPr>
        <p:txBody>
          <a:bodyPr>
            <a:normAutofit/>
          </a:bodyPr>
          <a:lstStyle/>
          <a:p>
            <a:pPr algn="ctr"/>
            <a:r>
              <a:rPr lang="en-US" sz="3600" b="1" kern="1200" dirty="0">
                <a:solidFill>
                  <a:srgbClr val="1A0FF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Binary Base-band data transmission System</a:t>
            </a:r>
            <a:endParaRPr lang="en-IN" sz="3600" dirty="0">
              <a:solidFill>
                <a:srgbClr val="1A0FFD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4A977-8504-86D0-A0B4-80E1241BE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8AC40-9BF4-463F-AD1E-497FAC06899B}" type="datetime1">
              <a:rPr lang="en-US" smtClean="0"/>
              <a:t>12/31/2025</a:t>
            </a:fld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E957D2C-3FCF-FCEE-EAB9-F7B696F0A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3901"/>
            <a:ext cx="12192000" cy="244024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28F9E6E-D7E4-9C05-F4ED-B19E60DC9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6512" y="4235926"/>
            <a:ext cx="7038975" cy="1895475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DC2B059B-AB10-E05F-9D6B-F65BEB701DE0}"/>
              </a:ext>
            </a:extLst>
          </p:cNvPr>
          <p:cNvSpPr/>
          <p:nvPr/>
        </p:nvSpPr>
        <p:spPr>
          <a:xfrm>
            <a:off x="5202198" y="1319186"/>
            <a:ext cx="1227438" cy="123866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0901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1D2212-67B7-76C2-6A62-776888C45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45697-3B82-4192-82F6-7326D17E683F}" type="datetime1">
              <a:rPr lang="en-US" smtClean="0"/>
              <a:t>12/31/2025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8A758-2159-4F42-30AE-AED597BFB294}"/>
              </a:ext>
            </a:extLst>
          </p:cNvPr>
          <p:cNvSpPr txBox="1"/>
          <p:nvPr/>
        </p:nvSpPr>
        <p:spPr>
          <a:xfrm>
            <a:off x="543697" y="285461"/>
            <a:ext cx="106638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3200" b="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 transmission of digital data over a </a:t>
            </a:r>
            <a:r>
              <a:rPr lang="en-US" sz="3200" b="0" i="1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baseband channel</a:t>
            </a:r>
            <a:endParaRPr lang="en-IN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50CFE0-574F-1A69-2C35-D3D694CDF9C3}"/>
              </a:ext>
            </a:extLst>
          </p:cNvPr>
          <p:cNvSpPr txBox="1"/>
          <p:nvPr/>
        </p:nvSpPr>
        <p:spPr>
          <a:xfrm>
            <a:off x="158578" y="1062593"/>
            <a:ext cx="11874843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Digital data have a broad spectrum with a significant low-frequency content.</a:t>
            </a:r>
          </a:p>
          <a:p>
            <a:pPr marL="342900" indent="-34290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600" b="0" i="0" u="none" strike="noStrike" baseline="0" dirty="0">
                <a:solidFill>
                  <a:srgbClr val="1A0F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Baseband transmission of digital data therefore requires the use of a low-pass channel with a bandwidth large enough to accommodate the essential frequency content of the data stream. </a:t>
            </a:r>
            <a:endParaRPr lang="en-US" sz="2600" dirty="0">
              <a:solidFill>
                <a:srgbClr val="1A0FF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Typically, however, the channel is </a:t>
            </a:r>
            <a:r>
              <a:rPr lang="en-US" sz="2600" b="0" i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dispersive </a:t>
            </a:r>
            <a:r>
              <a:rPr lang="en-US" sz="2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in that its frequency response deviates from that of an ideal low-pass filter. </a:t>
            </a:r>
          </a:p>
          <a:p>
            <a:pPr marL="342900" indent="-34290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600" b="0" i="0" u="none" strike="noStrike" baseline="0" dirty="0">
                <a:solidFill>
                  <a:srgbClr val="1A0F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result of data transmission over such a channel is that each received pulse is affected somewhat by adjacent pulses, thereby giving rise to a common form of interference called </a:t>
            </a:r>
            <a:r>
              <a:rPr lang="en-US" sz="2600" b="0" i="1" u="none" strike="noStrike" baseline="0" dirty="0">
                <a:solidFill>
                  <a:srgbClr val="1A0F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 Symbol interference </a:t>
            </a:r>
            <a:r>
              <a:rPr lang="en-US" sz="2600" b="0" i="0" u="none" strike="noStrike" baseline="0" dirty="0">
                <a:solidFill>
                  <a:srgbClr val="1A0FF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(ISI).</a:t>
            </a:r>
          </a:p>
          <a:p>
            <a:pPr marL="342900" indent="-34290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 symbol interference is a major source of bit errors in the </a:t>
            </a:r>
            <a:r>
              <a:rPr lang="en-US" sz="2600" b="0" i="0" u="none" strike="noStrike" baseline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reconstrcted</a:t>
            </a:r>
            <a:r>
              <a:rPr lang="en-US" sz="2600" b="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 stream at the receiver. To correct for it, control has to be exercised over the pulse shape in the overall </a:t>
            </a:r>
            <a:r>
              <a:rPr lang="en-IN" sz="2600" b="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system.</a:t>
            </a:r>
            <a:endParaRPr lang="en-IN" sz="2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187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03ED6956-C6BC-7F28-6A58-1DF4FEB248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0"/>
            <a:ext cx="8229600" cy="6858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en-US" sz="3200" dirty="0">
                <a:solidFill>
                  <a:srgbClr val="CC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 Symbol Interference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CDE1A8D0-7607-11F9-8D6D-B925DF1F83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7115" y="580664"/>
            <a:ext cx="11837769" cy="2100148"/>
          </a:xfrm>
        </p:spPr>
        <p:txBody>
          <a:bodyPr>
            <a:noAutofit/>
          </a:bodyPr>
          <a:lstStyle/>
          <a:p>
            <a:pPr eaLnBrk="1" hangingPunct="1">
              <a:lnSpc>
                <a:spcPct val="100000"/>
              </a:lnSpc>
              <a:buClr>
                <a:srgbClr val="0000FF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lang="en-US" alt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 Symbol interference (ISI)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occurs when a pulse spreads out in such a way that it interferes with adjacent pulses </a:t>
            </a:r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at the </a:t>
            </a:r>
            <a:r>
              <a:rPr lang="en-US" altLang="en-US" sz="24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instant</a:t>
            </a:r>
            <a:r>
              <a:rPr lang="en-US" alt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eaLnBrk="1" hangingPunct="1">
              <a:lnSpc>
                <a:spcPct val="100000"/>
              </a:lnSpc>
              <a:buClr>
                <a:srgbClr val="0000FF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assume polar NRZ line code. The channel outputs are shown as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spreaded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(width </a:t>
            </a:r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becomes 2</a:t>
            </a:r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pulses shown (Spreading due to bandlimited channel characteristics).</a:t>
            </a:r>
          </a:p>
        </p:txBody>
      </p:sp>
      <p:sp>
        <p:nvSpPr>
          <p:cNvPr id="16426" name="Line 43">
            <a:extLst>
              <a:ext uri="{FF2B5EF4-FFF2-40B4-BE49-F238E27FC236}">
                <a16:creationId xmlns:a16="http://schemas.microsoft.com/office/drawing/2014/main" id="{B640064C-5D42-50D9-8DE7-75DF0378A6C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5716" y="5410200"/>
            <a:ext cx="9144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dirty="0"/>
          </a:p>
        </p:txBody>
      </p:sp>
      <p:sp>
        <p:nvSpPr>
          <p:cNvPr id="16427" name="Line 44">
            <a:extLst>
              <a:ext uri="{FF2B5EF4-FFF2-40B4-BE49-F238E27FC236}">
                <a16:creationId xmlns:a16="http://schemas.microsoft.com/office/drawing/2014/main" id="{190DE5A0-D3AD-F2DB-2B78-D28CFBBCE01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11574" y="4116861"/>
            <a:ext cx="9144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7B3D82-BF91-23BE-DF77-AE6143242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552" y="2820244"/>
            <a:ext cx="3133725" cy="21540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7B3A15-C69D-4866-2880-3B87515FDD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2310" y="5174010"/>
            <a:ext cx="3152775" cy="1533525"/>
          </a:xfrm>
          <a:prstGeom prst="rect">
            <a:avLst/>
          </a:prstGeom>
        </p:spPr>
      </p:pic>
      <p:sp>
        <p:nvSpPr>
          <p:cNvPr id="10" name="Text Box 42">
            <a:extLst>
              <a:ext uri="{FF2B5EF4-FFF2-40B4-BE49-F238E27FC236}">
                <a16:creationId xmlns:a16="http://schemas.microsoft.com/office/drawing/2014/main" id="{AB3C2B82-9A7C-7910-0378-465BCFA8D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7514" y="2776758"/>
            <a:ext cx="2133600" cy="76944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55000"/>
              <a:buFont typeface="Monotype Sorts" pitchFamily="2" charset="2"/>
              <a:buNone/>
              <a:defRPr/>
            </a:pPr>
            <a:r>
              <a:rPr kumimoji="1" lang="en-US" altLang="en-US" sz="2000" dirty="0">
                <a:solidFill>
                  <a:srgbClr val="0000FF"/>
                </a:solidFill>
                <a:latin typeface="Arial" panose="020B0604020202020204" pitchFamily="34" charset="0"/>
              </a:rPr>
              <a:t>Channel Output</a:t>
            </a:r>
          </a:p>
          <a:p>
            <a:pPr algn="ctr">
              <a:spcBef>
                <a:spcPct val="20000"/>
              </a:spcBef>
              <a:buClr>
                <a:schemeClr val="hlink"/>
              </a:buClr>
              <a:buSzPct val="55000"/>
              <a:buFont typeface="Monotype Sorts" pitchFamily="2" charset="2"/>
              <a:buNone/>
              <a:defRPr/>
            </a:pPr>
            <a:r>
              <a:rPr kumimoji="1" lang="en-US" altLang="en-US" sz="2000" dirty="0">
                <a:solidFill>
                  <a:srgbClr val="0000FF"/>
                </a:solidFill>
                <a:latin typeface="Arial" panose="020B0604020202020204" pitchFamily="34" charset="0"/>
              </a:rPr>
              <a:t>Pulse width </a:t>
            </a:r>
            <a:r>
              <a:rPr lang="en-US" altLang="en-US" sz="2000" i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US" sz="2000" baseline="-250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endParaRPr kumimoji="1" lang="en-US" altLang="en-US" sz="20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46B66E3-8206-7282-058C-E99E03189E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290" y="3230651"/>
            <a:ext cx="3124200" cy="15335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B2556A1-8328-F654-904E-377ECF98B8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02" y="4938976"/>
            <a:ext cx="3190875" cy="1304925"/>
          </a:xfrm>
          <a:prstGeom prst="rect">
            <a:avLst/>
          </a:prstGeom>
        </p:spPr>
      </p:pic>
      <p:sp>
        <p:nvSpPr>
          <p:cNvPr id="15" name="Text Box 8">
            <a:extLst>
              <a:ext uri="{FF2B5EF4-FFF2-40B4-BE49-F238E27FC236}">
                <a16:creationId xmlns:a16="http://schemas.microsoft.com/office/drawing/2014/main" id="{70ADF7D8-6E7F-6B14-AF36-2542BD9B7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61" y="3495645"/>
            <a:ext cx="10391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20000"/>
              </a:spcBef>
              <a:buClr>
                <a:schemeClr val="hlink"/>
              </a:buClr>
              <a:buSzPct val="55000"/>
              <a:buFont typeface="Monotype Sorts" pitchFamily="2" charset="2"/>
              <a:buNone/>
            </a:pPr>
            <a:r>
              <a:rPr kumimoji="1" lang="en-US" altLang="en-US" sz="2000" dirty="0">
                <a:solidFill>
                  <a:srgbClr val="0000FF"/>
                </a:solidFill>
                <a:latin typeface="Arial" panose="020B0604020202020204" pitchFamily="34" charset="0"/>
              </a:rPr>
              <a:t>Data 1</a:t>
            </a:r>
          </a:p>
        </p:txBody>
      </p:sp>
      <p:sp>
        <p:nvSpPr>
          <p:cNvPr id="16" name="Text Box 26">
            <a:extLst>
              <a:ext uri="{FF2B5EF4-FFF2-40B4-BE49-F238E27FC236}">
                <a16:creationId xmlns:a16="http://schemas.microsoft.com/office/drawing/2014/main" id="{30D4CC6E-6404-6DBB-D3DF-F71F4B24A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832" y="5568494"/>
            <a:ext cx="93968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20000"/>
              </a:spcBef>
              <a:buClr>
                <a:schemeClr val="hlink"/>
              </a:buClr>
              <a:buSzPct val="55000"/>
              <a:buFont typeface="Monotype Sorts" pitchFamily="2" charset="2"/>
              <a:buNone/>
            </a:pPr>
            <a:r>
              <a:rPr kumimoji="1" lang="en-US" altLang="en-US" sz="2000" dirty="0">
                <a:solidFill>
                  <a:srgbClr val="0000FF"/>
                </a:solidFill>
                <a:latin typeface="Arial" panose="020B0604020202020204" pitchFamily="34" charset="0"/>
              </a:rPr>
              <a:t>Data 0</a:t>
            </a:r>
          </a:p>
        </p:txBody>
      </p:sp>
      <p:sp>
        <p:nvSpPr>
          <p:cNvPr id="17" name="Text Box 41">
            <a:extLst>
              <a:ext uri="{FF2B5EF4-FFF2-40B4-BE49-F238E27FC236}">
                <a16:creationId xmlns:a16="http://schemas.microsoft.com/office/drawing/2014/main" id="{AFE7599F-0A6F-8D84-A891-CD03BED520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363" y="2956109"/>
            <a:ext cx="427865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55000"/>
              <a:buFont typeface="Monotype Sorts" pitchFamily="2" charset="2"/>
              <a:buNone/>
              <a:defRPr/>
            </a:pPr>
            <a:r>
              <a:rPr kumimoji="1" lang="en-US" alt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Channel Input Pulse width </a:t>
            </a:r>
            <a:r>
              <a:rPr lang="en-US" altLang="en-US" sz="2000" i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US" sz="2400" baseline="-250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EFFDD8B5-1FAE-7028-334B-019322A78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CBE62-2B29-417B-A48E-69BBC6A7AD39}" type="datetime1">
              <a:rPr lang="en-US" smtClean="0"/>
              <a:t>12/31/2025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6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6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5" grpId="0" build="p"/>
      <p:bldP spid="16426" grpId="0" animBg="1"/>
      <p:bldP spid="16427" grpId="0" animBg="1"/>
      <p:bldP spid="10" grpId="0"/>
      <p:bldP spid="15" grpId="0"/>
      <p:bldP spid="16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ext Box 3">
            <a:extLst>
              <a:ext uri="{FF2B5EF4-FFF2-40B4-BE49-F238E27FC236}">
                <a16:creationId xmlns:a16="http://schemas.microsoft.com/office/drawing/2014/main" id="{8967828B-2A15-2EF5-2676-60C48FA0DD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543" y="120652"/>
            <a:ext cx="1017371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en-US" sz="3600" dirty="0">
                <a:solidFill>
                  <a:srgbClr val="CC3300"/>
                </a:solidFill>
                <a:latin typeface="Comic Sans MS" panose="030F0702030302020204" pitchFamily="66" charset="0"/>
              </a:rPr>
              <a:t>ISI</a:t>
            </a:r>
            <a:endParaRPr lang="en-US" altLang="en-US" sz="3600" dirty="0">
              <a:solidFill>
                <a:srgbClr val="CC33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60" name="Text Box 4">
            <a:extLst>
              <a:ext uri="{FF2B5EF4-FFF2-40B4-BE49-F238E27FC236}">
                <a16:creationId xmlns:a16="http://schemas.microsoft.com/office/drawing/2014/main" id="{AAE15CA6-1DAD-9247-1516-410BF83FB4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838201"/>
            <a:ext cx="807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50000"/>
              </a:spcBef>
            </a:pPr>
            <a:endParaRPr lang="en-US" altLang="en-US" sz="1800"/>
          </a:p>
        </p:txBody>
      </p:sp>
      <p:sp>
        <p:nvSpPr>
          <p:cNvPr id="19461" name="Text Box 5">
            <a:extLst>
              <a:ext uri="{FF2B5EF4-FFF2-40B4-BE49-F238E27FC236}">
                <a16:creationId xmlns:a16="http://schemas.microsoft.com/office/drawing/2014/main" id="{08567E60-2008-404B-C3EB-C8B7331DB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3913" y="186533"/>
            <a:ext cx="10721543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If the rectangular multilevel pulses are filtered improperly as they pass through a communications system, they will spread in time, and the pulse for each symbol may be smeared into adjacent time slots and cause </a:t>
            </a:r>
            <a:r>
              <a:rPr lang="en-US" altLang="en-US" sz="2000" b="1" i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Intersymbol</a:t>
            </a:r>
            <a:r>
              <a:rPr lang="en-US" altLang="en-US" sz="2000" b="1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Interference.</a:t>
            </a:r>
          </a:p>
        </p:txBody>
      </p:sp>
      <p:sp>
        <p:nvSpPr>
          <p:cNvPr id="19462" name="Text Box 6">
            <a:extLst>
              <a:ext uri="{FF2B5EF4-FFF2-40B4-BE49-F238E27FC236}">
                <a16:creationId xmlns:a16="http://schemas.microsoft.com/office/drawing/2014/main" id="{FCDA3D5B-792B-C67C-722C-5BF0F0E296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6096001"/>
            <a:ext cx="8382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en-US" sz="1800" b="1">
                <a:solidFill>
                  <a:srgbClr val="0000FF"/>
                </a:solidFill>
              </a:rPr>
              <a:t> How can we restrict BW and at the same time not introduce ISI?   3 Techniques</a:t>
            </a:r>
            <a:r>
              <a:rPr lang="en-US" altLang="en-US" sz="1800">
                <a:solidFill>
                  <a:srgbClr val="0000FF"/>
                </a:solidFill>
              </a:rPr>
              <a:t>.</a:t>
            </a:r>
          </a:p>
        </p:txBody>
      </p:sp>
      <p:pic>
        <p:nvPicPr>
          <p:cNvPr id="19463" name="Picture 7">
            <a:extLst>
              <a:ext uri="{FF2B5EF4-FFF2-40B4-BE49-F238E27FC236}">
                <a16:creationId xmlns:a16="http://schemas.microsoft.com/office/drawing/2014/main" id="{5A1EB5D1-876B-2053-88F7-D23EEFDBB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524001"/>
            <a:ext cx="8001000" cy="463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FEF796-EFA6-364E-DE2C-486463BA3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7AF11-F40D-4F33-A425-13356F4DAC32}" type="datetime1">
              <a:rPr lang="en-US" smtClean="0"/>
              <a:t>12/31/2025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3F43EA3A-50D5-1BBA-91AC-F093880A5A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600">
                <a:solidFill>
                  <a:srgbClr val="CC3300"/>
                </a:solidFill>
              </a:rPr>
              <a:t>Intersymbol Interference</a:t>
            </a:r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EEE548C4-A354-0A22-4317-673451E689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0" y="762000"/>
            <a:ext cx="8229600" cy="2743200"/>
          </a:xfrm>
        </p:spPr>
        <p:txBody>
          <a:bodyPr/>
          <a:lstStyle/>
          <a:p>
            <a:pPr eaLnBrk="1" hangingPunct="1">
              <a:buClr>
                <a:srgbClr val="0000FF"/>
              </a:buClr>
              <a:buSzTx/>
              <a:defRPr/>
            </a:pPr>
            <a:r>
              <a:rPr lang="en-US" altLang="en-US" sz="2400"/>
              <a:t>For the input data stream:</a:t>
            </a:r>
          </a:p>
          <a:p>
            <a:pPr eaLnBrk="1" hangingPunct="1">
              <a:buClr>
                <a:srgbClr val="0000FF"/>
              </a:buClr>
              <a:buSzTx/>
              <a:defRPr/>
            </a:pPr>
            <a:endParaRPr lang="en-US" altLang="en-US" sz="2400"/>
          </a:p>
          <a:p>
            <a:pPr eaLnBrk="1" hangingPunct="1">
              <a:buClr>
                <a:srgbClr val="0000FF"/>
              </a:buClr>
              <a:buSzTx/>
              <a:defRPr/>
            </a:pPr>
            <a:endParaRPr lang="en-US" altLang="en-US"/>
          </a:p>
          <a:p>
            <a:pPr eaLnBrk="1" hangingPunct="1">
              <a:buClr>
                <a:srgbClr val="0000FF"/>
              </a:buClr>
              <a:buSzTx/>
              <a:defRPr/>
            </a:pPr>
            <a:endParaRPr lang="en-US" altLang="en-US"/>
          </a:p>
          <a:p>
            <a:pPr eaLnBrk="1" hangingPunct="1">
              <a:buClr>
                <a:srgbClr val="0000FF"/>
              </a:buClr>
              <a:buSzTx/>
              <a:defRPr/>
            </a:pPr>
            <a:r>
              <a:rPr lang="en-US" altLang="en-US" sz="2400"/>
              <a:t>The channel output is the superposition of each bit’s output:</a:t>
            </a:r>
          </a:p>
        </p:txBody>
      </p:sp>
      <p:grpSp>
        <p:nvGrpSpPr>
          <p:cNvPr id="17413" name="Group 82">
            <a:extLst>
              <a:ext uri="{FF2B5EF4-FFF2-40B4-BE49-F238E27FC236}">
                <a16:creationId xmlns:a16="http://schemas.microsoft.com/office/drawing/2014/main" id="{1F03E10B-1BAF-2011-E4EE-541284230C8F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1295400"/>
            <a:ext cx="6096000" cy="1219200"/>
            <a:chOff x="1104" y="1344"/>
            <a:chExt cx="3840" cy="768"/>
          </a:xfrm>
        </p:grpSpPr>
        <p:sp>
          <p:nvSpPr>
            <p:cNvPr id="17499" name="Line 4">
              <a:extLst>
                <a:ext uri="{FF2B5EF4-FFF2-40B4-BE49-F238E27FC236}">
                  <a16:creationId xmlns:a16="http://schemas.microsoft.com/office/drawing/2014/main" id="{AE228259-734B-5922-E89D-8650922673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824"/>
              <a:ext cx="316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500" name="Line 5">
              <a:extLst>
                <a:ext uri="{FF2B5EF4-FFF2-40B4-BE49-F238E27FC236}">
                  <a16:creationId xmlns:a16="http://schemas.microsoft.com/office/drawing/2014/main" id="{E9E4E378-6FAD-65EC-3D16-BB0FFE411C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796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501" name="Line 6">
              <a:extLst>
                <a:ext uri="{FF2B5EF4-FFF2-40B4-BE49-F238E27FC236}">
                  <a16:creationId xmlns:a16="http://schemas.microsoft.com/office/drawing/2014/main" id="{479ABD3B-B8B4-30C0-D109-8350E34F5E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1796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502" name="Line 7">
              <a:extLst>
                <a:ext uri="{FF2B5EF4-FFF2-40B4-BE49-F238E27FC236}">
                  <a16:creationId xmlns:a16="http://schemas.microsoft.com/office/drawing/2014/main" id="{7C17422F-2FFA-A582-A859-17831AE069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796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503" name="Line 8">
              <a:extLst>
                <a:ext uri="{FF2B5EF4-FFF2-40B4-BE49-F238E27FC236}">
                  <a16:creationId xmlns:a16="http://schemas.microsoft.com/office/drawing/2014/main" id="{FCB67164-2E50-9521-AD49-E2CFE45D9F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1796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504" name="Line 9">
              <a:extLst>
                <a:ext uri="{FF2B5EF4-FFF2-40B4-BE49-F238E27FC236}">
                  <a16:creationId xmlns:a16="http://schemas.microsoft.com/office/drawing/2014/main" id="{781CBAE6-76AD-2989-266C-45A8DEA4BC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1796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505" name="Line 10">
              <a:extLst>
                <a:ext uri="{FF2B5EF4-FFF2-40B4-BE49-F238E27FC236}">
                  <a16:creationId xmlns:a16="http://schemas.microsoft.com/office/drawing/2014/main" id="{3C425C73-1274-9DBA-6F4E-517993040C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1796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506" name="Line 11">
              <a:extLst>
                <a:ext uri="{FF2B5EF4-FFF2-40B4-BE49-F238E27FC236}">
                  <a16:creationId xmlns:a16="http://schemas.microsoft.com/office/drawing/2014/main" id="{7BAB5F80-07FC-0CC6-5D0F-1DCD98BEA8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1844"/>
              <a:ext cx="4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arrow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507" name="Line 12">
              <a:extLst>
                <a:ext uri="{FF2B5EF4-FFF2-40B4-BE49-F238E27FC236}">
                  <a16:creationId xmlns:a16="http://schemas.microsoft.com/office/drawing/2014/main" id="{2C6B76C6-7F3E-F41A-DFD4-196EE538FE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4" y="1844"/>
              <a:ext cx="144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arrow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508" name="Text Box 13">
              <a:extLst>
                <a:ext uri="{FF2B5EF4-FFF2-40B4-BE49-F238E27FC236}">
                  <a16:creationId xmlns:a16="http://schemas.microsoft.com/office/drawing/2014/main" id="{1174F6C6-BF97-7603-CDC7-D15613B6D5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135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hlink"/>
                </a:buClr>
                <a:buSzPct val="55000"/>
                <a:buFont typeface="Monotype Sorts" pitchFamily="2" charset="2"/>
                <a:buNone/>
              </a:pPr>
              <a:r>
                <a:rPr kumimoji="1" lang="en-US" altLang="en-US" sz="1600">
                  <a:solidFill>
                    <a:srgbClr val="0000FF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7509" name="Text Box 14">
              <a:extLst>
                <a:ext uri="{FF2B5EF4-FFF2-40B4-BE49-F238E27FC236}">
                  <a16:creationId xmlns:a16="http://schemas.microsoft.com/office/drawing/2014/main" id="{597466EC-54A6-11A8-3412-382CA2A1AA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135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hlink"/>
                </a:buClr>
                <a:buSzPct val="55000"/>
                <a:buFont typeface="Monotype Sorts" pitchFamily="2" charset="2"/>
                <a:buNone/>
              </a:pPr>
              <a:r>
                <a:rPr kumimoji="1" lang="en-US" altLang="en-US" sz="160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7510" name="Text Box 15">
              <a:extLst>
                <a:ext uri="{FF2B5EF4-FFF2-40B4-BE49-F238E27FC236}">
                  <a16:creationId xmlns:a16="http://schemas.microsoft.com/office/drawing/2014/main" id="{B899DA2C-5635-4868-A37E-97E133ED57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135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hlink"/>
                </a:buClr>
                <a:buSzPct val="55000"/>
                <a:buFont typeface="Monotype Sorts" pitchFamily="2" charset="2"/>
                <a:buNone/>
              </a:pPr>
              <a:r>
                <a:rPr kumimoji="1" lang="en-US" altLang="en-US" sz="1600">
                  <a:solidFill>
                    <a:srgbClr val="0000FF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7511" name="Text Box 16">
              <a:extLst>
                <a:ext uri="{FF2B5EF4-FFF2-40B4-BE49-F238E27FC236}">
                  <a16:creationId xmlns:a16="http://schemas.microsoft.com/office/drawing/2014/main" id="{3CE50EAA-24B3-748E-AF28-F8B57CD29D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135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hlink"/>
                </a:buClr>
                <a:buSzPct val="55000"/>
                <a:buFont typeface="Monotype Sorts" pitchFamily="2" charset="2"/>
                <a:buNone/>
              </a:pPr>
              <a:r>
                <a:rPr kumimoji="1" lang="en-US" altLang="en-US" sz="1600">
                  <a:solidFill>
                    <a:srgbClr val="0000FF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7512" name="Text Box 17">
              <a:extLst>
                <a:ext uri="{FF2B5EF4-FFF2-40B4-BE49-F238E27FC236}">
                  <a16:creationId xmlns:a16="http://schemas.microsoft.com/office/drawing/2014/main" id="{68228FD7-5B39-7D1A-A98A-FF8850757C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34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hlink"/>
                </a:buClr>
                <a:buSzPct val="55000"/>
                <a:buFont typeface="Monotype Sorts" pitchFamily="2" charset="2"/>
                <a:buNone/>
              </a:pPr>
              <a:r>
                <a:rPr kumimoji="1" lang="en-US" altLang="en-US" sz="1600">
                  <a:solidFill>
                    <a:srgbClr val="0000FF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17513" name="Text Box 18">
              <a:extLst>
                <a:ext uri="{FF2B5EF4-FFF2-40B4-BE49-F238E27FC236}">
                  <a16:creationId xmlns:a16="http://schemas.microsoft.com/office/drawing/2014/main" id="{5C63EB69-3450-5962-CAFD-B5812712EB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136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hlink"/>
                </a:buClr>
                <a:buSzPct val="55000"/>
                <a:buFont typeface="Monotype Sorts" pitchFamily="2" charset="2"/>
                <a:buNone/>
              </a:pPr>
              <a:r>
                <a:rPr kumimoji="1" lang="en-US" altLang="en-US" sz="1600">
                  <a:solidFill>
                    <a:srgbClr val="0000FF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  <p:graphicFrame>
          <p:nvGraphicFramePr>
            <p:cNvPr id="17514" name="Object 19">
              <a:extLst>
                <a:ext uri="{FF2B5EF4-FFF2-40B4-BE49-F238E27FC236}">
                  <a16:creationId xmlns:a16="http://schemas.microsoft.com/office/drawing/2014/main" id="{5FF588D3-4953-082A-FFA3-492C38D7FFE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48" y="1872"/>
            <a:ext cx="17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65028" imgH="228501" progId="Equation.3">
                    <p:embed/>
                  </p:oleObj>
                </mc:Choice>
                <mc:Fallback>
                  <p:oleObj name="Equation" r:id="rId2" imgW="165028" imgH="228501" progId="Equation.3">
                    <p:embed/>
                    <p:pic>
                      <p:nvPicPr>
                        <p:cNvPr id="17514" name="Object 19">
                          <a:extLst>
                            <a:ext uri="{FF2B5EF4-FFF2-40B4-BE49-F238E27FC236}">
                              <a16:creationId xmlns:a16="http://schemas.microsoft.com/office/drawing/2014/main" id="{5FF588D3-4953-082A-FFA3-492C38D7FFE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8" y="1872"/>
                          <a:ext cx="172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515" name="Object 20">
              <a:extLst>
                <a:ext uri="{FF2B5EF4-FFF2-40B4-BE49-F238E27FC236}">
                  <a16:creationId xmlns:a16="http://schemas.microsoft.com/office/drawing/2014/main" id="{780067C6-709C-AB68-D124-25CE959348C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72" y="1872"/>
            <a:ext cx="25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41300" imgH="228600" progId="Equation.3">
                    <p:embed/>
                  </p:oleObj>
                </mc:Choice>
                <mc:Fallback>
                  <p:oleObj name="Equation" r:id="rId4" imgW="241300" imgH="228600" progId="Equation.3">
                    <p:embed/>
                    <p:pic>
                      <p:nvPicPr>
                        <p:cNvPr id="17515" name="Object 20">
                          <a:extLst>
                            <a:ext uri="{FF2B5EF4-FFF2-40B4-BE49-F238E27FC236}">
                              <a16:creationId xmlns:a16="http://schemas.microsoft.com/office/drawing/2014/main" id="{780067C6-709C-AB68-D124-25CE959348C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2" y="1872"/>
                          <a:ext cx="253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516" name="Object 21">
              <a:extLst>
                <a:ext uri="{FF2B5EF4-FFF2-40B4-BE49-F238E27FC236}">
                  <a16:creationId xmlns:a16="http://schemas.microsoft.com/office/drawing/2014/main" id="{7B6A776F-FC09-5A86-2127-1F8AEA360AC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54" y="1872"/>
            <a:ext cx="24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28600" imgH="228600" progId="Equation.3">
                    <p:embed/>
                  </p:oleObj>
                </mc:Choice>
                <mc:Fallback>
                  <p:oleObj name="Equation" r:id="rId6" imgW="228600" imgH="228600" progId="Equation.3">
                    <p:embed/>
                    <p:pic>
                      <p:nvPicPr>
                        <p:cNvPr id="17516" name="Object 21">
                          <a:extLst>
                            <a:ext uri="{FF2B5EF4-FFF2-40B4-BE49-F238E27FC236}">
                              <a16:creationId xmlns:a16="http://schemas.microsoft.com/office/drawing/2014/main" id="{7B6A776F-FC09-5A86-2127-1F8AEA360AC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4" y="1872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517" name="Object 22">
              <a:extLst>
                <a:ext uri="{FF2B5EF4-FFF2-40B4-BE49-F238E27FC236}">
                  <a16:creationId xmlns:a16="http://schemas.microsoft.com/office/drawing/2014/main" id="{EDF41F62-A3CD-2660-5327-A617E0382C2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24" y="1872"/>
            <a:ext cx="25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41300" imgH="228600" progId="Equation.3">
                    <p:embed/>
                  </p:oleObj>
                </mc:Choice>
                <mc:Fallback>
                  <p:oleObj name="Equation" r:id="rId8" imgW="241300" imgH="228600" progId="Equation.3">
                    <p:embed/>
                    <p:pic>
                      <p:nvPicPr>
                        <p:cNvPr id="17517" name="Object 22">
                          <a:extLst>
                            <a:ext uri="{FF2B5EF4-FFF2-40B4-BE49-F238E27FC236}">
                              <a16:creationId xmlns:a16="http://schemas.microsoft.com/office/drawing/2014/main" id="{EDF41F62-A3CD-2660-5327-A617E0382C2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24" y="1872"/>
                          <a:ext cx="252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518" name="Object 23">
              <a:extLst>
                <a:ext uri="{FF2B5EF4-FFF2-40B4-BE49-F238E27FC236}">
                  <a16:creationId xmlns:a16="http://schemas.microsoft.com/office/drawing/2014/main" id="{35B7A377-3514-6245-4726-05CB9433A9C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80" y="1899"/>
            <a:ext cx="132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26725" imgH="177415" progId="Equation.3">
                    <p:embed/>
                  </p:oleObj>
                </mc:Choice>
                <mc:Fallback>
                  <p:oleObj name="Equation" r:id="rId10" imgW="126725" imgH="177415" progId="Equation.3">
                    <p:embed/>
                    <p:pic>
                      <p:nvPicPr>
                        <p:cNvPr id="17518" name="Object 23">
                          <a:extLst>
                            <a:ext uri="{FF2B5EF4-FFF2-40B4-BE49-F238E27FC236}">
                              <a16:creationId xmlns:a16="http://schemas.microsoft.com/office/drawing/2014/main" id="{35B7A377-3514-6245-4726-05CB9433A9C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0" y="1899"/>
                          <a:ext cx="132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519" name="Object 24">
              <a:extLst>
                <a:ext uri="{FF2B5EF4-FFF2-40B4-BE49-F238E27FC236}">
                  <a16:creationId xmlns:a16="http://schemas.microsoft.com/office/drawing/2014/main" id="{A82D7415-A6C3-2355-F646-A6E22E84D6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06" y="1872"/>
            <a:ext cx="24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28600" imgH="228600" progId="Equation.3">
                    <p:embed/>
                  </p:oleObj>
                </mc:Choice>
                <mc:Fallback>
                  <p:oleObj name="Equation" r:id="rId12" imgW="228600" imgH="228600" progId="Equation.3">
                    <p:embed/>
                    <p:pic>
                      <p:nvPicPr>
                        <p:cNvPr id="17519" name="Object 24">
                          <a:extLst>
                            <a:ext uri="{FF2B5EF4-FFF2-40B4-BE49-F238E27FC236}">
                              <a16:creationId xmlns:a16="http://schemas.microsoft.com/office/drawing/2014/main" id="{A82D7415-A6C3-2355-F646-A6E22E84D6B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6" y="1872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520" name="Object 25">
              <a:extLst>
                <a:ext uri="{FF2B5EF4-FFF2-40B4-BE49-F238E27FC236}">
                  <a16:creationId xmlns:a16="http://schemas.microsoft.com/office/drawing/2014/main" id="{140E2432-2262-10DA-B943-83B193F2ACF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63" y="1532"/>
            <a:ext cx="181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52268" imgH="164957" progId="Equation.3">
                    <p:embed/>
                  </p:oleObj>
                </mc:Choice>
                <mc:Fallback>
                  <p:oleObj name="Equation" r:id="rId14" imgW="152268" imgH="164957" progId="Equation.3">
                    <p:embed/>
                    <p:pic>
                      <p:nvPicPr>
                        <p:cNvPr id="17520" name="Object 25">
                          <a:extLst>
                            <a:ext uri="{FF2B5EF4-FFF2-40B4-BE49-F238E27FC236}">
                              <a16:creationId xmlns:a16="http://schemas.microsoft.com/office/drawing/2014/main" id="{140E2432-2262-10DA-B943-83B193F2ACF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3" y="1532"/>
                          <a:ext cx="181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521" name="Line 26">
              <a:extLst>
                <a:ext uri="{FF2B5EF4-FFF2-40B4-BE49-F238E27FC236}">
                  <a16:creationId xmlns:a16="http://schemas.microsoft.com/office/drawing/2014/main" id="{6BD09F68-8A66-052C-6CC8-28DED9D510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00" y="1532"/>
              <a:ext cx="0" cy="312"/>
            </a:xfrm>
            <a:prstGeom prst="line">
              <a:avLst/>
            </a:prstGeom>
            <a:noFill/>
            <a:ln w="1587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522" name="Line 65">
              <a:extLst>
                <a:ext uri="{FF2B5EF4-FFF2-40B4-BE49-F238E27FC236}">
                  <a16:creationId xmlns:a16="http://schemas.microsoft.com/office/drawing/2014/main" id="{8FED5754-3987-FDF2-493C-AB03BBB70A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9" y="1556"/>
              <a:ext cx="0" cy="28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523" name="Line 66">
              <a:extLst>
                <a:ext uri="{FF2B5EF4-FFF2-40B4-BE49-F238E27FC236}">
                  <a16:creationId xmlns:a16="http://schemas.microsoft.com/office/drawing/2014/main" id="{36CC3F11-9E31-BB30-83F8-695B348B43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1556"/>
              <a:ext cx="576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524" name="Line 67">
              <a:extLst>
                <a:ext uri="{FF2B5EF4-FFF2-40B4-BE49-F238E27FC236}">
                  <a16:creationId xmlns:a16="http://schemas.microsoft.com/office/drawing/2014/main" id="{1C9662AF-B385-1273-B4C8-6CB5AA0DB5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556"/>
              <a:ext cx="0" cy="55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525" name="Line 68">
              <a:extLst>
                <a:ext uri="{FF2B5EF4-FFF2-40B4-BE49-F238E27FC236}">
                  <a16:creationId xmlns:a16="http://schemas.microsoft.com/office/drawing/2014/main" id="{AF6B3C95-64D1-6E93-810E-5AD1B524DC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2112"/>
              <a:ext cx="576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7526" name="Line 69">
              <a:extLst>
                <a:ext uri="{FF2B5EF4-FFF2-40B4-BE49-F238E27FC236}">
                  <a16:creationId xmlns:a16="http://schemas.microsoft.com/office/drawing/2014/main" id="{E26C4147-FC66-4A76-A1CA-FF726E8830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0" y="1532"/>
              <a:ext cx="0" cy="5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527" name="Line 70">
              <a:extLst>
                <a:ext uri="{FF2B5EF4-FFF2-40B4-BE49-F238E27FC236}">
                  <a16:creationId xmlns:a16="http://schemas.microsoft.com/office/drawing/2014/main" id="{2D355B68-BAE1-2852-2361-D7821C65F1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532"/>
              <a:ext cx="115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7528" name="Line 71">
              <a:extLst>
                <a:ext uri="{FF2B5EF4-FFF2-40B4-BE49-F238E27FC236}">
                  <a16:creationId xmlns:a16="http://schemas.microsoft.com/office/drawing/2014/main" id="{B91A69C2-A84A-A113-B02B-4FA1FDA1B8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532"/>
              <a:ext cx="0" cy="5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7529" name="Line 72">
              <a:extLst>
                <a:ext uri="{FF2B5EF4-FFF2-40B4-BE49-F238E27FC236}">
                  <a16:creationId xmlns:a16="http://schemas.microsoft.com/office/drawing/2014/main" id="{B2795F15-2A50-CB84-3938-B448DE1FB9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112"/>
              <a:ext cx="576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7530" name="Line 73">
              <a:extLst>
                <a:ext uri="{FF2B5EF4-FFF2-40B4-BE49-F238E27FC236}">
                  <a16:creationId xmlns:a16="http://schemas.microsoft.com/office/drawing/2014/main" id="{DB59F86E-22B8-728D-AB36-87E2326E78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1532"/>
              <a:ext cx="0" cy="5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7531" name="Line 74">
              <a:extLst>
                <a:ext uri="{FF2B5EF4-FFF2-40B4-BE49-F238E27FC236}">
                  <a16:creationId xmlns:a16="http://schemas.microsoft.com/office/drawing/2014/main" id="{585FFE22-FB95-F9AC-FD20-7599DFB50B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1532"/>
              <a:ext cx="576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532" name="Line 75">
              <a:extLst>
                <a:ext uri="{FF2B5EF4-FFF2-40B4-BE49-F238E27FC236}">
                  <a16:creationId xmlns:a16="http://schemas.microsoft.com/office/drawing/2014/main" id="{3AE1C5F4-8AC7-1E4C-3D9B-10CB52968C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04" y="1532"/>
              <a:ext cx="0" cy="31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</p:grpSp>
      <p:grpSp>
        <p:nvGrpSpPr>
          <p:cNvPr id="17414" name="Group 84">
            <a:extLst>
              <a:ext uri="{FF2B5EF4-FFF2-40B4-BE49-F238E27FC236}">
                <a16:creationId xmlns:a16="http://schemas.microsoft.com/office/drawing/2014/main" id="{1D266B60-AAA1-6796-3D9E-6C41DFB24DAF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3392487"/>
            <a:ext cx="7010400" cy="1371600"/>
            <a:chOff x="768" y="1824"/>
            <a:chExt cx="4416" cy="864"/>
          </a:xfrm>
        </p:grpSpPr>
        <p:sp>
          <p:nvSpPr>
            <p:cNvPr id="17454" name="Line 85">
              <a:extLst>
                <a:ext uri="{FF2B5EF4-FFF2-40B4-BE49-F238E27FC236}">
                  <a16:creationId xmlns:a16="http://schemas.microsoft.com/office/drawing/2014/main" id="{D1185219-BF2E-07C7-0826-C3F65EBA59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2256"/>
              <a:ext cx="31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55" name="Line 86">
              <a:extLst>
                <a:ext uri="{FF2B5EF4-FFF2-40B4-BE49-F238E27FC236}">
                  <a16:creationId xmlns:a16="http://schemas.microsoft.com/office/drawing/2014/main" id="{DB29A3DE-3ED5-A60D-69C0-0534F1E3EE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2208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56" name="Line 87">
              <a:extLst>
                <a:ext uri="{FF2B5EF4-FFF2-40B4-BE49-F238E27FC236}">
                  <a16:creationId xmlns:a16="http://schemas.microsoft.com/office/drawing/2014/main" id="{04C13741-07D9-534B-503C-B74B637CEA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208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57" name="Line 88">
              <a:extLst>
                <a:ext uri="{FF2B5EF4-FFF2-40B4-BE49-F238E27FC236}">
                  <a16:creationId xmlns:a16="http://schemas.microsoft.com/office/drawing/2014/main" id="{046F2D97-89B4-E61A-8566-7FFB11AFB5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208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58" name="Line 89">
              <a:extLst>
                <a:ext uri="{FF2B5EF4-FFF2-40B4-BE49-F238E27FC236}">
                  <a16:creationId xmlns:a16="http://schemas.microsoft.com/office/drawing/2014/main" id="{AC0C08DB-3D96-C0CC-333E-58A4792E46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208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59" name="Line 90">
              <a:extLst>
                <a:ext uri="{FF2B5EF4-FFF2-40B4-BE49-F238E27FC236}">
                  <a16:creationId xmlns:a16="http://schemas.microsoft.com/office/drawing/2014/main" id="{CDA819C5-7834-91EB-ED73-213FE64249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2208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60" name="Line 91">
              <a:extLst>
                <a:ext uri="{FF2B5EF4-FFF2-40B4-BE49-F238E27FC236}">
                  <a16:creationId xmlns:a16="http://schemas.microsoft.com/office/drawing/2014/main" id="{B354BA9A-0025-5F86-169D-75487E4C17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208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61" name="Line 92">
              <a:extLst>
                <a:ext uri="{FF2B5EF4-FFF2-40B4-BE49-F238E27FC236}">
                  <a16:creationId xmlns:a16="http://schemas.microsoft.com/office/drawing/2014/main" id="{A1DE2251-4BED-5DF4-64B7-8978559B77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256"/>
              <a:ext cx="7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graphicFrame>
          <p:nvGraphicFramePr>
            <p:cNvPr id="17462" name="Object 93">
              <a:extLst>
                <a:ext uri="{FF2B5EF4-FFF2-40B4-BE49-F238E27FC236}">
                  <a16:creationId xmlns:a16="http://schemas.microsoft.com/office/drawing/2014/main" id="{582BAB8C-922E-5783-315A-842A353891F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48" y="2304"/>
            <a:ext cx="17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65028" imgH="228501" progId="Equation.3">
                    <p:embed/>
                  </p:oleObj>
                </mc:Choice>
                <mc:Fallback>
                  <p:oleObj name="Equation" r:id="rId16" imgW="165028" imgH="228501" progId="Equation.3">
                    <p:embed/>
                    <p:pic>
                      <p:nvPicPr>
                        <p:cNvPr id="17462" name="Object 93">
                          <a:extLst>
                            <a:ext uri="{FF2B5EF4-FFF2-40B4-BE49-F238E27FC236}">
                              <a16:creationId xmlns:a16="http://schemas.microsoft.com/office/drawing/2014/main" id="{582BAB8C-922E-5783-315A-842A353891F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8" y="2304"/>
                          <a:ext cx="172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63" name="Object 94">
              <a:extLst>
                <a:ext uri="{FF2B5EF4-FFF2-40B4-BE49-F238E27FC236}">
                  <a16:creationId xmlns:a16="http://schemas.microsoft.com/office/drawing/2014/main" id="{A901ED3E-B90E-EDA7-3144-55678C06733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72" y="2304"/>
            <a:ext cx="25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241300" imgH="228600" progId="Equation.3">
                    <p:embed/>
                  </p:oleObj>
                </mc:Choice>
                <mc:Fallback>
                  <p:oleObj name="Equation" r:id="rId17" imgW="241300" imgH="228600" progId="Equation.3">
                    <p:embed/>
                    <p:pic>
                      <p:nvPicPr>
                        <p:cNvPr id="17463" name="Object 94">
                          <a:extLst>
                            <a:ext uri="{FF2B5EF4-FFF2-40B4-BE49-F238E27FC236}">
                              <a16:creationId xmlns:a16="http://schemas.microsoft.com/office/drawing/2014/main" id="{A901ED3E-B90E-EDA7-3144-55678C06733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2" y="2304"/>
                          <a:ext cx="253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64" name="Object 95">
              <a:extLst>
                <a:ext uri="{FF2B5EF4-FFF2-40B4-BE49-F238E27FC236}">
                  <a16:creationId xmlns:a16="http://schemas.microsoft.com/office/drawing/2014/main" id="{3E147D89-E50D-6E4F-317E-0905361AA75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54" y="2304"/>
            <a:ext cx="24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228600" imgH="228600" progId="Equation.3">
                    <p:embed/>
                  </p:oleObj>
                </mc:Choice>
                <mc:Fallback>
                  <p:oleObj name="Equation" r:id="rId18" imgW="228600" imgH="228600" progId="Equation.3">
                    <p:embed/>
                    <p:pic>
                      <p:nvPicPr>
                        <p:cNvPr id="17464" name="Object 95">
                          <a:extLst>
                            <a:ext uri="{FF2B5EF4-FFF2-40B4-BE49-F238E27FC236}">
                              <a16:creationId xmlns:a16="http://schemas.microsoft.com/office/drawing/2014/main" id="{3E147D89-E50D-6E4F-317E-0905361AA75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4" y="2304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65" name="Object 96">
              <a:extLst>
                <a:ext uri="{FF2B5EF4-FFF2-40B4-BE49-F238E27FC236}">
                  <a16:creationId xmlns:a16="http://schemas.microsoft.com/office/drawing/2014/main" id="{B6366891-2935-141A-4377-F109D436FE7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24" y="2304"/>
            <a:ext cx="25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241300" imgH="228600" progId="Equation.3">
                    <p:embed/>
                  </p:oleObj>
                </mc:Choice>
                <mc:Fallback>
                  <p:oleObj name="Equation" r:id="rId19" imgW="241300" imgH="228600" progId="Equation.3">
                    <p:embed/>
                    <p:pic>
                      <p:nvPicPr>
                        <p:cNvPr id="17465" name="Object 96">
                          <a:extLst>
                            <a:ext uri="{FF2B5EF4-FFF2-40B4-BE49-F238E27FC236}">
                              <a16:creationId xmlns:a16="http://schemas.microsoft.com/office/drawing/2014/main" id="{B6366891-2935-141A-4377-F109D436FE7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24" y="2304"/>
                          <a:ext cx="252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66" name="Object 97">
              <a:extLst>
                <a:ext uri="{FF2B5EF4-FFF2-40B4-BE49-F238E27FC236}">
                  <a16:creationId xmlns:a16="http://schemas.microsoft.com/office/drawing/2014/main" id="{389DAD3E-317C-6968-9C22-4672EE36F6E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80" y="2331"/>
            <a:ext cx="132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26725" imgH="177415" progId="Equation.3">
                    <p:embed/>
                  </p:oleObj>
                </mc:Choice>
                <mc:Fallback>
                  <p:oleObj name="Equation" r:id="rId20" imgW="126725" imgH="177415" progId="Equation.3">
                    <p:embed/>
                    <p:pic>
                      <p:nvPicPr>
                        <p:cNvPr id="17466" name="Object 97">
                          <a:extLst>
                            <a:ext uri="{FF2B5EF4-FFF2-40B4-BE49-F238E27FC236}">
                              <a16:creationId xmlns:a16="http://schemas.microsoft.com/office/drawing/2014/main" id="{389DAD3E-317C-6968-9C22-4672EE36F6E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0" y="2331"/>
                          <a:ext cx="132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67" name="Object 98">
              <a:extLst>
                <a:ext uri="{FF2B5EF4-FFF2-40B4-BE49-F238E27FC236}">
                  <a16:creationId xmlns:a16="http://schemas.microsoft.com/office/drawing/2014/main" id="{9FDE54A9-6BAA-CEA7-735C-47B60C5328A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06" y="2304"/>
            <a:ext cx="24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228600" imgH="228600" progId="Equation.3">
                    <p:embed/>
                  </p:oleObj>
                </mc:Choice>
                <mc:Fallback>
                  <p:oleObj name="Equation" r:id="rId21" imgW="228600" imgH="228600" progId="Equation.3">
                    <p:embed/>
                    <p:pic>
                      <p:nvPicPr>
                        <p:cNvPr id="17467" name="Object 98">
                          <a:extLst>
                            <a:ext uri="{FF2B5EF4-FFF2-40B4-BE49-F238E27FC236}">
                              <a16:creationId xmlns:a16="http://schemas.microsoft.com/office/drawing/2014/main" id="{9FDE54A9-6BAA-CEA7-735C-47B60C5328A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6" y="2304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7468" name="Group 99">
              <a:extLst>
                <a:ext uri="{FF2B5EF4-FFF2-40B4-BE49-F238E27FC236}">
                  <a16:creationId xmlns:a16="http://schemas.microsoft.com/office/drawing/2014/main" id="{8EADE309-E755-BD4D-7B10-48729F3B26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6" y="1824"/>
              <a:ext cx="1344" cy="432"/>
              <a:chOff x="2016" y="3264"/>
              <a:chExt cx="1344" cy="432"/>
            </a:xfrm>
          </p:grpSpPr>
          <p:grpSp>
            <p:nvGrpSpPr>
              <p:cNvPr id="17494" name="Group 100">
                <a:extLst>
                  <a:ext uri="{FF2B5EF4-FFF2-40B4-BE49-F238E27FC236}">
                    <a16:creationId xmlns:a16="http://schemas.microsoft.com/office/drawing/2014/main" id="{99DB6211-BF42-DC4A-AF81-FCADB561A4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16" y="3264"/>
                <a:ext cx="1344" cy="432"/>
                <a:chOff x="2016" y="3264"/>
                <a:chExt cx="1344" cy="432"/>
              </a:xfrm>
            </p:grpSpPr>
            <p:sp>
              <p:nvSpPr>
                <p:cNvPr id="17497" name="Freeform 101">
                  <a:extLst>
                    <a:ext uri="{FF2B5EF4-FFF2-40B4-BE49-F238E27FC236}">
                      <a16:creationId xmlns:a16="http://schemas.microsoft.com/office/drawing/2014/main" id="{ED949E18-1F71-386D-AF76-0E0144FECF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6" y="3264"/>
                  <a:ext cx="672" cy="432"/>
                </a:xfrm>
                <a:custGeom>
                  <a:avLst/>
                  <a:gdLst>
                    <a:gd name="T0" fmla="*/ 0 w 672"/>
                    <a:gd name="T1" fmla="*/ 432 h 432"/>
                    <a:gd name="T2" fmla="*/ 192 w 672"/>
                    <a:gd name="T3" fmla="*/ 336 h 432"/>
                    <a:gd name="T4" fmla="*/ 384 w 672"/>
                    <a:gd name="T5" fmla="*/ 144 h 432"/>
                    <a:gd name="T6" fmla="*/ 528 w 672"/>
                    <a:gd name="T7" fmla="*/ 48 h 432"/>
                    <a:gd name="T8" fmla="*/ 672 w 672"/>
                    <a:gd name="T9" fmla="*/ 0 h 43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72" h="432">
                      <a:moveTo>
                        <a:pt x="0" y="432"/>
                      </a:moveTo>
                      <a:cubicBezTo>
                        <a:pt x="64" y="408"/>
                        <a:pt x="128" y="384"/>
                        <a:pt x="192" y="336"/>
                      </a:cubicBezTo>
                      <a:cubicBezTo>
                        <a:pt x="256" y="288"/>
                        <a:pt x="328" y="192"/>
                        <a:pt x="384" y="144"/>
                      </a:cubicBezTo>
                      <a:cubicBezTo>
                        <a:pt x="440" y="96"/>
                        <a:pt x="480" y="72"/>
                        <a:pt x="528" y="48"/>
                      </a:cubicBezTo>
                      <a:cubicBezTo>
                        <a:pt x="576" y="24"/>
                        <a:pt x="624" y="12"/>
                        <a:pt x="672" y="0"/>
                      </a:cubicBez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7498" name="Freeform 102">
                  <a:extLst>
                    <a:ext uri="{FF2B5EF4-FFF2-40B4-BE49-F238E27FC236}">
                      <a16:creationId xmlns:a16="http://schemas.microsoft.com/office/drawing/2014/main" id="{A49A2BBB-4D9C-68E2-264A-965D69A613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2688" y="3264"/>
                  <a:ext cx="672" cy="432"/>
                </a:xfrm>
                <a:custGeom>
                  <a:avLst/>
                  <a:gdLst>
                    <a:gd name="T0" fmla="*/ 0 w 672"/>
                    <a:gd name="T1" fmla="*/ 432 h 432"/>
                    <a:gd name="T2" fmla="*/ 192 w 672"/>
                    <a:gd name="T3" fmla="*/ 336 h 432"/>
                    <a:gd name="T4" fmla="*/ 384 w 672"/>
                    <a:gd name="T5" fmla="*/ 144 h 432"/>
                    <a:gd name="T6" fmla="*/ 528 w 672"/>
                    <a:gd name="T7" fmla="*/ 48 h 432"/>
                    <a:gd name="T8" fmla="*/ 672 w 672"/>
                    <a:gd name="T9" fmla="*/ 0 h 43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72" h="432">
                      <a:moveTo>
                        <a:pt x="0" y="432"/>
                      </a:moveTo>
                      <a:cubicBezTo>
                        <a:pt x="64" y="408"/>
                        <a:pt x="128" y="384"/>
                        <a:pt x="192" y="336"/>
                      </a:cubicBezTo>
                      <a:cubicBezTo>
                        <a:pt x="256" y="288"/>
                        <a:pt x="328" y="192"/>
                        <a:pt x="384" y="144"/>
                      </a:cubicBezTo>
                      <a:cubicBezTo>
                        <a:pt x="440" y="96"/>
                        <a:pt x="480" y="72"/>
                        <a:pt x="528" y="48"/>
                      </a:cubicBezTo>
                      <a:cubicBezTo>
                        <a:pt x="576" y="24"/>
                        <a:pt x="624" y="12"/>
                        <a:pt x="672" y="0"/>
                      </a:cubicBez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sp>
            <p:nvSpPr>
              <p:cNvPr id="17495" name="Freeform 103">
                <a:extLst>
                  <a:ext uri="{FF2B5EF4-FFF2-40B4-BE49-F238E27FC236}">
                    <a16:creationId xmlns:a16="http://schemas.microsoft.com/office/drawing/2014/main" id="{46F44C86-16A3-7F2C-B0CC-F459945540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6" y="3264"/>
                <a:ext cx="672" cy="432"/>
              </a:xfrm>
              <a:custGeom>
                <a:avLst/>
                <a:gdLst>
                  <a:gd name="T0" fmla="*/ 0 w 672"/>
                  <a:gd name="T1" fmla="*/ 432 h 432"/>
                  <a:gd name="T2" fmla="*/ 192 w 672"/>
                  <a:gd name="T3" fmla="*/ 336 h 432"/>
                  <a:gd name="T4" fmla="*/ 384 w 672"/>
                  <a:gd name="T5" fmla="*/ 144 h 432"/>
                  <a:gd name="T6" fmla="*/ 528 w 672"/>
                  <a:gd name="T7" fmla="*/ 48 h 432"/>
                  <a:gd name="T8" fmla="*/ 672 w 672"/>
                  <a:gd name="T9" fmla="*/ 0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72" h="432">
                    <a:moveTo>
                      <a:pt x="0" y="432"/>
                    </a:moveTo>
                    <a:cubicBezTo>
                      <a:pt x="64" y="408"/>
                      <a:pt x="128" y="384"/>
                      <a:pt x="192" y="336"/>
                    </a:cubicBezTo>
                    <a:cubicBezTo>
                      <a:pt x="256" y="288"/>
                      <a:pt x="328" y="192"/>
                      <a:pt x="384" y="144"/>
                    </a:cubicBezTo>
                    <a:cubicBezTo>
                      <a:pt x="440" y="96"/>
                      <a:pt x="480" y="72"/>
                      <a:pt x="528" y="48"/>
                    </a:cubicBezTo>
                    <a:cubicBezTo>
                      <a:pt x="576" y="24"/>
                      <a:pt x="624" y="12"/>
                      <a:pt x="672" y="0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7496" name="Freeform 104">
                <a:extLst>
                  <a:ext uri="{FF2B5EF4-FFF2-40B4-BE49-F238E27FC236}">
                    <a16:creationId xmlns:a16="http://schemas.microsoft.com/office/drawing/2014/main" id="{B7898724-7739-BB24-781D-C418D6FD9B4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688" y="3264"/>
                <a:ext cx="672" cy="432"/>
              </a:xfrm>
              <a:custGeom>
                <a:avLst/>
                <a:gdLst>
                  <a:gd name="T0" fmla="*/ 0 w 672"/>
                  <a:gd name="T1" fmla="*/ 432 h 432"/>
                  <a:gd name="T2" fmla="*/ 192 w 672"/>
                  <a:gd name="T3" fmla="*/ 336 h 432"/>
                  <a:gd name="T4" fmla="*/ 384 w 672"/>
                  <a:gd name="T5" fmla="*/ 144 h 432"/>
                  <a:gd name="T6" fmla="*/ 528 w 672"/>
                  <a:gd name="T7" fmla="*/ 48 h 432"/>
                  <a:gd name="T8" fmla="*/ 672 w 672"/>
                  <a:gd name="T9" fmla="*/ 0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72" h="432">
                    <a:moveTo>
                      <a:pt x="0" y="432"/>
                    </a:moveTo>
                    <a:cubicBezTo>
                      <a:pt x="64" y="408"/>
                      <a:pt x="128" y="384"/>
                      <a:pt x="192" y="336"/>
                    </a:cubicBezTo>
                    <a:cubicBezTo>
                      <a:pt x="256" y="288"/>
                      <a:pt x="328" y="192"/>
                      <a:pt x="384" y="144"/>
                    </a:cubicBezTo>
                    <a:cubicBezTo>
                      <a:pt x="440" y="96"/>
                      <a:pt x="480" y="72"/>
                      <a:pt x="528" y="48"/>
                    </a:cubicBezTo>
                    <a:cubicBezTo>
                      <a:pt x="576" y="24"/>
                      <a:pt x="624" y="12"/>
                      <a:pt x="672" y="0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grpSp>
          <p:nvGrpSpPr>
            <p:cNvPr id="17469" name="Group 105">
              <a:extLst>
                <a:ext uri="{FF2B5EF4-FFF2-40B4-BE49-F238E27FC236}">
                  <a16:creationId xmlns:a16="http://schemas.microsoft.com/office/drawing/2014/main" id="{E7AB0F3D-70F3-6007-CD71-B9A6093530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" y="1824"/>
              <a:ext cx="1440" cy="432"/>
              <a:chOff x="768" y="2592"/>
              <a:chExt cx="1440" cy="432"/>
            </a:xfrm>
          </p:grpSpPr>
          <p:sp>
            <p:nvSpPr>
              <p:cNvPr id="17491" name="Line 106">
                <a:extLst>
                  <a:ext uri="{FF2B5EF4-FFF2-40B4-BE49-F238E27FC236}">
                    <a16:creationId xmlns:a16="http://schemas.microsoft.com/office/drawing/2014/main" id="{660035F7-F01A-F622-BD49-D9D08C3FCB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68" y="3024"/>
                <a:ext cx="4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arrow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IN"/>
              </a:p>
            </p:txBody>
          </p:sp>
          <p:sp>
            <p:nvSpPr>
              <p:cNvPr id="17492" name="Freeform 107">
                <a:extLst>
                  <a:ext uri="{FF2B5EF4-FFF2-40B4-BE49-F238E27FC236}">
                    <a16:creationId xmlns:a16="http://schemas.microsoft.com/office/drawing/2014/main" id="{C52E090E-E9FD-791E-7768-F630AB4613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4" y="2592"/>
                <a:ext cx="672" cy="432"/>
              </a:xfrm>
              <a:custGeom>
                <a:avLst/>
                <a:gdLst>
                  <a:gd name="T0" fmla="*/ 0 w 672"/>
                  <a:gd name="T1" fmla="*/ 432 h 432"/>
                  <a:gd name="T2" fmla="*/ 192 w 672"/>
                  <a:gd name="T3" fmla="*/ 336 h 432"/>
                  <a:gd name="T4" fmla="*/ 384 w 672"/>
                  <a:gd name="T5" fmla="*/ 144 h 432"/>
                  <a:gd name="T6" fmla="*/ 528 w 672"/>
                  <a:gd name="T7" fmla="*/ 48 h 432"/>
                  <a:gd name="T8" fmla="*/ 672 w 672"/>
                  <a:gd name="T9" fmla="*/ 0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72" h="432">
                    <a:moveTo>
                      <a:pt x="0" y="432"/>
                    </a:moveTo>
                    <a:cubicBezTo>
                      <a:pt x="64" y="408"/>
                      <a:pt x="128" y="384"/>
                      <a:pt x="192" y="336"/>
                    </a:cubicBezTo>
                    <a:cubicBezTo>
                      <a:pt x="256" y="288"/>
                      <a:pt x="328" y="192"/>
                      <a:pt x="384" y="144"/>
                    </a:cubicBezTo>
                    <a:cubicBezTo>
                      <a:pt x="440" y="96"/>
                      <a:pt x="480" y="72"/>
                      <a:pt x="528" y="48"/>
                    </a:cubicBezTo>
                    <a:cubicBezTo>
                      <a:pt x="576" y="24"/>
                      <a:pt x="624" y="12"/>
                      <a:pt x="672" y="0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7493" name="Freeform 108">
                <a:extLst>
                  <a:ext uri="{FF2B5EF4-FFF2-40B4-BE49-F238E27FC236}">
                    <a16:creationId xmlns:a16="http://schemas.microsoft.com/office/drawing/2014/main" id="{B234E4E0-8992-3C65-8889-834F22D7896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536" y="2592"/>
                <a:ext cx="672" cy="432"/>
              </a:xfrm>
              <a:custGeom>
                <a:avLst/>
                <a:gdLst>
                  <a:gd name="T0" fmla="*/ 0 w 672"/>
                  <a:gd name="T1" fmla="*/ 432 h 432"/>
                  <a:gd name="T2" fmla="*/ 192 w 672"/>
                  <a:gd name="T3" fmla="*/ 336 h 432"/>
                  <a:gd name="T4" fmla="*/ 384 w 672"/>
                  <a:gd name="T5" fmla="*/ 144 h 432"/>
                  <a:gd name="T6" fmla="*/ 528 w 672"/>
                  <a:gd name="T7" fmla="*/ 48 h 432"/>
                  <a:gd name="T8" fmla="*/ 672 w 672"/>
                  <a:gd name="T9" fmla="*/ 0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72" h="432">
                    <a:moveTo>
                      <a:pt x="0" y="432"/>
                    </a:moveTo>
                    <a:cubicBezTo>
                      <a:pt x="64" y="408"/>
                      <a:pt x="128" y="384"/>
                      <a:pt x="192" y="336"/>
                    </a:cubicBezTo>
                    <a:cubicBezTo>
                      <a:pt x="256" y="288"/>
                      <a:pt x="328" y="192"/>
                      <a:pt x="384" y="144"/>
                    </a:cubicBezTo>
                    <a:cubicBezTo>
                      <a:pt x="440" y="96"/>
                      <a:pt x="480" y="72"/>
                      <a:pt x="528" y="48"/>
                    </a:cubicBezTo>
                    <a:cubicBezTo>
                      <a:pt x="576" y="24"/>
                      <a:pt x="624" y="12"/>
                      <a:pt x="672" y="0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grpSp>
          <p:nvGrpSpPr>
            <p:cNvPr id="17470" name="Group 109">
              <a:extLst>
                <a:ext uri="{FF2B5EF4-FFF2-40B4-BE49-F238E27FC236}">
                  <a16:creationId xmlns:a16="http://schemas.microsoft.com/office/drawing/2014/main" id="{882B4F10-F5C1-8396-F55B-73D5B50D7A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2" y="1824"/>
              <a:ext cx="1344" cy="432"/>
              <a:chOff x="2016" y="3264"/>
              <a:chExt cx="1344" cy="432"/>
            </a:xfrm>
          </p:grpSpPr>
          <p:grpSp>
            <p:nvGrpSpPr>
              <p:cNvPr id="17486" name="Group 110">
                <a:extLst>
                  <a:ext uri="{FF2B5EF4-FFF2-40B4-BE49-F238E27FC236}">
                    <a16:creationId xmlns:a16="http://schemas.microsoft.com/office/drawing/2014/main" id="{F227E24B-1310-722B-BF54-681B7E15CE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16" y="3264"/>
                <a:ext cx="1344" cy="432"/>
                <a:chOff x="2016" y="3264"/>
                <a:chExt cx="1344" cy="432"/>
              </a:xfrm>
            </p:grpSpPr>
            <p:sp>
              <p:nvSpPr>
                <p:cNvPr id="17489" name="Freeform 111">
                  <a:extLst>
                    <a:ext uri="{FF2B5EF4-FFF2-40B4-BE49-F238E27FC236}">
                      <a16:creationId xmlns:a16="http://schemas.microsoft.com/office/drawing/2014/main" id="{EC052FB8-337E-58A1-6FEC-B3371319E1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6" y="3264"/>
                  <a:ext cx="672" cy="432"/>
                </a:xfrm>
                <a:custGeom>
                  <a:avLst/>
                  <a:gdLst>
                    <a:gd name="T0" fmla="*/ 0 w 672"/>
                    <a:gd name="T1" fmla="*/ 432 h 432"/>
                    <a:gd name="T2" fmla="*/ 192 w 672"/>
                    <a:gd name="T3" fmla="*/ 336 h 432"/>
                    <a:gd name="T4" fmla="*/ 384 w 672"/>
                    <a:gd name="T5" fmla="*/ 144 h 432"/>
                    <a:gd name="T6" fmla="*/ 528 w 672"/>
                    <a:gd name="T7" fmla="*/ 48 h 432"/>
                    <a:gd name="T8" fmla="*/ 672 w 672"/>
                    <a:gd name="T9" fmla="*/ 0 h 43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72" h="432">
                      <a:moveTo>
                        <a:pt x="0" y="432"/>
                      </a:moveTo>
                      <a:cubicBezTo>
                        <a:pt x="64" y="408"/>
                        <a:pt x="128" y="384"/>
                        <a:pt x="192" y="336"/>
                      </a:cubicBezTo>
                      <a:cubicBezTo>
                        <a:pt x="256" y="288"/>
                        <a:pt x="328" y="192"/>
                        <a:pt x="384" y="144"/>
                      </a:cubicBezTo>
                      <a:cubicBezTo>
                        <a:pt x="440" y="96"/>
                        <a:pt x="480" y="72"/>
                        <a:pt x="528" y="48"/>
                      </a:cubicBezTo>
                      <a:cubicBezTo>
                        <a:pt x="576" y="24"/>
                        <a:pt x="624" y="12"/>
                        <a:pt x="672" y="0"/>
                      </a:cubicBez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7490" name="Freeform 112">
                  <a:extLst>
                    <a:ext uri="{FF2B5EF4-FFF2-40B4-BE49-F238E27FC236}">
                      <a16:creationId xmlns:a16="http://schemas.microsoft.com/office/drawing/2014/main" id="{46DA5995-CF61-0333-B50B-5DFA749851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2688" y="3264"/>
                  <a:ext cx="672" cy="432"/>
                </a:xfrm>
                <a:custGeom>
                  <a:avLst/>
                  <a:gdLst>
                    <a:gd name="T0" fmla="*/ 0 w 672"/>
                    <a:gd name="T1" fmla="*/ 432 h 432"/>
                    <a:gd name="T2" fmla="*/ 192 w 672"/>
                    <a:gd name="T3" fmla="*/ 336 h 432"/>
                    <a:gd name="T4" fmla="*/ 384 w 672"/>
                    <a:gd name="T5" fmla="*/ 144 h 432"/>
                    <a:gd name="T6" fmla="*/ 528 w 672"/>
                    <a:gd name="T7" fmla="*/ 48 h 432"/>
                    <a:gd name="T8" fmla="*/ 672 w 672"/>
                    <a:gd name="T9" fmla="*/ 0 h 43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72" h="432">
                      <a:moveTo>
                        <a:pt x="0" y="432"/>
                      </a:moveTo>
                      <a:cubicBezTo>
                        <a:pt x="64" y="408"/>
                        <a:pt x="128" y="384"/>
                        <a:pt x="192" y="336"/>
                      </a:cubicBezTo>
                      <a:cubicBezTo>
                        <a:pt x="256" y="288"/>
                        <a:pt x="328" y="192"/>
                        <a:pt x="384" y="144"/>
                      </a:cubicBezTo>
                      <a:cubicBezTo>
                        <a:pt x="440" y="96"/>
                        <a:pt x="480" y="72"/>
                        <a:pt x="528" y="48"/>
                      </a:cubicBezTo>
                      <a:cubicBezTo>
                        <a:pt x="576" y="24"/>
                        <a:pt x="624" y="12"/>
                        <a:pt x="672" y="0"/>
                      </a:cubicBez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sp>
            <p:nvSpPr>
              <p:cNvPr id="17487" name="Freeform 113">
                <a:extLst>
                  <a:ext uri="{FF2B5EF4-FFF2-40B4-BE49-F238E27FC236}">
                    <a16:creationId xmlns:a16="http://schemas.microsoft.com/office/drawing/2014/main" id="{7324DA4B-4EB2-6D30-4FC5-539501F7D1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6" y="3264"/>
                <a:ext cx="672" cy="432"/>
              </a:xfrm>
              <a:custGeom>
                <a:avLst/>
                <a:gdLst>
                  <a:gd name="T0" fmla="*/ 0 w 672"/>
                  <a:gd name="T1" fmla="*/ 432 h 432"/>
                  <a:gd name="T2" fmla="*/ 192 w 672"/>
                  <a:gd name="T3" fmla="*/ 336 h 432"/>
                  <a:gd name="T4" fmla="*/ 384 w 672"/>
                  <a:gd name="T5" fmla="*/ 144 h 432"/>
                  <a:gd name="T6" fmla="*/ 528 w 672"/>
                  <a:gd name="T7" fmla="*/ 48 h 432"/>
                  <a:gd name="T8" fmla="*/ 672 w 672"/>
                  <a:gd name="T9" fmla="*/ 0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72" h="432">
                    <a:moveTo>
                      <a:pt x="0" y="432"/>
                    </a:moveTo>
                    <a:cubicBezTo>
                      <a:pt x="64" y="408"/>
                      <a:pt x="128" y="384"/>
                      <a:pt x="192" y="336"/>
                    </a:cubicBezTo>
                    <a:cubicBezTo>
                      <a:pt x="256" y="288"/>
                      <a:pt x="328" y="192"/>
                      <a:pt x="384" y="144"/>
                    </a:cubicBezTo>
                    <a:cubicBezTo>
                      <a:pt x="440" y="96"/>
                      <a:pt x="480" y="72"/>
                      <a:pt x="528" y="48"/>
                    </a:cubicBezTo>
                    <a:cubicBezTo>
                      <a:pt x="576" y="24"/>
                      <a:pt x="624" y="12"/>
                      <a:pt x="672" y="0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7488" name="Freeform 114">
                <a:extLst>
                  <a:ext uri="{FF2B5EF4-FFF2-40B4-BE49-F238E27FC236}">
                    <a16:creationId xmlns:a16="http://schemas.microsoft.com/office/drawing/2014/main" id="{305D5C14-9CD6-9E54-2A39-FEEC19386CB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688" y="3264"/>
                <a:ext cx="672" cy="432"/>
              </a:xfrm>
              <a:custGeom>
                <a:avLst/>
                <a:gdLst>
                  <a:gd name="T0" fmla="*/ 0 w 672"/>
                  <a:gd name="T1" fmla="*/ 432 h 432"/>
                  <a:gd name="T2" fmla="*/ 192 w 672"/>
                  <a:gd name="T3" fmla="*/ 336 h 432"/>
                  <a:gd name="T4" fmla="*/ 384 w 672"/>
                  <a:gd name="T5" fmla="*/ 144 h 432"/>
                  <a:gd name="T6" fmla="*/ 528 w 672"/>
                  <a:gd name="T7" fmla="*/ 48 h 432"/>
                  <a:gd name="T8" fmla="*/ 672 w 672"/>
                  <a:gd name="T9" fmla="*/ 0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72" h="432">
                    <a:moveTo>
                      <a:pt x="0" y="432"/>
                    </a:moveTo>
                    <a:cubicBezTo>
                      <a:pt x="64" y="408"/>
                      <a:pt x="128" y="384"/>
                      <a:pt x="192" y="336"/>
                    </a:cubicBezTo>
                    <a:cubicBezTo>
                      <a:pt x="256" y="288"/>
                      <a:pt x="328" y="192"/>
                      <a:pt x="384" y="144"/>
                    </a:cubicBezTo>
                    <a:cubicBezTo>
                      <a:pt x="440" y="96"/>
                      <a:pt x="480" y="72"/>
                      <a:pt x="528" y="48"/>
                    </a:cubicBezTo>
                    <a:cubicBezTo>
                      <a:pt x="576" y="24"/>
                      <a:pt x="624" y="12"/>
                      <a:pt x="672" y="0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grpSp>
          <p:nvGrpSpPr>
            <p:cNvPr id="17471" name="Group 115">
              <a:extLst>
                <a:ext uri="{FF2B5EF4-FFF2-40B4-BE49-F238E27FC236}">
                  <a16:creationId xmlns:a16="http://schemas.microsoft.com/office/drawing/2014/main" id="{F629E6F7-2A70-89FD-4126-EC854B12BE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4" y="1824"/>
              <a:ext cx="1344" cy="432"/>
              <a:chOff x="2016" y="3264"/>
              <a:chExt cx="1344" cy="432"/>
            </a:xfrm>
          </p:grpSpPr>
          <p:grpSp>
            <p:nvGrpSpPr>
              <p:cNvPr id="17481" name="Group 116">
                <a:extLst>
                  <a:ext uri="{FF2B5EF4-FFF2-40B4-BE49-F238E27FC236}">
                    <a16:creationId xmlns:a16="http://schemas.microsoft.com/office/drawing/2014/main" id="{052FACE3-4D3E-F348-7BD3-A32785AF4C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16" y="3264"/>
                <a:ext cx="1344" cy="432"/>
                <a:chOff x="2016" y="3264"/>
                <a:chExt cx="1344" cy="432"/>
              </a:xfrm>
            </p:grpSpPr>
            <p:sp>
              <p:nvSpPr>
                <p:cNvPr id="17484" name="Freeform 117">
                  <a:extLst>
                    <a:ext uri="{FF2B5EF4-FFF2-40B4-BE49-F238E27FC236}">
                      <a16:creationId xmlns:a16="http://schemas.microsoft.com/office/drawing/2014/main" id="{63F0AFB3-1257-1BDF-74BE-E9FF1DF8FE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6" y="3264"/>
                  <a:ext cx="672" cy="432"/>
                </a:xfrm>
                <a:custGeom>
                  <a:avLst/>
                  <a:gdLst>
                    <a:gd name="T0" fmla="*/ 0 w 672"/>
                    <a:gd name="T1" fmla="*/ 432 h 432"/>
                    <a:gd name="T2" fmla="*/ 192 w 672"/>
                    <a:gd name="T3" fmla="*/ 336 h 432"/>
                    <a:gd name="T4" fmla="*/ 384 w 672"/>
                    <a:gd name="T5" fmla="*/ 144 h 432"/>
                    <a:gd name="T6" fmla="*/ 528 w 672"/>
                    <a:gd name="T7" fmla="*/ 48 h 432"/>
                    <a:gd name="T8" fmla="*/ 672 w 672"/>
                    <a:gd name="T9" fmla="*/ 0 h 43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72" h="432">
                      <a:moveTo>
                        <a:pt x="0" y="432"/>
                      </a:moveTo>
                      <a:cubicBezTo>
                        <a:pt x="64" y="408"/>
                        <a:pt x="128" y="384"/>
                        <a:pt x="192" y="336"/>
                      </a:cubicBezTo>
                      <a:cubicBezTo>
                        <a:pt x="256" y="288"/>
                        <a:pt x="328" y="192"/>
                        <a:pt x="384" y="144"/>
                      </a:cubicBezTo>
                      <a:cubicBezTo>
                        <a:pt x="440" y="96"/>
                        <a:pt x="480" y="72"/>
                        <a:pt x="528" y="48"/>
                      </a:cubicBezTo>
                      <a:cubicBezTo>
                        <a:pt x="576" y="24"/>
                        <a:pt x="624" y="12"/>
                        <a:pt x="672" y="0"/>
                      </a:cubicBez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7485" name="Freeform 118">
                  <a:extLst>
                    <a:ext uri="{FF2B5EF4-FFF2-40B4-BE49-F238E27FC236}">
                      <a16:creationId xmlns:a16="http://schemas.microsoft.com/office/drawing/2014/main" id="{5CBA78DC-1F7F-E397-A1E9-EC9EFA92AB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2688" y="3264"/>
                  <a:ext cx="672" cy="432"/>
                </a:xfrm>
                <a:custGeom>
                  <a:avLst/>
                  <a:gdLst>
                    <a:gd name="T0" fmla="*/ 0 w 672"/>
                    <a:gd name="T1" fmla="*/ 432 h 432"/>
                    <a:gd name="T2" fmla="*/ 192 w 672"/>
                    <a:gd name="T3" fmla="*/ 336 h 432"/>
                    <a:gd name="T4" fmla="*/ 384 w 672"/>
                    <a:gd name="T5" fmla="*/ 144 h 432"/>
                    <a:gd name="T6" fmla="*/ 528 w 672"/>
                    <a:gd name="T7" fmla="*/ 48 h 432"/>
                    <a:gd name="T8" fmla="*/ 672 w 672"/>
                    <a:gd name="T9" fmla="*/ 0 h 43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72" h="432">
                      <a:moveTo>
                        <a:pt x="0" y="432"/>
                      </a:moveTo>
                      <a:cubicBezTo>
                        <a:pt x="64" y="408"/>
                        <a:pt x="128" y="384"/>
                        <a:pt x="192" y="336"/>
                      </a:cubicBezTo>
                      <a:cubicBezTo>
                        <a:pt x="256" y="288"/>
                        <a:pt x="328" y="192"/>
                        <a:pt x="384" y="144"/>
                      </a:cubicBezTo>
                      <a:cubicBezTo>
                        <a:pt x="440" y="96"/>
                        <a:pt x="480" y="72"/>
                        <a:pt x="528" y="48"/>
                      </a:cubicBezTo>
                      <a:cubicBezTo>
                        <a:pt x="576" y="24"/>
                        <a:pt x="624" y="12"/>
                        <a:pt x="672" y="0"/>
                      </a:cubicBez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sp>
            <p:nvSpPr>
              <p:cNvPr id="17482" name="Freeform 119">
                <a:extLst>
                  <a:ext uri="{FF2B5EF4-FFF2-40B4-BE49-F238E27FC236}">
                    <a16:creationId xmlns:a16="http://schemas.microsoft.com/office/drawing/2014/main" id="{6F63B729-30A0-79F3-FD7F-959876A8F4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6" y="3264"/>
                <a:ext cx="672" cy="432"/>
              </a:xfrm>
              <a:custGeom>
                <a:avLst/>
                <a:gdLst>
                  <a:gd name="T0" fmla="*/ 0 w 672"/>
                  <a:gd name="T1" fmla="*/ 432 h 432"/>
                  <a:gd name="T2" fmla="*/ 192 w 672"/>
                  <a:gd name="T3" fmla="*/ 336 h 432"/>
                  <a:gd name="T4" fmla="*/ 384 w 672"/>
                  <a:gd name="T5" fmla="*/ 144 h 432"/>
                  <a:gd name="T6" fmla="*/ 528 w 672"/>
                  <a:gd name="T7" fmla="*/ 48 h 432"/>
                  <a:gd name="T8" fmla="*/ 672 w 672"/>
                  <a:gd name="T9" fmla="*/ 0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72" h="432">
                    <a:moveTo>
                      <a:pt x="0" y="432"/>
                    </a:moveTo>
                    <a:cubicBezTo>
                      <a:pt x="64" y="408"/>
                      <a:pt x="128" y="384"/>
                      <a:pt x="192" y="336"/>
                    </a:cubicBezTo>
                    <a:cubicBezTo>
                      <a:pt x="256" y="288"/>
                      <a:pt x="328" y="192"/>
                      <a:pt x="384" y="144"/>
                    </a:cubicBezTo>
                    <a:cubicBezTo>
                      <a:pt x="440" y="96"/>
                      <a:pt x="480" y="72"/>
                      <a:pt x="528" y="48"/>
                    </a:cubicBezTo>
                    <a:cubicBezTo>
                      <a:pt x="576" y="24"/>
                      <a:pt x="624" y="12"/>
                      <a:pt x="672" y="0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7483" name="Freeform 120">
                <a:extLst>
                  <a:ext uri="{FF2B5EF4-FFF2-40B4-BE49-F238E27FC236}">
                    <a16:creationId xmlns:a16="http://schemas.microsoft.com/office/drawing/2014/main" id="{F80E7536-70C3-6F61-F473-3DF99FAE5B7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688" y="3264"/>
                <a:ext cx="672" cy="432"/>
              </a:xfrm>
              <a:custGeom>
                <a:avLst/>
                <a:gdLst>
                  <a:gd name="T0" fmla="*/ 0 w 672"/>
                  <a:gd name="T1" fmla="*/ 432 h 432"/>
                  <a:gd name="T2" fmla="*/ 192 w 672"/>
                  <a:gd name="T3" fmla="*/ 336 h 432"/>
                  <a:gd name="T4" fmla="*/ 384 w 672"/>
                  <a:gd name="T5" fmla="*/ 144 h 432"/>
                  <a:gd name="T6" fmla="*/ 528 w 672"/>
                  <a:gd name="T7" fmla="*/ 48 h 432"/>
                  <a:gd name="T8" fmla="*/ 672 w 672"/>
                  <a:gd name="T9" fmla="*/ 0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72" h="432">
                    <a:moveTo>
                      <a:pt x="0" y="432"/>
                    </a:moveTo>
                    <a:cubicBezTo>
                      <a:pt x="64" y="408"/>
                      <a:pt x="128" y="384"/>
                      <a:pt x="192" y="336"/>
                    </a:cubicBezTo>
                    <a:cubicBezTo>
                      <a:pt x="256" y="288"/>
                      <a:pt x="328" y="192"/>
                      <a:pt x="384" y="144"/>
                    </a:cubicBezTo>
                    <a:cubicBezTo>
                      <a:pt x="440" y="96"/>
                      <a:pt x="480" y="72"/>
                      <a:pt x="528" y="48"/>
                    </a:cubicBezTo>
                    <a:cubicBezTo>
                      <a:pt x="576" y="24"/>
                      <a:pt x="624" y="12"/>
                      <a:pt x="672" y="0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sp>
          <p:nvSpPr>
            <p:cNvPr id="17472" name="Line 121">
              <a:extLst>
                <a:ext uri="{FF2B5EF4-FFF2-40B4-BE49-F238E27FC236}">
                  <a16:creationId xmlns:a16="http://schemas.microsoft.com/office/drawing/2014/main" id="{5776BBDF-4E78-119E-AC8D-A0C1AFE798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208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73" name="Line 122">
              <a:extLst>
                <a:ext uri="{FF2B5EF4-FFF2-40B4-BE49-F238E27FC236}">
                  <a16:creationId xmlns:a16="http://schemas.microsoft.com/office/drawing/2014/main" id="{9C137FA5-080D-FF91-2B47-A9677DC30A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2208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grpSp>
          <p:nvGrpSpPr>
            <p:cNvPr id="17474" name="Group 123">
              <a:extLst>
                <a:ext uri="{FF2B5EF4-FFF2-40B4-BE49-F238E27FC236}">
                  <a16:creationId xmlns:a16="http://schemas.microsoft.com/office/drawing/2014/main" id="{8F0324D6-8A5C-E683-9719-2B648D8A7259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3168" y="2256"/>
              <a:ext cx="1344" cy="432"/>
              <a:chOff x="960" y="3456"/>
              <a:chExt cx="1344" cy="432"/>
            </a:xfrm>
          </p:grpSpPr>
          <p:sp>
            <p:nvSpPr>
              <p:cNvPr id="17479" name="Freeform 124">
                <a:extLst>
                  <a:ext uri="{FF2B5EF4-FFF2-40B4-BE49-F238E27FC236}">
                    <a16:creationId xmlns:a16="http://schemas.microsoft.com/office/drawing/2014/main" id="{EE359460-24AE-82DA-F01E-0FC986F10D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0" y="3456"/>
                <a:ext cx="672" cy="432"/>
              </a:xfrm>
              <a:custGeom>
                <a:avLst/>
                <a:gdLst>
                  <a:gd name="T0" fmla="*/ 0 w 672"/>
                  <a:gd name="T1" fmla="*/ 432 h 432"/>
                  <a:gd name="T2" fmla="*/ 192 w 672"/>
                  <a:gd name="T3" fmla="*/ 336 h 432"/>
                  <a:gd name="T4" fmla="*/ 384 w 672"/>
                  <a:gd name="T5" fmla="*/ 144 h 432"/>
                  <a:gd name="T6" fmla="*/ 528 w 672"/>
                  <a:gd name="T7" fmla="*/ 48 h 432"/>
                  <a:gd name="T8" fmla="*/ 672 w 672"/>
                  <a:gd name="T9" fmla="*/ 0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72" h="432">
                    <a:moveTo>
                      <a:pt x="0" y="432"/>
                    </a:moveTo>
                    <a:cubicBezTo>
                      <a:pt x="64" y="408"/>
                      <a:pt x="128" y="384"/>
                      <a:pt x="192" y="336"/>
                    </a:cubicBezTo>
                    <a:cubicBezTo>
                      <a:pt x="256" y="288"/>
                      <a:pt x="328" y="192"/>
                      <a:pt x="384" y="144"/>
                    </a:cubicBezTo>
                    <a:cubicBezTo>
                      <a:pt x="440" y="96"/>
                      <a:pt x="480" y="72"/>
                      <a:pt x="528" y="48"/>
                    </a:cubicBezTo>
                    <a:cubicBezTo>
                      <a:pt x="576" y="24"/>
                      <a:pt x="624" y="12"/>
                      <a:pt x="672" y="0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7480" name="Freeform 125">
                <a:extLst>
                  <a:ext uri="{FF2B5EF4-FFF2-40B4-BE49-F238E27FC236}">
                    <a16:creationId xmlns:a16="http://schemas.microsoft.com/office/drawing/2014/main" id="{96EE4066-F88A-0709-EC64-06D9E719AD9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632" y="3456"/>
                <a:ext cx="672" cy="432"/>
              </a:xfrm>
              <a:custGeom>
                <a:avLst/>
                <a:gdLst>
                  <a:gd name="T0" fmla="*/ 0 w 672"/>
                  <a:gd name="T1" fmla="*/ 432 h 432"/>
                  <a:gd name="T2" fmla="*/ 192 w 672"/>
                  <a:gd name="T3" fmla="*/ 336 h 432"/>
                  <a:gd name="T4" fmla="*/ 384 w 672"/>
                  <a:gd name="T5" fmla="*/ 144 h 432"/>
                  <a:gd name="T6" fmla="*/ 528 w 672"/>
                  <a:gd name="T7" fmla="*/ 48 h 432"/>
                  <a:gd name="T8" fmla="*/ 672 w 672"/>
                  <a:gd name="T9" fmla="*/ 0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72" h="432">
                    <a:moveTo>
                      <a:pt x="0" y="432"/>
                    </a:moveTo>
                    <a:cubicBezTo>
                      <a:pt x="64" y="408"/>
                      <a:pt x="128" y="384"/>
                      <a:pt x="192" y="336"/>
                    </a:cubicBezTo>
                    <a:cubicBezTo>
                      <a:pt x="256" y="288"/>
                      <a:pt x="328" y="192"/>
                      <a:pt x="384" y="144"/>
                    </a:cubicBezTo>
                    <a:cubicBezTo>
                      <a:pt x="440" y="96"/>
                      <a:pt x="480" y="72"/>
                      <a:pt x="528" y="48"/>
                    </a:cubicBezTo>
                    <a:cubicBezTo>
                      <a:pt x="576" y="24"/>
                      <a:pt x="624" y="12"/>
                      <a:pt x="672" y="0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grpSp>
          <p:nvGrpSpPr>
            <p:cNvPr id="17475" name="Group 126">
              <a:extLst>
                <a:ext uri="{FF2B5EF4-FFF2-40B4-BE49-F238E27FC236}">
                  <a16:creationId xmlns:a16="http://schemas.microsoft.com/office/drawing/2014/main" id="{D4C03B43-7CE4-2738-AF5D-9128E390AEC6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1440" y="2256"/>
              <a:ext cx="1344" cy="432"/>
              <a:chOff x="960" y="3456"/>
              <a:chExt cx="1344" cy="432"/>
            </a:xfrm>
          </p:grpSpPr>
          <p:sp>
            <p:nvSpPr>
              <p:cNvPr id="17477" name="Freeform 127">
                <a:extLst>
                  <a:ext uri="{FF2B5EF4-FFF2-40B4-BE49-F238E27FC236}">
                    <a16:creationId xmlns:a16="http://schemas.microsoft.com/office/drawing/2014/main" id="{F9F378F5-FDD7-D565-A43D-1FBBC75B84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0" y="3456"/>
                <a:ext cx="672" cy="432"/>
              </a:xfrm>
              <a:custGeom>
                <a:avLst/>
                <a:gdLst>
                  <a:gd name="T0" fmla="*/ 0 w 672"/>
                  <a:gd name="T1" fmla="*/ 432 h 432"/>
                  <a:gd name="T2" fmla="*/ 192 w 672"/>
                  <a:gd name="T3" fmla="*/ 336 h 432"/>
                  <a:gd name="T4" fmla="*/ 384 w 672"/>
                  <a:gd name="T5" fmla="*/ 144 h 432"/>
                  <a:gd name="T6" fmla="*/ 528 w 672"/>
                  <a:gd name="T7" fmla="*/ 48 h 432"/>
                  <a:gd name="T8" fmla="*/ 672 w 672"/>
                  <a:gd name="T9" fmla="*/ 0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72" h="432">
                    <a:moveTo>
                      <a:pt x="0" y="432"/>
                    </a:moveTo>
                    <a:cubicBezTo>
                      <a:pt x="64" y="408"/>
                      <a:pt x="128" y="384"/>
                      <a:pt x="192" y="336"/>
                    </a:cubicBezTo>
                    <a:cubicBezTo>
                      <a:pt x="256" y="288"/>
                      <a:pt x="328" y="192"/>
                      <a:pt x="384" y="144"/>
                    </a:cubicBezTo>
                    <a:cubicBezTo>
                      <a:pt x="440" y="96"/>
                      <a:pt x="480" y="72"/>
                      <a:pt x="528" y="48"/>
                    </a:cubicBezTo>
                    <a:cubicBezTo>
                      <a:pt x="576" y="24"/>
                      <a:pt x="624" y="12"/>
                      <a:pt x="672" y="0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7478" name="Freeform 128">
                <a:extLst>
                  <a:ext uri="{FF2B5EF4-FFF2-40B4-BE49-F238E27FC236}">
                    <a16:creationId xmlns:a16="http://schemas.microsoft.com/office/drawing/2014/main" id="{D26759FB-1DCA-22CB-6281-52477EC3A0F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632" y="3456"/>
                <a:ext cx="672" cy="432"/>
              </a:xfrm>
              <a:custGeom>
                <a:avLst/>
                <a:gdLst>
                  <a:gd name="T0" fmla="*/ 0 w 672"/>
                  <a:gd name="T1" fmla="*/ 432 h 432"/>
                  <a:gd name="T2" fmla="*/ 192 w 672"/>
                  <a:gd name="T3" fmla="*/ 336 h 432"/>
                  <a:gd name="T4" fmla="*/ 384 w 672"/>
                  <a:gd name="T5" fmla="*/ 144 h 432"/>
                  <a:gd name="T6" fmla="*/ 528 w 672"/>
                  <a:gd name="T7" fmla="*/ 48 h 432"/>
                  <a:gd name="T8" fmla="*/ 672 w 672"/>
                  <a:gd name="T9" fmla="*/ 0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72" h="432">
                    <a:moveTo>
                      <a:pt x="0" y="432"/>
                    </a:moveTo>
                    <a:cubicBezTo>
                      <a:pt x="64" y="408"/>
                      <a:pt x="128" y="384"/>
                      <a:pt x="192" y="336"/>
                    </a:cubicBezTo>
                    <a:cubicBezTo>
                      <a:pt x="256" y="288"/>
                      <a:pt x="328" y="192"/>
                      <a:pt x="384" y="144"/>
                    </a:cubicBezTo>
                    <a:cubicBezTo>
                      <a:pt x="440" y="96"/>
                      <a:pt x="480" y="72"/>
                      <a:pt x="528" y="48"/>
                    </a:cubicBezTo>
                    <a:cubicBezTo>
                      <a:pt x="576" y="24"/>
                      <a:pt x="624" y="12"/>
                      <a:pt x="672" y="0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sp>
          <p:nvSpPr>
            <p:cNvPr id="17476" name="Freeform 129">
              <a:extLst>
                <a:ext uri="{FF2B5EF4-FFF2-40B4-BE49-F238E27FC236}">
                  <a16:creationId xmlns:a16="http://schemas.microsoft.com/office/drawing/2014/main" id="{8DF50513-53E8-07B4-4D48-59B9C57B34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8" y="2083"/>
              <a:ext cx="116" cy="233"/>
            </a:xfrm>
            <a:custGeom>
              <a:avLst/>
              <a:gdLst>
                <a:gd name="T0" fmla="*/ 0 w 3108"/>
                <a:gd name="T1" fmla="*/ 101 h 897"/>
                <a:gd name="T2" fmla="*/ 128 w 3108"/>
                <a:gd name="T3" fmla="*/ 153 h 897"/>
                <a:gd name="T4" fmla="*/ 368 w 3108"/>
                <a:gd name="T5" fmla="*/ 497 h 897"/>
                <a:gd name="T6" fmla="*/ 672 w 3108"/>
                <a:gd name="T7" fmla="*/ 897 h 897"/>
                <a:gd name="T8" fmla="*/ 944 w 3108"/>
                <a:gd name="T9" fmla="*/ 497 h 897"/>
                <a:gd name="T10" fmla="*/ 1232 w 3108"/>
                <a:gd name="T11" fmla="*/ 121 h 897"/>
                <a:gd name="T12" fmla="*/ 1532 w 3108"/>
                <a:gd name="T13" fmla="*/ 5 h 897"/>
                <a:gd name="T14" fmla="*/ 1824 w 3108"/>
                <a:gd name="T15" fmla="*/ 149 h 897"/>
                <a:gd name="T16" fmla="*/ 2124 w 3108"/>
                <a:gd name="T17" fmla="*/ 505 h 897"/>
                <a:gd name="T18" fmla="*/ 2392 w 3108"/>
                <a:gd name="T19" fmla="*/ 857 h 897"/>
                <a:gd name="T20" fmla="*/ 2684 w 3108"/>
                <a:gd name="T21" fmla="*/ 493 h 897"/>
                <a:gd name="T22" fmla="*/ 2892 w 3108"/>
                <a:gd name="T23" fmla="*/ 161 h 897"/>
                <a:gd name="T24" fmla="*/ 3108 w 3108"/>
                <a:gd name="T25" fmla="*/ 125 h 89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108" h="897">
                  <a:moveTo>
                    <a:pt x="0" y="101"/>
                  </a:moveTo>
                  <a:cubicBezTo>
                    <a:pt x="33" y="94"/>
                    <a:pt x="67" y="87"/>
                    <a:pt x="128" y="153"/>
                  </a:cubicBezTo>
                  <a:cubicBezTo>
                    <a:pt x="189" y="219"/>
                    <a:pt x="277" y="373"/>
                    <a:pt x="368" y="497"/>
                  </a:cubicBezTo>
                  <a:cubicBezTo>
                    <a:pt x="459" y="621"/>
                    <a:pt x="576" y="897"/>
                    <a:pt x="672" y="897"/>
                  </a:cubicBezTo>
                  <a:cubicBezTo>
                    <a:pt x="768" y="897"/>
                    <a:pt x="851" y="626"/>
                    <a:pt x="944" y="497"/>
                  </a:cubicBezTo>
                  <a:cubicBezTo>
                    <a:pt x="1037" y="368"/>
                    <a:pt x="1134" y="203"/>
                    <a:pt x="1232" y="121"/>
                  </a:cubicBezTo>
                  <a:cubicBezTo>
                    <a:pt x="1330" y="39"/>
                    <a:pt x="1433" y="0"/>
                    <a:pt x="1532" y="5"/>
                  </a:cubicBezTo>
                  <a:cubicBezTo>
                    <a:pt x="1631" y="10"/>
                    <a:pt x="1725" y="66"/>
                    <a:pt x="1824" y="149"/>
                  </a:cubicBezTo>
                  <a:cubicBezTo>
                    <a:pt x="1923" y="232"/>
                    <a:pt x="2029" y="387"/>
                    <a:pt x="2124" y="505"/>
                  </a:cubicBezTo>
                  <a:cubicBezTo>
                    <a:pt x="2219" y="623"/>
                    <a:pt x="2299" y="859"/>
                    <a:pt x="2392" y="857"/>
                  </a:cubicBezTo>
                  <a:cubicBezTo>
                    <a:pt x="2485" y="855"/>
                    <a:pt x="2601" y="609"/>
                    <a:pt x="2684" y="493"/>
                  </a:cubicBezTo>
                  <a:cubicBezTo>
                    <a:pt x="2767" y="377"/>
                    <a:pt x="2821" y="222"/>
                    <a:pt x="2892" y="161"/>
                  </a:cubicBezTo>
                  <a:cubicBezTo>
                    <a:pt x="2963" y="100"/>
                    <a:pt x="3073" y="131"/>
                    <a:pt x="3108" y="125"/>
                  </a:cubicBezTo>
                </a:path>
              </a:pathLst>
            </a:custGeom>
            <a:noFill/>
            <a:ln w="15875" cap="flat" cmpd="sng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</p:grpSp>
      <p:grpSp>
        <p:nvGrpSpPr>
          <p:cNvPr id="17415" name="Group 130">
            <a:extLst>
              <a:ext uri="{FF2B5EF4-FFF2-40B4-BE49-F238E27FC236}">
                <a16:creationId xmlns:a16="http://schemas.microsoft.com/office/drawing/2014/main" id="{2038403A-3510-B521-5C04-8A8EE5BCE239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4724400"/>
            <a:ext cx="7010400" cy="1689100"/>
            <a:chOff x="768" y="2784"/>
            <a:chExt cx="4416" cy="1064"/>
          </a:xfrm>
        </p:grpSpPr>
        <p:sp>
          <p:nvSpPr>
            <p:cNvPr id="17418" name="Text Box 131">
              <a:extLst>
                <a:ext uri="{FF2B5EF4-FFF2-40B4-BE49-F238E27FC236}">
                  <a16:creationId xmlns:a16="http://schemas.microsoft.com/office/drawing/2014/main" id="{A6640074-0750-9492-1E21-0E56A9EBDE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279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hlink"/>
                </a:buClr>
                <a:buSzPct val="55000"/>
                <a:buFont typeface="Monotype Sorts" pitchFamily="2" charset="2"/>
                <a:buNone/>
              </a:pPr>
              <a:r>
                <a:rPr kumimoji="1" lang="en-US" altLang="en-US" sz="160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7419" name="Text Box 132">
              <a:extLst>
                <a:ext uri="{FF2B5EF4-FFF2-40B4-BE49-F238E27FC236}">
                  <a16:creationId xmlns:a16="http://schemas.microsoft.com/office/drawing/2014/main" id="{A407B8A0-7428-173E-9B14-33631E3E20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279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hlink"/>
                </a:buClr>
                <a:buSzPct val="55000"/>
                <a:buFont typeface="Monotype Sorts" pitchFamily="2" charset="2"/>
                <a:buNone/>
              </a:pPr>
              <a:r>
                <a:rPr kumimoji="1" lang="en-US" altLang="en-US" sz="160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7420" name="Text Box 133">
              <a:extLst>
                <a:ext uri="{FF2B5EF4-FFF2-40B4-BE49-F238E27FC236}">
                  <a16:creationId xmlns:a16="http://schemas.microsoft.com/office/drawing/2014/main" id="{C7C9102F-FCE8-F944-F2E8-9E8B6F9602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279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hlink"/>
                </a:buClr>
                <a:buSzPct val="55000"/>
                <a:buFont typeface="Monotype Sorts" pitchFamily="2" charset="2"/>
                <a:buNone/>
              </a:pPr>
              <a:r>
                <a:rPr kumimoji="1" lang="en-US" altLang="en-US" sz="160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7421" name="Text Box 134">
              <a:extLst>
                <a:ext uri="{FF2B5EF4-FFF2-40B4-BE49-F238E27FC236}">
                  <a16:creationId xmlns:a16="http://schemas.microsoft.com/office/drawing/2014/main" id="{B329C6AC-53DD-1F6C-3103-FA630A07FC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79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hlink"/>
                </a:buClr>
                <a:buSzPct val="55000"/>
                <a:buFont typeface="Monotype Sorts" pitchFamily="2" charset="2"/>
                <a:buNone/>
              </a:pPr>
              <a:r>
                <a:rPr kumimoji="1" lang="en-US" altLang="en-US" sz="160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7422" name="Text Box 135">
              <a:extLst>
                <a:ext uri="{FF2B5EF4-FFF2-40B4-BE49-F238E27FC236}">
                  <a16:creationId xmlns:a16="http://schemas.microsoft.com/office/drawing/2014/main" id="{AAACCA5E-7CFE-37CB-D684-56E9C44B24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278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hlink"/>
                </a:buClr>
                <a:buSzPct val="55000"/>
                <a:buFont typeface="Monotype Sorts" pitchFamily="2" charset="2"/>
                <a:buNone/>
              </a:pPr>
              <a:r>
                <a:rPr kumimoji="1" lang="en-US" altLang="en-US" sz="1600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17423" name="Text Box 136">
              <a:extLst>
                <a:ext uri="{FF2B5EF4-FFF2-40B4-BE49-F238E27FC236}">
                  <a16:creationId xmlns:a16="http://schemas.microsoft.com/office/drawing/2014/main" id="{46C51D5B-EB68-7653-8246-CF517D5F98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280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>
                <a:spcBef>
                  <a:spcPct val="20000"/>
                </a:spcBef>
                <a:buClr>
                  <a:schemeClr val="hlink"/>
                </a:buClr>
                <a:buSzPct val="55000"/>
                <a:buFont typeface="Monotype Sorts" pitchFamily="2" charset="2"/>
                <a:buNone/>
              </a:pPr>
              <a:r>
                <a:rPr kumimoji="1" lang="en-US" altLang="en-US" sz="1600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17424" name="Freeform 137">
              <a:extLst>
                <a:ext uri="{FF2B5EF4-FFF2-40B4-BE49-F238E27FC236}">
                  <a16:creationId xmlns:a16="http://schemas.microsoft.com/office/drawing/2014/main" id="{8460419A-F709-847E-5452-AA5B083CC70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3169"/>
              <a:ext cx="645" cy="233"/>
            </a:xfrm>
            <a:custGeom>
              <a:avLst/>
              <a:gdLst>
                <a:gd name="T0" fmla="*/ 645 w 645"/>
                <a:gd name="T1" fmla="*/ 0 h 418"/>
                <a:gd name="T2" fmla="*/ 579 w 645"/>
                <a:gd name="T3" fmla="*/ 16 h 418"/>
                <a:gd name="T4" fmla="*/ 534 w 645"/>
                <a:gd name="T5" fmla="*/ 36 h 418"/>
                <a:gd name="T6" fmla="*/ 486 w 645"/>
                <a:gd name="T7" fmla="*/ 78 h 418"/>
                <a:gd name="T8" fmla="*/ 456 w 645"/>
                <a:gd name="T9" fmla="*/ 104 h 418"/>
                <a:gd name="T10" fmla="*/ 405 w 645"/>
                <a:gd name="T11" fmla="*/ 143 h 418"/>
                <a:gd name="T12" fmla="*/ 354 w 645"/>
                <a:gd name="T13" fmla="*/ 192 h 418"/>
                <a:gd name="T14" fmla="*/ 324 w 645"/>
                <a:gd name="T15" fmla="*/ 221 h 418"/>
                <a:gd name="T16" fmla="*/ 276 w 645"/>
                <a:gd name="T17" fmla="*/ 268 h 418"/>
                <a:gd name="T18" fmla="*/ 90 w 645"/>
                <a:gd name="T19" fmla="*/ 353 h 418"/>
                <a:gd name="T20" fmla="*/ 0 w 645"/>
                <a:gd name="T21" fmla="*/ 359 h 41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45" h="418">
                  <a:moveTo>
                    <a:pt x="645" y="0"/>
                  </a:moveTo>
                  <a:cubicBezTo>
                    <a:pt x="623" y="6"/>
                    <a:pt x="601" y="11"/>
                    <a:pt x="579" y="18"/>
                  </a:cubicBezTo>
                  <a:cubicBezTo>
                    <a:pt x="563" y="23"/>
                    <a:pt x="550" y="37"/>
                    <a:pt x="534" y="42"/>
                  </a:cubicBezTo>
                  <a:cubicBezTo>
                    <a:pt x="523" y="58"/>
                    <a:pt x="503" y="79"/>
                    <a:pt x="486" y="90"/>
                  </a:cubicBezTo>
                  <a:cubicBezTo>
                    <a:pt x="479" y="101"/>
                    <a:pt x="467" y="113"/>
                    <a:pt x="456" y="120"/>
                  </a:cubicBezTo>
                  <a:cubicBezTo>
                    <a:pt x="445" y="137"/>
                    <a:pt x="422" y="153"/>
                    <a:pt x="405" y="165"/>
                  </a:cubicBezTo>
                  <a:cubicBezTo>
                    <a:pt x="396" y="179"/>
                    <a:pt x="367" y="213"/>
                    <a:pt x="354" y="222"/>
                  </a:cubicBezTo>
                  <a:cubicBezTo>
                    <a:pt x="346" y="234"/>
                    <a:pt x="334" y="243"/>
                    <a:pt x="324" y="255"/>
                  </a:cubicBezTo>
                  <a:cubicBezTo>
                    <a:pt x="310" y="272"/>
                    <a:pt x="293" y="294"/>
                    <a:pt x="276" y="309"/>
                  </a:cubicBezTo>
                  <a:cubicBezTo>
                    <a:pt x="232" y="347"/>
                    <a:pt x="146" y="389"/>
                    <a:pt x="90" y="408"/>
                  </a:cubicBezTo>
                  <a:cubicBezTo>
                    <a:pt x="60" y="418"/>
                    <a:pt x="31" y="414"/>
                    <a:pt x="0" y="414"/>
                  </a:cubicBezTo>
                </a:path>
              </a:pathLst>
            </a:custGeom>
            <a:noFill/>
            <a:ln w="15875" cap="flat" cmpd="sng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25" name="Line 138">
              <a:extLst>
                <a:ext uri="{FF2B5EF4-FFF2-40B4-BE49-F238E27FC236}">
                  <a16:creationId xmlns:a16="http://schemas.microsoft.com/office/drawing/2014/main" id="{24832400-CF1F-18A4-6EB0-9043AFA0F8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3456"/>
              <a:ext cx="36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arrow" w="sm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26" name="Line 139">
              <a:extLst>
                <a:ext uri="{FF2B5EF4-FFF2-40B4-BE49-F238E27FC236}">
                  <a16:creationId xmlns:a16="http://schemas.microsoft.com/office/drawing/2014/main" id="{6E3DAA70-FA79-FB5D-A5C3-51C3B413B6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3408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27" name="Line 140">
              <a:extLst>
                <a:ext uri="{FF2B5EF4-FFF2-40B4-BE49-F238E27FC236}">
                  <a16:creationId xmlns:a16="http://schemas.microsoft.com/office/drawing/2014/main" id="{604FFA4F-0CDD-19DA-6879-8C3199373A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3408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28" name="Line 141">
              <a:extLst>
                <a:ext uri="{FF2B5EF4-FFF2-40B4-BE49-F238E27FC236}">
                  <a16:creationId xmlns:a16="http://schemas.microsoft.com/office/drawing/2014/main" id="{174A7E86-7892-2C2F-8292-21FFD97BC3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3408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29" name="Line 142">
              <a:extLst>
                <a:ext uri="{FF2B5EF4-FFF2-40B4-BE49-F238E27FC236}">
                  <a16:creationId xmlns:a16="http://schemas.microsoft.com/office/drawing/2014/main" id="{9ABEFAD7-460F-C68A-DF0C-340CD6D94D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3408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30" name="Line 143">
              <a:extLst>
                <a:ext uri="{FF2B5EF4-FFF2-40B4-BE49-F238E27FC236}">
                  <a16:creationId xmlns:a16="http://schemas.microsoft.com/office/drawing/2014/main" id="{4C9748F8-4786-5666-DB1F-F61A41E88C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3408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31" name="Line 144">
              <a:extLst>
                <a:ext uri="{FF2B5EF4-FFF2-40B4-BE49-F238E27FC236}">
                  <a16:creationId xmlns:a16="http://schemas.microsoft.com/office/drawing/2014/main" id="{30D0D17B-4693-D5EF-B964-61A0C5740B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3408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32" name="Line 145">
              <a:extLst>
                <a:ext uri="{FF2B5EF4-FFF2-40B4-BE49-F238E27FC236}">
                  <a16:creationId xmlns:a16="http://schemas.microsoft.com/office/drawing/2014/main" id="{279DC348-EFD8-6631-B68D-0785E00327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3456"/>
              <a:ext cx="7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graphicFrame>
          <p:nvGraphicFramePr>
            <p:cNvPr id="17433" name="Object 146">
              <a:extLst>
                <a:ext uri="{FF2B5EF4-FFF2-40B4-BE49-F238E27FC236}">
                  <a16:creationId xmlns:a16="http://schemas.microsoft.com/office/drawing/2014/main" id="{6D0434BE-8DA2-046F-ED12-9DB98DC7FF9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48" y="3504"/>
            <a:ext cx="17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65028" imgH="228501" progId="Equation.3">
                    <p:embed/>
                  </p:oleObj>
                </mc:Choice>
                <mc:Fallback>
                  <p:oleObj name="Equation" r:id="rId22" imgW="165028" imgH="228501" progId="Equation.3">
                    <p:embed/>
                    <p:pic>
                      <p:nvPicPr>
                        <p:cNvPr id="17433" name="Object 146">
                          <a:extLst>
                            <a:ext uri="{FF2B5EF4-FFF2-40B4-BE49-F238E27FC236}">
                              <a16:creationId xmlns:a16="http://schemas.microsoft.com/office/drawing/2014/main" id="{6D0434BE-8DA2-046F-ED12-9DB98DC7FF9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8" y="3504"/>
                          <a:ext cx="172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4" name="Object 147">
              <a:extLst>
                <a:ext uri="{FF2B5EF4-FFF2-40B4-BE49-F238E27FC236}">
                  <a16:creationId xmlns:a16="http://schemas.microsoft.com/office/drawing/2014/main" id="{2FBFD58A-A8FC-1783-266E-E3AB6CBC370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72" y="3504"/>
            <a:ext cx="25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241300" imgH="228600" progId="Equation.3">
                    <p:embed/>
                  </p:oleObj>
                </mc:Choice>
                <mc:Fallback>
                  <p:oleObj name="Equation" r:id="rId23" imgW="241300" imgH="228600" progId="Equation.3">
                    <p:embed/>
                    <p:pic>
                      <p:nvPicPr>
                        <p:cNvPr id="17434" name="Object 147">
                          <a:extLst>
                            <a:ext uri="{FF2B5EF4-FFF2-40B4-BE49-F238E27FC236}">
                              <a16:creationId xmlns:a16="http://schemas.microsoft.com/office/drawing/2014/main" id="{2FBFD58A-A8FC-1783-266E-E3AB6CBC370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2" y="3504"/>
                          <a:ext cx="253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5" name="Object 148">
              <a:extLst>
                <a:ext uri="{FF2B5EF4-FFF2-40B4-BE49-F238E27FC236}">
                  <a16:creationId xmlns:a16="http://schemas.microsoft.com/office/drawing/2014/main" id="{1BCD66DB-705A-94EB-5FF2-AFD9BBD1409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54" y="3504"/>
            <a:ext cx="24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228600" imgH="228600" progId="Equation.3">
                    <p:embed/>
                  </p:oleObj>
                </mc:Choice>
                <mc:Fallback>
                  <p:oleObj name="Equation" r:id="rId24" imgW="228600" imgH="228600" progId="Equation.3">
                    <p:embed/>
                    <p:pic>
                      <p:nvPicPr>
                        <p:cNvPr id="17435" name="Object 148">
                          <a:extLst>
                            <a:ext uri="{FF2B5EF4-FFF2-40B4-BE49-F238E27FC236}">
                              <a16:creationId xmlns:a16="http://schemas.microsoft.com/office/drawing/2014/main" id="{1BCD66DB-705A-94EB-5FF2-AFD9BBD1409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4" y="3504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6" name="Object 149">
              <a:extLst>
                <a:ext uri="{FF2B5EF4-FFF2-40B4-BE49-F238E27FC236}">
                  <a16:creationId xmlns:a16="http://schemas.microsoft.com/office/drawing/2014/main" id="{19320F16-DE7B-A510-2777-5FA87D7EDA0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24" y="3504"/>
            <a:ext cx="25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241300" imgH="228600" progId="Equation.3">
                    <p:embed/>
                  </p:oleObj>
                </mc:Choice>
                <mc:Fallback>
                  <p:oleObj name="Equation" r:id="rId25" imgW="241300" imgH="228600" progId="Equation.3">
                    <p:embed/>
                    <p:pic>
                      <p:nvPicPr>
                        <p:cNvPr id="17436" name="Object 149">
                          <a:extLst>
                            <a:ext uri="{FF2B5EF4-FFF2-40B4-BE49-F238E27FC236}">
                              <a16:creationId xmlns:a16="http://schemas.microsoft.com/office/drawing/2014/main" id="{19320F16-DE7B-A510-2777-5FA87D7EDA0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24" y="3504"/>
                          <a:ext cx="252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7" name="Object 150">
              <a:extLst>
                <a:ext uri="{FF2B5EF4-FFF2-40B4-BE49-F238E27FC236}">
                  <a16:creationId xmlns:a16="http://schemas.microsoft.com/office/drawing/2014/main" id="{A45DC884-A42C-90FC-F3E0-8BBD9831229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80" y="3531"/>
            <a:ext cx="132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26725" imgH="177415" progId="Equation.3">
                    <p:embed/>
                  </p:oleObj>
                </mc:Choice>
                <mc:Fallback>
                  <p:oleObj name="Equation" r:id="rId26" imgW="126725" imgH="177415" progId="Equation.3">
                    <p:embed/>
                    <p:pic>
                      <p:nvPicPr>
                        <p:cNvPr id="17437" name="Object 150">
                          <a:extLst>
                            <a:ext uri="{FF2B5EF4-FFF2-40B4-BE49-F238E27FC236}">
                              <a16:creationId xmlns:a16="http://schemas.microsoft.com/office/drawing/2014/main" id="{A45DC884-A42C-90FC-F3E0-8BBD9831229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0" y="3531"/>
                          <a:ext cx="132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8" name="Object 151">
              <a:extLst>
                <a:ext uri="{FF2B5EF4-FFF2-40B4-BE49-F238E27FC236}">
                  <a16:creationId xmlns:a16="http://schemas.microsoft.com/office/drawing/2014/main" id="{6819A417-02AA-4087-071C-696288A9443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06" y="3504"/>
            <a:ext cx="24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228600" imgH="228600" progId="Equation.3">
                    <p:embed/>
                  </p:oleObj>
                </mc:Choice>
                <mc:Fallback>
                  <p:oleObj name="Equation" r:id="rId27" imgW="228600" imgH="228600" progId="Equation.3">
                    <p:embed/>
                    <p:pic>
                      <p:nvPicPr>
                        <p:cNvPr id="17438" name="Object 151">
                          <a:extLst>
                            <a:ext uri="{FF2B5EF4-FFF2-40B4-BE49-F238E27FC236}">
                              <a16:creationId xmlns:a16="http://schemas.microsoft.com/office/drawing/2014/main" id="{6819A417-02AA-4087-071C-696288A9443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6" y="3504"/>
                          <a:ext cx="241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9" name="Line 152">
              <a:extLst>
                <a:ext uri="{FF2B5EF4-FFF2-40B4-BE49-F238E27FC236}">
                  <a16:creationId xmlns:a16="http://schemas.microsoft.com/office/drawing/2014/main" id="{75B423B6-66FA-A952-4226-2304047523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408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40" name="Line 153">
              <a:extLst>
                <a:ext uri="{FF2B5EF4-FFF2-40B4-BE49-F238E27FC236}">
                  <a16:creationId xmlns:a16="http://schemas.microsoft.com/office/drawing/2014/main" id="{EA6C46FA-87F3-8CB7-2FC9-77BAD36D3E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3408"/>
              <a:ext cx="0" cy="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41" name="Freeform 154">
              <a:extLst>
                <a:ext uri="{FF2B5EF4-FFF2-40B4-BE49-F238E27FC236}">
                  <a16:creationId xmlns:a16="http://schemas.microsoft.com/office/drawing/2014/main" id="{C1EFDA4C-EC1B-1463-675C-5EA6E5FEF0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4" y="3242"/>
              <a:ext cx="116" cy="233"/>
            </a:xfrm>
            <a:custGeom>
              <a:avLst/>
              <a:gdLst>
                <a:gd name="T0" fmla="*/ 0 w 3059"/>
                <a:gd name="T1" fmla="*/ 155 h 815"/>
                <a:gd name="T2" fmla="*/ 122 w 3059"/>
                <a:gd name="T3" fmla="*/ 187 h 815"/>
                <a:gd name="T4" fmla="*/ 372 w 3059"/>
                <a:gd name="T5" fmla="*/ 497 h 815"/>
                <a:gd name="T6" fmla="*/ 664 w 3059"/>
                <a:gd name="T7" fmla="*/ 813 h 815"/>
                <a:gd name="T8" fmla="*/ 948 w 3059"/>
                <a:gd name="T9" fmla="*/ 497 h 815"/>
                <a:gd name="T10" fmla="*/ 1236 w 3059"/>
                <a:gd name="T11" fmla="*/ 121 h 815"/>
                <a:gd name="T12" fmla="*/ 1536 w 3059"/>
                <a:gd name="T13" fmla="*/ 5 h 815"/>
                <a:gd name="T14" fmla="*/ 1828 w 3059"/>
                <a:gd name="T15" fmla="*/ 149 h 815"/>
                <a:gd name="T16" fmla="*/ 2128 w 3059"/>
                <a:gd name="T17" fmla="*/ 505 h 815"/>
                <a:gd name="T18" fmla="*/ 2395 w 3059"/>
                <a:gd name="T19" fmla="*/ 813 h 815"/>
                <a:gd name="T20" fmla="*/ 2688 w 3059"/>
                <a:gd name="T21" fmla="*/ 493 h 815"/>
                <a:gd name="T22" fmla="*/ 2936 w 3059"/>
                <a:gd name="T23" fmla="*/ 150 h 815"/>
                <a:gd name="T24" fmla="*/ 3059 w 3059"/>
                <a:gd name="T25" fmla="*/ 112 h 81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059" h="815">
                  <a:moveTo>
                    <a:pt x="0" y="155"/>
                  </a:moveTo>
                  <a:cubicBezTo>
                    <a:pt x="20" y="161"/>
                    <a:pt x="60" y="130"/>
                    <a:pt x="122" y="187"/>
                  </a:cubicBezTo>
                  <a:cubicBezTo>
                    <a:pt x="184" y="244"/>
                    <a:pt x="282" y="393"/>
                    <a:pt x="372" y="497"/>
                  </a:cubicBezTo>
                  <a:cubicBezTo>
                    <a:pt x="462" y="601"/>
                    <a:pt x="568" y="813"/>
                    <a:pt x="664" y="813"/>
                  </a:cubicBezTo>
                  <a:cubicBezTo>
                    <a:pt x="760" y="813"/>
                    <a:pt x="853" y="612"/>
                    <a:pt x="948" y="497"/>
                  </a:cubicBezTo>
                  <a:cubicBezTo>
                    <a:pt x="1043" y="382"/>
                    <a:pt x="1138" y="203"/>
                    <a:pt x="1236" y="121"/>
                  </a:cubicBezTo>
                  <a:cubicBezTo>
                    <a:pt x="1334" y="39"/>
                    <a:pt x="1437" y="0"/>
                    <a:pt x="1536" y="5"/>
                  </a:cubicBezTo>
                  <a:cubicBezTo>
                    <a:pt x="1635" y="10"/>
                    <a:pt x="1729" y="66"/>
                    <a:pt x="1828" y="149"/>
                  </a:cubicBezTo>
                  <a:cubicBezTo>
                    <a:pt x="1927" y="232"/>
                    <a:pt x="2034" y="394"/>
                    <a:pt x="2128" y="505"/>
                  </a:cubicBezTo>
                  <a:cubicBezTo>
                    <a:pt x="2222" y="616"/>
                    <a:pt x="2302" y="815"/>
                    <a:pt x="2395" y="813"/>
                  </a:cubicBezTo>
                  <a:cubicBezTo>
                    <a:pt x="2488" y="811"/>
                    <a:pt x="2598" y="604"/>
                    <a:pt x="2688" y="493"/>
                  </a:cubicBezTo>
                  <a:cubicBezTo>
                    <a:pt x="2778" y="382"/>
                    <a:pt x="2874" y="213"/>
                    <a:pt x="2936" y="150"/>
                  </a:cubicBezTo>
                  <a:cubicBezTo>
                    <a:pt x="2998" y="87"/>
                    <a:pt x="3034" y="120"/>
                    <a:pt x="3059" y="112"/>
                  </a:cubicBezTo>
                </a:path>
              </a:pathLst>
            </a:custGeom>
            <a:noFill/>
            <a:ln w="15875" cap="flat" cmpd="sng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7442" name="Freeform 155">
              <a:extLst>
                <a:ext uri="{FF2B5EF4-FFF2-40B4-BE49-F238E27FC236}">
                  <a16:creationId xmlns:a16="http://schemas.microsoft.com/office/drawing/2014/main" id="{B51093C8-B5EF-D176-6F5D-DEA71ECD30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7" y="3147"/>
              <a:ext cx="645" cy="233"/>
            </a:xfrm>
            <a:custGeom>
              <a:avLst/>
              <a:gdLst>
                <a:gd name="T0" fmla="*/ 0 w 588"/>
                <a:gd name="T1" fmla="*/ 0 h 390"/>
                <a:gd name="T2" fmla="*/ 86 w 588"/>
                <a:gd name="T3" fmla="*/ 31 h 390"/>
                <a:gd name="T4" fmla="*/ 122 w 588"/>
                <a:gd name="T5" fmla="*/ 58 h 390"/>
                <a:gd name="T6" fmla="*/ 161 w 588"/>
                <a:gd name="T7" fmla="*/ 101 h 390"/>
                <a:gd name="T8" fmla="*/ 191 w 588"/>
                <a:gd name="T9" fmla="*/ 122 h 390"/>
                <a:gd name="T10" fmla="*/ 260 w 588"/>
                <a:gd name="T11" fmla="*/ 189 h 390"/>
                <a:gd name="T12" fmla="*/ 276 w 588"/>
                <a:gd name="T13" fmla="*/ 208 h 390"/>
                <a:gd name="T14" fmla="*/ 296 w 588"/>
                <a:gd name="T15" fmla="*/ 220 h 390"/>
                <a:gd name="T16" fmla="*/ 319 w 588"/>
                <a:gd name="T17" fmla="*/ 244 h 390"/>
                <a:gd name="T18" fmla="*/ 355 w 588"/>
                <a:gd name="T19" fmla="*/ 278 h 390"/>
                <a:gd name="T20" fmla="*/ 411 w 588"/>
                <a:gd name="T21" fmla="*/ 318 h 390"/>
                <a:gd name="T22" fmla="*/ 454 w 588"/>
                <a:gd name="T23" fmla="*/ 342 h 390"/>
                <a:gd name="T24" fmla="*/ 645 w 588"/>
                <a:gd name="T25" fmla="*/ 397 h 39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88" h="390">
                  <a:moveTo>
                    <a:pt x="0" y="0"/>
                  </a:moveTo>
                  <a:cubicBezTo>
                    <a:pt x="26" y="13"/>
                    <a:pt x="51" y="21"/>
                    <a:pt x="78" y="30"/>
                  </a:cubicBezTo>
                  <a:cubicBezTo>
                    <a:pt x="87" y="43"/>
                    <a:pt x="96" y="52"/>
                    <a:pt x="111" y="57"/>
                  </a:cubicBezTo>
                  <a:cubicBezTo>
                    <a:pt x="116" y="73"/>
                    <a:pt x="136" y="85"/>
                    <a:pt x="147" y="99"/>
                  </a:cubicBezTo>
                  <a:cubicBezTo>
                    <a:pt x="154" y="108"/>
                    <a:pt x="174" y="120"/>
                    <a:pt x="174" y="120"/>
                  </a:cubicBezTo>
                  <a:cubicBezTo>
                    <a:pt x="190" y="145"/>
                    <a:pt x="218" y="163"/>
                    <a:pt x="237" y="186"/>
                  </a:cubicBezTo>
                  <a:cubicBezTo>
                    <a:pt x="246" y="197"/>
                    <a:pt x="240" y="194"/>
                    <a:pt x="252" y="204"/>
                  </a:cubicBezTo>
                  <a:cubicBezTo>
                    <a:pt x="258" y="208"/>
                    <a:pt x="270" y="216"/>
                    <a:pt x="270" y="216"/>
                  </a:cubicBezTo>
                  <a:cubicBezTo>
                    <a:pt x="284" y="237"/>
                    <a:pt x="276" y="230"/>
                    <a:pt x="291" y="240"/>
                  </a:cubicBezTo>
                  <a:cubicBezTo>
                    <a:pt x="300" y="253"/>
                    <a:pt x="311" y="264"/>
                    <a:pt x="324" y="273"/>
                  </a:cubicBezTo>
                  <a:cubicBezTo>
                    <a:pt x="347" y="307"/>
                    <a:pt x="352" y="293"/>
                    <a:pt x="375" y="312"/>
                  </a:cubicBezTo>
                  <a:cubicBezTo>
                    <a:pt x="388" y="323"/>
                    <a:pt x="397" y="332"/>
                    <a:pt x="414" y="336"/>
                  </a:cubicBezTo>
                  <a:cubicBezTo>
                    <a:pt x="466" y="370"/>
                    <a:pt x="526" y="390"/>
                    <a:pt x="588" y="390"/>
                  </a:cubicBezTo>
                </a:path>
              </a:pathLst>
            </a:custGeom>
            <a:noFill/>
            <a:ln w="15875" cap="flat" cmpd="sng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43" name="Line 156">
              <a:extLst>
                <a:ext uri="{FF2B5EF4-FFF2-40B4-BE49-F238E27FC236}">
                  <a16:creationId xmlns:a16="http://schemas.microsoft.com/office/drawing/2014/main" id="{F895F343-42A5-32ED-08D9-66D0F72240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3072"/>
              <a:ext cx="0" cy="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7444" name="Line 157">
              <a:extLst>
                <a:ext uri="{FF2B5EF4-FFF2-40B4-BE49-F238E27FC236}">
                  <a16:creationId xmlns:a16="http://schemas.microsoft.com/office/drawing/2014/main" id="{5508891E-9F8D-D427-1340-60201EC148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072"/>
              <a:ext cx="576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45" name="Line 158">
              <a:extLst>
                <a:ext uri="{FF2B5EF4-FFF2-40B4-BE49-F238E27FC236}">
                  <a16:creationId xmlns:a16="http://schemas.microsoft.com/office/drawing/2014/main" id="{99C0464F-ADF8-D53F-45B5-1758C9F622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3072"/>
              <a:ext cx="0" cy="77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7446" name="Line 159">
              <a:extLst>
                <a:ext uri="{FF2B5EF4-FFF2-40B4-BE49-F238E27FC236}">
                  <a16:creationId xmlns:a16="http://schemas.microsoft.com/office/drawing/2014/main" id="{7A9E565E-5F8D-99D4-7151-BD2521F114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3848"/>
              <a:ext cx="576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47" name="Line 160">
              <a:extLst>
                <a:ext uri="{FF2B5EF4-FFF2-40B4-BE49-F238E27FC236}">
                  <a16:creationId xmlns:a16="http://schemas.microsoft.com/office/drawing/2014/main" id="{0EFDEF26-5DF9-F42E-ECA4-CED29F696F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0" y="3072"/>
              <a:ext cx="0" cy="77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7448" name="Line 161">
              <a:extLst>
                <a:ext uri="{FF2B5EF4-FFF2-40B4-BE49-F238E27FC236}">
                  <a16:creationId xmlns:a16="http://schemas.microsoft.com/office/drawing/2014/main" id="{0D751238-58DE-656D-93D5-A0C9C8E2D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3072"/>
              <a:ext cx="115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7449" name="Line 162">
              <a:extLst>
                <a:ext uri="{FF2B5EF4-FFF2-40B4-BE49-F238E27FC236}">
                  <a16:creationId xmlns:a16="http://schemas.microsoft.com/office/drawing/2014/main" id="{D79D159A-E6DF-C162-FA86-BF13213D4D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3072"/>
              <a:ext cx="0" cy="77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7450" name="Line 163">
              <a:extLst>
                <a:ext uri="{FF2B5EF4-FFF2-40B4-BE49-F238E27FC236}">
                  <a16:creationId xmlns:a16="http://schemas.microsoft.com/office/drawing/2014/main" id="{BDB1EF05-C689-526E-E271-551051A256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3848"/>
              <a:ext cx="576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7451" name="Line 164">
              <a:extLst>
                <a:ext uri="{FF2B5EF4-FFF2-40B4-BE49-F238E27FC236}">
                  <a16:creationId xmlns:a16="http://schemas.microsoft.com/office/drawing/2014/main" id="{72F164E2-026B-750A-070D-B65F309001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3016"/>
              <a:ext cx="0" cy="83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7452" name="Line 165">
              <a:extLst>
                <a:ext uri="{FF2B5EF4-FFF2-40B4-BE49-F238E27FC236}">
                  <a16:creationId xmlns:a16="http://schemas.microsoft.com/office/drawing/2014/main" id="{0B2C3F43-001F-B7BD-00B0-731A7D9332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3016"/>
              <a:ext cx="576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7453" name="Line 166">
              <a:extLst>
                <a:ext uri="{FF2B5EF4-FFF2-40B4-BE49-F238E27FC236}">
                  <a16:creationId xmlns:a16="http://schemas.microsoft.com/office/drawing/2014/main" id="{DC6233AE-4A71-DAE6-F1A2-B2B5735083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3016"/>
              <a:ext cx="0" cy="44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</p:grpSp>
      <p:sp>
        <p:nvSpPr>
          <p:cNvPr id="17416" name="Text Box 167">
            <a:extLst>
              <a:ext uri="{FF2B5EF4-FFF2-40B4-BE49-F238E27FC236}">
                <a16:creationId xmlns:a16="http://schemas.microsoft.com/office/drawing/2014/main" id="{6473C887-C982-E32A-087F-216A008C6B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4343400"/>
            <a:ext cx="1752600" cy="82550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>
                <a:solidFill>
                  <a:srgbClr val="FF0000"/>
                </a:solidFill>
              </a:rPr>
              <a:t>Resultant Channel Output Waveform</a:t>
            </a:r>
          </a:p>
        </p:txBody>
      </p:sp>
      <p:sp>
        <p:nvSpPr>
          <p:cNvPr id="17417" name="Line 168">
            <a:extLst>
              <a:ext uri="{FF2B5EF4-FFF2-40B4-BE49-F238E27FC236}">
                <a16:creationId xmlns:a16="http://schemas.microsoft.com/office/drawing/2014/main" id="{029FFD56-1F09-2C0B-CCC9-08AB5E4CBB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915400" y="5181600"/>
            <a:ext cx="457200" cy="381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3790D4-34F3-32E7-A78F-42F5A75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AB4E0-AD4B-43EB-899F-60F580409A81}" type="datetime1">
              <a:rPr lang="en-US" smtClean="0"/>
              <a:t>12/31/2025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817C1-DCEF-EB0E-A1F2-FE7408064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8" y="775298"/>
            <a:ext cx="11994292" cy="4351338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kern="0" dirty="0">
                <a:solidFill>
                  <a:srgbClr val="1914F8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Inter Symbol Interference (</a:t>
            </a:r>
            <a:r>
              <a:rPr lang="en-IN" kern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ISI</a:t>
            </a:r>
            <a:r>
              <a:rPr lang="en-IN" kern="0" dirty="0">
                <a:solidFill>
                  <a:srgbClr val="1914F8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is caused by nonideal channels that are distorted over the entire input signal bandwidth. ISI, as a manifestation of channel distortion, can cause errors in pulse detection if it is large enough. </a:t>
            </a:r>
            <a:endParaRPr lang="en-IN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E0DE7-239F-16D3-7397-EDAEE4AF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31318-34DB-4E9E-9AC9-33735C042823}" type="datetime1">
              <a:rPr lang="en-US" smtClean="0"/>
              <a:t>12/31/2025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9B89400-6F54-BF17-A9AC-6A5BAA3624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204484"/>
            <a:ext cx="10515600" cy="425707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en-US" sz="3200" dirty="0">
                <a:solidFill>
                  <a:srgbClr val="CC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 Symbol Interference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6B0427-46B7-0973-6F49-2EF2CAFB9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44" y="2244170"/>
            <a:ext cx="10629900" cy="22955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FB8947-B4D3-6DC4-95CD-A5119A39C2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6461" y="4700336"/>
            <a:ext cx="6799945" cy="14295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6209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4A7FA-B81C-1472-9BE2-03B24AC1C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06631-929D-4872-815F-41012E08C4BF}" type="datetime1">
              <a:rPr lang="en-US" smtClean="0"/>
              <a:t>12/31/2025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97A805-4A0F-4731-3CDC-BF467815D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70" y="157673"/>
            <a:ext cx="11735951" cy="25855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50EE85-11BD-7636-1A9F-458D4E0624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56" y="2662237"/>
            <a:ext cx="11158844" cy="3988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000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0C7AD-6B48-B549-517F-F809C8E0D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31AC9-4C46-4493-A4FD-604E9AF42B21}" type="datetime1">
              <a:rPr lang="en-US" smtClean="0"/>
              <a:t>12/31/2025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92B3FC-25E2-BA9B-1035-D71FCD456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86" y="136525"/>
            <a:ext cx="11805260" cy="1717725"/>
          </a:xfrm>
          <a:prstGeom prst="rect">
            <a:avLst/>
          </a:prstGeom>
        </p:spPr>
      </p:pic>
      <p:pic>
        <p:nvPicPr>
          <p:cNvPr id="8" name="Picture 7" descr="A math equations with arrows&#10;&#10;Description automatically generated with medium confidence">
            <a:extLst>
              <a:ext uri="{FF2B5EF4-FFF2-40B4-BE49-F238E27FC236}">
                <a16:creationId xmlns:a16="http://schemas.microsoft.com/office/drawing/2014/main" id="{32E053FF-243E-D286-E9CD-1ACEF8887C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639" y="1729946"/>
            <a:ext cx="11934261" cy="2824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250DE2-1C61-DB9B-FF3A-E21AD68C57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274" y="4677552"/>
            <a:ext cx="11934261" cy="155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407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D87AD-EC9F-7351-7E08-B07AB2CD8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8626"/>
            <a:ext cx="10515600" cy="564421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ISI elimination techniques</a:t>
            </a:r>
            <a:endParaRPr lang="en-IN" sz="3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7C539-E727-3F55-6604-81E12CD0D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562" y="1102154"/>
            <a:ext cx="11392930" cy="5477220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2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kern="0" dirty="0">
                <a:solidFill>
                  <a:srgbClr val="1914F8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N" sz="4000" kern="0" dirty="0">
                <a:solidFill>
                  <a:srgbClr val="1914F8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It is important to note that pulse amplitudes can be detected correctly despite pulse spreading (or overlapping), if there is no ISI at the </a:t>
            </a:r>
            <a:r>
              <a:rPr lang="en-IN" sz="4000" b="1" kern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decision-making</a:t>
            </a:r>
            <a:r>
              <a:rPr lang="en-IN" sz="4000" b="1" kern="0" dirty="0">
                <a:solidFill>
                  <a:srgbClr val="1914F8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N" sz="4000" kern="0" dirty="0">
                <a:solidFill>
                  <a:srgbClr val="1914F8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instants.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4000" kern="0" dirty="0">
                <a:solidFill>
                  <a:srgbClr val="1914F8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This can be accomplished by a properly shaped band limited pulse signals. </a:t>
            </a:r>
          </a:p>
          <a:p>
            <a:pPr algn="just">
              <a:lnSpc>
                <a:spcPct val="12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4000" kern="0" dirty="0">
                <a:solidFill>
                  <a:srgbClr val="1914F8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 eliminate the effect of ISI, Nyquist proposed the following criteria for pulse shaping.</a:t>
            </a:r>
          </a:p>
          <a:p>
            <a:pPr marL="742950" indent="-742950" algn="just">
              <a:lnSpc>
                <a:spcPct val="120000"/>
              </a:lnSpc>
              <a:spcAft>
                <a:spcPts val="800"/>
              </a:spcAft>
              <a:buAutoNum type="arabicPeriod"/>
            </a:pPr>
            <a:r>
              <a:rPr lang="en-IN" sz="40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Ideal Nyquist Criterion: </a:t>
            </a:r>
            <a:r>
              <a:rPr lang="en-IN" sz="4000" kern="10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Sinc</a:t>
            </a:r>
            <a:r>
              <a:rPr lang="en-IN" sz="4000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Pulse</a:t>
            </a:r>
            <a:r>
              <a:rPr lang="en-IN" sz="40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742950" indent="-742950" algn="just">
              <a:lnSpc>
                <a:spcPct val="150000"/>
              </a:lnSpc>
              <a:spcAft>
                <a:spcPts val="800"/>
              </a:spcAft>
              <a:buAutoNum type="arabicPeriod"/>
            </a:pPr>
            <a:r>
              <a:rPr lang="en-IN" sz="40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Practical filter: </a:t>
            </a:r>
            <a:r>
              <a:rPr lang="en-IN" sz="4000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Raised Cosine Filter</a:t>
            </a:r>
            <a:r>
              <a:rPr lang="en-IN" sz="1800" kern="0" dirty="0">
                <a:solidFill>
                  <a:srgbClr val="1914F8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913C8-EDB3-6093-7B59-57A9B8795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511C-1FBB-4CC3-9C84-54E1372B6B63}" type="datetime1">
              <a:rPr lang="en-US" smtClean="0"/>
              <a:t>12/31/2025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888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7AA9E-561E-8FC1-690A-3C4B219C7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424" y="2766218"/>
            <a:ext cx="1633152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BB9316-3455-E3E3-AB26-6399C0B58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A072A-D772-49D0-856B-8F5E09ECE36C}" type="datetime1">
              <a:rPr lang="en-US" smtClean="0"/>
              <a:t>12/31/2025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501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3965</TotalTime>
  <Words>462</Words>
  <Application>Microsoft Office PowerPoint</Application>
  <PresentationFormat>Widescreen</PresentationFormat>
  <Paragraphs>61</Paragraphs>
  <Slides>11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Comic Sans MS</vt:lpstr>
      <vt:lpstr>Monotype Sorts</vt:lpstr>
      <vt:lpstr>Wingdings</vt:lpstr>
      <vt:lpstr>Office Theme</vt:lpstr>
      <vt:lpstr>Equation</vt:lpstr>
      <vt:lpstr>Digital Communication</vt:lpstr>
      <vt:lpstr>Binary Base-band data transmission System</vt:lpstr>
      <vt:lpstr>PowerPoint Presentation</vt:lpstr>
      <vt:lpstr>Inter Symbol Interference</vt:lpstr>
      <vt:lpstr>PowerPoint Presentation</vt:lpstr>
      <vt:lpstr>Intersymbol Interference</vt:lpstr>
      <vt:lpstr>Inter Symbol Interference</vt:lpstr>
      <vt:lpstr>PowerPoint Presentation</vt:lpstr>
      <vt:lpstr>PowerPoint Presentation</vt:lpstr>
      <vt:lpstr>ISI elimination techniques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Delta Modulation</dc:title>
  <dc:creator>MVGR</dc:creator>
  <cp:lastModifiedBy>D Sreenivasa Rao</cp:lastModifiedBy>
  <cp:revision>187</cp:revision>
  <dcterms:created xsi:type="dcterms:W3CDTF">2017-03-12T06:53:45Z</dcterms:created>
  <dcterms:modified xsi:type="dcterms:W3CDTF">2025-12-31T05:28:07Z</dcterms:modified>
</cp:coreProperties>
</file>