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26" r:id="rId2"/>
    <p:sldId id="836" r:id="rId3"/>
    <p:sldId id="416" r:id="rId4"/>
    <p:sldId id="302" r:id="rId5"/>
    <p:sldId id="821" r:id="rId6"/>
    <p:sldId id="822" r:id="rId7"/>
    <p:sldId id="336" r:id="rId8"/>
    <p:sldId id="337" r:id="rId9"/>
    <p:sldId id="338" r:id="rId10"/>
    <p:sldId id="339" r:id="rId11"/>
    <p:sldId id="417" r:id="rId12"/>
    <p:sldId id="340" r:id="rId13"/>
    <p:sldId id="342" r:id="rId14"/>
    <p:sldId id="343" r:id="rId15"/>
    <p:sldId id="309" r:id="rId16"/>
    <p:sldId id="820" r:id="rId17"/>
    <p:sldId id="33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0FF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51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35BDBB-650D-4050-B32D-8589B2BD05DC}" type="datetimeFigureOut">
              <a:rPr lang="en-US" smtClean="0"/>
              <a:pPr/>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6B768-9392-452C-87A9-0023C70AE183}" type="slidenum">
              <a:rPr lang="en-US" smtClean="0"/>
              <a:pPr/>
              <a:t>‹#›</a:t>
            </a:fld>
            <a:endParaRPr lang="en-US"/>
          </a:p>
        </p:txBody>
      </p:sp>
    </p:spTree>
    <p:extLst>
      <p:ext uri="{BB962C8B-B14F-4D97-AF65-F5344CB8AC3E}">
        <p14:creationId xmlns:p14="http://schemas.microsoft.com/office/powerpoint/2010/main" val="1578822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FE7BA5-9AA7-43A8-9EE5-C23B4ED60B7B}" type="slidenum">
              <a:rPr lang="en-US" altLang="en-US"/>
              <a:pPr/>
              <a:t>1</a:t>
            </a:fld>
            <a:endParaRPr lang="en-US" altLang="en-US"/>
          </a:p>
        </p:txBody>
      </p:sp>
    </p:spTree>
    <p:extLst>
      <p:ext uri="{BB962C8B-B14F-4D97-AF65-F5344CB8AC3E}">
        <p14:creationId xmlns:p14="http://schemas.microsoft.com/office/powerpoint/2010/main" val="1097325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26B768-9392-452C-87A9-0023C70AE183}" type="slidenum">
              <a:rPr lang="en-US" smtClean="0"/>
              <a:pPr/>
              <a:t>6</a:t>
            </a:fld>
            <a:endParaRPr lang="en-US"/>
          </a:p>
        </p:txBody>
      </p:sp>
    </p:spTree>
    <p:extLst>
      <p:ext uri="{BB962C8B-B14F-4D97-AF65-F5344CB8AC3E}">
        <p14:creationId xmlns:p14="http://schemas.microsoft.com/office/powerpoint/2010/main" val="3758349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26B768-9392-452C-87A9-0023C70AE183}" type="slidenum">
              <a:rPr lang="en-US" smtClean="0"/>
              <a:pPr/>
              <a:t>15</a:t>
            </a:fld>
            <a:endParaRPr lang="en-US"/>
          </a:p>
        </p:txBody>
      </p:sp>
    </p:spTree>
    <p:extLst>
      <p:ext uri="{BB962C8B-B14F-4D97-AF65-F5344CB8AC3E}">
        <p14:creationId xmlns:p14="http://schemas.microsoft.com/office/powerpoint/2010/main" val="4270355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91A6A3B-6462-4211-B64A-214C665F787E}" type="datetime1">
              <a:rPr lang="en-US" smtClean="0"/>
              <a:t>1/21/2026</a:t>
            </a:fld>
            <a:endParaRPr lang="en-US"/>
          </a:p>
        </p:txBody>
      </p:sp>
      <p:sp>
        <p:nvSpPr>
          <p:cNvPr id="5" name="Footer Placeholder 4"/>
          <p:cNvSpPr>
            <a:spLocks noGrp="1"/>
          </p:cNvSpPr>
          <p:nvPr>
            <p:ph type="ftr" sz="quarter" idx="11"/>
          </p:nvPr>
        </p:nvSpPr>
        <p:spPr/>
        <p:txBody>
          <a:bodyPr/>
          <a:lstStyle/>
          <a:p>
            <a:r>
              <a:rPr lang="en-US"/>
              <a:t>Dr. M. Venu Gopala Rao</a:t>
            </a:r>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87811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0829CC-0FE4-4182-8AD3-74616B7DD232}" type="datetime1">
              <a:rPr lang="en-US" smtClean="0"/>
              <a:t>1/21/2026</a:t>
            </a:fld>
            <a:endParaRPr lang="en-US"/>
          </a:p>
        </p:txBody>
      </p:sp>
      <p:sp>
        <p:nvSpPr>
          <p:cNvPr id="5" name="Footer Placeholder 4"/>
          <p:cNvSpPr>
            <a:spLocks noGrp="1"/>
          </p:cNvSpPr>
          <p:nvPr>
            <p:ph type="ftr" sz="quarter" idx="11"/>
          </p:nvPr>
        </p:nvSpPr>
        <p:spPr/>
        <p:txBody>
          <a:bodyPr/>
          <a:lstStyle/>
          <a:p>
            <a:r>
              <a:rPr lang="en-US"/>
              <a:t>Dr. M. Venu Gopala Rao</a:t>
            </a:r>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324841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106397-E2CE-4A96-BD9C-5C1ACB268E43}" type="datetime1">
              <a:rPr lang="en-US" smtClean="0"/>
              <a:t>1/21/2026</a:t>
            </a:fld>
            <a:endParaRPr lang="en-US"/>
          </a:p>
        </p:txBody>
      </p:sp>
      <p:sp>
        <p:nvSpPr>
          <p:cNvPr id="5" name="Footer Placeholder 4"/>
          <p:cNvSpPr>
            <a:spLocks noGrp="1"/>
          </p:cNvSpPr>
          <p:nvPr>
            <p:ph type="ftr" sz="quarter" idx="11"/>
          </p:nvPr>
        </p:nvSpPr>
        <p:spPr/>
        <p:txBody>
          <a:bodyPr/>
          <a:lstStyle/>
          <a:p>
            <a:r>
              <a:rPr lang="en-US"/>
              <a:t>Dr. M. Venu Gopala Rao</a:t>
            </a:r>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373935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5EBC3F-A003-415A-A436-98A7897CD9AE}" type="datetime1">
              <a:rPr lang="en-US" smtClean="0"/>
              <a:t>1/21/2026</a:t>
            </a:fld>
            <a:endParaRPr lang="en-US"/>
          </a:p>
        </p:txBody>
      </p:sp>
      <p:sp>
        <p:nvSpPr>
          <p:cNvPr id="6" name="Footer Placeholder 5"/>
          <p:cNvSpPr>
            <a:spLocks noGrp="1"/>
          </p:cNvSpPr>
          <p:nvPr>
            <p:ph type="ftr" sz="quarter" idx="11"/>
          </p:nvPr>
        </p:nvSpPr>
        <p:spPr/>
        <p:txBody>
          <a:bodyPr/>
          <a:lstStyle/>
          <a:p>
            <a:r>
              <a:rPr lang="en-US"/>
              <a:t>Dr. M. Venu Gopala Rao</a:t>
            </a:r>
          </a:p>
        </p:txBody>
      </p:sp>
      <p:sp>
        <p:nvSpPr>
          <p:cNvPr id="7" name="Slide Number Placeholder 6"/>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372386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067C99-257A-4CF3-95D1-B026262C8348}" type="datetime1">
              <a:rPr lang="en-US" smtClean="0"/>
              <a:t>1/21/2026</a:t>
            </a:fld>
            <a:endParaRPr lang="en-US"/>
          </a:p>
        </p:txBody>
      </p:sp>
      <p:sp>
        <p:nvSpPr>
          <p:cNvPr id="8" name="Footer Placeholder 7"/>
          <p:cNvSpPr>
            <a:spLocks noGrp="1"/>
          </p:cNvSpPr>
          <p:nvPr>
            <p:ph type="ftr" sz="quarter" idx="11"/>
          </p:nvPr>
        </p:nvSpPr>
        <p:spPr/>
        <p:txBody>
          <a:bodyPr/>
          <a:lstStyle/>
          <a:p>
            <a:r>
              <a:rPr lang="en-US"/>
              <a:t>Dr. M. Venu Gopala Rao</a:t>
            </a:r>
          </a:p>
        </p:txBody>
      </p:sp>
      <p:sp>
        <p:nvSpPr>
          <p:cNvPr id="9" name="Slide Number Placeholder 8"/>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477476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43BD92-1465-4907-97EC-9B282150C0CB}" type="datetime1">
              <a:rPr lang="en-US" smtClean="0"/>
              <a:t>1/21/2026</a:t>
            </a:fld>
            <a:endParaRPr lang="en-US"/>
          </a:p>
        </p:txBody>
      </p:sp>
      <p:sp>
        <p:nvSpPr>
          <p:cNvPr id="4" name="Footer Placeholder 3"/>
          <p:cNvSpPr>
            <a:spLocks noGrp="1"/>
          </p:cNvSpPr>
          <p:nvPr>
            <p:ph type="ftr" sz="quarter" idx="11"/>
          </p:nvPr>
        </p:nvSpPr>
        <p:spPr/>
        <p:txBody>
          <a:bodyPr/>
          <a:lstStyle/>
          <a:p>
            <a:r>
              <a:rPr lang="en-US"/>
              <a:t>Dr. M. Venu Gopala Rao</a:t>
            </a:r>
          </a:p>
        </p:txBody>
      </p:sp>
      <p:sp>
        <p:nvSpPr>
          <p:cNvPr id="5" name="Slide Number Placeholder 4"/>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78410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697969-D85A-4760-B447-C71518B8488D}" type="datetime1">
              <a:rPr lang="en-US" smtClean="0"/>
              <a:t>1/21/2026</a:t>
            </a:fld>
            <a:endParaRPr lang="en-US"/>
          </a:p>
        </p:txBody>
      </p:sp>
      <p:sp>
        <p:nvSpPr>
          <p:cNvPr id="3" name="Footer Placeholder 2"/>
          <p:cNvSpPr>
            <a:spLocks noGrp="1"/>
          </p:cNvSpPr>
          <p:nvPr>
            <p:ph type="ftr" sz="quarter" idx="11"/>
          </p:nvPr>
        </p:nvSpPr>
        <p:spPr/>
        <p:txBody>
          <a:bodyPr/>
          <a:lstStyle/>
          <a:p>
            <a:r>
              <a:rPr lang="en-US"/>
              <a:t>Dr. M. Venu Gopala Rao</a:t>
            </a:r>
          </a:p>
        </p:txBody>
      </p:sp>
      <p:sp>
        <p:nvSpPr>
          <p:cNvPr id="4" name="Slide Number Placeholder 3"/>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27789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09D76E3-3437-4F77-AD32-1679D18CC428}" type="datetime1">
              <a:rPr lang="en-US" smtClean="0"/>
              <a:t>1/21/2026</a:t>
            </a:fld>
            <a:endParaRPr lang="en-US"/>
          </a:p>
        </p:txBody>
      </p:sp>
      <p:sp>
        <p:nvSpPr>
          <p:cNvPr id="6" name="Footer Placeholder 5"/>
          <p:cNvSpPr>
            <a:spLocks noGrp="1"/>
          </p:cNvSpPr>
          <p:nvPr>
            <p:ph type="ftr" sz="quarter" idx="11"/>
          </p:nvPr>
        </p:nvSpPr>
        <p:spPr/>
        <p:txBody>
          <a:bodyPr/>
          <a:lstStyle/>
          <a:p>
            <a:r>
              <a:rPr lang="en-US"/>
              <a:t>Dr. M. Venu Gopala Rao</a:t>
            </a:r>
          </a:p>
        </p:txBody>
      </p:sp>
      <p:sp>
        <p:nvSpPr>
          <p:cNvPr id="7" name="Slide Number Placeholder 6"/>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040634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895FAD0-BD66-4D6D-B2F7-B523B1113C31}" type="datetime1">
              <a:rPr lang="en-US" smtClean="0"/>
              <a:t>1/21/2026</a:t>
            </a:fld>
            <a:endParaRPr lang="en-US"/>
          </a:p>
        </p:txBody>
      </p:sp>
      <p:sp>
        <p:nvSpPr>
          <p:cNvPr id="6" name="Footer Placeholder 5"/>
          <p:cNvSpPr>
            <a:spLocks noGrp="1"/>
          </p:cNvSpPr>
          <p:nvPr>
            <p:ph type="ftr" sz="quarter" idx="11"/>
          </p:nvPr>
        </p:nvSpPr>
        <p:spPr/>
        <p:txBody>
          <a:bodyPr/>
          <a:lstStyle/>
          <a:p>
            <a:r>
              <a:rPr lang="en-US"/>
              <a:t>Dr. M. Venu Gopala Rao</a:t>
            </a:r>
          </a:p>
        </p:txBody>
      </p:sp>
      <p:sp>
        <p:nvSpPr>
          <p:cNvPr id="7" name="Slide Number Placeholder 6"/>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4259632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4BFBF7-A873-4267-8609-504ED46E8F08}" type="datetime1">
              <a:rPr lang="en-US" smtClean="0"/>
              <a:t>1/21/2026</a:t>
            </a:fld>
            <a:endParaRPr lang="en-US"/>
          </a:p>
        </p:txBody>
      </p:sp>
      <p:sp>
        <p:nvSpPr>
          <p:cNvPr id="5" name="Footer Placeholder 4"/>
          <p:cNvSpPr>
            <a:spLocks noGrp="1"/>
          </p:cNvSpPr>
          <p:nvPr>
            <p:ph type="ftr" sz="quarter" idx="11"/>
          </p:nvPr>
        </p:nvSpPr>
        <p:spPr/>
        <p:txBody>
          <a:bodyPr/>
          <a:lstStyle/>
          <a:p>
            <a:r>
              <a:rPr lang="en-US"/>
              <a:t>Dr. M. Venu Gopala Rao</a:t>
            </a:r>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255132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9F5A8E-30DB-4CBB-A173-C232C80E0653}" type="datetime1">
              <a:rPr lang="en-US" smtClean="0"/>
              <a:t>1/21/2026</a:t>
            </a:fld>
            <a:endParaRPr lang="en-US"/>
          </a:p>
        </p:txBody>
      </p:sp>
      <p:sp>
        <p:nvSpPr>
          <p:cNvPr id="5" name="Footer Placeholder 4"/>
          <p:cNvSpPr>
            <a:spLocks noGrp="1"/>
          </p:cNvSpPr>
          <p:nvPr>
            <p:ph type="ftr" sz="quarter" idx="11"/>
          </p:nvPr>
        </p:nvSpPr>
        <p:spPr/>
        <p:txBody>
          <a:bodyPr/>
          <a:lstStyle/>
          <a:p>
            <a:r>
              <a:rPr lang="en-US"/>
              <a:t>Dr. M. Venu Gopala Rao</a:t>
            </a:r>
          </a:p>
        </p:txBody>
      </p:sp>
      <p:sp>
        <p:nvSpPr>
          <p:cNvPr id="6" name="Slide Number Placeholder 5"/>
          <p:cNvSpPr>
            <a:spLocks noGrp="1"/>
          </p:cNvSpPr>
          <p:nvPr>
            <p:ph type="sldNum" sz="quarter" idx="12"/>
          </p:nvPr>
        </p:nvSpPr>
        <p:spPr/>
        <p:txBody>
          <a:bodyPr/>
          <a:lstStyle/>
          <a:p>
            <a:fld id="{380BD17D-DFF1-4424-A2A6-FB2B3AFBDCDB}" type="slidenum">
              <a:rPr lang="en-US" smtClean="0"/>
              <a:pPr/>
              <a:t>‹#›</a:t>
            </a:fld>
            <a:endParaRPr lang="en-US"/>
          </a:p>
        </p:txBody>
      </p:sp>
    </p:spTree>
    <p:extLst>
      <p:ext uri="{BB962C8B-B14F-4D97-AF65-F5344CB8AC3E}">
        <p14:creationId xmlns:p14="http://schemas.microsoft.com/office/powerpoint/2010/main" val="1379696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5923FA-EF1E-4FBA-88E1-05300D38DFE3}" type="datetime1">
              <a:rPr lang="en-US" smtClean="0"/>
              <a:t>1/21/2026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0BD17D-DFF1-4424-A2A6-FB2B3AFBDCDB}" type="slidenum">
              <a:rPr lang="en-US" smtClean="0"/>
              <a:pPr/>
              <a:t>‹#›</a:t>
            </a:fld>
            <a:endParaRPr lang="en-US"/>
          </a:p>
        </p:txBody>
      </p:sp>
    </p:spTree>
    <p:extLst>
      <p:ext uri="{BB962C8B-B14F-4D97-AF65-F5344CB8AC3E}">
        <p14:creationId xmlns:p14="http://schemas.microsoft.com/office/powerpoint/2010/main" val="3002595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2209800" y="191959"/>
            <a:ext cx="7772400" cy="819237"/>
          </a:xfrm>
        </p:spPr>
        <p:txBody>
          <a:bodyPr>
            <a:normAutofit fontScale="90000"/>
          </a:bodyPr>
          <a:lstStyle/>
          <a:p>
            <a:r>
              <a:rPr lang="en-US" altLang="en-US" sz="5400" dirty="0">
                <a:solidFill>
                  <a:srgbClr val="3200C0"/>
                </a:solidFill>
                <a:latin typeface="Arial" panose="020B0604020202020204" pitchFamily="34" charset="0"/>
                <a:cs typeface="Arial" panose="020B0604020202020204" pitchFamily="34" charset="0"/>
              </a:rPr>
              <a:t>Digital Communication</a:t>
            </a:r>
          </a:p>
        </p:txBody>
      </p:sp>
      <p:sp>
        <p:nvSpPr>
          <p:cNvPr id="4100" name="TextBox 3"/>
          <p:cNvSpPr txBox="1">
            <a:spLocks noChangeArrowheads="1"/>
          </p:cNvSpPr>
          <p:nvPr/>
        </p:nvSpPr>
        <p:spPr bwMode="auto">
          <a:xfrm>
            <a:off x="1752600" y="2547937"/>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000" dirty="0">
                <a:solidFill>
                  <a:srgbClr val="FF0000"/>
                </a:solidFill>
              </a:rPr>
              <a:t>Line Coding</a:t>
            </a:r>
            <a:endParaRPr lang="en-US" altLang="en-US" sz="4000" dirty="0"/>
          </a:p>
        </p:txBody>
      </p:sp>
      <p:sp>
        <p:nvSpPr>
          <p:cNvPr id="3" name="Subtitle 2">
            <a:extLst>
              <a:ext uri="{FF2B5EF4-FFF2-40B4-BE49-F238E27FC236}">
                <a16:creationId xmlns:a16="http://schemas.microsoft.com/office/drawing/2014/main" id="{52C56083-05FC-DF86-1EF6-98C01D9BD193}"/>
              </a:ext>
            </a:extLst>
          </p:cNvPr>
          <p:cNvSpPr>
            <a:spLocks noGrp="1"/>
          </p:cNvSpPr>
          <p:nvPr>
            <p:ph type="subTitle" idx="1"/>
          </p:nvPr>
        </p:nvSpPr>
        <p:spPr/>
        <p:txBody>
          <a:bodyPr/>
          <a:lstStyle/>
          <a:p>
            <a:endParaRPr lang="en-IN"/>
          </a:p>
        </p:txBody>
      </p:sp>
      <p:sp>
        <p:nvSpPr>
          <p:cNvPr id="4" name="Date Placeholder 3">
            <a:extLst>
              <a:ext uri="{FF2B5EF4-FFF2-40B4-BE49-F238E27FC236}">
                <a16:creationId xmlns:a16="http://schemas.microsoft.com/office/drawing/2014/main" id="{0B772013-0863-C088-CFDB-55063698FBB0}"/>
              </a:ext>
            </a:extLst>
          </p:cNvPr>
          <p:cNvSpPr>
            <a:spLocks noGrp="1"/>
          </p:cNvSpPr>
          <p:nvPr>
            <p:ph type="dt" sz="half" idx="10"/>
          </p:nvPr>
        </p:nvSpPr>
        <p:spPr/>
        <p:txBody>
          <a:bodyPr/>
          <a:lstStyle/>
          <a:p>
            <a:fld id="{67919305-8515-4607-9C86-4FA7695CB138}" type="datetime1">
              <a:rPr lang="en-US" smtClean="0"/>
              <a:t>1/21/2026</a:t>
            </a:fld>
            <a:endParaRPr lang="en-US"/>
          </a:p>
        </p:txBody>
      </p:sp>
    </p:spTree>
    <p:extLst>
      <p:ext uri="{BB962C8B-B14F-4D97-AF65-F5344CB8AC3E}">
        <p14:creationId xmlns:p14="http://schemas.microsoft.com/office/powerpoint/2010/main" val="2763291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7E57-2A4D-C608-0263-EE5FD71731D7}"/>
              </a:ext>
            </a:extLst>
          </p:cNvPr>
          <p:cNvSpPr>
            <a:spLocks noGrp="1"/>
          </p:cNvSpPr>
          <p:nvPr>
            <p:ph type="title"/>
          </p:nvPr>
        </p:nvSpPr>
        <p:spPr>
          <a:xfrm>
            <a:off x="838200" y="136526"/>
            <a:ext cx="10515600" cy="1062080"/>
          </a:xfrm>
        </p:spPr>
        <p:txBody>
          <a:bodyPr>
            <a:normAutofit/>
          </a:bodyPr>
          <a:lstStyle/>
          <a:p>
            <a:pPr algn="ctr"/>
            <a:r>
              <a:rPr lang="en-US" sz="3600" b="1" kern="1200" dirty="0">
                <a:solidFill>
                  <a:srgbClr val="1A0FFD"/>
                </a:solidFill>
                <a:effectLst/>
                <a:latin typeface="Arial" panose="020B0604020202020204" pitchFamily="34" charset="0"/>
                <a:ea typeface="Times New Roman" panose="02020603050405020304" pitchFamily="18" charset="0"/>
              </a:rPr>
              <a:t>Binary Base-band data transmission System</a:t>
            </a:r>
            <a:endParaRPr lang="en-IN" sz="3600" dirty="0">
              <a:solidFill>
                <a:srgbClr val="1A0FFD"/>
              </a:solidFill>
            </a:endParaRPr>
          </a:p>
        </p:txBody>
      </p:sp>
      <p:sp>
        <p:nvSpPr>
          <p:cNvPr id="4" name="Date Placeholder 3">
            <a:extLst>
              <a:ext uri="{FF2B5EF4-FFF2-40B4-BE49-F238E27FC236}">
                <a16:creationId xmlns:a16="http://schemas.microsoft.com/office/drawing/2014/main" id="{9054A977-8504-86D0-A0B4-80E1241BE9B8}"/>
              </a:ext>
            </a:extLst>
          </p:cNvPr>
          <p:cNvSpPr>
            <a:spLocks noGrp="1"/>
          </p:cNvSpPr>
          <p:nvPr>
            <p:ph type="dt" sz="half" idx="10"/>
          </p:nvPr>
        </p:nvSpPr>
        <p:spPr/>
        <p:txBody>
          <a:bodyPr/>
          <a:lstStyle/>
          <a:p>
            <a:fld id="{D084760D-545A-4852-8B1A-F80255DF30A2}" type="datetime1">
              <a:rPr lang="en-US" smtClean="0"/>
              <a:t>1/21/2026</a:t>
            </a:fld>
            <a:endParaRPr lang="en-US"/>
          </a:p>
        </p:txBody>
      </p:sp>
      <p:pic>
        <p:nvPicPr>
          <p:cNvPr id="16" name="Picture 15">
            <a:extLst>
              <a:ext uri="{FF2B5EF4-FFF2-40B4-BE49-F238E27FC236}">
                <a16:creationId xmlns:a16="http://schemas.microsoft.com/office/drawing/2014/main" id="{1E957D2C-3FCF-FCEE-EAB9-F7B696F0A727}"/>
              </a:ext>
            </a:extLst>
          </p:cNvPr>
          <p:cNvPicPr>
            <a:picLocks noChangeAspect="1"/>
          </p:cNvPicPr>
          <p:nvPr/>
        </p:nvPicPr>
        <p:blipFill>
          <a:blip r:embed="rId2"/>
          <a:stretch>
            <a:fillRect/>
          </a:stretch>
        </p:blipFill>
        <p:spPr>
          <a:xfrm>
            <a:off x="0" y="2221234"/>
            <a:ext cx="12192000" cy="2440249"/>
          </a:xfrm>
          <a:prstGeom prst="rect">
            <a:avLst/>
          </a:prstGeom>
        </p:spPr>
      </p:pic>
      <p:sp>
        <p:nvSpPr>
          <p:cNvPr id="3" name="Oval 2">
            <a:extLst>
              <a:ext uri="{FF2B5EF4-FFF2-40B4-BE49-F238E27FC236}">
                <a16:creationId xmlns:a16="http://schemas.microsoft.com/office/drawing/2014/main" id="{9198786B-E276-0C08-BD17-B50FD26588F6}"/>
              </a:ext>
            </a:extLst>
          </p:cNvPr>
          <p:cNvSpPr/>
          <p:nvPr/>
        </p:nvSpPr>
        <p:spPr>
          <a:xfrm>
            <a:off x="1964724" y="2298356"/>
            <a:ext cx="1260390" cy="123567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8090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218"/>
            <a:ext cx="10515600" cy="842351"/>
          </a:xfrm>
        </p:spPr>
        <p:txBody>
          <a:bodyPr/>
          <a:lstStyle/>
          <a:p>
            <a:pPr algn="ctr"/>
            <a:r>
              <a:rPr lang="en-US" dirty="0">
                <a:solidFill>
                  <a:srgbClr val="FF0000"/>
                </a:solidFill>
                <a:latin typeface="Arial" panose="020B0604020202020204" pitchFamily="34" charset="0"/>
                <a:cs typeface="Arial" panose="020B0604020202020204" pitchFamily="34" charset="0"/>
              </a:rPr>
              <a:t>Line coding</a:t>
            </a:r>
          </a:p>
        </p:txBody>
      </p:sp>
      <p:sp>
        <p:nvSpPr>
          <p:cNvPr id="4" name="Rectangle 3"/>
          <p:cNvSpPr>
            <a:spLocks noGrp="1" noChangeArrowheads="1"/>
          </p:cNvSpPr>
          <p:nvPr>
            <p:ph idx="1"/>
          </p:nvPr>
        </p:nvSpPr>
        <p:spPr bwMode="auto">
          <a:xfrm>
            <a:off x="257175" y="949325"/>
            <a:ext cx="11723688" cy="5721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Char char="Ø"/>
            </a:pPr>
            <a:r>
              <a:rPr lang="en-US" dirty="0">
                <a:solidFill>
                  <a:srgbClr val="0404EC"/>
                </a:solidFill>
                <a:latin typeface="Arial" panose="020B0604020202020204" pitchFamily="34" charset="0"/>
                <a:cs typeface="Arial" panose="020B0604020202020204" pitchFamily="34" charset="0"/>
              </a:rPr>
              <a:t>PCM, DM, and DPCM converted analog signals into digital form. </a:t>
            </a:r>
          </a:p>
          <a:p>
            <a:pPr>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Once a binary sequence of 1s and 0s is produced, a </a:t>
            </a:r>
            <a:r>
              <a:rPr lang="en-US" i="1" dirty="0">
                <a:solidFill>
                  <a:srgbClr val="FF0000"/>
                </a:solidFill>
                <a:latin typeface="Arial" panose="020B0604020202020204" pitchFamily="34" charset="0"/>
                <a:cs typeface="Arial" panose="020B0604020202020204" pitchFamily="34" charset="0"/>
              </a:rPr>
              <a:t>line code </a:t>
            </a:r>
            <a:r>
              <a:rPr lang="en-US" dirty="0">
                <a:solidFill>
                  <a:srgbClr val="FF0000"/>
                </a:solidFill>
                <a:latin typeface="Arial" panose="020B0604020202020204" pitchFamily="34" charset="0"/>
                <a:cs typeface="Arial" panose="020B0604020202020204" pitchFamily="34" charset="0"/>
              </a:rPr>
              <a:t>is needed for electrical representation of that binary sequence. </a:t>
            </a:r>
          </a:p>
          <a:p>
            <a:pPr>
              <a:buFont typeface="Wingdings" panose="05000000000000000000" pitchFamily="2" charset="2"/>
              <a:buChar char="Ø"/>
            </a:pPr>
            <a:r>
              <a:rPr lang="en-US" dirty="0">
                <a:solidFill>
                  <a:srgbClr val="178F03"/>
                </a:solidFill>
                <a:latin typeface="Arial" panose="020B0604020202020204" pitchFamily="34" charset="0"/>
                <a:cs typeface="Arial" panose="020B0604020202020204" pitchFamily="34" charset="0"/>
              </a:rPr>
              <a:t>There are several line codes that can be used for this representation.</a:t>
            </a:r>
            <a:endParaRPr lang="en-US" altLang="en-US" dirty="0">
              <a:solidFill>
                <a:srgbClr val="178F03"/>
              </a:solidFill>
              <a:latin typeface="Arial" panose="020B0604020202020204" pitchFamily="34" charset="0"/>
              <a:cs typeface="Arial" panose="020B0604020202020204" pitchFamily="34" charset="0"/>
            </a:endParaRPr>
          </a:p>
        </p:txBody>
      </p:sp>
      <p:pic>
        <p:nvPicPr>
          <p:cNvPr id="5"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3054" y="3184281"/>
            <a:ext cx="9922574" cy="304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2F9BF7BF-53C2-427D-8573-41B0467D1065}"/>
              </a:ext>
            </a:extLst>
          </p:cNvPr>
          <p:cNvSpPr>
            <a:spLocks noGrp="1"/>
          </p:cNvSpPr>
          <p:nvPr>
            <p:ph type="dt" sz="half" idx="10"/>
          </p:nvPr>
        </p:nvSpPr>
        <p:spPr/>
        <p:txBody>
          <a:bodyPr/>
          <a:lstStyle/>
          <a:p>
            <a:fld id="{C9B9B4B0-8E12-4C67-9752-8DB699C3F429}" type="datetime1">
              <a:rPr lang="en-US" smtClean="0"/>
              <a:t>1/21/2026</a:t>
            </a:fld>
            <a:endParaRPr lang="en-US"/>
          </a:p>
        </p:txBody>
      </p:sp>
    </p:spTree>
    <p:extLst>
      <p:ext uri="{BB962C8B-B14F-4D97-AF65-F5344CB8AC3E}">
        <p14:creationId xmlns:p14="http://schemas.microsoft.com/office/powerpoint/2010/main" val="306191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down)">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308" y="0"/>
            <a:ext cx="10515600" cy="760290"/>
          </a:xfrm>
        </p:spPr>
        <p:txBody>
          <a:bodyPr>
            <a:normAutofit/>
          </a:bodyPr>
          <a:lstStyle/>
          <a:p>
            <a:r>
              <a:rPr lang="en-US" sz="3600" dirty="0">
                <a:solidFill>
                  <a:srgbClr val="FF0000"/>
                </a:solidFill>
                <a:latin typeface="Arial" pitchFamily="34" charset="0"/>
                <a:cs typeface="Arial" pitchFamily="34" charset="0"/>
              </a:rPr>
              <a:t>Line Codes</a:t>
            </a:r>
          </a:p>
        </p:txBody>
      </p:sp>
      <p:sp>
        <p:nvSpPr>
          <p:cNvPr id="3" name="Content Placeholder 2"/>
          <p:cNvSpPr>
            <a:spLocks noGrp="1"/>
          </p:cNvSpPr>
          <p:nvPr>
            <p:ph idx="1"/>
          </p:nvPr>
        </p:nvSpPr>
        <p:spPr>
          <a:xfrm>
            <a:off x="339969" y="902677"/>
            <a:ext cx="11605845" cy="5274286"/>
          </a:xfrm>
        </p:spPr>
        <p:txBody>
          <a:bodyPr/>
          <a:lstStyle/>
          <a:p>
            <a:r>
              <a:rPr lang="en-US" dirty="0">
                <a:solidFill>
                  <a:srgbClr val="FF0000"/>
                </a:solidFill>
                <a:latin typeface="Arial" pitchFamily="34" charset="0"/>
                <a:cs typeface="Arial" pitchFamily="34" charset="0"/>
              </a:rPr>
              <a:t>Binary digits (or bits) “0” and “1” are used simply to represent the information content. </a:t>
            </a:r>
          </a:p>
          <a:p>
            <a:r>
              <a:rPr lang="en-US" dirty="0">
                <a:solidFill>
                  <a:srgbClr val="0404EC"/>
                </a:solidFill>
                <a:latin typeface="Arial" pitchFamily="34" charset="0"/>
                <a:cs typeface="Arial" pitchFamily="34" charset="0"/>
              </a:rPr>
              <a:t>They are abstract (intangible) quantities and need to be converted into electrical waveforms for effective transmission or storage.</a:t>
            </a:r>
          </a:p>
          <a:p>
            <a:r>
              <a:rPr lang="en-US" dirty="0">
                <a:latin typeface="Arial" pitchFamily="34" charset="0"/>
                <a:cs typeface="Arial" pitchFamily="34" charset="0"/>
              </a:rPr>
              <a:t>There are several line codes that can be used for this representation, as summarized here.</a:t>
            </a:r>
          </a:p>
        </p:txBody>
      </p:sp>
      <p:pic>
        <p:nvPicPr>
          <p:cNvPr id="4" name="Picture 3"/>
          <p:cNvPicPr>
            <a:picLocks noChangeAspect="1"/>
          </p:cNvPicPr>
          <p:nvPr/>
        </p:nvPicPr>
        <p:blipFill>
          <a:blip r:embed="rId2" cstate="print"/>
          <a:stretch>
            <a:fillRect/>
          </a:stretch>
        </p:blipFill>
        <p:spPr>
          <a:xfrm>
            <a:off x="29892" y="3943624"/>
            <a:ext cx="12038432" cy="2375726"/>
          </a:xfrm>
          <a:prstGeom prst="rect">
            <a:avLst/>
          </a:prstGeom>
        </p:spPr>
      </p:pic>
      <p:sp>
        <p:nvSpPr>
          <p:cNvPr id="5" name="Date Placeholder 4">
            <a:extLst>
              <a:ext uri="{FF2B5EF4-FFF2-40B4-BE49-F238E27FC236}">
                <a16:creationId xmlns:a16="http://schemas.microsoft.com/office/drawing/2014/main" id="{7A39B422-FF10-E1B5-9025-27D7564BE2D7}"/>
              </a:ext>
            </a:extLst>
          </p:cNvPr>
          <p:cNvSpPr>
            <a:spLocks noGrp="1"/>
          </p:cNvSpPr>
          <p:nvPr>
            <p:ph type="dt" sz="half" idx="10"/>
          </p:nvPr>
        </p:nvSpPr>
        <p:spPr/>
        <p:txBody>
          <a:bodyPr/>
          <a:lstStyle/>
          <a:p>
            <a:fld id="{37B840DE-C6A3-4608-B655-404050ED4B12}" type="datetime1">
              <a:rPr lang="en-US" smtClean="0"/>
              <a:t>1/21/2026</a:t>
            </a:fld>
            <a:endParaRPr lang="en-US"/>
          </a:p>
        </p:txBody>
      </p:sp>
    </p:spTree>
    <p:extLst>
      <p:ext uri="{BB962C8B-B14F-4D97-AF65-F5344CB8AC3E}">
        <p14:creationId xmlns:p14="http://schemas.microsoft.com/office/powerpoint/2010/main" val="1008668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7F8E-D297-96A7-8DCA-0F004533CDAD}"/>
              </a:ext>
            </a:extLst>
          </p:cNvPr>
          <p:cNvSpPr>
            <a:spLocks noGrp="1"/>
          </p:cNvSpPr>
          <p:nvPr>
            <p:ph type="title"/>
          </p:nvPr>
        </p:nvSpPr>
        <p:spPr>
          <a:xfrm>
            <a:off x="269787" y="105629"/>
            <a:ext cx="10515600" cy="573988"/>
          </a:xfrm>
        </p:spPr>
        <p:txBody>
          <a:bodyPr>
            <a:normAutofit fontScale="90000"/>
          </a:bodyPr>
          <a:lstStyle/>
          <a:p>
            <a:r>
              <a:rPr lang="en-IN" sz="3600" dirty="0">
                <a:solidFill>
                  <a:srgbClr val="1A0FFD"/>
                </a:solidFill>
                <a:latin typeface="Arial" panose="020B0604020202020204" pitchFamily="34" charset="0"/>
                <a:cs typeface="Arial" panose="020B0604020202020204" pitchFamily="34" charset="0"/>
              </a:rPr>
              <a:t>Desirable Properties for Line Codes</a:t>
            </a:r>
            <a:r>
              <a:rPr lang="en-IN" dirty="0">
                <a:solidFill>
                  <a:srgbClr val="1A0FFD"/>
                </a:solidFill>
              </a:rPr>
              <a:t> </a:t>
            </a:r>
          </a:p>
        </p:txBody>
      </p:sp>
      <p:sp>
        <p:nvSpPr>
          <p:cNvPr id="3" name="Content Placeholder 2">
            <a:extLst>
              <a:ext uri="{FF2B5EF4-FFF2-40B4-BE49-F238E27FC236}">
                <a16:creationId xmlns:a16="http://schemas.microsoft.com/office/drawing/2014/main" id="{6D7D7673-6820-5366-AAFD-2227669895A3}"/>
              </a:ext>
            </a:extLst>
          </p:cNvPr>
          <p:cNvSpPr>
            <a:spLocks noGrp="1"/>
          </p:cNvSpPr>
          <p:nvPr>
            <p:ph idx="1"/>
          </p:nvPr>
        </p:nvSpPr>
        <p:spPr>
          <a:xfrm>
            <a:off x="269787" y="939114"/>
            <a:ext cx="11481489" cy="5237849"/>
          </a:xfrm>
        </p:spPr>
        <p:txBody>
          <a:bodyPr>
            <a:normAutofit/>
          </a:bodyPr>
          <a:lstStyle/>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Transmission Bandwidth</a:t>
            </a:r>
            <a:r>
              <a:rPr lang="en-US" dirty="0">
                <a:latin typeface="Arial" panose="020B0604020202020204" pitchFamily="34" charset="0"/>
                <a:cs typeface="Arial" panose="020B0604020202020204" pitchFamily="34" charset="0"/>
              </a:rPr>
              <a:t>: as small as possible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Power Efficiency</a:t>
            </a:r>
            <a:r>
              <a:rPr lang="en-US" dirty="0">
                <a:latin typeface="Arial" panose="020B0604020202020204" pitchFamily="34" charset="0"/>
                <a:cs typeface="Arial" panose="020B0604020202020204" pitchFamily="34" charset="0"/>
              </a:rPr>
              <a:t>: As small as possible for given BW and probability of error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Error Detection and Correction capability</a:t>
            </a:r>
            <a:r>
              <a:rPr lang="en-US" dirty="0">
                <a:latin typeface="Arial" panose="020B0604020202020204" pitchFamily="34" charset="0"/>
                <a:cs typeface="Arial" panose="020B0604020202020204" pitchFamily="34" charset="0"/>
              </a:rPr>
              <a:t>: Ex: Bipolar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Favorable power spectral density</a:t>
            </a:r>
            <a:r>
              <a:rPr lang="en-US" dirty="0">
                <a:latin typeface="Arial" panose="020B0604020202020204" pitchFamily="34" charset="0"/>
                <a:cs typeface="Arial" panose="020B0604020202020204" pitchFamily="34" charset="0"/>
              </a:rPr>
              <a:t>: dc=0 </a:t>
            </a:r>
          </a:p>
          <a:p>
            <a:pPr>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Adequate timing content</a:t>
            </a:r>
            <a:r>
              <a:rPr lang="en-US" dirty="0">
                <a:latin typeface="Arial" panose="020B0604020202020204" pitchFamily="34" charset="0"/>
                <a:cs typeface="Arial" panose="020B0604020202020204" pitchFamily="34" charset="0"/>
              </a:rPr>
              <a:t>: Extract timing from pulses </a:t>
            </a:r>
          </a:p>
          <a:p>
            <a:pPr>
              <a:lnSpc>
                <a:spcPct val="150000"/>
              </a:lnSpc>
              <a:buFont typeface="Wingdings" panose="05000000000000000000" pitchFamily="2" charset="2"/>
              <a:buChar char="Ø"/>
            </a:pPr>
            <a:r>
              <a:rPr lang="en-US" dirty="0">
                <a:solidFill>
                  <a:srgbClr val="FF0000"/>
                </a:solidFill>
                <a:latin typeface="Arial" panose="020B0604020202020204" pitchFamily="34" charset="0"/>
                <a:cs typeface="Arial" panose="020B0604020202020204" pitchFamily="34" charset="0"/>
              </a:rPr>
              <a:t>Transparency:</a:t>
            </a:r>
            <a:r>
              <a:rPr lang="en-US" dirty="0">
                <a:latin typeface="Arial" panose="020B0604020202020204" pitchFamily="34" charset="0"/>
                <a:cs typeface="Arial" panose="020B0604020202020204" pitchFamily="34" charset="0"/>
              </a:rPr>
              <a:t> Prevent long strings of 0s or 1s</a:t>
            </a:r>
            <a:endParaRPr lang="en-IN"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F75B5E8D-B0FC-CE3D-5F24-41967D47BCD2}"/>
              </a:ext>
            </a:extLst>
          </p:cNvPr>
          <p:cNvSpPr>
            <a:spLocks noGrp="1"/>
          </p:cNvSpPr>
          <p:nvPr>
            <p:ph type="dt" sz="half" idx="10"/>
          </p:nvPr>
        </p:nvSpPr>
        <p:spPr/>
        <p:txBody>
          <a:bodyPr/>
          <a:lstStyle/>
          <a:p>
            <a:fld id="{BC4E3B8B-7020-406C-BA07-D1C4F65867BB}" type="datetime1">
              <a:rPr lang="en-US" smtClean="0"/>
              <a:t>1/21/2026</a:t>
            </a:fld>
            <a:endParaRPr lang="en-US"/>
          </a:p>
        </p:txBody>
      </p:sp>
    </p:spTree>
    <p:extLst>
      <p:ext uri="{BB962C8B-B14F-4D97-AF65-F5344CB8AC3E}">
        <p14:creationId xmlns:p14="http://schemas.microsoft.com/office/powerpoint/2010/main" val="187094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B441-AB94-3B2B-6029-EB43F5162023}"/>
              </a:ext>
            </a:extLst>
          </p:cNvPr>
          <p:cNvSpPr>
            <a:spLocks noGrp="1"/>
          </p:cNvSpPr>
          <p:nvPr>
            <p:ph type="title"/>
          </p:nvPr>
        </p:nvSpPr>
        <p:spPr>
          <a:xfrm>
            <a:off x="368644" y="167416"/>
            <a:ext cx="10515600" cy="685199"/>
          </a:xfrm>
        </p:spPr>
        <p:txBody>
          <a:bodyPr>
            <a:normAutofit/>
          </a:bodyPr>
          <a:lstStyle/>
          <a:p>
            <a:r>
              <a:rPr lang="en-IN" sz="3600" dirty="0">
                <a:solidFill>
                  <a:srgbClr val="1A0FFD"/>
                </a:solidFill>
                <a:latin typeface="Arial" panose="020B0604020202020204" pitchFamily="34" charset="0"/>
                <a:cs typeface="Arial" panose="020B0604020202020204" pitchFamily="34" charset="0"/>
              </a:rPr>
              <a:t>Applications of Line Coding</a:t>
            </a:r>
          </a:p>
        </p:txBody>
      </p:sp>
      <p:sp>
        <p:nvSpPr>
          <p:cNvPr id="3" name="Content Placeholder 2">
            <a:extLst>
              <a:ext uri="{FF2B5EF4-FFF2-40B4-BE49-F238E27FC236}">
                <a16:creationId xmlns:a16="http://schemas.microsoft.com/office/drawing/2014/main" id="{E95CD7F7-1415-64F6-0AB6-D20BC4C7F406}"/>
              </a:ext>
            </a:extLst>
          </p:cNvPr>
          <p:cNvSpPr>
            <a:spLocks noGrp="1"/>
          </p:cNvSpPr>
          <p:nvPr>
            <p:ph idx="1"/>
          </p:nvPr>
        </p:nvSpPr>
        <p:spPr>
          <a:xfrm>
            <a:off x="494270" y="1161535"/>
            <a:ext cx="10859530" cy="5015428"/>
          </a:xfrm>
        </p:spPr>
        <p:txBody>
          <a:bodyPr/>
          <a:lstStyle/>
          <a:p>
            <a:pPr>
              <a:buFont typeface="Wingdings" panose="05000000000000000000" pitchFamily="2" charset="2"/>
              <a:buChar char="Ø"/>
            </a:pPr>
            <a:r>
              <a:rPr lang="en-IN" dirty="0">
                <a:latin typeface="Arial" panose="020B0604020202020204" pitchFamily="34" charset="0"/>
                <a:cs typeface="Arial" panose="020B0604020202020204" pitchFamily="34" charset="0"/>
              </a:rPr>
              <a:t>NRZ encoding: RS232 based protocols </a:t>
            </a:r>
          </a:p>
          <a:p>
            <a:pP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dirty="0">
                <a:latin typeface="Arial" panose="020B0604020202020204" pitchFamily="34" charset="0"/>
                <a:cs typeface="Arial" panose="020B0604020202020204" pitchFamily="34" charset="0"/>
              </a:rPr>
              <a:t> Manchester encoding: Ethernet networks  </a:t>
            </a:r>
          </a:p>
          <a:p>
            <a:pP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dirty="0">
                <a:latin typeface="Arial" panose="020B0604020202020204" pitchFamily="34" charset="0"/>
                <a:cs typeface="Arial" panose="020B0604020202020204" pitchFamily="34" charset="0"/>
              </a:rPr>
              <a:t>Differential Manchester encoding: token-ring networks  </a:t>
            </a:r>
          </a:p>
          <a:p>
            <a:pP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dirty="0">
                <a:latin typeface="Arial" panose="020B0604020202020204" pitchFamily="34" charset="0"/>
                <a:cs typeface="Arial" panose="020B0604020202020204" pitchFamily="34" charset="0"/>
              </a:rPr>
              <a:t>NRZ-Inverted encoding: Fiber Distributed Data Interface (FDDI)</a:t>
            </a:r>
          </a:p>
        </p:txBody>
      </p:sp>
      <p:sp>
        <p:nvSpPr>
          <p:cNvPr id="4" name="Date Placeholder 3">
            <a:extLst>
              <a:ext uri="{FF2B5EF4-FFF2-40B4-BE49-F238E27FC236}">
                <a16:creationId xmlns:a16="http://schemas.microsoft.com/office/drawing/2014/main" id="{5E6B40EF-AF47-D8B3-D871-8090637792ED}"/>
              </a:ext>
            </a:extLst>
          </p:cNvPr>
          <p:cNvSpPr>
            <a:spLocks noGrp="1"/>
          </p:cNvSpPr>
          <p:nvPr>
            <p:ph type="dt" sz="half" idx="10"/>
          </p:nvPr>
        </p:nvSpPr>
        <p:spPr/>
        <p:txBody>
          <a:bodyPr/>
          <a:lstStyle/>
          <a:p>
            <a:fld id="{3046B5CA-FB5E-4D8A-A640-903D205C43D9}" type="datetime1">
              <a:rPr lang="en-US" smtClean="0"/>
              <a:t>1/21/2026</a:t>
            </a:fld>
            <a:endParaRPr lang="en-US"/>
          </a:p>
        </p:txBody>
      </p:sp>
    </p:spTree>
    <p:extLst>
      <p:ext uri="{BB962C8B-B14F-4D97-AF65-F5344CB8AC3E}">
        <p14:creationId xmlns:p14="http://schemas.microsoft.com/office/powerpoint/2010/main" val="72609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arn(inVertic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88C5FB8-C3D9-ECC9-5E3A-ED9CFE6AA3F1}"/>
              </a:ext>
            </a:extLst>
          </p:cNvPr>
          <p:cNvSpPr txBox="1"/>
          <p:nvPr/>
        </p:nvSpPr>
        <p:spPr>
          <a:xfrm>
            <a:off x="172994" y="814052"/>
            <a:ext cx="12019005" cy="1938992"/>
          </a:xfrm>
          <a:prstGeom prst="rect">
            <a:avLst/>
          </a:prstGeom>
          <a:noFill/>
        </p:spPr>
        <p:txBody>
          <a:bodyPr wrap="square">
            <a:spAutoFit/>
          </a:bodyPr>
          <a:lstStyle/>
          <a:p>
            <a:pPr marL="285750" indent="-285750">
              <a:buFont typeface="Wingdings" panose="05000000000000000000" pitchFamily="2" charset="2"/>
              <a:buChar char="Ø"/>
            </a:pPr>
            <a:r>
              <a:rPr lang="en-US" sz="2400" b="0" i="0" dirty="0">
                <a:solidFill>
                  <a:srgbClr val="6C6C6C"/>
                </a:solidFill>
                <a:effectLst/>
                <a:latin typeface="Arial" panose="020B0604020202020204" pitchFamily="34" charset="0"/>
              </a:rPr>
              <a:t> </a:t>
            </a:r>
            <a:r>
              <a:rPr lang="en-US" sz="2400" b="0" i="0" dirty="0">
                <a:solidFill>
                  <a:srgbClr val="6C6C6C"/>
                </a:solidFill>
                <a:effectLst/>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ymbol 1 is represented by transmitting a pulse of amplitude A for the duration of the symbol, and symbol 0 is represented by switching off the pulse.</a:t>
            </a:r>
            <a:endParaRPr lang="en-US" sz="2400" dirty="0">
              <a:solidFill>
                <a:srgbClr val="1A0FFD"/>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Ø"/>
            </a:pPr>
            <a:r>
              <a:rPr lang="en-US" sz="2400" b="0" i="0" dirty="0">
                <a:solidFill>
                  <a:srgbClr val="FF0000"/>
                </a:solidFill>
                <a:effectLst/>
                <a:latin typeface="Arial" panose="020B0604020202020204" pitchFamily="34" charset="0"/>
              </a:rPr>
              <a:t>The oldest unipolar line coding schemes are </a:t>
            </a:r>
            <a:r>
              <a:rPr lang="en-US" sz="2400" b="0" i="1" dirty="0">
                <a:solidFill>
                  <a:srgbClr val="FF0000"/>
                </a:solidFill>
                <a:effectLst/>
                <a:latin typeface="Arial" panose="020B0604020202020204" pitchFamily="34" charset="0"/>
              </a:rPr>
              <a:t>non-return-to-zero</a:t>
            </a:r>
            <a:r>
              <a:rPr lang="en-US" sz="2400" b="0" i="0" dirty="0">
                <a:solidFill>
                  <a:srgbClr val="FF0000"/>
                </a:solidFill>
                <a:effectLst/>
                <a:latin typeface="Arial" panose="020B0604020202020204" pitchFamily="34" charset="0"/>
              </a:rPr>
              <a:t> (NRZ) schemes in which the signal does not return to zero in the middle of the bit time. </a:t>
            </a:r>
          </a:p>
          <a:p>
            <a:pPr marL="285750" indent="-285750">
              <a:buFont typeface="Wingdings" panose="05000000000000000000" pitchFamily="2" charset="2"/>
              <a:buChar char="Ø"/>
            </a:pPr>
            <a:r>
              <a:rPr lang="en-US" sz="2400" dirty="0">
                <a:solidFill>
                  <a:srgbClr val="1A0FFD"/>
                </a:solidFill>
                <a:latin typeface="Arial" panose="020B0604020202020204" pitchFamily="34" charset="0"/>
                <a:cs typeface="Arial" panose="020B0604020202020204" pitchFamily="34" charset="0"/>
              </a:rPr>
              <a:t>Unipolar encoding uses only one voltage level.</a:t>
            </a:r>
            <a:endParaRPr lang="en-US" sz="2400" b="0" i="0" dirty="0">
              <a:solidFill>
                <a:srgbClr val="6C6C6C"/>
              </a:solidFill>
              <a:effectLst/>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DAA3853-7389-6009-098C-B1A56269C725}"/>
              </a:ext>
            </a:extLst>
          </p:cNvPr>
          <p:cNvPicPr>
            <a:picLocks noChangeAspect="1"/>
          </p:cNvPicPr>
          <p:nvPr/>
        </p:nvPicPr>
        <p:blipFill>
          <a:blip r:embed="rId2"/>
          <a:stretch>
            <a:fillRect/>
          </a:stretch>
        </p:blipFill>
        <p:spPr>
          <a:xfrm>
            <a:off x="548201" y="2846894"/>
            <a:ext cx="11035831" cy="3825755"/>
          </a:xfrm>
          <a:prstGeom prst="rect">
            <a:avLst/>
          </a:prstGeom>
        </p:spPr>
      </p:pic>
      <p:sp>
        <p:nvSpPr>
          <p:cNvPr id="10" name="Title 1">
            <a:extLst>
              <a:ext uri="{FF2B5EF4-FFF2-40B4-BE49-F238E27FC236}">
                <a16:creationId xmlns:a16="http://schemas.microsoft.com/office/drawing/2014/main" id="{E962C442-5134-09F1-CB8E-BC010AD72B97}"/>
              </a:ext>
            </a:extLst>
          </p:cNvPr>
          <p:cNvSpPr>
            <a:spLocks noGrp="1"/>
          </p:cNvSpPr>
          <p:nvPr>
            <p:ph type="title"/>
          </p:nvPr>
        </p:nvSpPr>
        <p:spPr>
          <a:xfrm>
            <a:off x="1437344" y="-213802"/>
            <a:ext cx="9490306" cy="1325563"/>
          </a:xfrm>
        </p:spPr>
        <p:txBody>
          <a:bodyPr>
            <a:normAutofit/>
          </a:bodyPr>
          <a:lstStyle/>
          <a:p>
            <a:r>
              <a:rPr lang="en-US" sz="3200" b="1" dirty="0">
                <a:latin typeface="Arial" pitchFamily="34" charset="0"/>
                <a:cs typeface="Arial" pitchFamily="34" charset="0"/>
              </a:rPr>
              <a:t>1. Unipolar Non-return-to-zero (NRZ) signaling </a:t>
            </a:r>
            <a:endParaRPr lang="en-US" sz="3200" dirty="0">
              <a:latin typeface="Arial" pitchFamily="34" charset="0"/>
              <a:cs typeface="Arial" pitchFamily="34" charset="0"/>
            </a:endParaRPr>
          </a:p>
        </p:txBody>
      </p:sp>
      <p:sp>
        <p:nvSpPr>
          <p:cNvPr id="2" name="Date Placeholder 1">
            <a:extLst>
              <a:ext uri="{FF2B5EF4-FFF2-40B4-BE49-F238E27FC236}">
                <a16:creationId xmlns:a16="http://schemas.microsoft.com/office/drawing/2014/main" id="{9D8EA647-1153-1159-0C4A-0AF4CC12C469}"/>
              </a:ext>
            </a:extLst>
          </p:cNvPr>
          <p:cNvSpPr>
            <a:spLocks noGrp="1"/>
          </p:cNvSpPr>
          <p:nvPr>
            <p:ph type="dt" sz="half" idx="10"/>
          </p:nvPr>
        </p:nvSpPr>
        <p:spPr/>
        <p:txBody>
          <a:bodyPr/>
          <a:lstStyle/>
          <a:p>
            <a:fld id="{A7D1BBA7-1A19-40BA-A778-64FAB09F3BD6}" type="datetime1">
              <a:rPr lang="en-US" smtClean="0"/>
              <a:t>1/21/2026</a:t>
            </a:fld>
            <a:endParaRPr lang="en-US"/>
          </a:p>
        </p:txBody>
      </p:sp>
    </p:spTree>
    <p:extLst>
      <p:ext uri="{BB962C8B-B14F-4D97-AF65-F5344CB8AC3E}">
        <p14:creationId xmlns:p14="http://schemas.microsoft.com/office/powerpoint/2010/main" val="421179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arn(inVertic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arn(inVertic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FDC5-76C5-BD87-582E-9450FBE8DCBA}"/>
              </a:ext>
            </a:extLst>
          </p:cNvPr>
          <p:cNvSpPr>
            <a:spLocks noGrp="1"/>
          </p:cNvSpPr>
          <p:nvPr>
            <p:ph type="title"/>
          </p:nvPr>
        </p:nvSpPr>
        <p:spPr>
          <a:xfrm>
            <a:off x="615779" y="179774"/>
            <a:ext cx="10515600" cy="746983"/>
          </a:xfrm>
        </p:spPr>
        <p:txBody>
          <a:bodyPr>
            <a:normAutofit/>
          </a:bodyPr>
          <a:lstStyle/>
          <a:p>
            <a:r>
              <a:rPr lang="en-US" sz="3600" dirty="0">
                <a:latin typeface="Arial" panose="020B0604020202020204" pitchFamily="34" charset="0"/>
                <a:cs typeface="Arial" panose="020B0604020202020204" pitchFamily="34" charset="0"/>
              </a:rPr>
              <a:t>Advantages and disadvantages</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660679F-45CA-5899-0C6E-CC7060FA3185}"/>
              </a:ext>
            </a:extLst>
          </p:cNvPr>
          <p:cNvSpPr>
            <a:spLocks noGrp="1"/>
          </p:cNvSpPr>
          <p:nvPr>
            <p:ph idx="1"/>
          </p:nvPr>
        </p:nvSpPr>
        <p:spPr>
          <a:xfrm>
            <a:off x="234778" y="840258"/>
            <a:ext cx="11119022" cy="5837967"/>
          </a:xfrm>
        </p:spPr>
        <p:txBody>
          <a:bodyPr>
            <a:normAutofit fontScale="92500"/>
          </a:bodyPr>
          <a:lstStyle/>
          <a:p>
            <a:pPr marL="0" indent="0" algn="l">
              <a:lnSpc>
                <a:spcPct val="110000"/>
              </a:lnSpc>
              <a:buNone/>
            </a:pPr>
            <a:r>
              <a:rPr lang="en-US" b="0" i="0" dirty="0">
                <a:solidFill>
                  <a:srgbClr val="FF0000"/>
                </a:solidFill>
                <a:effectLst/>
                <a:latin typeface="Arial" panose="020B0604020202020204" pitchFamily="34" charset="0"/>
              </a:rPr>
              <a:t>The advantages of unipolar NRZ are</a:t>
            </a:r>
            <a:r>
              <a:rPr lang="en-US" b="0" i="0" dirty="0">
                <a:effectLst/>
                <a:latin typeface="Arial" panose="020B0604020202020204" pitchFamily="34" charset="0"/>
              </a:rPr>
              <a:t>:</a:t>
            </a:r>
          </a:p>
          <a:p>
            <a:pPr algn="l">
              <a:lnSpc>
                <a:spcPct val="110000"/>
              </a:lnSpc>
              <a:buFont typeface="Wingdings" panose="05000000000000000000" pitchFamily="2" charset="2"/>
              <a:buChar char="Ø"/>
            </a:pPr>
            <a:r>
              <a:rPr lang="en-US" b="0" i="0" dirty="0">
                <a:effectLst/>
                <a:latin typeface="Arial" panose="020B0604020202020204" pitchFamily="34" charset="0"/>
              </a:rPr>
              <a:t> Simple to implement.</a:t>
            </a:r>
          </a:p>
          <a:p>
            <a:pPr algn="l">
              <a:lnSpc>
                <a:spcPct val="110000"/>
              </a:lnSpc>
              <a:buFont typeface="Wingdings" panose="05000000000000000000" pitchFamily="2" charset="2"/>
              <a:buChar char="Ø"/>
            </a:pPr>
            <a:r>
              <a:rPr lang="en-US" b="0" i="0" dirty="0">
                <a:effectLst/>
                <a:latin typeface="Arial" panose="020B0604020202020204" pitchFamily="34" charset="0"/>
              </a:rPr>
              <a:t> Requires relatively low bandwidth.</a:t>
            </a:r>
          </a:p>
          <a:p>
            <a:pPr marL="0" indent="0" algn="l">
              <a:lnSpc>
                <a:spcPct val="110000"/>
              </a:lnSpc>
              <a:buNone/>
            </a:pPr>
            <a:r>
              <a:rPr lang="en-US" b="0" i="0" dirty="0">
                <a:solidFill>
                  <a:srgbClr val="FF0000"/>
                </a:solidFill>
                <a:effectLst/>
                <a:latin typeface="Arial" panose="020B0604020202020204" pitchFamily="34" charset="0"/>
              </a:rPr>
              <a:t>The disadvantages of unipolar NRZ are:</a:t>
            </a:r>
          </a:p>
          <a:p>
            <a:pPr algn="l">
              <a:lnSpc>
                <a:spcPct val="110000"/>
              </a:lnSpc>
              <a:buFont typeface="Wingdings" panose="05000000000000000000" pitchFamily="2" charset="2"/>
              <a:buChar char="Ø"/>
            </a:pPr>
            <a:r>
              <a:rPr lang="en-US" b="0" i="0" dirty="0">
                <a:effectLst/>
                <a:latin typeface="Arial" panose="020B0604020202020204" pitchFamily="34" charset="0"/>
              </a:rPr>
              <a:t> There is a significant DC component, which means that power is wasted due to heating of the wires in the transmission line. </a:t>
            </a:r>
          </a:p>
          <a:p>
            <a:pPr algn="l">
              <a:lnSpc>
                <a:spcPct val="110000"/>
              </a:lnSpc>
              <a:buFont typeface="Wingdings" panose="05000000000000000000" pitchFamily="2" charset="2"/>
              <a:buChar char="Ø"/>
            </a:pPr>
            <a:r>
              <a:rPr lang="en-US" b="0" i="0" dirty="0">
                <a:effectLst/>
                <a:latin typeface="Arial" panose="020B0604020202020204" pitchFamily="34" charset="0"/>
              </a:rPr>
              <a:t>It also means that channel links must be DC-coupled, because AC-coupled links will reject the signal's DC component.</a:t>
            </a:r>
          </a:p>
          <a:p>
            <a:pPr algn="l">
              <a:lnSpc>
                <a:spcPct val="110000"/>
              </a:lnSpc>
              <a:buFont typeface="Wingdings" panose="05000000000000000000" pitchFamily="2" charset="2"/>
              <a:buChar char="Ø"/>
            </a:pPr>
            <a:r>
              <a:rPr lang="en-US" b="0" i="0" dirty="0">
                <a:effectLst/>
                <a:latin typeface="Arial" panose="020B0604020202020204" pitchFamily="34" charset="0"/>
              </a:rPr>
              <a:t> </a:t>
            </a:r>
            <a:r>
              <a:rPr lang="en-US" b="0" i="0" dirty="0">
                <a:solidFill>
                  <a:srgbClr val="1A0FFD"/>
                </a:solidFill>
                <a:effectLst/>
                <a:latin typeface="Arial" panose="020B0604020202020204" pitchFamily="34" charset="0"/>
              </a:rPr>
              <a:t>There is no mechanism for embedding a clock signal into the line code.</a:t>
            </a:r>
          </a:p>
          <a:p>
            <a:pPr algn="l">
              <a:lnSpc>
                <a:spcPct val="110000"/>
              </a:lnSpc>
              <a:buFont typeface="Wingdings" panose="05000000000000000000" pitchFamily="2" charset="2"/>
              <a:buChar char="Ø"/>
            </a:pPr>
            <a:r>
              <a:rPr lang="en-US" b="0" i="0" dirty="0">
                <a:solidFill>
                  <a:srgbClr val="1A0FFD"/>
                </a:solidFill>
                <a:effectLst/>
                <a:latin typeface="Arial" panose="020B0604020202020204" pitchFamily="34" charset="0"/>
              </a:rPr>
              <a:t>Long sequences of ones or zeros can cause loss of </a:t>
            </a:r>
            <a:r>
              <a:rPr lang="en-US" b="0" i="0" dirty="0" err="1">
                <a:solidFill>
                  <a:srgbClr val="1A0FFD"/>
                </a:solidFill>
                <a:effectLst/>
                <a:latin typeface="Arial" panose="020B0604020202020204" pitchFamily="34" charset="0"/>
              </a:rPr>
              <a:t>synchronisation</a:t>
            </a:r>
            <a:r>
              <a:rPr lang="en-US" b="0" i="0" dirty="0">
                <a:solidFill>
                  <a:srgbClr val="1A0FFD"/>
                </a:solidFill>
                <a:effectLst/>
                <a:latin typeface="Arial" panose="020B0604020202020204" pitchFamily="34" charset="0"/>
              </a:rPr>
              <a:t> at the receiver due to the absence of voltage transitions.</a:t>
            </a:r>
            <a:endParaRPr lang="en-IN" dirty="0">
              <a:solidFill>
                <a:srgbClr val="1A0FFD"/>
              </a:solidFill>
            </a:endParaRPr>
          </a:p>
        </p:txBody>
      </p:sp>
      <p:sp>
        <p:nvSpPr>
          <p:cNvPr id="4" name="Date Placeholder 3">
            <a:extLst>
              <a:ext uri="{FF2B5EF4-FFF2-40B4-BE49-F238E27FC236}">
                <a16:creationId xmlns:a16="http://schemas.microsoft.com/office/drawing/2014/main" id="{FB188469-51D0-CED7-443C-1E81E9B61219}"/>
              </a:ext>
            </a:extLst>
          </p:cNvPr>
          <p:cNvSpPr>
            <a:spLocks noGrp="1"/>
          </p:cNvSpPr>
          <p:nvPr>
            <p:ph type="dt" sz="half" idx="10"/>
          </p:nvPr>
        </p:nvSpPr>
        <p:spPr/>
        <p:txBody>
          <a:bodyPr/>
          <a:lstStyle/>
          <a:p>
            <a:fld id="{0A898EB9-EB1A-4C65-AEAD-E922AF1677D0}" type="datetime1">
              <a:rPr lang="en-US" smtClean="0"/>
              <a:t>1/21/2026</a:t>
            </a:fld>
            <a:endParaRPr lang="en-US"/>
          </a:p>
        </p:txBody>
      </p:sp>
    </p:spTree>
    <p:extLst>
      <p:ext uri="{BB962C8B-B14F-4D97-AF65-F5344CB8AC3E}">
        <p14:creationId xmlns:p14="http://schemas.microsoft.com/office/powerpoint/2010/main" val="81301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867"/>
            <a:ext cx="10515600" cy="611530"/>
          </a:xfrm>
        </p:spPr>
        <p:txBody>
          <a:bodyPr>
            <a:normAutofit/>
          </a:bodyPr>
          <a:lstStyle/>
          <a:p>
            <a:r>
              <a:rPr lang="en-US" sz="3600" dirty="0">
                <a:solidFill>
                  <a:srgbClr val="FF0000"/>
                </a:solidFill>
                <a:latin typeface="Arial" pitchFamily="34" charset="0"/>
                <a:cs typeface="Arial" pitchFamily="34" charset="0"/>
              </a:rPr>
              <a:t>2. Uni-Polar Return-to-zero (RZ) Signaling</a:t>
            </a:r>
          </a:p>
        </p:txBody>
      </p:sp>
      <p:sp>
        <p:nvSpPr>
          <p:cNvPr id="13" name="TextBox 12">
            <a:extLst>
              <a:ext uri="{FF2B5EF4-FFF2-40B4-BE49-F238E27FC236}">
                <a16:creationId xmlns:a16="http://schemas.microsoft.com/office/drawing/2014/main" id="{7804459E-C432-11BE-549E-24A108B18BAD}"/>
              </a:ext>
            </a:extLst>
          </p:cNvPr>
          <p:cNvSpPr txBox="1"/>
          <p:nvPr/>
        </p:nvSpPr>
        <p:spPr>
          <a:xfrm>
            <a:off x="429398" y="1013072"/>
            <a:ext cx="11762602" cy="1569660"/>
          </a:xfrm>
          <a:prstGeom prst="rect">
            <a:avLst/>
          </a:prstGeom>
          <a:noFill/>
        </p:spPr>
        <p:txBody>
          <a:bodyPr wrap="square">
            <a:spAutoFit/>
          </a:bodyPr>
          <a:lstStyle/>
          <a:p>
            <a:pPr algn="l"/>
            <a:r>
              <a:rPr lang="en-US" sz="2400" dirty="0">
                <a:solidFill>
                  <a:srgbClr val="1A0FFD"/>
                </a:solidFill>
                <a:latin typeface="Arial" panose="020B0604020202020204" pitchFamily="34" charset="0"/>
                <a:cs typeface="Arial" panose="020B0604020202020204" pitchFamily="34" charset="0"/>
              </a:rPr>
              <a:t>A</a:t>
            </a:r>
            <a:r>
              <a:rPr lang="en-US" sz="2400" b="0" i="0" dirty="0">
                <a:solidFill>
                  <a:srgbClr val="1A0FFD"/>
                </a:solidFill>
                <a:effectLst/>
                <a:latin typeface="Arial" panose="020B0604020202020204" pitchFamily="34" charset="0"/>
                <a:cs typeface="Arial" panose="020B0604020202020204" pitchFamily="34" charset="0"/>
              </a:rPr>
              <a:t> </a:t>
            </a:r>
            <a:r>
              <a:rPr lang="en-US" sz="2400" b="0" i="1" dirty="0">
                <a:solidFill>
                  <a:srgbClr val="1A0FFD"/>
                </a:solidFill>
                <a:effectLst/>
                <a:latin typeface="Arial" panose="020B0604020202020204" pitchFamily="34" charset="0"/>
                <a:cs typeface="Arial" panose="020B0604020202020204" pitchFamily="34" charset="0"/>
              </a:rPr>
              <a:t>return-to-zero</a:t>
            </a:r>
            <a:r>
              <a:rPr lang="en-US" sz="2400" b="0" i="0" dirty="0">
                <a:solidFill>
                  <a:srgbClr val="1A0FFD"/>
                </a:solidFill>
                <a:effectLst/>
                <a:latin typeface="Arial" panose="020B0604020202020204" pitchFamily="34" charset="0"/>
                <a:cs typeface="Arial" panose="020B0604020202020204" pitchFamily="34" charset="0"/>
              </a:rPr>
              <a:t> (RZ) version of unipolar line coding in which the </a:t>
            </a:r>
            <a:r>
              <a:rPr lang="en-US" sz="2400" b="0" i="1" dirty="0">
                <a:solidFill>
                  <a:srgbClr val="1A0FFD"/>
                </a:solidFill>
                <a:effectLst/>
                <a:latin typeface="Arial" panose="020B0604020202020204" pitchFamily="34" charset="0"/>
                <a:cs typeface="Arial" panose="020B0604020202020204" pitchFamily="34" charset="0"/>
              </a:rPr>
              <a:t>logic high</a:t>
            </a:r>
            <a:r>
              <a:rPr lang="en-US" sz="2400" b="0" i="0" dirty="0">
                <a:solidFill>
                  <a:srgbClr val="1A0FFD"/>
                </a:solidFill>
                <a:effectLst/>
                <a:latin typeface="Arial" panose="020B0604020202020204" pitchFamily="34" charset="0"/>
                <a:cs typeface="Arial" panose="020B0604020202020204" pitchFamily="34" charset="0"/>
              </a:rPr>
              <a:t> (binary one) signal voltage returns to zero half-way through the bit time.</a:t>
            </a:r>
          </a:p>
          <a:p>
            <a:br>
              <a:rPr lang="en-US" sz="2400" dirty="0">
                <a:solidFill>
                  <a:srgbClr val="1A0FFD"/>
                </a:solidFill>
                <a:latin typeface="Arial" panose="020B0604020202020204" pitchFamily="34" charset="0"/>
                <a:cs typeface="Arial" panose="020B0604020202020204" pitchFamily="34" charset="0"/>
              </a:rPr>
            </a:br>
            <a:endParaRPr lang="en-IN" sz="2400" dirty="0">
              <a:solidFill>
                <a:srgbClr val="1A0FFD"/>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19B49CC1-4120-0C53-0D82-20A12A49D446}"/>
              </a:ext>
            </a:extLst>
          </p:cNvPr>
          <p:cNvPicPr>
            <a:picLocks noChangeAspect="1"/>
          </p:cNvPicPr>
          <p:nvPr/>
        </p:nvPicPr>
        <p:blipFill>
          <a:blip r:embed="rId2"/>
          <a:stretch>
            <a:fillRect/>
          </a:stretch>
        </p:blipFill>
        <p:spPr>
          <a:xfrm>
            <a:off x="412493" y="2333625"/>
            <a:ext cx="11350109" cy="4079532"/>
          </a:xfrm>
          <a:prstGeom prst="rect">
            <a:avLst/>
          </a:prstGeom>
        </p:spPr>
      </p:pic>
      <p:sp>
        <p:nvSpPr>
          <p:cNvPr id="3" name="Date Placeholder 2">
            <a:extLst>
              <a:ext uri="{FF2B5EF4-FFF2-40B4-BE49-F238E27FC236}">
                <a16:creationId xmlns:a16="http://schemas.microsoft.com/office/drawing/2014/main" id="{450EE52C-86FB-3C74-D320-D5BF22963275}"/>
              </a:ext>
            </a:extLst>
          </p:cNvPr>
          <p:cNvSpPr>
            <a:spLocks noGrp="1"/>
          </p:cNvSpPr>
          <p:nvPr>
            <p:ph type="dt" sz="half" idx="10"/>
          </p:nvPr>
        </p:nvSpPr>
        <p:spPr/>
        <p:txBody>
          <a:bodyPr/>
          <a:lstStyle/>
          <a:p>
            <a:fld id="{08031975-98F7-4F72-BAFF-90A72B74FDC4}" type="datetime1">
              <a:rPr lang="en-US" smtClean="0"/>
              <a:t>1/21/2026</a:t>
            </a:fld>
            <a:endParaRPr lang="en-US"/>
          </a:p>
        </p:txBody>
      </p:sp>
    </p:spTree>
    <p:extLst>
      <p:ext uri="{BB962C8B-B14F-4D97-AF65-F5344CB8AC3E}">
        <p14:creationId xmlns:p14="http://schemas.microsoft.com/office/powerpoint/2010/main" val="1945289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1B98-9D48-1B5A-3E31-2A54516F3202}"/>
              </a:ext>
            </a:extLst>
          </p:cNvPr>
          <p:cNvSpPr>
            <a:spLocks noGrp="1"/>
          </p:cNvSpPr>
          <p:nvPr>
            <p:ph type="title"/>
          </p:nvPr>
        </p:nvSpPr>
        <p:spPr>
          <a:xfrm>
            <a:off x="548846" y="210065"/>
            <a:ext cx="10515600" cy="512205"/>
          </a:xfrm>
        </p:spPr>
        <p:txBody>
          <a:bodyPr>
            <a:noAutofit/>
          </a:bodyPr>
          <a:lstStyle/>
          <a:p>
            <a:r>
              <a:rPr lang="en-US" sz="3600" dirty="0">
                <a:solidFill>
                  <a:srgbClr val="1A0FFD"/>
                </a:solidFill>
                <a:latin typeface="Arial" panose="020B0604020202020204" pitchFamily="34" charset="0"/>
                <a:cs typeface="Arial" panose="020B0604020202020204" pitchFamily="34" charset="0"/>
              </a:rPr>
              <a:t>Unipolar-RZ</a:t>
            </a:r>
            <a:endParaRPr lang="en-IN" sz="3600" dirty="0">
              <a:solidFill>
                <a:srgbClr val="1A0FFD"/>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9FAE10D-1715-75A4-98DE-4EFCDF21C28E}"/>
              </a:ext>
            </a:extLst>
          </p:cNvPr>
          <p:cNvSpPr>
            <a:spLocks noGrp="1"/>
          </p:cNvSpPr>
          <p:nvPr>
            <p:ph idx="1"/>
          </p:nvPr>
        </p:nvSpPr>
        <p:spPr>
          <a:xfrm>
            <a:off x="259492" y="722270"/>
            <a:ext cx="11094308" cy="5925665"/>
          </a:xfrm>
        </p:spPr>
        <p:txBody>
          <a:bodyPr>
            <a:normAutofit/>
          </a:bodyPr>
          <a:lstStyle/>
          <a:p>
            <a:pPr marL="0" indent="0" algn="l">
              <a:lnSpc>
                <a:spcPct val="100000"/>
              </a:lnSpc>
              <a:buNone/>
            </a:pPr>
            <a:r>
              <a:rPr lang="en-US" b="0" i="0" dirty="0">
                <a:solidFill>
                  <a:srgbClr val="FF0000"/>
                </a:solidFill>
                <a:effectLst/>
                <a:latin typeface="Arial" panose="020B0604020202020204" pitchFamily="34" charset="0"/>
              </a:rPr>
              <a:t>The advantages of unipolar RZ are:</a:t>
            </a:r>
          </a:p>
          <a:p>
            <a:pPr algn="l">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Simple to implement.</a:t>
            </a:r>
          </a:p>
          <a:p>
            <a:pPr algn="l">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The DC component is half that of unipolar NRZ.</a:t>
            </a:r>
          </a:p>
          <a:p>
            <a:pPr marL="0" indent="0" algn="l">
              <a:spcAft>
                <a:spcPts val="1200"/>
              </a:spcAft>
              <a:buNone/>
            </a:pPr>
            <a:r>
              <a:rPr lang="en-US" b="0" i="0" dirty="0">
                <a:solidFill>
                  <a:srgbClr val="FF0000"/>
                </a:solidFill>
                <a:effectLst/>
                <a:latin typeface="Arial" panose="020B0604020202020204" pitchFamily="34" charset="0"/>
              </a:rPr>
              <a:t>The disadvantages of unipolar RZ are:</a:t>
            </a:r>
          </a:p>
          <a:p>
            <a:pPr algn="l">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Requires twice as much bandwidth as unipolar NRZ.</a:t>
            </a:r>
          </a:p>
          <a:p>
            <a:pPr algn="l">
              <a:lnSpc>
                <a:spcPct val="100000"/>
              </a:lnSpc>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Long sequences of zeros can still cause loss of synchronization at the receiver.</a:t>
            </a:r>
          </a:p>
          <a:p>
            <a:pPr algn="l">
              <a:lnSpc>
                <a:spcPct val="100000"/>
              </a:lnSpc>
              <a:spcAft>
                <a:spcPts val="1200"/>
              </a:spcAft>
              <a:buFont typeface="Wingdings" panose="05000000000000000000" pitchFamily="2" charset="2"/>
              <a:buChar char="Ø"/>
            </a:pPr>
            <a:r>
              <a:rPr lang="en-US" b="0" i="0" dirty="0">
                <a:solidFill>
                  <a:srgbClr val="1A0FFD"/>
                </a:solidFill>
                <a:effectLst/>
                <a:latin typeface="Arial" panose="020B0604020202020204" pitchFamily="34" charset="0"/>
              </a:rPr>
              <a:t>There is still a significant DC component, so some power is still wasted and AC coupling is still a problem.</a:t>
            </a:r>
            <a:endParaRPr lang="en-IN" dirty="0"/>
          </a:p>
        </p:txBody>
      </p:sp>
      <p:sp>
        <p:nvSpPr>
          <p:cNvPr id="4" name="Date Placeholder 3">
            <a:extLst>
              <a:ext uri="{FF2B5EF4-FFF2-40B4-BE49-F238E27FC236}">
                <a16:creationId xmlns:a16="http://schemas.microsoft.com/office/drawing/2014/main" id="{0FC3C163-0918-31BA-CD52-471337CBC28B}"/>
              </a:ext>
            </a:extLst>
          </p:cNvPr>
          <p:cNvSpPr>
            <a:spLocks noGrp="1"/>
          </p:cNvSpPr>
          <p:nvPr>
            <p:ph type="dt" sz="half" idx="10"/>
          </p:nvPr>
        </p:nvSpPr>
        <p:spPr/>
        <p:txBody>
          <a:bodyPr/>
          <a:lstStyle/>
          <a:p>
            <a:fld id="{EE176EE1-CA1E-4486-AC07-8844117143C8}" type="datetime1">
              <a:rPr lang="en-US" smtClean="0"/>
              <a:t>1/21/2026</a:t>
            </a:fld>
            <a:endParaRPr lang="en-US"/>
          </a:p>
        </p:txBody>
      </p:sp>
    </p:spTree>
    <p:extLst>
      <p:ext uri="{BB962C8B-B14F-4D97-AF65-F5344CB8AC3E}">
        <p14:creationId xmlns:p14="http://schemas.microsoft.com/office/powerpoint/2010/main" val="26853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773"/>
            <a:ext cx="10515600" cy="748566"/>
          </a:xfrm>
        </p:spPr>
        <p:txBody>
          <a:bodyPr/>
          <a:lstStyle/>
          <a:p>
            <a:pPr algn="ctr"/>
            <a:r>
              <a:rPr lang="en-US" altLang="en-US" dirty="0">
                <a:solidFill>
                  <a:srgbClr val="C00000"/>
                </a:solidFill>
                <a:latin typeface="Arial" panose="020B0604020202020204" pitchFamily="34" charset="0"/>
                <a:cs typeface="Arial" panose="020B0604020202020204" pitchFamily="34" charset="0"/>
              </a:rPr>
              <a:t>3. Polar - NRZ</a:t>
            </a: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3785" y="726830"/>
            <a:ext cx="11980984" cy="6025661"/>
          </a:xfrm>
        </p:spPr>
        <p:txBody>
          <a:bodyPr/>
          <a:lstStyle/>
          <a:p>
            <a:pPr>
              <a:buFont typeface="Wingdings" panose="05000000000000000000" pitchFamily="2" charset="2"/>
              <a:buChar char="Ø"/>
            </a:pPr>
            <a:r>
              <a:rPr lang="en-US" dirty="0">
                <a:solidFill>
                  <a:srgbClr val="178F03"/>
                </a:solidFill>
                <a:latin typeface="Arial" panose="020B0604020202020204" pitchFamily="34" charset="0"/>
                <a:cs typeface="Arial" panose="020B0604020202020204" pitchFamily="34" charset="0"/>
              </a:rPr>
              <a:t>A bit of 1 is represented by some positive voltage (+A volts for example)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A bit of 0 is represented by negative voltage (so it would be –A  volts). </a:t>
            </a:r>
          </a:p>
          <a:p>
            <a:pPr>
              <a:buFont typeface="Wingdings" panose="05000000000000000000" pitchFamily="2" charset="2"/>
              <a:buChar char="Ø"/>
            </a:pPr>
            <a:r>
              <a:rPr lang="en-US" dirty="0">
                <a:solidFill>
                  <a:srgbClr val="0404EC"/>
                </a:solidFill>
                <a:latin typeface="Arial" panose="020B0604020202020204" pitchFamily="34" charset="0"/>
                <a:cs typeface="Arial" panose="020B0604020202020204" pitchFamily="34" charset="0"/>
              </a:rPr>
              <a:t>The pulses corresponding to binary 1 and binary 0 remain at the positive and negative voltages, respectively, for the whole duration of the bit period (they do not return to zero). </a:t>
            </a:r>
            <a:endParaRPr lang="en-US" altLang="en-US" dirty="0">
              <a:solidFill>
                <a:srgbClr val="0404EC"/>
              </a:solidFill>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5294C788-FDEF-D0AE-278C-69F692B50E28}"/>
              </a:ext>
            </a:extLst>
          </p:cNvPr>
          <p:cNvPicPr>
            <a:picLocks noChangeAspect="1"/>
          </p:cNvPicPr>
          <p:nvPr/>
        </p:nvPicPr>
        <p:blipFill>
          <a:blip r:embed="rId2"/>
          <a:stretch>
            <a:fillRect/>
          </a:stretch>
        </p:blipFill>
        <p:spPr>
          <a:xfrm>
            <a:off x="2295525" y="3076832"/>
            <a:ext cx="8197172" cy="3697972"/>
          </a:xfrm>
          <a:prstGeom prst="rect">
            <a:avLst/>
          </a:prstGeom>
        </p:spPr>
      </p:pic>
      <p:sp>
        <p:nvSpPr>
          <p:cNvPr id="4" name="Date Placeholder 3">
            <a:extLst>
              <a:ext uri="{FF2B5EF4-FFF2-40B4-BE49-F238E27FC236}">
                <a16:creationId xmlns:a16="http://schemas.microsoft.com/office/drawing/2014/main" id="{ADE63A99-00E1-2084-1402-CF46428A0BF5}"/>
              </a:ext>
            </a:extLst>
          </p:cNvPr>
          <p:cNvSpPr>
            <a:spLocks noGrp="1"/>
          </p:cNvSpPr>
          <p:nvPr>
            <p:ph type="dt" sz="half" idx="10"/>
          </p:nvPr>
        </p:nvSpPr>
        <p:spPr/>
        <p:txBody>
          <a:bodyPr/>
          <a:lstStyle/>
          <a:p>
            <a:fld id="{5EA69255-AC38-411D-A405-6929BFE4513D}" type="datetime1">
              <a:rPr lang="en-US" smtClean="0"/>
              <a:t>1/21/2026</a:t>
            </a:fld>
            <a:endParaRPr lang="en-US"/>
          </a:p>
        </p:txBody>
      </p:sp>
    </p:spTree>
    <p:extLst>
      <p:ext uri="{BB962C8B-B14F-4D97-AF65-F5344CB8AC3E}">
        <p14:creationId xmlns:p14="http://schemas.microsoft.com/office/powerpoint/2010/main" val="251623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FED45-B8B9-B62A-A10A-EF7B81EB2907}"/>
              </a:ext>
            </a:extLst>
          </p:cNvPr>
          <p:cNvSpPr>
            <a:spLocks noGrp="1"/>
          </p:cNvSpPr>
          <p:nvPr>
            <p:ph type="title"/>
          </p:nvPr>
        </p:nvSpPr>
        <p:spPr>
          <a:xfrm>
            <a:off x="838200" y="365125"/>
            <a:ext cx="10515600" cy="709913"/>
          </a:xfrm>
        </p:spPr>
        <p:txBody>
          <a:bodyPr>
            <a:normAutofit fontScale="90000"/>
          </a:bodyPr>
          <a:lstStyle/>
          <a:p>
            <a:r>
              <a:rPr lang="en-IN" i="0" dirty="0">
                <a:effectLst/>
                <a:latin typeface="Arial" panose="020B0604020202020204" pitchFamily="34" charset="0"/>
              </a:rPr>
              <a:t>Polar NRZ-level</a:t>
            </a:r>
            <a:br>
              <a:rPr lang="en-IN" b="1" i="0" dirty="0">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0EA8BD32-79D6-E492-6DBE-DE72EDC06FD0}"/>
              </a:ext>
            </a:extLst>
          </p:cNvPr>
          <p:cNvSpPr>
            <a:spLocks noGrp="1"/>
          </p:cNvSpPr>
          <p:nvPr>
            <p:ph idx="1"/>
          </p:nvPr>
        </p:nvSpPr>
        <p:spPr>
          <a:xfrm>
            <a:off x="457200" y="877330"/>
            <a:ext cx="10896600" cy="5758248"/>
          </a:xfrm>
        </p:spPr>
        <p:txBody>
          <a:bodyPr>
            <a:normAutofit fontScale="92500" lnSpcReduction="10000"/>
          </a:bodyPr>
          <a:lstStyle/>
          <a:p>
            <a:pPr marL="0" indent="0" algn="l">
              <a:lnSpc>
                <a:spcPct val="120000"/>
              </a:lnSpc>
              <a:spcBef>
                <a:spcPts val="0"/>
              </a:spcBef>
              <a:spcAft>
                <a:spcPts val="1200"/>
              </a:spcAft>
              <a:buNone/>
            </a:pPr>
            <a:r>
              <a:rPr lang="en-US" sz="3600" b="1" i="0" dirty="0">
                <a:solidFill>
                  <a:srgbClr val="FF0000"/>
                </a:solidFill>
                <a:effectLst/>
                <a:latin typeface="Arial" panose="020B0604020202020204" pitchFamily="34" charset="0"/>
                <a:cs typeface="Arial" panose="020B0604020202020204" pitchFamily="34" charset="0"/>
              </a:rPr>
              <a:t>Advantages </a:t>
            </a:r>
            <a:endParaRPr lang="en-US" sz="3600" b="0" i="0" dirty="0">
              <a:solidFill>
                <a:srgbClr val="FF0000"/>
              </a:solidFill>
              <a:effectLst/>
              <a:latin typeface="Arial" panose="020B0604020202020204" pitchFamily="34" charset="0"/>
              <a:cs typeface="Arial" panose="020B0604020202020204" pitchFamily="34" charset="0"/>
            </a:endParaRPr>
          </a:p>
          <a:p>
            <a:pPr>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It is simple.</a:t>
            </a: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No low-frequency components are present.</a:t>
            </a:r>
          </a:p>
          <a:p>
            <a:pPr marL="0" indent="0" algn="l">
              <a:lnSpc>
                <a:spcPct val="120000"/>
              </a:lnSpc>
              <a:spcBef>
                <a:spcPts val="0"/>
              </a:spcBef>
              <a:spcAft>
                <a:spcPts val="1200"/>
              </a:spcAft>
              <a:buNone/>
            </a:pPr>
            <a:r>
              <a:rPr lang="en-US" sz="3600" b="1" i="0" dirty="0">
                <a:solidFill>
                  <a:srgbClr val="FF0000"/>
                </a:solidFill>
                <a:effectLst/>
                <a:latin typeface="Arial" panose="020B0604020202020204" pitchFamily="34" charset="0"/>
                <a:cs typeface="Arial" panose="020B0604020202020204" pitchFamily="34" charset="0"/>
              </a:rPr>
              <a:t>Disadvantages</a:t>
            </a:r>
            <a:endParaRPr lang="en-US" sz="3600" b="0" i="0" dirty="0">
              <a:solidFill>
                <a:srgbClr val="FF0000"/>
              </a:solidFill>
              <a:effectLst/>
              <a:latin typeface="Arial" panose="020B0604020202020204" pitchFamily="34" charset="0"/>
              <a:cs typeface="Arial" panose="020B0604020202020204" pitchFamily="34" charset="0"/>
            </a:endParaRP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No error correction.</a:t>
            </a: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No clock is present.</a:t>
            </a:r>
          </a:p>
          <a:p>
            <a:pPr algn="l">
              <a:lnSpc>
                <a:spcPct val="120000"/>
              </a:lnSpc>
              <a:spcBef>
                <a:spcPts val="0"/>
              </a:spcBef>
              <a:spcAft>
                <a:spcPts val="1200"/>
              </a:spcAft>
              <a:buFont typeface="Wingdings" panose="05000000000000000000" pitchFamily="2" charset="2"/>
              <a:buChar char="Ø"/>
            </a:pPr>
            <a:r>
              <a:rPr lang="en-US" sz="3600" b="0" i="0" dirty="0">
                <a:solidFill>
                  <a:srgbClr val="1A0FFD"/>
                </a:solidFill>
                <a:effectLst/>
                <a:latin typeface="Arial" panose="020B0604020202020204" pitchFamily="34" charset="0"/>
                <a:cs typeface="Arial" panose="020B0604020202020204" pitchFamily="34" charset="0"/>
              </a:rPr>
              <a:t> The signal droop is caused at the places where the signal is non-zero at </a:t>
            </a:r>
            <a:r>
              <a:rPr lang="en-US" sz="3600" b="1" i="0" dirty="0">
                <a:solidFill>
                  <a:srgbClr val="1A0FFD"/>
                </a:solidFill>
                <a:effectLst/>
                <a:latin typeface="Arial" panose="020B0604020202020204" pitchFamily="34" charset="0"/>
                <a:cs typeface="Arial" panose="020B0604020202020204" pitchFamily="34" charset="0"/>
              </a:rPr>
              <a:t>0 Hz</a:t>
            </a:r>
            <a:r>
              <a:rPr lang="en-US" sz="3600" b="0" i="0" dirty="0">
                <a:solidFill>
                  <a:srgbClr val="1A0FFD"/>
                </a:solidFill>
                <a:effectLst/>
                <a:latin typeface="Arial" panose="020B0604020202020204" pitchFamily="34" charset="0"/>
                <a:cs typeface="Arial" panose="020B0604020202020204" pitchFamily="34" charset="0"/>
              </a:rPr>
              <a:t>.</a:t>
            </a:r>
            <a:endParaRPr lang="en-IN" dirty="0">
              <a:solidFill>
                <a:srgbClr val="1A0FFD"/>
              </a:solidFill>
            </a:endParaRPr>
          </a:p>
        </p:txBody>
      </p:sp>
      <p:sp>
        <p:nvSpPr>
          <p:cNvPr id="4" name="Date Placeholder 3">
            <a:extLst>
              <a:ext uri="{FF2B5EF4-FFF2-40B4-BE49-F238E27FC236}">
                <a16:creationId xmlns:a16="http://schemas.microsoft.com/office/drawing/2014/main" id="{98559F32-93B1-B232-7F84-A415BF2B5826}"/>
              </a:ext>
            </a:extLst>
          </p:cNvPr>
          <p:cNvSpPr>
            <a:spLocks noGrp="1"/>
          </p:cNvSpPr>
          <p:nvPr>
            <p:ph type="dt" sz="half" idx="10"/>
          </p:nvPr>
        </p:nvSpPr>
        <p:spPr/>
        <p:txBody>
          <a:bodyPr/>
          <a:lstStyle/>
          <a:p>
            <a:fld id="{88B94F9E-C110-48FB-8740-1FABA1DFA1C0}" type="datetime1">
              <a:rPr lang="en-US" smtClean="0"/>
              <a:t>1/21/2026</a:t>
            </a:fld>
            <a:endParaRPr lang="en-US"/>
          </a:p>
        </p:txBody>
      </p:sp>
    </p:spTree>
    <p:extLst>
      <p:ext uri="{BB962C8B-B14F-4D97-AF65-F5344CB8AC3E}">
        <p14:creationId xmlns:p14="http://schemas.microsoft.com/office/powerpoint/2010/main" val="21010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011"/>
            <a:ext cx="10515600" cy="611530"/>
          </a:xfrm>
        </p:spPr>
        <p:txBody>
          <a:bodyPr>
            <a:normAutofit/>
          </a:bodyPr>
          <a:lstStyle/>
          <a:p>
            <a:r>
              <a:rPr lang="en-US" sz="3200" dirty="0">
                <a:solidFill>
                  <a:srgbClr val="1A0FFD"/>
                </a:solidFill>
                <a:latin typeface="Arial" pitchFamily="34" charset="0"/>
                <a:cs typeface="Arial" pitchFamily="34" charset="0"/>
              </a:rPr>
              <a:t>4. Polar Return-to-Zero (RZ) signaling</a:t>
            </a:r>
          </a:p>
        </p:txBody>
      </p:sp>
      <p:pic>
        <p:nvPicPr>
          <p:cNvPr id="9" name="Picture 8">
            <a:extLst>
              <a:ext uri="{FF2B5EF4-FFF2-40B4-BE49-F238E27FC236}">
                <a16:creationId xmlns:a16="http://schemas.microsoft.com/office/drawing/2014/main" id="{2D3634AA-91F0-2C88-1E2B-F6B54DB07451}"/>
              </a:ext>
            </a:extLst>
          </p:cNvPr>
          <p:cNvPicPr>
            <a:picLocks noChangeAspect="1"/>
          </p:cNvPicPr>
          <p:nvPr/>
        </p:nvPicPr>
        <p:blipFill>
          <a:blip r:embed="rId2"/>
          <a:stretch>
            <a:fillRect/>
          </a:stretch>
        </p:blipFill>
        <p:spPr>
          <a:xfrm>
            <a:off x="2000250" y="3038350"/>
            <a:ext cx="8191500" cy="3648075"/>
          </a:xfrm>
          <a:prstGeom prst="rect">
            <a:avLst/>
          </a:prstGeom>
        </p:spPr>
      </p:pic>
      <p:sp>
        <p:nvSpPr>
          <p:cNvPr id="11" name="TextBox 10">
            <a:extLst>
              <a:ext uri="{FF2B5EF4-FFF2-40B4-BE49-F238E27FC236}">
                <a16:creationId xmlns:a16="http://schemas.microsoft.com/office/drawing/2014/main" id="{9DB0FE9A-EAE6-78CB-AC98-8834BDD71E6D}"/>
              </a:ext>
            </a:extLst>
          </p:cNvPr>
          <p:cNvSpPr txBox="1"/>
          <p:nvPr/>
        </p:nvSpPr>
        <p:spPr>
          <a:xfrm>
            <a:off x="222422" y="689541"/>
            <a:ext cx="11969578" cy="2677656"/>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000000"/>
                </a:solidFill>
                <a:effectLst/>
                <a:latin typeface="Arial" panose="020B0604020202020204" pitchFamily="34" charset="0"/>
                <a:cs typeface="Arial" panose="020B0604020202020204" pitchFamily="34" charset="0"/>
              </a:rPr>
              <a:t>In this type of Polar signaling, a High in data, though represented by a </a:t>
            </a:r>
            <a:r>
              <a:rPr lang="en-US" sz="2400" b="1" i="0" dirty="0">
                <a:solidFill>
                  <a:srgbClr val="000000"/>
                </a:solidFill>
                <a:effectLst/>
                <a:latin typeface="Arial" panose="020B0604020202020204" pitchFamily="34" charset="0"/>
                <a:cs typeface="Arial" panose="020B0604020202020204" pitchFamily="34" charset="0"/>
              </a:rPr>
              <a:t>Mark pulse</a:t>
            </a:r>
            <a:r>
              <a:rPr lang="en-US" sz="2400" b="0" i="0" dirty="0">
                <a:solidFill>
                  <a:srgbClr val="000000"/>
                </a:solidFill>
                <a:effectLst/>
                <a:latin typeface="Arial" panose="020B0604020202020204" pitchFamily="34" charset="0"/>
                <a:cs typeface="Arial" panose="020B0604020202020204" pitchFamily="34" charset="0"/>
              </a:rPr>
              <a:t>, its duration </a:t>
            </a:r>
            <a:r>
              <a:rPr lang="en-US" sz="2400" b="1" i="0" dirty="0">
                <a:solidFill>
                  <a:srgbClr val="000000"/>
                </a:solidFill>
                <a:effectLst/>
                <a:latin typeface="Arial" panose="020B0604020202020204" pitchFamily="34" charset="0"/>
                <a:cs typeface="Arial" panose="020B0604020202020204" pitchFamily="34" charset="0"/>
              </a:rPr>
              <a:t>T</a:t>
            </a:r>
            <a:r>
              <a:rPr lang="en-US" sz="2400" b="1" i="0" baseline="-25000" dirty="0">
                <a:solidFill>
                  <a:srgbClr val="000000"/>
                </a:solidFill>
                <a:effectLst/>
                <a:latin typeface="Arial" panose="020B0604020202020204" pitchFamily="34" charset="0"/>
                <a:cs typeface="Arial" panose="020B0604020202020204" pitchFamily="34" charset="0"/>
              </a:rPr>
              <a:t>0</a:t>
            </a:r>
            <a:r>
              <a:rPr lang="en-US" sz="2400" b="0" i="0" dirty="0">
                <a:solidFill>
                  <a:srgbClr val="000000"/>
                </a:solidFill>
                <a:effectLst/>
                <a:latin typeface="Arial" panose="020B0604020202020204" pitchFamily="34" charset="0"/>
                <a:cs typeface="Arial" panose="020B0604020202020204" pitchFamily="34" charset="0"/>
              </a:rPr>
              <a:t> is less than the symbol bit duration. Half of the bit duration remains high but it immediately returns to zero and shows the absence of pulse during the remaining half of the bit duration.</a:t>
            </a:r>
          </a:p>
          <a:p>
            <a:pPr marL="342900" indent="-342900" algn="l">
              <a:buFont typeface="Wingdings" panose="05000000000000000000" pitchFamily="2" charset="2"/>
              <a:buChar char="Ø"/>
            </a:pPr>
            <a:r>
              <a:rPr lang="en-US" sz="2400" b="0" i="0" dirty="0">
                <a:solidFill>
                  <a:srgbClr val="1A0FFD"/>
                </a:solidFill>
                <a:effectLst/>
                <a:latin typeface="Arial" panose="020B0604020202020204" pitchFamily="34" charset="0"/>
                <a:cs typeface="Arial" panose="020B0604020202020204" pitchFamily="34" charset="0"/>
              </a:rPr>
              <a:t>However, for a Low input, a negative pulse represents the data, and the zero level remains same for the other half of the bit duration. The following figure depicts this clearly.</a:t>
            </a:r>
            <a:endParaRPr lang="en-IN" sz="2400" dirty="0">
              <a:solidFill>
                <a:srgbClr val="1A0FFD"/>
              </a:solidFill>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E2D7F588-D33D-95BF-ED8B-774A7D783141}"/>
              </a:ext>
            </a:extLst>
          </p:cNvPr>
          <p:cNvSpPr>
            <a:spLocks noGrp="1"/>
          </p:cNvSpPr>
          <p:nvPr>
            <p:ph type="dt" sz="half" idx="10"/>
          </p:nvPr>
        </p:nvSpPr>
        <p:spPr/>
        <p:txBody>
          <a:bodyPr/>
          <a:lstStyle/>
          <a:p>
            <a:fld id="{17AABD0D-BE44-4151-ACB5-FE0FA64F5857}" type="datetime1">
              <a:rPr lang="en-US" smtClean="0"/>
              <a:t>1/21/2026</a:t>
            </a:fld>
            <a:endParaRPr lang="en-US"/>
          </a:p>
        </p:txBody>
      </p:sp>
    </p:spTree>
    <p:extLst>
      <p:ext uri="{BB962C8B-B14F-4D97-AF65-F5344CB8AC3E}">
        <p14:creationId xmlns:p14="http://schemas.microsoft.com/office/powerpoint/2010/main" val="100522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arn(inVertic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arn(inVertical)">
                                      <p:cBhvr>
                                        <p:cTn id="1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571C7E-74CA-4E4B-C1AD-80DE18DBEEC2}"/>
              </a:ext>
            </a:extLst>
          </p:cNvPr>
          <p:cNvSpPr>
            <a:spLocks noGrp="1"/>
          </p:cNvSpPr>
          <p:nvPr>
            <p:ph idx="1"/>
          </p:nvPr>
        </p:nvSpPr>
        <p:spPr>
          <a:xfrm>
            <a:off x="222422" y="617838"/>
            <a:ext cx="11131378" cy="6005384"/>
          </a:xfrm>
        </p:spPr>
        <p:txBody>
          <a:bodyPr>
            <a:normAutofit/>
          </a:bodyPr>
          <a:lstStyle/>
          <a:p>
            <a:pPr marL="0" indent="0" algn="l">
              <a:buNone/>
            </a:pPr>
            <a:r>
              <a:rPr lang="en-US" sz="3200" dirty="0">
                <a:solidFill>
                  <a:srgbClr val="000000"/>
                </a:solidFill>
                <a:latin typeface="Arial" panose="020B0604020202020204" pitchFamily="34" charset="0"/>
                <a:cs typeface="Arial" panose="020B0604020202020204" pitchFamily="34" charset="0"/>
              </a:rPr>
              <a:t>  </a:t>
            </a:r>
            <a:r>
              <a:rPr lang="en-US" sz="3200" dirty="0">
                <a:solidFill>
                  <a:srgbClr val="FF0000"/>
                </a:solidFill>
                <a:latin typeface="Arial" panose="020B0604020202020204" pitchFamily="34" charset="0"/>
                <a:cs typeface="Arial" panose="020B0604020202020204" pitchFamily="34" charset="0"/>
              </a:rPr>
              <a:t> A</a:t>
            </a:r>
            <a:r>
              <a:rPr lang="en-US" sz="3200" b="0" i="0" dirty="0">
                <a:solidFill>
                  <a:srgbClr val="FF0000"/>
                </a:solidFill>
                <a:effectLst/>
                <a:latin typeface="Arial" panose="020B0604020202020204" pitchFamily="34" charset="0"/>
                <a:cs typeface="Arial" panose="020B0604020202020204" pitchFamily="34" charset="0"/>
              </a:rPr>
              <a:t>dvantages</a:t>
            </a:r>
            <a:r>
              <a:rPr lang="en-US" sz="3200" b="0" i="0" dirty="0">
                <a:solidFill>
                  <a:srgbClr val="000000"/>
                </a:solidFill>
                <a:effectLst/>
                <a:latin typeface="Arial" panose="020B0604020202020204" pitchFamily="34" charset="0"/>
                <a:cs typeface="Arial" panose="020B0604020202020204" pitchFamily="34" charset="0"/>
              </a:rPr>
              <a:t> </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It is simple.</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No low-frequency components are present.</a:t>
            </a:r>
          </a:p>
          <a:p>
            <a:pPr algn="l">
              <a:buFont typeface="Wingdings" panose="05000000000000000000" pitchFamily="2" charset="2"/>
              <a:buChar char="Ø"/>
            </a:pPr>
            <a:endParaRPr lang="en-US" sz="3200" b="0" i="0" dirty="0">
              <a:solidFill>
                <a:srgbClr val="1A0FFD"/>
              </a:solidFill>
              <a:effectLst/>
              <a:latin typeface="Arial" panose="020B0604020202020204" pitchFamily="34" charset="0"/>
              <a:cs typeface="Arial" panose="020B0604020202020204" pitchFamily="34" charset="0"/>
            </a:endParaRPr>
          </a:p>
          <a:p>
            <a:pPr marL="0" indent="0" algn="l">
              <a:buNone/>
            </a:pPr>
            <a:r>
              <a:rPr lang="en-US" sz="3200" b="1" i="0" dirty="0">
                <a:solidFill>
                  <a:srgbClr val="1A0FFD"/>
                </a:solidFill>
                <a:effectLst/>
                <a:latin typeface="Arial" panose="020B0604020202020204" pitchFamily="34" charset="0"/>
                <a:cs typeface="Arial" panose="020B0604020202020204" pitchFamily="34" charset="0"/>
              </a:rPr>
              <a:t>   </a:t>
            </a:r>
            <a:r>
              <a:rPr lang="en-US" sz="3200" b="1" i="0" dirty="0">
                <a:solidFill>
                  <a:srgbClr val="FF0000"/>
                </a:solidFill>
                <a:effectLst/>
                <a:latin typeface="Arial" panose="020B0604020202020204" pitchFamily="34" charset="0"/>
                <a:cs typeface="Arial" panose="020B0604020202020204" pitchFamily="34" charset="0"/>
              </a:rPr>
              <a:t>Disadvantages</a:t>
            </a:r>
            <a:endParaRPr lang="en-US" sz="3200" b="0" i="0" dirty="0">
              <a:solidFill>
                <a:srgbClr val="FF0000"/>
              </a:solidFill>
              <a:effectLst/>
              <a:latin typeface="Arial" panose="020B0604020202020204" pitchFamily="34" charset="0"/>
              <a:cs typeface="Arial" panose="020B0604020202020204" pitchFamily="34" charset="0"/>
            </a:endParaRP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No error correction.</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No clock is present.</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Occupies twice the bandwidth of Polar NRZ.</a:t>
            </a:r>
          </a:p>
          <a:p>
            <a:pPr algn="l">
              <a:buFont typeface="Wingdings" panose="05000000000000000000" pitchFamily="2" charset="2"/>
              <a:buChar char="Ø"/>
            </a:pPr>
            <a:r>
              <a:rPr lang="en-US" sz="3200" b="0" i="0" dirty="0">
                <a:solidFill>
                  <a:srgbClr val="1A0FFD"/>
                </a:solidFill>
                <a:effectLst/>
                <a:latin typeface="Arial" panose="020B0604020202020204" pitchFamily="34" charset="0"/>
                <a:cs typeface="Arial" panose="020B0604020202020204" pitchFamily="34" charset="0"/>
              </a:rPr>
              <a:t>The signal droop is caused at places where the signal is non-zero at </a:t>
            </a:r>
            <a:r>
              <a:rPr lang="en-US" sz="3200" b="1" i="0" dirty="0">
                <a:solidFill>
                  <a:srgbClr val="1A0FFD"/>
                </a:solidFill>
                <a:effectLst/>
                <a:latin typeface="Arial" panose="020B0604020202020204" pitchFamily="34" charset="0"/>
                <a:cs typeface="Arial" panose="020B0604020202020204" pitchFamily="34" charset="0"/>
              </a:rPr>
              <a:t>0 Hz</a:t>
            </a:r>
            <a:r>
              <a:rPr lang="en-US" sz="3200" b="0" i="0" dirty="0">
                <a:solidFill>
                  <a:srgbClr val="1A0FFD"/>
                </a:solidFill>
                <a:effectLst/>
                <a:latin typeface="Arial" panose="020B0604020202020204" pitchFamily="34" charset="0"/>
                <a:cs typeface="Arial" panose="020B0604020202020204" pitchFamily="34" charset="0"/>
              </a:rPr>
              <a:t>.</a:t>
            </a:r>
          </a:p>
          <a:p>
            <a:endParaRPr lang="en-IN" sz="3200" dirty="0">
              <a:latin typeface="Arial" panose="020B0604020202020204" pitchFamily="34" charset="0"/>
              <a:cs typeface="Arial" panose="020B0604020202020204" pitchFamily="34" charset="0"/>
            </a:endParaRPr>
          </a:p>
        </p:txBody>
      </p:sp>
      <p:sp>
        <p:nvSpPr>
          <p:cNvPr id="2" name="Date Placeholder 1">
            <a:extLst>
              <a:ext uri="{FF2B5EF4-FFF2-40B4-BE49-F238E27FC236}">
                <a16:creationId xmlns:a16="http://schemas.microsoft.com/office/drawing/2014/main" id="{23467206-A724-4351-C842-F8C821655518}"/>
              </a:ext>
            </a:extLst>
          </p:cNvPr>
          <p:cNvSpPr>
            <a:spLocks noGrp="1"/>
          </p:cNvSpPr>
          <p:nvPr>
            <p:ph type="dt" sz="half" idx="10"/>
          </p:nvPr>
        </p:nvSpPr>
        <p:spPr/>
        <p:txBody>
          <a:bodyPr/>
          <a:lstStyle/>
          <a:p>
            <a:fld id="{CBF7D92F-27A8-42BD-B782-11422AD13B8F}" type="datetime1">
              <a:rPr lang="en-US" smtClean="0"/>
              <a:t>1/21/2026</a:t>
            </a:fld>
            <a:endParaRPr lang="en-US"/>
          </a:p>
        </p:txBody>
      </p:sp>
    </p:spTree>
    <p:extLst>
      <p:ext uri="{BB962C8B-B14F-4D97-AF65-F5344CB8AC3E}">
        <p14:creationId xmlns:p14="http://schemas.microsoft.com/office/powerpoint/2010/main" val="250311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arn(inVertic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arn(inVertic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306" y="176866"/>
            <a:ext cx="10515600" cy="885451"/>
          </a:xfrm>
        </p:spPr>
        <p:txBody>
          <a:bodyPr>
            <a:normAutofit/>
          </a:bodyPr>
          <a:lstStyle/>
          <a:p>
            <a:r>
              <a:rPr lang="en-US" sz="3600" dirty="0">
                <a:solidFill>
                  <a:srgbClr val="FF0000"/>
                </a:solidFill>
                <a:latin typeface="Arial" pitchFamily="34" charset="0"/>
                <a:cs typeface="Arial" pitchFamily="34" charset="0"/>
              </a:rPr>
              <a:t>5. Split-phase (Manchester code)</a:t>
            </a:r>
          </a:p>
        </p:txBody>
      </p:sp>
      <p:sp>
        <p:nvSpPr>
          <p:cNvPr id="3" name="Content Placeholder 2"/>
          <p:cNvSpPr>
            <a:spLocks noGrp="1"/>
          </p:cNvSpPr>
          <p:nvPr>
            <p:ph idx="1"/>
          </p:nvPr>
        </p:nvSpPr>
        <p:spPr>
          <a:xfrm>
            <a:off x="188259" y="1035424"/>
            <a:ext cx="11698941" cy="5567082"/>
          </a:xfrm>
        </p:spPr>
        <p:txBody>
          <a:bodyPr>
            <a:normAutofit/>
          </a:bodyPr>
          <a:lstStyle/>
          <a:p>
            <a:pPr>
              <a:buNone/>
            </a:pPr>
            <a:r>
              <a:rPr lang="en-US" dirty="0">
                <a:solidFill>
                  <a:srgbClr val="00B050"/>
                </a:solidFill>
                <a:latin typeface="Arial" pitchFamily="34" charset="0"/>
                <a:cs typeface="Arial" pitchFamily="34" charset="0"/>
              </a:rPr>
              <a:t>Symbol 1 is represented by a positive pulse of amplitude </a:t>
            </a:r>
            <a:r>
              <a:rPr lang="en-US" i="1" dirty="0">
                <a:solidFill>
                  <a:srgbClr val="FF0000"/>
                </a:solidFill>
                <a:latin typeface="Arial" pitchFamily="34" charset="0"/>
                <a:cs typeface="Arial" pitchFamily="34" charset="0"/>
              </a:rPr>
              <a:t>A</a:t>
            </a:r>
            <a:r>
              <a:rPr lang="en-US" dirty="0">
                <a:solidFill>
                  <a:srgbClr val="00B050"/>
                </a:solidFill>
                <a:latin typeface="Arial" pitchFamily="34" charset="0"/>
                <a:cs typeface="Arial" pitchFamily="34" charset="0"/>
              </a:rPr>
              <a:t> followed by a negative pulse of amplitude </a:t>
            </a:r>
            <a:r>
              <a:rPr lang="en-US" dirty="0">
                <a:solidFill>
                  <a:srgbClr val="FF0000"/>
                </a:solidFill>
                <a:latin typeface="Arial" pitchFamily="34" charset="0"/>
                <a:cs typeface="Arial" pitchFamily="34" charset="0"/>
              </a:rPr>
              <a:t>-</a:t>
            </a:r>
            <a:r>
              <a:rPr lang="en-US" i="1" dirty="0">
                <a:solidFill>
                  <a:srgbClr val="FF0000"/>
                </a:solidFill>
                <a:latin typeface="Arial" pitchFamily="34" charset="0"/>
                <a:cs typeface="Arial" pitchFamily="34" charset="0"/>
              </a:rPr>
              <a:t>A</a:t>
            </a:r>
            <a:r>
              <a:rPr lang="en-US" dirty="0">
                <a:solidFill>
                  <a:srgbClr val="00B050"/>
                </a:solidFill>
                <a:latin typeface="Arial" pitchFamily="34" charset="0"/>
                <a:cs typeface="Arial" pitchFamily="34" charset="0"/>
              </a:rPr>
              <a:t>, with both pulses being of half-symbol width. </a:t>
            </a:r>
          </a:p>
          <a:p>
            <a:pPr>
              <a:buNone/>
            </a:pPr>
            <a:r>
              <a:rPr lang="en-US" dirty="0">
                <a:solidFill>
                  <a:srgbClr val="FF0000"/>
                </a:solidFill>
                <a:latin typeface="Arial" pitchFamily="34" charset="0"/>
                <a:cs typeface="Arial" pitchFamily="34" charset="0"/>
              </a:rPr>
              <a:t>For symbol 0, the polarities of these two pulses are reversed</a:t>
            </a: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p:txBody>
      </p:sp>
      <p:pic>
        <p:nvPicPr>
          <p:cNvPr id="8" name="Picture 7">
            <a:extLst>
              <a:ext uri="{FF2B5EF4-FFF2-40B4-BE49-F238E27FC236}">
                <a16:creationId xmlns:a16="http://schemas.microsoft.com/office/drawing/2014/main" id="{F73517C9-5527-9EFD-517A-913652ED55B5}"/>
              </a:ext>
            </a:extLst>
          </p:cNvPr>
          <p:cNvPicPr>
            <a:picLocks noChangeAspect="1"/>
          </p:cNvPicPr>
          <p:nvPr/>
        </p:nvPicPr>
        <p:blipFill>
          <a:blip r:embed="rId3"/>
          <a:stretch>
            <a:fillRect/>
          </a:stretch>
        </p:blipFill>
        <p:spPr>
          <a:xfrm>
            <a:off x="304800" y="2842001"/>
            <a:ext cx="10760860" cy="3632940"/>
          </a:xfrm>
          <a:prstGeom prst="rect">
            <a:avLst/>
          </a:prstGeom>
        </p:spPr>
      </p:pic>
      <p:sp>
        <p:nvSpPr>
          <p:cNvPr id="4" name="Date Placeholder 3">
            <a:extLst>
              <a:ext uri="{FF2B5EF4-FFF2-40B4-BE49-F238E27FC236}">
                <a16:creationId xmlns:a16="http://schemas.microsoft.com/office/drawing/2014/main" id="{32263C2E-8AFE-62F2-116A-9EDB84132F24}"/>
              </a:ext>
            </a:extLst>
          </p:cNvPr>
          <p:cNvSpPr>
            <a:spLocks noGrp="1"/>
          </p:cNvSpPr>
          <p:nvPr>
            <p:ph type="dt" sz="half" idx="10"/>
          </p:nvPr>
        </p:nvSpPr>
        <p:spPr/>
        <p:txBody>
          <a:bodyPr/>
          <a:lstStyle/>
          <a:p>
            <a:fld id="{DDDFF017-700B-490A-9E91-1BEC702AB919}" type="datetime1">
              <a:rPr lang="en-US" smtClean="0"/>
              <a:t>1/21/2026</a:t>
            </a:fld>
            <a:endParaRPr lang="en-US"/>
          </a:p>
        </p:txBody>
      </p:sp>
    </p:spTree>
    <p:extLst>
      <p:ext uri="{BB962C8B-B14F-4D97-AF65-F5344CB8AC3E}">
        <p14:creationId xmlns:p14="http://schemas.microsoft.com/office/powerpoint/2010/main" val="3188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circle(in)">
                                      <p:cBhvr>
                                        <p:cTn id="13"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5AFEB-979D-B4E0-95C4-DC6523C34D86}"/>
              </a:ext>
            </a:extLst>
          </p:cNvPr>
          <p:cNvSpPr>
            <a:spLocks noGrp="1"/>
          </p:cNvSpPr>
          <p:nvPr>
            <p:ph idx="1"/>
          </p:nvPr>
        </p:nvSpPr>
        <p:spPr>
          <a:xfrm>
            <a:off x="457200" y="172995"/>
            <a:ext cx="10896600" cy="6003968"/>
          </a:xfrm>
        </p:spPr>
        <p:txBody>
          <a:bodyPr/>
          <a:lstStyle/>
          <a:p>
            <a:pPr marL="0" indent="0">
              <a:buNone/>
            </a:pPr>
            <a:r>
              <a:rPr lang="en-US" sz="3200" dirty="0">
                <a:solidFill>
                  <a:srgbClr val="FF0000"/>
                </a:solidFill>
              </a:rPr>
              <a:t>Advantages:</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Manchester code ensures frequent line voltage transitions, directly proportional to the clock rate; this helps clock recovery.</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The DC component of the encoded signal is not dependent on the data and therefore carries no information. Therefore, allowing the signal to be conveyed conveniently.</a:t>
            </a:r>
          </a:p>
          <a:p>
            <a:pPr marL="0" indent="0">
              <a:lnSpc>
                <a:spcPct val="100000"/>
              </a:lnSpc>
              <a:buNone/>
            </a:pPr>
            <a:r>
              <a:rPr lang="en-US" b="0" i="0" dirty="0">
                <a:solidFill>
                  <a:srgbClr val="FF0000"/>
                </a:solidFill>
                <a:effectLst/>
                <a:latin typeface="Arial" panose="020B0604020202020204" pitchFamily="34" charset="0"/>
              </a:rPr>
              <a:t>Disadvantages:</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Manchester coding's data rate is only half that of a non-coded signal, which limits its usefulness to systems where bandwidth is not an issue, such as a LAN vantages.</a:t>
            </a:r>
          </a:p>
          <a:p>
            <a:pPr>
              <a:lnSpc>
                <a:spcPct val="100000"/>
              </a:lnSpc>
              <a:buFont typeface="Wingdings" panose="05000000000000000000" pitchFamily="2" charset="2"/>
              <a:buChar char="Ø"/>
            </a:pPr>
            <a:r>
              <a:rPr lang="en-US" b="0" i="0" dirty="0">
                <a:solidFill>
                  <a:srgbClr val="1A0FFD"/>
                </a:solidFill>
                <a:effectLst/>
                <a:latin typeface="Arial" panose="020B0604020202020204" pitchFamily="34" charset="0"/>
              </a:rPr>
              <a:t>Manchester encoding introduces difficult frequency-related problems that make it unsuitable for use at higher data rates.</a:t>
            </a:r>
            <a:endParaRPr lang="en-IN" dirty="0">
              <a:solidFill>
                <a:srgbClr val="1A0FFD"/>
              </a:solidFill>
            </a:endParaRPr>
          </a:p>
        </p:txBody>
      </p:sp>
      <p:sp>
        <p:nvSpPr>
          <p:cNvPr id="2" name="Date Placeholder 1">
            <a:extLst>
              <a:ext uri="{FF2B5EF4-FFF2-40B4-BE49-F238E27FC236}">
                <a16:creationId xmlns:a16="http://schemas.microsoft.com/office/drawing/2014/main" id="{4CB9994D-7E34-6E6B-0B6E-E75AB77AA560}"/>
              </a:ext>
            </a:extLst>
          </p:cNvPr>
          <p:cNvSpPr>
            <a:spLocks noGrp="1"/>
          </p:cNvSpPr>
          <p:nvPr>
            <p:ph type="dt" sz="half" idx="10"/>
          </p:nvPr>
        </p:nvSpPr>
        <p:spPr/>
        <p:txBody>
          <a:bodyPr/>
          <a:lstStyle/>
          <a:p>
            <a:fld id="{2E9A4994-89A2-44F7-AAA9-F384BB463C6F}" type="datetime1">
              <a:rPr lang="en-US" smtClean="0"/>
              <a:t>1/21/2026</a:t>
            </a:fld>
            <a:endParaRPr lang="en-US"/>
          </a:p>
        </p:txBody>
      </p:sp>
    </p:spTree>
    <p:extLst>
      <p:ext uri="{BB962C8B-B14F-4D97-AF65-F5344CB8AC3E}">
        <p14:creationId xmlns:p14="http://schemas.microsoft.com/office/powerpoint/2010/main" val="107886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7AA9E-561E-8FC1-690A-3C4B219C7E22}"/>
              </a:ext>
            </a:extLst>
          </p:cNvPr>
          <p:cNvSpPr>
            <a:spLocks noGrp="1"/>
          </p:cNvSpPr>
          <p:nvPr>
            <p:ph type="title"/>
          </p:nvPr>
        </p:nvSpPr>
        <p:spPr>
          <a:xfrm>
            <a:off x="5279424" y="2766218"/>
            <a:ext cx="1633152" cy="1325563"/>
          </a:xfrm>
        </p:spPr>
        <p:txBody>
          <a:bodyPr/>
          <a:lstStyle/>
          <a:p>
            <a:r>
              <a:rPr lang="en-US" dirty="0">
                <a:latin typeface="Arial" panose="020B0604020202020204" pitchFamily="34" charset="0"/>
                <a:cs typeface="Arial" panose="020B0604020202020204" pitchFamily="34" charset="0"/>
              </a:rPr>
              <a:t>End</a:t>
            </a:r>
            <a:endParaRPr lang="en-IN"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90A0FD89-7DD6-4EBA-7737-6A42CA7263C7}"/>
              </a:ext>
            </a:extLst>
          </p:cNvPr>
          <p:cNvSpPr>
            <a:spLocks noGrp="1"/>
          </p:cNvSpPr>
          <p:nvPr>
            <p:ph type="dt" sz="half" idx="10"/>
          </p:nvPr>
        </p:nvSpPr>
        <p:spPr/>
        <p:txBody>
          <a:bodyPr/>
          <a:lstStyle/>
          <a:p>
            <a:fld id="{7B153B9B-8A31-46A2-9A06-6F642A3D3E3F}" type="datetime1">
              <a:rPr lang="en-US" smtClean="0"/>
              <a:t>1/21/2026</a:t>
            </a:fld>
            <a:endParaRPr lang="en-US"/>
          </a:p>
        </p:txBody>
      </p:sp>
    </p:spTree>
    <p:extLst>
      <p:ext uri="{BB962C8B-B14F-4D97-AF65-F5344CB8AC3E}">
        <p14:creationId xmlns:p14="http://schemas.microsoft.com/office/powerpoint/2010/main" val="2475501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3873</TotalTime>
  <Words>954</Words>
  <Application>Microsoft Office PowerPoint</Application>
  <PresentationFormat>Widescreen</PresentationFormat>
  <Paragraphs>108</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Digital Communication</vt:lpstr>
      <vt:lpstr>Binary Base-band data transmission System</vt:lpstr>
      <vt:lpstr>Line coding</vt:lpstr>
      <vt:lpstr>Line Codes</vt:lpstr>
      <vt:lpstr>Desirable Properties for Line Codes </vt:lpstr>
      <vt:lpstr>Applications of Line Coding</vt:lpstr>
      <vt:lpstr>1. Unipolar Non-return-to-zero (NRZ) signaling </vt:lpstr>
      <vt:lpstr>Advantages and disadvantages</vt:lpstr>
      <vt:lpstr>2. Uni-Polar Return-to-zero (RZ) Signaling</vt:lpstr>
      <vt:lpstr>Unipolar-RZ</vt:lpstr>
      <vt:lpstr>3. Polar - NRZ</vt:lpstr>
      <vt:lpstr>Polar NRZ-level </vt:lpstr>
      <vt:lpstr>4. Polar Return-to-Zero (RZ) signaling</vt:lpstr>
      <vt:lpstr>PowerPoint Presentation</vt:lpstr>
      <vt:lpstr>5. Split-phase (Manchester code)</vt:lpstr>
      <vt:lpstr>PowerPoint Presentation</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Delta Modulation</dc:title>
  <dc:creator>MVGR</dc:creator>
  <cp:lastModifiedBy>D Sreenivasa Rao</cp:lastModifiedBy>
  <cp:revision>178</cp:revision>
  <dcterms:created xsi:type="dcterms:W3CDTF">2017-03-12T06:53:45Z</dcterms:created>
  <dcterms:modified xsi:type="dcterms:W3CDTF">2026-01-21T02:58:02Z</dcterms:modified>
</cp:coreProperties>
</file>