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7"/>
  </p:notesMasterIdLst>
  <p:handoutMasterIdLst>
    <p:handoutMasterId r:id="rId28"/>
  </p:handoutMasterIdLst>
  <p:sldIdLst>
    <p:sldId id="289" r:id="rId5"/>
    <p:sldId id="367" r:id="rId6"/>
    <p:sldId id="366" r:id="rId7"/>
    <p:sldId id="380" r:id="rId8"/>
    <p:sldId id="381" r:id="rId9"/>
    <p:sldId id="409" r:id="rId10"/>
    <p:sldId id="375" r:id="rId11"/>
    <p:sldId id="369" r:id="rId12"/>
    <p:sldId id="378" r:id="rId13"/>
    <p:sldId id="396" r:id="rId14"/>
    <p:sldId id="376" r:id="rId15"/>
    <p:sldId id="377" r:id="rId16"/>
    <p:sldId id="374" r:id="rId17"/>
    <p:sldId id="373" r:id="rId18"/>
    <p:sldId id="372" r:id="rId19"/>
    <p:sldId id="400" r:id="rId20"/>
    <p:sldId id="371" r:id="rId21"/>
    <p:sldId id="370" r:id="rId22"/>
    <p:sldId id="382" r:id="rId23"/>
    <p:sldId id="383" r:id="rId24"/>
    <p:sldId id="384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Abhi" userId="f8e599a9041de5bd" providerId="LiveId" clId="{0E881EA1-49BF-416A-85DE-896CE4F6B4DC}"/>
    <pc:docChg chg="modSld">
      <pc:chgData name="Harsha Abhi" userId="f8e599a9041de5bd" providerId="LiveId" clId="{0E881EA1-49BF-416A-85DE-896CE4F6B4DC}" dt="2026-04-12T12:55:47.889" v="2" actId="1076"/>
      <pc:docMkLst>
        <pc:docMk/>
      </pc:docMkLst>
      <pc:sldChg chg="modSp mod">
        <pc:chgData name="Harsha Abhi" userId="f8e599a9041de5bd" providerId="LiveId" clId="{0E881EA1-49BF-416A-85DE-896CE4F6B4DC}" dt="2026-04-12T12:55:47.889" v="2" actId="1076"/>
        <pc:sldMkLst>
          <pc:docMk/>
          <pc:sldMk cId="0" sldId="374"/>
        </pc:sldMkLst>
        <pc:picChg chg="mod">
          <ac:chgData name="Harsha Abhi" userId="f8e599a9041de5bd" providerId="LiveId" clId="{0E881EA1-49BF-416A-85DE-896CE4F6B4DC}" dt="2026-04-12T12:55:47.889" v="2" actId="1076"/>
          <ac:picMkLst>
            <pc:docMk/>
            <pc:sldMk cId="0" sldId="374"/>
            <ac:picMk id="114690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711740" y="-152398"/>
            <a:ext cx="10523706" cy="1470025"/>
          </a:xfrm>
        </p:spPr>
        <p:txBody>
          <a:bodyPr>
            <a:normAutofit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24EC2208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752600" y="152400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rgbClr val="FF0000"/>
                </a:solidFill>
              </a:rPr>
              <a:t>Digital Carrier Modulation</a:t>
            </a:r>
            <a:endParaRPr lang="en-US" alt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76C0F-5016-DE87-A75B-CA67C4DBAB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245" y="2975589"/>
            <a:ext cx="10515600" cy="90323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Binary Phase Shift Keying </a:t>
            </a:r>
            <a:r>
              <a:rPr lang="en-US" sz="4000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4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BPSK</a:t>
            </a:r>
            <a:r>
              <a:rPr lang="en-US" sz="4000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997CB-E5C4-9962-9B4A-EF0531D02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EC1EA-3192-15FE-884D-C36F3BCD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0842" y="11163"/>
            <a:ext cx="6492690" cy="888488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909B7"/>
                </a:solidFill>
                <a:latin typeface="Arial" pitchFamily="34" charset="0"/>
                <a:cs typeface="Arial" pitchFamily="34" charset="0"/>
              </a:rPr>
              <a:t>Binary Phase-shift keying </a:t>
            </a:r>
            <a:r>
              <a:rPr lang="en-US" sz="3600" dirty="0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BPSK</a:t>
            </a:r>
            <a:r>
              <a:rPr lang="en-US" sz="3600" dirty="0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59" y="865447"/>
            <a:ext cx="12091481" cy="558963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Phase-shift keying (PSK) is another form of angle-modulated, constant-amplitude digital modulation.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BPSK is a form of square-wave modulation of a </a:t>
            </a:r>
            <a:r>
              <a:rPr lang="en-US" sz="3200" i="1" dirty="0">
                <a:latin typeface="Arial" pitchFamily="34" charset="0"/>
                <a:cs typeface="Arial" pitchFamily="34" charset="0"/>
              </a:rPr>
              <a:t>continuous wave (CW) signal.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altLang="en-US" sz="3200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Vary the phase shift of the carrier signal to represent digital data.</a:t>
            </a:r>
          </a:p>
          <a:p>
            <a:pPr>
              <a:buFont typeface="Wingdings" pitchFamily="2" charset="2"/>
              <a:buChar char="Ø"/>
            </a:pPr>
            <a:endParaRPr lang="en-US" sz="3200" dirty="0">
              <a:solidFill>
                <a:srgbClr val="037F29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700" y="3739591"/>
            <a:ext cx="11643162" cy="2350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5AC96-A487-AADD-842F-5EA7ED107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2DADA-C196-B4F0-801B-97E177712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1318" y="1392808"/>
            <a:ext cx="7880008" cy="5074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D4B6AD-D93F-5160-0CD4-342B871C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A41D7-3454-05C9-46C9-DBB26E74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20C85C-55C6-A0BA-3793-B184C5634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9" y="136525"/>
            <a:ext cx="5480715" cy="18673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6843" y="1089549"/>
            <a:ext cx="9758975" cy="444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CCFBE8-6D24-FA7B-0A46-863FBB922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0311A-C20C-3D55-0DB1-F2DF0443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1819" y="65877"/>
            <a:ext cx="5848781" cy="6931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Signal Space for BPSK</a:t>
            </a:r>
          </a:p>
        </p:txBody>
      </p:sp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811161" y="1807626"/>
          <a:ext cx="8436078" cy="2381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49280" imgH="888840" progId="Equation.DSMT4">
                  <p:embed/>
                </p:oleObj>
              </mc:Choice>
              <mc:Fallback>
                <p:oleObj name="Equation" r:id="rId2" imgW="3149280" imgH="888840" progId="Equation.DSMT4">
                  <p:embed/>
                  <p:pic>
                    <p:nvPicPr>
                      <p:cNvPr id="419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161" y="1807626"/>
                        <a:ext cx="8436078" cy="23811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707922" y="4259200"/>
          <a:ext cx="8446252" cy="2318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200" imgH="888840" progId="Equation.DSMT4">
                  <p:embed/>
                </p:oleObj>
              </mc:Choice>
              <mc:Fallback>
                <p:oleObj name="Equation" r:id="rId4" imgW="3238200" imgH="888840" progId="Equation.DSMT4">
                  <p:embed/>
                  <p:pic>
                    <p:nvPicPr>
                      <p:cNvPr id="419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922" y="4259200"/>
                        <a:ext cx="8446252" cy="2318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2954" y="752168"/>
            <a:ext cx="11297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C03BD"/>
                </a:solidFill>
                <a:latin typeface="Arial" pitchFamily="34" charset="0"/>
                <a:cs typeface="Arial" pitchFamily="34" charset="0"/>
              </a:rPr>
              <a:t>Two orthogonal basis functions are required for BFSK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F2B83-DFAD-EE34-A13A-4DD1F8891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0AF00-4064-0C24-19EB-06334B7D1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8205" y="752167"/>
            <a:ext cx="10471355" cy="5014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18756" y="145991"/>
            <a:ext cx="7013959" cy="469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6903" y="5780631"/>
            <a:ext cx="8249110" cy="107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5F4E03-0D66-1C8D-BB04-7FA8B67E4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0F0B9-C106-C6B4-FC61-2CC2CEEB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55" y="427702"/>
            <a:ext cx="11474245" cy="5958349"/>
          </a:xfrm>
        </p:spPr>
        <p:txBody>
          <a:bodyPr/>
          <a:lstStyle/>
          <a:p>
            <a:pPr>
              <a:buNone/>
            </a:pPr>
            <a:r>
              <a:rPr lang="en-US" dirty="0"/>
              <a:t>	</a:t>
            </a:r>
          </a:p>
          <a:p>
            <a:endParaRPr lang="en-US" dirty="0"/>
          </a:p>
        </p:txBody>
      </p:sp>
      <p:pic>
        <p:nvPicPr>
          <p:cNvPr id="1105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4499" y="3659749"/>
            <a:ext cx="11009394" cy="263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05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79190" y="162080"/>
            <a:ext cx="7748419" cy="3036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409A5A-850D-CD3B-BE8D-F22A0C0B9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3365AE-AE81-E27F-AD6B-1D6B7430A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9965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BPSK Transmitter and Receiver</a:t>
            </a:r>
          </a:p>
        </p:txBody>
      </p:sp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497" y="706694"/>
            <a:ext cx="721995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6789" y="3683410"/>
            <a:ext cx="791527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C861B-5FB2-4266-9044-FECEBD9F2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5B2856-8DBC-B162-1E60-680C5381E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6247" y="-36871"/>
            <a:ext cx="10515600" cy="958645"/>
          </a:xfrm>
        </p:spPr>
        <p:txBody>
          <a:bodyPr/>
          <a:lstStyle/>
          <a:p>
            <a:r>
              <a:rPr lang="en-US" dirty="0">
                <a:solidFill>
                  <a:srgbClr val="0C03BD"/>
                </a:solidFill>
                <a:latin typeface="Arial" pitchFamily="34" charset="0"/>
                <a:cs typeface="Arial" pitchFamily="34" charset="0"/>
              </a:rPr>
              <a:t>BPSK Transmitter and Receiver        </a:t>
            </a:r>
            <a:r>
              <a:rPr lang="en-US" sz="2800" dirty="0" err="1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Moher</a:t>
            </a:r>
            <a:endParaRPr lang="en-US" sz="2800" dirty="0">
              <a:solidFill>
                <a:srgbClr val="037F29"/>
              </a:solidFill>
            </a:endParaRPr>
          </a:p>
        </p:txBody>
      </p:sp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610" y="1097525"/>
            <a:ext cx="7272406" cy="2397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0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0108" y="3819832"/>
            <a:ext cx="11737150" cy="2595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E774A-E813-20E1-4601-FBB4D36B0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7D05A-F0C3-C885-703C-A1145BCA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3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2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286" y="270693"/>
            <a:ext cx="3168598" cy="1935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162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1724" y="2291992"/>
            <a:ext cx="4760908" cy="427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1623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77833" y="0"/>
            <a:ext cx="6414167" cy="5046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1624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37443" y="5029200"/>
            <a:ext cx="4191460" cy="1611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436D4-3DA6-3CBB-324B-04C1A72D0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1E6CA-101E-A1CD-ED65-D62772C0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452" y="24713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Bit Error Rate for BPSK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1316"/>
            <a:ext cx="10515600" cy="4495647"/>
          </a:xfrm>
        </p:spPr>
        <p:txBody>
          <a:bodyPr/>
          <a:lstStyle/>
          <a:p>
            <a:pPr>
              <a:buNone/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The average probability of error</a:t>
            </a:r>
          </a:p>
          <a:p>
            <a:pPr>
              <a:buNone/>
            </a:pPr>
            <a:endParaRPr lang="en-US" sz="3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3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3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  </a:t>
            </a:r>
          </a:p>
          <a:p>
            <a:pPr>
              <a:buNone/>
            </a:pPr>
            <a:endParaRPr lang="en-US" sz="36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3603625" y="2583682"/>
          <a:ext cx="2922588" cy="144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520" imgH="507960" progId="Equation.DSMT4">
                  <p:embed/>
                </p:oleObj>
              </mc:Choice>
              <mc:Fallback>
                <p:oleObj name="Equation" r:id="rId2" imgW="1028520" imgH="507960" progId="Equation.DSMT4">
                  <p:embed/>
                  <p:pic>
                    <p:nvPicPr>
                      <p:cNvPr id="450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25" y="2583682"/>
                        <a:ext cx="2922588" cy="1443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3A57-AE7B-B6DB-6562-56145668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88356-8B25-B088-8972-2B2D77B1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344" y="330900"/>
            <a:ext cx="11488070" cy="2088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7C19A-0E36-DB1E-2595-DA131917C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C2D7F-ECC7-F82A-8176-D692B7BD4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716" y="133658"/>
            <a:ext cx="11769214" cy="1819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4D8FBB-C158-0A92-3901-E8A1F521F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E47CE-E7DA-7BB1-8C9F-5CD8CE8E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659" y="305191"/>
            <a:ext cx="11975690" cy="103597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Arial" pitchFamily="34" charset="0"/>
                <a:cs typeface="Arial" pitchFamily="34" charset="0"/>
              </a:rPr>
              <a:t>Quaternary Phase-Shift Keying</a:t>
            </a:r>
            <a:r>
              <a:rPr lang="en-US" sz="3200" b="1" dirty="0"/>
              <a:t> (</a:t>
            </a:r>
            <a:r>
              <a:rPr lang="en-US" sz="3200" b="1" dirty="0" err="1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Quadriphase</a:t>
            </a:r>
            <a:r>
              <a:rPr lang="en-US" sz="3200" b="1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-shift Keying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)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br>
              <a:rPr lang="en-US" sz="3200" dirty="0">
                <a:latin typeface="Arial" pitchFamily="34" charset="0"/>
                <a:cs typeface="Arial" pitchFamily="34" charset="0"/>
              </a:rPr>
            </a:b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QPSK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310" y="1253614"/>
            <a:ext cx="11941276" cy="54716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Quaternary phase shift keying (QPSK), or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quadrature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PSK as it is sometimes called, is another form of angle-modulated, constant-amplitude digital modulation. 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QPSK is an M-</a:t>
            </a:r>
            <a:r>
              <a:rPr lang="en-US" sz="2400" dirty="0" err="1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ary</a:t>
            </a:r>
            <a:r>
              <a:rPr lang="en-US" sz="2400" dirty="0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 encoding scheme where N = 2 and M = 4 (hence, the name “quaternary” meaning “4”).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With QPSK, four output phases are possible for a single carrier frequency. Because there are four output phases, there must be four different input conditions. 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With two bits, there are four possible conditions: 00, 01, 10, and 11.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Therefore, with QPSK, the binary input data are combined into groups of two bits, called </a:t>
            </a:r>
            <a:r>
              <a:rPr lang="en-US" sz="2400" dirty="0" err="1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dibits</a:t>
            </a:r>
            <a:r>
              <a:rPr lang="en-US" sz="2400" dirty="0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 the modulator, each </a:t>
            </a:r>
            <a:r>
              <a:rPr lang="en-US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dibit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code generates one of the four possible output phases (45°, 135°, 45°, and 135°).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3D8C0-DE13-0D03-B05C-626BA026A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F61D8-131C-2D6C-0784-35E41463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3500" y="2669458"/>
            <a:ext cx="6471449" cy="3916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8004" name="Object 4"/>
          <p:cNvGraphicFramePr>
            <a:graphicFrameLocks noChangeAspect="1"/>
          </p:cNvGraphicFramePr>
          <p:nvPr/>
        </p:nvGraphicFramePr>
        <p:xfrm>
          <a:off x="137148" y="294968"/>
          <a:ext cx="11892284" cy="2182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12920" imgH="736560" progId="Equation.DSMT4">
                  <p:embed/>
                </p:oleObj>
              </mc:Choice>
              <mc:Fallback>
                <p:oleObj name="Equation" r:id="rId3" imgW="4012920" imgH="736560" progId="Equation.DSMT4">
                  <p:embed/>
                  <p:pic>
                    <p:nvPicPr>
                      <p:cNvPr id="1280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48" y="294968"/>
                        <a:ext cx="11892284" cy="2182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03AF08-D3E1-3BD3-8407-6A3715E43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0016F-E0D4-612E-545C-31F7768F9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4170" y="0"/>
            <a:ext cx="4309353" cy="98814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QPSK Modulator</a:t>
            </a:r>
          </a:p>
        </p:txBody>
      </p:sp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5122" y="773367"/>
            <a:ext cx="10425784" cy="57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FFA31D-75B5-107C-5BE4-DB454B55A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B9342-23E6-75DE-185A-63DFAABD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5183" y="-36364"/>
            <a:ext cx="2109019" cy="88490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Receiver</a:t>
            </a:r>
          </a:p>
        </p:txBody>
      </p:sp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8710" y="862014"/>
            <a:ext cx="11459496" cy="5640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9CE5E2-255F-6367-E13F-9C027F19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600F7-2A80-3B8B-2BF8-EACA70FEA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488" y="73740"/>
            <a:ext cx="3477239" cy="3017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08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2069" y="422173"/>
            <a:ext cx="7881170" cy="5804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3E4564-E1EA-9C4F-4C9F-952290FAC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2CE18-61BE-D9FA-6671-10BEEF719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6430" y="422941"/>
            <a:ext cx="6234113" cy="5659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660FC-ACF5-C8B7-EDED-C0EFCDE4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1014D-1185-57C0-12FA-7118B48D0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723" y="365125"/>
            <a:ext cx="11547987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The constellation diagrams for an ASK (OOK), BPSK, and QPSK signals</a:t>
            </a:r>
            <a:r>
              <a:rPr lang="en-US" alt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br>
              <a:rPr lang="en-US" altLang="en-US" i="1" dirty="0">
                <a:latin typeface="Times New Roman" pitchFamily="18" charset="0"/>
              </a:rPr>
            </a:br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199" y="1982427"/>
            <a:ext cx="11800324" cy="2987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CCB4E6-D363-C695-9FE3-5232289B1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BE6FB-C70A-04FB-3D3B-C7AAD915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5CAC-E977-2F3C-6F5F-44179CEF4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093" y="2514938"/>
            <a:ext cx="1652081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05C0-2994-D82F-F827-E65395E6E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A7563-92C4-405C-61C9-8C410123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334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6" ma:contentTypeDescription="Create a new document." ma:contentTypeScope="" ma:versionID="df4401971fe1472aefb2287f2b42b038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8f55f25a984c6d559814fe32ab22ce0f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LengthInSecond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4D7D36-6208-4CBE-AB2E-D44A06D3D6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942E90-F73C-42DC-BE25-1F552216703B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9df66832-8a96-40a9-b472-27b1b671652b"/>
    <ds:schemaRef ds:uri="http://purl.org/dc/terms/"/>
    <ds:schemaRef ds:uri="http://purl.org/dc/elements/1.1/"/>
    <ds:schemaRef ds:uri="http://schemas.microsoft.com/office/2006/metadata/properties"/>
    <ds:schemaRef ds:uri="3ef07bbe-7178-465e-b37e-c96ad76c7ba2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632</TotalTime>
  <Words>461</Words>
  <Application>Microsoft Office PowerPoint</Application>
  <PresentationFormat>Widescreen</PresentationFormat>
  <Paragraphs>72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Wingdings</vt:lpstr>
      <vt:lpstr>Office Theme</vt:lpstr>
      <vt:lpstr>Equation</vt:lpstr>
      <vt:lpstr>Digital Communication 24EC2208</vt:lpstr>
      <vt:lpstr>Binary Phase Shift Keying (BPSK)</vt:lpstr>
      <vt:lpstr>Binary Phase-shift keying (BPSK)</vt:lpstr>
      <vt:lpstr>PowerPoint Presentation</vt:lpstr>
      <vt:lpstr>PowerPoint Presentation</vt:lpstr>
      <vt:lpstr>Signal Space for BPSK</vt:lpstr>
      <vt:lpstr>PowerPoint Presentation</vt:lpstr>
      <vt:lpstr>PowerPoint Presentation</vt:lpstr>
      <vt:lpstr>BPSK Transmitter and Receiver</vt:lpstr>
      <vt:lpstr>BPSK Transmitter and Receiver        Moher</vt:lpstr>
      <vt:lpstr>PowerPoint Presentation</vt:lpstr>
      <vt:lpstr>Bit Error Rate for BPSK</vt:lpstr>
      <vt:lpstr>PowerPoint Presentation</vt:lpstr>
      <vt:lpstr>PowerPoint Presentation</vt:lpstr>
      <vt:lpstr>Quaternary Phase-Shift Keying (Quadriphase-shift Keying )  QPSK</vt:lpstr>
      <vt:lpstr>PowerPoint Presentation</vt:lpstr>
      <vt:lpstr>QPSK Modulator</vt:lpstr>
      <vt:lpstr>Receiver</vt:lpstr>
      <vt:lpstr>PowerPoint Presentation</vt:lpstr>
      <vt:lpstr>PowerPoint Presentation</vt:lpstr>
      <vt:lpstr>The constellation diagrams for an ASK (OOK), BPSK, and QPSK signals. 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Harsha Abhi</cp:lastModifiedBy>
  <cp:revision>35</cp:revision>
  <dcterms:created xsi:type="dcterms:W3CDTF">2023-05-08T13:48:07Z</dcterms:created>
  <dcterms:modified xsi:type="dcterms:W3CDTF">2026-04-12T12:55:53Z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