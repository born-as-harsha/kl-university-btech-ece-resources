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2"/>
  </p:notesMasterIdLst>
  <p:handoutMasterIdLst>
    <p:handoutMasterId r:id="rId23"/>
  </p:handoutMasterIdLst>
  <p:sldIdLst>
    <p:sldId id="376" r:id="rId5"/>
    <p:sldId id="430" r:id="rId6"/>
    <p:sldId id="275" r:id="rId7"/>
    <p:sldId id="296" r:id="rId8"/>
    <p:sldId id="272" r:id="rId9"/>
    <p:sldId id="471" r:id="rId10"/>
    <p:sldId id="477" r:id="rId11"/>
    <p:sldId id="495" r:id="rId12"/>
    <p:sldId id="429" r:id="rId13"/>
    <p:sldId id="496" r:id="rId14"/>
    <p:sldId id="434" r:id="rId15"/>
    <p:sldId id="425" r:id="rId16"/>
    <p:sldId id="424" r:id="rId17"/>
    <p:sldId id="423" r:id="rId18"/>
    <p:sldId id="449" r:id="rId19"/>
    <p:sldId id="448" r:id="rId20"/>
    <p:sldId id="42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C3D46A-FF2E-42AC-89B8-02A9E330841D}" v="5" dt="2023-11-30T04:48:04.558"/>
    <p1510:client id="{C25E1DC8-A601-40AC-ACC5-1C017B431D19}" v="4" dt="2023-11-30T04:39:57.975"/>
    <p1510:client id="{E4DDD848-9BF3-4B32-A72E-01899E74668D}" v="1" dt="2023-11-30T05:06:17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10.png"/><Relationship Id="rId7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0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66B1CCA-1E7B-E2AF-59C1-5A598264E2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2577" y="1018937"/>
            <a:ext cx="9144000" cy="949165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 Communication</a:t>
            </a:r>
            <a:r>
              <a:rPr lang="en-US" altLang="en-US" sz="4400" dirty="0">
                <a:solidFill>
                  <a:srgbClr val="320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24EC2208</a:t>
            </a:r>
            <a:endParaRPr lang="en-US" sz="4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5" name="Subtitle 3">
            <a:extLst>
              <a:ext uri="{FF2B5EF4-FFF2-40B4-BE49-F238E27FC236}">
                <a16:creationId xmlns:a16="http://schemas.microsoft.com/office/drawing/2014/main" id="{DBA52847-156C-F14D-6399-6A6B2B37A2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70304" y="3048000"/>
            <a:ext cx="9144000" cy="2316480"/>
          </a:xfrm>
        </p:spPr>
        <p:txBody>
          <a:bodyPr/>
          <a:lstStyle/>
          <a:p>
            <a:r>
              <a:rPr lang="en-US" altLang="en-US" sz="5400" dirty="0">
                <a:ea typeface="新細明體" panose="02020500000000000000" pitchFamily="18" charset="-120"/>
              </a:rPr>
              <a:t> </a:t>
            </a:r>
            <a:r>
              <a:rPr lang="en-US" sz="5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Introduction to Information Theory</a:t>
            </a:r>
            <a:endParaRPr lang="en-US" altLang="en-US" sz="3600" dirty="0">
              <a:solidFill>
                <a:srgbClr val="002060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  <a:p>
            <a:pPr eaLnBrk="1" hangingPunct="1"/>
            <a:endParaRPr lang="en-US" altLang="en-US" sz="3600" dirty="0">
              <a:solidFill>
                <a:srgbClr val="003DB8"/>
              </a:solidFill>
              <a:latin typeface="Arial" panose="020B0604020202020204" pitchFamily="34" charset="0"/>
              <a:ea typeface="新細明體" panose="02020500000000000000" pitchFamily="18" charset="-12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44952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</a:t>
            </a:r>
            <a:r>
              <a:rPr lang="en-US" sz="40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Introduction to Information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85" y="844953"/>
            <a:ext cx="11707091" cy="525087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Information theory is a branch of science that deals with the analysis of a communications system.</a:t>
            </a: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Ø"/>
            </a:pPr>
            <a:r>
              <a:rPr lang="en-US" dirty="0">
                <a:solidFill>
                  <a:srgbClr val="178F03"/>
                </a:solidFill>
                <a:latin typeface="Arial" pitchFamily="34" charset="0"/>
                <a:cs typeface="Arial" pitchFamily="34" charset="0"/>
              </a:rPr>
              <a:t>Claude Shannon Published a landmark paper in 1948 that was the beginning of the branch of information theory.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latin typeface="Arial" pitchFamily="34" charset="0"/>
                <a:cs typeface="Arial" pitchFamily="34" charset="0"/>
              </a:rPr>
              <a:t>We are interested in communicating information from a source to a destination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3BC803-84C8-79C9-B7F9-798A836DD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97" y="1794080"/>
            <a:ext cx="10660303" cy="2270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0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49" y="940650"/>
            <a:ext cx="11858845" cy="356543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highly theoretical study of the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use of bandwidth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propagate information through electronic communications systems.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 can be used to determine the </a:t>
            </a:r>
            <a:r>
              <a:rPr lang="en-US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a data communications system.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Information capacity is a measure of how much information can be propagated through a communications system and is a function of bandwidth and transmission time.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73320" y="4506085"/>
            <a:ext cx="1630871" cy="5542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37B99-9CDA-3ECD-71D4-E52B319DA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550" y="-25334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Theory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F99281-F9DE-DD59-E0F4-BC2152C6E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784" y="5177266"/>
            <a:ext cx="5240071" cy="136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123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486" y="915172"/>
            <a:ext cx="11783027" cy="4490206"/>
          </a:xfrm>
        </p:spPr>
        <p:txBody>
          <a:bodyPr>
            <a:normAutofit/>
          </a:bodyPr>
          <a:lstStyle/>
          <a:p>
            <a:pPr algn="just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capacity represents the number of independent symbols that can be carried through a system in a given unit of time.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most basic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digital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symbol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used to represent information is the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 digit,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Therefore, it is often convenient to express the information capacity of a system as a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r>
              <a:rPr lang="en-US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 is simply the number of bits transmitted during one second and is expressed in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bits per second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(bps).      </a:t>
            </a:r>
          </a:p>
          <a:p>
            <a:pPr marL="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Bit rate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Object 2"/>
              <p:cNvSpPr txBox="1"/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320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func>
                        <m:funcPr>
                          <m:ctrlP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3200" i="0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717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00381" y="5255823"/>
                <a:ext cx="8600210" cy="7680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57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062" y="123156"/>
            <a:ext cx="6831224" cy="70713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M-</a:t>
            </a:r>
            <a:r>
              <a:rPr lang="en-US" b="1" dirty="0" err="1">
                <a:solidFill>
                  <a:srgbClr val="FF0000"/>
                </a:solidFill>
              </a:rPr>
              <a:t>ary</a:t>
            </a:r>
            <a:r>
              <a:rPr lang="en-US" b="1" dirty="0">
                <a:solidFill>
                  <a:srgbClr val="FF0000"/>
                </a:solidFill>
              </a:rPr>
              <a:t> (Multi-level) Encoding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992" y="995423"/>
            <a:ext cx="11036808" cy="507387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M-ary </a:t>
            </a:r>
            <a:r>
              <a:rPr lang="en-US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a term derived from the word </a:t>
            </a:r>
            <a:r>
              <a:rPr lang="en-US" i="1" dirty="0">
                <a:solidFill>
                  <a:srgbClr val="0221B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simply represents a digit that corresponds to the number of conditions, levels, or combinations possible for a given number of binary variables.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often advantageous to encode at a level higher than binary where there are more than two conditions possible.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example, a digital signal with four possible conditions (voltage levels, frequencies, phases, and so on) is an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-ary system where </a:t>
            </a:r>
            <a:r>
              <a:rPr lang="en-US" i="1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</a:t>
            </a:r>
            <a:r>
              <a:rPr lang="en-US" dirty="0">
                <a:solidFill>
                  <a:srgbClr val="0C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there are eight possible conditions,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M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= 8 and so forth. 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88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47" y="0"/>
            <a:ext cx="12008224" cy="6150069"/>
          </a:xfrm>
        </p:spPr>
        <p:txBody>
          <a:bodyPr/>
          <a:lstStyle/>
          <a:p>
            <a:pPr>
              <a:buNone/>
            </a:pP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                M-</a:t>
            </a:r>
            <a:r>
              <a:rPr lang="en-US" dirty="0" err="1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ary</a:t>
            </a:r>
            <a:r>
              <a:rPr lang="en-US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signals:</a:t>
            </a:r>
          </a:p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US" sz="2200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If more than two levels are used for signaling (higher-than-binary encoding), more than one bit may be transmitted at a time, and it is possible to propagate a bit rate that exceeds 2</a:t>
            </a:r>
            <a:r>
              <a:rPr lang="en-US" sz="2200" i="1" dirty="0">
                <a:solidFill>
                  <a:srgbClr val="0C03BD"/>
                </a:solidFill>
                <a:latin typeface="Arial" pitchFamily="34" charset="0"/>
                <a:cs typeface="Arial" pitchFamily="34" charset="0"/>
              </a:rPr>
              <a:t>B. </a:t>
            </a:r>
          </a:p>
          <a:p>
            <a:pPr>
              <a:buFont typeface="Wingdings" pitchFamily="2" charset="2"/>
              <a:buChar char="Ø"/>
            </a:pP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Using multilevel signaling, the </a:t>
            </a:r>
            <a:r>
              <a:rPr lang="en-US" sz="2200" i="1" dirty="0" err="1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Nyquist</a:t>
            </a:r>
            <a:r>
              <a:rPr lang="en-US" sz="2200" i="1" dirty="0">
                <a:solidFill>
                  <a:srgbClr val="037F29"/>
                </a:solidFill>
                <a:latin typeface="Arial" pitchFamily="34" charset="0"/>
                <a:cs typeface="Arial" pitchFamily="34" charset="0"/>
              </a:rPr>
              <a:t> formulation for channel capacity is</a:t>
            </a:r>
            <a:endParaRPr lang="en-US" sz="2200" dirty="0">
              <a:solidFill>
                <a:srgbClr val="037F29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23481" y="1717245"/>
            <a:ext cx="2110520" cy="575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71710" y="2405236"/>
            <a:ext cx="6323711" cy="1043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49649" y="3561350"/>
            <a:ext cx="9415099" cy="3067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965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1350" y="893912"/>
            <a:ext cx="10351000" cy="69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50" y="2074414"/>
            <a:ext cx="10879498" cy="129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0" y="3766624"/>
            <a:ext cx="12003150" cy="1987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1F41FA-22A0-D924-F71F-776D4E796CB3}"/>
              </a:ext>
            </a:extLst>
          </p:cNvPr>
          <p:cNvSpPr txBox="1"/>
          <p:nvPr/>
        </p:nvSpPr>
        <p:spPr>
          <a:xfrm>
            <a:off x="2141316" y="2257063"/>
            <a:ext cx="1492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877C9D-052F-9415-0101-47DE68D05362}"/>
              </a:ext>
            </a:extLst>
          </p:cNvPr>
          <p:cNvSpPr txBox="1"/>
          <p:nvPr/>
        </p:nvSpPr>
        <p:spPr>
          <a:xfrm>
            <a:off x="2141316" y="4257632"/>
            <a:ext cx="1236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4-ary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0E893D-BA7B-3FE7-0642-6E9B796B2829}"/>
              </a:ext>
            </a:extLst>
          </p:cNvPr>
          <p:cNvSpPr txBox="1"/>
          <p:nvPr/>
        </p:nvSpPr>
        <p:spPr>
          <a:xfrm>
            <a:off x="3290104" y="19534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M-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ary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Encoding</a:t>
            </a: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96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3643" y="262924"/>
            <a:ext cx="10422920" cy="6923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65" y="1155895"/>
            <a:ext cx="10879498" cy="1291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54" y="2487267"/>
            <a:ext cx="5814646" cy="1276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538" y="4068746"/>
            <a:ext cx="9318015" cy="247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68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01B8EA2-473D-0DFD-E990-E83D718B5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156" y="3293137"/>
            <a:ext cx="1371600" cy="1971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B8392013-D424-BABD-B29C-624A9EA144CA}"/>
                  </a:ext>
                </a:extLst>
              </p:cNvPr>
              <p:cNvSpPr txBox="1"/>
              <p:nvPr/>
            </p:nvSpPr>
            <p:spPr bwMode="auto">
              <a:xfrm>
                <a:off x="1411148" y="152155"/>
                <a:ext cx="9422755" cy="14220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IN" sz="3200" i="1">
                          <a:solidFill>
                            <a:srgbClr val="1A05CD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3200" i="1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IN" sz="3200" i="0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IN" sz="3200" i="1">
                                  <a:solidFill>
                                    <a:srgbClr val="1A05CD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𝑤h𝑒𝑟𝑒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3200" b="0" i="1" smtClean="0">
                              <a:solidFill>
                                <a:srgbClr val="1A05CD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IN" sz="3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IN" sz="3200" dirty="0"/>
              </a:p>
            </p:txBody>
          </p:sp>
        </mc:Choice>
        <mc:Fallback xmlns="">
          <p:sp>
            <p:nvSpPr>
              <p:cNvPr id="10" name="Object 2">
                <a:extLst>
                  <a:ext uri="{FF2B5EF4-FFF2-40B4-BE49-F238E27FC236}">
                    <a16:creationId xmlns:a16="http://schemas.microsoft.com/office/drawing/2014/main" id="{B8392013-D424-BABD-B29C-624A9EA144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148" y="152155"/>
                <a:ext cx="9422755" cy="14220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1A89A6C1-4A32-CE6A-4C8C-713DACA27E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725" y="465062"/>
            <a:ext cx="1209675" cy="12591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D2AAEE-FA09-0C43-5505-E55BA56C56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4" y="995419"/>
            <a:ext cx="5534025" cy="6572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57D7293-0CB5-5EE6-94BF-9837F8184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21" y="2017051"/>
            <a:ext cx="4981575" cy="5619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D43589-A6C9-9524-B3BD-A656A5195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885" y="3103471"/>
            <a:ext cx="3396711" cy="26840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6EDEFD-A140-89C1-CFDC-2F18028C61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2525" y="2186673"/>
            <a:ext cx="5762266" cy="3805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6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29AAD-218A-0237-07AE-40871BFAF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580" y="726030"/>
            <a:ext cx="10515600" cy="43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IN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are three reasons for the emphasis </a:t>
            </a:r>
            <a:r>
              <a:rPr lang="en-US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Discrete PAM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0" indent="0" algn="l">
              <a:buNone/>
            </a:pPr>
            <a:endParaRPr lang="en-US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 algn="l">
              <a:buAutoNum type="arabicPeriod"/>
            </a:pPr>
            <a:r>
              <a:rPr lang="en-US" b="0" i="0" u="none" strike="noStrike" baseline="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Discrete pulse-amplitude modulation is simple to analyze.</a:t>
            </a:r>
          </a:p>
          <a:p>
            <a:pPr marL="514350" indent="-514350" algn="l">
              <a:buAutoNum type="arabicPeriod"/>
            </a:pPr>
            <a:endParaRPr lang="en-US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It is the most efficient form of discrete pulse modulation in terms of both power and </a:t>
            </a:r>
            <a:r>
              <a:rPr lang="en-IN" b="0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bandwidth use.</a:t>
            </a:r>
          </a:p>
          <a:p>
            <a:pPr marL="0" indent="0" algn="l">
              <a:buNone/>
            </a:pPr>
            <a:endParaRPr lang="en-IN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0" i="0" u="none" strike="noStrike" baseline="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analytic techniques developed for handling discrete pulse-amplitude modulation may be extended to other discrete-pulse modulation techniques using phase or frequency.</a:t>
            </a:r>
            <a:endParaRPr lang="en-IN" dirty="0">
              <a:solidFill>
                <a:srgbClr val="0909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938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77982" y="0"/>
            <a:ext cx="10515600" cy="928255"/>
          </a:xfrm>
        </p:spPr>
        <p:txBody>
          <a:bodyPr>
            <a:normAutofit/>
          </a:bodyPr>
          <a:lstStyle/>
          <a:p>
            <a:r>
              <a:rPr lang="sv-SE" sz="4000" dirty="0">
                <a:solidFill>
                  <a:srgbClr val="0404EC"/>
                </a:solidFill>
                <a:latin typeface="Arial" pitchFamily="34" charset="0"/>
                <a:cs typeface="Arial" pitchFamily="34" charset="0"/>
              </a:rPr>
              <a:t>Discrete Memoryless Source</a:t>
            </a:r>
            <a:endParaRPr lang="en-US" sz="4000" dirty="0">
              <a:solidFill>
                <a:srgbClr val="0404EC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626" y="767351"/>
            <a:ext cx="11220289" cy="1191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80" y="3633574"/>
            <a:ext cx="10819597" cy="115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80" y="4949025"/>
            <a:ext cx="11523268" cy="190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0"/>
          <p:cNvGrpSpPr>
            <a:grpSpLocks/>
          </p:cNvGrpSpPr>
          <p:nvPr/>
        </p:nvGrpSpPr>
        <p:grpSpPr bwMode="auto">
          <a:xfrm>
            <a:off x="3079653" y="2188181"/>
            <a:ext cx="5353050" cy="1295400"/>
            <a:chOff x="1791" y="3158"/>
            <a:chExt cx="2529" cy="816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1791" y="3158"/>
              <a:ext cx="1134" cy="81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sv-SE" sz="3200" b="1" dirty="0">
                  <a:solidFill>
                    <a:srgbClr val="178F03"/>
                  </a:solidFill>
                  <a:latin typeface="Arial" pitchFamily="34" charset="0"/>
                  <a:cs typeface="Arial" pitchFamily="34" charset="0"/>
                </a:rPr>
                <a:t>Source</a:t>
              </a:r>
              <a:endParaRPr lang="en-US" sz="3200" b="1" dirty="0">
                <a:solidFill>
                  <a:srgbClr val="178F03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Line 5"/>
            <p:cNvSpPr>
              <a:spLocks noChangeShapeType="1"/>
            </p:cNvSpPr>
            <p:nvPr/>
          </p:nvSpPr>
          <p:spPr bwMode="auto">
            <a:xfrm>
              <a:off x="2925" y="3566"/>
              <a:ext cx="5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Box 7"/>
            <p:cNvSpPr txBox="1">
              <a:spLocks noChangeArrowheads="1"/>
            </p:cNvSpPr>
            <p:nvPr/>
          </p:nvSpPr>
          <p:spPr bwMode="auto">
            <a:xfrm>
              <a:off x="3560" y="3386"/>
              <a:ext cx="760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sv-SE" sz="2800" b="1" i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s</a:t>
              </a:r>
              <a:r>
                <a:rPr lang="sv-SE" sz="2800" b="1" baseline="-25000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1</a:t>
              </a:r>
              <a:r>
                <a:rPr lang="sv-SE" sz="2800" b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, </a:t>
              </a:r>
              <a:r>
                <a:rPr lang="sv-SE" sz="2800" b="1" i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s</a:t>
              </a:r>
              <a:r>
                <a:rPr lang="sv-SE" sz="2800" b="1" baseline="-25000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2</a:t>
              </a:r>
              <a:r>
                <a:rPr lang="sv-SE" sz="2800" b="1" dirty="0">
                  <a:solidFill>
                    <a:srgbClr val="0404EC"/>
                  </a:solidFill>
                  <a:latin typeface="Arial" pitchFamily="34" charset="0"/>
                  <a:cs typeface="Arial" pitchFamily="34" charset="0"/>
                </a:rPr>
                <a:t>, …</a:t>
              </a:r>
              <a:endParaRPr lang="en-US" sz="2800" b="1" dirty="0">
                <a:solidFill>
                  <a:srgbClr val="0404EC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6555" y="1"/>
            <a:ext cx="10515600" cy="780836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Coding</a:t>
            </a:r>
            <a:endParaRPr lang="en-U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837" y="873303"/>
            <a:ext cx="11907749" cy="586654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0404E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 representation of discrete source.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 functional requirements.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latin typeface="Arial" panose="020B0604020202020204" pitchFamily="34" charset="0"/>
                <a:cs typeface="Arial" panose="020B0604020202020204" pitchFamily="34" charset="0"/>
              </a:rPr>
              <a:t>The code words produced by the encoder are in binary form.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3200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code is uniquely decodable, so that the original source sequence can be reconstructed perfectly from the encoded binary sequence. </a:t>
            </a:r>
            <a:endParaRPr lang="en-US" sz="3200" dirty="0">
              <a:solidFill>
                <a:srgbClr val="178F0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7284" y="4441420"/>
            <a:ext cx="9256278" cy="1823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9464"/>
          </a:xfrm>
        </p:spPr>
        <p:txBody>
          <a:bodyPr/>
          <a:lstStyle/>
          <a:p>
            <a:r>
              <a:rPr lang="en-US" dirty="0">
                <a:solidFill>
                  <a:srgbClr val="178F0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encoder …</a:t>
            </a:r>
          </a:p>
        </p:txBody>
      </p:sp>
      <p:pic>
        <p:nvPicPr>
          <p:cNvPr id="134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98" y="1114977"/>
            <a:ext cx="11419488" cy="12256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4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98" y="2835663"/>
            <a:ext cx="11560617" cy="565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4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467" y="3774101"/>
            <a:ext cx="3424750" cy="1688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34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341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34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7723"/>
            <a:ext cx="10515600" cy="59037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Encoder</a:t>
            </a:r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474" y="580168"/>
            <a:ext cx="10222359" cy="1095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667" y="1675421"/>
            <a:ext cx="8865006" cy="66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372" y="2345381"/>
            <a:ext cx="9626458" cy="1604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37" y="3949791"/>
            <a:ext cx="11603412" cy="862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468" y="4811964"/>
            <a:ext cx="11831532" cy="442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517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748" y="5379913"/>
            <a:ext cx="12066785" cy="140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5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5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35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5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5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9368"/>
            <a:ext cx="10515600" cy="81640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Huffman Coding</a:t>
            </a:r>
          </a:p>
        </p:txBody>
      </p:sp>
      <p:pic>
        <p:nvPicPr>
          <p:cNvPr id="137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06" y="1132627"/>
            <a:ext cx="8256978" cy="768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7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18" y="1986392"/>
            <a:ext cx="11585862" cy="1815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77401" y="4061735"/>
                <a:ext cx="11671443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Example: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Five symbols {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𝟎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𝟏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𝟑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𝟒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𝒔</m:t>
                        </m:r>
                      </m:e>
                      <m:sub>
                        <m:r>
                          <a:rPr lang="en-IN" sz="2800" b="1" i="1">
                            <a:solidFill>
                              <a:srgbClr val="FF0000"/>
                            </a:solidFill>
                            <a:latin typeface="Cambria Math"/>
                            <a:cs typeface="Arial" panose="020B0604020202020204" pitchFamily="34" charset="0"/>
                          </a:rPr>
                          <m:t>𝟓</m:t>
                        </m:r>
                      </m:sub>
                    </m:sSub>
                    <m:r>
                      <a:rPr lang="en-IN" sz="2800" b="1" i="1">
                        <a:solidFill>
                          <a:srgbClr val="FF0000"/>
                        </a:solidFill>
                        <a:latin typeface="Cambria Math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} of the alphabet of a discrete memoryless source (DMS) and their probabilities respectively are {</a:t>
                </a:r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0.2, 0.1, 0.1, 0.2 </a:t>
                </a:r>
                <a:r>
                  <a:rPr lang="en-IN" sz="2800" b="1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en-IN" sz="2800" b="1" dirty="0">
                    <a:solidFill>
                      <a:srgbClr val="0404EC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0.4</a:t>
                </a:r>
                <a:r>
                  <a:rPr lang="en-IN" sz="2800" dirty="0">
                    <a:latin typeface="Arial" panose="020B0604020202020204" pitchFamily="34" charset="0"/>
                    <a:cs typeface="Arial" panose="020B0604020202020204" pitchFamily="34" charset="0"/>
                  </a:rPr>
                  <a:t>}. Draw the Huffman code tree and find the average code word length and efficiency.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401" y="4061735"/>
                <a:ext cx="11671443" cy="1815882"/>
              </a:xfrm>
              <a:prstGeom prst="rect">
                <a:avLst/>
              </a:prstGeom>
              <a:blipFill rotWithShape="1">
                <a:blip r:embed="rId4"/>
                <a:stretch>
                  <a:fillRect l="-1097" t="-3356" r="-784" b="-83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52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66" y="307208"/>
            <a:ext cx="734377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434" y="395555"/>
            <a:ext cx="4209812" cy="2399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8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022" y="4334678"/>
            <a:ext cx="10279027" cy="168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1653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C99DF3D8-B10E-8B96-F70D-4D036378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778" y="2857500"/>
            <a:ext cx="1806405" cy="1143000"/>
          </a:xfrm>
        </p:spPr>
        <p:txBody>
          <a:bodyPr/>
          <a:lstStyle/>
          <a:p>
            <a:r>
              <a:rPr lang="en-IN" altLang="en-US">
                <a:solidFill>
                  <a:srgbClr val="FF0000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</TotalTime>
  <Words>564</Words>
  <Application>Microsoft Office PowerPoint</Application>
  <PresentationFormat>Widescreen</PresentationFormat>
  <Paragraphs>54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新細明體</vt:lpstr>
      <vt:lpstr>Arial</vt:lpstr>
      <vt:lpstr>Calibri</vt:lpstr>
      <vt:lpstr>Calibri Light</vt:lpstr>
      <vt:lpstr>Cambria Math</vt:lpstr>
      <vt:lpstr>Wingdings</vt:lpstr>
      <vt:lpstr>Office Theme</vt:lpstr>
      <vt:lpstr>Digital Communication 24EC2208</vt:lpstr>
      <vt:lpstr>    Introduction to Information Theory</vt:lpstr>
      <vt:lpstr>Information Theory</vt:lpstr>
      <vt:lpstr>PowerPoint Presentation</vt:lpstr>
      <vt:lpstr>M-ary (Multi-level) Encoding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Discrete Memoryless Source</vt:lpstr>
      <vt:lpstr>Source Coding</vt:lpstr>
      <vt:lpstr>Source encoder …</vt:lpstr>
      <vt:lpstr>Source Encoder</vt:lpstr>
      <vt:lpstr>Huffman Coding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29</cp:revision>
  <dcterms:created xsi:type="dcterms:W3CDTF">2023-05-08T13:48:07Z</dcterms:created>
  <dcterms:modified xsi:type="dcterms:W3CDTF">2026-02-07T09:50:08Z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