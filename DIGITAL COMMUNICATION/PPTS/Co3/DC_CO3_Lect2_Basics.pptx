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89" r:id="rId5"/>
    <p:sldId id="282" r:id="rId6"/>
    <p:sldId id="257" r:id="rId7"/>
    <p:sldId id="258" r:id="rId8"/>
    <p:sldId id="441" r:id="rId9"/>
    <p:sldId id="473" r:id="rId10"/>
    <p:sldId id="474" r:id="rId11"/>
    <p:sldId id="470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75" r:id="rId21"/>
    <p:sldId id="476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2782-BB10-4D7C-95CA-5DCBAF3D2608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F5EA5-DA1A-4898-9753-FFFB51136000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ADC-0CC2-4A5F-9651-8C32A1ED0C50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1404F-72DD-4DA0-820E-2B9FF6273356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F545-67FE-4127-8042-10B7A1D8D775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183-73F5-4297-B57A-5E68BBA24933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FC8B-28D8-4642-AF27-241910F60698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8F4A-E23B-45B7-A70F-B9E97172F6C7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7076-C063-4446-BE4E-D4482DA5F35C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736CF-FB59-46BC-A2C3-E944FB1F3097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F2E7-1791-477D-961E-6AE8DAEA7B1B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B2921-E868-4DE3-8A4C-52A0907079CA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Digital Carrier Modulation</a:t>
            </a:r>
            <a:endParaRPr lang="en-US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D2A2C-6771-FA2F-68EF-8F27627AC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5EA9-67D8-4F2D-9B5B-F2CCD0A1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85" y="0"/>
            <a:ext cx="10515600" cy="58634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Digital Signals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EA8F-3414-B0C1-4FCE-52DE2BD8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78" y="521973"/>
            <a:ext cx="11541211" cy="5954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 being represented by an analog signal, information can also be represented by a digital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 1 can be encoded as a positive voltage and a 0 as zero voltage as shown below: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 is defined as the number of bits transmitted over a second.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Hence the above digital data bit rate is 8 bits per second or bps.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bit period / duration 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B8233-F0DF-E558-CB6F-B6056540812C}"/>
              </a:ext>
            </a:extLst>
          </p:cNvPr>
          <p:cNvSpPr txBox="1"/>
          <p:nvPr/>
        </p:nvSpPr>
        <p:spPr>
          <a:xfrm>
            <a:off x="261885" y="3022191"/>
            <a:ext cx="4469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is the bit rate for this digital signal?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851AB5-8948-D41C-832B-9066E5B4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643" y="2772790"/>
            <a:ext cx="6903572" cy="2702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D89504-AD61-7407-A6CD-680AE626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8" y="4128193"/>
            <a:ext cx="3143590" cy="9541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9D7586-2525-090D-34E6-EF1C0E46B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259" y="5906535"/>
            <a:ext cx="2374109" cy="7763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D0FD-E20E-9162-5B37-14BC67E3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090" y="6341083"/>
            <a:ext cx="2743200" cy="365125"/>
          </a:xfrm>
        </p:spPr>
        <p:txBody>
          <a:bodyPr/>
          <a:lstStyle/>
          <a:p>
            <a:fld id="{6BA5C764-D62E-4850-96E6-F6A430BB4786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7D02-003E-A784-0ED3-A767B1EC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8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5EA9-67D8-4F2D-9B5B-F2CCD0A1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06" y="94692"/>
            <a:ext cx="10515600" cy="58634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Digital Signals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EA8F-3414-B0C1-4FCE-52DE2BD8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78474"/>
            <a:ext cx="11541211" cy="584474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digital signal can have more than two levels as shown below. In this case, we can send more than 1 bit for each level.</a:t>
            </a: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pulse is represented by two bits. Hence in this case the bit-rate is 8 x 2 = 16 bps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4235E-6FC6-2F12-0D55-240E4A94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86" y="1660342"/>
            <a:ext cx="7972425" cy="3771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0884-AA5C-1DB6-708E-8BB454A6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849E-FABC-490A-AB2E-E81103075098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17B15-6635-3415-FCCC-84D89B62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5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C9D7-BA2E-664A-F127-D51B352E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96" y="77821"/>
            <a:ext cx="10515600" cy="623416"/>
          </a:xfrm>
        </p:spPr>
        <p:txBody>
          <a:bodyPr>
            <a:normAutofit/>
          </a:bodyPr>
          <a:lstStyle/>
          <a:p>
            <a:r>
              <a:rPr lang="nn-NO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element versus data element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4455F-8B52-79E7-5CF3-5983172D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4" y="2949462"/>
            <a:ext cx="7646882" cy="2964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EA7FE-B021-EC60-E857-83456CB99D7C}"/>
              </a:ext>
            </a:extLst>
          </p:cNvPr>
          <p:cNvSpPr txBox="1"/>
          <p:nvPr/>
        </p:nvSpPr>
        <p:spPr>
          <a:xfrm>
            <a:off x="233464" y="701237"/>
            <a:ext cx="119585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909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data element is the smallest entity that represent a piece of information; this is the bit.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signal elements is the shortest unit (timewise) of a digital signal.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other words, data elements are what we need to send; signal element are what we can send.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BD4740-3BE2-28F8-4C41-0A3EB950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92" y="2403101"/>
            <a:ext cx="2468685" cy="1679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FAF73E-1E15-9D0C-E3D7-D201C0613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326" y="4319630"/>
            <a:ext cx="3755210" cy="236007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179A6-D3E1-D918-D4FD-658E390A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464" y="6362882"/>
            <a:ext cx="2743200" cy="365125"/>
          </a:xfrm>
        </p:spPr>
        <p:txBody>
          <a:bodyPr/>
          <a:lstStyle/>
          <a:p>
            <a:fld id="{BF5ED511-A2B4-4A72-B608-E15C40B55620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D306E-E5FE-F28B-F9EE-8D5EF08F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72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699" y="136525"/>
            <a:ext cx="8399440" cy="84065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 and Baud rate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416" y="1178367"/>
            <a:ext cx="11796583" cy="4501265"/>
          </a:xfrm>
        </p:spPr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sz="3562" dirty="0">
                <a:latin typeface="Arial" pitchFamily="34" charset="0"/>
                <a:cs typeface="Arial" pitchFamily="34" charset="0"/>
              </a:rPr>
              <a:t>Bit rate is the number of bits transmitted over a second.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Baud rate is the number of signal units transmitted over a second.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Baud rate is less than or equal to the bit rate.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Baud rate = Bit rate / no. of bits per signal unit</a:t>
            </a:r>
          </a:p>
          <a:p>
            <a:endParaRPr lang="en-US" dirty="0"/>
          </a:p>
        </p:txBody>
      </p:sp>
      <p:graphicFrame>
        <p:nvGraphicFramePr>
          <p:cNvPr id="189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89050"/>
              </p:ext>
            </p:extLst>
          </p:nvPr>
        </p:nvGraphicFramePr>
        <p:xfrm>
          <a:off x="4447806" y="4078960"/>
          <a:ext cx="888254" cy="1151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368280" progId="Equation.DSMT4">
                  <p:embed/>
                </p:oleObj>
              </mc:Choice>
              <mc:Fallback>
                <p:oleObj name="Equation" r:id="rId2" imgW="355320" imgH="368280" progId="Equation.DSMT4">
                  <p:embed/>
                  <p:pic>
                    <p:nvPicPr>
                      <p:cNvPr id="189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806" y="4078960"/>
                        <a:ext cx="888254" cy="1151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1768-DCF6-44AE-9C6B-0A9C219333E9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9B9B-DC25-4584-91FA-543B3630D1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7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93574-8C7F-0684-367E-522C6F25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061C5-EFE4-5AD3-E328-021C2497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62" y="136525"/>
            <a:ext cx="8055276" cy="311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69FD52-390F-A6AA-1B66-9260D86A7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62" y="3256325"/>
            <a:ext cx="7938138" cy="3465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E9F309-F53C-B3E3-9D7B-999475B98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515" y="872427"/>
            <a:ext cx="1997180" cy="11995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0012E2-55F0-1529-3E03-57471857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815" y="4444243"/>
            <a:ext cx="1837517" cy="1103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94FA1F-E7E4-2CA2-4B06-36AA36BF2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7695" y="838380"/>
            <a:ext cx="1204064" cy="586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6BD2DA-32CC-5D46-F27F-8C4978A05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27" y="1485200"/>
            <a:ext cx="1204064" cy="5867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0131D7-A5C4-FB99-461A-5B1BDBCD7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1768" y="5021038"/>
            <a:ext cx="1204064" cy="58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2C858C-3958-CE9C-397F-783205C42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6027" y="4356542"/>
            <a:ext cx="1455546" cy="60965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83E99-3070-1ABF-6697-1FA26969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66E3-6961-42D4-A228-014DF16BFC94}" type="datetime1">
              <a:rPr lang="en-US" smtClean="0"/>
              <a:t>12/1/2025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79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035" y="501883"/>
            <a:ext cx="11819965" cy="5854234"/>
          </a:xfrm>
        </p:spPr>
        <p:txBody>
          <a:bodyPr/>
          <a:lstStyle/>
          <a:p>
            <a:pPr>
              <a:buNone/>
            </a:pPr>
            <a:r>
              <a:rPr lang="en-US" altLang="en-US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Ex1: </a:t>
            </a:r>
            <a:r>
              <a:rPr lang="en-US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 analog signal carries 4 bits per signal element. If 1000 signal elements are sent per second, find the bit rate.</a:t>
            </a:r>
          </a:p>
          <a:p>
            <a:pPr>
              <a:buNone/>
            </a:pPr>
            <a:endParaRPr lang="en-US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 err="1">
                <a:latin typeface="Arial" pitchFamily="34" charset="0"/>
                <a:cs typeface="Arial" pitchFamily="34" charset="0"/>
              </a:rPr>
              <a:t>Ans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: Baud rate = 1000, No. of elements </a:t>
            </a:r>
            <a:r>
              <a:rPr lang="en-US" altLang="en-US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 = 4;</a:t>
            </a:r>
          </a:p>
          <a:p>
            <a:pPr>
              <a:buNone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        Bit rate = 1000 X 4 = 4000 bps.</a:t>
            </a:r>
          </a:p>
          <a:p>
            <a:pPr>
              <a:buNone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Ex2: </a:t>
            </a:r>
            <a:r>
              <a:rPr lang="en-US" altLang="en-US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An analog signal has a bit rate of 8000 bps and a baud rate of 1000 baud. How many data elements are carried by each signal element? How many signal elements do we need?</a:t>
            </a:r>
          </a:p>
          <a:p>
            <a:pPr>
              <a:buNone/>
            </a:pPr>
            <a:endParaRPr lang="en-US" altLang="en-US" dirty="0">
              <a:solidFill>
                <a:srgbClr val="0221BE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     Data elements = Bit rate / baud rate = 8 bits / baud</a:t>
            </a:r>
          </a:p>
          <a:p>
            <a:pPr>
              <a:buNone/>
            </a:pPr>
            <a:r>
              <a:rPr lang="en-US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Then the number of signal elements L = 2</a:t>
            </a:r>
            <a:r>
              <a:rPr lang="en-US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256 levels.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31CE-36B7-4132-1EE1-B0CBC6EB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A51B-27A7-44CF-8083-D15DB60EF5FF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2C525-773F-B1D3-2454-06D54414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6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6901"/>
            <a:ext cx="10515600" cy="8906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87552"/>
            <a:ext cx="11714048" cy="56956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actual bandwidth necessary to propagate a given bit rate depends on several factors,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including the type of encoding and modulation used, 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types of filters used, system noise, and 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error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ideal bandwidth is generally used for comparison purposes only.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relationship between bandwidth and bit rate also applies to the opposite situation. For a given bandwidth (</a:t>
            </a:r>
            <a:r>
              <a:rPr lang="en-US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B), the highest theoretical bit rate is 2B.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Arial" pitchFamily="34" charset="0"/>
                <a:cs typeface="Arial" pitchFamily="34" charset="0"/>
              </a:rPr>
              <a:t> </a:t>
            </a:r>
            <a:endParaRPr lang="en-US" dirty="0">
              <a:solidFill>
                <a:srgbClr val="0221B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A332-807C-F79B-62AC-6836CCE8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D38D-44C7-4257-98BA-AFC6DD67C6D8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754C8-ED20-2DC7-A5A2-E9FC5EFE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9297" y="103442"/>
            <a:ext cx="4769168" cy="53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512" y="630344"/>
            <a:ext cx="8265223" cy="10379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9684" y="1666871"/>
            <a:ext cx="5286375" cy="2314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74005" y="1689835"/>
            <a:ext cx="4248150" cy="828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06059" y="2900449"/>
            <a:ext cx="4286250" cy="771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09725" y="3688507"/>
            <a:ext cx="7772400" cy="8953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8446" y="4539687"/>
            <a:ext cx="2228850" cy="4095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53934" y="4574328"/>
            <a:ext cx="2238375" cy="4095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85131" y="5068054"/>
            <a:ext cx="2857500" cy="1371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949184" y="5010078"/>
            <a:ext cx="2457663" cy="17523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E2782-D1E4-C0EE-13A9-6AAEAF72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4BE5-5B7C-44AB-985F-2DCE72A51323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E0D65-CB30-9161-2BEC-90A9D48E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38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9026" y="0"/>
            <a:ext cx="3519678" cy="504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129" y="607314"/>
            <a:ext cx="8829104" cy="20393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129" y="2646667"/>
            <a:ext cx="8181593" cy="409901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BECA6-C521-3A3C-670E-7DFB992E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482B-0F15-4399-A940-D243FF77D77F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95ED7-9D03-60E1-35B4-CBBAC1F5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6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0456" y="99631"/>
            <a:ext cx="4727448" cy="529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1511" y="737426"/>
            <a:ext cx="6369177" cy="2209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7254" y="3055686"/>
            <a:ext cx="9341739" cy="2819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21664" y="6129719"/>
            <a:ext cx="9737217" cy="49725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FFA1E-DCA4-6A79-9670-98507954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50D0-BC81-4684-8443-3CD41FFB1143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242A88-49BD-B410-4CB4-CBFAA5BC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41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9855" y="155258"/>
            <a:ext cx="4882706" cy="5128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9855" y="668119"/>
            <a:ext cx="7186993" cy="1752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9855" y="2420135"/>
            <a:ext cx="8729853" cy="17235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9855" y="4172151"/>
            <a:ext cx="7457312" cy="10958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8368" y="5649087"/>
            <a:ext cx="4376928" cy="88177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D9A92-F712-95FF-EC5A-59509596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32F9A-BD8B-45C5-B860-6B586878BDB0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4E188-B11B-1B9C-3505-DBFB55EA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2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090" y="163223"/>
            <a:ext cx="6591413" cy="50050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Measures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317" y="663730"/>
            <a:ext cx="11244596" cy="15405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9317" y="2295726"/>
            <a:ext cx="10999880" cy="2878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9698" y="5334000"/>
            <a:ext cx="6787745" cy="122891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96891-D2E7-5E48-F8BD-EC33E9E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152CD-E73C-48C2-9F88-580780A0BC71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A66A42-E137-AFC8-FD26-CCFE6020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84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372" y="222694"/>
            <a:ext cx="10790488" cy="2347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9141" y="2910780"/>
            <a:ext cx="9053000" cy="1234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81423-0158-1F2D-891B-42ECD8DC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C1FE-2BD3-4622-A94A-D14D9FEE8895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A9943-C734-FC61-C869-AB29FB27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20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4295" y="193458"/>
            <a:ext cx="4908803" cy="6102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1201" y="803693"/>
            <a:ext cx="9798304" cy="571252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F0301-AF64-CEA2-F552-9BF4D361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845E-078D-4E92-87E2-E32512016F52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2CD7B-E1BF-329F-CF5B-F9B3E258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583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145669"/>
            <a:ext cx="10515600" cy="37858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1504" y="609600"/>
            <a:ext cx="8694992" cy="61800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3B53-9FAC-B0A4-94F5-70A7312B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E4F09-5E67-4E5A-BE8A-13760A22BC20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D91BE-B9A7-06B3-0BE8-FA05DBF1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56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517" y="397193"/>
            <a:ext cx="9970389" cy="57365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 Properties of Sine and Cosine Terms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842" y="971430"/>
            <a:ext cx="9970389" cy="15279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8842" y="2499360"/>
            <a:ext cx="10533396" cy="1082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842" y="3614489"/>
            <a:ext cx="8934070" cy="11845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7275" y="4982718"/>
            <a:ext cx="9097204" cy="99136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DE626-F0AD-A76B-BCBE-F8779343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071AD-527C-43EE-9E4B-72EA8A002281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F2398-5139-27B2-3AAB-9CA8F302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988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955" y="163448"/>
            <a:ext cx="10761917" cy="637063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8B3F2-F143-B35C-FED8-E38A85F2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5852-1305-4B74-8D25-7A7CD457543A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F1E3D-637E-5EB5-0903-ABFE47C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54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5CAC-E977-2F3C-6F5F-44179CEF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638" y="2874861"/>
            <a:ext cx="3033409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7FD3A-5042-3BFF-BAFA-74F708BA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A1A8-508F-463F-8E96-D954C12AAF53}" type="datetime1">
              <a:rPr lang="en-US" smtClean="0"/>
              <a:t>12/1/2025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B8572-0039-FF2B-F9D2-1DEB1A13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3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6" ma:contentTypeDescription="Create a new document." ma:contentTypeScope="" ma:versionID="df4401971fe1472aefb2287f2b42b038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8f55f25a984c6d559814fe32ab22ce0f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9df66832-8a96-40a9-b472-27b1b671652b"/>
    <ds:schemaRef ds:uri="http://purl.org/dc/terms/"/>
    <ds:schemaRef ds:uri="http://purl.org/dc/elements/1.1/"/>
    <ds:schemaRef ds:uri="http://schemas.microsoft.com/office/2006/metadata/properties"/>
    <ds:schemaRef ds:uri="3ef07bbe-7178-465e-b37e-c96ad76c7ba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4D7D36-6208-4CBE-AB2E-D44A06D3D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</TotalTime>
  <Words>518</Words>
  <Application>Microsoft Office PowerPoint</Application>
  <PresentationFormat>Widescreen</PresentationFormat>
  <Paragraphs>93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Equation</vt:lpstr>
      <vt:lpstr>Digital Communication 24EC2208</vt:lpstr>
      <vt:lpstr>Digital Signals</vt:lpstr>
      <vt:lpstr>Digital Signals</vt:lpstr>
      <vt:lpstr>Signal element versus data element</vt:lpstr>
      <vt:lpstr>Bit rate and Baud rate </vt:lpstr>
      <vt:lpstr>PowerPoint Presentation</vt:lpstr>
      <vt:lpstr>PowerPoint Presentation</vt:lpstr>
      <vt:lpstr>                        Bandwidth</vt:lpstr>
      <vt:lpstr>PowerPoint Presentation</vt:lpstr>
      <vt:lpstr>PowerPoint Presentation</vt:lpstr>
      <vt:lpstr>PowerPoint Presentation</vt:lpstr>
      <vt:lpstr>PowerPoint Presentation</vt:lpstr>
      <vt:lpstr>Performance Measures</vt:lpstr>
      <vt:lpstr>PowerPoint Presentation</vt:lpstr>
      <vt:lpstr>Error Function</vt:lpstr>
      <vt:lpstr>Error Function</vt:lpstr>
      <vt:lpstr>Orthogonal Properties of Sine and Cosine Terms 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33</cp:revision>
  <dcterms:created xsi:type="dcterms:W3CDTF">2023-05-08T13:48:07Z</dcterms:created>
  <dcterms:modified xsi:type="dcterms:W3CDTF">2025-12-01T09:20:18Z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