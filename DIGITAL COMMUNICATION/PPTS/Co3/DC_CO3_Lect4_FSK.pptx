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24"/>
  </p:notesMasterIdLst>
  <p:handoutMasterIdLst>
    <p:handoutMasterId r:id="rId25"/>
  </p:handoutMasterIdLst>
  <p:sldIdLst>
    <p:sldId id="289" r:id="rId5"/>
    <p:sldId id="358" r:id="rId6"/>
    <p:sldId id="351" r:id="rId7"/>
    <p:sldId id="353" r:id="rId8"/>
    <p:sldId id="399" r:id="rId9"/>
    <p:sldId id="397" r:id="rId10"/>
    <p:sldId id="355" r:id="rId11"/>
    <p:sldId id="354" r:id="rId12"/>
    <p:sldId id="412" r:id="rId13"/>
    <p:sldId id="404" r:id="rId14"/>
    <p:sldId id="410" r:id="rId15"/>
    <p:sldId id="359" r:id="rId16"/>
    <p:sldId id="401" r:id="rId17"/>
    <p:sldId id="361" r:id="rId18"/>
    <p:sldId id="364" r:id="rId19"/>
    <p:sldId id="362" r:id="rId20"/>
    <p:sldId id="363" r:id="rId21"/>
    <p:sldId id="411" r:id="rId22"/>
    <p:sldId id="36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01-12-2025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FE7BA5-9AA7-43A8-9EE5-C23B4ED60B7B}" type="slidenum">
              <a:rPr lang="en-US" altLang="en-US"/>
              <a:pPr/>
              <a:t>1</a:t>
            </a:fld>
            <a:endParaRPr lang="en-US" altLang="en-US"/>
          </a:p>
        </p:txBody>
      </p:sp>
    </p:spTree>
    <p:extLst>
      <p:ext uri="{BB962C8B-B14F-4D97-AF65-F5344CB8AC3E}">
        <p14:creationId xmlns:p14="http://schemas.microsoft.com/office/powerpoint/2010/main" val="1097325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25.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32.png"/><Relationship Id="rId5" Type="http://schemas.openxmlformats.org/officeDocument/2006/relationships/image" Target="../media/image28.wmf"/><Relationship Id="rId10" Type="http://schemas.openxmlformats.org/officeDocument/2006/relationships/image" Target="../media/image31.png"/><Relationship Id="rId4" Type="http://schemas.openxmlformats.org/officeDocument/2006/relationships/oleObject" Target="../embeddings/oleObject7.bin"/><Relationship Id="rId9" Type="http://schemas.openxmlformats.org/officeDocument/2006/relationships/image" Target="../media/image30.wmf"/></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37.wmf"/><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oleObject" Target="../embeddings/oleObject13.bin"/><Relationship Id="rId4" Type="http://schemas.openxmlformats.org/officeDocument/2006/relationships/image" Target="../media/image39.wmf"/></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711740" y="-152398"/>
            <a:ext cx="10523706" cy="1470025"/>
          </a:xfrm>
        </p:spPr>
        <p:txBody>
          <a:bodyPr>
            <a:normAutofit/>
          </a:bodyPr>
          <a:lstStyle/>
          <a:p>
            <a:r>
              <a:rPr lang="en-US" altLang="en-US" sz="5400" dirty="0">
                <a:solidFill>
                  <a:srgbClr val="3200C0"/>
                </a:solidFill>
                <a:latin typeface="Arial" panose="020B0604020202020204" pitchFamily="34" charset="0"/>
                <a:cs typeface="Arial" panose="020B0604020202020204" pitchFamily="34" charset="0"/>
              </a:rPr>
              <a:t>Digital Communication 24EC2208</a:t>
            </a:r>
          </a:p>
        </p:txBody>
      </p:sp>
      <p:sp>
        <p:nvSpPr>
          <p:cNvPr id="4100" name="TextBox 3"/>
          <p:cNvSpPr txBox="1">
            <a:spLocks noChangeArrowheads="1"/>
          </p:cNvSpPr>
          <p:nvPr/>
        </p:nvSpPr>
        <p:spPr bwMode="auto">
          <a:xfrm>
            <a:off x="1752600" y="1524001"/>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4000" dirty="0">
                <a:solidFill>
                  <a:srgbClr val="FF0000"/>
                </a:solidFill>
              </a:rPr>
              <a:t>Digital Carrier Modulation</a:t>
            </a:r>
            <a:endParaRPr lang="en-US" altLang="en-US" sz="4000" dirty="0"/>
          </a:p>
        </p:txBody>
      </p:sp>
      <p:sp>
        <p:nvSpPr>
          <p:cNvPr id="3" name="Subtitle 2">
            <a:extLst>
              <a:ext uri="{FF2B5EF4-FFF2-40B4-BE49-F238E27FC236}">
                <a16:creationId xmlns:a16="http://schemas.microsoft.com/office/drawing/2014/main" id="{6910B3BA-F47F-CFA2-B94C-E347A17D567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63291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902" y="2892433"/>
            <a:ext cx="10515600" cy="858991"/>
          </a:xfrm>
        </p:spPr>
        <p:txBody>
          <a:bodyPr>
            <a:normAutofit/>
          </a:bodyPr>
          <a:lstStyle/>
          <a:p>
            <a:pPr algn="ctr"/>
            <a:r>
              <a:rPr lang="en-US" sz="4000" dirty="0">
                <a:solidFill>
                  <a:srgbClr val="FF0000"/>
                </a:solidFill>
                <a:latin typeface="Arial" pitchFamily="34" charset="0"/>
                <a:cs typeface="Arial" pitchFamily="34" charset="0"/>
              </a:rPr>
              <a:t>Binary Frequency Shift Keying (BFSK)</a:t>
            </a:r>
          </a:p>
        </p:txBody>
      </p:sp>
      <p:sp>
        <p:nvSpPr>
          <p:cNvPr id="3" name="Date Placeholder 2">
            <a:extLst>
              <a:ext uri="{FF2B5EF4-FFF2-40B4-BE49-F238E27FC236}">
                <a16:creationId xmlns:a16="http://schemas.microsoft.com/office/drawing/2014/main" id="{CA8F892E-595F-1FA9-DD54-70C690731AB3}"/>
              </a:ext>
            </a:extLst>
          </p:cNvPr>
          <p:cNvSpPr>
            <a:spLocks noGrp="1"/>
          </p:cNvSpPr>
          <p:nvPr>
            <p:ph type="dt" sz="half" idx="10"/>
          </p:nvPr>
        </p:nvSpPr>
        <p:spPr/>
        <p:txBody>
          <a:bodyPr/>
          <a:lstStyle/>
          <a:p>
            <a:r>
              <a:rPr lang="en-US"/>
              <a:t>&lt;COURSE TITLE&gt;, &lt;TOPIC NAME&gt;</a:t>
            </a:r>
            <a:endParaRPr lang="en-IN" dirty="0"/>
          </a:p>
        </p:txBody>
      </p:sp>
      <p:sp>
        <p:nvSpPr>
          <p:cNvPr id="5" name="Slide Number Placeholder 4">
            <a:extLst>
              <a:ext uri="{FF2B5EF4-FFF2-40B4-BE49-F238E27FC236}">
                <a16:creationId xmlns:a16="http://schemas.microsoft.com/office/drawing/2014/main" id="{EBFFAF4F-CFB0-42BA-86F1-DCDBF3DBC5B9}"/>
              </a:ext>
            </a:extLst>
          </p:cNvPr>
          <p:cNvSpPr>
            <a:spLocks noGrp="1"/>
          </p:cNvSpPr>
          <p:nvPr>
            <p:ph type="sldNum" sz="quarter" idx="12"/>
          </p:nvPr>
        </p:nvSpPr>
        <p:spPr/>
        <p:txBody>
          <a:bodyPr/>
          <a:lstStyle/>
          <a:p>
            <a:fld id="{CBABCCC1-BF11-4F37-963E-1BCD5B23FD72}"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79781"/>
            <a:ext cx="10515600" cy="476123"/>
          </a:xfrm>
        </p:spPr>
        <p:txBody>
          <a:bodyPr>
            <a:normAutofit fontScale="90000"/>
          </a:bodyPr>
          <a:lstStyle/>
          <a:p>
            <a:r>
              <a:rPr lang="en-US" dirty="0">
                <a:solidFill>
                  <a:srgbClr val="FF0000"/>
                </a:solidFill>
                <a:latin typeface="Arial" pitchFamily="34" charset="0"/>
                <a:cs typeface="Arial" pitchFamily="34" charset="0"/>
              </a:rPr>
              <a:t>Binary Frequency Shift Keying (</a:t>
            </a:r>
            <a:r>
              <a:rPr lang="en-US" b="1" dirty="0">
                <a:solidFill>
                  <a:srgbClr val="FF0000"/>
                </a:solidFill>
                <a:latin typeface="Arial" panose="020B0604020202020204" pitchFamily="34" charset="0"/>
                <a:cs typeface="Arial" panose="020B0604020202020204" pitchFamily="34" charset="0"/>
              </a:rPr>
              <a:t>BFSK)</a:t>
            </a:r>
          </a:p>
        </p:txBody>
      </p:sp>
      <p:sp>
        <p:nvSpPr>
          <p:cNvPr id="3" name="Content Placeholder 2"/>
          <p:cNvSpPr>
            <a:spLocks noGrp="1"/>
          </p:cNvSpPr>
          <p:nvPr>
            <p:ph idx="1"/>
          </p:nvPr>
        </p:nvSpPr>
        <p:spPr>
          <a:xfrm>
            <a:off x="243840" y="950976"/>
            <a:ext cx="11838432" cy="5705856"/>
          </a:xfrm>
        </p:spPr>
        <p:txBody>
          <a:bodyPr>
            <a:normAutofit/>
          </a:bodyPr>
          <a:lstStyle/>
          <a:p>
            <a:pPr>
              <a:buFont typeface="Wingdings" panose="05000000000000000000" pitchFamily="2" charset="2"/>
              <a:buChar char="Ø"/>
            </a:pPr>
            <a:r>
              <a:rPr lang="en-US" dirty="0">
                <a:solidFill>
                  <a:srgbClr val="0C03BD"/>
                </a:solidFill>
                <a:latin typeface="Arial" panose="020B0604020202020204" pitchFamily="34" charset="0"/>
                <a:cs typeface="Arial" panose="020B0604020202020204" pitchFamily="34" charset="0"/>
              </a:rPr>
              <a:t>Frequency Shift Keying is analogous to Frequency Modulation (FM) in analog domain, where the slope of the time varying angle of the signal, i.e., instantaneous frequency of the carrier signal varies with respect to the baseband signal.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In unipolar or bipolar formatting of                                                                                   the digital symbol, there exist two                                                                    amplitude levels defined for two                                                                                         logic values one and zero. </a:t>
            </a:r>
          </a:p>
          <a:p>
            <a:pPr>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Therefore, two sinusoidal carrier                                                              waves of the same amplitude                                                                                         </a:t>
            </a:r>
            <a:r>
              <a:rPr lang="en-US" i="1" dirty="0">
                <a:solidFill>
                  <a:srgbClr val="0C03BD"/>
                </a:solidFill>
                <a:latin typeface="Arial" panose="020B0604020202020204" pitchFamily="34" charset="0"/>
                <a:cs typeface="Arial" panose="020B0604020202020204" pitchFamily="34" charset="0"/>
              </a:rPr>
              <a:t>A</a:t>
            </a:r>
            <a:r>
              <a:rPr lang="en-US" sz="3200" i="1" baseline="-25000" dirty="0">
                <a:solidFill>
                  <a:srgbClr val="0C03BD"/>
                </a:solidFill>
                <a:latin typeface="Arial" panose="020B0604020202020204" pitchFamily="34" charset="0"/>
                <a:cs typeface="Arial" panose="020B0604020202020204" pitchFamily="34" charset="0"/>
              </a:rPr>
              <a:t>c</a:t>
            </a:r>
            <a:r>
              <a:rPr lang="en-US" i="1" dirty="0">
                <a:solidFill>
                  <a:srgbClr val="FF0000"/>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but different frequencies </a:t>
            </a:r>
            <a:r>
              <a:rPr lang="en-US" i="1" dirty="0">
                <a:solidFill>
                  <a:srgbClr val="0C03BD"/>
                </a:solidFill>
                <a:latin typeface="Times New Roman" panose="02020603050405020304" pitchFamily="18" charset="0"/>
                <a:cs typeface="Times New Roman" panose="02020603050405020304" pitchFamily="18" charset="0"/>
              </a:rPr>
              <a:t>f</a:t>
            </a:r>
            <a:r>
              <a:rPr lang="en-US" sz="3200" baseline="-25000" dirty="0">
                <a:solidFill>
                  <a:srgbClr val="0C03BD"/>
                </a:solidFill>
                <a:latin typeface="Arial" panose="020B0604020202020204" pitchFamily="34" charset="0"/>
                <a:cs typeface="Arial" panose="020B0604020202020204" pitchFamily="34" charset="0"/>
              </a:rPr>
              <a:t>1</a:t>
            </a:r>
            <a:r>
              <a:rPr lang="en-US" sz="3200" i="1" baseline="-25000" dirty="0">
                <a:solidFill>
                  <a:srgbClr val="0C03BD"/>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and </a:t>
            </a:r>
            <a:r>
              <a:rPr lang="en-US" i="1" dirty="0">
                <a:solidFill>
                  <a:srgbClr val="0C03BD"/>
                </a:solidFill>
                <a:latin typeface="Times New Roman" panose="02020603050405020304" pitchFamily="18" charset="0"/>
                <a:cs typeface="Times New Roman" panose="02020603050405020304" pitchFamily="18" charset="0"/>
              </a:rPr>
              <a:t>f</a:t>
            </a:r>
            <a:r>
              <a:rPr lang="en-US" sz="3200" baseline="-25000" dirty="0">
                <a:solidFill>
                  <a:srgbClr val="0C03BD"/>
                </a:solidFill>
                <a:latin typeface="Arial" panose="020B0604020202020204" pitchFamily="34" charset="0"/>
                <a:cs typeface="Arial" panose="020B0604020202020204" pitchFamily="34" charset="0"/>
              </a:rPr>
              <a:t>2</a:t>
            </a:r>
            <a:r>
              <a:rPr lang="en-US" i="1" dirty="0">
                <a:solidFill>
                  <a:srgbClr val="FF0000"/>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are used to represent the two symbols.</a:t>
            </a:r>
          </a:p>
        </p:txBody>
      </p:sp>
      <p:pic>
        <p:nvPicPr>
          <p:cNvPr id="4" name="Picture 3"/>
          <p:cNvPicPr>
            <a:picLocks noChangeAspect="1"/>
          </p:cNvPicPr>
          <p:nvPr/>
        </p:nvPicPr>
        <p:blipFill>
          <a:blip r:embed="rId2" cstate="print"/>
          <a:stretch>
            <a:fillRect/>
          </a:stretch>
        </p:blipFill>
        <p:spPr>
          <a:xfrm>
            <a:off x="6403972" y="2461098"/>
            <a:ext cx="5788028" cy="3029834"/>
          </a:xfrm>
          <a:prstGeom prst="rect">
            <a:avLst/>
          </a:prstGeom>
        </p:spPr>
      </p:pic>
      <p:sp>
        <p:nvSpPr>
          <p:cNvPr id="5" name="Date Placeholder 4">
            <a:extLst>
              <a:ext uri="{FF2B5EF4-FFF2-40B4-BE49-F238E27FC236}">
                <a16:creationId xmlns:a16="http://schemas.microsoft.com/office/drawing/2014/main" id="{147CED23-10EC-22C2-23DC-A4E8E7ABAD43}"/>
              </a:ext>
            </a:extLst>
          </p:cNvPr>
          <p:cNvSpPr>
            <a:spLocks noGrp="1"/>
          </p:cNvSpPr>
          <p:nvPr>
            <p:ph type="dt" sz="half" idx="10"/>
          </p:nvPr>
        </p:nvSpPr>
        <p:spPr/>
        <p:txBody>
          <a:bodyPr/>
          <a:lstStyle/>
          <a:p>
            <a:r>
              <a:rPr lang="en-US"/>
              <a:t>&lt;COURSE TITLE&gt;, &lt;TOPIC NAME&gt;</a:t>
            </a:r>
            <a:endParaRPr lang="en-IN" dirty="0"/>
          </a:p>
        </p:txBody>
      </p:sp>
      <p:sp>
        <p:nvSpPr>
          <p:cNvPr id="7" name="Slide Number Placeholder 6">
            <a:extLst>
              <a:ext uri="{FF2B5EF4-FFF2-40B4-BE49-F238E27FC236}">
                <a16:creationId xmlns:a16="http://schemas.microsoft.com/office/drawing/2014/main" id="{3CBCCDCD-0CDA-46F8-3E7E-5172C017FB67}"/>
              </a:ext>
            </a:extLst>
          </p:cNvPr>
          <p:cNvSpPr>
            <a:spLocks noGrp="1"/>
          </p:cNvSpPr>
          <p:nvPr>
            <p:ph type="sldNum" sz="quarter" idx="12"/>
          </p:nvPr>
        </p:nvSpPr>
        <p:spPr/>
        <p:txBody>
          <a:bodyPr/>
          <a:lstStyle/>
          <a:p>
            <a:fld id="{CBABCCC1-BF11-4F37-963E-1BCD5B23FD72}" type="slidenum">
              <a:rPr lang="en-IN" smtClean="0"/>
              <a:t>3</a:t>
            </a:fld>
            <a:endParaRPr lang="en-IN"/>
          </a:p>
        </p:txBody>
      </p:sp>
    </p:spTree>
    <p:extLst>
      <p:ext uri="{BB962C8B-B14F-4D97-AF65-F5344CB8AC3E}">
        <p14:creationId xmlns:p14="http://schemas.microsoft.com/office/powerpoint/2010/main" val="75725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p:cTn id="22"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896" y="231013"/>
            <a:ext cx="10515600" cy="634619"/>
          </a:xfrm>
        </p:spPr>
        <p:txBody>
          <a:bodyPr>
            <a:normAutofit fontScale="90000"/>
          </a:bodyPr>
          <a:lstStyle/>
          <a:p>
            <a:r>
              <a:rPr lang="en-US" b="1" dirty="0">
                <a:solidFill>
                  <a:srgbClr val="0C03BD"/>
                </a:solidFill>
                <a:latin typeface="Arial" panose="020B0604020202020204" pitchFamily="34" charset="0"/>
                <a:cs typeface="Arial" panose="020B0604020202020204" pitchFamily="34" charset="0"/>
              </a:rPr>
              <a:t>Mathematical Model</a:t>
            </a:r>
          </a:p>
        </p:txBody>
      </p:sp>
      <p:pic>
        <p:nvPicPr>
          <p:cNvPr id="4" name="Picture 3"/>
          <p:cNvPicPr>
            <a:picLocks noChangeAspect="1"/>
          </p:cNvPicPr>
          <p:nvPr/>
        </p:nvPicPr>
        <p:blipFill>
          <a:blip r:embed="rId2" cstate="print"/>
          <a:stretch>
            <a:fillRect/>
          </a:stretch>
        </p:blipFill>
        <p:spPr>
          <a:xfrm>
            <a:off x="309372" y="865632"/>
            <a:ext cx="11093196" cy="2293847"/>
          </a:xfrm>
          <a:prstGeom prst="rect">
            <a:avLst/>
          </a:prstGeom>
        </p:spPr>
      </p:pic>
      <p:pic>
        <p:nvPicPr>
          <p:cNvPr id="5" name="Picture 4"/>
          <p:cNvPicPr>
            <a:picLocks noChangeAspect="1"/>
          </p:cNvPicPr>
          <p:nvPr/>
        </p:nvPicPr>
        <p:blipFill>
          <a:blip r:embed="rId3" cstate="print"/>
          <a:stretch>
            <a:fillRect/>
          </a:stretch>
        </p:blipFill>
        <p:spPr>
          <a:xfrm>
            <a:off x="452057" y="3188790"/>
            <a:ext cx="6753415" cy="581634"/>
          </a:xfrm>
          <a:prstGeom prst="rect">
            <a:avLst/>
          </a:prstGeom>
        </p:spPr>
      </p:pic>
      <p:pic>
        <p:nvPicPr>
          <p:cNvPr id="9" name="Picture 8"/>
          <p:cNvPicPr>
            <a:picLocks noChangeAspect="1"/>
          </p:cNvPicPr>
          <p:nvPr/>
        </p:nvPicPr>
        <p:blipFill>
          <a:blip r:embed="rId4" cstate="print"/>
          <a:stretch>
            <a:fillRect/>
          </a:stretch>
        </p:blipFill>
        <p:spPr>
          <a:xfrm>
            <a:off x="9729216" y="5719759"/>
            <a:ext cx="2184844" cy="784650"/>
          </a:xfrm>
          <a:prstGeom prst="rect">
            <a:avLst/>
          </a:prstGeom>
        </p:spPr>
      </p:pic>
      <p:pic>
        <p:nvPicPr>
          <p:cNvPr id="10" name="Picture 9"/>
          <p:cNvPicPr>
            <a:picLocks noChangeAspect="1"/>
          </p:cNvPicPr>
          <p:nvPr/>
        </p:nvPicPr>
        <p:blipFill>
          <a:blip r:embed="rId5" cstate="print"/>
          <a:stretch>
            <a:fillRect/>
          </a:stretch>
        </p:blipFill>
        <p:spPr>
          <a:xfrm>
            <a:off x="556831" y="5243509"/>
            <a:ext cx="8439150" cy="476250"/>
          </a:xfrm>
          <a:prstGeom prst="rect">
            <a:avLst/>
          </a:prstGeom>
        </p:spPr>
      </p:pic>
      <p:pic>
        <p:nvPicPr>
          <p:cNvPr id="11" name="Picture 10"/>
          <p:cNvPicPr>
            <a:picLocks noChangeAspect="1"/>
          </p:cNvPicPr>
          <p:nvPr/>
        </p:nvPicPr>
        <p:blipFill>
          <a:blip r:embed="rId6" cstate="print"/>
          <a:stretch>
            <a:fillRect/>
          </a:stretch>
        </p:blipFill>
        <p:spPr>
          <a:xfrm>
            <a:off x="2592514" y="5772428"/>
            <a:ext cx="3495675" cy="809625"/>
          </a:xfrm>
          <a:prstGeom prst="rect">
            <a:avLst/>
          </a:prstGeom>
        </p:spPr>
      </p:pic>
      <p:pic>
        <p:nvPicPr>
          <p:cNvPr id="12" name="Picture 11"/>
          <p:cNvPicPr>
            <a:picLocks noChangeAspect="1"/>
          </p:cNvPicPr>
          <p:nvPr/>
        </p:nvPicPr>
        <p:blipFill>
          <a:blip r:embed="rId7" cstate="print"/>
          <a:stretch>
            <a:fillRect/>
          </a:stretch>
        </p:blipFill>
        <p:spPr>
          <a:xfrm>
            <a:off x="452058" y="3824285"/>
            <a:ext cx="6190774" cy="1366556"/>
          </a:xfrm>
          <a:prstGeom prst="rect">
            <a:avLst/>
          </a:prstGeom>
        </p:spPr>
      </p:pic>
      <p:pic>
        <p:nvPicPr>
          <p:cNvPr id="13" name="Picture 12"/>
          <p:cNvPicPr>
            <a:picLocks noChangeAspect="1"/>
          </p:cNvPicPr>
          <p:nvPr/>
        </p:nvPicPr>
        <p:blipFill>
          <a:blip r:embed="rId8" cstate="print"/>
          <a:stretch>
            <a:fillRect/>
          </a:stretch>
        </p:blipFill>
        <p:spPr>
          <a:xfrm>
            <a:off x="9027865" y="2777208"/>
            <a:ext cx="3164135" cy="2857310"/>
          </a:xfrm>
          <a:prstGeom prst="rect">
            <a:avLst/>
          </a:prstGeom>
        </p:spPr>
      </p:pic>
      <p:sp>
        <p:nvSpPr>
          <p:cNvPr id="3" name="Date Placeholder 2">
            <a:extLst>
              <a:ext uri="{FF2B5EF4-FFF2-40B4-BE49-F238E27FC236}">
                <a16:creationId xmlns:a16="http://schemas.microsoft.com/office/drawing/2014/main" id="{C89A40AE-A998-6612-5AFE-F8D111D73CF3}"/>
              </a:ext>
            </a:extLst>
          </p:cNvPr>
          <p:cNvSpPr>
            <a:spLocks noGrp="1"/>
          </p:cNvSpPr>
          <p:nvPr>
            <p:ph type="dt" sz="half" idx="10"/>
          </p:nvPr>
        </p:nvSpPr>
        <p:spPr/>
        <p:txBody>
          <a:bodyPr/>
          <a:lstStyle/>
          <a:p>
            <a:r>
              <a:rPr lang="en-US"/>
              <a:t>&lt;COURSE TITLE&gt;, &lt;TOPIC NAME&gt;</a:t>
            </a:r>
            <a:endParaRPr lang="en-IN" dirty="0"/>
          </a:p>
        </p:txBody>
      </p:sp>
      <p:sp>
        <p:nvSpPr>
          <p:cNvPr id="7" name="Slide Number Placeholder 6">
            <a:extLst>
              <a:ext uri="{FF2B5EF4-FFF2-40B4-BE49-F238E27FC236}">
                <a16:creationId xmlns:a16="http://schemas.microsoft.com/office/drawing/2014/main" id="{0EF9117E-9AA7-ABD5-E324-4F2FE214529B}"/>
              </a:ext>
            </a:extLst>
          </p:cNvPr>
          <p:cNvSpPr>
            <a:spLocks noGrp="1"/>
          </p:cNvSpPr>
          <p:nvPr>
            <p:ph type="sldNum" sz="quarter" idx="12"/>
          </p:nvPr>
        </p:nvSpPr>
        <p:spPr/>
        <p:txBody>
          <a:bodyPr/>
          <a:lstStyle/>
          <a:p>
            <a:fld id="{CBABCCC1-BF11-4F37-963E-1BCD5B23FD72}" type="slidenum">
              <a:rPr lang="en-IN" smtClean="0"/>
              <a:t>4</a:t>
            </a:fld>
            <a:endParaRPr lang="en-IN"/>
          </a:p>
        </p:txBody>
      </p:sp>
    </p:spTree>
    <p:extLst>
      <p:ext uri="{BB962C8B-B14F-4D97-AF65-F5344CB8AC3E}">
        <p14:creationId xmlns:p14="http://schemas.microsoft.com/office/powerpoint/2010/main" val="216873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ox(i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amond(in)">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checkerboard(across)">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checkerboard(across)">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9" name="Picture 3"/>
          <p:cNvPicPr>
            <a:picLocks noChangeAspect="1" noChangeArrowheads="1"/>
          </p:cNvPicPr>
          <p:nvPr/>
        </p:nvPicPr>
        <p:blipFill>
          <a:blip r:embed="rId2" cstate="print"/>
          <a:srcRect/>
          <a:stretch>
            <a:fillRect/>
          </a:stretch>
        </p:blipFill>
        <p:spPr bwMode="auto">
          <a:xfrm>
            <a:off x="1472842" y="0"/>
            <a:ext cx="9976719" cy="6858000"/>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id="{124B83DA-936E-4ECB-1888-015F5E2863CC}"/>
              </a:ext>
            </a:extLst>
          </p:cNvPr>
          <p:cNvSpPr>
            <a:spLocks noGrp="1"/>
          </p:cNvSpPr>
          <p:nvPr>
            <p:ph type="dt" sz="half" idx="10"/>
          </p:nvPr>
        </p:nvSpPr>
        <p:spPr/>
        <p:txBody>
          <a:bodyPr/>
          <a:lstStyle/>
          <a:p>
            <a:r>
              <a:rPr lang="en-US"/>
              <a:t>&lt;COURSE TITLE&gt;, &lt;TOPIC NAME&gt;</a:t>
            </a:r>
            <a:endParaRPr lang="en-IN" dirty="0"/>
          </a:p>
        </p:txBody>
      </p:sp>
      <p:sp>
        <p:nvSpPr>
          <p:cNvPr id="4" name="Slide Number Placeholder 3">
            <a:extLst>
              <a:ext uri="{FF2B5EF4-FFF2-40B4-BE49-F238E27FC236}">
                <a16:creationId xmlns:a16="http://schemas.microsoft.com/office/drawing/2014/main" id="{8D468FDD-4306-8374-0998-DF603F3E5539}"/>
              </a:ext>
            </a:extLst>
          </p:cNvPr>
          <p:cNvSpPr>
            <a:spLocks noGrp="1"/>
          </p:cNvSpPr>
          <p:nvPr>
            <p:ph type="sldNum" sz="quarter" idx="12"/>
          </p:nvPr>
        </p:nvSpPr>
        <p:spPr/>
        <p:txBody>
          <a:bodyPr/>
          <a:lstStyle/>
          <a:p>
            <a:fld id="{CBABCCC1-BF11-4F37-963E-1BCD5B23FD72}"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238" y="1"/>
            <a:ext cx="10515600" cy="914400"/>
          </a:xfrm>
        </p:spPr>
        <p:txBody>
          <a:bodyPr/>
          <a:lstStyle/>
          <a:p>
            <a:r>
              <a:rPr lang="en-US" dirty="0">
                <a:solidFill>
                  <a:srgbClr val="0C03BD"/>
                </a:solidFill>
                <a:latin typeface="Arial" pitchFamily="34" charset="0"/>
                <a:cs typeface="Arial" pitchFamily="34" charset="0"/>
              </a:rPr>
              <a:t>Bandwidth of FSK</a:t>
            </a:r>
          </a:p>
        </p:txBody>
      </p:sp>
      <p:pic>
        <p:nvPicPr>
          <p:cNvPr id="124930" name="Picture 2"/>
          <p:cNvPicPr>
            <a:picLocks noChangeAspect="1" noChangeArrowheads="1"/>
          </p:cNvPicPr>
          <p:nvPr/>
        </p:nvPicPr>
        <p:blipFill>
          <a:blip r:embed="rId2" cstate="print"/>
          <a:srcRect/>
          <a:stretch>
            <a:fillRect/>
          </a:stretch>
        </p:blipFill>
        <p:spPr bwMode="auto">
          <a:xfrm>
            <a:off x="5210175" y="0"/>
            <a:ext cx="6981825" cy="3124200"/>
          </a:xfrm>
          <a:prstGeom prst="rect">
            <a:avLst/>
          </a:prstGeom>
          <a:noFill/>
          <a:ln w="9525">
            <a:noFill/>
            <a:miter lim="800000"/>
            <a:headEnd/>
            <a:tailEnd/>
          </a:ln>
        </p:spPr>
      </p:pic>
      <p:graphicFrame>
        <p:nvGraphicFramePr>
          <p:cNvPr id="124931" name="Object 3"/>
          <p:cNvGraphicFramePr>
            <a:graphicFrameLocks noChangeAspect="1"/>
          </p:cNvGraphicFramePr>
          <p:nvPr>
            <p:extLst>
              <p:ext uri="{D42A27DB-BD31-4B8C-83A1-F6EECF244321}">
                <p14:modId xmlns:p14="http://schemas.microsoft.com/office/powerpoint/2010/main" val="3944106157"/>
              </p:ext>
            </p:extLst>
          </p:nvPr>
        </p:nvGraphicFramePr>
        <p:xfrm>
          <a:off x="1384624" y="4134285"/>
          <a:ext cx="7487002" cy="654204"/>
        </p:xfrm>
        <a:graphic>
          <a:graphicData uri="http://schemas.openxmlformats.org/presentationml/2006/ole">
            <mc:AlternateContent xmlns:mc="http://schemas.openxmlformats.org/markup-compatibility/2006">
              <mc:Choice xmlns:v="urn:schemas-microsoft-com:vml" Requires="v">
                <p:oleObj name="Equation" r:id="rId3" imgW="2616120" imgH="228600" progId="Equation.DSMT4">
                  <p:embed/>
                </p:oleObj>
              </mc:Choice>
              <mc:Fallback>
                <p:oleObj name="Equation" r:id="rId3" imgW="2616120" imgH="228600" progId="Equation.DSMT4">
                  <p:embed/>
                  <p:pic>
                    <p:nvPicPr>
                      <p:cNvPr id="12493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4624" y="4134285"/>
                        <a:ext cx="7487002" cy="654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4932" name="Object 4"/>
          <p:cNvGraphicFramePr>
            <a:graphicFrameLocks noChangeAspect="1"/>
          </p:cNvGraphicFramePr>
          <p:nvPr>
            <p:extLst>
              <p:ext uri="{D42A27DB-BD31-4B8C-83A1-F6EECF244321}">
                <p14:modId xmlns:p14="http://schemas.microsoft.com/office/powerpoint/2010/main" val="985071342"/>
              </p:ext>
            </p:extLst>
          </p:nvPr>
        </p:nvGraphicFramePr>
        <p:xfrm>
          <a:off x="1467419" y="5156662"/>
          <a:ext cx="4682657" cy="668951"/>
        </p:xfrm>
        <a:graphic>
          <a:graphicData uri="http://schemas.openxmlformats.org/presentationml/2006/ole">
            <mc:AlternateContent xmlns:mc="http://schemas.openxmlformats.org/markup-compatibility/2006">
              <mc:Choice xmlns:v="urn:schemas-microsoft-com:vml" Requires="v">
                <p:oleObj name="Equation" r:id="rId5" imgW="1600200" imgH="228600" progId="Equation.DSMT4">
                  <p:embed/>
                </p:oleObj>
              </mc:Choice>
              <mc:Fallback>
                <p:oleObj name="Equation" r:id="rId5" imgW="1600200" imgH="228600" progId="Equation.DSMT4">
                  <p:embed/>
                  <p:pic>
                    <p:nvPicPr>
                      <p:cNvPr id="12493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7419" y="5156662"/>
                        <a:ext cx="4682657" cy="66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a:extLst>
              <a:ext uri="{FF2B5EF4-FFF2-40B4-BE49-F238E27FC236}">
                <a16:creationId xmlns:a16="http://schemas.microsoft.com/office/drawing/2014/main" id="{E85E0E81-A457-1A56-B386-807DFD0A0333}"/>
              </a:ext>
            </a:extLst>
          </p:cNvPr>
          <p:cNvSpPr txBox="1"/>
          <p:nvPr/>
        </p:nvSpPr>
        <p:spPr>
          <a:xfrm>
            <a:off x="6510236" y="5306471"/>
            <a:ext cx="2361390" cy="523220"/>
          </a:xfrm>
          <a:prstGeom prst="rect">
            <a:avLst/>
          </a:prstGeom>
          <a:noFill/>
        </p:spPr>
        <p:txBody>
          <a:bodyPr wrap="square">
            <a:spAutoFit/>
          </a:bodyPr>
          <a:lstStyle/>
          <a:p>
            <a:pPr>
              <a:buNone/>
            </a:pPr>
            <a:r>
              <a:rPr lang="en-US" sz="2800" dirty="0">
                <a:solidFill>
                  <a:srgbClr val="FF0000"/>
                </a:solidFill>
                <a:latin typeface="Arial" pitchFamily="34" charset="0"/>
                <a:cs typeface="Arial" pitchFamily="34" charset="0"/>
              </a:rPr>
              <a:t>Carson’s rule</a:t>
            </a:r>
          </a:p>
        </p:txBody>
      </p:sp>
      <p:sp>
        <p:nvSpPr>
          <p:cNvPr id="9" name="TextBox 8">
            <a:extLst>
              <a:ext uri="{FF2B5EF4-FFF2-40B4-BE49-F238E27FC236}">
                <a16:creationId xmlns:a16="http://schemas.microsoft.com/office/drawing/2014/main" id="{5A3777EF-350D-FFC7-3088-D82319F0F140}"/>
              </a:ext>
            </a:extLst>
          </p:cNvPr>
          <p:cNvSpPr txBox="1"/>
          <p:nvPr/>
        </p:nvSpPr>
        <p:spPr>
          <a:xfrm>
            <a:off x="591929" y="3429000"/>
            <a:ext cx="2462555" cy="584775"/>
          </a:xfrm>
          <a:prstGeom prst="rect">
            <a:avLst/>
          </a:prstGeom>
          <a:noFill/>
        </p:spPr>
        <p:txBody>
          <a:bodyPr wrap="square">
            <a:spAutoFit/>
          </a:bodyPr>
          <a:lstStyle/>
          <a:p>
            <a:pPr>
              <a:buNone/>
            </a:pPr>
            <a:r>
              <a:rPr lang="en-US" sz="3200" dirty="0">
                <a:latin typeface="Arial" pitchFamily="34" charset="0"/>
                <a:cs typeface="Arial" pitchFamily="34" charset="0"/>
              </a:rPr>
              <a:t>Bandwidth =</a:t>
            </a:r>
          </a:p>
        </p:txBody>
      </p:sp>
      <p:pic>
        <p:nvPicPr>
          <p:cNvPr id="40965" name="Picture 5"/>
          <p:cNvPicPr>
            <a:picLocks noChangeAspect="1" noChangeArrowheads="1"/>
          </p:cNvPicPr>
          <p:nvPr/>
        </p:nvPicPr>
        <p:blipFill>
          <a:blip r:embed="rId7" cstate="print"/>
          <a:srcRect/>
          <a:stretch>
            <a:fillRect/>
          </a:stretch>
        </p:blipFill>
        <p:spPr bwMode="auto">
          <a:xfrm>
            <a:off x="7505746" y="3212394"/>
            <a:ext cx="3263543" cy="448597"/>
          </a:xfrm>
          <a:prstGeom prst="rect">
            <a:avLst/>
          </a:prstGeom>
          <a:noFill/>
          <a:ln w="9525">
            <a:noFill/>
            <a:miter lim="800000"/>
            <a:headEnd/>
            <a:tailEnd/>
          </a:ln>
        </p:spPr>
      </p:pic>
      <p:sp>
        <p:nvSpPr>
          <p:cNvPr id="3" name="Date Placeholder 2">
            <a:extLst>
              <a:ext uri="{FF2B5EF4-FFF2-40B4-BE49-F238E27FC236}">
                <a16:creationId xmlns:a16="http://schemas.microsoft.com/office/drawing/2014/main" id="{DF682308-FE6B-E74E-213E-35FC683740CD}"/>
              </a:ext>
            </a:extLst>
          </p:cNvPr>
          <p:cNvSpPr>
            <a:spLocks noGrp="1"/>
          </p:cNvSpPr>
          <p:nvPr>
            <p:ph type="dt" sz="half" idx="10"/>
          </p:nvPr>
        </p:nvSpPr>
        <p:spPr/>
        <p:txBody>
          <a:bodyPr/>
          <a:lstStyle/>
          <a:p>
            <a:r>
              <a:rPr lang="en-US"/>
              <a:t>&lt;COURSE TITLE&gt;, &lt;TOPIC NAME&gt;</a:t>
            </a:r>
            <a:endParaRPr lang="en-IN" dirty="0"/>
          </a:p>
        </p:txBody>
      </p:sp>
      <p:sp>
        <p:nvSpPr>
          <p:cNvPr id="6" name="Slide Number Placeholder 5">
            <a:extLst>
              <a:ext uri="{FF2B5EF4-FFF2-40B4-BE49-F238E27FC236}">
                <a16:creationId xmlns:a16="http://schemas.microsoft.com/office/drawing/2014/main" id="{D80B5C3A-E0FB-AC23-A977-32567DBD9CD5}"/>
              </a:ext>
            </a:extLst>
          </p:cNvPr>
          <p:cNvSpPr>
            <a:spLocks noGrp="1"/>
          </p:cNvSpPr>
          <p:nvPr>
            <p:ph type="sldNum" sz="quarter" idx="12"/>
          </p:nvPr>
        </p:nvSpPr>
        <p:spPr/>
        <p:txBody>
          <a:bodyPr/>
          <a:lstStyle/>
          <a:p>
            <a:fld id="{CBABCCC1-BF11-4F37-963E-1BCD5B23FD72}" type="slidenum">
              <a:rPr lang="en-IN" smtClean="0"/>
              <a:t>6</a:t>
            </a:fld>
            <a:endParaRPr lang="en-IN"/>
          </a:p>
        </p:txBody>
      </p:sp>
    </p:spTree>
    <p:extLst>
      <p:ext uri="{BB962C8B-B14F-4D97-AF65-F5344CB8AC3E}">
        <p14:creationId xmlns:p14="http://schemas.microsoft.com/office/powerpoint/2010/main" val="355259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4931"/>
                                        </p:tgtEl>
                                        <p:attrNameLst>
                                          <p:attrName>style.visibility</p:attrName>
                                        </p:attrNameLst>
                                      </p:cBhvr>
                                      <p:to>
                                        <p:strVal val="visible"/>
                                      </p:to>
                                    </p:set>
                                    <p:animEffect transition="in" filter="barn(inVertical)">
                                      <p:cBhvr>
                                        <p:cTn id="12" dur="500"/>
                                        <p:tgtEl>
                                          <p:spTgt spid="1249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4932"/>
                                        </p:tgtEl>
                                        <p:attrNameLst>
                                          <p:attrName>style.visibility</p:attrName>
                                        </p:attrNameLst>
                                      </p:cBhvr>
                                      <p:to>
                                        <p:strVal val="visible"/>
                                      </p:to>
                                    </p:set>
                                    <p:animEffect transition="in" filter="wipe(down)">
                                      <p:cBhvr>
                                        <p:cTn id="17" dur="500"/>
                                        <p:tgtEl>
                                          <p:spTgt spid="1249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694" y="-24125"/>
            <a:ext cx="9358008" cy="854075"/>
          </a:xfrm>
        </p:spPr>
        <p:txBody>
          <a:bodyPr>
            <a:normAutofit/>
          </a:bodyPr>
          <a:lstStyle/>
          <a:p>
            <a:r>
              <a:rPr lang="en-US" sz="3600" dirty="0">
                <a:solidFill>
                  <a:srgbClr val="0C03BD"/>
                </a:solidFill>
                <a:latin typeface="Arial" panose="020B0604020202020204" pitchFamily="34" charset="0"/>
                <a:cs typeface="Arial" panose="020B0604020202020204" pitchFamily="34" charset="0"/>
              </a:rPr>
              <a:t>Baud, Bit rate and Bandwidth of FSK</a:t>
            </a:r>
          </a:p>
        </p:txBody>
      </p:sp>
      <p:sp>
        <p:nvSpPr>
          <p:cNvPr id="3" name="Content Placeholder 2"/>
          <p:cNvSpPr>
            <a:spLocks noGrp="1"/>
          </p:cNvSpPr>
          <p:nvPr>
            <p:ph idx="1"/>
          </p:nvPr>
        </p:nvSpPr>
        <p:spPr>
          <a:xfrm>
            <a:off x="280416" y="987552"/>
            <a:ext cx="11667744" cy="5189411"/>
          </a:xfrm>
        </p:spPr>
        <p:txBody>
          <a:bodyPr/>
          <a:lstStyle/>
          <a:p>
            <a:pPr marL="0" indent="0">
              <a:buNone/>
            </a:pPr>
            <a:r>
              <a:rPr lang="en-US" dirty="0">
                <a:latin typeface="Arial" panose="020B0604020202020204" pitchFamily="34" charset="0"/>
                <a:cs typeface="Arial" panose="020B0604020202020204" pitchFamily="34" charset="0"/>
              </a:rPr>
              <a:t>In Fig (a), it can be seen that the time of one bit (</a:t>
            </a:r>
            <a:r>
              <a:rPr lang="en-US" i="1" dirty="0" err="1">
                <a:latin typeface="Arial" panose="020B0604020202020204" pitchFamily="34" charset="0"/>
                <a:cs typeface="Arial" panose="020B0604020202020204" pitchFamily="34" charset="0"/>
              </a:rPr>
              <a:t>t</a:t>
            </a:r>
            <a:r>
              <a:rPr lang="en-US" sz="3200" i="1"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is the same as the time the FSK output is a mark of space frequency (</a:t>
            </a:r>
            <a:r>
              <a:rPr lang="en-US" i="1" dirty="0" err="1">
                <a:latin typeface="Arial" panose="020B0604020202020204" pitchFamily="34" charset="0"/>
                <a:cs typeface="Arial" panose="020B0604020202020204" pitchFamily="34" charset="0"/>
              </a:rPr>
              <a:t>t</a:t>
            </a:r>
            <a:r>
              <a:rPr lang="en-US" sz="3600" i="1"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a:t>
            </a:r>
          </a:p>
          <a:p>
            <a:pPr marL="0" indent="0">
              <a:buNone/>
            </a:pPr>
            <a:r>
              <a:rPr lang="en-US" dirty="0">
                <a:solidFill>
                  <a:srgbClr val="FF0000"/>
                </a:solidFill>
                <a:latin typeface="Arial" panose="020B0604020202020204" pitchFamily="34" charset="0"/>
                <a:cs typeface="Arial" panose="020B0604020202020204" pitchFamily="34" charset="0"/>
              </a:rPr>
              <a:t>Thus, the bit time equals the time of an FSK signaling element, and the bit rate equals the baud.</a:t>
            </a:r>
          </a:p>
        </p:txBody>
      </p:sp>
      <p:pic>
        <p:nvPicPr>
          <p:cNvPr id="4" name="Picture 3"/>
          <p:cNvPicPr>
            <a:picLocks noChangeAspect="1"/>
          </p:cNvPicPr>
          <p:nvPr/>
        </p:nvPicPr>
        <p:blipFill>
          <a:blip r:embed="rId2" cstate="print"/>
          <a:stretch>
            <a:fillRect/>
          </a:stretch>
        </p:blipFill>
        <p:spPr>
          <a:xfrm>
            <a:off x="280416" y="2839008"/>
            <a:ext cx="11227736" cy="3625216"/>
          </a:xfrm>
          <a:prstGeom prst="rect">
            <a:avLst/>
          </a:prstGeom>
        </p:spPr>
      </p:pic>
      <p:pic>
        <p:nvPicPr>
          <p:cNvPr id="104449" name="Picture 1"/>
          <p:cNvPicPr>
            <a:picLocks noChangeAspect="1" noChangeArrowheads="1"/>
          </p:cNvPicPr>
          <p:nvPr/>
        </p:nvPicPr>
        <p:blipFill>
          <a:blip r:embed="rId3" cstate="print"/>
          <a:srcRect/>
          <a:stretch>
            <a:fillRect/>
          </a:stretch>
        </p:blipFill>
        <p:spPr bwMode="auto">
          <a:xfrm>
            <a:off x="7386863" y="2691134"/>
            <a:ext cx="2586498" cy="1038242"/>
          </a:xfrm>
          <a:prstGeom prst="rect">
            <a:avLst/>
          </a:prstGeom>
          <a:noFill/>
          <a:ln w="9525">
            <a:noFill/>
            <a:miter lim="800000"/>
            <a:headEnd/>
            <a:tailEnd/>
          </a:ln>
        </p:spPr>
      </p:pic>
      <p:sp>
        <p:nvSpPr>
          <p:cNvPr id="5" name="Date Placeholder 4">
            <a:extLst>
              <a:ext uri="{FF2B5EF4-FFF2-40B4-BE49-F238E27FC236}">
                <a16:creationId xmlns:a16="http://schemas.microsoft.com/office/drawing/2014/main" id="{F7E93005-E137-1973-D6D5-EB00D6892AF6}"/>
              </a:ext>
            </a:extLst>
          </p:cNvPr>
          <p:cNvSpPr>
            <a:spLocks noGrp="1"/>
          </p:cNvSpPr>
          <p:nvPr>
            <p:ph type="dt" sz="half" idx="10"/>
          </p:nvPr>
        </p:nvSpPr>
        <p:spPr/>
        <p:txBody>
          <a:bodyPr/>
          <a:lstStyle/>
          <a:p>
            <a:r>
              <a:rPr lang="en-US"/>
              <a:t>&lt;COURSE TITLE&gt;, &lt;TOPIC NAME&gt;</a:t>
            </a:r>
            <a:endParaRPr lang="en-IN" dirty="0"/>
          </a:p>
        </p:txBody>
      </p:sp>
      <p:sp>
        <p:nvSpPr>
          <p:cNvPr id="7" name="Slide Number Placeholder 6">
            <a:extLst>
              <a:ext uri="{FF2B5EF4-FFF2-40B4-BE49-F238E27FC236}">
                <a16:creationId xmlns:a16="http://schemas.microsoft.com/office/drawing/2014/main" id="{220256BE-E814-C547-CE3B-CEEE4EACC3D0}"/>
              </a:ext>
            </a:extLst>
          </p:cNvPr>
          <p:cNvSpPr>
            <a:spLocks noGrp="1"/>
          </p:cNvSpPr>
          <p:nvPr>
            <p:ph type="sldNum" sz="quarter" idx="12"/>
          </p:nvPr>
        </p:nvSpPr>
        <p:spPr/>
        <p:txBody>
          <a:bodyPr/>
          <a:lstStyle/>
          <a:p>
            <a:fld id="{CBABCCC1-BF11-4F37-963E-1BCD5B23FD72}" type="slidenum">
              <a:rPr lang="en-IN" smtClean="0"/>
              <a:t>7</a:t>
            </a:fld>
            <a:endParaRPr lang="en-IN"/>
          </a:p>
        </p:txBody>
      </p:sp>
    </p:spTree>
    <p:extLst>
      <p:ext uri="{BB962C8B-B14F-4D97-AF65-F5344CB8AC3E}">
        <p14:creationId xmlns:p14="http://schemas.microsoft.com/office/powerpoint/2010/main" val="62205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04449"/>
                                        </p:tgtEl>
                                        <p:attrNameLst>
                                          <p:attrName>style.visibility</p:attrName>
                                        </p:attrNameLst>
                                      </p:cBhvr>
                                      <p:to>
                                        <p:strVal val="visible"/>
                                      </p:to>
                                    </p:set>
                                    <p:animEffect transition="in" filter="randombar(horizontal)">
                                      <p:cBhvr>
                                        <p:cTn id="22" dur="500"/>
                                        <p:tgtEl>
                                          <p:spTgt spid="104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3"/>
          <p:cNvPicPr>
            <a:picLocks noChangeAspect="1" noChangeArrowheads="1"/>
          </p:cNvPicPr>
          <p:nvPr/>
        </p:nvPicPr>
        <p:blipFill>
          <a:blip r:embed="rId2" cstate="print"/>
          <a:srcRect/>
          <a:stretch>
            <a:fillRect/>
          </a:stretch>
        </p:blipFill>
        <p:spPr bwMode="auto">
          <a:xfrm>
            <a:off x="838200" y="788859"/>
            <a:ext cx="9704838" cy="4477846"/>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id="{904CCA9E-C90E-73D1-B56C-B3A6D29F26AB}"/>
              </a:ext>
            </a:extLst>
          </p:cNvPr>
          <p:cNvSpPr>
            <a:spLocks noGrp="1"/>
          </p:cNvSpPr>
          <p:nvPr>
            <p:ph type="dt" sz="half" idx="10"/>
          </p:nvPr>
        </p:nvSpPr>
        <p:spPr/>
        <p:txBody>
          <a:bodyPr/>
          <a:lstStyle/>
          <a:p>
            <a:r>
              <a:rPr lang="en-US"/>
              <a:t>&lt;COURSE TITLE&gt;, &lt;TOPIC NAME&gt;</a:t>
            </a:r>
            <a:endParaRPr lang="en-IN" dirty="0"/>
          </a:p>
        </p:txBody>
      </p:sp>
      <p:sp>
        <p:nvSpPr>
          <p:cNvPr id="4" name="Slide Number Placeholder 3">
            <a:extLst>
              <a:ext uri="{FF2B5EF4-FFF2-40B4-BE49-F238E27FC236}">
                <a16:creationId xmlns:a16="http://schemas.microsoft.com/office/drawing/2014/main" id="{3FD6D508-A1A8-316D-0E43-2CF25F8C38A1}"/>
              </a:ext>
            </a:extLst>
          </p:cNvPr>
          <p:cNvSpPr>
            <a:spLocks noGrp="1"/>
          </p:cNvSpPr>
          <p:nvPr>
            <p:ph type="sldNum" sz="quarter" idx="12"/>
          </p:nvPr>
        </p:nvSpPr>
        <p:spPr/>
        <p:txBody>
          <a:bodyPr/>
          <a:lstStyle/>
          <a:p>
            <a:fld id="{CBABCCC1-BF11-4F37-963E-1BCD5B23FD72}" type="slidenum">
              <a:rPr lang="en-IN" smtClean="0"/>
              <a:t>8</a:t>
            </a:fld>
            <a:endParaRPr lang="en-IN"/>
          </a:p>
        </p:txBody>
      </p:sp>
    </p:spTree>
    <p:extLst>
      <p:ext uri="{BB962C8B-B14F-4D97-AF65-F5344CB8AC3E}">
        <p14:creationId xmlns:p14="http://schemas.microsoft.com/office/powerpoint/2010/main" val="381933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checkerboard(across)">
                                      <p:cBhvr>
                                        <p:cTn id="7" dur="500"/>
                                        <p:tgtEl>
                                          <p:spTgt spid="40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8D2001-C366-5458-CB76-283974CACF26}"/>
              </a:ext>
            </a:extLst>
          </p:cNvPr>
          <p:cNvSpPr>
            <a:spLocks noGrp="1"/>
          </p:cNvSpPr>
          <p:nvPr>
            <p:ph type="dt" sz="half" idx="10"/>
          </p:nvPr>
        </p:nvSpPr>
        <p:spPr/>
        <p:txBody>
          <a:bodyPr/>
          <a:lstStyle/>
          <a:p>
            <a:r>
              <a:rPr lang="en-US"/>
              <a:t>&lt;COURSE TITLE&gt;, &lt;TOPIC NAME&gt;</a:t>
            </a:r>
            <a:endParaRPr lang="en-IN" dirty="0"/>
          </a:p>
        </p:txBody>
      </p:sp>
      <p:sp>
        <p:nvSpPr>
          <p:cNvPr id="8" name="Slide Number Placeholder 7">
            <a:extLst>
              <a:ext uri="{FF2B5EF4-FFF2-40B4-BE49-F238E27FC236}">
                <a16:creationId xmlns:a16="http://schemas.microsoft.com/office/drawing/2014/main" id="{3678C4C6-FA8D-83DE-FD2B-24A81ED17C81}"/>
              </a:ext>
            </a:extLst>
          </p:cNvPr>
          <p:cNvSpPr>
            <a:spLocks noGrp="1"/>
          </p:cNvSpPr>
          <p:nvPr>
            <p:ph type="sldNum" sz="quarter" idx="12"/>
          </p:nvPr>
        </p:nvSpPr>
        <p:spPr/>
        <p:txBody>
          <a:bodyPr/>
          <a:lstStyle/>
          <a:p>
            <a:fld id="{CBABCCC1-BF11-4F37-963E-1BCD5B23FD72}" type="slidenum">
              <a:rPr lang="en-IN" smtClean="0"/>
              <a:t>9</a:t>
            </a:fld>
            <a:endParaRPr lang="en-IN"/>
          </a:p>
        </p:txBody>
      </p:sp>
      <p:sp>
        <p:nvSpPr>
          <p:cNvPr id="10" name="TextBox 9">
            <a:extLst>
              <a:ext uri="{FF2B5EF4-FFF2-40B4-BE49-F238E27FC236}">
                <a16:creationId xmlns:a16="http://schemas.microsoft.com/office/drawing/2014/main" id="{ADDF0DEE-9A49-6A66-0318-8E3BEF603022}"/>
              </a:ext>
            </a:extLst>
          </p:cNvPr>
          <p:cNvSpPr txBox="1"/>
          <p:nvPr/>
        </p:nvSpPr>
        <p:spPr>
          <a:xfrm>
            <a:off x="1393487" y="198411"/>
            <a:ext cx="10532624" cy="1815882"/>
          </a:xfrm>
          <a:prstGeom prst="rect">
            <a:avLst/>
          </a:prstGeom>
          <a:noFill/>
        </p:spPr>
        <p:txBody>
          <a:bodyPr wrap="square">
            <a:spAutoFit/>
          </a:bodyPr>
          <a:lstStyle/>
          <a:p>
            <a:r>
              <a:rPr lang="en-US" sz="2800" dirty="0">
                <a:solidFill>
                  <a:srgbClr val="FF0000"/>
                </a:solidFill>
                <a:latin typeface="Arial" panose="020B0604020202020204" pitchFamily="34" charset="0"/>
                <a:cs typeface="Arial" panose="020B0604020202020204" pitchFamily="34" charset="0"/>
              </a:rPr>
              <a:t>Ex1</a:t>
            </a:r>
            <a:r>
              <a:rPr lang="en-US" sz="2800" dirty="0">
                <a:latin typeface="Arial" panose="020B0604020202020204" pitchFamily="34" charset="0"/>
                <a:cs typeface="Arial" panose="020B0604020202020204" pitchFamily="34" charset="0"/>
              </a:rPr>
              <a:t>: </a:t>
            </a:r>
            <a:r>
              <a:rPr lang="en-US" sz="2800" dirty="0">
                <a:solidFill>
                  <a:srgbClr val="0909B7"/>
                </a:solidFill>
                <a:latin typeface="Arial" panose="020B0604020202020204" pitchFamily="34" charset="0"/>
                <a:cs typeface="Arial" panose="020B0604020202020204" pitchFamily="34" charset="0"/>
              </a:rPr>
              <a:t>Determine (a) the peak frequency deviation, (b) minimum bandwidth, and (c) baud for a binary FSK signal with a mark frequency of 49 kHz, a space frequency of 51 kHz, and an input bit rate of 2 kbps. </a:t>
            </a:r>
            <a:endParaRPr lang="en-IN" sz="2800" dirty="0">
              <a:solidFill>
                <a:srgbClr val="0909B7"/>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D268509-1114-3D53-00A8-7B397BE249AB}"/>
              </a:ext>
            </a:extLst>
          </p:cNvPr>
          <p:cNvPicPr>
            <a:picLocks noChangeAspect="1"/>
          </p:cNvPicPr>
          <p:nvPr/>
        </p:nvPicPr>
        <p:blipFill>
          <a:blip r:embed="rId2"/>
          <a:stretch>
            <a:fillRect/>
          </a:stretch>
        </p:blipFill>
        <p:spPr>
          <a:xfrm>
            <a:off x="380366" y="2174079"/>
            <a:ext cx="10029217" cy="1501217"/>
          </a:xfrm>
          <a:prstGeom prst="rect">
            <a:avLst/>
          </a:prstGeom>
        </p:spPr>
      </p:pic>
      <p:pic>
        <p:nvPicPr>
          <p:cNvPr id="14" name="Picture 13">
            <a:extLst>
              <a:ext uri="{FF2B5EF4-FFF2-40B4-BE49-F238E27FC236}">
                <a16:creationId xmlns:a16="http://schemas.microsoft.com/office/drawing/2014/main" id="{DDE09EFE-5041-2595-BD31-E28293A73CD8}"/>
              </a:ext>
            </a:extLst>
          </p:cNvPr>
          <p:cNvPicPr>
            <a:picLocks noChangeAspect="1"/>
          </p:cNvPicPr>
          <p:nvPr/>
        </p:nvPicPr>
        <p:blipFill>
          <a:blip r:embed="rId3"/>
          <a:stretch>
            <a:fillRect/>
          </a:stretch>
        </p:blipFill>
        <p:spPr>
          <a:xfrm>
            <a:off x="576469" y="3583398"/>
            <a:ext cx="8767318" cy="952163"/>
          </a:xfrm>
          <a:prstGeom prst="rect">
            <a:avLst/>
          </a:prstGeom>
        </p:spPr>
      </p:pic>
      <p:pic>
        <p:nvPicPr>
          <p:cNvPr id="16" name="Picture 15">
            <a:extLst>
              <a:ext uri="{FF2B5EF4-FFF2-40B4-BE49-F238E27FC236}">
                <a16:creationId xmlns:a16="http://schemas.microsoft.com/office/drawing/2014/main" id="{68DC71C3-0D40-69DA-B40A-8E11408E911C}"/>
              </a:ext>
            </a:extLst>
          </p:cNvPr>
          <p:cNvPicPr>
            <a:picLocks noChangeAspect="1"/>
          </p:cNvPicPr>
          <p:nvPr/>
        </p:nvPicPr>
        <p:blipFill>
          <a:blip r:embed="rId4"/>
          <a:stretch>
            <a:fillRect/>
          </a:stretch>
        </p:blipFill>
        <p:spPr>
          <a:xfrm>
            <a:off x="1017104" y="4805622"/>
            <a:ext cx="9392479" cy="1550728"/>
          </a:xfrm>
          <a:prstGeom prst="rect">
            <a:avLst/>
          </a:prstGeom>
        </p:spPr>
      </p:pic>
    </p:spTree>
    <p:extLst>
      <p:ext uri="{BB962C8B-B14F-4D97-AF65-F5344CB8AC3E}">
        <p14:creationId xmlns:p14="http://schemas.microsoft.com/office/powerpoint/2010/main" val="87591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p:cNvPicPr>
            <a:picLocks noChangeAspect="1" noChangeArrowheads="1"/>
          </p:cNvPicPr>
          <p:nvPr/>
        </p:nvPicPr>
        <p:blipFill>
          <a:blip r:embed="rId2" cstate="print"/>
          <a:srcRect/>
          <a:stretch>
            <a:fillRect/>
          </a:stretch>
        </p:blipFill>
        <p:spPr bwMode="auto">
          <a:xfrm>
            <a:off x="2189982" y="191728"/>
            <a:ext cx="8074895" cy="4644393"/>
          </a:xfrm>
          <a:prstGeom prst="rect">
            <a:avLst/>
          </a:prstGeom>
          <a:noFill/>
          <a:ln w="9525">
            <a:noFill/>
            <a:miter lim="800000"/>
            <a:headEnd/>
            <a:tailEnd/>
          </a:ln>
        </p:spPr>
      </p:pic>
      <p:pic>
        <p:nvPicPr>
          <p:cNvPr id="134146" name="Picture 2"/>
          <p:cNvPicPr>
            <a:picLocks noChangeAspect="1" noChangeArrowheads="1"/>
          </p:cNvPicPr>
          <p:nvPr/>
        </p:nvPicPr>
        <p:blipFill>
          <a:blip r:embed="rId3" cstate="print"/>
          <a:srcRect/>
          <a:stretch>
            <a:fillRect/>
          </a:stretch>
        </p:blipFill>
        <p:spPr bwMode="auto">
          <a:xfrm>
            <a:off x="3092399" y="5076826"/>
            <a:ext cx="6687447" cy="1471458"/>
          </a:xfrm>
          <a:prstGeom prst="rect">
            <a:avLst/>
          </a:prstGeom>
          <a:noFill/>
          <a:ln w="9525">
            <a:noFill/>
            <a:miter lim="800000"/>
            <a:headEnd/>
            <a:tailEnd/>
          </a:ln>
        </p:spPr>
      </p:pic>
      <p:sp>
        <p:nvSpPr>
          <p:cNvPr id="4" name="TextBox 3"/>
          <p:cNvSpPr txBox="1"/>
          <p:nvPr/>
        </p:nvSpPr>
        <p:spPr>
          <a:xfrm>
            <a:off x="1238864" y="5619136"/>
            <a:ext cx="1651819" cy="369332"/>
          </a:xfrm>
          <a:prstGeom prst="rect">
            <a:avLst/>
          </a:prstGeom>
          <a:noFill/>
        </p:spPr>
        <p:txBody>
          <a:bodyPr wrap="square" rtlCol="0">
            <a:spAutoFit/>
          </a:bodyPr>
          <a:lstStyle/>
          <a:p>
            <a:r>
              <a:rPr lang="en-US" b="1" dirty="0">
                <a:solidFill>
                  <a:srgbClr val="FF0000"/>
                </a:solidFill>
                <a:latin typeface="Arial" pitchFamily="34" charset="0"/>
                <a:cs typeface="Arial" pitchFamily="34" charset="0"/>
              </a:rPr>
              <a:t>4 level FSK</a:t>
            </a:r>
          </a:p>
        </p:txBody>
      </p:sp>
      <p:sp>
        <p:nvSpPr>
          <p:cNvPr id="2" name="Date Placeholder 1">
            <a:extLst>
              <a:ext uri="{FF2B5EF4-FFF2-40B4-BE49-F238E27FC236}">
                <a16:creationId xmlns:a16="http://schemas.microsoft.com/office/drawing/2014/main" id="{E9AA9934-5B5E-2942-BEA1-23EEFF8A20B4}"/>
              </a:ext>
            </a:extLst>
          </p:cNvPr>
          <p:cNvSpPr>
            <a:spLocks noGrp="1"/>
          </p:cNvSpPr>
          <p:nvPr>
            <p:ph type="dt" sz="half" idx="10"/>
          </p:nvPr>
        </p:nvSpPr>
        <p:spPr/>
        <p:txBody>
          <a:bodyPr/>
          <a:lstStyle/>
          <a:p>
            <a:r>
              <a:rPr lang="en-US"/>
              <a:t>&lt;COURSE TITLE&gt;, &lt;TOPIC NAME&gt;</a:t>
            </a:r>
            <a:endParaRPr lang="en-IN" dirty="0"/>
          </a:p>
        </p:txBody>
      </p:sp>
      <p:sp>
        <p:nvSpPr>
          <p:cNvPr id="5" name="Slide Number Placeholder 4">
            <a:extLst>
              <a:ext uri="{FF2B5EF4-FFF2-40B4-BE49-F238E27FC236}">
                <a16:creationId xmlns:a16="http://schemas.microsoft.com/office/drawing/2014/main" id="{E7827AEE-3AE4-2E58-10B0-1BDF329A84A8}"/>
              </a:ext>
            </a:extLst>
          </p:cNvPr>
          <p:cNvSpPr>
            <a:spLocks noGrp="1"/>
          </p:cNvSpPr>
          <p:nvPr>
            <p:ph type="sldNum" sz="quarter" idx="12"/>
          </p:nvPr>
        </p:nvSpPr>
        <p:spPr/>
        <p:txBody>
          <a:bodyPr/>
          <a:lstStyle/>
          <a:p>
            <a:fld id="{CBABCCC1-BF11-4F37-963E-1BCD5B23FD72}" type="slidenum">
              <a:rPr lang="en-IN" smtClean="0"/>
              <a:t>10</a:t>
            </a:fld>
            <a:endParaRPr lang="en-IN"/>
          </a:p>
        </p:txBody>
      </p:sp>
    </p:spTree>
    <p:extLst>
      <p:ext uri="{BB962C8B-B14F-4D97-AF65-F5344CB8AC3E}">
        <p14:creationId xmlns:p14="http://schemas.microsoft.com/office/powerpoint/2010/main" val="2792012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1002890"/>
          </a:xfrm>
        </p:spPr>
        <p:txBody>
          <a:bodyPr>
            <a:normAutofit/>
          </a:bodyPr>
          <a:lstStyle/>
          <a:p>
            <a:r>
              <a:rPr lang="en-US" sz="4000" dirty="0">
                <a:solidFill>
                  <a:srgbClr val="FF0000"/>
                </a:solidFill>
                <a:latin typeface="Arial" pitchFamily="34" charset="0"/>
                <a:cs typeface="Arial" pitchFamily="34" charset="0"/>
              </a:rPr>
              <a:t>Bandwidth for M-</a:t>
            </a:r>
            <a:r>
              <a:rPr lang="en-US" sz="4000" dirty="0" err="1">
                <a:solidFill>
                  <a:srgbClr val="FF0000"/>
                </a:solidFill>
                <a:latin typeface="Arial" pitchFamily="34" charset="0"/>
                <a:cs typeface="Arial" pitchFamily="34" charset="0"/>
              </a:rPr>
              <a:t>ary</a:t>
            </a:r>
            <a:r>
              <a:rPr lang="en-US" sz="4000" dirty="0">
                <a:solidFill>
                  <a:srgbClr val="FF0000"/>
                </a:solidFill>
                <a:latin typeface="Arial" pitchFamily="34" charset="0"/>
                <a:cs typeface="Arial" pitchFamily="34" charset="0"/>
              </a:rPr>
              <a:t> FSK</a:t>
            </a:r>
          </a:p>
        </p:txBody>
      </p:sp>
      <p:graphicFrame>
        <p:nvGraphicFramePr>
          <p:cNvPr id="125955" name="Object 3"/>
          <p:cNvGraphicFramePr>
            <a:graphicFrameLocks noChangeAspect="1"/>
          </p:cNvGraphicFramePr>
          <p:nvPr/>
        </p:nvGraphicFramePr>
        <p:xfrm>
          <a:off x="701982" y="1460755"/>
          <a:ext cx="7770862" cy="1061219"/>
        </p:xfrm>
        <a:graphic>
          <a:graphicData uri="http://schemas.openxmlformats.org/presentationml/2006/ole">
            <mc:AlternateContent xmlns:mc="http://schemas.openxmlformats.org/markup-compatibility/2006">
              <mc:Choice xmlns:v="urn:schemas-microsoft-com:vml" Requires="v">
                <p:oleObj name="Equation" r:id="rId2" imgW="2882880" imgH="393480" progId="Equation.DSMT4">
                  <p:embed/>
                </p:oleObj>
              </mc:Choice>
              <mc:Fallback>
                <p:oleObj name="Equation" r:id="rId2" imgW="2882880" imgH="393480" progId="Equation.DSMT4">
                  <p:embed/>
                  <p:pic>
                    <p:nvPicPr>
                      <p:cNvPr id="12595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82" y="1460755"/>
                        <a:ext cx="7770862" cy="1061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5956" name="Object 4"/>
          <p:cNvGraphicFramePr>
            <a:graphicFrameLocks noChangeAspect="1"/>
          </p:cNvGraphicFramePr>
          <p:nvPr/>
        </p:nvGraphicFramePr>
        <p:xfrm>
          <a:off x="705463" y="2861187"/>
          <a:ext cx="5480693" cy="943897"/>
        </p:xfrm>
        <a:graphic>
          <a:graphicData uri="http://schemas.openxmlformats.org/presentationml/2006/ole">
            <mc:AlternateContent xmlns:mc="http://schemas.openxmlformats.org/markup-compatibility/2006">
              <mc:Choice xmlns:v="urn:schemas-microsoft-com:vml" Requires="v">
                <p:oleObj name="Equation" r:id="rId4" imgW="2286000" imgH="393480" progId="Equation.DSMT4">
                  <p:embed/>
                </p:oleObj>
              </mc:Choice>
              <mc:Fallback>
                <p:oleObj name="Equation" r:id="rId4" imgW="2286000" imgH="393480" progId="Equation.DSMT4">
                  <p:embed/>
                  <p:pic>
                    <p:nvPicPr>
                      <p:cNvPr id="12595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463" y="2861187"/>
                        <a:ext cx="5480693" cy="943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5957" name="Object 5"/>
          <p:cNvGraphicFramePr>
            <a:graphicFrameLocks noChangeAspect="1"/>
          </p:cNvGraphicFramePr>
          <p:nvPr/>
        </p:nvGraphicFramePr>
        <p:xfrm>
          <a:off x="818944" y="4366189"/>
          <a:ext cx="3814917" cy="1002224"/>
        </p:xfrm>
        <a:graphic>
          <a:graphicData uri="http://schemas.openxmlformats.org/presentationml/2006/ole">
            <mc:AlternateContent xmlns:mc="http://schemas.openxmlformats.org/markup-compatibility/2006">
              <mc:Choice xmlns:v="urn:schemas-microsoft-com:vml" Requires="v">
                <p:oleObj name="Equation" r:id="rId6" imgW="1498320" imgH="393480" progId="Equation.DSMT4">
                  <p:embed/>
                </p:oleObj>
              </mc:Choice>
              <mc:Fallback>
                <p:oleObj name="Equation" r:id="rId6" imgW="1498320" imgH="393480" progId="Equation.DSMT4">
                  <p:embed/>
                  <p:pic>
                    <p:nvPicPr>
                      <p:cNvPr id="12595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8944" y="4366189"/>
                        <a:ext cx="3814917" cy="1002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Date Placeholder 2">
            <a:extLst>
              <a:ext uri="{FF2B5EF4-FFF2-40B4-BE49-F238E27FC236}">
                <a16:creationId xmlns:a16="http://schemas.microsoft.com/office/drawing/2014/main" id="{5F5C8D6E-366D-CDC2-8292-D59BA3D6C808}"/>
              </a:ext>
            </a:extLst>
          </p:cNvPr>
          <p:cNvSpPr>
            <a:spLocks noGrp="1"/>
          </p:cNvSpPr>
          <p:nvPr>
            <p:ph type="dt" sz="half" idx="10"/>
          </p:nvPr>
        </p:nvSpPr>
        <p:spPr/>
        <p:txBody>
          <a:bodyPr/>
          <a:lstStyle/>
          <a:p>
            <a:r>
              <a:rPr lang="en-US"/>
              <a:t>&lt;COURSE TITLE&gt;, &lt;TOPIC NAME&gt;</a:t>
            </a:r>
            <a:endParaRPr lang="en-IN" dirty="0"/>
          </a:p>
        </p:txBody>
      </p:sp>
      <p:sp>
        <p:nvSpPr>
          <p:cNvPr id="5" name="Slide Number Placeholder 4">
            <a:extLst>
              <a:ext uri="{FF2B5EF4-FFF2-40B4-BE49-F238E27FC236}">
                <a16:creationId xmlns:a16="http://schemas.microsoft.com/office/drawing/2014/main" id="{CD4427F8-91C5-7D71-C078-7AD8D16DFF36}"/>
              </a:ext>
            </a:extLst>
          </p:cNvPr>
          <p:cNvSpPr>
            <a:spLocks noGrp="1"/>
          </p:cNvSpPr>
          <p:nvPr>
            <p:ph type="sldNum" sz="quarter" idx="12"/>
          </p:nvPr>
        </p:nvSpPr>
        <p:spPr/>
        <p:txBody>
          <a:bodyPr/>
          <a:lstStyle/>
          <a:p>
            <a:fld id="{CBABCCC1-BF11-4F37-963E-1BCD5B23FD72}" type="slidenum">
              <a:rPr lang="en-IN" smtClean="0"/>
              <a:t>11</a:t>
            </a:fld>
            <a:endParaRPr lang="en-IN"/>
          </a:p>
        </p:txBody>
      </p:sp>
    </p:spTree>
    <p:extLst>
      <p:ext uri="{BB962C8B-B14F-4D97-AF65-F5344CB8AC3E}">
        <p14:creationId xmlns:p14="http://schemas.microsoft.com/office/powerpoint/2010/main" val="60295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5955"/>
                                        </p:tgtEl>
                                        <p:attrNameLst>
                                          <p:attrName>style.visibility</p:attrName>
                                        </p:attrNameLst>
                                      </p:cBhvr>
                                      <p:to>
                                        <p:strVal val="visible"/>
                                      </p:to>
                                    </p:set>
                                    <p:animEffect transition="in" filter="checkerboard(across)">
                                      <p:cBhvr>
                                        <p:cTn id="7" dur="500"/>
                                        <p:tgtEl>
                                          <p:spTgt spid="12595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25956"/>
                                        </p:tgtEl>
                                        <p:attrNameLst>
                                          <p:attrName>style.visibility</p:attrName>
                                        </p:attrNameLst>
                                      </p:cBhvr>
                                      <p:to>
                                        <p:strVal val="visible"/>
                                      </p:to>
                                    </p:set>
                                    <p:animEffect transition="in" filter="diamond(in)">
                                      <p:cBhvr>
                                        <p:cTn id="12" dur="2000"/>
                                        <p:tgtEl>
                                          <p:spTgt spid="12595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25957"/>
                                        </p:tgtEl>
                                        <p:attrNameLst>
                                          <p:attrName>style.visibility</p:attrName>
                                        </p:attrNameLst>
                                      </p:cBhvr>
                                      <p:to>
                                        <p:strVal val="visible"/>
                                      </p:to>
                                    </p:set>
                                    <p:animEffect transition="in" filter="box(in)">
                                      <p:cBhvr>
                                        <p:cTn id="17" dur="500"/>
                                        <p:tgtEl>
                                          <p:spTgt spid="125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943897"/>
          </a:xfrm>
        </p:spPr>
        <p:txBody>
          <a:bodyPr>
            <a:normAutofit/>
          </a:bodyPr>
          <a:lstStyle/>
          <a:p>
            <a:r>
              <a:rPr lang="en-US" sz="4000" dirty="0">
                <a:solidFill>
                  <a:srgbClr val="0C03BD"/>
                </a:solidFill>
                <a:latin typeface="Arial" pitchFamily="34" charset="0"/>
                <a:cs typeface="Arial" pitchFamily="34" charset="0"/>
              </a:rPr>
              <a:t>Signal Space Representation</a:t>
            </a:r>
          </a:p>
        </p:txBody>
      </p:sp>
      <p:graphicFrame>
        <p:nvGraphicFramePr>
          <p:cNvPr id="43010" name="Object 2"/>
          <p:cNvGraphicFramePr>
            <a:graphicFrameLocks noChangeAspect="1"/>
          </p:cNvGraphicFramePr>
          <p:nvPr/>
        </p:nvGraphicFramePr>
        <p:xfrm>
          <a:off x="366866" y="989013"/>
          <a:ext cx="2883840" cy="795542"/>
        </p:xfrm>
        <a:graphic>
          <a:graphicData uri="http://schemas.openxmlformats.org/presentationml/2006/ole">
            <mc:AlternateContent xmlns:mc="http://schemas.openxmlformats.org/markup-compatibility/2006">
              <mc:Choice xmlns:v="urn:schemas-microsoft-com:vml" Requires="v">
                <p:oleObj name="Equation" r:id="rId2" imgW="1104840" imgH="304560" progId="Equation.DSMT4">
                  <p:embed/>
                </p:oleObj>
              </mc:Choice>
              <mc:Fallback>
                <p:oleObj name="Equation" r:id="rId2" imgW="1104840" imgH="304560" progId="Equation.DSMT4">
                  <p:embed/>
                  <p:pic>
                    <p:nvPicPr>
                      <p:cNvPr id="4301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66" y="989013"/>
                        <a:ext cx="2883840" cy="79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1" name="Object 3"/>
          <p:cNvGraphicFramePr>
            <a:graphicFrameLocks noChangeAspect="1"/>
          </p:cNvGraphicFramePr>
          <p:nvPr/>
        </p:nvGraphicFramePr>
        <p:xfrm>
          <a:off x="398410" y="1977153"/>
          <a:ext cx="2786064" cy="751298"/>
        </p:xfrm>
        <a:graphic>
          <a:graphicData uri="http://schemas.openxmlformats.org/presentationml/2006/ole">
            <mc:AlternateContent xmlns:mc="http://schemas.openxmlformats.org/markup-compatibility/2006">
              <mc:Choice xmlns:v="urn:schemas-microsoft-com:vml" Requires="v">
                <p:oleObj name="Equation" r:id="rId4" imgW="1130040" imgH="304560" progId="Equation.DSMT4">
                  <p:embed/>
                </p:oleObj>
              </mc:Choice>
              <mc:Fallback>
                <p:oleObj name="Equation" r:id="rId4" imgW="1130040" imgH="304560" progId="Equation.DSMT4">
                  <p:embed/>
                  <p:pic>
                    <p:nvPicPr>
                      <p:cNvPr id="4301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410" y="1977153"/>
                        <a:ext cx="2786064" cy="751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2" name="Object 4"/>
          <p:cNvGraphicFramePr>
            <a:graphicFrameLocks noChangeAspect="1"/>
          </p:cNvGraphicFramePr>
          <p:nvPr/>
        </p:nvGraphicFramePr>
        <p:xfrm>
          <a:off x="391036" y="2988649"/>
          <a:ext cx="1998203" cy="678635"/>
        </p:xfrm>
        <a:graphic>
          <a:graphicData uri="http://schemas.openxmlformats.org/presentationml/2006/ole">
            <mc:AlternateContent xmlns:mc="http://schemas.openxmlformats.org/markup-compatibility/2006">
              <mc:Choice xmlns:v="urn:schemas-microsoft-com:vml" Requires="v">
                <p:oleObj name="Equation" r:id="rId6" imgW="672840" imgH="228600" progId="Equation.DSMT4">
                  <p:embed/>
                </p:oleObj>
              </mc:Choice>
              <mc:Fallback>
                <p:oleObj name="Equation" r:id="rId6" imgW="672840" imgH="228600" progId="Equation.DSMT4">
                  <p:embed/>
                  <p:pic>
                    <p:nvPicPr>
                      <p:cNvPr id="4301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1036" y="2988649"/>
                        <a:ext cx="1998203" cy="678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3" name="Object 5"/>
          <p:cNvGraphicFramePr>
            <a:graphicFrameLocks noChangeAspect="1"/>
          </p:cNvGraphicFramePr>
          <p:nvPr/>
        </p:nvGraphicFramePr>
        <p:xfrm>
          <a:off x="206272" y="3944016"/>
          <a:ext cx="3315266" cy="1866849"/>
        </p:xfrm>
        <a:graphic>
          <a:graphicData uri="http://schemas.openxmlformats.org/presentationml/2006/ole">
            <mc:AlternateContent xmlns:mc="http://schemas.openxmlformats.org/markup-compatibility/2006">
              <mc:Choice xmlns:v="urn:schemas-microsoft-com:vml" Requires="v">
                <p:oleObj name="Equation" r:id="rId8" imgW="1307880" imgH="736560" progId="Equation.DSMT4">
                  <p:embed/>
                </p:oleObj>
              </mc:Choice>
              <mc:Fallback>
                <p:oleObj name="Equation" r:id="rId8" imgW="1307880" imgH="736560" progId="Equation.DSMT4">
                  <p:embed/>
                  <p:pic>
                    <p:nvPicPr>
                      <p:cNvPr id="4301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272" y="3944016"/>
                        <a:ext cx="3315266" cy="1866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3016" name="Picture 8"/>
          <p:cNvPicPr>
            <a:picLocks noChangeAspect="1" noChangeArrowheads="1"/>
          </p:cNvPicPr>
          <p:nvPr/>
        </p:nvPicPr>
        <p:blipFill>
          <a:blip r:embed="rId10" cstate="print"/>
          <a:srcRect/>
          <a:stretch>
            <a:fillRect/>
          </a:stretch>
        </p:blipFill>
        <p:spPr bwMode="auto">
          <a:xfrm>
            <a:off x="5539342" y="2814673"/>
            <a:ext cx="6111884" cy="3663754"/>
          </a:xfrm>
          <a:prstGeom prst="rect">
            <a:avLst/>
          </a:prstGeom>
          <a:noFill/>
          <a:ln w="9525">
            <a:noFill/>
            <a:miter lim="800000"/>
            <a:headEnd/>
            <a:tailEnd/>
          </a:ln>
        </p:spPr>
      </p:pic>
      <p:pic>
        <p:nvPicPr>
          <p:cNvPr id="43017" name="Picture 9"/>
          <p:cNvPicPr>
            <a:picLocks noChangeAspect="1" noChangeArrowheads="1"/>
          </p:cNvPicPr>
          <p:nvPr/>
        </p:nvPicPr>
        <p:blipFill>
          <a:blip r:embed="rId11" cstate="print"/>
          <a:srcRect/>
          <a:stretch>
            <a:fillRect/>
          </a:stretch>
        </p:blipFill>
        <p:spPr bwMode="auto">
          <a:xfrm>
            <a:off x="7848755" y="292201"/>
            <a:ext cx="3286277" cy="2339383"/>
          </a:xfrm>
          <a:prstGeom prst="rect">
            <a:avLst/>
          </a:prstGeom>
          <a:noFill/>
          <a:ln w="9525">
            <a:noFill/>
            <a:miter lim="800000"/>
            <a:headEnd/>
            <a:tailEnd/>
          </a:ln>
        </p:spPr>
      </p:pic>
      <p:sp>
        <p:nvSpPr>
          <p:cNvPr id="3" name="Date Placeholder 2">
            <a:extLst>
              <a:ext uri="{FF2B5EF4-FFF2-40B4-BE49-F238E27FC236}">
                <a16:creationId xmlns:a16="http://schemas.microsoft.com/office/drawing/2014/main" id="{06AA19D1-2D6C-D977-DD78-97AB447FBE55}"/>
              </a:ext>
            </a:extLst>
          </p:cNvPr>
          <p:cNvSpPr>
            <a:spLocks noGrp="1"/>
          </p:cNvSpPr>
          <p:nvPr>
            <p:ph type="dt" sz="half" idx="10"/>
          </p:nvPr>
        </p:nvSpPr>
        <p:spPr/>
        <p:txBody>
          <a:bodyPr/>
          <a:lstStyle/>
          <a:p>
            <a:r>
              <a:rPr lang="en-US"/>
              <a:t>&lt;COURSE TITLE&gt;, &lt;TOPIC NAME&gt;</a:t>
            </a:r>
            <a:endParaRPr lang="en-IN" dirty="0"/>
          </a:p>
        </p:txBody>
      </p:sp>
      <p:sp>
        <p:nvSpPr>
          <p:cNvPr id="5" name="Slide Number Placeholder 4">
            <a:extLst>
              <a:ext uri="{FF2B5EF4-FFF2-40B4-BE49-F238E27FC236}">
                <a16:creationId xmlns:a16="http://schemas.microsoft.com/office/drawing/2014/main" id="{2E653C84-0048-5296-B37B-D5CBCE270F88}"/>
              </a:ext>
            </a:extLst>
          </p:cNvPr>
          <p:cNvSpPr>
            <a:spLocks noGrp="1"/>
          </p:cNvSpPr>
          <p:nvPr>
            <p:ph type="sldNum" sz="quarter" idx="12"/>
          </p:nvPr>
        </p:nvSpPr>
        <p:spPr/>
        <p:txBody>
          <a:bodyPr/>
          <a:lstStyle/>
          <a:p>
            <a:fld id="{CBABCCC1-BF11-4F37-963E-1BCD5B23FD72}" type="slidenum">
              <a:rPr lang="en-IN" smtClean="0"/>
              <a:t>12</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box(in)">
                                      <p:cBhvr>
                                        <p:cTn id="7" dur="500"/>
                                        <p:tgtEl>
                                          <p:spTgt spid="430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checkerboard(across)">
                                      <p:cBhvr>
                                        <p:cTn id="12" dur="500"/>
                                        <p:tgtEl>
                                          <p:spTgt spid="4301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3012"/>
                                        </p:tgtEl>
                                        <p:attrNameLst>
                                          <p:attrName>style.visibility</p:attrName>
                                        </p:attrNameLst>
                                      </p:cBhvr>
                                      <p:to>
                                        <p:strVal val="visible"/>
                                      </p:to>
                                    </p:set>
                                    <p:animEffect transition="in" filter="circle(in)">
                                      <p:cBhvr>
                                        <p:cTn id="17" dur="2000"/>
                                        <p:tgtEl>
                                          <p:spTgt spid="430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3013"/>
                                        </p:tgtEl>
                                        <p:attrNameLst>
                                          <p:attrName>style.visibility</p:attrName>
                                        </p:attrNameLst>
                                      </p:cBhvr>
                                      <p:to>
                                        <p:strVal val="visible"/>
                                      </p:to>
                                    </p:set>
                                    <p:animEffect transition="in" filter="box(in)">
                                      <p:cBhvr>
                                        <p:cTn id="22" dur="500"/>
                                        <p:tgtEl>
                                          <p:spTgt spid="4301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3016"/>
                                        </p:tgtEl>
                                        <p:attrNameLst>
                                          <p:attrName>style.visibility</p:attrName>
                                        </p:attrNameLst>
                                      </p:cBhvr>
                                      <p:to>
                                        <p:strVal val="visible"/>
                                      </p:to>
                                    </p:set>
                                    <p:animEffect transition="in" filter="checkerboard(across)">
                                      <p:cBhvr>
                                        <p:cTn id="27" dur="500"/>
                                        <p:tgtEl>
                                          <p:spTgt spid="43016"/>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0" fill="hold" nodeType="clickEffect">
                                  <p:stCondLst>
                                    <p:cond delay="0"/>
                                  </p:stCondLst>
                                  <p:childTnLst>
                                    <p:set>
                                      <p:cBhvr>
                                        <p:cTn id="31" dur="1" fill="hold">
                                          <p:stCondLst>
                                            <p:cond delay="0"/>
                                          </p:stCondLst>
                                        </p:cTn>
                                        <p:tgtEl>
                                          <p:spTgt spid="43017"/>
                                        </p:tgtEl>
                                        <p:attrNameLst>
                                          <p:attrName>style.visibility</p:attrName>
                                        </p:attrNameLst>
                                      </p:cBhvr>
                                      <p:to>
                                        <p:strVal val="visible"/>
                                      </p:to>
                                    </p:set>
                                    <p:anim calcmode="lin" valueType="num">
                                      <p:cBhvr>
                                        <p:cTn id="32" dur="500" fill="hold"/>
                                        <p:tgtEl>
                                          <p:spTgt spid="43017"/>
                                        </p:tgtEl>
                                        <p:attrNameLst>
                                          <p:attrName>ppt_w</p:attrName>
                                        </p:attrNameLst>
                                      </p:cBhvr>
                                      <p:tavLst>
                                        <p:tav tm="0">
                                          <p:val>
                                            <p:fltVal val="0"/>
                                          </p:val>
                                        </p:tav>
                                        <p:tav tm="100000">
                                          <p:val>
                                            <p:strVal val="#ppt_w"/>
                                          </p:val>
                                        </p:tav>
                                      </p:tavLst>
                                    </p:anim>
                                    <p:anim calcmode="lin" valueType="num">
                                      <p:cBhvr>
                                        <p:cTn id="33" dur="500" fill="hold"/>
                                        <p:tgtEl>
                                          <p:spTgt spid="43017"/>
                                        </p:tgtEl>
                                        <p:attrNameLst>
                                          <p:attrName>ppt_h</p:attrName>
                                        </p:attrNameLst>
                                      </p:cBhvr>
                                      <p:tavLst>
                                        <p:tav tm="0">
                                          <p:val>
                                            <p:fltVal val="0"/>
                                          </p:val>
                                        </p:tav>
                                        <p:tav tm="100000">
                                          <p:val>
                                            <p:strVal val="#ppt_h"/>
                                          </p:val>
                                        </p:tav>
                                      </p:tavLst>
                                    </p:anim>
                                    <p:animEffect transition="in" filter="fade">
                                      <p:cBhvr>
                                        <p:cTn id="34" dur="500"/>
                                        <p:tgtEl>
                                          <p:spTgt spid="43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p:cNvPicPr>
            <a:picLocks noChangeAspect="1" noChangeArrowheads="1"/>
          </p:cNvPicPr>
          <p:nvPr/>
        </p:nvPicPr>
        <p:blipFill>
          <a:blip r:embed="rId2" cstate="print"/>
          <a:srcRect/>
          <a:stretch>
            <a:fillRect/>
          </a:stretch>
        </p:blipFill>
        <p:spPr bwMode="auto">
          <a:xfrm>
            <a:off x="1371599" y="0"/>
            <a:ext cx="8704935" cy="6858000"/>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id="{0EC2347E-CB96-C5FC-0E3F-89AE606C7EAF}"/>
              </a:ext>
            </a:extLst>
          </p:cNvPr>
          <p:cNvSpPr>
            <a:spLocks noGrp="1"/>
          </p:cNvSpPr>
          <p:nvPr>
            <p:ph type="dt" sz="half" idx="10"/>
          </p:nvPr>
        </p:nvSpPr>
        <p:spPr/>
        <p:txBody>
          <a:bodyPr/>
          <a:lstStyle/>
          <a:p>
            <a:r>
              <a:rPr lang="en-US"/>
              <a:t>&lt;COURSE TITLE&gt;, &lt;TOPIC NAME&gt;</a:t>
            </a:r>
            <a:endParaRPr lang="en-IN" dirty="0"/>
          </a:p>
        </p:txBody>
      </p:sp>
      <p:sp>
        <p:nvSpPr>
          <p:cNvPr id="4" name="Slide Number Placeholder 3">
            <a:extLst>
              <a:ext uri="{FF2B5EF4-FFF2-40B4-BE49-F238E27FC236}">
                <a16:creationId xmlns:a16="http://schemas.microsoft.com/office/drawing/2014/main" id="{FA4E45F7-E8FF-3FE9-87CF-BDC3620B814D}"/>
              </a:ext>
            </a:extLst>
          </p:cNvPr>
          <p:cNvSpPr>
            <a:spLocks noGrp="1"/>
          </p:cNvSpPr>
          <p:nvPr>
            <p:ph type="sldNum" sz="quarter" idx="12"/>
          </p:nvPr>
        </p:nvSpPr>
        <p:spPr/>
        <p:txBody>
          <a:bodyPr/>
          <a:lstStyle/>
          <a:p>
            <a:fld id="{CBABCCC1-BF11-4F37-963E-1BCD5B23FD72}" type="slidenum">
              <a:rPr lang="en-IN" smtClean="0"/>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1002890"/>
          </a:xfrm>
        </p:spPr>
        <p:txBody>
          <a:bodyPr>
            <a:normAutofit/>
          </a:bodyPr>
          <a:lstStyle/>
          <a:p>
            <a:r>
              <a:rPr lang="en-US" sz="4000" dirty="0">
                <a:solidFill>
                  <a:srgbClr val="FF0000"/>
                </a:solidFill>
                <a:latin typeface="Arial" pitchFamily="34" charset="0"/>
                <a:cs typeface="Arial" pitchFamily="34" charset="0"/>
              </a:rPr>
              <a:t>BFSK Transmitter and Receiver</a:t>
            </a:r>
          </a:p>
        </p:txBody>
      </p:sp>
      <p:pic>
        <p:nvPicPr>
          <p:cNvPr id="44037" name="Picture 5"/>
          <p:cNvPicPr>
            <a:picLocks noChangeAspect="1" noChangeArrowheads="1"/>
          </p:cNvPicPr>
          <p:nvPr/>
        </p:nvPicPr>
        <p:blipFill>
          <a:blip r:embed="rId2" cstate="print"/>
          <a:srcRect/>
          <a:stretch>
            <a:fillRect/>
          </a:stretch>
        </p:blipFill>
        <p:spPr bwMode="auto">
          <a:xfrm>
            <a:off x="946202" y="758313"/>
            <a:ext cx="9480908" cy="2580972"/>
          </a:xfrm>
          <a:prstGeom prst="rect">
            <a:avLst/>
          </a:prstGeom>
          <a:noFill/>
          <a:ln w="9525">
            <a:noFill/>
            <a:miter lim="800000"/>
            <a:headEnd/>
            <a:tailEnd/>
          </a:ln>
        </p:spPr>
      </p:pic>
      <p:pic>
        <p:nvPicPr>
          <p:cNvPr id="44038" name="Picture 6"/>
          <p:cNvPicPr>
            <a:picLocks noChangeAspect="1" noChangeArrowheads="1"/>
          </p:cNvPicPr>
          <p:nvPr/>
        </p:nvPicPr>
        <p:blipFill>
          <a:blip r:embed="rId3" cstate="print"/>
          <a:srcRect/>
          <a:stretch>
            <a:fillRect/>
          </a:stretch>
        </p:blipFill>
        <p:spPr bwMode="auto">
          <a:xfrm>
            <a:off x="838661" y="3431613"/>
            <a:ext cx="9303098" cy="3426387"/>
          </a:xfrm>
          <a:prstGeom prst="rect">
            <a:avLst/>
          </a:prstGeom>
          <a:noFill/>
          <a:ln w="9525">
            <a:noFill/>
            <a:miter lim="800000"/>
            <a:headEnd/>
            <a:tailEnd/>
          </a:ln>
        </p:spPr>
      </p:pic>
      <p:sp>
        <p:nvSpPr>
          <p:cNvPr id="3" name="Date Placeholder 2">
            <a:extLst>
              <a:ext uri="{FF2B5EF4-FFF2-40B4-BE49-F238E27FC236}">
                <a16:creationId xmlns:a16="http://schemas.microsoft.com/office/drawing/2014/main" id="{76C2DB5C-3220-941C-8E6D-E2EF75B053BD}"/>
              </a:ext>
            </a:extLst>
          </p:cNvPr>
          <p:cNvSpPr>
            <a:spLocks noGrp="1"/>
          </p:cNvSpPr>
          <p:nvPr>
            <p:ph type="dt" sz="half" idx="10"/>
          </p:nvPr>
        </p:nvSpPr>
        <p:spPr/>
        <p:txBody>
          <a:bodyPr/>
          <a:lstStyle/>
          <a:p>
            <a:r>
              <a:rPr lang="en-US"/>
              <a:t>&lt;COURSE TITLE&gt;, &lt;TOPIC NAME&gt;</a:t>
            </a:r>
            <a:endParaRPr lang="en-IN" dirty="0"/>
          </a:p>
        </p:txBody>
      </p:sp>
      <p:sp>
        <p:nvSpPr>
          <p:cNvPr id="5" name="Slide Number Placeholder 4">
            <a:extLst>
              <a:ext uri="{FF2B5EF4-FFF2-40B4-BE49-F238E27FC236}">
                <a16:creationId xmlns:a16="http://schemas.microsoft.com/office/drawing/2014/main" id="{B0C56EB1-9579-8760-4ACF-E152F9068B42}"/>
              </a:ext>
            </a:extLst>
          </p:cNvPr>
          <p:cNvSpPr>
            <a:spLocks noGrp="1"/>
          </p:cNvSpPr>
          <p:nvPr>
            <p:ph type="sldNum" sz="quarter" idx="12"/>
          </p:nvPr>
        </p:nvSpPr>
        <p:spPr/>
        <p:txBody>
          <a:bodyPr/>
          <a:lstStyle/>
          <a:p>
            <a:fld id="{CBABCCC1-BF11-4F37-963E-1BCD5B23FD72}"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452" y="247138"/>
            <a:ext cx="10515600" cy="1325563"/>
          </a:xfrm>
        </p:spPr>
        <p:txBody>
          <a:bodyPr/>
          <a:lstStyle/>
          <a:p>
            <a:r>
              <a:rPr lang="en-US" dirty="0">
                <a:solidFill>
                  <a:srgbClr val="FF0000"/>
                </a:solidFill>
                <a:latin typeface="Arial" pitchFamily="34" charset="0"/>
                <a:cs typeface="Arial" pitchFamily="34" charset="0"/>
              </a:rPr>
              <a:t>Bit Error Rate for BFSK</a:t>
            </a:r>
          </a:p>
        </p:txBody>
      </p:sp>
      <p:sp>
        <p:nvSpPr>
          <p:cNvPr id="3" name="Content Placeholder 2"/>
          <p:cNvSpPr>
            <a:spLocks noGrp="1"/>
          </p:cNvSpPr>
          <p:nvPr>
            <p:ph idx="1"/>
          </p:nvPr>
        </p:nvSpPr>
        <p:spPr>
          <a:xfrm>
            <a:off x="838200" y="1873045"/>
            <a:ext cx="10515600" cy="4303918"/>
          </a:xfrm>
        </p:spPr>
        <p:txBody>
          <a:bodyPr/>
          <a:lstStyle/>
          <a:p>
            <a:pPr>
              <a:buNone/>
            </a:pPr>
            <a:r>
              <a:rPr lang="en-US" sz="3600" dirty="0">
                <a:latin typeface="Arial" pitchFamily="34" charset="0"/>
                <a:cs typeface="Arial" pitchFamily="34" charset="0"/>
              </a:rPr>
              <a:t>The average probability of error</a:t>
            </a:r>
          </a:p>
          <a:p>
            <a:pPr>
              <a:buNone/>
            </a:pPr>
            <a:endParaRPr lang="en-US" sz="3600" dirty="0">
              <a:latin typeface="Arial" pitchFamily="34" charset="0"/>
              <a:cs typeface="Arial" pitchFamily="34" charset="0"/>
            </a:endParaRPr>
          </a:p>
          <a:p>
            <a:pPr>
              <a:buNone/>
            </a:pPr>
            <a:endParaRPr lang="en-US" sz="3600" dirty="0">
              <a:latin typeface="Arial" pitchFamily="34" charset="0"/>
              <a:cs typeface="Arial" pitchFamily="34" charset="0"/>
            </a:endParaRPr>
          </a:p>
          <a:p>
            <a:pPr>
              <a:buNone/>
            </a:pPr>
            <a:endParaRPr lang="en-US" sz="3600" dirty="0">
              <a:latin typeface="Arial" pitchFamily="34" charset="0"/>
              <a:cs typeface="Arial" pitchFamily="34" charset="0"/>
            </a:endParaRPr>
          </a:p>
          <a:p>
            <a:pPr>
              <a:buNone/>
            </a:pPr>
            <a:r>
              <a:rPr lang="en-US" sz="3600" dirty="0">
                <a:latin typeface="Arial" pitchFamily="34" charset="0"/>
                <a:cs typeface="Arial" pitchFamily="34" charset="0"/>
              </a:rPr>
              <a:t>  </a:t>
            </a:r>
          </a:p>
          <a:p>
            <a:pPr>
              <a:buNone/>
            </a:pPr>
            <a:endParaRPr lang="en-US" sz="3600" dirty="0">
              <a:latin typeface="Arial" pitchFamily="34" charset="0"/>
              <a:cs typeface="Arial" pitchFamily="34" charset="0"/>
            </a:endParaRPr>
          </a:p>
          <a:p>
            <a:endParaRPr lang="en-US" dirty="0"/>
          </a:p>
        </p:txBody>
      </p:sp>
      <p:graphicFrame>
        <p:nvGraphicFramePr>
          <p:cNvPr id="45058" name="Object 2"/>
          <p:cNvGraphicFramePr>
            <a:graphicFrameLocks noChangeAspect="1"/>
          </p:cNvGraphicFramePr>
          <p:nvPr/>
        </p:nvGraphicFramePr>
        <p:xfrm>
          <a:off x="3675010" y="2760458"/>
          <a:ext cx="2777452" cy="1442832"/>
        </p:xfrm>
        <a:graphic>
          <a:graphicData uri="http://schemas.openxmlformats.org/presentationml/2006/ole">
            <mc:AlternateContent xmlns:mc="http://schemas.openxmlformats.org/markup-compatibility/2006">
              <mc:Choice xmlns:v="urn:schemas-microsoft-com:vml" Requires="v">
                <p:oleObj name="Equation" r:id="rId2" imgW="977760" imgH="507960" progId="Equation.DSMT4">
                  <p:embed/>
                </p:oleObj>
              </mc:Choice>
              <mc:Fallback>
                <p:oleObj name="Equation" r:id="rId2" imgW="977760" imgH="507960" progId="Equation.DSMT4">
                  <p:embed/>
                  <p:pic>
                    <p:nvPicPr>
                      <p:cNvPr id="4505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5010" y="2760458"/>
                        <a:ext cx="2777452" cy="1442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59" name="Object 3"/>
          <p:cNvGraphicFramePr>
            <a:graphicFrameLocks noChangeAspect="1"/>
          </p:cNvGraphicFramePr>
          <p:nvPr/>
        </p:nvGraphicFramePr>
        <p:xfrm>
          <a:off x="2702232" y="4623670"/>
          <a:ext cx="5055420" cy="631928"/>
        </p:xfrm>
        <a:graphic>
          <a:graphicData uri="http://schemas.openxmlformats.org/presentationml/2006/ole">
            <mc:AlternateContent xmlns:mc="http://schemas.openxmlformats.org/markup-compatibility/2006">
              <mc:Choice xmlns:v="urn:schemas-microsoft-com:vml" Requires="v">
                <p:oleObj name="Equation" r:id="rId4" imgW="1625400" imgH="203040" progId="Equation.DSMT4">
                  <p:embed/>
                </p:oleObj>
              </mc:Choice>
              <mc:Fallback>
                <p:oleObj name="Equation" r:id="rId4" imgW="1625400" imgH="203040" progId="Equation.DSMT4">
                  <p:embed/>
                  <p:pic>
                    <p:nvPicPr>
                      <p:cNvPr id="4505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2232" y="4623670"/>
                        <a:ext cx="5055420" cy="6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Date Placeholder 3">
            <a:extLst>
              <a:ext uri="{FF2B5EF4-FFF2-40B4-BE49-F238E27FC236}">
                <a16:creationId xmlns:a16="http://schemas.microsoft.com/office/drawing/2014/main" id="{B08DFF9B-0120-7AAE-5A17-AEE1B3A53FD3}"/>
              </a:ext>
            </a:extLst>
          </p:cNvPr>
          <p:cNvSpPr>
            <a:spLocks noGrp="1"/>
          </p:cNvSpPr>
          <p:nvPr>
            <p:ph type="dt" sz="half" idx="10"/>
          </p:nvPr>
        </p:nvSpPr>
        <p:spPr/>
        <p:txBody>
          <a:bodyPr/>
          <a:lstStyle/>
          <a:p>
            <a:r>
              <a:rPr lang="en-US"/>
              <a:t>&lt;COURSE TITLE&gt;, &lt;TOPIC NAME&gt;</a:t>
            </a:r>
            <a:endParaRPr lang="en-IN" dirty="0"/>
          </a:p>
        </p:txBody>
      </p:sp>
      <p:sp>
        <p:nvSpPr>
          <p:cNvPr id="6" name="Slide Number Placeholder 5">
            <a:extLst>
              <a:ext uri="{FF2B5EF4-FFF2-40B4-BE49-F238E27FC236}">
                <a16:creationId xmlns:a16="http://schemas.microsoft.com/office/drawing/2014/main" id="{3BBD1E7A-D77A-F0F9-48AD-80E0EB0D64CC}"/>
              </a:ext>
            </a:extLst>
          </p:cNvPr>
          <p:cNvSpPr>
            <a:spLocks noGrp="1"/>
          </p:cNvSpPr>
          <p:nvPr>
            <p:ph type="sldNum" sz="quarter" idx="12"/>
          </p:nvPr>
        </p:nvSpPr>
        <p:spPr/>
        <p:txBody>
          <a:bodyPr/>
          <a:lstStyle/>
          <a:p>
            <a:fld id="{CBABCCC1-BF11-4F37-963E-1BCD5B23FD72}" type="slidenum">
              <a:rPr lang="en-IN" smtClean="0"/>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cstate="print"/>
          <a:srcRect/>
          <a:stretch>
            <a:fillRect/>
          </a:stretch>
        </p:blipFill>
        <p:spPr bwMode="auto">
          <a:xfrm>
            <a:off x="69346" y="43914"/>
            <a:ext cx="11916697" cy="2271582"/>
          </a:xfrm>
          <a:prstGeom prst="rect">
            <a:avLst/>
          </a:prstGeom>
          <a:noFill/>
          <a:ln w="9525">
            <a:noFill/>
            <a:miter lim="800000"/>
            <a:headEnd/>
            <a:tailEnd/>
          </a:ln>
        </p:spPr>
      </p:pic>
      <p:sp>
        <p:nvSpPr>
          <p:cNvPr id="47113" name="Rectangle 9"/>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7112" name="Object 8"/>
          <p:cNvGraphicFramePr>
            <a:graphicFrameLocks noChangeAspect="1"/>
          </p:cNvGraphicFramePr>
          <p:nvPr/>
        </p:nvGraphicFramePr>
        <p:xfrm>
          <a:off x="1312605" y="2846438"/>
          <a:ext cx="8032960" cy="1120878"/>
        </p:xfrm>
        <a:graphic>
          <a:graphicData uri="http://schemas.openxmlformats.org/presentationml/2006/ole">
            <mc:AlternateContent xmlns:mc="http://schemas.openxmlformats.org/markup-compatibility/2006">
              <mc:Choice xmlns:v="urn:schemas-microsoft-com:vml" Requires="v">
                <p:oleObj name="Equation" r:id="rId3" imgW="3683000" imgH="508000" progId="Equation.DSMT4">
                  <p:embed/>
                </p:oleObj>
              </mc:Choice>
              <mc:Fallback>
                <p:oleObj name="Equation" r:id="rId3" imgW="3683000" imgH="508000" progId="Equation.DSMT4">
                  <p:embed/>
                  <p:pic>
                    <p:nvPicPr>
                      <p:cNvPr id="47112"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2605" y="2846438"/>
                        <a:ext cx="8032960" cy="11208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5" name="Rectangle 11"/>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7114" name="Object 10"/>
          <p:cNvGraphicFramePr>
            <a:graphicFrameLocks noChangeAspect="1"/>
          </p:cNvGraphicFramePr>
          <p:nvPr/>
        </p:nvGraphicFramePr>
        <p:xfrm>
          <a:off x="781665" y="4498258"/>
          <a:ext cx="9608744" cy="958645"/>
        </p:xfrm>
        <a:graphic>
          <a:graphicData uri="http://schemas.openxmlformats.org/presentationml/2006/ole">
            <mc:AlternateContent xmlns:mc="http://schemas.openxmlformats.org/markup-compatibility/2006">
              <mc:Choice xmlns:v="urn:schemas-microsoft-com:vml" Requires="v">
                <p:oleObj name="Equation" r:id="rId5" imgW="4102100" imgH="406400" progId="Equation.DSMT4">
                  <p:embed/>
                </p:oleObj>
              </mc:Choice>
              <mc:Fallback>
                <p:oleObj name="Equation" r:id="rId5" imgW="4102100" imgH="406400" progId="Equation.DSMT4">
                  <p:embed/>
                  <p:pic>
                    <p:nvPicPr>
                      <p:cNvPr id="47114"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665" y="4498258"/>
                        <a:ext cx="9608744" cy="9586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Date Placeholder 1">
            <a:extLst>
              <a:ext uri="{FF2B5EF4-FFF2-40B4-BE49-F238E27FC236}">
                <a16:creationId xmlns:a16="http://schemas.microsoft.com/office/drawing/2014/main" id="{B864E292-AEFE-C940-EDDB-004D642300DD}"/>
              </a:ext>
            </a:extLst>
          </p:cNvPr>
          <p:cNvSpPr>
            <a:spLocks noGrp="1"/>
          </p:cNvSpPr>
          <p:nvPr>
            <p:ph type="dt" sz="half" idx="10"/>
          </p:nvPr>
        </p:nvSpPr>
        <p:spPr/>
        <p:txBody>
          <a:bodyPr/>
          <a:lstStyle/>
          <a:p>
            <a:r>
              <a:rPr lang="en-US"/>
              <a:t>&lt;COURSE TITLE&gt;, &lt;TOPIC NAME&gt;</a:t>
            </a:r>
            <a:endParaRPr lang="en-IN" dirty="0"/>
          </a:p>
        </p:txBody>
      </p:sp>
      <p:sp>
        <p:nvSpPr>
          <p:cNvPr id="4" name="Slide Number Placeholder 3">
            <a:extLst>
              <a:ext uri="{FF2B5EF4-FFF2-40B4-BE49-F238E27FC236}">
                <a16:creationId xmlns:a16="http://schemas.microsoft.com/office/drawing/2014/main" id="{499EA5D7-6FB2-D972-4064-D0B137BCAC44}"/>
              </a:ext>
            </a:extLst>
          </p:cNvPr>
          <p:cNvSpPr>
            <a:spLocks noGrp="1"/>
          </p:cNvSpPr>
          <p:nvPr>
            <p:ph type="sldNum" sz="quarter" idx="12"/>
          </p:nvPr>
        </p:nvSpPr>
        <p:spPr/>
        <p:txBody>
          <a:bodyPr/>
          <a:lstStyle/>
          <a:p>
            <a:fld id="{CBABCCC1-BF11-4F37-963E-1BCD5B23FD72}" type="slidenum">
              <a:rPr lang="en-IN" smtClean="0"/>
              <a:t>16</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112"/>
                                        </p:tgtEl>
                                        <p:attrNameLst>
                                          <p:attrName>style.visibility</p:attrName>
                                        </p:attrNameLst>
                                      </p:cBhvr>
                                      <p:to>
                                        <p:strVal val="visible"/>
                                      </p:to>
                                    </p:set>
                                    <p:animEffect transition="in" filter="box(in)">
                                      <p:cBhvr>
                                        <p:cTn id="7" dur="500"/>
                                        <p:tgtEl>
                                          <p:spTgt spid="4711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7114"/>
                                        </p:tgtEl>
                                        <p:attrNameLst>
                                          <p:attrName>style.visibility</p:attrName>
                                        </p:attrNameLst>
                                      </p:cBhvr>
                                      <p:to>
                                        <p:strVal val="visible"/>
                                      </p:to>
                                    </p:set>
                                    <p:animEffect transition="in" filter="checkerboard(across)">
                                      <p:cBhvr>
                                        <p:cTn id="12" dur="500"/>
                                        <p:tgtEl>
                                          <p:spTgt spid="47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cstate="print"/>
          <a:srcRect/>
          <a:stretch>
            <a:fillRect/>
          </a:stretch>
        </p:blipFill>
        <p:spPr bwMode="auto">
          <a:xfrm>
            <a:off x="379156" y="335525"/>
            <a:ext cx="11493296" cy="2253587"/>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id="{1334162E-E6AB-554D-6FDB-DB3F306290E3}"/>
              </a:ext>
            </a:extLst>
          </p:cNvPr>
          <p:cNvSpPr>
            <a:spLocks noGrp="1"/>
          </p:cNvSpPr>
          <p:nvPr>
            <p:ph type="dt" sz="half" idx="10"/>
          </p:nvPr>
        </p:nvSpPr>
        <p:spPr/>
        <p:txBody>
          <a:bodyPr/>
          <a:lstStyle/>
          <a:p>
            <a:r>
              <a:rPr lang="en-US"/>
              <a:t>&lt;COURSE TITLE&gt;, &lt;TOPIC NAME&gt;</a:t>
            </a:r>
            <a:endParaRPr lang="en-IN" dirty="0"/>
          </a:p>
        </p:txBody>
      </p:sp>
      <p:sp>
        <p:nvSpPr>
          <p:cNvPr id="4" name="Slide Number Placeholder 3">
            <a:extLst>
              <a:ext uri="{FF2B5EF4-FFF2-40B4-BE49-F238E27FC236}">
                <a16:creationId xmlns:a16="http://schemas.microsoft.com/office/drawing/2014/main" id="{F25BC307-EC6C-04C6-C38F-8CDE45DF3B57}"/>
              </a:ext>
            </a:extLst>
          </p:cNvPr>
          <p:cNvSpPr>
            <a:spLocks noGrp="1"/>
          </p:cNvSpPr>
          <p:nvPr>
            <p:ph type="sldNum" sz="quarter" idx="12"/>
          </p:nvPr>
        </p:nvSpPr>
        <p:spPr/>
        <p:txBody>
          <a:bodyPr/>
          <a:lstStyle/>
          <a:p>
            <a:fld id="{CBABCCC1-BF11-4F37-963E-1BCD5B23FD72}" type="slidenum">
              <a:rPr lang="en-IN" smtClean="0"/>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723" y="398206"/>
            <a:ext cx="11592232" cy="6179575"/>
          </a:xfrm>
        </p:spPr>
        <p:txBody>
          <a:bodyPr>
            <a:normAutofit fontScale="92500"/>
          </a:bodyPr>
          <a:lstStyle/>
          <a:p>
            <a:pPr>
              <a:buNone/>
            </a:pPr>
            <a:r>
              <a:rPr lang="en-US" b="1" dirty="0">
                <a:solidFill>
                  <a:srgbClr val="FF0000"/>
                </a:solidFill>
                <a:latin typeface="Arial" pitchFamily="34" charset="0"/>
                <a:cs typeface="Arial" pitchFamily="34" charset="0"/>
              </a:rPr>
              <a:t>Advantages of FSK: </a:t>
            </a:r>
          </a:p>
          <a:p>
            <a:pPr>
              <a:lnSpc>
                <a:spcPct val="110000"/>
              </a:lnSpc>
              <a:buFont typeface="Wingdings" pitchFamily="2" charset="2"/>
              <a:buChar char="Ø"/>
            </a:pPr>
            <a:r>
              <a:rPr lang="en-US" dirty="0">
                <a:solidFill>
                  <a:srgbClr val="0221BE"/>
                </a:solidFill>
                <a:latin typeface="Arial" pitchFamily="34" charset="0"/>
                <a:cs typeface="Arial" pitchFamily="34" charset="0"/>
              </a:rPr>
              <a:t>FSK is ideally a constant envelope modulation; hence, more power-efficient class-C non-linear Power Amplifiers can be used in the transmitter. </a:t>
            </a:r>
          </a:p>
          <a:p>
            <a:pPr>
              <a:buFont typeface="Wingdings" pitchFamily="2" charset="2"/>
              <a:buChar char="Ø"/>
            </a:pPr>
            <a:r>
              <a:rPr lang="en-US" dirty="0">
                <a:solidFill>
                  <a:srgbClr val="037F29"/>
                </a:solidFill>
                <a:latin typeface="Arial" pitchFamily="34" charset="0"/>
                <a:cs typeface="Arial" pitchFamily="34" charset="0"/>
              </a:rPr>
              <a:t>FSK is more bandwidth efficient than ASK. </a:t>
            </a:r>
          </a:p>
          <a:p>
            <a:pPr>
              <a:buFont typeface="Wingdings" pitchFamily="2" charset="2"/>
              <a:buChar char="Ø"/>
            </a:pPr>
            <a:r>
              <a:rPr lang="en-US" dirty="0">
                <a:latin typeface="Arial" pitchFamily="34" charset="0"/>
                <a:cs typeface="Arial" pitchFamily="34" charset="0"/>
              </a:rPr>
              <a:t>Reasonably simple modulation and demodulation schemes. </a:t>
            </a:r>
          </a:p>
          <a:p>
            <a:pPr>
              <a:buNone/>
            </a:pPr>
            <a:r>
              <a:rPr lang="en-US" dirty="0">
                <a:solidFill>
                  <a:srgbClr val="FF0000"/>
                </a:solidFill>
                <a:latin typeface="Arial" pitchFamily="34" charset="0"/>
                <a:cs typeface="Arial" pitchFamily="34" charset="0"/>
              </a:rPr>
              <a:t>Disadvantages of FSK:</a:t>
            </a:r>
          </a:p>
          <a:p>
            <a:pPr>
              <a:lnSpc>
                <a:spcPct val="110000"/>
              </a:lnSpc>
              <a:buFont typeface="Wingdings" pitchFamily="2" charset="2"/>
              <a:buChar char="Ø"/>
            </a:pPr>
            <a:r>
              <a:rPr lang="en-US" dirty="0">
                <a:latin typeface="Arial" pitchFamily="34" charset="0"/>
                <a:cs typeface="Arial" pitchFamily="34" charset="0"/>
              </a:rPr>
              <a:t> The difference between coherent FSK detection and non-coherent FSK detection is not significant for higher FSK levels.</a:t>
            </a:r>
          </a:p>
          <a:p>
            <a:pPr>
              <a:buFont typeface="Wingdings" pitchFamily="2" charset="2"/>
              <a:buChar char="Ø"/>
            </a:pPr>
            <a:r>
              <a:rPr lang="en-US" dirty="0">
                <a:solidFill>
                  <a:srgbClr val="037F29"/>
                </a:solidFill>
                <a:latin typeface="Arial" pitchFamily="34" charset="0"/>
                <a:cs typeface="Arial" pitchFamily="34" charset="0"/>
              </a:rPr>
              <a:t>The extra hardware required for coherent FSK detection is hence hard to justify. </a:t>
            </a:r>
          </a:p>
          <a:p>
            <a:pPr>
              <a:lnSpc>
                <a:spcPct val="100000"/>
              </a:lnSpc>
              <a:buFont typeface="Wingdings" pitchFamily="2" charset="2"/>
              <a:buChar char="Ø"/>
            </a:pPr>
            <a:r>
              <a:rPr lang="en-US" dirty="0">
                <a:solidFill>
                  <a:srgbClr val="0221BE"/>
                </a:solidFill>
                <a:latin typeface="Arial" pitchFamily="34" charset="0"/>
                <a:cs typeface="Arial" pitchFamily="34" charset="0"/>
              </a:rPr>
              <a:t>Coherent FSK is not often used in practice due to the difficulty (and cost) in generating two reference frequencies close together at the receiver. </a:t>
            </a:r>
          </a:p>
        </p:txBody>
      </p:sp>
      <p:sp>
        <p:nvSpPr>
          <p:cNvPr id="2" name="Date Placeholder 1">
            <a:extLst>
              <a:ext uri="{FF2B5EF4-FFF2-40B4-BE49-F238E27FC236}">
                <a16:creationId xmlns:a16="http://schemas.microsoft.com/office/drawing/2014/main" id="{5B018D06-E19A-D930-A60D-DAA1B9D50CA6}"/>
              </a:ext>
            </a:extLst>
          </p:cNvPr>
          <p:cNvSpPr>
            <a:spLocks noGrp="1"/>
          </p:cNvSpPr>
          <p:nvPr>
            <p:ph type="dt" sz="half" idx="10"/>
          </p:nvPr>
        </p:nvSpPr>
        <p:spPr/>
        <p:txBody>
          <a:bodyPr/>
          <a:lstStyle/>
          <a:p>
            <a:r>
              <a:rPr lang="en-US"/>
              <a:t>&lt;COURSE TITLE&gt;, &lt;TOPIC NAME&gt;</a:t>
            </a:r>
            <a:endParaRPr lang="en-IN" dirty="0"/>
          </a:p>
        </p:txBody>
      </p:sp>
      <p:sp>
        <p:nvSpPr>
          <p:cNvPr id="5" name="Slide Number Placeholder 4">
            <a:extLst>
              <a:ext uri="{FF2B5EF4-FFF2-40B4-BE49-F238E27FC236}">
                <a16:creationId xmlns:a16="http://schemas.microsoft.com/office/drawing/2014/main" id="{BAA3C551-00BE-0DF1-4972-4328083C9C37}"/>
              </a:ext>
            </a:extLst>
          </p:cNvPr>
          <p:cNvSpPr>
            <a:spLocks noGrp="1"/>
          </p:cNvSpPr>
          <p:nvPr>
            <p:ph type="sldNum" sz="quarter" idx="12"/>
          </p:nvPr>
        </p:nvSpPr>
        <p:spPr/>
        <p:txBody>
          <a:bodyPr/>
          <a:lstStyle/>
          <a:p>
            <a:fld id="{CBABCCC1-BF11-4F37-963E-1BCD5B23FD72}" type="slidenum">
              <a:rPr lang="en-IN" smtClean="0"/>
              <a:t>18</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245" y="2975589"/>
            <a:ext cx="10515600" cy="903237"/>
          </a:xfrm>
        </p:spPr>
        <p:txBody>
          <a:bodyPr>
            <a:normAutofit/>
          </a:bodyPr>
          <a:lstStyle/>
          <a:p>
            <a:pPr algn="ctr"/>
            <a:r>
              <a:rPr lang="en-US" sz="4000" dirty="0">
                <a:solidFill>
                  <a:srgbClr val="0221BE"/>
                </a:solidFill>
                <a:latin typeface="Arial" pitchFamily="34" charset="0"/>
                <a:cs typeface="Arial" pitchFamily="34" charset="0"/>
              </a:rPr>
              <a:t>End</a:t>
            </a:r>
            <a:endParaRPr lang="en-US" sz="4000" dirty="0">
              <a:solidFill>
                <a:srgbClr val="037F29"/>
              </a:solidFill>
              <a:latin typeface="Arial" pitchFamily="34" charset="0"/>
              <a:cs typeface="Arial" pitchFamily="34" charset="0"/>
            </a:endParaRPr>
          </a:p>
        </p:txBody>
      </p:sp>
      <p:sp>
        <p:nvSpPr>
          <p:cNvPr id="3" name="Date Placeholder 2">
            <a:extLst>
              <a:ext uri="{FF2B5EF4-FFF2-40B4-BE49-F238E27FC236}">
                <a16:creationId xmlns:a16="http://schemas.microsoft.com/office/drawing/2014/main" id="{55778333-BBF3-2DE0-24C2-8BA68068261D}"/>
              </a:ext>
            </a:extLst>
          </p:cNvPr>
          <p:cNvSpPr>
            <a:spLocks noGrp="1"/>
          </p:cNvSpPr>
          <p:nvPr>
            <p:ph type="dt" sz="half" idx="10"/>
          </p:nvPr>
        </p:nvSpPr>
        <p:spPr/>
        <p:txBody>
          <a:bodyPr/>
          <a:lstStyle/>
          <a:p>
            <a:r>
              <a:rPr lang="en-US"/>
              <a:t>&lt;COURSE TITLE&gt;, &lt;TOPIC NAME&gt;</a:t>
            </a:r>
            <a:endParaRPr lang="en-IN" dirty="0"/>
          </a:p>
        </p:txBody>
      </p:sp>
      <p:sp>
        <p:nvSpPr>
          <p:cNvPr id="5" name="Slide Number Placeholder 4">
            <a:extLst>
              <a:ext uri="{FF2B5EF4-FFF2-40B4-BE49-F238E27FC236}">
                <a16:creationId xmlns:a16="http://schemas.microsoft.com/office/drawing/2014/main" id="{E2533259-EAF1-6113-85BC-956D511CF677}"/>
              </a:ext>
            </a:extLst>
          </p:cNvPr>
          <p:cNvSpPr>
            <a:spLocks noGrp="1"/>
          </p:cNvSpPr>
          <p:nvPr>
            <p:ph type="sldNum" sz="quarter" idx="12"/>
          </p:nvPr>
        </p:nvSpPr>
        <p:spPr/>
        <p:txBody>
          <a:bodyPr/>
          <a:lstStyle/>
          <a:p>
            <a:fld id="{CBABCCC1-BF11-4F37-963E-1BCD5B23FD72}" type="slidenum">
              <a:rPr lang="en-IN" smtClean="0"/>
              <a:t>19</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6" ma:contentTypeDescription="Create a new document." ma:contentTypeScope="" ma:versionID="df4401971fe1472aefb2287f2b42b038">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8f55f25a984c6d559814fe32ab22ce0f"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element ref="ns3:MediaServiceObjectDetectorVersions" minOccurs="0"/>
                <xsd:element ref="ns3:MediaLengthInSecond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942E90-F73C-42DC-BE25-1F552216703B}">
  <ds:schemaRefs>
    <ds:schemaRef ds:uri="http://purl.org/dc/dcmitype/"/>
    <ds:schemaRef ds:uri="http://schemas.microsoft.com/office/2006/documentManagement/types"/>
    <ds:schemaRef ds:uri="http://schemas.openxmlformats.org/package/2006/metadata/core-properties"/>
    <ds:schemaRef ds:uri="http://www.w3.org/XML/1998/namespace"/>
    <ds:schemaRef ds:uri="9df66832-8a96-40a9-b472-27b1b671652b"/>
    <ds:schemaRef ds:uri="http://purl.org/dc/terms/"/>
    <ds:schemaRef ds:uri="http://purl.org/dc/elements/1.1/"/>
    <ds:schemaRef ds:uri="http://schemas.microsoft.com/office/2006/metadata/properties"/>
    <ds:schemaRef ds:uri="3ef07bbe-7178-465e-b37e-c96ad76c7ba2"/>
    <ds:schemaRef ds:uri="http://schemas.microsoft.com/office/infopath/2007/PartnerControls"/>
  </ds:schemaRefs>
</ds:datastoreItem>
</file>

<file path=customXml/itemProps2.xml><?xml version="1.0" encoding="utf-8"?>
<ds:datastoreItem xmlns:ds="http://schemas.openxmlformats.org/officeDocument/2006/customXml" ds:itemID="{824D7D36-6208-4CBE-AB2E-D44A06D3D6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4A4D56B-9EDA-4F8D-84ED-5B5B230CCC1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622</TotalTime>
  <Words>535</Words>
  <Application>Microsoft Office PowerPoint</Application>
  <PresentationFormat>Widescreen</PresentationFormat>
  <Paragraphs>71</Paragraphs>
  <Slides>19</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6" baseType="lpstr">
      <vt:lpstr>Arial</vt:lpstr>
      <vt:lpstr>Calibri</vt:lpstr>
      <vt:lpstr>Calibri Light</vt:lpstr>
      <vt:lpstr>Times New Roman</vt:lpstr>
      <vt:lpstr>Wingdings</vt:lpstr>
      <vt:lpstr>Office Theme</vt:lpstr>
      <vt:lpstr>Equation</vt:lpstr>
      <vt:lpstr>Digital Communication 24EC2208</vt:lpstr>
      <vt:lpstr>Binary Frequency Shift Keying (BFSK)</vt:lpstr>
      <vt:lpstr>Binary Frequency Shift Keying (BFSK)</vt:lpstr>
      <vt:lpstr>Mathematical Model</vt:lpstr>
      <vt:lpstr>PowerPoint Presentation</vt:lpstr>
      <vt:lpstr>Bandwidth of FSK</vt:lpstr>
      <vt:lpstr>Baud, Bit rate and Bandwidth of FSK</vt:lpstr>
      <vt:lpstr>PowerPoint Presentation</vt:lpstr>
      <vt:lpstr>PowerPoint Presentation</vt:lpstr>
      <vt:lpstr>PowerPoint Presentation</vt:lpstr>
      <vt:lpstr>Bandwidth for M-ary FSK</vt:lpstr>
      <vt:lpstr>Signal Space Representation</vt:lpstr>
      <vt:lpstr>PowerPoint Presentation</vt:lpstr>
      <vt:lpstr>BFSK Transmitter and Receiver</vt:lpstr>
      <vt:lpstr>Bit Error Rate for BFSK</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D Sreenivasa Rao</cp:lastModifiedBy>
  <cp:revision>37</cp:revision>
  <dcterms:created xsi:type="dcterms:W3CDTF">2023-05-08T13:48:07Z</dcterms:created>
  <dcterms:modified xsi:type="dcterms:W3CDTF">2025-12-01T09:22:49Z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