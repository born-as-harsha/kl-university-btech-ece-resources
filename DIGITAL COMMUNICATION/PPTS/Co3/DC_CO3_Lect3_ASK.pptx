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4"/>
  </p:sldMasterIdLst>
  <p:notesMasterIdLst>
    <p:notesMasterId r:id="rId32"/>
  </p:notesMasterIdLst>
  <p:handoutMasterIdLst>
    <p:handoutMasterId r:id="rId33"/>
  </p:handoutMasterIdLst>
  <p:sldIdLst>
    <p:sldId id="289" r:id="rId5"/>
    <p:sldId id="403" r:id="rId6"/>
    <p:sldId id="259" r:id="rId7"/>
    <p:sldId id="480" r:id="rId8"/>
    <p:sldId id="302" r:id="rId9"/>
    <p:sldId id="307" r:id="rId10"/>
    <p:sldId id="284" r:id="rId11"/>
    <p:sldId id="308" r:id="rId12"/>
    <p:sldId id="312" r:id="rId13"/>
    <p:sldId id="310" r:id="rId14"/>
    <p:sldId id="404" r:id="rId15"/>
    <p:sldId id="330" r:id="rId16"/>
    <p:sldId id="327" r:id="rId17"/>
    <p:sldId id="483" r:id="rId18"/>
    <p:sldId id="320" r:id="rId19"/>
    <p:sldId id="338" r:id="rId20"/>
    <p:sldId id="482" r:id="rId21"/>
    <p:sldId id="322" r:id="rId22"/>
    <p:sldId id="481" r:id="rId23"/>
    <p:sldId id="314" r:id="rId24"/>
    <p:sldId id="324" r:id="rId25"/>
    <p:sldId id="325" r:id="rId26"/>
    <p:sldId id="345" r:id="rId27"/>
    <p:sldId id="336" r:id="rId28"/>
    <p:sldId id="337" r:id="rId29"/>
    <p:sldId id="333" r:id="rId30"/>
    <p:sldId id="260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09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42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DB74D4-5E76-4C47-E7AA-61E2C648C8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962EDA-0A3B-5C3A-C8DF-7672C339CF9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5D750-AD1D-4C03-A026-1768137CC901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80489-5F61-FA08-A147-AE43BE9C49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D387C-1469-6716-E148-98BDCB6976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566E6-FD90-4AE7-9488-620D46A96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391555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6BB4A-8EA9-40D4-95BF-21E04B247614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BDDA1-7BB7-447A-97DE-AE5425C8F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00788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FFE7BA5-9AA7-43A8-9EE5-C23B4ED60B7B}" type="slidenum">
              <a:rPr lang="en-US" altLang="en-US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7325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AED47-D61B-E309-5EB2-04BEA12A9E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12015A-4BD5-FB90-2194-40EC34F3C6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CA64A-8775-9B3D-9AE9-FD021694B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81261-2900-E08E-C669-3DFABF335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EC566-B985-EEED-64AD-AD1E74A84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76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6CA1A-1762-8CB7-50BB-A111D1295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22A42-2CDB-09CC-BE64-F16D5C826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ABE68-4EA6-9203-A5C9-B66C24AFE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AC3-7233-F0A8-8841-E703D8A9C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67B6A-FEE3-4AC6-8E54-D5FACAB4F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550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38C2C-E2CF-99A3-4B76-ADF5001F7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EC2576-8EE8-91D2-5E72-FA94CB728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034DF-70BD-585F-9DD0-E4C041783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EBFF7-3FE4-D642-3C34-C2AB78F74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8487C-E86A-5B42-AFD9-4459C3954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160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B7CD4-BDA6-3911-5E74-51628C7FA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B55A5-127A-FB1A-D6A8-2DB0C02502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972ADF-3BAF-8B6D-CE3D-0630A3BD8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AF980-DB77-3853-4FE3-4F5B590D7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6C360-183F-64E6-626F-727D1D8C5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984E52-C247-AD53-8DB0-9ECE2061F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145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2011E-FDD8-C6F9-54EC-646022162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5621B-0845-07C4-189D-F7BBBB0E1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79B479-E026-29B4-BC5D-A2969FF33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57F45F-1EF7-566D-CAC4-4C5D316E0F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046E26-E4BA-61B4-260D-FE06C29DDE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27DA7C-8C23-E683-8694-DF1F8F91F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BB2813-0E43-C0C5-55E0-B207BC180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E6E77F-AC73-4C85-9AF3-4E287B76D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669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EDFC9-9061-5F4F-63A1-3305678EE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6CD372-4898-7A0A-F18E-2955DE194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1026B0-5458-1CA3-28D7-348D05C70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D49DE8-CD82-8DB2-ECF2-2D40EF180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561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01F90C-55A9-31B0-CBB0-BB754054D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FE083F-F5FA-7EDC-022C-F983177B2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4D4BC-94EA-DC9F-DE3D-52353BCFE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714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E56F4-13D7-9DF0-566B-6B11FBCF0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662A4-F4B4-465C-1D29-3348E830F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31FD9-C665-610D-0289-9B7B8A5C29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6757DB-B89E-4A29-D0C5-6C71BF3D4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F85567-382F-8CF1-AD95-ABD0EA4CC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ECD8D5-E405-5DA9-B52B-41819F4EB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239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09B87-55C2-9F19-3623-91B7F4C3B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5A6723-D58C-1102-D7AC-4EB5F54D0B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97D962-ECA6-E890-FA89-C9836AA22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E0DDB2-6F1C-06B9-6100-0D082679E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786502-ED0C-6A23-60A8-C9EC1E679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67D0C5-413A-DA84-8A31-11018340B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061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FD69A-3DC0-DB39-3334-A9BA5A403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1D3BDA-5093-5E89-269A-69491664F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4D6DE-8E90-0D56-D28B-DE5724905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05BF5-4225-BB1D-1457-34DF8A62B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15106-45F8-64CE-C438-3456469AF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427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AC22B9-DE1E-5F16-BBC3-3C3783BBBA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ACD89A-B728-0F81-7454-DC5E2A878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58732-2337-1D9F-CEEA-43A1482A4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7DE17-567C-8524-BA24-E118292F3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F672A-C170-9AF8-1F51-A43D912BC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3916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2E7B62-8011-CCDC-959C-C770C92F8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A46B4-B884-807D-D2D2-4536B041F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281CC-4DF4-0090-E0ED-584BBD3B4D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F9F48-0658-B969-E15D-50A0133BC4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4D365-DD42-F8BB-FE9B-3A524593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ABCCC1-BF11-4F37-963E-1BCD5B23FD72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7" name="Picture 6" descr="Icon&#10;&#10;Description automatically generated with medium confidence">
            <a:extLst>
              <a:ext uri="{FF2B5EF4-FFF2-40B4-BE49-F238E27FC236}">
                <a16:creationId xmlns:a16="http://schemas.microsoft.com/office/drawing/2014/main" id="{FA6FD25C-E91B-3776-D178-4D9AF946F9A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B01E73-FD80-735E-7997-6704ACBA21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9" name="Picture 8" descr="Text&#10;&#10;Description automatically generated with medium confidence">
            <a:extLst>
              <a:ext uri="{FF2B5EF4-FFF2-40B4-BE49-F238E27FC236}">
                <a16:creationId xmlns:a16="http://schemas.microsoft.com/office/drawing/2014/main" id="{874DC773-DFA3-0B02-D75F-59F2159E3A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1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>
          <a:xfrm>
            <a:off x="711740" y="-152398"/>
            <a:ext cx="10523706" cy="1470025"/>
          </a:xfrm>
        </p:spPr>
        <p:txBody>
          <a:bodyPr>
            <a:normAutofit/>
          </a:bodyPr>
          <a:lstStyle/>
          <a:p>
            <a:r>
              <a:rPr lang="en-US" altLang="en-US" sz="54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Digital Communication 24EC2208</a:t>
            </a:r>
          </a:p>
        </p:txBody>
      </p:sp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1752600" y="1524001"/>
            <a:ext cx="89154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dirty="0">
                <a:solidFill>
                  <a:srgbClr val="FF0000"/>
                </a:solidFill>
              </a:rPr>
              <a:t>Digital Carrier Modulation</a:t>
            </a:r>
            <a:endParaRPr lang="en-US" alt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67F8A2-D7D3-6799-DDF8-04DAAAEFD1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291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744CD-4C48-A1F0-62CC-2CA5183C5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81473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Digital Carrier Modulation / Pass Band Modulation</a:t>
            </a:r>
            <a:endParaRPr lang="en-I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65588F-E492-C5B7-C698-E1881166C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</a:t>
            </a:fld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9E224D-7213-B71E-3898-B5308CB25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6380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BC70A-97AD-3206-79E2-1FAD86EB3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477897" cy="62341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Pass-band Digital Transmitter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CBE16A-C037-1F92-DDA8-7A33A43D0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65" y="1186249"/>
            <a:ext cx="12014886" cy="51405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807FA2-8AE3-E4E3-F42E-ABC55FA213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0295" y="2656704"/>
            <a:ext cx="3594401" cy="1854606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1E8B0B-619F-BC76-6920-1AD971542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18383-CDE2-E3FE-83D7-D14285024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581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8714" y="-34880"/>
            <a:ext cx="10515600" cy="79311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Digital Communication / Digital Radio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3405" y="1676102"/>
            <a:ext cx="11963439" cy="44291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58123" y="4452657"/>
            <a:ext cx="261280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spc="5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Perform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s </a:t>
            </a:r>
            <a:r>
              <a:rPr lang="en-US" sz="2000" b="1" spc="5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l</a:t>
            </a:r>
            <a:r>
              <a:rPr lang="en-US" sz="2000" b="1" spc="-20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e</a:t>
            </a:r>
            <a:r>
              <a:rPr lang="en-US" sz="2000" b="1" spc="-10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v</a:t>
            </a:r>
            <a:r>
              <a:rPr lang="en-US" sz="2000" b="1" spc="5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e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l </a:t>
            </a:r>
            <a:r>
              <a:rPr lang="en-US" sz="2000" b="1" spc="5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co</a:t>
            </a:r>
            <a:r>
              <a:rPr lang="en-US" sz="2000" b="1" spc="-35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n</a:t>
            </a:r>
            <a:r>
              <a:rPr lang="en-US" sz="2000" b="1" spc="-10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v</a:t>
            </a:r>
            <a:r>
              <a:rPr lang="en-US" sz="2000" b="1" spc="5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ersio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n </a:t>
            </a:r>
            <a:r>
              <a:rPr lang="en-US" sz="2000" b="1" spc="5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an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d </a:t>
            </a:r>
            <a:r>
              <a:rPr lang="en-US" sz="2000" b="1" spc="5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the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n </a:t>
            </a:r>
            <a:r>
              <a:rPr lang="en-US" sz="2000" b="1" spc="5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encode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s </a:t>
            </a:r>
            <a:r>
              <a:rPr lang="en-US" sz="2000" b="1" spc="5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th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e </a:t>
            </a:r>
            <a:r>
              <a:rPr lang="en-US" sz="2000" b="1" spc="5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incomin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g </a:t>
            </a:r>
            <a:r>
              <a:rPr lang="en-US" sz="2000" b="1" spc="5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data int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o</a:t>
            </a:r>
            <a:r>
              <a:rPr lang="en-US" sz="2000" b="1" spc="50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2000" b="1" spc="5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group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s</a:t>
            </a:r>
            <a:r>
              <a:rPr lang="en-US" sz="2000" b="1" spc="50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2000" b="1" spc="5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o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f</a:t>
            </a:r>
            <a:r>
              <a:rPr lang="en-US" sz="2000" b="1" spc="50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2000" b="1" spc="5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bit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s</a:t>
            </a:r>
            <a:r>
              <a:rPr lang="en-US" sz="2000" b="1" spc="50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2000" b="1" spc="5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tha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</a:t>
            </a:r>
            <a:r>
              <a:rPr lang="en-US" sz="2000" b="1" spc="45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2000" b="1" spc="5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modulat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e</a:t>
            </a:r>
            <a:r>
              <a:rPr lang="en-US" sz="2000" b="1" spc="50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2000" b="1" spc="5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a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n</a:t>
            </a:r>
            <a:r>
              <a:rPr lang="en-US" sz="2000" b="1" spc="50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2000" b="1" spc="5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analo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g</a:t>
            </a:r>
            <a:r>
              <a:rPr lang="en-US" sz="2000" b="1" spc="50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2000" b="1" spc="5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carrie</a:t>
            </a:r>
            <a:r>
              <a:rPr lang="en-US" sz="2000" b="1" spc="-50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r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6010656" y="6754368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/>
          </p:cNvCxnSpPr>
          <p:nvPr/>
        </p:nvCxnSpPr>
        <p:spPr>
          <a:xfrm flipH="1">
            <a:off x="1464524" y="3290916"/>
            <a:ext cx="377952" cy="1199495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770925" y="748091"/>
            <a:ext cx="825699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spc="10" dirty="0">
                <a:solidFill>
                  <a:srgbClr val="0221BE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Th</a:t>
            </a:r>
            <a:r>
              <a:rPr lang="en-US" sz="2000" dirty="0">
                <a:solidFill>
                  <a:srgbClr val="0221BE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e</a:t>
            </a:r>
            <a:r>
              <a:rPr lang="en-US" sz="2000" spc="-45" dirty="0">
                <a:solidFill>
                  <a:srgbClr val="0221BE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2000" spc="10" dirty="0">
                <a:solidFill>
                  <a:srgbClr val="0221BE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transmissio</a:t>
            </a:r>
            <a:r>
              <a:rPr lang="en-US" sz="2000" dirty="0">
                <a:solidFill>
                  <a:srgbClr val="0221BE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n</a:t>
            </a:r>
            <a:r>
              <a:rPr lang="en-US" sz="2000" spc="-45" dirty="0">
                <a:solidFill>
                  <a:srgbClr val="0221BE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2000" spc="10" dirty="0">
                <a:solidFill>
                  <a:srgbClr val="0221BE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mediu</a:t>
            </a:r>
            <a:r>
              <a:rPr lang="en-US" sz="2000" dirty="0">
                <a:solidFill>
                  <a:srgbClr val="0221BE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m</a:t>
            </a:r>
            <a:r>
              <a:rPr lang="en-US" sz="2000" spc="-45" dirty="0">
                <a:solidFill>
                  <a:srgbClr val="0221BE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2000" spc="10" dirty="0">
                <a:solidFill>
                  <a:srgbClr val="0221BE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ca</a:t>
            </a:r>
            <a:r>
              <a:rPr lang="en-US" sz="2000" dirty="0">
                <a:solidFill>
                  <a:srgbClr val="0221BE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n</a:t>
            </a:r>
            <a:r>
              <a:rPr lang="en-US" sz="2000" spc="-45" dirty="0">
                <a:solidFill>
                  <a:srgbClr val="0221BE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2000" spc="10" dirty="0">
                <a:solidFill>
                  <a:srgbClr val="0221BE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b</a:t>
            </a:r>
            <a:r>
              <a:rPr lang="en-US" sz="2000" dirty="0">
                <a:solidFill>
                  <a:srgbClr val="0221BE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e</a:t>
            </a:r>
            <a:r>
              <a:rPr lang="en-US" sz="2000" spc="-45" dirty="0">
                <a:solidFill>
                  <a:srgbClr val="0221BE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rgbClr val="0221BE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a</a:t>
            </a:r>
            <a:r>
              <a:rPr lang="en-US" sz="2000" spc="-45" dirty="0">
                <a:solidFill>
                  <a:srgbClr val="0221BE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2000" spc="10" dirty="0">
                <a:solidFill>
                  <a:srgbClr val="0221BE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metalli</a:t>
            </a:r>
            <a:r>
              <a:rPr lang="en-US" sz="2000" dirty="0">
                <a:solidFill>
                  <a:srgbClr val="0221BE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c</a:t>
            </a:r>
            <a:r>
              <a:rPr lang="en-US" sz="2000" spc="-45" dirty="0">
                <a:solidFill>
                  <a:srgbClr val="0221BE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2000" spc="10" dirty="0">
                <a:solidFill>
                  <a:srgbClr val="0221BE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cable</a:t>
            </a:r>
            <a:r>
              <a:rPr lang="en-US" sz="2000" dirty="0">
                <a:solidFill>
                  <a:srgbClr val="0221BE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,</a:t>
            </a:r>
            <a:r>
              <a:rPr lang="en-US" sz="2000" spc="-45" dirty="0">
                <a:solidFill>
                  <a:srgbClr val="0221BE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2000" spc="10" dirty="0">
                <a:solidFill>
                  <a:srgbClr val="0221BE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optica</a:t>
            </a:r>
            <a:r>
              <a:rPr lang="en-US" sz="2000" dirty="0">
                <a:solidFill>
                  <a:srgbClr val="0221BE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l</a:t>
            </a:r>
            <a:r>
              <a:rPr lang="en-US" sz="2000" spc="-45" dirty="0">
                <a:solidFill>
                  <a:srgbClr val="0221BE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2000" spc="-10" dirty="0">
                <a:solidFill>
                  <a:srgbClr val="0221BE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f</a:t>
            </a:r>
            <a:r>
              <a:rPr lang="en-US" sz="2000" spc="10" dirty="0">
                <a:solidFill>
                  <a:srgbClr val="0221BE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ibe</a:t>
            </a:r>
            <a:r>
              <a:rPr lang="en-US" sz="2000" dirty="0">
                <a:solidFill>
                  <a:srgbClr val="0221BE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r</a:t>
            </a:r>
            <a:r>
              <a:rPr lang="en-US" sz="2000" spc="-45" dirty="0">
                <a:solidFill>
                  <a:srgbClr val="0221BE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2000" spc="10" dirty="0">
                <a:solidFill>
                  <a:srgbClr val="0221BE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cable</a:t>
            </a:r>
            <a:r>
              <a:rPr lang="en-US" sz="2000" dirty="0">
                <a:solidFill>
                  <a:srgbClr val="0221BE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,</a:t>
            </a:r>
            <a:r>
              <a:rPr lang="en-US" sz="2000" spc="-45" dirty="0">
                <a:solidFill>
                  <a:srgbClr val="0221BE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2000" spc="10" dirty="0">
                <a:solidFill>
                  <a:srgbClr val="0221BE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Earth</a:t>
            </a:r>
            <a:r>
              <a:rPr lang="en-US" sz="2000" spc="-45" dirty="0">
                <a:solidFill>
                  <a:srgbClr val="0221BE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’</a:t>
            </a:r>
            <a:r>
              <a:rPr lang="en-US" sz="2000" dirty="0">
                <a:solidFill>
                  <a:srgbClr val="0221BE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s</a:t>
            </a:r>
            <a:r>
              <a:rPr lang="en-US" sz="2000" spc="-45" dirty="0">
                <a:solidFill>
                  <a:srgbClr val="0221BE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2000" spc="10" dirty="0">
                <a:solidFill>
                  <a:srgbClr val="0221BE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atmosphere, o</a:t>
            </a:r>
            <a:r>
              <a:rPr lang="en-US" sz="2000" dirty="0">
                <a:solidFill>
                  <a:srgbClr val="0221BE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r a </a:t>
            </a:r>
            <a:r>
              <a:rPr lang="en-US" sz="2000" spc="10" dirty="0">
                <a:solidFill>
                  <a:srgbClr val="0221BE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combinatio</a:t>
            </a:r>
            <a:r>
              <a:rPr lang="en-US" sz="2000" dirty="0">
                <a:solidFill>
                  <a:srgbClr val="0221BE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n </a:t>
            </a:r>
            <a:r>
              <a:rPr lang="en-US" sz="2000" spc="10" dirty="0">
                <a:solidFill>
                  <a:srgbClr val="0221BE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o</a:t>
            </a:r>
            <a:r>
              <a:rPr lang="en-US" sz="2000" dirty="0">
                <a:solidFill>
                  <a:srgbClr val="0221BE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f </a:t>
            </a:r>
            <a:r>
              <a:rPr lang="en-US" sz="2000" spc="10" dirty="0">
                <a:solidFill>
                  <a:srgbClr val="0221BE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</a:t>
            </a:r>
            <a:r>
              <a:rPr lang="en-US" sz="2000" dirty="0">
                <a:solidFill>
                  <a:srgbClr val="0221BE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wo </a:t>
            </a:r>
            <a:r>
              <a:rPr lang="en-US" sz="2000" spc="10" dirty="0">
                <a:solidFill>
                  <a:srgbClr val="0221BE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o</a:t>
            </a:r>
            <a:r>
              <a:rPr lang="en-US" sz="2000" dirty="0">
                <a:solidFill>
                  <a:srgbClr val="0221BE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r </a:t>
            </a:r>
            <a:r>
              <a:rPr lang="en-US" sz="2000" spc="10" dirty="0">
                <a:solidFill>
                  <a:srgbClr val="0221BE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mor</a:t>
            </a:r>
            <a:r>
              <a:rPr lang="en-US" sz="2000" dirty="0">
                <a:solidFill>
                  <a:srgbClr val="0221BE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e </a:t>
            </a:r>
            <a:r>
              <a:rPr lang="en-US" sz="2000" spc="10" dirty="0">
                <a:solidFill>
                  <a:srgbClr val="0221BE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type</a:t>
            </a:r>
            <a:r>
              <a:rPr lang="en-US" sz="2000" dirty="0">
                <a:solidFill>
                  <a:srgbClr val="0221BE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s </a:t>
            </a:r>
            <a:r>
              <a:rPr lang="en-US" sz="2000" spc="10" dirty="0">
                <a:solidFill>
                  <a:srgbClr val="0221BE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o</a:t>
            </a:r>
            <a:r>
              <a:rPr lang="en-US" sz="2000" dirty="0">
                <a:solidFill>
                  <a:srgbClr val="0221BE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f </a:t>
            </a:r>
            <a:r>
              <a:rPr lang="en-US" sz="2000" spc="10" dirty="0">
                <a:solidFill>
                  <a:srgbClr val="0221BE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transmissio</a:t>
            </a:r>
            <a:r>
              <a:rPr lang="en-US" sz="2000" dirty="0">
                <a:solidFill>
                  <a:srgbClr val="0221BE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n </a:t>
            </a:r>
            <a:r>
              <a:rPr lang="en-US" sz="2000" spc="10" dirty="0">
                <a:solidFill>
                  <a:srgbClr val="0221BE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systems</a:t>
            </a:r>
            <a:r>
              <a:rPr lang="en-US" sz="2000" dirty="0">
                <a:solidFill>
                  <a:srgbClr val="0221BE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. </a:t>
            </a:r>
            <a:endParaRPr lang="en-US" sz="2000" dirty="0">
              <a:solidFill>
                <a:srgbClr val="0221B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 flipH="1" flipV="1">
            <a:off x="6925056" y="1390389"/>
            <a:ext cx="365092" cy="57619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302248" y="4068000"/>
            <a:ext cx="5662660" cy="2631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460500" marR="57277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spc="10" dirty="0">
                <a:solidFill>
                  <a:srgbClr val="0C03BD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The cloc</a:t>
            </a:r>
            <a:r>
              <a:rPr lang="en-US" sz="2000" dirty="0">
                <a:solidFill>
                  <a:srgbClr val="0C03BD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k </a:t>
            </a:r>
            <a:r>
              <a:rPr lang="en-US" sz="2000" spc="10" dirty="0">
                <a:solidFill>
                  <a:srgbClr val="0C03BD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an</a:t>
            </a:r>
            <a:r>
              <a:rPr lang="en-US" sz="2000" dirty="0">
                <a:solidFill>
                  <a:srgbClr val="0C03BD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d </a:t>
            </a:r>
            <a:r>
              <a:rPr lang="en-US" sz="2000" spc="10" dirty="0">
                <a:solidFill>
                  <a:srgbClr val="0C03BD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carrie</a:t>
            </a:r>
            <a:r>
              <a:rPr lang="en-US" sz="2000" dirty="0">
                <a:solidFill>
                  <a:srgbClr val="0C03BD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r </a:t>
            </a:r>
            <a:r>
              <a:rPr lang="en-US" sz="2000" spc="10" dirty="0">
                <a:solidFill>
                  <a:srgbClr val="0C03BD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rec</a:t>
            </a:r>
            <a:r>
              <a:rPr lang="en-US" sz="2000" spc="-5" dirty="0">
                <a:solidFill>
                  <a:srgbClr val="0C03BD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ov</a:t>
            </a:r>
            <a:r>
              <a:rPr lang="en-US" sz="2000" spc="10" dirty="0">
                <a:solidFill>
                  <a:srgbClr val="0C03BD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er</a:t>
            </a:r>
            <a:r>
              <a:rPr lang="en-US" sz="2000" dirty="0">
                <a:solidFill>
                  <a:srgbClr val="0C03BD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y </a:t>
            </a:r>
            <a:r>
              <a:rPr lang="en-US" sz="2000" spc="10" dirty="0">
                <a:solidFill>
                  <a:srgbClr val="0C03BD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circuit</a:t>
            </a:r>
            <a:r>
              <a:rPr lang="en-US" sz="2000" dirty="0">
                <a:solidFill>
                  <a:srgbClr val="0C03BD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s </a:t>
            </a:r>
            <a:r>
              <a:rPr lang="en-US" sz="2000" spc="10" dirty="0">
                <a:solidFill>
                  <a:srgbClr val="0C03BD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rec</a:t>
            </a:r>
            <a:r>
              <a:rPr lang="en-US" sz="2000" spc="-5" dirty="0">
                <a:solidFill>
                  <a:srgbClr val="0C03BD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ov</a:t>
            </a:r>
            <a:r>
              <a:rPr lang="en-US" sz="2000" spc="10" dirty="0">
                <a:solidFill>
                  <a:srgbClr val="0C03BD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e</a:t>
            </a:r>
            <a:r>
              <a:rPr lang="en-US" sz="2000" dirty="0">
                <a:solidFill>
                  <a:srgbClr val="0C03BD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r </a:t>
            </a:r>
            <a:r>
              <a:rPr lang="en-US" sz="2000" spc="10" dirty="0">
                <a:solidFill>
                  <a:srgbClr val="0C03BD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th</a:t>
            </a:r>
            <a:r>
              <a:rPr lang="en-US" sz="2000" dirty="0">
                <a:solidFill>
                  <a:srgbClr val="0C03BD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e </a:t>
            </a:r>
            <a:r>
              <a:rPr lang="en-US" sz="2000" spc="10" dirty="0">
                <a:solidFill>
                  <a:srgbClr val="0C03BD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analo</a:t>
            </a:r>
            <a:r>
              <a:rPr lang="en-US" sz="2000" dirty="0">
                <a:solidFill>
                  <a:srgbClr val="0C03BD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g </a:t>
            </a:r>
            <a:r>
              <a:rPr lang="en-US" sz="2000" spc="10" dirty="0">
                <a:solidFill>
                  <a:srgbClr val="0C03BD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carrie</a:t>
            </a:r>
            <a:r>
              <a:rPr lang="en-US" sz="2000" dirty="0">
                <a:solidFill>
                  <a:srgbClr val="0C03BD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r </a:t>
            </a:r>
            <a:r>
              <a:rPr lang="en-US" sz="2000" spc="10" dirty="0">
                <a:solidFill>
                  <a:srgbClr val="0C03BD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an</a:t>
            </a:r>
            <a:r>
              <a:rPr lang="en-US" sz="2000" dirty="0">
                <a:solidFill>
                  <a:srgbClr val="0C03BD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d </a:t>
            </a:r>
            <a:r>
              <a:rPr lang="en-US" sz="2000" spc="10" dirty="0">
                <a:solidFill>
                  <a:srgbClr val="0C03BD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digita</a:t>
            </a:r>
            <a:r>
              <a:rPr lang="en-US" sz="2000" dirty="0">
                <a:solidFill>
                  <a:srgbClr val="0C03BD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l </a:t>
            </a:r>
            <a:r>
              <a:rPr lang="en-US" sz="2000" spc="10" dirty="0">
                <a:solidFill>
                  <a:srgbClr val="0C03BD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timin</a:t>
            </a:r>
            <a:r>
              <a:rPr lang="en-US" sz="2000" dirty="0">
                <a:solidFill>
                  <a:srgbClr val="0C03BD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g </a:t>
            </a:r>
            <a:r>
              <a:rPr lang="en-US" sz="2000" spc="10" dirty="0">
                <a:solidFill>
                  <a:srgbClr val="0C03BD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(clock) signal</a:t>
            </a:r>
            <a:r>
              <a:rPr lang="en-US" sz="2000" dirty="0">
                <a:solidFill>
                  <a:srgbClr val="0C03BD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s</a:t>
            </a:r>
            <a:r>
              <a:rPr lang="en-US" sz="2000" spc="20" dirty="0">
                <a:solidFill>
                  <a:srgbClr val="0C03BD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2000" spc="10" dirty="0">
                <a:solidFill>
                  <a:srgbClr val="0C03BD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fro</a:t>
            </a:r>
            <a:r>
              <a:rPr lang="en-US" sz="2000" dirty="0">
                <a:solidFill>
                  <a:srgbClr val="0C03BD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m</a:t>
            </a:r>
            <a:r>
              <a:rPr lang="en-US" sz="2000" spc="20" dirty="0">
                <a:solidFill>
                  <a:srgbClr val="0C03BD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rgbClr val="0C03BD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the incoming modulated </a:t>
            </a:r>
            <a:r>
              <a:rPr lang="en-US" sz="2000" spc="-10" dirty="0">
                <a:solidFill>
                  <a:srgbClr val="0C03BD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w</a:t>
            </a:r>
            <a:r>
              <a:rPr lang="en-US" sz="2000" spc="-20" dirty="0">
                <a:solidFill>
                  <a:srgbClr val="0C03BD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a</a:t>
            </a:r>
            <a:r>
              <a:rPr lang="en-US" sz="2000" spc="-15" dirty="0">
                <a:solidFill>
                  <a:srgbClr val="0C03BD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v</a:t>
            </a:r>
            <a:r>
              <a:rPr lang="en-US" sz="2000" dirty="0">
                <a:solidFill>
                  <a:srgbClr val="0C03BD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e since th</a:t>
            </a:r>
            <a:r>
              <a:rPr lang="en-US" sz="2000" spc="-15" dirty="0">
                <a:solidFill>
                  <a:srgbClr val="0C03BD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e</a:t>
            </a:r>
            <a:r>
              <a:rPr lang="en-US" sz="2000" dirty="0">
                <a:solidFill>
                  <a:srgbClr val="0C03BD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y are necessary to perform the de- modulation p</a:t>
            </a:r>
            <a:r>
              <a:rPr lang="en-US" sz="2000" spc="5" dirty="0">
                <a:solidFill>
                  <a:srgbClr val="0C03BD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r</a:t>
            </a:r>
            <a:r>
              <a:rPr lang="en-US" sz="2000" spc="10" dirty="0">
                <a:solidFill>
                  <a:srgbClr val="0C03BD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ocess.</a:t>
            </a:r>
            <a:endParaRPr lang="en-US" sz="2000" dirty="0">
              <a:solidFill>
                <a:srgbClr val="0C03BD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 flipH="1" flipV="1">
            <a:off x="8342334" y="5110619"/>
            <a:ext cx="313151" cy="273094"/>
          </a:xfrm>
          <a:prstGeom prst="straightConnector1">
            <a:avLst/>
          </a:prstGeom>
          <a:ln w="317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6EA423-B9F0-9154-AC01-778B81F71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E41159-7BAF-75C6-AA1B-AF5F86FE5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870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2475" y="2018400"/>
            <a:ext cx="11406187" cy="2998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2929109" y="0"/>
            <a:ext cx="64411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Digital Modulation Techniques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99948F-0118-57FF-C367-5FC414BD5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4292F5-1F63-353F-1DA7-384B41C5C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5</a:t>
            </a:fld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995612" y="54743"/>
            <a:ext cx="6733604" cy="665085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DA892D-6A56-2BC9-C360-0D70C8E86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1C505D-CEFC-01DF-F905-0FFAE7F7F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3184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2626" y="10187"/>
            <a:ext cx="5188276" cy="77787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Fundamentals</a:t>
            </a:r>
            <a:endParaRPr lang="en-US" sz="36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5300" y="749674"/>
            <a:ext cx="11820368" cy="1455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845084" y="1976439"/>
            <a:ext cx="3163140" cy="3711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7164" y="2128924"/>
            <a:ext cx="5536692" cy="6597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845720" y="1992126"/>
            <a:ext cx="1411381" cy="898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1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01373" y="3105771"/>
            <a:ext cx="4984094" cy="5296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2" name="Picture 8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270164" y="2855753"/>
            <a:ext cx="2995936" cy="11166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3" name="Picture 9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56813" y="3552821"/>
            <a:ext cx="2790265" cy="1269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4" name="Picture 10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434257" y="4673519"/>
            <a:ext cx="5968583" cy="11539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287164" y="5753523"/>
            <a:ext cx="8839200" cy="113347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C534E-291F-9F60-820E-3A0AED196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926EE-E928-2BFD-2C19-3CC51ADDF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7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3" dur="2000"/>
                                        <p:tgtEl>
                                          <p:spTgt spid="1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7384" y="1133221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Binary Amplitude Shift Keying (BASK)</a:t>
            </a:r>
          </a:p>
        </p:txBody>
      </p:sp>
      <p:sp>
        <p:nvSpPr>
          <p:cNvPr id="3" name="Rectangle 2"/>
          <p:cNvSpPr/>
          <p:nvPr/>
        </p:nvSpPr>
        <p:spPr>
          <a:xfrm>
            <a:off x="877824" y="2901988"/>
            <a:ext cx="103632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i="1" dirty="0">
                <a:solidFill>
                  <a:srgbClr val="0221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Amplitude-shift keying </a:t>
            </a:r>
            <a:r>
              <a:rPr lang="en-US" sz="3200" dirty="0">
                <a:solidFill>
                  <a:srgbClr val="0221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(ASK) was probably the first type of digital modulation to be practically applied. In its simplest form it has been used for radio telegraphy transmission in Morse code.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729763-C856-DDA2-778C-826668845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E8C92-63A6-C1DF-5DDA-3C959B058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3959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320" y="194437"/>
            <a:ext cx="10515600" cy="500507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BASK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04084" y="1123936"/>
            <a:ext cx="9302497" cy="82244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48216" y="2155534"/>
            <a:ext cx="5083493" cy="42650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26160" y="2735995"/>
            <a:ext cx="5259481" cy="38636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26160" y="3252467"/>
            <a:ext cx="2119271" cy="30449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04084" y="3654934"/>
            <a:ext cx="3513057" cy="43460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04084" y="4089539"/>
            <a:ext cx="3228976" cy="50415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87643" y="4667584"/>
            <a:ext cx="7420166" cy="2101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353056" y="63052"/>
            <a:ext cx="964387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221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BASK a sinusoidal carrier is simply gated on and off by the bit sequence to be transmitted.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6010656" y="2020272"/>
            <a:ext cx="6083808" cy="324645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8371713" y="5637847"/>
            <a:ext cx="3520286" cy="933641"/>
          </a:xfrm>
          <a:prstGeom prst="rect">
            <a:avLst/>
          </a:prstGeom>
        </p:spPr>
      </p:pic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88B5A419-6A1D-47BA-45E3-06EFB79DF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CD5DEBA5-5487-AB9A-A6AD-57581A812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1847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31086" y="1211652"/>
            <a:ext cx="8285469" cy="492163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607918" y="75367"/>
            <a:ext cx="1031443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amplitude of a carrier is switched or keyed by the binary signal </a:t>
            </a:r>
            <a:r>
              <a:rPr lang="en-US" sz="28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8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).This is sometimes called </a:t>
            </a:r>
            <a:r>
              <a:rPr lang="en-US" sz="2800" dirty="0">
                <a:solidFill>
                  <a:srgbClr val="DD09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on-off keying 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800" dirty="0">
                <a:solidFill>
                  <a:srgbClr val="DD09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OOK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E4F88D-5905-37D3-32F7-D269C8DBD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8A609B-EEA4-71A8-BD85-E3BAFA223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12970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149" y="58231"/>
            <a:ext cx="4382707" cy="2181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238" y="2239266"/>
            <a:ext cx="4645152" cy="2011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6661" y="2212246"/>
            <a:ext cx="5375339" cy="1865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536" y="4986509"/>
            <a:ext cx="4645152" cy="15257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377624" y="1227292"/>
            <a:ext cx="1095375" cy="40005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324212" y="3078346"/>
            <a:ext cx="1095375" cy="40005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324212" y="5334756"/>
            <a:ext cx="1095375" cy="4000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710D205-DBBD-855A-A40D-0317C18980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4093" y="4469777"/>
            <a:ext cx="4826818" cy="38843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5FC269C-E6C2-695B-09D5-E62983E0C10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0" y="4165113"/>
            <a:ext cx="4285650" cy="550854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CB2AD0-70B5-8ACF-933E-780AA82F6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DA3CBCF3-14A9-083F-B0B4-7446BB401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11</a:t>
            </a:fld>
            <a:endParaRPr lang="en-IN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1DDCE4D-F488-2465-B99C-1ED9D9B11FF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61767" y="0"/>
            <a:ext cx="4475924" cy="205251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97EF65F-DBB2-371F-9F0D-05A3DB2C32C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36137" y="4663996"/>
            <a:ext cx="5323845" cy="210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356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85718" y="171950"/>
            <a:ext cx="346742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Bandwidth of ASK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26597" y="4399589"/>
            <a:ext cx="1175308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rgbClr val="0C03BD"/>
                </a:solidFill>
                <a:latin typeface="Arial" panose="020B0604020202020204" pitchFamily="34" charset="0"/>
              </a:rPr>
              <a:t> BW can be defined in two ways:</a:t>
            </a:r>
          </a:p>
          <a:p>
            <a:pPr algn="just"/>
            <a:r>
              <a:rPr lang="en-US" altLang="en-US" sz="2400" dirty="0">
                <a:solidFill>
                  <a:srgbClr val="0C03BD"/>
                </a:solidFill>
                <a:latin typeface="Arial" panose="020B0604020202020204" pitchFamily="34" charset="0"/>
              </a:rPr>
              <a:t>(a), bandwidth in hertz, refers to the range of frequencies in a composite signal or the range of frequencies that a channel can pass.</a:t>
            </a:r>
          </a:p>
          <a:p>
            <a:pPr algn="just"/>
            <a:r>
              <a:rPr lang="en-US" altLang="en-US" sz="2400" dirty="0">
                <a:latin typeface="Arial" panose="020B0604020202020204" pitchFamily="34" charset="0"/>
              </a:rPr>
              <a:t>(b) </a:t>
            </a:r>
            <a:r>
              <a:rPr lang="en-US" altLang="en-US" sz="2400" dirty="0">
                <a:solidFill>
                  <a:srgbClr val="C00000"/>
                </a:solidFill>
                <a:latin typeface="Arial" panose="020B0604020202020204" pitchFamily="34" charset="0"/>
              </a:rPr>
              <a:t>bandwidth in bits per second, refers to the speed of bit transmission in a channel or link. Often referred to as Capacity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50E93C-7F22-E3EF-7F75-82F596DB4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8C943A-A397-6918-1E9E-A4FB03C39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12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9ABD242-A94A-181B-6E30-9FD4DD7AF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3081" y="684789"/>
            <a:ext cx="9573638" cy="378126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815B0FF-CE4B-2EAE-B11C-0166302AD1C5}"/>
              </a:ext>
            </a:extLst>
          </p:cNvPr>
          <p:cNvSpPr txBox="1"/>
          <p:nvPr/>
        </p:nvSpPr>
        <p:spPr>
          <a:xfrm>
            <a:off x="7906155" y="126797"/>
            <a:ext cx="36519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Bandwidth =  bit rate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359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0053"/>
            <a:ext cx="10515600" cy="63461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221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ASK Transmitter and Receiver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758551" y="804673"/>
            <a:ext cx="4935083" cy="263347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80032" y="3568657"/>
            <a:ext cx="8642032" cy="3115466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69BDB8-F0DA-FBF8-DA84-4DAD50EAC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A1BB0E-4AEE-1E09-5F07-E6CC6681D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1380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ED894-51E7-639A-080A-8C294D953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16588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US" dirty="0"/>
              <a:t>Advantages and Dis-advantages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23929-DD60-2C0E-3416-AAB88C80A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638" y="1164144"/>
            <a:ext cx="10515600" cy="4351338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Advantage: 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    simplicity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Disadvantages:   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ASK is very susceptible to noise interference noise usually (only)affects the amplitude, therefore ASK is the modulation technique most affected by noise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Application:   ASK is used to transmit digital data over optical fiber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F2561E-E69A-C4FE-D267-8D3249CA2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2DF85-CA13-CEEF-942C-0D444E1C8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5243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296" y="1050586"/>
            <a:ext cx="11728704" cy="564204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    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" y="568888"/>
            <a:ext cx="1185062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Bit rate is the number of bits transmitted per second.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C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Baud rate is the number of signal units transmitted per second.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solidFill>
                  <a:srgbClr val="037F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Baud rate is less than or equal to the bit rate.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ASK, the bit rate is equal to the minimum Nyquist bandwidth</a:t>
            </a:r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solidFill>
                <a:srgbClr val="037F2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B14680F-E95C-86EF-827C-15F0A4814034}"/>
                  </a:ext>
                </a:extLst>
              </p:cNvPr>
              <p:cNvSpPr/>
              <p:nvPr/>
            </p:nvSpPr>
            <p:spPr>
              <a:xfrm>
                <a:off x="4722065" y="2053556"/>
                <a:ext cx="5257703" cy="90864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𝐵𝑊</m:t>
                      </m:r>
                      <m:r>
                        <a:rPr lang="en-US" sz="28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num>
                        <m:den>
                          <m:r>
                            <a:rPr lang="en-US" sz="28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sz="28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sz="2800" i="0">
                          <a:latin typeface="Cambria Math" panose="02040503050406030204" pitchFamily="18" charset="0"/>
                        </a:rPr>
                        <m:t>;</m:t>
                      </m:r>
                      <m:r>
                        <m:rPr>
                          <m:nor/>
                        </m:rPr>
                        <a:rPr lang="en-US" sz="2800" i="1">
                          <a:latin typeface="Cambria Math" panose="02040503050406030204" pitchFamily="18" charset="0"/>
                        </a:rPr>
                        <m:t>   </m:t>
                      </m:r>
                      <m:r>
                        <a:rPr lang="en-US" sz="2800" i="1" smtClean="0">
                          <a:solidFill>
                            <a:srgbClr val="0C03BD"/>
                          </a:solidFill>
                          <a:latin typeface="Cambria Math" panose="02040503050406030204" pitchFamily="18" charset="0"/>
                        </a:rPr>
                        <m:t>𝐵𝑎𝑢𝑑</m:t>
                      </m:r>
                      <m:r>
                        <a:rPr lang="en-US" sz="2800" i="0">
                          <a:solidFill>
                            <a:srgbClr val="0C03B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C03BD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C03B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C03BD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C03BD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num>
                        <m:den>
                          <m:r>
                            <a:rPr lang="en-US" sz="2800" i="0">
                              <a:solidFill>
                                <a:srgbClr val="0C03BD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sz="2800" i="0">
                          <a:solidFill>
                            <a:srgbClr val="0C03B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C03B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C03BD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C03BD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B14680F-E95C-86EF-827C-15F0A48140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2065" y="2053556"/>
                <a:ext cx="5257703" cy="9086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BF7C7B82-0C3A-6961-1F7D-75A5805ACA41}"/>
              </a:ext>
            </a:extLst>
          </p:cNvPr>
          <p:cNvSpPr txBox="1"/>
          <p:nvPr/>
        </p:nvSpPr>
        <p:spPr>
          <a:xfrm>
            <a:off x="2017679" y="114565"/>
            <a:ext cx="87792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Bit rate, Baud rate and Bandwidth for ASK</a:t>
            </a:r>
            <a:endParaRPr lang="en-IN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E8E2B8-D4F1-4403-4F23-F6FF511AE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C941BA-BB7E-47B3-91A4-C69CB2442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15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95274C9-5BA5-7B42-4B20-C6203B2139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904" y="3165740"/>
            <a:ext cx="10325995" cy="3482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13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86710" y="-48141"/>
            <a:ext cx="10846405" cy="126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00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00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00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00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00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00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00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00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00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400050" algn="l"/>
              </a:tabLs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Consider an ASK modulated signal shown below. Find the bit rate and baud rate.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400050" algn="l"/>
              </a:tabLs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412248" y="716482"/>
            <a:ext cx="6041482" cy="156095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A0DF0C-C219-5D93-0D07-E16FE4ED2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EE1FD6-6BA7-06BC-DECB-92FE495F0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5676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55987-0F93-71C7-278D-CFE5796C9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85D67-19D4-DBE6-D49F-C36FF4202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17</a:t>
            </a:fld>
            <a:endParaRPr lang="en-I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ED36A76F-40EE-D01E-06C7-F73BAE4318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7474" y="136525"/>
            <a:ext cx="10342995" cy="59489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646128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4384" y="302076"/>
            <a:ext cx="11867615" cy="646176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US" dirty="0">
                <a:solidFill>
                  <a:srgbClr val="0221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Ex1: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 the minimum bandwidth required for an ASK signal transmitting at 2000 bps.</a:t>
            </a:r>
          </a:p>
          <a:p>
            <a:pPr marL="0" indent="0">
              <a:buNone/>
            </a:pPr>
            <a:r>
              <a:rPr lang="en-US" dirty="0">
                <a:solidFill>
                  <a:srgbClr val="0C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ASK the baud rate and bit rate are the same. 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baud rate is therefore 2000. 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ASK signal requires a minimum bandwidth equal to its baud rate.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Therefore, the minimum bandwidth is 2000 Hz.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Ex2: Given a bandwidth of 5000 Hz for an ASK signal, what are the baud rate and bit rate?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ASK the baud rate is the same as the bandwidth, which means the baud rate is 5000. 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But because the baud rate and the bit rate are also the same for ASK, the bit rate is 5000 bps.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507871-9259-D7BE-7CEA-5900E7A14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0C1C8C-F7DF-B4C6-20BF-0776846BF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979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B2AA5-5AA8-79A6-D707-C2B735D50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629" y="571669"/>
            <a:ext cx="11593749" cy="596724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Ex3: </a:t>
            </a:r>
            <a:r>
              <a:rPr lang="en-US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Determine the baud and minimum bandwidth necessary to pass a 10 kbps binary signal using amplitude shift keying.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Ans: </a:t>
            </a:r>
            <a:r>
              <a:rPr lang="en-US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ASK, n = 1, </a:t>
            </a:r>
          </a:p>
          <a:p>
            <a:pPr marL="0" indent="0">
              <a:buNone/>
            </a:pPr>
            <a:r>
              <a:rPr lang="en-US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Minimum bandwidth = B = 10,000 / 1 = 10,000. </a:t>
            </a:r>
          </a:p>
          <a:p>
            <a:pPr marL="0" indent="0">
              <a:buNone/>
            </a:pPr>
            <a:r>
              <a:rPr lang="en-US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baud = 10, 000 /1 = 10,000. </a:t>
            </a:r>
            <a:endParaRPr lang="en-IN" dirty="0">
              <a:solidFill>
                <a:srgbClr val="0909B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3681C5-2CFE-3E1A-7424-DBE6C9C97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E2E26D-0A80-2127-368E-82A0D9E36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83717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68557" y="97636"/>
            <a:ext cx="5105400" cy="719328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Constellation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8976" y="1111289"/>
            <a:ext cx="12003024" cy="529913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0C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graphical representation of the complex envelope of each possible signal.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x-axis represents the in-phase component and the y-axis represents the quadrature component of the complex envelope.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The distance between signals on a constellation diagram relates to </a:t>
            </a:r>
            <a:r>
              <a:rPr lang="en-US" sz="3200" i="1" dirty="0">
                <a:latin typeface="Arial" panose="020B0604020202020204" pitchFamily="34" charset="0"/>
                <a:cs typeface="Arial" panose="020B0604020202020204" pitchFamily="34" charset="0"/>
              </a:rPr>
              <a:t>how different the modulation waveforms are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3200" i="1" dirty="0">
                <a:latin typeface="Arial" panose="020B0604020202020204" pitchFamily="34" charset="0"/>
                <a:cs typeface="Arial" panose="020B0604020202020204" pitchFamily="34" charset="0"/>
              </a:rPr>
              <a:t>how well a receiver can differentiate between them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when random noise is present.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1A517-1893-0F55-1D20-BB3BBC17D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9E1CA-7E35-8D48-CFD0-A43BBCB48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4070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4245" y="367601"/>
            <a:ext cx="8112379" cy="5283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4A123A-DCA9-EDF8-7B67-AAFD84200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ED0440-4769-BDF6-7B64-93AA02EDE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17297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0248" y="182245"/>
            <a:ext cx="10515600" cy="7199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221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Signal Space:             </a:t>
            </a:r>
            <a:r>
              <a:rPr lang="en-US" sz="3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ASK Constellation Diagram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18411" y="1033652"/>
            <a:ext cx="4206240" cy="32861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096000" y="1033652"/>
            <a:ext cx="5577589" cy="354634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4451221"/>
            <a:ext cx="5594717" cy="95364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6220F0B-7A1D-7EC5-2774-A571E7E106EA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885234" y="4580000"/>
            <a:ext cx="6148659" cy="174163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AE8601-18AA-58E2-7BE5-605076C44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F650EF-F51F-A365-518B-3E1AA391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210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1623" y="2573692"/>
            <a:ext cx="10515600" cy="768731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Error Performance of ASK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5967F9-DD7C-A9A5-E3B6-69D8FF553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09740A-1C6A-B581-DF77-36FACC8F2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95030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243205"/>
            <a:ext cx="10515600" cy="70777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Error Performance</a:t>
            </a:r>
            <a:r>
              <a:rPr lang="en-US" sz="3600" dirty="0">
                <a:solidFill>
                  <a:srgbClr val="037F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Bit Error Rate </a:t>
            </a:r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3600" dirty="0">
                <a:solidFill>
                  <a:srgbClr val="0221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</a:t>
            </a:r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06336" y="1074958"/>
            <a:ext cx="11376295" cy="114398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06336" y="2273285"/>
            <a:ext cx="11771322" cy="55666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94360" y="2834614"/>
            <a:ext cx="8805672" cy="85173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94360" y="3954236"/>
            <a:ext cx="6952488" cy="178022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94360" y="5833205"/>
            <a:ext cx="9329928" cy="81372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49A1E3-45FA-CAE0-BE27-DFE68D8DB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1BD26E-5BE1-695C-F42A-C71490F25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162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13182" y="212598"/>
            <a:ext cx="11643202" cy="260375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9859" y="3093720"/>
            <a:ext cx="9993535" cy="112471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99859" y="4218433"/>
            <a:ext cx="10646093" cy="11869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57428" y="5728716"/>
            <a:ext cx="5490210" cy="598932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EBC126-6991-94F7-7641-1E78F92FE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ECE4DB4-30C8-FA0B-4CBA-7F6CCAF0C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93590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3944" y="218821"/>
            <a:ext cx="10515600" cy="695579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Ex…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69210" y="388810"/>
            <a:ext cx="5560377" cy="111899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84110" y="1598486"/>
            <a:ext cx="8591550" cy="12763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12672" y="3372040"/>
            <a:ext cx="8867775" cy="123825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84110" y="5107495"/>
            <a:ext cx="8724900" cy="12954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7046BF-DEDD-2B0A-7D9B-4A1D6EB58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7422B-8E45-999C-5539-12848B818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0086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45CAC-E977-2F3C-6F5F-44179CEF4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1367" y="3711440"/>
            <a:ext cx="1574260" cy="1325563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1CF18F-2126-5506-6625-DBD0BE334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185389-9C25-2054-FDEA-3E7FD4F32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27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8FA501-72FB-3E2F-5D36-1092DCFA438C}"/>
              </a:ext>
            </a:extLst>
          </p:cNvPr>
          <p:cNvSpPr txBox="1"/>
          <p:nvPr/>
        </p:nvSpPr>
        <p:spPr>
          <a:xfrm>
            <a:off x="145915" y="720239"/>
            <a:ext cx="11780196" cy="2239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0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Amplitude Shift Keying (ASK): Bandwidth </a:t>
            </a:r>
            <a:r>
              <a:rPr lang="en-IN" sz="2400" b="0" i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IN" sz="2400" b="0" i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bit </a:t>
            </a:r>
            <a:r>
              <a:rPr lang="en-IN" sz="24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rate</a:t>
            </a:r>
            <a:r>
              <a:rPr lang="en-IN" sz="2400" b="0" i="0" dirty="0">
                <a:solidFill>
                  <a:srgbClr val="2021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0" i="0" dirty="0">
                <a:solidFill>
                  <a:srgbClr val="2021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Frequency Shift Keying (FSK): Bandwidth = </a:t>
            </a:r>
            <a:r>
              <a:rPr lang="en-IN" sz="24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 x (frequency deviation + bit rate).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0" i="0" dirty="0">
                <a:solidFill>
                  <a:srgbClr val="2021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Phase Shift Keying (PSK): Bandwidth = </a:t>
            </a:r>
            <a:r>
              <a:rPr lang="en-IN" sz="24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bit rate</a:t>
            </a:r>
            <a:r>
              <a:rPr lang="en-IN" sz="2400" b="0" i="0" dirty="0">
                <a:solidFill>
                  <a:srgbClr val="2021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0" i="0" dirty="0">
                <a:solidFill>
                  <a:srgbClr val="2021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Quadrature Phase Shift Keying (QPSK): Bandwidth = </a:t>
            </a:r>
            <a:r>
              <a:rPr lang="en-IN" sz="24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 x bit rate</a:t>
            </a:r>
            <a:endParaRPr lang="en-IN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9773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1B4054966B8914981DF84CE0611BBF3" ma:contentTypeVersion="16" ma:contentTypeDescription="Create a new document." ma:contentTypeScope="" ma:versionID="df4401971fe1472aefb2287f2b42b038">
  <xsd:schema xmlns:xsd="http://www.w3.org/2001/XMLSchema" xmlns:xs="http://www.w3.org/2001/XMLSchema" xmlns:p="http://schemas.microsoft.com/office/2006/metadata/properties" xmlns:ns3="9df66832-8a96-40a9-b472-27b1b671652b" xmlns:ns4="3ef07bbe-7178-465e-b37e-c96ad76c7ba2" targetNamespace="http://schemas.microsoft.com/office/2006/metadata/properties" ma:root="true" ma:fieldsID="8f55f25a984c6d559814fe32ab22ce0f" ns3:_="" ns4:_="">
    <xsd:import namespace="9df66832-8a96-40a9-b472-27b1b671652b"/>
    <xsd:import namespace="3ef07bbe-7178-465e-b37e-c96ad76c7ba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_activity" minOccurs="0"/>
                <xsd:element ref="ns3:MediaServiceObjectDetectorVersions" minOccurs="0"/>
                <xsd:element ref="ns3:MediaLengthInSecond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f66832-8a96-40a9-b472-27b1b67165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f07bbe-7178-465e-b37e-c96ad76c7ba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df66832-8a96-40a9-b472-27b1b671652b" xsi:nil="true"/>
  </documentManagement>
</p:properties>
</file>

<file path=customXml/itemProps1.xml><?xml version="1.0" encoding="utf-8"?>
<ds:datastoreItem xmlns:ds="http://schemas.openxmlformats.org/officeDocument/2006/customXml" ds:itemID="{44A4D56B-9EDA-4F8D-84ED-5B5B230CCC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24D7D36-6208-4CBE-AB2E-D44A06D3D6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df66832-8a96-40a9-b472-27b1b671652b"/>
    <ds:schemaRef ds:uri="3ef07bbe-7178-465e-b37e-c96ad76c7b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3942E90-F73C-42DC-BE25-1F552216703B}">
  <ds:schemaRefs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9df66832-8a96-40a9-b472-27b1b671652b"/>
    <ds:schemaRef ds:uri="http://purl.org/dc/terms/"/>
    <ds:schemaRef ds:uri="http://purl.org/dc/elements/1.1/"/>
    <ds:schemaRef ds:uri="http://schemas.microsoft.com/office/2006/metadata/properties"/>
    <ds:schemaRef ds:uri="3ef07bbe-7178-465e-b37e-c96ad76c7ba2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973</TotalTime>
  <Words>951</Words>
  <Application>Microsoft Office PowerPoint</Application>
  <PresentationFormat>Widescreen</PresentationFormat>
  <Paragraphs>113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Calibri Light</vt:lpstr>
      <vt:lpstr>Cambria Math</vt:lpstr>
      <vt:lpstr>Wingdings</vt:lpstr>
      <vt:lpstr>Office Theme</vt:lpstr>
      <vt:lpstr>Digital Communication 24EC2208</vt:lpstr>
      <vt:lpstr>Digital Carrier Modulation / Pass Band Modulation</vt:lpstr>
      <vt:lpstr>Pass-band Digital Transmitter</vt:lpstr>
      <vt:lpstr>Digital Communication / Digital Radio</vt:lpstr>
      <vt:lpstr>PowerPoint Presentation</vt:lpstr>
      <vt:lpstr>PowerPoint Presentation</vt:lpstr>
      <vt:lpstr>Fundamentals</vt:lpstr>
      <vt:lpstr>Binary Amplitude Shift Keying (BASK)</vt:lpstr>
      <vt:lpstr>BASK</vt:lpstr>
      <vt:lpstr>PowerPoint Presentation</vt:lpstr>
      <vt:lpstr>PowerPoint Presentation</vt:lpstr>
      <vt:lpstr>PowerPoint Presentation</vt:lpstr>
      <vt:lpstr>ASK Transmitter and Receiver</vt:lpstr>
      <vt:lpstr>Advantages and Dis-advantages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Constellation Diagram</vt:lpstr>
      <vt:lpstr>PowerPoint Presentation</vt:lpstr>
      <vt:lpstr>Signal Space:             ASK Constellation Diagram</vt:lpstr>
      <vt:lpstr>Error Performance of ASK</vt:lpstr>
      <vt:lpstr>Error Performance: Bit Error Rate (BER)</vt:lpstr>
      <vt:lpstr>PowerPoint Presentation</vt:lpstr>
      <vt:lpstr>Ex…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MVGR</dc:creator>
  <cp:lastModifiedBy>D Sreenivasa Rao</cp:lastModifiedBy>
  <cp:revision>51</cp:revision>
  <dcterms:created xsi:type="dcterms:W3CDTF">2023-05-08T13:48:07Z</dcterms:created>
  <dcterms:modified xsi:type="dcterms:W3CDTF">2025-12-01T09:21:54Z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0x010100F1B4054966B8914981DF84CE0611BBF3</vt:lpwstr>
  </property>
</Properties>
</file>