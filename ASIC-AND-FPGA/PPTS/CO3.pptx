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70"/>
  </p:notesMasterIdLst>
  <p:sldIdLst>
    <p:sldId id="271" r:id="rId5"/>
    <p:sldId id="258" r:id="rId6"/>
    <p:sldId id="318" r:id="rId7"/>
    <p:sldId id="320" r:id="rId8"/>
    <p:sldId id="314" r:id="rId9"/>
    <p:sldId id="401" r:id="rId10"/>
    <p:sldId id="319" r:id="rId11"/>
    <p:sldId id="321" r:id="rId12"/>
    <p:sldId id="322" r:id="rId13"/>
    <p:sldId id="323" r:id="rId14"/>
    <p:sldId id="324" r:id="rId15"/>
    <p:sldId id="287" r:id="rId16"/>
    <p:sldId id="302" r:id="rId17"/>
    <p:sldId id="325" r:id="rId18"/>
    <p:sldId id="327" r:id="rId19"/>
    <p:sldId id="328" r:id="rId20"/>
    <p:sldId id="329" r:id="rId21"/>
    <p:sldId id="330" r:id="rId22"/>
    <p:sldId id="331" r:id="rId23"/>
    <p:sldId id="332" r:id="rId24"/>
    <p:sldId id="333" r:id="rId25"/>
    <p:sldId id="334" r:id="rId26"/>
    <p:sldId id="335" r:id="rId27"/>
    <p:sldId id="349" r:id="rId28"/>
    <p:sldId id="336" r:id="rId29"/>
    <p:sldId id="338" r:id="rId30"/>
    <p:sldId id="339" r:id="rId31"/>
    <p:sldId id="341" r:id="rId32"/>
    <p:sldId id="342" r:id="rId33"/>
    <p:sldId id="343" r:id="rId34"/>
    <p:sldId id="344" r:id="rId35"/>
    <p:sldId id="345" r:id="rId36"/>
    <p:sldId id="346" r:id="rId37"/>
    <p:sldId id="348" r:id="rId38"/>
    <p:sldId id="350" r:id="rId39"/>
    <p:sldId id="352" r:id="rId40"/>
    <p:sldId id="353" r:id="rId41"/>
    <p:sldId id="356" r:id="rId42"/>
    <p:sldId id="357" r:id="rId43"/>
    <p:sldId id="359" r:id="rId44"/>
    <p:sldId id="360" r:id="rId45"/>
    <p:sldId id="361" r:id="rId46"/>
    <p:sldId id="362" r:id="rId47"/>
    <p:sldId id="365" r:id="rId48"/>
    <p:sldId id="367" r:id="rId49"/>
    <p:sldId id="368" r:id="rId50"/>
    <p:sldId id="370" r:id="rId51"/>
    <p:sldId id="371" r:id="rId52"/>
    <p:sldId id="372" r:id="rId53"/>
    <p:sldId id="373" r:id="rId54"/>
    <p:sldId id="376" r:id="rId55"/>
    <p:sldId id="378" r:id="rId56"/>
    <p:sldId id="379" r:id="rId57"/>
    <p:sldId id="381" r:id="rId58"/>
    <p:sldId id="382" r:id="rId59"/>
    <p:sldId id="390" r:id="rId60"/>
    <p:sldId id="392" r:id="rId61"/>
    <p:sldId id="393" r:id="rId62"/>
    <p:sldId id="394" r:id="rId63"/>
    <p:sldId id="395" r:id="rId64"/>
    <p:sldId id="396" r:id="rId65"/>
    <p:sldId id="397" r:id="rId66"/>
    <p:sldId id="398" r:id="rId67"/>
    <p:sldId id="400" r:id="rId68"/>
    <p:sldId id="389"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2F33"/>
    <a:srgbClr val="FF9900"/>
    <a:srgbClr val="E84845"/>
    <a:srgbClr val="FAD2D2"/>
    <a:srgbClr val="F89E4C"/>
    <a:srgbClr val="A81E24"/>
    <a:srgbClr val="FFF2CC"/>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B850D1-3DE1-5E49-ABFC-00B1F4CAB20B}" v="706" dt="2022-04-26T05:00:35.908"/>
    <p1510:client id="{B8906113-84A5-D6EE-8131-D504648287C4}" v="62" dt="2022-09-08T10:44:06.60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70" d="100"/>
          <a:sy n="70" d="100"/>
        </p:scale>
        <p:origin x="71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 Type="http://schemas.openxmlformats.org/officeDocument/2006/relationships/slide" Target="slides/slide3.xml"/><Relationship Id="rId71"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notesMaster" Target="notesMasters/notesMaster1.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10/14/2025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2</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7906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15</a:t>
            </a:fld>
            <a:endParaRPr lang="en-US"/>
          </a:p>
        </p:txBody>
      </p:sp>
    </p:spTree>
    <p:extLst>
      <p:ext uri="{BB962C8B-B14F-4D97-AF65-F5344CB8AC3E}">
        <p14:creationId xmlns:p14="http://schemas.microsoft.com/office/powerpoint/2010/main" val="3861724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6FB118D9-7A70-412D-8448-F50656EA579F}" type="slidenum">
              <a:rPr lang="en-US" smtClean="0"/>
              <a:pPr/>
              <a:t>19</a:t>
            </a:fld>
            <a:endParaRPr lang="en-US"/>
          </a:p>
        </p:txBody>
      </p:sp>
      <p:sp>
        <p:nvSpPr>
          <p:cNvPr id="100355" name="Rectangle 2"/>
          <p:cNvSpPr>
            <a:spLocks noGrp="1" noRot="1" noChangeAspect="1" noChangeArrowheads="1" noTextEdit="1"/>
          </p:cNvSpPr>
          <p:nvPr>
            <p:ph type="sldImg"/>
          </p:nvPr>
        </p:nvSpPr>
        <p:spPr>
          <a:xfrm>
            <a:off x="590550" y="803275"/>
            <a:ext cx="5675313" cy="3194050"/>
          </a:xfrm>
          <a:ln/>
        </p:spPr>
      </p:sp>
      <p:sp>
        <p:nvSpPr>
          <p:cNvPr id="100356" name="Rectangle 3"/>
          <p:cNvSpPr>
            <a:spLocks noGrp="1" noChangeArrowheads="1"/>
          </p:cNvSpPr>
          <p:nvPr>
            <p:ph type="body" idx="1"/>
          </p:nvPr>
        </p:nvSpPr>
        <p:spPr>
          <a:xfrm>
            <a:off x="991196" y="4358823"/>
            <a:ext cx="4875609" cy="4132035"/>
          </a:xfrm>
          <a:noFill/>
          <a:ln/>
        </p:spPr>
        <p:txBody>
          <a:bodyPr/>
          <a:lstStyle/>
          <a:p>
            <a:pPr eaLnBrk="1" hangingPunct="1"/>
            <a:endParaRPr lang="en-AU"/>
          </a:p>
        </p:txBody>
      </p:sp>
    </p:spTree>
    <p:extLst>
      <p:ext uri="{BB962C8B-B14F-4D97-AF65-F5344CB8AC3E}">
        <p14:creationId xmlns:p14="http://schemas.microsoft.com/office/powerpoint/2010/main" val="4113994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E24B019E-59FA-4676-A149-5508E0CB2CC0}" type="slidenum">
              <a:rPr lang="en-US" smtClean="0"/>
              <a:pPr/>
              <a:t>20</a:t>
            </a:fld>
            <a:endParaRPr lang="en-US"/>
          </a:p>
        </p:txBody>
      </p:sp>
      <p:sp>
        <p:nvSpPr>
          <p:cNvPr id="101379" name="Rectangle 2"/>
          <p:cNvSpPr>
            <a:spLocks noGrp="1" noRot="1" noChangeAspect="1" noChangeArrowheads="1" noTextEdit="1"/>
          </p:cNvSpPr>
          <p:nvPr>
            <p:ph type="sldImg"/>
          </p:nvPr>
        </p:nvSpPr>
        <p:spPr>
          <a:xfrm>
            <a:off x="590550" y="803275"/>
            <a:ext cx="5675313" cy="3194050"/>
          </a:xfrm>
          <a:ln/>
        </p:spPr>
      </p:sp>
      <p:sp>
        <p:nvSpPr>
          <p:cNvPr id="101380" name="Rectangle 3"/>
          <p:cNvSpPr>
            <a:spLocks noGrp="1" noChangeArrowheads="1"/>
          </p:cNvSpPr>
          <p:nvPr>
            <p:ph type="body" idx="1"/>
          </p:nvPr>
        </p:nvSpPr>
        <p:spPr>
          <a:xfrm>
            <a:off x="991196" y="4358823"/>
            <a:ext cx="4875609" cy="4132035"/>
          </a:xfrm>
          <a:noFill/>
          <a:ln/>
        </p:spPr>
        <p:txBody>
          <a:bodyPr/>
          <a:lstStyle/>
          <a:p>
            <a:pPr eaLnBrk="1" hangingPunct="1"/>
            <a:endParaRPr lang="en-AU"/>
          </a:p>
        </p:txBody>
      </p:sp>
    </p:spTree>
    <p:extLst>
      <p:ext uri="{BB962C8B-B14F-4D97-AF65-F5344CB8AC3E}">
        <p14:creationId xmlns:p14="http://schemas.microsoft.com/office/powerpoint/2010/main" val="19293241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2351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28</a:t>
            </a:fld>
            <a:endParaRPr lang="en-US"/>
          </a:p>
        </p:txBody>
      </p:sp>
    </p:spTree>
    <p:extLst>
      <p:ext uri="{BB962C8B-B14F-4D97-AF65-F5344CB8AC3E}">
        <p14:creationId xmlns:p14="http://schemas.microsoft.com/office/powerpoint/2010/main" val="1747684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84303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36</a:t>
            </a:fld>
            <a:endParaRPr lang="en-US"/>
          </a:p>
        </p:txBody>
      </p:sp>
    </p:spTree>
    <p:extLst>
      <p:ext uri="{BB962C8B-B14F-4D97-AF65-F5344CB8AC3E}">
        <p14:creationId xmlns:p14="http://schemas.microsoft.com/office/powerpoint/2010/main" val="4061425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3443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40</a:t>
            </a:fld>
            <a:endParaRPr lang="en-US"/>
          </a:p>
        </p:txBody>
      </p:sp>
    </p:spTree>
    <p:extLst>
      <p:ext uri="{BB962C8B-B14F-4D97-AF65-F5344CB8AC3E}">
        <p14:creationId xmlns:p14="http://schemas.microsoft.com/office/powerpoint/2010/main" val="4234236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6736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47</a:t>
            </a:fld>
            <a:endParaRPr lang="en-US"/>
          </a:p>
        </p:txBody>
      </p:sp>
    </p:spTree>
    <p:extLst>
      <p:ext uri="{BB962C8B-B14F-4D97-AF65-F5344CB8AC3E}">
        <p14:creationId xmlns:p14="http://schemas.microsoft.com/office/powerpoint/2010/main" val="17029611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3145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54</a:t>
            </a:fld>
            <a:endParaRPr lang="en-US"/>
          </a:p>
        </p:txBody>
      </p:sp>
    </p:spTree>
    <p:extLst>
      <p:ext uri="{BB962C8B-B14F-4D97-AF65-F5344CB8AC3E}">
        <p14:creationId xmlns:p14="http://schemas.microsoft.com/office/powerpoint/2010/main" val="25667059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98982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Segmented Interconnect</a:t>
            </a:r>
          </a:p>
        </p:txBody>
      </p:sp>
      <p:sp>
        <p:nvSpPr>
          <p:cNvPr id="4" name="Slide Number Placeholder 3"/>
          <p:cNvSpPr>
            <a:spLocks noGrp="1"/>
          </p:cNvSpPr>
          <p:nvPr>
            <p:ph type="sldNum" sz="quarter" idx="5"/>
          </p:nvPr>
        </p:nvSpPr>
        <p:spPr/>
        <p:txBody>
          <a:bodyPr/>
          <a:lstStyle/>
          <a:p>
            <a:fld id="{F2A7EB1A-D312-4F47-9921-FA6F5810222B}" type="slidenum">
              <a:rPr lang="en-US" smtClean="0"/>
              <a:pPr/>
              <a:t>58</a:t>
            </a:fld>
            <a:endParaRPr lang="en-US"/>
          </a:p>
        </p:txBody>
      </p:sp>
    </p:spTree>
    <p:extLst>
      <p:ext uri="{BB962C8B-B14F-4D97-AF65-F5344CB8AC3E}">
        <p14:creationId xmlns:p14="http://schemas.microsoft.com/office/powerpoint/2010/main" val="2406226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10/14/2025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10/14/2025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10/14/2025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10/14/2025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10/14/2025</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10/14/2025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10/14/2025</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10/14/2025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10/14/2025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10/14/2025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275167" y="138114"/>
            <a:ext cx="9791700" cy="846137"/>
          </a:xfrm>
          <a:prstGeom prst="rect">
            <a:avLst/>
          </a:prstGeom>
        </p:spPr>
        <p:txBody>
          <a:bodyPr/>
          <a:lstStyle/>
          <a:p>
            <a:r>
              <a:rPr lang="en-US"/>
              <a:t>Click to edit Master title style</a:t>
            </a:r>
            <a:endParaRPr lang="th-TH"/>
          </a:p>
        </p:txBody>
      </p:sp>
      <p:sp>
        <p:nvSpPr>
          <p:cNvPr id="3" name="Text Placeholder 2"/>
          <p:cNvSpPr>
            <a:spLocks noGrp="1"/>
          </p:cNvSpPr>
          <p:nvPr>
            <p:ph type="body" sz="half" idx="1"/>
          </p:nvPr>
        </p:nvSpPr>
        <p:spPr>
          <a:xfrm>
            <a:off x="237068" y="1652588"/>
            <a:ext cx="11713633" cy="2127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p:cNvSpPr>
            <a:spLocks noGrp="1"/>
          </p:cNvSpPr>
          <p:nvPr>
            <p:ph sz="half" idx="2"/>
          </p:nvPr>
        </p:nvSpPr>
        <p:spPr>
          <a:xfrm>
            <a:off x="237068" y="3932238"/>
            <a:ext cx="11713633" cy="2127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p:cNvSpPr>
            <a:spLocks noGrp="1" noChangeArrowheads="1"/>
          </p:cNvSpPr>
          <p:nvPr>
            <p:ph type="dt" sz="half" idx="10"/>
          </p:nvPr>
        </p:nvSpPr>
        <p:spPr>
          <a:xfrm>
            <a:off x="838200" y="6356350"/>
            <a:ext cx="2743200" cy="365125"/>
          </a:xfrm>
          <a:prstGeom prst="rect">
            <a:avLst/>
          </a:prstGeom>
        </p:spPr>
        <p:txBody>
          <a:bodyPr/>
          <a:lstStyle>
            <a:lvl1pPr>
              <a:defRPr/>
            </a:lvl1pPr>
          </a:lstStyle>
          <a:p>
            <a:pPr>
              <a:defRPr/>
            </a:pPr>
            <a:endParaRPr lang="th-TH"/>
          </a:p>
        </p:txBody>
      </p:sp>
      <p:sp>
        <p:nvSpPr>
          <p:cNvPr id="6" name="Footer Placeholder 5"/>
          <p:cNvSpPr>
            <a:spLocks noGrp="1" noChangeArrowheads="1"/>
          </p:cNvSpPr>
          <p:nvPr>
            <p:ph type="ftr" sz="quarter" idx="11"/>
          </p:nvPr>
        </p:nvSpPr>
        <p:spPr>
          <a:xfrm>
            <a:off x="4038600" y="6356350"/>
            <a:ext cx="4114800" cy="365125"/>
          </a:xfrm>
          <a:prstGeom prst="rect">
            <a:avLst/>
          </a:prstGeom>
        </p:spPr>
        <p:txBody>
          <a:bodyPr/>
          <a:lstStyle>
            <a:lvl1pPr>
              <a:defRPr/>
            </a:lvl1pPr>
          </a:lstStyle>
          <a:p>
            <a:pPr>
              <a:defRPr/>
            </a:pPr>
            <a:endParaRPr lang="th-TH"/>
          </a:p>
        </p:txBody>
      </p:sp>
      <p:sp>
        <p:nvSpPr>
          <p:cNvPr id="7" name="Slide Number Placeholder 6"/>
          <p:cNvSpPr>
            <a:spLocks noGrp="1" noChangeArrowheads="1"/>
          </p:cNvSpPr>
          <p:nvPr>
            <p:ph type="sldNum" sz="quarter" idx="12"/>
          </p:nvPr>
        </p:nvSpPr>
        <p:spPr>
          <a:xfrm>
            <a:off x="8610600" y="6356350"/>
            <a:ext cx="2743200" cy="365125"/>
          </a:xfrm>
          <a:prstGeom prst="rect">
            <a:avLst/>
          </a:prstGeom>
        </p:spPr>
        <p:txBody>
          <a:bodyPr/>
          <a:lstStyle>
            <a:lvl1pPr>
              <a:defRPr/>
            </a:lvl1pPr>
          </a:lstStyle>
          <a:p>
            <a:pPr>
              <a:defRPr/>
            </a:pPr>
            <a:fld id="{C070F71F-C14B-4FB5-85E2-FF0183F1A345}" type="slidenum">
              <a:rPr lang="th-TH"/>
              <a:pPr>
                <a:defRPr/>
              </a:pPr>
              <a:t>‹#›</a:t>
            </a:fld>
            <a:endParaRPr lang="th-TH"/>
          </a:p>
        </p:txBody>
      </p:sp>
    </p:spTree>
    <p:extLst>
      <p:ext uri="{BB962C8B-B14F-4D97-AF65-F5344CB8AC3E}">
        <p14:creationId xmlns:p14="http://schemas.microsoft.com/office/powerpoint/2010/main" val="423365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 xmlns:a16="http://schemas.microsoft.com/office/drawing/2014/main" id="{2F4508AD-1BA8-6D49-AD89-BB8C58C99DDF}"/>
              </a:ext>
            </a:extLst>
          </p:cNvPr>
          <p:cNvPicPr>
            <a:picLocks noChangeAspect="1"/>
          </p:cNvPicPr>
          <p:nvPr userDrawn="1"/>
        </p:nvPicPr>
        <p:blipFill>
          <a:blip r:embed="rId14">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 xmlns:a16="http://schemas.microsoft.com/office/drawing/2014/main" id="{D4A3453C-FFE4-E949-B42B-748B5090DD36}"/>
              </a:ext>
            </a:extLst>
          </p:cNvPr>
          <p:cNvPicPr>
            <a:picLocks noChangeAspect="1"/>
          </p:cNvPicPr>
          <p:nvPr userDrawn="1"/>
        </p:nvPicPr>
        <p:blipFill rotWithShape="1">
          <a:blip r:embed="rId15">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4" Type="http://schemas.microsoft.com/office/2007/relationships/hdphoto" Target="../media/hdphoto3.wdp"/></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microsoft.com/office/2007/relationships/hdphoto" Target="../media/hdphoto4.wdp"/></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microsoft.com/office/2007/relationships/hdphoto" Target="../media/hdphoto5.wdp"/></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185173"/>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ASIC &amp; FPGA Design</a:t>
            </a:r>
          </a:p>
          <a:p>
            <a:pPr marR="0" lvl="0" indent="0" algn="ctr">
              <a:spcBef>
                <a:spcPts val="0"/>
              </a:spcBef>
              <a:spcAft>
                <a:spcPts val="0"/>
              </a:spcAft>
              <a:buNone/>
            </a:pPr>
            <a:r>
              <a:rPr lang="en-US" sz="3200" b="1" cap="all" dirty="0" smtClean="0">
                <a:ln/>
                <a:solidFill>
                  <a:srgbClr val="C00000"/>
                </a:solidFill>
                <a:cs typeface="Poppins" panose="00000500000000000000" pitchFamily="2" charset="0"/>
                <a:sym typeface="BioRhyme ExtraBold"/>
              </a:rPr>
              <a:t>23ec2230F</a:t>
            </a: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3200" b="1" dirty="0">
                <a:solidFill>
                  <a:srgbClr val="CF2F33"/>
                </a:solidFill>
              </a:rPr>
              <a:t>Programmable ASIC Logic Cells: </a:t>
            </a:r>
            <a:endParaRPr lang="en-US" sz="3200" b="1" dirty="0">
              <a:solidFill>
                <a:srgbClr val="CF2F33"/>
              </a:solidFill>
              <a:effectLst/>
              <a:cs typeface="Poppins" panose="00000500000000000000" pitchFamily="2" charset="0"/>
            </a:endParaRPr>
          </a:p>
        </p:txBody>
      </p:sp>
      <p:sp>
        <p:nvSpPr>
          <p:cNvPr id="19" name="Rectangle: Rounded Corners 18">
            <a:extLst>
              <a:ext uri="{FF2B5EF4-FFF2-40B4-BE49-F238E27FC236}">
                <a16:creationId xmlns=""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1323399"/>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ECE 	</a:t>
            </a:r>
          </a:p>
        </p:txBody>
      </p:sp>
      <p:sp>
        <p:nvSpPr>
          <p:cNvPr id="33" name="Rectangle 32">
            <a:extLst>
              <a:ext uri="{FF2B5EF4-FFF2-40B4-BE49-F238E27FC236}">
                <a16:creationId xmlns=""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 xmlns:a16="http://schemas.microsoft.com/office/drawing/2014/main" id="{9EB8A4A0-26E8-41C7-BE65-3B55B361B40D}"/>
              </a:ext>
            </a:extLst>
          </p:cNvPr>
          <p:cNvSpPr/>
          <p:nvPr/>
        </p:nvSpPr>
        <p:spPr>
          <a:xfrm>
            <a:off x="2867920" y="1105469"/>
            <a:ext cx="8364188" cy="8598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2400" b="1" dirty="0" err="1">
                <a:solidFill>
                  <a:schemeClr val="bg1"/>
                </a:solidFill>
              </a:rPr>
              <a:t>Actel</a:t>
            </a:r>
            <a:r>
              <a:rPr lang="en-IN" sz="2400" b="1" dirty="0">
                <a:solidFill>
                  <a:schemeClr val="bg1"/>
                </a:solidFill>
              </a:rPr>
              <a:t> Architecture</a:t>
            </a:r>
            <a:endParaRPr lang="en-US" sz="2400" b="1" dirty="0">
              <a:solidFill>
                <a:schemeClr val="bg1"/>
              </a:solidFill>
              <a:cs typeface="Poppins" panose="00000500000000000000" pitchFamily="2" charset="0"/>
            </a:endParaRPr>
          </a:p>
          <a:p>
            <a:pPr algn="ctr"/>
            <a:r>
              <a:rPr lang="en-US" sz="2400" dirty="0" smtClean="0"/>
              <a:t>SESSION </a:t>
            </a:r>
            <a:r>
              <a:rPr lang="en-US" sz="2400" dirty="0"/>
              <a:t>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2334081" y="2398611"/>
            <a:ext cx="8434003" cy="2751522"/>
          </a:xfrm>
          <a:prstGeom prst="rect">
            <a:avLst/>
          </a:prstGeom>
          <a:noFill/>
        </p:spPr>
        <p:txBody>
          <a:bodyPr wrap="square" rtlCol="0">
            <a:spAutoFit/>
          </a:bodyPr>
          <a:lstStyle/>
          <a:p>
            <a:pPr lvl="1" algn="just">
              <a:lnSpc>
                <a:spcPct val="90000"/>
              </a:lnSpc>
            </a:pPr>
            <a:r>
              <a:rPr lang="en-US" sz="2400" dirty="0">
                <a:cs typeface="Times New Roman" pitchFamily="18" charset="0"/>
              </a:rPr>
              <a:t>The ACT 1 Series of field programmable gate arrays</a:t>
            </a:r>
          </a:p>
          <a:p>
            <a:pPr lvl="1" algn="just">
              <a:lnSpc>
                <a:spcPct val="90000"/>
              </a:lnSpc>
            </a:pPr>
            <a:r>
              <a:rPr lang="en-US" sz="2400" dirty="0">
                <a:cs typeface="Times New Roman" pitchFamily="18" charset="0"/>
              </a:rPr>
              <a:t>(FPGAs) offers a variety of package, speed, and application</a:t>
            </a:r>
          </a:p>
          <a:p>
            <a:pPr lvl="1" algn="just">
              <a:lnSpc>
                <a:spcPct val="90000"/>
              </a:lnSpc>
            </a:pPr>
            <a:r>
              <a:rPr lang="en-US" sz="2400" dirty="0">
                <a:cs typeface="Times New Roman" pitchFamily="18" charset="0"/>
              </a:rPr>
              <a:t>combinations. Devices are implemented in silicon gate,</a:t>
            </a:r>
          </a:p>
          <a:p>
            <a:pPr lvl="1" algn="just">
              <a:lnSpc>
                <a:spcPct val="90000"/>
              </a:lnSpc>
            </a:pPr>
            <a:r>
              <a:rPr lang="en-US" sz="2400" dirty="0">
                <a:cs typeface="Times New Roman" pitchFamily="18" charset="0"/>
              </a:rPr>
              <a:t>1-micron two-level metal CMOS, and they employ </a:t>
            </a:r>
            <a:r>
              <a:rPr lang="en-US" sz="2400" dirty="0" err="1">
                <a:cs typeface="Times New Roman" pitchFamily="18" charset="0"/>
              </a:rPr>
              <a:t>Actel’s</a:t>
            </a:r>
            <a:endParaRPr lang="en-US" sz="2400" dirty="0">
              <a:cs typeface="Times New Roman" pitchFamily="18" charset="0"/>
            </a:endParaRPr>
          </a:p>
          <a:p>
            <a:pPr lvl="1" algn="just">
              <a:lnSpc>
                <a:spcPct val="90000"/>
              </a:lnSpc>
            </a:pPr>
            <a:r>
              <a:rPr lang="en-US" sz="2400" dirty="0">
                <a:cs typeface="Times New Roman" pitchFamily="18" charset="0"/>
              </a:rPr>
              <a:t>PLICE® </a:t>
            </a:r>
            <a:r>
              <a:rPr lang="en-US" sz="2400" dirty="0" err="1">
                <a:cs typeface="Times New Roman" pitchFamily="18" charset="0"/>
              </a:rPr>
              <a:t>antifuse</a:t>
            </a:r>
            <a:r>
              <a:rPr lang="en-US" sz="2400" dirty="0">
                <a:cs typeface="Times New Roman" pitchFamily="18" charset="0"/>
              </a:rPr>
              <a:t> technology. The unique architecture offers</a:t>
            </a:r>
          </a:p>
          <a:p>
            <a:pPr lvl="1" algn="just">
              <a:lnSpc>
                <a:spcPct val="90000"/>
              </a:lnSpc>
            </a:pPr>
            <a:r>
              <a:rPr lang="en-US" sz="2400" dirty="0">
                <a:cs typeface="Times New Roman" pitchFamily="18" charset="0"/>
              </a:rPr>
              <a:t>gate array flexibility, high performance, and instant</a:t>
            </a:r>
          </a:p>
          <a:p>
            <a:pPr lvl="1" algn="just">
              <a:lnSpc>
                <a:spcPct val="90000"/>
              </a:lnSpc>
            </a:pPr>
            <a:r>
              <a:rPr lang="en-US" sz="2400" dirty="0">
                <a:cs typeface="Times New Roman" pitchFamily="18" charset="0"/>
              </a:rPr>
              <a:t>turnaround through user programming. Device utilization is</a:t>
            </a:r>
          </a:p>
          <a:p>
            <a:pPr lvl="1" algn="just">
              <a:lnSpc>
                <a:spcPct val="90000"/>
              </a:lnSpc>
            </a:pPr>
            <a:r>
              <a:rPr lang="en-US" sz="2400" dirty="0">
                <a:cs typeface="Times New Roman" pitchFamily="18" charset="0"/>
              </a:rPr>
              <a:t>typically 95 to 100 percent of available logic modules.</a:t>
            </a:r>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52465" y="1419073"/>
            <a:ext cx="8675427" cy="4324261"/>
          </a:xfrm>
          <a:prstGeom prst="rect">
            <a:avLst/>
          </a:prstGeom>
        </p:spPr>
        <p:txBody>
          <a:bodyPr wrap="square">
            <a:spAutoFit/>
          </a:bodyPr>
          <a:lstStyle/>
          <a:p>
            <a:r>
              <a:rPr lang="en-US" sz="2500" dirty="0"/>
              <a:t>ACT 1 devices also provide system designers with unique</a:t>
            </a:r>
          </a:p>
          <a:p>
            <a:r>
              <a:rPr lang="en-US" sz="2500" dirty="0"/>
              <a:t>on-chip diagnostic probe capabilities, allowing convenient</a:t>
            </a:r>
          </a:p>
          <a:p>
            <a:r>
              <a:rPr lang="en-US" sz="2500" dirty="0"/>
              <a:t>testing and debugging. Additional features include an on-chip</a:t>
            </a:r>
          </a:p>
          <a:p>
            <a:r>
              <a:rPr lang="en-US" sz="2500" dirty="0"/>
              <a:t>clock driver with a hardwired distribution network. The</a:t>
            </a:r>
          </a:p>
          <a:p>
            <a:r>
              <a:rPr lang="en-US" sz="2500" dirty="0"/>
              <a:t>network provides efficient clock distribution with minimum</a:t>
            </a:r>
          </a:p>
          <a:p>
            <a:r>
              <a:rPr lang="en-US" sz="2500" dirty="0"/>
              <a:t>skew</a:t>
            </a:r>
            <a:r>
              <a:rPr lang="en-US" sz="2500" dirty="0" smtClean="0"/>
              <a:t>.</a:t>
            </a:r>
          </a:p>
          <a:p>
            <a:endParaRPr lang="en-US" sz="2500" dirty="0"/>
          </a:p>
          <a:p>
            <a:r>
              <a:rPr lang="en-US" sz="2500" dirty="0"/>
              <a:t>The user-definable I/</a:t>
            </a:r>
            <a:r>
              <a:rPr lang="en-US" sz="2500" dirty="0" err="1"/>
              <a:t>Os</a:t>
            </a:r>
            <a:r>
              <a:rPr lang="en-US" sz="2500" dirty="0"/>
              <a:t> are capable of driving at both TTL</a:t>
            </a:r>
          </a:p>
          <a:p>
            <a:r>
              <a:rPr lang="en-US" sz="2500" dirty="0"/>
              <a:t>and CMOS drive levels. Available packages include plastic</a:t>
            </a:r>
          </a:p>
          <a:p>
            <a:r>
              <a:rPr lang="en-US" sz="2500" dirty="0"/>
              <a:t>and ceramic J-leaded chip carriers, ceramic and plastic quad</a:t>
            </a:r>
          </a:p>
          <a:p>
            <a:r>
              <a:rPr lang="en-US" sz="2500" dirty="0" err="1"/>
              <a:t>flatpacks</a:t>
            </a:r>
            <a:r>
              <a:rPr lang="en-US" sz="2500" dirty="0"/>
              <a:t>, and ceramic pin grid array</a:t>
            </a:r>
          </a:p>
        </p:txBody>
      </p:sp>
    </p:spTree>
    <p:extLst>
      <p:ext uri="{BB962C8B-B14F-4D97-AF65-F5344CB8AC3E}">
        <p14:creationId xmlns:p14="http://schemas.microsoft.com/office/powerpoint/2010/main" val="405922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889844"/>
            <a:ext cx="8279642" cy="5078313"/>
          </a:xfrm>
          <a:prstGeom prst="rect">
            <a:avLst/>
          </a:prstGeom>
        </p:spPr>
        <p:txBody>
          <a:bodyPr wrap="square">
            <a:spAutoFit/>
          </a:bodyPr>
          <a:lstStyle/>
          <a:p>
            <a:r>
              <a:rPr lang="en-US" dirty="0">
                <a:solidFill>
                  <a:srgbClr val="FF0000"/>
                </a:solidFill>
              </a:rPr>
              <a:t>Features</a:t>
            </a:r>
          </a:p>
          <a:p>
            <a:r>
              <a:rPr lang="en-US" dirty="0"/>
              <a:t>• 5V and 3.3V Families fully compatible with JEDEC</a:t>
            </a:r>
          </a:p>
          <a:p>
            <a:r>
              <a:rPr lang="en-US" dirty="0"/>
              <a:t>specifications</a:t>
            </a:r>
          </a:p>
          <a:p>
            <a:r>
              <a:rPr lang="en-US" dirty="0"/>
              <a:t>• Up to 2000 Gate Array Gates (6000 PLD equivalent gates)</a:t>
            </a:r>
          </a:p>
          <a:p>
            <a:r>
              <a:rPr lang="en-US" dirty="0"/>
              <a:t>• Replaces up to 50 TTL Packages</a:t>
            </a:r>
          </a:p>
          <a:p>
            <a:r>
              <a:rPr lang="en-US" dirty="0"/>
              <a:t>• Replaces up to twenty 20-Pin PAL® Packages</a:t>
            </a:r>
          </a:p>
          <a:p>
            <a:r>
              <a:rPr lang="en-US" dirty="0"/>
              <a:t>• Design Library with over 250 Macro Functions</a:t>
            </a:r>
          </a:p>
          <a:p>
            <a:r>
              <a:rPr lang="en-US" dirty="0"/>
              <a:t>• Gate Array Architecture Allows Completely Automatic</a:t>
            </a:r>
          </a:p>
          <a:p>
            <a:r>
              <a:rPr lang="en-US" dirty="0"/>
              <a:t>Place and Route</a:t>
            </a:r>
          </a:p>
          <a:p>
            <a:r>
              <a:rPr lang="en-US" dirty="0"/>
              <a:t>• Up to 547 Programmable Logic Modules</a:t>
            </a:r>
          </a:p>
          <a:p>
            <a:r>
              <a:rPr lang="en-US" dirty="0"/>
              <a:t>• Up to 273 Flip-Flops</a:t>
            </a:r>
          </a:p>
          <a:p>
            <a:r>
              <a:rPr lang="en-US" dirty="0"/>
              <a:t>• Data Rates to 75 MHz</a:t>
            </a:r>
          </a:p>
          <a:p>
            <a:r>
              <a:rPr lang="en-US" dirty="0"/>
              <a:t>• Two In-Circuit Diagnostic Probe Pins Support Speed</a:t>
            </a:r>
          </a:p>
          <a:p>
            <a:r>
              <a:rPr lang="en-US" dirty="0"/>
              <a:t>Analysis to 25 MHz</a:t>
            </a:r>
          </a:p>
          <a:p>
            <a:r>
              <a:rPr lang="en-US" dirty="0"/>
              <a:t>• Built-In High Speed Clock Distribution Network</a:t>
            </a:r>
          </a:p>
          <a:p>
            <a:r>
              <a:rPr lang="en-US" dirty="0"/>
              <a:t>• I/O Drive to 10 mA (5 V), 6 mA (3.3 V)</a:t>
            </a:r>
          </a:p>
          <a:p>
            <a:r>
              <a:rPr lang="en-US" dirty="0"/>
              <a:t>• Nonvolatile, User Programmable</a:t>
            </a:r>
          </a:p>
          <a:p>
            <a:r>
              <a:rPr lang="en-US" dirty="0"/>
              <a:t>• Fabricated in 1.0 micron CMOS technology</a:t>
            </a:r>
          </a:p>
        </p:txBody>
      </p:sp>
    </p:spTree>
    <p:extLst>
      <p:ext uri="{BB962C8B-B14F-4D97-AF65-F5344CB8AC3E}">
        <p14:creationId xmlns:p14="http://schemas.microsoft.com/office/powerpoint/2010/main" val="2736214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66603" y="910566"/>
            <a:ext cx="2894005" cy="369332"/>
          </a:xfrm>
          <a:prstGeom prst="rect">
            <a:avLst/>
          </a:prstGeom>
          <a:solidFill>
            <a:srgbClr val="FF9900"/>
          </a:solidFill>
        </p:spPr>
        <p:txBody>
          <a:bodyPr wrap="square">
            <a:spAutoFit/>
          </a:bodyPr>
          <a:lstStyle/>
          <a:p>
            <a:r>
              <a:rPr lang="en-US" dirty="0"/>
              <a:t>ACT 1 Logic Module</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3261815" y="1596788"/>
            <a:ext cx="7997588" cy="4539302"/>
          </a:xfrm>
          <a:prstGeom prst="rect">
            <a:avLst/>
          </a:prstGeom>
        </p:spPr>
      </p:pic>
    </p:spTree>
    <p:extLst>
      <p:ext uri="{BB962C8B-B14F-4D97-AF65-F5344CB8AC3E}">
        <p14:creationId xmlns:p14="http://schemas.microsoft.com/office/powerpoint/2010/main" val="1904572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0501" y="423797"/>
            <a:ext cx="11591499" cy="6093976"/>
          </a:xfrm>
          <a:prstGeom prst="rect">
            <a:avLst/>
          </a:prstGeom>
        </p:spPr>
        <p:txBody>
          <a:bodyPr wrap="square">
            <a:spAutoFit/>
          </a:bodyPr>
          <a:lstStyle/>
          <a:p>
            <a:r>
              <a:rPr lang="en-US" sz="3000" b="1" dirty="0" smtClean="0">
                <a:solidFill>
                  <a:srgbClr val="FFFF00"/>
                </a:solidFill>
              </a:rPr>
              <a:t>Features</a:t>
            </a:r>
            <a:r>
              <a:rPr lang="en-US" sz="3000" dirty="0"/>
              <a:t>	</a:t>
            </a:r>
            <a:endParaRPr lang="en-US" sz="3000" dirty="0" smtClean="0"/>
          </a:p>
          <a:p>
            <a:r>
              <a:rPr lang="en-US" sz="3000" dirty="0" smtClean="0"/>
              <a:t>Logic </a:t>
            </a:r>
            <a:r>
              <a:rPr lang="en-US" sz="3000" dirty="0"/>
              <a:t>Module Inputs / </a:t>
            </a:r>
            <a:r>
              <a:rPr lang="en-US" sz="3000" dirty="0" smtClean="0"/>
              <a:t>Outputs:</a:t>
            </a:r>
            <a:r>
              <a:rPr lang="en-US" sz="3000" dirty="0"/>
              <a:t>	8 inputs, 1 output per logic module. </a:t>
            </a:r>
            <a:endParaRPr lang="en-US" sz="3000" dirty="0" smtClean="0"/>
          </a:p>
          <a:p>
            <a:r>
              <a:rPr lang="en-US" sz="3000" dirty="0" smtClean="0"/>
              <a:t>• </a:t>
            </a:r>
            <a:r>
              <a:rPr lang="en-US" sz="3000" dirty="0"/>
              <a:t>ACT 1010 = ~1,200 gates (≈ 3,000 </a:t>
            </a:r>
            <a:r>
              <a:rPr lang="en-US" sz="3000" dirty="0" smtClean="0"/>
              <a:t>PLD)</a:t>
            </a:r>
          </a:p>
          <a:p>
            <a:r>
              <a:rPr lang="en-US" sz="3000" dirty="0" smtClean="0"/>
              <a:t>• </a:t>
            </a:r>
            <a:r>
              <a:rPr lang="en-US" sz="3000" dirty="0"/>
              <a:t>ACT 1020 = ~2,000 gates (≈ 6,000 </a:t>
            </a:r>
            <a:r>
              <a:rPr lang="en-US" sz="3000" dirty="0" smtClean="0"/>
              <a:t>PLD) </a:t>
            </a:r>
          </a:p>
          <a:p>
            <a:endParaRPr lang="en-US" sz="3000" dirty="0" smtClean="0"/>
          </a:p>
          <a:p>
            <a:r>
              <a:rPr lang="en-US" sz="3000" dirty="0" err="1" smtClean="0"/>
              <a:t>Antifuses</a:t>
            </a:r>
            <a:r>
              <a:rPr lang="en-US" sz="3000" dirty="0" smtClean="0"/>
              <a:t> </a:t>
            </a:r>
            <a:r>
              <a:rPr lang="en-US" sz="3000" dirty="0"/>
              <a:t>Count	ACT 1010 has about 112,000 </a:t>
            </a:r>
            <a:r>
              <a:rPr lang="en-US" sz="3000" dirty="0" err="1"/>
              <a:t>antifuses</a:t>
            </a:r>
            <a:r>
              <a:rPr lang="en-US" sz="3000" dirty="0"/>
              <a:t>; </a:t>
            </a:r>
            <a:endParaRPr lang="en-US" sz="3000" dirty="0" smtClean="0"/>
          </a:p>
          <a:p>
            <a:r>
              <a:rPr lang="en-US" sz="3000" dirty="0" smtClean="0"/>
              <a:t>ACT </a:t>
            </a:r>
            <a:r>
              <a:rPr lang="en-US" sz="3000" dirty="0"/>
              <a:t>1020 has about 186,000 </a:t>
            </a:r>
            <a:r>
              <a:rPr lang="en-US" sz="3000" dirty="0" err="1"/>
              <a:t>antifuses</a:t>
            </a:r>
            <a:r>
              <a:rPr lang="en-US" sz="3000" dirty="0"/>
              <a:t>. </a:t>
            </a:r>
            <a:endParaRPr lang="en-US" sz="3000" dirty="0" smtClean="0"/>
          </a:p>
          <a:p>
            <a:endParaRPr lang="en-US" sz="3000" dirty="0" smtClean="0"/>
          </a:p>
          <a:p>
            <a:r>
              <a:rPr lang="en-US" sz="3000" dirty="0" smtClean="0"/>
              <a:t>I/O </a:t>
            </a:r>
            <a:r>
              <a:rPr lang="en-US" sz="3000" dirty="0"/>
              <a:t>Pins / I/O Buffer Features	• I/O pins are programmable: input, output, </a:t>
            </a:r>
            <a:r>
              <a:rPr lang="en-US" sz="3000" dirty="0" smtClean="0"/>
              <a:t>three-state</a:t>
            </a:r>
            <a:endParaRPr lang="en-US" sz="3000" dirty="0"/>
          </a:p>
          <a:p>
            <a:endParaRPr lang="en-US" sz="3000" dirty="0" smtClean="0"/>
          </a:p>
          <a:p>
            <a:r>
              <a:rPr lang="en-US" sz="3000" dirty="0" smtClean="0"/>
              <a:t>Performance </a:t>
            </a:r>
            <a:r>
              <a:rPr lang="en-US" sz="3000" dirty="0"/>
              <a:t>/ Speed	• System level performance: up to ~40 MHz for some applications (depending on part / temperature / supply etc</a:t>
            </a:r>
            <a:r>
              <a:rPr lang="en-US" sz="3000" dirty="0" smtClean="0"/>
              <a:t>.)</a:t>
            </a:r>
            <a:endParaRPr lang="en-US" sz="3000" dirty="0"/>
          </a:p>
        </p:txBody>
      </p:sp>
    </p:spTree>
    <p:extLst>
      <p:ext uri="{BB962C8B-B14F-4D97-AF65-F5344CB8AC3E}">
        <p14:creationId xmlns:p14="http://schemas.microsoft.com/office/powerpoint/2010/main" val="3997001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Effect>
                      <a14:brightnessContrast contrast="-20000"/>
                    </a14:imgEffect>
                  </a14:imgLayer>
                </a14:imgProps>
              </a:ext>
            </a:extLst>
          </a:blip>
          <a:stretch>
            <a:fillRect/>
          </a:stretch>
        </p:blipFill>
        <p:spPr>
          <a:xfrm>
            <a:off x="2681287" y="1509712"/>
            <a:ext cx="8482582" cy="4590837"/>
          </a:xfrm>
          <a:prstGeom prst="rect">
            <a:avLst/>
          </a:prstGeom>
        </p:spPr>
      </p:pic>
      <p:sp>
        <p:nvSpPr>
          <p:cNvPr id="3" name="Rectangle 2"/>
          <p:cNvSpPr/>
          <p:nvPr/>
        </p:nvSpPr>
        <p:spPr>
          <a:xfrm>
            <a:off x="4804914" y="705851"/>
            <a:ext cx="3100785" cy="369332"/>
          </a:xfrm>
          <a:prstGeom prst="rect">
            <a:avLst/>
          </a:prstGeom>
          <a:solidFill>
            <a:srgbClr val="FFFF00"/>
          </a:solidFill>
        </p:spPr>
        <p:txBody>
          <a:bodyPr wrap="none">
            <a:spAutoFit/>
          </a:bodyPr>
          <a:lstStyle/>
          <a:p>
            <a:r>
              <a:rPr lang="en-US" dirty="0"/>
              <a:t>Partial View of an ACT 1 Device</a:t>
            </a:r>
          </a:p>
        </p:txBody>
      </p:sp>
    </p:spTree>
    <p:extLst>
      <p:ext uri="{BB962C8B-B14F-4D97-AF65-F5344CB8AC3E}">
        <p14:creationId xmlns:p14="http://schemas.microsoft.com/office/powerpoint/2010/main" val="4044026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77859" y="664907"/>
            <a:ext cx="1380186" cy="369332"/>
          </a:xfrm>
          <a:prstGeom prst="rect">
            <a:avLst/>
          </a:prstGeom>
        </p:spPr>
        <p:txBody>
          <a:bodyPr wrap="none">
            <a:spAutoFit/>
          </a:bodyPr>
          <a:lstStyle/>
          <a:p>
            <a:r>
              <a:rPr lang="en-US" dirty="0"/>
              <a:t>ACT 3 Family</a:t>
            </a:r>
          </a:p>
        </p:txBody>
      </p:sp>
      <p:sp>
        <p:nvSpPr>
          <p:cNvPr id="3" name="Rectangle 2"/>
          <p:cNvSpPr/>
          <p:nvPr/>
        </p:nvSpPr>
        <p:spPr>
          <a:xfrm>
            <a:off x="3047999" y="2136339"/>
            <a:ext cx="7187821" cy="2585323"/>
          </a:xfrm>
          <a:prstGeom prst="rect">
            <a:avLst/>
          </a:prstGeom>
        </p:spPr>
        <p:txBody>
          <a:bodyPr wrap="square">
            <a:spAutoFit/>
          </a:bodyPr>
          <a:lstStyle/>
          <a:p>
            <a:r>
              <a:rPr lang="en-US" dirty="0">
                <a:solidFill>
                  <a:srgbClr val="FF0000"/>
                </a:solidFill>
              </a:rPr>
              <a:t>Features</a:t>
            </a:r>
          </a:p>
          <a:p>
            <a:r>
              <a:rPr lang="en-US" dirty="0"/>
              <a:t>• Up to 10,000 Gate Array Equivalent Gates (up to 25,000</a:t>
            </a:r>
          </a:p>
          <a:p>
            <a:r>
              <a:rPr lang="en-US" dirty="0"/>
              <a:t>equivalent PLD Gates)</a:t>
            </a:r>
          </a:p>
          <a:p>
            <a:r>
              <a:rPr lang="en-US" dirty="0"/>
              <a:t>• Highly Predictable Performance with 100% Automatic Place-</a:t>
            </a:r>
          </a:p>
          <a:p>
            <a:r>
              <a:rPr lang="en-US" dirty="0"/>
              <a:t>and-Route</a:t>
            </a:r>
          </a:p>
          <a:p>
            <a:r>
              <a:rPr lang="en-US" dirty="0"/>
              <a:t>• As Low as 9.0 ns Clock-to-Output Times (–1 Speed Grade)</a:t>
            </a:r>
          </a:p>
          <a:p>
            <a:r>
              <a:rPr lang="en-US" dirty="0"/>
              <a:t>• Up to 186 MHz On-Chip Performance (–1 Speed Grade)</a:t>
            </a:r>
          </a:p>
          <a:p>
            <a:r>
              <a:rPr lang="en-US" dirty="0"/>
              <a:t>• Up to 228 User-Programmable I/O Pins</a:t>
            </a:r>
          </a:p>
          <a:p>
            <a:r>
              <a:rPr lang="en-US" dirty="0"/>
              <a:t>• Four Fast, Low-Skew Clock Networks</a:t>
            </a:r>
          </a:p>
        </p:txBody>
      </p:sp>
    </p:spTree>
    <p:extLst>
      <p:ext uri="{BB962C8B-B14F-4D97-AF65-F5344CB8AC3E}">
        <p14:creationId xmlns:p14="http://schemas.microsoft.com/office/powerpoint/2010/main" val="2942958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392250" y="1210527"/>
            <a:ext cx="8208347" cy="5010150"/>
          </a:xfrm>
          <a:prstGeom prst="rect">
            <a:avLst/>
          </a:prstGeom>
        </p:spPr>
      </p:pic>
      <p:sp>
        <p:nvSpPr>
          <p:cNvPr id="3" name="Rectangle 2"/>
          <p:cNvSpPr/>
          <p:nvPr/>
        </p:nvSpPr>
        <p:spPr>
          <a:xfrm>
            <a:off x="3099151" y="446543"/>
            <a:ext cx="3807068" cy="369332"/>
          </a:xfrm>
          <a:prstGeom prst="rect">
            <a:avLst/>
          </a:prstGeom>
        </p:spPr>
        <p:txBody>
          <a:bodyPr wrap="none">
            <a:spAutoFit/>
          </a:bodyPr>
          <a:lstStyle/>
          <a:p>
            <a:r>
              <a:rPr lang="en-US" dirty="0"/>
              <a:t>Generalized Floor Plan of ACT 3 Device</a:t>
            </a:r>
          </a:p>
        </p:txBody>
      </p:sp>
    </p:spTree>
    <p:extLst>
      <p:ext uri="{BB962C8B-B14F-4D97-AF65-F5344CB8AC3E}">
        <p14:creationId xmlns:p14="http://schemas.microsoft.com/office/powerpoint/2010/main" val="2931031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22778" y="2136372"/>
            <a:ext cx="3162300" cy="3076575"/>
          </a:xfrm>
          <a:prstGeom prst="rect">
            <a:avLst/>
          </a:prstGeom>
        </p:spPr>
      </p:pic>
      <p:pic>
        <p:nvPicPr>
          <p:cNvPr id="3" name="Picture 2"/>
          <p:cNvPicPr>
            <a:picLocks noChangeAspect="1"/>
          </p:cNvPicPr>
          <p:nvPr/>
        </p:nvPicPr>
        <p:blipFill>
          <a:blip r:embed="rId3"/>
          <a:stretch>
            <a:fillRect/>
          </a:stretch>
        </p:blipFill>
        <p:spPr>
          <a:xfrm>
            <a:off x="6701049" y="2088747"/>
            <a:ext cx="5131559" cy="3124200"/>
          </a:xfrm>
          <a:prstGeom prst="rect">
            <a:avLst/>
          </a:prstGeom>
        </p:spPr>
      </p:pic>
      <p:sp>
        <p:nvSpPr>
          <p:cNvPr id="4" name="Rectangle 3"/>
          <p:cNvSpPr/>
          <p:nvPr/>
        </p:nvSpPr>
        <p:spPr>
          <a:xfrm>
            <a:off x="4043810" y="5496215"/>
            <a:ext cx="1948034" cy="369332"/>
          </a:xfrm>
          <a:prstGeom prst="rect">
            <a:avLst/>
          </a:prstGeom>
        </p:spPr>
        <p:txBody>
          <a:bodyPr wrap="none">
            <a:spAutoFit/>
          </a:bodyPr>
          <a:lstStyle/>
          <a:p>
            <a:r>
              <a:rPr lang="en-US" dirty="0"/>
              <a:t>C-Module Diagram</a:t>
            </a:r>
          </a:p>
        </p:txBody>
      </p:sp>
      <p:sp>
        <p:nvSpPr>
          <p:cNvPr id="5" name="Rectangle 4"/>
          <p:cNvSpPr/>
          <p:nvPr/>
        </p:nvSpPr>
        <p:spPr>
          <a:xfrm>
            <a:off x="8301628" y="5496215"/>
            <a:ext cx="1930400" cy="369332"/>
          </a:xfrm>
          <a:prstGeom prst="rect">
            <a:avLst/>
          </a:prstGeom>
        </p:spPr>
        <p:txBody>
          <a:bodyPr wrap="none">
            <a:spAutoFit/>
          </a:bodyPr>
          <a:lstStyle/>
          <a:p>
            <a:r>
              <a:rPr lang="en-US" dirty="0"/>
              <a:t>S-Module Diagram</a:t>
            </a:r>
          </a:p>
        </p:txBody>
      </p:sp>
    </p:spTree>
    <p:extLst>
      <p:ext uri="{BB962C8B-B14F-4D97-AF65-F5344CB8AC3E}">
        <p14:creationId xmlns:p14="http://schemas.microsoft.com/office/powerpoint/2010/main" val="2857515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20872" y="842962"/>
            <a:ext cx="7806519" cy="5172075"/>
          </a:xfrm>
          <a:prstGeom prst="rect">
            <a:avLst/>
          </a:prstGeom>
        </p:spPr>
      </p:pic>
      <p:sp>
        <p:nvSpPr>
          <p:cNvPr id="3" name="Rectangle 2"/>
          <p:cNvSpPr/>
          <p:nvPr/>
        </p:nvSpPr>
        <p:spPr>
          <a:xfrm>
            <a:off x="4882410" y="6205898"/>
            <a:ext cx="3464410" cy="369332"/>
          </a:xfrm>
          <a:prstGeom prst="rect">
            <a:avLst/>
          </a:prstGeom>
        </p:spPr>
        <p:txBody>
          <a:bodyPr wrap="none">
            <a:spAutoFit/>
          </a:bodyPr>
          <a:lstStyle/>
          <a:p>
            <a:r>
              <a:rPr lang="pt-BR" dirty="0"/>
              <a:t>Functional Diagram for I/O Module</a:t>
            </a:r>
            <a:endParaRPr lang="en-US" dirty="0"/>
          </a:p>
        </p:txBody>
      </p:sp>
    </p:spTree>
    <p:extLst>
      <p:ext uri="{BB962C8B-B14F-4D97-AF65-F5344CB8AC3E}">
        <p14:creationId xmlns:p14="http://schemas.microsoft.com/office/powerpoint/2010/main" val="1392305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548194" y="2466512"/>
            <a:ext cx="10066051" cy="3877985"/>
          </a:xfrm>
          <a:prstGeom prst="rect">
            <a:avLst/>
          </a:prstGeom>
          <a:noFill/>
        </p:spPr>
        <p:txBody>
          <a:bodyPr wrap="square" rtlCol="0">
            <a:spAutoFit/>
          </a:bodyPr>
          <a:lstStyle/>
          <a:p>
            <a:r>
              <a:rPr lang="en-US" sz="2200" b="1" dirty="0"/>
              <a:t>ACT-1 Architecture</a:t>
            </a:r>
            <a:r>
              <a:rPr lang="en-US" sz="2200" dirty="0"/>
              <a:t>: ACT-1 was one of </a:t>
            </a:r>
            <a:r>
              <a:rPr lang="en-US" sz="2200" dirty="0" err="1"/>
              <a:t>Actel's</a:t>
            </a:r>
            <a:r>
              <a:rPr lang="en-US" sz="2200" dirty="0"/>
              <a:t> earlier FPGA architectures. It provided basic programmable logic elements and I/O blocks. While it had limited capabilities compared to modern FPGAs, it was instrumental in enabling configurable logic for various applications.</a:t>
            </a:r>
          </a:p>
          <a:p>
            <a:r>
              <a:rPr lang="en-US" sz="2200" b="1" dirty="0"/>
              <a:t>ACT-2 Architecture</a:t>
            </a:r>
            <a:r>
              <a:rPr lang="en-US" sz="2200" dirty="0"/>
              <a:t>: ACT-2 represented an advancement over ACT-1 with improved logic capacity, routing, and I/O capabilities. It was used in a wide range of applications, including telecommunications, aerospace, and industrial control systems.</a:t>
            </a:r>
          </a:p>
          <a:p>
            <a:r>
              <a:rPr lang="en-US" sz="2200" b="1" dirty="0"/>
              <a:t>ACT-3 Architecture</a:t>
            </a:r>
            <a:r>
              <a:rPr lang="en-US" sz="2200" dirty="0"/>
              <a:t>: ACT-3 was the next evolution in </a:t>
            </a:r>
            <a:r>
              <a:rPr lang="en-US" sz="2200" dirty="0" err="1"/>
              <a:t>Actel's</a:t>
            </a:r>
            <a:r>
              <a:rPr lang="en-US" sz="2200" dirty="0"/>
              <a:t> FPGA architectures, offering even greater capacity, speed, and functionality. It was suitable for more complex designs and high-performance applications.</a:t>
            </a:r>
          </a:p>
          <a:p>
            <a:pPr marL="457200" indent="-457200" algn="just">
              <a:buFont typeface="Arial" panose="020B0604020202020204" pitchFamily="34" charset="0"/>
              <a:buChar char="•"/>
            </a:pPr>
            <a:endParaRPr lang="en-US" sz="2600" dirty="0"/>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2443996" y="2091850"/>
            <a:ext cx="9608234" cy="923330"/>
          </a:xfrm>
          <a:prstGeom prst="rect">
            <a:avLst/>
          </a:prstGeom>
          <a:noFill/>
        </p:spPr>
        <p:txBody>
          <a:bodyPr wrap="square" rtlCol="0">
            <a:spAutoFit/>
          </a:bodyPr>
          <a:lstStyle/>
          <a:p>
            <a:pPr marL="342900" lvl="0" indent="-342900" algn="just">
              <a:lnSpc>
                <a:spcPct val="150000"/>
              </a:lnSpc>
              <a:buFont typeface="+mj-lt"/>
              <a:buAutoNum type="arabicPeriod"/>
            </a:pPr>
            <a:r>
              <a:rPr lang="en-US" dirty="0" smtClean="0"/>
              <a:t>Explain the </a:t>
            </a:r>
            <a:r>
              <a:rPr lang="en-US" dirty="0"/>
              <a:t>key improvement in ACT-2 architecture compared to ACT-1</a:t>
            </a:r>
            <a:r>
              <a:rPr lang="en-US" dirty="0" smtClean="0"/>
              <a:t>?</a:t>
            </a:r>
          </a:p>
          <a:p>
            <a:pPr marL="342900" lvl="0" indent="-342900" algn="just">
              <a:lnSpc>
                <a:spcPct val="150000"/>
              </a:lnSpc>
              <a:buFont typeface="+mj-lt"/>
              <a:buAutoNum type="arabicPeriod"/>
            </a:pPr>
            <a:r>
              <a:rPr lang="en-US" dirty="0" smtClean="0"/>
              <a:t>Describe the </a:t>
            </a:r>
            <a:r>
              <a:rPr lang="en-US" dirty="0"/>
              <a:t>ACT FPGA architecture had the highest logic capacity and performance?</a:t>
            </a: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76" name="Google Shape;476;p16"/>
          <p:cNvSpPr txBox="1"/>
          <p:nvPr/>
        </p:nvSpPr>
        <p:spPr>
          <a:xfrm>
            <a:off x="5394455" y="1933408"/>
            <a:ext cx="6902548" cy="1200288"/>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IN" sz="3200" b="1" dirty="0">
                <a:solidFill>
                  <a:srgbClr val="CF2F33"/>
                </a:solidFill>
              </a:rPr>
              <a:t>Xilinx – XC3000</a:t>
            </a:r>
            <a:endParaRPr lang="en-US" sz="3200" b="1" dirty="0">
              <a:solidFill>
                <a:srgbClr val="CF2F33"/>
              </a:solidFill>
              <a:effectLst/>
              <a:cs typeface="Poppins" panose="00000500000000000000" pitchFamily="2" charset="0"/>
            </a:endParaRPr>
          </a:p>
        </p:txBody>
      </p:sp>
      <p:sp>
        <p:nvSpPr>
          <p:cNvPr id="33" name="Rectangle 32">
            <a:extLst>
              <a:ext uri="{FF2B5EF4-FFF2-40B4-BE49-F238E27FC236}">
                <a16:creationId xmlns=""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3"/>
          <a:srcRect/>
          <a:stretch>
            <a:fillRect/>
          </a:stretch>
        </p:blipFill>
        <p:spPr bwMode="auto">
          <a:xfrm>
            <a:off x="222703" y="81945"/>
            <a:ext cx="2509863" cy="1061599"/>
          </a:xfrm>
          <a:prstGeom prst="rect">
            <a:avLst/>
          </a:prstGeom>
          <a:noFill/>
        </p:spPr>
      </p:pic>
      <p:pic>
        <p:nvPicPr>
          <p:cNvPr id="11" name="Google Shape;464;p16"/>
          <p:cNvPicPr preferRelativeResize="0"/>
          <p:nvPr/>
        </p:nvPicPr>
        <p:blipFill>
          <a:blip r:embed="rId4">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Tree>
    <p:extLst>
      <p:ext uri="{BB962C8B-B14F-4D97-AF65-F5344CB8AC3E}">
        <p14:creationId xmlns:p14="http://schemas.microsoft.com/office/powerpoint/2010/main" val="1985636209"/>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696350" y="1334086"/>
            <a:ext cx="11413588" cy="5509200"/>
          </a:xfrm>
          <a:prstGeom prst="rect">
            <a:avLst/>
          </a:prstGeom>
          <a:noFill/>
        </p:spPr>
        <p:txBody>
          <a:bodyPr wrap="square" rtlCol="0">
            <a:spAutoFit/>
          </a:bodyPr>
          <a:lstStyle/>
          <a:p>
            <a:pPr lvl="1" algn="just">
              <a:lnSpc>
                <a:spcPct val="90000"/>
              </a:lnSpc>
              <a:buFontTx/>
              <a:buChar char="•"/>
            </a:pPr>
            <a:r>
              <a:rPr lang="en-US" sz="2600" dirty="0"/>
              <a:t>The Xilinx XC3000 series, specifically known as the XC3000A, was a family of Field-Programmable Gate Arrays (FPGAs) developed by Xilinx. These FPGAs were introduced in the late 1980s and early 1990s and played a significant role in the early development and popularization of FPGA technology</a:t>
            </a:r>
            <a:r>
              <a:rPr lang="en-US" sz="2600" dirty="0" smtClean="0"/>
              <a:t>.</a:t>
            </a:r>
          </a:p>
          <a:p>
            <a:pPr lvl="1" algn="just">
              <a:lnSpc>
                <a:spcPct val="90000"/>
              </a:lnSpc>
              <a:buFontTx/>
              <a:buChar char="•"/>
            </a:pPr>
            <a:endParaRPr lang="en-US" sz="2600" dirty="0" smtClean="0"/>
          </a:p>
          <a:p>
            <a:r>
              <a:rPr lang="en-US" sz="2600" dirty="0" smtClean="0"/>
              <a:t>The </a:t>
            </a:r>
            <a:r>
              <a:rPr lang="en-US" sz="2600" dirty="0"/>
              <a:t>XC3000 series was one of the pioneering families of FPGAs, and it contributed to the growth and acceptance of FPGA technology in the electronics industry.</a:t>
            </a:r>
          </a:p>
          <a:p>
            <a:r>
              <a:rPr lang="en-US" sz="2600" dirty="0" smtClean="0"/>
              <a:t>These </a:t>
            </a:r>
            <a:r>
              <a:rPr lang="en-US" sz="2600" dirty="0"/>
              <a:t>FPGAs were known for their </a:t>
            </a:r>
            <a:r>
              <a:rPr lang="en-US" sz="2600" dirty="0" smtClean="0"/>
              <a:t>re configurability</a:t>
            </a:r>
            <a:r>
              <a:rPr lang="en-US" sz="2600" dirty="0"/>
              <a:t>, allowing users to implement custom digital logic functions by configuring the internal programmable logic cells and interconnections</a:t>
            </a:r>
            <a:r>
              <a:rPr lang="en-US" sz="2600" dirty="0" smtClean="0"/>
              <a:t>.</a:t>
            </a:r>
          </a:p>
          <a:p>
            <a:endParaRPr lang="en-US" sz="2600" dirty="0"/>
          </a:p>
          <a:p>
            <a:r>
              <a:rPr lang="en-US" sz="2600" dirty="0" smtClean="0"/>
              <a:t>The </a:t>
            </a:r>
            <a:r>
              <a:rPr lang="en-US" sz="2600" dirty="0"/>
              <a:t>XC3000 series offered a range of logic densities, making them suitable for a variety of applications, from small-scale to medium-scale designs.</a:t>
            </a:r>
          </a:p>
          <a:p>
            <a:pPr lvl="1" algn="just">
              <a:lnSpc>
                <a:spcPct val="90000"/>
              </a:lnSpc>
              <a:buFontTx/>
              <a:buChar char="•"/>
            </a:pPr>
            <a:endParaRPr lang="en-US" sz="3000" dirty="0">
              <a:cs typeface="Times New Roman" pitchFamily="18" charset="0"/>
            </a:endParaRPr>
          </a:p>
        </p:txBody>
      </p:sp>
    </p:spTree>
    <p:extLst>
      <p:ext uri="{BB962C8B-B14F-4D97-AF65-F5344CB8AC3E}">
        <p14:creationId xmlns:p14="http://schemas.microsoft.com/office/powerpoint/2010/main" val="12899998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1981200" y="228600"/>
            <a:ext cx="8686800" cy="971550"/>
          </a:xfrm>
          <a:prstGeom prst="rect">
            <a:avLst/>
          </a:prstGeom>
        </p:spPr>
        <p:txBody>
          <a:bodyPr/>
          <a:lstStyle/>
          <a:p>
            <a:pPr algn="l" eaLnBrk="1" hangingPunct="1"/>
            <a:r>
              <a:rPr lang="en-US" sz="4000" b="1" dirty="0"/>
              <a:t>FPGA Routing Architecture</a:t>
            </a:r>
          </a:p>
        </p:txBody>
      </p:sp>
      <p:pic>
        <p:nvPicPr>
          <p:cNvPr id="6" name="Picture 5"/>
          <p:cNvPicPr>
            <a:picLocks noChangeAspect="1"/>
          </p:cNvPicPr>
          <p:nvPr/>
        </p:nvPicPr>
        <p:blipFill>
          <a:blip r:embed="rId2"/>
          <a:stretch>
            <a:fillRect/>
          </a:stretch>
        </p:blipFill>
        <p:spPr>
          <a:xfrm>
            <a:off x="3294186" y="2525589"/>
            <a:ext cx="7584831" cy="3312503"/>
          </a:xfrm>
          <a:prstGeom prst="rect">
            <a:avLst/>
          </a:prstGeom>
        </p:spPr>
      </p:pic>
      <p:sp>
        <p:nvSpPr>
          <p:cNvPr id="7" name="Rectangle 6"/>
          <p:cNvSpPr/>
          <p:nvPr/>
        </p:nvSpPr>
        <p:spPr>
          <a:xfrm>
            <a:off x="3212123" y="1072959"/>
            <a:ext cx="8182708" cy="646331"/>
          </a:xfrm>
          <a:prstGeom prst="rect">
            <a:avLst/>
          </a:prstGeom>
        </p:spPr>
        <p:txBody>
          <a:bodyPr wrap="square">
            <a:spAutoFit/>
          </a:bodyPr>
          <a:lstStyle/>
          <a:p>
            <a:r>
              <a:rPr lang="en-US" dirty="0">
                <a:solidFill>
                  <a:srgbClr val="374151"/>
                </a:solidFill>
                <a:latin typeface="Söhne"/>
              </a:rPr>
              <a:t>These FPGAs provided flexibility in terms of input and output (I/O) configurations, making them adaptable to different interface requirements.</a:t>
            </a:r>
            <a:endParaRPr lang="en-US" dirty="0"/>
          </a:p>
        </p:txBody>
      </p:sp>
    </p:spTree>
    <p:extLst>
      <p:ext uri="{BB962C8B-B14F-4D97-AF65-F5344CB8AC3E}">
        <p14:creationId xmlns:p14="http://schemas.microsoft.com/office/powerpoint/2010/main" val="2863823983"/>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82639" y="2435579"/>
            <a:ext cx="11013743" cy="4247317"/>
          </a:xfrm>
          <a:prstGeom prst="rect">
            <a:avLst/>
          </a:prstGeom>
        </p:spPr>
        <p:txBody>
          <a:bodyPr wrap="square">
            <a:spAutoFit/>
          </a:bodyPr>
          <a:lstStyle/>
          <a:p>
            <a:pPr marL="285750" indent="-285750">
              <a:buFont typeface="Wingdings" panose="05000000000000000000" pitchFamily="2" charset="2"/>
              <a:buChar char="§"/>
            </a:pPr>
            <a:r>
              <a:rPr lang="en-US" dirty="0"/>
              <a:t>XC3000 Family The basic XC3000 family forms the cornerstone for the rest of the XC3000 class of devices. The basic XC3000 family offers five different device densities with guaranteed toggle rates from 70 to 125 </a:t>
            </a:r>
            <a:r>
              <a:rPr lang="en-US" dirty="0" err="1"/>
              <a:t>MHz.</a:t>
            </a:r>
            <a:r>
              <a:rPr lang="en-US" dirty="0"/>
              <a:t> XC3000A Family </a:t>
            </a:r>
            <a:endParaRPr lang="en-US" dirty="0" smtClean="0"/>
          </a:p>
          <a:p>
            <a:pPr marL="285750" indent="-285750">
              <a:buFont typeface="Wingdings" panose="05000000000000000000" pitchFamily="2" charset="2"/>
              <a:buChar char="§"/>
            </a:pPr>
            <a:r>
              <a:rPr lang="en-US" dirty="0" smtClean="0"/>
              <a:t>The </a:t>
            </a:r>
            <a:r>
              <a:rPr lang="en-US" dirty="0"/>
              <a:t>XC3000A is an enhanced version of the basic XC3000 family, featuring additional interconnect resources and other user-friendly enhancements. The ease-of-use of the XC3000A family makes it the obvious choice for all new designs that do not require the speed of the XC3100 or the 3-V operation of the XC3000L. </a:t>
            </a:r>
            <a:endParaRPr lang="en-US" dirty="0" smtClean="0"/>
          </a:p>
          <a:p>
            <a:pPr marL="285750" indent="-285750">
              <a:buFont typeface="Wingdings" panose="05000000000000000000" pitchFamily="2" charset="2"/>
              <a:buChar char="§"/>
            </a:pPr>
            <a:r>
              <a:rPr lang="en-US" dirty="0" smtClean="0"/>
              <a:t>XC3000L </a:t>
            </a:r>
            <a:r>
              <a:rPr lang="en-US" dirty="0"/>
              <a:t>Family The XC3000L is identical in architecture and features to the XC3000A family, but operates at a nominal supply voltage of 3.3 V. </a:t>
            </a:r>
            <a:endParaRPr lang="en-US" dirty="0" smtClean="0"/>
          </a:p>
          <a:p>
            <a:pPr marL="285750" indent="-285750">
              <a:buFont typeface="Wingdings" panose="05000000000000000000" pitchFamily="2" charset="2"/>
              <a:buChar char="§"/>
            </a:pPr>
            <a:r>
              <a:rPr lang="en-US" dirty="0" smtClean="0"/>
              <a:t>The </a:t>
            </a:r>
            <a:r>
              <a:rPr lang="en-US" dirty="0"/>
              <a:t>XC3000L is the right solution for battery-operated and low-power applications. XC3100 Family The XC3100 is a performance-optimized relative of the basic XC3000 family. While both families are </a:t>
            </a:r>
            <a:r>
              <a:rPr lang="en-US" dirty="0" err="1"/>
              <a:t>bitstream</a:t>
            </a:r>
            <a:r>
              <a:rPr lang="en-US" dirty="0"/>
              <a:t> and footprint compatible, the XC3100 family extends toggle rates to 270 MHz and in-system performance to 80 </a:t>
            </a:r>
            <a:r>
              <a:rPr lang="en-US" dirty="0" err="1"/>
              <a:t>MHz.</a:t>
            </a:r>
            <a:r>
              <a:rPr lang="en-US" dirty="0"/>
              <a:t> </a:t>
            </a:r>
            <a:endParaRPr lang="en-US" dirty="0" smtClean="0"/>
          </a:p>
          <a:p>
            <a:pPr marL="285750" indent="-285750">
              <a:buFont typeface="Wingdings" panose="05000000000000000000" pitchFamily="2" charset="2"/>
              <a:buChar char="§"/>
            </a:pPr>
            <a:r>
              <a:rPr lang="en-US" dirty="0" smtClean="0"/>
              <a:t>The </a:t>
            </a:r>
            <a:r>
              <a:rPr lang="en-US" dirty="0"/>
              <a:t>XC3100 family also offers one additional array size, the XC3195. The XC3100 is best suited for designs that require the highest clock speed or the shortest net delays. XC3100A Family The XC3100A combines the enhanced feature set of the XC3000A with the performance of the XC3100. It offers the highest functionality, speed and capacity of all XC3000 families.</a:t>
            </a:r>
          </a:p>
        </p:txBody>
      </p:sp>
      <p:sp>
        <p:nvSpPr>
          <p:cNvPr id="3" name="Rectangle 2"/>
          <p:cNvSpPr/>
          <p:nvPr/>
        </p:nvSpPr>
        <p:spPr>
          <a:xfrm>
            <a:off x="3576226" y="1074339"/>
            <a:ext cx="4039223" cy="369332"/>
          </a:xfrm>
          <a:prstGeom prst="rect">
            <a:avLst/>
          </a:prstGeom>
        </p:spPr>
        <p:txBody>
          <a:bodyPr wrap="square">
            <a:spAutoFit/>
          </a:bodyPr>
          <a:lstStyle/>
          <a:p>
            <a:r>
              <a:rPr lang="en-US" b="1" dirty="0"/>
              <a:t>XC30</a:t>
            </a:r>
            <a:r>
              <a:rPr lang="en-US" b="1" u="sng" dirty="0"/>
              <a:t>00</a:t>
            </a:r>
            <a:r>
              <a:rPr lang="en-US" b="1" dirty="0"/>
              <a:t> Family </a:t>
            </a:r>
          </a:p>
        </p:txBody>
      </p:sp>
    </p:spTree>
    <p:extLst>
      <p:ext uri="{BB962C8B-B14F-4D97-AF65-F5344CB8AC3E}">
        <p14:creationId xmlns:p14="http://schemas.microsoft.com/office/powerpoint/2010/main" val="1357548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Lst>
          </a:blip>
          <a:stretch>
            <a:fillRect/>
          </a:stretch>
        </p:blipFill>
        <p:spPr>
          <a:xfrm>
            <a:off x="3121964" y="2203939"/>
            <a:ext cx="6795759" cy="3882962"/>
          </a:xfrm>
          <a:prstGeom prst="rect">
            <a:avLst/>
          </a:prstGeom>
          <a:noFill/>
        </p:spPr>
      </p:pic>
      <p:sp>
        <p:nvSpPr>
          <p:cNvPr id="4" name="Rectangle 3"/>
          <p:cNvSpPr/>
          <p:nvPr/>
        </p:nvSpPr>
        <p:spPr>
          <a:xfrm>
            <a:off x="3121964" y="890006"/>
            <a:ext cx="8671451" cy="923330"/>
          </a:xfrm>
          <a:prstGeom prst="rect">
            <a:avLst/>
          </a:prstGeom>
        </p:spPr>
        <p:txBody>
          <a:bodyPr wrap="square">
            <a:spAutoFit/>
          </a:bodyPr>
          <a:lstStyle/>
          <a:p>
            <a:r>
              <a:rPr lang="en-US" dirty="0">
                <a:solidFill>
                  <a:srgbClr val="374151"/>
                </a:solidFill>
                <a:latin typeface="Söhne"/>
              </a:rPr>
              <a:t>It's important to note that the XC3000 series is now considered obsolete, and Xilinx has long since moved on to newer generations of FPGA families with increased capabilities, higher performance, and more advanced features.</a:t>
            </a:r>
            <a:endParaRPr lang="en-US" dirty="0"/>
          </a:p>
        </p:txBody>
      </p:sp>
    </p:spTree>
    <p:extLst>
      <p:ext uri="{BB962C8B-B14F-4D97-AF65-F5344CB8AC3E}">
        <p14:creationId xmlns:p14="http://schemas.microsoft.com/office/powerpoint/2010/main" val="215741972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3"/>
          <p:cNvSpPr>
            <a:spLocks noGrp="1" noChangeArrowheads="1"/>
          </p:cNvSpPr>
          <p:nvPr>
            <p:ph type="body" sz="half" idx="1"/>
          </p:nvPr>
        </p:nvSpPr>
        <p:spPr>
          <a:xfrm>
            <a:off x="1981200" y="1300163"/>
            <a:ext cx="9038492" cy="2381250"/>
          </a:xfrm>
        </p:spPr>
        <p:txBody>
          <a:bodyPr/>
          <a:lstStyle/>
          <a:p>
            <a:r>
              <a:rPr lang="en-US" sz="2400" dirty="0"/>
              <a:t>The XC3000 series marked an important milestone in the history of FPGA technology, serving as a precursor to more advanced FPGA families like the </a:t>
            </a:r>
            <a:r>
              <a:rPr lang="en-US" sz="2400" dirty="0" err="1"/>
              <a:t>Virtex</a:t>
            </a:r>
            <a:r>
              <a:rPr lang="en-US" sz="2400" dirty="0"/>
              <a:t>, Spartan, and </a:t>
            </a:r>
            <a:r>
              <a:rPr lang="en-US" sz="2400" dirty="0" err="1"/>
              <a:t>Zynq</a:t>
            </a:r>
            <a:r>
              <a:rPr lang="en-US" sz="2400" dirty="0"/>
              <a:t> series.</a:t>
            </a:r>
            <a:endParaRPr lang="en-US" sz="2200" dirty="0"/>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20000"/>
                    </a14:imgEffect>
                  </a14:imgLayer>
                </a14:imgProps>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73861915"/>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3182509" y="2232534"/>
            <a:ext cx="7602722" cy="3722790"/>
          </a:xfrm>
          <a:prstGeom prst="rect">
            <a:avLst/>
          </a:prstGeom>
        </p:spPr>
      </p:pic>
      <p:sp>
        <p:nvSpPr>
          <p:cNvPr id="11" name="Rectangle 3"/>
          <p:cNvSpPr>
            <a:spLocks noChangeArrowheads="1"/>
          </p:cNvSpPr>
          <p:nvPr/>
        </p:nvSpPr>
        <p:spPr bwMode="auto">
          <a:xfrm>
            <a:off x="3352800" y="498049"/>
            <a:ext cx="815926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Söhne"/>
              </a:rPr>
              <a:t>the Xilinx XC3000 series of FPGAs was an early and influential family of programmable logic devices that contributed to the development of FPGA technology. While they are no longer in production and have been succeeded by more advanced FPGA families, they hold historical significance in the field of digital design and reconfigurable hardware.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Söhne"/>
              </a:rPr>
              <a:t/>
            </a:r>
            <a:br>
              <a:rPr kumimoji="0" lang="en-US" sz="1800" b="0" i="0" u="none" strike="noStrike" cap="none" normalizeH="0" baseline="0" dirty="0" smtClean="0">
                <a:ln>
                  <a:noFill/>
                </a:ln>
                <a:solidFill>
                  <a:srgbClr val="000000"/>
                </a:solidFill>
                <a:effectLst/>
                <a:latin typeface="Söhne"/>
              </a:rPr>
            </a:b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0871778"/>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209800" y="381000"/>
            <a:ext cx="7772400" cy="1143000"/>
          </a:xfrm>
        </p:spPr>
        <p:txBody>
          <a:bodyPr/>
          <a:lstStyle/>
          <a:p>
            <a:r>
              <a:rPr lang="en-US" dirty="0">
                <a:solidFill>
                  <a:srgbClr val="FF0000"/>
                </a:solidFill>
              </a:rPr>
              <a:t>XC 4000</a:t>
            </a:r>
          </a:p>
        </p:txBody>
      </p:sp>
      <p:sp>
        <p:nvSpPr>
          <p:cNvPr id="30723" name="Rectangle 3"/>
          <p:cNvSpPr>
            <a:spLocks noGrp="1" noChangeArrowheads="1"/>
          </p:cNvSpPr>
          <p:nvPr>
            <p:ph type="body" idx="1"/>
          </p:nvPr>
        </p:nvSpPr>
        <p:spPr>
          <a:xfrm>
            <a:off x="1676400" y="1828800"/>
            <a:ext cx="4343400" cy="4419600"/>
          </a:xfrm>
        </p:spPr>
        <p:txBody>
          <a:bodyPr/>
          <a:lstStyle/>
          <a:p>
            <a:r>
              <a:rPr lang="en-US" dirty="0"/>
              <a:t>XC4000 CLB</a:t>
            </a:r>
          </a:p>
        </p:txBody>
      </p:sp>
      <p:sp>
        <p:nvSpPr>
          <p:cNvPr id="30724" name="Rectangle 4"/>
          <p:cNvSpPr>
            <a:spLocks noChangeArrowheads="1"/>
          </p:cNvSpPr>
          <p:nvPr/>
        </p:nvSpPr>
        <p:spPr bwMode="auto">
          <a:xfrm>
            <a:off x="6019799" y="1600200"/>
            <a:ext cx="5362433"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spcBef>
                <a:spcPct val="20000"/>
              </a:spcBef>
              <a:buClr>
                <a:schemeClr val="bg2"/>
              </a:buClr>
              <a:buSzPct val="80000"/>
              <a:buFont typeface="Wingdings" panose="05000000000000000000" pitchFamily="2" charset="2"/>
              <a:buChar char="Ø"/>
            </a:pPr>
            <a:r>
              <a:rPr lang="en-US" dirty="0"/>
              <a:t>3 LUTs and 2 Flip-flops in a two stage arrangement</a:t>
            </a:r>
          </a:p>
          <a:p>
            <a:pPr>
              <a:spcBef>
                <a:spcPct val="20000"/>
              </a:spcBef>
              <a:buClr>
                <a:schemeClr val="bg2"/>
              </a:buClr>
              <a:buSzPct val="80000"/>
              <a:buFont typeface="Wingdings" panose="05000000000000000000" pitchFamily="2" charset="2"/>
              <a:buChar char="Ø"/>
            </a:pPr>
            <a:r>
              <a:rPr lang="en-US" dirty="0"/>
              <a:t>2 Outputs: Can be registered or combinational</a:t>
            </a:r>
          </a:p>
          <a:p>
            <a:pPr>
              <a:spcBef>
                <a:spcPct val="20000"/>
              </a:spcBef>
              <a:buClr>
                <a:schemeClr val="bg2"/>
              </a:buClr>
              <a:buSzPct val="80000"/>
              <a:buFont typeface="Wingdings" panose="05000000000000000000" pitchFamily="2" charset="2"/>
              <a:buChar char="Ø"/>
            </a:pPr>
            <a:r>
              <a:rPr lang="en-US" dirty="0"/>
              <a:t>External signals can also be registered</a:t>
            </a:r>
          </a:p>
          <a:p>
            <a:pPr>
              <a:spcBef>
                <a:spcPct val="20000"/>
              </a:spcBef>
              <a:buClr>
                <a:schemeClr val="bg2"/>
              </a:buClr>
              <a:buSzPct val="80000"/>
              <a:buFont typeface="Wingdings" panose="05000000000000000000" pitchFamily="2" charset="2"/>
              <a:buChar char="Ø"/>
            </a:pPr>
            <a:r>
              <a:rPr lang="en-US" dirty="0"/>
              <a:t>More of internal signals are available for connections</a:t>
            </a:r>
          </a:p>
          <a:p>
            <a:pPr>
              <a:spcBef>
                <a:spcPct val="20000"/>
              </a:spcBef>
              <a:buClr>
                <a:schemeClr val="bg2"/>
              </a:buClr>
              <a:buSzPct val="80000"/>
              <a:buFont typeface="Wingdings" panose="05000000000000000000" pitchFamily="2" charset="2"/>
              <a:buChar char="Ø"/>
            </a:pPr>
            <a:r>
              <a:rPr lang="en-US" dirty="0"/>
              <a:t>Can implement any two independent functions of four variables or any single function of five variables</a:t>
            </a:r>
          </a:p>
        </p:txBody>
      </p:sp>
      <p:pic>
        <p:nvPicPr>
          <p:cNvPr id="30726" name="Picture 6" descr="C:\Pkgs\Cygwin\home\usha\IEP\figures\jpg\20_XC4K_CLB.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399" y="2838735"/>
            <a:ext cx="4653887" cy="2994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366958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2209800" y="0"/>
            <a:ext cx="7772400" cy="914400"/>
          </a:xfrm>
        </p:spPr>
        <p:txBody>
          <a:bodyPr/>
          <a:lstStyle/>
          <a:p>
            <a:r>
              <a:rPr lang="en-US" dirty="0"/>
              <a:t>XC4000</a:t>
            </a:r>
          </a:p>
        </p:txBody>
      </p:sp>
      <p:sp>
        <p:nvSpPr>
          <p:cNvPr id="38915" name="Rectangle 3"/>
          <p:cNvSpPr>
            <a:spLocks noGrp="1" noChangeArrowheads="1"/>
          </p:cNvSpPr>
          <p:nvPr>
            <p:ph type="body" idx="1"/>
          </p:nvPr>
        </p:nvSpPr>
        <p:spPr>
          <a:xfrm>
            <a:off x="1828800" y="838200"/>
            <a:ext cx="8534400" cy="5562600"/>
          </a:xfrm>
          <a:noFill/>
          <a:extLst>
            <a:ext uri="{909E8E84-426E-40DD-AFC4-6F175D3DCCD1}">
              <a14:hiddenFill xmlns:a14="http://schemas.microsoft.com/office/drawing/2010/main">
                <a:solidFill>
                  <a:srgbClr val="FFFFFF"/>
                </a:solidFill>
              </a14:hiddenFill>
            </a:ext>
          </a:extLst>
        </p:spPr>
        <p:txBody>
          <a:bodyPr/>
          <a:lstStyle/>
          <a:p>
            <a:r>
              <a:rPr lang="en-US" dirty="0"/>
              <a:t>XC4000 Routing Architecture</a:t>
            </a:r>
          </a:p>
        </p:txBody>
      </p:sp>
      <p:pic>
        <p:nvPicPr>
          <p:cNvPr id="38917" name="Picture 5" descr="C:\Pkgs\Cygwin\home\usha\IEP\figures\jpg\21_XC4K_Route.jpg"/>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3800901" y="1406525"/>
            <a:ext cx="6915150" cy="4994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35578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7999" y="317379"/>
            <a:ext cx="8197755" cy="5638467"/>
          </a:xfrm>
          <a:prstGeom prst="rect">
            <a:avLst/>
          </a:prstGeom>
        </p:spPr>
        <p:txBody>
          <a:bodyPr wrap="square">
            <a:spAutoFit/>
          </a:bodyPr>
          <a:lstStyle/>
          <a:p>
            <a:pPr>
              <a:spcBef>
                <a:spcPct val="20000"/>
              </a:spcBef>
              <a:buClr>
                <a:schemeClr val="bg2"/>
              </a:buClr>
              <a:buSzPct val="80000"/>
              <a:buFont typeface="Wingdings" panose="05000000000000000000" pitchFamily="2" charset="2"/>
              <a:buChar char="Ø"/>
            </a:pPr>
            <a:r>
              <a:rPr lang="en-US" sz="2800" dirty="0"/>
              <a:t>XC4000 Routing Architecture</a:t>
            </a:r>
          </a:p>
          <a:p>
            <a:pPr lvl="1">
              <a:spcBef>
                <a:spcPct val="20000"/>
              </a:spcBef>
              <a:buClr>
                <a:schemeClr val="bg2"/>
              </a:buClr>
              <a:buSzPct val="80000"/>
              <a:buFont typeface="Wingdings" panose="05000000000000000000" pitchFamily="2" charset="2"/>
              <a:buChar char="Ø"/>
            </a:pPr>
            <a:r>
              <a:rPr lang="en-US" dirty="0"/>
              <a:t>Wire segments</a:t>
            </a:r>
          </a:p>
          <a:p>
            <a:pPr lvl="2">
              <a:spcBef>
                <a:spcPct val="20000"/>
              </a:spcBef>
              <a:buClr>
                <a:schemeClr val="bg2"/>
              </a:buClr>
              <a:buSzPct val="80000"/>
              <a:buFont typeface="Wingdings" panose="05000000000000000000" pitchFamily="2" charset="2"/>
              <a:buChar char="Ø"/>
            </a:pPr>
            <a:r>
              <a:rPr lang="en-US" sz="2000" dirty="0"/>
              <a:t>Single length lines</a:t>
            </a:r>
          </a:p>
          <a:p>
            <a:pPr lvl="3">
              <a:spcBef>
                <a:spcPct val="20000"/>
              </a:spcBef>
              <a:buClr>
                <a:schemeClr val="bg2"/>
              </a:buClr>
              <a:buSzPct val="80000"/>
              <a:buFont typeface="Wingdings" panose="05000000000000000000" pitchFamily="2" charset="2"/>
              <a:buChar char="Ø"/>
            </a:pPr>
            <a:r>
              <a:rPr lang="en-US" dirty="0"/>
              <a:t>Spans single CLB</a:t>
            </a:r>
          </a:p>
          <a:p>
            <a:pPr lvl="3">
              <a:spcBef>
                <a:spcPct val="20000"/>
              </a:spcBef>
              <a:buClr>
                <a:schemeClr val="bg2"/>
              </a:buClr>
              <a:buSzPct val="80000"/>
              <a:buFont typeface="Wingdings" panose="05000000000000000000" pitchFamily="2" charset="2"/>
              <a:buChar char="Ø"/>
            </a:pPr>
            <a:r>
              <a:rPr lang="en-US" dirty="0"/>
              <a:t>Connects adjacent CLBs</a:t>
            </a:r>
          </a:p>
          <a:p>
            <a:pPr lvl="3">
              <a:spcBef>
                <a:spcPct val="20000"/>
              </a:spcBef>
              <a:buClr>
                <a:schemeClr val="bg2"/>
              </a:buClr>
              <a:buSzPct val="80000"/>
              <a:buFont typeface="Wingdings" panose="05000000000000000000" pitchFamily="2" charset="2"/>
              <a:buChar char="Ø"/>
            </a:pPr>
            <a:r>
              <a:rPr lang="en-US" dirty="0"/>
              <a:t>Used to connect signals that do not have critical timing requirements	</a:t>
            </a:r>
          </a:p>
          <a:p>
            <a:pPr lvl="2">
              <a:spcBef>
                <a:spcPct val="20000"/>
              </a:spcBef>
              <a:buClr>
                <a:schemeClr val="bg2"/>
              </a:buClr>
              <a:buSzPct val="80000"/>
              <a:buFont typeface="Wingdings" panose="05000000000000000000" pitchFamily="2" charset="2"/>
              <a:buChar char="Ø"/>
            </a:pPr>
            <a:r>
              <a:rPr lang="en-US" sz="2000" dirty="0"/>
              <a:t>Double length lines</a:t>
            </a:r>
          </a:p>
          <a:p>
            <a:pPr lvl="3">
              <a:spcBef>
                <a:spcPct val="20000"/>
              </a:spcBef>
              <a:buClr>
                <a:schemeClr val="bg2"/>
              </a:buClr>
              <a:buSzPct val="80000"/>
              <a:buFont typeface="Wingdings" panose="05000000000000000000" pitchFamily="2" charset="2"/>
              <a:buChar char="Ø"/>
            </a:pPr>
            <a:r>
              <a:rPr lang="en-US" dirty="0"/>
              <a:t>Spans two CLBs</a:t>
            </a:r>
          </a:p>
          <a:p>
            <a:pPr lvl="3">
              <a:spcBef>
                <a:spcPct val="20000"/>
              </a:spcBef>
              <a:buClr>
                <a:schemeClr val="bg2"/>
              </a:buClr>
              <a:buSzPct val="80000"/>
              <a:buFont typeface="Wingdings" panose="05000000000000000000" pitchFamily="2" charset="2"/>
              <a:buChar char="Ø"/>
            </a:pPr>
            <a:r>
              <a:rPr lang="en-US" dirty="0"/>
              <a:t>Uses half as much switch as a single length connection</a:t>
            </a:r>
          </a:p>
          <a:p>
            <a:pPr lvl="2">
              <a:spcBef>
                <a:spcPct val="20000"/>
              </a:spcBef>
              <a:buClr>
                <a:schemeClr val="bg2"/>
              </a:buClr>
              <a:buSzPct val="80000"/>
              <a:buFont typeface="Wingdings" panose="05000000000000000000" pitchFamily="2" charset="2"/>
              <a:buChar char="Ø"/>
            </a:pPr>
            <a:r>
              <a:rPr lang="en-US" sz="2000" dirty="0"/>
              <a:t>Long lines</a:t>
            </a:r>
          </a:p>
          <a:p>
            <a:pPr lvl="3">
              <a:spcBef>
                <a:spcPct val="20000"/>
              </a:spcBef>
              <a:buClr>
                <a:schemeClr val="bg2"/>
              </a:buClr>
              <a:buSzPct val="80000"/>
              <a:buFont typeface="Wingdings" panose="05000000000000000000" pitchFamily="2" charset="2"/>
              <a:buChar char="Ø"/>
            </a:pPr>
            <a:r>
              <a:rPr lang="en-US" dirty="0"/>
              <a:t>Low skew; Used for signals such as clock</a:t>
            </a:r>
          </a:p>
          <a:p>
            <a:pPr lvl="3">
              <a:spcBef>
                <a:spcPct val="20000"/>
              </a:spcBef>
              <a:buClr>
                <a:schemeClr val="bg2"/>
              </a:buClr>
              <a:buSzPct val="80000"/>
              <a:buFont typeface="Wingdings" panose="05000000000000000000" pitchFamily="2" charset="2"/>
              <a:buChar char="Ø"/>
            </a:pPr>
            <a:r>
              <a:rPr lang="en-US" dirty="0"/>
              <a:t>Relatively rare resource</a:t>
            </a:r>
          </a:p>
          <a:p>
            <a:pPr lvl="1">
              <a:spcBef>
                <a:spcPct val="20000"/>
              </a:spcBef>
              <a:buClr>
                <a:schemeClr val="bg2"/>
              </a:buClr>
              <a:buSzPct val="80000"/>
              <a:buFont typeface="Wingdings" panose="05000000000000000000" pitchFamily="2" charset="2"/>
              <a:buChar char="Ø"/>
            </a:pPr>
            <a:r>
              <a:rPr lang="en-US" dirty="0"/>
              <a:t>Switch Matrix</a:t>
            </a:r>
          </a:p>
          <a:p>
            <a:pPr lvl="2">
              <a:spcBef>
                <a:spcPct val="20000"/>
              </a:spcBef>
              <a:buClr>
                <a:schemeClr val="bg2"/>
              </a:buClr>
              <a:buSzPct val="80000"/>
              <a:buFont typeface="Wingdings" panose="05000000000000000000" pitchFamily="2" charset="2"/>
              <a:buChar char="Ø"/>
            </a:pPr>
            <a:r>
              <a:rPr lang="en-US" sz="2000" dirty="0"/>
              <a:t>Every line is connected to lines on the other three direction</a:t>
            </a:r>
          </a:p>
          <a:p>
            <a:pPr lvl="2">
              <a:spcBef>
                <a:spcPct val="20000"/>
              </a:spcBef>
              <a:buClr>
                <a:schemeClr val="bg2"/>
              </a:buClr>
              <a:buSzPct val="80000"/>
              <a:buFont typeface="Wingdings" panose="05000000000000000000" pitchFamily="2" charset="2"/>
              <a:buChar char="Ø"/>
            </a:pPr>
            <a:r>
              <a:rPr lang="en-US" sz="2000" dirty="0"/>
              <a:t>Each connection requires six transistors</a:t>
            </a:r>
          </a:p>
        </p:txBody>
      </p:sp>
    </p:spTree>
    <p:extLst>
      <p:ext uri="{BB962C8B-B14F-4D97-AF65-F5344CB8AC3E}">
        <p14:creationId xmlns:p14="http://schemas.microsoft.com/office/powerpoint/2010/main" val="8534594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p:cNvPicPr/>
          <p:nvPr/>
        </p:nvPicPr>
        <p:blipFill>
          <a:blip r:embed="rId3"/>
          <a:srcRect/>
          <a:stretch>
            <a:fillRect/>
          </a:stretch>
        </p:blipFill>
        <p:spPr bwMode="auto">
          <a:xfrm>
            <a:off x="3230244" y="964930"/>
            <a:ext cx="6392057" cy="5238916"/>
          </a:xfrm>
          <a:prstGeom prst="rect">
            <a:avLst/>
          </a:prstGeom>
          <a:noFill/>
          <a:ln w="9525">
            <a:noFill/>
            <a:miter lim="800000"/>
            <a:headEnd/>
            <a:tailEnd/>
          </a:ln>
        </p:spPr>
      </p:pic>
      <p:sp>
        <p:nvSpPr>
          <p:cNvPr id="7" name="Rectangle 6"/>
          <p:cNvSpPr/>
          <p:nvPr/>
        </p:nvSpPr>
        <p:spPr>
          <a:xfrm>
            <a:off x="5389199" y="6184481"/>
            <a:ext cx="1976310" cy="369332"/>
          </a:xfrm>
          <a:prstGeom prst="rect">
            <a:avLst/>
          </a:prstGeom>
        </p:spPr>
        <p:txBody>
          <a:bodyPr wrap="none">
            <a:spAutoFit/>
          </a:bodyPr>
          <a:lstStyle/>
          <a:p>
            <a:r>
              <a:rPr lang="en-IN" dirty="0" smtClean="0"/>
              <a:t>Xilinx XC9500 CPLD</a:t>
            </a:r>
            <a:endParaRPr lang="en-US" dirty="0"/>
          </a:p>
        </p:txBody>
      </p:sp>
    </p:spTree>
    <p:extLst>
      <p:ext uri="{BB962C8B-B14F-4D97-AF65-F5344CB8AC3E}">
        <p14:creationId xmlns:p14="http://schemas.microsoft.com/office/powerpoint/2010/main" val="7452632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821149" y="2600179"/>
            <a:ext cx="10066051" cy="3046988"/>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T</a:t>
            </a:r>
            <a:r>
              <a:rPr lang="en-US" sz="3200" dirty="0" smtClean="0"/>
              <a:t>he </a:t>
            </a:r>
            <a:r>
              <a:rPr lang="en-US" sz="3200" dirty="0"/>
              <a:t>Xilinx XC3000 series of FPGAs had a significant impact on the early development of FPGA technology. </a:t>
            </a:r>
            <a:r>
              <a:rPr lang="en-US" sz="3200" dirty="0" smtClean="0"/>
              <a:t>While </a:t>
            </a:r>
            <a:r>
              <a:rPr lang="en-US" sz="3200" dirty="0"/>
              <a:t>they are no longer in production and have been replaced by more advanced FPGA families, they remain historically important in the field of digital design and reconfigurable hardware</a:t>
            </a:r>
          </a:p>
        </p:txBody>
      </p:sp>
    </p:spTree>
    <p:extLst>
      <p:ext uri="{BB962C8B-B14F-4D97-AF65-F5344CB8AC3E}">
        <p14:creationId xmlns:p14="http://schemas.microsoft.com/office/powerpoint/2010/main" val="41853048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2443996" y="2091850"/>
            <a:ext cx="9608234" cy="1892826"/>
          </a:xfrm>
          <a:prstGeom prst="rect">
            <a:avLst/>
          </a:prstGeom>
          <a:noFill/>
        </p:spPr>
        <p:txBody>
          <a:bodyPr wrap="square" rtlCol="0">
            <a:spAutoFit/>
          </a:bodyPr>
          <a:lstStyle/>
          <a:p>
            <a:pPr marL="342900" lvl="0" indent="-342900" algn="just">
              <a:lnSpc>
                <a:spcPct val="150000"/>
              </a:lnSpc>
              <a:buFont typeface="+mj-lt"/>
              <a:buAutoNum type="arabicPeriod"/>
            </a:pPr>
            <a:r>
              <a:rPr lang="en-US" dirty="0"/>
              <a:t>What was a key feature of the Xilinx XC3000 series FPGAs</a:t>
            </a:r>
            <a:r>
              <a:rPr lang="en-US" dirty="0" smtClean="0"/>
              <a:t>?</a:t>
            </a:r>
          </a:p>
          <a:p>
            <a:pPr marL="342900" lvl="0" indent="-342900" algn="just">
              <a:lnSpc>
                <a:spcPct val="150000"/>
              </a:lnSpc>
              <a:buFont typeface="+mj-lt"/>
              <a:buAutoNum type="arabicPeriod"/>
            </a:pPr>
            <a:r>
              <a:rPr lang="en-US" dirty="0"/>
              <a:t>Which of the following best describes the current status of the Xilinx XC3000 series </a:t>
            </a:r>
            <a:endParaRPr lang="en-US" dirty="0" smtClean="0"/>
          </a:p>
          <a:p>
            <a:pPr marL="342900" lvl="0" indent="-342900" algn="just">
              <a:lnSpc>
                <a:spcPct val="150000"/>
              </a:lnSpc>
              <a:buFont typeface="+mj-lt"/>
              <a:buAutoNum type="arabicPeriod"/>
            </a:pPr>
            <a:r>
              <a:rPr lang="en-US" dirty="0"/>
              <a:t>What role did the XC3000 series play in the history of FPGA technology</a:t>
            </a:r>
            <a:r>
              <a:rPr lang="en-US" dirty="0" smtClean="0"/>
              <a:t>?</a:t>
            </a:r>
          </a:p>
          <a:p>
            <a:pPr marL="342900" indent="-342900">
              <a:lnSpc>
                <a:spcPct val="200000"/>
              </a:lnSpc>
            </a:pP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77408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1200288"/>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IN" sz="3200" dirty="0">
                <a:solidFill>
                  <a:srgbClr val="FF0000"/>
                </a:solidFill>
              </a:rPr>
              <a:t>Altera – FLEX </a:t>
            </a:r>
            <a:r>
              <a:rPr lang="en-IN" sz="3200" dirty="0" smtClean="0">
                <a:solidFill>
                  <a:srgbClr val="FF0000"/>
                </a:solidFill>
              </a:rPr>
              <a:t>8000/10000</a:t>
            </a:r>
            <a:endParaRPr lang="en-US" sz="3200" b="1" dirty="0">
              <a:solidFill>
                <a:srgbClr val="CF2F33"/>
              </a:solidFill>
              <a:effectLst/>
              <a:cs typeface="Poppins" panose="00000500000000000000" pitchFamily="2" charset="0"/>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extLst>
      <p:ext uri="{BB962C8B-B14F-4D97-AF65-F5344CB8AC3E}">
        <p14:creationId xmlns:p14="http://schemas.microsoft.com/office/powerpoint/2010/main" val="2365661487"/>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2334081" y="2398611"/>
            <a:ext cx="11413588" cy="3083921"/>
          </a:xfrm>
          <a:prstGeom prst="rect">
            <a:avLst/>
          </a:prstGeom>
          <a:noFill/>
        </p:spPr>
        <p:txBody>
          <a:bodyPr wrap="square" rtlCol="0">
            <a:spAutoFit/>
          </a:bodyPr>
          <a:lstStyle/>
          <a:p>
            <a:pPr lvl="1" algn="just">
              <a:lnSpc>
                <a:spcPct val="90000"/>
              </a:lnSpc>
            </a:pPr>
            <a:r>
              <a:rPr lang="en-US" sz="2400" dirty="0">
                <a:cs typeface="Times New Roman" pitchFamily="18" charset="0"/>
              </a:rPr>
              <a:t>Devices are fabricated on advanced processes and operate with</a:t>
            </a:r>
          </a:p>
          <a:p>
            <a:pPr lvl="1" algn="just">
              <a:lnSpc>
                <a:spcPct val="90000"/>
              </a:lnSpc>
            </a:pPr>
            <a:r>
              <a:rPr lang="en-US" sz="2400" dirty="0">
                <a:cs typeface="Times New Roman" pitchFamily="18" charset="0"/>
              </a:rPr>
              <a:t>a 3.3- or 5.0-V supply voltage (see Table 3)</a:t>
            </a:r>
          </a:p>
          <a:p>
            <a:pPr lvl="1" algn="just">
              <a:lnSpc>
                <a:spcPct val="90000"/>
              </a:lnSpc>
            </a:pPr>
            <a:r>
              <a:rPr lang="en-US" sz="2400" dirty="0">
                <a:cs typeface="Times New Roman" pitchFamily="18" charset="0"/>
              </a:rPr>
              <a:t>– In-circuit </a:t>
            </a:r>
            <a:r>
              <a:rPr lang="en-US" sz="2400" dirty="0" err="1">
                <a:cs typeface="Times New Roman" pitchFamily="18" charset="0"/>
              </a:rPr>
              <a:t>reconfigurability</a:t>
            </a:r>
            <a:r>
              <a:rPr lang="en-US" sz="2400" dirty="0">
                <a:cs typeface="Times New Roman" pitchFamily="18" charset="0"/>
              </a:rPr>
              <a:t> (ICR) via external Configuration</a:t>
            </a:r>
          </a:p>
          <a:p>
            <a:pPr lvl="1" algn="just">
              <a:lnSpc>
                <a:spcPct val="90000"/>
              </a:lnSpc>
            </a:pPr>
            <a:r>
              <a:rPr lang="en-US" sz="2400" dirty="0">
                <a:cs typeface="Times New Roman" pitchFamily="18" charset="0"/>
              </a:rPr>
              <a:t>EPROM, intelligent controller, or JTAG port</a:t>
            </a:r>
          </a:p>
          <a:p>
            <a:pPr lvl="1" algn="just">
              <a:lnSpc>
                <a:spcPct val="90000"/>
              </a:lnSpc>
            </a:pPr>
            <a:r>
              <a:rPr lang="en-US" sz="2400" dirty="0">
                <a:cs typeface="Times New Roman" pitchFamily="18" charset="0"/>
              </a:rPr>
              <a:t>– </a:t>
            </a:r>
            <a:r>
              <a:rPr lang="en-US" sz="2400" dirty="0" err="1">
                <a:cs typeface="Times New Roman" pitchFamily="18" charset="0"/>
              </a:rPr>
              <a:t>ClockLock</a:t>
            </a:r>
            <a:r>
              <a:rPr lang="en-US" sz="2400" dirty="0">
                <a:cs typeface="Times New Roman" pitchFamily="18" charset="0"/>
              </a:rPr>
              <a:t> and </a:t>
            </a:r>
            <a:r>
              <a:rPr lang="en-US" sz="2400" dirty="0" err="1">
                <a:cs typeface="Times New Roman" pitchFamily="18" charset="0"/>
              </a:rPr>
              <a:t>ClockBoost</a:t>
            </a:r>
            <a:r>
              <a:rPr lang="en-US" sz="2400" dirty="0">
                <a:cs typeface="Times New Roman" pitchFamily="18" charset="0"/>
              </a:rPr>
              <a:t> options for reduced clock</a:t>
            </a:r>
          </a:p>
          <a:p>
            <a:pPr lvl="1" algn="just">
              <a:lnSpc>
                <a:spcPct val="90000"/>
              </a:lnSpc>
            </a:pPr>
            <a:r>
              <a:rPr lang="en-US" sz="2400" dirty="0">
                <a:cs typeface="Times New Roman" pitchFamily="18" charset="0"/>
              </a:rPr>
              <a:t>delay/skew and clock multiplication</a:t>
            </a:r>
          </a:p>
          <a:p>
            <a:pPr lvl="1" algn="just">
              <a:lnSpc>
                <a:spcPct val="90000"/>
              </a:lnSpc>
            </a:pPr>
            <a:r>
              <a:rPr lang="en-US" sz="2400" dirty="0">
                <a:cs typeface="Times New Roman" pitchFamily="18" charset="0"/>
              </a:rPr>
              <a:t>– Built-in low-skew clock distribution trees</a:t>
            </a:r>
          </a:p>
          <a:p>
            <a:pPr lvl="1" algn="just">
              <a:lnSpc>
                <a:spcPct val="90000"/>
              </a:lnSpc>
            </a:pPr>
            <a:r>
              <a:rPr lang="en-US" sz="2400" dirty="0">
                <a:cs typeface="Times New Roman" pitchFamily="18" charset="0"/>
              </a:rPr>
              <a:t>– 100 % functional testing of all devices; test vectors or scan chains</a:t>
            </a:r>
          </a:p>
          <a:p>
            <a:pPr lvl="1" algn="just">
              <a:lnSpc>
                <a:spcPct val="90000"/>
              </a:lnSpc>
            </a:pPr>
            <a:r>
              <a:rPr lang="en-US" sz="2400" dirty="0">
                <a:cs typeface="Times New Roman" pitchFamily="18" charset="0"/>
              </a:rPr>
              <a:t>are not required</a:t>
            </a:r>
          </a:p>
        </p:txBody>
      </p:sp>
      <p:sp>
        <p:nvSpPr>
          <p:cNvPr id="3" name="Rectangle 2"/>
          <p:cNvSpPr/>
          <p:nvPr/>
        </p:nvSpPr>
        <p:spPr>
          <a:xfrm>
            <a:off x="5081352" y="1295993"/>
            <a:ext cx="1003736" cy="369332"/>
          </a:xfrm>
          <a:prstGeom prst="rect">
            <a:avLst/>
          </a:prstGeom>
        </p:spPr>
        <p:txBody>
          <a:bodyPr wrap="none">
            <a:spAutoFit/>
          </a:bodyPr>
          <a:lstStyle/>
          <a:p>
            <a:r>
              <a:rPr lang="en-US" b="1" dirty="0">
                <a:solidFill>
                  <a:srgbClr val="FF0000"/>
                </a:solidFill>
              </a:rPr>
              <a:t>Features</a:t>
            </a:r>
          </a:p>
        </p:txBody>
      </p:sp>
    </p:spTree>
    <p:extLst>
      <p:ext uri="{BB962C8B-B14F-4D97-AF65-F5344CB8AC3E}">
        <p14:creationId xmlns:p14="http://schemas.microsoft.com/office/powerpoint/2010/main" val="2879563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52465" y="1419073"/>
            <a:ext cx="8675427" cy="4154984"/>
          </a:xfrm>
          <a:prstGeom prst="rect">
            <a:avLst/>
          </a:prstGeom>
        </p:spPr>
        <p:txBody>
          <a:bodyPr wrap="square">
            <a:spAutoFit/>
          </a:bodyPr>
          <a:lstStyle/>
          <a:p>
            <a:r>
              <a:rPr lang="en-US" sz="2200" dirty="0"/>
              <a:t>Altera’s FLEX 10K devices are the industry’s first embedded PLDs. Based</a:t>
            </a:r>
          </a:p>
          <a:p>
            <a:r>
              <a:rPr lang="en-US" sz="2200" dirty="0"/>
              <a:t>on reconfigurable CMOS SRAM elements, the </a:t>
            </a:r>
            <a:r>
              <a:rPr lang="en-US" sz="2200" b="1" dirty="0">
                <a:solidFill>
                  <a:srgbClr val="0070C0"/>
                </a:solidFill>
              </a:rPr>
              <a:t>Flexible Logic Element</a:t>
            </a:r>
          </a:p>
          <a:p>
            <a:r>
              <a:rPr lang="en-US" sz="2200" b="1" dirty="0" err="1">
                <a:solidFill>
                  <a:srgbClr val="0070C0"/>
                </a:solidFill>
              </a:rPr>
              <a:t>MatriX</a:t>
            </a:r>
            <a:r>
              <a:rPr lang="en-US" sz="2200" b="1" dirty="0">
                <a:solidFill>
                  <a:srgbClr val="0070C0"/>
                </a:solidFill>
              </a:rPr>
              <a:t> (FLEX)</a:t>
            </a:r>
            <a:r>
              <a:rPr lang="en-US" sz="2200" dirty="0"/>
              <a:t> architecture incorporates all features necessary to</a:t>
            </a:r>
          </a:p>
          <a:p>
            <a:r>
              <a:rPr lang="en-US" sz="2200" dirty="0"/>
              <a:t>implement common gate array </a:t>
            </a:r>
            <a:r>
              <a:rPr lang="en-US" sz="2200" dirty="0" err="1"/>
              <a:t>megafunctions</a:t>
            </a:r>
            <a:r>
              <a:rPr lang="en-US" sz="2200" dirty="0"/>
              <a:t>. With up to 250,000 gates,</a:t>
            </a:r>
          </a:p>
          <a:p>
            <a:r>
              <a:rPr lang="en-US" sz="2200" dirty="0"/>
              <a:t>the FLEX 10K family provides the density, speed, and features to integrate</a:t>
            </a:r>
          </a:p>
          <a:p>
            <a:r>
              <a:rPr lang="en-US" sz="2200" dirty="0"/>
              <a:t>entire systems, including multiple 32-bit buses, into a single device.</a:t>
            </a:r>
          </a:p>
          <a:p>
            <a:r>
              <a:rPr lang="en-US" sz="2200" dirty="0"/>
              <a:t>FLEX 10K devices are configurable, and they are 100% tested prior to</a:t>
            </a:r>
          </a:p>
          <a:p>
            <a:r>
              <a:rPr lang="en-US" sz="2200" dirty="0"/>
              <a:t>shipment. As a result, the designer is not required to generate test vectors</a:t>
            </a:r>
          </a:p>
          <a:p>
            <a:r>
              <a:rPr lang="en-US" sz="2200" dirty="0"/>
              <a:t>for fault coverage purposes. Instead, the designer can focus on simulation</a:t>
            </a:r>
          </a:p>
          <a:p>
            <a:r>
              <a:rPr lang="en-US" sz="2200" dirty="0"/>
              <a:t>and design verification. In addition, the designer does not need to manage</a:t>
            </a:r>
          </a:p>
          <a:p>
            <a:r>
              <a:rPr lang="en-US" sz="2200" dirty="0"/>
              <a:t>inventories of different gate array designs; FLEX 10K devices can be</a:t>
            </a:r>
          </a:p>
          <a:p>
            <a:r>
              <a:rPr lang="en-US" sz="2200" dirty="0"/>
              <a:t>configured on the board for the specific functionality required</a:t>
            </a:r>
          </a:p>
        </p:txBody>
      </p:sp>
    </p:spTree>
    <p:extLst>
      <p:ext uri="{BB962C8B-B14F-4D97-AF65-F5344CB8AC3E}">
        <p14:creationId xmlns:p14="http://schemas.microsoft.com/office/powerpoint/2010/main" val="5204580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889844"/>
            <a:ext cx="8948382" cy="5847755"/>
          </a:xfrm>
          <a:prstGeom prst="rect">
            <a:avLst/>
          </a:prstGeom>
        </p:spPr>
        <p:txBody>
          <a:bodyPr wrap="square">
            <a:spAutoFit/>
          </a:bodyPr>
          <a:lstStyle/>
          <a:p>
            <a:r>
              <a:rPr lang="en-US" sz="1700" dirty="0"/>
              <a:t>The FLEX 10K architecture is similar to that of embedded gate arrays, the</a:t>
            </a:r>
          </a:p>
          <a:p>
            <a:r>
              <a:rPr lang="en-US" sz="1700" dirty="0"/>
              <a:t>fastest-growing segment of the gate array market. As with standard gate</a:t>
            </a:r>
          </a:p>
          <a:p>
            <a:r>
              <a:rPr lang="en-US" sz="1700" dirty="0"/>
              <a:t>arrays, embedded gate arrays implement general logic in a conventional</a:t>
            </a:r>
          </a:p>
          <a:p>
            <a:r>
              <a:rPr lang="en-US" sz="1700" dirty="0"/>
              <a:t>“sea-of-gates” architecture. In addition, embedded gate arrays have</a:t>
            </a:r>
          </a:p>
          <a:p>
            <a:r>
              <a:rPr lang="en-US" sz="1700" dirty="0"/>
              <a:t>dedicated die areas for implementing large, specialized functions. By</a:t>
            </a:r>
          </a:p>
          <a:p>
            <a:r>
              <a:rPr lang="en-US" sz="1700" dirty="0"/>
              <a:t>embedding functions in silicon, embedded gate arrays provide reduced</a:t>
            </a:r>
          </a:p>
          <a:p>
            <a:r>
              <a:rPr lang="en-US" sz="1700" dirty="0"/>
              <a:t>die area and increased speed compared to standard gate arrays. However,</a:t>
            </a:r>
          </a:p>
          <a:p>
            <a:r>
              <a:rPr lang="en-US" sz="1700" dirty="0"/>
              <a:t>embedded </a:t>
            </a:r>
            <a:r>
              <a:rPr lang="en-US" sz="1700" dirty="0" err="1"/>
              <a:t>megafunctions</a:t>
            </a:r>
            <a:r>
              <a:rPr lang="en-US" sz="1700" dirty="0"/>
              <a:t> typically cannot be customized, limiting the</a:t>
            </a:r>
          </a:p>
          <a:p>
            <a:r>
              <a:rPr lang="en-US" sz="1700" dirty="0"/>
              <a:t>designer’s options. In contrast, FLEX 10K devices are programmable,</a:t>
            </a:r>
          </a:p>
          <a:p>
            <a:r>
              <a:rPr lang="en-US" sz="1700" dirty="0"/>
              <a:t>providing the designer with full control over embedded </a:t>
            </a:r>
            <a:r>
              <a:rPr lang="en-US" sz="1700" dirty="0" err="1"/>
              <a:t>megafunctions</a:t>
            </a:r>
            <a:endParaRPr lang="en-US" sz="1700" dirty="0"/>
          </a:p>
          <a:p>
            <a:r>
              <a:rPr lang="en-US" sz="1700" dirty="0"/>
              <a:t>and general logic while facilitating iterative design changes during</a:t>
            </a:r>
          </a:p>
          <a:p>
            <a:r>
              <a:rPr lang="en-US" sz="1700" dirty="0"/>
              <a:t>debugging.</a:t>
            </a:r>
          </a:p>
          <a:p>
            <a:r>
              <a:rPr lang="en-US" sz="1700" dirty="0"/>
              <a:t>Each FLEX 10K device contains an embedded array and a logic array. The</a:t>
            </a:r>
          </a:p>
          <a:p>
            <a:r>
              <a:rPr lang="en-US" sz="1700" dirty="0"/>
              <a:t>embedded array is used to implement a variety of memory functions or</a:t>
            </a:r>
          </a:p>
          <a:p>
            <a:r>
              <a:rPr lang="en-US" sz="1700" dirty="0"/>
              <a:t>complex logic functions, such as digital signal processing (DSP),</a:t>
            </a:r>
          </a:p>
          <a:p>
            <a:r>
              <a:rPr lang="en-US" sz="1700" dirty="0"/>
              <a:t>microcontroller, wide-data-path manipulation, and data-transformation</a:t>
            </a:r>
          </a:p>
          <a:p>
            <a:r>
              <a:rPr lang="en-US" sz="1700" dirty="0"/>
              <a:t>functions. The logic array performs the same function as the sea-of-gates</a:t>
            </a:r>
          </a:p>
          <a:p>
            <a:r>
              <a:rPr lang="en-US" sz="1700" dirty="0"/>
              <a:t>in the gate array: it is used to implement general logic, such as counters,</a:t>
            </a:r>
          </a:p>
          <a:p>
            <a:r>
              <a:rPr lang="en-US" sz="1700" dirty="0"/>
              <a:t>adders, state machines, and multiplexers. The combination of embedded</a:t>
            </a:r>
          </a:p>
          <a:p>
            <a:r>
              <a:rPr lang="en-US" sz="1700" dirty="0"/>
              <a:t>and logic arrays provides the high performance and high density of</a:t>
            </a:r>
          </a:p>
          <a:p>
            <a:r>
              <a:rPr lang="en-US" sz="1700" dirty="0"/>
              <a:t>embedded gate arrays, enabling designers to implement an entire system</a:t>
            </a:r>
          </a:p>
          <a:p>
            <a:r>
              <a:rPr lang="en-US" sz="1700" dirty="0"/>
              <a:t>on a single device.</a:t>
            </a:r>
          </a:p>
        </p:txBody>
      </p:sp>
    </p:spTree>
    <p:extLst>
      <p:ext uri="{BB962C8B-B14F-4D97-AF65-F5344CB8AC3E}">
        <p14:creationId xmlns:p14="http://schemas.microsoft.com/office/powerpoint/2010/main" val="19613667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3323088" y="1563521"/>
            <a:ext cx="8250214" cy="4857750"/>
          </a:xfrm>
          <a:prstGeom prst="rect">
            <a:avLst/>
          </a:prstGeom>
        </p:spPr>
      </p:pic>
      <p:sp>
        <p:nvSpPr>
          <p:cNvPr id="3" name="Rectangle 2"/>
          <p:cNvSpPr/>
          <p:nvPr/>
        </p:nvSpPr>
        <p:spPr>
          <a:xfrm>
            <a:off x="4347153" y="828680"/>
            <a:ext cx="3582196" cy="369332"/>
          </a:xfrm>
          <a:prstGeom prst="rect">
            <a:avLst/>
          </a:prstGeom>
          <a:solidFill>
            <a:schemeClr val="accent2"/>
          </a:solidFill>
        </p:spPr>
        <p:txBody>
          <a:bodyPr wrap="square">
            <a:spAutoFit/>
          </a:bodyPr>
          <a:lstStyle/>
          <a:p>
            <a:r>
              <a:rPr lang="en-US" dirty="0"/>
              <a:t>FLEX 10K Device Block Diagram</a:t>
            </a:r>
          </a:p>
        </p:txBody>
      </p:sp>
    </p:spTree>
    <p:extLst>
      <p:ext uri="{BB962C8B-B14F-4D97-AF65-F5344CB8AC3E}">
        <p14:creationId xmlns:p14="http://schemas.microsoft.com/office/powerpoint/2010/main" val="15521985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52382" y="1487322"/>
            <a:ext cx="9239534" cy="4838700"/>
          </a:xfrm>
          <a:prstGeom prst="rect">
            <a:avLst/>
          </a:prstGeom>
        </p:spPr>
      </p:pic>
      <p:sp>
        <p:nvSpPr>
          <p:cNvPr id="3" name="Rectangle 2"/>
          <p:cNvSpPr/>
          <p:nvPr/>
        </p:nvSpPr>
        <p:spPr>
          <a:xfrm>
            <a:off x="3734441" y="555725"/>
            <a:ext cx="3202095" cy="369332"/>
          </a:xfrm>
          <a:prstGeom prst="rect">
            <a:avLst/>
          </a:prstGeom>
          <a:solidFill>
            <a:schemeClr val="accent2"/>
          </a:solidFill>
        </p:spPr>
        <p:txBody>
          <a:bodyPr wrap="none">
            <a:spAutoFit/>
          </a:bodyPr>
          <a:lstStyle/>
          <a:p>
            <a:r>
              <a:rPr lang="en-US" dirty="0" smtClean="0"/>
              <a:t>FLEX </a:t>
            </a:r>
            <a:r>
              <a:rPr lang="en-US" dirty="0"/>
              <a:t>10K Embedded Array </a:t>
            </a:r>
            <a:r>
              <a:rPr lang="en-US" dirty="0" smtClean="0"/>
              <a:t>Block</a:t>
            </a:r>
            <a:endParaRPr lang="en-US" dirty="0"/>
          </a:p>
        </p:txBody>
      </p:sp>
    </p:spTree>
    <p:extLst>
      <p:ext uri="{BB962C8B-B14F-4D97-AF65-F5344CB8AC3E}">
        <p14:creationId xmlns:p14="http://schemas.microsoft.com/office/powerpoint/2010/main" val="22231176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548194" y="2466512"/>
            <a:ext cx="10066051" cy="3816429"/>
          </a:xfrm>
          <a:prstGeom prst="rect">
            <a:avLst/>
          </a:prstGeom>
          <a:noFill/>
        </p:spPr>
        <p:txBody>
          <a:bodyPr wrap="square" rtlCol="0">
            <a:spAutoFit/>
          </a:bodyPr>
          <a:lstStyle/>
          <a:p>
            <a:r>
              <a:rPr lang="en-US" sz="2200" dirty="0"/>
              <a:t>The Altera FLEX 8000/10000 series refers to a family of programmable logic devices (PLDs) developed by Altera Corporation, which is now a part of Intel Corporation. These PLDs were widely used for various applications that required flexible and customizable digital logic </a:t>
            </a:r>
            <a:r>
              <a:rPr lang="en-US" sz="2200" dirty="0" smtClean="0"/>
              <a:t>functions</a:t>
            </a:r>
          </a:p>
          <a:p>
            <a:endParaRPr lang="en-US" sz="2200" dirty="0"/>
          </a:p>
          <a:p>
            <a:r>
              <a:rPr lang="en-US" sz="2200" dirty="0"/>
              <a:t>T</a:t>
            </a:r>
            <a:r>
              <a:rPr lang="en-US" sz="2200" dirty="0" smtClean="0"/>
              <a:t>he </a:t>
            </a:r>
            <a:r>
              <a:rPr lang="en-US" sz="2200" dirty="0"/>
              <a:t>Altera FLEX 8000/10000 series of FPGAs played a significant role in the history of programmable logic devices. Their flexibility and programmability made them valuable in a wide range of applications. However, given the rapid advancement in FPGA technology, it's advisable to consider newer FPGA families for contemporary projects, and you should check with the manufacturer for the latest information and support regarding these older devices.</a:t>
            </a:r>
          </a:p>
        </p:txBody>
      </p:sp>
    </p:spTree>
    <p:extLst>
      <p:ext uri="{BB962C8B-B14F-4D97-AF65-F5344CB8AC3E}">
        <p14:creationId xmlns:p14="http://schemas.microsoft.com/office/powerpoint/2010/main" val="236786558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2443996" y="2091850"/>
            <a:ext cx="9608234" cy="1754326"/>
          </a:xfrm>
          <a:prstGeom prst="rect">
            <a:avLst/>
          </a:prstGeom>
          <a:noFill/>
        </p:spPr>
        <p:txBody>
          <a:bodyPr wrap="square" rtlCol="0">
            <a:spAutoFit/>
          </a:bodyPr>
          <a:lstStyle/>
          <a:p>
            <a:pPr marL="342900" lvl="0" indent="-342900" algn="just">
              <a:lnSpc>
                <a:spcPct val="150000"/>
              </a:lnSpc>
              <a:buFont typeface="+mj-lt"/>
              <a:buAutoNum type="arabicPeriod"/>
            </a:pPr>
            <a:r>
              <a:rPr lang="en-US" dirty="0" smtClean="0"/>
              <a:t>Explain the software </a:t>
            </a:r>
            <a:r>
              <a:rPr lang="en-US" dirty="0"/>
              <a:t>tool is commonly used for designing and programming Altera FLEX 8000/10000 series FPGAs</a:t>
            </a:r>
            <a:r>
              <a:rPr lang="en-US" dirty="0" smtClean="0"/>
              <a:t>?</a:t>
            </a:r>
          </a:p>
          <a:p>
            <a:pPr marL="342900" lvl="0" indent="-342900" algn="just">
              <a:lnSpc>
                <a:spcPct val="150000"/>
              </a:lnSpc>
              <a:buFont typeface="+mj-lt"/>
              <a:buAutoNum type="arabicPeriod"/>
            </a:pPr>
            <a:r>
              <a:rPr lang="en-US" dirty="0" smtClean="0"/>
              <a:t>Describe the  </a:t>
            </a:r>
            <a:r>
              <a:rPr lang="en-US" dirty="0"/>
              <a:t>Altera FLEX 8000/10000 series of </a:t>
            </a:r>
            <a:r>
              <a:rPr lang="en-US" dirty="0" smtClean="0"/>
              <a:t>FPGAs</a:t>
            </a:r>
          </a:p>
          <a:p>
            <a:pPr marL="342900" lvl="0" indent="-342900" algn="just">
              <a:lnSpc>
                <a:spcPct val="150000"/>
              </a:lnSpc>
              <a:buFont typeface="+mj-lt"/>
              <a:buAutoNum type="arabicPeriod"/>
            </a:pPr>
            <a:r>
              <a:rPr lang="en-US" dirty="0"/>
              <a:t>What is the most likely status of the Altera FLEX 8000/10000 series as of 2023</a:t>
            </a:r>
            <a:r>
              <a:rPr lang="en-US" dirty="0" smtClean="0"/>
              <a:t>? Explain</a:t>
            </a: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4445462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1938952"/>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fr-FR" sz="4000" b="1" cap="all" dirty="0" err="1" smtClean="0">
                <a:ln/>
                <a:solidFill>
                  <a:srgbClr val="C00000"/>
                </a:solidFill>
                <a:cs typeface="Poppins" panose="00000500000000000000" pitchFamily="2" charset="0"/>
              </a:rPr>
              <a:t>Altera</a:t>
            </a:r>
            <a:r>
              <a:rPr lang="fr-FR" sz="4000" b="1" cap="all" dirty="0" smtClean="0">
                <a:ln/>
                <a:solidFill>
                  <a:srgbClr val="C00000"/>
                </a:solidFill>
                <a:cs typeface="Poppins" panose="00000500000000000000" pitchFamily="2" charset="0"/>
              </a:rPr>
              <a:t> </a:t>
            </a:r>
            <a:r>
              <a:rPr lang="fr-FR" sz="4000" b="1" cap="all" dirty="0" err="1" smtClean="0">
                <a:ln/>
                <a:solidFill>
                  <a:srgbClr val="C00000"/>
                </a:solidFill>
                <a:cs typeface="Poppins" panose="00000500000000000000" pitchFamily="2" charset="0"/>
              </a:rPr>
              <a:t>Series</a:t>
            </a:r>
            <a:r>
              <a:rPr lang="fr-FR" sz="4000" b="1" cap="all" dirty="0" smtClean="0">
                <a:ln/>
                <a:solidFill>
                  <a:srgbClr val="C00000"/>
                </a:solidFill>
                <a:cs typeface="Poppins" panose="00000500000000000000" pitchFamily="2" charset="0"/>
              </a:rPr>
              <a:t>- MAX 5000/7000</a:t>
            </a:r>
            <a:endParaRPr lang="en-US" sz="4000" b="1" dirty="0">
              <a:solidFill>
                <a:srgbClr val="C00000"/>
              </a:solidFill>
              <a:effectLst/>
              <a:cs typeface="Poppins" panose="00000500000000000000" pitchFamily="2" charset="0"/>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extLst>
      <p:ext uri="{BB962C8B-B14F-4D97-AF65-F5344CB8AC3E}">
        <p14:creationId xmlns:p14="http://schemas.microsoft.com/office/powerpoint/2010/main" val="3139975028"/>
      </p:ext>
    </p:extLst>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2677656"/>
          </a:xfrm>
          <a:prstGeom prst="rect">
            <a:avLst/>
          </a:prstGeom>
          <a:noFill/>
        </p:spPr>
        <p:txBody>
          <a:bodyPr wrap="square" rtlCol="0">
            <a:spAutoFit/>
          </a:bodyPr>
          <a:lstStyle/>
          <a:p>
            <a:pPr algn="just"/>
            <a:r>
              <a:rPr lang="en-IN" sz="2800" dirty="0" smtClean="0"/>
              <a:t>MAX 7000 devices use CMOS EEPROM cells to implement logic functions. The user-configurable MAX 7000 architecture accommodates a variety of independent combinatorial and sequential logic functions. The devices can be reprogrammed for quick and efficient iterations during design development and debug cycles, and can be programmed and erased up to 100 times</a:t>
            </a:r>
            <a:r>
              <a:rPr lang="en-IN" sz="2800" b="1" dirty="0" smtClean="0"/>
              <a:t>  </a:t>
            </a:r>
            <a:endParaRPr lang="en-US" sz="2800" dirty="0"/>
          </a:p>
        </p:txBody>
      </p:sp>
    </p:spTree>
    <p:extLst>
      <p:ext uri="{BB962C8B-B14F-4D97-AF65-F5344CB8AC3E}">
        <p14:creationId xmlns:p14="http://schemas.microsoft.com/office/powerpoint/2010/main" val="26285904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p:cNvPicPr/>
          <p:nvPr/>
        </p:nvPicPr>
        <p:blipFill>
          <a:blip r:embed="rId3"/>
          <a:srcRect/>
          <a:stretch>
            <a:fillRect/>
          </a:stretch>
        </p:blipFill>
        <p:spPr bwMode="auto">
          <a:xfrm>
            <a:off x="2278966" y="661182"/>
            <a:ext cx="7863840" cy="5922497"/>
          </a:xfrm>
          <a:prstGeom prst="rect">
            <a:avLst/>
          </a:prstGeom>
          <a:noFill/>
          <a:ln w="9525">
            <a:noFill/>
            <a:miter lim="800000"/>
            <a:headEnd/>
            <a:tailEnd/>
          </a:ln>
        </p:spPr>
      </p:pic>
    </p:spTree>
    <p:extLst>
      <p:ext uri="{BB962C8B-B14F-4D97-AF65-F5344CB8AC3E}">
        <p14:creationId xmlns:p14="http://schemas.microsoft.com/office/powerpoint/2010/main" val="4326447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083211" y="1252025"/>
            <a:ext cx="10370851" cy="3539430"/>
          </a:xfrm>
          <a:prstGeom prst="rect">
            <a:avLst/>
          </a:prstGeom>
          <a:noFill/>
        </p:spPr>
        <p:txBody>
          <a:bodyPr wrap="square" rtlCol="0">
            <a:spAutoFit/>
          </a:bodyPr>
          <a:lstStyle/>
          <a:p>
            <a:pPr algn="just"/>
            <a:r>
              <a:rPr lang="en-IN" sz="2800" dirty="0" smtClean="0"/>
              <a:t>The MAX 7000 family of high-density, high-performance PLDs is based on </a:t>
            </a:r>
            <a:r>
              <a:rPr lang="en-IN" sz="2800" dirty="0" err="1" smtClean="0"/>
              <a:t>Altera’s</a:t>
            </a:r>
            <a:r>
              <a:rPr lang="en-IN" sz="2800" dirty="0" smtClean="0"/>
              <a:t> second-generation MAX architecture. Fabricated with advanced CMOS technology, the EEPROM-based MAX 7000 family provides 600 to 5,000 usable gates, ISP, pin-to-pin delays as fast as 5 ns, and counter speeds of up to 175.4 </a:t>
            </a:r>
            <a:r>
              <a:rPr lang="en-IN" sz="2800" dirty="0" err="1" smtClean="0"/>
              <a:t>MHz.</a:t>
            </a:r>
            <a:r>
              <a:rPr lang="en-IN" sz="2800" dirty="0" smtClean="0"/>
              <a:t> MAX 7000S devices in the -5, -6, -7, and -10 speed grades as well as MAX 7000 and MAX 7000E devices in -5, -6, -7, -10P, and -12P speed grades comply with the PCI Special Interest Group (PCI SIG) PCI Local Bus Specification. </a:t>
            </a:r>
            <a:endParaRPr lang="en-US" sz="2800" dirty="0"/>
          </a:p>
        </p:txBody>
      </p:sp>
    </p:spTree>
    <p:extLst>
      <p:ext uri="{BB962C8B-B14F-4D97-AF65-F5344CB8AC3E}">
        <p14:creationId xmlns:p14="http://schemas.microsoft.com/office/powerpoint/2010/main" val="15043573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1323399"/>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smtClean="0">
                <a:ln/>
                <a:solidFill>
                  <a:srgbClr val="C00000"/>
                </a:solidFill>
                <a:cs typeface="Poppins" panose="00000500000000000000" pitchFamily="2" charset="0"/>
              </a:rPr>
              <a:t>AMDs – CPLD (Mach 1 to 5)</a:t>
            </a:r>
            <a:endParaRPr lang="en-US" sz="4000" b="1" dirty="0">
              <a:solidFill>
                <a:srgbClr val="C00000"/>
              </a:solidFill>
              <a:effectLst/>
              <a:cs typeface="Poppins" panose="00000500000000000000" pitchFamily="2" charset="0"/>
            </a:endParaRPr>
          </a:p>
        </p:txBody>
      </p:sp>
      <p:sp>
        <p:nvSpPr>
          <p:cNvPr id="33" name="Rectangle 32">
            <a:extLst>
              <a:ext uri="{FF2B5EF4-FFF2-40B4-BE49-F238E27FC236}">
                <a16:creationId xmlns=""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extLst>
      <p:ext uri="{BB962C8B-B14F-4D97-AF65-F5344CB8AC3E}">
        <p14:creationId xmlns:p14="http://schemas.microsoft.com/office/powerpoint/2010/main" val="2107658991"/>
      </p:ext>
    </p:extLst>
  </p:cSld>
  <p:clrMapOvr>
    <a:masterClrMapping/>
  </p:clrMapOvr>
  <p:transition spd="slow">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524315"/>
          </a:xfrm>
          <a:prstGeom prst="rect">
            <a:avLst/>
          </a:prstGeom>
          <a:noFill/>
        </p:spPr>
        <p:txBody>
          <a:bodyPr wrap="square" rtlCol="0">
            <a:spAutoFit/>
          </a:bodyPr>
          <a:lstStyle/>
          <a:p>
            <a:pPr algn="just"/>
            <a:r>
              <a:rPr lang="en-US" sz="3200" dirty="0" smtClean="0"/>
              <a:t>The MACH 1,2,3,4 &amp; 5 families from Lattice/</a:t>
            </a:r>
            <a:r>
              <a:rPr lang="en-US" sz="3200" dirty="0" err="1" smtClean="0"/>
              <a:t>Vantis</a:t>
            </a:r>
            <a:r>
              <a:rPr lang="en-US" sz="3200" dirty="0" smtClean="0"/>
              <a:t> offer high-performance, low cost Complex Programmable Logic Devices (CPLDs), addressing the growing need for speed in networking, telecommunications and computing. MACH 1,2,3,4 &amp; 5 devices are available in speeds as fast as 5.0-ns </a:t>
            </a:r>
            <a:r>
              <a:rPr lang="en-US" sz="3200" dirty="0" err="1" smtClean="0"/>
              <a:t>tPD</a:t>
            </a:r>
            <a:r>
              <a:rPr lang="en-US" sz="3200" dirty="0" smtClean="0"/>
              <a:t> and in densities ranging from 32 to 128 </a:t>
            </a:r>
            <a:r>
              <a:rPr lang="en-US" sz="3200" dirty="0" err="1" smtClean="0"/>
              <a:t>macrocells</a:t>
            </a:r>
            <a:r>
              <a:rPr lang="en-US" sz="3200" dirty="0" smtClean="0"/>
              <a:t>. The overall </a:t>
            </a:r>
            <a:r>
              <a:rPr lang="en-US" sz="3200" dirty="0" err="1" smtClean="0"/>
              <a:t>beneﬁts</a:t>
            </a:r>
            <a:r>
              <a:rPr lang="en-US" sz="3200" dirty="0" smtClean="0"/>
              <a:t> for users include guaranteed high performance for entry-to-mid-level logic needs at a low cost.</a:t>
            </a:r>
            <a:endParaRPr lang="en-US" sz="3200" dirty="0"/>
          </a:p>
        </p:txBody>
      </p:sp>
    </p:spTree>
    <p:extLst>
      <p:ext uri="{BB962C8B-B14F-4D97-AF65-F5344CB8AC3E}">
        <p14:creationId xmlns:p14="http://schemas.microsoft.com/office/powerpoint/2010/main" val="42615357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descr="Programmable-Logic-Device-Architectures"/>
          <p:cNvPicPr/>
          <p:nvPr/>
        </p:nvPicPr>
        <p:blipFill>
          <a:blip r:embed="rId3"/>
          <a:srcRect/>
          <a:stretch>
            <a:fillRect/>
          </a:stretch>
        </p:blipFill>
        <p:spPr bwMode="auto">
          <a:xfrm>
            <a:off x="451338" y="1061275"/>
            <a:ext cx="4114800" cy="2484620"/>
          </a:xfrm>
          <a:prstGeom prst="rect">
            <a:avLst/>
          </a:prstGeom>
          <a:noFill/>
          <a:ln w="9525">
            <a:noFill/>
            <a:miter lim="800000"/>
            <a:headEnd/>
            <a:tailEnd/>
          </a:ln>
        </p:spPr>
      </p:pic>
      <p:pic>
        <p:nvPicPr>
          <p:cNvPr id="7" name="Picture 6"/>
          <p:cNvPicPr/>
          <p:nvPr/>
        </p:nvPicPr>
        <p:blipFill>
          <a:blip r:embed="rId4"/>
          <a:srcRect/>
          <a:stretch>
            <a:fillRect/>
          </a:stretch>
        </p:blipFill>
        <p:spPr bwMode="auto">
          <a:xfrm>
            <a:off x="4797082" y="977813"/>
            <a:ext cx="7394917" cy="4536721"/>
          </a:xfrm>
          <a:prstGeom prst="rect">
            <a:avLst/>
          </a:prstGeom>
          <a:noFill/>
          <a:ln w="9525">
            <a:noFill/>
            <a:miter lim="800000"/>
            <a:headEnd/>
            <a:tailEnd/>
          </a:ln>
        </p:spPr>
      </p:pic>
      <p:sp>
        <p:nvSpPr>
          <p:cNvPr id="11" name="Rectangle 10"/>
          <p:cNvSpPr/>
          <p:nvPr/>
        </p:nvSpPr>
        <p:spPr>
          <a:xfrm>
            <a:off x="7699803" y="6071940"/>
            <a:ext cx="1800493" cy="369332"/>
          </a:xfrm>
          <a:prstGeom prst="rect">
            <a:avLst/>
          </a:prstGeom>
        </p:spPr>
        <p:txBody>
          <a:bodyPr wrap="none">
            <a:spAutoFit/>
          </a:bodyPr>
          <a:lstStyle/>
          <a:p>
            <a:pPr lvl="0" algn="ctr" fontAlgn="base">
              <a:spcBef>
                <a:spcPct val="0"/>
              </a:spcBef>
              <a:spcAft>
                <a:spcPct val="0"/>
              </a:spcAft>
            </a:pPr>
            <a:r>
              <a:rPr lang="en-US" dirty="0" smtClean="0">
                <a:latin typeface="Times New Roman" pitchFamily="18" charset="0"/>
                <a:cs typeface="Times New Roman" pitchFamily="18" charset="0"/>
              </a:rPr>
              <a:t>MACH 1 devices</a:t>
            </a:r>
            <a:endParaRPr lang="en-US" sz="2800" dirty="0" smtClean="0">
              <a:latin typeface="Arial" pitchFamily="34" charset="0"/>
              <a:cs typeface="Arial" pitchFamily="34" charset="0"/>
            </a:endParaRPr>
          </a:p>
        </p:txBody>
      </p:sp>
    </p:spTree>
    <p:extLst>
      <p:ext uri="{BB962C8B-B14F-4D97-AF65-F5344CB8AC3E}">
        <p14:creationId xmlns:p14="http://schemas.microsoft.com/office/powerpoint/2010/main" val="257073384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7" name="Picture 6"/>
          <p:cNvPicPr/>
          <p:nvPr/>
        </p:nvPicPr>
        <p:blipFill>
          <a:blip r:embed="rId3"/>
          <a:srcRect/>
          <a:stretch>
            <a:fillRect/>
          </a:stretch>
        </p:blipFill>
        <p:spPr bwMode="auto">
          <a:xfrm>
            <a:off x="487045" y="803946"/>
            <a:ext cx="5731510" cy="2520975"/>
          </a:xfrm>
          <a:prstGeom prst="rect">
            <a:avLst/>
          </a:prstGeom>
          <a:noFill/>
          <a:ln w="9525">
            <a:noFill/>
            <a:miter lim="800000"/>
            <a:headEnd/>
            <a:tailEnd/>
          </a:ln>
        </p:spPr>
      </p:pic>
      <p:sp>
        <p:nvSpPr>
          <p:cNvPr id="8" name="Rectangle 7"/>
          <p:cNvSpPr/>
          <p:nvPr/>
        </p:nvSpPr>
        <p:spPr>
          <a:xfrm>
            <a:off x="1743199" y="3567891"/>
            <a:ext cx="1699889" cy="369332"/>
          </a:xfrm>
          <a:prstGeom prst="rect">
            <a:avLst/>
          </a:prstGeom>
        </p:spPr>
        <p:txBody>
          <a:bodyPr wrap="none">
            <a:spAutoFit/>
          </a:bodyPr>
          <a:lstStyle/>
          <a:p>
            <a:r>
              <a:rPr lang="en-IN" dirty="0" smtClean="0"/>
              <a:t>MACH 2 devices</a:t>
            </a:r>
            <a:endParaRPr lang="en-US" dirty="0"/>
          </a:p>
        </p:txBody>
      </p:sp>
      <p:pic>
        <p:nvPicPr>
          <p:cNvPr id="9" name="Picture 8"/>
          <p:cNvPicPr/>
          <p:nvPr/>
        </p:nvPicPr>
        <p:blipFill>
          <a:blip r:embed="rId4"/>
          <a:srcRect/>
          <a:stretch>
            <a:fillRect/>
          </a:stretch>
        </p:blipFill>
        <p:spPr bwMode="auto">
          <a:xfrm>
            <a:off x="6161649" y="667995"/>
            <a:ext cx="6030351" cy="5099759"/>
          </a:xfrm>
          <a:prstGeom prst="rect">
            <a:avLst/>
          </a:prstGeom>
          <a:noFill/>
          <a:ln w="9525">
            <a:noFill/>
            <a:miter lim="800000"/>
            <a:headEnd/>
            <a:tailEnd/>
          </a:ln>
        </p:spPr>
      </p:pic>
      <p:sp>
        <p:nvSpPr>
          <p:cNvPr id="10" name="Rectangle 9"/>
          <p:cNvSpPr/>
          <p:nvPr/>
        </p:nvSpPr>
        <p:spPr>
          <a:xfrm>
            <a:off x="8054976" y="6071940"/>
            <a:ext cx="2525050" cy="369332"/>
          </a:xfrm>
          <a:prstGeom prst="rect">
            <a:avLst/>
          </a:prstGeom>
        </p:spPr>
        <p:txBody>
          <a:bodyPr wrap="none">
            <a:spAutoFit/>
          </a:bodyPr>
          <a:lstStyle/>
          <a:p>
            <a:pPr lvl="0" algn="ctr" fontAlgn="base">
              <a:spcBef>
                <a:spcPct val="0"/>
              </a:spcBef>
              <a:spcAft>
                <a:spcPct val="0"/>
              </a:spcAft>
            </a:pPr>
            <a:r>
              <a:rPr lang="en-US" dirty="0" smtClean="0">
                <a:latin typeface="Times New Roman" pitchFamily="18" charset="0"/>
                <a:cs typeface="Times New Roman" pitchFamily="18" charset="0"/>
              </a:rPr>
              <a:t>MACH 3 Block Diagram</a:t>
            </a:r>
            <a:endParaRPr lang="en-US" sz="2800" dirty="0" smtClean="0">
              <a:latin typeface="Arial" pitchFamily="34" charset="0"/>
              <a:cs typeface="Arial" pitchFamily="34" charset="0"/>
            </a:endParaRPr>
          </a:p>
        </p:txBody>
      </p:sp>
    </p:spTree>
    <p:extLst>
      <p:ext uri="{BB962C8B-B14F-4D97-AF65-F5344CB8AC3E}">
        <p14:creationId xmlns:p14="http://schemas.microsoft.com/office/powerpoint/2010/main" val="272481837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7" name="Picture 6"/>
          <p:cNvPicPr/>
          <p:nvPr/>
        </p:nvPicPr>
        <p:blipFill>
          <a:blip r:embed="rId3"/>
          <a:srcRect/>
          <a:stretch>
            <a:fillRect/>
          </a:stretch>
        </p:blipFill>
        <p:spPr bwMode="auto">
          <a:xfrm>
            <a:off x="-1" y="900635"/>
            <a:ext cx="6583681" cy="3769839"/>
          </a:xfrm>
          <a:prstGeom prst="rect">
            <a:avLst/>
          </a:prstGeom>
          <a:noFill/>
          <a:ln w="9525">
            <a:noFill/>
            <a:miter lim="800000"/>
            <a:headEnd/>
            <a:tailEnd/>
          </a:ln>
        </p:spPr>
      </p:pic>
      <p:sp>
        <p:nvSpPr>
          <p:cNvPr id="9" name="Rectangle 8"/>
          <p:cNvSpPr/>
          <p:nvPr/>
        </p:nvSpPr>
        <p:spPr>
          <a:xfrm>
            <a:off x="1415027" y="5059066"/>
            <a:ext cx="2525050" cy="369332"/>
          </a:xfrm>
          <a:prstGeom prst="rect">
            <a:avLst/>
          </a:prstGeom>
        </p:spPr>
        <p:txBody>
          <a:bodyPr wrap="none">
            <a:spAutoFit/>
          </a:bodyPr>
          <a:lstStyle/>
          <a:p>
            <a:pPr lvl="0" algn="ctr" fontAlgn="base">
              <a:spcBef>
                <a:spcPct val="0"/>
              </a:spcBef>
              <a:spcAft>
                <a:spcPct val="0"/>
              </a:spcAft>
            </a:pPr>
            <a:r>
              <a:rPr lang="en-US" dirty="0" smtClean="0">
                <a:latin typeface="Times New Roman" pitchFamily="18" charset="0"/>
                <a:cs typeface="Times New Roman" pitchFamily="18" charset="0"/>
              </a:rPr>
              <a:t>MACH 4 Block Diagram</a:t>
            </a:r>
            <a:endParaRPr lang="en-US" sz="2800" dirty="0" smtClean="0">
              <a:latin typeface="Arial" pitchFamily="34" charset="0"/>
              <a:cs typeface="Arial" pitchFamily="34" charset="0"/>
            </a:endParaRPr>
          </a:p>
        </p:txBody>
      </p:sp>
      <p:pic>
        <p:nvPicPr>
          <p:cNvPr id="10" name="Picture 9"/>
          <p:cNvPicPr/>
          <p:nvPr/>
        </p:nvPicPr>
        <p:blipFill>
          <a:blip r:embed="rId4"/>
          <a:srcRect/>
          <a:stretch>
            <a:fillRect/>
          </a:stretch>
        </p:blipFill>
        <p:spPr bwMode="auto">
          <a:xfrm>
            <a:off x="6688161" y="727343"/>
            <a:ext cx="5314950" cy="3743325"/>
          </a:xfrm>
          <a:prstGeom prst="rect">
            <a:avLst/>
          </a:prstGeom>
          <a:noFill/>
          <a:ln w="9525">
            <a:noFill/>
            <a:miter lim="800000"/>
            <a:headEnd/>
            <a:tailEnd/>
          </a:ln>
        </p:spPr>
      </p:pic>
      <p:sp>
        <p:nvSpPr>
          <p:cNvPr id="11" name="Rectangle 10"/>
          <p:cNvSpPr/>
          <p:nvPr/>
        </p:nvSpPr>
        <p:spPr>
          <a:xfrm>
            <a:off x="8786496" y="4988727"/>
            <a:ext cx="2525050" cy="369332"/>
          </a:xfrm>
          <a:prstGeom prst="rect">
            <a:avLst/>
          </a:prstGeom>
        </p:spPr>
        <p:txBody>
          <a:bodyPr wrap="none">
            <a:spAutoFit/>
          </a:bodyPr>
          <a:lstStyle/>
          <a:p>
            <a:pPr lvl="0" algn="ctr" fontAlgn="base">
              <a:spcBef>
                <a:spcPct val="0"/>
              </a:spcBef>
              <a:spcAft>
                <a:spcPct val="0"/>
              </a:spcAft>
            </a:pPr>
            <a:r>
              <a:rPr lang="en-US" dirty="0" smtClean="0">
                <a:latin typeface="Times New Roman" pitchFamily="18" charset="0"/>
                <a:cs typeface="Times New Roman" pitchFamily="18" charset="0"/>
              </a:rPr>
              <a:t>MACH 5 Block Diagram</a:t>
            </a:r>
            <a:endParaRPr lang="en-US" sz="2800" dirty="0" smtClean="0">
              <a:latin typeface="Arial" pitchFamily="34" charset="0"/>
              <a:cs typeface="Arial" pitchFamily="34" charset="0"/>
            </a:endParaRPr>
          </a:p>
        </p:txBody>
      </p:sp>
    </p:spTree>
    <p:extLst>
      <p:ext uri="{BB962C8B-B14F-4D97-AF65-F5344CB8AC3E}">
        <p14:creationId xmlns:p14="http://schemas.microsoft.com/office/powerpoint/2010/main" val="214070843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083211" y="1252025"/>
            <a:ext cx="10370851" cy="3539430"/>
          </a:xfrm>
          <a:prstGeom prst="rect">
            <a:avLst/>
          </a:prstGeom>
          <a:noFill/>
        </p:spPr>
        <p:txBody>
          <a:bodyPr wrap="square" rtlCol="0">
            <a:spAutoFit/>
          </a:bodyPr>
          <a:lstStyle/>
          <a:p>
            <a:pPr lvl="0" algn="just"/>
            <a:r>
              <a:rPr lang="en-US" sz="2800" dirty="0" smtClean="0"/>
              <a:t>Advanced Micro Devices (AMD) offers CPLDs with five sub families called Mach 1 to 5</a:t>
            </a:r>
          </a:p>
          <a:p>
            <a:pPr lvl="0" algn="just"/>
            <a:r>
              <a:rPr lang="en-US" sz="2800" dirty="0" smtClean="0"/>
              <a:t>Mach devices uses EEPROM technology</a:t>
            </a:r>
          </a:p>
          <a:p>
            <a:pPr lvl="0" algn="just"/>
            <a:r>
              <a:rPr lang="en-US" sz="2800" dirty="0" smtClean="0"/>
              <a:t>Mach devices are small in size, high speed and low power devices</a:t>
            </a:r>
          </a:p>
          <a:p>
            <a:pPr lvl="0" algn="just"/>
            <a:r>
              <a:rPr lang="en-US" sz="2800" dirty="0" smtClean="0"/>
              <a:t>Each Mach devices has multiple PAL blocks</a:t>
            </a:r>
          </a:p>
          <a:p>
            <a:pPr lvl="0" algn="just"/>
            <a:r>
              <a:rPr lang="en-US" sz="2800" dirty="0" smtClean="0"/>
              <a:t>Mach 1 and Mach 2 consists 22V16 PALs</a:t>
            </a:r>
          </a:p>
          <a:p>
            <a:pPr lvl="0" algn="just"/>
            <a:r>
              <a:rPr lang="en-US" sz="2800" dirty="0" smtClean="0"/>
              <a:t>Mach 3 and Mach 4 consists 34V16 PALs</a:t>
            </a:r>
          </a:p>
          <a:p>
            <a:pPr lvl="0" algn="just"/>
            <a:r>
              <a:rPr lang="en-US" sz="2800" dirty="0" smtClean="0"/>
              <a:t>Mach 5 consists 34VPALs with enhanced speed</a:t>
            </a:r>
            <a:endParaRPr lang="en-US" sz="2800" dirty="0"/>
          </a:p>
        </p:txBody>
      </p:sp>
    </p:spTree>
    <p:extLst>
      <p:ext uri="{BB962C8B-B14F-4D97-AF65-F5344CB8AC3E}">
        <p14:creationId xmlns:p14="http://schemas.microsoft.com/office/powerpoint/2010/main" val="321023109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2443996" y="2091850"/>
            <a:ext cx="9608234" cy="1200329"/>
          </a:xfrm>
          <a:prstGeom prst="rect">
            <a:avLst/>
          </a:prstGeom>
          <a:noFill/>
        </p:spPr>
        <p:txBody>
          <a:bodyPr wrap="square" rtlCol="0">
            <a:spAutoFit/>
          </a:bodyPr>
          <a:lstStyle/>
          <a:p>
            <a:r>
              <a:rPr lang="en-IN" dirty="0" smtClean="0"/>
              <a:t>1. Sketch the Mach I/O Cell</a:t>
            </a:r>
            <a:endParaRPr lang="en-US" dirty="0" smtClean="0"/>
          </a:p>
          <a:p>
            <a:r>
              <a:rPr lang="en-IN" dirty="0" smtClean="0"/>
              <a:t>2. Sketch the MACH Product Term Clusters and the Logic Allocator</a:t>
            </a:r>
            <a:endParaRPr lang="en-US" dirty="0" smtClean="0"/>
          </a:p>
          <a:p>
            <a:pPr marL="342900" indent="-342900">
              <a:lnSpc>
                <a:spcPct val="200000"/>
              </a:lnSpc>
            </a:pP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8080688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1938952"/>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smtClean="0">
                <a:ln/>
                <a:solidFill>
                  <a:srgbClr val="C00000"/>
                </a:solidFill>
                <a:cs typeface="Poppins" panose="00000500000000000000" pitchFamily="2" charset="0"/>
              </a:rPr>
              <a:t>Cypress FLASH 370 Device technology</a:t>
            </a:r>
            <a:endParaRPr lang="en-US" sz="4000" b="1" dirty="0">
              <a:solidFill>
                <a:srgbClr val="C00000"/>
              </a:solidFill>
              <a:effectLst/>
              <a:cs typeface="Poppins" panose="00000500000000000000" pitchFamily="2" charset="0"/>
            </a:endParaRPr>
          </a:p>
        </p:txBody>
      </p:sp>
      <p:sp>
        <p:nvSpPr>
          <p:cNvPr id="33" name="Rectangle 32">
            <a:extLst>
              <a:ext uri="{FF2B5EF4-FFF2-40B4-BE49-F238E27FC236}">
                <a16:creationId xmlns=""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extLst>
      <p:ext uri="{BB962C8B-B14F-4D97-AF65-F5344CB8AC3E}">
        <p14:creationId xmlns:p14="http://schemas.microsoft.com/office/powerpoint/2010/main" val="2005630373"/>
      </p:ext>
    </p:extLst>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93647"/>
          </a:xfrm>
          <a:prstGeom prst="rect">
            <a:avLst/>
          </a:prstGeom>
          <a:noFill/>
        </p:spPr>
        <p:txBody>
          <a:bodyPr wrap="square" rtlCol="0">
            <a:spAutoFit/>
          </a:bodyPr>
          <a:lstStyle/>
          <a:p>
            <a:pPr algn="just"/>
            <a:r>
              <a:rPr lang="en-IN" sz="2400" dirty="0" smtClean="0"/>
              <a:t>The FLASH370 family of CMOS CPLDs provides a range of high-density programmable logic solutions with unparalleled performance. Each member of the family is designed with Cypress’s state-of-the-art Flash technology. All of the devices are electrically erasable and reprogrammable, simplifying product inventory and reducing costs. The FLASH370 family is designed to bring the flexibility, ease of use and performance of the 22V10 to high-density CPLDs. The architecture is based on a number of logic blocks that are connected by a Programmable Interconnect Matrix (PIM). Each logic block features its own product term array, product term allocator array, and 16 </a:t>
            </a:r>
            <a:r>
              <a:rPr lang="en-IN" sz="2400" dirty="0" err="1" smtClean="0"/>
              <a:t>macrocells</a:t>
            </a:r>
            <a:r>
              <a:rPr lang="en-IN" sz="2400" dirty="0" smtClean="0"/>
              <a:t>. The PIM distributes signals from one logic block to another as well as all inputs from pins. The family features a wide variety of densities and pin counts to choose from. At each density there are two packaging options to choose from—one that is I/O intensive and another that is register intensive. </a:t>
            </a:r>
            <a:endParaRPr lang="en-US" sz="2400" dirty="0"/>
          </a:p>
        </p:txBody>
      </p:sp>
    </p:spTree>
    <p:extLst>
      <p:ext uri="{BB962C8B-B14F-4D97-AF65-F5344CB8AC3E}">
        <p14:creationId xmlns:p14="http://schemas.microsoft.com/office/powerpoint/2010/main" val="30801745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descr="https://www.electronics-tutorial.net/Programmable-Logic-Device-Architectures/CPLD/Cypress-FLASH370-CPLDs/Fig_Cypress%20FLASH370%20CPLDs.png"/>
          <p:cNvPicPr/>
          <p:nvPr/>
        </p:nvPicPr>
        <p:blipFill>
          <a:blip r:embed="rId3"/>
          <a:srcRect/>
          <a:stretch>
            <a:fillRect/>
          </a:stretch>
        </p:blipFill>
        <p:spPr bwMode="auto">
          <a:xfrm>
            <a:off x="1913206" y="759656"/>
            <a:ext cx="8975188" cy="5275384"/>
          </a:xfrm>
          <a:prstGeom prst="rect">
            <a:avLst/>
          </a:prstGeom>
          <a:noFill/>
          <a:ln w="9525">
            <a:noFill/>
            <a:miter lim="800000"/>
            <a:headEnd/>
            <a:tailEnd/>
          </a:ln>
        </p:spPr>
      </p:pic>
      <p:sp>
        <p:nvSpPr>
          <p:cNvPr id="7" name="Rectangle 6"/>
          <p:cNvSpPr/>
          <p:nvPr/>
        </p:nvSpPr>
        <p:spPr>
          <a:xfrm>
            <a:off x="5984954" y="6240752"/>
            <a:ext cx="1122423" cy="369332"/>
          </a:xfrm>
          <a:prstGeom prst="rect">
            <a:avLst/>
          </a:prstGeom>
        </p:spPr>
        <p:txBody>
          <a:bodyPr wrap="none">
            <a:spAutoFit/>
          </a:bodyPr>
          <a:lstStyle/>
          <a:p>
            <a:r>
              <a:rPr lang="en-IN" dirty="0" smtClean="0"/>
              <a:t>FLASH370</a:t>
            </a:r>
            <a:endParaRPr lang="en-US" dirty="0"/>
          </a:p>
        </p:txBody>
      </p:sp>
    </p:spTree>
    <p:extLst>
      <p:ext uri="{BB962C8B-B14F-4D97-AF65-F5344CB8AC3E}">
        <p14:creationId xmlns:p14="http://schemas.microsoft.com/office/powerpoint/2010/main" val="164178727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7" name="Picture 6"/>
          <p:cNvPicPr/>
          <p:nvPr/>
        </p:nvPicPr>
        <p:blipFill>
          <a:blip r:embed="rId3"/>
          <a:srcRect/>
          <a:stretch>
            <a:fillRect/>
          </a:stretch>
        </p:blipFill>
        <p:spPr bwMode="auto">
          <a:xfrm>
            <a:off x="1758462" y="914400"/>
            <a:ext cx="8736036" cy="5050302"/>
          </a:xfrm>
          <a:prstGeom prst="rect">
            <a:avLst/>
          </a:prstGeom>
          <a:noFill/>
          <a:ln w="9525">
            <a:noFill/>
            <a:miter lim="800000"/>
            <a:headEnd/>
            <a:tailEnd/>
          </a:ln>
        </p:spPr>
      </p:pic>
    </p:spTree>
    <p:extLst>
      <p:ext uri="{BB962C8B-B14F-4D97-AF65-F5344CB8AC3E}">
        <p14:creationId xmlns:p14="http://schemas.microsoft.com/office/powerpoint/2010/main" val="18306603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7" name="Picture 6"/>
          <p:cNvPicPr/>
          <p:nvPr/>
        </p:nvPicPr>
        <p:blipFill>
          <a:blip r:embed="rId3"/>
          <a:srcRect/>
          <a:stretch>
            <a:fillRect/>
          </a:stretch>
        </p:blipFill>
        <p:spPr bwMode="auto">
          <a:xfrm>
            <a:off x="1589648" y="801858"/>
            <a:ext cx="8750105" cy="5584873"/>
          </a:xfrm>
          <a:prstGeom prst="rect">
            <a:avLst/>
          </a:prstGeom>
          <a:noFill/>
          <a:ln w="9525">
            <a:noFill/>
            <a:miter lim="800000"/>
            <a:headEnd/>
            <a:tailEnd/>
          </a:ln>
        </p:spPr>
      </p:pic>
    </p:spTree>
    <p:extLst>
      <p:ext uri="{BB962C8B-B14F-4D97-AF65-F5344CB8AC3E}">
        <p14:creationId xmlns:p14="http://schemas.microsoft.com/office/powerpoint/2010/main" val="43134751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083211" y="1252025"/>
            <a:ext cx="10370851" cy="3108543"/>
          </a:xfrm>
          <a:prstGeom prst="rect">
            <a:avLst/>
          </a:prstGeom>
          <a:noFill/>
        </p:spPr>
        <p:txBody>
          <a:bodyPr wrap="square" rtlCol="0">
            <a:spAutoFit/>
          </a:bodyPr>
          <a:lstStyle/>
          <a:p>
            <a:pPr algn="just"/>
            <a:r>
              <a:rPr lang="en-IN" sz="2800" dirty="0" smtClean="0"/>
              <a:t>Stated another way, the FLASH370 features: • no </a:t>
            </a:r>
            <a:r>
              <a:rPr lang="en-IN" sz="2800" dirty="0" err="1" smtClean="0"/>
              <a:t>fanout</a:t>
            </a:r>
            <a:r>
              <a:rPr lang="en-IN" sz="2800" dirty="0" smtClean="0"/>
              <a:t> delays • no expander delays • no dedicated vs. I/O pin delays • no additional delay through PIM • no penalty for using 0–16 product terms • no added delay for steering product terms • no added delay for sharing product terms • no routing delays • no output bypass delays The simple timing model of the FLASH370 family eliminates unexpected performance penalties. </a:t>
            </a:r>
            <a:endParaRPr lang="en-US" sz="2800" dirty="0"/>
          </a:p>
        </p:txBody>
      </p:sp>
    </p:spTree>
    <p:extLst>
      <p:ext uri="{BB962C8B-B14F-4D97-AF65-F5344CB8AC3E}">
        <p14:creationId xmlns:p14="http://schemas.microsoft.com/office/powerpoint/2010/main" val="7009200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2443996" y="2091850"/>
            <a:ext cx="9608234" cy="1122743"/>
          </a:xfrm>
          <a:prstGeom prst="rect">
            <a:avLst/>
          </a:prstGeom>
          <a:noFill/>
        </p:spPr>
        <p:txBody>
          <a:bodyPr wrap="square" rtlCol="0">
            <a:spAutoFit/>
          </a:bodyPr>
          <a:lstStyle/>
          <a:p>
            <a:r>
              <a:rPr lang="en-IN" dirty="0" smtClean="0"/>
              <a:t>1. Define Allocator</a:t>
            </a:r>
            <a:endParaRPr lang="en-US" dirty="0" smtClean="0"/>
          </a:p>
          <a:p>
            <a:r>
              <a:rPr lang="en-IN" dirty="0" smtClean="0"/>
              <a:t>2. Explain Product Term Array</a:t>
            </a:r>
            <a:endParaRPr lang="en-US" dirty="0" smtClean="0"/>
          </a:p>
          <a:p>
            <a:pPr marL="342900" indent="-342900">
              <a:lnSpc>
                <a:spcPct val="200000"/>
              </a:lnSpc>
            </a:pP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9424631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1938952"/>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smtClean="0">
                <a:ln/>
                <a:solidFill>
                  <a:srgbClr val="C00000"/>
                </a:solidFill>
                <a:cs typeface="Poppins" panose="00000500000000000000" pitchFamily="2" charset="0"/>
              </a:rPr>
              <a:t>I/O Cells AND Xilinx </a:t>
            </a:r>
            <a:r>
              <a:rPr lang="en-US" sz="4000" b="1" cap="all" dirty="0">
                <a:ln/>
                <a:solidFill>
                  <a:srgbClr val="C00000"/>
                </a:solidFill>
                <a:cs typeface="Poppins" panose="00000500000000000000" pitchFamily="2" charset="0"/>
              </a:rPr>
              <a:t>I/O Block.</a:t>
            </a:r>
            <a:endParaRPr lang="en-US" sz="4000" b="1" dirty="0">
              <a:solidFill>
                <a:srgbClr val="C00000"/>
              </a:solidFill>
              <a:effectLst/>
              <a:cs typeface="Poppins" panose="00000500000000000000" pitchFamily="2" charset="0"/>
            </a:endParaRPr>
          </a:p>
        </p:txBody>
      </p:sp>
      <p:sp>
        <p:nvSpPr>
          <p:cNvPr id="33" name="Rectangle 32">
            <a:extLst>
              <a:ext uri="{FF2B5EF4-FFF2-40B4-BE49-F238E27FC236}">
                <a16:creationId xmlns=""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extLst>
      <p:ext uri="{BB962C8B-B14F-4D97-AF65-F5344CB8AC3E}">
        <p14:creationId xmlns:p14="http://schemas.microsoft.com/office/powerpoint/2010/main" val="3185456271"/>
      </p:ext>
    </p:extLst>
  </p:cSld>
  <p:clrMapOvr>
    <a:masterClrMapping/>
  </p:clrMapOvr>
  <p:transition spd="slow">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5262979"/>
          </a:xfrm>
          <a:prstGeom prst="rect">
            <a:avLst/>
          </a:prstGeom>
          <a:noFill/>
        </p:spPr>
        <p:txBody>
          <a:bodyPr wrap="square" rtlCol="0">
            <a:spAutoFit/>
          </a:bodyPr>
          <a:lstStyle/>
          <a:p>
            <a:pPr algn="just"/>
            <a:r>
              <a:rPr lang="en-US" sz="2800" dirty="0" smtClean="0"/>
              <a:t>The I/O cell architecture is similar to that of embedded gate arrays, the fastest-growing segment of the gate array market. As with standard gate arrays, embedded gate arrays implement general logic in a conventional “sea-of-gates” architecture. In addition, embedded gate arrays have dedicated die areas for implementing large, specialized functions. By embedding functions in silicon, embedded gate arrays provide reduced die area and increased speed compared to standard gate arrays. However, embedded mega functions typically cannot be customized, limiting the designer’s options. In contrast, I/O cell devices are programmable, providing the designer with full control over embedded mega functions and general logic while facilitating iterative design changes during debugging.</a:t>
            </a:r>
            <a:endParaRPr lang="en-US" sz="2800" dirty="0"/>
          </a:p>
        </p:txBody>
      </p:sp>
    </p:spTree>
    <p:extLst>
      <p:ext uri="{BB962C8B-B14F-4D97-AF65-F5344CB8AC3E}">
        <p14:creationId xmlns:p14="http://schemas.microsoft.com/office/powerpoint/2010/main" val="36458815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p:cNvPicPr/>
          <p:nvPr/>
        </p:nvPicPr>
        <p:blipFill>
          <a:blip r:embed="rId3"/>
          <a:srcRect/>
          <a:stretch>
            <a:fillRect/>
          </a:stretch>
        </p:blipFill>
        <p:spPr bwMode="auto">
          <a:xfrm>
            <a:off x="2686929" y="647114"/>
            <a:ext cx="7498079" cy="5866228"/>
          </a:xfrm>
          <a:prstGeom prst="rect">
            <a:avLst/>
          </a:prstGeom>
          <a:noFill/>
          <a:ln w="9525">
            <a:noFill/>
            <a:miter lim="800000"/>
            <a:headEnd/>
            <a:tailEnd/>
          </a:ln>
        </p:spPr>
      </p:pic>
    </p:spTree>
    <p:extLst>
      <p:ext uri="{BB962C8B-B14F-4D97-AF65-F5344CB8AC3E}">
        <p14:creationId xmlns:p14="http://schemas.microsoft.com/office/powerpoint/2010/main" val="9517956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1692731"/>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3200" b="1" dirty="0" smtClean="0">
                <a:solidFill>
                  <a:srgbClr val="CF2F33"/>
                </a:solidFill>
                <a:latin typeface="Times New Roman" panose="02020603050405020304" pitchFamily="18" charset="0"/>
                <a:cs typeface="Times New Roman" panose="02020603050405020304" pitchFamily="18" charset="0"/>
              </a:rPr>
              <a:t>FPGA </a:t>
            </a:r>
            <a:r>
              <a:rPr lang="en-IN" sz="3200" dirty="0">
                <a:solidFill>
                  <a:srgbClr val="CF2F33"/>
                </a:solidFill>
              </a:rPr>
              <a:t>Partitioning, Floor planning, </a:t>
            </a:r>
            <a:r>
              <a:rPr lang="en-IN" sz="3200" dirty="0" smtClean="0">
                <a:solidFill>
                  <a:srgbClr val="CF2F33"/>
                </a:solidFill>
              </a:rPr>
              <a:t>Placement</a:t>
            </a:r>
            <a:r>
              <a:rPr lang="en-IN" sz="3200" dirty="0">
                <a:solidFill>
                  <a:srgbClr val="CF2F33"/>
                </a:solidFill>
              </a:rPr>
              <a:t>, Routing.</a:t>
            </a:r>
            <a:endParaRPr lang="en-US" sz="3200" b="1" dirty="0">
              <a:solidFill>
                <a:srgbClr val="CF2F33"/>
              </a:solidFill>
              <a:effectLst/>
              <a:cs typeface="Poppins" panose="00000500000000000000" pitchFamily="2" charset="0"/>
            </a:endParaRPr>
          </a:p>
        </p:txBody>
      </p:sp>
      <p:sp>
        <p:nvSpPr>
          <p:cNvPr id="33" name="Rectangle 32">
            <a:extLst>
              <a:ext uri="{FF2B5EF4-FFF2-40B4-BE49-F238E27FC236}">
                <a16:creationId xmlns=""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extLst>
      <p:ext uri="{BB962C8B-B14F-4D97-AF65-F5344CB8AC3E}">
        <p14:creationId xmlns:p14="http://schemas.microsoft.com/office/powerpoint/2010/main" val="1550882534"/>
      </p:ext>
    </p:extLst>
  </p:cSld>
  <p:clrMapOvr>
    <a:masterClrMapping/>
  </p:clrMapOvr>
  <p:transition spd="slow">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1911DBE5-549D-442E-BACB-A9A044C39754}"/>
              </a:ext>
            </a:extLst>
          </p:cNvPr>
          <p:cNvSpPr/>
          <p:nvPr/>
        </p:nvSpPr>
        <p:spPr>
          <a:xfrm>
            <a:off x="135117" y="518474"/>
            <a:ext cx="11596000" cy="3224081"/>
          </a:xfrm>
          <a:prstGeom prst="rect">
            <a:avLst/>
          </a:prstGeom>
        </p:spPr>
        <p:txBody>
          <a:bodyPr wrap="square">
            <a:spAutoFit/>
          </a:bodyPr>
          <a:lstStyle/>
          <a:p>
            <a:r>
              <a:rPr lang="en-IN" sz="2400" b="1" dirty="0"/>
              <a:t>Partitioning: </a:t>
            </a:r>
          </a:p>
          <a:p>
            <a:pPr marL="285750" indent="-285750">
              <a:buFont typeface="Wingdings" panose="05000000000000000000" pitchFamily="2" charset="2"/>
              <a:buChar char="Ø"/>
            </a:pPr>
            <a:r>
              <a:rPr lang="en-IN" sz="2000" dirty="0"/>
              <a:t>An MCM may contain as many as 100 chips. In turn, each chip can accommodate a certain number of transistors.</a:t>
            </a:r>
          </a:p>
          <a:p>
            <a:pPr marL="285750" indent="-285750">
              <a:buFont typeface="Wingdings" panose="05000000000000000000" pitchFamily="2" charset="2"/>
              <a:buChar char="Ø"/>
            </a:pPr>
            <a:r>
              <a:rPr lang="en-IN" sz="2000" dirty="0">
                <a:solidFill>
                  <a:srgbClr val="FF0000"/>
                </a:solidFill>
              </a:rPr>
              <a:t>The first assignment herein is to partition the given circuit into </a:t>
            </a:r>
            <a:r>
              <a:rPr lang="en-IN" sz="2000" dirty="0" err="1">
                <a:solidFill>
                  <a:srgbClr val="FF0000"/>
                </a:solidFill>
              </a:rPr>
              <a:t>subcircuits</a:t>
            </a:r>
            <a:r>
              <a:rPr lang="en-IN" sz="2000" dirty="0"/>
              <a:t>.</a:t>
            </a:r>
          </a:p>
          <a:p>
            <a:pPr marL="285750" indent="-285750">
              <a:buFont typeface="Wingdings" panose="05000000000000000000" pitchFamily="2" charset="2"/>
              <a:buChar char="Ø"/>
            </a:pPr>
            <a:r>
              <a:rPr lang="en-IN" sz="2000" dirty="0"/>
              <a:t>The partitioning should warrant fabrication of each </a:t>
            </a:r>
            <a:r>
              <a:rPr lang="en-IN" sz="2000" dirty="0" err="1"/>
              <a:t>subcircuits</a:t>
            </a:r>
            <a:r>
              <a:rPr lang="en-IN" sz="2000" dirty="0"/>
              <a:t> on a single chip. </a:t>
            </a:r>
          </a:p>
          <a:p>
            <a:pPr marL="285750" indent="-285750">
              <a:buFont typeface="Wingdings" panose="05000000000000000000" pitchFamily="2" charset="2"/>
              <a:buChar char="Ø"/>
            </a:pPr>
            <a:r>
              <a:rPr lang="en-IN" sz="2000" u="sng" dirty="0">
                <a:solidFill>
                  <a:srgbClr val="FF0000"/>
                </a:solidFill>
              </a:rPr>
              <a:t>Simultaneously, the number of </a:t>
            </a:r>
            <a:r>
              <a:rPr lang="en-IN" sz="2000" u="sng" dirty="0" err="1">
                <a:solidFill>
                  <a:srgbClr val="FF0000"/>
                </a:solidFill>
              </a:rPr>
              <a:t>subcircuits</a:t>
            </a:r>
            <a:r>
              <a:rPr lang="en-IN" sz="2000" u="sng" dirty="0">
                <a:solidFill>
                  <a:srgbClr val="FF0000"/>
                </a:solidFill>
              </a:rPr>
              <a:t> should be equivalent to or less than the number of chips that the MCM can sustain. </a:t>
            </a:r>
          </a:p>
          <a:p>
            <a:pPr marL="285750" indent="-285750">
              <a:buFont typeface="Wingdings" panose="05000000000000000000" pitchFamily="2" charset="2"/>
              <a:buChar char="Ø"/>
            </a:pPr>
            <a:r>
              <a:rPr lang="en-IN" sz="2000" dirty="0">
                <a:solidFill>
                  <a:srgbClr val="FF0000"/>
                </a:solidFill>
              </a:rPr>
              <a:t>Please note that the MCM designs require performance driven approach</a:t>
            </a:r>
            <a:r>
              <a:rPr lang="en-IN" sz="2000" dirty="0"/>
              <a:t>. This requirement necessitates consideration of the power and timing constraints in the partitioning step.</a:t>
            </a:r>
          </a:p>
          <a:p>
            <a:pPr marL="285750" indent="-285750">
              <a:buFont typeface="Wingdings" panose="05000000000000000000" pitchFamily="2" charset="2"/>
              <a:buChar char="Ø"/>
            </a:pPr>
            <a:r>
              <a:rPr lang="en-IN" sz="2000" dirty="0"/>
              <a:t>These requirements shall be in addition to the traditional I/O constraints and area constraints for chip sites. </a:t>
            </a:r>
          </a:p>
        </p:txBody>
      </p:sp>
      <p:sp>
        <p:nvSpPr>
          <p:cNvPr id="3" name="Rectangle 2">
            <a:extLst>
              <a:ext uri="{FF2B5EF4-FFF2-40B4-BE49-F238E27FC236}">
                <a16:creationId xmlns="" xmlns:a16="http://schemas.microsoft.com/office/drawing/2014/main" id="{F4173A68-6327-4561-A5A8-26B6819B389B}"/>
              </a:ext>
            </a:extLst>
          </p:cNvPr>
          <p:cNvSpPr/>
          <p:nvPr/>
        </p:nvSpPr>
        <p:spPr>
          <a:xfrm>
            <a:off x="135117" y="4136757"/>
            <a:ext cx="11704949" cy="2616101"/>
          </a:xfrm>
          <a:prstGeom prst="rect">
            <a:avLst/>
          </a:prstGeom>
        </p:spPr>
        <p:txBody>
          <a:bodyPr wrap="square">
            <a:spAutoFit/>
          </a:bodyPr>
          <a:lstStyle/>
          <a:p>
            <a:r>
              <a:rPr lang="en-IN" sz="2400" b="1" dirty="0"/>
              <a:t>Placement: </a:t>
            </a:r>
          </a:p>
          <a:p>
            <a:pPr marL="285750" indent="-285750">
              <a:buFont typeface="Wingdings" panose="05000000000000000000" pitchFamily="2" charset="2"/>
              <a:buChar char="Ø"/>
            </a:pPr>
            <a:r>
              <a:rPr lang="en-IN" sz="2000" u="sng" dirty="0"/>
              <a:t>The placement step is concerned with mapping the chips to the chip sites on the MCM substrate</a:t>
            </a:r>
            <a:r>
              <a:rPr lang="en-IN" sz="2000" dirty="0"/>
              <a:t>. </a:t>
            </a:r>
          </a:p>
          <a:p>
            <a:pPr marL="285750" indent="-285750">
              <a:buFont typeface="Wingdings" panose="05000000000000000000" pitchFamily="2" charset="2"/>
              <a:buChar char="Ø"/>
            </a:pPr>
            <a:r>
              <a:rPr lang="en-IN" sz="2000" u="sng" dirty="0"/>
              <a:t>Placement, of course affects not only the thermal characteristics of an MCM but also routing efficiency, which translates directly into manufacturability and cost</a:t>
            </a:r>
            <a:r>
              <a:rPr lang="en-IN" sz="2000" dirty="0"/>
              <a:t>. </a:t>
            </a:r>
          </a:p>
          <a:p>
            <a:pPr marL="285750" indent="-285750">
              <a:buFont typeface="Wingdings" panose="05000000000000000000" pitchFamily="2" charset="2"/>
              <a:buChar char="Ø"/>
            </a:pPr>
            <a:r>
              <a:rPr lang="en-IN" sz="2000" dirty="0"/>
              <a:t>The number of components involved with the chip placement is much less as compared to the IC placement phase.</a:t>
            </a:r>
          </a:p>
          <a:p>
            <a:pPr marL="285750" indent="-285750">
              <a:buFont typeface="Wingdings" panose="05000000000000000000" pitchFamily="2" charset="2"/>
              <a:buChar char="Ø"/>
            </a:pPr>
            <a:r>
              <a:rPr lang="en-IN" sz="2000" dirty="0"/>
              <a:t>However, timing and power constraints in MCM placement problem makes it a significantly different problem compared to the IC placement. </a:t>
            </a:r>
          </a:p>
        </p:txBody>
      </p:sp>
    </p:spTree>
    <p:extLst>
      <p:ext uri="{BB962C8B-B14F-4D97-AF65-F5344CB8AC3E}">
        <p14:creationId xmlns:p14="http://schemas.microsoft.com/office/powerpoint/2010/main" val="7252084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0AF5EEB7-42BE-491C-9A25-3DF1C3A24092}"/>
              </a:ext>
            </a:extLst>
          </p:cNvPr>
          <p:cNvPicPr>
            <a:picLocks noChangeAspect="1"/>
          </p:cNvPicPr>
          <p:nvPr/>
        </p:nvPicPr>
        <p:blipFill>
          <a:blip r:embed="rId3"/>
          <a:stretch>
            <a:fillRect/>
          </a:stretch>
        </p:blipFill>
        <p:spPr>
          <a:xfrm>
            <a:off x="1467439" y="1389510"/>
            <a:ext cx="8760643" cy="5194955"/>
          </a:xfrm>
          <a:prstGeom prst="rect">
            <a:avLst/>
          </a:prstGeom>
        </p:spPr>
      </p:pic>
      <p:sp>
        <p:nvSpPr>
          <p:cNvPr id="3" name="TextBox 2"/>
          <p:cNvSpPr txBox="1"/>
          <p:nvPr/>
        </p:nvSpPr>
        <p:spPr>
          <a:xfrm>
            <a:off x="3105510" y="146649"/>
            <a:ext cx="5454028" cy="523220"/>
          </a:xfrm>
          <a:prstGeom prst="rect">
            <a:avLst/>
          </a:prstGeom>
          <a:noFill/>
        </p:spPr>
        <p:txBody>
          <a:bodyPr wrap="square" rtlCol="0">
            <a:spAutoFit/>
          </a:bodyPr>
          <a:lstStyle/>
          <a:p>
            <a:r>
              <a:rPr lang="en-US" sz="2800" b="1" u="sng" dirty="0"/>
              <a:t>FPGA Architecture --- segmented</a:t>
            </a:r>
          </a:p>
        </p:txBody>
      </p:sp>
    </p:spTree>
    <p:extLst>
      <p:ext uri="{BB962C8B-B14F-4D97-AF65-F5344CB8AC3E}">
        <p14:creationId xmlns:p14="http://schemas.microsoft.com/office/powerpoint/2010/main" val="18987495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4A1264B5-97A5-4B53-A876-746019AD04AD}"/>
              </a:ext>
            </a:extLst>
          </p:cNvPr>
          <p:cNvSpPr/>
          <p:nvPr/>
        </p:nvSpPr>
        <p:spPr>
          <a:xfrm>
            <a:off x="219959" y="1055479"/>
            <a:ext cx="11704948" cy="3231654"/>
          </a:xfrm>
          <a:prstGeom prst="rect">
            <a:avLst/>
          </a:prstGeom>
        </p:spPr>
        <p:txBody>
          <a:bodyPr wrap="square">
            <a:spAutoFit/>
          </a:bodyPr>
          <a:lstStyle/>
          <a:p>
            <a:r>
              <a:rPr lang="en-IN" sz="2400" b="1" dirty="0"/>
              <a:t>Routing:</a:t>
            </a:r>
            <a:r>
              <a:rPr lang="en-IN" dirty="0"/>
              <a:t> </a:t>
            </a:r>
          </a:p>
          <a:p>
            <a:pPr marL="285750" indent="-285750">
              <a:buFont typeface="Wingdings" panose="05000000000000000000" pitchFamily="2" charset="2"/>
              <a:buChar char="Ø"/>
            </a:pPr>
            <a:r>
              <a:rPr lang="en-IN" sz="2000" dirty="0"/>
              <a:t>After the chips have been placed on the chip sites, the next phase of the MCM physical design is to connect these chips specified by the net list. </a:t>
            </a:r>
          </a:p>
          <a:p>
            <a:pPr marL="285750" indent="-285750">
              <a:buFont typeface="Wingdings" panose="05000000000000000000" pitchFamily="2" charset="2"/>
              <a:buChar char="Ø"/>
            </a:pPr>
            <a:r>
              <a:rPr lang="en-IN" sz="2000" u="sng" dirty="0">
                <a:solidFill>
                  <a:srgbClr val="FF0000"/>
                </a:solidFill>
              </a:rPr>
              <a:t>The objective of minimizing routing area in IC design is no longer valid in MCM routing environment. Instead, the objective of the MCM routing is to minimize the number of layers,</a:t>
            </a:r>
            <a:r>
              <a:rPr lang="en-IN" sz="2000" dirty="0"/>
              <a:t> as the cooling requirement and therefore the cost of an MCM depends on the number of layers used. </a:t>
            </a:r>
          </a:p>
          <a:p>
            <a:pPr marL="285750" indent="-285750">
              <a:buFont typeface="Wingdings" panose="05000000000000000000" pitchFamily="2" charset="2"/>
              <a:buChar char="Ø"/>
            </a:pPr>
            <a:r>
              <a:rPr lang="en-IN" sz="2000" u="sng" dirty="0">
                <a:solidFill>
                  <a:srgbClr val="FF0000"/>
                </a:solidFill>
              </a:rPr>
              <a:t>Because of the long interconnect wires involved in MCM design, crosstalk and skin effect become important considerations which are not of much concern in IC layout</a:t>
            </a:r>
          </a:p>
          <a:p>
            <a:pPr marL="285750" indent="-285750">
              <a:buFont typeface="Wingdings" panose="05000000000000000000" pitchFamily="2" charset="2"/>
              <a:buChar char="Ø"/>
            </a:pPr>
            <a:r>
              <a:rPr lang="en-IN" sz="2000" u="sng" dirty="0"/>
              <a:t> </a:t>
            </a:r>
            <a:r>
              <a:rPr lang="en-US" sz="2000" u="sng" dirty="0"/>
              <a:t>In particular, in MCM-D, skin effect of the interconnect becomes more severe. The parasitic effects also degrade the performance if not accounted for in routing of MCMs</a:t>
            </a:r>
            <a:endParaRPr lang="en-IN" sz="2000" u="sng" dirty="0"/>
          </a:p>
        </p:txBody>
      </p:sp>
    </p:spTree>
    <p:extLst>
      <p:ext uri="{BB962C8B-B14F-4D97-AF65-F5344CB8AC3E}">
        <p14:creationId xmlns:p14="http://schemas.microsoft.com/office/powerpoint/2010/main" val="25294998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536529EC-162D-4C83-83C8-3ACCE0BA443B}"/>
              </a:ext>
            </a:extLst>
          </p:cNvPr>
          <p:cNvPicPr>
            <a:picLocks noChangeAspect="1"/>
          </p:cNvPicPr>
          <p:nvPr/>
        </p:nvPicPr>
        <p:blipFill>
          <a:blip r:embed="rId2"/>
          <a:stretch>
            <a:fillRect/>
          </a:stretch>
        </p:blipFill>
        <p:spPr>
          <a:xfrm>
            <a:off x="3222621" y="2062548"/>
            <a:ext cx="5929107" cy="2387043"/>
          </a:xfrm>
          <a:prstGeom prst="rect">
            <a:avLst/>
          </a:prstGeom>
        </p:spPr>
      </p:pic>
    </p:spTree>
    <p:extLst>
      <p:ext uri="{BB962C8B-B14F-4D97-AF65-F5344CB8AC3E}">
        <p14:creationId xmlns:p14="http://schemas.microsoft.com/office/powerpoint/2010/main" val="42369907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F1EF204F-515F-43DA-802B-2E2C48EB65AA}"/>
              </a:ext>
            </a:extLst>
          </p:cNvPr>
          <p:cNvSpPr/>
          <p:nvPr/>
        </p:nvSpPr>
        <p:spPr>
          <a:xfrm>
            <a:off x="2598454" y="444574"/>
            <a:ext cx="5452037" cy="469826"/>
          </a:xfrm>
          <a:prstGeom prst="rect">
            <a:avLst/>
          </a:prstGeom>
        </p:spPr>
        <p:txBody>
          <a:bodyPr wrap="square">
            <a:spAutoFit/>
          </a:bodyPr>
          <a:lstStyle/>
          <a:p>
            <a:r>
              <a:rPr lang="en-IN" sz="2400" b="1" dirty="0"/>
              <a:t>Classification of MCM Routing Algorithms</a:t>
            </a:r>
          </a:p>
        </p:txBody>
      </p:sp>
      <p:sp>
        <p:nvSpPr>
          <p:cNvPr id="3" name="Rectangle 2">
            <a:extLst>
              <a:ext uri="{FF2B5EF4-FFF2-40B4-BE49-F238E27FC236}">
                <a16:creationId xmlns="" xmlns:a16="http://schemas.microsoft.com/office/drawing/2014/main" id="{E6F4D0B3-2107-48CC-A133-1C47CE1B232C}"/>
              </a:ext>
            </a:extLst>
          </p:cNvPr>
          <p:cNvSpPr/>
          <p:nvPr/>
        </p:nvSpPr>
        <p:spPr>
          <a:xfrm>
            <a:off x="465056" y="933366"/>
            <a:ext cx="9895002" cy="369332"/>
          </a:xfrm>
          <a:prstGeom prst="rect">
            <a:avLst/>
          </a:prstGeom>
        </p:spPr>
        <p:txBody>
          <a:bodyPr wrap="square">
            <a:spAutoFit/>
          </a:bodyPr>
          <a:lstStyle/>
          <a:p>
            <a:pPr marL="285750" indent="-285750">
              <a:buFont typeface="Wingdings" panose="05000000000000000000" pitchFamily="2" charset="2"/>
              <a:buChar char="Ø"/>
            </a:pPr>
            <a:r>
              <a:rPr lang="en-IN" dirty="0"/>
              <a:t>There are four distinguished approaches for general (non-programmable) MCM routing problems:</a:t>
            </a:r>
          </a:p>
        </p:txBody>
      </p:sp>
      <p:sp>
        <p:nvSpPr>
          <p:cNvPr id="4" name="Rectangle 3">
            <a:extLst>
              <a:ext uri="{FF2B5EF4-FFF2-40B4-BE49-F238E27FC236}">
                <a16:creationId xmlns="" xmlns:a16="http://schemas.microsoft.com/office/drawing/2014/main" id="{422FC67D-D05D-419A-94C7-5A57222629D0}"/>
              </a:ext>
            </a:extLst>
          </p:cNvPr>
          <p:cNvSpPr/>
          <p:nvPr/>
        </p:nvSpPr>
        <p:spPr>
          <a:xfrm>
            <a:off x="851554" y="1321664"/>
            <a:ext cx="6096000" cy="1200329"/>
          </a:xfrm>
          <a:prstGeom prst="rect">
            <a:avLst/>
          </a:prstGeom>
        </p:spPr>
        <p:txBody>
          <a:bodyPr>
            <a:spAutoFit/>
          </a:bodyPr>
          <a:lstStyle/>
          <a:p>
            <a:pPr marL="342900" indent="-342900">
              <a:buFont typeface="+mj-lt"/>
              <a:buAutoNum type="arabicPeriod"/>
            </a:pPr>
            <a:r>
              <a:rPr lang="en-IN" dirty="0"/>
              <a:t>Maze Routing</a:t>
            </a:r>
          </a:p>
          <a:p>
            <a:pPr marL="342900" indent="-342900">
              <a:buFont typeface="+mj-lt"/>
              <a:buAutoNum type="arabicPeriod"/>
            </a:pPr>
            <a:r>
              <a:rPr lang="en-IN" dirty="0"/>
              <a:t>Multiple Stage Routing</a:t>
            </a:r>
          </a:p>
          <a:p>
            <a:pPr marL="342900" indent="-342900">
              <a:buFont typeface="+mj-lt"/>
              <a:buAutoNum type="arabicPeriod"/>
            </a:pPr>
            <a:r>
              <a:rPr lang="en-IN" dirty="0"/>
              <a:t>Topological Routing</a:t>
            </a:r>
          </a:p>
          <a:p>
            <a:pPr marL="342900" indent="-342900">
              <a:buFont typeface="+mj-lt"/>
              <a:buAutoNum type="arabicPeriod"/>
            </a:pPr>
            <a:r>
              <a:rPr lang="en-IN" dirty="0"/>
              <a:t>Integrated Pin Distribution and Routing</a:t>
            </a:r>
          </a:p>
        </p:txBody>
      </p:sp>
      <p:sp>
        <p:nvSpPr>
          <p:cNvPr id="5" name="Rectangle 4">
            <a:extLst>
              <a:ext uri="{FF2B5EF4-FFF2-40B4-BE49-F238E27FC236}">
                <a16:creationId xmlns="" xmlns:a16="http://schemas.microsoft.com/office/drawing/2014/main" id="{B20B5A52-F2DF-462A-83FB-B38A1BE41472}"/>
              </a:ext>
            </a:extLst>
          </p:cNvPr>
          <p:cNvSpPr/>
          <p:nvPr/>
        </p:nvSpPr>
        <p:spPr>
          <a:xfrm>
            <a:off x="851554" y="2908570"/>
            <a:ext cx="10818829" cy="1711366"/>
          </a:xfrm>
          <a:prstGeom prst="rect">
            <a:avLst/>
          </a:prstGeom>
        </p:spPr>
        <p:txBody>
          <a:bodyPr wrap="square">
            <a:spAutoFit/>
          </a:bodyPr>
          <a:lstStyle/>
          <a:p>
            <a:pPr marL="285750" indent="-285750">
              <a:lnSpc>
                <a:spcPct val="150000"/>
              </a:lnSpc>
              <a:buFont typeface="Wingdings" panose="05000000000000000000" pitchFamily="2" charset="2"/>
              <a:buChar char="ü"/>
            </a:pPr>
            <a:r>
              <a:rPr lang="en-IN" dirty="0"/>
              <a:t> </a:t>
            </a:r>
            <a:r>
              <a:rPr lang="en-US" dirty="0"/>
              <a:t>This method is conceptually simple to implement, it suffers from several problems.</a:t>
            </a:r>
          </a:p>
          <a:p>
            <a:pPr marL="285750" indent="-285750">
              <a:lnSpc>
                <a:spcPct val="150000"/>
              </a:lnSpc>
              <a:buFont typeface="Wingdings" panose="05000000000000000000" pitchFamily="2" charset="2"/>
              <a:buChar char="ü"/>
            </a:pPr>
            <a:r>
              <a:rPr lang="en-US" dirty="0"/>
              <a:t> </a:t>
            </a:r>
            <a:r>
              <a:rPr lang="en-IN" dirty="0"/>
              <a:t>Finally, three dimensional maze routing requires long computational time and large memory space</a:t>
            </a:r>
          </a:p>
          <a:p>
            <a:pPr marL="285750" indent="-285750">
              <a:lnSpc>
                <a:spcPct val="150000"/>
              </a:lnSpc>
              <a:buFont typeface="Wingdings" panose="05000000000000000000" pitchFamily="2" charset="2"/>
              <a:buChar char="ü"/>
            </a:pPr>
            <a:r>
              <a:rPr lang="en-IN" dirty="0"/>
              <a:t> </a:t>
            </a:r>
            <a:r>
              <a:rPr lang="en-US" dirty="0"/>
              <a:t>First, the quality of the maze routing solution is very much sensitive to the ordering of the nets being routed, and there is no effective algorithm for determining a good net ordering in general</a:t>
            </a:r>
            <a:endParaRPr lang="en-IN" dirty="0"/>
          </a:p>
        </p:txBody>
      </p:sp>
      <p:sp>
        <p:nvSpPr>
          <p:cNvPr id="6" name="Rectangle 5">
            <a:extLst>
              <a:ext uri="{FF2B5EF4-FFF2-40B4-BE49-F238E27FC236}">
                <a16:creationId xmlns="" xmlns:a16="http://schemas.microsoft.com/office/drawing/2014/main" id="{BD9F8B8A-7DB6-40EF-8365-B2EA7F6DB343}"/>
              </a:ext>
            </a:extLst>
          </p:cNvPr>
          <p:cNvSpPr/>
          <p:nvPr/>
        </p:nvSpPr>
        <p:spPr>
          <a:xfrm>
            <a:off x="936395" y="4637181"/>
            <a:ext cx="2626937" cy="369332"/>
          </a:xfrm>
          <a:prstGeom prst="rect">
            <a:avLst/>
          </a:prstGeom>
        </p:spPr>
        <p:txBody>
          <a:bodyPr wrap="square">
            <a:spAutoFit/>
          </a:bodyPr>
          <a:lstStyle/>
          <a:p>
            <a:r>
              <a:rPr lang="en-IN" dirty="0"/>
              <a:t>2. </a:t>
            </a:r>
            <a:r>
              <a:rPr lang="en-IN" b="1" dirty="0"/>
              <a:t>Multiple Stage Routing</a:t>
            </a:r>
          </a:p>
        </p:txBody>
      </p:sp>
      <p:sp>
        <p:nvSpPr>
          <p:cNvPr id="7" name="Rectangle 6">
            <a:extLst>
              <a:ext uri="{FF2B5EF4-FFF2-40B4-BE49-F238E27FC236}">
                <a16:creationId xmlns="" xmlns:a16="http://schemas.microsoft.com/office/drawing/2014/main" id="{0FC5520B-3C89-432C-AA0E-ACC78551EBC4}"/>
              </a:ext>
            </a:extLst>
          </p:cNvPr>
          <p:cNvSpPr/>
          <p:nvPr/>
        </p:nvSpPr>
        <p:spPr>
          <a:xfrm>
            <a:off x="851554" y="2591738"/>
            <a:ext cx="1843453" cy="369332"/>
          </a:xfrm>
          <a:prstGeom prst="rect">
            <a:avLst/>
          </a:prstGeom>
        </p:spPr>
        <p:txBody>
          <a:bodyPr wrap="none">
            <a:spAutoFit/>
          </a:bodyPr>
          <a:lstStyle/>
          <a:p>
            <a:pPr marL="342900" indent="-342900">
              <a:buFont typeface="+mj-lt"/>
              <a:buAutoNum type="arabicPeriod"/>
            </a:pPr>
            <a:r>
              <a:rPr lang="en-IN" b="1" dirty="0"/>
              <a:t>Maze Routing</a:t>
            </a:r>
          </a:p>
        </p:txBody>
      </p:sp>
      <p:sp>
        <p:nvSpPr>
          <p:cNvPr id="8" name="Rectangle 7">
            <a:extLst>
              <a:ext uri="{FF2B5EF4-FFF2-40B4-BE49-F238E27FC236}">
                <a16:creationId xmlns="" xmlns:a16="http://schemas.microsoft.com/office/drawing/2014/main" id="{2D9AFC1B-66FD-47ED-B4AD-8732F047EB61}"/>
              </a:ext>
            </a:extLst>
          </p:cNvPr>
          <p:cNvSpPr/>
          <p:nvPr/>
        </p:nvSpPr>
        <p:spPr>
          <a:xfrm>
            <a:off x="1025949" y="5097964"/>
            <a:ext cx="10818829" cy="1477328"/>
          </a:xfrm>
          <a:prstGeom prst="rect">
            <a:avLst/>
          </a:prstGeom>
        </p:spPr>
        <p:txBody>
          <a:bodyPr wrap="square">
            <a:spAutoFit/>
          </a:bodyPr>
          <a:lstStyle/>
          <a:p>
            <a:pPr marL="285750" indent="-285750">
              <a:buFont typeface="Wingdings" panose="05000000000000000000" pitchFamily="2" charset="2"/>
              <a:buChar char="ü"/>
            </a:pPr>
            <a:r>
              <a:rPr lang="en-IN" u="sng" dirty="0"/>
              <a:t>In this approach, the MCM routing problem is decomposed into several subproblems. </a:t>
            </a:r>
          </a:p>
          <a:p>
            <a:pPr marL="285750" indent="-285750">
              <a:buFont typeface="Wingdings" panose="05000000000000000000" pitchFamily="2" charset="2"/>
              <a:buChar char="ü"/>
            </a:pPr>
            <a:r>
              <a:rPr lang="en-IN" u="sng" dirty="0"/>
              <a:t>The close positioning of chips and high pin congestion around the chips require separation of pins before routing can be attempted.</a:t>
            </a:r>
            <a:r>
              <a:rPr lang="en-IN" dirty="0"/>
              <a:t> </a:t>
            </a:r>
          </a:p>
          <a:p>
            <a:pPr marL="285750" indent="-285750">
              <a:buFont typeface="Wingdings" panose="05000000000000000000" pitchFamily="2" charset="2"/>
              <a:buChar char="ü"/>
            </a:pPr>
            <a:r>
              <a:rPr lang="en-IN" u="sng" dirty="0"/>
              <a:t>Pins on the chip layer are first redistributed evenly with sufficient spacing between them so that the connections between the pins of the nets can be made without violating the design rules. </a:t>
            </a:r>
          </a:p>
        </p:txBody>
      </p:sp>
    </p:spTree>
    <p:extLst>
      <p:ext uri="{BB962C8B-B14F-4D97-AF65-F5344CB8AC3E}">
        <p14:creationId xmlns:p14="http://schemas.microsoft.com/office/powerpoint/2010/main" val="6457271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D6624061-E243-4869-8C8F-844DE4679CCD}"/>
              </a:ext>
            </a:extLst>
          </p:cNvPr>
          <p:cNvSpPr/>
          <p:nvPr/>
        </p:nvSpPr>
        <p:spPr>
          <a:xfrm>
            <a:off x="1295451" y="699097"/>
            <a:ext cx="3091808" cy="1477328"/>
          </a:xfrm>
          <a:prstGeom prst="rect">
            <a:avLst/>
          </a:prstGeom>
        </p:spPr>
        <p:txBody>
          <a:bodyPr wrap="none">
            <a:spAutoFit/>
          </a:bodyPr>
          <a:lstStyle/>
          <a:p>
            <a:r>
              <a:rPr lang="en-IN" dirty="0"/>
              <a:t>2.a  Pin Redistribution Problem</a:t>
            </a:r>
          </a:p>
          <a:p>
            <a:r>
              <a:rPr lang="en-IN" dirty="0"/>
              <a:t>2.b   Layer Assignment</a:t>
            </a:r>
          </a:p>
          <a:p>
            <a:r>
              <a:rPr lang="en-IN" dirty="0"/>
              <a:t>2.c   Detailed Routing </a:t>
            </a:r>
          </a:p>
          <a:p>
            <a:r>
              <a:rPr lang="en-IN" dirty="0"/>
              <a:t>2.d  Topological Routing</a:t>
            </a:r>
          </a:p>
          <a:p>
            <a:endParaRPr lang="en-IN" dirty="0"/>
          </a:p>
        </p:txBody>
      </p:sp>
      <p:sp>
        <p:nvSpPr>
          <p:cNvPr id="3" name="Rectangle 2">
            <a:extLst>
              <a:ext uri="{FF2B5EF4-FFF2-40B4-BE49-F238E27FC236}">
                <a16:creationId xmlns="" xmlns:a16="http://schemas.microsoft.com/office/drawing/2014/main" id="{2E90E2BE-E51A-41CE-9759-4EA5F02AA915}"/>
              </a:ext>
            </a:extLst>
          </p:cNvPr>
          <p:cNvSpPr/>
          <p:nvPr/>
        </p:nvSpPr>
        <p:spPr>
          <a:xfrm>
            <a:off x="1295451" y="207217"/>
            <a:ext cx="4388912" cy="369332"/>
          </a:xfrm>
          <a:prstGeom prst="rect">
            <a:avLst/>
          </a:prstGeom>
        </p:spPr>
        <p:txBody>
          <a:bodyPr wrap="square">
            <a:spAutoFit/>
          </a:bodyPr>
          <a:lstStyle/>
          <a:p>
            <a:r>
              <a:rPr lang="en-IN" dirty="0"/>
              <a:t>2. </a:t>
            </a:r>
            <a:r>
              <a:rPr lang="en-IN" b="1" u="sng" dirty="0"/>
              <a:t>Multiple Stage Routing Stages:-</a:t>
            </a:r>
          </a:p>
        </p:txBody>
      </p:sp>
      <p:sp>
        <p:nvSpPr>
          <p:cNvPr id="4" name="Rectangle 3">
            <a:extLst>
              <a:ext uri="{FF2B5EF4-FFF2-40B4-BE49-F238E27FC236}">
                <a16:creationId xmlns="" xmlns:a16="http://schemas.microsoft.com/office/drawing/2014/main" id="{8218A320-1D2E-4A2A-A4ED-0BEA9C841F32}"/>
              </a:ext>
            </a:extLst>
          </p:cNvPr>
          <p:cNvSpPr/>
          <p:nvPr/>
        </p:nvSpPr>
        <p:spPr>
          <a:xfrm>
            <a:off x="743146" y="1913000"/>
            <a:ext cx="10705707" cy="1754326"/>
          </a:xfrm>
          <a:prstGeom prst="rect">
            <a:avLst/>
          </a:prstGeom>
        </p:spPr>
        <p:txBody>
          <a:bodyPr wrap="square">
            <a:spAutoFit/>
          </a:bodyPr>
          <a:lstStyle/>
          <a:p>
            <a:r>
              <a:rPr lang="en-IN" b="1" dirty="0"/>
              <a:t>2.a  Pin Redistribution Problem :-</a:t>
            </a:r>
          </a:p>
          <a:p>
            <a:pPr marL="285750" indent="-285750">
              <a:buFont typeface="Wingdings" panose="05000000000000000000" pitchFamily="2" charset="2"/>
              <a:buChar char="ü"/>
            </a:pPr>
            <a:r>
              <a:rPr lang="en-IN" dirty="0"/>
              <a:t>minimize the total number of pin redistribution layers.</a:t>
            </a:r>
          </a:p>
          <a:p>
            <a:pPr marL="285750" indent="-285750">
              <a:buFont typeface="Wingdings" panose="05000000000000000000" pitchFamily="2" charset="2"/>
              <a:buChar char="ü"/>
            </a:pPr>
            <a:r>
              <a:rPr lang="en-IN" dirty="0"/>
              <a:t>minimize the total number of signal distribution layers.</a:t>
            </a:r>
          </a:p>
          <a:p>
            <a:pPr marL="285750" indent="-285750">
              <a:buFont typeface="Wingdings" panose="05000000000000000000" pitchFamily="2" charset="2"/>
              <a:buChar char="ü"/>
            </a:pPr>
            <a:r>
              <a:rPr lang="en-IN" dirty="0"/>
              <a:t>minimize the cross-talks.</a:t>
            </a:r>
          </a:p>
          <a:p>
            <a:pPr marL="285750" indent="-285750">
              <a:buFont typeface="Wingdings" panose="05000000000000000000" pitchFamily="2" charset="2"/>
              <a:buChar char="ü"/>
            </a:pPr>
            <a:r>
              <a:rPr lang="en-IN" dirty="0"/>
              <a:t>minimize the maximum signal delay.</a:t>
            </a:r>
          </a:p>
          <a:p>
            <a:pPr marL="285750" indent="-285750">
              <a:buFont typeface="Wingdings" panose="05000000000000000000" pitchFamily="2" charset="2"/>
              <a:buChar char="ü"/>
            </a:pPr>
            <a:r>
              <a:rPr lang="en-IN" dirty="0"/>
              <a:t>maximize the number of nets that can routed in planar fashion</a:t>
            </a:r>
          </a:p>
        </p:txBody>
      </p:sp>
      <p:pic>
        <p:nvPicPr>
          <p:cNvPr id="5" name="Picture 4">
            <a:extLst>
              <a:ext uri="{FF2B5EF4-FFF2-40B4-BE49-F238E27FC236}">
                <a16:creationId xmlns="" xmlns:a16="http://schemas.microsoft.com/office/drawing/2014/main" id="{1FF996BB-A01F-41AC-BD63-1E120337D933}"/>
              </a:ext>
            </a:extLst>
          </p:cNvPr>
          <p:cNvPicPr>
            <a:picLocks noChangeAspect="1"/>
          </p:cNvPicPr>
          <p:nvPr/>
        </p:nvPicPr>
        <p:blipFill>
          <a:blip r:embed="rId2"/>
          <a:stretch>
            <a:fillRect/>
          </a:stretch>
        </p:blipFill>
        <p:spPr>
          <a:xfrm>
            <a:off x="1821190" y="4221908"/>
            <a:ext cx="5438775" cy="2552700"/>
          </a:xfrm>
          <a:prstGeom prst="rect">
            <a:avLst/>
          </a:prstGeom>
        </p:spPr>
      </p:pic>
      <p:sp>
        <p:nvSpPr>
          <p:cNvPr id="6" name="TextBox 5">
            <a:extLst>
              <a:ext uri="{FF2B5EF4-FFF2-40B4-BE49-F238E27FC236}">
                <a16:creationId xmlns="" xmlns:a16="http://schemas.microsoft.com/office/drawing/2014/main" id="{F6A2D318-0F04-4B92-B860-16D2B1C777E7}"/>
              </a:ext>
            </a:extLst>
          </p:cNvPr>
          <p:cNvSpPr txBox="1"/>
          <p:nvPr/>
        </p:nvSpPr>
        <p:spPr>
          <a:xfrm>
            <a:off x="833354" y="3801704"/>
            <a:ext cx="3553905" cy="369332"/>
          </a:xfrm>
          <a:prstGeom prst="rect">
            <a:avLst/>
          </a:prstGeom>
          <a:noFill/>
        </p:spPr>
        <p:txBody>
          <a:bodyPr wrap="square" rtlCol="0">
            <a:spAutoFit/>
          </a:bodyPr>
          <a:lstStyle/>
          <a:p>
            <a:r>
              <a:rPr lang="en-US" b="1" dirty="0"/>
              <a:t>Topological Routing</a:t>
            </a:r>
            <a:endParaRPr lang="en-IN" b="1" dirty="0"/>
          </a:p>
        </p:txBody>
      </p:sp>
    </p:spTree>
    <p:extLst>
      <p:ext uri="{BB962C8B-B14F-4D97-AF65-F5344CB8AC3E}">
        <p14:creationId xmlns:p14="http://schemas.microsoft.com/office/powerpoint/2010/main" val="18160439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548194" y="2466512"/>
            <a:ext cx="10066051" cy="2308324"/>
          </a:xfrm>
          <a:prstGeom prst="rect">
            <a:avLst/>
          </a:prstGeom>
          <a:noFill/>
        </p:spPr>
        <p:txBody>
          <a:bodyPr wrap="square" rtlCol="0">
            <a:spAutoFit/>
          </a:bodyPr>
          <a:lstStyle/>
          <a:p>
            <a:r>
              <a:rPr lang="en-US" sz="2400" dirty="0"/>
              <a:t>FPGA partitioning and routing are fundamental steps in the design process that significantly impact the success of FPGA-based projects. Proper partitioning and efficient routing are essential for achieving the desired performance, power efficiency, and functionality of the FPGA design. Careful planning, optimization, and the use of appropriate tools are key to meeting the design goals while addressing the challenges associated with FPGA partitioning and routing.</a:t>
            </a:r>
            <a:endParaRPr lang="en-US" sz="2600" dirty="0"/>
          </a:p>
        </p:txBody>
      </p:sp>
    </p:spTree>
    <p:extLst>
      <p:ext uri="{BB962C8B-B14F-4D97-AF65-F5344CB8AC3E}">
        <p14:creationId xmlns:p14="http://schemas.microsoft.com/office/powerpoint/2010/main" val="30654554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2443996" y="2091850"/>
            <a:ext cx="9608234" cy="880369"/>
          </a:xfrm>
          <a:prstGeom prst="rect">
            <a:avLst/>
          </a:prstGeom>
          <a:noFill/>
        </p:spPr>
        <p:txBody>
          <a:bodyPr wrap="square" rtlCol="0">
            <a:spAutoFit/>
          </a:bodyPr>
          <a:lstStyle/>
          <a:p>
            <a:pPr marL="342900" lvl="0" indent="-342900" algn="just">
              <a:lnSpc>
                <a:spcPct val="150000"/>
              </a:lnSpc>
              <a:buFont typeface="+mj-lt"/>
              <a:buAutoNum type="arabicPeriod"/>
            </a:pPr>
            <a:r>
              <a:rPr lang="en-US" dirty="0" smtClean="0"/>
              <a:t>Explain the </a:t>
            </a:r>
            <a:r>
              <a:rPr lang="en-US" dirty="0"/>
              <a:t>how to partition an FPGA design</a:t>
            </a:r>
            <a:r>
              <a:rPr lang="en-US" dirty="0" smtClean="0"/>
              <a:t>?</a:t>
            </a:r>
          </a:p>
          <a:p>
            <a:pPr marL="342900" lvl="0" indent="-342900" algn="just">
              <a:lnSpc>
                <a:spcPct val="150000"/>
              </a:lnSpc>
              <a:buFont typeface="+mj-lt"/>
              <a:buAutoNum type="arabicPeriod"/>
            </a:pPr>
            <a:r>
              <a:rPr lang="en-US" dirty="0" smtClean="0"/>
              <a:t>Describe the </a:t>
            </a:r>
            <a:r>
              <a:rPr lang="en-US" dirty="0"/>
              <a:t>In FPGA design, what does routing refer to?</a:t>
            </a: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4305718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ASIC &amp; FPGA </a:t>
            </a:r>
            <a:r>
              <a:rPr lang="en-US" sz="2400" b="1" dirty="0" smtClean="0">
                <a:latin typeface="Poppins" pitchFamily="2" charset="77"/>
                <a:cs typeface="Poppins" pitchFamily="2" charset="77"/>
              </a:rPr>
              <a:t>Design</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extLst>
      <p:ext uri="{BB962C8B-B14F-4D97-AF65-F5344CB8AC3E}">
        <p14:creationId xmlns:p14="http://schemas.microsoft.com/office/powerpoint/2010/main" val="10311346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http://schemas.microsoft.com/office/2006/documentManagement/types"/>
    <ds:schemaRef ds:uri="http://purl.org/dc/elements/1.1/"/>
    <ds:schemaRef ds:uri="http://schemas.microsoft.com/office/2006/metadata/properties"/>
    <ds:schemaRef ds:uri="0125a647-8023-46ae-ae6e-85cf36d841bd"/>
    <ds:schemaRef ds:uri="http://purl.org/dc/terms/"/>
    <ds:schemaRef ds:uri="http://schemas.openxmlformats.org/package/2006/metadata/core-properties"/>
    <ds:schemaRef ds:uri="http://schemas.microsoft.com/office/infopath/2007/PartnerControls"/>
    <ds:schemaRef ds:uri="d43ee83c-3e71-4748-8ebc-8eaadf793425"/>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1396</TotalTime>
  <Words>3408</Words>
  <Application>Microsoft Office PowerPoint</Application>
  <PresentationFormat>Widescreen</PresentationFormat>
  <Paragraphs>428</Paragraphs>
  <Slides>65</Slides>
  <Notes>18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65</vt:i4>
      </vt:variant>
    </vt:vector>
  </HeadingPairs>
  <TitlesOfParts>
    <vt:vector size="76" baseType="lpstr">
      <vt:lpstr>Angsana New</vt:lpstr>
      <vt:lpstr>Arial</vt:lpstr>
      <vt:lpstr>BioRhyme ExtraBold</vt:lpstr>
      <vt:lpstr>Calibri</vt:lpstr>
      <vt:lpstr>Calibri Light</vt:lpstr>
      <vt:lpstr>Cordia New</vt:lpstr>
      <vt:lpstr>Poppins</vt:lpstr>
      <vt:lpstr>Söhne</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FPGA Routing Architecture</vt:lpstr>
      <vt:lpstr>PowerPoint Presentation</vt:lpstr>
      <vt:lpstr>PowerPoint Presentation</vt:lpstr>
      <vt:lpstr>PowerPoint Presentation</vt:lpstr>
      <vt:lpstr>PowerPoint Presentation</vt:lpstr>
      <vt:lpstr>XC 4000</vt:lpstr>
      <vt:lpstr>XC4000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123</cp:lastModifiedBy>
  <cp:revision>69</cp:revision>
  <dcterms:created xsi:type="dcterms:W3CDTF">2020-02-08T09:57:44Z</dcterms:created>
  <dcterms:modified xsi:type="dcterms:W3CDTF">2025-10-14T08:57:38Z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