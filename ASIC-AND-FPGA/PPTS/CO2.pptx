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36"/>
  </p:notesMasterIdLst>
  <p:handoutMasterIdLst>
    <p:handoutMasterId r:id="rId37"/>
  </p:handoutMasterIdLst>
  <p:sldIdLst>
    <p:sldId id="256" r:id="rId2"/>
    <p:sldId id="425" r:id="rId3"/>
    <p:sldId id="418" r:id="rId4"/>
    <p:sldId id="424" r:id="rId5"/>
    <p:sldId id="419" r:id="rId6"/>
    <p:sldId id="426" r:id="rId7"/>
    <p:sldId id="420" r:id="rId8"/>
    <p:sldId id="421" r:id="rId9"/>
    <p:sldId id="422" r:id="rId10"/>
    <p:sldId id="405" r:id="rId11"/>
    <p:sldId id="423" r:id="rId12"/>
    <p:sldId id="406" r:id="rId13"/>
    <p:sldId id="428" r:id="rId14"/>
    <p:sldId id="429" r:id="rId15"/>
    <p:sldId id="430" r:id="rId16"/>
    <p:sldId id="431" r:id="rId17"/>
    <p:sldId id="432" r:id="rId18"/>
    <p:sldId id="433" r:id="rId19"/>
    <p:sldId id="434" r:id="rId20"/>
    <p:sldId id="407" r:id="rId21"/>
    <p:sldId id="408" r:id="rId22"/>
    <p:sldId id="435" r:id="rId23"/>
    <p:sldId id="436" r:id="rId24"/>
    <p:sldId id="409" r:id="rId25"/>
    <p:sldId id="410" r:id="rId26"/>
    <p:sldId id="411" r:id="rId27"/>
    <p:sldId id="412" r:id="rId28"/>
    <p:sldId id="413" r:id="rId29"/>
    <p:sldId id="414" r:id="rId30"/>
    <p:sldId id="415" r:id="rId31"/>
    <p:sldId id="416" r:id="rId32"/>
    <p:sldId id="417" r:id="rId33"/>
    <p:sldId id="307" r:id="rId34"/>
    <p:sldId id="439" r:id="rId3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105A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4" d="100"/>
          <a:sy n="74" d="100"/>
        </p:scale>
        <p:origin x="57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6CDB74D4-5E76-4C47-E7AA-61E2C648C8D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p>
        </p:txBody>
      </p:sp>
      <p:sp>
        <p:nvSpPr>
          <p:cNvPr id="3" name="Date Placeholder 2">
            <a:extLst>
              <a:ext uri="{FF2B5EF4-FFF2-40B4-BE49-F238E27FC236}">
                <a16:creationId xmlns:a16="http://schemas.microsoft.com/office/drawing/2014/main" xmlns="" id="{7C962EDA-0A3B-5C3A-C8DF-7672C339CF9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775D750-AD1D-4C03-A026-1768137CC901}" type="datetimeFigureOut">
              <a:rPr lang="en-IN" smtClean="0"/>
              <a:t>20-08-2025</a:t>
            </a:fld>
            <a:endParaRPr lang="en-IN"/>
          </a:p>
        </p:txBody>
      </p:sp>
      <p:sp>
        <p:nvSpPr>
          <p:cNvPr id="4" name="Footer Placeholder 3">
            <a:extLst>
              <a:ext uri="{FF2B5EF4-FFF2-40B4-BE49-F238E27FC236}">
                <a16:creationId xmlns:a16="http://schemas.microsoft.com/office/drawing/2014/main" xmlns="" id="{1EC80489-5F61-FA08-A147-AE43BE9C499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5" name="Slide Number Placeholder 4">
            <a:extLst>
              <a:ext uri="{FF2B5EF4-FFF2-40B4-BE49-F238E27FC236}">
                <a16:creationId xmlns:a16="http://schemas.microsoft.com/office/drawing/2014/main" xmlns="" id="{F72D387C-1469-6716-E148-98BDCB69762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44566E6-FD90-4AE7-9488-620D46A968BE}" type="slidenum">
              <a:rPr lang="en-IN" smtClean="0"/>
              <a:t>‹#›</a:t>
            </a:fld>
            <a:endParaRPr lang="en-IN"/>
          </a:p>
        </p:txBody>
      </p:sp>
    </p:spTree>
    <p:extLst>
      <p:ext uri="{BB962C8B-B14F-4D97-AF65-F5344CB8AC3E}">
        <p14:creationId xmlns:p14="http://schemas.microsoft.com/office/powerpoint/2010/main" val="954391555"/>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26BB4A-8EA9-40D4-95BF-21E04B247614}" type="datetimeFigureOut">
              <a:rPr lang="en-IN" smtClean="0"/>
              <a:t>20-08-2025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3BDDA1-7BB7-447A-97DE-AE5425C8F2AD}" type="slidenum">
              <a:rPr lang="en-IN" smtClean="0"/>
              <a:t>‹#›</a:t>
            </a:fld>
            <a:endParaRPr lang="en-IN"/>
          </a:p>
        </p:txBody>
      </p:sp>
    </p:spTree>
    <p:extLst>
      <p:ext uri="{BB962C8B-B14F-4D97-AF65-F5344CB8AC3E}">
        <p14:creationId xmlns:p14="http://schemas.microsoft.com/office/powerpoint/2010/main" val="3310007880"/>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3</a:t>
            </a:fld>
            <a:endParaRPr lang="en-US"/>
          </a:p>
        </p:txBody>
      </p:sp>
    </p:spTree>
    <p:extLst>
      <p:ext uri="{BB962C8B-B14F-4D97-AF65-F5344CB8AC3E}">
        <p14:creationId xmlns:p14="http://schemas.microsoft.com/office/powerpoint/2010/main" val="10506881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a:xfrm>
            <a:off x="1437664" y="798973"/>
            <a:ext cx="811019" cy="503578"/>
          </a:xfrm>
        </p:spPr>
        <p:txBody>
          <a:bodyPr/>
          <a:lstStyle/>
          <a:p>
            <a:fld id="{CBABCCC1-BF11-4F37-963E-1BCD5B23FD72}" type="slidenum">
              <a:rPr lang="en-IN" smtClean="0"/>
              <a:t>‹#›</a:t>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839828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t>‹#›</a:t>
            </a:fld>
            <a:endParaRPr lang="en-IN"/>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575211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t>‹#›</a:t>
            </a:fld>
            <a:endParaRPr lang="en-I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909489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t>‹#›</a:t>
            </a:fld>
            <a:endParaRPr lang="en-I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7522861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a:t>&lt;COURSE TITLE&gt;, &lt;TOPIC NAME&gt;</a:t>
            </a:r>
            <a:endParaRPr lang="en-IN" dirty="0"/>
          </a:p>
        </p:txBody>
      </p:sp>
      <p:sp>
        <p:nvSpPr>
          <p:cNvPr id="9" name="Slide Number Placeholder 8"/>
          <p:cNvSpPr>
            <a:spLocks noGrp="1"/>
          </p:cNvSpPr>
          <p:nvPr>
            <p:ph type="sldNum" sz="quarter" idx="12"/>
          </p:nvPr>
        </p:nvSpPr>
        <p:spPr/>
        <p:txBody>
          <a:bodyPr/>
          <a:lstStyle/>
          <a:p>
            <a:fld id="{CBABCCC1-BF11-4F37-963E-1BCD5B23FD72}" type="slidenum">
              <a:rPr lang="en-IN" smtClean="0"/>
              <a:t>‹#›</a:t>
            </a:fld>
            <a:endParaRPr lang="en-I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383727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a:t>&lt;COURSE TITLE&gt;, &lt;TOPIC NAME&gt;</a:t>
            </a:r>
            <a:endParaRPr lang="en-IN" dirty="0"/>
          </a:p>
        </p:txBody>
      </p:sp>
      <p:sp>
        <p:nvSpPr>
          <p:cNvPr id="5" name="Slide Number Placeholder 4"/>
          <p:cNvSpPr>
            <a:spLocks noGrp="1"/>
          </p:cNvSpPr>
          <p:nvPr>
            <p:ph type="sldNum" sz="quarter" idx="12"/>
          </p:nvPr>
        </p:nvSpPr>
        <p:spPr/>
        <p:txBody>
          <a:bodyPr/>
          <a:lstStyle/>
          <a:p>
            <a:fld id="{CBABCCC1-BF11-4F37-963E-1BCD5B23FD72}" type="slidenum">
              <a:rPr lang="en-IN" smtClean="0"/>
              <a:t>‹#›</a:t>
            </a:fld>
            <a:endParaRPr lang="en-I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1074666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&lt;COURSE TITLE&gt;, &lt;TOPIC NAME&gt;</a:t>
            </a:r>
            <a:endParaRPr lang="en-IN" dirty="0"/>
          </a:p>
        </p:txBody>
      </p:sp>
      <p:sp>
        <p:nvSpPr>
          <p:cNvPr id="4" name="Slide Number Placeholder 3"/>
          <p:cNvSpPr>
            <a:spLocks noGrp="1"/>
          </p:cNvSpPr>
          <p:nvPr>
            <p:ph type="sldNum" sz="quarter" idx="12"/>
          </p:nvPr>
        </p:nvSpPr>
        <p:spPr/>
        <p:txBody>
          <a:bodyPr/>
          <a:lstStyle/>
          <a:p>
            <a:fld id="{CBABCCC1-BF11-4F37-963E-1BCD5B23FD72}" type="slidenum">
              <a:rPr lang="en-IN" smtClean="0"/>
              <a:t>‹#›</a:t>
            </a:fld>
            <a:endParaRPr lang="en-IN"/>
          </a:p>
        </p:txBody>
      </p:sp>
    </p:spTree>
    <p:extLst>
      <p:ext uri="{BB962C8B-B14F-4D97-AF65-F5344CB8AC3E}">
        <p14:creationId xmlns:p14="http://schemas.microsoft.com/office/powerpoint/2010/main" val="31945871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t>‹#›</a:t>
            </a:fld>
            <a:endParaRPr lang="en-I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320374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t>‹#›</a:t>
            </a:fld>
            <a:endParaRPr lang="en-I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007769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t>‹#›</a:t>
            </a:fld>
            <a:endParaRPr lang="en-I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312674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t>‹#›</a:t>
            </a:fld>
            <a:endParaRPr lang="en-I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7536402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spTree>
      <p:nvGrpSpPr>
        <p:cNvPr id="1" name=""/>
        <p:cNvGrpSpPr/>
        <p:nvPr/>
      </p:nvGrpSpPr>
      <p:grpSpPr>
        <a:xfrm>
          <a:off x="0" y="0"/>
          <a:ext cx="0" cy="0"/>
          <a:chOff x="0" y="0"/>
          <a:chExt cx="0" cy="0"/>
        </a:xfrm>
      </p:grpSpPr>
    </p:spTree>
    <p:extLst>
      <p:ext uri="{BB962C8B-B14F-4D97-AF65-F5344CB8AC3E}">
        <p14:creationId xmlns:p14="http://schemas.microsoft.com/office/powerpoint/2010/main" val="9100495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9" y="379083"/>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r>
              <a:rPr lang="en-US"/>
              <a:t>&lt;COURSE TITLE&gt;, &lt;TOPIC NAME&gt;</a:t>
            </a:r>
            <a:endParaRPr lang="en-IN" dirty="0"/>
          </a:p>
        </p:txBody>
      </p:sp>
      <p:sp>
        <p:nvSpPr>
          <p:cNvPr id="6" name="Slide Number Placeholder 5"/>
          <p:cNvSpPr>
            <a:spLocks noGrp="1"/>
          </p:cNvSpPr>
          <p:nvPr>
            <p:ph type="sldNum" sz="quarter" idx="4"/>
          </p:nvPr>
        </p:nvSpPr>
        <p:spPr>
          <a:xfrm>
            <a:off x="5690490" y="6291139"/>
            <a:ext cx="811019" cy="503578"/>
          </a:xfrm>
          <a:prstGeom prst="rect">
            <a:avLst/>
          </a:prstGeom>
        </p:spPr>
        <p:txBody>
          <a:bodyPr vert="horz" lIns="91440" tIns="45720" rIns="91440" bIns="45720" rtlCol="0" anchor="t"/>
          <a:lstStyle>
            <a:lvl1pPr algn="ctr">
              <a:defRPr sz="2200">
                <a:solidFill>
                  <a:schemeClr val="accent1"/>
                </a:solidFill>
              </a:defRPr>
            </a:lvl1pPr>
          </a:lstStyle>
          <a:p>
            <a:fld id="{CBABCCC1-BF11-4F37-963E-1BCD5B23FD72}" type="slidenum">
              <a:rPr lang="en-IN" smtClean="0"/>
              <a:pPr/>
              <a:t>‹#›</a:t>
            </a:fld>
            <a:endParaRPr lang="en-IN"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9" name="Picture 8" descr="Icon&#10;&#10;Description automatically generated with medium confidence">
            <a:extLst>
              <a:ext uri="{FF2B5EF4-FFF2-40B4-BE49-F238E27FC236}">
                <a16:creationId xmlns:a16="http://schemas.microsoft.com/office/drawing/2014/main" xmlns="" id="{D33DD7EC-6054-A5D7-0F93-3916702EC90E}"/>
              </a:ext>
            </a:extLst>
          </p:cNvPr>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77444" y="32699"/>
            <a:ext cx="1218935" cy="500985"/>
          </a:xfrm>
          <a:prstGeom prst="rect">
            <a:avLst/>
          </a:prstGeom>
        </p:spPr>
      </p:pic>
      <p:pic>
        <p:nvPicPr>
          <p:cNvPr id="12" name="Picture 11">
            <a:extLst>
              <a:ext uri="{FF2B5EF4-FFF2-40B4-BE49-F238E27FC236}">
                <a16:creationId xmlns:a16="http://schemas.microsoft.com/office/drawing/2014/main" xmlns="" id="{DB6D7A70-9470-38A5-6785-933F5C089234}"/>
              </a:ext>
            </a:extLst>
          </p:cNvPr>
          <p:cNvPicPr>
            <a:picLocks noChangeAspect="1"/>
          </p:cNvPicPr>
          <p:nvPr userDrawn="1"/>
        </p:nvPicPr>
        <p:blipFill rotWithShape="1">
          <a:blip r:embed="rId15" cstate="print">
            <a:extLst>
              <a:ext uri="{28A0092B-C50C-407E-A947-70E740481C1C}">
                <a14:useLocalDpi xmlns:a14="http://schemas.microsoft.com/office/drawing/2010/main" val="0"/>
              </a:ext>
            </a:extLst>
          </a:blip>
          <a:srcRect l="4360" t="18054" b="50110"/>
          <a:stretch/>
        </p:blipFill>
        <p:spPr>
          <a:xfrm>
            <a:off x="1451579" y="6373097"/>
            <a:ext cx="2912198" cy="351077"/>
          </a:xfrm>
          <a:prstGeom prst="rect">
            <a:avLst/>
          </a:prstGeom>
        </p:spPr>
      </p:pic>
      <p:pic>
        <p:nvPicPr>
          <p:cNvPr id="14" name="Picture 13" descr="Text&#10;&#10;Description automatically generated with medium confidence">
            <a:extLst>
              <a:ext uri="{FF2B5EF4-FFF2-40B4-BE49-F238E27FC236}">
                <a16:creationId xmlns:a16="http://schemas.microsoft.com/office/drawing/2014/main" xmlns="" id="{A51BE3ED-273E-B0A1-FC3A-EE01E1A92D27}"/>
              </a:ext>
            </a:extLst>
          </p:cNvPr>
          <p:cNvPicPr>
            <a:picLocks noChangeAspect="1"/>
          </p:cNvPicPr>
          <p:nvPr userDrawn="1"/>
        </p:nvPicPr>
        <p:blipFill rotWithShape="1">
          <a:blip r:embed="rId16" cstate="print">
            <a:extLst>
              <a:ext uri="{28A0092B-C50C-407E-A947-70E740481C1C}">
                <a14:useLocalDpi xmlns:a14="http://schemas.microsoft.com/office/drawing/2010/main" val="0"/>
              </a:ext>
            </a:extLst>
          </a:blip>
          <a:srcRect t="53957" r="20929" b="13232"/>
          <a:stretch/>
        </p:blipFill>
        <p:spPr>
          <a:xfrm>
            <a:off x="8825503" y="6373097"/>
            <a:ext cx="2229351" cy="335027"/>
          </a:xfrm>
          <a:prstGeom prst="rect">
            <a:avLst/>
          </a:prstGeom>
        </p:spPr>
      </p:pic>
    </p:spTree>
    <p:extLst>
      <p:ext uri="{BB962C8B-B14F-4D97-AF65-F5344CB8AC3E}">
        <p14:creationId xmlns:p14="http://schemas.microsoft.com/office/powerpoint/2010/main" val="31983802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4.png"/><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2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6.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27.png"/><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2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38.png"/><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9.pn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41.png"/><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9.png"/><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41.png"/><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DA69B8D-BF65-4ADD-F76F-77EA72FFCB8F}"/>
              </a:ext>
            </a:extLst>
          </p:cNvPr>
          <p:cNvSpPr>
            <a:spLocks noGrp="1"/>
          </p:cNvSpPr>
          <p:nvPr>
            <p:ph type="ctrTitle"/>
          </p:nvPr>
        </p:nvSpPr>
        <p:spPr>
          <a:xfrm>
            <a:off x="689423" y="2589703"/>
            <a:ext cx="10813153" cy="839297"/>
          </a:xfrm>
        </p:spPr>
        <p:txBody>
          <a:bodyPr>
            <a:normAutofit/>
          </a:bodyPr>
          <a:lstStyle/>
          <a:p>
            <a:pPr algn="ctr"/>
            <a:r>
              <a:rPr lang="en-IN" sz="4800" dirty="0">
                <a:solidFill>
                  <a:schemeClr val="accent5">
                    <a:lumMod val="50000"/>
                  </a:schemeClr>
                </a:solidFill>
              </a:rPr>
              <a:t>  </a:t>
            </a:r>
            <a:r>
              <a:rPr lang="en-IN" sz="4800" dirty="0" smtClean="0">
                <a:solidFill>
                  <a:schemeClr val="accent5">
                    <a:lumMod val="50000"/>
                  </a:schemeClr>
                </a:solidFill>
              </a:rPr>
              <a:t>PROGRAMMABLE </a:t>
            </a:r>
            <a:r>
              <a:rPr lang="en-IN" sz="4800" cap="none" dirty="0" smtClean="0">
                <a:solidFill>
                  <a:schemeClr val="accent5">
                    <a:lumMod val="50000"/>
                  </a:schemeClr>
                </a:solidFill>
              </a:rPr>
              <a:t>ASICS </a:t>
            </a:r>
            <a:endParaRPr lang="en-IN" sz="4800" dirty="0">
              <a:solidFill>
                <a:schemeClr val="accent5">
                  <a:lumMod val="50000"/>
                </a:schemeClr>
              </a:solidFill>
            </a:endParaRPr>
          </a:p>
        </p:txBody>
      </p:sp>
      <p:sp>
        <p:nvSpPr>
          <p:cNvPr id="4" name="Google Shape;475;p16"/>
          <p:cNvSpPr txBox="1"/>
          <p:nvPr/>
        </p:nvSpPr>
        <p:spPr>
          <a:xfrm>
            <a:off x="1799924" y="389014"/>
            <a:ext cx="8614611" cy="1323399"/>
          </a:xfrm>
          <a:prstGeom prst="rect">
            <a:avLst/>
          </a:prstGeom>
          <a:noFill/>
          <a:ln>
            <a:noFill/>
          </a:ln>
          <a:effectLst/>
        </p:spPr>
        <p:txBody>
          <a:bodyPr spcFirstLastPara="1" wrap="square" lIns="91425" tIns="45700" rIns="91425" bIns="45700" anchor="t" anchorCtr="0">
            <a:spAutoFit/>
          </a:bodyPr>
          <a:lstStyle/>
          <a:p>
            <a:pPr algn="ctr"/>
            <a:r>
              <a:rPr lang="en-US" sz="4000" b="1" dirty="0">
                <a:solidFill>
                  <a:schemeClr val="tx2"/>
                </a:solidFill>
                <a:cs typeface="Poppins" pitchFamily="2" charset="77"/>
              </a:rPr>
              <a:t> </a:t>
            </a:r>
            <a:r>
              <a:rPr lang="en-US" sz="4000" b="1" dirty="0" smtClean="0">
                <a:solidFill>
                  <a:schemeClr val="tx2"/>
                </a:solidFill>
                <a:cs typeface="Poppins" pitchFamily="2" charset="77"/>
              </a:rPr>
              <a:t>22EC2237F </a:t>
            </a:r>
            <a:r>
              <a:rPr lang="en-US" sz="4000" b="1" dirty="0">
                <a:solidFill>
                  <a:schemeClr val="tx2"/>
                </a:solidFill>
                <a:cs typeface="Poppins" pitchFamily="2" charset="77"/>
              </a:rPr>
              <a:t>– </a:t>
            </a:r>
            <a:r>
              <a:rPr lang="en-US" sz="4000" b="1" dirty="0" smtClean="0">
                <a:solidFill>
                  <a:schemeClr val="tx2"/>
                </a:solidFill>
                <a:cs typeface="Poppins" pitchFamily="2" charset="77"/>
              </a:rPr>
              <a:t>ASIC AND FPGA DESIGN</a:t>
            </a:r>
            <a:endParaRPr lang="en-US" sz="4000" b="1" dirty="0">
              <a:solidFill>
                <a:schemeClr val="tx2"/>
              </a:solidFill>
              <a:cs typeface="Poppins" pitchFamily="2" charset="77"/>
            </a:endParaRPr>
          </a:p>
        </p:txBody>
      </p:sp>
      <p:sp>
        <p:nvSpPr>
          <p:cNvPr id="5" name="Google Shape;502;p17">
            <a:extLst>
              <a:ext uri="{FF2B5EF4-FFF2-40B4-BE49-F238E27FC236}">
                <a16:creationId xmlns:a16="http://schemas.microsoft.com/office/drawing/2014/main" xmlns="" id="{7153E61F-4441-DBE3-3DFF-6E9EF6C48D23}"/>
              </a:ext>
            </a:extLst>
          </p:cNvPr>
          <p:cNvSpPr/>
          <p:nvPr/>
        </p:nvSpPr>
        <p:spPr>
          <a:xfrm>
            <a:off x="4989671" y="2021717"/>
            <a:ext cx="2235116" cy="453054"/>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smtClean="0">
                <a:solidFill>
                  <a:schemeClr val="lt1"/>
                </a:solidFill>
                <a:ea typeface="Calibri"/>
                <a:cs typeface="Poppins" panose="00000500000000000000" pitchFamily="2" charset="0"/>
                <a:sym typeface="Calibri"/>
              </a:rPr>
              <a:t>CO2</a:t>
            </a:r>
            <a:endParaRPr sz="2400" dirty="0">
              <a:solidFill>
                <a:schemeClr val="lt1"/>
              </a:solidFill>
              <a:ea typeface="Calibri"/>
              <a:cs typeface="Poppins" panose="00000500000000000000" pitchFamily="2" charset="0"/>
              <a:sym typeface="Calibri"/>
            </a:endParaRPr>
          </a:p>
        </p:txBody>
      </p:sp>
    </p:spTree>
    <p:extLst>
      <p:ext uri="{BB962C8B-B14F-4D97-AF65-F5344CB8AC3E}">
        <p14:creationId xmlns:p14="http://schemas.microsoft.com/office/powerpoint/2010/main" val="25030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 xmlns:a16="http://schemas.microsoft.com/office/drawing/2014/main" id="{80A1A886-1B04-F392-1477-67358C56C53B}"/>
              </a:ext>
            </a:extLst>
          </p:cNvPr>
          <p:cNvPicPr>
            <a:picLocks noChangeAspect="1"/>
          </p:cNvPicPr>
          <p:nvPr/>
        </p:nvPicPr>
        <p:blipFill>
          <a:blip r:embed="rId2"/>
          <a:stretch>
            <a:fillRect/>
          </a:stretch>
        </p:blipFill>
        <p:spPr>
          <a:xfrm>
            <a:off x="1952594" y="2047739"/>
            <a:ext cx="7856376" cy="3812147"/>
          </a:xfrm>
          <a:prstGeom prst="rect">
            <a:avLst/>
          </a:prstGeom>
        </p:spPr>
      </p:pic>
    </p:spTree>
    <p:extLst>
      <p:ext uri="{BB962C8B-B14F-4D97-AF65-F5344CB8AC3E}">
        <p14:creationId xmlns:p14="http://schemas.microsoft.com/office/powerpoint/2010/main" val="5625255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 xmlns:a16="http://schemas.microsoft.com/office/drawing/2014/main" id="{9EB8A4A0-26E8-41C7-BE65-3B55B361B40D}"/>
              </a:ext>
            </a:extLst>
          </p:cNvPr>
          <p:cNvSpPr/>
          <p:nvPr/>
        </p:nvSpPr>
        <p:spPr>
          <a:xfrm>
            <a:off x="2452335" y="361058"/>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3B3535"/>
                </a:solidFill>
                <a:latin typeface="Rockwell" panose="02060603020205020403" pitchFamily="18" charset="0"/>
                <a:ea typeface="Sora Light" pitchFamily="34" charset="-122"/>
                <a:cs typeface="Sora Light" pitchFamily="34" charset="-120"/>
              </a:rPr>
              <a:t>The </a:t>
            </a:r>
            <a:r>
              <a:rPr lang="en-US" sz="2400" dirty="0" err="1" smtClean="0">
                <a:solidFill>
                  <a:srgbClr val="3B3535"/>
                </a:solidFill>
                <a:latin typeface="Rockwell" panose="02060603020205020403" pitchFamily="18" charset="0"/>
                <a:ea typeface="Sora Light" pitchFamily="34" charset="-122"/>
                <a:cs typeface="Sora Light" pitchFamily="34" charset="-120"/>
              </a:rPr>
              <a:t>Antifuse</a:t>
            </a:r>
            <a:endParaRPr lang="en-US" sz="2400" dirty="0">
              <a:latin typeface="Rockwell" panose="02060603020205020403" pitchFamily="18" charset="0"/>
            </a:endParaRPr>
          </a:p>
        </p:txBody>
      </p:sp>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3" name="TextBox 2">
            <a:extLst>
              <a:ext uri="{FF2B5EF4-FFF2-40B4-BE49-F238E27FC236}">
                <a16:creationId xmlns="" xmlns:a16="http://schemas.microsoft.com/office/drawing/2014/main" id="{5C361618-9288-586C-8C92-A026F47CF81B}"/>
              </a:ext>
            </a:extLst>
          </p:cNvPr>
          <p:cNvSpPr txBox="1"/>
          <p:nvPr/>
        </p:nvSpPr>
        <p:spPr>
          <a:xfrm>
            <a:off x="433136" y="1366846"/>
            <a:ext cx="12143873" cy="3371885"/>
          </a:xfrm>
          <a:prstGeom prst="rect">
            <a:avLst/>
          </a:prstGeom>
          <a:noFill/>
        </p:spPr>
        <p:txBody>
          <a:bodyPr wrap="square">
            <a:spAutoFit/>
          </a:bodyPr>
          <a:lstStyle/>
          <a:p>
            <a:pPr marL="457200" marR="228600" algn="just" fontAlgn="base">
              <a:lnSpc>
                <a:spcPct val="150000"/>
              </a:lnSpc>
            </a:pP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Programmable switches are used for connections of wire segments in a FPLD. A FPLD may contain hundreds of thousands programmable switches. </a:t>
            </a:r>
          </a:p>
          <a:p>
            <a:pPr marL="457200" marR="228600" algn="just" fontAlgn="base">
              <a:lnSpc>
                <a:spcPct val="150000"/>
              </a:lnSpc>
            </a:pP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Programming technologies may be permanent or non-permanent. </a:t>
            </a:r>
          </a:p>
          <a:p>
            <a:pPr marL="457200" marR="228600" algn="just" fontAlgn="base">
              <a:lnSpc>
                <a:spcPct val="150000"/>
              </a:lnSpc>
            </a:pPr>
            <a:endParaRPr lang="en-US"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a:p>
            <a:pPr marL="742950" marR="228600" indent="-285750" algn="just" fontAlgn="base">
              <a:lnSpc>
                <a:spcPct val="150000"/>
              </a:lnSpc>
              <a:buFont typeface="Arial" panose="020B0604020202020204" pitchFamily="34" charset="0"/>
              <a:buChar char="•"/>
            </a:pP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For commercial FPGAs, the main switch technologies are </a:t>
            </a:r>
            <a:r>
              <a:rPr lang="en-US" sz="18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antifuses</a:t>
            </a: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(e.g. </a:t>
            </a:r>
            <a:r>
              <a:rPr lang="en-US" sz="18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Actel</a:t>
            </a: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and Static RAM cells (e.g. Xilinx).</a:t>
            </a:r>
          </a:p>
          <a:p>
            <a:pPr marL="457200" marR="228600" algn="just" fontAlgn="base">
              <a:lnSpc>
                <a:spcPct val="150000"/>
              </a:lnSpc>
            </a:pPr>
            <a:endParaRPr lang="en-US"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a:p>
            <a:pPr marL="742950" marR="228600" indent="-285750" algn="just" fontAlgn="base">
              <a:lnSpc>
                <a:spcPct val="150000"/>
              </a:lnSpc>
              <a:buFont typeface="Arial" panose="020B0604020202020204" pitchFamily="34" charset="0"/>
              <a:buChar char="•"/>
            </a:pP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For commercial CPLDs (e.g. Altera MAX), the main switch technologies are Erasable Programmable ROM (EPROM) transistors and Electrically Erasable PROM (EEPROM) transistors.</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05836447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 xmlns:a16="http://schemas.microsoft.com/office/drawing/2014/main" id="{F0C97820-7456-DBC0-335D-925687B37944}"/>
              </a:ext>
            </a:extLst>
          </p:cNvPr>
          <p:cNvSpPr/>
          <p:nvPr/>
        </p:nvSpPr>
        <p:spPr>
          <a:xfrm>
            <a:off x="731327" y="451329"/>
            <a:ext cx="3047318" cy="593923"/>
          </a:xfrm>
          <a:prstGeom prst="rect">
            <a:avLst/>
          </a:prstGeom>
          <a:noFill/>
          <a:ln/>
        </p:spPr>
        <p:txBody>
          <a:bodyPr wrap="none" lIns="0" tIns="0" rIns="0" bIns="0" rtlCol="0" anchor="t"/>
          <a:lstStyle/>
          <a:p>
            <a:pPr>
              <a:lnSpc>
                <a:spcPts val="4666"/>
              </a:lnSpc>
            </a:pPr>
            <a:r>
              <a:rPr lang="en-US" sz="4000" dirty="0">
                <a:solidFill>
                  <a:srgbClr val="3B3535"/>
                </a:solidFill>
                <a:latin typeface="Rockwell" panose="02060603020205020403" pitchFamily="18" charset="0"/>
                <a:ea typeface="Sora Light" pitchFamily="34" charset="-122"/>
                <a:cs typeface="Sora Light" pitchFamily="34" charset="-120"/>
              </a:rPr>
              <a:t>The Antifuse</a:t>
            </a:r>
            <a:endParaRPr lang="en-US" sz="4000" dirty="0">
              <a:latin typeface="Rockwell" panose="02060603020205020403" pitchFamily="18" charset="0"/>
            </a:endParaRPr>
          </a:p>
        </p:txBody>
      </p:sp>
      <p:pic>
        <p:nvPicPr>
          <p:cNvPr id="4" name="Picture 3">
            <a:extLst>
              <a:ext uri="{FF2B5EF4-FFF2-40B4-BE49-F238E27FC236}">
                <a16:creationId xmlns="" xmlns:a16="http://schemas.microsoft.com/office/drawing/2014/main" id="{80D72306-8EC0-4BEA-5283-D065F26F4738}"/>
              </a:ext>
            </a:extLst>
          </p:cNvPr>
          <p:cNvPicPr>
            <a:picLocks noChangeAspect="1"/>
          </p:cNvPicPr>
          <p:nvPr/>
        </p:nvPicPr>
        <p:blipFill>
          <a:blip r:embed="rId2"/>
          <a:stretch>
            <a:fillRect/>
          </a:stretch>
        </p:blipFill>
        <p:spPr>
          <a:xfrm>
            <a:off x="2254986" y="1327089"/>
            <a:ext cx="7626125" cy="2503789"/>
          </a:xfrm>
          <a:prstGeom prst="rect">
            <a:avLst/>
          </a:prstGeom>
        </p:spPr>
      </p:pic>
      <p:sp>
        <p:nvSpPr>
          <p:cNvPr id="5" name="TextBox 4">
            <a:extLst>
              <a:ext uri="{FF2B5EF4-FFF2-40B4-BE49-F238E27FC236}">
                <a16:creationId xmlns="" xmlns:a16="http://schemas.microsoft.com/office/drawing/2014/main" id="{B96F32B1-1D46-A198-BAC5-F51E8EA60A62}"/>
              </a:ext>
            </a:extLst>
          </p:cNvPr>
          <p:cNvSpPr txBox="1"/>
          <p:nvPr/>
        </p:nvSpPr>
        <p:spPr>
          <a:xfrm>
            <a:off x="887260" y="3825763"/>
            <a:ext cx="10678438" cy="2400657"/>
          </a:xfrm>
          <a:prstGeom prst="rect">
            <a:avLst/>
          </a:prstGeom>
          <a:noFill/>
        </p:spPr>
        <p:txBody>
          <a:bodyPr wrap="square" rtlCol="0">
            <a:spAutoFit/>
          </a:bodyPr>
          <a:lstStyle/>
          <a:p>
            <a:pPr algn="just"/>
            <a:r>
              <a:rPr lang="en-US" sz="1500" dirty="0">
                <a:latin typeface="Rockwell" panose="02060603020205020403" pitchFamily="18" charset="0"/>
              </a:rPr>
              <a:t>An antifuse is a one-time programmable element used primarily in FPGAs and programmable logic devices. It initially acts as an open circuit and forms a permanent conductive connection when programmed. The structure of an antifuse consists of a thin oxide–nitride–oxide (ONO) dielectric layer sandwiched between an upper antifuse polysilicon electrode and a lower n⁺ diffusion region in the silicon substrate. During normal operation, the ONO dielectric prevents current flow between these two regions. However, when a high programming voltage is applied across the antifuse, the dielectric layer breaks down, creating a permanent, low-resistance conductive path known as an antifuse link. This process forms a metal-like connection that cannot be reversed, making the antifuse a non-volatile and tamper-resistant element. Antifuse cells are designed with precise dimensions, typically around 2λ pitch, with dielectric thickness less than 10 nm and contact widths around 20 nm, allowing for compact integration. The antifuse’s robust structure and permanent nature make it ideal for applications requiring high security, reliability, and resistance to radiation.</a:t>
            </a:r>
            <a:endParaRPr lang="en-IN" sz="1500" dirty="0">
              <a:latin typeface="Rockwell" panose="02060603020205020403" pitchFamily="18" charset="0"/>
            </a:endParaRPr>
          </a:p>
        </p:txBody>
      </p:sp>
      <p:pic>
        <p:nvPicPr>
          <p:cNvPr id="3" name="Picture 2">
            <a:extLst>
              <a:ext uri="{FF2B5EF4-FFF2-40B4-BE49-F238E27FC236}">
                <a16:creationId xmlns="" xmlns:a16="http://schemas.microsoft.com/office/drawing/2014/main" id="{022D8E39-F5FD-1F05-923C-EC97E0ACB37B}"/>
              </a:ext>
            </a:extLst>
          </p:cNvPr>
          <p:cNvPicPr>
            <a:picLocks noChangeAspect="1"/>
          </p:cNvPicPr>
          <p:nvPr/>
        </p:nvPicPr>
        <p:blipFill>
          <a:blip r:embed="rId3"/>
          <a:stretch>
            <a:fillRect/>
          </a:stretch>
        </p:blipFill>
        <p:spPr>
          <a:xfrm>
            <a:off x="9770301" y="132762"/>
            <a:ext cx="2290064" cy="927476"/>
          </a:xfrm>
          <a:prstGeom prst="rect">
            <a:avLst/>
          </a:prstGeom>
        </p:spPr>
      </p:pic>
      <p:cxnSp>
        <p:nvCxnSpPr>
          <p:cNvPr id="6" name="Straight Connector 5">
            <a:extLst>
              <a:ext uri="{FF2B5EF4-FFF2-40B4-BE49-F238E27FC236}">
                <a16:creationId xmlns="" xmlns:a16="http://schemas.microsoft.com/office/drawing/2014/main" id="{D8604660-B845-1FD3-657D-BDDA2C256295}"/>
              </a:ext>
            </a:extLst>
          </p:cNvPr>
          <p:cNvCxnSpPr/>
          <p:nvPr/>
        </p:nvCxnSpPr>
        <p:spPr>
          <a:xfrm>
            <a:off x="0" y="6617918"/>
            <a:ext cx="2912302" cy="0"/>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 xmlns:a16="http://schemas.microsoft.com/office/drawing/2014/main" id="{76C6247F-16B0-754F-0D62-D137ACEB9420}"/>
              </a:ext>
            </a:extLst>
          </p:cNvPr>
          <p:cNvSpPr/>
          <p:nvPr/>
        </p:nvSpPr>
        <p:spPr>
          <a:xfrm>
            <a:off x="2912302" y="6508314"/>
            <a:ext cx="6346520" cy="219207"/>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500" dirty="0"/>
          </a:p>
        </p:txBody>
      </p:sp>
      <p:cxnSp>
        <p:nvCxnSpPr>
          <p:cNvPr id="8" name="Straight Connector 7">
            <a:extLst>
              <a:ext uri="{FF2B5EF4-FFF2-40B4-BE49-F238E27FC236}">
                <a16:creationId xmlns="" xmlns:a16="http://schemas.microsoft.com/office/drawing/2014/main" id="{93B88B29-F625-5787-6DD9-1C119BC7DBDF}"/>
              </a:ext>
            </a:extLst>
          </p:cNvPr>
          <p:cNvCxnSpPr>
            <a:cxnSpLocks/>
            <a:stCxn id="7" idx="3"/>
          </p:cNvCxnSpPr>
          <p:nvPr/>
        </p:nvCxnSpPr>
        <p:spPr>
          <a:xfrm>
            <a:off x="9258822" y="6617918"/>
            <a:ext cx="187891" cy="0"/>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 xmlns:a16="http://schemas.microsoft.com/office/drawing/2014/main" id="{5032CA04-1797-A1F9-4C05-1118045E4C44}"/>
              </a:ext>
            </a:extLst>
          </p:cNvPr>
          <p:cNvSpPr/>
          <p:nvPr/>
        </p:nvSpPr>
        <p:spPr>
          <a:xfrm>
            <a:off x="9446713" y="6508314"/>
            <a:ext cx="2164804" cy="219207"/>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500"/>
          </a:p>
        </p:txBody>
      </p:sp>
      <p:sp>
        <p:nvSpPr>
          <p:cNvPr id="10" name="TextBox 9">
            <a:extLst>
              <a:ext uri="{FF2B5EF4-FFF2-40B4-BE49-F238E27FC236}">
                <a16:creationId xmlns="" xmlns:a16="http://schemas.microsoft.com/office/drawing/2014/main" id="{DD8CB7CC-AB05-B0C8-4285-674931FCA8ED}"/>
              </a:ext>
            </a:extLst>
          </p:cNvPr>
          <p:cNvSpPr txBox="1"/>
          <p:nvPr/>
        </p:nvSpPr>
        <p:spPr>
          <a:xfrm>
            <a:off x="11542512" y="6508315"/>
            <a:ext cx="4248412" cy="323165"/>
          </a:xfrm>
          <a:prstGeom prst="rect">
            <a:avLst/>
          </a:prstGeom>
          <a:noFill/>
        </p:spPr>
        <p:txBody>
          <a:bodyPr wrap="square" rtlCol="0">
            <a:spAutoFit/>
          </a:bodyPr>
          <a:lstStyle/>
          <a:p>
            <a:r>
              <a:rPr lang="en-IN" sz="1500" dirty="0"/>
              <a:t>******</a:t>
            </a:r>
          </a:p>
        </p:txBody>
      </p:sp>
      <p:sp>
        <p:nvSpPr>
          <p:cNvPr id="11" name="TextBox 10">
            <a:extLst>
              <a:ext uri="{FF2B5EF4-FFF2-40B4-BE49-F238E27FC236}">
                <a16:creationId xmlns="" xmlns:a16="http://schemas.microsoft.com/office/drawing/2014/main" id="{1122642D-7C9D-850E-FE46-1ED4DCFC8CE5}"/>
              </a:ext>
            </a:extLst>
          </p:cNvPr>
          <p:cNvSpPr txBox="1"/>
          <p:nvPr/>
        </p:nvSpPr>
        <p:spPr>
          <a:xfrm>
            <a:off x="3131506" y="6476854"/>
            <a:ext cx="6461343" cy="297454"/>
          </a:xfrm>
          <a:prstGeom prst="rect">
            <a:avLst/>
          </a:prstGeom>
          <a:noFill/>
        </p:spPr>
        <p:txBody>
          <a:bodyPr wrap="square" rtlCol="0">
            <a:spAutoFit/>
          </a:bodyPr>
          <a:lstStyle/>
          <a:p>
            <a:r>
              <a:rPr lang="en-US" sz="1333" dirty="0">
                <a:latin typeface="Times New Roman" panose="02020603050405020304" pitchFamily="18" charset="0"/>
                <a:cs typeface="Times New Roman" panose="02020603050405020304" pitchFamily="18" charset="0"/>
              </a:rPr>
              <a:t>Application-Specific Integrated Circuit and Field Programmable Gate Array Design </a:t>
            </a:r>
            <a:endParaRPr lang="en-IN" sz="1333"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415202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 xmlns:a16="http://schemas.microsoft.com/office/drawing/2014/main" id="{39DC903D-9003-4F3D-87E9-EE7D5BEB5D03}"/>
              </a:ext>
            </a:extLst>
          </p:cNvPr>
          <p:cNvSpPr/>
          <p:nvPr/>
        </p:nvSpPr>
        <p:spPr>
          <a:xfrm>
            <a:off x="3473653" y="84408"/>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t>SESSION DESCRIPTION</a:t>
            </a:r>
            <a:r>
              <a:rPr lang="en-US" sz="2000" dirty="0">
                <a:ln w="0"/>
                <a:solidFill>
                  <a:schemeClr val="bg1"/>
                </a:solidFill>
                <a:effectLst>
                  <a:outerShdw blurRad="38100" dist="19050" dir="2700000" algn="tl" rotWithShape="0">
                    <a:schemeClr val="dk1">
                      <a:alpha val="40000"/>
                    </a:schemeClr>
                  </a:outerShdw>
                </a:effectLst>
                <a:latin typeface="Poppins"/>
                <a:cs typeface="Poppins"/>
              </a:rPr>
              <a:t> </a:t>
            </a:r>
            <a:endParaRPr lang="en-US" sz="20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pic>
        <p:nvPicPr>
          <p:cNvPr id="24"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pic>
        <p:nvPicPr>
          <p:cNvPr id="2" name="Picture 1" descr="Diagram&#10;&#10;Description automatically generated">
            <a:extLst>
              <a:ext uri="{FF2B5EF4-FFF2-40B4-BE49-F238E27FC236}">
                <a16:creationId xmlns="" xmlns:a16="http://schemas.microsoft.com/office/drawing/2014/main" id="{19B64BAD-4201-4A3B-699B-FB9EA400A589}"/>
              </a:ext>
            </a:extLst>
          </p:cNvPr>
          <p:cNvPicPr>
            <a:picLocks noChangeAspect="1"/>
          </p:cNvPicPr>
          <p:nvPr/>
        </p:nvPicPr>
        <p:blipFill>
          <a:blip r:embed="rId3"/>
          <a:stretch>
            <a:fillRect/>
          </a:stretch>
        </p:blipFill>
        <p:spPr>
          <a:xfrm>
            <a:off x="495701" y="829177"/>
            <a:ext cx="4206240" cy="1638300"/>
          </a:xfrm>
          <a:prstGeom prst="rect">
            <a:avLst/>
          </a:prstGeom>
        </p:spPr>
      </p:pic>
      <p:sp>
        <p:nvSpPr>
          <p:cNvPr id="6" name="TextBox 5">
            <a:extLst>
              <a:ext uri="{FF2B5EF4-FFF2-40B4-BE49-F238E27FC236}">
                <a16:creationId xmlns="" xmlns:a16="http://schemas.microsoft.com/office/drawing/2014/main" id="{3FE2C814-52D4-A72C-CAD6-6BC65C6C228A}"/>
              </a:ext>
            </a:extLst>
          </p:cNvPr>
          <p:cNvSpPr txBox="1"/>
          <p:nvPr/>
        </p:nvSpPr>
        <p:spPr>
          <a:xfrm>
            <a:off x="753979" y="5919355"/>
            <a:ext cx="11036968" cy="646331"/>
          </a:xfrm>
          <a:prstGeom prst="rect">
            <a:avLst/>
          </a:prstGeom>
          <a:noFill/>
        </p:spPr>
        <p:txBody>
          <a:bodyPr wrap="square">
            <a:spAutoFit/>
          </a:bodyPr>
          <a:lstStyle/>
          <a:p>
            <a:r>
              <a:rPr lang="en-US" sz="1800" dirty="0">
                <a:effectLst/>
                <a:latin typeface="Times New Roman" panose="02020603050405020304" pitchFamily="18" charset="0"/>
                <a:ea typeface="Calibri" panose="020F0502020204030204" pitchFamily="34" charset="0"/>
              </a:rPr>
              <a:t>An </a:t>
            </a:r>
            <a:r>
              <a:rPr lang="en-US" sz="1800" dirty="0" err="1">
                <a:effectLst/>
                <a:latin typeface="Times New Roman" panose="02020603050405020304" pitchFamily="18" charset="0"/>
                <a:ea typeface="Calibri" panose="020F0502020204030204" pitchFamily="34" charset="0"/>
              </a:rPr>
              <a:t>Actel</a:t>
            </a:r>
            <a:r>
              <a:rPr lang="en-US" sz="1800" dirty="0">
                <a:effectLst/>
                <a:latin typeface="Times New Roman" panose="02020603050405020304" pitchFamily="18" charset="0"/>
                <a:ea typeface="Calibri" panose="020F0502020204030204" pitchFamily="34" charset="0"/>
              </a:rPr>
              <a:t> </a:t>
            </a:r>
            <a:r>
              <a:rPr lang="en-US" sz="1800" dirty="0" err="1">
                <a:effectLst/>
                <a:latin typeface="Times New Roman" panose="02020603050405020304" pitchFamily="18" charset="0"/>
                <a:ea typeface="Calibri" panose="020F0502020204030204" pitchFamily="34" charset="0"/>
              </a:rPr>
              <a:t>antifuse</a:t>
            </a:r>
            <a:r>
              <a:rPr lang="en-US" sz="1800" dirty="0">
                <a:effectLst/>
                <a:latin typeface="Times New Roman" panose="02020603050405020304" pitchFamily="18" charset="0"/>
                <a:ea typeface="Calibri" panose="020F0502020204030204" pitchFamily="34" charset="0"/>
              </a:rPr>
              <a:t>. (a) A cross section. (b) A simplified drawing. (c) From above, an </a:t>
            </a:r>
            <a:r>
              <a:rPr lang="en-US" sz="1800" dirty="0" err="1">
                <a:effectLst/>
                <a:latin typeface="Times New Roman" panose="02020603050405020304" pitchFamily="18" charset="0"/>
                <a:ea typeface="Calibri" panose="020F0502020204030204" pitchFamily="34" charset="0"/>
              </a:rPr>
              <a:t>antifuse</a:t>
            </a:r>
            <a:r>
              <a:rPr lang="en-US" sz="1800" dirty="0">
                <a:effectLst/>
                <a:latin typeface="Times New Roman" panose="02020603050405020304" pitchFamily="18" charset="0"/>
                <a:ea typeface="Calibri" panose="020F0502020204030204" pitchFamily="34" charset="0"/>
              </a:rPr>
              <a:t> is approximately the same size as a contact.</a:t>
            </a:r>
            <a:endParaRPr lang="en-IN" dirty="0"/>
          </a:p>
        </p:txBody>
      </p:sp>
      <p:pic>
        <p:nvPicPr>
          <p:cNvPr id="7" name="Picture 6" descr="A picture containing text, device&#10;&#10;Description automatically generated">
            <a:extLst>
              <a:ext uri="{FF2B5EF4-FFF2-40B4-BE49-F238E27FC236}">
                <a16:creationId xmlns="" xmlns:a16="http://schemas.microsoft.com/office/drawing/2014/main" id="{4B9C79A2-23AD-6817-38E2-20354A77D924}"/>
              </a:ext>
            </a:extLst>
          </p:cNvPr>
          <p:cNvPicPr>
            <a:picLocks noChangeAspect="1"/>
          </p:cNvPicPr>
          <p:nvPr/>
        </p:nvPicPr>
        <p:blipFill>
          <a:blip r:embed="rId4"/>
          <a:stretch>
            <a:fillRect/>
          </a:stretch>
        </p:blipFill>
        <p:spPr>
          <a:xfrm>
            <a:off x="495701" y="3310829"/>
            <a:ext cx="10618119" cy="2394034"/>
          </a:xfrm>
          <a:prstGeom prst="rect">
            <a:avLst/>
          </a:prstGeom>
        </p:spPr>
      </p:pic>
      <p:sp>
        <p:nvSpPr>
          <p:cNvPr id="9" name="TextBox 8">
            <a:extLst>
              <a:ext uri="{FF2B5EF4-FFF2-40B4-BE49-F238E27FC236}">
                <a16:creationId xmlns="" xmlns:a16="http://schemas.microsoft.com/office/drawing/2014/main" id="{562CF7BE-05DC-993A-F199-E336E18DD2AC}"/>
              </a:ext>
            </a:extLst>
          </p:cNvPr>
          <p:cNvSpPr txBox="1"/>
          <p:nvPr/>
        </p:nvSpPr>
        <p:spPr>
          <a:xfrm>
            <a:off x="1315453" y="2839270"/>
            <a:ext cx="6096000" cy="369332"/>
          </a:xfrm>
          <a:prstGeom prst="rect">
            <a:avLst/>
          </a:prstGeom>
          <a:noFill/>
        </p:spPr>
        <p:txBody>
          <a:bodyPr wrap="square">
            <a:spAutoFit/>
          </a:bodyPr>
          <a:lstStyle/>
          <a:p>
            <a:r>
              <a:rPr lang="en-US" sz="1800" dirty="0">
                <a:effectLst/>
                <a:latin typeface="Times New Roman" panose="02020603050405020304" pitchFamily="18" charset="0"/>
                <a:ea typeface="Calibri" panose="020F0502020204030204" pitchFamily="34" charset="0"/>
              </a:rPr>
              <a:t>Basic </a:t>
            </a:r>
            <a:r>
              <a:rPr lang="en-US" sz="1800" dirty="0" err="1">
                <a:effectLst/>
                <a:latin typeface="Times New Roman" panose="02020603050405020304" pitchFamily="18" charset="0"/>
                <a:ea typeface="Calibri" panose="020F0502020204030204" pitchFamily="34" charset="0"/>
              </a:rPr>
              <a:t>Antifuse</a:t>
            </a:r>
            <a:r>
              <a:rPr lang="en-US" sz="1800" dirty="0">
                <a:effectLst/>
                <a:latin typeface="Times New Roman" panose="02020603050405020304" pitchFamily="18" charset="0"/>
                <a:ea typeface="Calibri" panose="020F0502020204030204" pitchFamily="34" charset="0"/>
              </a:rPr>
              <a:t> Structure</a:t>
            </a:r>
            <a:endParaRPr lang="en-IN" dirty="0"/>
          </a:p>
        </p:txBody>
      </p:sp>
    </p:spTree>
    <p:extLst>
      <p:ext uri="{BB962C8B-B14F-4D97-AF65-F5344CB8AC3E}">
        <p14:creationId xmlns:p14="http://schemas.microsoft.com/office/powerpoint/2010/main" val="1653343551"/>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fld id="{CBABCCC1-BF11-4F37-963E-1BCD5B23FD72}" type="slidenum">
              <a:rPr lang="en-IN" smtClean="0"/>
              <a:t>6</a:t>
            </a:fld>
            <a:endParaRPr lang="en-IN"/>
          </a:p>
        </p:txBody>
      </p:sp>
      <p:pic>
        <p:nvPicPr>
          <p:cNvPr id="5" name="Picture 4">
            <a:extLst>
              <a:ext uri="{FF2B5EF4-FFF2-40B4-BE49-F238E27FC236}">
                <a16:creationId xmlns="" xmlns:a16="http://schemas.microsoft.com/office/drawing/2014/main" id="{ACF537A8-FEB9-00FF-E230-1395F40A69F5}"/>
              </a:ext>
            </a:extLst>
          </p:cNvPr>
          <p:cNvPicPr>
            <a:picLocks noChangeAspect="1"/>
          </p:cNvPicPr>
          <p:nvPr/>
        </p:nvPicPr>
        <p:blipFill>
          <a:blip r:embed="rId2"/>
          <a:stretch>
            <a:fillRect/>
          </a:stretch>
        </p:blipFill>
        <p:spPr>
          <a:xfrm>
            <a:off x="1451579" y="2008829"/>
            <a:ext cx="9230903" cy="3869913"/>
          </a:xfrm>
          <a:prstGeom prst="rect">
            <a:avLst/>
          </a:prstGeom>
        </p:spPr>
      </p:pic>
    </p:spTree>
    <p:extLst>
      <p:ext uri="{BB962C8B-B14F-4D97-AF65-F5344CB8AC3E}">
        <p14:creationId xmlns:p14="http://schemas.microsoft.com/office/powerpoint/2010/main" val="42835509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 xmlns:a16="http://schemas.microsoft.com/office/drawing/2014/main" id="{0F2E30D4-6F86-49D1-9276-85CE0E9B3E3E}"/>
              </a:ext>
            </a:extLst>
          </p:cNvPr>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SESSION DESCRIPTION         (Cont..)</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3" name="TextBox 2">
            <a:extLst>
              <a:ext uri="{FF2B5EF4-FFF2-40B4-BE49-F238E27FC236}">
                <a16:creationId xmlns="" xmlns:a16="http://schemas.microsoft.com/office/drawing/2014/main" id="{4A61214A-4AF6-E4DD-28D6-81B16BBEEEFF}"/>
              </a:ext>
            </a:extLst>
          </p:cNvPr>
          <p:cNvSpPr txBox="1"/>
          <p:nvPr/>
        </p:nvSpPr>
        <p:spPr>
          <a:xfrm>
            <a:off x="1155033" y="1219200"/>
            <a:ext cx="9288378" cy="2540888"/>
          </a:xfrm>
          <a:prstGeom prst="rect">
            <a:avLst/>
          </a:prstGeom>
          <a:noFill/>
        </p:spPr>
        <p:txBody>
          <a:bodyPr wrap="square">
            <a:spAutoFit/>
          </a:bodyPr>
          <a:lstStyle/>
          <a:p>
            <a:pPr marL="457200" marR="228600" algn="just" fontAlgn="base">
              <a:lnSpc>
                <a:spcPct val="150000"/>
              </a:lnSpc>
            </a:pPr>
            <a:r>
              <a:rPr lang="en-US" sz="1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Programming Techniques in Configurable ICs</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228600" lvl="0" indent="-342900" algn="just" fontAlgn="base">
              <a:lnSpc>
                <a:spcPct val="150000"/>
              </a:lnSpc>
              <a:buFont typeface="+mj-lt"/>
              <a:buAutoNum type="arabicPeriod"/>
            </a:pP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Ploy-Diffusion </a:t>
            </a:r>
            <a:r>
              <a:rPr lang="en-US" sz="18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Antifuse</a:t>
            </a: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228600" lvl="0" indent="-342900" algn="just" fontAlgn="base">
              <a:lnSpc>
                <a:spcPct val="150000"/>
              </a:lnSpc>
              <a:buFont typeface="+mj-lt"/>
              <a:buAutoNum type="arabicPeriod"/>
            </a:pP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Metal-Metal </a:t>
            </a:r>
            <a:r>
              <a:rPr lang="en-US" sz="18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Antifuse</a:t>
            </a: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228600" lvl="0" indent="-342900" algn="just" fontAlgn="base">
              <a:lnSpc>
                <a:spcPct val="150000"/>
              </a:lnSpc>
              <a:buFont typeface="+mj-lt"/>
              <a:buAutoNum type="arabicPeriod"/>
            </a:pP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SRAM-Based Programming Technique</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228600" lvl="0" indent="-342900" algn="just" fontAlgn="base">
              <a:lnSpc>
                <a:spcPct val="150000"/>
              </a:lnSpc>
              <a:buFont typeface="+mj-lt"/>
              <a:buAutoNum type="arabicPeriod"/>
            </a:pP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EPROM-based Programming Technique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228600" lvl="0" indent="-342900" algn="just" fontAlgn="base">
              <a:lnSpc>
                <a:spcPct val="150000"/>
              </a:lnSpc>
              <a:spcAft>
                <a:spcPts val="800"/>
              </a:spcAft>
              <a:buFont typeface="+mj-lt"/>
              <a:buAutoNum type="arabicPeriod"/>
            </a:pP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EEPROM-based Programming Technique</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77289760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 xmlns:a16="http://schemas.microsoft.com/office/drawing/2014/main" id="{0F2E30D4-6F86-49D1-9276-85CE0E9B3E3E}"/>
              </a:ext>
            </a:extLst>
          </p:cNvPr>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SESSION DESCRIPTION         (Cont..)</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pic>
        <p:nvPicPr>
          <p:cNvPr id="2" name="Picture 1" descr="Diagram&#10;&#10;Description automatically generated">
            <a:extLst>
              <a:ext uri="{FF2B5EF4-FFF2-40B4-BE49-F238E27FC236}">
                <a16:creationId xmlns="" xmlns:a16="http://schemas.microsoft.com/office/drawing/2014/main" id="{4C16F04B-93E4-9474-21E9-0DF274CDA55F}"/>
              </a:ext>
            </a:extLst>
          </p:cNvPr>
          <p:cNvPicPr>
            <a:picLocks noChangeAspect="1"/>
          </p:cNvPicPr>
          <p:nvPr/>
        </p:nvPicPr>
        <p:blipFill>
          <a:blip r:embed="rId3"/>
          <a:stretch>
            <a:fillRect/>
          </a:stretch>
        </p:blipFill>
        <p:spPr>
          <a:xfrm>
            <a:off x="214328" y="1197092"/>
            <a:ext cx="5731510" cy="1864995"/>
          </a:xfrm>
          <a:prstGeom prst="rect">
            <a:avLst/>
          </a:prstGeom>
        </p:spPr>
      </p:pic>
      <p:pic>
        <p:nvPicPr>
          <p:cNvPr id="4" name="Picture 3" descr="Diagram, schematic&#10;&#10;Description automatically generated">
            <a:extLst>
              <a:ext uri="{FF2B5EF4-FFF2-40B4-BE49-F238E27FC236}">
                <a16:creationId xmlns="" xmlns:a16="http://schemas.microsoft.com/office/drawing/2014/main" id="{0A9EA099-3001-E97B-87B6-EB837D850B6E}"/>
              </a:ext>
            </a:extLst>
          </p:cNvPr>
          <p:cNvPicPr>
            <a:picLocks noChangeAspect="1"/>
          </p:cNvPicPr>
          <p:nvPr/>
        </p:nvPicPr>
        <p:blipFill>
          <a:blip r:embed="rId4"/>
          <a:stretch>
            <a:fillRect/>
          </a:stretch>
        </p:blipFill>
        <p:spPr>
          <a:xfrm>
            <a:off x="6005529" y="1634172"/>
            <a:ext cx="5731510" cy="3589655"/>
          </a:xfrm>
          <a:prstGeom prst="rect">
            <a:avLst/>
          </a:prstGeom>
        </p:spPr>
      </p:pic>
      <p:sp>
        <p:nvSpPr>
          <p:cNvPr id="7" name="TextBox 6">
            <a:extLst>
              <a:ext uri="{FF2B5EF4-FFF2-40B4-BE49-F238E27FC236}">
                <a16:creationId xmlns="" xmlns:a16="http://schemas.microsoft.com/office/drawing/2014/main" id="{4143CB39-2769-21EE-A67E-7564C0119518}"/>
              </a:ext>
            </a:extLst>
          </p:cNvPr>
          <p:cNvSpPr txBox="1"/>
          <p:nvPr/>
        </p:nvSpPr>
        <p:spPr>
          <a:xfrm>
            <a:off x="7443536" y="5919355"/>
            <a:ext cx="6096000" cy="369332"/>
          </a:xfrm>
          <a:prstGeom prst="rect">
            <a:avLst/>
          </a:prstGeom>
          <a:noFill/>
        </p:spPr>
        <p:txBody>
          <a:bodyPr wrap="square">
            <a:spAutoFit/>
          </a:bodyPr>
          <a:lstStyle/>
          <a:p>
            <a:r>
              <a:rPr lang="en-US" sz="1800" dirty="0">
                <a:effectLst/>
                <a:latin typeface="Times New Roman" panose="02020603050405020304" pitchFamily="18" charset="0"/>
                <a:ea typeface="Calibri" panose="020F0502020204030204" pitchFamily="34" charset="0"/>
              </a:rPr>
              <a:t>Implementation of wired-AND gate</a:t>
            </a:r>
            <a:endParaRPr lang="en-IN" dirty="0"/>
          </a:p>
        </p:txBody>
      </p:sp>
      <p:sp>
        <p:nvSpPr>
          <p:cNvPr id="9" name="TextBox 8">
            <a:extLst>
              <a:ext uri="{FF2B5EF4-FFF2-40B4-BE49-F238E27FC236}">
                <a16:creationId xmlns="" xmlns:a16="http://schemas.microsoft.com/office/drawing/2014/main" id="{E6886A75-3FFE-7F99-C777-B464F6D72932}"/>
              </a:ext>
            </a:extLst>
          </p:cNvPr>
          <p:cNvSpPr txBox="1"/>
          <p:nvPr/>
        </p:nvSpPr>
        <p:spPr>
          <a:xfrm>
            <a:off x="0" y="3401839"/>
            <a:ext cx="6769768" cy="463397"/>
          </a:xfrm>
          <a:prstGeom prst="rect">
            <a:avLst/>
          </a:prstGeom>
          <a:noFill/>
        </p:spPr>
        <p:txBody>
          <a:bodyPr wrap="square">
            <a:spAutoFit/>
          </a:bodyPr>
          <a:lstStyle/>
          <a:p>
            <a:pPr marL="457200" marR="228600" algn="ctr" fontAlgn="base">
              <a:lnSpc>
                <a:spcPct val="150000"/>
              </a:lnSpc>
              <a:spcAft>
                <a:spcPts val="800"/>
              </a:spcAft>
            </a:pPr>
            <a:r>
              <a:rPr lang="en-US" sz="18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Antifuse</a:t>
            </a: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Techniques in PAL &amp; PLA</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1" name="TextBox 10">
            <a:extLst>
              <a:ext uri="{FF2B5EF4-FFF2-40B4-BE49-F238E27FC236}">
                <a16:creationId xmlns="" xmlns:a16="http://schemas.microsoft.com/office/drawing/2014/main" id="{2DD8F5AD-98F1-0C8E-61B6-21003604D4C5}"/>
              </a:ext>
            </a:extLst>
          </p:cNvPr>
          <p:cNvSpPr txBox="1"/>
          <p:nvPr/>
        </p:nvSpPr>
        <p:spPr>
          <a:xfrm>
            <a:off x="7860631" y="1011565"/>
            <a:ext cx="6769768" cy="463397"/>
          </a:xfrm>
          <a:prstGeom prst="rect">
            <a:avLst/>
          </a:prstGeom>
          <a:noFill/>
        </p:spPr>
        <p:txBody>
          <a:bodyPr wrap="square">
            <a:spAutoFit/>
          </a:bodyPr>
          <a:lstStyle/>
          <a:p>
            <a:pPr marL="457200" marR="228600" algn="just" fontAlgn="base">
              <a:lnSpc>
                <a:spcPct val="150000"/>
              </a:lnSpc>
              <a:spcAft>
                <a:spcPts val="800"/>
              </a:spcAft>
            </a:pPr>
            <a:r>
              <a:rPr lang="en-US" sz="1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Poly-Diffusion </a:t>
            </a:r>
            <a:r>
              <a:rPr lang="en-US" sz="1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Antifuse</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82237113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 xmlns:a16="http://schemas.microsoft.com/office/drawing/2014/main" id="{0F2E30D4-6F86-49D1-9276-85CE0E9B3E3E}"/>
              </a:ext>
            </a:extLst>
          </p:cNvPr>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SESSION DESCRIPTION         (Cont..)</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3" name="TextBox 2">
            <a:extLst>
              <a:ext uri="{FF2B5EF4-FFF2-40B4-BE49-F238E27FC236}">
                <a16:creationId xmlns="" xmlns:a16="http://schemas.microsoft.com/office/drawing/2014/main" id="{AA847025-133B-E1B2-DFA7-7DE17612E47E}"/>
              </a:ext>
            </a:extLst>
          </p:cNvPr>
          <p:cNvSpPr txBox="1"/>
          <p:nvPr/>
        </p:nvSpPr>
        <p:spPr>
          <a:xfrm>
            <a:off x="593558" y="1139901"/>
            <a:ext cx="6096000" cy="463397"/>
          </a:xfrm>
          <a:prstGeom prst="rect">
            <a:avLst/>
          </a:prstGeom>
          <a:noFill/>
        </p:spPr>
        <p:txBody>
          <a:bodyPr wrap="square">
            <a:spAutoFit/>
          </a:bodyPr>
          <a:lstStyle/>
          <a:p>
            <a:pPr marL="457200" marR="228600" algn="just" fontAlgn="base">
              <a:lnSpc>
                <a:spcPct val="150000"/>
              </a:lnSpc>
              <a:spcAft>
                <a:spcPts val="800"/>
              </a:spcAft>
            </a:pPr>
            <a:r>
              <a:rPr lang="en-US" sz="1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Metal-Metal </a:t>
            </a:r>
            <a:r>
              <a:rPr lang="en-US" sz="1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Antifuse</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4" name="Picture 3" descr="Diagram&#10;&#10;Description automatically generated">
            <a:extLst>
              <a:ext uri="{FF2B5EF4-FFF2-40B4-BE49-F238E27FC236}">
                <a16:creationId xmlns="" xmlns:a16="http://schemas.microsoft.com/office/drawing/2014/main" id="{F57C7FA0-515D-B105-5B76-7770A465A753}"/>
              </a:ext>
            </a:extLst>
          </p:cNvPr>
          <p:cNvPicPr>
            <a:picLocks noChangeAspect="1"/>
          </p:cNvPicPr>
          <p:nvPr/>
        </p:nvPicPr>
        <p:blipFill>
          <a:blip r:embed="rId3"/>
          <a:stretch>
            <a:fillRect/>
          </a:stretch>
        </p:blipFill>
        <p:spPr>
          <a:xfrm>
            <a:off x="1180499" y="1896378"/>
            <a:ext cx="2034540" cy="1043940"/>
          </a:xfrm>
          <a:prstGeom prst="rect">
            <a:avLst/>
          </a:prstGeom>
        </p:spPr>
      </p:pic>
      <p:pic>
        <p:nvPicPr>
          <p:cNvPr id="7" name="Picture 6" descr="Diagram&#10;&#10;Description automatically generated with medium confidence">
            <a:extLst>
              <a:ext uri="{FF2B5EF4-FFF2-40B4-BE49-F238E27FC236}">
                <a16:creationId xmlns="" xmlns:a16="http://schemas.microsoft.com/office/drawing/2014/main" id="{A9FD4615-2D94-333B-4525-BC747B8B07A0}"/>
              </a:ext>
            </a:extLst>
          </p:cNvPr>
          <p:cNvPicPr>
            <a:picLocks noChangeAspect="1"/>
          </p:cNvPicPr>
          <p:nvPr/>
        </p:nvPicPr>
        <p:blipFill>
          <a:blip r:embed="rId4"/>
          <a:stretch>
            <a:fillRect/>
          </a:stretch>
        </p:blipFill>
        <p:spPr>
          <a:xfrm>
            <a:off x="3625516" y="2928707"/>
            <a:ext cx="8111524" cy="2634044"/>
          </a:xfrm>
          <a:prstGeom prst="rect">
            <a:avLst/>
          </a:prstGeom>
        </p:spPr>
      </p:pic>
      <p:sp>
        <p:nvSpPr>
          <p:cNvPr id="10" name="TextBox 9">
            <a:extLst>
              <a:ext uri="{FF2B5EF4-FFF2-40B4-BE49-F238E27FC236}">
                <a16:creationId xmlns="" xmlns:a16="http://schemas.microsoft.com/office/drawing/2014/main" id="{C25D389D-15F1-DB3C-B5AC-6EB57D36B487}"/>
              </a:ext>
            </a:extLst>
          </p:cNvPr>
          <p:cNvSpPr txBox="1"/>
          <p:nvPr/>
        </p:nvSpPr>
        <p:spPr>
          <a:xfrm>
            <a:off x="6545179" y="6079776"/>
            <a:ext cx="6096000" cy="369332"/>
          </a:xfrm>
          <a:prstGeom prst="rect">
            <a:avLst/>
          </a:prstGeom>
          <a:noFill/>
        </p:spPr>
        <p:txBody>
          <a:bodyPr wrap="square">
            <a:spAutoFit/>
          </a:bodyPr>
          <a:lstStyle/>
          <a:p>
            <a:r>
              <a:rPr lang="en-US" sz="1800" dirty="0">
                <a:effectLst/>
                <a:latin typeface="Times New Roman" panose="02020603050405020304" pitchFamily="18" charset="0"/>
                <a:ea typeface="Calibri" panose="020F0502020204030204" pitchFamily="34" charset="0"/>
              </a:rPr>
              <a:t>Parasitic effects of </a:t>
            </a:r>
            <a:r>
              <a:rPr lang="en-US" sz="1800" dirty="0" err="1">
                <a:effectLst/>
                <a:latin typeface="Times New Roman" panose="02020603050405020304" pitchFamily="18" charset="0"/>
                <a:ea typeface="Calibri" panose="020F0502020204030204" pitchFamily="34" charset="0"/>
              </a:rPr>
              <a:t>antifuse</a:t>
            </a:r>
            <a:endParaRPr lang="en-IN" dirty="0"/>
          </a:p>
        </p:txBody>
      </p:sp>
      <p:sp>
        <p:nvSpPr>
          <p:cNvPr id="14" name="TextBox 13">
            <a:extLst>
              <a:ext uri="{FF2B5EF4-FFF2-40B4-BE49-F238E27FC236}">
                <a16:creationId xmlns="" xmlns:a16="http://schemas.microsoft.com/office/drawing/2014/main" id="{06FE9965-E21F-A128-D63C-C35B3AE45EDA}"/>
              </a:ext>
            </a:extLst>
          </p:cNvPr>
          <p:cNvSpPr txBox="1"/>
          <p:nvPr/>
        </p:nvSpPr>
        <p:spPr>
          <a:xfrm>
            <a:off x="3705726" y="1764450"/>
            <a:ext cx="6320588" cy="369332"/>
          </a:xfrm>
          <a:prstGeom prst="rect">
            <a:avLst/>
          </a:prstGeom>
          <a:noFill/>
        </p:spPr>
        <p:txBody>
          <a:bodyPr wrap="square">
            <a:spAutoFit/>
          </a:bodyPr>
          <a:lstStyle/>
          <a:p>
            <a:r>
              <a:rPr lang="en-US" sz="1800" dirty="0">
                <a:effectLst/>
                <a:latin typeface="Times New Roman" panose="02020603050405020304" pitchFamily="18" charset="0"/>
                <a:ea typeface="Calibri" panose="020F0502020204030204" pitchFamily="34" charset="0"/>
              </a:rPr>
              <a:t>Cross section of a metal-metal </a:t>
            </a:r>
            <a:r>
              <a:rPr lang="en-US" sz="1800" dirty="0" err="1">
                <a:effectLst/>
                <a:latin typeface="Times New Roman" panose="02020603050405020304" pitchFamily="18" charset="0"/>
                <a:ea typeface="Calibri" panose="020F0502020204030204" pitchFamily="34" charset="0"/>
              </a:rPr>
              <a:t>antifuse</a:t>
            </a:r>
            <a:endParaRPr lang="en-IN" dirty="0"/>
          </a:p>
        </p:txBody>
      </p:sp>
    </p:spTree>
    <p:extLst>
      <p:ext uri="{BB962C8B-B14F-4D97-AF65-F5344CB8AC3E}">
        <p14:creationId xmlns:p14="http://schemas.microsoft.com/office/powerpoint/2010/main" val="3879409077"/>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 xmlns:a16="http://schemas.microsoft.com/office/drawing/2014/main" id="{56941AB2-B43C-0E19-93DB-37798171AA25}"/>
              </a:ext>
            </a:extLst>
          </p:cNvPr>
          <p:cNvSpPr/>
          <p:nvPr/>
        </p:nvSpPr>
        <p:spPr>
          <a:xfrm>
            <a:off x="731327" y="451329"/>
            <a:ext cx="3047318" cy="593923"/>
          </a:xfrm>
          <a:prstGeom prst="rect">
            <a:avLst/>
          </a:prstGeom>
          <a:noFill/>
          <a:ln/>
        </p:spPr>
        <p:txBody>
          <a:bodyPr wrap="none" lIns="0" tIns="0" rIns="0" bIns="0" rtlCol="0" anchor="t"/>
          <a:lstStyle/>
          <a:p>
            <a:pPr>
              <a:lnSpc>
                <a:spcPts val="4666"/>
              </a:lnSpc>
            </a:pPr>
            <a:r>
              <a:rPr lang="en-US" sz="4000" dirty="0">
                <a:solidFill>
                  <a:srgbClr val="3B3535"/>
                </a:solidFill>
                <a:latin typeface="Rockwell" panose="02060603020205020403" pitchFamily="18" charset="0"/>
                <a:ea typeface="Sora Light" pitchFamily="34" charset="-122"/>
                <a:cs typeface="Sora Light" pitchFamily="34" charset="-120"/>
              </a:rPr>
              <a:t>Metal-Metal Antifuse</a:t>
            </a:r>
            <a:endParaRPr lang="en-US" sz="4000" dirty="0">
              <a:latin typeface="Rockwell" panose="02060603020205020403" pitchFamily="18" charset="0"/>
            </a:endParaRPr>
          </a:p>
        </p:txBody>
      </p:sp>
      <p:sp>
        <p:nvSpPr>
          <p:cNvPr id="3" name="TextBox 2">
            <a:extLst>
              <a:ext uri="{FF2B5EF4-FFF2-40B4-BE49-F238E27FC236}">
                <a16:creationId xmlns="" xmlns:a16="http://schemas.microsoft.com/office/drawing/2014/main" id="{E6302395-720D-7B8E-3F68-81864ABDCEA4}"/>
              </a:ext>
            </a:extLst>
          </p:cNvPr>
          <p:cNvSpPr txBox="1"/>
          <p:nvPr/>
        </p:nvSpPr>
        <p:spPr>
          <a:xfrm>
            <a:off x="626622" y="1189972"/>
            <a:ext cx="10938756" cy="1938992"/>
          </a:xfrm>
          <a:prstGeom prst="rect">
            <a:avLst/>
          </a:prstGeom>
          <a:noFill/>
        </p:spPr>
        <p:txBody>
          <a:bodyPr wrap="square" rtlCol="0">
            <a:spAutoFit/>
          </a:bodyPr>
          <a:lstStyle/>
          <a:p>
            <a:pPr algn="just"/>
            <a:r>
              <a:rPr lang="en-US" sz="1500" dirty="0">
                <a:latin typeface="Rockwell" panose="02060603020205020403" pitchFamily="18" charset="0"/>
              </a:rPr>
              <a:t>A metal-to-metal antifuse is a type of antifuse in which the conductive link is formed directly between two metal layers, typically separated by a thin insulating dielectric. Unlike conventional polysilicon-to-diffusion antifuses, metal-metal antifuses are implemented entirely within the interconnect layers of an integrated circuit, allowing for higher density and simpler integration in modern VLSI processes. Initially, the two metal layers are isolated by a thin dielectric material, such as silicon dioxide or other high-k dielectrics. When a programming voltage is applied (usually a high voltage pulse), the dielectric breaks down due to the intense electric field, causing a permanent conductive bridge to form between the two metal layers. This bridge typically consists of melted or electromigrated metal from the adjacent layers, resulting in a low-resistance, non-volatile connection.</a:t>
            </a:r>
            <a:endParaRPr lang="en-IN" sz="1500" dirty="0">
              <a:latin typeface="Rockwell" panose="02060603020205020403" pitchFamily="18" charset="0"/>
            </a:endParaRPr>
          </a:p>
        </p:txBody>
      </p:sp>
      <p:pic>
        <p:nvPicPr>
          <p:cNvPr id="5" name="Picture 4">
            <a:extLst>
              <a:ext uri="{FF2B5EF4-FFF2-40B4-BE49-F238E27FC236}">
                <a16:creationId xmlns="" xmlns:a16="http://schemas.microsoft.com/office/drawing/2014/main" id="{8C1FBDC2-D46C-7FB9-98E3-40FCC3F76D2F}"/>
              </a:ext>
            </a:extLst>
          </p:cNvPr>
          <p:cNvPicPr>
            <a:picLocks noChangeAspect="1"/>
          </p:cNvPicPr>
          <p:nvPr/>
        </p:nvPicPr>
        <p:blipFill>
          <a:blip r:embed="rId2"/>
          <a:stretch>
            <a:fillRect/>
          </a:stretch>
        </p:blipFill>
        <p:spPr>
          <a:xfrm>
            <a:off x="1932716" y="3429001"/>
            <a:ext cx="8607182" cy="2702679"/>
          </a:xfrm>
          <a:prstGeom prst="rect">
            <a:avLst/>
          </a:prstGeom>
        </p:spPr>
      </p:pic>
      <p:pic>
        <p:nvPicPr>
          <p:cNvPr id="4" name="Picture 3">
            <a:extLst>
              <a:ext uri="{FF2B5EF4-FFF2-40B4-BE49-F238E27FC236}">
                <a16:creationId xmlns="" xmlns:a16="http://schemas.microsoft.com/office/drawing/2014/main" id="{484CFEA0-8B4B-1FB7-E273-6D90AFD764F7}"/>
              </a:ext>
            </a:extLst>
          </p:cNvPr>
          <p:cNvPicPr>
            <a:picLocks noChangeAspect="1"/>
          </p:cNvPicPr>
          <p:nvPr/>
        </p:nvPicPr>
        <p:blipFill>
          <a:blip r:embed="rId3"/>
          <a:stretch>
            <a:fillRect/>
          </a:stretch>
        </p:blipFill>
        <p:spPr>
          <a:xfrm>
            <a:off x="10228793" y="132762"/>
            <a:ext cx="1831573" cy="741787"/>
          </a:xfrm>
          <a:prstGeom prst="rect">
            <a:avLst/>
          </a:prstGeom>
        </p:spPr>
      </p:pic>
      <p:cxnSp>
        <p:nvCxnSpPr>
          <p:cNvPr id="6" name="Straight Connector 5">
            <a:extLst>
              <a:ext uri="{FF2B5EF4-FFF2-40B4-BE49-F238E27FC236}">
                <a16:creationId xmlns="" xmlns:a16="http://schemas.microsoft.com/office/drawing/2014/main" id="{CC2D7473-5AEA-F9BC-1D4B-896E1E06AFDE}"/>
              </a:ext>
            </a:extLst>
          </p:cNvPr>
          <p:cNvCxnSpPr/>
          <p:nvPr/>
        </p:nvCxnSpPr>
        <p:spPr>
          <a:xfrm>
            <a:off x="0" y="6576164"/>
            <a:ext cx="2912302" cy="0"/>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 xmlns:a16="http://schemas.microsoft.com/office/drawing/2014/main" id="{C3F5DA4F-9991-019A-6A73-0CFA02C7D8CF}"/>
              </a:ext>
            </a:extLst>
          </p:cNvPr>
          <p:cNvSpPr/>
          <p:nvPr/>
        </p:nvSpPr>
        <p:spPr>
          <a:xfrm>
            <a:off x="2912302" y="6466561"/>
            <a:ext cx="6346520" cy="219207"/>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500" dirty="0"/>
          </a:p>
        </p:txBody>
      </p:sp>
      <p:cxnSp>
        <p:nvCxnSpPr>
          <p:cNvPr id="8" name="Straight Connector 7">
            <a:extLst>
              <a:ext uri="{FF2B5EF4-FFF2-40B4-BE49-F238E27FC236}">
                <a16:creationId xmlns="" xmlns:a16="http://schemas.microsoft.com/office/drawing/2014/main" id="{FC405946-6B37-4C5F-9193-689837356A6B}"/>
              </a:ext>
            </a:extLst>
          </p:cNvPr>
          <p:cNvCxnSpPr>
            <a:cxnSpLocks/>
            <a:stCxn id="7" idx="3"/>
          </p:cNvCxnSpPr>
          <p:nvPr/>
        </p:nvCxnSpPr>
        <p:spPr>
          <a:xfrm>
            <a:off x="9258822" y="6576164"/>
            <a:ext cx="187891" cy="0"/>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 xmlns:a16="http://schemas.microsoft.com/office/drawing/2014/main" id="{E2AB10A5-E185-40B5-A51F-FC8C9A319A58}"/>
              </a:ext>
            </a:extLst>
          </p:cNvPr>
          <p:cNvSpPr/>
          <p:nvPr/>
        </p:nvSpPr>
        <p:spPr>
          <a:xfrm>
            <a:off x="9446713" y="6466561"/>
            <a:ext cx="2164804" cy="219207"/>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500"/>
          </a:p>
        </p:txBody>
      </p:sp>
      <p:sp>
        <p:nvSpPr>
          <p:cNvPr id="10" name="TextBox 9">
            <a:extLst>
              <a:ext uri="{FF2B5EF4-FFF2-40B4-BE49-F238E27FC236}">
                <a16:creationId xmlns="" xmlns:a16="http://schemas.microsoft.com/office/drawing/2014/main" id="{0E936B30-C49B-B9CE-CA84-3B083FE046E2}"/>
              </a:ext>
            </a:extLst>
          </p:cNvPr>
          <p:cNvSpPr txBox="1"/>
          <p:nvPr/>
        </p:nvSpPr>
        <p:spPr>
          <a:xfrm>
            <a:off x="11542512" y="6466561"/>
            <a:ext cx="4248412" cy="323165"/>
          </a:xfrm>
          <a:prstGeom prst="rect">
            <a:avLst/>
          </a:prstGeom>
          <a:noFill/>
        </p:spPr>
        <p:txBody>
          <a:bodyPr wrap="square" rtlCol="0">
            <a:spAutoFit/>
          </a:bodyPr>
          <a:lstStyle/>
          <a:p>
            <a:r>
              <a:rPr lang="en-IN" sz="1500" dirty="0"/>
              <a:t>******</a:t>
            </a:r>
          </a:p>
        </p:txBody>
      </p:sp>
      <p:sp>
        <p:nvSpPr>
          <p:cNvPr id="11" name="TextBox 10">
            <a:extLst>
              <a:ext uri="{FF2B5EF4-FFF2-40B4-BE49-F238E27FC236}">
                <a16:creationId xmlns="" xmlns:a16="http://schemas.microsoft.com/office/drawing/2014/main" id="{815F584D-2051-07D1-F8B6-AB309D9C874F}"/>
              </a:ext>
            </a:extLst>
          </p:cNvPr>
          <p:cNvSpPr txBox="1"/>
          <p:nvPr/>
        </p:nvSpPr>
        <p:spPr>
          <a:xfrm>
            <a:off x="3131506" y="6435100"/>
            <a:ext cx="6461343" cy="297454"/>
          </a:xfrm>
          <a:prstGeom prst="rect">
            <a:avLst/>
          </a:prstGeom>
          <a:noFill/>
        </p:spPr>
        <p:txBody>
          <a:bodyPr wrap="square" rtlCol="0">
            <a:spAutoFit/>
          </a:bodyPr>
          <a:lstStyle/>
          <a:p>
            <a:r>
              <a:rPr lang="en-US" sz="1333" dirty="0">
                <a:latin typeface="Times New Roman" panose="02020603050405020304" pitchFamily="18" charset="0"/>
                <a:cs typeface="Times New Roman" panose="02020603050405020304" pitchFamily="18" charset="0"/>
              </a:rPr>
              <a:t>Application-Specific Integrated Circuit and Field Programmable Gate Array Design </a:t>
            </a:r>
            <a:endParaRPr lang="en-IN" sz="1333"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475307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 xmlns:a16="http://schemas.microsoft.com/office/drawing/2014/main" id="{01FA19A5-9588-483E-843E-C76873B71790}"/>
              </a:ext>
            </a:extLst>
          </p:cNvPr>
          <p:cNvSpPr/>
          <p:nvPr/>
        </p:nvSpPr>
        <p:spPr>
          <a:xfrm>
            <a:off x="3530991" y="84408"/>
            <a:ext cx="6414867"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SUMMARY</a:t>
            </a:r>
          </a:p>
        </p:txBody>
      </p:sp>
      <p:pic>
        <p:nvPicPr>
          <p:cNvPr id="17"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3" name="TextBox 2">
            <a:extLst>
              <a:ext uri="{FF2B5EF4-FFF2-40B4-BE49-F238E27FC236}">
                <a16:creationId xmlns="" xmlns:a16="http://schemas.microsoft.com/office/drawing/2014/main" id="{5E97DFE0-142D-8A99-B4BB-041C00BF0A2A}"/>
              </a:ext>
            </a:extLst>
          </p:cNvPr>
          <p:cNvSpPr txBox="1"/>
          <p:nvPr/>
        </p:nvSpPr>
        <p:spPr>
          <a:xfrm>
            <a:off x="192505" y="1636295"/>
            <a:ext cx="11598442" cy="3264163"/>
          </a:xfrm>
          <a:prstGeom prst="rect">
            <a:avLst/>
          </a:prstGeom>
          <a:noFill/>
        </p:spPr>
        <p:txBody>
          <a:bodyPr wrap="square">
            <a:spAutoFit/>
          </a:bodyPr>
          <a:lstStyle/>
          <a:p>
            <a:pPr marL="342900" indent="-342900" algn="just">
              <a:lnSpc>
                <a:spcPct val="150000"/>
              </a:lnSpc>
              <a:spcAft>
                <a:spcPts val="800"/>
              </a:spcAft>
              <a:buFont typeface="+mj-lt"/>
              <a:buAutoNum type="arabicPeriod"/>
            </a:pP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Antifuses</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are widely used to permanently program integrated circuits (ICs). </a:t>
            </a:r>
          </a:p>
          <a:p>
            <a:pPr marL="342900" indent="-342900" algn="just">
              <a:lnSpc>
                <a:spcPct val="150000"/>
              </a:lnSpc>
              <a:spcAft>
                <a:spcPts val="800"/>
              </a:spcAft>
              <a:buFont typeface="+mj-lt"/>
              <a:buAutoNum type="arabicPeriod"/>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Certain programmable logic devices (PLDs), such as structured ASICs, use fuse technology to configure logic circuits and create a customized design from a standard IC design. </a:t>
            </a:r>
          </a:p>
          <a:p>
            <a:pPr marL="342900" indent="-342900" algn="just">
              <a:lnSpc>
                <a:spcPct val="150000"/>
              </a:lnSpc>
              <a:spcAft>
                <a:spcPts val="800"/>
              </a:spcAft>
              <a:buFont typeface="+mj-lt"/>
              <a:buAutoNum type="arabicPeriod"/>
            </a:pP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Antifuse</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PLDs are one time programmable in contrast to other PLDs that are SRAM-based and which may be reprogrammed to fix logic bugs or add new functions.</a:t>
            </a:r>
          </a:p>
          <a:p>
            <a:pPr marL="342900" indent="-342900" algn="just">
              <a:lnSpc>
                <a:spcPct val="150000"/>
              </a:lnSpc>
              <a:spcAft>
                <a:spcPts val="800"/>
              </a:spcAft>
              <a:buFont typeface="+mj-lt"/>
              <a:buAutoNum type="arabicPeriod"/>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Antifuse</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PLDs have advantages over SRAM based PLDs in that like ASICs, they do not need to be configured each time power is applied.</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686185071"/>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 xmlns:a16="http://schemas.microsoft.com/office/drawing/2014/main" id="{C6889521-BF98-49B2-0F67-37B248293FA4}"/>
              </a:ext>
            </a:extLst>
          </p:cNvPr>
          <p:cNvPicPr>
            <a:picLocks noChangeAspect="1"/>
          </p:cNvPicPr>
          <p:nvPr/>
        </p:nvPicPr>
        <p:blipFill>
          <a:blip r:embed="rId2"/>
          <a:stretch>
            <a:fillRect/>
          </a:stretch>
        </p:blipFill>
        <p:spPr>
          <a:xfrm>
            <a:off x="3210787" y="3804635"/>
            <a:ext cx="6539803" cy="2399391"/>
          </a:xfrm>
          <a:prstGeom prst="rect">
            <a:avLst/>
          </a:prstGeom>
        </p:spPr>
      </p:pic>
      <p:sp>
        <p:nvSpPr>
          <p:cNvPr id="4" name="Text 0">
            <a:extLst>
              <a:ext uri="{FF2B5EF4-FFF2-40B4-BE49-F238E27FC236}">
                <a16:creationId xmlns="" xmlns:a16="http://schemas.microsoft.com/office/drawing/2014/main" id="{9FBE51EA-DC5F-DFAF-C651-EF38132CFAE0}"/>
              </a:ext>
            </a:extLst>
          </p:cNvPr>
          <p:cNvSpPr/>
          <p:nvPr/>
        </p:nvSpPr>
        <p:spPr>
          <a:xfrm>
            <a:off x="731327" y="451329"/>
            <a:ext cx="3047318" cy="593923"/>
          </a:xfrm>
          <a:prstGeom prst="rect">
            <a:avLst/>
          </a:prstGeom>
          <a:noFill/>
          <a:ln/>
        </p:spPr>
        <p:txBody>
          <a:bodyPr wrap="none" lIns="0" tIns="0" rIns="0" bIns="0" rtlCol="0" anchor="t"/>
          <a:lstStyle/>
          <a:p>
            <a:pPr>
              <a:lnSpc>
                <a:spcPts val="4666"/>
              </a:lnSpc>
            </a:pPr>
            <a:r>
              <a:rPr lang="en-US" sz="4000" dirty="0">
                <a:solidFill>
                  <a:srgbClr val="3B3535"/>
                </a:solidFill>
                <a:latin typeface="Rockwell" panose="02060603020205020403" pitchFamily="18" charset="0"/>
                <a:ea typeface="Sora Light" pitchFamily="34" charset="-122"/>
                <a:cs typeface="Sora Light" pitchFamily="34" charset="-120"/>
              </a:rPr>
              <a:t>Static RAM [Xilinx SRAM]</a:t>
            </a:r>
            <a:endParaRPr lang="en-US" sz="4000" dirty="0">
              <a:latin typeface="Rockwell" panose="02060603020205020403" pitchFamily="18" charset="0"/>
            </a:endParaRPr>
          </a:p>
        </p:txBody>
      </p:sp>
      <p:sp>
        <p:nvSpPr>
          <p:cNvPr id="5" name="TextBox 4">
            <a:extLst>
              <a:ext uri="{FF2B5EF4-FFF2-40B4-BE49-F238E27FC236}">
                <a16:creationId xmlns="" xmlns:a16="http://schemas.microsoft.com/office/drawing/2014/main" id="{27ECFAE7-6B74-C4DB-2053-1BF7D8AADF7E}"/>
              </a:ext>
            </a:extLst>
          </p:cNvPr>
          <p:cNvSpPr txBox="1"/>
          <p:nvPr/>
        </p:nvSpPr>
        <p:spPr>
          <a:xfrm>
            <a:off x="613743" y="1311645"/>
            <a:ext cx="10938756" cy="2492990"/>
          </a:xfrm>
          <a:prstGeom prst="rect">
            <a:avLst/>
          </a:prstGeom>
          <a:noFill/>
        </p:spPr>
        <p:txBody>
          <a:bodyPr wrap="square" rtlCol="0">
            <a:spAutoFit/>
          </a:bodyPr>
          <a:lstStyle/>
          <a:p>
            <a:pPr algn="just"/>
            <a:r>
              <a:rPr lang="en-US" sz="1200" dirty="0">
                <a:latin typeface="Rockwell" panose="02060603020205020403" pitchFamily="18" charset="0"/>
              </a:rPr>
              <a:t>Static Random Access Memory (SRAM) is a type of volatile memory that retains data as long as power is supplied. The given diagram shows a basic SRAM cell used in applications such as FPGA configuration and cache memory. This cell consists of two cross-coupled inverters forming a bistable latch, which can hold a single bit of data. </a:t>
            </a:r>
          </a:p>
          <a:p>
            <a:pPr algn="just"/>
            <a:endParaRPr lang="en-US" sz="1200" dirty="0">
              <a:latin typeface="Rockwell" panose="02060603020205020403" pitchFamily="18" charset="0"/>
            </a:endParaRPr>
          </a:p>
          <a:p>
            <a:pPr algn="just"/>
            <a:r>
              <a:rPr lang="en-US" sz="1200" dirty="0">
                <a:latin typeface="Rockwell" panose="02060603020205020403" pitchFamily="18" charset="0"/>
              </a:rPr>
              <a:t>The outputs of the latch, labeled Q and Q̅, are always complementary and are used to control configuration logic. </a:t>
            </a:r>
          </a:p>
          <a:p>
            <a:pPr algn="just"/>
            <a:endParaRPr lang="en-US" sz="1200" dirty="0">
              <a:latin typeface="Rockwell" panose="02060603020205020403" pitchFamily="18" charset="0"/>
            </a:endParaRPr>
          </a:p>
          <a:p>
            <a:pPr algn="just"/>
            <a:r>
              <a:rPr lang="en-US" sz="1200" dirty="0">
                <a:latin typeface="Rockwell" panose="02060603020205020403" pitchFamily="18" charset="0"/>
              </a:rPr>
              <a:t>A control line labeled READ or WRITE is used to enable access to the cell, and a DATA line provides input during a write operation or outputs stored data during a read operation. In the write mode, the control line is activated, and the data present on the DATA line is latched into the cell. </a:t>
            </a:r>
          </a:p>
          <a:p>
            <a:pPr algn="just"/>
            <a:endParaRPr lang="en-US" sz="1200" dirty="0">
              <a:latin typeface="Rockwell" panose="02060603020205020403" pitchFamily="18" charset="0"/>
            </a:endParaRPr>
          </a:p>
          <a:p>
            <a:pPr algn="just"/>
            <a:r>
              <a:rPr lang="en-US" sz="1200" dirty="0">
                <a:latin typeface="Rockwell" panose="02060603020205020403" pitchFamily="18" charset="0"/>
              </a:rPr>
              <a:t>The cross-coupled inverters maintain the stored value as long as power is applied. During a read operation, the stored value is made available at the Q output. SRAM is known for its fast access times, making it ideal for high-speed applications. However, it requires more transistors per bit (typically six), resulting in lower density and higher area consumption compared to other memory types. SRAM is rewritable and widely used in FPGAs, CPU caches, and high-speed memory buffers.</a:t>
            </a:r>
            <a:endParaRPr lang="en-IN" sz="1200" dirty="0">
              <a:latin typeface="Rockwell" panose="02060603020205020403" pitchFamily="18" charset="0"/>
            </a:endParaRPr>
          </a:p>
        </p:txBody>
      </p:sp>
      <p:pic>
        <p:nvPicPr>
          <p:cNvPr id="2" name="Picture 1">
            <a:extLst>
              <a:ext uri="{FF2B5EF4-FFF2-40B4-BE49-F238E27FC236}">
                <a16:creationId xmlns="" xmlns:a16="http://schemas.microsoft.com/office/drawing/2014/main" id="{81CA84F1-1FB3-0308-EE1E-D323C3AA6940}"/>
              </a:ext>
            </a:extLst>
          </p:cNvPr>
          <p:cNvPicPr>
            <a:picLocks noChangeAspect="1"/>
          </p:cNvPicPr>
          <p:nvPr/>
        </p:nvPicPr>
        <p:blipFill>
          <a:blip r:embed="rId3"/>
          <a:stretch>
            <a:fillRect/>
          </a:stretch>
        </p:blipFill>
        <p:spPr>
          <a:xfrm>
            <a:off x="10125206" y="132762"/>
            <a:ext cx="1935160" cy="783740"/>
          </a:xfrm>
          <a:prstGeom prst="rect">
            <a:avLst/>
          </a:prstGeom>
        </p:spPr>
      </p:pic>
    </p:spTree>
    <p:extLst>
      <p:ext uri="{BB962C8B-B14F-4D97-AF65-F5344CB8AC3E}">
        <p14:creationId xmlns:p14="http://schemas.microsoft.com/office/powerpoint/2010/main" val="1573845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 xmlns:a16="http://schemas.microsoft.com/office/drawing/2014/main" id="{5171F2B2-7B70-2839-6F13-DAEAD4046744}"/>
              </a:ext>
            </a:extLst>
          </p:cNvPr>
          <p:cNvPicPr>
            <a:picLocks noChangeAspect="1"/>
          </p:cNvPicPr>
          <p:nvPr/>
        </p:nvPicPr>
        <p:blipFill>
          <a:blip r:embed="rId2"/>
          <a:stretch>
            <a:fillRect/>
          </a:stretch>
        </p:blipFill>
        <p:spPr>
          <a:xfrm>
            <a:off x="1514712" y="1171977"/>
            <a:ext cx="9174881" cy="4546243"/>
          </a:xfrm>
          <a:prstGeom prst="rect">
            <a:avLst/>
          </a:prstGeom>
        </p:spPr>
      </p:pic>
    </p:spTree>
    <p:extLst>
      <p:ext uri="{BB962C8B-B14F-4D97-AF65-F5344CB8AC3E}">
        <p14:creationId xmlns:p14="http://schemas.microsoft.com/office/powerpoint/2010/main" val="20573307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2EED635-96D9-586E-F5DE-57EC7D76CBA3}"/>
              </a:ext>
            </a:extLst>
          </p:cNvPr>
          <p:cNvSpPr>
            <a:spLocks noGrp="1"/>
          </p:cNvSpPr>
          <p:nvPr>
            <p:ph type="title"/>
          </p:nvPr>
        </p:nvSpPr>
        <p:spPr/>
        <p:txBody>
          <a:bodyPr/>
          <a:lstStyle/>
          <a:p>
            <a:endParaRPr lang="en-IN"/>
          </a:p>
        </p:txBody>
      </p:sp>
      <p:sp>
        <p:nvSpPr>
          <p:cNvPr id="3" name="Content Placeholder 2">
            <a:extLst>
              <a:ext uri="{FF2B5EF4-FFF2-40B4-BE49-F238E27FC236}">
                <a16:creationId xmlns="" xmlns:a16="http://schemas.microsoft.com/office/drawing/2014/main" id="{680C154C-ED3B-4B38-6497-DE18B999A0ED}"/>
              </a:ext>
            </a:extLst>
          </p:cNvPr>
          <p:cNvSpPr>
            <a:spLocks noGrp="1"/>
          </p:cNvSpPr>
          <p:nvPr>
            <p:ph idx="1"/>
          </p:nvPr>
        </p:nvSpPr>
        <p:spPr/>
        <p:txBody>
          <a:bodyPr/>
          <a:lstStyle/>
          <a:p>
            <a:endParaRPr lang="en-IN"/>
          </a:p>
        </p:txBody>
      </p:sp>
      <p:pic>
        <p:nvPicPr>
          <p:cNvPr id="5" name="Picture 4">
            <a:extLst>
              <a:ext uri="{FF2B5EF4-FFF2-40B4-BE49-F238E27FC236}">
                <a16:creationId xmlns="" xmlns:a16="http://schemas.microsoft.com/office/drawing/2014/main" id="{FFBA2BDC-722B-3C5B-56BA-2CA177E4D3B4}"/>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41627792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FA8F0D1-1F96-ECE8-E957-F0D5E88C0A54}"/>
              </a:ext>
            </a:extLst>
          </p:cNvPr>
          <p:cNvSpPr>
            <a:spLocks noGrp="1"/>
          </p:cNvSpPr>
          <p:nvPr>
            <p:ph type="title"/>
          </p:nvPr>
        </p:nvSpPr>
        <p:spPr/>
        <p:txBody>
          <a:bodyPr/>
          <a:lstStyle/>
          <a:p>
            <a:endParaRPr lang="en-IN"/>
          </a:p>
        </p:txBody>
      </p:sp>
      <p:sp>
        <p:nvSpPr>
          <p:cNvPr id="3" name="Content Placeholder 2">
            <a:extLst>
              <a:ext uri="{FF2B5EF4-FFF2-40B4-BE49-F238E27FC236}">
                <a16:creationId xmlns="" xmlns:a16="http://schemas.microsoft.com/office/drawing/2014/main" id="{7CBCD47C-5E72-545D-0C66-E83F2A63E7C6}"/>
              </a:ext>
            </a:extLst>
          </p:cNvPr>
          <p:cNvSpPr>
            <a:spLocks noGrp="1"/>
          </p:cNvSpPr>
          <p:nvPr>
            <p:ph idx="1"/>
          </p:nvPr>
        </p:nvSpPr>
        <p:spPr/>
        <p:txBody>
          <a:bodyPr/>
          <a:lstStyle/>
          <a:p>
            <a:endParaRPr lang="en-IN"/>
          </a:p>
        </p:txBody>
      </p:sp>
      <p:pic>
        <p:nvPicPr>
          <p:cNvPr id="5" name="Picture 4">
            <a:extLst>
              <a:ext uri="{FF2B5EF4-FFF2-40B4-BE49-F238E27FC236}">
                <a16:creationId xmlns="" xmlns:a16="http://schemas.microsoft.com/office/drawing/2014/main" id="{F7DE4CA8-A176-6CDD-77C4-23D94EB124A4}"/>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40191027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4BCEE8E-CB5D-B0DE-A640-C5FED4C69440}"/>
              </a:ext>
            </a:extLst>
          </p:cNvPr>
          <p:cNvSpPr>
            <a:spLocks noGrp="1"/>
          </p:cNvSpPr>
          <p:nvPr>
            <p:ph type="title"/>
          </p:nvPr>
        </p:nvSpPr>
        <p:spPr/>
        <p:txBody>
          <a:bodyPr/>
          <a:lstStyle/>
          <a:p>
            <a:endParaRPr lang="en-IN"/>
          </a:p>
        </p:txBody>
      </p:sp>
      <p:sp>
        <p:nvSpPr>
          <p:cNvPr id="3" name="Content Placeholder 2">
            <a:extLst>
              <a:ext uri="{FF2B5EF4-FFF2-40B4-BE49-F238E27FC236}">
                <a16:creationId xmlns="" xmlns:a16="http://schemas.microsoft.com/office/drawing/2014/main" id="{1403E65F-5725-3C9D-8CD7-7F498E2A54F3}"/>
              </a:ext>
            </a:extLst>
          </p:cNvPr>
          <p:cNvSpPr>
            <a:spLocks noGrp="1"/>
          </p:cNvSpPr>
          <p:nvPr>
            <p:ph idx="1"/>
          </p:nvPr>
        </p:nvSpPr>
        <p:spPr/>
        <p:txBody>
          <a:bodyPr/>
          <a:lstStyle/>
          <a:p>
            <a:endParaRPr lang="en-IN"/>
          </a:p>
        </p:txBody>
      </p:sp>
      <p:pic>
        <p:nvPicPr>
          <p:cNvPr id="5" name="Picture 4">
            <a:extLst>
              <a:ext uri="{FF2B5EF4-FFF2-40B4-BE49-F238E27FC236}">
                <a16:creationId xmlns="" xmlns:a16="http://schemas.microsoft.com/office/drawing/2014/main" id="{A2AD3529-5275-3B1B-A120-3A52AAC11C6C}"/>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637141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62A5323-DB74-6A03-EF16-527D306987BB}"/>
              </a:ext>
            </a:extLst>
          </p:cNvPr>
          <p:cNvSpPr>
            <a:spLocks noGrp="1"/>
          </p:cNvSpPr>
          <p:nvPr>
            <p:ph type="title"/>
          </p:nvPr>
        </p:nvSpPr>
        <p:spPr/>
        <p:txBody>
          <a:bodyPr/>
          <a:lstStyle/>
          <a:p>
            <a:endParaRPr lang="en-IN"/>
          </a:p>
        </p:txBody>
      </p:sp>
      <p:sp>
        <p:nvSpPr>
          <p:cNvPr id="3" name="Content Placeholder 2">
            <a:extLst>
              <a:ext uri="{FF2B5EF4-FFF2-40B4-BE49-F238E27FC236}">
                <a16:creationId xmlns="" xmlns:a16="http://schemas.microsoft.com/office/drawing/2014/main" id="{67A03095-BF1D-A905-EA59-E632127927EE}"/>
              </a:ext>
            </a:extLst>
          </p:cNvPr>
          <p:cNvSpPr>
            <a:spLocks noGrp="1"/>
          </p:cNvSpPr>
          <p:nvPr>
            <p:ph idx="1"/>
          </p:nvPr>
        </p:nvSpPr>
        <p:spPr/>
        <p:txBody>
          <a:bodyPr/>
          <a:lstStyle/>
          <a:p>
            <a:endParaRPr lang="en-IN"/>
          </a:p>
        </p:txBody>
      </p:sp>
      <p:pic>
        <p:nvPicPr>
          <p:cNvPr id="5" name="Picture 4">
            <a:extLst>
              <a:ext uri="{FF2B5EF4-FFF2-40B4-BE49-F238E27FC236}">
                <a16:creationId xmlns="" xmlns:a16="http://schemas.microsoft.com/office/drawing/2014/main" id="{56834DE2-D396-36D3-4779-4B046058773C}"/>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6208400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502BF73-E279-5074-D058-DAAEC7054AA1}"/>
              </a:ext>
            </a:extLst>
          </p:cNvPr>
          <p:cNvSpPr>
            <a:spLocks noGrp="1"/>
          </p:cNvSpPr>
          <p:nvPr>
            <p:ph type="title"/>
          </p:nvPr>
        </p:nvSpPr>
        <p:spPr/>
        <p:txBody>
          <a:bodyPr/>
          <a:lstStyle/>
          <a:p>
            <a:endParaRPr lang="en-IN"/>
          </a:p>
        </p:txBody>
      </p:sp>
      <p:sp>
        <p:nvSpPr>
          <p:cNvPr id="3" name="Content Placeholder 2">
            <a:extLst>
              <a:ext uri="{FF2B5EF4-FFF2-40B4-BE49-F238E27FC236}">
                <a16:creationId xmlns="" xmlns:a16="http://schemas.microsoft.com/office/drawing/2014/main" id="{4D1C6477-192F-B638-9745-EE81D7411C65}"/>
              </a:ext>
            </a:extLst>
          </p:cNvPr>
          <p:cNvSpPr>
            <a:spLocks noGrp="1"/>
          </p:cNvSpPr>
          <p:nvPr>
            <p:ph idx="1"/>
          </p:nvPr>
        </p:nvSpPr>
        <p:spPr/>
        <p:txBody>
          <a:bodyPr/>
          <a:lstStyle/>
          <a:p>
            <a:endParaRPr lang="en-IN"/>
          </a:p>
        </p:txBody>
      </p:sp>
      <p:pic>
        <p:nvPicPr>
          <p:cNvPr id="5" name="Picture 4">
            <a:extLst>
              <a:ext uri="{FF2B5EF4-FFF2-40B4-BE49-F238E27FC236}">
                <a16:creationId xmlns="" xmlns:a16="http://schemas.microsoft.com/office/drawing/2014/main" id="{822D0303-C9DD-1A1F-DAF3-6C6FAA0E0672}"/>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7343443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8926FCD-CB8E-7A72-E854-2D01F35C6AC6}"/>
              </a:ext>
            </a:extLst>
          </p:cNvPr>
          <p:cNvSpPr>
            <a:spLocks noGrp="1"/>
          </p:cNvSpPr>
          <p:nvPr>
            <p:ph type="title"/>
          </p:nvPr>
        </p:nvSpPr>
        <p:spPr/>
        <p:txBody>
          <a:bodyPr/>
          <a:lstStyle/>
          <a:p>
            <a:endParaRPr lang="en-IN"/>
          </a:p>
        </p:txBody>
      </p:sp>
      <p:sp>
        <p:nvSpPr>
          <p:cNvPr id="3" name="Content Placeholder 2">
            <a:extLst>
              <a:ext uri="{FF2B5EF4-FFF2-40B4-BE49-F238E27FC236}">
                <a16:creationId xmlns="" xmlns:a16="http://schemas.microsoft.com/office/drawing/2014/main" id="{FD41ECA0-C1A3-80B2-9287-A6FD55BBDB24}"/>
              </a:ext>
            </a:extLst>
          </p:cNvPr>
          <p:cNvSpPr>
            <a:spLocks noGrp="1"/>
          </p:cNvSpPr>
          <p:nvPr>
            <p:ph idx="1"/>
          </p:nvPr>
        </p:nvSpPr>
        <p:spPr/>
        <p:txBody>
          <a:bodyPr/>
          <a:lstStyle/>
          <a:p>
            <a:endParaRPr lang="en-IN"/>
          </a:p>
        </p:txBody>
      </p:sp>
      <p:pic>
        <p:nvPicPr>
          <p:cNvPr id="5" name="Picture 4">
            <a:extLst>
              <a:ext uri="{FF2B5EF4-FFF2-40B4-BE49-F238E27FC236}">
                <a16:creationId xmlns="" xmlns:a16="http://schemas.microsoft.com/office/drawing/2014/main" id="{00097F96-29C4-DFA8-D54B-B3FAB9F163B7}"/>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6965082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a:extLst>
              <a:ext uri="{FF2B5EF4-FFF2-40B4-BE49-F238E27FC236}">
                <a16:creationId xmlns="" xmlns:a16="http://schemas.microsoft.com/office/drawing/2014/main" id="{6CFD2BCB-7F98-E23F-982F-EFD888C6E606}"/>
              </a:ext>
            </a:extLst>
          </p:cNvPr>
          <p:cNvSpPr/>
          <p:nvPr/>
        </p:nvSpPr>
        <p:spPr>
          <a:xfrm>
            <a:off x="731327" y="315631"/>
            <a:ext cx="3047318" cy="593923"/>
          </a:xfrm>
          <a:prstGeom prst="rect">
            <a:avLst/>
          </a:prstGeom>
          <a:noFill/>
          <a:ln/>
        </p:spPr>
        <p:txBody>
          <a:bodyPr wrap="none" lIns="0" tIns="0" rIns="0" bIns="0" rtlCol="0" anchor="t"/>
          <a:lstStyle/>
          <a:p>
            <a:pPr>
              <a:lnSpc>
                <a:spcPts val="4666"/>
              </a:lnSpc>
            </a:pPr>
            <a:r>
              <a:rPr lang="en-US" sz="4000" dirty="0">
                <a:solidFill>
                  <a:srgbClr val="3B3535"/>
                </a:solidFill>
                <a:latin typeface="Rockwell" panose="02060603020205020403" pitchFamily="18" charset="0"/>
                <a:ea typeface="Sora Light" pitchFamily="34" charset="-122"/>
                <a:cs typeface="Sora Light" pitchFamily="34" charset="-120"/>
              </a:rPr>
              <a:t>EPROM Technology</a:t>
            </a:r>
            <a:endParaRPr lang="en-US" sz="4000" dirty="0">
              <a:latin typeface="Rockwell" panose="02060603020205020403" pitchFamily="18" charset="0"/>
            </a:endParaRPr>
          </a:p>
        </p:txBody>
      </p:sp>
      <p:pic>
        <p:nvPicPr>
          <p:cNvPr id="6" name="Picture 5">
            <a:extLst>
              <a:ext uri="{FF2B5EF4-FFF2-40B4-BE49-F238E27FC236}">
                <a16:creationId xmlns="" xmlns:a16="http://schemas.microsoft.com/office/drawing/2014/main" id="{070EC841-D9A4-92BE-360E-CA039E29A20D}"/>
              </a:ext>
            </a:extLst>
          </p:cNvPr>
          <p:cNvPicPr>
            <a:picLocks noChangeAspect="1"/>
          </p:cNvPicPr>
          <p:nvPr/>
        </p:nvPicPr>
        <p:blipFill>
          <a:blip r:embed="rId2"/>
          <a:stretch>
            <a:fillRect/>
          </a:stretch>
        </p:blipFill>
        <p:spPr>
          <a:xfrm>
            <a:off x="3696194" y="941415"/>
            <a:ext cx="6199367" cy="2048428"/>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 xmlns:a16="http://schemas.microsoft.com/office/drawing/2014/main" id="{1BEDC5C8-1640-73BF-D237-CC14FC12DA53}"/>
                  </a:ext>
                </a:extLst>
              </p:cNvPr>
              <p:cNvSpPr txBox="1"/>
              <p:nvPr/>
            </p:nvSpPr>
            <p:spPr>
              <a:xfrm>
                <a:off x="631519" y="2921751"/>
                <a:ext cx="10928958" cy="3554819"/>
              </a:xfrm>
              <a:prstGeom prst="rect">
                <a:avLst/>
              </a:prstGeom>
              <a:noFill/>
            </p:spPr>
            <p:txBody>
              <a:bodyPr wrap="square" rtlCol="0">
                <a:spAutoFit/>
              </a:bodyPr>
              <a:lstStyle/>
              <a:p>
                <a:pPr algn="just"/>
                <a:r>
                  <a:rPr lang="en-US" sz="1500" dirty="0">
                    <a:latin typeface="Rockwell" panose="02060603020205020403" pitchFamily="18" charset="0"/>
                  </a:rPr>
                  <a:t>The diagram illustrates the working principle of an EPROM (Erasable Programmable Read-Only Memory) transistor, showing its programming, blocking, and erasing operations: </a:t>
                </a:r>
              </a:p>
              <a:p>
                <a:pPr marL="285739" indent="-285739" algn="just">
                  <a:buAutoNum type="alphaLcParenBoth"/>
                </a:pPr>
                <a:r>
                  <a:rPr lang="en-US" sz="1500" dirty="0">
                    <a:latin typeface="Rockwell" panose="02060603020205020403" pitchFamily="18" charset="0"/>
                  </a:rPr>
                  <a:t>Programming Phase: A high voltage (greater than 12V), known as </a:t>
                </a:r>
                <a14:m>
                  <m:oMath xmlns:m="http://schemas.openxmlformats.org/officeDocument/2006/math">
                    <m:sSub>
                      <m:sSubPr>
                        <m:ctrlPr>
                          <a:rPr lang="en-US" sz="1500" i="1" dirty="0">
                            <a:latin typeface="Cambria Math" panose="02040503050406030204" pitchFamily="18" charset="0"/>
                          </a:rPr>
                        </m:ctrlPr>
                      </m:sSubPr>
                      <m:e>
                        <m:r>
                          <a:rPr lang="en-US" sz="1500" i="1" dirty="0">
                            <a:latin typeface="Cambria Math" panose="02040503050406030204" pitchFamily="18" charset="0"/>
                          </a:rPr>
                          <m:t>𝑉</m:t>
                        </m:r>
                      </m:e>
                      <m:sub>
                        <m:r>
                          <a:rPr lang="en-US" sz="1500" i="1" dirty="0">
                            <a:latin typeface="Cambria Math" panose="02040503050406030204" pitchFamily="18" charset="0"/>
                          </a:rPr>
                          <m:t>𝑃𝑃</m:t>
                        </m:r>
                      </m:sub>
                    </m:sSub>
                  </m:oMath>
                </a14:m>
                <a:r>
                  <a:rPr lang="en-US" sz="1500" dirty="0">
                    <a:latin typeface="Rockwell" panose="02060603020205020403" pitchFamily="18" charset="0"/>
                  </a:rPr>
                  <a:t>, is applied to the drain while the control gate (gate 2) is at a high voltage relative to the source. This causes electrons to gain enough energy through hot-electron injection to overcome the oxide barrier and get trapped on the floating gate (gate 1), which is electrically isolated. </a:t>
                </a:r>
              </a:p>
              <a:p>
                <a:pPr marL="285739" indent="-285739" algn="just">
                  <a:buAutoNum type="alphaLcParenBoth"/>
                </a:pPr>
                <a:endParaRPr lang="en-US" sz="1500" dirty="0">
                  <a:latin typeface="Rockwell" panose="02060603020205020403" pitchFamily="18" charset="0"/>
                </a:endParaRPr>
              </a:p>
              <a:p>
                <a:pPr marL="285739" indent="-285739" algn="just">
                  <a:buAutoNum type="alphaLcParenBoth"/>
                </a:pPr>
                <a:r>
                  <a:rPr lang="en-US" sz="1500" dirty="0">
                    <a:latin typeface="Rockwell" panose="02060603020205020403" pitchFamily="18" charset="0"/>
                  </a:rPr>
                  <a:t>Storage/Blocking Phase: The trapped electrons on the floating gate shift the threshold voltage (</a:t>
                </a:r>
                <a14:m>
                  <m:oMath xmlns:m="http://schemas.openxmlformats.org/officeDocument/2006/math">
                    <m:sSub>
                      <m:sSubPr>
                        <m:ctrlPr>
                          <a:rPr lang="en-US" sz="1500" i="1" dirty="0">
                            <a:latin typeface="Cambria Math" panose="02040503050406030204" pitchFamily="18" charset="0"/>
                          </a:rPr>
                        </m:ctrlPr>
                      </m:sSubPr>
                      <m:e>
                        <m:r>
                          <a:rPr lang="en-US" sz="1500" i="1" dirty="0">
                            <a:latin typeface="Cambria Math" panose="02040503050406030204" pitchFamily="18" charset="0"/>
                          </a:rPr>
                          <m:t>𝑉</m:t>
                        </m:r>
                      </m:e>
                      <m:sub>
                        <m:r>
                          <a:rPr lang="en-US" sz="1500" i="1" dirty="0">
                            <a:latin typeface="Cambria Math" panose="02040503050406030204" pitchFamily="18" charset="0"/>
                          </a:rPr>
                          <m:t>𝑡</m:t>
                        </m:r>
                      </m:sub>
                    </m:sSub>
                  </m:oMath>
                </a14:m>
                <a:r>
                  <a:rPr lang="en-US" sz="1500" dirty="0">
                    <a:latin typeface="Rockwell" panose="02060603020205020403" pitchFamily="18" charset="0"/>
                  </a:rPr>
                  <a:t>) of the transistor higher than normal. As a result, under regular operating voltages, no conductive channel forms between source and drain, and the transistor remains permanently off, representing a stored '0' or 'programmed' state. </a:t>
                </a:r>
              </a:p>
              <a:p>
                <a:pPr marL="285739" indent="-285739" algn="just">
                  <a:buAutoNum type="alphaLcParenBoth"/>
                </a:pPr>
                <a:endParaRPr lang="en-US" sz="1500" dirty="0">
                  <a:latin typeface="Rockwell" panose="02060603020205020403" pitchFamily="18" charset="0"/>
                </a:endParaRPr>
              </a:p>
              <a:p>
                <a:pPr marL="285739" indent="-285739" algn="just">
                  <a:buAutoNum type="alphaLcParenBoth"/>
                </a:pPr>
                <a:r>
                  <a:rPr lang="en-US" sz="1500" dirty="0">
                    <a:latin typeface="Rockwell" panose="02060603020205020403" pitchFamily="18" charset="0"/>
                  </a:rPr>
                  <a:t>Erasing Phase: When the device is exposed to ultraviolet (UV) light, the high-energy photons provide sufficient energy to release the trapped electrons from the floating gate back into the silicon substrate. This restores the transistor to its original (unprogrammed) state, allowing it to function normally again. This mechanism enables EPROMs to be electrically programmed and optically erased, making them suitable for applications requiring one-time programming with occasional reusability after UV exposure.</a:t>
                </a:r>
                <a:endParaRPr lang="en-IN" sz="1500" dirty="0">
                  <a:latin typeface="Rockwell" panose="02060603020205020403" pitchFamily="18" charset="0"/>
                </a:endParaRPr>
              </a:p>
            </p:txBody>
          </p:sp>
        </mc:Choice>
        <mc:Fallback xmlns="">
          <p:sp>
            <p:nvSpPr>
              <p:cNvPr id="7" name="TextBox 6">
                <a:extLst>
                  <a:ext uri="{FF2B5EF4-FFF2-40B4-BE49-F238E27FC236}">
                    <a16:creationId xmlns:a16="http://schemas.microsoft.com/office/drawing/2014/main" xmlns:a14="http://schemas.microsoft.com/office/drawing/2010/main" xmlns="" id="{1BEDC5C8-1640-73BF-D237-CC14FC12DA53}"/>
                  </a:ext>
                </a:extLst>
              </p:cNvPr>
              <p:cNvSpPr txBox="1">
                <a:spLocks noRot="1" noChangeAspect="1" noMove="1" noResize="1" noEditPoints="1" noAdjustHandles="1" noChangeArrowheads="1" noChangeShapeType="1" noTextEdit="1"/>
              </p:cNvSpPr>
              <p:nvPr/>
            </p:nvSpPr>
            <p:spPr>
              <a:xfrm>
                <a:off x="631519" y="2921751"/>
                <a:ext cx="10928958" cy="3554819"/>
              </a:xfrm>
              <a:prstGeom prst="rect">
                <a:avLst/>
              </a:prstGeom>
              <a:blipFill rotWithShape="0">
                <a:blip r:embed="rId3"/>
                <a:stretch>
                  <a:fillRect l="-223" t="-343" r="-279" b="-1029"/>
                </a:stretch>
              </a:blipFill>
            </p:spPr>
            <p:txBody>
              <a:bodyPr/>
              <a:lstStyle/>
              <a:p>
                <a:r>
                  <a:rPr lang="en-US">
                    <a:noFill/>
                  </a:rPr>
                  <a:t> </a:t>
                </a:r>
              </a:p>
            </p:txBody>
          </p:sp>
        </mc:Fallback>
      </mc:AlternateContent>
      <p:pic>
        <p:nvPicPr>
          <p:cNvPr id="2" name="Picture 1">
            <a:extLst>
              <a:ext uri="{FF2B5EF4-FFF2-40B4-BE49-F238E27FC236}">
                <a16:creationId xmlns="" xmlns:a16="http://schemas.microsoft.com/office/drawing/2014/main" id="{BA709337-EA8C-D937-E423-2DF0EC1BFEE9}"/>
              </a:ext>
            </a:extLst>
          </p:cNvPr>
          <p:cNvPicPr>
            <a:picLocks noChangeAspect="1"/>
          </p:cNvPicPr>
          <p:nvPr/>
        </p:nvPicPr>
        <p:blipFill>
          <a:blip r:embed="rId4"/>
          <a:stretch>
            <a:fillRect/>
          </a:stretch>
        </p:blipFill>
        <p:spPr>
          <a:xfrm>
            <a:off x="9895561" y="132762"/>
            <a:ext cx="2164804" cy="876746"/>
          </a:xfrm>
          <a:prstGeom prst="rect">
            <a:avLst/>
          </a:prstGeom>
        </p:spPr>
      </p:pic>
    </p:spTree>
    <p:extLst>
      <p:ext uri="{BB962C8B-B14F-4D97-AF65-F5344CB8AC3E}">
        <p14:creationId xmlns:p14="http://schemas.microsoft.com/office/powerpoint/2010/main" val="42116047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 xmlns:a16="http://schemas.microsoft.com/office/drawing/2014/main" id="{89F44366-F551-69DA-3AE7-488873E30ECB}"/>
              </a:ext>
            </a:extLst>
          </p:cNvPr>
          <p:cNvSpPr/>
          <p:nvPr/>
        </p:nvSpPr>
        <p:spPr>
          <a:xfrm>
            <a:off x="731327" y="1129823"/>
            <a:ext cx="3047318" cy="593923"/>
          </a:xfrm>
          <a:prstGeom prst="rect">
            <a:avLst/>
          </a:prstGeom>
          <a:noFill/>
          <a:ln/>
        </p:spPr>
        <p:txBody>
          <a:bodyPr wrap="none" lIns="0" tIns="0" rIns="0" bIns="0" rtlCol="0" anchor="t"/>
          <a:lstStyle/>
          <a:p>
            <a:pPr>
              <a:lnSpc>
                <a:spcPts val="4666"/>
              </a:lnSpc>
            </a:pPr>
            <a:r>
              <a:rPr lang="en-US" sz="4000" dirty="0">
                <a:solidFill>
                  <a:srgbClr val="3B3535"/>
                </a:solidFill>
                <a:latin typeface="Rockwell" panose="02060603020205020403" pitchFamily="18" charset="0"/>
                <a:ea typeface="Sora Light" pitchFamily="34" charset="-122"/>
                <a:cs typeface="Sora Light" pitchFamily="34" charset="-120"/>
              </a:rPr>
              <a:t>EEPROM Technology</a:t>
            </a:r>
            <a:endParaRPr lang="en-US" sz="4000" dirty="0">
              <a:latin typeface="Rockwell" panose="02060603020205020403" pitchFamily="18" charset="0"/>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 xmlns:a16="http://schemas.microsoft.com/office/drawing/2014/main" id="{71DFD575-020D-531B-F5E0-E13F710CDB24}"/>
                  </a:ext>
                </a:extLst>
              </p:cNvPr>
              <p:cNvSpPr txBox="1"/>
              <p:nvPr/>
            </p:nvSpPr>
            <p:spPr>
              <a:xfrm>
                <a:off x="731327" y="1920658"/>
                <a:ext cx="10865687" cy="4016484"/>
              </a:xfrm>
              <a:prstGeom prst="rect">
                <a:avLst/>
              </a:prstGeom>
              <a:noFill/>
            </p:spPr>
            <p:txBody>
              <a:bodyPr wrap="square" rtlCol="0">
                <a:spAutoFit/>
              </a:bodyPr>
              <a:lstStyle/>
              <a:p>
                <a:pPr algn="just"/>
                <a:r>
                  <a:rPr lang="en-US" sz="1500" dirty="0">
                    <a:latin typeface="Rockwell" panose="02060603020205020403" pitchFamily="18" charset="0"/>
                  </a:rPr>
                  <a:t>The EEPROM (Electrically Erasable Programmable Read-Only Memory) transistor operates on a principle similar to that of EPROM but with the key advantage that both programming and erasing are performed electrically, without the need for UV light. In EEPROM, the transistor structure includes a floating gate (an isolated gate surrounded by insulating oxide) and a control gate. </a:t>
                </a:r>
              </a:p>
              <a:p>
                <a:pPr algn="just"/>
                <a:endParaRPr lang="en-US" sz="1500" dirty="0">
                  <a:latin typeface="Rockwell" panose="02060603020205020403" pitchFamily="18" charset="0"/>
                </a:endParaRPr>
              </a:p>
              <a:p>
                <a:pPr algn="just"/>
                <a:r>
                  <a:rPr lang="en-US" sz="1500" dirty="0">
                    <a:latin typeface="Rockwell" panose="02060603020205020403" pitchFamily="18" charset="0"/>
                  </a:rPr>
                  <a:t>During programming, a high voltage is applied between the control gate and the drain. This causes electrons to tunnel through the thin oxide layer via a mechanism called Fowler–Nordheim tunneling or hot-carrier injection, and they become trapped on the floating gate. This trapped charge increases the threshold voltage (</a:t>
                </a:r>
                <a14:m>
                  <m:oMath xmlns:m="http://schemas.openxmlformats.org/officeDocument/2006/math">
                    <m:sSub>
                      <m:sSubPr>
                        <m:ctrlPr>
                          <a:rPr lang="en-US" sz="1500" i="1">
                            <a:latin typeface="Cambria Math" panose="02040503050406030204" pitchFamily="18" charset="0"/>
                          </a:rPr>
                        </m:ctrlPr>
                      </m:sSubPr>
                      <m:e>
                        <m:r>
                          <a:rPr lang="en-US" sz="1500" i="1">
                            <a:latin typeface="Cambria Math" panose="02040503050406030204" pitchFamily="18" charset="0"/>
                          </a:rPr>
                          <m:t>𝑉</m:t>
                        </m:r>
                      </m:e>
                      <m:sub>
                        <m:r>
                          <a:rPr lang="en-US" sz="1500" i="1">
                            <a:latin typeface="Cambria Math" panose="02040503050406030204" pitchFamily="18" charset="0"/>
                          </a:rPr>
                          <m:t>𝑡</m:t>
                        </m:r>
                      </m:sub>
                    </m:sSub>
                  </m:oMath>
                </a14:m>
                <a:r>
                  <a:rPr lang="en-US" sz="1500" dirty="0">
                    <a:latin typeface="Rockwell" panose="02060603020205020403" pitchFamily="18" charset="0"/>
                  </a:rPr>
                  <a:t>) of the transistor, preventing it from turning on under normal operating conditions, thereby storing a logic '0’. </a:t>
                </a:r>
              </a:p>
              <a:p>
                <a:pPr algn="just"/>
                <a:endParaRPr lang="en-US" sz="1500" dirty="0">
                  <a:latin typeface="Rockwell" panose="02060603020205020403" pitchFamily="18" charset="0"/>
                </a:endParaRPr>
              </a:p>
              <a:p>
                <a:pPr algn="just"/>
                <a:r>
                  <a:rPr lang="en-US" sz="1500" dirty="0">
                    <a:latin typeface="Rockwell" panose="02060603020205020403" pitchFamily="18" charset="0"/>
                  </a:rPr>
                  <a:t>During erasing, a reversed high voltage is applied between the control gate and the source or substrate, causing the electrons to tunnel back from the floating gate. This lowers the threshold voltage, allowing the transistor to conduct again, representing a logic '1’. </a:t>
                </a:r>
              </a:p>
              <a:p>
                <a:pPr algn="just"/>
                <a:endParaRPr lang="en-US" sz="1500" dirty="0">
                  <a:latin typeface="Rockwell" panose="02060603020205020403" pitchFamily="18" charset="0"/>
                </a:endParaRPr>
              </a:p>
              <a:p>
                <a:pPr algn="just"/>
                <a:r>
                  <a:rPr lang="en-US" sz="1500" dirty="0">
                    <a:latin typeface="Rockwell" panose="02060603020205020403" pitchFamily="18" charset="0"/>
                  </a:rPr>
                  <a:t>EEPROM technology enables electrical reprogramming at the byte level, making it highly flexible and useful in embedded systems, configuration memories, and applications requiring non-volatile storage with frequent updates. Unlike EPROM, EEPROM does not require removal from the system or exposure to UV light for erasure.</a:t>
                </a:r>
                <a:endParaRPr lang="en-IN" sz="1500" dirty="0">
                  <a:latin typeface="Rockwell" panose="02060603020205020403" pitchFamily="18" charset="0"/>
                </a:endParaRPr>
              </a:p>
            </p:txBody>
          </p:sp>
        </mc:Choice>
        <mc:Fallback xmlns="">
          <p:sp>
            <p:nvSpPr>
              <p:cNvPr id="3" name="TextBox 2">
                <a:extLst>
                  <a:ext uri="{FF2B5EF4-FFF2-40B4-BE49-F238E27FC236}">
                    <a16:creationId xmlns:a16="http://schemas.microsoft.com/office/drawing/2014/main" xmlns:a14="http://schemas.microsoft.com/office/drawing/2010/main" xmlns="" id="{71DFD575-020D-531B-F5E0-E13F710CDB24}"/>
                  </a:ext>
                </a:extLst>
              </p:cNvPr>
              <p:cNvSpPr txBox="1">
                <a:spLocks noRot="1" noChangeAspect="1" noMove="1" noResize="1" noEditPoints="1" noAdjustHandles="1" noChangeArrowheads="1" noChangeShapeType="1" noTextEdit="1"/>
              </p:cNvSpPr>
              <p:nvPr/>
            </p:nvSpPr>
            <p:spPr>
              <a:xfrm>
                <a:off x="731327" y="1920658"/>
                <a:ext cx="10865687" cy="4016484"/>
              </a:xfrm>
              <a:prstGeom prst="rect">
                <a:avLst/>
              </a:prstGeom>
              <a:blipFill rotWithShape="0">
                <a:blip r:embed="rId2"/>
                <a:stretch>
                  <a:fillRect l="-224" t="-303" r="-224" b="-759"/>
                </a:stretch>
              </a:blipFill>
            </p:spPr>
            <p:txBody>
              <a:bodyPr/>
              <a:lstStyle/>
              <a:p>
                <a:r>
                  <a:rPr lang="en-US">
                    <a:noFill/>
                  </a:rPr>
                  <a:t> </a:t>
                </a:r>
              </a:p>
            </p:txBody>
          </p:sp>
        </mc:Fallback>
      </mc:AlternateContent>
      <p:cxnSp>
        <p:nvCxnSpPr>
          <p:cNvPr id="5" name="Straight Connector 4">
            <a:extLst>
              <a:ext uri="{FF2B5EF4-FFF2-40B4-BE49-F238E27FC236}">
                <a16:creationId xmlns="" xmlns:a16="http://schemas.microsoft.com/office/drawing/2014/main" id="{D05C516D-4AD2-354E-7276-87FED47C1C66}"/>
              </a:ext>
            </a:extLst>
          </p:cNvPr>
          <p:cNvCxnSpPr/>
          <p:nvPr/>
        </p:nvCxnSpPr>
        <p:spPr>
          <a:xfrm>
            <a:off x="0" y="6576164"/>
            <a:ext cx="2912302" cy="0"/>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 xmlns:a16="http://schemas.microsoft.com/office/drawing/2014/main" id="{5B91D441-44C7-1FE2-E54B-BD2146A67D02}"/>
              </a:ext>
            </a:extLst>
          </p:cNvPr>
          <p:cNvSpPr/>
          <p:nvPr/>
        </p:nvSpPr>
        <p:spPr>
          <a:xfrm>
            <a:off x="2912302" y="6466561"/>
            <a:ext cx="6346520" cy="219207"/>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500" dirty="0"/>
          </a:p>
        </p:txBody>
      </p:sp>
      <p:cxnSp>
        <p:nvCxnSpPr>
          <p:cNvPr id="7" name="Straight Connector 6">
            <a:extLst>
              <a:ext uri="{FF2B5EF4-FFF2-40B4-BE49-F238E27FC236}">
                <a16:creationId xmlns="" xmlns:a16="http://schemas.microsoft.com/office/drawing/2014/main" id="{F8C58CC5-874E-213D-9986-9DA606F3A04B}"/>
              </a:ext>
            </a:extLst>
          </p:cNvPr>
          <p:cNvCxnSpPr>
            <a:cxnSpLocks/>
            <a:stCxn id="6" idx="3"/>
          </p:cNvCxnSpPr>
          <p:nvPr/>
        </p:nvCxnSpPr>
        <p:spPr>
          <a:xfrm>
            <a:off x="9258822" y="6576164"/>
            <a:ext cx="187891" cy="0"/>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 xmlns:a16="http://schemas.microsoft.com/office/drawing/2014/main" id="{836B03F0-429F-09EF-5A37-3643858BC846}"/>
              </a:ext>
            </a:extLst>
          </p:cNvPr>
          <p:cNvSpPr/>
          <p:nvPr/>
        </p:nvSpPr>
        <p:spPr>
          <a:xfrm>
            <a:off x="9446713" y="6466561"/>
            <a:ext cx="2164804" cy="219207"/>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500"/>
          </a:p>
        </p:txBody>
      </p:sp>
      <p:sp>
        <p:nvSpPr>
          <p:cNvPr id="9" name="TextBox 8">
            <a:extLst>
              <a:ext uri="{FF2B5EF4-FFF2-40B4-BE49-F238E27FC236}">
                <a16:creationId xmlns="" xmlns:a16="http://schemas.microsoft.com/office/drawing/2014/main" id="{CF10A61C-8BAD-44B7-3437-0B0F8A8446BA}"/>
              </a:ext>
            </a:extLst>
          </p:cNvPr>
          <p:cNvSpPr txBox="1"/>
          <p:nvPr/>
        </p:nvSpPr>
        <p:spPr>
          <a:xfrm>
            <a:off x="11542512" y="6466561"/>
            <a:ext cx="4248412" cy="323165"/>
          </a:xfrm>
          <a:prstGeom prst="rect">
            <a:avLst/>
          </a:prstGeom>
          <a:noFill/>
        </p:spPr>
        <p:txBody>
          <a:bodyPr wrap="square" rtlCol="0">
            <a:spAutoFit/>
          </a:bodyPr>
          <a:lstStyle/>
          <a:p>
            <a:r>
              <a:rPr lang="en-IN" sz="1500" dirty="0"/>
              <a:t>******</a:t>
            </a:r>
          </a:p>
        </p:txBody>
      </p:sp>
      <p:sp>
        <p:nvSpPr>
          <p:cNvPr id="10" name="TextBox 9">
            <a:extLst>
              <a:ext uri="{FF2B5EF4-FFF2-40B4-BE49-F238E27FC236}">
                <a16:creationId xmlns="" xmlns:a16="http://schemas.microsoft.com/office/drawing/2014/main" id="{02436A88-2E44-EA1F-722B-D70771320026}"/>
              </a:ext>
            </a:extLst>
          </p:cNvPr>
          <p:cNvSpPr txBox="1"/>
          <p:nvPr/>
        </p:nvSpPr>
        <p:spPr>
          <a:xfrm>
            <a:off x="3131506" y="6435100"/>
            <a:ext cx="6461343" cy="297454"/>
          </a:xfrm>
          <a:prstGeom prst="rect">
            <a:avLst/>
          </a:prstGeom>
          <a:noFill/>
        </p:spPr>
        <p:txBody>
          <a:bodyPr wrap="square" rtlCol="0">
            <a:spAutoFit/>
          </a:bodyPr>
          <a:lstStyle/>
          <a:p>
            <a:r>
              <a:rPr lang="en-US" sz="1333" dirty="0">
                <a:latin typeface="Times New Roman" panose="02020603050405020304" pitchFamily="18" charset="0"/>
                <a:cs typeface="Times New Roman" panose="02020603050405020304" pitchFamily="18" charset="0"/>
              </a:rPr>
              <a:t>Application-Specific Integrated Circuit and Field Programmable Gate Array Design </a:t>
            </a:r>
            <a:endParaRPr lang="en-IN" sz="1333"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081493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57400" y="0"/>
            <a:ext cx="7772400" cy="609600"/>
          </a:xfrm>
        </p:spPr>
        <p:txBody>
          <a:bodyPr>
            <a:normAutofit/>
          </a:bodyPr>
          <a:lstStyle/>
          <a:p>
            <a:r>
              <a:rPr lang="en-US" dirty="0"/>
              <a:t>EEPROM</a:t>
            </a:r>
          </a:p>
        </p:txBody>
      </p:sp>
      <p:sp>
        <p:nvSpPr>
          <p:cNvPr id="3" name="Content Placeholder 2"/>
          <p:cNvSpPr>
            <a:spLocks noGrp="1"/>
          </p:cNvSpPr>
          <p:nvPr>
            <p:ph idx="1"/>
          </p:nvPr>
        </p:nvSpPr>
        <p:spPr>
          <a:xfrm>
            <a:off x="1524000" y="1219200"/>
            <a:ext cx="8763000" cy="5638800"/>
          </a:xfrm>
        </p:spPr>
        <p:txBody>
          <a:bodyPr/>
          <a:lstStyle/>
          <a:p>
            <a:pPr algn="just"/>
            <a:r>
              <a:rPr lang="en-US" sz="2800" dirty="0"/>
              <a:t>An EEPROM cell is approximately 2.5 times larger than an EPROM cell because it contains two transistors.</a:t>
            </a:r>
          </a:p>
          <a:p>
            <a:pPr algn="just"/>
            <a:r>
              <a:rPr lang="en-US" sz="2800" dirty="0"/>
              <a:t>One of the transistors is similar to that of an EPROM transistor in that it contains a floating gate, but the insulating oxide layers surrounding the floating gate are very much thinner.</a:t>
            </a:r>
          </a:p>
          <a:p>
            <a:pPr algn="just"/>
            <a:r>
              <a:rPr lang="en-US" sz="2800" dirty="0"/>
              <a:t>The second transistor can be used to erase the cell electrically, and EEPROM devices can typically be erased and reprogrammed on a word-by-word basis.</a:t>
            </a:r>
          </a:p>
        </p:txBody>
      </p:sp>
    </p:spTree>
    <p:extLst>
      <p:ext uri="{BB962C8B-B14F-4D97-AF65-F5344CB8AC3E}">
        <p14:creationId xmlns:p14="http://schemas.microsoft.com/office/powerpoint/2010/main" val="18301609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EEPROM</a:t>
            </a:r>
          </a:p>
        </p:txBody>
      </p:sp>
      <p:sp>
        <p:nvSpPr>
          <p:cNvPr id="3" name="Content Placeholder 2"/>
          <p:cNvSpPr>
            <a:spLocks noGrp="1"/>
          </p:cNvSpPr>
          <p:nvPr>
            <p:ph idx="1"/>
          </p:nvPr>
        </p:nvSpPr>
        <p:spPr/>
        <p:txBody>
          <a:bodyPr/>
          <a:lstStyle/>
          <a:p>
            <a:endParaRPr lang="en-US"/>
          </a:p>
        </p:txBody>
      </p:sp>
      <p:pic>
        <p:nvPicPr>
          <p:cNvPr id="148482" name="Picture 2"/>
          <p:cNvPicPr>
            <a:picLocks noChangeAspect="1" noChangeArrowheads="1"/>
          </p:cNvPicPr>
          <p:nvPr/>
        </p:nvPicPr>
        <p:blipFill>
          <a:blip r:embed="rId2" cstate="print"/>
          <a:srcRect/>
          <a:stretch>
            <a:fillRect/>
          </a:stretch>
        </p:blipFill>
        <p:spPr bwMode="auto">
          <a:xfrm>
            <a:off x="2590800" y="2547202"/>
            <a:ext cx="6838950" cy="3489980"/>
          </a:xfrm>
          <a:prstGeom prst="rect">
            <a:avLst/>
          </a:prstGeom>
          <a:noFill/>
          <a:ln w="9525">
            <a:noFill/>
            <a:miter lim="800000"/>
            <a:headEnd/>
            <a:tailEnd/>
          </a:ln>
        </p:spPr>
      </p:pic>
    </p:spTree>
    <p:extLst>
      <p:ext uri="{BB962C8B-B14F-4D97-AF65-F5344CB8AC3E}">
        <p14:creationId xmlns:p14="http://schemas.microsoft.com/office/powerpoint/2010/main" val="8675096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 xmlns:a16="http://schemas.microsoft.com/office/drawing/2014/main" id="{B0AB6333-3B8F-A6B2-676B-CCE94B206B43}"/>
              </a:ext>
            </a:extLst>
          </p:cNvPr>
          <p:cNvSpPr txBox="1"/>
          <p:nvPr/>
        </p:nvSpPr>
        <p:spPr>
          <a:xfrm>
            <a:off x="793315" y="2192055"/>
            <a:ext cx="10751507" cy="2862322"/>
          </a:xfrm>
          <a:prstGeom prst="rect">
            <a:avLst/>
          </a:prstGeom>
          <a:noFill/>
        </p:spPr>
        <p:txBody>
          <a:bodyPr wrap="square" rtlCol="0">
            <a:spAutoFit/>
          </a:bodyPr>
          <a:lstStyle/>
          <a:p>
            <a:pPr algn="just"/>
            <a:r>
              <a:rPr lang="en-US" sz="1500" dirty="0">
                <a:latin typeface="Rockwell" panose="02060603020205020403" pitchFamily="18" charset="0"/>
              </a:rPr>
              <a:t>Programmable Logic Devices (PLDs) are digital circuits that can be programmed to perform specific logic functions, offering flexibility over fixed-function logic devices. </a:t>
            </a:r>
          </a:p>
          <a:p>
            <a:pPr algn="just"/>
            <a:endParaRPr lang="en-US" sz="1500" dirty="0">
              <a:latin typeface="Rockwell" panose="02060603020205020403" pitchFamily="18" charset="0"/>
            </a:endParaRPr>
          </a:p>
          <a:p>
            <a:pPr algn="just"/>
            <a:r>
              <a:rPr lang="en-US" sz="1500" dirty="0">
                <a:latin typeface="Rockwell" panose="02060603020205020403" pitchFamily="18" charset="0"/>
              </a:rPr>
              <a:t>They are broadly classified into Simple PLDs (SPLDs) such as PROM, PAL, and PLA; Complex PLDs (CPLDs), which integrate multiple SPLDs; and Field Programmable Gate Arrays (FPGAs), which contain thousands of configurable logic blocks and interconnects suitable for complex designs. </a:t>
            </a:r>
          </a:p>
          <a:p>
            <a:pPr algn="just"/>
            <a:endParaRPr lang="en-US" sz="1500" dirty="0">
              <a:latin typeface="Rockwell" panose="02060603020205020403" pitchFamily="18" charset="0"/>
            </a:endParaRPr>
          </a:p>
          <a:p>
            <a:pPr algn="just"/>
            <a:r>
              <a:rPr lang="en-US" sz="1500" dirty="0">
                <a:latin typeface="Rockwell" panose="02060603020205020403" pitchFamily="18" charset="0"/>
              </a:rPr>
              <a:t>PLDs use different architectures, typically involving arrays of AND-OR gates in SPLDs or configurable logic blocks and routing matrices in FPGAs. </a:t>
            </a:r>
          </a:p>
          <a:p>
            <a:pPr algn="just"/>
            <a:endParaRPr lang="en-US" sz="1500" dirty="0">
              <a:latin typeface="Rockwell" panose="02060603020205020403" pitchFamily="18" charset="0"/>
            </a:endParaRPr>
          </a:p>
          <a:p>
            <a:pPr algn="just"/>
            <a:r>
              <a:rPr lang="en-US" sz="1500" dirty="0">
                <a:latin typeface="Rockwell" panose="02060603020205020403" pitchFamily="18" charset="0"/>
              </a:rPr>
              <a:t>They are programmed using various technologies such as fuses, antifuses (one-time programmable), EEPROM and Flash (electrically erasable), and SRAM (volatile and reconfigurable).</a:t>
            </a:r>
            <a:endParaRPr lang="en-IN" sz="1500" dirty="0">
              <a:latin typeface="Rockwell" panose="02060603020205020403" pitchFamily="18" charset="0"/>
            </a:endParaRPr>
          </a:p>
        </p:txBody>
      </p:sp>
      <p:sp>
        <p:nvSpPr>
          <p:cNvPr id="3" name="Text 0">
            <a:extLst>
              <a:ext uri="{FF2B5EF4-FFF2-40B4-BE49-F238E27FC236}">
                <a16:creationId xmlns="" xmlns:a16="http://schemas.microsoft.com/office/drawing/2014/main" id="{0AD0E0EA-48CB-083C-94DA-27F52576C888}"/>
              </a:ext>
            </a:extLst>
          </p:cNvPr>
          <p:cNvSpPr/>
          <p:nvPr/>
        </p:nvSpPr>
        <p:spPr>
          <a:xfrm>
            <a:off x="731327" y="1286398"/>
            <a:ext cx="3047318" cy="593923"/>
          </a:xfrm>
          <a:prstGeom prst="rect">
            <a:avLst/>
          </a:prstGeom>
          <a:noFill/>
          <a:ln/>
        </p:spPr>
        <p:txBody>
          <a:bodyPr wrap="none" lIns="0" tIns="0" rIns="0" bIns="0" rtlCol="0" anchor="t"/>
          <a:lstStyle/>
          <a:p>
            <a:pPr>
              <a:lnSpc>
                <a:spcPts val="4666"/>
              </a:lnSpc>
            </a:pPr>
            <a:r>
              <a:rPr lang="en-US" sz="4000" dirty="0">
                <a:latin typeface="Rockwell" panose="02060603020205020403" pitchFamily="18" charset="0"/>
              </a:rPr>
              <a:t>Programmable Logic Devices (PLDs)</a:t>
            </a:r>
          </a:p>
        </p:txBody>
      </p:sp>
      <p:cxnSp>
        <p:nvCxnSpPr>
          <p:cNvPr id="5" name="Straight Connector 4">
            <a:extLst>
              <a:ext uri="{FF2B5EF4-FFF2-40B4-BE49-F238E27FC236}">
                <a16:creationId xmlns="" xmlns:a16="http://schemas.microsoft.com/office/drawing/2014/main" id="{F7631233-FDDA-2AF9-3F75-3A2831AC6E4E}"/>
              </a:ext>
            </a:extLst>
          </p:cNvPr>
          <p:cNvCxnSpPr/>
          <p:nvPr/>
        </p:nvCxnSpPr>
        <p:spPr>
          <a:xfrm>
            <a:off x="0" y="6576164"/>
            <a:ext cx="2912302" cy="0"/>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 xmlns:a16="http://schemas.microsoft.com/office/drawing/2014/main" id="{83808847-323F-038E-421B-E69094417555}"/>
              </a:ext>
            </a:extLst>
          </p:cNvPr>
          <p:cNvSpPr/>
          <p:nvPr/>
        </p:nvSpPr>
        <p:spPr>
          <a:xfrm>
            <a:off x="2912302" y="6466561"/>
            <a:ext cx="6346520" cy="219207"/>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500" dirty="0"/>
          </a:p>
        </p:txBody>
      </p:sp>
      <p:cxnSp>
        <p:nvCxnSpPr>
          <p:cNvPr id="7" name="Straight Connector 6">
            <a:extLst>
              <a:ext uri="{FF2B5EF4-FFF2-40B4-BE49-F238E27FC236}">
                <a16:creationId xmlns="" xmlns:a16="http://schemas.microsoft.com/office/drawing/2014/main" id="{DDF4A958-566D-8CCB-F7CD-89341BD83671}"/>
              </a:ext>
            </a:extLst>
          </p:cNvPr>
          <p:cNvCxnSpPr>
            <a:cxnSpLocks/>
            <a:stCxn id="6" idx="3"/>
          </p:cNvCxnSpPr>
          <p:nvPr/>
        </p:nvCxnSpPr>
        <p:spPr>
          <a:xfrm>
            <a:off x="9258822" y="6576164"/>
            <a:ext cx="187891" cy="0"/>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 xmlns:a16="http://schemas.microsoft.com/office/drawing/2014/main" id="{31F222BE-02FF-171B-4DCF-6D3D07343CA2}"/>
              </a:ext>
            </a:extLst>
          </p:cNvPr>
          <p:cNvSpPr txBox="1"/>
          <p:nvPr/>
        </p:nvSpPr>
        <p:spPr>
          <a:xfrm>
            <a:off x="11542512" y="6466561"/>
            <a:ext cx="4248412" cy="323165"/>
          </a:xfrm>
          <a:prstGeom prst="rect">
            <a:avLst/>
          </a:prstGeom>
          <a:noFill/>
        </p:spPr>
        <p:txBody>
          <a:bodyPr wrap="square" rtlCol="0">
            <a:spAutoFit/>
          </a:bodyPr>
          <a:lstStyle/>
          <a:p>
            <a:r>
              <a:rPr lang="en-IN" sz="1500" dirty="0"/>
              <a:t>******</a:t>
            </a:r>
          </a:p>
        </p:txBody>
      </p:sp>
      <p:sp>
        <p:nvSpPr>
          <p:cNvPr id="10" name="TextBox 9">
            <a:extLst>
              <a:ext uri="{FF2B5EF4-FFF2-40B4-BE49-F238E27FC236}">
                <a16:creationId xmlns="" xmlns:a16="http://schemas.microsoft.com/office/drawing/2014/main" id="{4D33F885-3219-F13D-7D99-46FAABAD3176}"/>
              </a:ext>
            </a:extLst>
          </p:cNvPr>
          <p:cNvSpPr txBox="1"/>
          <p:nvPr/>
        </p:nvSpPr>
        <p:spPr>
          <a:xfrm>
            <a:off x="3131506" y="6435100"/>
            <a:ext cx="6461343" cy="297454"/>
          </a:xfrm>
          <a:prstGeom prst="rect">
            <a:avLst/>
          </a:prstGeom>
          <a:noFill/>
        </p:spPr>
        <p:txBody>
          <a:bodyPr wrap="square" rtlCol="0">
            <a:spAutoFit/>
          </a:bodyPr>
          <a:lstStyle/>
          <a:p>
            <a:r>
              <a:rPr lang="en-US" sz="1333" dirty="0">
                <a:latin typeface="Times New Roman" panose="02020603050405020304" pitchFamily="18" charset="0"/>
                <a:cs typeface="Times New Roman" panose="02020603050405020304" pitchFamily="18" charset="0"/>
              </a:rPr>
              <a:t>Application-Specific Integrated Circuit and Field Programmable Gate Array Design </a:t>
            </a:r>
            <a:endParaRPr lang="en-IN" sz="1333"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008131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 xmlns:a16="http://schemas.microsoft.com/office/drawing/2014/main" id="{2CE8D9F7-9AAD-1EF3-24FC-E730FF4F418B}"/>
              </a:ext>
            </a:extLst>
          </p:cNvPr>
          <p:cNvSpPr txBox="1"/>
          <p:nvPr/>
        </p:nvSpPr>
        <p:spPr>
          <a:xfrm>
            <a:off x="688931" y="1301074"/>
            <a:ext cx="10814138" cy="1246495"/>
          </a:xfrm>
          <a:prstGeom prst="rect">
            <a:avLst/>
          </a:prstGeom>
          <a:noFill/>
        </p:spPr>
        <p:txBody>
          <a:bodyPr wrap="square" rtlCol="0">
            <a:spAutoFit/>
          </a:bodyPr>
          <a:lstStyle/>
          <a:p>
            <a:r>
              <a:rPr lang="en-US" sz="1500" dirty="0">
                <a:latin typeface="Rockwell" panose="02060603020205020403" pitchFamily="18" charset="0"/>
              </a:rPr>
              <a:t>A programmable logic device (PLD) consists of </a:t>
            </a:r>
          </a:p>
          <a:p>
            <a:pPr marL="238115" indent="-238115">
              <a:buFont typeface="Arial" panose="020B0604020202020204" pitchFamily="34" charset="0"/>
              <a:buChar char="•"/>
            </a:pPr>
            <a:r>
              <a:rPr lang="en-US" sz="1500" dirty="0">
                <a:latin typeface="Rockwell" panose="02060603020205020403" pitchFamily="18" charset="0"/>
              </a:rPr>
              <a:t>No customized mask layers or logic cells </a:t>
            </a:r>
          </a:p>
          <a:p>
            <a:pPr marL="238115" indent="-238115">
              <a:buFont typeface="Arial" panose="020B0604020202020204" pitchFamily="34" charset="0"/>
              <a:buChar char="•"/>
            </a:pPr>
            <a:r>
              <a:rPr lang="en-US" sz="1500" dirty="0">
                <a:latin typeface="Rockwell" panose="02060603020205020403" pitchFamily="18" charset="0"/>
              </a:rPr>
              <a:t>Fast design turnaround </a:t>
            </a:r>
          </a:p>
          <a:p>
            <a:pPr marL="238115" indent="-238115">
              <a:buFont typeface="Arial" panose="020B0604020202020204" pitchFamily="34" charset="0"/>
              <a:buChar char="•"/>
            </a:pPr>
            <a:r>
              <a:rPr lang="en-US" sz="1500" dirty="0">
                <a:latin typeface="Rockwell" panose="02060603020205020403" pitchFamily="18" charset="0"/>
              </a:rPr>
              <a:t>A single large block of programmable interconnect </a:t>
            </a:r>
          </a:p>
          <a:p>
            <a:pPr marL="238115" indent="-238115">
              <a:buFont typeface="Arial" panose="020B0604020202020204" pitchFamily="34" charset="0"/>
              <a:buChar char="•"/>
            </a:pPr>
            <a:r>
              <a:rPr lang="en-US" sz="1500" dirty="0">
                <a:latin typeface="Rockwell" panose="02060603020205020403" pitchFamily="18" charset="0"/>
              </a:rPr>
              <a:t>A matrix of logic macrocells that usually consist of programmable array logic followed by a flip-flop or latch</a:t>
            </a:r>
            <a:endParaRPr lang="en-IN" sz="1500" dirty="0">
              <a:latin typeface="Rockwell" panose="02060603020205020403" pitchFamily="18" charset="0"/>
            </a:endParaRPr>
          </a:p>
        </p:txBody>
      </p:sp>
      <p:sp>
        <p:nvSpPr>
          <p:cNvPr id="3" name="Text 0">
            <a:extLst>
              <a:ext uri="{FF2B5EF4-FFF2-40B4-BE49-F238E27FC236}">
                <a16:creationId xmlns="" xmlns:a16="http://schemas.microsoft.com/office/drawing/2014/main" id="{C6D492BD-91E5-B8F2-1A96-E170C208862E}"/>
              </a:ext>
            </a:extLst>
          </p:cNvPr>
          <p:cNvSpPr/>
          <p:nvPr/>
        </p:nvSpPr>
        <p:spPr>
          <a:xfrm>
            <a:off x="731327" y="587029"/>
            <a:ext cx="3047318" cy="593923"/>
          </a:xfrm>
          <a:prstGeom prst="rect">
            <a:avLst/>
          </a:prstGeom>
          <a:noFill/>
          <a:ln/>
        </p:spPr>
        <p:txBody>
          <a:bodyPr wrap="none" lIns="0" tIns="0" rIns="0" bIns="0" rtlCol="0" anchor="t"/>
          <a:lstStyle/>
          <a:p>
            <a:pPr>
              <a:lnSpc>
                <a:spcPts val="4666"/>
              </a:lnSpc>
            </a:pPr>
            <a:r>
              <a:rPr lang="en-US" sz="4000" dirty="0">
                <a:latin typeface="Rockwell" panose="02060603020205020403" pitchFamily="18" charset="0"/>
              </a:rPr>
              <a:t>Programmable Logic Devices (PLDs)</a:t>
            </a:r>
          </a:p>
        </p:txBody>
      </p:sp>
      <p:pic>
        <p:nvPicPr>
          <p:cNvPr id="5" name="Picture 4">
            <a:extLst>
              <a:ext uri="{FF2B5EF4-FFF2-40B4-BE49-F238E27FC236}">
                <a16:creationId xmlns="" xmlns:a16="http://schemas.microsoft.com/office/drawing/2014/main" id="{304C3556-553D-BA52-09DA-D6BB722FD37A}"/>
              </a:ext>
            </a:extLst>
          </p:cNvPr>
          <p:cNvPicPr>
            <a:picLocks noChangeAspect="1"/>
          </p:cNvPicPr>
          <p:nvPr/>
        </p:nvPicPr>
        <p:blipFill>
          <a:blip r:embed="rId2"/>
          <a:stretch>
            <a:fillRect/>
          </a:stretch>
        </p:blipFill>
        <p:spPr>
          <a:xfrm>
            <a:off x="3411523" y="2745431"/>
            <a:ext cx="5053984" cy="3816510"/>
          </a:xfrm>
          <a:prstGeom prst="rect">
            <a:avLst/>
          </a:prstGeom>
        </p:spPr>
      </p:pic>
      <p:pic>
        <p:nvPicPr>
          <p:cNvPr id="4" name="Picture 3">
            <a:extLst>
              <a:ext uri="{FF2B5EF4-FFF2-40B4-BE49-F238E27FC236}">
                <a16:creationId xmlns="" xmlns:a16="http://schemas.microsoft.com/office/drawing/2014/main" id="{4CBD5BB0-5684-FEB1-C5E6-A8813543955A}"/>
              </a:ext>
            </a:extLst>
          </p:cNvPr>
          <p:cNvPicPr>
            <a:picLocks noChangeAspect="1"/>
          </p:cNvPicPr>
          <p:nvPr/>
        </p:nvPicPr>
        <p:blipFill>
          <a:blip r:embed="rId3"/>
          <a:stretch>
            <a:fillRect/>
          </a:stretch>
        </p:blipFill>
        <p:spPr>
          <a:xfrm>
            <a:off x="10197406" y="132762"/>
            <a:ext cx="1862959" cy="754498"/>
          </a:xfrm>
          <a:prstGeom prst="rect">
            <a:avLst/>
          </a:prstGeom>
        </p:spPr>
      </p:pic>
    </p:spTree>
    <p:extLst>
      <p:ext uri="{BB962C8B-B14F-4D97-AF65-F5344CB8AC3E}">
        <p14:creationId xmlns:p14="http://schemas.microsoft.com/office/powerpoint/2010/main" val="31556776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 xmlns:a16="http://schemas.microsoft.com/office/drawing/2014/main" id="{00D723D3-4BD3-DD15-B447-296FD7D66A39}"/>
              </a:ext>
            </a:extLst>
          </p:cNvPr>
          <p:cNvSpPr/>
          <p:nvPr/>
        </p:nvSpPr>
        <p:spPr>
          <a:xfrm>
            <a:off x="731327" y="290067"/>
            <a:ext cx="3047318" cy="593923"/>
          </a:xfrm>
          <a:prstGeom prst="rect">
            <a:avLst/>
          </a:prstGeom>
          <a:noFill/>
          <a:ln/>
        </p:spPr>
        <p:txBody>
          <a:bodyPr wrap="none" lIns="0" tIns="0" rIns="0" bIns="0" rtlCol="0" anchor="t"/>
          <a:lstStyle/>
          <a:p>
            <a:pPr>
              <a:lnSpc>
                <a:spcPts val="4666"/>
              </a:lnSpc>
            </a:pPr>
            <a:r>
              <a:rPr lang="en-US" sz="4000" dirty="0">
                <a:latin typeface="Rockwell" panose="02060603020205020403" pitchFamily="18" charset="0"/>
              </a:rPr>
              <a:t>1. Programmable Read-Only Memory [PROM]</a:t>
            </a:r>
          </a:p>
        </p:txBody>
      </p:sp>
      <p:pic>
        <p:nvPicPr>
          <p:cNvPr id="4" name="Picture 3">
            <a:extLst>
              <a:ext uri="{FF2B5EF4-FFF2-40B4-BE49-F238E27FC236}">
                <a16:creationId xmlns="" xmlns:a16="http://schemas.microsoft.com/office/drawing/2014/main" id="{B51195F6-1103-ED75-9C74-A3671FB7A45B}"/>
              </a:ext>
            </a:extLst>
          </p:cNvPr>
          <p:cNvPicPr>
            <a:picLocks noChangeAspect="1"/>
          </p:cNvPicPr>
          <p:nvPr/>
        </p:nvPicPr>
        <p:blipFill>
          <a:blip r:embed="rId2"/>
          <a:srcRect l="2776" r="7440"/>
          <a:stretch>
            <a:fillRect/>
          </a:stretch>
        </p:blipFill>
        <p:spPr>
          <a:xfrm>
            <a:off x="8100164" y="2411969"/>
            <a:ext cx="3778685" cy="2462035"/>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 xmlns:a16="http://schemas.microsoft.com/office/drawing/2014/main" id="{FD1B25C9-D18A-0EF7-BB56-C0FE8E04D619}"/>
                  </a:ext>
                </a:extLst>
              </p:cNvPr>
              <p:cNvSpPr txBox="1"/>
              <p:nvPr/>
            </p:nvSpPr>
            <p:spPr>
              <a:xfrm>
                <a:off x="876822" y="961449"/>
                <a:ext cx="6868438" cy="5632311"/>
              </a:xfrm>
              <a:prstGeom prst="rect">
                <a:avLst/>
              </a:prstGeom>
              <a:noFill/>
            </p:spPr>
            <p:txBody>
              <a:bodyPr wrap="square" rtlCol="0">
                <a:spAutoFit/>
              </a:bodyPr>
              <a:lstStyle/>
              <a:p>
                <a:pPr algn="just"/>
                <a:r>
                  <a:rPr lang="en-US" sz="1500" dirty="0">
                    <a:latin typeface="Rockwell" panose="02060603020205020403" pitchFamily="18" charset="0"/>
                  </a:rPr>
                  <a:t>The diagram represents the basic structure of a Programmable Read-Only Memory (PROM). PROM is a type of non-volatile memory that is programmed once after manufacturing and retains data even when power is turned off. It is commonly used to store fixed data or firmware. </a:t>
                </a:r>
              </a:p>
              <a:p>
                <a:pPr algn="just"/>
                <a:endParaRPr lang="en-US" sz="1500" dirty="0">
                  <a:latin typeface="Rockwell" panose="02060603020205020403" pitchFamily="18" charset="0"/>
                </a:endParaRPr>
              </a:p>
              <a:p>
                <a:pPr algn="just"/>
                <a:r>
                  <a:rPr lang="en-US" sz="1500" dirty="0">
                    <a:latin typeface="Rockwell" panose="02060603020205020403" pitchFamily="18" charset="0"/>
                  </a:rPr>
                  <a:t>PROM consists of two main components: an address decoder and an OR memory array. The n input lines are fed into the address decoder, which activates one of the </a:t>
                </a:r>
                <a14:m>
                  <m:oMath xmlns:m="http://schemas.openxmlformats.org/officeDocument/2006/math">
                    <m:sSup>
                      <m:sSupPr>
                        <m:ctrlPr>
                          <a:rPr lang="en-US" sz="1500" i="1">
                            <a:latin typeface="Cambria Math" panose="02040503050406030204" pitchFamily="18" charset="0"/>
                          </a:rPr>
                        </m:ctrlPr>
                      </m:sSupPr>
                      <m:e>
                        <m:r>
                          <a:rPr lang="en-US" sz="1500" i="1">
                            <a:latin typeface="Cambria Math" panose="02040503050406030204" pitchFamily="18" charset="0"/>
                          </a:rPr>
                          <m:t>2</m:t>
                        </m:r>
                      </m:e>
                      <m:sup>
                        <m:r>
                          <a:rPr lang="en-US" sz="1500" i="1">
                            <a:latin typeface="Cambria Math" panose="02040503050406030204" pitchFamily="18" charset="0"/>
                          </a:rPr>
                          <m:t>𝑛</m:t>
                        </m:r>
                      </m:sup>
                    </m:sSup>
                  </m:oMath>
                </a14:m>
                <a:r>
                  <a:rPr lang="en-US" sz="1500" dirty="0">
                    <a:latin typeface="Rockwell" panose="02060603020205020403" pitchFamily="18" charset="0"/>
                  </a:rPr>
                  <a:t> word lines based on the input address. Each word line corresponds to a specific memory location in the OR array. </a:t>
                </a:r>
              </a:p>
              <a:p>
                <a:pPr algn="just"/>
                <a:endParaRPr lang="en-US" sz="1500" dirty="0">
                  <a:latin typeface="Rockwell" panose="02060603020205020403" pitchFamily="18" charset="0"/>
                </a:endParaRPr>
              </a:p>
              <a:p>
                <a:pPr algn="just"/>
                <a:r>
                  <a:rPr lang="en-US" sz="1500" dirty="0">
                    <a:latin typeface="Rockwell" panose="02060603020205020403" pitchFamily="18" charset="0"/>
                  </a:rPr>
                  <a:t>The OR memory array holds the programmed data, which is accessed when a word line is activated. The m output lines represent the data bits read from the selected memory word. Each memory cell in PROM is initially a closed connection (typically a fuse). </a:t>
                </a:r>
              </a:p>
              <a:p>
                <a:pPr algn="just"/>
                <a:endParaRPr lang="en-US" sz="1500" dirty="0">
                  <a:latin typeface="Rockwell" panose="02060603020205020403" pitchFamily="18" charset="0"/>
                </a:endParaRPr>
              </a:p>
              <a:p>
                <a:pPr algn="just"/>
                <a:r>
                  <a:rPr lang="en-US" sz="1500" dirty="0">
                    <a:latin typeface="Rockwell" panose="02060603020205020403" pitchFamily="18" charset="0"/>
                  </a:rPr>
                  <a:t>During the programming process, selected fuses are blown using a high current pulse to represent binary '0', while unblown fuses represent binary '1'. Once programmed, the data in PROM cannot be altered, making it suitable for applications that require permanent storage of information, such as microcontroller firmware, lookup tables, and embedded system boot code. PROM is reliable and simple but lacks reusability. </a:t>
                </a:r>
              </a:p>
              <a:p>
                <a:pPr algn="just"/>
                <a:endParaRPr lang="en-US" sz="1500" dirty="0">
                  <a:latin typeface="Rockwell" panose="02060603020205020403" pitchFamily="18" charset="0"/>
                </a:endParaRPr>
              </a:p>
              <a:p>
                <a:pPr algn="just"/>
                <a:r>
                  <a:rPr lang="en-US" sz="1500" dirty="0">
                    <a:latin typeface="Rockwell" panose="02060603020205020403" pitchFamily="18" charset="0"/>
                  </a:rPr>
                  <a:t>Other forms like EPROM, EEPROM, and Flash evolved to allow reprogramming and erasing features.</a:t>
                </a:r>
                <a:endParaRPr lang="en-IN" sz="1500" dirty="0">
                  <a:latin typeface="Rockwell" panose="02060603020205020403" pitchFamily="18" charset="0"/>
                </a:endParaRPr>
              </a:p>
            </p:txBody>
          </p:sp>
        </mc:Choice>
        <mc:Fallback xmlns="">
          <p:sp>
            <p:nvSpPr>
              <p:cNvPr id="5" name="TextBox 4">
                <a:extLst>
                  <a:ext uri="{FF2B5EF4-FFF2-40B4-BE49-F238E27FC236}">
                    <a16:creationId xmlns:a16="http://schemas.microsoft.com/office/drawing/2014/main" xmlns:a14="http://schemas.microsoft.com/office/drawing/2010/main" xmlns="" id="{FD1B25C9-D18A-0EF7-BB56-C0FE8E04D619}"/>
                  </a:ext>
                </a:extLst>
              </p:cNvPr>
              <p:cNvSpPr txBox="1">
                <a:spLocks noRot="1" noChangeAspect="1" noMove="1" noResize="1" noEditPoints="1" noAdjustHandles="1" noChangeArrowheads="1" noChangeShapeType="1" noTextEdit="1"/>
              </p:cNvSpPr>
              <p:nvPr/>
            </p:nvSpPr>
            <p:spPr>
              <a:xfrm>
                <a:off x="876822" y="961449"/>
                <a:ext cx="6868438" cy="5632311"/>
              </a:xfrm>
              <a:prstGeom prst="rect">
                <a:avLst/>
              </a:prstGeom>
              <a:blipFill rotWithShape="0">
                <a:blip r:embed="rId3"/>
                <a:stretch>
                  <a:fillRect l="-355" t="-325" r="-355" b="-216"/>
                </a:stretch>
              </a:blipFill>
            </p:spPr>
            <p:txBody>
              <a:bodyPr/>
              <a:lstStyle/>
              <a:p>
                <a:r>
                  <a:rPr lang="en-US">
                    <a:noFill/>
                  </a:rPr>
                  <a:t> </a:t>
                </a:r>
              </a:p>
            </p:txBody>
          </p:sp>
        </mc:Fallback>
      </mc:AlternateContent>
      <p:pic>
        <p:nvPicPr>
          <p:cNvPr id="3" name="Picture 2">
            <a:extLst>
              <a:ext uri="{FF2B5EF4-FFF2-40B4-BE49-F238E27FC236}">
                <a16:creationId xmlns="" xmlns:a16="http://schemas.microsoft.com/office/drawing/2014/main" id="{16079BE3-0B9C-BAB7-7749-DA159B738055}"/>
              </a:ext>
            </a:extLst>
          </p:cNvPr>
          <p:cNvPicPr>
            <a:picLocks noChangeAspect="1"/>
          </p:cNvPicPr>
          <p:nvPr/>
        </p:nvPicPr>
        <p:blipFill>
          <a:blip r:embed="rId4"/>
          <a:stretch>
            <a:fillRect/>
          </a:stretch>
        </p:blipFill>
        <p:spPr>
          <a:xfrm>
            <a:off x="9216902" y="5696406"/>
            <a:ext cx="2661947" cy="1078088"/>
          </a:xfrm>
          <a:prstGeom prst="rect">
            <a:avLst/>
          </a:prstGeom>
        </p:spPr>
      </p:pic>
    </p:spTree>
    <p:extLst>
      <p:ext uri="{BB962C8B-B14F-4D97-AF65-F5344CB8AC3E}">
        <p14:creationId xmlns:p14="http://schemas.microsoft.com/office/powerpoint/2010/main" val="6161894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 xmlns:a16="http://schemas.microsoft.com/office/drawing/2014/main" id="{4876325C-DCD1-9A36-CCFD-64D7F6F78108}"/>
              </a:ext>
            </a:extLst>
          </p:cNvPr>
          <p:cNvSpPr/>
          <p:nvPr/>
        </p:nvSpPr>
        <p:spPr>
          <a:xfrm>
            <a:off x="814834" y="727764"/>
            <a:ext cx="3047318" cy="593923"/>
          </a:xfrm>
          <a:prstGeom prst="rect">
            <a:avLst/>
          </a:prstGeom>
          <a:noFill/>
          <a:ln/>
        </p:spPr>
        <p:txBody>
          <a:bodyPr wrap="none" lIns="0" tIns="0" rIns="0" bIns="0" rtlCol="0" anchor="t"/>
          <a:lstStyle/>
          <a:p>
            <a:pPr>
              <a:lnSpc>
                <a:spcPts val="4666"/>
              </a:lnSpc>
            </a:pPr>
            <a:r>
              <a:rPr lang="en-US" sz="4000" dirty="0">
                <a:latin typeface="Rockwell" panose="02060603020205020403" pitchFamily="18" charset="0"/>
              </a:rPr>
              <a:t>Half-Adder using PROM</a:t>
            </a:r>
          </a:p>
        </p:txBody>
      </p:sp>
      <mc:AlternateContent xmlns:mc="http://schemas.openxmlformats.org/markup-compatibility/2006" xmlns:a14="http://schemas.microsoft.com/office/drawing/2010/main">
        <mc:Choice Requires="a14">
          <p:sp>
            <p:nvSpPr>
              <p:cNvPr id="3" name="TextBox 2">
                <a:extLst>
                  <a:ext uri="{FF2B5EF4-FFF2-40B4-BE49-F238E27FC236}">
                    <a16:creationId xmlns="" xmlns:a16="http://schemas.microsoft.com/office/drawing/2014/main" id="{49C6F2C7-073A-C7CE-4391-9C1DD5AA244D}"/>
                  </a:ext>
                </a:extLst>
              </p:cNvPr>
              <p:cNvSpPr txBox="1"/>
              <p:nvPr/>
            </p:nvSpPr>
            <p:spPr>
              <a:xfrm>
                <a:off x="731327" y="5405202"/>
                <a:ext cx="5240055" cy="635430"/>
              </a:xfrm>
              <a:prstGeom prst="rect">
                <a:avLst/>
              </a:prstGeom>
              <a:noFill/>
            </p:spPr>
            <p:txBody>
              <a:bodyPr wrap="square" rtlCol="0">
                <a:spAutoFit/>
              </a:bodyPr>
              <a:lstStyle/>
              <a:p>
                <a:r>
                  <a:rPr lang="en-US" sz="1667" dirty="0">
                    <a:latin typeface="Rockwell" panose="02060603020205020403" pitchFamily="18" charset="0"/>
                  </a:rPr>
                  <a:t>Sum = </a:t>
                </a:r>
                <a14:m>
                  <m:oMath xmlns:m="http://schemas.openxmlformats.org/officeDocument/2006/math">
                    <m:bar>
                      <m:barPr>
                        <m:pos m:val="top"/>
                        <m:ctrlPr>
                          <a:rPr lang="en-US" sz="1667" i="1">
                            <a:latin typeface="Cambria Math" panose="02040503050406030204" pitchFamily="18" charset="0"/>
                          </a:rPr>
                        </m:ctrlPr>
                      </m:barPr>
                      <m:e>
                        <m:r>
                          <a:rPr lang="en-US" sz="1667" i="1">
                            <a:latin typeface="Cambria Math" panose="02040503050406030204" pitchFamily="18" charset="0"/>
                          </a:rPr>
                          <m:t>𝐴</m:t>
                        </m:r>
                      </m:e>
                    </m:bar>
                    <m:r>
                      <a:rPr lang="en-US" sz="1667" i="1">
                        <a:latin typeface="Cambria Math" panose="02040503050406030204" pitchFamily="18" charset="0"/>
                      </a:rPr>
                      <m:t>𝐵</m:t>
                    </m:r>
                    <m:r>
                      <a:rPr lang="en-US" sz="1667" i="1">
                        <a:latin typeface="Cambria Math" panose="02040503050406030204" pitchFamily="18" charset="0"/>
                      </a:rPr>
                      <m:t>+</m:t>
                    </m:r>
                    <m:r>
                      <a:rPr lang="en-US" sz="1667" i="1">
                        <a:latin typeface="Cambria Math" panose="02040503050406030204" pitchFamily="18" charset="0"/>
                      </a:rPr>
                      <m:t>𝐴</m:t>
                    </m:r>
                    <m:bar>
                      <m:barPr>
                        <m:pos m:val="top"/>
                        <m:ctrlPr>
                          <a:rPr lang="en-US" sz="1667" i="1">
                            <a:latin typeface="Cambria Math" panose="02040503050406030204" pitchFamily="18" charset="0"/>
                          </a:rPr>
                        </m:ctrlPr>
                      </m:barPr>
                      <m:e>
                        <m:r>
                          <a:rPr lang="en-US" sz="1667" i="1">
                            <a:latin typeface="Cambria Math" panose="02040503050406030204" pitchFamily="18" charset="0"/>
                          </a:rPr>
                          <m:t>𝐵</m:t>
                        </m:r>
                      </m:e>
                    </m:bar>
                  </m:oMath>
                </a14:m>
                <a:endParaRPr lang="en-IN" sz="1667" dirty="0">
                  <a:latin typeface="Rockwell" panose="02060603020205020403" pitchFamily="18" charset="0"/>
                </a:endParaRPr>
              </a:p>
              <a:p>
                <a:r>
                  <a:rPr lang="en-IN" sz="1667" dirty="0">
                    <a:latin typeface="Rockwell" panose="02060603020205020403" pitchFamily="18" charset="0"/>
                  </a:rPr>
                  <a:t>Carry = </a:t>
                </a:r>
                <a:r>
                  <a:rPr lang="en-IN" sz="1667" i="1" dirty="0">
                    <a:latin typeface="Rockwell" panose="02060603020205020403" pitchFamily="18" charset="0"/>
                  </a:rPr>
                  <a:t>AB</a:t>
                </a:r>
              </a:p>
            </p:txBody>
          </p:sp>
        </mc:Choice>
        <mc:Fallback xmlns="">
          <p:sp>
            <p:nvSpPr>
              <p:cNvPr id="3" name="TextBox 2">
                <a:extLst>
                  <a:ext uri="{FF2B5EF4-FFF2-40B4-BE49-F238E27FC236}">
                    <a16:creationId xmlns:a16="http://schemas.microsoft.com/office/drawing/2014/main" xmlns:a14="http://schemas.microsoft.com/office/drawing/2010/main" xmlns="" id="{49C6F2C7-073A-C7CE-4391-9C1DD5AA244D}"/>
                  </a:ext>
                </a:extLst>
              </p:cNvPr>
              <p:cNvSpPr txBox="1">
                <a:spLocks noRot="1" noChangeAspect="1" noMove="1" noResize="1" noEditPoints="1" noAdjustHandles="1" noChangeArrowheads="1" noChangeShapeType="1" noTextEdit="1"/>
              </p:cNvSpPr>
              <p:nvPr/>
            </p:nvSpPr>
            <p:spPr>
              <a:xfrm>
                <a:off x="731327" y="5405202"/>
                <a:ext cx="5240055" cy="635430"/>
              </a:xfrm>
              <a:prstGeom prst="rect">
                <a:avLst/>
              </a:prstGeom>
              <a:blipFill rotWithShape="0">
                <a:blip r:embed="rId2"/>
                <a:stretch>
                  <a:fillRect l="-814" b="-12500"/>
                </a:stretch>
              </a:blipFill>
            </p:spPr>
            <p:txBody>
              <a:bodyPr/>
              <a:lstStyle/>
              <a:p>
                <a:r>
                  <a:rPr lang="en-US">
                    <a:noFill/>
                  </a:rPr>
                  <a:t> </a:t>
                </a:r>
              </a:p>
            </p:txBody>
          </p:sp>
        </mc:Fallback>
      </mc:AlternateContent>
      <p:graphicFrame>
        <p:nvGraphicFramePr>
          <p:cNvPr id="4" name="Table 3">
            <a:extLst>
              <a:ext uri="{FF2B5EF4-FFF2-40B4-BE49-F238E27FC236}">
                <a16:creationId xmlns="" xmlns:a16="http://schemas.microsoft.com/office/drawing/2014/main" id="{56FA76C6-4049-9381-CE0E-94E053DD3F46}"/>
              </a:ext>
            </a:extLst>
          </p:cNvPr>
          <p:cNvGraphicFramePr>
            <a:graphicFrameLocks noGrp="1"/>
          </p:cNvGraphicFramePr>
          <p:nvPr>
            <p:extLst/>
          </p:nvPr>
        </p:nvGraphicFramePr>
        <p:xfrm>
          <a:off x="814833" y="2014602"/>
          <a:ext cx="3865672" cy="3248996"/>
        </p:xfrm>
        <a:graphic>
          <a:graphicData uri="http://schemas.openxmlformats.org/drawingml/2006/table">
            <a:tbl>
              <a:tblPr firstRow="1" bandRow="1">
                <a:tableStyleId>{2D5ABB26-0587-4C30-8999-92F81FD0307C}</a:tableStyleId>
              </a:tblPr>
              <a:tblGrid>
                <a:gridCol w="966418">
                  <a:extLst>
                    <a:ext uri="{9D8B030D-6E8A-4147-A177-3AD203B41FA5}">
                      <a16:colId xmlns="" xmlns:a16="http://schemas.microsoft.com/office/drawing/2014/main" val="2812978317"/>
                    </a:ext>
                  </a:extLst>
                </a:gridCol>
                <a:gridCol w="966418">
                  <a:extLst>
                    <a:ext uri="{9D8B030D-6E8A-4147-A177-3AD203B41FA5}">
                      <a16:colId xmlns="" xmlns:a16="http://schemas.microsoft.com/office/drawing/2014/main" val="23159461"/>
                    </a:ext>
                  </a:extLst>
                </a:gridCol>
                <a:gridCol w="966418">
                  <a:extLst>
                    <a:ext uri="{9D8B030D-6E8A-4147-A177-3AD203B41FA5}">
                      <a16:colId xmlns="" xmlns:a16="http://schemas.microsoft.com/office/drawing/2014/main" val="4074076207"/>
                    </a:ext>
                  </a:extLst>
                </a:gridCol>
                <a:gridCol w="966418">
                  <a:extLst>
                    <a:ext uri="{9D8B030D-6E8A-4147-A177-3AD203B41FA5}">
                      <a16:colId xmlns="" xmlns:a16="http://schemas.microsoft.com/office/drawing/2014/main" val="133699167"/>
                    </a:ext>
                  </a:extLst>
                </a:gridCol>
              </a:tblGrid>
              <a:tr h="304800">
                <a:tc>
                  <a:txBody>
                    <a:bodyPr/>
                    <a:lstStyle/>
                    <a:p>
                      <a:pPr algn="ctr"/>
                      <a:r>
                        <a:rPr lang="en-US" sz="1500" dirty="0">
                          <a:latin typeface="Rockwell" panose="02060603020205020403" pitchFamily="18" charset="0"/>
                        </a:rPr>
                        <a:t>A</a:t>
                      </a:r>
                      <a:endParaRPr lang="en-IN" sz="1500" dirty="0">
                        <a:latin typeface="Rockwell" panose="02060603020205020403" pitchFamily="18" charset="0"/>
                      </a:endParaRPr>
                    </a:p>
                  </a:txBody>
                  <a:tcPr marL="76200" marR="762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500" dirty="0">
                          <a:latin typeface="Rockwell" panose="02060603020205020403" pitchFamily="18" charset="0"/>
                        </a:rPr>
                        <a:t>B</a:t>
                      </a:r>
                      <a:endParaRPr lang="en-IN" sz="1500" dirty="0">
                        <a:latin typeface="Rockwell" panose="02060603020205020403" pitchFamily="18" charset="0"/>
                      </a:endParaRPr>
                    </a:p>
                  </a:txBody>
                  <a:tcPr marL="76200" marR="762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500" dirty="0">
                          <a:latin typeface="Rockwell" panose="02060603020205020403" pitchFamily="18" charset="0"/>
                        </a:rPr>
                        <a:t>Sum</a:t>
                      </a:r>
                      <a:endParaRPr lang="en-IN" sz="1500" dirty="0">
                        <a:latin typeface="Rockwell" panose="02060603020205020403" pitchFamily="18" charset="0"/>
                      </a:endParaRPr>
                    </a:p>
                  </a:txBody>
                  <a:tcPr marL="76200" marR="762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500" dirty="0">
                          <a:latin typeface="Rockwell" panose="02060603020205020403" pitchFamily="18" charset="0"/>
                        </a:rPr>
                        <a:t>Carry</a:t>
                      </a:r>
                      <a:endParaRPr lang="en-IN" sz="1500" dirty="0">
                        <a:latin typeface="Rockwell" panose="02060603020205020403" pitchFamily="18" charset="0"/>
                      </a:endParaRPr>
                    </a:p>
                  </a:txBody>
                  <a:tcPr marL="76200" marR="762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970589541"/>
                  </a:ext>
                </a:extLst>
              </a:tr>
              <a:tr h="736049">
                <a:tc>
                  <a:txBody>
                    <a:bodyPr/>
                    <a:lstStyle/>
                    <a:p>
                      <a:pPr algn="ctr"/>
                      <a:r>
                        <a:rPr lang="en-US" sz="1500" dirty="0">
                          <a:latin typeface="Rockwell" panose="02060603020205020403" pitchFamily="18" charset="0"/>
                        </a:rPr>
                        <a:t>0</a:t>
                      </a:r>
                      <a:endParaRPr lang="en-IN" sz="1500" dirty="0">
                        <a:latin typeface="Rockwell" panose="02060603020205020403" pitchFamily="18" charset="0"/>
                      </a:endParaRPr>
                    </a:p>
                  </a:txBody>
                  <a:tcPr marL="76200" marR="762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500" dirty="0">
                          <a:latin typeface="Rockwell" panose="02060603020205020403" pitchFamily="18" charset="0"/>
                        </a:rPr>
                        <a:t>0</a:t>
                      </a:r>
                      <a:endParaRPr lang="en-IN" sz="1500" dirty="0">
                        <a:latin typeface="Rockwell" panose="02060603020205020403" pitchFamily="18" charset="0"/>
                      </a:endParaRPr>
                    </a:p>
                  </a:txBody>
                  <a:tcPr marL="76200" marR="762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500" dirty="0">
                          <a:latin typeface="Rockwell" panose="02060603020205020403" pitchFamily="18" charset="0"/>
                        </a:rPr>
                        <a:t>0</a:t>
                      </a:r>
                      <a:endParaRPr lang="en-IN" sz="1500" dirty="0">
                        <a:latin typeface="Rockwell" panose="02060603020205020403" pitchFamily="18" charset="0"/>
                      </a:endParaRPr>
                    </a:p>
                  </a:txBody>
                  <a:tcPr marL="76200" marR="762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500" dirty="0">
                          <a:latin typeface="Rockwell" panose="02060603020205020403" pitchFamily="18" charset="0"/>
                        </a:rPr>
                        <a:t>0</a:t>
                      </a:r>
                      <a:endParaRPr lang="en-IN" sz="1500" dirty="0">
                        <a:latin typeface="Rockwell" panose="02060603020205020403" pitchFamily="18" charset="0"/>
                      </a:endParaRPr>
                    </a:p>
                  </a:txBody>
                  <a:tcPr marL="76200" marR="762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2262123902"/>
                  </a:ext>
                </a:extLst>
              </a:tr>
              <a:tr h="736049">
                <a:tc>
                  <a:txBody>
                    <a:bodyPr/>
                    <a:lstStyle/>
                    <a:p>
                      <a:pPr algn="ctr"/>
                      <a:r>
                        <a:rPr lang="en-US" sz="1500" dirty="0">
                          <a:latin typeface="Rockwell" panose="02060603020205020403" pitchFamily="18" charset="0"/>
                        </a:rPr>
                        <a:t>0</a:t>
                      </a:r>
                      <a:endParaRPr lang="en-IN" sz="1500" dirty="0">
                        <a:latin typeface="Rockwell" panose="02060603020205020403" pitchFamily="18" charset="0"/>
                      </a:endParaRPr>
                    </a:p>
                  </a:txBody>
                  <a:tcPr marL="76200" marR="762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500" dirty="0">
                          <a:latin typeface="Rockwell" panose="02060603020205020403" pitchFamily="18" charset="0"/>
                        </a:rPr>
                        <a:t>1</a:t>
                      </a:r>
                      <a:endParaRPr lang="en-IN" sz="1500" dirty="0">
                        <a:latin typeface="Rockwell" panose="02060603020205020403" pitchFamily="18" charset="0"/>
                      </a:endParaRPr>
                    </a:p>
                  </a:txBody>
                  <a:tcPr marL="76200" marR="762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500" dirty="0">
                          <a:latin typeface="Rockwell" panose="02060603020205020403" pitchFamily="18" charset="0"/>
                        </a:rPr>
                        <a:t>1</a:t>
                      </a:r>
                      <a:endParaRPr lang="en-IN" sz="1500" dirty="0">
                        <a:latin typeface="Rockwell" panose="02060603020205020403" pitchFamily="18" charset="0"/>
                      </a:endParaRPr>
                    </a:p>
                  </a:txBody>
                  <a:tcPr marL="76200" marR="762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500" dirty="0">
                          <a:latin typeface="Rockwell" panose="02060603020205020403" pitchFamily="18" charset="0"/>
                        </a:rPr>
                        <a:t>0</a:t>
                      </a:r>
                      <a:endParaRPr lang="en-IN" sz="1500" dirty="0">
                        <a:latin typeface="Rockwell" panose="02060603020205020403" pitchFamily="18" charset="0"/>
                      </a:endParaRPr>
                    </a:p>
                  </a:txBody>
                  <a:tcPr marL="76200" marR="762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3180811442"/>
                  </a:ext>
                </a:extLst>
              </a:tr>
              <a:tr h="736049">
                <a:tc>
                  <a:txBody>
                    <a:bodyPr/>
                    <a:lstStyle/>
                    <a:p>
                      <a:pPr algn="ctr"/>
                      <a:r>
                        <a:rPr lang="en-US" sz="1500" dirty="0">
                          <a:latin typeface="Rockwell" panose="02060603020205020403" pitchFamily="18" charset="0"/>
                        </a:rPr>
                        <a:t>1</a:t>
                      </a:r>
                      <a:endParaRPr lang="en-IN" sz="1500" dirty="0">
                        <a:latin typeface="Rockwell" panose="02060603020205020403" pitchFamily="18" charset="0"/>
                      </a:endParaRPr>
                    </a:p>
                  </a:txBody>
                  <a:tcPr marL="76200" marR="762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500" dirty="0">
                          <a:latin typeface="Rockwell" panose="02060603020205020403" pitchFamily="18" charset="0"/>
                        </a:rPr>
                        <a:t>0</a:t>
                      </a:r>
                      <a:endParaRPr lang="en-IN" sz="1500" dirty="0">
                        <a:latin typeface="Rockwell" panose="02060603020205020403" pitchFamily="18" charset="0"/>
                      </a:endParaRPr>
                    </a:p>
                  </a:txBody>
                  <a:tcPr marL="76200" marR="762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500" dirty="0">
                          <a:latin typeface="Rockwell" panose="02060603020205020403" pitchFamily="18" charset="0"/>
                        </a:rPr>
                        <a:t>1</a:t>
                      </a:r>
                      <a:endParaRPr lang="en-IN" sz="1500" dirty="0">
                        <a:latin typeface="Rockwell" panose="02060603020205020403" pitchFamily="18" charset="0"/>
                      </a:endParaRPr>
                    </a:p>
                  </a:txBody>
                  <a:tcPr marL="76200" marR="762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500" dirty="0">
                          <a:latin typeface="Rockwell" panose="02060603020205020403" pitchFamily="18" charset="0"/>
                        </a:rPr>
                        <a:t>0</a:t>
                      </a:r>
                      <a:endParaRPr lang="en-IN" sz="1500" dirty="0">
                        <a:latin typeface="Rockwell" panose="02060603020205020403" pitchFamily="18" charset="0"/>
                      </a:endParaRPr>
                    </a:p>
                  </a:txBody>
                  <a:tcPr marL="76200" marR="762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2635449575"/>
                  </a:ext>
                </a:extLst>
              </a:tr>
              <a:tr h="736049">
                <a:tc>
                  <a:txBody>
                    <a:bodyPr/>
                    <a:lstStyle/>
                    <a:p>
                      <a:pPr algn="ctr"/>
                      <a:r>
                        <a:rPr lang="en-US" sz="1500" dirty="0">
                          <a:latin typeface="Rockwell" panose="02060603020205020403" pitchFamily="18" charset="0"/>
                        </a:rPr>
                        <a:t>1</a:t>
                      </a:r>
                      <a:endParaRPr lang="en-IN" sz="1500" dirty="0">
                        <a:latin typeface="Rockwell" panose="02060603020205020403" pitchFamily="18" charset="0"/>
                      </a:endParaRPr>
                    </a:p>
                  </a:txBody>
                  <a:tcPr marL="76200" marR="762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500" dirty="0">
                          <a:latin typeface="Rockwell" panose="02060603020205020403" pitchFamily="18" charset="0"/>
                        </a:rPr>
                        <a:t>1</a:t>
                      </a:r>
                      <a:endParaRPr lang="en-IN" sz="1500" dirty="0">
                        <a:latin typeface="Rockwell" panose="02060603020205020403" pitchFamily="18" charset="0"/>
                      </a:endParaRPr>
                    </a:p>
                  </a:txBody>
                  <a:tcPr marL="76200" marR="762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500" dirty="0">
                          <a:latin typeface="Rockwell" panose="02060603020205020403" pitchFamily="18" charset="0"/>
                        </a:rPr>
                        <a:t>0</a:t>
                      </a:r>
                      <a:endParaRPr lang="en-IN" sz="1500" dirty="0">
                        <a:latin typeface="Rockwell" panose="02060603020205020403" pitchFamily="18" charset="0"/>
                      </a:endParaRPr>
                    </a:p>
                  </a:txBody>
                  <a:tcPr marL="76200" marR="762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500" dirty="0">
                          <a:latin typeface="Rockwell" panose="02060603020205020403" pitchFamily="18" charset="0"/>
                        </a:rPr>
                        <a:t>1</a:t>
                      </a:r>
                      <a:endParaRPr lang="en-IN" sz="1500" dirty="0">
                        <a:latin typeface="Rockwell" panose="02060603020205020403" pitchFamily="18" charset="0"/>
                      </a:endParaRPr>
                    </a:p>
                  </a:txBody>
                  <a:tcPr marL="76200" marR="762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3408882009"/>
                  </a:ext>
                </a:extLst>
              </a:tr>
            </a:tbl>
          </a:graphicData>
        </a:graphic>
      </p:graphicFrame>
      <p:sp>
        <p:nvSpPr>
          <p:cNvPr id="5" name="TextBox 4">
            <a:extLst>
              <a:ext uri="{FF2B5EF4-FFF2-40B4-BE49-F238E27FC236}">
                <a16:creationId xmlns="" xmlns:a16="http://schemas.microsoft.com/office/drawing/2014/main" id="{2AD8F816-D9F3-4AA9-F4CA-4E783ADD2C26}"/>
              </a:ext>
            </a:extLst>
          </p:cNvPr>
          <p:cNvSpPr txBox="1"/>
          <p:nvPr/>
        </p:nvSpPr>
        <p:spPr>
          <a:xfrm>
            <a:off x="8590125" y="5911487"/>
            <a:ext cx="2509990" cy="348878"/>
          </a:xfrm>
          <a:prstGeom prst="rect">
            <a:avLst/>
          </a:prstGeom>
          <a:noFill/>
        </p:spPr>
        <p:txBody>
          <a:bodyPr wrap="square" rtlCol="0">
            <a:spAutoFit/>
          </a:bodyPr>
          <a:lstStyle/>
          <a:p>
            <a:r>
              <a:rPr lang="en-US" sz="1667" dirty="0">
                <a:latin typeface="Rockwell" panose="02060603020205020403" pitchFamily="18" charset="0"/>
              </a:rPr>
              <a:t>Fig: Implementation</a:t>
            </a:r>
          </a:p>
        </p:txBody>
      </p:sp>
      <p:sp>
        <p:nvSpPr>
          <p:cNvPr id="6" name="Rectangle 5">
            <a:extLst>
              <a:ext uri="{FF2B5EF4-FFF2-40B4-BE49-F238E27FC236}">
                <a16:creationId xmlns="" xmlns:a16="http://schemas.microsoft.com/office/drawing/2014/main" id="{E4E9E0D9-424A-AF92-DD99-A5364630F8DD}"/>
              </a:ext>
            </a:extLst>
          </p:cNvPr>
          <p:cNvSpPr/>
          <p:nvPr/>
        </p:nvSpPr>
        <p:spPr>
          <a:xfrm>
            <a:off x="6826685" y="2306877"/>
            <a:ext cx="1857385" cy="198328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500"/>
          </a:p>
        </p:txBody>
      </p:sp>
      <p:sp>
        <p:nvSpPr>
          <p:cNvPr id="7" name="TextBox 6">
            <a:extLst>
              <a:ext uri="{FF2B5EF4-FFF2-40B4-BE49-F238E27FC236}">
                <a16:creationId xmlns="" xmlns:a16="http://schemas.microsoft.com/office/drawing/2014/main" id="{21576AAA-036A-D63D-B5E6-F4D1636361A7}"/>
              </a:ext>
            </a:extLst>
          </p:cNvPr>
          <p:cNvSpPr txBox="1"/>
          <p:nvPr/>
        </p:nvSpPr>
        <p:spPr>
          <a:xfrm>
            <a:off x="7187036" y="3003568"/>
            <a:ext cx="1136683" cy="605422"/>
          </a:xfrm>
          <a:prstGeom prst="rect">
            <a:avLst/>
          </a:prstGeom>
          <a:noFill/>
        </p:spPr>
        <p:txBody>
          <a:bodyPr wrap="square" rtlCol="0">
            <a:spAutoFit/>
          </a:bodyPr>
          <a:lstStyle/>
          <a:p>
            <a:pPr algn="ctr"/>
            <a:r>
              <a:rPr lang="en-US" sz="1667" dirty="0">
                <a:latin typeface="Rockwell" panose="02060603020205020403" pitchFamily="18" charset="0"/>
              </a:rPr>
              <a:t>2x4</a:t>
            </a:r>
          </a:p>
          <a:p>
            <a:pPr algn="ctr"/>
            <a:r>
              <a:rPr lang="en-US" sz="1667" dirty="0">
                <a:latin typeface="Rockwell" panose="02060603020205020403" pitchFamily="18" charset="0"/>
              </a:rPr>
              <a:t>Decoder</a:t>
            </a:r>
          </a:p>
        </p:txBody>
      </p:sp>
      <p:cxnSp>
        <p:nvCxnSpPr>
          <p:cNvPr id="9" name="Straight Connector 8">
            <a:extLst>
              <a:ext uri="{FF2B5EF4-FFF2-40B4-BE49-F238E27FC236}">
                <a16:creationId xmlns="" xmlns:a16="http://schemas.microsoft.com/office/drawing/2014/main" id="{CB6D0153-605B-2F15-8BBD-749850BE23CE}"/>
              </a:ext>
            </a:extLst>
          </p:cNvPr>
          <p:cNvCxnSpPr>
            <a:cxnSpLocks/>
          </p:cNvCxnSpPr>
          <p:nvPr/>
        </p:nvCxnSpPr>
        <p:spPr>
          <a:xfrm>
            <a:off x="8684070" y="2505205"/>
            <a:ext cx="2463452"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 xmlns:a16="http://schemas.microsoft.com/office/drawing/2014/main" id="{E1BEF7E0-C7DE-1435-7C4A-1FF1DFBE44B7}"/>
              </a:ext>
            </a:extLst>
          </p:cNvPr>
          <p:cNvCxnSpPr>
            <a:cxnSpLocks/>
          </p:cNvCxnSpPr>
          <p:nvPr/>
        </p:nvCxnSpPr>
        <p:spPr>
          <a:xfrm>
            <a:off x="8684070" y="3045321"/>
            <a:ext cx="246345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 xmlns:a16="http://schemas.microsoft.com/office/drawing/2014/main" id="{1A6F4FC4-1C5E-DC42-D27E-2B61C6B7F2E4}"/>
              </a:ext>
            </a:extLst>
          </p:cNvPr>
          <p:cNvCxnSpPr>
            <a:cxnSpLocks/>
          </p:cNvCxnSpPr>
          <p:nvPr/>
        </p:nvCxnSpPr>
        <p:spPr>
          <a:xfrm>
            <a:off x="8684070" y="3586514"/>
            <a:ext cx="246345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 xmlns:a16="http://schemas.microsoft.com/office/drawing/2014/main" id="{3BAADBF0-F576-C98B-9566-E7724B505DC6}"/>
              </a:ext>
            </a:extLst>
          </p:cNvPr>
          <p:cNvCxnSpPr>
            <a:cxnSpLocks/>
          </p:cNvCxnSpPr>
          <p:nvPr/>
        </p:nvCxnSpPr>
        <p:spPr>
          <a:xfrm>
            <a:off x="8684070" y="4093576"/>
            <a:ext cx="246345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 xmlns:a16="http://schemas.microsoft.com/office/drawing/2014/main" id="{E3DAC926-FB3A-51A4-605D-0E87F8FA15B9}"/>
              </a:ext>
            </a:extLst>
          </p:cNvPr>
          <p:cNvCxnSpPr>
            <a:cxnSpLocks/>
          </p:cNvCxnSpPr>
          <p:nvPr/>
        </p:nvCxnSpPr>
        <p:spPr>
          <a:xfrm>
            <a:off x="6003473" y="2821836"/>
            <a:ext cx="82321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 xmlns:a16="http://schemas.microsoft.com/office/drawing/2014/main" id="{E3AD2047-375E-4519-2724-4874627AAC76}"/>
              </a:ext>
            </a:extLst>
          </p:cNvPr>
          <p:cNvCxnSpPr>
            <a:cxnSpLocks/>
          </p:cNvCxnSpPr>
          <p:nvPr/>
        </p:nvCxnSpPr>
        <p:spPr>
          <a:xfrm>
            <a:off x="6003473" y="3721274"/>
            <a:ext cx="82321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 xmlns:a16="http://schemas.microsoft.com/office/drawing/2014/main" id="{BBC0296B-9357-51E5-00FC-9355226F1CCD}"/>
              </a:ext>
            </a:extLst>
          </p:cNvPr>
          <p:cNvSpPr txBox="1"/>
          <p:nvPr/>
        </p:nvSpPr>
        <p:spPr>
          <a:xfrm>
            <a:off x="5527657" y="2455217"/>
            <a:ext cx="1136683" cy="348878"/>
          </a:xfrm>
          <a:prstGeom prst="rect">
            <a:avLst/>
          </a:prstGeom>
          <a:noFill/>
        </p:spPr>
        <p:txBody>
          <a:bodyPr wrap="square" rtlCol="0">
            <a:spAutoFit/>
          </a:bodyPr>
          <a:lstStyle/>
          <a:p>
            <a:pPr algn="ctr"/>
            <a:r>
              <a:rPr lang="en-US" sz="1667" dirty="0">
                <a:latin typeface="Rockwell" panose="02060603020205020403" pitchFamily="18" charset="0"/>
              </a:rPr>
              <a:t>A</a:t>
            </a:r>
          </a:p>
        </p:txBody>
      </p:sp>
      <p:sp>
        <p:nvSpPr>
          <p:cNvPr id="18" name="TextBox 17">
            <a:extLst>
              <a:ext uri="{FF2B5EF4-FFF2-40B4-BE49-F238E27FC236}">
                <a16:creationId xmlns="" xmlns:a16="http://schemas.microsoft.com/office/drawing/2014/main" id="{41A83334-D6C6-EEE9-3525-F3972546A64B}"/>
              </a:ext>
            </a:extLst>
          </p:cNvPr>
          <p:cNvSpPr txBox="1"/>
          <p:nvPr/>
        </p:nvSpPr>
        <p:spPr>
          <a:xfrm>
            <a:off x="5527658" y="3685946"/>
            <a:ext cx="1136683" cy="348878"/>
          </a:xfrm>
          <a:prstGeom prst="rect">
            <a:avLst/>
          </a:prstGeom>
          <a:noFill/>
        </p:spPr>
        <p:txBody>
          <a:bodyPr wrap="square" rtlCol="0">
            <a:spAutoFit/>
          </a:bodyPr>
          <a:lstStyle/>
          <a:p>
            <a:pPr algn="ctr"/>
            <a:r>
              <a:rPr lang="en-US" sz="1667" dirty="0">
                <a:latin typeface="Rockwell" panose="02060603020205020403" pitchFamily="18" charset="0"/>
              </a:rPr>
              <a:t>B</a:t>
            </a:r>
          </a:p>
        </p:txBody>
      </p:sp>
      <p:sp>
        <p:nvSpPr>
          <p:cNvPr id="19" name="TextBox 18">
            <a:extLst>
              <a:ext uri="{FF2B5EF4-FFF2-40B4-BE49-F238E27FC236}">
                <a16:creationId xmlns="" xmlns:a16="http://schemas.microsoft.com/office/drawing/2014/main" id="{AF488ABF-D4F4-47DC-CD37-A6051F26B5FF}"/>
              </a:ext>
            </a:extLst>
          </p:cNvPr>
          <p:cNvSpPr txBox="1"/>
          <p:nvPr/>
        </p:nvSpPr>
        <p:spPr>
          <a:xfrm>
            <a:off x="7953384" y="2319959"/>
            <a:ext cx="1136683" cy="348878"/>
          </a:xfrm>
          <a:prstGeom prst="rect">
            <a:avLst/>
          </a:prstGeom>
          <a:noFill/>
        </p:spPr>
        <p:txBody>
          <a:bodyPr wrap="square" rtlCol="0">
            <a:spAutoFit/>
          </a:bodyPr>
          <a:lstStyle/>
          <a:p>
            <a:pPr algn="ctr"/>
            <a:r>
              <a:rPr lang="en-US" sz="1667" dirty="0">
                <a:latin typeface="Rockwell" panose="02060603020205020403" pitchFamily="18" charset="0"/>
              </a:rPr>
              <a:t>00</a:t>
            </a:r>
          </a:p>
        </p:txBody>
      </p:sp>
      <p:sp>
        <p:nvSpPr>
          <p:cNvPr id="20" name="TextBox 19">
            <a:extLst>
              <a:ext uri="{FF2B5EF4-FFF2-40B4-BE49-F238E27FC236}">
                <a16:creationId xmlns="" xmlns:a16="http://schemas.microsoft.com/office/drawing/2014/main" id="{2585BFB5-2B79-5B42-067D-7FE175265058}"/>
              </a:ext>
            </a:extLst>
          </p:cNvPr>
          <p:cNvSpPr txBox="1"/>
          <p:nvPr/>
        </p:nvSpPr>
        <p:spPr>
          <a:xfrm>
            <a:off x="7953384" y="2874229"/>
            <a:ext cx="1136683" cy="348878"/>
          </a:xfrm>
          <a:prstGeom prst="rect">
            <a:avLst/>
          </a:prstGeom>
          <a:noFill/>
        </p:spPr>
        <p:txBody>
          <a:bodyPr wrap="square" rtlCol="0">
            <a:spAutoFit/>
          </a:bodyPr>
          <a:lstStyle/>
          <a:p>
            <a:pPr algn="ctr"/>
            <a:r>
              <a:rPr lang="en-US" sz="1667" dirty="0">
                <a:latin typeface="Rockwell" panose="02060603020205020403" pitchFamily="18" charset="0"/>
              </a:rPr>
              <a:t>01</a:t>
            </a:r>
          </a:p>
        </p:txBody>
      </p:sp>
      <p:sp>
        <p:nvSpPr>
          <p:cNvPr id="21" name="TextBox 20">
            <a:extLst>
              <a:ext uri="{FF2B5EF4-FFF2-40B4-BE49-F238E27FC236}">
                <a16:creationId xmlns="" xmlns:a16="http://schemas.microsoft.com/office/drawing/2014/main" id="{0259AF76-DCAA-A988-B8B3-A5978FD0411E}"/>
              </a:ext>
            </a:extLst>
          </p:cNvPr>
          <p:cNvSpPr txBox="1"/>
          <p:nvPr/>
        </p:nvSpPr>
        <p:spPr>
          <a:xfrm>
            <a:off x="7935554" y="3385670"/>
            <a:ext cx="1136683" cy="348878"/>
          </a:xfrm>
          <a:prstGeom prst="rect">
            <a:avLst/>
          </a:prstGeom>
          <a:noFill/>
        </p:spPr>
        <p:txBody>
          <a:bodyPr wrap="square" rtlCol="0">
            <a:spAutoFit/>
          </a:bodyPr>
          <a:lstStyle/>
          <a:p>
            <a:pPr algn="ctr"/>
            <a:r>
              <a:rPr lang="en-US" sz="1667" dirty="0">
                <a:latin typeface="Rockwell" panose="02060603020205020403" pitchFamily="18" charset="0"/>
              </a:rPr>
              <a:t>10</a:t>
            </a:r>
          </a:p>
        </p:txBody>
      </p:sp>
      <p:sp>
        <p:nvSpPr>
          <p:cNvPr id="22" name="TextBox 21">
            <a:extLst>
              <a:ext uri="{FF2B5EF4-FFF2-40B4-BE49-F238E27FC236}">
                <a16:creationId xmlns="" xmlns:a16="http://schemas.microsoft.com/office/drawing/2014/main" id="{30D4DF9B-CEDD-D3C9-247A-B5590DA95997}"/>
              </a:ext>
            </a:extLst>
          </p:cNvPr>
          <p:cNvSpPr txBox="1"/>
          <p:nvPr/>
        </p:nvSpPr>
        <p:spPr>
          <a:xfrm>
            <a:off x="7935553" y="3898732"/>
            <a:ext cx="1136683" cy="348878"/>
          </a:xfrm>
          <a:prstGeom prst="rect">
            <a:avLst/>
          </a:prstGeom>
          <a:noFill/>
        </p:spPr>
        <p:txBody>
          <a:bodyPr wrap="square" rtlCol="0">
            <a:spAutoFit/>
          </a:bodyPr>
          <a:lstStyle/>
          <a:p>
            <a:pPr algn="ctr"/>
            <a:r>
              <a:rPr lang="en-US" sz="1667" dirty="0">
                <a:latin typeface="Rockwell" panose="02060603020205020403" pitchFamily="18" charset="0"/>
              </a:rPr>
              <a:t>11</a:t>
            </a:r>
          </a:p>
        </p:txBody>
      </p:sp>
      <p:cxnSp>
        <p:nvCxnSpPr>
          <p:cNvPr id="23" name="Straight Connector 22">
            <a:extLst>
              <a:ext uri="{FF2B5EF4-FFF2-40B4-BE49-F238E27FC236}">
                <a16:creationId xmlns="" xmlns:a16="http://schemas.microsoft.com/office/drawing/2014/main" id="{C67D2898-AEC3-5698-8402-A309841CF6F4}"/>
              </a:ext>
            </a:extLst>
          </p:cNvPr>
          <p:cNvCxnSpPr>
            <a:cxnSpLocks/>
          </p:cNvCxnSpPr>
          <p:nvPr/>
        </p:nvCxnSpPr>
        <p:spPr>
          <a:xfrm>
            <a:off x="9497163" y="2193795"/>
            <a:ext cx="0" cy="2378206"/>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25" name="Straight Connector 24">
            <a:extLst>
              <a:ext uri="{FF2B5EF4-FFF2-40B4-BE49-F238E27FC236}">
                <a16:creationId xmlns="" xmlns:a16="http://schemas.microsoft.com/office/drawing/2014/main" id="{DCC94F73-CF6E-CB9A-F8AC-EE88FFE65B31}"/>
              </a:ext>
            </a:extLst>
          </p:cNvPr>
          <p:cNvCxnSpPr>
            <a:cxnSpLocks/>
          </p:cNvCxnSpPr>
          <p:nvPr/>
        </p:nvCxnSpPr>
        <p:spPr>
          <a:xfrm>
            <a:off x="10678438" y="2196567"/>
            <a:ext cx="0" cy="2378206"/>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pic>
        <p:nvPicPr>
          <p:cNvPr id="32" name="Picture 31">
            <a:extLst>
              <a:ext uri="{FF2B5EF4-FFF2-40B4-BE49-F238E27FC236}">
                <a16:creationId xmlns="" xmlns:a16="http://schemas.microsoft.com/office/drawing/2014/main" id="{7AE16FA1-190C-BB15-C7D8-9F8654FCECAD}"/>
              </a:ext>
            </a:extLst>
          </p:cNvPr>
          <p:cNvPicPr>
            <a:picLocks noChangeAspect="1"/>
          </p:cNvPicPr>
          <p:nvPr/>
        </p:nvPicPr>
        <p:blipFill>
          <a:blip r:embed="rId3"/>
          <a:stretch>
            <a:fillRect/>
          </a:stretch>
        </p:blipFill>
        <p:spPr>
          <a:xfrm rot="10800000">
            <a:off x="9090067" y="4380137"/>
            <a:ext cx="843353" cy="604573"/>
          </a:xfrm>
          <a:prstGeom prst="rect">
            <a:avLst/>
          </a:prstGeom>
        </p:spPr>
      </p:pic>
      <p:pic>
        <p:nvPicPr>
          <p:cNvPr id="33" name="Picture 32">
            <a:extLst>
              <a:ext uri="{FF2B5EF4-FFF2-40B4-BE49-F238E27FC236}">
                <a16:creationId xmlns="" xmlns:a16="http://schemas.microsoft.com/office/drawing/2014/main" id="{4E21E207-0FFD-4BB9-F5EA-18956C012738}"/>
              </a:ext>
            </a:extLst>
          </p:cNvPr>
          <p:cNvPicPr>
            <a:picLocks noChangeAspect="1"/>
          </p:cNvPicPr>
          <p:nvPr/>
        </p:nvPicPr>
        <p:blipFill>
          <a:blip r:embed="rId3"/>
          <a:stretch>
            <a:fillRect/>
          </a:stretch>
        </p:blipFill>
        <p:spPr>
          <a:xfrm rot="10800000">
            <a:off x="10256762" y="4380137"/>
            <a:ext cx="843353" cy="604573"/>
          </a:xfrm>
          <a:prstGeom prst="rect">
            <a:avLst/>
          </a:prstGeom>
        </p:spPr>
      </p:pic>
      <p:cxnSp>
        <p:nvCxnSpPr>
          <p:cNvPr id="35" name="Straight Connector 34">
            <a:extLst>
              <a:ext uri="{FF2B5EF4-FFF2-40B4-BE49-F238E27FC236}">
                <a16:creationId xmlns="" xmlns:a16="http://schemas.microsoft.com/office/drawing/2014/main" id="{0BB90649-4FED-ECE4-39F3-75F2CF49CDED}"/>
              </a:ext>
            </a:extLst>
          </p:cNvPr>
          <p:cNvCxnSpPr>
            <a:cxnSpLocks/>
          </p:cNvCxnSpPr>
          <p:nvPr/>
        </p:nvCxnSpPr>
        <p:spPr>
          <a:xfrm>
            <a:off x="9511743" y="4984710"/>
            <a:ext cx="0" cy="38099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 xmlns:a16="http://schemas.microsoft.com/office/drawing/2014/main" id="{ABB82841-5147-9381-4833-7FA04BF67E56}"/>
              </a:ext>
            </a:extLst>
          </p:cNvPr>
          <p:cNvCxnSpPr>
            <a:cxnSpLocks/>
          </p:cNvCxnSpPr>
          <p:nvPr/>
        </p:nvCxnSpPr>
        <p:spPr>
          <a:xfrm>
            <a:off x="10678438" y="4984710"/>
            <a:ext cx="0" cy="38099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 xmlns:a16="http://schemas.microsoft.com/office/drawing/2014/main" id="{A5C80AB9-8F96-ABCE-42EF-67D3D719BEE2}"/>
              </a:ext>
            </a:extLst>
          </p:cNvPr>
          <p:cNvSpPr txBox="1"/>
          <p:nvPr/>
        </p:nvSpPr>
        <p:spPr>
          <a:xfrm>
            <a:off x="8943402" y="5385752"/>
            <a:ext cx="1136683" cy="348878"/>
          </a:xfrm>
          <a:prstGeom prst="rect">
            <a:avLst/>
          </a:prstGeom>
          <a:noFill/>
        </p:spPr>
        <p:txBody>
          <a:bodyPr wrap="square" rtlCol="0">
            <a:spAutoFit/>
          </a:bodyPr>
          <a:lstStyle/>
          <a:p>
            <a:pPr algn="ctr"/>
            <a:r>
              <a:rPr lang="en-US" sz="1667" dirty="0">
                <a:latin typeface="Rockwell" panose="02060603020205020403" pitchFamily="18" charset="0"/>
              </a:rPr>
              <a:t>Carry</a:t>
            </a:r>
          </a:p>
        </p:txBody>
      </p:sp>
      <p:sp>
        <p:nvSpPr>
          <p:cNvPr id="39" name="TextBox 38">
            <a:extLst>
              <a:ext uri="{FF2B5EF4-FFF2-40B4-BE49-F238E27FC236}">
                <a16:creationId xmlns="" xmlns:a16="http://schemas.microsoft.com/office/drawing/2014/main" id="{0BDF8FEE-27FC-78AC-9B52-F00FF8F4748F}"/>
              </a:ext>
            </a:extLst>
          </p:cNvPr>
          <p:cNvSpPr txBox="1"/>
          <p:nvPr/>
        </p:nvSpPr>
        <p:spPr>
          <a:xfrm>
            <a:off x="10110097" y="5385752"/>
            <a:ext cx="1136683" cy="348878"/>
          </a:xfrm>
          <a:prstGeom prst="rect">
            <a:avLst/>
          </a:prstGeom>
          <a:noFill/>
        </p:spPr>
        <p:txBody>
          <a:bodyPr wrap="square" rtlCol="0">
            <a:spAutoFit/>
          </a:bodyPr>
          <a:lstStyle/>
          <a:p>
            <a:pPr algn="ctr"/>
            <a:r>
              <a:rPr lang="en-US" sz="1667" dirty="0">
                <a:latin typeface="Rockwell" panose="02060603020205020403" pitchFamily="18" charset="0"/>
              </a:rPr>
              <a:t>Sum</a:t>
            </a:r>
          </a:p>
        </p:txBody>
      </p:sp>
      <p:sp>
        <p:nvSpPr>
          <p:cNvPr id="40" name="TextBox 39">
            <a:extLst>
              <a:ext uri="{FF2B5EF4-FFF2-40B4-BE49-F238E27FC236}">
                <a16:creationId xmlns="" xmlns:a16="http://schemas.microsoft.com/office/drawing/2014/main" id="{B1A39242-6714-19D3-D953-386766C248A2}"/>
              </a:ext>
            </a:extLst>
          </p:cNvPr>
          <p:cNvSpPr txBox="1"/>
          <p:nvPr/>
        </p:nvSpPr>
        <p:spPr>
          <a:xfrm>
            <a:off x="10117328" y="2745701"/>
            <a:ext cx="1136683" cy="541238"/>
          </a:xfrm>
          <a:prstGeom prst="rect">
            <a:avLst/>
          </a:prstGeom>
          <a:noFill/>
        </p:spPr>
        <p:txBody>
          <a:bodyPr wrap="square" rtlCol="0">
            <a:spAutoFit/>
          </a:bodyPr>
          <a:lstStyle/>
          <a:p>
            <a:pPr algn="ctr"/>
            <a:r>
              <a:rPr lang="en-US" sz="2917" dirty="0">
                <a:latin typeface="Rockwell" panose="02060603020205020403" pitchFamily="18" charset="0"/>
                <a:sym typeface="Symbol" panose="05050102010706020507" pitchFamily="18" charset="2"/>
              </a:rPr>
              <a:t></a:t>
            </a:r>
            <a:endParaRPr lang="en-US" sz="2917" dirty="0">
              <a:latin typeface="Rockwell" panose="02060603020205020403" pitchFamily="18" charset="0"/>
            </a:endParaRPr>
          </a:p>
        </p:txBody>
      </p:sp>
      <p:sp>
        <p:nvSpPr>
          <p:cNvPr id="45" name="TextBox 44">
            <a:extLst>
              <a:ext uri="{FF2B5EF4-FFF2-40B4-BE49-F238E27FC236}">
                <a16:creationId xmlns="" xmlns:a16="http://schemas.microsoft.com/office/drawing/2014/main" id="{327B1D59-FF20-3DF7-65C5-69B223D0F867}"/>
              </a:ext>
            </a:extLst>
          </p:cNvPr>
          <p:cNvSpPr txBox="1"/>
          <p:nvPr/>
        </p:nvSpPr>
        <p:spPr>
          <a:xfrm>
            <a:off x="10110097" y="3294877"/>
            <a:ext cx="1136683" cy="541238"/>
          </a:xfrm>
          <a:prstGeom prst="rect">
            <a:avLst/>
          </a:prstGeom>
          <a:noFill/>
        </p:spPr>
        <p:txBody>
          <a:bodyPr wrap="square" rtlCol="0">
            <a:spAutoFit/>
          </a:bodyPr>
          <a:lstStyle/>
          <a:p>
            <a:pPr algn="ctr"/>
            <a:r>
              <a:rPr lang="en-US" sz="2917" dirty="0">
                <a:latin typeface="Rockwell" panose="02060603020205020403" pitchFamily="18" charset="0"/>
                <a:sym typeface="Symbol" panose="05050102010706020507" pitchFamily="18" charset="2"/>
              </a:rPr>
              <a:t></a:t>
            </a:r>
            <a:endParaRPr lang="en-US" sz="2917" dirty="0">
              <a:latin typeface="Rockwell" panose="02060603020205020403" pitchFamily="18" charset="0"/>
            </a:endParaRPr>
          </a:p>
        </p:txBody>
      </p:sp>
      <p:sp>
        <p:nvSpPr>
          <p:cNvPr id="46" name="TextBox 45">
            <a:extLst>
              <a:ext uri="{FF2B5EF4-FFF2-40B4-BE49-F238E27FC236}">
                <a16:creationId xmlns="" xmlns:a16="http://schemas.microsoft.com/office/drawing/2014/main" id="{0B1F378F-4B06-0E83-FE6C-EC9615FA470B}"/>
              </a:ext>
            </a:extLst>
          </p:cNvPr>
          <p:cNvSpPr txBox="1"/>
          <p:nvPr/>
        </p:nvSpPr>
        <p:spPr>
          <a:xfrm>
            <a:off x="8928821" y="3793344"/>
            <a:ext cx="1136683" cy="541238"/>
          </a:xfrm>
          <a:prstGeom prst="rect">
            <a:avLst/>
          </a:prstGeom>
          <a:noFill/>
        </p:spPr>
        <p:txBody>
          <a:bodyPr wrap="square" rtlCol="0">
            <a:spAutoFit/>
          </a:bodyPr>
          <a:lstStyle/>
          <a:p>
            <a:pPr algn="ctr"/>
            <a:r>
              <a:rPr lang="en-US" sz="2917" dirty="0">
                <a:latin typeface="Rockwell" panose="02060603020205020403" pitchFamily="18" charset="0"/>
                <a:sym typeface="Symbol" panose="05050102010706020507" pitchFamily="18" charset="2"/>
              </a:rPr>
              <a:t></a:t>
            </a:r>
            <a:endParaRPr lang="en-US" sz="2917" dirty="0">
              <a:latin typeface="Rockwell" panose="02060603020205020403" pitchFamily="18" charset="0"/>
            </a:endParaRPr>
          </a:p>
        </p:txBody>
      </p:sp>
      <p:sp>
        <p:nvSpPr>
          <p:cNvPr id="47" name="TextBox 46">
            <a:extLst>
              <a:ext uri="{FF2B5EF4-FFF2-40B4-BE49-F238E27FC236}">
                <a16:creationId xmlns="" xmlns:a16="http://schemas.microsoft.com/office/drawing/2014/main" id="{25402EE0-0B0A-88AC-1D87-16F8056B362E}"/>
              </a:ext>
            </a:extLst>
          </p:cNvPr>
          <p:cNvSpPr txBox="1"/>
          <p:nvPr/>
        </p:nvSpPr>
        <p:spPr>
          <a:xfrm>
            <a:off x="758499" y="1673563"/>
            <a:ext cx="2509990" cy="348878"/>
          </a:xfrm>
          <a:prstGeom prst="rect">
            <a:avLst/>
          </a:prstGeom>
          <a:noFill/>
        </p:spPr>
        <p:txBody>
          <a:bodyPr wrap="square" rtlCol="0">
            <a:spAutoFit/>
          </a:bodyPr>
          <a:lstStyle/>
          <a:p>
            <a:r>
              <a:rPr lang="en-US" sz="1667" dirty="0">
                <a:latin typeface="Rockwell" panose="02060603020205020403" pitchFamily="18" charset="0"/>
              </a:rPr>
              <a:t>Truth Table:</a:t>
            </a:r>
          </a:p>
        </p:txBody>
      </p:sp>
      <p:sp>
        <p:nvSpPr>
          <p:cNvPr id="8" name="TextBox 7">
            <a:extLst>
              <a:ext uri="{FF2B5EF4-FFF2-40B4-BE49-F238E27FC236}">
                <a16:creationId xmlns="" xmlns:a16="http://schemas.microsoft.com/office/drawing/2014/main" id="{C3064626-1E14-C613-9593-4447A21CB4C1}"/>
              </a:ext>
            </a:extLst>
          </p:cNvPr>
          <p:cNvSpPr txBox="1"/>
          <p:nvPr/>
        </p:nvSpPr>
        <p:spPr>
          <a:xfrm>
            <a:off x="10110097" y="4604486"/>
            <a:ext cx="1136683" cy="297454"/>
          </a:xfrm>
          <a:prstGeom prst="rect">
            <a:avLst/>
          </a:prstGeom>
          <a:noFill/>
        </p:spPr>
        <p:txBody>
          <a:bodyPr wrap="square" rtlCol="0">
            <a:spAutoFit/>
          </a:bodyPr>
          <a:lstStyle/>
          <a:p>
            <a:pPr algn="ctr"/>
            <a:r>
              <a:rPr lang="en-US" sz="1333" dirty="0">
                <a:latin typeface="Rockwell" panose="02060603020205020403" pitchFamily="18" charset="0"/>
              </a:rPr>
              <a:t>OR</a:t>
            </a:r>
          </a:p>
        </p:txBody>
      </p:sp>
      <p:sp>
        <p:nvSpPr>
          <p:cNvPr id="10" name="TextBox 9">
            <a:extLst>
              <a:ext uri="{FF2B5EF4-FFF2-40B4-BE49-F238E27FC236}">
                <a16:creationId xmlns="" xmlns:a16="http://schemas.microsoft.com/office/drawing/2014/main" id="{4D026535-0149-8EDD-6825-C68139342580}"/>
              </a:ext>
            </a:extLst>
          </p:cNvPr>
          <p:cNvSpPr txBox="1"/>
          <p:nvPr/>
        </p:nvSpPr>
        <p:spPr>
          <a:xfrm>
            <a:off x="8928820" y="4615448"/>
            <a:ext cx="1136683" cy="297454"/>
          </a:xfrm>
          <a:prstGeom prst="rect">
            <a:avLst/>
          </a:prstGeom>
          <a:noFill/>
        </p:spPr>
        <p:txBody>
          <a:bodyPr wrap="square" rtlCol="0">
            <a:spAutoFit/>
          </a:bodyPr>
          <a:lstStyle/>
          <a:p>
            <a:pPr algn="ctr"/>
            <a:r>
              <a:rPr lang="en-US" sz="1333" dirty="0">
                <a:latin typeface="Rockwell" panose="02060603020205020403" pitchFamily="18" charset="0"/>
              </a:rPr>
              <a:t>OR</a:t>
            </a:r>
          </a:p>
        </p:txBody>
      </p:sp>
      <p:pic>
        <p:nvPicPr>
          <p:cNvPr id="15" name="Picture 14">
            <a:extLst>
              <a:ext uri="{FF2B5EF4-FFF2-40B4-BE49-F238E27FC236}">
                <a16:creationId xmlns="" xmlns:a16="http://schemas.microsoft.com/office/drawing/2014/main" id="{10A4A67A-ECED-F0D9-0DA3-C28B70D81BD1}"/>
              </a:ext>
            </a:extLst>
          </p:cNvPr>
          <p:cNvPicPr>
            <a:picLocks noChangeAspect="1"/>
          </p:cNvPicPr>
          <p:nvPr/>
        </p:nvPicPr>
        <p:blipFill>
          <a:blip r:embed="rId4"/>
          <a:stretch>
            <a:fillRect/>
          </a:stretch>
        </p:blipFill>
        <p:spPr>
          <a:xfrm>
            <a:off x="9398419" y="132762"/>
            <a:ext cx="2661947" cy="1078088"/>
          </a:xfrm>
          <a:prstGeom prst="rect">
            <a:avLst/>
          </a:prstGeom>
        </p:spPr>
      </p:pic>
      <p:cxnSp>
        <p:nvCxnSpPr>
          <p:cNvPr id="34" name="Straight Connector 33">
            <a:extLst>
              <a:ext uri="{FF2B5EF4-FFF2-40B4-BE49-F238E27FC236}">
                <a16:creationId xmlns="" xmlns:a16="http://schemas.microsoft.com/office/drawing/2014/main" id="{56A40250-5F4F-1850-6A07-A45300503F02}"/>
              </a:ext>
            </a:extLst>
          </p:cNvPr>
          <p:cNvCxnSpPr/>
          <p:nvPr/>
        </p:nvCxnSpPr>
        <p:spPr>
          <a:xfrm>
            <a:off x="0" y="6638794"/>
            <a:ext cx="2912302" cy="0"/>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36" name="Rectangle 35">
            <a:extLst>
              <a:ext uri="{FF2B5EF4-FFF2-40B4-BE49-F238E27FC236}">
                <a16:creationId xmlns="" xmlns:a16="http://schemas.microsoft.com/office/drawing/2014/main" id="{209A8BF2-841A-7201-D7B6-7D4B11522C41}"/>
              </a:ext>
            </a:extLst>
          </p:cNvPr>
          <p:cNvSpPr/>
          <p:nvPr/>
        </p:nvSpPr>
        <p:spPr>
          <a:xfrm>
            <a:off x="2912302" y="6529191"/>
            <a:ext cx="6346520" cy="219207"/>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500" dirty="0"/>
          </a:p>
        </p:txBody>
      </p:sp>
      <p:cxnSp>
        <p:nvCxnSpPr>
          <p:cNvPr id="41" name="Straight Connector 40">
            <a:extLst>
              <a:ext uri="{FF2B5EF4-FFF2-40B4-BE49-F238E27FC236}">
                <a16:creationId xmlns="" xmlns:a16="http://schemas.microsoft.com/office/drawing/2014/main" id="{BA76AA11-1695-B0CC-7019-BD7005EFE029}"/>
              </a:ext>
            </a:extLst>
          </p:cNvPr>
          <p:cNvCxnSpPr>
            <a:cxnSpLocks/>
            <a:stCxn id="36" idx="3"/>
          </p:cNvCxnSpPr>
          <p:nvPr/>
        </p:nvCxnSpPr>
        <p:spPr>
          <a:xfrm>
            <a:off x="9258822" y="6638794"/>
            <a:ext cx="187891" cy="0"/>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 xmlns:a16="http://schemas.microsoft.com/office/drawing/2014/main" id="{99A181AD-09E6-9E04-8D97-E2B43999BC53}"/>
              </a:ext>
            </a:extLst>
          </p:cNvPr>
          <p:cNvSpPr txBox="1"/>
          <p:nvPr/>
        </p:nvSpPr>
        <p:spPr>
          <a:xfrm>
            <a:off x="11542512" y="6529191"/>
            <a:ext cx="4248412" cy="323165"/>
          </a:xfrm>
          <a:prstGeom prst="rect">
            <a:avLst/>
          </a:prstGeom>
          <a:noFill/>
        </p:spPr>
        <p:txBody>
          <a:bodyPr wrap="square" rtlCol="0">
            <a:spAutoFit/>
          </a:bodyPr>
          <a:lstStyle/>
          <a:p>
            <a:r>
              <a:rPr lang="en-IN" sz="1500" dirty="0"/>
              <a:t>******</a:t>
            </a:r>
          </a:p>
        </p:txBody>
      </p:sp>
      <p:sp>
        <p:nvSpPr>
          <p:cNvPr id="44" name="TextBox 43">
            <a:extLst>
              <a:ext uri="{FF2B5EF4-FFF2-40B4-BE49-F238E27FC236}">
                <a16:creationId xmlns="" xmlns:a16="http://schemas.microsoft.com/office/drawing/2014/main" id="{2F4856E1-96A6-8060-1CEE-287D358E3AB8}"/>
              </a:ext>
            </a:extLst>
          </p:cNvPr>
          <p:cNvSpPr txBox="1"/>
          <p:nvPr/>
        </p:nvSpPr>
        <p:spPr>
          <a:xfrm>
            <a:off x="3131506" y="6497730"/>
            <a:ext cx="6461343" cy="297454"/>
          </a:xfrm>
          <a:prstGeom prst="rect">
            <a:avLst/>
          </a:prstGeom>
          <a:noFill/>
        </p:spPr>
        <p:txBody>
          <a:bodyPr wrap="square" rtlCol="0">
            <a:spAutoFit/>
          </a:bodyPr>
          <a:lstStyle/>
          <a:p>
            <a:r>
              <a:rPr lang="en-US" sz="1333" dirty="0">
                <a:latin typeface="Times New Roman" panose="02020603050405020304" pitchFamily="18" charset="0"/>
                <a:cs typeface="Times New Roman" panose="02020603050405020304" pitchFamily="18" charset="0"/>
              </a:rPr>
              <a:t>Application-Specific Integrated Circuit and Field Programmable Gate Array Design </a:t>
            </a:r>
            <a:endParaRPr lang="en-IN" sz="1333"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439682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00961F8A-6E0F-1D53-4B45-09BEAFFEA1C4}"/>
            </a:ext>
          </a:extLst>
        </p:cNvPr>
        <p:cNvGrpSpPr/>
        <p:nvPr/>
      </p:nvGrpSpPr>
      <p:grpSpPr>
        <a:xfrm>
          <a:off x="0" y="0"/>
          <a:ext cx="0" cy="0"/>
          <a:chOff x="0" y="0"/>
          <a:chExt cx="0" cy="0"/>
        </a:xfrm>
      </p:grpSpPr>
      <p:sp>
        <p:nvSpPr>
          <p:cNvPr id="2" name="Text 0">
            <a:extLst>
              <a:ext uri="{FF2B5EF4-FFF2-40B4-BE49-F238E27FC236}">
                <a16:creationId xmlns="" xmlns:a16="http://schemas.microsoft.com/office/drawing/2014/main" id="{27970E81-FD6C-8EC8-128C-B32B6FEEE938}"/>
              </a:ext>
            </a:extLst>
          </p:cNvPr>
          <p:cNvSpPr/>
          <p:nvPr/>
        </p:nvSpPr>
        <p:spPr>
          <a:xfrm>
            <a:off x="731327" y="290067"/>
            <a:ext cx="3047318" cy="593923"/>
          </a:xfrm>
          <a:prstGeom prst="rect">
            <a:avLst/>
          </a:prstGeom>
          <a:noFill/>
          <a:ln/>
        </p:spPr>
        <p:txBody>
          <a:bodyPr wrap="none" lIns="0" tIns="0" rIns="0" bIns="0" rtlCol="0" anchor="t"/>
          <a:lstStyle/>
          <a:p>
            <a:pPr>
              <a:lnSpc>
                <a:spcPts val="4666"/>
              </a:lnSpc>
            </a:pPr>
            <a:r>
              <a:rPr lang="en-US" sz="4000" dirty="0">
                <a:latin typeface="Rockwell" panose="02060603020205020403" pitchFamily="18" charset="0"/>
              </a:rPr>
              <a:t>2. Programmable Array Logic [PAL]</a:t>
            </a:r>
          </a:p>
        </p:txBody>
      </p:sp>
      <p:sp>
        <p:nvSpPr>
          <p:cNvPr id="5" name="TextBox 4">
            <a:extLst>
              <a:ext uri="{FF2B5EF4-FFF2-40B4-BE49-F238E27FC236}">
                <a16:creationId xmlns="" xmlns:a16="http://schemas.microsoft.com/office/drawing/2014/main" id="{38167AC8-78C3-D66E-E597-B447CC10B896}"/>
              </a:ext>
            </a:extLst>
          </p:cNvPr>
          <p:cNvSpPr txBox="1"/>
          <p:nvPr/>
        </p:nvSpPr>
        <p:spPr>
          <a:xfrm>
            <a:off x="876822" y="961449"/>
            <a:ext cx="6868438" cy="5632311"/>
          </a:xfrm>
          <a:prstGeom prst="rect">
            <a:avLst/>
          </a:prstGeom>
          <a:noFill/>
        </p:spPr>
        <p:txBody>
          <a:bodyPr wrap="square" rtlCol="0">
            <a:spAutoFit/>
          </a:bodyPr>
          <a:lstStyle/>
          <a:p>
            <a:pPr algn="just"/>
            <a:r>
              <a:rPr lang="en-US" sz="1500" dirty="0">
                <a:latin typeface="Rockwell" panose="02060603020205020403" pitchFamily="18" charset="0"/>
              </a:rPr>
              <a:t>The diagram shows the basic architecture of a Programmable Array Logic (PAL) device, which is a type of Simple Programmable Logic Device (SPLD). PAL is used to implement combinational logic functions in digital circuits and offers a balance between flexibility and speed. </a:t>
            </a:r>
          </a:p>
          <a:p>
            <a:pPr algn="just"/>
            <a:endParaRPr lang="en-US" sz="1500" dirty="0">
              <a:latin typeface="Rockwell" panose="02060603020205020403" pitchFamily="18" charset="0"/>
            </a:endParaRPr>
          </a:p>
          <a:p>
            <a:pPr algn="just"/>
            <a:r>
              <a:rPr lang="en-US" sz="1500" dirty="0">
                <a:latin typeface="Rockwell" panose="02060603020205020403" pitchFamily="18" charset="0"/>
              </a:rPr>
              <a:t>A PAL consists of two main components: an AND array and an OR array. The n input lines are connected to a programmable AND array, which generates multiple product terms (p) by logically combining the inputs and their complements. The configuration of the AND array is programmable, allowing designers to select specific input combinations that correspond to desired logic conditions. </a:t>
            </a:r>
          </a:p>
          <a:p>
            <a:pPr algn="just"/>
            <a:endParaRPr lang="en-US" sz="1500" dirty="0">
              <a:latin typeface="Rockwell" panose="02060603020205020403" pitchFamily="18" charset="0"/>
            </a:endParaRPr>
          </a:p>
          <a:p>
            <a:pPr algn="just"/>
            <a:r>
              <a:rPr lang="en-US" sz="1500" dirty="0">
                <a:latin typeface="Rockwell" panose="02060603020205020403" pitchFamily="18" charset="0"/>
              </a:rPr>
              <a:t>These product terms are then fed into a fixed OR array, which sums (logically ORs) selected product terms to produce the m output functions. </a:t>
            </a:r>
          </a:p>
          <a:p>
            <a:pPr algn="just"/>
            <a:endParaRPr lang="en-US" sz="1500" dirty="0">
              <a:latin typeface="Rockwell" panose="02060603020205020403" pitchFamily="18" charset="0"/>
            </a:endParaRPr>
          </a:p>
          <a:p>
            <a:pPr algn="just"/>
            <a:r>
              <a:rPr lang="en-US" sz="1500" dirty="0">
                <a:latin typeface="Rockwell" panose="02060603020205020403" pitchFamily="18" charset="0"/>
              </a:rPr>
              <a:t>Since only the AND array is programmable and the OR array is fixed, PALs offer less flexibility than PLAs (Programmable Logic Arrays) but are faster and simpler to manufacture and configure. </a:t>
            </a:r>
          </a:p>
          <a:p>
            <a:pPr algn="just"/>
            <a:endParaRPr lang="en-US" sz="1500" dirty="0">
              <a:latin typeface="Rockwell" panose="02060603020205020403" pitchFamily="18" charset="0"/>
            </a:endParaRPr>
          </a:p>
          <a:p>
            <a:pPr algn="just"/>
            <a:r>
              <a:rPr lang="en-US" sz="1500" dirty="0">
                <a:latin typeface="Rockwell" panose="02060603020205020403" pitchFamily="18" charset="0"/>
              </a:rPr>
              <a:t>PAL devices are commonly used for implementing sum-of-products expressions, address decoding, and custom logic functions in small to medium-scale digital systems. They are programmable only once (OTP) or reprogrammable depending on the technology used (e.g., fuse or EEPROM).</a:t>
            </a:r>
            <a:endParaRPr lang="en-IN" sz="1500" dirty="0">
              <a:latin typeface="Rockwell" panose="02060603020205020403" pitchFamily="18" charset="0"/>
            </a:endParaRPr>
          </a:p>
        </p:txBody>
      </p:sp>
      <p:pic>
        <p:nvPicPr>
          <p:cNvPr id="9" name="Picture 8">
            <a:extLst>
              <a:ext uri="{FF2B5EF4-FFF2-40B4-BE49-F238E27FC236}">
                <a16:creationId xmlns="" xmlns:a16="http://schemas.microsoft.com/office/drawing/2014/main" id="{36319011-3447-DA3E-3DB5-26ADE8EDC24C}"/>
              </a:ext>
            </a:extLst>
          </p:cNvPr>
          <p:cNvPicPr>
            <a:picLocks noChangeAspect="1"/>
          </p:cNvPicPr>
          <p:nvPr/>
        </p:nvPicPr>
        <p:blipFill>
          <a:blip r:embed="rId2"/>
          <a:stretch>
            <a:fillRect/>
          </a:stretch>
        </p:blipFill>
        <p:spPr>
          <a:xfrm>
            <a:off x="7897850" y="2658697"/>
            <a:ext cx="3657411" cy="2156632"/>
          </a:xfrm>
          <a:prstGeom prst="rect">
            <a:avLst/>
          </a:prstGeom>
        </p:spPr>
      </p:pic>
      <p:pic>
        <p:nvPicPr>
          <p:cNvPr id="3" name="Picture 2">
            <a:extLst>
              <a:ext uri="{FF2B5EF4-FFF2-40B4-BE49-F238E27FC236}">
                <a16:creationId xmlns="" xmlns:a16="http://schemas.microsoft.com/office/drawing/2014/main" id="{2B81AE6D-DDEE-278A-BC8B-22134E675E3A}"/>
              </a:ext>
            </a:extLst>
          </p:cNvPr>
          <p:cNvPicPr>
            <a:picLocks noChangeAspect="1"/>
          </p:cNvPicPr>
          <p:nvPr/>
        </p:nvPicPr>
        <p:blipFill>
          <a:blip r:embed="rId3"/>
          <a:stretch>
            <a:fillRect/>
          </a:stretch>
        </p:blipFill>
        <p:spPr>
          <a:xfrm>
            <a:off x="10024721" y="132762"/>
            <a:ext cx="1854885" cy="751228"/>
          </a:xfrm>
          <a:prstGeom prst="rect">
            <a:avLst/>
          </a:prstGeom>
        </p:spPr>
      </p:pic>
      <p:cxnSp>
        <p:nvCxnSpPr>
          <p:cNvPr id="4" name="Straight Connector 3">
            <a:extLst>
              <a:ext uri="{FF2B5EF4-FFF2-40B4-BE49-F238E27FC236}">
                <a16:creationId xmlns="" xmlns:a16="http://schemas.microsoft.com/office/drawing/2014/main" id="{4CA70814-604A-6B45-C834-B5E6DC64ECAC}"/>
              </a:ext>
            </a:extLst>
          </p:cNvPr>
          <p:cNvCxnSpPr/>
          <p:nvPr/>
        </p:nvCxnSpPr>
        <p:spPr>
          <a:xfrm>
            <a:off x="0" y="6628356"/>
            <a:ext cx="2912302" cy="0"/>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 xmlns:a16="http://schemas.microsoft.com/office/drawing/2014/main" id="{6D639782-2E7B-A75C-EEEC-EA372A475078}"/>
              </a:ext>
            </a:extLst>
          </p:cNvPr>
          <p:cNvSpPr/>
          <p:nvPr/>
        </p:nvSpPr>
        <p:spPr>
          <a:xfrm>
            <a:off x="2912302" y="6518752"/>
            <a:ext cx="6346520" cy="219207"/>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500" dirty="0"/>
          </a:p>
        </p:txBody>
      </p:sp>
      <p:cxnSp>
        <p:nvCxnSpPr>
          <p:cNvPr id="7" name="Straight Connector 6">
            <a:extLst>
              <a:ext uri="{FF2B5EF4-FFF2-40B4-BE49-F238E27FC236}">
                <a16:creationId xmlns="" xmlns:a16="http://schemas.microsoft.com/office/drawing/2014/main" id="{88561CFA-574A-B8DE-711C-63C99D0C3EA1}"/>
              </a:ext>
            </a:extLst>
          </p:cNvPr>
          <p:cNvCxnSpPr>
            <a:cxnSpLocks/>
            <a:stCxn id="6" idx="3"/>
          </p:cNvCxnSpPr>
          <p:nvPr/>
        </p:nvCxnSpPr>
        <p:spPr>
          <a:xfrm>
            <a:off x="9258822" y="6628356"/>
            <a:ext cx="187891" cy="0"/>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 xmlns:a16="http://schemas.microsoft.com/office/drawing/2014/main" id="{302C3E51-9D25-FD16-8FAE-E1D1DE052853}"/>
              </a:ext>
            </a:extLst>
          </p:cNvPr>
          <p:cNvSpPr/>
          <p:nvPr/>
        </p:nvSpPr>
        <p:spPr>
          <a:xfrm>
            <a:off x="9446713" y="6518752"/>
            <a:ext cx="2164804" cy="219207"/>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500"/>
          </a:p>
        </p:txBody>
      </p:sp>
      <p:sp>
        <p:nvSpPr>
          <p:cNvPr id="11" name="TextBox 10">
            <a:extLst>
              <a:ext uri="{FF2B5EF4-FFF2-40B4-BE49-F238E27FC236}">
                <a16:creationId xmlns="" xmlns:a16="http://schemas.microsoft.com/office/drawing/2014/main" id="{03B40840-C7A2-13C2-C1F3-8D2AF4ECDFE0}"/>
              </a:ext>
            </a:extLst>
          </p:cNvPr>
          <p:cNvSpPr txBox="1"/>
          <p:nvPr/>
        </p:nvSpPr>
        <p:spPr>
          <a:xfrm>
            <a:off x="3131506" y="6487292"/>
            <a:ext cx="6461343" cy="297454"/>
          </a:xfrm>
          <a:prstGeom prst="rect">
            <a:avLst/>
          </a:prstGeom>
          <a:noFill/>
        </p:spPr>
        <p:txBody>
          <a:bodyPr wrap="square" rtlCol="0">
            <a:spAutoFit/>
          </a:bodyPr>
          <a:lstStyle/>
          <a:p>
            <a:r>
              <a:rPr lang="en-US" sz="1333" dirty="0">
                <a:latin typeface="Times New Roman" panose="02020603050405020304" pitchFamily="18" charset="0"/>
                <a:cs typeface="Times New Roman" panose="02020603050405020304" pitchFamily="18" charset="0"/>
              </a:rPr>
              <a:t>Application-Specific Integrated Circuit and Field Programmable Gate Array Design </a:t>
            </a:r>
            <a:endParaRPr lang="en-IN" sz="1333"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9184977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 xmlns:a16="http://schemas.microsoft.com/office/drawing/2014/main" id="{2F8F0BAA-3250-39C8-C3F1-71A99B27EC9B}"/>
              </a:ext>
            </a:extLst>
          </p:cNvPr>
          <p:cNvSpPr/>
          <p:nvPr/>
        </p:nvSpPr>
        <p:spPr>
          <a:xfrm>
            <a:off x="814834" y="351644"/>
            <a:ext cx="3047318" cy="593923"/>
          </a:xfrm>
          <a:prstGeom prst="rect">
            <a:avLst/>
          </a:prstGeom>
          <a:noFill/>
          <a:ln/>
        </p:spPr>
        <p:txBody>
          <a:bodyPr wrap="none" lIns="0" tIns="0" rIns="0" bIns="0" rtlCol="0" anchor="t"/>
          <a:lstStyle/>
          <a:p>
            <a:pPr>
              <a:lnSpc>
                <a:spcPts val="4666"/>
              </a:lnSpc>
            </a:pPr>
            <a:r>
              <a:rPr lang="en-US" sz="4000" dirty="0">
                <a:latin typeface="Rockwell" panose="02060603020205020403" pitchFamily="18" charset="0"/>
              </a:rPr>
              <a:t>Half-Adder using PAL</a:t>
            </a:r>
          </a:p>
        </p:txBody>
      </p:sp>
      <mc:AlternateContent xmlns:mc="http://schemas.openxmlformats.org/markup-compatibility/2006" xmlns:a14="http://schemas.microsoft.com/office/drawing/2010/main">
        <mc:Choice Requires="a14">
          <p:sp>
            <p:nvSpPr>
              <p:cNvPr id="3" name="TextBox 2">
                <a:extLst>
                  <a:ext uri="{FF2B5EF4-FFF2-40B4-BE49-F238E27FC236}">
                    <a16:creationId xmlns="" xmlns:a16="http://schemas.microsoft.com/office/drawing/2014/main" id="{FCE4C694-1A31-27FD-163E-905F4F1735AE}"/>
                  </a:ext>
                </a:extLst>
              </p:cNvPr>
              <p:cNvSpPr txBox="1"/>
              <p:nvPr/>
            </p:nvSpPr>
            <p:spPr>
              <a:xfrm>
                <a:off x="731327" y="5780982"/>
                <a:ext cx="5240055" cy="635430"/>
              </a:xfrm>
              <a:prstGeom prst="rect">
                <a:avLst/>
              </a:prstGeom>
              <a:noFill/>
            </p:spPr>
            <p:txBody>
              <a:bodyPr wrap="square" rtlCol="0">
                <a:spAutoFit/>
              </a:bodyPr>
              <a:lstStyle/>
              <a:p>
                <a:r>
                  <a:rPr lang="en-US" sz="1667" dirty="0">
                    <a:latin typeface="Rockwell" panose="02060603020205020403" pitchFamily="18" charset="0"/>
                  </a:rPr>
                  <a:t>Sum = </a:t>
                </a:r>
                <a14:m>
                  <m:oMath xmlns:m="http://schemas.openxmlformats.org/officeDocument/2006/math">
                    <m:bar>
                      <m:barPr>
                        <m:pos m:val="top"/>
                        <m:ctrlPr>
                          <a:rPr lang="en-US" sz="1667" i="1">
                            <a:latin typeface="Cambria Math" panose="02040503050406030204" pitchFamily="18" charset="0"/>
                          </a:rPr>
                        </m:ctrlPr>
                      </m:barPr>
                      <m:e>
                        <m:r>
                          <a:rPr lang="en-US" sz="1667" i="1">
                            <a:latin typeface="Cambria Math" panose="02040503050406030204" pitchFamily="18" charset="0"/>
                          </a:rPr>
                          <m:t>𝐴</m:t>
                        </m:r>
                      </m:e>
                    </m:bar>
                    <m:r>
                      <a:rPr lang="en-US" sz="1667" i="1">
                        <a:latin typeface="Cambria Math" panose="02040503050406030204" pitchFamily="18" charset="0"/>
                      </a:rPr>
                      <m:t>𝐵</m:t>
                    </m:r>
                    <m:r>
                      <a:rPr lang="en-US" sz="1667" i="1">
                        <a:latin typeface="Cambria Math" panose="02040503050406030204" pitchFamily="18" charset="0"/>
                      </a:rPr>
                      <m:t>+</m:t>
                    </m:r>
                    <m:r>
                      <a:rPr lang="en-US" sz="1667" i="1">
                        <a:latin typeface="Cambria Math" panose="02040503050406030204" pitchFamily="18" charset="0"/>
                      </a:rPr>
                      <m:t>𝐴</m:t>
                    </m:r>
                    <m:bar>
                      <m:barPr>
                        <m:pos m:val="top"/>
                        <m:ctrlPr>
                          <a:rPr lang="en-US" sz="1667" i="1">
                            <a:latin typeface="Cambria Math" panose="02040503050406030204" pitchFamily="18" charset="0"/>
                          </a:rPr>
                        </m:ctrlPr>
                      </m:barPr>
                      <m:e>
                        <m:r>
                          <a:rPr lang="en-US" sz="1667" i="1">
                            <a:latin typeface="Cambria Math" panose="02040503050406030204" pitchFamily="18" charset="0"/>
                          </a:rPr>
                          <m:t>𝐵</m:t>
                        </m:r>
                      </m:e>
                    </m:bar>
                  </m:oMath>
                </a14:m>
                <a:endParaRPr lang="en-IN" sz="1667" dirty="0">
                  <a:latin typeface="Rockwell" panose="02060603020205020403" pitchFamily="18" charset="0"/>
                </a:endParaRPr>
              </a:p>
              <a:p>
                <a:r>
                  <a:rPr lang="en-IN" sz="1667" dirty="0">
                    <a:latin typeface="Rockwell" panose="02060603020205020403" pitchFamily="18" charset="0"/>
                  </a:rPr>
                  <a:t>Carry = </a:t>
                </a:r>
                <a:r>
                  <a:rPr lang="en-IN" sz="1667" i="1" dirty="0">
                    <a:latin typeface="Rockwell" panose="02060603020205020403" pitchFamily="18" charset="0"/>
                  </a:rPr>
                  <a:t>AB</a:t>
                </a:r>
              </a:p>
            </p:txBody>
          </p:sp>
        </mc:Choice>
        <mc:Fallback xmlns="">
          <p:sp>
            <p:nvSpPr>
              <p:cNvPr id="3" name="TextBox 2">
                <a:extLst>
                  <a:ext uri="{FF2B5EF4-FFF2-40B4-BE49-F238E27FC236}">
                    <a16:creationId xmlns:a16="http://schemas.microsoft.com/office/drawing/2014/main" xmlns:a14="http://schemas.microsoft.com/office/drawing/2010/main" xmlns="" id="{FCE4C694-1A31-27FD-163E-905F4F1735AE}"/>
                  </a:ext>
                </a:extLst>
              </p:cNvPr>
              <p:cNvSpPr txBox="1">
                <a:spLocks noRot="1" noChangeAspect="1" noMove="1" noResize="1" noEditPoints="1" noAdjustHandles="1" noChangeArrowheads="1" noChangeShapeType="1" noTextEdit="1"/>
              </p:cNvSpPr>
              <p:nvPr/>
            </p:nvSpPr>
            <p:spPr>
              <a:xfrm>
                <a:off x="731327" y="5780982"/>
                <a:ext cx="5240055" cy="635430"/>
              </a:xfrm>
              <a:prstGeom prst="rect">
                <a:avLst/>
              </a:prstGeom>
              <a:blipFill rotWithShape="0">
                <a:blip r:embed="rId2"/>
                <a:stretch>
                  <a:fillRect l="-814" b="-11429"/>
                </a:stretch>
              </a:blipFill>
            </p:spPr>
            <p:txBody>
              <a:bodyPr/>
              <a:lstStyle/>
              <a:p>
                <a:r>
                  <a:rPr lang="en-US">
                    <a:noFill/>
                  </a:rPr>
                  <a:t> </a:t>
                </a:r>
              </a:p>
            </p:txBody>
          </p:sp>
        </mc:Fallback>
      </mc:AlternateContent>
      <p:graphicFrame>
        <p:nvGraphicFramePr>
          <p:cNvPr id="4" name="Table 3">
            <a:extLst>
              <a:ext uri="{FF2B5EF4-FFF2-40B4-BE49-F238E27FC236}">
                <a16:creationId xmlns="" xmlns:a16="http://schemas.microsoft.com/office/drawing/2014/main" id="{A8E37FB9-334A-9689-37DB-891BFEAA5E84}"/>
              </a:ext>
            </a:extLst>
          </p:cNvPr>
          <p:cNvGraphicFramePr>
            <a:graphicFrameLocks noGrp="1"/>
          </p:cNvGraphicFramePr>
          <p:nvPr>
            <p:extLst/>
          </p:nvPr>
        </p:nvGraphicFramePr>
        <p:xfrm>
          <a:off x="814833" y="2351297"/>
          <a:ext cx="3865672" cy="3248996"/>
        </p:xfrm>
        <a:graphic>
          <a:graphicData uri="http://schemas.openxmlformats.org/drawingml/2006/table">
            <a:tbl>
              <a:tblPr firstRow="1" bandRow="1">
                <a:tableStyleId>{2D5ABB26-0587-4C30-8999-92F81FD0307C}</a:tableStyleId>
              </a:tblPr>
              <a:tblGrid>
                <a:gridCol w="966418">
                  <a:extLst>
                    <a:ext uri="{9D8B030D-6E8A-4147-A177-3AD203B41FA5}">
                      <a16:colId xmlns="" xmlns:a16="http://schemas.microsoft.com/office/drawing/2014/main" val="2812978317"/>
                    </a:ext>
                  </a:extLst>
                </a:gridCol>
                <a:gridCol w="966418">
                  <a:extLst>
                    <a:ext uri="{9D8B030D-6E8A-4147-A177-3AD203B41FA5}">
                      <a16:colId xmlns="" xmlns:a16="http://schemas.microsoft.com/office/drawing/2014/main" val="23159461"/>
                    </a:ext>
                  </a:extLst>
                </a:gridCol>
                <a:gridCol w="966418">
                  <a:extLst>
                    <a:ext uri="{9D8B030D-6E8A-4147-A177-3AD203B41FA5}">
                      <a16:colId xmlns="" xmlns:a16="http://schemas.microsoft.com/office/drawing/2014/main" val="4074076207"/>
                    </a:ext>
                  </a:extLst>
                </a:gridCol>
                <a:gridCol w="966418">
                  <a:extLst>
                    <a:ext uri="{9D8B030D-6E8A-4147-A177-3AD203B41FA5}">
                      <a16:colId xmlns="" xmlns:a16="http://schemas.microsoft.com/office/drawing/2014/main" val="133699167"/>
                    </a:ext>
                  </a:extLst>
                </a:gridCol>
              </a:tblGrid>
              <a:tr h="304800">
                <a:tc>
                  <a:txBody>
                    <a:bodyPr/>
                    <a:lstStyle/>
                    <a:p>
                      <a:pPr algn="ctr"/>
                      <a:r>
                        <a:rPr lang="en-US" sz="1500" dirty="0">
                          <a:latin typeface="Rockwell" panose="02060603020205020403" pitchFamily="18" charset="0"/>
                        </a:rPr>
                        <a:t>A</a:t>
                      </a:r>
                      <a:endParaRPr lang="en-IN" sz="1500" dirty="0">
                        <a:latin typeface="Rockwell" panose="02060603020205020403" pitchFamily="18" charset="0"/>
                      </a:endParaRPr>
                    </a:p>
                  </a:txBody>
                  <a:tcPr marL="76200" marR="762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500" dirty="0">
                          <a:latin typeface="Rockwell" panose="02060603020205020403" pitchFamily="18" charset="0"/>
                        </a:rPr>
                        <a:t>B</a:t>
                      </a:r>
                      <a:endParaRPr lang="en-IN" sz="1500" dirty="0">
                        <a:latin typeface="Rockwell" panose="02060603020205020403" pitchFamily="18" charset="0"/>
                      </a:endParaRPr>
                    </a:p>
                  </a:txBody>
                  <a:tcPr marL="76200" marR="762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500" dirty="0">
                          <a:latin typeface="Rockwell" panose="02060603020205020403" pitchFamily="18" charset="0"/>
                        </a:rPr>
                        <a:t>Sum</a:t>
                      </a:r>
                      <a:endParaRPr lang="en-IN" sz="1500" dirty="0">
                        <a:latin typeface="Rockwell" panose="02060603020205020403" pitchFamily="18" charset="0"/>
                      </a:endParaRPr>
                    </a:p>
                  </a:txBody>
                  <a:tcPr marL="76200" marR="762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500" dirty="0">
                          <a:latin typeface="Rockwell" panose="02060603020205020403" pitchFamily="18" charset="0"/>
                        </a:rPr>
                        <a:t>Carry</a:t>
                      </a:r>
                      <a:endParaRPr lang="en-IN" sz="1500" dirty="0">
                        <a:latin typeface="Rockwell" panose="02060603020205020403" pitchFamily="18" charset="0"/>
                      </a:endParaRPr>
                    </a:p>
                  </a:txBody>
                  <a:tcPr marL="76200" marR="762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970589541"/>
                  </a:ext>
                </a:extLst>
              </a:tr>
              <a:tr h="736049">
                <a:tc>
                  <a:txBody>
                    <a:bodyPr/>
                    <a:lstStyle/>
                    <a:p>
                      <a:pPr algn="ctr"/>
                      <a:r>
                        <a:rPr lang="en-US" sz="1500" dirty="0">
                          <a:latin typeface="Rockwell" panose="02060603020205020403" pitchFamily="18" charset="0"/>
                        </a:rPr>
                        <a:t>0</a:t>
                      </a:r>
                      <a:endParaRPr lang="en-IN" sz="1500" dirty="0">
                        <a:latin typeface="Rockwell" panose="02060603020205020403" pitchFamily="18" charset="0"/>
                      </a:endParaRPr>
                    </a:p>
                  </a:txBody>
                  <a:tcPr marL="76200" marR="762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500" dirty="0">
                          <a:latin typeface="Rockwell" panose="02060603020205020403" pitchFamily="18" charset="0"/>
                        </a:rPr>
                        <a:t>0</a:t>
                      </a:r>
                      <a:endParaRPr lang="en-IN" sz="1500" dirty="0">
                        <a:latin typeface="Rockwell" panose="02060603020205020403" pitchFamily="18" charset="0"/>
                      </a:endParaRPr>
                    </a:p>
                  </a:txBody>
                  <a:tcPr marL="76200" marR="762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500" dirty="0">
                          <a:latin typeface="Rockwell" panose="02060603020205020403" pitchFamily="18" charset="0"/>
                        </a:rPr>
                        <a:t>0</a:t>
                      </a:r>
                      <a:endParaRPr lang="en-IN" sz="1500" dirty="0">
                        <a:latin typeface="Rockwell" panose="02060603020205020403" pitchFamily="18" charset="0"/>
                      </a:endParaRPr>
                    </a:p>
                  </a:txBody>
                  <a:tcPr marL="76200" marR="762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500" dirty="0">
                          <a:latin typeface="Rockwell" panose="02060603020205020403" pitchFamily="18" charset="0"/>
                        </a:rPr>
                        <a:t>0</a:t>
                      </a:r>
                      <a:endParaRPr lang="en-IN" sz="1500" dirty="0">
                        <a:latin typeface="Rockwell" panose="02060603020205020403" pitchFamily="18" charset="0"/>
                      </a:endParaRPr>
                    </a:p>
                  </a:txBody>
                  <a:tcPr marL="76200" marR="762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2262123902"/>
                  </a:ext>
                </a:extLst>
              </a:tr>
              <a:tr h="736049">
                <a:tc>
                  <a:txBody>
                    <a:bodyPr/>
                    <a:lstStyle/>
                    <a:p>
                      <a:pPr algn="ctr"/>
                      <a:r>
                        <a:rPr lang="en-US" sz="1500" dirty="0">
                          <a:latin typeface="Rockwell" panose="02060603020205020403" pitchFamily="18" charset="0"/>
                        </a:rPr>
                        <a:t>0</a:t>
                      </a:r>
                      <a:endParaRPr lang="en-IN" sz="1500" dirty="0">
                        <a:latin typeface="Rockwell" panose="02060603020205020403" pitchFamily="18" charset="0"/>
                      </a:endParaRPr>
                    </a:p>
                  </a:txBody>
                  <a:tcPr marL="76200" marR="762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500" dirty="0">
                          <a:latin typeface="Rockwell" panose="02060603020205020403" pitchFamily="18" charset="0"/>
                        </a:rPr>
                        <a:t>1</a:t>
                      </a:r>
                      <a:endParaRPr lang="en-IN" sz="1500" dirty="0">
                        <a:latin typeface="Rockwell" panose="02060603020205020403" pitchFamily="18" charset="0"/>
                      </a:endParaRPr>
                    </a:p>
                  </a:txBody>
                  <a:tcPr marL="76200" marR="762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500" dirty="0">
                          <a:latin typeface="Rockwell" panose="02060603020205020403" pitchFamily="18" charset="0"/>
                        </a:rPr>
                        <a:t>1</a:t>
                      </a:r>
                      <a:endParaRPr lang="en-IN" sz="1500" dirty="0">
                        <a:latin typeface="Rockwell" panose="02060603020205020403" pitchFamily="18" charset="0"/>
                      </a:endParaRPr>
                    </a:p>
                  </a:txBody>
                  <a:tcPr marL="76200" marR="762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500" dirty="0">
                          <a:latin typeface="Rockwell" panose="02060603020205020403" pitchFamily="18" charset="0"/>
                        </a:rPr>
                        <a:t>0</a:t>
                      </a:r>
                      <a:endParaRPr lang="en-IN" sz="1500" dirty="0">
                        <a:latin typeface="Rockwell" panose="02060603020205020403" pitchFamily="18" charset="0"/>
                      </a:endParaRPr>
                    </a:p>
                  </a:txBody>
                  <a:tcPr marL="76200" marR="762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3180811442"/>
                  </a:ext>
                </a:extLst>
              </a:tr>
              <a:tr h="736049">
                <a:tc>
                  <a:txBody>
                    <a:bodyPr/>
                    <a:lstStyle/>
                    <a:p>
                      <a:pPr algn="ctr"/>
                      <a:r>
                        <a:rPr lang="en-US" sz="1500" dirty="0">
                          <a:latin typeface="Rockwell" panose="02060603020205020403" pitchFamily="18" charset="0"/>
                        </a:rPr>
                        <a:t>1</a:t>
                      </a:r>
                      <a:endParaRPr lang="en-IN" sz="1500" dirty="0">
                        <a:latin typeface="Rockwell" panose="02060603020205020403" pitchFamily="18" charset="0"/>
                      </a:endParaRPr>
                    </a:p>
                  </a:txBody>
                  <a:tcPr marL="76200" marR="762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500" dirty="0">
                          <a:latin typeface="Rockwell" panose="02060603020205020403" pitchFamily="18" charset="0"/>
                        </a:rPr>
                        <a:t>0</a:t>
                      </a:r>
                      <a:endParaRPr lang="en-IN" sz="1500" dirty="0">
                        <a:latin typeface="Rockwell" panose="02060603020205020403" pitchFamily="18" charset="0"/>
                      </a:endParaRPr>
                    </a:p>
                  </a:txBody>
                  <a:tcPr marL="76200" marR="762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500" dirty="0">
                          <a:latin typeface="Rockwell" panose="02060603020205020403" pitchFamily="18" charset="0"/>
                        </a:rPr>
                        <a:t>1</a:t>
                      </a:r>
                      <a:endParaRPr lang="en-IN" sz="1500" dirty="0">
                        <a:latin typeface="Rockwell" panose="02060603020205020403" pitchFamily="18" charset="0"/>
                      </a:endParaRPr>
                    </a:p>
                  </a:txBody>
                  <a:tcPr marL="76200" marR="762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500" dirty="0">
                          <a:latin typeface="Rockwell" panose="02060603020205020403" pitchFamily="18" charset="0"/>
                        </a:rPr>
                        <a:t>0</a:t>
                      </a:r>
                      <a:endParaRPr lang="en-IN" sz="1500" dirty="0">
                        <a:latin typeface="Rockwell" panose="02060603020205020403" pitchFamily="18" charset="0"/>
                      </a:endParaRPr>
                    </a:p>
                  </a:txBody>
                  <a:tcPr marL="76200" marR="762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2635449575"/>
                  </a:ext>
                </a:extLst>
              </a:tr>
              <a:tr h="736049">
                <a:tc>
                  <a:txBody>
                    <a:bodyPr/>
                    <a:lstStyle/>
                    <a:p>
                      <a:pPr algn="ctr"/>
                      <a:r>
                        <a:rPr lang="en-US" sz="1500" dirty="0">
                          <a:latin typeface="Rockwell" panose="02060603020205020403" pitchFamily="18" charset="0"/>
                        </a:rPr>
                        <a:t>1</a:t>
                      </a:r>
                      <a:endParaRPr lang="en-IN" sz="1500" dirty="0">
                        <a:latin typeface="Rockwell" panose="02060603020205020403" pitchFamily="18" charset="0"/>
                      </a:endParaRPr>
                    </a:p>
                  </a:txBody>
                  <a:tcPr marL="76200" marR="762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500" dirty="0">
                          <a:latin typeface="Rockwell" panose="02060603020205020403" pitchFamily="18" charset="0"/>
                        </a:rPr>
                        <a:t>1</a:t>
                      </a:r>
                      <a:endParaRPr lang="en-IN" sz="1500" dirty="0">
                        <a:latin typeface="Rockwell" panose="02060603020205020403" pitchFamily="18" charset="0"/>
                      </a:endParaRPr>
                    </a:p>
                  </a:txBody>
                  <a:tcPr marL="76200" marR="762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500" dirty="0">
                          <a:latin typeface="Rockwell" panose="02060603020205020403" pitchFamily="18" charset="0"/>
                        </a:rPr>
                        <a:t>0</a:t>
                      </a:r>
                      <a:endParaRPr lang="en-IN" sz="1500" dirty="0">
                        <a:latin typeface="Rockwell" panose="02060603020205020403" pitchFamily="18" charset="0"/>
                      </a:endParaRPr>
                    </a:p>
                  </a:txBody>
                  <a:tcPr marL="76200" marR="762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500" dirty="0">
                          <a:latin typeface="Rockwell" panose="02060603020205020403" pitchFamily="18" charset="0"/>
                        </a:rPr>
                        <a:t>1</a:t>
                      </a:r>
                      <a:endParaRPr lang="en-IN" sz="1500" dirty="0">
                        <a:latin typeface="Rockwell" panose="02060603020205020403" pitchFamily="18" charset="0"/>
                      </a:endParaRPr>
                    </a:p>
                  </a:txBody>
                  <a:tcPr marL="76200" marR="762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3408882009"/>
                  </a:ext>
                </a:extLst>
              </a:tr>
            </a:tbl>
          </a:graphicData>
        </a:graphic>
      </p:graphicFrame>
      <p:sp>
        <p:nvSpPr>
          <p:cNvPr id="5" name="TextBox 4">
            <a:extLst>
              <a:ext uri="{FF2B5EF4-FFF2-40B4-BE49-F238E27FC236}">
                <a16:creationId xmlns="" xmlns:a16="http://schemas.microsoft.com/office/drawing/2014/main" id="{2070EDF1-CAFF-1518-A54C-11CE808A7D3A}"/>
              </a:ext>
            </a:extLst>
          </p:cNvPr>
          <p:cNvSpPr txBox="1"/>
          <p:nvPr/>
        </p:nvSpPr>
        <p:spPr>
          <a:xfrm>
            <a:off x="9368975" y="1077824"/>
            <a:ext cx="2463451" cy="348878"/>
          </a:xfrm>
          <a:prstGeom prst="rect">
            <a:avLst/>
          </a:prstGeom>
          <a:noFill/>
        </p:spPr>
        <p:txBody>
          <a:bodyPr wrap="square" rtlCol="0">
            <a:spAutoFit/>
          </a:bodyPr>
          <a:lstStyle/>
          <a:p>
            <a:r>
              <a:rPr lang="en-US" sz="1667" dirty="0">
                <a:latin typeface="Rockwell" panose="02060603020205020403" pitchFamily="18" charset="0"/>
              </a:rPr>
              <a:t>Fig: Implementation</a:t>
            </a:r>
          </a:p>
        </p:txBody>
      </p:sp>
      <p:cxnSp>
        <p:nvCxnSpPr>
          <p:cNvPr id="8" name="Straight Connector 7">
            <a:extLst>
              <a:ext uri="{FF2B5EF4-FFF2-40B4-BE49-F238E27FC236}">
                <a16:creationId xmlns="" xmlns:a16="http://schemas.microsoft.com/office/drawing/2014/main" id="{64B759BF-0AAC-CAC0-095E-574E4097EA21}"/>
              </a:ext>
            </a:extLst>
          </p:cNvPr>
          <p:cNvCxnSpPr>
            <a:cxnSpLocks/>
          </p:cNvCxnSpPr>
          <p:nvPr/>
        </p:nvCxnSpPr>
        <p:spPr>
          <a:xfrm>
            <a:off x="9196967" y="3465534"/>
            <a:ext cx="2463452"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9" name="Straight Connector 8">
            <a:extLst>
              <a:ext uri="{FF2B5EF4-FFF2-40B4-BE49-F238E27FC236}">
                <a16:creationId xmlns="" xmlns:a16="http://schemas.microsoft.com/office/drawing/2014/main" id="{ADCFA478-E727-A54E-6D8B-A99E9C9664BD}"/>
              </a:ext>
            </a:extLst>
          </p:cNvPr>
          <p:cNvCxnSpPr>
            <a:cxnSpLocks/>
          </p:cNvCxnSpPr>
          <p:nvPr/>
        </p:nvCxnSpPr>
        <p:spPr>
          <a:xfrm>
            <a:off x="9207422" y="4195281"/>
            <a:ext cx="246345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 xmlns:a16="http://schemas.microsoft.com/office/drawing/2014/main" id="{A6BF6782-4EAC-3E96-1C4E-3CE97BF418B4}"/>
              </a:ext>
            </a:extLst>
          </p:cNvPr>
          <p:cNvCxnSpPr>
            <a:cxnSpLocks/>
          </p:cNvCxnSpPr>
          <p:nvPr/>
        </p:nvCxnSpPr>
        <p:spPr>
          <a:xfrm>
            <a:off x="9244374" y="4886090"/>
            <a:ext cx="246345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 xmlns:a16="http://schemas.microsoft.com/office/drawing/2014/main" id="{AB483F25-D2FA-47D2-1DAF-FB20BAFB29FE}"/>
              </a:ext>
            </a:extLst>
          </p:cNvPr>
          <p:cNvCxnSpPr>
            <a:cxnSpLocks/>
          </p:cNvCxnSpPr>
          <p:nvPr/>
        </p:nvCxnSpPr>
        <p:spPr>
          <a:xfrm>
            <a:off x="6250878" y="1987211"/>
            <a:ext cx="0" cy="459939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 xmlns:a16="http://schemas.microsoft.com/office/drawing/2014/main" id="{5828568C-3B46-873E-8573-6CA7E766385F}"/>
              </a:ext>
            </a:extLst>
          </p:cNvPr>
          <p:cNvSpPr txBox="1"/>
          <p:nvPr/>
        </p:nvSpPr>
        <p:spPr>
          <a:xfrm>
            <a:off x="5682534" y="1620592"/>
            <a:ext cx="1136683" cy="348878"/>
          </a:xfrm>
          <a:prstGeom prst="rect">
            <a:avLst/>
          </a:prstGeom>
          <a:noFill/>
        </p:spPr>
        <p:txBody>
          <a:bodyPr wrap="square" rtlCol="0">
            <a:spAutoFit/>
          </a:bodyPr>
          <a:lstStyle/>
          <a:p>
            <a:pPr algn="ctr"/>
            <a:r>
              <a:rPr lang="en-US" sz="1667" dirty="0">
                <a:latin typeface="Rockwell" panose="02060603020205020403" pitchFamily="18" charset="0"/>
              </a:rPr>
              <a:t>A</a:t>
            </a:r>
          </a:p>
        </p:txBody>
      </p:sp>
      <p:cxnSp>
        <p:nvCxnSpPr>
          <p:cNvPr id="20" name="Straight Connector 19">
            <a:extLst>
              <a:ext uri="{FF2B5EF4-FFF2-40B4-BE49-F238E27FC236}">
                <a16:creationId xmlns="" xmlns:a16="http://schemas.microsoft.com/office/drawing/2014/main" id="{99D111EB-B6D1-70AE-4D44-52A66A90490D}"/>
              </a:ext>
            </a:extLst>
          </p:cNvPr>
          <p:cNvCxnSpPr>
            <a:cxnSpLocks/>
          </p:cNvCxnSpPr>
          <p:nvPr/>
        </p:nvCxnSpPr>
        <p:spPr>
          <a:xfrm>
            <a:off x="10057467" y="3117590"/>
            <a:ext cx="0" cy="2378206"/>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 xmlns:a16="http://schemas.microsoft.com/office/drawing/2014/main" id="{01AC6069-339A-46F5-6AE2-449C3620A6A5}"/>
              </a:ext>
            </a:extLst>
          </p:cNvPr>
          <p:cNvCxnSpPr>
            <a:cxnSpLocks/>
          </p:cNvCxnSpPr>
          <p:nvPr/>
        </p:nvCxnSpPr>
        <p:spPr>
          <a:xfrm>
            <a:off x="11238743" y="3120362"/>
            <a:ext cx="0" cy="2378206"/>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pic>
        <p:nvPicPr>
          <p:cNvPr id="22" name="Picture 21">
            <a:extLst>
              <a:ext uri="{FF2B5EF4-FFF2-40B4-BE49-F238E27FC236}">
                <a16:creationId xmlns="" xmlns:a16="http://schemas.microsoft.com/office/drawing/2014/main" id="{23A18966-C76B-B4D2-AD8F-AE9B8A9FB3EA}"/>
              </a:ext>
            </a:extLst>
          </p:cNvPr>
          <p:cNvPicPr>
            <a:picLocks noChangeAspect="1"/>
          </p:cNvPicPr>
          <p:nvPr/>
        </p:nvPicPr>
        <p:blipFill>
          <a:blip r:embed="rId3"/>
          <a:stretch>
            <a:fillRect/>
          </a:stretch>
        </p:blipFill>
        <p:spPr>
          <a:xfrm rot="10800000">
            <a:off x="9650371" y="5303932"/>
            <a:ext cx="843353" cy="604573"/>
          </a:xfrm>
          <a:prstGeom prst="rect">
            <a:avLst/>
          </a:prstGeom>
        </p:spPr>
      </p:pic>
      <p:pic>
        <p:nvPicPr>
          <p:cNvPr id="23" name="Picture 22">
            <a:extLst>
              <a:ext uri="{FF2B5EF4-FFF2-40B4-BE49-F238E27FC236}">
                <a16:creationId xmlns="" xmlns:a16="http://schemas.microsoft.com/office/drawing/2014/main" id="{ACCD89B0-03AC-6162-140F-C032B2B53212}"/>
              </a:ext>
            </a:extLst>
          </p:cNvPr>
          <p:cNvPicPr>
            <a:picLocks noChangeAspect="1"/>
          </p:cNvPicPr>
          <p:nvPr/>
        </p:nvPicPr>
        <p:blipFill>
          <a:blip r:embed="rId3"/>
          <a:stretch>
            <a:fillRect/>
          </a:stretch>
        </p:blipFill>
        <p:spPr>
          <a:xfrm rot="10800000">
            <a:off x="10817066" y="5303932"/>
            <a:ext cx="843353" cy="604573"/>
          </a:xfrm>
          <a:prstGeom prst="rect">
            <a:avLst/>
          </a:prstGeom>
        </p:spPr>
      </p:pic>
      <p:cxnSp>
        <p:nvCxnSpPr>
          <p:cNvPr id="24" name="Straight Connector 23">
            <a:extLst>
              <a:ext uri="{FF2B5EF4-FFF2-40B4-BE49-F238E27FC236}">
                <a16:creationId xmlns="" xmlns:a16="http://schemas.microsoft.com/office/drawing/2014/main" id="{BAB7B68C-C41A-FB1A-B59B-7E226B52893C}"/>
              </a:ext>
            </a:extLst>
          </p:cNvPr>
          <p:cNvCxnSpPr>
            <a:cxnSpLocks/>
          </p:cNvCxnSpPr>
          <p:nvPr/>
        </p:nvCxnSpPr>
        <p:spPr>
          <a:xfrm>
            <a:off x="10072048" y="5908505"/>
            <a:ext cx="0" cy="38099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 xmlns:a16="http://schemas.microsoft.com/office/drawing/2014/main" id="{8BBE098F-DD5F-0B07-1C91-42B3D2BE5428}"/>
              </a:ext>
            </a:extLst>
          </p:cNvPr>
          <p:cNvCxnSpPr>
            <a:cxnSpLocks/>
          </p:cNvCxnSpPr>
          <p:nvPr/>
        </p:nvCxnSpPr>
        <p:spPr>
          <a:xfrm>
            <a:off x="11238743" y="5908505"/>
            <a:ext cx="0" cy="38099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 xmlns:a16="http://schemas.microsoft.com/office/drawing/2014/main" id="{7F70A4FF-5952-72B4-1279-A4EC129762B3}"/>
              </a:ext>
            </a:extLst>
          </p:cNvPr>
          <p:cNvSpPr txBox="1"/>
          <p:nvPr/>
        </p:nvSpPr>
        <p:spPr>
          <a:xfrm>
            <a:off x="9503706" y="6309547"/>
            <a:ext cx="1136683" cy="348878"/>
          </a:xfrm>
          <a:prstGeom prst="rect">
            <a:avLst/>
          </a:prstGeom>
          <a:noFill/>
        </p:spPr>
        <p:txBody>
          <a:bodyPr wrap="square" rtlCol="0">
            <a:spAutoFit/>
          </a:bodyPr>
          <a:lstStyle/>
          <a:p>
            <a:pPr algn="ctr"/>
            <a:r>
              <a:rPr lang="en-US" sz="1667" dirty="0">
                <a:latin typeface="Rockwell" panose="02060603020205020403" pitchFamily="18" charset="0"/>
              </a:rPr>
              <a:t>Carry</a:t>
            </a:r>
          </a:p>
        </p:txBody>
      </p:sp>
      <p:sp>
        <p:nvSpPr>
          <p:cNvPr id="27" name="TextBox 26">
            <a:extLst>
              <a:ext uri="{FF2B5EF4-FFF2-40B4-BE49-F238E27FC236}">
                <a16:creationId xmlns="" xmlns:a16="http://schemas.microsoft.com/office/drawing/2014/main" id="{23864189-2003-FCFB-3F75-62EC16715D0F}"/>
              </a:ext>
            </a:extLst>
          </p:cNvPr>
          <p:cNvSpPr txBox="1"/>
          <p:nvPr/>
        </p:nvSpPr>
        <p:spPr>
          <a:xfrm>
            <a:off x="10670401" y="6309547"/>
            <a:ext cx="1136683" cy="348878"/>
          </a:xfrm>
          <a:prstGeom prst="rect">
            <a:avLst/>
          </a:prstGeom>
          <a:noFill/>
        </p:spPr>
        <p:txBody>
          <a:bodyPr wrap="square" rtlCol="0">
            <a:spAutoFit/>
          </a:bodyPr>
          <a:lstStyle/>
          <a:p>
            <a:pPr algn="ctr"/>
            <a:r>
              <a:rPr lang="en-US" sz="1667" dirty="0">
                <a:latin typeface="Rockwell" panose="02060603020205020403" pitchFamily="18" charset="0"/>
              </a:rPr>
              <a:t>Sum</a:t>
            </a:r>
          </a:p>
        </p:txBody>
      </p:sp>
      <p:sp>
        <p:nvSpPr>
          <p:cNvPr id="29" name="TextBox 28">
            <a:extLst>
              <a:ext uri="{FF2B5EF4-FFF2-40B4-BE49-F238E27FC236}">
                <a16:creationId xmlns="" xmlns:a16="http://schemas.microsoft.com/office/drawing/2014/main" id="{5DA6ACA2-39E6-E459-FB15-DD9304DB8628}"/>
              </a:ext>
            </a:extLst>
          </p:cNvPr>
          <p:cNvSpPr txBox="1"/>
          <p:nvPr/>
        </p:nvSpPr>
        <p:spPr>
          <a:xfrm>
            <a:off x="7048451" y="3155799"/>
            <a:ext cx="1136683" cy="541238"/>
          </a:xfrm>
          <a:prstGeom prst="rect">
            <a:avLst/>
          </a:prstGeom>
          <a:noFill/>
        </p:spPr>
        <p:txBody>
          <a:bodyPr wrap="square" rtlCol="0">
            <a:spAutoFit/>
          </a:bodyPr>
          <a:lstStyle/>
          <a:p>
            <a:pPr algn="ctr"/>
            <a:r>
              <a:rPr lang="en-US" sz="2917" dirty="0">
                <a:latin typeface="Rockwell" panose="02060603020205020403" pitchFamily="18" charset="0"/>
                <a:sym typeface="Symbol" panose="05050102010706020507" pitchFamily="18" charset="2"/>
              </a:rPr>
              <a:t></a:t>
            </a:r>
            <a:endParaRPr lang="en-US" sz="2917" dirty="0">
              <a:latin typeface="Rockwell" panose="02060603020205020403" pitchFamily="18" charset="0"/>
            </a:endParaRPr>
          </a:p>
        </p:txBody>
      </p:sp>
      <p:sp>
        <p:nvSpPr>
          <p:cNvPr id="31" name="TextBox 30">
            <a:extLst>
              <a:ext uri="{FF2B5EF4-FFF2-40B4-BE49-F238E27FC236}">
                <a16:creationId xmlns="" xmlns:a16="http://schemas.microsoft.com/office/drawing/2014/main" id="{D00CD70A-DD98-F897-3DAC-B3FD3760A430}"/>
              </a:ext>
            </a:extLst>
          </p:cNvPr>
          <p:cNvSpPr txBox="1"/>
          <p:nvPr/>
        </p:nvSpPr>
        <p:spPr>
          <a:xfrm>
            <a:off x="758499" y="2042175"/>
            <a:ext cx="2509990" cy="348878"/>
          </a:xfrm>
          <a:prstGeom prst="rect">
            <a:avLst/>
          </a:prstGeom>
          <a:noFill/>
        </p:spPr>
        <p:txBody>
          <a:bodyPr wrap="square" rtlCol="0">
            <a:spAutoFit/>
          </a:bodyPr>
          <a:lstStyle/>
          <a:p>
            <a:r>
              <a:rPr lang="en-US" sz="1667" dirty="0">
                <a:latin typeface="Rockwell" panose="02060603020205020403" pitchFamily="18" charset="0"/>
              </a:rPr>
              <a:t>Truth Table:</a:t>
            </a:r>
          </a:p>
        </p:txBody>
      </p:sp>
      <p:sp>
        <p:nvSpPr>
          <p:cNvPr id="32" name="TextBox 31">
            <a:extLst>
              <a:ext uri="{FF2B5EF4-FFF2-40B4-BE49-F238E27FC236}">
                <a16:creationId xmlns="" xmlns:a16="http://schemas.microsoft.com/office/drawing/2014/main" id="{DAE07318-3DBC-9AB7-775B-18268EA842F7}"/>
              </a:ext>
            </a:extLst>
          </p:cNvPr>
          <p:cNvSpPr txBox="1"/>
          <p:nvPr/>
        </p:nvSpPr>
        <p:spPr>
          <a:xfrm>
            <a:off x="758499" y="1126256"/>
            <a:ext cx="6172569" cy="605422"/>
          </a:xfrm>
          <a:prstGeom prst="rect">
            <a:avLst/>
          </a:prstGeom>
          <a:noFill/>
        </p:spPr>
        <p:txBody>
          <a:bodyPr wrap="square" rtlCol="0">
            <a:spAutoFit/>
          </a:bodyPr>
          <a:lstStyle/>
          <a:p>
            <a:r>
              <a:rPr lang="en-US" sz="1667" dirty="0">
                <a:latin typeface="Rockwell" panose="02060603020205020403" pitchFamily="18" charset="0"/>
              </a:rPr>
              <a:t>Note: AND gate is </a:t>
            </a:r>
            <a:r>
              <a:rPr lang="en-US" sz="1667" b="1" dirty="0">
                <a:latin typeface="Rockwell" panose="02060603020205020403" pitchFamily="18" charset="0"/>
              </a:rPr>
              <a:t>programmable </a:t>
            </a:r>
            <a:r>
              <a:rPr lang="en-US" sz="1667" dirty="0">
                <a:latin typeface="Rockwell" panose="02060603020205020403" pitchFamily="18" charset="0"/>
              </a:rPr>
              <a:t>represent as “</a:t>
            </a:r>
            <a:r>
              <a:rPr lang="en-US" sz="1667" dirty="0">
                <a:latin typeface="Rockwell" panose="02060603020205020403" pitchFamily="18" charset="0"/>
                <a:sym typeface="Symbol" panose="05050102010706020507" pitchFamily="18" charset="2"/>
              </a:rPr>
              <a:t>”</a:t>
            </a:r>
            <a:r>
              <a:rPr lang="en-US" sz="1667" b="1" dirty="0">
                <a:latin typeface="Rockwell" panose="02060603020205020403" pitchFamily="18" charset="0"/>
              </a:rPr>
              <a:t> </a:t>
            </a:r>
            <a:r>
              <a:rPr lang="en-US" sz="1667" dirty="0">
                <a:latin typeface="Rockwell" panose="02060603020205020403" pitchFamily="18" charset="0"/>
              </a:rPr>
              <a:t> and OR gate is </a:t>
            </a:r>
            <a:r>
              <a:rPr lang="en-US" sz="1667" b="1" dirty="0">
                <a:latin typeface="Rockwell" panose="02060603020205020403" pitchFamily="18" charset="0"/>
              </a:rPr>
              <a:t>fixed </a:t>
            </a:r>
            <a:r>
              <a:rPr lang="en-US" sz="1667" dirty="0">
                <a:latin typeface="Rockwell" panose="02060603020205020403" pitchFamily="18" charset="0"/>
              </a:rPr>
              <a:t>represent as “  ”</a:t>
            </a:r>
          </a:p>
        </p:txBody>
      </p:sp>
      <p:cxnSp>
        <p:nvCxnSpPr>
          <p:cNvPr id="34" name="Straight Connector 33">
            <a:extLst>
              <a:ext uri="{FF2B5EF4-FFF2-40B4-BE49-F238E27FC236}">
                <a16:creationId xmlns="" xmlns:a16="http://schemas.microsoft.com/office/drawing/2014/main" id="{78FDFBFD-8B98-CF37-FBE1-87AF4C78B2D4}"/>
              </a:ext>
            </a:extLst>
          </p:cNvPr>
          <p:cNvCxnSpPr>
            <a:cxnSpLocks/>
          </p:cNvCxnSpPr>
          <p:nvPr/>
        </p:nvCxnSpPr>
        <p:spPr>
          <a:xfrm>
            <a:off x="6250877" y="2210696"/>
            <a:ext cx="42449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 xmlns:a16="http://schemas.microsoft.com/office/drawing/2014/main" id="{8796069A-6316-652A-1B9D-5F23F7C0023A}"/>
              </a:ext>
            </a:extLst>
          </p:cNvPr>
          <p:cNvCxnSpPr>
            <a:cxnSpLocks/>
          </p:cNvCxnSpPr>
          <p:nvPr/>
        </p:nvCxnSpPr>
        <p:spPr>
          <a:xfrm>
            <a:off x="6675369" y="2958719"/>
            <a:ext cx="12178" cy="362788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9" name="Isosceles Triangle 38">
            <a:extLst>
              <a:ext uri="{FF2B5EF4-FFF2-40B4-BE49-F238E27FC236}">
                <a16:creationId xmlns="" xmlns:a16="http://schemas.microsoft.com/office/drawing/2014/main" id="{3B1BFFDF-6AC4-E2E0-384C-48701E83CA4A}"/>
              </a:ext>
            </a:extLst>
          </p:cNvPr>
          <p:cNvSpPr/>
          <p:nvPr/>
        </p:nvSpPr>
        <p:spPr>
          <a:xfrm rot="10800000">
            <a:off x="6463124" y="2447433"/>
            <a:ext cx="448849" cy="417534"/>
          </a:xfrm>
          <a:prstGeom prst="triangl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500"/>
          </a:p>
        </p:txBody>
      </p:sp>
      <p:sp>
        <p:nvSpPr>
          <p:cNvPr id="40" name="Oval 39">
            <a:extLst>
              <a:ext uri="{FF2B5EF4-FFF2-40B4-BE49-F238E27FC236}">
                <a16:creationId xmlns="" xmlns:a16="http://schemas.microsoft.com/office/drawing/2014/main" id="{C4B4CD74-3AB5-DD3C-19FE-0730809C109B}"/>
              </a:ext>
            </a:extLst>
          </p:cNvPr>
          <p:cNvSpPr/>
          <p:nvPr/>
        </p:nvSpPr>
        <p:spPr>
          <a:xfrm>
            <a:off x="6591383" y="2847589"/>
            <a:ext cx="162345" cy="128509"/>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500"/>
          </a:p>
        </p:txBody>
      </p:sp>
      <p:cxnSp>
        <p:nvCxnSpPr>
          <p:cNvPr id="41" name="Straight Connector 40">
            <a:extLst>
              <a:ext uri="{FF2B5EF4-FFF2-40B4-BE49-F238E27FC236}">
                <a16:creationId xmlns="" xmlns:a16="http://schemas.microsoft.com/office/drawing/2014/main" id="{F1524646-61A0-A5C4-49DE-F943783A2C6A}"/>
              </a:ext>
            </a:extLst>
          </p:cNvPr>
          <p:cNvCxnSpPr>
            <a:cxnSpLocks/>
            <a:endCxn id="39" idx="3"/>
          </p:cNvCxnSpPr>
          <p:nvPr/>
        </p:nvCxnSpPr>
        <p:spPr>
          <a:xfrm>
            <a:off x="6675369" y="2203573"/>
            <a:ext cx="12178" cy="24386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 xmlns:a16="http://schemas.microsoft.com/office/drawing/2014/main" id="{E967A2EA-AF76-D079-1E0B-18503277D839}"/>
              </a:ext>
            </a:extLst>
          </p:cNvPr>
          <p:cNvCxnSpPr>
            <a:cxnSpLocks/>
          </p:cNvCxnSpPr>
          <p:nvPr/>
        </p:nvCxnSpPr>
        <p:spPr>
          <a:xfrm>
            <a:off x="7609307" y="2020404"/>
            <a:ext cx="0" cy="456619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 xmlns:a16="http://schemas.microsoft.com/office/drawing/2014/main" id="{A6E6CF02-27E1-BDCC-D52C-79652D371BB6}"/>
              </a:ext>
            </a:extLst>
          </p:cNvPr>
          <p:cNvSpPr txBox="1"/>
          <p:nvPr/>
        </p:nvSpPr>
        <p:spPr>
          <a:xfrm>
            <a:off x="7040964" y="1653786"/>
            <a:ext cx="1136683" cy="348878"/>
          </a:xfrm>
          <a:prstGeom prst="rect">
            <a:avLst/>
          </a:prstGeom>
          <a:noFill/>
        </p:spPr>
        <p:txBody>
          <a:bodyPr wrap="square" rtlCol="0">
            <a:spAutoFit/>
          </a:bodyPr>
          <a:lstStyle/>
          <a:p>
            <a:pPr algn="ctr"/>
            <a:r>
              <a:rPr lang="en-US" sz="1667" dirty="0">
                <a:latin typeface="Rockwell" panose="02060603020205020403" pitchFamily="18" charset="0"/>
              </a:rPr>
              <a:t>B</a:t>
            </a:r>
          </a:p>
        </p:txBody>
      </p:sp>
      <p:cxnSp>
        <p:nvCxnSpPr>
          <p:cNvPr id="46" name="Straight Connector 45">
            <a:extLst>
              <a:ext uri="{FF2B5EF4-FFF2-40B4-BE49-F238E27FC236}">
                <a16:creationId xmlns="" xmlns:a16="http://schemas.microsoft.com/office/drawing/2014/main" id="{2EB255F6-4D66-30CF-2E84-45E3E3B2409D}"/>
              </a:ext>
            </a:extLst>
          </p:cNvPr>
          <p:cNvCxnSpPr>
            <a:cxnSpLocks/>
          </p:cNvCxnSpPr>
          <p:nvPr/>
        </p:nvCxnSpPr>
        <p:spPr>
          <a:xfrm>
            <a:off x="7609307" y="2243889"/>
            <a:ext cx="42449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 xmlns:a16="http://schemas.microsoft.com/office/drawing/2014/main" id="{577C6984-BCE3-E6B8-670E-EE6A0BB79ACF}"/>
              </a:ext>
            </a:extLst>
          </p:cNvPr>
          <p:cNvCxnSpPr>
            <a:cxnSpLocks/>
          </p:cNvCxnSpPr>
          <p:nvPr/>
        </p:nvCxnSpPr>
        <p:spPr>
          <a:xfrm>
            <a:off x="8033798" y="2991913"/>
            <a:ext cx="0" cy="359469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8" name="Isosceles Triangle 47">
            <a:extLst>
              <a:ext uri="{FF2B5EF4-FFF2-40B4-BE49-F238E27FC236}">
                <a16:creationId xmlns="" xmlns:a16="http://schemas.microsoft.com/office/drawing/2014/main" id="{0417D6ED-242C-7143-9C19-E1D13C817967}"/>
              </a:ext>
            </a:extLst>
          </p:cNvPr>
          <p:cNvSpPr/>
          <p:nvPr/>
        </p:nvSpPr>
        <p:spPr>
          <a:xfrm rot="10800000">
            <a:off x="7821553" y="2480626"/>
            <a:ext cx="448849" cy="417534"/>
          </a:xfrm>
          <a:prstGeom prst="triangl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500"/>
          </a:p>
        </p:txBody>
      </p:sp>
      <p:sp>
        <p:nvSpPr>
          <p:cNvPr id="49" name="Oval 48">
            <a:extLst>
              <a:ext uri="{FF2B5EF4-FFF2-40B4-BE49-F238E27FC236}">
                <a16:creationId xmlns="" xmlns:a16="http://schemas.microsoft.com/office/drawing/2014/main" id="{132B9514-F818-3287-C3E3-89BFF72C5B2F}"/>
              </a:ext>
            </a:extLst>
          </p:cNvPr>
          <p:cNvSpPr/>
          <p:nvPr/>
        </p:nvSpPr>
        <p:spPr>
          <a:xfrm>
            <a:off x="7949812" y="2880782"/>
            <a:ext cx="162345" cy="128509"/>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500"/>
          </a:p>
        </p:txBody>
      </p:sp>
      <p:cxnSp>
        <p:nvCxnSpPr>
          <p:cNvPr id="50" name="Straight Connector 49">
            <a:extLst>
              <a:ext uri="{FF2B5EF4-FFF2-40B4-BE49-F238E27FC236}">
                <a16:creationId xmlns="" xmlns:a16="http://schemas.microsoft.com/office/drawing/2014/main" id="{22FA6804-6850-AA7E-99A8-2D55A9D98C56}"/>
              </a:ext>
            </a:extLst>
          </p:cNvPr>
          <p:cNvCxnSpPr>
            <a:cxnSpLocks/>
            <a:endCxn id="48" idx="3"/>
          </p:cNvCxnSpPr>
          <p:nvPr/>
        </p:nvCxnSpPr>
        <p:spPr>
          <a:xfrm>
            <a:off x="8033799" y="2236766"/>
            <a:ext cx="12178" cy="24386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8" name="Chord 57">
            <a:extLst>
              <a:ext uri="{FF2B5EF4-FFF2-40B4-BE49-F238E27FC236}">
                <a16:creationId xmlns="" xmlns:a16="http://schemas.microsoft.com/office/drawing/2014/main" id="{40B54F15-8713-1DC4-97A8-2BCE151DDC64}"/>
              </a:ext>
            </a:extLst>
          </p:cNvPr>
          <p:cNvSpPr/>
          <p:nvPr/>
        </p:nvSpPr>
        <p:spPr>
          <a:xfrm rot="12057752">
            <a:off x="8776467" y="4661368"/>
            <a:ext cx="457607" cy="449442"/>
          </a:xfrm>
          <a:prstGeom prst="chord">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500"/>
          </a:p>
        </p:txBody>
      </p:sp>
      <p:sp>
        <p:nvSpPr>
          <p:cNvPr id="60" name="Chord 59">
            <a:extLst>
              <a:ext uri="{FF2B5EF4-FFF2-40B4-BE49-F238E27FC236}">
                <a16:creationId xmlns="" xmlns:a16="http://schemas.microsoft.com/office/drawing/2014/main" id="{45BCDB43-8AB9-4827-8C3A-66CC5FF23308}"/>
              </a:ext>
            </a:extLst>
          </p:cNvPr>
          <p:cNvSpPr/>
          <p:nvPr/>
        </p:nvSpPr>
        <p:spPr>
          <a:xfrm rot="12057752">
            <a:off x="8763932" y="3985813"/>
            <a:ext cx="457607" cy="449442"/>
          </a:xfrm>
          <a:prstGeom prst="chord">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500"/>
          </a:p>
        </p:txBody>
      </p:sp>
      <p:sp>
        <p:nvSpPr>
          <p:cNvPr id="61" name="Chord 60">
            <a:extLst>
              <a:ext uri="{FF2B5EF4-FFF2-40B4-BE49-F238E27FC236}">
                <a16:creationId xmlns="" xmlns:a16="http://schemas.microsoft.com/office/drawing/2014/main" id="{AC00DBBB-AF41-98A1-7E02-C21F868591FF}"/>
              </a:ext>
            </a:extLst>
          </p:cNvPr>
          <p:cNvSpPr/>
          <p:nvPr/>
        </p:nvSpPr>
        <p:spPr>
          <a:xfrm rot="12057752">
            <a:off x="8738932" y="3228614"/>
            <a:ext cx="457607" cy="449442"/>
          </a:xfrm>
          <a:prstGeom prst="chord">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500"/>
          </a:p>
        </p:txBody>
      </p:sp>
      <p:cxnSp>
        <p:nvCxnSpPr>
          <p:cNvPr id="62" name="Straight Connector 61">
            <a:extLst>
              <a:ext uri="{FF2B5EF4-FFF2-40B4-BE49-F238E27FC236}">
                <a16:creationId xmlns="" xmlns:a16="http://schemas.microsoft.com/office/drawing/2014/main" id="{7339DE9C-BD87-40C0-9D67-A996B8D1CE2F}"/>
              </a:ext>
            </a:extLst>
          </p:cNvPr>
          <p:cNvCxnSpPr>
            <a:cxnSpLocks/>
          </p:cNvCxnSpPr>
          <p:nvPr/>
        </p:nvCxnSpPr>
        <p:spPr>
          <a:xfrm>
            <a:off x="5682535" y="3465534"/>
            <a:ext cx="3201139"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65" name="Straight Connector 64">
            <a:extLst>
              <a:ext uri="{FF2B5EF4-FFF2-40B4-BE49-F238E27FC236}">
                <a16:creationId xmlns="" xmlns:a16="http://schemas.microsoft.com/office/drawing/2014/main" id="{F0512A1E-225E-9655-6B09-085C263BCD36}"/>
              </a:ext>
            </a:extLst>
          </p:cNvPr>
          <p:cNvCxnSpPr>
            <a:cxnSpLocks/>
          </p:cNvCxnSpPr>
          <p:nvPr/>
        </p:nvCxnSpPr>
        <p:spPr>
          <a:xfrm>
            <a:off x="5696493" y="4208233"/>
            <a:ext cx="3201139"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66" name="Straight Connector 65">
            <a:extLst>
              <a:ext uri="{FF2B5EF4-FFF2-40B4-BE49-F238E27FC236}">
                <a16:creationId xmlns="" xmlns:a16="http://schemas.microsoft.com/office/drawing/2014/main" id="{FA30F0AA-84CF-0B13-41DD-07345069AD04}"/>
              </a:ext>
            </a:extLst>
          </p:cNvPr>
          <p:cNvCxnSpPr>
            <a:cxnSpLocks/>
          </p:cNvCxnSpPr>
          <p:nvPr/>
        </p:nvCxnSpPr>
        <p:spPr>
          <a:xfrm>
            <a:off x="5713849" y="4886090"/>
            <a:ext cx="3201139"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67" name="TextBox 66">
            <a:extLst>
              <a:ext uri="{FF2B5EF4-FFF2-40B4-BE49-F238E27FC236}">
                <a16:creationId xmlns="" xmlns:a16="http://schemas.microsoft.com/office/drawing/2014/main" id="{5851E000-294E-AF49-5A54-5F67E834DB93}"/>
              </a:ext>
            </a:extLst>
          </p:cNvPr>
          <p:cNvSpPr txBox="1"/>
          <p:nvPr/>
        </p:nvSpPr>
        <p:spPr>
          <a:xfrm>
            <a:off x="6117066" y="3155799"/>
            <a:ext cx="1136683" cy="541238"/>
          </a:xfrm>
          <a:prstGeom prst="rect">
            <a:avLst/>
          </a:prstGeom>
          <a:noFill/>
        </p:spPr>
        <p:txBody>
          <a:bodyPr wrap="square" rtlCol="0">
            <a:spAutoFit/>
          </a:bodyPr>
          <a:lstStyle/>
          <a:p>
            <a:pPr algn="ctr"/>
            <a:r>
              <a:rPr lang="en-US" sz="2917" dirty="0">
                <a:latin typeface="Rockwell" panose="02060603020205020403" pitchFamily="18" charset="0"/>
                <a:sym typeface="Symbol" panose="05050102010706020507" pitchFamily="18" charset="2"/>
              </a:rPr>
              <a:t></a:t>
            </a:r>
            <a:endParaRPr lang="en-US" sz="2917" dirty="0">
              <a:latin typeface="Rockwell" panose="02060603020205020403" pitchFamily="18" charset="0"/>
            </a:endParaRPr>
          </a:p>
        </p:txBody>
      </p:sp>
      <p:sp>
        <p:nvSpPr>
          <p:cNvPr id="68" name="TextBox 67">
            <a:extLst>
              <a:ext uri="{FF2B5EF4-FFF2-40B4-BE49-F238E27FC236}">
                <a16:creationId xmlns="" xmlns:a16="http://schemas.microsoft.com/office/drawing/2014/main" id="{F079902A-0222-1FEA-7BF8-21711FCA75E8}"/>
              </a:ext>
            </a:extLst>
          </p:cNvPr>
          <p:cNvSpPr txBox="1"/>
          <p:nvPr/>
        </p:nvSpPr>
        <p:spPr>
          <a:xfrm>
            <a:off x="5692974" y="3901375"/>
            <a:ext cx="1136683" cy="541238"/>
          </a:xfrm>
          <a:prstGeom prst="rect">
            <a:avLst/>
          </a:prstGeom>
          <a:noFill/>
        </p:spPr>
        <p:txBody>
          <a:bodyPr wrap="square" rtlCol="0">
            <a:spAutoFit/>
          </a:bodyPr>
          <a:lstStyle/>
          <a:p>
            <a:pPr algn="ctr"/>
            <a:r>
              <a:rPr lang="en-US" sz="2917" dirty="0">
                <a:latin typeface="Rockwell" panose="02060603020205020403" pitchFamily="18" charset="0"/>
                <a:sym typeface="Symbol" panose="05050102010706020507" pitchFamily="18" charset="2"/>
              </a:rPr>
              <a:t></a:t>
            </a:r>
            <a:endParaRPr lang="en-US" sz="2917" dirty="0">
              <a:latin typeface="Rockwell" panose="02060603020205020403" pitchFamily="18" charset="0"/>
            </a:endParaRPr>
          </a:p>
        </p:txBody>
      </p:sp>
      <p:sp>
        <p:nvSpPr>
          <p:cNvPr id="69" name="TextBox 68">
            <a:extLst>
              <a:ext uri="{FF2B5EF4-FFF2-40B4-BE49-F238E27FC236}">
                <a16:creationId xmlns="" xmlns:a16="http://schemas.microsoft.com/office/drawing/2014/main" id="{C4B0AF59-4F4E-78D3-BF81-430E06C1374A}"/>
              </a:ext>
            </a:extLst>
          </p:cNvPr>
          <p:cNvSpPr txBox="1"/>
          <p:nvPr/>
        </p:nvSpPr>
        <p:spPr>
          <a:xfrm>
            <a:off x="7467197" y="3896537"/>
            <a:ext cx="1136683" cy="541238"/>
          </a:xfrm>
          <a:prstGeom prst="rect">
            <a:avLst/>
          </a:prstGeom>
          <a:noFill/>
        </p:spPr>
        <p:txBody>
          <a:bodyPr wrap="square" rtlCol="0">
            <a:spAutoFit/>
          </a:bodyPr>
          <a:lstStyle/>
          <a:p>
            <a:pPr algn="ctr"/>
            <a:r>
              <a:rPr lang="en-US" sz="2917" dirty="0">
                <a:latin typeface="Rockwell" panose="02060603020205020403" pitchFamily="18" charset="0"/>
                <a:sym typeface="Symbol" panose="05050102010706020507" pitchFamily="18" charset="2"/>
              </a:rPr>
              <a:t></a:t>
            </a:r>
            <a:endParaRPr lang="en-US" sz="2917" dirty="0">
              <a:latin typeface="Rockwell" panose="02060603020205020403" pitchFamily="18" charset="0"/>
            </a:endParaRPr>
          </a:p>
        </p:txBody>
      </p:sp>
      <p:sp>
        <p:nvSpPr>
          <p:cNvPr id="72" name="Oval 71">
            <a:extLst>
              <a:ext uri="{FF2B5EF4-FFF2-40B4-BE49-F238E27FC236}">
                <a16:creationId xmlns="" xmlns:a16="http://schemas.microsoft.com/office/drawing/2014/main" id="{5080AE23-48DD-1DED-428C-9ACFAA4AEC90}"/>
              </a:ext>
            </a:extLst>
          </p:cNvPr>
          <p:cNvSpPr/>
          <p:nvPr/>
        </p:nvSpPr>
        <p:spPr>
          <a:xfrm>
            <a:off x="11186932" y="3402220"/>
            <a:ext cx="95753" cy="102253"/>
          </a:xfrm>
          <a:prstGeom prst="ellipse">
            <a:avLst/>
          </a:prstGeom>
          <a:solidFill>
            <a:schemeClr val="tx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500"/>
          </a:p>
        </p:txBody>
      </p:sp>
      <p:sp>
        <p:nvSpPr>
          <p:cNvPr id="73" name="Oval 72">
            <a:extLst>
              <a:ext uri="{FF2B5EF4-FFF2-40B4-BE49-F238E27FC236}">
                <a16:creationId xmlns="" xmlns:a16="http://schemas.microsoft.com/office/drawing/2014/main" id="{A7B94FEB-D7A7-6143-ABB0-12F12032E3EA}"/>
              </a:ext>
            </a:extLst>
          </p:cNvPr>
          <p:cNvSpPr/>
          <p:nvPr/>
        </p:nvSpPr>
        <p:spPr>
          <a:xfrm>
            <a:off x="11198468" y="4157107"/>
            <a:ext cx="95753" cy="102253"/>
          </a:xfrm>
          <a:prstGeom prst="ellipse">
            <a:avLst/>
          </a:prstGeom>
          <a:solidFill>
            <a:schemeClr val="tx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500"/>
          </a:p>
        </p:txBody>
      </p:sp>
      <p:sp>
        <p:nvSpPr>
          <p:cNvPr id="74" name="Oval 73">
            <a:extLst>
              <a:ext uri="{FF2B5EF4-FFF2-40B4-BE49-F238E27FC236}">
                <a16:creationId xmlns="" xmlns:a16="http://schemas.microsoft.com/office/drawing/2014/main" id="{0D30F2B5-1A8C-90BE-5D26-285AF052FF2A}"/>
              </a:ext>
            </a:extLst>
          </p:cNvPr>
          <p:cNvSpPr/>
          <p:nvPr/>
        </p:nvSpPr>
        <p:spPr>
          <a:xfrm>
            <a:off x="10020493" y="4824096"/>
            <a:ext cx="95753" cy="102253"/>
          </a:xfrm>
          <a:prstGeom prst="ellipse">
            <a:avLst/>
          </a:prstGeom>
          <a:solidFill>
            <a:schemeClr val="tx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500"/>
          </a:p>
        </p:txBody>
      </p:sp>
      <p:sp>
        <p:nvSpPr>
          <p:cNvPr id="75" name="Oval 74">
            <a:extLst>
              <a:ext uri="{FF2B5EF4-FFF2-40B4-BE49-F238E27FC236}">
                <a16:creationId xmlns="" xmlns:a16="http://schemas.microsoft.com/office/drawing/2014/main" id="{462E7DA9-0F78-85B8-DAC9-23551878347D}"/>
              </a:ext>
            </a:extLst>
          </p:cNvPr>
          <p:cNvSpPr/>
          <p:nvPr/>
        </p:nvSpPr>
        <p:spPr>
          <a:xfrm>
            <a:off x="3444203" y="1541095"/>
            <a:ext cx="95753" cy="102253"/>
          </a:xfrm>
          <a:prstGeom prst="ellipse">
            <a:avLst/>
          </a:prstGeom>
          <a:solidFill>
            <a:schemeClr val="tx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500"/>
          </a:p>
        </p:txBody>
      </p:sp>
      <p:sp>
        <p:nvSpPr>
          <p:cNvPr id="77" name="TextBox 76">
            <a:extLst>
              <a:ext uri="{FF2B5EF4-FFF2-40B4-BE49-F238E27FC236}">
                <a16:creationId xmlns="" xmlns:a16="http://schemas.microsoft.com/office/drawing/2014/main" id="{BA1BF22B-7207-D796-6E41-6383B5720593}"/>
              </a:ext>
            </a:extLst>
          </p:cNvPr>
          <p:cNvSpPr txBox="1"/>
          <p:nvPr/>
        </p:nvSpPr>
        <p:spPr>
          <a:xfrm>
            <a:off x="7042359" y="4578420"/>
            <a:ext cx="1136683" cy="541238"/>
          </a:xfrm>
          <a:prstGeom prst="rect">
            <a:avLst/>
          </a:prstGeom>
          <a:noFill/>
        </p:spPr>
        <p:txBody>
          <a:bodyPr wrap="square" rtlCol="0">
            <a:spAutoFit/>
          </a:bodyPr>
          <a:lstStyle/>
          <a:p>
            <a:pPr algn="ctr"/>
            <a:r>
              <a:rPr lang="en-US" sz="2917" dirty="0">
                <a:latin typeface="Rockwell" panose="02060603020205020403" pitchFamily="18" charset="0"/>
                <a:sym typeface="Symbol" panose="05050102010706020507" pitchFamily="18" charset="2"/>
              </a:rPr>
              <a:t></a:t>
            </a:r>
            <a:endParaRPr lang="en-US" sz="2917" dirty="0">
              <a:latin typeface="Rockwell" panose="02060603020205020403" pitchFamily="18" charset="0"/>
            </a:endParaRPr>
          </a:p>
        </p:txBody>
      </p:sp>
      <p:sp>
        <p:nvSpPr>
          <p:cNvPr id="78" name="TextBox 77">
            <a:extLst>
              <a:ext uri="{FF2B5EF4-FFF2-40B4-BE49-F238E27FC236}">
                <a16:creationId xmlns="" xmlns:a16="http://schemas.microsoft.com/office/drawing/2014/main" id="{85E338D6-280A-1794-C849-D7D06D93B3D9}"/>
              </a:ext>
            </a:extLst>
          </p:cNvPr>
          <p:cNvSpPr txBox="1"/>
          <p:nvPr/>
        </p:nvSpPr>
        <p:spPr>
          <a:xfrm>
            <a:off x="5686054" y="4578122"/>
            <a:ext cx="1136683" cy="541238"/>
          </a:xfrm>
          <a:prstGeom prst="rect">
            <a:avLst/>
          </a:prstGeom>
          <a:noFill/>
        </p:spPr>
        <p:txBody>
          <a:bodyPr wrap="square" rtlCol="0">
            <a:spAutoFit/>
          </a:bodyPr>
          <a:lstStyle/>
          <a:p>
            <a:pPr algn="ctr"/>
            <a:r>
              <a:rPr lang="en-US" sz="2917" dirty="0">
                <a:latin typeface="Rockwell" panose="02060603020205020403" pitchFamily="18" charset="0"/>
                <a:sym typeface="Symbol" panose="05050102010706020507" pitchFamily="18" charset="2"/>
              </a:rPr>
              <a:t></a:t>
            </a:r>
            <a:endParaRPr lang="en-US" sz="2917" dirty="0">
              <a:latin typeface="Rockwell" panose="02060603020205020403" pitchFamily="18" charset="0"/>
            </a:endParaRPr>
          </a:p>
        </p:txBody>
      </p:sp>
      <p:sp>
        <p:nvSpPr>
          <p:cNvPr id="6" name="TextBox 5">
            <a:extLst>
              <a:ext uri="{FF2B5EF4-FFF2-40B4-BE49-F238E27FC236}">
                <a16:creationId xmlns="" xmlns:a16="http://schemas.microsoft.com/office/drawing/2014/main" id="{7746759F-73C5-F567-26D0-068A8EA74882}"/>
              </a:ext>
            </a:extLst>
          </p:cNvPr>
          <p:cNvSpPr txBox="1"/>
          <p:nvPr/>
        </p:nvSpPr>
        <p:spPr>
          <a:xfrm>
            <a:off x="9503706" y="5532274"/>
            <a:ext cx="1136683" cy="297454"/>
          </a:xfrm>
          <a:prstGeom prst="rect">
            <a:avLst/>
          </a:prstGeom>
          <a:noFill/>
        </p:spPr>
        <p:txBody>
          <a:bodyPr wrap="square" rtlCol="0">
            <a:spAutoFit/>
          </a:bodyPr>
          <a:lstStyle/>
          <a:p>
            <a:pPr algn="ctr"/>
            <a:r>
              <a:rPr lang="en-US" sz="1333" dirty="0">
                <a:latin typeface="Rockwell" panose="02060603020205020403" pitchFamily="18" charset="0"/>
              </a:rPr>
              <a:t>OR</a:t>
            </a:r>
          </a:p>
        </p:txBody>
      </p:sp>
      <p:sp>
        <p:nvSpPr>
          <p:cNvPr id="7" name="TextBox 6">
            <a:extLst>
              <a:ext uri="{FF2B5EF4-FFF2-40B4-BE49-F238E27FC236}">
                <a16:creationId xmlns="" xmlns:a16="http://schemas.microsoft.com/office/drawing/2014/main" id="{8066EDB1-9834-E6EB-8A1C-43691960B5B3}"/>
              </a:ext>
            </a:extLst>
          </p:cNvPr>
          <p:cNvSpPr txBox="1"/>
          <p:nvPr/>
        </p:nvSpPr>
        <p:spPr>
          <a:xfrm>
            <a:off x="10664030" y="5543168"/>
            <a:ext cx="1136683" cy="297454"/>
          </a:xfrm>
          <a:prstGeom prst="rect">
            <a:avLst/>
          </a:prstGeom>
          <a:noFill/>
        </p:spPr>
        <p:txBody>
          <a:bodyPr wrap="square" rtlCol="0">
            <a:spAutoFit/>
          </a:bodyPr>
          <a:lstStyle/>
          <a:p>
            <a:pPr algn="ctr"/>
            <a:r>
              <a:rPr lang="en-US" sz="1333" dirty="0">
                <a:latin typeface="Rockwell" panose="02060603020205020403" pitchFamily="18" charset="0"/>
              </a:rPr>
              <a:t>OR</a:t>
            </a:r>
          </a:p>
        </p:txBody>
      </p:sp>
      <p:sp>
        <p:nvSpPr>
          <p:cNvPr id="11" name="TextBox 10">
            <a:extLst>
              <a:ext uri="{FF2B5EF4-FFF2-40B4-BE49-F238E27FC236}">
                <a16:creationId xmlns="" xmlns:a16="http://schemas.microsoft.com/office/drawing/2014/main" id="{47C9B8BA-8B9C-9E58-F1A3-C83FA228632B}"/>
              </a:ext>
            </a:extLst>
          </p:cNvPr>
          <p:cNvSpPr txBox="1"/>
          <p:nvPr/>
        </p:nvSpPr>
        <p:spPr>
          <a:xfrm>
            <a:off x="8451702" y="3298587"/>
            <a:ext cx="1136683" cy="323165"/>
          </a:xfrm>
          <a:prstGeom prst="rect">
            <a:avLst/>
          </a:prstGeom>
          <a:noFill/>
        </p:spPr>
        <p:txBody>
          <a:bodyPr wrap="square" rtlCol="0">
            <a:spAutoFit/>
          </a:bodyPr>
          <a:lstStyle/>
          <a:p>
            <a:pPr algn="ctr"/>
            <a:r>
              <a:rPr lang="en-US" sz="500" dirty="0">
                <a:latin typeface="Rockwell" panose="02060603020205020403" pitchFamily="18" charset="0"/>
              </a:rPr>
              <a:t>A</a:t>
            </a:r>
          </a:p>
          <a:p>
            <a:pPr algn="ctr"/>
            <a:r>
              <a:rPr lang="en-US" sz="500" dirty="0">
                <a:latin typeface="Rockwell" panose="02060603020205020403" pitchFamily="18" charset="0"/>
              </a:rPr>
              <a:t>N</a:t>
            </a:r>
          </a:p>
          <a:p>
            <a:pPr algn="ctr"/>
            <a:r>
              <a:rPr lang="en-US" sz="500" dirty="0">
                <a:latin typeface="Rockwell" panose="02060603020205020403" pitchFamily="18" charset="0"/>
              </a:rPr>
              <a:t>D</a:t>
            </a:r>
          </a:p>
        </p:txBody>
      </p:sp>
      <p:sp>
        <p:nvSpPr>
          <p:cNvPr id="13" name="TextBox 12">
            <a:extLst>
              <a:ext uri="{FF2B5EF4-FFF2-40B4-BE49-F238E27FC236}">
                <a16:creationId xmlns="" xmlns:a16="http://schemas.microsoft.com/office/drawing/2014/main" id="{D7A0EF98-49D3-79E8-BD4A-1F27B4A56761}"/>
              </a:ext>
            </a:extLst>
          </p:cNvPr>
          <p:cNvSpPr txBox="1"/>
          <p:nvPr/>
        </p:nvSpPr>
        <p:spPr>
          <a:xfrm>
            <a:off x="8471400" y="4041393"/>
            <a:ext cx="1136683" cy="323165"/>
          </a:xfrm>
          <a:prstGeom prst="rect">
            <a:avLst/>
          </a:prstGeom>
          <a:noFill/>
        </p:spPr>
        <p:txBody>
          <a:bodyPr wrap="square" rtlCol="0">
            <a:spAutoFit/>
          </a:bodyPr>
          <a:lstStyle/>
          <a:p>
            <a:pPr algn="ctr"/>
            <a:r>
              <a:rPr lang="en-US" sz="500" dirty="0">
                <a:latin typeface="Rockwell" panose="02060603020205020403" pitchFamily="18" charset="0"/>
              </a:rPr>
              <a:t>A</a:t>
            </a:r>
          </a:p>
          <a:p>
            <a:pPr algn="ctr"/>
            <a:r>
              <a:rPr lang="en-US" sz="500" dirty="0">
                <a:latin typeface="Rockwell" panose="02060603020205020403" pitchFamily="18" charset="0"/>
              </a:rPr>
              <a:t>N</a:t>
            </a:r>
          </a:p>
          <a:p>
            <a:pPr algn="ctr"/>
            <a:r>
              <a:rPr lang="en-US" sz="500" dirty="0">
                <a:latin typeface="Rockwell" panose="02060603020205020403" pitchFamily="18" charset="0"/>
              </a:rPr>
              <a:t>D</a:t>
            </a:r>
          </a:p>
        </p:txBody>
      </p:sp>
      <p:sp>
        <p:nvSpPr>
          <p:cNvPr id="15" name="TextBox 14">
            <a:extLst>
              <a:ext uri="{FF2B5EF4-FFF2-40B4-BE49-F238E27FC236}">
                <a16:creationId xmlns="" xmlns:a16="http://schemas.microsoft.com/office/drawing/2014/main" id="{EB59FBD7-41C4-8041-CDA7-219425492E8C}"/>
              </a:ext>
            </a:extLst>
          </p:cNvPr>
          <p:cNvSpPr txBox="1"/>
          <p:nvPr/>
        </p:nvSpPr>
        <p:spPr>
          <a:xfrm>
            <a:off x="8494554" y="4732201"/>
            <a:ext cx="1136683" cy="323165"/>
          </a:xfrm>
          <a:prstGeom prst="rect">
            <a:avLst/>
          </a:prstGeom>
          <a:noFill/>
        </p:spPr>
        <p:txBody>
          <a:bodyPr wrap="square" rtlCol="0">
            <a:spAutoFit/>
          </a:bodyPr>
          <a:lstStyle/>
          <a:p>
            <a:pPr algn="ctr"/>
            <a:r>
              <a:rPr lang="en-US" sz="500" dirty="0">
                <a:latin typeface="Rockwell" panose="02060603020205020403" pitchFamily="18" charset="0"/>
              </a:rPr>
              <a:t>A</a:t>
            </a:r>
          </a:p>
          <a:p>
            <a:pPr algn="ctr"/>
            <a:r>
              <a:rPr lang="en-US" sz="500" dirty="0">
                <a:latin typeface="Rockwell" panose="02060603020205020403" pitchFamily="18" charset="0"/>
              </a:rPr>
              <a:t>N</a:t>
            </a:r>
          </a:p>
          <a:p>
            <a:pPr algn="ctr"/>
            <a:r>
              <a:rPr lang="en-US" sz="500" dirty="0">
                <a:latin typeface="Rockwell" panose="02060603020205020403" pitchFamily="18" charset="0"/>
              </a:rPr>
              <a:t>D</a:t>
            </a:r>
          </a:p>
        </p:txBody>
      </p:sp>
    </p:spTree>
    <p:extLst>
      <p:ext uri="{BB962C8B-B14F-4D97-AF65-F5344CB8AC3E}">
        <p14:creationId xmlns:p14="http://schemas.microsoft.com/office/powerpoint/2010/main" val="18828155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 xmlns:a16="http://schemas.microsoft.com/office/drawing/2014/main" id="{1067DB7C-39F5-DD1E-A421-F4F7A6BF6476}"/>
              </a:ext>
            </a:extLst>
          </p:cNvPr>
          <p:cNvSpPr/>
          <p:nvPr/>
        </p:nvSpPr>
        <p:spPr>
          <a:xfrm>
            <a:off x="731327" y="290067"/>
            <a:ext cx="3047318" cy="593923"/>
          </a:xfrm>
          <a:prstGeom prst="rect">
            <a:avLst/>
          </a:prstGeom>
          <a:noFill/>
          <a:ln/>
        </p:spPr>
        <p:txBody>
          <a:bodyPr wrap="none" lIns="0" tIns="0" rIns="0" bIns="0" rtlCol="0" anchor="t"/>
          <a:lstStyle/>
          <a:p>
            <a:pPr>
              <a:lnSpc>
                <a:spcPts val="4666"/>
              </a:lnSpc>
            </a:pPr>
            <a:r>
              <a:rPr lang="en-US" sz="4000" dirty="0">
                <a:latin typeface="Rockwell" panose="02060603020205020403" pitchFamily="18" charset="0"/>
              </a:rPr>
              <a:t>3. Programmable Logic Array [PLA]</a:t>
            </a:r>
          </a:p>
        </p:txBody>
      </p:sp>
      <p:sp>
        <p:nvSpPr>
          <p:cNvPr id="3" name="TextBox 2">
            <a:extLst>
              <a:ext uri="{FF2B5EF4-FFF2-40B4-BE49-F238E27FC236}">
                <a16:creationId xmlns="" xmlns:a16="http://schemas.microsoft.com/office/drawing/2014/main" id="{714A6B06-0720-2EBD-C3EB-B30BDEC0ABEB}"/>
              </a:ext>
            </a:extLst>
          </p:cNvPr>
          <p:cNvSpPr txBox="1"/>
          <p:nvPr/>
        </p:nvSpPr>
        <p:spPr>
          <a:xfrm>
            <a:off x="876822" y="961449"/>
            <a:ext cx="6868438" cy="5401479"/>
          </a:xfrm>
          <a:prstGeom prst="rect">
            <a:avLst/>
          </a:prstGeom>
          <a:noFill/>
        </p:spPr>
        <p:txBody>
          <a:bodyPr wrap="square" rtlCol="0">
            <a:spAutoFit/>
          </a:bodyPr>
          <a:lstStyle/>
          <a:p>
            <a:pPr algn="just"/>
            <a:r>
              <a:rPr lang="en-US" sz="1500" dirty="0">
                <a:latin typeface="Rockwell" panose="02060603020205020403" pitchFamily="18" charset="0"/>
              </a:rPr>
              <a:t>A Programmable Logic Array (PLA) is a type of programmable logic device used to implement combinational logic circuits in a flexible and structured way. It consists of two programmable arrays: an AND array and an OR array, both of which can be configured by the user. </a:t>
            </a:r>
          </a:p>
          <a:p>
            <a:pPr algn="just"/>
            <a:endParaRPr lang="en-US" sz="1500" dirty="0">
              <a:latin typeface="Rockwell" panose="02060603020205020403" pitchFamily="18" charset="0"/>
            </a:endParaRPr>
          </a:p>
          <a:p>
            <a:pPr algn="just"/>
            <a:r>
              <a:rPr lang="en-US" sz="1500" dirty="0">
                <a:latin typeface="Rockwell" panose="02060603020205020403" pitchFamily="18" charset="0"/>
              </a:rPr>
              <a:t>The n inputs to the PLA are first fed into the programmable AND array, where various combinations of input literals (both true and complemented forms) are logically ANDed to generate multiple product terms (p). </a:t>
            </a:r>
          </a:p>
          <a:p>
            <a:pPr algn="just"/>
            <a:endParaRPr lang="en-US" sz="1500" dirty="0">
              <a:latin typeface="Rockwell" panose="02060603020205020403" pitchFamily="18" charset="0"/>
            </a:endParaRPr>
          </a:p>
          <a:p>
            <a:pPr algn="just"/>
            <a:r>
              <a:rPr lang="en-US" sz="1500" dirty="0">
                <a:latin typeface="Rockwell" panose="02060603020205020403" pitchFamily="18" charset="0"/>
              </a:rPr>
              <a:t>These product terms are then passed to the programmable OR array, where selected combinations of product terms are ORed together to form the desired m output functions. The key feature that distinguishes PLA from PAL is that both the AND </a:t>
            </a:r>
            <a:r>
              <a:rPr lang="en-US" sz="1500" dirty="0" err="1">
                <a:latin typeface="Rockwell" panose="02060603020205020403" pitchFamily="18" charset="0"/>
              </a:rPr>
              <a:t>and</a:t>
            </a:r>
            <a:r>
              <a:rPr lang="en-US" sz="1500" dirty="0">
                <a:latin typeface="Rockwell" panose="02060603020205020403" pitchFamily="18" charset="0"/>
              </a:rPr>
              <a:t> OR arrays are programmable, offering more flexibility in implementing complex logic functions. </a:t>
            </a:r>
          </a:p>
          <a:p>
            <a:pPr algn="just"/>
            <a:endParaRPr lang="en-US" sz="1500" dirty="0">
              <a:latin typeface="Rockwell" panose="02060603020205020403" pitchFamily="18" charset="0"/>
            </a:endParaRPr>
          </a:p>
          <a:p>
            <a:pPr algn="just"/>
            <a:r>
              <a:rPr lang="en-US" sz="1500" dirty="0">
                <a:latin typeface="Rockwell" panose="02060603020205020403" pitchFamily="18" charset="0"/>
              </a:rPr>
              <a:t>However, this flexibility comes at the cost of increased area, delay, and design complexity compared to PALs. </a:t>
            </a:r>
          </a:p>
          <a:p>
            <a:pPr algn="just"/>
            <a:endParaRPr lang="en-US" sz="1500" dirty="0">
              <a:latin typeface="Rockwell" panose="02060603020205020403" pitchFamily="18" charset="0"/>
            </a:endParaRPr>
          </a:p>
          <a:p>
            <a:pPr algn="just"/>
            <a:r>
              <a:rPr lang="en-US" sz="1500" dirty="0">
                <a:latin typeface="Rockwell" panose="02060603020205020403" pitchFamily="18" charset="0"/>
              </a:rPr>
              <a:t>PLAs are particularly useful in applications where multiple logic functions share common terms, as they allow optimal resource sharing and logic minimization. They are typically used in small-scale digital designs, state machines, and function generators where custom logic implementation is required.</a:t>
            </a:r>
            <a:endParaRPr lang="en-IN" sz="1500" dirty="0">
              <a:latin typeface="Rockwell" panose="02060603020205020403" pitchFamily="18" charset="0"/>
            </a:endParaRPr>
          </a:p>
        </p:txBody>
      </p:sp>
      <p:pic>
        <p:nvPicPr>
          <p:cNvPr id="4" name="Picture 3">
            <a:extLst>
              <a:ext uri="{FF2B5EF4-FFF2-40B4-BE49-F238E27FC236}">
                <a16:creationId xmlns="" xmlns:a16="http://schemas.microsoft.com/office/drawing/2014/main" id="{6339D617-2BD2-A127-39AB-F5BADB15C0FA}"/>
              </a:ext>
            </a:extLst>
          </p:cNvPr>
          <p:cNvPicPr>
            <a:picLocks noChangeAspect="1"/>
          </p:cNvPicPr>
          <p:nvPr/>
        </p:nvPicPr>
        <p:blipFill>
          <a:blip r:embed="rId2"/>
          <a:stretch>
            <a:fillRect/>
          </a:stretch>
        </p:blipFill>
        <p:spPr>
          <a:xfrm>
            <a:off x="7897850" y="2658697"/>
            <a:ext cx="3657411" cy="2156632"/>
          </a:xfrm>
          <a:prstGeom prst="rect">
            <a:avLst/>
          </a:prstGeom>
        </p:spPr>
      </p:pic>
      <p:pic>
        <p:nvPicPr>
          <p:cNvPr id="5" name="Picture 4">
            <a:extLst>
              <a:ext uri="{FF2B5EF4-FFF2-40B4-BE49-F238E27FC236}">
                <a16:creationId xmlns="" xmlns:a16="http://schemas.microsoft.com/office/drawing/2014/main" id="{77F36796-9DBD-46C8-5AAE-2C54FE1E5C8B}"/>
              </a:ext>
            </a:extLst>
          </p:cNvPr>
          <p:cNvPicPr>
            <a:picLocks noChangeAspect="1"/>
          </p:cNvPicPr>
          <p:nvPr/>
        </p:nvPicPr>
        <p:blipFill>
          <a:blip r:embed="rId3"/>
          <a:stretch>
            <a:fillRect/>
          </a:stretch>
        </p:blipFill>
        <p:spPr>
          <a:xfrm>
            <a:off x="9962090" y="132762"/>
            <a:ext cx="2156842" cy="873521"/>
          </a:xfrm>
          <a:prstGeom prst="rect">
            <a:avLst/>
          </a:prstGeom>
        </p:spPr>
      </p:pic>
      <p:cxnSp>
        <p:nvCxnSpPr>
          <p:cNvPr id="6" name="Straight Connector 5">
            <a:extLst>
              <a:ext uri="{FF2B5EF4-FFF2-40B4-BE49-F238E27FC236}">
                <a16:creationId xmlns="" xmlns:a16="http://schemas.microsoft.com/office/drawing/2014/main" id="{25811F19-2AD0-650B-4E11-E0F26E8B74E9}"/>
              </a:ext>
            </a:extLst>
          </p:cNvPr>
          <p:cNvCxnSpPr/>
          <p:nvPr/>
        </p:nvCxnSpPr>
        <p:spPr>
          <a:xfrm>
            <a:off x="0" y="6638794"/>
            <a:ext cx="2912302" cy="0"/>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 xmlns:a16="http://schemas.microsoft.com/office/drawing/2014/main" id="{93D56EE5-10B6-2F19-C1DB-E0E0D3E498A3}"/>
              </a:ext>
            </a:extLst>
          </p:cNvPr>
          <p:cNvSpPr/>
          <p:nvPr/>
        </p:nvSpPr>
        <p:spPr>
          <a:xfrm>
            <a:off x="2912302" y="6529191"/>
            <a:ext cx="6346520" cy="219207"/>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500" dirty="0"/>
          </a:p>
        </p:txBody>
      </p:sp>
      <p:cxnSp>
        <p:nvCxnSpPr>
          <p:cNvPr id="8" name="Straight Connector 7">
            <a:extLst>
              <a:ext uri="{FF2B5EF4-FFF2-40B4-BE49-F238E27FC236}">
                <a16:creationId xmlns="" xmlns:a16="http://schemas.microsoft.com/office/drawing/2014/main" id="{56BE74ED-B575-24CC-88EC-303E3FD71FBB}"/>
              </a:ext>
            </a:extLst>
          </p:cNvPr>
          <p:cNvCxnSpPr>
            <a:cxnSpLocks/>
            <a:stCxn id="7" idx="3"/>
          </p:cNvCxnSpPr>
          <p:nvPr/>
        </p:nvCxnSpPr>
        <p:spPr>
          <a:xfrm>
            <a:off x="9258822" y="6638794"/>
            <a:ext cx="187891" cy="0"/>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 xmlns:a16="http://schemas.microsoft.com/office/drawing/2014/main" id="{68A728B7-E24E-82BD-590C-520A39E4377F}"/>
              </a:ext>
            </a:extLst>
          </p:cNvPr>
          <p:cNvSpPr txBox="1"/>
          <p:nvPr/>
        </p:nvSpPr>
        <p:spPr>
          <a:xfrm>
            <a:off x="11542512" y="6529191"/>
            <a:ext cx="4248412" cy="323165"/>
          </a:xfrm>
          <a:prstGeom prst="rect">
            <a:avLst/>
          </a:prstGeom>
          <a:noFill/>
        </p:spPr>
        <p:txBody>
          <a:bodyPr wrap="square" rtlCol="0">
            <a:spAutoFit/>
          </a:bodyPr>
          <a:lstStyle/>
          <a:p>
            <a:r>
              <a:rPr lang="en-IN" sz="1500" dirty="0"/>
              <a:t>******</a:t>
            </a:r>
          </a:p>
        </p:txBody>
      </p:sp>
      <p:sp>
        <p:nvSpPr>
          <p:cNvPr id="11" name="TextBox 10">
            <a:extLst>
              <a:ext uri="{FF2B5EF4-FFF2-40B4-BE49-F238E27FC236}">
                <a16:creationId xmlns="" xmlns:a16="http://schemas.microsoft.com/office/drawing/2014/main" id="{281631B0-8447-5678-E4EF-F57354B3B4D8}"/>
              </a:ext>
            </a:extLst>
          </p:cNvPr>
          <p:cNvSpPr txBox="1"/>
          <p:nvPr/>
        </p:nvSpPr>
        <p:spPr>
          <a:xfrm>
            <a:off x="3131506" y="6497730"/>
            <a:ext cx="6461343" cy="297454"/>
          </a:xfrm>
          <a:prstGeom prst="rect">
            <a:avLst/>
          </a:prstGeom>
          <a:noFill/>
        </p:spPr>
        <p:txBody>
          <a:bodyPr wrap="square" rtlCol="0">
            <a:spAutoFit/>
          </a:bodyPr>
          <a:lstStyle/>
          <a:p>
            <a:r>
              <a:rPr lang="en-US" sz="1333" dirty="0">
                <a:latin typeface="Times New Roman" panose="02020603050405020304" pitchFamily="18" charset="0"/>
                <a:cs typeface="Times New Roman" panose="02020603050405020304" pitchFamily="18" charset="0"/>
              </a:rPr>
              <a:t>Application-Specific Integrated Circuit and Field Programmable Gate Array Design </a:t>
            </a:r>
            <a:endParaRPr lang="en-IN" sz="1333"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6664672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334668B6-8672-07B8-A1C6-59495F0DDD16}"/>
            </a:ext>
          </a:extLst>
        </p:cNvPr>
        <p:cNvGrpSpPr/>
        <p:nvPr/>
      </p:nvGrpSpPr>
      <p:grpSpPr>
        <a:xfrm>
          <a:off x="0" y="0"/>
          <a:ext cx="0" cy="0"/>
          <a:chOff x="0" y="0"/>
          <a:chExt cx="0" cy="0"/>
        </a:xfrm>
      </p:grpSpPr>
      <p:sp>
        <p:nvSpPr>
          <p:cNvPr id="2" name="Text 0">
            <a:extLst>
              <a:ext uri="{FF2B5EF4-FFF2-40B4-BE49-F238E27FC236}">
                <a16:creationId xmlns="" xmlns:a16="http://schemas.microsoft.com/office/drawing/2014/main" id="{BB1F1865-B267-A0D7-D08E-377D9FCA58EC}"/>
              </a:ext>
            </a:extLst>
          </p:cNvPr>
          <p:cNvSpPr/>
          <p:nvPr/>
        </p:nvSpPr>
        <p:spPr>
          <a:xfrm>
            <a:off x="814834" y="351644"/>
            <a:ext cx="3047318" cy="593923"/>
          </a:xfrm>
          <a:prstGeom prst="rect">
            <a:avLst/>
          </a:prstGeom>
          <a:noFill/>
          <a:ln/>
        </p:spPr>
        <p:txBody>
          <a:bodyPr wrap="none" lIns="0" tIns="0" rIns="0" bIns="0" rtlCol="0" anchor="t"/>
          <a:lstStyle/>
          <a:p>
            <a:pPr>
              <a:lnSpc>
                <a:spcPts val="4666"/>
              </a:lnSpc>
            </a:pPr>
            <a:r>
              <a:rPr lang="en-US" sz="4000" dirty="0">
                <a:latin typeface="Rockwell" panose="02060603020205020403" pitchFamily="18" charset="0"/>
              </a:rPr>
              <a:t>Half-Adder using PLA</a:t>
            </a:r>
          </a:p>
        </p:txBody>
      </p:sp>
      <mc:AlternateContent xmlns:mc="http://schemas.openxmlformats.org/markup-compatibility/2006" xmlns:a14="http://schemas.microsoft.com/office/drawing/2010/main">
        <mc:Choice Requires="a14">
          <p:sp>
            <p:nvSpPr>
              <p:cNvPr id="3" name="TextBox 2">
                <a:extLst>
                  <a:ext uri="{FF2B5EF4-FFF2-40B4-BE49-F238E27FC236}">
                    <a16:creationId xmlns="" xmlns:a16="http://schemas.microsoft.com/office/drawing/2014/main" id="{415C47B6-420B-B66C-2A3E-1CC8BAD1E062}"/>
                  </a:ext>
                </a:extLst>
              </p:cNvPr>
              <p:cNvSpPr txBox="1"/>
              <p:nvPr/>
            </p:nvSpPr>
            <p:spPr>
              <a:xfrm>
                <a:off x="731327" y="5780982"/>
                <a:ext cx="5240055" cy="635430"/>
              </a:xfrm>
              <a:prstGeom prst="rect">
                <a:avLst/>
              </a:prstGeom>
              <a:noFill/>
            </p:spPr>
            <p:txBody>
              <a:bodyPr wrap="square" rtlCol="0">
                <a:spAutoFit/>
              </a:bodyPr>
              <a:lstStyle/>
              <a:p>
                <a:r>
                  <a:rPr lang="en-US" sz="1667" dirty="0">
                    <a:latin typeface="Rockwell" panose="02060603020205020403" pitchFamily="18" charset="0"/>
                  </a:rPr>
                  <a:t>Sum = </a:t>
                </a:r>
                <a14:m>
                  <m:oMath xmlns:m="http://schemas.openxmlformats.org/officeDocument/2006/math">
                    <m:bar>
                      <m:barPr>
                        <m:pos m:val="top"/>
                        <m:ctrlPr>
                          <a:rPr lang="en-US" sz="1667" i="1">
                            <a:latin typeface="Cambria Math" panose="02040503050406030204" pitchFamily="18" charset="0"/>
                          </a:rPr>
                        </m:ctrlPr>
                      </m:barPr>
                      <m:e>
                        <m:r>
                          <a:rPr lang="en-US" sz="1667" i="1">
                            <a:latin typeface="Cambria Math" panose="02040503050406030204" pitchFamily="18" charset="0"/>
                          </a:rPr>
                          <m:t>𝐴</m:t>
                        </m:r>
                      </m:e>
                    </m:bar>
                    <m:r>
                      <a:rPr lang="en-US" sz="1667" i="1">
                        <a:latin typeface="Cambria Math" panose="02040503050406030204" pitchFamily="18" charset="0"/>
                      </a:rPr>
                      <m:t>𝐵</m:t>
                    </m:r>
                    <m:r>
                      <a:rPr lang="en-US" sz="1667" i="1">
                        <a:latin typeface="Cambria Math" panose="02040503050406030204" pitchFamily="18" charset="0"/>
                      </a:rPr>
                      <m:t>+</m:t>
                    </m:r>
                    <m:r>
                      <a:rPr lang="en-US" sz="1667" i="1">
                        <a:latin typeface="Cambria Math" panose="02040503050406030204" pitchFamily="18" charset="0"/>
                      </a:rPr>
                      <m:t>𝐴</m:t>
                    </m:r>
                    <m:bar>
                      <m:barPr>
                        <m:pos m:val="top"/>
                        <m:ctrlPr>
                          <a:rPr lang="en-US" sz="1667" i="1">
                            <a:latin typeface="Cambria Math" panose="02040503050406030204" pitchFamily="18" charset="0"/>
                          </a:rPr>
                        </m:ctrlPr>
                      </m:barPr>
                      <m:e>
                        <m:r>
                          <a:rPr lang="en-US" sz="1667" i="1">
                            <a:latin typeface="Cambria Math" panose="02040503050406030204" pitchFamily="18" charset="0"/>
                          </a:rPr>
                          <m:t>𝐵</m:t>
                        </m:r>
                      </m:e>
                    </m:bar>
                  </m:oMath>
                </a14:m>
                <a:endParaRPr lang="en-IN" sz="1667" dirty="0">
                  <a:latin typeface="Rockwell" panose="02060603020205020403" pitchFamily="18" charset="0"/>
                </a:endParaRPr>
              </a:p>
              <a:p>
                <a:r>
                  <a:rPr lang="en-IN" sz="1667" dirty="0">
                    <a:latin typeface="Rockwell" panose="02060603020205020403" pitchFamily="18" charset="0"/>
                  </a:rPr>
                  <a:t>Carry = </a:t>
                </a:r>
                <a:r>
                  <a:rPr lang="en-IN" sz="1667" i="1" dirty="0">
                    <a:latin typeface="Rockwell" panose="02060603020205020403" pitchFamily="18" charset="0"/>
                  </a:rPr>
                  <a:t>AB</a:t>
                </a:r>
              </a:p>
            </p:txBody>
          </p:sp>
        </mc:Choice>
        <mc:Fallback xmlns="">
          <p:sp>
            <p:nvSpPr>
              <p:cNvPr id="3" name="TextBox 2">
                <a:extLst>
                  <a:ext uri="{FF2B5EF4-FFF2-40B4-BE49-F238E27FC236}">
                    <a16:creationId xmlns:a16="http://schemas.microsoft.com/office/drawing/2014/main" xmlns:a14="http://schemas.microsoft.com/office/drawing/2010/main" xmlns="" id="{415C47B6-420B-B66C-2A3E-1CC8BAD1E062}"/>
                  </a:ext>
                </a:extLst>
              </p:cNvPr>
              <p:cNvSpPr txBox="1">
                <a:spLocks noRot="1" noChangeAspect="1" noMove="1" noResize="1" noEditPoints="1" noAdjustHandles="1" noChangeArrowheads="1" noChangeShapeType="1" noTextEdit="1"/>
              </p:cNvSpPr>
              <p:nvPr/>
            </p:nvSpPr>
            <p:spPr>
              <a:xfrm>
                <a:off x="731327" y="5780982"/>
                <a:ext cx="5240055" cy="635430"/>
              </a:xfrm>
              <a:prstGeom prst="rect">
                <a:avLst/>
              </a:prstGeom>
              <a:blipFill rotWithShape="0">
                <a:blip r:embed="rId2"/>
                <a:stretch>
                  <a:fillRect l="-814" b="-11429"/>
                </a:stretch>
              </a:blipFill>
            </p:spPr>
            <p:txBody>
              <a:bodyPr/>
              <a:lstStyle/>
              <a:p>
                <a:r>
                  <a:rPr lang="en-US">
                    <a:noFill/>
                  </a:rPr>
                  <a:t> </a:t>
                </a:r>
              </a:p>
            </p:txBody>
          </p:sp>
        </mc:Fallback>
      </mc:AlternateContent>
      <p:graphicFrame>
        <p:nvGraphicFramePr>
          <p:cNvPr id="4" name="Table 3">
            <a:extLst>
              <a:ext uri="{FF2B5EF4-FFF2-40B4-BE49-F238E27FC236}">
                <a16:creationId xmlns="" xmlns:a16="http://schemas.microsoft.com/office/drawing/2014/main" id="{A7CFCDCE-3C21-EE97-D79E-6877322DD9CE}"/>
              </a:ext>
            </a:extLst>
          </p:cNvPr>
          <p:cNvGraphicFramePr>
            <a:graphicFrameLocks noGrp="1"/>
          </p:cNvGraphicFramePr>
          <p:nvPr/>
        </p:nvGraphicFramePr>
        <p:xfrm>
          <a:off x="814833" y="2351297"/>
          <a:ext cx="3865672" cy="3248996"/>
        </p:xfrm>
        <a:graphic>
          <a:graphicData uri="http://schemas.openxmlformats.org/drawingml/2006/table">
            <a:tbl>
              <a:tblPr firstRow="1" bandRow="1">
                <a:tableStyleId>{2D5ABB26-0587-4C30-8999-92F81FD0307C}</a:tableStyleId>
              </a:tblPr>
              <a:tblGrid>
                <a:gridCol w="966418">
                  <a:extLst>
                    <a:ext uri="{9D8B030D-6E8A-4147-A177-3AD203B41FA5}">
                      <a16:colId xmlns="" xmlns:a16="http://schemas.microsoft.com/office/drawing/2014/main" val="2812978317"/>
                    </a:ext>
                  </a:extLst>
                </a:gridCol>
                <a:gridCol w="966418">
                  <a:extLst>
                    <a:ext uri="{9D8B030D-6E8A-4147-A177-3AD203B41FA5}">
                      <a16:colId xmlns="" xmlns:a16="http://schemas.microsoft.com/office/drawing/2014/main" val="23159461"/>
                    </a:ext>
                  </a:extLst>
                </a:gridCol>
                <a:gridCol w="966418">
                  <a:extLst>
                    <a:ext uri="{9D8B030D-6E8A-4147-A177-3AD203B41FA5}">
                      <a16:colId xmlns="" xmlns:a16="http://schemas.microsoft.com/office/drawing/2014/main" val="4074076207"/>
                    </a:ext>
                  </a:extLst>
                </a:gridCol>
                <a:gridCol w="966418">
                  <a:extLst>
                    <a:ext uri="{9D8B030D-6E8A-4147-A177-3AD203B41FA5}">
                      <a16:colId xmlns="" xmlns:a16="http://schemas.microsoft.com/office/drawing/2014/main" val="133699167"/>
                    </a:ext>
                  </a:extLst>
                </a:gridCol>
              </a:tblGrid>
              <a:tr h="304800">
                <a:tc>
                  <a:txBody>
                    <a:bodyPr/>
                    <a:lstStyle/>
                    <a:p>
                      <a:pPr algn="ctr"/>
                      <a:r>
                        <a:rPr lang="en-US" sz="1500" dirty="0">
                          <a:latin typeface="Rockwell" panose="02060603020205020403" pitchFamily="18" charset="0"/>
                        </a:rPr>
                        <a:t>A</a:t>
                      </a:r>
                      <a:endParaRPr lang="en-IN" sz="1500" dirty="0">
                        <a:latin typeface="Rockwell" panose="02060603020205020403" pitchFamily="18" charset="0"/>
                      </a:endParaRPr>
                    </a:p>
                  </a:txBody>
                  <a:tcPr marL="76200" marR="762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500" dirty="0">
                          <a:latin typeface="Rockwell" panose="02060603020205020403" pitchFamily="18" charset="0"/>
                        </a:rPr>
                        <a:t>B</a:t>
                      </a:r>
                      <a:endParaRPr lang="en-IN" sz="1500" dirty="0">
                        <a:latin typeface="Rockwell" panose="02060603020205020403" pitchFamily="18" charset="0"/>
                      </a:endParaRPr>
                    </a:p>
                  </a:txBody>
                  <a:tcPr marL="76200" marR="762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500" dirty="0">
                          <a:latin typeface="Rockwell" panose="02060603020205020403" pitchFamily="18" charset="0"/>
                        </a:rPr>
                        <a:t>Sum</a:t>
                      </a:r>
                      <a:endParaRPr lang="en-IN" sz="1500" dirty="0">
                        <a:latin typeface="Rockwell" panose="02060603020205020403" pitchFamily="18" charset="0"/>
                      </a:endParaRPr>
                    </a:p>
                  </a:txBody>
                  <a:tcPr marL="76200" marR="762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500" dirty="0">
                          <a:latin typeface="Rockwell" panose="02060603020205020403" pitchFamily="18" charset="0"/>
                        </a:rPr>
                        <a:t>Carry</a:t>
                      </a:r>
                      <a:endParaRPr lang="en-IN" sz="1500" dirty="0">
                        <a:latin typeface="Rockwell" panose="02060603020205020403" pitchFamily="18" charset="0"/>
                      </a:endParaRPr>
                    </a:p>
                  </a:txBody>
                  <a:tcPr marL="76200" marR="762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970589541"/>
                  </a:ext>
                </a:extLst>
              </a:tr>
              <a:tr h="736049">
                <a:tc>
                  <a:txBody>
                    <a:bodyPr/>
                    <a:lstStyle/>
                    <a:p>
                      <a:pPr algn="ctr"/>
                      <a:r>
                        <a:rPr lang="en-US" sz="1500" dirty="0">
                          <a:latin typeface="Rockwell" panose="02060603020205020403" pitchFamily="18" charset="0"/>
                        </a:rPr>
                        <a:t>0</a:t>
                      </a:r>
                      <a:endParaRPr lang="en-IN" sz="1500" dirty="0">
                        <a:latin typeface="Rockwell" panose="02060603020205020403" pitchFamily="18" charset="0"/>
                      </a:endParaRPr>
                    </a:p>
                  </a:txBody>
                  <a:tcPr marL="76200" marR="762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500" dirty="0">
                          <a:latin typeface="Rockwell" panose="02060603020205020403" pitchFamily="18" charset="0"/>
                        </a:rPr>
                        <a:t>0</a:t>
                      </a:r>
                      <a:endParaRPr lang="en-IN" sz="1500" dirty="0">
                        <a:latin typeface="Rockwell" panose="02060603020205020403" pitchFamily="18" charset="0"/>
                      </a:endParaRPr>
                    </a:p>
                  </a:txBody>
                  <a:tcPr marL="76200" marR="762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500" dirty="0">
                          <a:latin typeface="Rockwell" panose="02060603020205020403" pitchFamily="18" charset="0"/>
                        </a:rPr>
                        <a:t>0</a:t>
                      </a:r>
                      <a:endParaRPr lang="en-IN" sz="1500" dirty="0">
                        <a:latin typeface="Rockwell" panose="02060603020205020403" pitchFamily="18" charset="0"/>
                      </a:endParaRPr>
                    </a:p>
                  </a:txBody>
                  <a:tcPr marL="76200" marR="762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500" dirty="0">
                          <a:latin typeface="Rockwell" panose="02060603020205020403" pitchFamily="18" charset="0"/>
                        </a:rPr>
                        <a:t>0</a:t>
                      </a:r>
                      <a:endParaRPr lang="en-IN" sz="1500" dirty="0">
                        <a:latin typeface="Rockwell" panose="02060603020205020403" pitchFamily="18" charset="0"/>
                      </a:endParaRPr>
                    </a:p>
                  </a:txBody>
                  <a:tcPr marL="76200" marR="762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2262123902"/>
                  </a:ext>
                </a:extLst>
              </a:tr>
              <a:tr h="736049">
                <a:tc>
                  <a:txBody>
                    <a:bodyPr/>
                    <a:lstStyle/>
                    <a:p>
                      <a:pPr algn="ctr"/>
                      <a:r>
                        <a:rPr lang="en-US" sz="1500" dirty="0">
                          <a:latin typeface="Rockwell" panose="02060603020205020403" pitchFamily="18" charset="0"/>
                        </a:rPr>
                        <a:t>0</a:t>
                      </a:r>
                      <a:endParaRPr lang="en-IN" sz="1500" dirty="0">
                        <a:latin typeface="Rockwell" panose="02060603020205020403" pitchFamily="18" charset="0"/>
                      </a:endParaRPr>
                    </a:p>
                  </a:txBody>
                  <a:tcPr marL="76200" marR="762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500" dirty="0">
                          <a:latin typeface="Rockwell" panose="02060603020205020403" pitchFamily="18" charset="0"/>
                        </a:rPr>
                        <a:t>1</a:t>
                      </a:r>
                      <a:endParaRPr lang="en-IN" sz="1500" dirty="0">
                        <a:latin typeface="Rockwell" panose="02060603020205020403" pitchFamily="18" charset="0"/>
                      </a:endParaRPr>
                    </a:p>
                  </a:txBody>
                  <a:tcPr marL="76200" marR="762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500" dirty="0">
                          <a:latin typeface="Rockwell" panose="02060603020205020403" pitchFamily="18" charset="0"/>
                        </a:rPr>
                        <a:t>1</a:t>
                      </a:r>
                      <a:endParaRPr lang="en-IN" sz="1500" dirty="0">
                        <a:latin typeface="Rockwell" panose="02060603020205020403" pitchFamily="18" charset="0"/>
                      </a:endParaRPr>
                    </a:p>
                  </a:txBody>
                  <a:tcPr marL="76200" marR="762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500" dirty="0">
                          <a:latin typeface="Rockwell" panose="02060603020205020403" pitchFamily="18" charset="0"/>
                        </a:rPr>
                        <a:t>0</a:t>
                      </a:r>
                      <a:endParaRPr lang="en-IN" sz="1500" dirty="0">
                        <a:latin typeface="Rockwell" panose="02060603020205020403" pitchFamily="18" charset="0"/>
                      </a:endParaRPr>
                    </a:p>
                  </a:txBody>
                  <a:tcPr marL="76200" marR="762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3180811442"/>
                  </a:ext>
                </a:extLst>
              </a:tr>
              <a:tr h="736049">
                <a:tc>
                  <a:txBody>
                    <a:bodyPr/>
                    <a:lstStyle/>
                    <a:p>
                      <a:pPr algn="ctr"/>
                      <a:r>
                        <a:rPr lang="en-US" sz="1500" dirty="0">
                          <a:latin typeface="Rockwell" panose="02060603020205020403" pitchFamily="18" charset="0"/>
                        </a:rPr>
                        <a:t>1</a:t>
                      </a:r>
                      <a:endParaRPr lang="en-IN" sz="1500" dirty="0">
                        <a:latin typeface="Rockwell" panose="02060603020205020403" pitchFamily="18" charset="0"/>
                      </a:endParaRPr>
                    </a:p>
                  </a:txBody>
                  <a:tcPr marL="76200" marR="762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500" dirty="0">
                          <a:latin typeface="Rockwell" panose="02060603020205020403" pitchFamily="18" charset="0"/>
                        </a:rPr>
                        <a:t>0</a:t>
                      </a:r>
                      <a:endParaRPr lang="en-IN" sz="1500" dirty="0">
                        <a:latin typeface="Rockwell" panose="02060603020205020403" pitchFamily="18" charset="0"/>
                      </a:endParaRPr>
                    </a:p>
                  </a:txBody>
                  <a:tcPr marL="76200" marR="762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500" dirty="0">
                          <a:latin typeface="Rockwell" panose="02060603020205020403" pitchFamily="18" charset="0"/>
                        </a:rPr>
                        <a:t>1</a:t>
                      </a:r>
                      <a:endParaRPr lang="en-IN" sz="1500" dirty="0">
                        <a:latin typeface="Rockwell" panose="02060603020205020403" pitchFamily="18" charset="0"/>
                      </a:endParaRPr>
                    </a:p>
                  </a:txBody>
                  <a:tcPr marL="76200" marR="762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500" dirty="0">
                          <a:latin typeface="Rockwell" panose="02060603020205020403" pitchFamily="18" charset="0"/>
                        </a:rPr>
                        <a:t>0</a:t>
                      </a:r>
                      <a:endParaRPr lang="en-IN" sz="1500" dirty="0">
                        <a:latin typeface="Rockwell" panose="02060603020205020403" pitchFamily="18" charset="0"/>
                      </a:endParaRPr>
                    </a:p>
                  </a:txBody>
                  <a:tcPr marL="76200" marR="762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2635449575"/>
                  </a:ext>
                </a:extLst>
              </a:tr>
              <a:tr h="736049">
                <a:tc>
                  <a:txBody>
                    <a:bodyPr/>
                    <a:lstStyle/>
                    <a:p>
                      <a:pPr algn="ctr"/>
                      <a:r>
                        <a:rPr lang="en-US" sz="1500" dirty="0">
                          <a:latin typeface="Rockwell" panose="02060603020205020403" pitchFamily="18" charset="0"/>
                        </a:rPr>
                        <a:t>1</a:t>
                      </a:r>
                      <a:endParaRPr lang="en-IN" sz="1500" dirty="0">
                        <a:latin typeface="Rockwell" panose="02060603020205020403" pitchFamily="18" charset="0"/>
                      </a:endParaRPr>
                    </a:p>
                  </a:txBody>
                  <a:tcPr marL="76200" marR="762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500" dirty="0">
                          <a:latin typeface="Rockwell" panose="02060603020205020403" pitchFamily="18" charset="0"/>
                        </a:rPr>
                        <a:t>1</a:t>
                      </a:r>
                      <a:endParaRPr lang="en-IN" sz="1500" dirty="0">
                        <a:latin typeface="Rockwell" panose="02060603020205020403" pitchFamily="18" charset="0"/>
                      </a:endParaRPr>
                    </a:p>
                  </a:txBody>
                  <a:tcPr marL="76200" marR="762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500" dirty="0">
                          <a:latin typeface="Rockwell" panose="02060603020205020403" pitchFamily="18" charset="0"/>
                        </a:rPr>
                        <a:t>0</a:t>
                      </a:r>
                      <a:endParaRPr lang="en-IN" sz="1500" dirty="0">
                        <a:latin typeface="Rockwell" panose="02060603020205020403" pitchFamily="18" charset="0"/>
                      </a:endParaRPr>
                    </a:p>
                  </a:txBody>
                  <a:tcPr marL="76200" marR="762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500" dirty="0">
                          <a:latin typeface="Rockwell" panose="02060603020205020403" pitchFamily="18" charset="0"/>
                        </a:rPr>
                        <a:t>1</a:t>
                      </a:r>
                      <a:endParaRPr lang="en-IN" sz="1500" dirty="0">
                        <a:latin typeface="Rockwell" panose="02060603020205020403" pitchFamily="18" charset="0"/>
                      </a:endParaRPr>
                    </a:p>
                  </a:txBody>
                  <a:tcPr marL="76200" marR="762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3408882009"/>
                  </a:ext>
                </a:extLst>
              </a:tr>
            </a:tbl>
          </a:graphicData>
        </a:graphic>
      </p:graphicFrame>
      <p:sp>
        <p:nvSpPr>
          <p:cNvPr id="5" name="TextBox 4">
            <a:extLst>
              <a:ext uri="{FF2B5EF4-FFF2-40B4-BE49-F238E27FC236}">
                <a16:creationId xmlns="" xmlns:a16="http://schemas.microsoft.com/office/drawing/2014/main" id="{D9C3ACA0-C50B-14EC-A4DD-A1CD1AE17933}"/>
              </a:ext>
            </a:extLst>
          </p:cNvPr>
          <p:cNvSpPr txBox="1"/>
          <p:nvPr/>
        </p:nvSpPr>
        <p:spPr>
          <a:xfrm>
            <a:off x="9368975" y="1077824"/>
            <a:ext cx="2463451" cy="348878"/>
          </a:xfrm>
          <a:prstGeom prst="rect">
            <a:avLst/>
          </a:prstGeom>
          <a:noFill/>
        </p:spPr>
        <p:txBody>
          <a:bodyPr wrap="square" rtlCol="0">
            <a:spAutoFit/>
          </a:bodyPr>
          <a:lstStyle/>
          <a:p>
            <a:r>
              <a:rPr lang="en-US" sz="1667" dirty="0">
                <a:latin typeface="Rockwell" panose="02060603020205020403" pitchFamily="18" charset="0"/>
              </a:rPr>
              <a:t>Fig: Implementation</a:t>
            </a:r>
          </a:p>
        </p:txBody>
      </p:sp>
      <p:cxnSp>
        <p:nvCxnSpPr>
          <p:cNvPr id="8" name="Straight Connector 7">
            <a:extLst>
              <a:ext uri="{FF2B5EF4-FFF2-40B4-BE49-F238E27FC236}">
                <a16:creationId xmlns="" xmlns:a16="http://schemas.microsoft.com/office/drawing/2014/main" id="{B1FC20E4-E8A5-9618-252C-3F5DDEB5958E}"/>
              </a:ext>
            </a:extLst>
          </p:cNvPr>
          <p:cNvCxnSpPr>
            <a:cxnSpLocks/>
          </p:cNvCxnSpPr>
          <p:nvPr/>
        </p:nvCxnSpPr>
        <p:spPr>
          <a:xfrm>
            <a:off x="9196967" y="3465534"/>
            <a:ext cx="2463452"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9" name="Straight Connector 8">
            <a:extLst>
              <a:ext uri="{FF2B5EF4-FFF2-40B4-BE49-F238E27FC236}">
                <a16:creationId xmlns="" xmlns:a16="http://schemas.microsoft.com/office/drawing/2014/main" id="{C237AE20-2153-1755-69CA-6E084DA14D3F}"/>
              </a:ext>
            </a:extLst>
          </p:cNvPr>
          <p:cNvCxnSpPr>
            <a:cxnSpLocks/>
          </p:cNvCxnSpPr>
          <p:nvPr/>
        </p:nvCxnSpPr>
        <p:spPr>
          <a:xfrm>
            <a:off x="9207422" y="4195281"/>
            <a:ext cx="246345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 xmlns:a16="http://schemas.microsoft.com/office/drawing/2014/main" id="{D9EDE9FB-36CE-BA25-153A-27070BDBD90E}"/>
              </a:ext>
            </a:extLst>
          </p:cNvPr>
          <p:cNvCxnSpPr>
            <a:cxnSpLocks/>
          </p:cNvCxnSpPr>
          <p:nvPr/>
        </p:nvCxnSpPr>
        <p:spPr>
          <a:xfrm>
            <a:off x="9244374" y="4886090"/>
            <a:ext cx="246345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 xmlns:a16="http://schemas.microsoft.com/office/drawing/2014/main" id="{A41034D1-933F-BD0A-AF9F-5C78C0E124E2}"/>
              </a:ext>
            </a:extLst>
          </p:cNvPr>
          <p:cNvCxnSpPr>
            <a:cxnSpLocks/>
          </p:cNvCxnSpPr>
          <p:nvPr/>
        </p:nvCxnSpPr>
        <p:spPr>
          <a:xfrm>
            <a:off x="6250878" y="1987211"/>
            <a:ext cx="0" cy="459939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 xmlns:a16="http://schemas.microsoft.com/office/drawing/2014/main" id="{3F0ADE78-1FF5-DF79-C445-A2F04D47A2D8}"/>
              </a:ext>
            </a:extLst>
          </p:cNvPr>
          <p:cNvSpPr txBox="1"/>
          <p:nvPr/>
        </p:nvSpPr>
        <p:spPr>
          <a:xfrm>
            <a:off x="5682534" y="1620592"/>
            <a:ext cx="1136683" cy="348878"/>
          </a:xfrm>
          <a:prstGeom prst="rect">
            <a:avLst/>
          </a:prstGeom>
          <a:noFill/>
        </p:spPr>
        <p:txBody>
          <a:bodyPr wrap="square" rtlCol="0">
            <a:spAutoFit/>
          </a:bodyPr>
          <a:lstStyle/>
          <a:p>
            <a:pPr algn="ctr"/>
            <a:r>
              <a:rPr lang="en-US" sz="1667" dirty="0">
                <a:latin typeface="Rockwell" panose="02060603020205020403" pitchFamily="18" charset="0"/>
              </a:rPr>
              <a:t>A</a:t>
            </a:r>
          </a:p>
        </p:txBody>
      </p:sp>
      <p:cxnSp>
        <p:nvCxnSpPr>
          <p:cNvPr id="20" name="Straight Connector 19">
            <a:extLst>
              <a:ext uri="{FF2B5EF4-FFF2-40B4-BE49-F238E27FC236}">
                <a16:creationId xmlns="" xmlns:a16="http://schemas.microsoft.com/office/drawing/2014/main" id="{EDC253B9-E30F-571B-BD8B-823D7915D575}"/>
              </a:ext>
            </a:extLst>
          </p:cNvPr>
          <p:cNvCxnSpPr>
            <a:cxnSpLocks/>
          </p:cNvCxnSpPr>
          <p:nvPr/>
        </p:nvCxnSpPr>
        <p:spPr>
          <a:xfrm>
            <a:off x="10057467" y="3117590"/>
            <a:ext cx="0" cy="2378206"/>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 xmlns:a16="http://schemas.microsoft.com/office/drawing/2014/main" id="{B061A7E3-22E6-5FD1-3565-CEAAF991C358}"/>
              </a:ext>
            </a:extLst>
          </p:cNvPr>
          <p:cNvCxnSpPr>
            <a:cxnSpLocks/>
          </p:cNvCxnSpPr>
          <p:nvPr/>
        </p:nvCxnSpPr>
        <p:spPr>
          <a:xfrm>
            <a:off x="11238743" y="3120362"/>
            <a:ext cx="0" cy="2378206"/>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pic>
        <p:nvPicPr>
          <p:cNvPr id="22" name="Picture 21">
            <a:extLst>
              <a:ext uri="{FF2B5EF4-FFF2-40B4-BE49-F238E27FC236}">
                <a16:creationId xmlns="" xmlns:a16="http://schemas.microsoft.com/office/drawing/2014/main" id="{C9DBDC86-C312-5473-E73B-D1A83FF2E271}"/>
              </a:ext>
            </a:extLst>
          </p:cNvPr>
          <p:cNvPicPr>
            <a:picLocks noChangeAspect="1"/>
          </p:cNvPicPr>
          <p:nvPr/>
        </p:nvPicPr>
        <p:blipFill>
          <a:blip r:embed="rId3"/>
          <a:stretch>
            <a:fillRect/>
          </a:stretch>
        </p:blipFill>
        <p:spPr>
          <a:xfrm rot="10800000">
            <a:off x="9650371" y="5303932"/>
            <a:ext cx="843353" cy="604573"/>
          </a:xfrm>
          <a:prstGeom prst="rect">
            <a:avLst/>
          </a:prstGeom>
        </p:spPr>
      </p:pic>
      <p:pic>
        <p:nvPicPr>
          <p:cNvPr id="23" name="Picture 22">
            <a:extLst>
              <a:ext uri="{FF2B5EF4-FFF2-40B4-BE49-F238E27FC236}">
                <a16:creationId xmlns="" xmlns:a16="http://schemas.microsoft.com/office/drawing/2014/main" id="{EBA39320-0D1F-49FD-EEE1-12C88BB72388}"/>
              </a:ext>
            </a:extLst>
          </p:cNvPr>
          <p:cNvPicPr>
            <a:picLocks noChangeAspect="1"/>
          </p:cNvPicPr>
          <p:nvPr/>
        </p:nvPicPr>
        <p:blipFill>
          <a:blip r:embed="rId3"/>
          <a:stretch>
            <a:fillRect/>
          </a:stretch>
        </p:blipFill>
        <p:spPr>
          <a:xfrm rot="10800000">
            <a:off x="10817066" y="5303932"/>
            <a:ext cx="843353" cy="604573"/>
          </a:xfrm>
          <a:prstGeom prst="rect">
            <a:avLst/>
          </a:prstGeom>
        </p:spPr>
      </p:pic>
      <p:cxnSp>
        <p:nvCxnSpPr>
          <p:cNvPr id="24" name="Straight Connector 23">
            <a:extLst>
              <a:ext uri="{FF2B5EF4-FFF2-40B4-BE49-F238E27FC236}">
                <a16:creationId xmlns="" xmlns:a16="http://schemas.microsoft.com/office/drawing/2014/main" id="{6DD3CAD1-E4AD-4B3C-9D1F-6F1ACBC79F01}"/>
              </a:ext>
            </a:extLst>
          </p:cNvPr>
          <p:cNvCxnSpPr>
            <a:cxnSpLocks/>
          </p:cNvCxnSpPr>
          <p:nvPr/>
        </p:nvCxnSpPr>
        <p:spPr>
          <a:xfrm>
            <a:off x="10072048" y="5908505"/>
            <a:ext cx="0" cy="38099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 xmlns:a16="http://schemas.microsoft.com/office/drawing/2014/main" id="{89EDE48F-7BCD-DDA0-7C59-44694039C40B}"/>
              </a:ext>
            </a:extLst>
          </p:cNvPr>
          <p:cNvCxnSpPr>
            <a:cxnSpLocks/>
          </p:cNvCxnSpPr>
          <p:nvPr/>
        </p:nvCxnSpPr>
        <p:spPr>
          <a:xfrm>
            <a:off x="11238743" y="5908505"/>
            <a:ext cx="0" cy="38099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 xmlns:a16="http://schemas.microsoft.com/office/drawing/2014/main" id="{E1D0A273-5A33-1360-4D36-54A04568A476}"/>
              </a:ext>
            </a:extLst>
          </p:cNvPr>
          <p:cNvSpPr txBox="1"/>
          <p:nvPr/>
        </p:nvSpPr>
        <p:spPr>
          <a:xfrm>
            <a:off x="9503706" y="6309547"/>
            <a:ext cx="1136683" cy="348878"/>
          </a:xfrm>
          <a:prstGeom prst="rect">
            <a:avLst/>
          </a:prstGeom>
          <a:noFill/>
        </p:spPr>
        <p:txBody>
          <a:bodyPr wrap="square" rtlCol="0">
            <a:spAutoFit/>
          </a:bodyPr>
          <a:lstStyle/>
          <a:p>
            <a:pPr algn="ctr"/>
            <a:r>
              <a:rPr lang="en-US" sz="1667" dirty="0">
                <a:latin typeface="Rockwell" panose="02060603020205020403" pitchFamily="18" charset="0"/>
              </a:rPr>
              <a:t>Carry</a:t>
            </a:r>
          </a:p>
        </p:txBody>
      </p:sp>
      <p:sp>
        <p:nvSpPr>
          <p:cNvPr id="27" name="TextBox 26">
            <a:extLst>
              <a:ext uri="{FF2B5EF4-FFF2-40B4-BE49-F238E27FC236}">
                <a16:creationId xmlns="" xmlns:a16="http://schemas.microsoft.com/office/drawing/2014/main" id="{D563BA7F-427A-6333-9009-6CE0E7093797}"/>
              </a:ext>
            </a:extLst>
          </p:cNvPr>
          <p:cNvSpPr txBox="1"/>
          <p:nvPr/>
        </p:nvSpPr>
        <p:spPr>
          <a:xfrm>
            <a:off x="10670401" y="6309547"/>
            <a:ext cx="1136683" cy="348878"/>
          </a:xfrm>
          <a:prstGeom prst="rect">
            <a:avLst/>
          </a:prstGeom>
          <a:noFill/>
        </p:spPr>
        <p:txBody>
          <a:bodyPr wrap="square" rtlCol="0">
            <a:spAutoFit/>
          </a:bodyPr>
          <a:lstStyle/>
          <a:p>
            <a:pPr algn="ctr"/>
            <a:r>
              <a:rPr lang="en-US" sz="1667" dirty="0">
                <a:latin typeface="Rockwell" panose="02060603020205020403" pitchFamily="18" charset="0"/>
              </a:rPr>
              <a:t>Sum</a:t>
            </a:r>
          </a:p>
        </p:txBody>
      </p:sp>
      <p:sp>
        <p:nvSpPr>
          <p:cNvPr id="29" name="TextBox 28">
            <a:extLst>
              <a:ext uri="{FF2B5EF4-FFF2-40B4-BE49-F238E27FC236}">
                <a16:creationId xmlns="" xmlns:a16="http://schemas.microsoft.com/office/drawing/2014/main" id="{6E28D7D5-9979-9DC5-4526-3AADC4031D6A}"/>
              </a:ext>
            </a:extLst>
          </p:cNvPr>
          <p:cNvSpPr txBox="1"/>
          <p:nvPr/>
        </p:nvSpPr>
        <p:spPr>
          <a:xfrm>
            <a:off x="7048451" y="3155799"/>
            <a:ext cx="1136683" cy="541238"/>
          </a:xfrm>
          <a:prstGeom prst="rect">
            <a:avLst/>
          </a:prstGeom>
          <a:noFill/>
        </p:spPr>
        <p:txBody>
          <a:bodyPr wrap="square" rtlCol="0">
            <a:spAutoFit/>
          </a:bodyPr>
          <a:lstStyle/>
          <a:p>
            <a:pPr algn="ctr"/>
            <a:r>
              <a:rPr lang="en-US" sz="2917" dirty="0">
                <a:latin typeface="Rockwell" panose="02060603020205020403" pitchFamily="18" charset="0"/>
                <a:sym typeface="Symbol" panose="05050102010706020507" pitchFamily="18" charset="2"/>
              </a:rPr>
              <a:t></a:t>
            </a:r>
            <a:endParaRPr lang="en-US" sz="2917" dirty="0">
              <a:latin typeface="Rockwell" panose="02060603020205020403" pitchFamily="18" charset="0"/>
            </a:endParaRPr>
          </a:p>
        </p:txBody>
      </p:sp>
      <p:sp>
        <p:nvSpPr>
          <p:cNvPr id="31" name="TextBox 30">
            <a:extLst>
              <a:ext uri="{FF2B5EF4-FFF2-40B4-BE49-F238E27FC236}">
                <a16:creationId xmlns="" xmlns:a16="http://schemas.microsoft.com/office/drawing/2014/main" id="{D3CBA652-B311-33AE-CE6A-62A0B237DCDC}"/>
              </a:ext>
            </a:extLst>
          </p:cNvPr>
          <p:cNvSpPr txBox="1"/>
          <p:nvPr/>
        </p:nvSpPr>
        <p:spPr>
          <a:xfrm>
            <a:off x="758499" y="2042175"/>
            <a:ext cx="2509990" cy="348878"/>
          </a:xfrm>
          <a:prstGeom prst="rect">
            <a:avLst/>
          </a:prstGeom>
          <a:noFill/>
        </p:spPr>
        <p:txBody>
          <a:bodyPr wrap="square" rtlCol="0">
            <a:spAutoFit/>
          </a:bodyPr>
          <a:lstStyle/>
          <a:p>
            <a:r>
              <a:rPr lang="en-US" sz="1667" dirty="0">
                <a:latin typeface="Rockwell" panose="02060603020205020403" pitchFamily="18" charset="0"/>
              </a:rPr>
              <a:t>Truth Table:</a:t>
            </a:r>
          </a:p>
        </p:txBody>
      </p:sp>
      <p:sp>
        <p:nvSpPr>
          <p:cNvPr id="32" name="TextBox 31">
            <a:extLst>
              <a:ext uri="{FF2B5EF4-FFF2-40B4-BE49-F238E27FC236}">
                <a16:creationId xmlns="" xmlns:a16="http://schemas.microsoft.com/office/drawing/2014/main" id="{221F0931-5FC7-CB75-6B64-DFDAF83FC228}"/>
              </a:ext>
            </a:extLst>
          </p:cNvPr>
          <p:cNvSpPr txBox="1"/>
          <p:nvPr/>
        </p:nvSpPr>
        <p:spPr>
          <a:xfrm>
            <a:off x="758499" y="1126256"/>
            <a:ext cx="6172569" cy="605422"/>
          </a:xfrm>
          <a:prstGeom prst="rect">
            <a:avLst/>
          </a:prstGeom>
          <a:noFill/>
        </p:spPr>
        <p:txBody>
          <a:bodyPr wrap="square" rtlCol="0">
            <a:spAutoFit/>
          </a:bodyPr>
          <a:lstStyle/>
          <a:p>
            <a:r>
              <a:rPr lang="en-US" sz="1667" dirty="0">
                <a:latin typeface="Rockwell" panose="02060603020205020403" pitchFamily="18" charset="0"/>
              </a:rPr>
              <a:t>Note: AND gate and OR gate both are </a:t>
            </a:r>
            <a:r>
              <a:rPr lang="en-US" sz="1667" b="1" dirty="0">
                <a:latin typeface="Rockwell" panose="02060603020205020403" pitchFamily="18" charset="0"/>
              </a:rPr>
              <a:t>programmable </a:t>
            </a:r>
            <a:r>
              <a:rPr lang="en-US" sz="1667" dirty="0">
                <a:latin typeface="Rockwell" panose="02060603020205020403" pitchFamily="18" charset="0"/>
              </a:rPr>
              <a:t>represent as “</a:t>
            </a:r>
            <a:r>
              <a:rPr lang="en-US" sz="1667" dirty="0">
                <a:latin typeface="Rockwell" panose="02060603020205020403" pitchFamily="18" charset="0"/>
                <a:sym typeface="Symbol" panose="05050102010706020507" pitchFamily="18" charset="2"/>
              </a:rPr>
              <a:t>”</a:t>
            </a:r>
            <a:endParaRPr lang="en-US" sz="1667" dirty="0">
              <a:latin typeface="Rockwell" panose="02060603020205020403" pitchFamily="18" charset="0"/>
            </a:endParaRPr>
          </a:p>
        </p:txBody>
      </p:sp>
      <p:cxnSp>
        <p:nvCxnSpPr>
          <p:cNvPr id="34" name="Straight Connector 33">
            <a:extLst>
              <a:ext uri="{FF2B5EF4-FFF2-40B4-BE49-F238E27FC236}">
                <a16:creationId xmlns="" xmlns:a16="http://schemas.microsoft.com/office/drawing/2014/main" id="{43448F1A-3143-F30C-94F0-AC181EEC0A6D}"/>
              </a:ext>
            </a:extLst>
          </p:cNvPr>
          <p:cNvCxnSpPr>
            <a:cxnSpLocks/>
          </p:cNvCxnSpPr>
          <p:nvPr/>
        </p:nvCxnSpPr>
        <p:spPr>
          <a:xfrm>
            <a:off x="6250877" y="2210696"/>
            <a:ext cx="42449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 xmlns:a16="http://schemas.microsoft.com/office/drawing/2014/main" id="{2CC116B8-6100-1EF9-3A48-D51CF3759191}"/>
              </a:ext>
            </a:extLst>
          </p:cNvPr>
          <p:cNvCxnSpPr>
            <a:cxnSpLocks/>
          </p:cNvCxnSpPr>
          <p:nvPr/>
        </p:nvCxnSpPr>
        <p:spPr>
          <a:xfrm>
            <a:off x="6675369" y="2958719"/>
            <a:ext cx="12178" cy="362788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9" name="Isosceles Triangle 38">
            <a:extLst>
              <a:ext uri="{FF2B5EF4-FFF2-40B4-BE49-F238E27FC236}">
                <a16:creationId xmlns="" xmlns:a16="http://schemas.microsoft.com/office/drawing/2014/main" id="{00942B52-48E2-1B5A-43C1-4A32EF44BD5D}"/>
              </a:ext>
            </a:extLst>
          </p:cNvPr>
          <p:cNvSpPr/>
          <p:nvPr/>
        </p:nvSpPr>
        <p:spPr>
          <a:xfrm rot="10800000">
            <a:off x="6463124" y="2447433"/>
            <a:ext cx="448849" cy="417534"/>
          </a:xfrm>
          <a:prstGeom prst="triangl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500"/>
          </a:p>
        </p:txBody>
      </p:sp>
      <p:sp>
        <p:nvSpPr>
          <p:cNvPr id="40" name="Oval 39">
            <a:extLst>
              <a:ext uri="{FF2B5EF4-FFF2-40B4-BE49-F238E27FC236}">
                <a16:creationId xmlns="" xmlns:a16="http://schemas.microsoft.com/office/drawing/2014/main" id="{C7268234-D1B1-3A3F-0648-EE77C18162E3}"/>
              </a:ext>
            </a:extLst>
          </p:cNvPr>
          <p:cNvSpPr/>
          <p:nvPr/>
        </p:nvSpPr>
        <p:spPr>
          <a:xfrm>
            <a:off x="6591383" y="2847589"/>
            <a:ext cx="162345" cy="128509"/>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500"/>
          </a:p>
        </p:txBody>
      </p:sp>
      <p:cxnSp>
        <p:nvCxnSpPr>
          <p:cNvPr id="41" name="Straight Connector 40">
            <a:extLst>
              <a:ext uri="{FF2B5EF4-FFF2-40B4-BE49-F238E27FC236}">
                <a16:creationId xmlns="" xmlns:a16="http://schemas.microsoft.com/office/drawing/2014/main" id="{03EF06E5-67E2-097A-691D-C4C284B33D1E}"/>
              </a:ext>
            </a:extLst>
          </p:cNvPr>
          <p:cNvCxnSpPr>
            <a:cxnSpLocks/>
            <a:endCxn id="39" idx="3"/>
          </p:cNvCxnSpPr>
          <p:nvPr/>
        </p:nvCxnSpPr>
        <p:spPr>
          <a:xfrm>
            <a:off x="6675369" y="2203573"/>
            <a:ext cx="12178" cy="24386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 xmlns:a16="http://schemas.microsoft.com/office/drawing/2014/main" id="{24560520-B3E6-C164-8310-5DCCA123ECA3}"/>
              </a:ext>
            </a:extLst>
          </p:cNvPr>
          <p:cNvCxnSpPr>
            <a:cxnSpLocks/>
          </p:cNvCxnSpPr>
          <p:nvPr/>
        </p:nvCxnSpPr>
        <p:spPr>
          <a:xfrm>
            <a:off x="7609307" y="2020404"/>
            <a:ext cx="0" cy="456619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 xmlns:a16="http://schemas.microsoft.com/office/drawing/2014/main" id="{07B0CC61-B1BD-D94E-3F50-8EA2E3F4B82E}"/>
              </a:ext>
            </a:extLst>
          </p:cNvPr>
          <p:cNvSpPr txBox="1"/>
          <p:nvPr/>
        </p:nvSpPr>
        <p:spPr>
          <a:xfrm>
            <a:off x="7040964" y="1653786"/>
            <a:ext cx="1136683" cy="348878"/>
          </a:xfrm>
          <a:prstGeom prst="rect">
            <a:avLst/>
          </a:prstGeom>
          <a:noFill/>
        </p:spPr>
        <p:txBody>
          <a:bodyPr wrap="square" rtlCol="0">
            <a:spAutoFit/>
          </a:bodyPr>
          <a:lstStyle/>
          <a:p>
            <a:pPr algn="ctr"/>
            <a:r>
              <a:rPr lang="en-US" sz="1667" dirty="0">
                <a:latin typeface="Rockwell" panose="02060603020205020403" pitchFamily="18" charset="0"/>
              </a:rPr>
              <a:t>B</a:t>
            </a:r>
          </a:p>
        </p:txBody>
      </p:sp>
      <p:cxnSp>
        <p:nvCxnSpPr>
          <p:cNvPr id="46" name="Straight Connector 45">
            <a:extLst>
              <a:ext uri="{FF2B5EF4-FFF2-40B4-BE49-F238E27FC236}">
                <a16:creationId xmlns="" xmlns:a16="http://schemas.microsoft.com/office/drawing/2014/main" id="{ED2B068B-D749-5947-A1E9-9CC3DE0C5214}"/>
              </a:ext>
            </a:extLst>
          </p:cNvPr>
          <p:cNvCxnSpPr>
            <a:cxnSpLocks/>
          </p:cNvCxnSpPr>
          <p:nvPr/>
        </p:nvCxnSpPr>
        <p:spPr>
          <a:xfrm>
            <a:off x="7609307" y="2243889"/>
            <a:ext cx="42449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 xmlns:a16="http://schemas.microsoft.com/office/drawing/2014/main" id="{1CEC64D0-D18E-3852-46C2-2321B99326F2}"/>
              </a:ext>
            </a:extLst>
          </p:cNvPr>
          <p:cNvCxnSpPr>
            <a:cxnSpLocks/>
          </p:cNvCxnSpPr>
          <p:nvPr/>
        </p:nvCxnSpPr>
        <p:spPr>
          <a:xfrm>
            <a:off x="8033798" y="2991913"/>
            <a:ext cx="0" cy="359469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8" name="Isosceles Triangle 47">
            <a:extLst>
              <a:ext uri="{FF2B5EF4-FFF2-40B4-BE49-F238E27FC236}">
                <a16:creationId xmlns="" xmlns:a16="http://schemas.microsoft.com/office/drawing/2014/main" id="{2D7985DA-C209-7997-9D66-35E6EA096A6B}"/>
              </a:ext>
            </a:extLst>
          </p:cNvPr>
          <p:cNvSpPr/>
          <p:nvPr/>
        </p:nvSpPr>
        <p:spPr>
          <a:xfrm rot="10800000">
            <a:off x="7821553" y="2480626"/>
            <a:ext cx="448849" cy="417534"/>
          </a:xfrm>
          <a:prstGeom prst="triangl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500"/>
          </a:p>
        </p:txBody>
      </p:sp>
      <p:sp>
        <p:nvSpPr>
          <p:cNvPr id="49" name="Oval 48">
            <a:extLst>
              <a:ext uri="{FF2B5EF4-FFF2-40B4-BE49-F238E27FC236}">
                <a16:creationId xmlns="" xmlns:a16="http://schemas.microsoft.com/office/drawing/2014/main" id="{6F137218-8B69-4874-4BA8-08DD0A2D6844}"/>
              </a:ext>
            </a:extLst>
          </p:cNvPr>
          <p:cNvSpPr/>
          <p:nvPr/>
        </p:nvSpPr>
        <p:spPr>
          <a:xfrm>
            <a:off x="7949812" y="2880782"/>
            <a:ext cx="162345" cy="128509"/>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500"/>
          </a:p>
        </p:txBody>
      </p:sp>
      <p:cxnSp>
        <p:nvCxnSpPr>
          <p:cNvPr id="50" name="Straight Connector 49">
            <a:extLst>
              <a:ext uri="{FF2B5EF4-FFF2-40B4-BE49-F238E27FC236}">
                <a16:creationId xmlns="" xmlns:a16="http://schemas.microsoft.com/office/drawing/2014/main" id="{D46F6EAC-9F66-0BDD-DCD6-153E0312DA58}"/>
              </a:ext>
            </a:extLst>
          </p:cNvPr>
          <p:cNvCxnSpPr>
            <a:cxnSpLocks/>
            <a:endCxn id="48" idx="3"/>
          </p:cNvCxnSpPr>
          <p:nvPr/>
        </p:nvCxnSpPr>
        <p:spPr>
          <a:xfrm>
            <a:off x="8033799" y="2236766"/>
            <a:ext cx="12178" cy="24386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8" name="Chord 57">
            <a:extLst>
              <a:ext uri="{FF2B5EF4-FFF2-40B4-BE49-F238E27FC236}">
                <a16:creationId xmlns="" xmlns:a16="http://schemas.microsoft.com/office/drawing/2014/main" id="{9BCEFF5B-43A6-FB3B-8644-8E168342B0BE}"/>
              </a:ext>
            </a:extLst>
          </p:cNvPr>
          <p:cNvSpPr/>
          <p:nvPr/>
        </p:nvSpPr>
        <p:spPr>
          <a:xfrm rot="12057752">
            <a:off x="8776467" y="4661368"/>
            <a:ext cx="457607" cy="449442"/>
          </a:xfrm>
          <a:prstGeom prst="chord">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500"/>
          </a:p>
        </p:txBody>
      </p:sp>
      <p:sp>
        <p:nvSpPr>
          <p:cNvPr id="60" name="Chord 59">
            <a:extLst>
              <a:ext uri="{FF2B5EF4-FFF2-40B4-BE49-F238E27FC236}">
                <a16:creationId xmlns="" xmlns:a16="http://schemas.microsoft.com/office/drawing/2014/main" id="{9172277E-DF83-D2B3-B347-14B7D3DD6FE6}"/>
              </a:ext>
            </a:extLst>
          </p:cNvPr>
          <p:cNvSpPr/>
          <p:nvPr/>
        </p:nvSpPr>
        <p:spPr>
          <a:xfrm rot="12057752">
            <a:off x="8763932" y="3985813"/>
            <a:ext cx="457607" cy="449442"/>
          </a:xfrm>
          <a:prstGeom prst="chord">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500"/>
          </a:p>
        </p:txBody>
      </p:sp>
      <p:sp>
        <p:nvSpPr>
          <p:cNvPr id="61" name="Chord 60">
            <a:extLst>
              <a:ext uri="{FF2B5EF4-FFF2-40B4-BE49-F238E27FC236}">
                <a16:creationId xmlns="" xmlns:a16="http://schemas.microsoft.com/office/drawing/2014/main" id="{40F3D11E-8102-4785-0049-89491DC1FC66}"/>
              </a:ext>
            </a:extLst>
          </p:cNvPr>
          <p:cNvSpPr/>
          <p:nvPr/>
        </p:nvSpPr>
        <p:spPr>
          <a:xfrm rot="12057752">
            <a:off x="8738932" y="3228614"/>
            <a:ext cx="457607" cy="449442"/>
          </a:xfrm>
          <a:prstGeom prst="chord">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500"/>
          </a:p>
        </p:txBody>
      </p:sp>
      <p:cxnSp>
        <p:nvCxnSpPr>
          <p:cNvPr id="62" name="Straight Connector 61">
            <a:extLst>
              <a:ext uri="{FF2B5EF4-FFF2-40B4-BE49-F238E27FC236}">
                <a16:creationId xmlns="" xmlns:a16="http://schemas.microsoft.com/office/drawing/2014/main" id="{21AF8F63-92A8-675C-8F97-860A1BAB282A}"/>
              </a:ext>
            </a:extLst>
          </p:cNvPr>
          <p:cNvCxnSpPr>
            <a:cxnSpLocks/>
          </p:cNvCxnSpPr>
          <p:nvPr/>
        </p:nvCxnSpPr>
        <p:spPr>
          <a:xfrm>
            <a:off x="5682535" y="3465534"/>
            <a:ext cx="3201139"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65" name="Straight Connector 64">
            <a:extLst>
              <a:ext uri="{FF2B5EF4-FFF2-40B4-BE49-F238E27FC236}">
                <a16:creationId xmlns="" xmlns:a16="http://schemas.microsoft.com/office/drawing/2014/main" id="{871D4304-8EB0-7AC4-1E4A-30AA8DBBEED1}"/>
              </a:ext>
            </a:extLst>
          </p:cNvPr>
          <p:cNvCxnSpPr>
            <a:cxnSpLocks/>
          </p:cNvCxnSpPr>
          <p:nvPr/>
        </p:nvCxnSpPr>
        <p:spPr>
          <a:xfrm>
            <a:off x="5696493" y="4208233"/>
            <a:ext cx="3201139"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66" name="Straight Connector 65">
            <a:extLst>
              <a:ext uri="{FF2B5EF4-FFF2-40B4-BE49-F238E27FC236}">
                <a16:creationId xmlns="" xmlns:a16="http://schemas.microsoft.com/office/drawing/2014/main" id="{CD772859-5EF8-5DA5-52AE-9096AE6A5FC3}"/>
              </a:ext>
            </a:extLst>
          </p:cNvPr>
          <p:cNvCxnSpPr>
            <a:cxnSpLocks/>
          </p:cNvCxnSpPr>
          <p:nvPr/>
        </p:nvCxnSpPr>
        <p:spPr>
          <a:xfrm>
            <a:off x="5713849" y="4886090"/>
            <a:ext cx="3201139"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67" name="TextBox 66">
            <a:extLst>
              <a:ext uri="{FF2B5EF4-FFF2-40B4-BE49-F238E27FC236}">
                <a16:creationId xmlns="" xmlns:a16="http://schemas.microsoft.com/office/drawing/2014/main" id="{DE981B38-05FA-43BA-1C3E-B64CAB0F2F0B}"/>
              </a:ext>
            </a:extLst>
          </p:cNvPr>
          <p:cNvSpPr txBox="1"/>
          <p:nvPr/>
        </p:nvSpPr>
        <p:spPr>
          <a:xfrm>
            <a:off x="6117066" y="3155799"/>
            <a:ext cx="1136683" cy="541238"/>
          </a:xfrm>
          <a:prstGeom prst="rect">
            <a:avLst/>
          </a:prstGeom>
          <a:noFill/>
        </p:spPr>
        <p:txBody>
          <a:bodyPr wrap="square" rtlCol="0">
            <a:spAutoFit/>
          </a:bodyPr>
          <a:lstStyle/>
          <a:p>
            <a:pPr algn="ctr"/>
            <a:r>
              <a:rPr lang="en-US" sz="2917" dirty="0">
                <a:latin typeface="Rockwell" panose="02060603020205020403" pitchFamily="18" charset="0"/>
                <a:sym typeface="Symbol" panose="05050102010706020507" pitchFamily="18" charset="2"/>
              </a:rPr>
              <a:t></a:t>
            </a:r>
            <a:endParaRPr lang="en-US" sz="2917" dirty="0">
              <a:latin typeface="Rockwell" panose="02060603020205020403" pitchFamily="18" charset="0"/>
            </a:endParaRPr>
          </a:p>
        </p:txBody>
      </p:sp>
      <p:sp>
        <p:nvSpPr>
          <p:cNvPr id="68" name="TextBox 67">
            <a:extLst>
              <a:ext uri="{FF2B5EF4-FFF2-40B4-BE49-F238E27FC236}">
                <a16:creationId xmlns="" xmlns:a16="http://schemas.microsoft.com/office/drawing/2014/main" id="{E407059E-07CE-4472-6A1D-86AF5CF020FA}"/>
              </a:ext>
            </a:extLst>
          </p:cNvPr>
          <p:cNvSpPr txBox="1"/>
          <p:nvPr/>
        </p:nvSpPr>
        <p:spPr>
          <a:xfrm>
            <a:off x="5692974" y="3901375"/>
            <a:ext cx="1136683" cy="541238"/>
          </a:xfrm>
          <a:prstGeom prst="rect">
            <a:avLst/>
          </a:prstGeom>
          <a:noFill/>
        </p:spPr>
        <p:txBody>
          <a:bodyPr wrap="square" rtlCol="0">
            <a:spAutoFit/>
          </a:bodyPr>
          <a:lstStyle/>
          <a:p>
            <a:pPr algn="ctr"/>
            <a:r>
              <a:rPr lang="en-US" sz="2917" dirty="0">
                <a:latin typeface="Rockwell" panose="02060603020205020403" pitchFamily="18" charset="0"/>
                <a:sym typeface="Symbol" panose="05050102010706020507" pitchFamily="18" charset="2"/>
              </a:rPr>
              <a:t></a:t>
            </a:r>
            <a:endParaRPr lang="en-US" sz="2917" dirty="0">
              <a:latin typeface="Rockwell" panose="02060603020205020403" pitchFamily="18" charset="0"/>
            </a:endParaRPr>
          </a:p>
        </p:txBody>
      </p:sp>
      <p:sp>
        <p:nvSpPr>
          <p:cNvPr id="69" name="TextBox 68">
            <a:extLst>
              <a:ext uri="{FF2B5EF4-FFF2-40B4-BE49-F238E27FC236}">
                <a16:creationId xmlns="" xmlns:a16="http://schemas.microsoft.com/office/drawing/2014/main" id="{A6F89F35-7A51-7163-F1EC-C6A75ABA5992}"/>
              </a:ext>
            </a:extLst>
          </p:cNvPr>
          <p:cNvSpPr txBox="1"/>
          <p:nvPr/>
        </p:nvSpPr>
        <p:spPr>
          <a:xfrm>
            <a:off x="7467197" y="3896537"/>
            <a:ext cx="1136683" cy="541238"/>
          </a:xfrm>
          <a:prstGeom prst="rect">
            <a:avLst/>
          </a:prstGeom>
          <a:noFill/>
        </p:spPr>
        <p:txBody>
          <a:bodyPr wrap="square" rtlCol="0">
            <a:spAutoFit/>
          </a:bodyPr>
          <a:lstStyle/>
          <a:p>
            <a:pPr algn="ctr"/>
            <a:r>
              <a:rPr lang="en-US" sz="2917" dirty="0">
                <a:latin typeface="Rockwell" panose="02060603020205020403" pitchFamily="18" charset="0"/>
                <a:sym typeface="Symbol" panose="05050102010706020507" pitchFamily="18" charset="2"/>
              </a:rPr>
              <a:t></a:t>
            </a:r>
            <a:endParaRPr lang="en-US" sz="2917" dirty="0">
              <a:latin typeface="Rockwell" panose="02060603020205020403" pitchFamily="18" charset="0"/>
            </a:endParaRPr>
          </a:p>
        </p:txBody>
      </p:sp>
      <p:sp>
        <p:nvSpPr>
          <p:cNvPr id="6" name="TextBox 5">
            <a:extLst>
              <a:ext uri="{FF2B5EF4-FFF2-40B4-BE49-F238E27FC236}">
                <a16:creationId xmlns="" xmlns:a16="http://schemas.microsoft.com/office/drawing/2014/main" id="{F1CE6DA7-D463-795D-BD05-518D4DF6090F}"/>
              </a:ext>
            </a:extLst>
          </p:cNvPr>
          <p:cNvSpPr txBox="1"/>
          <p:nvPr/>
        </p:nvSpPr>
        <p:spPr>
          <a:xfrm>
            <a:off x="10670400" y="3155799"/>
            <a:ext cx="1136683" cy="541238"/>
          </a:xfrm>
          <a:prstGeom prst="rect">
            <a:avLst/>
          </a:prstGeom>
          <a:noFill/>
        </p:spPr>
        <p:txBody>
          <a:bodyPr wrap="square" rtlCol="0">
            <a:spAutoFit/>
          </a:bodyPr>
          <a:lstStyle/>
          <a:p>
            <a:pPr algn="ctr"/>
            <a:r>
              <a:rPr lang="en-US" sz="2917" dirty="0">
                <a:latin typeface="Rockwell" panose="02060603020205020403" pitchFamily="18" charset="0"/>
                <a:sym typeface="Symbol" panose="05050102010706020507" pitchFamily="18" charset="2"/>
              </a:rPr>
              <a:t></a:t>
            </a:r>
            <a:endParaRPr lang="en-US" sz="2917" dirty="0">
              <a:latin typeface="Rockwell" panose="02060603020205020403" pitchFamily="18" charset="0"/>
            </a:endParaRPr>
          </a:p>
        </p:txBody>
      </p:sp>
      <p:sp>
        <p:nvSpPr>
          <p:cNvPr id="7" name="TextBox 6">
            <a:extLst>
              <a:ext uri="{FF2B5EF4-FFF2-40B4-BE49-F238E27FC236}">
                <a16:creationId xmlns="" xmlns:a16="http://schemas.microsoft.com/office/drawing/2014/main" id="{63A27FE3-FECA-D741-EE55-D23F736C6F74}"/>
              </a:ext>
            </a:extLst>
          </p:cNvPr>
          <p:cNvSpPr txBox="1"/>
          <p:nvPr/>
        </p:nvSpPr>
        <p:spPr>
          <a:xfrm>
            <a:off x="10670399" y="3898931"/>
            <a:ext cx="1136683" cy="541238"/>
          </a:xfrm>
          <a:prstGeom prst="rect">
            <a:avLst/>
          </a:prstGeom>
          <a:noFill/>
        </p:spPr>
        <p:txBody>
          <a:bodyPr wrap="square" rtlCol="0">
            <a:spAutoFit/>
          </a:bodyPr>
          <a:lstStyle/>
          <a:p>
            <a:pPr algn="ctr"/>
            <a:r>
              <a:rPr lang="en-US" sz="2917" dirty="0">
                <a:latin typeface="Rockwell" panose="02060603020205020403" pitchFamily="18" charset="0"/>
                <a:sym typeface="Symbol" panose="05050102010706020507" pitchFamily="18" charset="2"/>
              </a:rPr>
              <a:t></a:t>
            </a:r>
            <a:endParaRPr lang="en-US" sz="2917" dirty="0">
              <a:latin typeface="Rockwell" panose="02060603020205020403" pitchFamily="18" charset="0"/>
            </a:endParaRPr>
          </a:p>
        </p:txBody>
      </p:sp>
      <p:sp>
        <p:nvSpPr>
          <p:cNvPr id="11" name="TextBox 10">
            <a:extLst>
              <a:ext uri="{FF2B5EF4-FFF2-40B4-BE49-F238E27FC236}">
                <a16:creationId xmlns="" xmlns:a16="http://schemas.microsoft.com/office/drawing/2014/main" id="{1F991E1A-A537-8CED-C31E-07B3EA4EA336}"/>
              </a:ext>
            </a:extLst>
          </p:cNvPr>
          <p:cNvSpPr txBox="1"/>
          <p:nvPr/>
        </p:nvSpPr>
        <p:spPr>
          <a:xfrm>
            <a:off x="9503705" y="4577626"/>
            <a:ext cx="1136683" cy="541238"/>
          </a:xfrm>
          <a:prstGeom prst="rect">
            <a:avLst/>
          </a:prstGeom>
          <a:noFill/>
        </p:spPr>
        <p:txBody>
          <a:bodyPr wrap="square" rtlCol="0">
            <a:spAutoFit/>
          </a:bodyPr>
          <a:lstStyle/>
          <a:p>
            <a:pPr algn="ctr"/>
            <a:r>
              <a:rPr lang="en-US" sz="2917" dirty="0">
                <a:latin typeface="Rockwell" panose="02060603020205020403" pitchFamily="18" charset="0"/>
                <a:sym typeface="Symbol" panose="05050102010706020507" pitchFamily="18" charset="2"/>
              </a:rPr>
              <a:t></a:t>
            </a:r>
            <a:endParaRPr lang="en-US" sz="2917" dirty="0">
              <a:latin typeface="Rockwell" panose="02060603020205020403" pitchFamily="18" charset="0"/>
            </a:endParaRPr>
          </a:p>
        </p:txBody>
      </p:sp>
      <p:sp>
        <p:nvSpPr>
          <p:cNvPr id="13" name="TextBox 12">
            <a:extLst>
              <a:ext uri="{FF2B5EF4-FFF2-40B4-BE49-F238E27FC236}">
                <a16:creationId xmlns="" xmlns:a16="http://schemas.microsoft.com/office/drawing/2014/main" id="{27F381F5-22E3-F541-F63D-6100C03AD6C8}"/>
              </a:ext>
            </a:extLst>
          </p:cNvPr>
          <p:cNvSpPr txBox="1"/>
          <p:nvPr/>
        </p:nvSpPr>
        <p:spPr>
          <a:xfrm>
            <a:off x="7042359" y="4578420"/>
            <a:ext cx="1136683" cy="541238"/>
          </a:xfrm>
          <a:prstGeom prst="rect">
            <a:avLst/>
          </a:prstGeom>
          <a:noFill/>
        </p:spPr>
        <p:txBody>
          <a:bodyPr wrap="square" rtlCol="0">
            <a:spAutoFit/>
          </a:bodyPr>
          <a:lstStyle/>
          <a:p>
            <a:pPr algn="ctr"/>
            <a:r>
              <a:rPr lang="en-US" sz="2917" dirty="0">
                <a:latin typeface="Rockwell" panose="02060603020205020403" pitchFamily="18" charset="0"/>
                <a:sym typeface="Symbol" panose="05050102010706020507" pitchFamily="18" charset="2"/>
              </a:rPr>
              <a:t></a:t>
            </a:r>
            <a:endParaRPr lang="en-US" sz="2917" dirty="0">
              <a:latin typeface="Rockwell" panose="02060603020205020403" pitchFamily="18" charset="0"/>
            </a:endParaRPr>
          </a:p>
        </p:txBody>
      </p:sp>
      <p:sp>
        <p:nvSpPr>
          <p:cNvPr id="15" name="TextBox 14">
            <a:extLst>
              <a:ext uri="{FF2B5EF4-FFF2-40B4-BE49-F238E27FC236}">
                <a16:creationId xmlns="" xmlns:a16="http://schemas.microsoft.com/office/drawing/2014/main" id="{27F381F5-22E3-F541-F63D-6100C03AD6C8}"/>
              </a:ext>
            </a:extLst>
          </p:cNvPr>
          <p:cNvSpPr txBox="1"/>
          <p:nvPr/>
        </p:nvSpPr>
        <p:spPr>
          <a:xfrm>
            <a:off x="5686054" y="4578122"/>
            <a:ext cx="1136683" cy="541238"/>
          </a:xfrm>
          <a:prstGeom prst="rect">
            <a:avLst/>
          </a:prstGeom>
          <a:noFill/>
        </p:spPr>
        <p:txBody>
          <a:bodyPr wrap="square" rtlCol="0">
            <a:spAutoFit/>
          </a:bodyPr>
          <a:lstStyle/>
          <a:p>
            <a:pPr algn="ctr"/>
            <a:r>
              <a:rPr lang="en-US" sz="2917" dirty="0">
                <a:latin typeface="Rockwell" panose="02060603020205020403" pitchFamily="18" charset="0"/>
                <a:sym typeface="Symbol" panose="05050102010706020507" pitchFamily="18" charset="2"/>
              </a:rPr>
              <a:t></a:t>
            </a:r>
            <a:endParaRPr lang="en-US" sz="2917" dirty="0">
              <a:latin typeface="Rockwell" panose="02060603020205020403" pitchFamily="18" charset="0"/>
            </a:endParaRPr>
          </a:p>
        </p:txBody>
      </p:sp>
      <p:sp>
        <p:nvSpPr>
          <p:cNvPr id="16" name="TextBox 15">
            <a:extLst>
              <a:ext uri="{FF2B5EF4-FFF2-40B4-BE49-F238E27FC236}">
                <a16:creationId xmlns="" xmlns:a16="http://schemas.microsoft.com/office/drawing/2014/main" id="{277B289C-9543-0434-5D34-40628E780C39}"/>
              </a:ext>
            </a:extLst>
          </p:cNvPr>
          <p:cNvSpPr txBox="1"/>
          <p:nvPr/>
        </p:nvSpPr>
        <p:spPr>
          <a:xfrm>
            <a:off x="8451702" y="3298587"/>
            <a:ext cx="1136683" cy="323165"/>
          </a:xfrm>
          <a:prstGeom prst="rect">
            <a:avLst/>
          </a:prstGeom>
          <a:noFill/>
        </p:spPr>
        <p:txBody>
          <a:bodyPr wrap="square" rtlCol="0">
            <a:spAutoFit/>
          </a:bodyPr>
          <a:lstStyle/>
          <a:p>
            <a:pPr algn="ctr"/>
            <a:r>
              <a:rPr lang="en-US" sz="500" dirty="0">
                <a:latin typeface="Rockwell" panose="02060603020205020403" pitchFamily="18" charset="0"/>
              </a:rPr>
              <a:t>A</a:t>
            </a:r>
          </a:p>
          <a:p>
            <a:pPr algn="ctr"/>
            <a:r>
              <a:rPr lang="en-US" sz="500" dirty="0">
                <a:latin typeface="Rockwell" panose="02060603020205020403" pitchFamily="18" charset="0"/>
              </a:rPr>
              <a:t>N</a:t>
            </a:r>
          </a:p>
          <a:p>
            <a:pPr algn="ctr"/>
            <a:r>
              <a:rPr lang="en-US" sz="500" dirty="0">
                <a:latin typeface="Rockwell" panose="02060603020205020403" pitchFamily="18" charset="0"/>
              </a:rPr>
              <a:t>D</a:t>
            </a:r>
          </a:p>
        </p:txBody>
      </p:sp>
      <p:sp>
        <p:nvSpPr>
          <p:cNvPr id="17" name="TextBox 16">
            <a:extLst>
              <a:ext uri="{FF2B5EF4-FFF2-40B4-BE49-F238E27FC236}">
                <a16:creationId xmlns="" xmlns:a16="http://schemas.microsoft.com/office/drawing/2014/main" id="{ACE9A859-A664-52E6-0DDB-5364A6454107}"/>
              </a:ext>
            </a:extLst>
          </p:cNvPr>
          <p:cNvSpPr txBox="1"/>
          <p:nvPr/>
        </p:nvSpPr>
        <p:spPr>
          <a:xfrm>
            <a:off x="8463102" y="4062963"/>
            <a:ext cx="1136683" cy="323165"/>
          </a:xfrm>
          <a:prstGeom prst="rect">
            <a:avLst/>
          </a:prstGeom>
          <a:noFill/>
        </p:spPr>
        <p:txBody>
          <a:bodyPr wrap="square" rtlCol="0">
            <a:spAutoFit/>
          </a:bodyPr>
          <a:lstStyle/>
          <a:p>
            <a:pPr algn="ctr"/>
            <a:r>
              <a:rPr lang="en-US" sz="500" dirty="0">
                <a:latin typeface="Rockwell" panose="02060603020205020403" pitchFamily="18" charset="0"/>
              </a:rPr>
              <a:t>A</a:t>
            </a:r>
          </a:p>
          <a:p>
            <a:pPr algn="ctr"/>
            <a:r>
              <a:rPr lang="en-US" sz="500" dirty="0">
                <a:latin typeface="Rockwell" panose="02060603020205020403" pitchFamily="18" charset="0"/>
              </a:rPr>
              <a:t>N</a:t>
            </a:r>
          </a:p>
          <a:p>
            <a:pPr algn="ctr"/>
            <a:r>
              <a:rPr lang="en-US" sz="500" dirty="0">
                <a:latin typeface="Rockwell" panose="02060603020205020403" pitchFamily="18" charset="0"/>
              </a:rPr>
              <a:t>D</a:t>
            </a:r>
          </a:p>
        </p:txBody>
      </p:sp>
      <p:sp>
        <p:nvSpPr>
          <p:cNvPr id="18" name="TextBox 17">
            <a:extLst>
              <a:ext uri="{FF2B5EF4-FFF2-40B4-BE49-F238E27FC236}">
                <a16:creationId xmlns="" xmlns:a16="http://schemas.microsoft.com/office/drawing/2014/main" id="{D8A15EA7-70F4-FBAD-3AC6-6AF2EDD2F279}"/>
              </a:ext>
            </a:extLst>
          </p:cNvPr>
          <p:cNvSpPr txBox="1"/>
          <p:nvPr/>
        </p:nvSpPr>
        <p:spPr>
          <a:xfrm>
            <a:off x="8484528" y="4721111"/>
            <a:ext cx="1136683" cy="323165"/>
          </a:xfrm>
          <a:prstGeom prst="rect">
            <a:avLst/>
          </a:prstGeom>
          <a:noFill/>
        </p:spPr>
        <p:txBody>
          <a:bodyPr wrap="square" rtlCol="0">
            <a:spAutoFit/>
          </a:bodyPr>
          <a:lstStyle/>
          <a:p>
            <a:pPr algn="ctr"/>
            <a:r>
              <a:rPr lang="en-US" sz="500" dirty="0">
                <a:latin typeface="Rockwell" panose="02060603020205020403" pitchFamily="18" charset="0"/>
              </a:rPr>
              <a:t>A</a:t>
            </a:r>
          </a:p>
          <a:p>
            <a:pPr algn="ctr"/>
            <a:r>
              <a:rPr lang="en-US" sz="500" dirty="0">
                <a:latin typeface="Rockwell" panose="02060603020205020403" pitchFamily="18" charset="0"/>
              </a:rPr>
              <a:t>N</a:t>
            </a:r>
          </a:p>
          <a:p>
            <a:pPr algn="ctr"/>
            <a:r>
              <a:rPr lang="en-US" sz="500" dirty="0">
                <a:latin typeface="Rockwell" panose="02060603020205020403" pitchFamily="18" charset="0"/>
              </a:rPr>
              <a:t>D</a:t>
            </a:r>
          </a:p>
        </p:txBody>
      </p:sp>
      <p:sp>
        <p:nvSpPr>
          <p:cNvPr id="19" name="TextBox 18">
            <a:extLst>
              <a:ext uri="{FF2B5EF4-FFF2-40B4-BE49-F238E27FC236}">
                <a16:creationId xmlns="" xmlns:a16="http://schemas.microsoft.com/office/drawing/2014/main" id="{C77AB4C8-D5F3-E022-5B1A-AF92DEFFDE05}"/>
              </a:ext>
            </a:extLst>
          </p:cNvPr>
          <p:cNvSpPr txBox="1"/>
          <p:nvPr/>
        </p:nvSpPr>
        <p:spPr>
          <a:xfrm>
            <a:off x="9503706" y="5532274"/>
            <a:ext cx="1136683" cy="297454"/>
          </a:xfrm>
          <a:prstGeom prst="rect">
            <a:avLst/>
          </a:prstGeom>
          <a:noFill/>
        </p:spPr>
        <p:txBody>
          <a:bodyPr wrap="square" rtlCol="0">
            <a:spAutoFit/>
          </a:bodyPr>
          <a:lstStyle/>
          <a:p>
            <a:pPr algn="ctr"/>
            <a:r>
              <a:rPr lang="en-US" sz="1333" dirty="0">
                <a:latin typeface="Rockwell" panose="02060603020205020403" pitchFamily="18" charset="0"/>
              </a:rPr>
              <a:t>OR</a:t>
            </a:r>
          </a:p>
        </p:txBody>
      </p:sp>
      <p:sp>
        <p:nvSpPr>
          <p:cNvPr id="28" name="TextBox 27">
            <a:extLst>
              <a:ext uri="{FF2B5EF4-FFF2-40B4-BE49-F238E27FC236}">
                <a16:creationId xmlns="" xmlns:a16="http://schemas.microsoft.com/office/drawing/2014/main" id="{AB1C9FDB-1D9E-A6A8-F099-4E7D75F27AF7}"/>
              </a:ext>
            </a:extLst>
          </p:cNvPr>
          <p:cNvSpPr txBox="1"/>
          <p:nvPr/>
        </p:nvSpPr>
        <p:spPr>
          <a:xfrm>
            <a:off x="10664030" y="5543168"/>
            <a:ext cx="1136683" cy="297454"/>
          </a:xfrm>
          <a:prstGeom prst="rect">
            <a:avLst/>
          </a:prstGeom>
          <a:noFill/>
        </p:spPr>
        <p:txBody>
          <a:bodyPr wrap="square" rtlCol="0">
            <a:spAutoFit/>
          </a:bodyPr>
          <a:lstStyle/>
          <a:p>
            <a:pPr algn="ctr"/>
            <a:r>
              <a:rPr lang="en-US" sz="1333" dirty="0">
                <a:latin typeface="Rockwell" panose="02060603020205020403" pitchFamily="18" charset="0"/>
              </a:rPr>
              <a:t>OR</a:t>
            </a:r>
          </a:p>
        </p:txBody>
      </p:sp>
    </p:spTree>
    <p:extLst>
      <p:ext uri="{BB962C8B-B14F-4D97-AF65-F5344CB8AC3E}">
        <p14:creationId xmlns:p14="http://schemas.microsoft.com/office/powerpoint/2010/main" val="342695729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 xmlns:a16="http://schemas.microsoft.com/office/drawing/2014/main" id="{10E0AB91-BBD3-21E8-EE8A-F5B5D37DBDAE}"/>
              </a:ext>
            </a:extLst>
          </p:cNvPr>
          <p:cNvSpPr/>
          <p:nvPr/>
        </p:nvSpPr>
        <p:spPr>
          <a:xfrm>
            <a:off x="731327" y="587029"/>
            <a:ext cx="3047318" cy="593923"/>
          </a:xfrm>
          <a:prstGeom prst="rect">
            <a:avLst/>
          </a:prstGeom>
          <a:noFill/>
          <a:ln/>
        </p:spPr>
        <p:txBody>
          <a:bodyPr wrap="none" lIns="0" tIns="0" rIns="0" bIns="0" rtlCol="0" anchor="t"/>
          <a:lstStyle/>
          <a:p>
            <a:pPr>
              <a:lnSpc>
                <a:spcPts val="4666"/>
              </a:lnSpc>
            </a:pPr>
            <a:r>
              <a:rPr lang="en-US" sz="4000" dirty="0">
                <a:latin typeface="Rockwell" panose="02060603020205020403" pitchFamily="18" charset="0"/>
              </a:rPr>
              <a:t>Field-Programmable Gate Arrays</a:t>
            </a:r>
          </a:p>
        </p:txBody>
      </p:sp>
      <p:sp>
        <p:nvSpPr>
          <p:cNvPr id="4" name="TextBox 3">
            <a:extLst>
              <a:ext uri="{FF2B5EF4-FFF2-40B4-BE49-F238E27FC236}">
                <a16:creationId xmlns="" xmlns:a16="http://schemas.microsoft.com/office/drawing/2014/main" id="{A2E2543B-FB38-DCCC-B41D-123EF9A1A981}"/>
              </a:ext>
            </a:extLst>
          </p:cNvPr>
          <p:cNvSpPr txBox="1"/>
          <p:nvPr/>
        </p:nvSpPr>
        <p:spPr>
          <a:xfrm>
            <a:off x="731327" y="4546678"/>
            <a:ext cx="10814138" cy="1938992"/>
          </a:xfrm>
          <a:prstGeom prst="rect">
            <a:avLst/>
          </a:prstGeom>
          <a:noFill/>
        </p:spPr>
        <p:txBody>
          <a:bodyPr wrap="square" rtlCol="0">
            <a:spAutoFit/>
          </a:bodyPr>
          <a:lstStyle/>
          <a:p>
            <a:r>
              <a:rPr lang="en-US" sz="1500" dirty="0">
                <a:latin typeface="Rockwell" panose="02060603020205020403" pitchFamily="18" charset="0"/>
              </a:rPr>
              <a:t>A field-programmable gate array (FPGA) or complex PLD consists of</a:t>
            </a:r>
          </a:p>
          <a:p>
            <a:pPr marL="238115" indent="-238115">
              <a:buFont typeface="Arial" panose="020B0604020202020204" pitchFamily="34" charset="0"/>
              <a:buChar char="•"/>
            </a:pPr>
            <a:r>
              <a:rPr lang="en-US" sz="1500" dirty="0">
                <a:latin typeface="Rockwell" panose="02060603020205020403" pitchFamily="18" charset="0"/>
              </a:rPr>
              <a:t>None of the mask layers are customized </a:t>
            </a:r>
          </a:p>
          <a:p>
            <a:pPr marL="238115" indent="-238115">
              <a:buFont typeface="Arial" panose="020B0604020202020204" pitchFamily="34" charset="0"/>
              <a:buChar char="•"/>
            </a:pPr>
            <a:r>
              <a:rPr lang="en-US" sz="1500" dirty="0">
                <a:latin typeface="Rockwell" panose="02060603020205020403" pitchFamily="18" charset="0"/>
              </a:rPr>
              <a:t>A method for programming the basic logic cells and the interconnect </a:t>
            </a:r>
          </a:p>
          <a:p>
            <a:pPr marL="238115" indent="-238115">
              <a:buFont typeface="Arial" panose="020B0604020202020204" pitchFamily="34" charset="0"/>
              <a:buChar char="•"/>
            </a:pPr>
            <a:r>
              <a:rPr lang="en-US" sz="1500" dirty="0">
                <a:latin typeface="Rockwell" panose="02060603020205020403" pitchFamily="18" charset="0"/>
              </a:rPr>
              <a:t>The core is a regular array of programmable basic logic cells that can implement combinational as well as sequential logic (flip-flops) </a:t>
            </a:r>
          </a:p>
          <a:p>
            <a:pPr marL="238115" indent="-238115">
              <a:buFont typeface="Arial" panose="020B0604020202020204" pitchFamily="34" charset="0"/>
              <a:buChar char="•"/>
            </a:pPr>
            <a:r>
              <a:rPr lang="en-US" sz="1500" dirty="0">
                <a:latin typeface="Rockwell" panose="02060603020205020403" pitchFamily="18" charset="0"/>
              </a:rPr>
              <a:t>A matrix of programmable interconnect surrounds the basic logic cells </a:t>
            </a:r>
          </a:p>
          <a:p>
            <a:pPr marL="238115" indent="-238115">
              <a:buFont typeface="Arial" panose="020B0604020202020204" pitchFamily="34" charset="0"/>
              <a:buChar char="•"/>
            </a:pPr>
            <a:r>
              <a:rPr lang="en-US" sz="1500" dirty="0">
                <a:latin typeface="Rockwell" panose="02060603020205020403" pitchFamily="18" charset="0"/>
              </a:rPr>
              <a:t>Programmable I/O cells surround the core </a:t>
            </a:r>
          </a:p>
          <a:p>
            <a:pPr marL="238115" indent="-238115">
              <a:buFont typeface="Arial" panose="020B0604020202020204" pitchFamily="34" charset="0"/>
              <a:buChar char="•"/>
            </a:pPr>
            <a:r>
              <a:rPr lang="en-US" sz="1500" dirty="0">
                <a:latin typeface="Rockwell" panose="02060603020205020403" pitchFamily="18" charset="0"/>
              </a:rPr>
              <a:t>Design turnaround is a few hours</a:t>
            </a:r>
            <a:endParaRPr lang="en-IN" sz="1500" dirty="0">
              <a:latin typeface="Rockwell" panose="02060603020205020403" pitchFamily="18" charset="0"/>
            </a:endParaRPr>
          </a:p>
        </p:txBody>
      </p:sp>
      <p:pic>
        <p:nvPicPr>
          <p:cNvPr id="6" name="Picture 5">
            <a:extLst>
              <a:ext uri="{FF2B5EF4-FFF2-40B4-BE49-F238E27FC236}">
                <a16:creationId xmlns="" xmlns:a16="http://schemas.microsoft.com/office/drawing/2014/main" id="{0951BA69-69F3-00F0-47C6-C480FDFA1170}"/>
              </a:ext>
            </a:extLst>
          </p:cNvPr>
          <p:cNvPicPr>
            <a:picLocks noChangeAspect="1"/>
          </p:cNvPicPr>
          <p:nvPr/>
        </p:nvPicPr>
        <p:blipFill>
          <a:blip r:embed="rId2"/>
          <a:stretch>
            <a:fillRect/>
          </a:stretch>
        </p:blipFill>
        <p:spPr>
          <a:xfrm>
            <a:off x="3506210" y="1177555"/>
            <a:ext cx="4573077" cy="3369124"/>
          </a:xfrm>
          <a:prstGeom prst="rect">
            <a:avLst/>
          </a:prstGeom>
        </p:spPr>
      </p:pic>
    </p:spTree>
    <p:extLst>
      <p:ext uri="{BB962C8B-B14F-4D97-AF65-F5344CB8AC3E}">
        <p14:creationId xmlns:p14="http://schemas.microsoft.com/office/powerpoint/2010/main" val="29790485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310F8AA3-9F90-EF2A-9FB5-8A4AAC14596D}"/>
              </a:ext>
            </a:extLst>
          </p:cNvPr>
          <p:cNvSpPr>
            <a:spLocks noGrp="1"/>
          </p:cNvSpPr>
          <p:nvPr>
            <p:ph type="sldNum" sz="quarter" idx="12"/>
          </p:nvPr>
        </p:nvSpPr>
        <p:spPr/>
        <p:txBody>
          <a:bodyPr/>
          <a:lstStyle/>
          <a:p>
            <a:fld id="{CBABCCC1-BF11-4F37-963E-1BCD5B23FD72}" type="slidenum">
              <a:rPr lang="en-IN" smtClean="0"/>
              <a:t>33</a:t>
            </a:fld>
            <a:endParaRPr lang="en-IN"/>
          </a:p>
        </p:txBody>
      </p:sp>
      <p:sp>
        <p:nvSpPr>
          <p:cNvPr id="8" name="Content Placeholder 2">
            <a:extLst>
              <a:ext uri="{FF2B5EF4-FFF2-40B4-BE49-F238E27FC236}">
                <a16:creationId xmlns:a16="http://schemas.microsoft.com/office/drawing/2014/main" xmlns="" id="{94AC64FA-B36A-0198-C36A-9E47881B82BB}"/>
              </a:ext>
            </a:extLst>
          </p:cNvPr>
          <p:cNvSpPr txBox="1">
            <a:spLocks/>
          </p:cNvSpPr>
          <p:nvPr/>
        </p:nvSpPr>
        <p:spPr>
          <a:xfrm>
            <a:off x="1199272" y="924129"/>
            <a:ext cx="9793454" cy="4894780"/>
          </a:xfrm>
          <a:prstGeom prst="rect">
            <a:avLst/>
          </a:prstGeom>
        </p:spPr>
        <p:txBody>
          <a:bodyPr>
            <a:noAutofit/>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pPr algn="just">
              <a:lnSpc>
                <a:spcPct val="100000"/>
              </a:lnSpc>
              <a:spcAft>
                <a:spcPts val="1200"/>
              </a:spcAft>
              <a:buFont typeface="Wingdings" panose="05000000000000000000" pitchFamily="2" charset="2"/>
              <a:buChar char="ü"/>
              <a:defRPr/>
            </a:pPr>
            <a:r>
              <a:rPr lang="en-US" sz="2200" dirty="0">
                <a:latin typeface="Cambria" panose="02040503050406030204" pitchFamily="18" charset="0"/>
                <a:ea typeface="Cambria" panose="02040503050406030204" pitchFamily="18" charset="0"/>
                <a:cs typeface="Times New Roman" panose="02020603050405020304" pitchFamily="18" charset="0"/>
              </a:rPr>
              <a:t>Two ICs that might or might not be considered  as ASICs are, a controller chip for a PC and a  chip for a modem. Both of these examples are  specific to an application (shades of an ASIC)  but are sold to many different system vendors  (shades of a standard part). ASICs such as  these are sometimes called application-  specific standard products ( ASSPs ).</a:t>
            </a:r>
          </a:p>
          <a:p>
            <a:pPr algn="just">
              <a:lnSpc>
                <a:spcPct val="100000"/>
              </a:lnSpc>
              <a:spcAft>
                <a:spcPts val="1200"/>
              </a:spcAft>
              <a:buFont typeface="Wingdings" panose="05000000000000000000" pitchFamily="2" charset="2"/>
              <a:buChar char="ü"/>
              <a:defRPr/>
            </a:pPr>
            <a:endParaRPr lang="en-GB" sz="1700" dirty="0">
              <a:latin typeface="Cambria" panose="02040503050406030204" pitchFamily="18" charset="0"/>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10862309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CBABCCC1-BF11-4F37-963E-1BCD5B23FD72}" type="slidenum">
              <a:rPr lang="en-IN" smtClean="0"/>
              <a:t>34</a:t>
            </a:fld>
            <a:endParaRPr lang="en-IN"/>
          </a:p>
        </p:txBody>
      </p:sp>
      <p:pic>
        <p:nvPicPr>
          <p:cNvPr id="1030" name="Picture 6" descr="mdpi.com/2079-9292/13/9/..."/>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46070" y="2982686"/>
            <a:ext cx="4299857" cy="241662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1001486" y="772886"/>
            <a:ext cx="9263743" cy="2523768"/>
          </a:xfrm>
          <a:prstGeom prst="rect">
            <a:avLst/>
          </a:prstGeom>
          <a:noFill/>
        </p:spPr>
        <p:txBody>
          <a:bodyPr wrap="square" rtlCol="0">
            <a:spAutoFit/>
          </a:bodyPr>
          <a:lstStyle/>
          <a:p>
            <a:pPr algn="just"/>
            <a:r>
              <a:rPr lang="en-US" sz="1400" dirty="0"/>
              <a:t>Programmable ASICs—such as FPGAs (Field-Programmable Gate Arrays) and PLDs (Programmable Logic Devices)—are integrated circuits that can be configured or reconfigured after manufacturing to perform specific digital logic tasks. They consist of arrays of logic blocks and interconnects that are programmed to implement custom circuits</a:t>
            </a:r>
            <a:br>
              <a:rPr lang="en-US" sz="1400" dirty="0"/>
            </a:br>
            <a:r>
              <a:rPr lang="en-US" sz="1400" dirty="0"/>
              <a:t>In the context of programmable ASICs or FPGA design, “vertex” doesn’t refer to geometry in silicon fabrication—it’s often used in two key ways:</a:t>
            </a:r>
          </a:p>
          <a:p>
            <a:pPr algn="just"/>
            <a:r>
              <a:rPr lang="en-US" sz="1400" b="1" dirty="0"/>
              <a:t>State Machines or Graph Models</a:t>
            </a:r>
            <a:r>
              <a:rPr lang="en-US" sz="1400" dirty="0"/>
              <a:t>: In FPGA designs involving finite state machines (FSMs), each "state" can be depicted as a node or vertex. The transitions between states represent edges, which map neatly to hardware logic implementations.</a:t>
            </a:r>
          </a:p>
          <a:p>
            <a:pPr algn="just"/>
            <a:r>
              <a:rPr lang="en-US" sz="1400" b="1" dirty="0"/>
              <a:t>Vertex Processing in Graphics Pipelines</a:t>
            </a:r>
            <a:r>
              <a:rPr lang="en-US" sz="1400" dirty="0"/>
              <a:t>: Some futuristic FPGA-based GPU designs include dedicated </a:t>
            </a:r>
            <a:r>
              <a:rPr lang="en-US" sz="1400" b="1" dirty="0"/>
              <a:t>vertex processors</a:t>
            </a:r>
            <a:r>
              <a:rPr lang="en-US" sz="1400" dirty="0"/>
              <a:t>—hardware blocks that transform 3D coordinates and apply lighting to vertices in a graphics pipeline, optimized for parallel processing</a:t>
            </a:r>
          </a:p>
          <a:p>
            <a:endParaRPr lang="en-US" dirty="0"/>
          </a:p>
        </p:txBody>
      </p:sp>
      <p:sp>
        <p:nvSpPr>
          <p:cNvPr id="5" name="TextBox 4"/>
          <p:cNvSpPr txBox="1"/>
          <p:nvPr/>
        </p:nvSpPr>
        <p:spPr>
          <a:xfrm>
            <a:off x="4386943" y="142308"/>
            <a:ext cx="4648200" cy="369332"/>
          </a:xfrm>
          <a:prstGeom prst="rect">
            <a:avLst/>
          </a:prstGeom>
          <a:noFill/>
        </p:spPr>
        <p:txBody>
          <a:bodyPr wrap="square" rtlCol="0">
            <a:spAutoFit/>
          </a:bodyPr>
          <a:lstStyle/>
          <a:p>
            <a:r>
              <a:rPr lang="en-US" dirty="0" smtClean="0"/>
              <a:t>Vertex Concepts</a:t>
            </a:r>
            <a:endParaRPr lang="en-US" dirty="0"/>
          </a:p>
        </p:txBody>
      </p:sp>
      <p:sp>
        <p:nvSpPr>
          <p:cNvPr id="6" name="Rectangle 5"/>
          <p:cNvSpPr/>
          <p:nvPr/>
        </p:nvSpPr>
        <p:spPr>
          <a:xfrm>
            <a:off x="4643650" y="5506454"/>
            <a:ext cx="4134786" cy="369332"/>
          </a:xfrm>
          <a:prstGeom prst="rect">
            <a:avLst/>
          </a:prstGeom>
        </p:spPr>
        <p:txBody>
          <a:bodyPr wrap="none">
            <a:spAutoFit/>
          </a:bodyPr>
          <a:lstStyle/>
          <a:p>
            <a:r>
              <a:rPr lang="en-US" dirty="0"/>
              <a:t>A flow diagram showing vertex transitions</a:t>
            </a:r>
          </a:p>
        </p:txBody>
      </p:sp>
    </p:spTree>
    <p:extLst>
      <p:ext uri="{BB962C8B-B14F-4D97-AF65-F5344CB8AC3E}">
        <p14:creationId xmlns:p14="http://schemas.microsoft.com/office/powerpoint/2010/main" val="4112189048"/>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Presentation1" id="{24598BE9-BD78-4C1A-902E-0BA786164A9D}" vid="{1551CBD6-114D-4A17-981D-82FBB9D5494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6479</TotalTime>
  <Words>2308</Words>
  <Application>Microsoft Office PowerPoint</Application>
  <PresentationFormat>Widescreen</PresentationFormat>
  <Paragraphs>277</Paragraphs>
  <Slides>34</Slides>
  <Notes>1</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34</vt:i4>
      </vt:variant>
    </vt:vector>
  </HeadingPairs>
  <TitlesOfParts>
    <vt:vector size="46" baseType="lpstr">
      <vt:lpstr>Arial</vt:lpstr>
      <vt:lpstr>Calibri</vt:lpstr>
      <vt:lpstr>Cambria</vt:lpstr>
      <vt:lpstr>Cambria Math</vt:lpstr>
      <vt:lpstr>Gill Sans MT</vt:lpstr>
      <vt:lpstr>Poppins</vt:lpstr>
      <vt:lpstr>Rockwell</vt:lpstr>
      <vt:lpstr>Sora Light</vt:lpstr>
      <vt:lpstr>Symbol</vt:lpstr>
      <vt:lpstr>Times New Roman</vt:lpstr>
      <vt:lpstr>Wingdings</vt:lpstr>
      <vt:lpstr>Gallery</vt:lpstr>
      <vt:lpstr>  PROGRAMMABLE ASICS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EEPROM</vt:lpstr>
      <vt:lpstr>EEPROM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MEMS</dc:title>
  <dc:creator>வெ. விவேகானந்தன்</dc:creator>
  <cp:lastModifiedBy>123</cp:lastModifiedBy>
  <cp:revision>145</cp:revision>
  <dcterms:created xsi:type="dcterms:W3CDTF">2023-05-02T05:06:39Z</dcterms:created>
  <dcterms:modified xsi:type="dcterms:W3CDTF">2025-08-20T05:24:06Z</dcterms:modified>
</cp:coreProperties>
</file>