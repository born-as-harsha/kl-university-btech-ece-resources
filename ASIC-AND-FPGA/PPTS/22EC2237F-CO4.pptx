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71" r:id="rId5"/>
    <p:sldId id="258" r:id="rId6"/>
    <p:sldId id="318" r:id="rId7"/>
    <p:sldId id="320" r:id="rId8"/>
    <p:sldId id="322" r:id="rId9"/>
    <p:sldId id="344" r:id="rId10"/>
    <p:sldId id="353" r:id="rId11"/>
    <p:sldId id="360" r:id="rId12"/>
    <p:sldId id="361" r:id="rId13"/>
    <p:sldId id="362" r:id="rId14"/>
    <p:sldId id="371" r:id="rId15"/>
    <p:sldId id="372" r:id="rId16"/>
    <p:sldId id="376" r:id="rId17"/>
    <p:sldId id="382" r:id="rId18"/>
    <p:sldId id="38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2F33"/>
    <a:srgbClr val="FF9900"/>
    <a:srgbClr val="E84845"/>
    <a:srgbClr val="FAD2D2"/>
    <a:srgbClr val="F89E4C"/>
    <a:srgbClr val="A81E24"/>
    <a:srgbClr val="FFF2CC"/>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10/27/2025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10/27/2025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ASIC &amp; FPGA Design</a:t>
            </a: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23ec2230F</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dirty="0">
                <a:solidFill>
                  <a:srgbClr val="CF2F33"/>
                </a:solidFill>
              </a:rPr>
              <a:t>Programmable ASIC I/O Cells</a:t>
            </a:r>
            <a:endParaRPr lang="en-US" sz="3200" b="1" dirty="0">
              <a:solidFill>
                <a:srgbClr val="CF2F33"/>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1323399"/>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 	</a:t>
            </a: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2867920" y="1105469"/>
            <a:ext cx="8364188" cy="8598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400" b="1" dirty="0">
                <a:solidFill>
                  <a:schemeClr val="bg1"/>
                </a:solidFill>
              </a:rPr>
              <a:t>Programmable ASIC I/O </a:t>
            </a:r>
            <a:r>
              <a:rPr lang="en-IN" sz="2400" b="1" dirty="0" smtClean="0">
                <a:solidFill>
                  <a:schemeClr val="bg1"/>
                </a:solidFill>
              </a:rPr>
              <a:t>Cells</a:t>
            </a:r>
            <a:br>
              <a:rPr lang="en-IN" sz="2400" b="1" dirty="0" smtClean="0">
                <a:solidFill>
                  <a:schemeClr val="bg1"/>
                </a:solidFill>
              </a:rPr>
            </a:br>
            <a:r>
              <a:rPr lang="en-US" sz="2400" dirty="0" smtClean="0"/>
              <a:t>SESSION </a:t>
            </a:r>
            <a:r>
              <a:rPr lang="en-US" sz="2400" dirty="0"/>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334081" y="2398611"/>
            <a:ext cx="8434003" cy="3416320"/>
          </a:xfrm>
          <a:prstGeom prst="rect">
            <a:avLst/>
          </a:prstGeom>
          <a:noFill/>
        </p:spPr>
        <p:txBody>
          <a:bodyPr wrap="square" rtlCol="0">
            <a:spAutoFit/>
          </a:bodyPr>
          <a:lstStyle/>
          <a:p>
            <a:pPr algn="just"/>
            <a:r>
              <a:rPr lang="en-US" dirty="0"/>
              <a:t>In modern Application-Specific Integrated Circuits (ASICs), programmable I/O (Input/Output) cells play a vital role in providing flexibility, configurability, and performance optimization at the interface between the core logic and the external environment. These cells form the boundary between the internal logic circuitry and the off-chip signals, ensuring reliable communication while protecting the internal circuits from electrical variations or noise.</a:t>
            </a:r>
          </a:p>
          <a:p>
            <a:pPr algn="just"/>
            <a:r>
              <a:rPr lang="en-US" dirty="0"/>
              <a:t>Programmable I/O cells are designed to support multiple electrical standards, voltage levels, and drive strengths, making a single ASIC design adaptable to various system requirements. Through programmable control, designers can configure parameters such as input thresholds, output slew rate, impedance, and pull-up/pull-down resistors. This allows the same silicon implementation to operate across different boards or systems without hardware modification.</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2465" y="1419073"/>
            <a:ext cx="8675427" cy="4832092"/>
          </a:xfrm>
          <a:prstGeom prst="rect">
            <a:avLst/>
          </a:prstGeom>
        </p:spPr>
        <p:txBody>
          <a:bodyPr wrap="square">
            <a:spAutoFit/>
          </a:bodyPr>
          <a:lstStyle/>
          <a:p>
            <a:pPr algn="just"/>
            <a:r>
              <a:rPr lang="en-US" sz="2800" dirty="0"/>
              <a:t>Furthermore, programmable I/O structures enhance testability and signal integrity, often integrating ESD protection, boundary scan (JTAG) support, and mode selection logic. In high-performance ASICs, these I/O cells can also be configured for bi-directional operation, differential signaling (LVDS), or low-power modes, depending on system needs.</a:t>
            </a:r>
          </a:p>
          <a:p>
            <a:pPr algn="just"/>
            <a:r>
              <a:rPr lang="en-US" sz="2800" dirty="0"/>
              <a:t>Overall, programmable I/O cells provide the essential interface adaptability that enables ASICs to maintain functional compatibility, electrical robustness, and design scalability in diverse application environments.</a:t>
            </a:r>
          </a:p>
        </p:txBody>
      </p:sp>
    </p:spTree>
    <p:extLst>
      <p:ext uri="{BB962C8B-B14F-4D97-AF65-F5344CB8AC3E}">
        <p14:creationId xmlns:p14="http://schemas.microsoft.com/office/powerpoint/2010/main" val="40592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89844"/>
            <a:ext cx="8279642" cy="3693319"/>
          </a:xfrm>
          <a:prstGeom prst="rect">
            <a:avLst/>
          </a:prstGeom>
        </p:spPr>
        <p:txBody>
          <a:bodyPr wrap="square">
            <a:spAutoFit/>
          </a:bodyPr>
          <a:lstStyle/>
          <a:p>
            <a:r>
              <a:rPr lang="en-US" dirty="0">
                <a:solidFill>
                  <a:srgbClr val="FF0000"/>
                </a:solidFill>
              </a:rPr>
              <a:t>DC Input: Programmable ASIC I/O </a:t>
            </a:r>
            <a:r>
              <a:rPr lang="en-US" dirty="0" smtClean="0">
                <a:solidFill>
                  <a:srgbClr val="FF0000"/>
                </a:solidFill>
              </a:rPr>
              <a:t>Cells</a:t>
            </a:r>
          </a:p>
          <a:p>
            <a:r>
              <a:rPr lang="en-US" dirty="0"/>
              <a:t>When configured as a </a:t>
            </a:r>
            <a:r>
              <a:rPr lang="en-US" b="1" dirty="0"/>
              <a:t>DC input</a:t>
            </a:r>
            <a:r>
              <a:rPr lang="en-US" dirty="0"/>
              <a:t>, the programmable ASIC I/O cell functions primarily as an </a:t>
            </a:r>
            <a:r>
              <a:rPr lang="en-US" b="1" dirty="0"/>
              <a:t>interface for receiving static or slowly varying logic signals</a:t>
            </a:r>
            <a:r>
              <a:rPr lang="en-US" dirty="0"/>
              <a:t> from external sources into the ASIC core. The input circuitry must accurately interpret incoming voltage levels while maintaining signal integrity and protecting the internal transistors from electrical stress</a:t>
            </a:r>
            <a:r>
              <a:rPr lang="en-US" dirty="0" smtClean="0"/>
              <a:t>.</a:t>
            </a:r>
          </a:p>
          <a:p>
            <a:endParaRPr lang="en-US" dirty="0"/>
          </a:p>
          <a:p>
            <a:r>
              <a:rPr lang="en-US" dirty="0"/>
              <a:t>A </a:t>
            </a:r>
            <a:r>
              <a:rPr lang="en-US" b="1" dirty="0"/>
              <a:t>DC input I/O cell</a:t>
            </a:r>
            <a:r>
              <a:rPr lang="en-US" dirty="0"/>
              <a:t> typically includes the following key components</a:t>
            </a:r>
            <a:r>
              <a:rPr lang="en-US" dirty="0" smtClean="0"/>
              <a:t>:</a:t>
            </a:r>
          </a:p>
          <a:p>
            <a:endParaRPr lang="en-US" dirty="0"/>
          </a:p>
          <a:p>
            <a:r>
              <a:rPr lang="en-US" dirty="0"/>
              <a:t>Input Buffer / Receiver</a:t>
            </a:r>
            <a:r>
              <a:rPr lang="en-US" dirty="0" smtClean="0"/>
              <a:t>:</a:t>
            </a:r>
          </a:p>
          <a:p>
            <a:r>
              <a:rPr lang="en-US" dirty="0"/>
              <a:t>ESD Protection Network</a:t>
            </a:r>
            <a:r>
              <a:rPr lang="en-US" dirty="0" smtClean="0"/>
              <a:t>:</a:t>
            </a:r>
          </a:p>
          <a:p>
            <a:r>
              <a:rPr lang="en-US" dirty="0"/>
              <a:t>Programmable Input Features</a:t>
            </a:r>
            <a:r>
              <a:rPr lang="en-US" dirty="0" smtClean="0"/>
              <a:t>:</a:t>
            </a:r>
          </a:p>
          <a:p>
            <a:endParaRPr lang="en-US" dirty="0"/>
          </a:p>
        </p:txBody>
      </p:sp>
    </p:spTree>
    <p:extLst>
      <p:ext uri="{BB962C8B-B14F-4D97-AF65-F5344CB8AC3E}">
        <p14:creationId xmlns:p14="http://schemas.microsoft.com/office/powerpoint/2010/main" val="2736214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92250" y="1210527"/>
            <a:ext cx="8208347" cy="5010150"/>
          </a:xfrm>
          <a:prstGeom prst="rect">
            <a:avLst/>
          </a:prstGeom>
        </p:spPr>
      </p:pic>
      <p:sp>
        <p:nvSpPr>
          <p:cNvPr id="3" name="Rectangle 2"/>
          <p:cNvSpPr/>
          <p:nvPr/>
        </p:nvSpPr>
        <p:spPr>
          <a:xfrm>
            <a:off x="3099151" y="446543"/>
            <a:ext cx="3807068" cy="369332"/>
          </a:xfrm>
          <a:prstGeom prst="rect">
            <a:avLst/>
          </a:prstGeom>
        </p:spPr>
        <p:txBody>
          <a:bodyPr wrap="none">
            <a:spAutoFit/>
          </a:bodyPr>
          <a:lstStyle/>
          <a:p>
            <a:r>
              <a:rPr lang="en-US" dirty="0"/>
              <a:t>Generalized Floor Plan of ACT 3 Device</a:t>
            </a:r>
          </a:p>
        </p:txBody>
      </p:sp>
    </p:spTree>
    <p:extLst>
      <p:ext uri="{BB962C8B-B14F-4D97-AF65-F5344CB8AC3E}">
        <p14:creationId xmlns:p14="http://schemas.microsoft.com/office/powerpoint/2010/main" val="293103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3323088" y="1563521"/>
            <a:ext cx="8250214" cy="4857750"/>
          </a:xfrm>
          <a:prstGeom prst="rect">
            <a:avLst/>
          </a:prstGeom>
        </p:spPr>
      </p:pic>
      <p:sp>
        <p:nvSpPr>
          <p:cNvPr id="3" name="Rectangle 2"/>
          <p:cNvSpPr/>
          <p:nvPr/>
        </p:nvSpPr>
        <p:spPr>
          <a:xfrm>
            <a:off x="4347153" y="828680"/>
            <a:ext cx="3582196" cy="369332"/>
          </a:xfrm>
          <a:prstGeom prst="rect">
            <a:avLst/>
          </a:prstGeom>
          <a:solidFill>
            <a:schemeClr val="accent2"/>
          </a:solidFill>
        </p:spPr>
        <p:txBody>
          <a:bodyPr wrap="square">
            <a:spAutoFit/>
          </a:bodyPr>
          <a:lstStyle/>
          <a:p>
            <a:r>
              <a:rPr lang="en-US" dirty="0"/>
              <a:t>FLEX 10K Device Block Diagram</a:t>
            </a:r>
          </a:p>
        </p:txBody>
      </p:sp>
    </p:spTree>
    <p:extLst>
      <p:ext uri="{BB962C8B-B14F-4D97-AF65-F5344CB8AC3E}">
        <p14:creationId xmlns:p14="http://schemas.microsoft.com/office/powerpoint/2010/main" val="155219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278966" y="661182"/>
            <a:ext cx="7863840" cy="5922497"/>
          </a:xfrm>
          <a:prstGeom prst="rect">
            <a:avLst/>
          </a:prstGeom>
          <a:noFill/>
          <a:ln w="9525">
            <a:noFill/>
            <a:miter lim="800000"/>
            <a:headEnd/>
            <a:tailEnd/>
          </a:ln>
        </p:spPr>
      </p:pic>
    </p:spTree>
    <p:extLst>
      <p:ext uri="{BB962C8B-B14F-4D97-AF65-F5344CB8AC3E}">
        <p14:creationId xmlns:p14="http://schemas.microsoft.com/office/powerpoint/2010/main" val="432644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Programmable-Logic-Device-Architectures"/>
          <p:cNvPicPr/>
          <p:nvPr/>
        </p:nvPicPr>
        <p:blipFill>
          <a:blip r:embed="rId3"/>
          <a:srcRect/>
          <a:stretch>
            <a:fillRect/>
          </a:stretch>
        </p:blipFill>
        <p:spPr bwMode="auto">
          <a:xfrm>
            <a:off x="451338" y="1061275"/>
            <a:ext cx="4114800" cy="2484620"/>
          </a:xfrm>
          <a:prstGeom prst="rect">
            <a:avLst/>
          </a:prstGeom>
          <a:noFill/>
          <a:ln w="9525">
            <a:noFill/>
            <a:miter lim="800000"/>
            <a:headEnd/>
            <a:tailEnd/>
          </a:ln>
        </p:spPr>
      </p:pic>
      <p:pic>
        <p:nvPicPr>
          <p:cNvPr id="7" name="Picture 6"/>
          <p:cNvPicPr/>
          <p:nvPr/>
        </p:nvPicPr>
        <p:blipFill>
          <a:blip r:embed="rId4"/>
          <a:srcRect/>
          <a:stretch>
            <a:fillRect/>
          </a:stretch>
        </p:blipFill>
        <p:spPr bwMode="auto">
          <a:xfrm>
            <a:off x="4797082" y="977813"/>
            <a:ext cx="7394917" cy="4536721"/>
          </a:xfrm>
          <a:prstGeom prst="rect">
            <a:avLst/>
          </a:prstGeom>
          <a:noFill/>
          <a:ln w="9525">
            <a:noFill/>
            <a:miter lim="800000"/>
            <a:headEnd/>
            <a:tailEnd/>
          </a:ln>
        </p:spPr>
      </p:pic>
      <p:sp>
        <p:nvSpPr>
          <p:cNvPr id="11" name="Rectangle 10"/>
          <p:cNvSpPr/>
          <p:nvPr/>
        </p:nvSpPr>
        <p:spPr>
          <a:xfrm>
            <a:off x="7699803" y="6071940"/>
            <a:ext cx="1800493"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1 devices</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5707338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p:cNvPicPr/>
          <p:nvPr/>
        </p:nvPicPr>
        <p:blipFill>
          <a:blip r:embed="rId3"/>
          <a:srcRect/>
          <a:stretch>
            <a:fillRect/>
          </a:stretch>
        </p:blipFill>
        <p:spPr bwMode="auto">
          <a:xfrm>
            <a:off x="487045" y="803946"/>
            <a:ext cx="5731510" cy="2520975"/>
          </a:xfrm>
          <a:prstGeom prst="rect">
            <a:avLst/>
          </a:prstGeom>
          <a:noFill/>
          <a:ln w="9525">
            <a:noFill/>
            <a:miter lim="800000"/>
            <a:headEnd/>
            <a:tailEnd/>
          </a:ln>
        </p:spPr>
      </p:pic>
      <p:sp>
        <p:nvSpPr>
          <p:cNvPr id="8" name="Rectangle 7"/>
          <p:cNvSpPr/>
          <p:nvPr/>
        </p:nvSpPr>
        <p:spPr>
          <a:xfrm>
            <a:off x="1743199" y="3567891"/>
            <a:ext cx="1699889" cy="369332"/>
          </a:xfrm>
          <a:prstGeom prst="rect">
            <a:avLst/>
          </a:prstGeom>
        </p:spPr>
        <p:txBody>
          <a:bodyPr wrap="none">
            <a:spAutoFit/>
          </a:bodyPr>
          <a:lstStyle/>
          <a:p>
            <a:r>
              <a:rPr lang="en-IN" dirty="0" smtClean="0"/>
              <a:t>MACH 2 devices</a:t>
            </a:r>
            <a:endParaRPr lang="en-US" dirty="0"/>
          </a:p>
        </p:txBody>
      </p:sp>
      <p:pic>
        <p:nvPicPr>
          <p:cNvPr id="9" name="Picture 8"/>
          <p:cNvPicPr/>
          <p:nvPr/>
        </p:nvPicPr>
        <p:blipFill>
          <a:blip r:embed="rId4"/>
          <a:srcRect/>
          <a:stretch>
            <a:fillRect/>
          </a:stretch>
        </p:blipFill>
        <p:spPr bwMode="auto">
          <a:xfrm>
            <a:off x="6161649" y="667995"/>
            <a:ext cx="6030351" cy="5099759"/>
          </a:xfrm>
          <a:prstGeom prst="rect">
            <a:avLst/>
          </a:prstGeom>
          <a:noFill/>
          <a:ln w="9525">
            <a:noFill/>
            <a:miter lim="800000"/>
            <a:headEnd/>
            <a:tailEnd/>
          </a:ln>
        </p:spPr>
      </p:pic>
      <p:sp>
        <p:nvSpPr>
          <p:cNvPr id="10" name="Rectangle 9"/>
          <p:cNvSpPr/>
          <p:nvPr/>
        </p:nvSpPr>
        <p:spPr>
          <a:xfrm>
            <a:off x="8054976" y="6071940"/>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3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7248183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7" name="Picture 6"/>
          <p:cNvPicPr/>
          <p:nvPr/>
        </p:nvPicPr>
        <p:blipFill>
          <a:blip r:embed="rId3"/>
          <a:srcRect/>
          <a:stretch>
            <a:fillRect/>
          </a:stretch>
        </p:blipFill>
        <p:spPr bwMode="auto">
          <a:xfrm>
            <a:off x="-1" y="900635"/>
            <a:ext cx="6583681" cy="3769839"/>
          </a:xfrm>
          <a:prstGeom prst="rect">
            <a:avLst/>
          </a:prstGeom>
          <a:noFill/>
          <a:ln w="9525">
            <a:noFill/>
            <a:miter lim="800000"/>
            <a:headEnd/>
            <a:tailEnd/>
          </a:ln>
        </p:spPr>
      </p:pic>
      <p:sp>
        <p:nvSpPr>
          <p:cNvPr id="9" name="Rectangle 8"/>
          <p:cNvSpPr/>
          <p:nvPr/>
        </p:nvSpPr>
        <p:spPr>
          <a:xfrm>
            <a:off x="1415027" y="5059066"/>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4 Block Diagram</a:t>
            </a:r>
            <a:endParaRPr lang="en-US" sz="2800" dirty="0" smtClean="0">
              <a:latin typeface="Arial" pitchFamily="34" charset="0"/>
              <a:cs typeface="Arial" pitchFamily="34" charset="0"/>
            </a:endParaRPr>
          </a:p>
        </p:txBody>
      </p:sp>
      <p:pic>
        <p:nvPicPr>
          <p:cNvPr id="10" name="Picture 9"/>
          <p:cNvPicPr/>
          <p:nvPr/>
        </p:nvPicPr>
        <p:blipFill>
          <a:blip r:embed="rId4"/>
          <a:srcRect/>
          <a:stretch>
            <a:fillRect/>
          </a:stretch>
        </p:blipFill>
        <p:spPr bwMode="auto">
          <a:xfrm>
            <a:off x="6688161" y="727343"/>
            <a:ext cx="5314950" cy="3743325"/>
          </a:xfrm>
          <a:prstGeom prst="rect">
            <a:avLst/>
          </a:prstGeom>
          <a:noFill/>
          <a:ln w="9525">
            <a:noFill/>
            <a:miter lim="800000"/>
            <a:headEnd/>
            <a:tailEnd/>
          </a:ln>
        </p:spPr>
      </p:pic>
      <p:sp>
        <p:nvSpPr>
          <p:cNvPr id="11" name="Rectangle 10"/>
          <p:cNvSpPr/>
          <p:nvPr/>
        </p:nvSpPr>
        <p:spPr>
          <a:xfrm>
            <a:off x="8786496" y="4988727"/>
            <a:ext cx="2525050" cy="369332"/>
          </a:xfrm>
          <a:prstGeom prst="rect">
            <a:avLst/>
          </a:prstGeom>
        </p:spPr>
        <p:txBody>
          <a:bodyPr wrap="none">
            <a:spAutoFit/>
          </a:bodyPr>
          <a:lstStyle/>
          <a:p>
            <a:pPr lvl="0" algn="ctr" fontAlgn="base">
              <a:spcBef>
                <a:spcPct val="0"/>
              </a:spcBef>
              <a:spcAft>
                <a:spcPct val="0"/>
              </a:spcAft>
            </a:pPr>
            <a:r>
              <a:rPr lang="en-US" dirty="0" smtClean="0">
                <a:latin typeface="Times New Roman" pitchFamily="18" charset="0"/>
                <a:cs typeface="Times New Roman" pitchFamily="18" charset="0"/>
              </a:rPr>
              <a:t>MACH 5 Block Diagram</a:t>
            </a:r>
            <a:endParaRPr lang="en-US" sz="2800" dirty="0" smtClean="0">
              <a:latin typeface="Arial" pitchFamily="34" charset="0"/>
              <a:cs typeface="Arial" pitchFamily="34" charset="0"/>
            </a:endParaRPr>
          </a:p>
        </p:txBody>
      </p:sp>
    </p:spTree>
    <p:extLst>
      <p:ext uri="{BB962C8B-B14F-4D97-AF65-F5344CB8AC3E}">
        <p14:creationId xmlns:p14="http://schemas.microsoft.com/office/powerpoint/2010/main" val="21407084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https://www.electronics-tutorial.net/Programmable-Logic-Device-Architectures/CPLD/Cypress-FLASH370-CPLDs/Fig_Cypress%20FLASH370%20CPLDs.png"/>
          <p:cNvPicPr/>
          <p:nvPr/>
        </p:nvPicPr>
        <p:blipFill>
          <a:blip r:embed="rId3"/>
          <a:srcRect/>
          <a:stretch>
            <a:fillRect/>
          </a:stretch>
        </p:blipFill>
        <p:spPr bwMode="auto">
          <a:xfrm>
            <a:off x="1913206" y="759656"/>
            <a:ext cx="8975188" cy="5275384"/>
          </a:xfrm>
          <a:prstGeom prst="rect">
            <a:avLst/>
          </a:prstGeom>
          <a:noFill/>
          <a:ln w="9525">
            <a:noFill/>
            <a:miter lim="800000"/>
            <a:headEnd/>
            <a:tailEnd/>
          </a:ln>
        </p:spPr>
      </p:pic>
      <p:sp>
        <p:nvSpPr>
          <p:cNvPr id="7" name="Rectangle 6"/>
          <p:cNvSpPr/>
          <p:nvPr/>
        </p:nvSpPr>
        <p:spPr>
          <a:xfrm>
            <a:off x="5984954" y="6240752"/>
            <a:ext cx="1122423" cy="369332"/>
          </a:xfrm>
          <a:prstGeom prst="rect">
            <a:avLst/>
          </a:prstGeom>
        </p:spPr>
        <p:txBody>
          <a:bodyPr wrap="none">
            <a:spAutoFit/>
          </a:bodyPr>
          <a:lstStyle/>
          <a:p>
            <a:r>
              <a:rPr lang="en-IN" dirty="0" smtClean="0"/>
              <a:t>FLASH370</a:t>
            </a:r>
            <a:endParaRPr lang="en-US" dirty="0"/>
          </a:p>
        </p:txBody>
      </p:sp>
    </p:spTree>
    <p:extLst>
      <p:ext uri="{BB962C8B-B14F-4D97-AF65-F5344CB8AC3E}">
        <p14:creationId xmlns:p14="http://schemas.microsoft.com/office/powerpoint/2010/main" val="16417872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p:cNvPicPr/>
          <p:nvPr/>
        </p:nvPicPr>
        <p:blipFill>
          <a:blip r:embed="rId3"/>
          <a:srcRect/>
          <a:stretch>
            <a:fillRect/>
          </a:stretch>
        </p:blipFill>
        <p:spPr bwMode="auto">
          <a:xfrm>
            <a:off x="1758462" y="914400"/>
            <a:ext cx="8736036" cy="5050302"/>
          </a:xfrm>
          <a:prstGeom prst="rect">
            <a:avLst/>
          </a:prstGeom>
          <a:noFill/>
          <a:ln w="9525">
            <a:noFill/>
            <a:miter lim="800000"/>
            <a:headEnd/>
            <a:tailEnd/>
          </a:ln>
        </p:spPr>
      </p:pic>
    </p:spTree>
    <p:extLst>
      <p:ext uri="{BB962C8B-B14F-4D97-AF65-F5344CB8AC3E}">
        <p14:creationId xmlns:p14="http://schemas.microsoft.com/office/powerpoint/2010/main" val="183066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1" y="1252025"/>
            <a:ext cx="10370851" cy="3108543"/>
          </a:xfrm>
          <a:prstGeom prst="rect">
            <a:avLst/>
          </a:prstGeom>
          <a:noFill/>
        </p:spPr>
        <p:txBody>
          <a:bodyPr wrap="square" rtlCol="0">
            <a:spAutoFit/>
          </a:bodyPr>
          <a:lstStyle/>
          <a:p>
            <a:pPr algn="just"/>
            <a:r>
              <a:rPr lang="en-IN" sz="2800" dirty="0" smtClean="0"/>
              <a:t>Stated another way, the FLASH370 features: • no </a:t>
            </a:r>
            <a:r>
              <a:rPr lang="en-IN" sz="2800" dirty="0" err="1" smtClean="0"/>
              <a:t>fanout</a:t>
            </a:r>
            <a:r>
              <a:rPr lang="en-IN" sz="2800" dirty="0" smtClean="0"/>
              <a:t> delays • no expander delays • no dedicated vs. I/O pin delays • no additional delay through PIM • no penalty for using 0–16 product terms • no added delay for steering product terms • no added delay for sharing product terms • no routing delays • no output bypass delays The simple timing model of the FLASH370 family eliminates unexpected performance penalties. </a:t>
            </a:r>
            <a:endParaRPr lang="en-US" sz="2800" dirty="0"/>
          </a:p>
        </p:txBody>
      </p:sp>
    </p:spTree>
    <p:extLst>
      <p:ext uri="{BB962C8B-B14F-4D97-AF65-F5344CB8AC3E}">
        <p14:creationId xmlns:p14="http://schemas.microsoft.com/office/powerpoint/2010/main" val="7009200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p:cNvPicPr/>
          <p:nvPr/>
        </p:nvPicPr>
        <p:blipFill>
          <a:blip r:embed="rId3"/>
          <a:srcRect/>
          <a:stretch>
            <a:fillRect/>
          </a:stretch>
        </p:blipFill>
        <p:spPr bwMode="auto">
          <a:xfrm>
            <a:off x="2686929" y="647114"/>
            <a:ext cx="7498079" cy="5866228"/>
          </a:xfrm>
          <a:prstGeom prst="rect">
            <a:avLst/>
          </a:prstGeom>
          <a:noFill/>
          <a:ln w="9525">
            <a:noFill/>
            <a:miter lim="800000"/>
            <a:headEnd/>
            <a:tailEnd/>
          </a:ln>
        </p:spPr>
      </p:pic>
    </p:spTree>
    <p:extLst>
      <p:ext uri="{BB962C8B-B14F-4D97-AF65-F5344CB8AC3E}">
        <p14:creationId xmlns:p14="http://schemas.microsoft.com/office/powerpoint/2010/main" val="951795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ASIC &amp; FPGA </a:t>
            </a:r>
            <a:r>
              <a:rPr lang="en-US" sz="2400" b="1" dirty="0" smtClean="0">
                <a:latin typeface="Poppins" pitchFamily="2" charset="77"/>
                <a:cs typeface="Poppins" pitchFamily="2" charset="77"/>
              </a:rPr>
              <a:t>Design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1031134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d43ee83c-3e71-4748-8ebc-8eaadf793425"/>
    <ds:schemaRef ds:uri="http://schemas.microsoft.com/office/2006/documentManagement/types"/>
    <ds:schemaRef ds:uri="0125a647-8023-46ae-ae6e-85cf36d841bd"/>
    <ds:schemaRef ds:uri="http://www.w3.org/XML/1998/namespace"/>
    <ds:schemaRef ds:uri="http://purl.org/dc/dcmityp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1406</TotalTime>
  <Words>468</Words>
  <Application>Microsoft Office PowerPoint</Application>
  <PresentationFormat>Widescreen</PresentationFormat>
  <Paragraphs>144</Paragraphs>
  <Slides>15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BioRhyme ExtraBold</vt:lpstr>
      <vt:lpstr>Calibri</vt:lpstr>
      <vt:lpstr>Calibri Light</vt:lpstr>
      <vt:lpstr>Poppins</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123</cp:lastModifiedBy>
  <cp:revision>72</cp:revision>
  <dcterms:created xsi:type="dcterms:W3CDTF">2020-02-08T09:57:44Z</dcterms:created>
  <dcterms:modified xsi:type="dcterms:W3CDTF">2025-10-27T04:26:00Z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