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2"/>
  </p:notesMasterIdLst>
  <p:handoutMasterIdLst>
    <p:handoutMasterId r:id="rId33"/>
  </p:handoutMasterIdLst>
  <p:sldIdLst>
    <p:sldId id="271" r:id="rId2"/>
    <p:sldId id="300" r:id="rId3"/>
    <p:sldId id="339" r:id="rId4"/>
    <p:sldId id="408" r:id="rId5"/>
    <p:sldId id="342" r:id="rId6"/>
    <p:sldId id="410" r:id="rId7"/>
    <p:sldId id="411" r:id="rId8"/>
    <p:sldId id="412" r:id="rId9"/>
    <p:sldId id="413" r:id="rId10"/>
    <p:sldId id="414" r:id="rId11"/>
    <p:sldId id="415" r:id="rId12"/>
    <p:sldId id="416" r:id="rId13"/>
    <p:sldId id="417" r:id="rId14"/>
    <p:sldId id="420" r:id="rId15"/>
    <p:sldId id="421" r:id="rId16"/>
    <p:sldId id="423" r:id="rId17"/>
    <p:sldId id="424" r:id="rId18"/>
    <p:sldId id="341" r:id="rId19"/>
    <p:sldId id="426" r:id="rId20"/>
    <p:sldId id="427" r:id="rId21"/>
    <p:sldId id="428" r:id="rId22"/>
    <p:sldId id="429" r:id="rId23"/>
    <p:sldId id="327" r:id="rId24"/>
    <p:sldId id="301" r:id="rId25"/>
    <p:sldId id="328" r:id="rId26"/>
    <p:sldId id="329" r:id="rId27"/>
    <p:sldId id="315" r:id="rId28"/>
    <p:sldId id="302" r:id="rId29"/>
    <p:sldId id="303" r:id="rId30"/>
    <p:sldId id="304"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4" d="100"/>
          <a:sy n="74" d="100"/>
        </p:scale>
        <p:origin x="576" y="9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6CDB74D4-5E76-4C47-E7AA-61E2C648C8D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a:extLst>
              <a:ext uri="{FF2B5EF4-FFF2-40B4-BE49-F238E27FC236}">
                <a16:creationId xmlns="" xmlns:a16="http://schemas.microsoft.com/office/drawing/2014/main" id="{7C962EDA-0A3B-5C3A-C8DF-7672C339CF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t>28-07-2025</a:t>
            </a:fld>
            <a:endParaRPr lang="en-IN"/>
          </a:p>
        </p:txBody>
      </p:sp>
      <p:sp>
        <p:nvSpPr>
          <p:cNvPr id="4" name="Footer Placeholder 3">
            <a:extLst>
              <a:ext uri="{FF2B5EF4-FFF2-40B4-BE49-F238E27FC236}">
                <a16:creationId xmlns="" xmlns:a16="http://schemas.microsoft.com/office/drawing/2014/main" id="{1EC80489-5F61-FA08-A147-AE43BE9C499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a:extLst>
              <a:ext uri="{FF2B5EF4-FFF2-40B4-BE49-F238E27FC236}">
                <a16:creationId xmlns="" xmlns:a16="http://schemas.microsoft.com/office/drawing/2014/main" id="{F72D387C-1469-6716-E148-98BDCB6976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t>‹#›</a:t>
            </a:fld>
            <a:endParaRPr lang="en-IN"/>
          </a:p>
        </p:txBody>
      </p:sp>
    </p:spTree>
    <p:extLst>
      <p:ext uri="{BB962C8B-B14F-4D97-AF65-F5344CB8AC3E}">
        <p14:creationId xmlns:p14="http://schemas.microsoft.com/office/powerpoint/2010/main" val="954391555"/>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t>28-07-2025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t>‹#›</a:t>
            </a:fld>
            <a:endParaRPr lang="en-IN"/>
          </a:p>
        </p:txBody>
      </p:sp>
    </p:spTree>
    <p:extLst>
      <p:ext uri="{BB962C8B-B14F-4D97-AF65-F5344CB8AC3E}">
        <p14:creationId xmlns:p14="http://schemas.microsoft.com/office/powerpoint/2010/main" val="3310007880"/>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839828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57521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90948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52286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&lt;COURSE TITLE&gt;, &lt;TOPIC NAME&gt;</a:t>
            </a:r>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8372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&lt;COURSE TITLE&gt;, &lt;TOPIC NAME&gt;</a:t>
            </a:r>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07466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3194587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32037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00776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1267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536402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28003808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pPr/>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a:extLst>
              <a:ext uri="{FF2B5EF4-FFF2-40B4-BE49-F238E27FC236}">
                <a16:creationId xmlns="" xmlns:a16="http://schemas.microsoft.com/office/drawing/2014/main" id="{D33DD7EC-6054-A5D7-0F93-3916702EC90E}"/>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a:extLst>
              <a:ext uri="{FF2B5EF4-FFF2-40B4-BE49-F238E27FC236}">
                <a16:creationId xmlns="" xmlns:a16="http://schemas.microsoft.com/office/drawing/2014/main" id="{DB6D7A70-9470-38A5-6785-933F5C089234}"/>
              </a:ext>
            </a:extLst>
          </p:cNvPr>
          <p:cNvPicPr>
            <a:picLocks noChangeAspect="1"/>
          </p:cNvPicPr>
          <p:nvPr userDrawn="1"/>
        </p:nvPicPr>
        <p:blipFill rotWithShape="1">
          <a:blip r:embed="rId15" cstate="print">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14" name="Picture 13" descr="Text&#10;&#10;Description automatically generated with medium confidence">
            <a:extLst>
              <a:ext uri="{FF2B5EF4-FFF2-40B4-BE49-F238E27FC236}">
                <a16:creationId xmlns="" xmlns:a16="http://schemas.microsoft.com/office/drawing/2014/main" id="{A51BE3ED-273E-B0A1-FC3A-EE01E1A92D27}"/>
              </a:ext>
            </a:extLst>
          </p:cNvPr>
          <p:cNvPicPr>
            <a:picLocks noChangeAspect="1"/>
          </p:cNvPicPr>
          <p:nvPr userDrawn="1"/>
        </p:nvPicPr>
        <p:blipFill rotWithShape="1">
          <a:blip r:embed="rId16" cstate="print">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31983802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8.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jpe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gif"/></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62392" y="167951"/>
            <a:ext cx="6170855" cy="6111678"/>
          </a:xfrm>
          <a:prstGeom prst="rect">
            <a:avLst/>
          </a:prstGeom>
          <a:noFill/>
          <a:ln>
            <a:noFill/>
          </a:ln>
        </p:spPr>
      </p:pic>
      <p:sp>
        <p:nvSpPr>
          <p:cNvPr id="476" name="Google Shape;476;p16"/>
          <p:cNvSpPr txBox="1"/>
          <p:nvPr/>
        </p:nvSpPr>
        <p:spPr>
          <a:xfrm>
            <a:off x="7099973" y="859631"/>
            <a:ext cx="2477770" cy="830956"/>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2400" b="1" cap="all" dirty="0">
                <a:ln/>
                <a:solidFill>
                  <a:srgbClr val="C00000"/>
                </a:solidFill>
                <a:cs typeface="Poppins" panose="00000500000000000000" pitchFamily="2" charset="0"/>
                <a:sym typeface="BioRhyme ExtraBold"/>
              </a:rPr>
              <a:t>AY-2025-2026</a:t>
            </a:r>
          </a:p>
          <a:p>
            <a:pPr marR="0" lvl="0" indent="0" algn="ctr">
              <a:spcBef>
                <a:spcPts val="0"/>
              </a:spcBef>
              <a:spcAft>
                <a:spcPts val="0"/>
              </a:spcAft>
              <a:buNone/>
            </a:pPr>
            <a:r>
              <a:rPr lang="en-US" sz="2400" b="1" cap="all" dirty="0">
                <a:ln/>
                <a:solidFill>
                  <a:srgbClr val="C00000"/>
                </a:solidFill>
                <a:effectLst/>
                <a:cs typeface="Poppins" panose="00000500000000000000" pitchFamily="2" charset="0"/>
                <a:sym typeface="BioRhyme ExtraBold"/>
              </a:rPr>
              <a:t>ODD SEM</a:t>
            </a:r>
            <a:endParaRPr lang="en-US" sz="3200" b="1" dirty="0">
              <a:solidFill>
                <a:srgbClr val="C00000"/>
              </a:solidFill>
              <a:effectLst/>
              <a:cs typeface="Poppins" panose="00000500000000000000" pitchFamily="2" charset="0"/>
            </a:endParaRPr>
          </a:p>
        </p:txBody>
      </p:sp>
      <p:sp>
        <p:nvSpPr>
          <p:cNvPr id="19" name="Rectangle: Rounded Corners 18">
            <a:extLst>
              <a:ext uri="{FF2B5EF4-FFF2-40B4-BE49-F238E27FC236}">
                <a16:creationId xmlns="" xmlns:a16="http://schemas.microsoft.com/office/drawing/2014/main" id="{B9F0C376-F4D3-1950-3474-EFF28411BDC6}"/>
              </a:ext>
            </a:extLst>
          </p:cNvPr>
          <p:cNvSpPr/>
          <p:nvPr/>
        </p:nvSpPr>
        <p:spPr>
          <a:xfrm>
            <a:off x="6287807" y="1913706"/>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233250" y="1880470"/>
            <a:ext cx="4595447" cy="646290"/>
          </a:xfrm>
          <a:prstGeom prst="rect">
            <a:avLst/>
          </a:prstGeom>
          <a:noFill/>
          <a:ln>
            <a:noFill/>
          </a:ln>
          <a:effectLst/>
        </p:spPr>
        <p:txBody>
          <a:bodyPr spcFirstLastPara="1" wrap="square" lIns="91425" tIns="45700" rIns="91425" bIns="45700" anchor="t" anchorCtr="0">
            <a:spAutoFit/>
          </a:bodyPr>
          <a:lstStyle/>
          <a:p>
            <a:pPr algn="ctr"/>
            <a:r>
              <a:rPr lang="en-US" sz="3600" dirty="0">
                <a:solidFill>
                  <a:srgbClr val="C00000"/>
                </a:solidFill>
                <a:cs typeface="Poppins" pitchFamily="2" charset="77"/>
              </a:rPr>
              <a:t>Department of ECE</a:t>
            </a:r>
          </a:p>
        </p:txBody>
      </p:sp>
      <p:sp>
        <p:nvSpPr>
          <p:cNvPr id="8" name="Google Shape;502;p17">
            <a:extLst>
              <a:ext uri="{FF2B5EF4-FFF2-40B4-BE49-F238E27FC236}">
                <a16:creationId xmlns="" xmlns:a16="http://schemas.microsoft.com/office/drawing/2014/main" id="{7153E61F-4441-DBE3-3DFF-6E9EF6C48D23}"/>
              </a:ext>
            </a:extLst>
          </p:cNvPr>
          <p:cNvSpPr/>
          <p:nvPr/>
        </p:nvSpPr>
        <p:spPr>
          <a:xfrm>
            <a:off x="7238537" y="4823886"/>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- 1</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Google Shape;476;p16">
            <a:extLst>
              <a:ext uri="{FF2B5EF4-FFF2-40B4-BE49-F238E27FC236}">
                <a16:creationId xmlns="" xmlns:a16="http://schemas.microsoft.com/office/drawing/2014/main" id="{195D9CAD-EC11-56C0-896C-2F80EE1C9C6A}"/>
              </a:ext>
            </a:extLst>
          </p:cNvPr>
          <p:cNvSpPr txBox="1"/>
          <p:nvPr/>
        </p:nvSpPr>
        <p:spPr>
          <a:xfrm>
            <a:off x="4381626" y="2972999"/>
            <a:ext cx="7948938" cy="1631175"/>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2400" b="1" cap="all" dirty="0">
                <a:ln/>
                <a:solidFill>
                  <a:srgbClr val="C00000"/>
                </a:solidFill>
                <a:cs typeface="Poppins" panose="00000500000000000000" pitchFamily="2" charset="0"/>
                <a:sym typeface="BioRhyme ExtraBold"/>
              </a:rPr>
              <a:t>ASIC &amp; </a:t>
            </a:r>
            <a:r>
              <a:rPr lang="en-US" sz="2400" b="1" cap="all" dirty="0" err="1">
                <a:ln/>
                <a:solidFill>
                  <a:srgbClr val="C00000"/>
                </a:solidFill>
                <a:cs typeface="Poppins" panose="00000500000000000000" pitchFamily="2" charset="0"/>
                <a:sym typeface="BioRhyme ExtraBold"/>
              </a:rPr>
              <a:t>fpga</a:t>
            </a:r>
            <a:r>
              <a:rPr lang="en-US" sz="2400" b="1" cap="all" dirty="0">
                <a:ln/>
                <a:solidFill>
                  <a:srgbClr val="C00000"/>
                </a:solidFill>
                <a:cs typeface="Poppins" panose="00000500000000000000" pitchFamily="2" charset="0"/>
                <a:sym typeface="BioRhyme ExtraBold"/>
              </a:rPr>
              <a:t> </a:t>
            </a:r>
            <a:r>
              <a:rPr lang="en-US" sz="2400" b="1" cap="all" dirty="0" err="1">
                <a:ln/>
                <a:solidFill>
                  <a:srgbClr val="C00000"/>
                </a:solidFill>
                <a:cs typeface="Poppins" panose="00000500000000000000" pitchFamily="2" charset="0"/>
                <a:sym typeface="BioRhyme ExtraBold"/>
              </a:rPr>
              <a:t>dESIGN</a:t>
            </a:r>
            <a:endParaRPr lang="en-US" sz="2400" b="1" cap="all" dirty="0">
              <a:ln/>
              <a:solidFill>
                <a:srgbClr val="C00000"/>
              </a:solidFill>
              <a:cs typeface="Poppins" panose="00000500000000000000" pitchFamily="2" charset="0"/>
              <a:sym typeface="BioRhyme ExtraBold"/>
            </a:endParaRPr>
          </a:p>
          <a:p>
            <a:pPr marR="0" lvl="0" indent="0" algn="ctr">
              <a:spcBef>
                <a:spcPts val="0"/>
              </a:spcBef>
              <a:spcAft>
                <a:spcPts val="0"/>
              </a:spcAft>
              <a:buNone/>
            </a:pPr>
            <a:r>
              <a:rPr lang="en-US" sz="2400" b="1" cap="all" dirty="0" smtClean="0">
                <a:ln/>
                <a:solidFill>
                  <a:srgbClr val="C00000"/>
                </a:solidFill>
                <a:cs typeface="Poppins" panose="00000500000000000000" pitchFamily="2" charset="0"/>
                <a:sym typeface="BioRhyme ExtraBold"/>
              </a:rPr>
              <a:t>22EC2237F</a:t>
            </a:r>
            <a:endParaRPr lang="en-US" sz="24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3200" b="1" cap="all" dirty="0">
                <a:ln/>
                <a:solidFill>
                  <a:srgbClr val="C00000"/>
                </a:solidFill>
                <a:cs typeface="Poppins" panose="00000500000000000000" pitchFamily="2" charset="0"/>
              </a:rPr>
              <a:t>Introduction to ASICs</a:t>
            </a:r>
            <a:endParaRPr lang="en-US" sz="3200" b="1" dirty="0">
              <a:solidFill>
                <a:srgbClr val="C00000"/>
              </a:solidFill>
              <a:effectLst/>
              <a:cs typeface="Poppins" panose="00000500000000000000" pitchFamily="2"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D530E72E-233E-E443-1A84-D3CD02ECB889}"/>
              </a:ext>
            </a:extLst>
          </p:cNvPr>
          <p:cNvSpPr/>
          <p:nvPr/>
        </p:nvSpPr>
        <p:spPr>
          <a:xfrm>
            <a:off x="4471371" y="103067"/>
            <a:ext cx="356004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AIM OF THE SESSION</a:t>
            </a:r>
          </a:p>
        </p:txBody>
      </p:sp>
      <p:sp>
        <p:nvSpPr>
          <p:cNvPr id="5" name="TextBox 4">
            <a:extLst>
              <a:ext uri="{FF2B5EF4-FFF2-40B4-BE49-F238E27FC236}">
                <a16:creationId xmlns="" xmlns:a16="http://schemas.microsoft.com/office/drawing/2014/main" id="{D7C61438-200D-827A-D4DD-5B5127AFA187}"/>
              </a:ext>
            </a:extLst>
          </p:cNvPr>
          <p:cNvSpPr txBox="1"/>
          <p:nvPr/>
        </p:nvSpPr>
        <p:spPr>
          <a:xfrm>
            <a:off x="895079" y="553769"/>
            <a:ext cx="11216056" cy="881908"/>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dirty="0"/>
              <a:t>To provide an in-depth understanding of ASICs, their classifications, design flow, critical cell types used in ASIC implementation, and the economic trade-offs associated with ASIC development.</a:t>
            </a:r>
            <a:endParaRPr lang="en-US" sz="1600" b="0" i="0" dirty="0">
              <a:effectLst/>
              <a:latin typeface="Poppins"/>
              <a:cs typeface="Poppins"/>
            </a:endParaRPr>
          </a:p>
        </p:txBody>
      </p:sp>
      <p:sp>
        <p:nvSpPr>
          <p:cNvPr id="7" name="Rounded Rectangle 17">
            <a:extLst>
              <a:ext uri="{FF2B5EF4-FFF2-40B4-BE49-F238E27FC236}">
                <a16:creationId xmlns="" xmlns:a16="http://schemas.microsoft.com/office/drawing/2014/main" id="{7F3AABB0-F8BA-C900-B6BF-45F4B58E9490}"/>
              </a:ext>
            </a:extLst>
          </p:cNvPr>
          <p:cNvSpPr/>
          <p:nvPr/>
        </p:nvSpPr>
        <p:spPr>
          <a:xfrm>
            <a:off x="4053596" y="1499411"/>
            <a:ext cx="4395589"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INSTRUCTIONAL OBJECTIVES</a:t>
            </a:r>
          </a:p>
        </p:txBody>
      </p:sp>
      <p:sp>
        <p:nvSpPr>
          <p:cNvPr id="9" name="TextBox 8">
            <a:extLst>
              <a:ext uri="{FF2B5EF4-FFF2-40B4-BE49-F238E27FC236}">
                <a16:creationId xmlns="" xmlns:a16="http://schemas.microsoft.com/office/drawing/2014/main" id="{2B5EAD4E-C007-9DE7-A40A-12802D3C9611}"/>
              </a:ext>
            </a:extLst>
          </p:cNvPr>
          <p:cNvSpPr txBox="1"/>
          <p:nvPr/>
        </p:nvSpPr>
        <p:spPr>
          <a:xfrm>
            <a:off x="885749" y="1942830"/>
            <a:ext cx="11225386" cy="1815882"/>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p>
          <a:p>
            <a:pPr marL="800100" lvl="1" indent="-342900">
              <a:buFont typeface="+mj-lt"/>
              <a:buAutoNum type="arabicPeriod"/>
            </a:pPr>
            <a:r>
              <a:rPr lang="en-US" sz="1600" dirty="0"/>
              <a:t>Define ASICs and classify them into Full-Custom, Semi-Custom, and Programmable types.</a:t>
            </a:r>
          </a:p>
          <a:p>
            <a:pPr marL="800100" lvl="1" indent="-342900">
              <a:buFont typeface="+mj-lt"/>
              <a:buAutoNum type="arabicPeriod"/>
            </a:pPr>
            <a:r>
              <a:rPr lang="en-US" sz="1600" dirty="0"/>
              <a:t>Describe and analyze the standard ASIC design flow from specification to GDSII.</a:t>
            </a:r>
          </a:p>
          <a:p>
            <a:pPr marL="800100" lvl="1" indent="-342900">
              <a:buFont typeface="+mj-lt"/>
              <a:buAutoNum type="arabicPeriod"/>
            </a:pPr>
            <a:r>
              <a:rPr lang="en-US" sz="1600" dirty="0"/>
              <a:t>Explain the role of standard cell libraries and discuss in detail combinational, sequential, </a:t>
            </a:r>
            <a:r>
              <a:rPr lang="en-US" sz="1600" dirty="0" err="1"/>
              <a:t>datapath</a:t>
            </a:r>
            <a:r>
              <a:rPr lang="en-US" sz="1600" dirty="0"/>
              <a:t>, and I/O cells.</a:t>
            </a:r>
          </a:p>
          <a:p>
            <a:pPr marL="800100" lvl="1" indent="-342900">
              <a:buFont typeface="+mj-lt"/>
              <a:buAutoNum type="arabicPeriod"/>
            </a:pPr>
            <a:r>
              <a:rPr lang="en-US" sz="1600" dirty="0"/>
              <a:t>Understand the economic considerations in ASIC production including NRE and unit cost.</a:t>
            </a:r>
          </a:p>
          <a:p>
            <a:pPr marL="800100" lvl="1" indent="-342900">
              <a:buFont typeface="+mj-lt"/>
              <a:buAutoNum type="arabicPeriod"/>
            </a:pPr>
            <a:r>
              <a:rPr lang="en-US" sz="1600" dirty="0"/>
              <a:t>Present a case study to contextualize ASIC usage in a practical scenario..</a:t>
            </a:r>
            <a:endParaRPr lang="en-GB" sz="1600" dirty="0"/>
          </a:p>
        </p:txBody>
      </p:sp>
      <p:pic>
        <p:nvPicPr>
          <p:cNvPr id="11" name="Graphic 10" descr="Bullseye outline">
            <a:extLst>
              <a:ext uri="{FF2B5EF4-FFF2-40B4-BE49-F238E27FC236}">
                <a16:creationId xmlns=""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0" y="2333949"/>
            <a:ext cx="914400" cy="914400"/>
          </a:xfrm>
          <a:prstGeom prst="rect">
            <a:avLst/>
          </a:prstGeom>
        </p:spPr>
      </p:pic>
      <p:sp>
        <p:nvSpPr>
          <p:cNvPr id="29" name="Rounded Rectangle 17">
            <a:extLst>
              <a:ext uri="{FF2B5EF4-FFF2-40B4-BE49-F238E27FC236}">
                <a16:creationId xmlns="" xmlns:a16="http://schemas.microsoft.com/office/drawing/2014/main" id="{6652A33D-9A9E-3EAC-0CAE-113901ECA179}"/>
              </a:ext>
            </a:extLst>
          </p:cNvPr>
          <p:cNvSpPr/>
          <p:nvPr/>
        </p:nvSpPr>
        <p:spPr>
          <a:xfrm>
            <a:off x="4315974" y="3830013"/>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 xmlns:asvg="http://schemas.microsoft.com/office/drawing/2016/SVG/main" r:embed="rId7"/>
              </a:ext>
            </a:extLst>
          </a:blip>
          <a:stretch>
            <a:fillRect/>
          </a:stretch>
        </p:blipFill>
        <p:spPr>
          <a:xfrm>
            <a:off x="-28652" y="4715509"/>
            <a:ext cx="914400" cy="914400"/>
          </a:xfrm>
          <a:prstGeom prst="rect">
            <a:avLst/>
          </a:prstGeom>
        </p:spPr>
      </p:pic>
      <p:sp>
        <p:nvSpPr>
          <p:cNvPr id="37" name="TextBox 36">
            <a:extLst>
              <a:ext uri="{FF2B5EF4-FFF2-40B4-BE49-F238E27FC236}">
                <a16:creationId xmlns="" xmlns:a16="http://schemas.microsoft.com/office/drawing/2014/main" id="{B0BB8E68-8B73-12DE-615E-1091F19A9A9A}"/>
              </a:ext>
            </a:extLst>
          </p:cNvPr>
          <p:cNvSpPr txBox="1"/>
          <p:nvPr/>
        </p:nvSpPr>
        <p:spPr>
          <a:xfrm>
            <a:off x="914399" y="4219932"/>
            <a:ext cx="11196735" cy="1892826"/>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spcAft>
                <a:spcPts val="600"/>
              </a:spcAft>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p>
          <a:p>
            <a:pPr marL="800100" lvl="1" indent="-342900">
              <a:buFont typeface="+mj-lt"/>
              <a:buAutoNum type="arabicPeriod"/>
            </a:pPr>
            <a:r>
              <a:rPr lang="en-US" sz="1600" dirty="0"/>
              <a:t>Classify and differentiate between various ASIC types (Full-Custom, Semi-Custom, Programmable) based on architecture, design complexity, and application domain.</a:t>
            </a:r>
          </a:p>
          <a:p>
            <a:pPr marL="800100" lvl="1" indent="-342900">
              <a:buFont typeface="+mj-lt"/>
              <a:buAutoNum type="arabicPeriod"/>
            </a:pPr>
            <a:r>
              <a:rPr lang="en-US" sz="1600" dirty="0"/>
              <a:t>Demonstrate a comprehensive understanding of the ASIC design flow and accurately describe each step from specification to tape-out.</a:t>
            </a:r>
          </a:p>
          <a:p>
            <a:pPr marL="800100" lvl="1" indent="-342900">
              <a:buFont typeface="+mj-lt"/>
              <a:buAutoNum type="arabicPeriod"/>
            </a:pPr>
            <a:r>
              <a:rPr lang="en-US" sz="1600" dirty="0"/>
              <a:t>Analyze and interpret the roles of different logic cells (combinational, sequential, </a:t>
            </a:r>
            <a:r>
              <a:rPr lang="en-US" sz="1600" dirty="0" err="1"/>
              <a:t>datapath</a:t>
            </a:r>
            <a:r>
              <a:rPr lang="en-US" sz="1600" dirty="0"/>
              <a:t>, and I/O) within ASIC cell libraries and evaluate their impact on timing and area constraints.</a:t>
            </a:r>
            <a:endParaRPr lang="en-GB" sz="1600" dirty="0"/>
          </a:p>
        </p:txBody>
      </p:sp>
    </p:spTree>
    <p:extLst>
      <p:ext uri="{BB962C8B-B14F-4D97-AF65-F5344CB8AC3E}">
        <p14:creationId xmlns:p14="http://schemas.microsoft.com/office/powerpoint/2010/main" val="1388607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D5761AD1-5868-3163-73B5-808F9236A77C}"/>
              </a:ext>
            </a:extLst>
          </p:cNvPr>
          <p:cNvSpPr>
            <a:spLocks noGrp="1"/>
          </p:cNvSpPr>
          <p:nvPr>
            <p:ph type="sldNum" sz="quarter" idx="12"/>
          </p:nvPr>
        </p:nvSpPr>
        <p:spPr/>
        <p:txBody>
          <a:bodyPr/>
          <a:lstStyle/>
          <a:p>
            <a:fld id="{CBABCCC1-BF11-4F37-963E-1BCD5B23FD72}" type="slidenum">
              <a:rPr lang="en-IN" smtClean="0"/>
              <a:t>3</a:t>
            </a:fld>
            <a:endParaRPr lang="en-IN" dirty="0"/>
          </a:p>
        </p:txBody>
      </p:sp>
      <p:sp>
        <p:nvSpPr>
          <p:cNvPr id="9" name="Rounded Rectangle 17">
            <a:extLst>
              <a:ext uri="{FF2B5EF4-FFF2-40B4-BE49-F238E27FC236}">
                <a16:creationId xmlns="" xmlns:a16="http://schemas.microsoft.com/office/drawing/2014/main" id="{DBF24F09-8CF9-CC4F-5E7C-DE65C8B2B2E6}"/>
              </a:ext>
            </a:extLst>
          </p:cNvPr>
          <p:cNvSpPr/>
          <p:nvPr/>
        </p:nvSpPr>
        <p:spPr>
          <a:xfrm>
            <a:off x="3037595" y="123556"/>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2700" algn="ctr">
              <a:lnSpc>
                <a:spcPct val="100000"/>
              </a:lnSpc>
              <a:spcBef>
                <a:spcPts val="100"/>
              </a:spcBef>
            </a:pPr>
            <a:r>
              <a:rPr lang="en-IN" sz="2400" b="1" spc="-5" dirty="0"/>
              <a:t>Contents</a:t>
            </a:r>
            <a:endParaRPr lang="en-IN" sz="2400" b="1" spc="-50" dirty="0"/>
          </a:p>
        </p:txBody>
      </p:sp>
      <p:sp>
        <p:nvSpPr>
          <p:cNvPr id="5" name="TextBox 4">
            <a:extLst>
              <a:ext uri="{FF2B5EF4-FFF2-40B4-BE49-F238E27FC236}">
                <a16:creationId xmlns="" xmlns:a16="http://schemas.microsoft.com/office/drawing/2014/main" id="{80505DE2-C668-DCDC-AFA8-392B44EB3CA9}"/>
              </a:ext>
            </a:extLst>
          </p:cNvPr>
          <p:cNvSpPr txBox="1"/>
          <p:nvPr/>
        </p:nvSpPr>
        <p:spPr>
          <a:xfrm>
            <a:off x="4991871" y="620253"/>
            <a:ext cx="3545639" cy="5347233"/>
          </a:xfrm>
          <a:prstGeom prst="rect">
            <a:avLst/>
          </a:prstGeom>
          <a:noFill/>
        </p:spPr>
        <p:txBody>
          <a:bodyPr wrap="square">
            <a:spAutoFit/>
          </a:bodyPr>
          <a:lstStyle/>
          <a:p>
            <a:pPr marL="285750" indent="-285750">
              <a:lnSpc>
                <a:spcPct val="150000"/>
              </a:lnSpc>
              <a:spcAft>
                <a:spcPts val="600"/>
              </a:spcAft>
              <a:buFont typeface="Wingdings" panose="05000000000000000000" pitchFamily="2" charset="2"/>
              <a:buChar char="v"/>
            </a:pPr>
            <a:r>
              <a:rPr lang="en-IN" sz="2000" dirty="0"/>
              <a:t>Introduction to ASICs</a:t>
            </a:r>
          </a:p>
          <a:p>
            <a:pPr marL="285750" indent="-285750">
              <a:lnSpc>
                <a:spcPct val="150000"/>
              </a:lnSpc>
              <a:spcAft>
                <a:spcPts val="600"/>
              </a:spcAft>
              <a:buFont typeface="Wingdings" panose="05000000000000000000" pitchFamily="2" charset="2"/>
              <a:buChar char="v"/>
            </a:pPr>
            <a:r>
              <a:rPr lang="en-IN" sz="2000" dirty="0"/>
              <a:t>Types of ASICs</a:t>
            </a:r>
          </a:p>
          <a:p>
            <a:pPr marL="285750" indent="-285750">
              <a:lnSpc>
                <a:spcPct val="150000"/>
              </a:lnSpc>
              <a:spcAft>
                <a:spcPts val="600"/>
              </a:spcAft>
              <a:buFont typeface="Wingdings" panose="05000000000000000000" pitchFamily="2" charset="2"/>
              <a:buChar char="v"/>
            </a:pPr>
            <a:r>
              <a:rPr lang="en-IN" sz="2000" dirty="0"/>
              <a:t>ASIC Design Flow</a:t>
            </a:r>
          </a:p>
          <a:p>
            <a:pPr marL="285750" indent="-285750">
              <a:lnSpc>
                <a:spcPct val="150000"/>
              </a:lnSpc>
              <a:spcAft>
                <a:spcPts val="600"/>
              </a:spcAft>
              <a:buFont typeface="Wingdings" panose="05000000000000000000" pitchFamily="2" charset="2"/>
              <a:buChar char="v"/>
            </a:pPr>
            <a:r>
              <a:rPr lang="en-IN" sz="2000" dirty="0"/>
              <a:t>Case Study</a:t>
            </a:r>
          </a:p>
          <a:p>
            <a:pPr marL="285750" indent="-285750">
              <a:lnSpc>
                <a:spcPct val="150000"/>
              </a:lnSpc>
              <a:spcAft>
                <a:spcPts val="600"/>
              </a:spcAft>
              <a:buFont typeface="Wingdings" panose="05000000000000000000" pitchFamily="2" charset="2"/>
              <a:buChar char="v"/>
            </a:pPr>
            <a:r>
              <a:rPr lang="en-IN" sz="2000" dirty="0"/>
              <a:t>Economics of ASICs</a:t>
            </a:r>
          </a:p>
          <a:p>
            <a:pPr marL="285750" indent="-285750">
              <a:lnSpc>
                <a:spcPct val="150000"/>
              </a:lnSpc>
              <a:spcAft>
                <a:spcPts val="600"/>
              </a:spcAft>
              <a:buFont typeface="Wingdings" panose="05000000000000000000" pitchFamily="2" charset="2"/>
              <a:buChar char="v"/>
            </a:pPr>
            <a:r>
              <a:rPr lang="en-IN" sz="2000" dirty="0"/>
              <a:t>ASIC Cell Libraries</a:t>
            </a:r>
          </a:p>
          <a:p>
            <a:pPr marL="285750" indent="-285750">
              <a:lnSpc>
                <a:spcPct val="150000"/>
              </a:lnSpc>
              <a:spcAft>
                <a:spcPts val="600"/>
              </a:spcAft>
              <a:buFont typeface="Wingdings" panose="05000000000000000000" pitchFamily="2" charset="2"/>
              <a:buChar char="v"/>
            </a:pPr>
            <a:r>
              <a:rPr lang="en-IN" sz="2000" dirty="0"/>
              <a:t>Combinational Logic Cells</a:t>
            </a:r>
          </a:p>
          <a:p>
            <a:pPr marL="285750" indent="-285750">
              <a:lnSpc>
                <a:spcPct val="150000"/>
              </a:lnSpc>
              <a:spcAft>
                <a:spcPts val="600"/>
              </a:spcAft>
              <a:buFont typeface="Wingdings" panose="05000000000000000000" pitchFamily="2" charset="2"/>
              <a:buChar char="v"/>
            </a:pPr>
            <a:r>
              <a:rPr lang="en-IN" sz="2000" dirty="0"/>
              <a:t>Sequential Logic Cells</a:t>
            </a:r>
          </a:p>
          <a:p>
            <a:pPr marL="285750" indent="-285750">
              <a:lnSpc>
                <a:spcPct val="150000"/>
              </a:lnSpc>
              <a:spcAft>
                <a:spcPts val="600"/>
              </a:spcAft>
              <a:buFont typeface="Wingdings" panose="05000000000000000000" pitchFamily="2" charset="2"/>
              <a:buChar char="v"/>
            </a:pPr>
            <a:r>
              <a:rPr lang="en-IN" sz="2000" dirty="0"/>
              <a:t>Data Path Logic Cells</a:t>
            </a:r>
          </a:p>
          <a:p>
            <a:pPr marL="285750" indent="-285750">
              <a:lnSpc>
                <a:spcPct val="150000"/>
              </a:lnSpc>
              <a:spcAft>
                <a:spcPts val="600"/>
              </a:spcAft>
              <a:buFont typeface="Wingdings" panose="05000000000000000000" pitchFamily="2" charset="2"/>
              <a:buChar char="v"/>
            </a:pPr>
            <a:r>
              <a:rPr lang="en-IN" sz="2000" dirty="0"/>
              <a:t>I/O Cells</a:t>
            </a:r>
          </a:p>
        </p:txBody>
      </p:sp>
    </p:spTree>
    <p:extLst>
      <p:ext uri="{BB962C8B-B14F-4D97-AF65-F5344CB8AC3E}">
        <p14:creationId xmlns:p14="http://schemas.microsoft.com/office/powerpoint/2010/main" val="11663744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C2F8F4C-7D23-4CFF-0D3F-002F0413A37A}"/>
            </a:ext>
          </a:extLst>
        </p:cNvPr>
        <p:cNvGrpSpPr/>
        <p:nvPr/>
      </p:nvGrpSpPr>
      <p:grpSpPr>
        <a:xfrm>
          <a:off x="0" y="0"/>
          <a:ext cx="0" cy="0"/>
          <a:chOff x="0" y="0"/>
          <a:chExt cx="0" cy="0"/>
        </a:xfrm>
      </p:grpSpPr>
      <p:sp>
        <p:nvSpPr>
          <p:cNvPr id="9" name="Rounded Rectangle 17">
            <a:extLst>
              <a:ext uri="{FF2B5EF4-FFF2-40B4-BE49-F238E27FC236}">
                <a16:creationId xmlns="" xmlns:a16="http://schemas.microsoft.com/office/drawing/2014/main" id="{2A473243-5D4C-509F-5427-2F64D130F621}"/>
              </a:ext>
            </a:extLst>
          </p:cNvPr>
          <p:cNvSpPr/>
          <p:nvPr/>
        </p:nvSpPr>
        <p:spPr>
          <a:xfrm>
            <a:off x="3037595" y="123556"/>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2700" algn="ctr">
              <a:lnSpc>
                <a:spcPct val="100000"/>
              </a:lnSpc>
              <a:spcBef>
                <a:spcPts val="100"/>
              </a:spcBef>
            </a:pPr>
            <a:r>
              <a:rPr lang="en-IN" sz="2400" b="1" spc="-5" dirty="0"/>
              <a:t>INTRODUCTION to ASICs</a:t>
            </a:r>
            <a:endParaRPr lang="en-IN" sz="2400" b="1" spc="-50" dirty="0"/>
          </a:p>
        </p:txBody>
      </p:sp>
      <p:pic>
        <p:nvPicPr>
          <p:cNvPr id="3" name="Picture 2">
            <a:extLst>
              <a:ext uri="{FF2B5EF4-FFF2-40B4-BE49-F238E27FC236}">
                <a16:creationId xmlns="" xmlns:a16="http://schemas.microsoft.com/office/drawing/2014/main" id="{E350A75E-9D79-B353-C100-EA1A9E0A1353}"/>
              </a:ext>
            </a:extLst>
          </p:cNvPr>
          <p:cNvPicPr>
            <a:picLocks noChangeAspect="1"/>
          </p:cNvPicPr>
          <p:nvPr/>
        </p:nvPicPr>
        <p:blipFill>
          <a:blip r:embed="rId2"/>
          <a:srcRect l="58420" t="4920" r="4849" b="40208"/>
          <a:stretch>
            <a:fillRect/>
          </a:stretch>
        </p:blipFill>
        <p:spPr>
          <a:xfrm>
            <a:off x="195934" y="4086725"/>
            <a:ext cx="2388646" cy="1749807"/>
          </a:xfrm>
          <a:prstGeom prst="rect">
            <a:avLst/>
          </a:prstGeom>
        </p:spPr>
      </p:pic>
      <p:grpSp>
        <p:nvGrpSpPr>
          <p:cNvPr id="17" name="Group 16">
            <a:extLst>
              <a:ext uri="{FF2B5EF4-FFF2-40B4-BE49-F238E27FC236}">
                <a16:creationId xmlns="" xmlns:a16="http://schemas.microsoft.com/office/drawing/2014/main" id="{B3DC6B7B-4B4F-6246-0500-1512B7C138BB}"/>
              </a:ext>
            </a:extLst>
          </p:cNvPr>
          <p:cNvGrpSpPr/>
          <p:nvPr/>
        </p:nvGrpSpPr>
        <p:grpSpPr>
          <a:xfrm>
            <a:off x="1268960" y="839748"/>
            <a:ext cx="3582956" cy="2062103"/>
            <a:chOff x="849086" y="1530220"/>
            <a:chExt cx="3582956" cy="2062103"/>
          </a:xfrm>
        </p:grpSpPr>
        <p:sp>
          <p:nvSpPr>
            <p:cNvPr id="4" name="Rectangle 3">
              <a:extLst>
                <a:ext uri="{FF2B5EF4-FFF2-40B4-BE49-F238E27FC236}">
                  <a16:creationId xmlns="" xmlns:a16="http://schemas.microsoft.com/office/drawing/2014/main" id="{5E8A78C8-6433-6B54-00A0-85AB17171B85}"/>
                </a:ext>
              </a:extLst>
            </p:cNvPr>
            <p:cNvSpPr/>
            <p:nvPr/>
          </p:nvSpPr>
          <p:spPr>
            <a:xfrm>
              <a:off x="849086" y="1530220"/>
              <a:ext cx="681134" cy="2006082"/>
            </a:xfrm>
            <a:prstGeom prst="rect">
              <a:avLst/>
            </a:prstGeom>
            <a:solidFill>
              <a:schemeClr val="accent3">
                <a:lumMod val="5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 xmlns:a16="http://schemas.microsoft.com/office/drawing/2014/main" id="{EBF24D4B-2A65-2DB7-7D78-B168C58F43D5}"/>
                </a:ext>
              </a:extLst>
            </p:cNvPr>
            <p:cNvSpPr txBox="1"/>
            <p:nvPr/>
          </p:nvSpPr>
          <p:spPr>
            <a:xfrm>
              <a:off x="933061" y="1530220"/>
              <a:ext cx="513184" cy="2062103"/>
            </a:xfrm>
            <a:prstGeom prst="rect">
              <a:avLst/>
            </a:prstGeom>
            <a:noFill/>
          </p:spPr>
          <p:txBody>
            <a:bodyPr wrap="square" rtlCol="0">
              <a:spAutoFit/>
            </a:bodyPr>
            <a:lstStyle/>
            <a:p>
              <a:pPr algn="ctr"/>
              <a:r>
                <a:rPr lang="en-US" sz="3200" b="1" dirty="0">
                  <a:solidFill>
                    <a:schemeClr val="bg1"/>
                  </a:solidFill>
                  <a:latin typeface="Calibri" panose="020F0502020204030204" pitchFamily="34" charset="0"/>
                  <a:ea typeface="Calibri" panose="020F0502020204030204" pitchFamily="34" charset="0"/>
                  <a:cs typeface="Calibri" panose="020F0502020204030204" pitchFamily="34" charset="0"/>
                </a:rPr>
                <a:t>A</a:t>
              </a:r>
            </a:p>
            <a:p>
              <a:pPr algn="ctr"/>
              <a:r>
                <a:rPr lang="en-US" sz="3200" b="1" dirty="0">
                  <a:solidFill>
                    <a:schemeClr val="bg1"/>
                  </a:solidFill>
                  <a:latin typeface="Calibri" panose="020F0502020204030204" pitchFamily="34" charset="0"/>
                  <a:ea typeface="Calibri" panose="020F0502020204030204" pitchFamily="34" charset="0"/>
                  <a:cs typeface="Calibri" panose="020F0502020204030204" pitchFamily="34" charset="0"/>
                </a:rPr>
                <a:t>S</a:t>
              </a:r>
            </a:p>
            <a:p>
              <a:pPr algn="ctr"/>
              <a:r>
                <a:rPr lang="en-US" sz="3200" b="1" dirty="0">
                  <a:solidFill>
                    <a:schemeClr val="bg1"/>
                  </a:solidFill>
                  <a:latin typeface="Calibri" panose="020F0502020204030204" pitchFamily="34" charset="0"/>
                  <a:ea typeface="Calibri" panose="020F0502020204030204" pitchFamily="34" charset="0"/>
                  <a:cs typeface="Calibri" panose="020F0502020204030204" pitchFamily="34" charset="0"/>
                </a:rPr>
                <a:t>I</a:t>
              </a:r>
            </a:p>
            <a:p>
              <a:pPr algn="ctr"/>
              <a:r>
                <a:rPr lang="en-US" sz="3200" b="1" dirty="0">
                  <a:solidFill>
                    <a:schemeClr val="bg1"/>
                  </a:solidFill>
                  <a:latin typeface="Calibri" panose="020F0502020204030204" pitchFamily="34" charset="0"/>
                  <a:ea typeface="Calibri" panose="020F0502020204030204" pitchFamily="34" charset="0"/>
                  <a:cs typeface="Calibri" panose="020F0502020204030204" pitchFamily="34" charset="0"/>
                </a:rPr>
                <a:t>C</a:t>
              </a:r>
              <a:endParaRPr lang="en-IN" sz="32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cxnSp>
          <p:nvCxnSpPr>
            <p:cNvPr id="8" name="Straight Connector 7">
              <a:extLst>
                <a:ext uri="{FF2B5EF4-FFF2-40B4-BE49-F238E27FC236}">
                  <a16:creationId xmlns="" xmlns:a16="http://schemas.microsoft.com/office/drawing/2014/main" id="{DF63FE6C-07E2-E8AE-5D53-23E82DA9AA2A}"/>
                </a:ext>
              </a:extLst>
            </p:cNvPr>
            <p:cNvCxnSpPr/>
            <p:nvPr/>
          </p:nvCxnSpPr>
          <p:spPr>
            <a:xfrm>
              <a:off x="1380930" y="1847461"/>
              <a:ext cx="9144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 xmlns:a16="http://schemas.microsoft.com/office/drawing/2014/main" id="{55C94CC3-3CFB-AEEA-896A-4FB980EF6007}"/>
                </a:ext>
              </a:extLst>
            </p:cNvPr>
            <p:cNvCxnSpPr/>
            <p:nvPr/>
          </p:nvCxnSpPr>
          <p:spPr>
            <a:xfrm>
              <a:off x="1380930" y="2345094"/>
              <a:ext cx="9144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 xmlns:a16="http://schemas.microsoft.com/office/drawing/2014/main" id="{38E352FF-29A9-D6A9-E9EF-0CD8AC91B5A0}"/>
                </a:ext>
              </a:extLst>
            </p:cNvPr>
            <p:cNvCxnSpPr/>
            <p:nvPr/>
          </p:nvCxnSpPr>
          <p:spPr>
            <a:xfrm>
              <a:off x="1380930" y="2820954"/>
              <a:ext cx="9144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 xmlns:a16="http://schemas.microsoft.com/office/drawing/2014/main" id="{1ABC9BDC-639D-9E2F-8502-54D0C627CCA3}"/>
                </a:ext>
              </a:extLst>
            </p:cNvPr>
            <p:cNvCxnSpPr/>
            <p:nvPr/>
          </p:nvCxnSpPr>
          <p:spPr>
            <a:xfrm>
              <a:off x="1380930" y="3318587"/>
              <a:ext cx="9144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 xmlns:a16="http://schemas.microsoft.com/office/drawing/2014/main" id="{5A9E3A8B-4707-0800-7D39-CDAFDD2A1A6B}"/>
                </a:ext>
              </a:extLst>
            </p:cNvPr>
            <p:cNvSpPr txBox="1"/>
            <p:nvPr/>
          </p:nvSpPr>
          <p:spPr>
            <a:xfrm>
              <a:off x="2321684" y="1542605"/>
              <a:ext cx="2110358" cy="584775"/>
            </a:xfrm>
            <a:prstGeom prst="rect">
              <a:avLst/>
            </a:prstGeom>
            <a:noFill/>
          </p:spPr>
          <p:txBody>
            <a:bodyPr wrap="square" rtlCol="0">
              <a:spAutoFit/>
            </a:bodyPr>
            <a:lstStyle/>
            <a:p>
              <a:pPr algn="ctr"/>
              <a:r>
                <a:rPr lang="en-US" sz="3200" b="1" dirty="0">
                  <a:solidFill>
                    <a:sysClr val="windowText" lastClr="000000"/>
                  </a:solidFill>
                  <a:latin typeface="Calibri" panose="020F0502020204030204" pitchFamily="34" charset="0"/>
                  <a:ea typeface="Calibri" panose="020F0502020204030204" pitchFamily="34" charset="0"/>
                  <a:cs typeface="Calibri" panose="020F0502020204030204" pitchFamily="34" charset="0"/>
                </a:rPr>
                <a:t>Application</a:t>
              </a:r>
              <a:endParaRPr lang="en-IN" sz="3200" b="1" dirty="0">
                <a:solidFill>
                  <a:sysClr val="windowText" lastClr="000000"/>
                </a:solidFill>
                <a:latin typeface="Calibri" panose="020F0502020204030204" pitchFamily="34" charset="0"/>
                <a:ea typeface="Calibri" panose="020F0502020204030204" pitchFamily="34" charset="0"/>
                <a:cs typeface="Calibri" panose="020F0502020204030204" pitchFamily="34" charset="0"/>
              </a:endParaRPr>
            </a:p>
          </p:txBody>
        </p:sp>
        <p:sp>
          <p:nvSpPr>
            <p:cNvPr id="14" name="TextBox 13">
              <a:extLst>
                <a:ext uri="{FF2B5EF4-FFF2-40B4-BE49-F238E27FC236}">
                  <a16:creationId xmlns="" xmlns:a16="http://schemas.microsoft.com/office/drawing/2014/main" id="{0DFCF4AD-0878-EDDB-0F96-887FBDD08F95}"/>
                </a:ext>
              </a:extLst>
            </p:cNvPr>
            <p:cNvSpPr txBox="1"/>
            <p:nvPr/>
          </p:nvSpPr>
          <p:spPr>
            <a:xfrm>
              <a:off x="2295330" y="2018409"/>
              <a:ext cx="2110358" cy="584775"/>
            </a:xfrm>
            <a:prstGeom prst="rect">
              <a:avLst/>
            </a:prstGeom>
            <a:noFill/>
          </p:spPr>
          <p:txBody>
            <a:bodyPr wrap="square" rtlCol="0">
              <a:spAutoFit/>
            </a:bodyPr>
            <a:lstStyle/>
            <a:p>
              <a:r>
                <a:rPr lang="en-US" sz="3200" b="1" dirty="0">
                  <a:solidFill>
                    <a:sysClr val="windowText" lastClr="000000"/>
                  </a:solidFill>
                  <a:latin typeface="Calibri" panose="020F0502020204030204" pitchFamily="34" charset="0"/>
                  <a:ea typeface="Calibri" panose="020F0502020204030204" pitchFamily="34" charset="0"/>
                  <a:cs typeface="Calibri" panose="020F0502020204030204" pitchFamily="34" charset="0"/>
                </a:rPr>
                <a:t>Specific</a:t>
              </a:r>
              <a:endParaRPr lang="en-IN" sz="3200" b="1" dirty="0">
                <a:solidFill>
                  <a:sysClr val="windowText" lastClr="000000"/>
                </a:solidFill>
                <a:latin typeface="Calibri" panose="020F0502020204030204" pitchFamily="34" charset="0"/>
                <a:ea typeface="Calibri" panose="020F0502020204030204" pitchFamily="34" charset="0"/>
                <a:cs typeface="Calibri" panose="020F0502020204030204" pitchFamily="34" charset="0"/>
              </a:endParaRPr>
            </a:p>
          </p:txBody>
        </p:sp>
        <p:sp>
          <p:nvSpPr>
            <p:cNvPr id="15" name="TextBox 14">
              <a:extLst>
                <a:ext uri="{FF2B5EF4-FFF2-40B4-BE49-F238E27FC236}">
                  <a16:creationId xmlns="" xmlns:a16="http://schemas.microsoft.com/office/drawing/2014/main" id="{2A906992-C5E8-4450-70FD-CDC697252B5D}"/>
                </a:ext>
              </a:extLst>
            </p:cNvPr>
            <p:cNvSpPr txBox="1"/>
            <p:nvPr/>
          </p:nvSpPr>
          <p:spPr>
            <a:xfrm>
              <a:off x="2295332" y="2503751"/>
              <a:ext cx="2110358" cy="584775"/>
            </a:xfrm>
            <a:prstGeom prst="rect">
              <a:avLst/>
            </a:prstGeom>
            <a:noFill/>
          </p:spPr>
          <p:txBody>
            <a:bodyPr wrap="square" rtlCol="0">
              <a:spAutoFit/>
            </a:bodyPr>
            <a:lstStyle/>
            <a:p>
              <a:r>
                <a:rPr lang="en-US" sz="3200" b="1" dirty="0">
                  <a:solidFill>
                    <a:sysClr val="windowText" lastClr="000000"/>
                  </a:solidFill>
                  <a:latin typeface="Calibri" panose="020F0502020204030204" pitchFamily="34" charset="0"/>
                  <a:ea typeface="Calibri" panose="020F0502020204030204" pitchFamily="34" charset="0"/>
                  <a:cs typeface="Calibri" panose="020F0502020204030204" pitchFamily="34" charset="0"/>
                </a:rPr>
                <a:t>Integrated</a:t>
              </a:r>
              <a:endParaRPr lang="en-IN" sz="3200" b="1" dirty="0">
                <a:solidFill>
                  <a:sysClr val="windowText" lastClr="000000"/>
                </a:solidFill>
                <a:latin typeface="Calibri" panose="020F0502020204030204" pitchFamily="34" charset="0"/>
                <a:ea typeface="Calibri" panose="020F0502020204030204" pitchFamily="34" charset="0"/>
                <a:cs typeface="Calibri" panose="020F0502020204030204" pitchFamily="34" charset="0"/>
              </a:endParaRPr>
            </a:p>
          </p:txBody>
        </p:sp>
        <p:sp>
          <p:nvSpPr>
            <p:cNvPr id="16" name="TextBox 15">
              <a:extLst>
                <a:ext uri="{FF2B5EF4-FFF2-40B4-BE49-F238E27FC236}">
                  <a16:creationId xmlns="" xmlns:a16="http://schemas.microsoft.com/office/drawing/2014/main" id="{ADA8D5DC-09A4-823F-CDCB-EC67B5C45AFC}"/>
                </a:ext>
              </a:extLst>
            </p:cNvPr>
            <p:cNvSpPr txBox="1"/>
            <p:nvPr/>
          </p:nvSpPr>
          <p:spPr>
            <a:xfrm>
              <a:off x="2268978" y="3007548"/>
              <a:ext cx="2110358" cy="584775"/>
            </a:xfrm>
            <a:prstGeom prst="rect">
              <a:avLst/>
            </a:prstGeom>
            <a:noFill/>
          </p:spPr>
          <p:txBody>
            <a:bodyPr wrap="square" rtlCol="0">
              <a:spAutoFit/>
            </a:bodyPr>
            <a:lstStyle/>
            <a:p>
              <a:r>
                <a:rPr lang="en-US" sz="3200" b="1" dirty="0">
                  <a:solidFill>
                    <a:sysClr val="windowText" lastClr="000000"/>
                  </a:solidFill>
                  <a:latin typeface="Calibri" panose="020F0502020204030204" pitchFamily="34" charset="0"/>
                  <a:ea typeface="Calibri" panose="020F0502020204030204" pitchFamily="34" charset="0"/>
                  <a:cs typeface="Calibri" panose="020F0502020204030204" pitchFamily="34" charset="0"/>
                </a:rPr>
                <a:t>Circuit</a:t>
              </a:r>
              <a:endParaRPr lang="en-IN" sz="3200" b="1" dirty="0">
                <a:solidFill>
                  <a:sysClr val="windowText" lastClr="000000"/>
                </a:solidFill>
                <a:latin typeface="Calibri" panose="020F0502020204030204" pitchFamily="34" charset="0"/>
                <a:ea typeface="Calibri" panose="020F0502020204030204" pitchFamily="34" charset="0"/>
                <a:cs typeface="Calibri" panose="020F0502020204030204" pitchFamily="34" charset="0"/>
              </a:endParaRPr>
            </a:p>
          </p:txBody>
        </p:sp>
      </p:grpSp>
      <p:sp>
        <p:nvSpPr>
          <p:cNvPr id="18" name="TextBox 17">
            <a:extLst>
              <a:ext uri="{FF2B5EF4-FFF2-40B4-BE49-F238E27FC236}">
                <a16:creationId xmlns="" xmlns:a16="http://schemas.microsoft.com/office/drawing/2014/main" id="{2885201A-2725-57D7-B22C-A3E8268C1A99}"/>
              </a:ext>
            </a:extLst>
          </p:cNvPr>
          <p:cNvSpPr txBox="1"/>
          <p:nvPr/>
        </p:nvSpPr>
        <p:spPr>
          <a:xfrm>
            <a:off x="79045" y="2877066"/>
            <a:ext cx="6088488" cy="1200329"/>
          </a:xfrm>
          <a:prstGeom prst="rect">
            <a:avLst/>
          </a:prstGeom>
          <a:noFill/>
        </p:spPr>
        <p:txBody>
          <a:bodyPr wrap="square" rtlCol="0">
            <a:spAutoFit/>
          </a:bodyPr>
          <a:lstStyle/>
          <a:p>
            <a:pPr marL="457200" indent="-457200" algn="just">
              <a:buFont typeface="Wingdings" panose="05000000000000000000" pitchFamily="2" charset="2"/>
              <a:buChar char="Ø"/>
            </a:pPr>
            <a:r>
              <a:rPr lang="en-US" sz="2400" dirty="0">
                <a:solidFill>
                  <a:sysClr val="windowText" lastClr="000000"/>
                </a:solidFill>
                <a:latin typeface="Calibri" panose="020F0502020204030204" pitchFamily="34" charset="0"/>
                <a:ea typeface="Calibri" panose="020F0502020204030204" pitchFamily="34" charset="0"/>
                <a:cs typeface="Calibri" panose="020F0502020204030204" pitchFamily="34" charset="0"/>
              </a:rPr>
              <a:t>It is a custom integrated circuit designed and optimized to fit a specific purpose and product.</a:t>
            </a:r>
            <a:endParaRPr lang="en-IN" sz="2400" dirty="0">
              <a:solidFill>
                <a:sysClr val="windowText" lastClr="000000"/>
              </a:solidFill>
              <a:latin typeface="Calibri" panose="020F0502020204030204" pitchFamily="34" charset="0"/>
              <a:ea typeface="Calibri" panose="020F0502020204030204" pitchFamily="34" charset="0"/>
              <a:cs typeface="Calibri" panose="020F0502020204030204" pitchFamily="34" charset="0"/>
            </a:endParaRPr>
          </a:p>
        </p:txBody>
      </p:sp>
      <p:cxnSp>
        <p:nvCxnSpPr>
          <p:cNvPr id="20" name="Straight Connector 19">
            <a:extLst>
              <a:ext uri="{FF2B5EF4-FFF2-40B4-BE49-F238E27FC236}">
                <a16:creationId xmlns="" xmlns:a16="http://schemas.microsoft.com/office/drawing/2014/main" id="{FE04D0C0-F0BA-692E-8184-7EE1BE69BDEA}"/>
              </a:ext>
            </a:extLst>
          </p:cNvPr>
          <p:cNvCxnSpPr>
            <a:cxnSpLocks/>
          </p:cNvCxnSpPr>
          <p:nvPr/>
        </p:nvCxnSpPr>
        <p:spPr>
          <a:xfrm>
            <a:off x="6279503" y="601591"/>
            <a:ext cx="0" cy="5556613"/>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pic>
        <p:nvPicPr>
          <p:cNvPr id="23" name="Picture 22">
            <a:extLst>
              <a:ext uri="{FF2B5EF4-FFF2-40B4-BE49-F238E27FC236}">
                <a16:creationId xmlns="" xmlns:a16="http://schemas.microsoft.com/office/drawing/2014/main" id="{DB85D406-1A92-870B-71CB-9B4C1DBF19E5}"/>
              </a:ext>
            </a:extLst>
          </p:cNvPr>
          <p:cNvPicPr>
            <a:picLocks noChangeAspect="1"/>
          </p:cNvPicPr>
          <p:nvPr/>
        </p:nvPicPr>
        <p:blipFill>
          <a:blip r:embed="rId3"/>
          <a:stretch>
            <a:fillRect/>
          </a:stretch>
        </p:blipFill>
        <p:spPr>
          <a:xfrm>
            <a:off x="2909720" y="3838212"/>
            <a:ext cx="3186280" cy="1616694"/>
          </a:xfrm>
          <a:prstGeom prst="rect">
            <a:avLst/>
          </a:prstGeom>
        </p:spPr>
      </p:pic>
      <p:sp>
        <p:nvSpPr>
          <p:cNvPr id="24" name="TextBox 23">
            <a:extLst>
              <a:ext uri="{FF2B5EF4-FFF2-40B4-BE49-F238E27FC236}">
                <a16:creationId xmlns="" xmlns:a16="http://schemas.microsoft.com/office/drawing/2014/main" id="{0F99E636-437D-0794-C6CF-C9991AF4374E}"/>
              </a:ext>
            </a:extLst>
          </p:cNvPr>
          <p:cNvSpPr txBox="1"/>
          <p:nvPr/>
        </p:nvSpPr>
        <p:spPr>
          <a:xfrm>
            <a:off x="190364" y="5836533"/>
            <a:ext cx="2325141" cy="307777"/>
          </a:xfrm>
          <a:prstGeom prst="rect">
            <a:avLst/>
          </a:prstGeom>
          <a:noFill/>
        </p:spPr>
        <p:txBody>
          <a:bodyPr wrap="square" rtlCol="0">
            <a:spAutoFit/>
          </a:bodyPr>
          <a:lstStyle/>
          <a:p>
            <a:pPr algn="ctr"/>
            <a:r>
              <a:rPr lang="en-US" sz="1400" dirty="0">
                <a:solidFill>
                  <a:sysClr val="windowText" lastClr="000000"/>
                </a:solidFill>
                <a:latin typeface="Calibri" panose="020F0502020204030204" pitchFamily="34" charset="0"/>
                <a:ea typeface="Calibri" panose="020F0502020204030204" pitchFamily="34" charset="0"/>
                <a:cs typeface="Calibri" panose="020F0502020204030204" pitchFamily="34" charset="0"/>
              </a:rPr>
              <a:t>Fig.1 : Silicon Die</a:t>
            </a:r>
            <a:endParaRPr lang="en-IN" sz="1400" dirty="0">
              <a:solidFill>
                <a:sysClr val="windowText" lastClr="000000"/>
              </a:solidFill>
              <a:latin typeface="Calibri" panose="020F0502020204030204" pitchFamily="34" charset="0"/>
              <a:ea typeface="Calibri" panose="020F0502020204030204" pitchFamily="34" charset="0"/>
              <a:cs typeface="Calibri" panose="020F0502020204030204" pitchFamily="34" charset="0"/>
            </a:endParaRPr>
          </a:p>
        </p:txBody>
      </p:sp>
      <p:sp>
        <p:nvSpPr>
          <p:cNvPr id="25" name="TextBox 24">
            <a:extLst>
              <a:ext uri="{FF2B5EF4-FFF2-40B4-BE49-F238E27FC236}">
                <a16:creationId xmlns="" xmlns:a16="http://schemas.microsoft.com/office/drawing/2014/main" id="{CB0EB22B-2D00-6DDF-E573-1F08D7E260BF}"/>
              </a:ext>
            </a:extLst>
          </p:cNvPr>
          <p:cNvSpPr txBox="1"/>
          <p:nvPr/>
        </p:nvSpPr>
        <p:spPr>
          <a:xfrm>
            <a:off x="2768083" y="5429877"/>
            <a:ext cx="3370152" cy="738664"/>
          </a:xfrm>
          <a:prstGeom prst="rect">
            <a:avLst/>
          </a:prstGeom>
          <a:noFill/>
        </p:spPr>
        <p:txBody>
          <a:bodyPr wrap="square" rtlCol="0">
            <a:spAutoFit/>
          </a:bodyPr>
          <a:lstStyle/>
          <a:p>
            <a:pPr algn="ctr"/>
            <a:r>
              <a:rPr lang="en-US" sz="1400" dirty="0">
                <a:solidFill>
                  <a:sysClr val="windowText" lastClr="000000"/>
                </a:solidFill>
                <a:latin typeface="Calibri" panose="020F0502020204030204" pitchFamily="34" charset="0"/>
                <a:ea typeface="Calibri" panose="020F0502020204030204" pitchFamily="34" charset="0"/>
                <a:cs typeface="Calibri" panose="020F0502020204030204" pitchFamily="34" charset="0"/>
              </a:rPr>
              <a:t>Fig.2 : An Integrated </a:t>
            </a:r>
            <a:r>
              <a:rPr lang="en-US" sz="1400" dirty="0" err="1">
                <a:solidFill>
                  <a:sysClr val="windowText" lastClr="000000"/>
                </a:solidFill>
                <a:latin typeface="Calibri" panose="020F0502020204030204" pitchFamily="34" charset="0"/>
                <a:ea typeface="Calibri" panose="020F0502020204030204" pitchFamily="34" charset="0"/>
                <a:cs typeface="Calibri" panose="020F0502020204030204" pitchFamily="34" charset="0"/>
              </a:rPr>
              <a:t>Cirucit</a:t>
            </a:r>
            <a:r>
              <a:rPr lang="en-US" sz="1400" dirty="0">
                <a:solidFill>
                  <a:sysClr val="windowText" lastClr="000000"/>
                </a:solidFill>
                <a:latin typeface="Calibri" panose="020F0502020204030204" pitchFamily="34" charset="0"/>
                <a:ea typeface="Calibri" panose="020F0502020204030204" pitchFamily="34" charset="0"/>
                <a:cs typeface="Calibri" panose="020F0502020204030204" pitchFamily="34" charset="0"/>
              </a:rPr>
              <a:t> (IC) (a) A pin grid array (PGA) package (b) The silicon die or chip is under the package lid.</a:t>
            </a:r>
            <a:endParaRPr lang="en-IN" sz="1400" dirty="0">
              <a:solidFill>
                <a:sysClr val="windowText" lastClr="000000"/>
              </a:solidFill>
              <a:latin typeface="Calibri" panose="020F0502020204030204" pitchFamily="34" charset="0"/>
              <a:ea typeface="Calibri" panose="020F0502020204030204" pitchFamily="34" charset="0"/>
              <a:cs typeface="Calibri" panose="020F0502020204030204" pitchFamily="34" charset="0"/>
            </a:endParaRPr>
          </a:p>
        </p:txBody>
      </p:sp>
      <p:sp>
        <p:nvSpPr>
          <p:cNvPr id="27" name="TextBox 26">
            <a:extLst>
              <a:ext uri="{FF2B5EF4-FFF2-40B4-BE49-F238E27FC236}">
                <a16:creationId xmlns="" xmlns:a16="http://schemas.microsoft.com/office/drawing/2014/main" id="{8B1F2F5E-384B-6457-7137-DE58C1BEA4D0}"/>
              </a:ext>
            </a:extLst>
          </p:cNvPr>
          <p:cNvSpPr txBox="1"/>
          <p:nvPr/>
        </p:nvSpPr>
        <p:spPr>
          <a:xfrm>
            <a:off x="6391474" y="760292"/>
            <a:ext cx="5554991" cy="2462213"/>
          </a:xfrm>
          <a:prstGeom prst="rect">
            <a:avLst/>
          </a:prstGeom>
          <a:noFill/>
        </p:spPr>
        <p:txBody>
          <a:bodyPr wrap="square">
            <a:spAutoFit/>
          </a:bodyPr>
          <a:lstStyle/>
          <a:p>
            <a:r>
              <a:rPr lang="en-IN" sz="2400" b="1" dirty="0">
                <a:solidFill>
                  <a:srgbClr val="7030A0"/>
                </a:solidFill>
                <a:latin typeface="Calibri" panose="020F0502020204030204" pitchFamily="34" charset="0"/>
                <a:ea typeface="Calibri" panose="020F0502020204030204" pitchFamily="34" charset="0"/>
                <a:cs typeface="Calibri" panose="020F0502020204030204" pitchFamily="34" charset="0"/>
              </a:rPr>
              <a:t>Examples of ICs that are ASICs:</a:t>
            </a:r>
          </a:p>
          <a:p>
            <a:endParaRPr lang="en-IN" sz="700" b="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A chip for a toy bear that talks.</a:t>
            </a:r>
          </a:p>
          <a:p>
            <a:pPr marL="285750" indent="-285750">
              <a:buFont typeface="Arial" panose="020B0604020202020204" pitchFamily="34" charset="0"/>
              <a:buChar char="•"/>
            </a:pPr>
            <a:endParaRPr lang="en-IN" sz="5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A chip for a satellite.</a:t>
            </a:r>
          </a:p>
          <a:p>
            <a:pPr marL="285750" indent="-285750">
              <a:buFont typeface="Arial" panose="020B0604020202020204" pitchFamily="34" charset="0"/>
              <a:buChar char="•"/>
            </a:pPr>
            <a:endParaRPr lang="en-IN" sz="5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A chip designed to handle the interface between memory and a microprocessor for a workstation CPU.</a:t>
            </a:r>
          </a:p>
          <a:p>
            <a:pPr marL="285750" indent="-285750">
              <a:buFont typeface="Arial" panose="020B0604020202020204" pitchFamily="34" charset="0"/>
              <a:buChar char="•"/>
            </a:pPr>
            <a:endParaRPr lang="en-IN" sz="5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A chip containing a microprocessor as a cell together with other logic.</a:t>
            </a:r>
          </a:p>
        </p:txBody>
      </p:sp>
      <p:pic>
        <p:nvPicPr>
          <p:cNvPr id="1026" name="Picture 2" descr="Teardown: KC Bearifone Could Talk Circles Around Teddy Ruxpin | Hackaday">
            <a:extLst>
              <a:ext uri="{FF2B5EF4-FFF2-40B4-BE49-F238E27FC236}">
                <a16:creationId xmlns="" xmlns:a16="http://schemas.microsoft.com/office/drawing/2014/main" id="{3707F9CF-1EAE-362F-472A-724D2ADD45B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30270" y="3282515"/>
            <a:ext cx="1652363" cy="133613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Xilinx launches a new reconfigurable space-grade chip optimized for local  machine learning on orbit | TechCrunch">
            <a:extLst>
              <a:ext uri="{FF2B5EF4-FFF2-40B4-BE49-F238E27FC236}">
                <a16:creationId xmlns="" xmlns:a16="http://schemas.microsoft.com/office/drawing/2014/main" id="{0245EB4B-6659-C757-ED3E-D439AE279CA0}"/>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4439" b="13616"/>
          <a:stretch>
            <a:fillRect/>
          </a:stretch>
        </p:blipFill>
        <p:spPr bwMode="auto">
          <a:xfrm>
            <a:off x="8164291" y="3282514"/>
            <a:ext cx="2074500" cy="131339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oprocessor : Architecture, Working, Types, Differences &amp; Its Uses">
            <a:extLst>
              <a:ext uri="{FF2B5EF4-FFF2-40B4-BE49-F238E27FC236}">
                <a16:creationId xmlns="" xmlns:a16="http://schemas.microsoft.com/office/drawing/2014/main" id="{FAD4A96E-7F8B-962A-F1DB-C4A17AAF32D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30269" y="4682541"/>
            <a:ext cx="3808520" cy="134618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chip - CLC Definition">
            <a:extLst>
              <a:ext uri="{FF2B5EF4-FFF2-40B4-BE49-F238E27FC236}">
                <a16:creationId xmlns="" xmlns:a16="http://schemas.microsoft.com/office/drawing/2014/main" id="{3F2347A0-C1AC-4A95-AC41-C79DBC9E0DD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285446" y="3245191"/>
            <a:ext cx="1874164" cy="28617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49154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ounded Rectangle 17">
            <a:extLst>
              <a:ext uri="{FF2B5EF4-FFF2-40B4-BE49-F238E27FC236}">
                <a16:creationId xmlns="" xmlns:a16="http://schemas.microsoft.com/office/drawing/2014/main" id="{DBF24F09-8CF9-CC4F-5E7C-DE65C8B2B2E6}"/>
              </a:ext>
            </a:extLst>
          </p:cNvPr>
          <p:cNvSpPr/>
          <p:nvPr/>
        </p:nvSpPr>
        <p:spPr>
          <a:xfrm>
            <a:off x="2078243" y="123556"/>
            <a:ext cx="8558656" cy="52958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2700" algn="ctr">
              <a:lnSpc>
                <a:spcPct val="100000"/>
              </a:lnSpc>
              <a:spcBef>
                <a:spcPts val="100"/>
              </a:spcBef>
            </a:pPr>
            <a:r>
              <a:rPr lang="en-US" sz="3600" spc="-5" dirty="0"/>
              <a:t>Types</a:t>
            </a:r>
            <a:r>
              <a:rPr lang="en-US" sz="3600" spc="-10" dirty="0"/>
              <a:t> of ASICs</a:t>
            </a:r>
            <a:endParaRPr lang="en-IN" sz="1400" b="1" spc="-50" dirty="0"/>
          </a:p>
        </p:txBody>
      </p:sp>
      <p:pic>
        <p:nvPicPr>
          <p:cNvPr id="4" name="object 4">
            <a:extLst>
              <a:ext uri="{FF2B5EF4-FFF2-40B4-BE49-F238E27FC236}">
                <a16:creationId xmlns="" xmlns:a16="http://schemas.microsoft.com/office/drawing/2014/main" id="{B8CE3C73-D394-A95B-E102-A4A65D01D4EC}"/>
              </a:ext>
            </a:extLst>
          </p:cNvPr>
          <p:cNvPicPr/>
          <p:nvPr/>
        </p:nvPicPr>
        <p:blipFill>
          <a:blip r:embed="rId2" cstate="print">
            <a:biLevel thresh="50000"/>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373251" y="998376"/>
            <a:ext cx="5934251" cy="3051110"/>
          </a:xfrm>
          <a:prstGeom prst="rect">
            <a:avLst/>
          </a:prstGeom>
        </p:spPr>
      </p:pic>
      <p:sp>
        <p:nvSpPr>
          <p:cNvPr id="6" name="TextBox 5">
            <a:extLst>
              <a:ext uri="{FF2B5EF4-FFF2-40B4-BE49-F238E27FC236}">
                <a16:creationId xmlns="" xmlns:a16="http://schemas.microsoft.com/office/drawing/2014/main" id="{ED1EB6DD-3168-CF8F-8C22-116C9E6FAEA2}"/>
              </a:ext>
            </a:extLst>
          </p:cNvPr>
          <p:cNvSpPr txBox="1"/>
          <p:nvPr/>
        </p:nvSpPr>
        <p:spPr>
          <a:xfrm>
            <a:off x="-9312" y="4226768"/>
            <a:ext cx="6484756" cy="1708160"/>
          </a:xfrm>
          <a:prstGeom prst="rect">
            <a:avLst/>
          </a:prstGeom>
          <a:noFill/>
        </p:spPr>
        <p:txBody>
          <a:bodyPr wrap="square">
            <a:spAutoFit/>
          </a:bodyPr>
          <a:lstStyle/>
          <a:p>
            <a:pPr marL="356870" marR="5080" indent="-344805" algn="just">
              <a:lnSpc>
                <a:spcPct val="100000"/>
              </a:lnSpc>
              <a:spcBef>
                <a:spcPts val="100"/>
              </a:spcBef>
              <a:buFont typeface="Wingdings" panose="05000000000000000000" pitchFamily="2" charset="2"/>
              <a:buChar char="Ø"/>
              <a:tabLst>
                <a:tab pos="356870" algn="l"/>
              </a:tabLst>
            </a:pPr>
            <a:r>
              <a:rPr lang="en-US" sz="1800" dirty="0">
                <a:latin typeface="Calibri" panose="020F0502020204030204" pitchFamily="34" charset="0"/>
                <a:ea typeface="Calibri" panose="020F0502020204030204" pitchFamily="34" charset="0"/>
                <a:cs typeface="Calibri" panose="020F0502020204030204" pitchFamily="34" charset="0"/>
              </a:rPr>
              <a:t>So,</a:t>
            </a:r>
            <a:r>
              <a:rPr lang="en-US" sz="1800" spc="-80" dirty="0">
                <a:latin typeface="Calibri" panose="020F0502020204030204" pitchFamily="34" charset="0"/>
                <a:ea typeface="Calibri" panose="020F0502020204030204" pitchFamily="34" charset="0"/>
                <a:cs typeface="Calibri" panose="020F0502020204030204" pitchFamily="34" charset="0"/>
              </a:rPr>
              <a:t> </a:t>
            </a:r>
            <a:r>
              <a:rPr lang="en-US" sz="1800" dirty="0">
                <a:latin typeface="Calibri" panose="020F0502020204030204" pitchFamily="34" charset="0"/>
                <a:ea typeface="Calibri" panose="020F0502020204030204" pitchFamily="34" charset="0"/>
                <a:cs typeface="Calibri" panose="020F0502020204030204" pitchFamily="34" charset="0"/>
              </a:rPr>
              <a:t>as</a:t>
            </a:r>
            <a:r>
              <a:rPr lang="en-US" sz="1800" spc="-30" dirty="0">
                <a:latin typeface="Calibri" panose="020F0502020204030204" pitchFamily="34" charset="0"/>
                <a:ea typeface="Calibri" panose="020F0502020204030204" pitchFamily="34" charset="0"/>
                <a:cs typeface="Calibri" panose="020F0502020204030204" pitchFamily="34" charset="0"/>
              </a:rPr>
              <a:t> </a:t>
            </a:r>
            <a:r>
              <a:rPr lang="en-US" sz="1800" dirty="0">
                <a:latin typeface="Calibri" panose="020F0502020204030204" pitchFamily="34" charset="0"/>
                <a:ea typeface="Calibri" panose="020F0502020204030204" pitchFamily="34" charset="0"/>
                <a:cs typeface="Calibri" panose="020F0502020204030204" pitchFamily="34" charset="0"/>
              </a:rPr>
              <a:t>shown</a:t>
            </a:r>
            <a:r>
              <a:rPr lang="en-US" sz="1800" spc="-10" dirty="0">
                <a:latin typeface="Calibri" panose="020F0502020204030204" pitchFamily="34" charset="0"/>
                <a:ea typeface="Calibri" panose="020F0502020204030204" pitchFamily="34" charset="0"/>
                <a:cs typeface="Calibri" panose="020F0502020204030204" pitchFamily="34" charset="0"/>
              </a:rPr>
              <a:t> </a:t>
            </a:r>
            <a:r>
              <a:rPr lang="en-US" sz="1800" dirty="0">
                <a:latin typeface="Calibri" panose="020F0502020204030204" pitchFamily="34" charset="0"/>
                <a:ea typeface="Calibri" panose="020F0502020204030204" pitchFamily="34" charset="0"/>
                <a:cs typeface="Calibri" panose="020F0502020204030204" pitchFamily="34" charset="0"/>
              </a:rPr>
              <a:t>in</a:t>
            </a:r>
            <a:r>
              <a:rPr lang="en-US" sz="1800" spc="-55" dirty="0">
                <a:latin typeface="Calibri" panose="020F0502020204030204" pitchFamily="34" charset="0"/>
                <a:ea typeface="Calibri" panose="020F0502020204030204" pitchFamily="34" charset="0"/>
                <a:cs typeface="Calibri" panose="020F0502020204030204" pitchFamily="34" charset="0"/>
              </a:rPr>
              <a:t> </a:t>
            </a:r>
            <a:r>
              <a:rPr lang="en-US" sz="1800" dirty="0">
                <a:latin typeface="Calibri" panose="020F0502020204030204" pitchFamily="34" charset="0"/>
                <a:ea typeface="Calibri" panose="020F0502020204030204" pitchFamily="34" charset="0"/>
                <a:cs typeface="Calibri" panose="020F0502020204030204" pitchFamily="34" charset="0"/>
              </a:rPr>
              <a:t>the</a:t>
            </a:r>
            <a:r>
              <a:rPr lang="en-US" sz="1800" spc="-40" dirty="0">
                <a:latin typeface="Calibri" panose="020F0502020204030204" pitchFamily="34" charset="0"/>
                <a:ea typeface="Calibri" panose="020F0502020204030204" pitchFamily="34" charset="0"/>
                <a:cs typeface="Calibri" panose="020F0502020204030204" pitchFamily="34" charset="0"/>
              </a:rPr>
              <a:t> </a:t>
            </a:r>
            <a:r>
              <a:rPr lang="en-US" sz="1800" dirty="0">
                <a:latin typeface="Calibri" panose="020F0502020204030204" pitchFamily="34" charset="0"/>
                <a:ea typeface="Calibri" panose="020F0502020204030204" pitchFamily="34" charset="0"/>
                <a:cs typeface="Calibri" panose="020F0502020204030204" pitchFamily="34" charset="0"/>
              </a:rPr>
              <a:t>slide</a:t>
            </a:r>
            <a:r>
              <a:rPr lang="en-US" sz="1800" spc="-40" dirty="0">
                <a:latin typeface="Calibri" panose="020F0502020204030204" pitchFamily="34" charset="0"/>
                <a:ea typeface="Calibri" panose="020F0502020204030204" pitchFamily="34" charset="0"/>
                <a:cs typeface="Calibri" panose="020F0502020204030204" pitchFamily="34" charset="0"/>
              </a:rPr>
              <a:t> </a:t>
            </a:r>
            <a:r>
              <a:rPr lang="en-US" sz="1800" dirty="0">
                <a:latin typeface="Calibri" panose="020F0502020204030204" pitchFamily="34" charset="0"/>
                <a:ea typeface="Calibri" panose="020F0502020204030204" pitchFamily="34" charset="0"/>
                <a:cs typeface="Calibri" panose="020F0502020204030204" pitchFamily="34" charset="0"/>
              </a:rPr>
              <a:t>the</a:t>
            </a:r>
            <a:r>
              <a:rPr lang="en-US" sz="1800" spc="-155" dirty="0">
                <a:latin typeface="Calibri" panose="020F0502020204030204" pitchFamily="34" charset="0"/>
                <a:ea typeface="Calibri" panose="020F0502020204030204" pitchFamily="34" charset="0"/>
                <a:cs typeface="Calibri" panose="020F0502020204030204" pitchFamily="34" charset="0"/>
              </a:rPr>
              <a:t> </a:t>
            </a:r>
            <a:r>
              <a:rPr lang="en-US" sz="1800" dirty="0">
                <a:latin typeface="Calibri" panose="020F0502020204030204" pitchFamily="34" charset="0"/>
                <a:ea typeface="Calibri" panose="020F0502020204030204" pitchFamily="34" charset="0"/>
                <a:cs typeface="Calibri" panose="020F0502020204030204" pitchFamily="34" charset="0"/>
              </a:rPr>
              <a:t>ASICs</a:t>
            </a:r>
            <a:r>
              <a:rPr lang="en-US" sz="1800" spc="15" dirty="0">
                <a:latin typeface="Calibri" panose="020F0502020204030204" pitchFamily="34" charset="0"/>
                <a:ea typeface="Calibri" panose="020F0502020204030204" pitchFamily="34" charset="0"/>
                <a:cs typeface="Calibri" panose="020F0502020204030204" pitchFamily="34" charset="0"/>
              </a:rPr>
              <a:t> </a:t>
            </a:r>
            <a:r>
              <a:rPr lang="en-US" sz="1800" dirty="0">
                <a:latin typeface="Calibri" panose="020F0502020204030204" pitchFamily="34" charset="0"/>
                <a:ea typeface="Calibri" panose="020F0502020204030204" pitchFamily="34" charset="0"/>
                <a:cs typeface="Calibri" panose="020F0502020204030204" pitchFamily="34" charset="0"/>
              </a:rPr>
              <a:t>are</a:t>
            </a:r>
            <a:r>
              <a:rPr lang="en-US" sz="1800" spc="-15" dirty="0">
                <a:latin typeface="Calibri" panose="020F0502020204030204" pitchFamily="34" charset="0"/>
                <a:ea typeface="Calibri" panose="020F0502020204030204" pitchFamily="34" charset="0"/>
                <a:cs typeface="Calibri" panose="020F0502020204030204" pitchFamily="34" charset="0"/>
              </a:rPr>
              <a:t> </a:t>
            </a:r>
            <a:r>
              <a:rPr lang="en-US" sz="1800" dirty="0">
                <a:latin typeface="Calibri" panose="020F0502020204030204" pitchFamily="34" charset="0"/>
                <a:ea typeface="Calibri" panose="020F0502020204030204" pitchFamily="34" charset="0"/>
                <a:cs typeface="Calibri" panose="020F0502020204030204" pitchFamily="34" charset="0"/>
              </a:rPr>
              <a:t>broadly</a:t>
            </a:r>
            <a:r>
              <a:rPr lang="en-US" sz="1800" spc="-30" dirty="0">
                <a:latin typeface="Calibri" panose="020F0502020204030204" pitchFamily="34" charset="0"/>
                <a:ea typeface="Calibri" panose="020F0502020204030204" pitchFamily="34" charset="0"/>
                <a:cs typeface="Calibri" panose="020F0502020204030204" pitchFamily="34" charset="0"/>
              </a:rPr>
              <a:t> </a:t>
            </a:r>
            <a:r>
              <a:rPr lang="en-US" sz="1800" dirty="0">
                <a:latin typeface="Calibri" panose="020F0502020204030204" pitchFamily="34" charset="0"/>
                <a:ea typeface="Calibri" panose="020F0502020204030204" pitchFamily="34" charset="0"/>
                <a:cs typeface="Calibri" panose="020F0502020204030204" pitchFamily="34" charset="0"/>
              </a:rPr>
              <a:t>classified</a:t>
            </a:r>
            <a:r>
              <a:rPr lang="en-US" sz="1800" spc="-35" dirty="0">
                <a:latin typeface="Calibri" panose="020F0502020204030204" pitchFamily="34" charset="0"/>
                <a:ea typeface="Calibri" panose="020F0502020204030204" pitchFamily="34" charset="0"/>
                <a:cs typeface="Calibri" panose="020F0502020204030204" pitchFamily="34" charset="0"/>
              </a:rPr>
              <a:t> </a:t>
            </a:r>
            <a:r>
              <a:rPr lang="en-US" sz="1800" spc="-20" dirty="0">
                <a:latin typeface="Calibri" panose="020F0502020204030204" pitchFamily="34" charset="0"/>
                <a:ea typeface="Calibri" panose="020F0502020204030204" pitchFamily="34" charset="0"/>
                <a:cs typeface="Calibri" panose="020F0502020204030204" pitchFamily="34" charset="0"/>
              </a:rPr>
              <a:t>into </a:t>
            </a:r>
            <a:r>
              <a:rPr lang="en-US" sz="1800" dirty="0">
                <a:latin typeface="Calibri" panose="020F0502020204030204" pitchFamily="34" charset="0"/>
                <a:ea typeface="Calibri" panose="020F0502020204030204" pitchFamily="34" charset="0"/>
                <a:cs typeface="Calibri" panose="020F0502020204030204" pitchFamily="34" charset="0"/>
              </a:rPr>
              <a:t>three</a:t>
            </a:r>
            <a:r>
              <a:rPr lang="en-US" sz="1800" spc="-70" dirty="0">
                <a:latin typeface="Calibri" panose="020F0502020204030204" pitchFamily="34" charset="0"/>
                <a:ea typeface="Calibri" panose="020F0502020204030204" pitchFamily="34" charset="0"/>
                <a:cs typeface="Calibri" panose="020F0502020204030204" pitchFamily="34" charset="0"/>
              </a:rPr>
              <a:t> </a:t>
            </a:r>
            <a:r>
              <a:rPr lang="en-US" sz="1800" spc="-10" dirty="0">
                <a:latin typeface="Calibri" panose="020F0502020204030204" pitchFamily="34" charset="0"/>
                <a:ea typeface="Calibri" panose="020F0502020204030204" pitchFamily="34" charset="0"/>
                <a:cs typeface="Calibri" panose="020F0502020204030204" pitchFamily="34" charset="0"/>
              </a:rPr>
              <a:t>types.</a:t>
            </a:r>
            <a:endParaRPr lang="en-US" sz="1800" dirty="0">
              <a:latin typeface="Calibri" panose="020F0502020204030204" pitchFamily="34" charset="0"/>
              <a:ea typeface="Calibri" panose="020F0502020204030204" pitchFamily="34" charset="0"/>
              <a:cs typeface="Calibri" panose="020F0502020204030204" pitchFamily="34" charset="0"/>
            </a:endParaRPr>
          </a:p>
          <a:p>
            <a:pPr marL="1384300" lvl="3">
              <a:spcBef>
                <a:spcPts val="575"/>
              </a:spcBef>
              <a:tabLst>
                <a:tab pos="356870" algn="l"/>
              </a:tabLst>
            </a:pPr>
            <a:r>
              <a:rPr lang="en-US" dirty="0">
                <a:latin typeface="Calibri" panose="020F0502020204030204" pitchFamily="34" charset="0"/>
                <a:ea typeface="Calibri" panose="020F0502020204030204" pitchFamily="34" charset="0"/>
                <a:cs typeface="Calibri" panose="020F0502020204030204" pitchFamily="34" charset="0"/>
              </a:rPr>
              <a:t>I. </a:t>
            </a:r>
            <a:r>
              <a:rPr lang="en-US" spc="-10" dirty="0">
                <a:latin typeface="Calibri" panose="020F0502020204030204" pitchFamily="34" charset="0"/>
                <a:ea typeface="Calibri" panose="020F0502020204030204" pitchFamily="34" charset="0"/>
                <a:cs typeface="Calibri" panose="020F0502020204030204" pitchFamily="34" charset="0"/>
              </a:rPr>
              <a:t>Full-Custom</a:t>
            </a:r>
            <a:r>
              <a:rPr lang="en-US" spc="-140" dirty="0">
                <a:latin typeface="Calibri" panose="020F0502020204030204" pitchFamily="34" charset="0"/>
                <a:ea typeface="Calibri" panose="020F0502020204030204" pitchFamily="34" charset="0"/>
                <a:cs typeface="Calibri" panose="020F0502020204030204" pitchFamily="34" charset="0"/>
              </a:rPr>
              <a:t> </a:t>
            </a:r>
            <a:r>
              <a:rPr lang="en-US" spc="-20" dirty="0">
                <a:latin typeface="Calibri" panose="020F0502020204030204" pitchFamily="34" charset="0"/>
                <a:ea typeface="Calibri" panose="020F0502020204030204" pitchFamily="34" charset="0"/>
                <a:cs typeface="Calibri" panose="020F0502020204030204" pitchFamily="34" charset="0"/>
              </a:rPr>
              <a:t>ASICs</a:t>
            </a:r>
            <a:endParaRPr lang="en-US" dirty="0">
              <a:latin typeface="Calibri" panose="020F0502020204030204" pitchFamily="34" charset="0"/>
              <a:ea typeface="Calibri" panose="020F0502020204030204" pitchFamily="34" charset="0"/>
              <a:cs typeface="Calibri" panose="020F0502020204030204" pitchFamily="34" charset="0"/>
            </a:endParaRPr>
          </a:p>
          <a:p>
            <a:pPr marL="1384300" lvl="3">
              <a:spcBef>
                <a:spcPts val="575"/>
              </a:spcBef>
              <a:tabLst>
                <a:tab pos="356870" algn="l"/>
              </a:tabLst>
            </a:pPr>
            <a:r>
              <a:rPr lang="en-US" dirty="0">
                <a:latin typeface="Calibri" panose="020F0502020204030204" pitchFamily="34" charset="0"/>
                <a:ea typeface="Calibri" panose="020F0502020204030204" pitchFamily="34" charset="0"/>
                <a:cs typeface="Calibri" panose="020F0502020204030204" pitchFamily="34" charset="0"/>
              </a:rPr>
              <a:t>II.</a:t>
            </a:r>
            <a:r>
              <a:rPr lang="en-US" spc="30" dirty="0">
                <a:latin typeface="Calibri" panose="020F0502020204030204" pitchFamily="34" charset="0"/>
                <a:ea typeface="Calibri" panose="020F0502020204030204" pitchFamily="34" charset="0"/>
                <a:cs typeface="Calibri" panose="020F0502020204030204" pitchFamily="34" charset="0"/>
              </a:rPr>
              <a:t> </a:t>
            </a:r>
            <a:r>
              <a:rPr lang="en-US" spc="-10" dirty="0">
                <a:latin typeface="Calibri" panose="020F0502020204030204" pitchFamily="34" charset="0"/>
                <a:ea typeface="Calibri" panose="020F0502020204030204" pitchFamily="34" charset="0"/>
                <a:cs typeface="Calibri" panose="020F0502020204030204" pitchFamily="34" charset="0"/>
              </a:rPr>
              <a:t>Semi-custom</a:t>
            </a:r>
            <a:r>
              <a:rPr lang="en-US" spc="-160" dirty="0">
                <a:latin typeface="Calibri" panose="020F0502020204030204" pitchFamily="34" charset="0"/>
                <a:ea typeface="Calibri" panose="020F0502020204030204" pitchFamily="34" charset="0"/>
                <a:cs typeface="Calibri" panose="020F0502020204030204" pitchFamily="34" charset="0"/>
              </a:rPr>
              <a:t> </a:t>
            </a:r>
            <a:r>
              <a:rPr lang="en-US" spc="-20" dirty="0">
                <a:latin typeface="Calibri" panose="020F0502020204030204" pitchFamily="34" charset="0"/>
                <a:ea typeface="Calibri" panose="020F0502020204030204" pitchFamily="34" charset="0"/>
                <a:cs typeface="Calibri" panose="020F0502020204030204" pitchFamily="34" charset="0"/>
              </a:rPr>
              <a:t>ASICs</a:t>
            </a:r>
            <a:endParaRPr lang="en-US" dirty="0">
              <a:latin typeface="Calibri" panose="020F0502020204030204" pitchFamily="34" charset="0"/>
              <a:ea typeface="Calibri" panose="020F0502020204030204" pitchFamily="34" charset="0"/>
              <a:cs typeface="Calibri" panose="020F0502020204030204" pitchFamily="34" charset="0"/>
            </a:endParaRPr>
          </a:p>
          <a:p>
            <a:pPr marL="1384300" lvl="3">
              <a:spcBef>
                <a:spcPts val="575"/>
              </a:spcBef>
              <a:tabLst>
                <a:tab pos="356870" algn="l"/>
              </a:tabLst>
            </a:pPr>
            <a:r>
              <a:rPr lang="en-US" dirty="0">
                <a:latin typeface="Calibri" panose="020F0502020204030204" pitchFamily="34" charset="0"/>
                <a:ea typeface="Calibri" panose="020F0502020204030204" pitchFamily="34" charset="0"/>
                <a:cs typeface="Calibri" panose="020F0502020204030204" pitchFamily="34" charset="0"/>
              </a:rPr>
              <a:t>III.</a:t>
            </a:r>
            <a:r>
              <a:rPr lang="en-US" spc="20" dirty="0">
                <a:latin typeface="Calibri" panose="020F0502020204030204" pitchFamily="34" charset="0"/>
                <a:ea typeface="Calibri" panose="020F0502020204030204" pitchFamily="34" charset="0"/>
                <a:cs typeface="Calibri" panose="020F0502020204030204" pitchFamily="34" charset="0"/>
              </a:rPr>
              <a:t> </a:t>
            </a:r>
            <a:r>
              <a:rPr lang="en-US" spc="-10" dirty="0">
                <a:latin typeface="Calibri" panose="020F0502020204030204" pitchFamily="34" charset="0"/>
                <a:ea typeface="Calibri" panose="020F0502020204030204" pitchFamily="34" charset="0"/>
                <a:cs typeface="Calibri" panose="020F0502020204030204" pitchFamily="34" charset="0"/>
              </a:rPr>
              <a:t>Programmable</a:t>
            </a:r>
            <a:r>
              <a:rPr lang="en-US" spc="-140" dirty="0">
                <a:latin typeface="Calibri" panose="020F0502020204030204" pitchFamily="34" charset="0"/>
                <a:ea typeface="Calibri" panose="020F0502020204030204" pitchFamily="34" charset="0"/>
                <a:cs typeface="Calibri" panose="020F0502020204030204" pitchFamily="34" charset="0"/>
              </a:rPr>
              <a:t> </a:t>
            </a:r>
            <a:r>
              <a:rPr lang="en-US" spc="-20" dirty="0">
                <a:latin typeface="Calibri" panose="020F0502020204030204" pitchFamily="34" charset="0"/>
                <a:ea typeface="Calibri" panose="020F0502020204030204" pitchFamily="34" charset="0"/>
                <a:cs typeface="Calibri" panose="020F0502020204030204" pitchFamily="34" charset="0"/>
              </a:rPr>
              <a:t>ASICs</a:t>
            </a:r>
            <a:endParaRPr lang="en-US" dirty="0">
              <a:latin typeface="Calibri" panose="020F0502020204030204" pitchFamily="34" charset="0"/>
              <a:ea typeface="Calibri" panose="020F0502020204030204" pitchFamily="34" charset="0"/>
              <a:cs typeface="Calibri" panose="020F0502020204030204" pitchFamily="34" charset="0"/>
            </a:endParaRPr>
          </a:p>
        </p:txBody>
      </p:sp>
      <p:cxnSp>
        <p:nvCxnSpPr>
          <p:cNvPr id="7" name="Straight Connector 6">
            <a:extLst>
              <a:ext uri="{FF2B5EF4-FFF2-40B4-BE49-F238E27FC236}">
                <a16:creationId xmlns="" xmlns:a16="http://schemas.microsoft.com/office/drawing/2014/main" id="{DCC52BDD-5007-1453-F016-65BAA5A1BD82}"/>
              </a:ext>
            </a:extLst>
          </p:cNvPr>
          <p:cNvCxnSpPr>
            <a:cxnSpLocks/>
          </p:cNvCxnSpPr>
          <p:nvPr/>
        </p:nvCxnSpPr>
        <p:spPr>
          <a:xfrm>
            <a:off x="6475450" y="601591"/>
            <a:ext cx="0" cy="5556613"/>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sp>
        <p:nvSpPr>
          <p:cNvPr id="10" name="object 3">
            <a:extLst>
              <a:ext uri="{FF2B5EF4-FFF2-40B4-BE49-F238E27FC236}">
                <a16:creationId xmlns="" xmlns:a16="http://schemas.microsoft.com/office/drawing/2014/main" id="{20BAA6DB-0448-3211-48BF-D7A02D6F5F9C}"/>
              </a:ext>
            </a:extLst>
          </p:cNvPr>
          <p:cNvSpPr txBox="1"/>
          <p:nvPr/>
        </p:nvSpPr>
        <p:spPr>
          <a:xfrm>
            <a:off x="6615041" y="1317593"/>
            <a:ext cx="5404235" cy="4719241"/>
          </a:xfrm>
          <a:prstGeom prst="rect">
            <a:avLst/>
          </a:prstGeom>
        </p:spPr>
        <p:txBody>
          <a:bodyPr vert="horz" wrap="square" lIns="0" tIns="12700" rIns="0" bIns="0" rtlCol="0">
            <a:spAutoFit/>
          </a:bodyPr>
          <a:lstStyle/>
          <a:p>
            <a:pPr marL="354965" marR="5080" indent="-342900" algn="just">
              <a:lnSpc>
                <a:spcPct val="100000"/>
              </a:lnSpc>
              <a:spcBef>
                <a:spcPts val="100"/>
              </a:spcBef>
              <a:buFont typeface="Wingdings" panose="05000000000000000000" pitchFamily="2" charset="2"/>
              <a:buChar char="Ø"/>
              <a:tabLst>
                <a:tab pos="356870" algn="l"/>
              </a:tabLst>
            </a:pPr>
            <a:r>
              <a:rPr lang="en-US" sz="2000" dirty="0">
                <a:latin typeface="Calibri" panose="020F0502020204030204" pitchFamily="34" charset="0"/>
                <a:ea typeface="Calibri" panose="020F0502020204030204" pitchFamily="34" charset="0"/>
                <a:cs typeface="Calibri" panose="020F0502020204030204" pitchFamily="34" charset="0"/>
              </a:rPr>
              <a:t>All mask layers are customized in a full-custom ASIC</a:t>
            </a:r>
          </a:p>
          <a:p>
            <a:pPr marL="1269365" marR="5080" lvl="2" indent="-342900" algn="just">
              <a:spcBef>
                <a:spcPts val="100"/>
              </a:spcBef>
              <a:buFont typeface="Arial" panose="020B0604020202020204" pitchFamily="34" charset="0"/>
              <a:buChar char="•"/>
              <a:tabLst>
                <a:tab pos="356870" algn="l"/>
              </a:tabLst>
            </a:pPr>
            <a:r>
              <a:rPr lang="en-US" sz="2000" dirty="0">
                <a:latin typeface="Calibri" panose="020F0502020204030204" pitchFamily="34" charset="0"/>
                <a:ea typeface="Calibri" panose="020F0502020204030204" pitchFamily="34" charset="0"/>
                <a:cs typeface="Calibri" panose="020F0502020204030204" pitchFamily="34" charset="0"/>
              </a:rPr>
              <a:t>Generally, the designer lays out all cells by hand</a:t>
            </a:r>
          </a:p>
          <a:p>
            <a:pPr marL="1269365" marR="5080" lvl="2" indent="-342900" algn="just">
              <a:spcBef>
                <a:spcPts val="100"/>
              </a:spcBef>
              <a:buFont typeface="Arial" panose="020B0604020202020204" pitchFamily="34" charset="0"/>
              <a:buChar char="•"/>
              <a:tabLst>
                <a:tab pos="356870" algn="l"/>
              </a:tabLst>
            </a:pPr>
            <a:r>
              <a:rPr lang="en-US" sz="2000" dirty="0">
                <a:latin typeface="Calibri" panose="020F0502020204030204" pitchFamily="34" charset="0"/>
                <a:ea typeface="Calibri" panose="020F0502020204030204" pitchFamily="34" charset="0"/>
                <a:cs typeface="Calibri" panose="020F0502020204030204" pitchFamily="34" charset="0"/>
              </a:rPr>
              <a:t>Some automatic placement and routing may be done</a:t>
            </a:r>
          </a:p>
          <a:p>
            <a:pPr marL="1269365" marR="5080" lvl="2" indent="-342900" algn="just">
              <a:spcBef>
                <a:spcPts val="100"/>
              </a:spcBef>
              <a:buFont typeface="Arial" panose="020B0604020202020204" pitchFamily="34" charset="0"/>
              <a:buChar char="•"/>
              <a:tabLst>
                <a:tab pos="356870" algn="l"/>
              </a:tabLst>
            </a:pPr>
            <a:r>
              <a:rPr lang="en-US" sz="2000" dirty="0">
                <a:latin typeface="Calibri" panose="020F0502020204030204" pitchFamily="34" charset="0"/>
                <a:ea typeface="Calibri" panose="020F0502020204030204" pitchFamily="34" charset="0"/>
                <a:cs typeface="Calibri" panose="020F0502020204030204" pitchFamily="34" charset="0"/>
              </a:rPr>
              <a:t>Critical (timing) paths are usually laid out completely by hand</a:t>
            </a:r>
          </a:p>
          <a:p>
            <a:pPr marL="354965" marR="5080" indent="-342900" algn="just">
              <a:lnSpc>
                <a:spcPct val="100000"/>
              </a:lnSpc>
              <a:spcBef>
                <a:spcPts val="100"/>
              </a:spcBef>
              <a:buFont typeface="Wingdings" panose="05000000000000000000" pitchFamily="2" charset="2"/>
              <a:buChar char="Ø"/>
              <a:tabLst>
                <a:tab pos="356870" algn="l"/>
              </a:tabLst>
            </a:pPr>
            <a:endParaRPr lang="en-US" sz="1000" dirty="0">
              <a:latin typeface="Calibri" panose="020F0502020204030204" pitchFamily="34" charset="0"/>
              <a:ea typeface="Calibri" panose="020F0502020204030204" pitchFamily="34" charset="0"/>
              <a:cs typeface="Calibri" panose="020F0502020204030204" pitchFamily="34" charset="0"/>
            </a:endParaRPr>
          </a:p>
          <a:p>
            <a:pPr marL="354965" marR="5080" indent="-342900" algn="just">
              <a:lnSpc>
                <a:spcPct val="100000"/>
              </a:lnSpc>
              <a:spcBef>
                <a:spcPts val="100"/>
              </a:spcBef>
              <a:buFont typeface="Wingdings" panose="05000000000000000000" pitchFamily="2" charset="2"/>
              <a:buChar char="Ø"/>
              <a:tabLst>
                <a:tab pos="356870" algn="l"/>
              </a:tabLst>
            </a:pPr>
            <a:r>
              <a:rPr lang="en-US" sz="2000" dirty="0">
                <a:latin typeface="Calibri" panose="020F0502020204030204" pitchFamily="34" charset="0"/>
                <a:ea typeface="Calibri" panose="020F0502020204030204" pitchFamily="34" charset="0"/>
                <a:cs typeface="Calibri" panose="020F0502020204030204" pitchFamily="34" charset="0"/>
              </a:rPr>
              <a:t>Full-custom design offers the highest performance and lowest part cost (smallest die size) for a given design.</a:t>
            </a:r>
          </a:p>
          <a:p>
            <a:pPr marL="354965" marR="5080" indent="-342900" algn="just">
              <a:lnSpc>
                <a:spcPct val="100000"/>
              </a:lnSpc>
              <a:spcBef>
                <a:spcPts val="100"/>
              </a:spcBef>
              <a:buFont typeface="Wingdings" panose="05000000000000000000" pitchFamily="2" charset="2"/>
              <a:buChar char="Ø"/>
              <a:tabLst>
                <a:tab pos="356870" algn="l"/>
              </a:tabLst>
            </a:pPr>
            <a:endParaRPr lang="en-US" sz="1000" dirty="0">
              <a:latin typeface="Calibri" panose="020F0502020204030204" pitchFamily="34" charset="0"/>
              <a:ea typeface="Calibri" panose="020F0502020204030204" pitchFamily="34" charset="0"/>
              <a:cs typeface="Calibri" panose="020F0502020204030204" pitchFamily="34" charset="0"/>
            </a:endParaRPr>
          </a:p>
          <a:p>
            <a:pPr marL="354965" marR="5080" indent="-342900" algn="just">
              <a:lnSpc>
                <a:spcPct val="100000"/>
              </a:lnSpc>
              <a:spcBef>
                <a:spcPts val="100"/>
              </a:spcBef>
              <a:buFont typeface="Wingdings" panose="05000000000000000000" pitchFamily="2" charset="2"/>
              <a:buChar char="Ø"/>
              <a:tabLst>
                <a:tab pos="356870" algn="l"/>
              </a:tabLst>
            </a:pPr>
            <a:r>
              <a:rPr lang="en-US" sz="2000" dirty="0">
                <a:latin typeface="Calibri" panose="020F0502020204030204" pitchFamily="34" charset="0"/>
                <a:ea typeface="Calibri" panose="020F0502020204030204" pitchFamily="34" charset="0"/>
                <a:cs typeface="Calibri" panose="020F0502020204030204" pitchFamily="34" charset="0"/>
              </a:rPr>
              <a:t>The disadvantages of full-custom design include increased design time, complexity, design expense, and highest risk</a:t>
            </a:r>
          </a:p>
        </p:txBody>
      </p:sp>
      <p:sp>
        <p:nvSpPr>
          <p:cNvPr id="11" name="TextBox 10">
            <a:extLst>
              <a:ext uri="{FF2B5EF4-FFF2-40B4-BE49-F238E27FC236}">
                <a16:creationId xmlns="" xmlns:a16="http://schemas.microsoft.com/office/drawing/2014/main" id="{7F6B3DA5-67E3-B9CE-8FE6-C1CFAE5AE130}"/>
              </a:ext>
            </a:extLst>
          </p:cNvPr>
          <p:cNvSpPr txBox="1"/>
          <p:nvPr/>
        </p:nvSpPr>
        <p:spPr>
          <a:xfrm>
            <a:off x="7813040" y="758558"/>
            <a:ext cx="3718560" cy="584775"/>
          </a:xfrm>
          <a:prstGeom prst="rect">
            <a:avLst/>
          </a:prstGeom>
          <a:noFill/>
        </p:spPr>
        <p:txBody>
          <a:bodyPr wrap="square" rtlCol="0">
            <a:spAutoFit/>
          </a:bodyPr>
          <a:lstStyle/>
          <a:p>
            <a:r>
              <a:rPr lang="en-US" sz="3200" b="1" dirty="0">
                <a:solidFill>
                  <a:srgbClr val="7030A0"/>
                </a:solidFill>
                <a:latin typeface="Calibri" panose="020F0502020204030204" pitchFamily="34" charset="0"/>
                <a:ea typeface="Calibri" panose="020F0502020204030204" pitchFamily="34" charset="0"/>
                <a:cs typeface="Calibri" panose="020F0502020204030204" pitchFamily="34" charset="0"/>
              </a:rPr>
              <a:t>Full Custom ASICs</a:t>
            </a:r>
            <a:endParaRPr lang="en-IN" sz="3200" b="1" dirty="0">
              <a:solidFill>
                <a:srgbClr val="7030A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40581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C6B1B70-C881-C044-43A9-1F2EF4C74335}"/>
            </a:ext>
          </a:extLst>
        </p:cNvPr>
        <p:cNvGrpSpPr/>
        <p:nvPr/>
      </p:nvGrpSpPr>
      <p:grpSpPr>
        <a:xfrm>
          <a:off x="0" y="0"/>
          <a:ext cx="0" cy="0"/>
          <a:chOff x="0" y="0"/>
          <a:chExt cx="0" cy="0"/>
        </a:xfrm>
      </p:grpSpPr>
      <p:sp>
        <p:nvSpPr>
          <p:cNvPr id="9" name="Rounded Rectangle 17">
            <a:extLst>
              <a:ext uri="{FF2B5EF4-FFF2-40B4-BE49-F238E27FC236}">
                <a16:creationId xmlns="" xmlns:a16="http://schemas.microsoft.com/office/drawing/2014/main" id="{B57A03FD-2624-0553-890B-1B684F40331A}"/>
              </a:ext>
            </a:extLst>
          </p:cNvPr>
          <p:cNvSpPr/>
          <p:nvPr/>
        </p:nvSpPr>
        <p:spPr>
          <a:xfrm>
            <a:off x="2078243" y="123556"/>
            <a:ext cx="8558656" cy="52958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2700" algn="ctr">
              <a:lnSpc>
                <a:spcPct val="100000"/>
              </a:lnSpc>
              <a:spcBef>
                <a:spcPts val="100"/>
              </a:spcBef>
            </a:pPr>
            <a:r>
              <a:rPr lang="en-US" sz="3600" spc="-5" dirty="0"/>
              <a:t>Types</a:t>
            </a:r>
            <a:r>
              <a:rPr lang="en-US" sz="3600" spc="-10" dirty="0"/>
              <a:t> of ASICs</a:t>
            </a:r>
            <a:endParaRPr lang="en-IN" sz="1400" b="1" spc="-50" dirty="0"/>
          </a:p>
        </p:txBody>
      </p:sp>
      <p:cxnSp>
        <p:nvCxnSpPr>
          <p:cNvPr id="7" name="Straight Connector 6">
            <a:extLst>
              <a:ext uri="{FF2B5EF4-FFF2-40B4-BE49-F238E27FC236}">
                <a16:creationId xmlns="" xmlns:a16="http://schemas.microsoft.com/office/drawing/2014/main" id="{64364566-BC16-191C-F173-590AFC6DF5D3}"/>
              </a:ext>
            </a:extLst>
          </p:cNvPr>
          <p:cNvCxnSpPr>
            <a:cxnSpLocks/>
          </p:cNvCxnSpPr>
          <p:nvPr/>
        </p:nvCxnSpPr>
        <p:spPr>
          <a:xfrm>
            <a:off x="6475450" y="601591"/>
            <a:ext cx="0" cy="5556613"/>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sp>
        <p:nvSpPr>
          <p:cNvPr id="10" name="object 3">
            <a:extLst>
              <a:ext uri="{FF2B5EF4-FFF2-40B4-BE49-F238E27FC236}">
                <a16:creationId xmlns="" xmlns:a16="http://schemas.microsoft.com/office/drawing/2014/main" id="{9386A6CE-C4B1-49EB-BECF-5355680632F2}"/>
              </a:ext>
            </a:extLst>
          </p:cNvPr>
          <p:cNvSpPr txBox="1"/>
          <p:nvPr/>
        </p:nvSpPr>
        <p:spPr>
          <a:xfrm>
            <a:off x="216143" y="1515532"/>
            <a:ext cx="5879857" cy="3731791"/>
          </a:xfrm>
          <a:prstGeom prst="rect">
            <a:avLst/>
          </a:prstGeom>
        </p:spPr>
        <p:txBody>
          <a:bodyPr vert="horz" wrap="square" lIns="0" tIns="12700" rIns="0" bIns="0" rtlCol="0">
            <a:spAutoFit/>
          </a:bodyPr>
          <a:lstStyle/>
          <a:p>
            <a:pPr marL="354965" marR="5080" indent="-342900" algn="just">
              <a:lnSpc>
                <a:spcPct val="100000"/>
              </a:lnSpc>
              <a:spcBef>
                <a:spcPts val="100"/>
              </a:spcBef>
              <a:buFont typeface="Wingdings" panose="05000000000000000000" pitchFamily="2" charset="2"/>
              <a:buChar char="Ø"/>
              <a:tabLst>
                <a:tab pos="356870" algn="l"/>
              </a:tabLst>
            </a:pPr>
            <a:r>
              <a:rPr lang="en-US" sz="2400" dirty="0">
                <a:latin typeface="Calibri" panose="020F0502020204030204" pitchFamily="34" charset="0"/>
                <a:ea typeface="Calibri" panose="020F0502020204030204" pitchFamily="34" charset="0"/>
                <a:cs typeface="Calibri" panose="020F0502020204030204" pitchFamily="34" charset="0"/>
              </a:rPr>
              <a:t>Microprocessors (strategic silicon) were exclusively full-custom, but designers are increasingly turning to semicustom ASIC techniques in this area as well.</a:t>
            </a:r>
          </a:p>
          <a:p>
            <a:pPr marL="354965" marR="5080" indent="-342900" algn="just">
              <a:lnSpc>
                <a:spcPct val="100000"/>
              </a:lnSpc>
              <a:spcBef>
                <a:spcPts val="100"/>
              </a:spcBef>
              <a:buFont typeface="Wingdings" panose="05000000000000000000" pitchFamily="2" charset="2"/>
              <a:buChar char="Ø"/>
              <a:tabLst>
                <a:tab pos="356870" algn="l"/>
              </a:tabLst>
            </a:pPr>
            <a:endParaRPr lang="en-US" sz="2400" dirty="0">
              <a:latin typeface="Calibri" panose="020F0502020204030204" pitchFamily="34" charset="0"/>
              <a:ea typeface="Calibri" panose="020F0502020204030204" pitchFamily="34" charset="0"/>
              <a:cs typeface="Calibri" panose="020F0502020204030204" pitchFamily="34" charset="0"/>
            </a:endParaRPr>
          </a:p>
          <a:p>
            <a:pPr marL="354965" marR="5080" indent="-342900" algn="just">
              <a:lnSpc>
                <a:spcPct val="100000"/>
              </a:lnSpc>
              <a:spcBef>
                <a:spcPts val="100"/>
              </a:spcBef>
              <a:buFont typeface="Wingdings" panose="05000000000000000000" pitchFamily="2" charset="2"/>
              <a:buChar char="Ø"/>
              <a:tabLst>
                <a:tab pos="356870" algn="l"/>
              </a:tabLst>
            </a:pPr>
            <a:r>
              <a:rPr lang="en-US" sz="2400" dirty="0">
                <a:latin typeface="Calibri" panose="020F0502020204030204" pitchFamily="34" charset="0"/>
                <a:ea typeface="Calibri" panose="020F0502020204030204" pitchFamily="34" charset="0"/>
                <a:cs typeface="Calibri" panose="020F0502020204030204" pitchFamily="34" charset="0"/>
              </a:rPr>
              <a:t>Other examples of full-custom ICs or ASICs are requirements for high-voltage (automobile), analog/digital (communications), sensors and actuators, and memory (DRAM).</a:t>
            </a:r>
          </a:p>
        </p:txBody>
      </p:sp>
      <p:sp>
        <p:nvSpPr>
          <p:cNvPr id="11" name="TextBox 10">
            <a:extLst>
              <a:ext uri="{FF2B5EF4-FFF2-40B4-BE49-F238E27FC236}">
                <a16:creationId xmlns="" xmlns:a16="http://schemas.microsoft.com/office/drawing/2014/main" id="{FA65A480-A850-575E-F41F-81D7E7A140E8}"/>
              </a:ext>
            </a:extLst>
          </p:cNvPr>
          <p:cNvSpPr txBox="1"/>
          <p:nvPr/>
        </p:nvSpPr>
        <p:spPr>
          <a:xfrm>
            <a:off x="1647822" y="817335"/>
            <a:ext cx="3718560" cy="584775"/>
          </a:xfrm>
          <a:prstGeom prst="rect">
            <a:avLst/>
          </a:prstGeom>
          <a:noFill/>
        </p:spPr>
        <p:txBody>
          <a:bodyPr wrap="square" rtlCol="0">
            <a:spAutoFit/>
          </a:bodyPr>
          <a:lstStyle/>
          <a:p>
            <a:r>
              <a:rPr lang="en-US" sz="3200" b="1" dirty="0">
                <a:solidFill>
                  <a:srgbClr val="7030A0"/>
                </a:solidFill>
                <a:latin typeface="Calibri" panose="020F0502020204030204" pitchFamily="34" charset="0"/>
                <a:ea typeface="Calibri" panose="020F0502020204030204" pitchFamily="34" charset="0"/>
                <a:cs typeface="Calibri" panose="020F0502020204030204" pitchFamily="34" charset="0"/>
              </a:rPr>
              <a:t>Full Custom ASICs</a:t>
            </a:r>
            <a:endParaRPr lang="en-IN" sz="3200" b="1" dirty="0">
              <a:solidFill>
                <a:srgbClr val="7030A0"/>
              </a:solidFill>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 xmlns:a16="http://schemas.microsoft.com/office/drawing/2014/main" id="{21E66715-811B-32F6-C136-B8584F0E2007}"/>
              </a:ext>
            </a:extLst>
          </p:cNvPr>
          <p:cNvSpPr txBox="1"/>
          <p:nvPr/>
        </p:nvSpPr>
        <p:spPr>
          <a:xfrm>
            <a:off x="7584519" y="817335"/>
            <a:ext cx="3718560" cy="584775"/>
          </a:xfrm>
          <a:prstGeom prst="rect">
            <a:avLst/>
          </a:prstGeom>
          <a:noFill/>
        </p:spPr>
        <p:txBody>
          <a:bodyPr wrap="square" rtlCol="0">
            <a:spAutoFit/>
          </a:bodyPr>
          <a:lstStyle/>
          <a:p>
            <a:r>
              <a:rPr lang="en-US" sz="3200" b="1" dirty="0">
                <a:solidFill>
                  <a:srgbClr val="7030A0"/>
                </a:solidFill>
                <a:latin typeface="Calibri" panose="020F0502020204030204" pitchFamily="34" charset="0"/>
                <a:ea typeface="Calibri" panose="020F0502020204030204" pitchFamily="34" charset="0"/>
                <a:cs typeface="Calibri" panose="020F0502020204030204" pitchFamily="34" charset="0"/>
              </a:rPr>
              <a:t>Semi Custom ASICs</a:t>
            </a:r>
            <a:endParaRPr lang="en-IN" sz="3200" b="1" dirty="0">
              <a:solidFill>
                <a:srgbClr val="7030A0"/>
              </a:solidFill>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 xmlns:a16="http://schemas.microsoft.com/office/drawing/2014/main" id="{6AAF45F4-A46D-A6F0-52B0-FDEB4643361A}"/>
              </a:ext>
            </a:extLst>
          </p:cNvPr>
          <p:cNvSpPr txBox="1"/>
          <p:nvPr/>
        </p:nvSpPr>
        <p:spPr>
          <a:xfrm>
            <a:off x="6593843" y="1402110"/>
            <a:ext cx="5516874" cy="4462760"/>
          </a:xfrm>
          <a:prstGeom prst="rect">
            <a:avLst/>
          </a:prstGeom>
          <a:noFill/>
        </p:spPr>
        <p:txBody>
          <a:bodyPr wrap="square">
            <a:spAutoFit/>
          </a:bodyPr>
          <a:lstStyle/>
          <a:p>
            <a:pPr marL="342900" indent="-342900" algn="just">
              <a:buFont typeface="Wingdings" panose="05000000000000000000" pitchFamily="2" charset="2"/>
              <a:buChar char="Ø"/>
            </a:pPr>
            <a:r>
              <a:rPr lang="en-IN" sz="2400" dirty="0">
                <a:latin typeface="Calibri" panose="020F0502020204030204" pitchFamily="34" charset="0"/>
                <a:ea typeface="Calibri" panose="020F0502020204030204" pitchFamily="34" charset="0"/>
                <a:cs typeface="Calibri" panose="020F0502020204030204" pitchFamily="34" charset="0"/>
              </a:rPr>
              <a:t>ASICs , for which all of the logic cells are predesigned and some (possibly all) of the mask layers are customized are called semi custom ASICs.</a:t>
            </a:r>
          </a:p>
          <a:p>
            <a:pPr marL="342900" indent="-342900" algn="just">
              <a:buFont typeface="Wingdings" panose="05000000000000000000" pitchFamily="2" charset="2"/>
              <a:buChar char="Ø"/>
            </a:pPr>
            <a:endParaRPr lang="en-IN" sz="1000" dirty="0">
              <a:latin typeface="Calibri" panose="020F0502020204030204" pitchFamily="34" charset="0"/>
              <a:ea typeface="Calibri" panose="020F0502020204030204" pitchFamily="34" charset="0"/>
              <a:cs typeface="Calibri" panose="020F0502020204030204" pitchFamily="34" charset="0"/>
            </a:endParaRPr>
          </a:p>
          <a:p>
            <a:pPr marL="342900" indent="-342900" algn="just">
              <a:buFont typeface="Wingdings" panose="05000000000000000000" pitchFamily="2" charset="2"/>
              <a:buChar char="Ø"/>
            </a:pPr>
            <a:r>
              <a:rPr lang="en-IN" sz="2400" dirty="0">
                <a:latin typeface="Calibri" panose="020F0502020204030204" pitchFamily="34" charset="0"/>
                <a:ea typeface="Calibri" panose="020F0502020204030204" pitchFamily="34" charset="0"/>
                <a:cs typeface="Calibri" panose="020F0502020204030204" pitchFamily="34" charset="0"/>
              </a:rPr>
              <a:t>Using	the predesigned cells from a cell library makes the design , much easier.</a:t>
            </a:r>
          </a:p>
          <a:p>
            <a:pPr marL="342900" indent="-342900" algn="just">
              <a:buFont typeface="Wingdings" panose="05000000000000000000" pitchFamily="2" charset="2"/>
              <a:buChar char="Ø"/>
            </a:pPr>
            <a:endParaRPr lang="en-IN" sz="1000" dirty="0">
              <a:latin typeface="Calibri" panose="020F0502020204030204" pitchFamily="34" charset="0"/>
              <a:ea typeface="Calibri" panose="020F0502020204030204" pitchFamily="34" charset="0"/>
              <a:cs typeface="Calibri" panose="020F0502020204030204" pitchFamily="34" charset="0"/>
            </a:endParaRPr>
          </a:p>
          <a:p>
            <a:pPr marL="342900" indent="-342900" algn="just">
              <a:buFont typeface="Wingdings" panose="05000000000000000000" pitchFamily="2" charset="2"/>
              <a:buChar char="Ø"/>
            </a:pPr>
            <a:r>
              <a:rPr lang="en-IN" sz="2400" dirty="0">
                <a:latin typeface="Calibri" panose="020F0502020204030204" pitchFamily="34" charset="0"/>
                <a:ea typeface="Calibri" panose="020F0502020204030204" pitchFamily="34" charset="0"/>
                <a:cs typeface="Calibri" panose="020F0502020204030204" pitchFamily="34" charset="0"/>
              </a:rPr>
              <a:t>There are two types of semicustom ASICs</a:t>
            </a:r>
          </a:p>
          <a:p>
            <a:pPr algn="just"/>
            <a:r>
              <a:rPr lang="en-IN" sz="2400" dirty="0">
                <a:latin typeface="Calibri" panose="020F0502020204030204" pitchFamily="34" charset="0"/>
                <a:ea typeface="Calibri" panose="020F0502020204030204" pitchFamily="34" charset="0"/>
                <a:cs typeface="Calibri" panose="020F0502020204030204" pitchFamily="34" charset="0"/>
              </a:rPr>
              <a:t>	(</a:t>
            </a:r>
            <a:r>
              <a:rPr lang="en-IN" sz="2400" dirty="0" err="1">
                <a:latin typeface="Calibri" panose="020F0502020204030204" pitchFamily="34" charset="0"/>
                <a:ea typeface="Calibri" panose="020F0502020204030204" pitchFamily="34" charset="0"/>
                <a:cs typeface="Calibri" panose="020F0502020204030204" pitchFamily="34" charset="0"/>
              </a:rPr>
              <a:t>i</a:t>
            </a:r>
            <a:r>
              <a:rPr lang="en-IN" sz="2400" dirty="0">
                <a:latin typeface="Calibri" panose="020F0502020204030204" pitchFamily="34" charset="0"/>
                <a:ea typeface="Calibri" panose="020F0502020204030204" pitchFamily="34" charset="0"/>
                <a:cs typeface="Calibri" panose="020F0502020204030204" pitchFamily="34" charset="0"/>
              </a:rPr>
              <a:t>) Standard-cell–based ASICs	</a:t>
            </a:r>
          </a:p>
          <a:p>
            <a:pPr algn="just"/>
            <a:r>
              <a:rPr lang="en-IN" sz="2400" dirty="0">
                <a:latin typeface="Calibri" panose="020F0502020204030204" pitchFamily="34" charset="0"/>
                <a:ea typeface="Calibri" panose="020F0502020204030204" pitchFamily="34" charset="0"/>
                <a:cs typeface="Calibri" panose="020F0502020204030204" pitchFamily="34" charset="0"/>
              </a:rPr>
              <a:t>	(ii)Gate-array–based ASICs.</a:t>
            </a:r>
          </a:p>
        </p:txBody>
      </p:sp>
    </p:spTree>
    <p:extLst>
      <p:ext uri="{BB962C8B-B14F-4D97-AF65-F5344CB8AC3E}">
        <p14:creationId xmlns:p14="http://schemas.microsoft.com/office/powerpoint/2010/main" val="22424399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D565487-CEC6-FE72-FEE6-C1E8EAB970A5}"/>
            </a:ext>
          </a:extLst>
        </p:cNvPr>
        <p:cNvGrpSpPr/>
        <p:nvPr/>
      </p:nvGrpSpPr>
      <p:grpSpPr>
        <a:xfrm>
          <a:off x="0" y="0"/>
          <a:ext cx="0" cy="0"/>
          <a:chOff x="0" y="0"/>
          <a:chExt cx="0" cy="0"/>
        </a:xfrm>
      </p:grpSpPr>
      <p:sp>
        <p:nvSpPr>
          <p:cNvPr id="9" name="Rounded Rectangle 17">
            <a:extLst>
              <a:ext uri="{FF2B5EF4-FFF2-40B4-BE49-F238E27FC236}">
                <a16:creationId xmlns="" xmlns:a16="http://schemas.microsoft.com/office/drawing/2014/main" id="{EC12C3F1-AF3B-19D4-CDBD-B96E6A94B211}"/>
              </a:ext>
            </a:extLst>
          </p:cNvPr>
          <p:cNvSpPr/>
          <p:nvPr/>
        </p:nvSpPr>
        <p:spPr>
          <a:xfrm>
            <a:off x="2078243" y="123556"/>
            <a:ext cx="8558656" cy="52958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2700" algn="ctr">
              <a:lnSpc>
                <a:spcPct val="100000"/>
              </a:lnSpc>
              <a:spcBef>
                <a:spcPts val="100"/>
              </a:spcBef>
            </a:pPr>
            <a:r>
              <a:rPr lang="en-US" sz="3600" spc="-5" dirty="0"/>
              <a:t>Types</a:t>
            </a:r>
            <a:r>
              <a:rPr lang="en-US" sz="3600" spc="-10" dirty="0"/>
              <a:t> of ASICs</a:t>
            </a:r>
            <a:endParaRPr lang="en-IN" sz="1400" b="1" spc="-50" dirty="0"/>
          </a:p>
        </p:txBody>
      </p:sp>
      <p:cxnSp>
        <p:nvCxnSpPr>
          <p:cNvPr id="7" name="Straight Connector 6">
            <a:extLst>
              <a:ext uri="{FF2B5EF4-FFF2-40B4-BE49-F238E27FC236}">
                <a16:creationId xmlns="" xmlns:a16="http://schemas.microsoft.com/office/drawing/2014/main" id="{5D1E8B14-55A0-5B20-142F-2EEF5BE97181}"/>
              </a:ext>
            </a:extLst>
          </p:cNvPr>
          <p:cNvCxnSpPr>
            <a:cxnSpLocks/>
          </p:cNvCxnSpPr>
          <p:nvPr/>
        </p:nvCxnSpPr>
        <p:spPr>
          <a:xfrm>
            <a:off x="6404330" y="1402110"/>
            <a:ext cx="0" cy="4756094"/>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sp>
        <p:nvSpPr>
          <p:cNvPr id="10" name="object 3">
            <a:extLst>
              <a:ext uri="{FF2B5EF4-FFF2-40B4-BE49-F238E27FC236}">
                <a16:creationId xmlns="" xmlns:a16="http://schemas.microsoft.com/office/drawing/2014/main" id="{F0A35E85-7D1A-5DF2-FA9E-8CD61D96D085}"/>
              </a:ext>
            </a:extLst>
          </p:cNvPr>
          <p:cNvSpPr txBox="1"/>
          <p:nvPr/>
        </p:nvSpPr>
        <p:spPr>
          <a:xfrm>
            <a:off x="216143" y="1515532"/>
            <a:ext cx="5879857" cy="3516347"/>
          </a:xfrm>
          <a:prstGeom prst="rect">
            <a:avLst/>
          </a:prstGeom>
        </p:spPr>
        <p:txBody>
          <a:bodyPr vert="horz" wrap="square" lIns="0" tIns="12700" rIns="0" bIns="0" rtlCol="0">
            <a:spAutoFit/>
          </a:bodyPr>
          <a:lstStyle/>
          <a:p>
            <a:pPr marL="354965" marR="5080" indent="-342900" algn="just">
              <a:lnSpc>
                <a:spcPct val="100000"/>
              </a:lnSpc>
              <a:spcBef>
                <a:spcPts val="100"/>
              </a:spcBef>
              <a:buFont typeface="Wingdings" panose="05000000000000000000" pitchFamily="2" charset="2"/>
              <a:buChar char="Ø"/>
              <a:tabLst>
                <a:tab pos="356870" algn="l"/>
              </a:tabLst>
            </a:pPr>
            <a:r>
              <a:rPr lang="en-US" sz="2400" dirty="0">
                <a:latin typeface="Calibri" panose="020F0502020204030204" pitchFamily="34" charset="0"/>
                <a:ea typeface="Calibri" panose="020F0502020204030204" pitchFamily="34" charset="0"/>
                <a:cs typeface="Calibri" panose="020F0502020204030204" pitchFamily="34" charset="0"/>
              </a:rPr>
              <a:t>A cell-based ASIC (cell-based IC, or CBIC pronounced sea-</a:t>
            </a:r>
            <a:r>
              <a:rPr lang="en-US" sz="2400" dirty="0" err="1">
                <a:latin typeface="Calibri" panose="020F0502020204030204" pitchFamily="34" charset="0"/>
                <a:ea typeface="Calibri" panose="020F0502020204030204" pitchFamily="34" charset="0"/>
                <a:cs typeface="Calibri" panose="020F0502020204030204" pitchFamily="34" charset="0"/>
              </a:rPr>
              <a:t>bick</a:t>
            </a:r>
            <a:r>
              <a:rPr lang="en-US" sz="2400" dirty="0">
                <a:latin typeface="Calibri" panose="020F0502020204030204" pitchFamily="34" charset="0"/>
                <a:ea typeface="Calibri" panose="020F0502020204030204" pitchFamily="34" charset="0"/>
                <a:cs typeface="Calibri" panose="020F0502020204030204" pitchFamily="34" charset="0"/>
              </a:rPr>
              <a:t>) 	uses  predesigned  logic  cells  (AND  gates,  OR  gates, multiplexers, and flip-flops, for example) known as standard 	cells.</a:t>
            </a:r>
          </a:p>
          <a:p>
            <a:pPr marL="354965" marR="5080" indent="-342900" algn="just">
              <a:lnSpc>
                <a:spcPct val="100000"/>
              </a:lnSpc>
              <a:spcBef>
                <a:spcPts val="100"/>
              </a:spcBef>
              <a:buFont typeface="Wingdings" panose="05000000000000000000" pitchFamily="2" charset="2"/>
              <a:buChar char="Ø"/>
              <a:tabLst>
                <a:tab pos="356870" algn="l"/>
              </a:tabLst>
            </a:pPr>
            <a:endParaRPr lang="en-US" sz="1000" dirty="0">
              <a:latin typeface="Calibri" panose="020F0502020204030204" pitchFamily="34" charset="0"/>
              <a:ea typeface="Calibri" panose="020F0502020204030204" pitchFamily="34" charset="0"/>
              <a:cs typeface="Calibri" panose="020F0502020204030204" pitchFamily="34" charset="0"/>
            </a:endParaRPr>
          </a:p>
          <a:p>
            <a:pPr marL="354965" marR="5080" indent="-342900" algn="just">
              <a:lnSpc>
                <a:spcPct val="100000"/>
              </a:lnSpc>
              <a:spcBef>
                <a:spcPts val="100"/>
              </a:spcBef>
              <a:buFont typeface="Wingdings" panose="05000000000000000000" pitchFamily="2" charset="2"/>
              <a:buChar char="Ø"/>
              <a:tabLst>
                <a:tab pos="356870" algn="l"/>
              </a:tabLst>
            </a:pPr>
            <a:r>
              <a:rPr lang="en-US" sz="2400" dirty="0">
                <a:latin typeface="Calibri" panose="020F0502020204030204" pitchFamily="34" charset="0"/>
                <a:ea typeface="Calibri" panose="020F0502020204030204" pitchFamily="34" charset="0"/>
                <a:cs typeface="Calibri" panose="020F0502020204030204" pitchFamily="34" charset="0"/>
              </a:rPr>
              <a:t>One  can apply the term CBIC to any IC that uses cells, but it is generally accepted that a cell-based ASIC or CBIC means a standard-cell based ASIC.</a:t>
            </a:r>
          </a:p>
        </p:txBody>
      </p:sp>
      <p:sp>
        <p:nvSpPr>
          <p:cNvPr id="11" name="TextBox 10">
            <a:extLst>
              <a:ext uri="{FF2B5EF4-FFF2-40B4-BE49-F238E27FC236}">
                <a16:creationId xmlns="" xmlns:a16="http://schemas.microsoft.com/office/drawing/2014/main" id="{06075BF5-F307-E25F-FE16-92E7DB57D609}"/>
              </a:ext>
            </a:extLst>
          </p:cNvPr>
          <p:cNvSpPr txBox="1"/>
          <p:nvPr/>
        </p:nvSpPr>
        <p:spPr>
          <a:xfrm>
            <a:off x="4132288" y="755589"/>
            <a:ext cx="5177796" cy="584775"/>
          </a:xfrm>
          <a:prstGeom prst="rect">
            <a:avLst/>
          </a:prstGeom>
          <a:noFill/>
        </p:spPr>
        <p:txBody>
          <a:bodyPr wrap="square" rtlCol="0">
            <a:spAutoFit/>
          </a:bodyPr>
          <a:lstStyle/>
          <a:p>
            <a:r>
              <a:rPr lang="en-US" sz="3200" b="1" dirty="0">
                <a:solidFill>
                  <a:srgbClr val="7030A0"/>
                </a:solidFill>
                <a:latin typeface="Calibri" panose="020F0502020204030204" pitchFamily="34" charset="0"/>
                <a:ea typeface="Calibri" panose="020F0502020204030204" pitchFamily="34" charset="0"/>
                <a:cs typeface="Calibri" panose="020F0502020204030204" pitchFamily="34" charset="0"/>
              </a:rPr>
              <a:t>Standard-Cell Based ASICs</a:t>
            </a:r>
            <a:endParaRPr lang="en-IN" sz="3200" b="1" dirty="0">
              <a:solidFill>
                <a:srgbClr val="7030A0"/>
              </a:solidFill>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 xmlns:a16="http://schemas.microsoft.com/office/drawing/2014/main" id="{B0E91B74-08D3-3B6C-2D8B-5C6E548976F0}"/>
              </a:ext>
            </a:extLst>
          </p:cNvPr>
          <p:cNvSpPr txBox="1"/>
          <p:nvPr/>
        </p:nvSpPr>
        <p:spPr>
          <a:xfrm>
            <a:off x="6475450" y="1487071"/>
            <a:ext cx="5669269" cy="3785652"/>
          </a:xfrm>
          <a:prstGeom prst="rect">
            <a:avLst/>
          </a:prstGeom>
          <a:noFill/>
        </p:spPr>
        <p:txBody>
          <a:bodyPr wrap="square">
            <a:spAutoFit/>
          </a:bodyPr>
          <a:lstStyle/>
          <a:p>
            <a:pPr marL="342900" indent="-342900" algn="just">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The standard-cell areas (also called flexible blocks) in a CBIC are built of rows of standard cells like a wall built of bricks. The standard-cell areas  may be used  in combination with microcontrollers or even  microprocessors, known as mega cells. Mega cells are also called mega functions, full-custom 	blocks, system-level macros (SLMs), fixed blocks, cores, or Functional Standard Blocks (FSBs).</a:t>
            </a:r>
          </a:p>
        </p:txBody>
      </p:sp>
    </p:spTree>
    <p:extLst>
      <p:ext uri="{BB962C8B-B14F-4D97-AF65-F5344CB8AC3E}">
        <p14:creationId xmlns:p14="http://schemas.microsoft.com/office/powerpoint/2010/main" val="15028649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73CA6F9-BF03-431B-595D-43FC162E4BE3}"/>
            </a:ext>
          </a:extLst>
        </p:cNvPr>
        <p:cNvGrpSpPr/>
        <p:nvPr/>
      </p:nvGrpSpPr>
      <p:grpSpPr>
        <a:xfrm>
          <a:off x="0" y="0"/>
          <a:ext cx="0" cy="0"/>
          <a:chOff x="0" y="0"/>
          <a:chExt cx="0" cy="0"/>
        </a:xfrm>
      </p:grpSpPr>
      <p:sp>
        <p:nvSpPr>
          <p:cNvPr id="9" name="Rounded Rectangle 17">
            <a:extLst>
              <a:ext uri="{FF2B5EF4-FFF2-40B4-BE49-F238E27FC236}">
                <a16:creationId xmlns="" xmlns:a16="http://schemas.microsoft.com/office/drawing/2014/main" id="{2373D8F6-328E-91C4-85E2-C581D0E8392B}"/>
              </a:ext>
            </a:extLst>
          </p:cNvPr>
          <p:cNvSpPr/>
          <p:nvPr/>
        </p:nvSpPr>
        <p:spPr>
          <a:xfrm>
            <a:off x="2078243" y="123556"/>
            <a:ext cx="8558656" cy="52958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2700" algn="ctr">
              <a:lnSpc>
                <a:spcPct val="100000"/>
              </a:lnSpc>
              <a:spcBef>
                <a:spcPts val="100"/>
              </a:spcBef>
            </a:pPr>
            <a:r>
              <a:rPr lang="en-US" sz="3600" spc="-5" dirty="0"/>
              <a:t>Types</a:t>
            </a:r>
            <a:r>
              <a:rPr lang="en-US" sz="3600" spc="-10" dirty="0"/>
              <a:t> of ASICs</a:t>
            </a:r>
            <a:endParaRPr lang="en-IN" sz="1400" b="1" spc="-50" dirty="0"/>
          </a:p>
        </p:txBody>
      </p:sp>
      <p:sp>
        <p:nvSpPr>
          <p:cNvPr id="10" name="object 3">
            <a:extLst>
              <a:ext uri="{FF2B5EF4-FFF2-40B4-BE49-F238E27FC236}">
                <a16:creationId xmlns="" xmlns:a16="http://schemas.microsoft.com/office/drawing/2014/main" id="{0D6BA54A-188F-49C5-AB61-E38A5FE38208}"/>
              </a:ext>
            </a:extLst>
          </p:cNvPr>
          <p:cNvSpPr txBox="1"/>
          <p:nvPr/>
        </p:nvSpPr>
        <p:spPr>
          <a:xfrm>
            <a:off x="75854" y="1299724"/>
            <a:ext cx="7848946" cy="5475858"/>
          </a:xfrm>
          <a:prstGeom prst="rect">
            <a:avLst/>
          </a:prstGeom>
        </p:spPr>
        <p:txBody>
          <a:bodyPr vert="horz" wrap="square" lIns="0" tIns="12700" rIns="0" bIns="0" rtlCol="0">
            <a:spAutoFit/>
          </a:bodyPr>
          <a:lstStyle/>
          <a:p>
            <a:pPr marL="457200" indent="-457200" algn="just">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A cell-based ASIC (CBIC) die with a single standard-cell are (a flexible block) together with four fixed blocks.</a:t>
            </a:r>
          </a:p>
          <a:p>
            <a:pPr marL="457200" indent="-457200" algn="just">
              <a:buFont typeface="Wingdings" panose="05000000000000000000" pitchFamily="2" charset="2"/>
              <a:buChar char="Ø"/>
            </a:pPr>
            <a:endParaRPr lang="en-US" sz="500" dirty="0">
              <a:latin typeface="Calibri" panose="020F0502020204030204" pitchFamily="34" charset="0"/>
              <a:ea typeface="Calibri" panose="020F0502020204030204" pitchFamily="34" charset="0"/>
              <a:cs typeface="Calibri" panose="020F0502020204030204" pitchFamily="34" charset="0"/>
            </a:endParaRPr>
          </a:p>
          <a:p>
            <a:pPr marL="457200" indent="-457200" algn="just">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The ASIC designer defines only the placement of the standard 	cells and the  interconnect in a CBIC. However, the standard 	cells can be placed anywhere on the silicon; this means that all 	the mask layers of a CBIC are  customized and are unique to a 	particular customer.</a:t>
            </a:r>
          </a:p>
          <a:p>
            <a:pPr marL="457200" indent="-457200" algn="just">
              <a:buFont typeface="Wingdings" panose="05000000000000000000" pitchFamily="2" charset="2"/>
              <a:buChar char="Ø"/>
            </a:pPr>
            <a:endParaRPr lang="en-US" sz="500" dirty="0">
              <a:latin typeface="Calibri" panose="020F0502020204030204" pitchFamily="34" charset="0"/>
              <a:ea typeface="Calibri" panose="020F0502020204030204" pitchFamily="34" charset="0"/>
              <a:cs typeface="Calibri" panose="020F0502020204030204" pitchFamily="34" charset="0"/>
            </a:endParaRPr>
          </a:p>
          <a:p>
            <a:pPr marL="457200" indent="-457200" algn="just">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The advantage of CBICs is that designers save time, money, 	and reduce risk by using a predesigned, pretested, and pre 	characterized standard-cell library.</a:t>
            </a:r>
          </a:p>
          <a:p>
            <a:pPr marL="457200" indent="-457200" algn="just">
              <a:buFont typeface="Wingdings" panose="05000000000000000000" pitchFamily="2" charset="2"/>
              <a:buChar char="Ø"/>
            </a:pPr>
            <a:endParaRPr lang="en-US" sz="500" dirty="0">
              <a:latin typeface="Calibri" panose="020F0502020204030204" pitchFamily="34" charset="0"/>
              <a:ea typeface="Calibri" panose="020F0502020204030204" pitchFamily="34" charset="0"/>
              <a:cs typeface="Calibri" panose="020F0502020204030204" pitchFamily="34" charset="0"/>
            </a:endParaRPr>
          </a:p>
          <a:p>
            <a:pPr marL="457200" indent="-457200" algn="just">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In addition each standard cell can be  optimized individually. During the design of the cell library each and every transistor in every standard cell can be chosen to maximize speed or minimize area .</a:t>
            </a:r>
          </a:p>
          <a:p>
            <a:pPr marL="457200" indent="-457200" algn="just">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The disadvantages are the time or expense of designing or buying  the  standard-cell  library  and  the  time  needed  to fabricate all layers of the ASIC for each new design.</a:t>
            </a:r>
          </a:p>
          <a:p>
            <a:pPr marL="457200" indent="-457200" algn="just">
              <a:buFont typeface="Wingdings" panose="05000000000000000000" pitchFamily="2" charset="2"/>
              <a:buChar char="Ø"/>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457200" indent="-457200" algn="just">
              <a:buFont typeface="Wingdings" panose="05000000000000000000" pitchFamily="2" charset="2"/>
              <a:buChar char="Ø"/>
            </a:pPr>
            <a:endParaRPr lang="en-IN" sz="2000" dirty="0">
              <a:latin typeface="Calibri" panose="020F0502020204030204" pitchFamily="34" charset="0"/>
              <a:ea typeface="Calibri" panose="020F0502020204030204" pitchFamily="34" charset="0"/>
              <a:cs typeface="Calibri" panose="020F0502020204030204" pitchFamily="34" charset="0"/>
            </a:endParaRPr>
          </a:p>
        </p:txBody>
      </p:sp>
      <p:sp>
        <p:nvSpPr>
          <p:cNvPr id="11" name="TextBox 10">
            <a:extLst>
              <a:ext uri="{FF2B5EF4-FFF2-40B4-BE49-F238E27FC236}">
                <a16:creationId xmlns="" xmlns:a16="http://schemas.microsoft.com/office/drawing/2014/main" id="{595708EF-E406-2154-7B7D-F26BEC5F2CD0}"/>
              </a:ext>
            </a:extLst>
          </p:cNvPr>
          <p:cNvSpPr txBox="1"/>
          <p:nvPr/>
        </p:nvSpPr>
        <p:spPr>
          <a:xfrm>
            <a:off x="4132288" y="755589"/>
            <a:ext cx="5177796" cy="584775"/>
          </a:xfrm>
          <a:prstGeom prst="rect">
            <a:avLst/>
          </a:prstGeom>
          <a:noFill/>
        </p:spPr>
        <p:txBody>
          <a:bodyPr wrap="square" rtlCol="0">
            <a:spAutoFit/>
          </a:bodyPr>
          <a:lstStyle/>
          <a:p>
            <a:r>
              <a:rPr lang="en-US" sz="3200" b="1" dirty="0">
                <a:solidFill>
                  <a:srgbClr val="7030A0"/>
                </a:solidFill>
                <a:latin typeface="Calibri" panose="020F0502020204030204" pitchFamily="34" charset="0"/>
                <a:ea typeface="Calibri" panose="020F0502020204030204" pitchFamily="34" charset="0"/>
                <a:cs typeface="Calibri" panose="020F0502020204030204" pitchFamily="34" charset="0"/>
              </a:rPr>
              <a:t>Standard-Cell Based ASICs</a:t>
            </a:r>
            <a:endParaRPr lang="en-IN" sz="3200" b="1" dirty="0">
              <a:solidFill>
                <a:srgbClr val="7030A0"/>
              </a:solidFill>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 xmlns:a16="http://schemas.microsoft.com/office/drawing/2014/main" id="{BBE1DFF3-22FA-649E-1BFD-8AB1CF8C1FFE}"/>
              </a:ext>
            </a:extLst>
          </p:cNvPr>
          <p:cNvPicPr>
            <a:picLocks noChangeAspect="1"/>
          </p:cNvPicPr>
          <p:nvPr/>
        </p:nvPicPr>
        <p:blipFill>
          <a:blip r:embed="rId2"/>
          <a:srcRect b="4897"/>
          <a:stretch>
            <a:fillRect/>
          </a:stretch>
        </p:blipFill>
        <p:spPr>
          <a:xfrm>
            <a:off x="8130194" y="1706880"/>
            <a:ext cx="4000846" cy="3799840"/>
          </a:xfrm>
          <a:prstGeom prst="rect">
            <a:avLst/>
          </a:prstGeom>
          <a:ln w="28575">
            <a:solidFill>
              <a:srgbClr val="C00000"/>
            </a:solidFill>
          </a:ln>
        </p:spPr>
      </p:pic>
    </p:spTree>
    <p:extLst>
      <p:ext uri="{BB962C8B-B14F-4D97-AF65-F5344CB8AC3E}">
        <p14:creationId xmlns:p14="http://schemas.microsoft.com/office/powerpoint/2010/main" val="34546455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97F2380-5737-78F9-2377-6B0F99E56E70}"/>
            </a:ext>
          </a:extLst>
        </p:cNvPr>
        <p:cNvGrpSpPr/>
        <p:nvPr/>
      </p:nvGrpSpPr>
      <p:grpSpPr>
        <a:xfrm>
          <a:off x="0" y="0"/>
          <a:ext cx="0" cy="0"/>
          <a:chOff x="0" y="0"/>
          <a:chExt cx="0" cy="0"/>
        </a:xfrm>
      </p:grpSpPr>
      <p:sp>
        <p:nvSpPr>
          <p:cNvPr id="9" name="Rounded Rectangle 17">
            <a:extLst>
              <a:ext uri="{FF2B5EF4-FFF2-40B4-BE49-F238E27FC236}">
                <a16:creationId xmlns="" xmlns:a16="http://schemas.microsoft.com/office/drawing/2014/main" id="{28D56D40-39EB-5E4D-9E8D-3FB9A51F40B8}"/>
              </a:ext>
            </a:extLst>
          </p:cNvPr>
          <p:cNvSpPr/>
          <p:nvPr/>
        </p:nvSpPr>
        <p:spPr>
          <a:xfrm>
            <a:off x="2078243" y="123556"/>
            <a:ext cx="8558656" cy="52958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2700" algn="ctr">
              <a:lnSpc>
                <a:spcPct val="100000"/>
              </a:lnSpc>
              <a:spcBef>
                <a:spcPts val="100"/>
              </a:spcBef>
            </a:pPr>
            <a:r>
              <a:rPr lang="en-US" sz="3600" spc="-5" dirty="0"/>
              <a:t>Types</a:t>
            </a:r>
            <a:r>
              <a:rPr lang="en-US" sz="3600" spc="-10" dirty="0"/>
              <a:t> of ASICs</a:t>
            </a:r>
            <a:endParaRPr lang="en-IN" sz="1400" b="1" spc="-50" dirty="0"/>
          </a:p>
        </p:txBody>
      </p:sp>
      <p:pic>
        <p:nvPicPr>
          <p:cNvPr id="3" name="Picture 2">
            <a:extLst>
              <a:ext uri="{FF2B5EF4-FFF2-40B4-BE49-F238E27FC236}">
                <a16:creationId xmlns="" xmlns:a16="http://schemas.microsoft.com/office/drawing/2014/main" id="{130EB695-7298-5EBC-759A-FB61D3911157}"/>
              </a:ext>
            </a:extLst>
          </p:cNvPr>
          <p:cNvPicPr>
            <a:picLocks noChangeAspect="1"/>
          </p:cNvPicPr>
          <p:nvPr/>
        </p:nvPicPr>
        <p:blipFill>
          <a:blip r:embed="rId2"/>
          <a:srcRect t="1913" b="9161"/>
          <a:stretch>
            <a:fillRect/>
          </a:stretch>
        </p:blipFill>
        <p:spPr>
          <a:xfrm>
            <a:off x="317640" y="904240"/>
            <a:ext cx="4104640" cy="4826000"/>
          </a:xfrm>
          <a:prstGeom prst="rect">
            <a:avLst/>
          </a:prstGeom>
        </p:spPr>
      </p:pic>
      <p:sp>
        <p:nvSpPr>
          <p:cNvPr id="4" name="object 3">
            <a:extLst>
              <a:ext uri="{FF2B5EF4-FFF2-40B4-BE49-F238E27FC236}">
                <a16:creationId xmlns="" xmlns:a16="http://schemas.microsoft.com/office/drawing/2014/main" id="{B6C1A57C-B77E-5C36-9D73-7758D6C95E25}"/>
              </a:ext>
            </a:extLst>
          </p:cNvPr>
          <p:cNvSpPr txBox="1"/>
          <p:nvPr/>
        </p:nvSpPr>
        <p:spPr>
          <a:xfrm>
            <a:off x="425711" y="5778836"/>
            <a:ext cx="3827538" cy="320601"/>
          </a:xfrm>
          <a:prstGeom prst="rect">
            <a:avLst/>
          </a:prstGeom>
        </p:spPr>
        <p:txBody>
          <a:bodyPr vert="horz" wrap="square" lIns="0" tIns="12700" rIns="0" bIns="0" rtlCol="0">
            <a:spAutoFit/>
          </a:bodyPr>
          <a:lstStyle/>
          <a:p>
            <a:pPr marL="12065" marR="5080" algn="ctr">
              <a:lnSpc>
                <a:spcPct val="100000"/>
              </a:lnSpc>
              <a:spcBef>
                <a:spcPts val="100"/>
              </a:spcBef>
              <a:tabLst>
                <a:tab pos="356870" algn="l"/>
              </a:tabLst>
            </a:pPr>
            <a:r>
              <a:rPr lang="en-US" sz="2000" dirty="0">
                <a:latin typeface="Calibri" panose="020F0502020204030204" pitchFamily="34" charset="0"/>
                <a:ea typeface="Calibri" panose="020F0502020204030204" pitchFamily="34" charset="0"/>
                <a:cs typeface="Calibri" panose="020F0502020204030204" pitchFamily="34" charset="0"/>
              </a:rPr>
              <a:t>Fig. Layout of Standard-Cell</a:t>
            </a:r>
          </a:p>
        </p:txBody>
      </p:sp>
      <p:pic>
        <p:nvPicPr>
          <p:cNvPr id="8" name="Picture 7">
            <a:extLst>
              <a:ext uri="{FF2B5EF4-FFF2-40B4-BE49-F238E27FC236}">
                <a16:creationId xmlns="" xmlns:a16="http://schemas.microsoft.com/office/drawing/2014/main" id="{5B46B5BB-A226-D422-130E-76B2445E79A5}"/>
              </a:ext>
            </a:extLst>
          </p:cNvPr>
          <p:cNvPicPr>
            <a:picLocks noChangeAspect="1"/>
          </p:cNvPicPr>
          <p:nvPr/>
        </p:nvPicPr>
        <p:blipFill>
          <a:blip r:embed="rId3"/>
          <a:stretch>
            <a:fillRect/>
          </a:stretch>
        </p:blipFill>
        <p:spPr>
          <a:xfrm>
            <a:off x="4531360" y="904240"/>
            <a:ext cx="7589520" cy="4826000"/>
          </a:xfrm>
          <a:prstGeom prst="rect">
            <a:avLst/>
          </a:prstGeom>
        </p:spPr>
      </p:pic>
      <p:sp>
        <p:nvSpPr>
          <p:cNvPr id="12" name="object 3">
            <a:extLst>
              <a:ext uri="{FF2B5EF4-FFF2-40B4-BE49-F238E27FC236}">
                <a16:creationId xmlns="" xmlns:a16="http://schemas.microsoft.com/office/drawing/2014/main" id="{D0D71168-DF2B-5830-6759-6A84C6119F9E}"/>
              </a:ext>
            </a:extLst>
          </p:cNvPr>
          <p:cNvSpPr txBox="1"/>
          <p:nvPr/>
        </p:nvSpPr>
        <p:spPr>
          <a:xfrm>
            <a:off x="6357571" y="5778836"/>
            <a:ext cx="3827538" cy="320601"/>
          </a:xfrm>
          <a:prstGeom prst="rect">
            <a:avLst/>
          </a:prstGeom>
        </p:spPr>
        <p:txBody>
          <a:bodyPr vert="horz" wrap="square" lIns="0" tIns="12700" rIns="0" bIns="0" rtlCol="0">
            <a:spAutoFit/>
          </a:bodyPr>
          <a:lstStyle/>
          <a:p>
            <a:pPr marL="12065" marR="5080" algn="ctr">
              <a:lnSpc>
                <a:spcPct val="100000"/>
              </a:lnSpc>
              <a:spcBef>
                <a:spcPts val="100"/>
              </a:spcBef>
              <a:tabLst>
                <a:tab pos="356870" algn="l"/>
              </a:tabLst>
            </a:pPr>
            <a:r>
              <a:rPr lang="en-US" sz="2000" dirty="0">
                <a:latin typeface="Calibri" panose="020F0502020204030204" pitchFamily="34" charset="0"/>
                <a:ea typeface="Calibri" panose="020F0502020204030204" pitchFamily="34" charset="0"/>
                <a:cs typeface="Calibri" panose="020F0502020204030204" pitchFamily="34" charset="0"/>
              </a:rPr>
              <a:t>Fig. Routing the CBIC</a:t>
            </a:r>
          </a:p>
        </p:txBody>
      </p:sp>
    </p:spTree>
    <p:extLst>
      <p:ext uri="{BB962C8B-B14F-4D97-AF65-F5344CB8AC3E}">
        <p14:creationId xmlns:p14="http://schemas.microsoft.com/office/powerpoint/2010/main" val="19723293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A0F816F-FA76-637C-E56E-D80FB6647173}"/>
            </a:ext>
          </a:extLst>
        </p:cNvPr>
        <p:cNvGrpSpPr/>
        <p:nvPr/>
      </p:nvGrpSpPr>
      <p:grpSpPr>
        <a:xfrm>
          <a:off x="0" y="0"/>
          <a:ext cx="0" cy="0"/>
          <a:chOff x="0" y="0"/>
          <a:chExt cx="0" cy="0"/>
        </a:xfrm>
      </p:grpSpPr>
      <p:sp>
        <p:nvSpPr>
          <p:cNvPr id="9" name="Rounded Rectangle 17">
            <a:extLst>
              <a:ext uri="{FF2B5EF4-FFF2-40B4-BE49-F238E27FC236}">
                <a16:creationId xmlns="" xmlns:a16="http://schemas.microsoft.com/office/drawing/2014/main" id="{23A42842-7F6C-F17E-A8E8-1654154D6602}"/>
              </a:ext>
            </a:extLst>
          </p:cNvPr>
          <p:cNvSpPr/>
          <p:nvPr/>
        </p:nvSpPr>
        <p:spPr>
          <a:xfrm>
            <a:off x="2078243" y="123556"/>
            <a:ext cx="8558656" cy="52958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2700" algn="ctr">
              <a:lnSpc>
                <a:spcPct val="100000"/>
              </a:lnSpc>
              <a:spcBef>
                <a:spcPts val="100"/>
              </a:spcBef>
            </a:pPr>
            <a:r>
              <a:rPr lang="en-US" sz="3600" spc="-5" dirty="0"/>
              <a:t>Types</a:t>
            </a:r>
            <a:r>
              <a:rPr lang="en-US" sz="3600" spc="-10" dirty="0"/>
              <a:t> of ASICs</a:t>
            </a:r>
            <a:endParaRPr lang="en-IN" sz="1400" b="1" spc="-50" dirty="0"/>
          </a:p>
        </p:txBody>
      </p:sp>
      <p:sp>
        <p:nvSpPr>
          <p:cNvPr id="10" name="object 3">
            <a:extLst>
              <a:ext uri="{FF2B5EF4-FFF2-40B4-BE49-F238E27FC236}">
                <a16:creationId xmlns="" xmlns:a16="http://schemas.microsoft.com/office/drawing/2014/main" id="{0DA44360-F05A-176B-DFF5-FD22631A7D26}"/>
              </a:ext>
            </a:extLst>
          </p:cNvPr>
          <p:cNvSpPr txBox="1"/>
          <p:nvPr/>
        </p:nvSpPr>
        <p:spPr>
          <a:xfrm>
            <a:off x="151708" y="1299724"/>
            <a:ext cx="11964438" cy="4475584"/>
          </a:xfrm>
          <a:prstGeom prst="rect">
            <a:avLst/>
          </a:prstGeom>
        </p:spPr>
        <p:txBody>
          <a:bodyPr vert="horz" wrap="square" lIns="0" tIns="12700" rIns="0" bIns="0" rtlCol="0">
            <a:spAutoFit/>
          </a:bodyPr>
          <a:lstStyle/>
          <a:p>
            <a:pPr marL="457200" indent="-457200" algn="just">
              <a:buFont typeface="Wingdings" panose="05000000000000000000" pitchFamily="2" charset="2"/>
              <a:buChar char="Ø"/>
            </a:pPr>
            <a:r>
              <a:rPr lang="en-US" sz="2200" dirty="0">
                <a:latin typeface="Calibri" panose="020F0502020204030204" pitchFamily="34" charset="0"/>
                <a:ea typeface="Calibri" panose="020F0502020204030204" pitchFamily="34" charset="0"/>
                <a:cs typeface="Calibri" panose="020F0502020204030204" pitchFamily="34" charset="0"/>
              </a:rPr>
              <a:t>In a Gate-Array-Based ASIC, the transistors are predefined on the silicon wafer.</a:t>
            </a:r>
          </a:p>
          <a:p>
            <a:pPr marL="457200" indent="-457200" algn="just">
              <a:buFont typeface="Wingdings" panose="05000000000000000000" pitchFamily="2" charset="2"/>
              <a:buChar char="Ø"/>
            </a:pPr>
            <a:endParaRPr lang="en-US" sz="1000" dirty="0">
              <a:latin typeface="Calibri" panose="020F0502020204030204" pitchFamily="34" charset="0"/>
              <a:ea typeface="Calibri" panose="020F0502020204030204" pitchFamily="34" charset="0"/>
              <a:cs typeface="Calibri" panose="020F0502020204030204" pitchFamily="34" charset="0"/>
            </a:endParaRPr>
          </a:p>
          <a:p>
            <a:pPr marL="457200" indent="-457200" algn="just">
              <a:buFont typeface="Wingdings" panose="05000000000000000000" pitchFamily="2" charset="2"/>
              <a:buChar char="Ø"/>
            </a:pPr>
            <a:r>
              <a:rPr lang="en-US" sz="2200" dirty="0">
                <a:latin typeface="Calibri" panose="020F0502020204030204" pitchFamily="34" charset="0"/>
                <a:ea typeface="Calibri" panose="020F0502020204030204" pitchFamily="34" charset="0"/>
                <a:cs typeface="Calibri" panose="020F0502020204030204" pitchFamily="34" charset="0"/>
              </a:rPr>
              <a:t>The predefined pattern of transistors is called the base array.</a:t>
            </a:r>
          </a:p>
          <a:p>
            <a:pPr algn="just"/>
            <a:endParaRPr lang="en-US" sz="1000" dirty="0">
              <a:latin typeface="Calibri" panose="020F0502020204030204" pitchFamily="34" charset="0"/>
              <a:ea typeface="Calibri" panose="020F0502020204030204" pitchFamily="34" charset="0"/>
              <a:cs typeface="Calibri" panose="020F0502020204030204" pitchFamily="34" charset="0"/>
            </a:endParaRPr>
          </a:p>
          <a:p>
            <a:pPr marL="457200" indent="-457200" algn="just">
              <a:buFont typeface="Wingdings" panose="05000000000000000000" pitchFamily="2" charset="2"/>
              <a:buChar char="Ø"/>
            </a:pPr>
            <a:r>
              <a:rPr lang="en-US" sz="2200" dirty="0">
                <a:latin typeface="Calibri" panose="020F0502020204030204" pitchFamily="34" charset="0"/>
                <a:ea typeface="Calibri" panose="020F0502020204030204" pitchFamily="34" charset="0"/>
                <a:cs typeface="Calibri" panose="020F0502020204030204" pitchFamily="34" charset="0"/>
              </a:rPr>
              <a:t>The smallest element that is replicated to make the base array is called the base or primitive cell.</a:t>
            </a:r>
          </a:p>
          <a:p>
            <a:pPr marL="457200" indent="-457200" algn="just">
              <a:buFont typeface="Wingdings" panose="05000000000000000000" pitchFamily="2" charset="2"/>
              <a:buChar char="Ø"/>
            </a:pPr>
            <a:endParaRPr lang="en-US" sz="1000" dirty="0">
              <a:latin typeface="Calibri" panose="020F0502020204030204" pitchFamily="34" charset="0"/>
              <a:ea typeface="Calibri" panose="020F0502020204030204" pitchFamily="34" charset="0"/>
              <a:cs typeface="Calibri" panose="020F0502020204030204" pitchFamily="34" charset="0"/>
            </a:endParaRPr>
          </a:p>
          <a:p>
            <a:pPr marL="457200" indent="-457200" algn="just">
              <a:buFont typeface="Wingdings" panose="05000000000000000000" pitchFamily="2" charset="2"/>
              <a:buChar char="Ø"/>
            </a:pPr>
            <a:r>
              <a:rPr lang="en-US" sz="2200" dirty="0">
                <a:latin typeface="Calibri" panose="020F0502020204030204" pitchFamily="34" charset="0"/>
                <a:ea typeface="Calibri" panose="020F0502020204030204" pitchFamily="34" charset="0"/>
                <a:cs typeface="Calibri" panose="020F0502020204030204" pitchFamily="34" charset="0"/>
              </a:rPr>
              <a:t>The top-level interconnect between the transistors is defined by the designer in custom masks-Masked Gate Array (MGA).</a:t>
            </a:r>
          </a:p>
          <a:p>
            <a:pPr marL="457200" indent="-457200" algn="just">
              <a:buFont typeface="Wingdings" panose="05000000000000000000" pitchFamily="2" charset="2"/>
              <a:buChar char="Ø"/>
            </a:pPr>
            <a:endParaRPr lang="en-US" sz="1000" dirty="0">
              <a:latin typeface="Calibri" panose="020F0502020204030204" pitchFamily="34" charset="0"/>
              <a:ea typeface="Calibri" panose="020F0502020204030204" pitchFamily="34" charset="0"/>
              <a:cs typeface="Calibri" panose="020F0502020204030204" pitchFamily="34" charset="0"/>
            </a:endParaRPr>
          </a:p>
          <a:p>
            <a:pPr marL="457200" indent="-457200" algn="just">
              <a:buFont typeface="Wingdings" panose="05000000000000000000" pitchFamily="2" charset="2"/>
              <a:buChar char="Ø"/>
            </a:pPr>
            <a:r>
              <a:rPr lang="en-US" sz="2200" dirty="0">
                <a:latin typeface="Calibri" panose="020F0502020204030204" pitchFamily="34" charset="0"/>
                <a:ea typeface="Calibri" panose="020F0502020204030204" pitchFamily="34" charset="0"/>
                <a:cs typeface="Calibri" panose="020F0502020204030204" pitchFamily="34" charset="0"/>
              </a:rPr>
              <a:t>Design is performed by connecting predesigned and characterized logic cells from a library (macros).</a:t>
            </a:r>
          </a:p>
          <a:p>
            <a:pPr marL="457200" indent="-457200" algn="just">
              <a:buFont typeface="Wingdings" panose="05000000000000000000" pitchFamily="2" charset="2"/>
              <a:buChar char="Ø"/>
            </a:pPr>
            <a:endParaRPr lang="en-US" sz="1000" dirty="0">
              <a:latin typeface="Calibri" panose="020F0502020204030204" pitchFamily="34" charset="0"/>
              <a:ea typeface="Calibri" panose="020F0502020204030204" pitchFamily="34" charset="0"/>
              <a:cs typeface="Calibri" panose="020F0502020204030204" pitchFamily="34" charset="0"/>
            </a:endParaRPr>
          </a:p>
          <a:p>
            <a:pPr marL="457200" indent="-457200" algn="just">
              <a:buFont typeface="Wingdings" panose="05000000000000000000" pitchFamily="2" charset="2"/>
              <a:buChar char="Ø"/>
            </a:pPr>
            <a:r>
              <a:rPr lang="en-US" sz="2200" dirty="0">
                <a:latin typeface="Calibri" panose="020F0502020204030204" pitchFamily="34" charset="0"/>
                <a:ea typeface="Calibri" panose="020F0502020204030204" pitchFamily="34" charset="0"/>
                <a:cs typeface="Calibri" panose="020F0502020204030204" pitchFamily="34" charset="0"/>
              </a:rPr>
              <a:t>After validation, automatic placement and routing are typically used to convert the macro-based design into a layout on the ASIC using primitive cells.</a:t>
            </a:r>
          </a:p>
          <a:p>
            <a:pPr marL="457200" indent="-457200" algn="just">
              <a:buFont typeface="Wingdings" panose="05000000000000000000" pitchFamily="2" charset="2"/>
              <a:buChar char="Ø"/>
            </a:pPr>
            <a:endParaRPr lang="en-US" sz="1000" dirty="0">
              <a:latin typeface="Calibri" panose="020F0502020204030204" pitchFamily="34" charset="0"/>
              <a:ea typeface="Calibri" panose="020F0502020204030204" pitchFamily="34" charset="0"/>
              <a:cs typeface="Calibri" panose="020F0502020204030204" pitchFamily="34" charset="0"/>
            </a:endParaRPr>
          </a:p>
          <a:p>
            <a:pPr marL="457200" indent="-457200" algn="just">
              <a:buFont typeface="Wingdings" panose="05000000000000000000" pitchFamily="2" charset="2"/>
              <a:buChar char="Ø"/>
            </a:pPr>
            <a:r>
              <a:rPr lang="en-US" sz="2200" dirty="0">
                <a:latin typeface="Calibri" panose="020F0502020204030204" pitchFamily="34" charset="0"/>
                <a:ea typeface="Calibri" panose="020F0502020204030204" pitchFamily="34" charset="0"/>
                <a:cs typeface="Calibri" panose="020F0502020204030204" pitchFamily="34" charset="0"/>
              </a:rPr>
              <a:t>Types of MGAs:</a:t>
            </a:r>
          </a:p>
          <a:p>
            <a:pPr marL="457200" indent="-457200" algn="just">
              <a:buFont typeface="Wingdings" panose="05000000000000000000" pitchFamily="2" charset="2"/>
              <a:buChar char="Ø"/>
            </a:pPr>
            <a:endParaRPr lang="en-US" sz="1000" dirty="0">
              <a:latin typeface="Calibri" panose="020F0502020204030204" pitchFamily="34" charset="0"/>
              <a:ea typeface="Calibri" panose="020F0502020204030204" pitchFamily="34" charset="0"/>
              <a:cs typeface="Calibri" panose="020F0502020204030204" pitchFamily="34" charset="0"/>
            </a:endParaRPr>
          </a:p>
          <a:p>
            <a:pPr lvl="1" algn="just"/>
            <a:r>
              <a:rPr lang="en-US" sz="2200" dirty="0">
                <a:latin typeface="Calibri" panose="020F0502020204030204" pitchFamily="34" charset="0"/>
                <a:ea typeface="Calibri" panose="020F0502020204030204" pitchFamily="34" charset="0"/>
                <a:cs typeface="Calibri" panose="020F0502020204030204" pitchFamily="34" charset="0"/>
              </a:rPr>
              <a:t>    (</a:t>
            </a:r>
            <a:r>
              <a:rPr lang="en-US" sz="2200" dirty="0" err="1">
                <a:latin typeface="Calibri" panose="020F0502020204030204" pitchFamily="34" charset="0"/>
                <a:ea typeface="Calibri" panose="020F0502020204030204" pitchFamily="34" charset="0"/>
                <a:cs typeface="Calibri" panose="020F0502020204030204" pitchFamily="34" charset="0"/>
              </a:rPr>
              <a:t>i</a:t>
            </a:r>
            <a:r>
              <a:rPr lang="en-US" sz="2200" dirty="0">
                <a:latin typeface="Calibri" panose="020F0502020204030204" pitchFamily="34" charset="0"/>
                <a:ea typeface="Calibri" panose="020F0502020204030204" pitchFamily="34" charset="0"/>
                <a:cs typeface="Calibri" panose="020F0502020204030204" pitchFamily="34" charset="0"/>
              </a:rPr>
              <a:t>) Channeled Gate Array    (ii) Channel less Gate Array    (iii) Structured Gate Array</a:t>
            </a:r>
          </a:p>
        </p:txBody>
      </p:sp>
      <p:sp>
        <p:nvSpPr>
          <p:cNvPr id="11" name="TextBox 10">
            <a:extLst>
              <a:ext uri="{FF2B5EF4-FFF2-40B4-BE49-F238E27FC236}">
                <a16:creationId xmlns="" xmlns:a16="http://schemas.microsoft.com/office/drawing/2014/main" id="{3500DECB-2E45-5C24-C9A3-DB5C1AE06B16}"/>
              </a:ext>
            </a:extLst>
          </p:cNvPr>
          <p:cNvSpPr txBox="1"/>
          <p:nvPr/>
        </p:nvSpPr>
        <p:spPr>
          <a:xfrm>
            <a:off x="4132288" y="755589"/>
            <a:ext cx="5177796" cy="584775"/>
          </a:xfrm>
          <a:prstGeom prst="rect">
            <a:avLst/>
          </a:prstGeom>
          <a:noFill/>
        </p:spPr>
        <p:txBody>
          <a:bodyPr wrap="square" rtlCol="0">
            <a:spAutoFit/>
          </a:bodyPr>
          <a:lstStyle/>
          <a:p>
            <a:r>
              <a:rPr lang="en-US" sz="3200" b="1" dirty="0">
                <a:solidFill>
                  <a:srgbClr val="7030A0"/>
                </a:solidFill>
                <a:latin typeface="Calibri" panose="020F0502020204030204" pitchFamily="34" charset="0"/>
                <a:ea typeface="Calibri" panose="020F0502020204030204" pitchFamily="34" charset="0"/>
                <a:cs typeface="Calibri" panose="020F0502020204030204" pitchFamily="34" charset="0"/>
              </a:rPr>
              <a:t>Gate-Array-Based ASICs</a:t>
            </a:r>
            <a:endParaRPr lang="en-IN" sz="3200" b="1" dirty="0">
              <a:solidFill>
                <a:srgbClr val="7030A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331082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F76F9AD-09B0-ED22-A353-9FE64CEBC658}"/>
            </a:ext>
          </a:extLst>
        </p:cNvPr>
        <p:cNvGrpSpPr/>
        <p:nvPr/>
      </p:nvGrpSpPr>
      <p:grpSpPr>
        <a:xfrm>
          <a:off x="0" y="0"/>
          <a:ext cx="0" cy="0"/>
          <a:chOff x="0" y="0"/>
          <a:chExt cx="0" cy="0"/>
        </a:xfrm>
      </p:grpSpPr>
      <p:sp>
        <p:nvSpPr>
          <p:cNvPr id="9" name="Rounded Rectangle 17">
            <a:extLst>
              <a:ext uri="{FF2B5EF4-FFF2-40B4-BE49-F238E27FC236}">
                <a16:creationId xmlns="" xmlns:a16="http://schemas.microsoft.com/office/drawing/2014/main" id="{F7CD7F9A-7CE5-8971-1CCC-FBCAAE7175CC}"/>
              </a:ext>
            </a:extLst>
          </p:cNvPr>
          <p:cNvSpPr/>
          <p:nvPr/>
        </p:nvSpPr>
        <p:spPr>
          <a:xfrm>
            <a:off x="2078243" y="123556"/>
            <a:ext cx="8558656" cy="52958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2700" algn="ctr">
              <a:lnSpc>
                <a:spcPct val="100000"/>
              </a:lnSpc>
              <a:spcBef>
                <a:spcPts val="100"/>
              </a:spcBef>
            </a:pPr>
            <a:r>
              <a:rPr lang="en-US" sz="3600" spc="-5" dirty="0"/>
              <a:t>Types</a:t>
            </a:r>
            <a:r>
              <a:rPr lang="en-US" sz="3600" spc="-10" dirty="0"/>
              <a:t> of ASICs</a:t>
            </a:r>
            <a:endParaRPr lang="en-IN" sz="1400" b="1" spc="-50" dirty="0"/>
          </a:p>
        </p:txBody>
      </p:sp>
      <p:sp>
        <p:nvSpPr>
          <p:cNvPr id="10" name="object 3">
            <a:extLst>
              <a:ext uri="{FF2B5EF4-FFF2-40B4-BE49-F238E27FC236}">
                <a16:creationId xmlns="" xmlns:a16="http://schemas.microsoft.com/office/drawing/2014/main" id="{63680D39-69A8-6213-C3EE-AAC448A050F5}"/>
              </a:ext>
            </a:extLst>
          </p:cNvPr>
          <p:cNvSpPr txBox="1"/>
          <p:nvPr/>
        </p:nvSpPr>
        <p:spPr>
          <a:xfrm>
            <a:off x="151708" y="1299724"/>
            <a:ext cx="5690292" cy="2044149"/>
          </a:xfrm>
          <a:prstGeom prst="rect">
            <a:avLst/>
          </a:prstGeom>
        </p:spPr>
        <p:txBody>
          <a:bodyPr vert="horz" wrap="square" lIns="0" tIns="12700" rIns="0" bIns="0" rtlCol="0">
            <a:spAutoFit/>
          </a:bodyPr>
          <a:lstStyle/>
          <a:p>
            <a:pPr algn="ctr"/>
            <a:r>
              <a:rPr lang="en-US" sz="2200" b="1" dirty="0">
                <a:solidFill>
                  <a:srgbClr val="00B0F0"/>
                </a:solidFill>
                <a:latin typeface="Calibri" panose="020F0502020204030204" pitchFamily="34" charset="0"/>
                <a:ea typeface="Calibri" panose="020F0502020204030204" pitchFamily="34" charset="0"/>
                <a:cs typeface="Calibri" panose="020F0502020204030204" pitchFamily="34" charset="0"/>
              </a:rPr>
              <a:t>Channel Gate Array</a:t>
            </a:r>
          </a:p>
          <a:p>
            <a:pPr marL="457200" indent="-457200" algn="just">
              <a:buFont typeface="Wingdings" panose="05000000000000000000" pitchFamily="2" charset="2"/>
              <a:buChar char="Ø"/>
            </a:pPr>
            <a:r>
              <a:rPr lang="en-US" sz="2200" dirty="0">
                <a:latin typeface="Calibri" panose="020F0502020204030204" pitchFamily="34" charset="0"/>
                <a:ea typeface="Calibri" panose="020F0502020204030204" pitchFamily="34" charset="0"/>
                <a:cs typeface="Calibri" panose="020F0502020204030204" pitchFamily="34" charset="0"/>
              </a:rPr>
              <a:t>Only the interconnect is customized.</a:t>
            </a:r>
          </a:p>
          <a:p>
            <a:pPr marL="457200" indent="-457200" algn="just">
              <a:buFont typeface="Wingdings" panose="05000000000000000000" pitchFamily="2" charset="2"/>
              <a:buChar char="Ø"/>
            </a:pPr>
            <a:r>
              <a:rPr lang="en-US" sz="2200" dirty="0">
                <a:latin typeface="Calibri" panose="020F0502020204030204" pitchFamily="34" charset="0"/>
                <a:ea typeface="Calibri" panose="020F0502020204030204" pitchFamily="34" charset="0"/>
                <a:cs typeface="Calibri" panose="020F0502020204030204" pitchFamily="34" charset="0"/>
              </a:rPr>
              <a:t>The interconnect uses predefined spaces between rows of base cells.</a:t>
            </a:r>
          </a:p>
          <a:p>
            <a:pPr marL="457200" indent="-457200" algn="just">
              <a:buFont typeface="Wingdings" panose="05000000000000000000" pitchFamily="2" charset="2"/>
              <a:buChar char="Ø"/>
            </a:pPr>
            <a:r>
              <a:rPr lang="en-US" sz="2200" dirty="0">
                <a:latin typeface="Calibri" panose="020F0502020204030204" pitchFamily="34" charset="0"/>
                <a:ea typeface="Calibri" panose="020F0502020204030204" pitchFamily="34" charset="0"/>
                <a:cs typeface="Calibri" panose="020F0502020204030204" pitchFamily="34" charset="0"/>
              </a:rPr>
              <a:t>Manufacturing lead time is between two days and two weeks.</a:t>
            </a:r>
          </a:p>
        </p:txBody>
      </p:sp>
      <p:sp>
        <p:nvSpPr>
          <p:cNvPr id="11" name="TextBox 10">
            <a:extLst>
              <a:ext uri="{FF2B5EF4-FFF2-40B4-BE49-F238E27FC236}">
                <a16:creationId xmlns="" xmlns:a16="http://schemas.microsoft.com/office/drawing/2014/main" id="{1BDDAEA7-CFCE-5C5E-2AC6-A44EE92298F0}"/>
              </a:ext>
            </a:extLst>
          </p:cNvPr>
          <p:cNvSpPr txBox="1"/>
          <p:nvPr/>
        </p:nvSpPr>
        <p:spPr>
          <a:xfrm>
            <a:off x="4132288" y="755589"/>
            <a:ext cx="5177796" cy="584775"/>
          </a:xfrm>
          <a:prstGeom prst="rect">
            <a:avLst/>
          </a:prstGeom>
          <a:noFill/>
        </p:spPr>
        <p:txBody>
          <a:bodyPr wrap="square" rtlCol="0">
            <a:spAutoFit/>
          </a:bodyPr>
          <a:lstStyle/>
          <a:p>
            <a:r>
              <a:rPr lang="en-US" sz="3200" b="1" dirty="0">
                <a:solidFill>
                  <a:srgbClr val="7030A0"/>
                </a:solidFill>
                <a:latin typeface="Calibri" panose="020F0502020204030204" pitchFamily="34" charset="0"/>
                <a:ea typeface="Calibri" panose="020F0502020204030204" pitchFamily="34" charset="0"/>
                <a:cs typeface="Calibri" panose="020F0502020204030204" pitchFamily="34" charset="0"/>
              </a:rPr>
              <a:t>Gate-Array-Based ASICs</a:t>
            </a:r>
            <a:endParaRPr lang="en-IN" sz="3200" b="1" dirty="0">
              <a:solidFill>
                <a:srgbClr val="7030A0"/>
              </a:solidFill>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a:extLst>
              <a:ext uri="{FF2B5EF4-FFF2-40B4-BE49-F238E27FC236}">
                <a16:creationId xmlns="" xmlns:a16="http://schemas.microsoft.com/office/drawing/2014/main" id="{070B14AA-A3DD-65E8-0060-E575DC3F2B0D}"/>
              </a:ext>
            </a:extLst>
          </p:cNvPr>
          <p:cNvPicPr>
            <a:picLocks noChangeAspect="1"/>
          </p:cNvPicPr>
          <p:nvPr/>
        </p:nvPicPr>
        <p:blipFill>
          <a:blip r:embed="rId2"/>
          <a:stretch>
            <a:fillRect/>
          </a:stretch>
        </p:blipFill>
        <p:spPr>
          <a:xfrm>
            <a:off x="160112" y="3302068"/>
            <a:ext cx="2768416" cy="2814252"/>
          </a:xfrm>
          <a:prstGeom prst="rect">
            <a:avLst/>
          </a:prstGeom>
        </p:spPr>
      </p:pic>
      <p:pic>
        <p:nvPicPr>
          <p:cNvPr id="5" name="Picture 4">
            <a:extLst>
              <a:ext uri="{FF2B5EF4-FFF2-40B4-BE49-F238E27FC236}">
                <a16:creationId xmlns="" xmlns:a16="http://schemas.microsoft.com/office/drawing/2014/main" id="{F94ABFD0-D6D9-C237-BF39-12881956A9DD}"/>
              </a:ext>
            </a:extLst>
          </p:cNvPr>
          <p:cNvPicPr>
            <a:picLocks noChangeAspect="1"/>
          </p:cNvPicPr>
          <p:nvPr/>
        </p:nvPicPr>
        <p:blipFill>
          <a:blip r:embed="rId3"/>
          <a:stretch>
            <a:fillRect/>
          </a:stretch>
        </p:blipFill>
        <p:spPr>
          <a:xfrm>
            <a:off x="9578035" y="3687931"/>
            <a:ext cx="2453853" cy="2453853"/>
          </a:xfrm>
          <a:prstGeom prst="rect">
            <a:avLst/>
          </a:prstGeom>
        </p:spPr>
      </p:pic>
      <p:sp>
        <p:nvSpPr>
          <p:cNvPr id="7" name="TextBox 6">
            <a:extLst>
              <a:ext uri="{FF2B5EF4-FFF2-40B4-BE49-F238E27FC236}">
                <a16:creationId xmlns="" xmlns:a16="http://schemas.microsoft.com/office/drawing/2014/main" id="{D45A53B5-5305-64EF-D797-3340E175F251}"/>
              </a:ext>
            </a:extLst>
          </p:cNvPr>
          <p:cNvSpPr txBox="1"/>
          <p:nvPr/>
        </p:nvSpPr>
        <p:spPr>
          <a:xfrm>
            <a:off x="6113221" y="1256527"/>
            <a:ext cx="6150591" cy="2800767"/>
          </a:xfrm>
          <a:prstGeom prst="rect">
            <a:avLst/>
          </a:prstGeom>
          <a:noFill/>
        </p:spPr>
        <p:txBody>
          <a:bodyPr wrap="square">
            <a:spAutoFit/>
          </a:bodyPr>
          <a:lstStyle/>
          <a:p>
            <a:pPr algn="ctr"/>
            <a:r>
              <a:rPr lang="en-IN" sz="2200" b="1" dirty="0">
                <a:latin typeface="Calibri" panose="020F0502020204030204" pitchFamily="34" charset="0"/>
                <a:ea typeface="Calibri" panose="020F0502020204030204" pitchFamily="34" charset="0"/>
                <a:cs typeface="Calibri" panose="020F0502020204030204" pitchFamily="34" charset="0"/>
              </a:rPr>
              <a:t>Channel less Gate Array</a:t>
            </a:r>
          </a:p>
          <a:p>
            <a:pPr marL="342900" indent="-342900">
              <a:buFont typeface="Wingdings" panose="05000000000000000000" pitchFamily="2" charset="2"/>
              <a:buChar char="Ø"/>
            </a:pPr>
            <a:r>
              <a:rPr lang="en-IN" sz="2200" dirty="0">
                <a:latin typeface="Calibri" panose="020F0502020204030204" pitchFamily="34" charset="0"/>
                <a:ea typeface="Calibri" panose="020F0502020204030204" pitchFamily="34" charset="0"/>
                <a:cs typeface="Calibri" panose="020F0502020204030204" pitchFamily="34" charset="0"/>
              </a:rPr>
              <a:t>There are no predefined areas set aside for routing-routing is over the top of the gate-array devices.</a:t>
            </a:r>
          </a:p>
          <a:p>
            <a:pPr marL="342900" indent="-342900">
              <a:buFont typeface="Wingdings" panose="05000000000000000000" pitchFamily="2" charset="2"/>
              <a:buChar char="Ø"/>
            </a:pPr>
            <a:r>
              <a:rPr lang="en-IN" sz="2200" dirty="0">
                <a:latin typeface="Calibri" panose="020F0502020204030204" pitchFamily="34" charset="0"/>
                <a:ea typeface="Calibri" panose="020F0502020204030204" pitchFamily="34" charset="0"/>
                <a:cs typeface="Calibri" panose="020F0502020204030204" pitchFamily="34" charset="0"/>
              </a:rPr>
              <a:t>Achievable logic density is higher than for </a:t>
            </a:r>
            <a:r>
              <a:rPr lang="en-IN" sz="2200" dirty="0" err="1">
                <a:latin typeface="Calibri" panose="020F0502020204030204" pitchFamily="34" charset="0"/>
                <a:ea typeface="Calibri" panose="020F0502020204030204" pitchFamily="34" charset="0"/>
                <a:cs typeface="Calibri" panose="020F0502020204030204" pitchFamily="34" charset="0"/>
              </a:rPr>
              <a:t>channeled</a:t>
            </a:r>
            <a:r>
              <a:rPr lang="en-IN" sz="2200" dirty="0">
                <a:latin typeface="Calibri" panose="020F0502020204030204" pitchFamily="34" charset="0"/>
                <a:ea typeface="Calibri" panose="020F0502020204030204" pitchFamily="34" charset="0"/>
                <a:cs typeface="Calibri" panose="020F0502020204030204" pitchFamily="34" charset="0"/>
              </a:rPr>
              <a:t> gate arrays.</a:t>
            </a:r>
          </a:p>
          <a:p>
            <a:pPr marL="342900" indent="-342900">
              <a:buFont typeface="Wingdings" panose="05000000000000000000" pitchFamily="2" charset="2"/>
              <a:buChar char="Ø"/>
            </a:pPr>
            <a:r>
              <a:rPr lang="en-IN" sz="2200" dirty="0">
                <a:latin typeface="Calibri" panose="020F0502020204030204" pitchFamily="34" charset="0"/>
                <a:ea typeface="Calibri" panose="020F0502020204030204" pitchFamily="34" charset="0"/>
                <a:cs typeface="Calibri" panose="020F0502020204030204" pitchFamily="34" charset="0"/>
              </a:rPr>
              <a:t>Manufacturing lead time is between two days and two weeks.</a:t>
            </a:r>
          </a:p>
        </p:txBody>
      </p:sp>
      <p:cxnSp>
        <p:nvCxnSpPr>
          <p:cNvPr id="8" name="Straight Connector 7">
            <a:extLst>
              <a:ext uri="{FF2B5EF4-FFF2-40B4-BE49-F238E27FC236}">
                <a16:creationId xmlns="" xmlns:a16="http://schemas.microsoft.com/office/drawing/2014/main" id="{272B8DA0-2861-68C4-0E77-7B784BDE1215}"/>
              </a:ext>
            </a:extLst>
          </p:cNvPr>
          <p:cNvCxnSpPr>
            <a:cxnSpLocks/>
          </p:cNvCxnSpPr>
          <p:nvPr/>
        </p:nvCxnSpPr>
        <p:spPr>
          <a:xfrm>
            <a:off x="5977610" y="1340364"/>
            <a:ext cx="0" cy="4756094"/>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sp>
        <p:nvSpPr>
          <p:cNvPr id="12" name="object 3">
            <a:extLst>
              <a:ext uri="{FF2B5EF4-FFF2-40B4-BE49-F238E27FC236}">
                <a16:creationId xmlns="" xmlns:a16="http://schemas.microsoft.com/office/drawing/2014/main" id="{44B20262-2CD5-2321-A85C-163DFDA9752B}"/>
              </a:ext>
            </a:extLst>
          </p:cNvPr>
          <p:cNvSpPr txBox="1"/>
          <p:nvPr/>
        </p:nvSpPr>
        <p:spPr>
          <a:xfrm>
            <a:off x="3209733" y="4520132"/>
            <a:ext cx="2697584" cy="579646"/>
          </a:xfrm>
          <a:prstGeom prst="rect">
            <a:avLst/>
          </a:prstGeom>
        </p:spPr>
        <p:txBody>
          <a:bodyPr vert="horz" wrap="square" lIns="0" tIns="12700" rIns="0" bIns="0" rtlCol="0">
            <a:spAutoFit/>
          </a:bodyPr>
          <a:lstStyle/>
          <a:p>
            <a:pPr marL="12065" marR="5080" algn="ctr">
              <a:lnSpc>
                <a:spcPct val="100000"/>
              </a:lnSpc>
              <a:spcBef>
                <a:spcPts val="100"/>
              </a:spcBef>
              <a:tabLst>
                <a:tab pos="356870" algn="l"/>
              </a:tabLst>
            </a:pPr>
            <a:r>
              <a:rPr lang="en-US" dirty="0">
                <a:latin typeface="Calibri" panose="020F0502020204030204" pitchFamily="34" charset="0"/>
                <a:ea typeface="Calibri" panose="020F0502020204030204" pitchFamily="34" charset="0"/>
                <a:cs typeface="Calibri" panose="020F0502020204030204" pitchFamily="34" charset="0"/>
              </a:rPr>
              <a:t>Fig. Channel Gate-Array die</a:t>
            </a:r>
          </a:p>
          <a:p>
            <a:pPr marL="12065" marR="5080" algn="ctr">
              <a:lnSpc>
                <a:spcPct val="100000"/>
              </a:lnSpc>
              <a:spcBef>
                <a:spcPts val="100"/>
              </a:spcBef>
              <a:tabLst>
                <a:tab pos="356870" algn="l"/>
              </a:tabLst>
            </a:pP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13" name="object 3">
            <a:extLst>
              <a:ext uri="{FF2B5EF4-FFF2-40B4-BE49-F238E27FC236}">
                <a16:creationId xmlns="" xmlns:a16="http://schemas.microsoft.com/office/drawing/2014/main" id="{8EE5457B-5695-22A2-5BDD-6E71FE6340F0}"/>
              </a:ext>
            </a:extLst>
          </p:cNvPr>
          <p:cNvSpPr txBox="1"/>
          <p:nvPr/>
        </p:nvSpPr>
        <p:spPr>
          <a:xfrm>
            <a:off x="5896119" y="5233553"/>
            <a:ext cx="3626063" cy="579646"/>
          </a:xfrm>
          <a:prstGeom prst="rect">
            <a:avLst/>
          </a:prstGeom>
        </p:spPr>
        <p:txBody>
          <a:bodyPr vert="horz" wrap="square" lIns="0" tIns="12700" rIns="0" bIns="0" rtlCol="0">
            <a:spAutoFit/>
          </a:bodyPr>
          <a:lstStyle/>
          <a:p>
            <a:pPr marL="12065" marR="5080" algn="ctr">
              <a:lnSpc>
                <a:spcPct val="100000"/>
              </a:lnSpc>
              <a:spcBef>
                <a:spcPts val="100"/>
              </a:spcBef>
              <a:tabLst>
                <a:tab pos="356870" algn="l"/>
              </a:tabLst>
            </a:pPr>
            <a:r>
              <a:rPr lang="en-US" dirty="0">
                <a:latin typeface="Calibri" panose="020F0502020204030204" pitchFamily="34" charset="0"/>
                <a:ea typeface="Calibri" panose="020F0502020204030204" pitchFamily="34" charset="0"/>
                <a:cs typeface="Calibri" panose="020F0502020204030204" pitchFamily="34" charset="0"/>
              </a:rPr>
              <a:t>Fig. Sea-Of-Gates (SOG) array die</a:t>
            </a:r>
          </a:p>
          <a:p>
            <a:pPr marL="12065" marR="5080" algn="ctr">
              <a:lnSpc>
                <a:spcPct val="100000"/>
              </a:lnSpc>
              <a:spcBef>
                <a:spcPts val="100"/>
              </a:spcBef>
              <a:tabLst>
                <a:tab pos="356870" algn="l"/>
              </a:tabLst>
            </a:pPr>
            <a:endParaRPr lang="en-US" dirty="0">
              <a:latin typeface="Calibri" panose="020F0502020204030204" pitchFamily="34" charset="0"/>
              <a:ea typeface="Calibri" panose="020F0502020204030204" pitchFamily="34" charset="0"/>
              <a:cs typeface="Calibri" panose="020F0502020204030204" pitchFamily="34" charset="0"/>
            </a:endParaRPr>
          </a:p>
        </p:txBody>
      </p:sp>
      <p:cxnSp>
        <p:nvCxnSpPr>
          <p:cNvPr id="15" name="Straight Arrow Connector 14">
            <a:extLst>
              <a:ext uri="{FF2B5EF4-FFF2-40B4-BE49-F238E27FC236}">
                <a16:creationId xmlns="" xmlns:a16="http://schemas.microsoft.com/office/drawing/2014/main" id="{0706FF42-5E2C-EE6D-CDD5-AAB0DDD8DEF7}"/>
              </a:ext>
            </a:extLst>
          </p:cNvPr>
          <p:cNvCxnSpPr/>
          <p:nvPr/>
        </p:nvCxnSpPr>
        <p:spPr>
          <a:xfrm>
            <a:off x="2996854" y="4189445"/>
            <a:ext cx="520787" cy="33068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 xmlns:a16="http://schemas.microsoft.com/office/drawing/2014/main" id="{DB791D13-A9FE-98F5-976A-0880FEFD5D4C}"/>
              </a:ext>
            </a:extLst>
          </p:cNvPr>
          <p:cNvCxnSpPr>
            <a:cxnSpLocks/>
          </p:cNvCxnSpPr>
          <p:nvPr/>
        </p:nvCxnSpPr>
        <p:spPr>
          <a:xfrm flipH="1">
            <a:off x="8733453" y="4558232"/>
            <a:ext cx="844582" cy="67532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1386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2FAEAF-1617-5A7D-2808-D56EB3C923D2}"/>
            </a:ext>
          </a:extLst>
        </p:cNvPr>
        <p:cNvGrpSpPr/>
        <p:nvPr/>
      </p:nvGrpSpPr>
      <p:grpSpPr>
        <a:xfrm>
          <a:off x="0" y="0"/>
          <a:ext cx="0" cy="0"/>
          <a:chOff x="0" y="0"/>
          <a:chExt cx="0" cy="0"/>
        </a:xfrm>
      </p:grpSpPr>
      <p:sp>
        <p:nvSpPr>
          <p:cNvPr id="9" name="Rounded Rectangle 17">
            <a:extLst>
              <a:ext uri="{FF2B5EF4-FFF2-40B4-BE49-F238E27FC236}">
                <a16:creationId xmlns="" xmlns:a16="http://schemas.microsoft.com/office/drawing/2014/main" id="{54E36273-0FAC-BDBD-1D1C-A518C5F946DF}"/>
              </a:ext>
            </a:extLst>
          </p:cNvPr>
          <p:cNvSpPr/>
          <p:nvPr/>
        </p:nvSpPr>
        <p:spPr>
          <a:xfrm>
            <a:off x="2078243" y="123556"/>
            <a:ext cx="8558656" cy="52958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2700" algn="ctr">
              <a:lnSpc>
                <a:spcPct val="100000"/>
              </a:lnSpc>
              <a:spcBef>
                <a:spcPts val="100"/>
              </a:spcBef>
            </a:pPr>
            <a:r>
              <a:rPr lang="en-US" sz="3600" spc="-5" dirty="0"/>
              <a:t>Types</a:t>
            </a:r>
            <a:r>
              <a:rPr lang="en-US" sz="3600" spc="-10" dirty="0"/>
              <a:t> of ASICs</a:t>
            </a:r>
            <a:endParaRPr lang="en-IN" sz="1400" b="1" spc="-50" dirty="0"/>
          </a:p>
        </p:txBody>
      </p:sp>
      <p:sp>
        <p:nvSpPr>
          <p:cNvPr id="10" name="object 3">
            <a:extLst>
              <a:ext uri="{FF2B5EF4-FFF2-40B4-BE49-F238E27FC236}">
                <a16:creationId xmlns="" xmlns:a16="http://schemas.microsoft.com/office/drawing/2014/main" id="{74D26294-192E-7E41-F48A-504958B31885}"/>
              </a:ext>
            </a:extLst>
          </p:cNvPr>
          <p:cNvSpPr txBox="1"/>
          <p:nvPr/>
        </p:nvSpPr>
        <p:spPr>
          <a:xfrm>
            <a:off x="160112" y="1553493"/>
            <a:ext cx="5690292" cy="3367589"/>
          </a:xfrm>
          <a:prstGeom prst="rect">
            <a:avLst/>
          </a:prstGeom>
        </p:spPr>
        <p:txBody>
          <a:bodyPr vert="horz" wrap="square" lIns="0" tIns="12700" rIns="0" bIns="0" rtlCol="0">
            <a:spAutoFit/>
          </a:bodyPr>
          <a:lstStyle/>
          <a:p>
            <a:pPr algn="ctr"/>
            <a:r>
              <a:rPr lang="en-US" sz="2200" b="1" dirty="0">
                <a:solidFill>
                  <a:srgbClr val="00B0F0"/>
                </a:solidFill>
                <a:latin typeface="Calibri" panose="020F0502020204030204" pitchFamily="34" charset="0"/>
                <a:ea typeface="Calibri" panose="020F0502020204030204" pitchFamily="34" charset="0"/>
                <a:cs typeface="Calibri" panose="020F0502020204030204" pitchFamily="34" charset="0"/>
              </a:rPr>
              <a:t>Structured Gate Array</a:t>
            </a:r>
          </a:p>
          <a:p>
            <a:pPr marL="457200" indent="-457200" algn="just">
              <a:buFont typeface="Wingdings" panose="05000000000000000000" pitchFamily="2" charset="2"/>
              <a:buChar char="Ø"/>
            </a:pPr>
            <a:r>
              <a:rPr lang="en-US" sz="2200" dirty="0">
                <a:latin typeface="Calibri" panose="020F0502020204030204" pitchFamily="34" charset="0"/>
                <a:ea typeface="Calibri" panose="020F0502020204030204" pitchFamily="34" charset="0"/>
                <a:cs typeface="Calibri" panose="020F0502020204030204" pitchFamily="34" charset="0"/>
              </a:rPr>
              <a:t>Only the interconnect is customized.</a:t>
            </a:r>
          </a:p>
          <a:p>
            <a:pPr marL="457200" indent="-457200" algn="just">
              <a:buFont typeface="Wingdings" panose="05000000000000000000" pitchFamily="2" charset="2"/>
              <a:buChar char="Ø"/>
            </a:pPr>
            <a:endParaRPr lang="en-US" sz="1000" dirty="0">
              <a:latin typeface="Calibri" panose="020F0502020204030204" pitchFamily="34" charset="0"/>
              <a:ea typeface="Calibri" panose="020F0502020204030204" pitchFamily="34" charset="0"/>
              <a:cs typeface="Calibri" panose="020F0502020204030204" pitchFamily="34" charset="0"/>
            </a:endParaRPr>
          </a:p>
          <a:p>
            <a:pPr marL="457200" indent="-457200" algn="just">
              <a:buFont typeface="Wingdings" panose="05000000000000000000" pitchFamily="2" charset="2"/>
              <a:buChar char="Ø"/>
            </a:pPr>
            <a:r>
              <a:rPr lang="en-US" sz="2200" dirty="0">
                <a:latin typeface="Calibri" panose="020F0502020204030204" pitchFamily="34" charset="0"/>
                <a:ea typeface="Calibri" panose="020F0502020204030204" pitchFamily="34" charset="0"/>
                <a:cs typeface="Calibri" panose="020F0502020204030204" pitchFamily="34" charset="0"/>
              </a:rPr>
              <a:t>Custom blocks (the same for each design) can be embedded.</a:t>
            </a:r>
          </a:p>
          <a:p>
            <a:pPr algn="just"/>
            <a:r>
              <a:rPr lang="en-US" sz="2200" dirty="0">
                <a:latin typeface="Calibri" panose="020F0502020204030204" pitchFamily="34" charset="0"/>
                <a:ea typeface="Calibri" panose="020F0502020204030204" pitchFamily="34" charset="0"/>
                <a:cs typeface="Calibri" panose="020F0502020204030204" pitchFamily="34" charset="0"/>
              </a:rPr>
              <a:t>	</a:t>
            </a:r>
            <a:r>
              <a:rPr lang="en-US" dirty="0">
                <a:latin typeface="Calibri" panose="020F0502020204030204" pitchFamily="34" charset="0"/>
                <a:ea typeface="Calibri" panose="020F0502020204030204" pitchFamily="34" charset="0"/>
                <a:cs typeface="Calibri" panose="020F0502020204030204" pitchFamily="34" charset="0"/>
              </a:rPr>
              <a:t>These can be complete blocks such as a processor or memory array or An array of different base cells better suited to implementing a specific function.</a:t>
            </a:r>
          </a:p>
          <a:p>
            <a:pPr algn="just"/>
            <a:endParaRPr lang="en-US" sz="1000" dirty="0">
              <a:latin typeface="Calibri" panose="020F0502020204030204" pitchFamily="34" charset="0"/>
              <a:ea typeface="Calibri" panose="020F0502020204030204" pitchFamily="34" charset="0"/>
              <a:cs typeface="Calibri" panose="020F0502020204030204" pitchFamily="34" charset="0"/>
            </a:endParaRPr>
          </a:p>
          <a:p>
            <a:pPr marL="457200" indent="-457200" algn="just">
              <a:buFont typeface="Wingdings" panose="05000000000000000000" pitchFamily="2" charset="2"/>
              <a:buChar char="Ø"/>
            </a:pPr>
            <a:r>
              <a:rPr lang="en-US" sz="2200" dirty="0">
                <a:latin typeface="Calibri" panose="020F0502020204030204" pitchFamily="34" charset="0"/>
                <a:ea typeface="Calibri" panose="020F0502020204030204" pitchFamily="34" charset="0"/>
                <a:cs typeface="Calibri" panose="020F0502020204030204" pitchFamily="34" charset="0"/>
              </a:rPr>
              <a:t>Manufacturing lead time is between two days and two weeks.</a:t>
            </a:r>
          </a:p>
        </p:txBody>
      </p:sp>
      <p:sp>
        <p:nvSpPr>
          <p:cNvPr id="11" name="TextBox 10">
            <a:extLst>
              <a:ext uri="{FF2B5EF4-FFF2-40B4-BE49-F238E27FC236}">
                <a16:creationId xmlns="" xmlns:a16="http://schemas.microsoft.com/office/drawing/2014/main" id="{B7712B83-9AA0-02CC-9923-081603E53711}"/>
              </a:ext>
            </a:extLst>
          </p:cNvPr>
          <p:cNvSpPr txBox="1"/>
          <p:nvPr/>
        </p:nvSpPr>
        <p:spPr>
          <a:xfrm>
            <a:off x="4132288" y="755589"/>
            <a:ext cx="5177796" cy="584775"/>
          </a:xfrm>
          <a:prstGeom prst="rect">
            <a:avLst/>
          </a:prstGeom>
          <a:noFill/>
        </p:spPr>
        <p:txBody>
          <a:bodyPr wrap="square" rtlCol="0">
            <a:spAutoFit/>
          </a:bodyPr>
          <a:lstStyle/>
          <a:p>
            <a:r>
              <a:rPr lang="en-US" sz="3200" b="1" dirty="0">
                <a:solidFill>
                  <a:srgbClr val="7030A0"/>
                </a:solidFill>
                <a:latin typeface="Calibri" panose="020F0502020204030204" pitchFamily="34" charset="0"/>
                <a:ea typeface="Calibri" panose="020F0502020204030204" pitchFamily="34" charset="0"/>
                <a:cs typeface="Calibri" panose="020F0502020204030204" pitchFamily="34" charset="0"/>
              </a:rPr>
              <a:t>Gate-Array-Based ASICs</a:t>
            </a:r>
            <a:endParaRPr lang="en-IN" sz="3200" b="1" dirty="0">
              <a:solidFill>
                <a:srgbClr val="7030A0"/>
              </a:solidFill>
              <a:latin typeface="Calibri" panose="020F0502020204030204" pitchFamily="34" charset="0"/>
              <a:ea typeface="Calibri" panose="020F0502020204030204" pitchFamily="34" charset="0"/>
              <a:cs typeface="Calibri" panose="020F0502020204030204" pitchFamily="34" charset="0"/>
            </a:endParaRPr>
          </a:p>
        </p:txBody>
      </p:sp>
      <p:sp>
        <p:nvSpPr>
          <p:cNvPr id="13" name="object 3">
            <a:extLst>
              <a:ext uri="{FF2B5EF4-FFF2-40B4-BE49-F238E27FC236}">
                <a16:creationId xmlns="" xmlns:a16="http://schemas.microsoft.com/office/drawing/2014/main" id="{3B652B55-4E90-6376-A56C-4D2EE25FD5F7}"/>
              </a:ext>
            </a:extLst>
          </p:cNvPr>
          <p:cNvSpPr txBox="1"/>
          <p:nvPr/>
        </p:nvSpPr>
        <p:spPr>
          <a:xfrm>
            <a:off x="6802014" y="5180842"/>
            <a:ext cx="4314878" cy="579646"/>
          </a:xfrm>
          <a:prstGeom prst="rect">
            <a:avLst/>
          </a:prstGeom>
        </p:spPr>
        <p:txBody>
          <a:bodyPr vert="horz" wrap="square" lIns="0" tIns="12700" rIns="0" bIns="0" rtlCol="0">
            <a:spAutoFit/>
          </a:bodyPr>
          <a:lstStyle/>
          <a:p>
            <a:pPr marL="12065" marR="5080" algn="ctr">
              <a:lnSpc>
                <a:spcPct val="100000"/>
              </a:lnSpc>
              <a:spcBef>
                <a:spcPts val="100"/>
              </a:spcBef>
              <a:tabLst>
                <a:tab pos="356870" algn="l"/>
              </a:tabLst>
            </a:pPr>
            <a:r>
              <a:rPr lang="en-US" dirty="0">
                <a:latin typeface="Calibri" panose="020F0502020204030204" pitchFamily="34" charset="0"/>
                <a:ea typeface="Calibri" panose="020F0502020204030204" pitchFamily="34" charset="0"/>
                <a:cs typeface="Calibri" panose="020F0502020204030204" pitchFamily="34" charset="0"/>
              </a:rPr>
              <a:t>Fig. Gate array die with embedded block</a:t>
            </a:r>
          </a:p>
          <a:p>
            <a:pPr marL="12065" marR="5080" algn="ctr">
              <a:lnSpc>
                <a:spcPct val="100000"/>
              </a:lnSpc>
              <a:spcBef>
                <a:spcPts val="100"/>
              </a:spcBef>
              <a:tabLst>
                <a:tab pos="356870" algn="l"/>
              </a:tabLst>
            </a:pPr>
            <a:endParaRPr lang="en-US" dirty="0">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 xmlns:a16="http://schemas.microsoft.com/office/drawing/2014/main" id="{AA63A52D-3CE4-A7CD-4029-3E377046737D}"/>
              </a:ext>
            </a:extLst>
          </p:cNvPr>
          <p:cNvPicPr>
            <a:picLocks noChangeAspect="1"/>
          </p:cNvPicPr>
          <p:nvPr/>
        </p:nvPicPr>
        <p:blipFill>
          <a:blip r:embed="rId2"/>
          <a:stretch>
            <a:fillRect/>
          </a:stretch>
        </p:blipFill>
        <p:spPr>
          <a:xfrm>
            <a:off x="6698152" y="1580388"/>
            <a:ext cx="4254762" cy="3373250"/>
          </a:xfrm>
          <a:prstGeom prst="rect">
            <a:avLst/>
          </a:prstGeom>
        </p:spPr>
      </p:pic>
    </p:spTree>
    <p:extLst>
      <p:ext uri="{BB962C8B-B14F-4D97-AF65-F5344CB8AC3E}">
        <p14:creationId xmlns:p14="http://schemas.microsoft.com/office/powerpoint/2010/main" val="3244418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BBD25F1-0480-EADF-316B-33BD3DF4FC81}"/>
            </a:ext>
          </a:extLst>
        </p:cNvPr>
        <p:cNvGrpSpPr/>
        <p:nvPr/>
      </p:nvGrpSpPr>
      <p:grpSpPr>
        <a:xfrm>
          <a:off x="0" y="0"/>
          <a:ext cx="0" cy="0"/>
          <a:chOff x="0" y="0"/>
          <a:chExt cx="0" cy="0"/>
        </a:xfrm>
      </p:grpSpPr>
      <p:sp>
        <p:nvSpPr>
          <p:cNvPr id="9" name="Rounded Rectangle 17">
            <a:extLst>
              <a:ext uri="{FF2B5EF4-FFF2-40B4-BE49-F238E27FC236}">
                <a16:creationId xmlns="" xmlns:a16="http://schemas.microsoft.com/office/drawing/2014/main" id="{D2434451-5C18-41B6-B9DB-C83035BB1513}"/>
              </a:ext>
            </a:extLst>
          </p:cNvPr>
          <p:cNvSpPr/>
          <p:nvPr/>
        </p:nvSpPr>
        <p:spPr>
          <a:xfrm>
            <a:off x="2078243" y="123556"/>
            <a:ext cx="8558656" cy="52958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2700" algn="ctr">
              <a:lnSpc>
                <a:spcPct val="100000"/>
              </a:lnSpc>
              <a:spcBef>
                <a:spcPts val="100"/>
              </a:spcBef>
            </a:pPr>
            <a:r>
              <a:rPr lang="en-US" sz="3600" spc="-5" dirty="0"/>
              <a:t>Types</a:t>
            </a:r>
            <a:r>
              <a:rPr lang="en-US" sz="3600" spc="-10" dirty="0"/>
              <a:t> of ASICs</a:t>
            </a:r>
            <a:endParaRPr lang="en-IN" sz="1400" b="1" spc="-50" dirty="0"/>
          </a:p>
        </p:txBody>
      </p:sp>
      <p:sp>
        <p:nvSpPr>
          <p:cNvPr id="10" name="object 3">
            <a:extLst>
              <a:ext uri="{FF2B5EF4-FFF2-40B4-BE49-F238E27FC236}">
                <a16:creationId xmlns="" xmlns:a16="http://schemas.microsoft.com/office/drawing/2014/main" id="{0C31F570-C6CC-8CF6-1327-DC0875479A23}"/>
              </a:ext>
            </a:extLst>
          </p:cNvPr>
          <p:cNvSpPr txBox="1"/>
          <p:nvPr/>
        </p:nvSpPr>
        <p:spPr>
          <a:xfrm>
            <a:off x="149974" y="1671016"/>
            <a:ext cx="5690292" cy="3736920"/>
          </a:xfrm>
          <a:prstGeom prst="rect">
            <a:avLst/>
          </a:prstGeom>
        </p:spPr>
        <p:txBody>
          <a:bodyPr vert="horz" wrap="square" lIns="0" tIns="12700" rIns="0" bIns="0" rtlCol="0">
            <a:spAutoFit/>
          </a:bodyPr>
          <a:lstStyle/>
          <a:p>
            <a:pPr algn="ctr"/>
            <a:r>
              <a:rPr lang="en-US" sz="2200" b="1" dirty="0">
                <a:solidFill>
                  <a:srgbClr val="00B0F0"/>
                </a:solidFill>
                <a:latin typeface="Calibri" panose="020F0502020204030204" pitchFamily="34" charset="0"/>
                <a:ea typeface="Calibri" panose="020F0502020204030204" pitchFamily="34" charset="0"/>
                <a:cs typeface="Calibri" panose="020F0502020204030204" pitchFamily="34" charset="0"/>
              </a:rPr>
              <a:t>Programmable Logic Devices</a:t>
            </a:r>
          </a:p>
          <a:p>
            <a:pPr marL="457200" indent="-457200" algn="just">
              <a:buFont typeface="Wingdings" panose="05000000000000000000" pitchFamily="2" charset="2"/>
              <a:buChar char="Ø"/>
            </a:pPr>
            <a:r>
              <a:rPr lang="en-US" sz="2200" dirty="0">
                <a:latin typeface="Calibri" panose="020F0502020204030204" pitchFamily="34" charset="0"/>
                <a:ea typeface="Calibri" panose="020F0502020204030204" pitchFamily="34" charset="0"/>
                <a:cs typeface="Calibri" panose="020F0502020204030204" pitchFamily="34" charset="0"/>
              </a:rPr>
              <a:t>No customized mask layers or logic cells</a:t>
            </a:r>
          </a:p>
          <a:p>
            <a:pPr marL="457200" indent="-457200" algn="just">
              <a:buFont typeface="Wingdings" panose="05000000000000000000" pitchFamily="2" charset="2"/>
              <a:buChar char="Ø"/>
            </a:pPr>
            <a:r>
              <a:rPr lang="en-US" sz="2200" dirty="0">
                <a:latin typeface="Calibri" panose="020F0502020204030204" pitchFamily="34" charset="0"/>
                <a:ea typeface="Calibri" panose="020F0502020204030204" pitchFamily="34" charset="0"/>
                <a:cs typeface="Calibri" panose="020F0502020204030204" pitchFamily="34" charset="0"/>
              </a:rPr>
              <a:t>Fast design turnaround</a:t>
            </a:r>
          </a:p>
          <a:p>
            <a:pPr marL="457200" indent="-457200" algn="just">
              <a:buFont typeface="Wingdings" panose="05000000000000000000" pitchFamily="2" charset="2"/>
              <a:buChar char="Ø"/>
            </a:pPr>
            <a:r>
              <a:rPr lang="en-US" sz="2200" dirty="0">
                <a:latin typeface="Calibri" panose="020F0502020204030204" pitchFamily="34" charset="0"/>
                <a:ea typeface="Calibri" panose="020F0502020204030204" pitchFamily="34" charset="0"/>
                <a:cs typeface="Calibri" panose="020F0502020204030204" pitchFamily="34" charset="0"/>
              </a:rPr>
              <a:t>A single large block of programmable interconnect</a:t>
            </a:r>
          </a:p>
          <a:p>
            <a:pPr lvl="2" algn="just"/>
            <a:r>
              <a:rPr lang="en-US" sz="2200" dirty="0">
                <a:latin typeface="Calibri" panose="020F0502020204030204" pitchFamily="34" charset="0"/>
                <a:ea typeface="Calibri" panose="020F0502020204030204" pitchFamily="34" charset="0"/>
                <a:cs typeface="Calibri" panose="020F0502020204030204" pitchFamily="34" charset="0"/>
              </a:rPr>
              <a:t>Erasable PLD (EPLD)</a:t>
            </a:r>
          </a:p>
          <a:p>
            <a:pPr lvl="2" algn="just"/>
            <a:r>
              <a:rPr lang="en-US" sz="2200" dirty="0">
                <a:latin typeface="Calibri" panose="020F0502020204030204" pitchFamily="34" charset="0"/>
                <a:ea typeface="Calibri" panose="020F0502020204030204" pitchFamily="34" charset="0"/>
                <a:cs typeface="Calibri" panose="020F0502020204030204" pitchFamily="34" charset="0"/>
              </a:rPr>
              <a:t>Mask-programmed PLD</a:t>
            </a:r>
          </a:p>
          <a:p>
            <a:pPr marL="457200" indent="-457200" algn="just">
              <a:buFont typeface="Wingdings" panose="05000000000000000000" pitchFamily="2" charset="2"/>
              <a:buChar char="Ø"/>
            </a:pPr>
            <a:r>
              <a:rPr lang="en-US" sz="2200" dirty="0">
                <a:latin typeface="Calibri" panose="020F0502020204030204" pitchFamily="34" charset="0"/>
                <a:ea typeface="Calibri" panose="020F0502020204030204" pitchFamily="34" charset="0"/>
                <a:cs typeface="Calibri" panose="020F0502020204030204" pitchFamily="34" charset="0"/>
              </a:rPr>
              <a:t>A matrix of logic macro cells that usually consist of programmable array logic followed by a flip-flop or latch.</a:t>
            </a:r>
          </a:p>
          <a:p>
            <a:pPr marL="457200" indent="-457200" algn="just">
              <a:buFont typeface="Wingdings" panose="05000000000000000000" pitchFamily="2" charset="2"/>
              <a:buChar char="Ø"/>
            </a:pPr>
            <a:endParaRPr lang="en-US" sz="2200" dirty="0">
              <a:latin typeface="Calibri" panose="020F0502020204030204" pitchFamily="34" charset="0"/>
              <a:ea typeface="Calibri" panose="020F0502020204030204" pitchFamily="34" charset="0"/>
              <a:cs typeface="Calibri" panose="020F0502020204030204" pitchFamily="34" charset="0"/>
            </a:endParaRPr>
          </a:p>
        </p:txBody>
      </p:sp>
      <p:sp>
        <p:nvSpPr>
          <p:cNvPr id="11" name="TextBox 10">
            <a:extLst>
              <a:ext uri="{FF2B5EF4-FFF2-40B4-BE49-F238E27FC236}">
                <a16:creationId xmlns="" xmlns:a16="http://schemas.microsoft.com/office/drawing/2014/main" id="{A5A93263-40AD-997D-7483-771DD0AD65A1}"/>
              </a:ext>
            </a:extLst>
          </p:cNvPr>
          <p:cNvSpPr txBox="1"/>
          <p:nvPr/>
        </p:nvSpPr>
        <p:spPr>
          <a:xfrm>
            <a:off x="4132288" y="755589"/>
            <a:ext cx="5177796" cy="584775"/>
          </a:xfrm>
          <a:prstGeom prst="rect">
            <a:avLst/>
          </a:prstGeom>
          <a:noFill/>
        </p:spPr>
        <p:txBody>
          <a:bodyPr wrap="square" rtlCol="0">
            <a:spAutoFit/>
          </a:bodyPr>
          <a:lstStyle/>
          <a:p>
            <a:r>
              <a:rPr lang="en-US" sz="3200" b="1" dirty="0">
                <a:solidFill>
                  <a:srgbClr val="7030A0"/>
                </a:solidFill>
                <a:latin typeface="Calibri" panose="020F0502020204030204" pitchFamily="34" charset="0"/>
                <a:ea typeface="Calibri" panose="020F0502020204030204" pitchFamily="34" charset="0"/>
                <a:cs typeface="Calibri" panose="020F0502020204030204" pitchFamily="34" charset="0"/>
              </a:rPr>
              <a:t>Gate-Array-Based ASICs</a:t>
            </a:r>
            <a:endParaRPr lang="en-IN" sz="3200" b="1" dirty="0">
              <a:solidFill>
                <a:srgbClr val="7030A0"/>
              </a:solidFill>
              <a:latin typeface="Calibri" panose="020F0502020204030204" pitchFamily="34" charset="0"/>
              <a:ea typeface="Calibri" panose="020F0502020204030204" pitchFamily="34" charset="0"/>
              <a:cs typeface="Calibri" panose="020F0502020204030204" pitchFamily="34" charset="0"/>
            </a:endParaRPr>
          </a:p>
        </p:txBody>
      </p:sp>
      <p:sp>
        <p:nvSpPr>
          <p:cNvPr id="12" name="object 3">
            <a:extLst>
              <a:ext uri="{FF2B5EF4-FFF2-40B4-BE49-F238E27FC236}">
                <a16:creationId xmlns="" xmlns:a16="http://schemas.microsoft.com/office/drawing/2014/main" id="{9CA7ACFD-8166-8D69-858A-5A3D8F5F065F}"/>
              </a:ext>
            </a:extLst>
          </p:cNvPr>
          <p:cNvSpPr txBox="1"/>
          <p:nvPr/>
        </p:nvSpPr>
        <p:spPr>
          <a:xfrm>
            <a:off x="7076982" y="5407936"/>
            <a:ext cx="4315696" cy="579646"/>
          </a:xfrm>
          <a:prstGeom prst="rect">
            <a:avLst/>
          </a:prstGeom>
        </p:spPr>
        <p:txBody>
          <a:bodyPr vert="horz" wrap="square" lIns="0" tIns="12700" rIns="0" bIns="0" rtlCol="0">
            <a:spAutoFit/>
          </a:bodyPr>
          <a:lstStyle/>
          <a:p>
            <a:pPr marL="12065" marR="5080" algn="ctr">
              <a:lnSpc>
                <a:spcPct val="100000"/>
              </a:lnSpc>
              <a:spcBef>
                <a:spcPts val="100"/>
              </a:spcBef>
              <a:tabLst>
                <a:tab pos="356870" algn="l"/>
              </a:tabLst>
            </a:pPr>
            <a:r>
              <a:rPr lang="en-US" dirty="0">
                <a:latin typeface="Calibri" panose="020F0502020204030204" pitchFamily="34" charset="0"/>
                <a:ea typeface="Calibri" panose="020F0502020204030204" pitchFamily="34" charset="0"/>
                <a:cs typeface="Calibri" panose="020F0502020204030204" pitchFamily="34" charset="0"/>
              </a:rPr>
              <a:t>Fig. Programmable logic device die</a:t>
            </a:r>
          </a:p>
          <a:p>
            <a:pPr marL="12065" marR="5080" algn="ctr">
              <a:lnSpc>
                <a:spcPct val="100000"/>
              </a:lnSpc>
              <a:spcBef>
                <a:spcPts val="100"/>
              </a:spcBef>
              <a:tabLst>
                <a:tab pos="356870" algn="l"/>
              </a:tabLst>
            </a:pPr>
            <a:endParaRPr lang="en-US" dirty="0">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 xmlns:a16="http://schemas.microsoft.com/office/drawing/2014/main" id="{A9FD207D-8399-B5EE-DBD2-02FADD1E6377}"/>
              </a:ext>
            </a:extLst>
          </p:cNvPr>
          <p:cNvPicPr>
            <a:picLocks noChangeAspect="1"/>
          </p:cNvPicPr>
          <p:nvPr/>
        </p:nvPicPr>
        <p:blipFill>
          <a:blip r:embed="rId2"/>
          <a:stretch>
            <a:fillRect/>
          </a:stretch>
        </p:blipFill>
        <p:spPr>
          <a:xfrm>
            <a:off x="6423065" y="1523746"/>
            <a:ext cx="5253126" cy="3810508"/>
          </a:xfrm>
          <a:prstGeom prst="rect">
            <a:avLst/>
          </a:prstGeom>
        </p:spPr>
      </p:pic>
    </p:spTree>
    <p:extLst>
      <p:ext uri="{BB962C8B-B14F-4D97-AF65-F5344CB8AC3E}">
        <p14:creationId xmlns:p14="http://schemas.microsoft.com/office/powerpoint/2010/main" val="23443694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8BAB5AD-F11C-5CDC-BD4A-5474CB177EAE}"/>
            </a:ext>
          </a:extLst>
        </p:cNvPr>
        <p:cNvGrpSpPr/>
        <p:nvPr/>
      </p:nvGrpSpPr>
      <p:grpSpPr>
        <a:xfrm>
          <a:off x="0" y="0"/>
          <a:ext cx="0" cy="0"/>
          <a:chOff x="0" y="0"/>
          <a:chExt cx="0" cy="0"/>
        </a:xfrm>
      </p:grpSpPr>
      <p:sp>
        <p:nvSpPr>
          <p:cNvPr id="9" name="Rounded Rectangle 17">
            <a:extLst>
              <a:ext uri="{FF2B5EF4-FFF2-40B4-BE49-F238E27FC236}">
                <a16:creationId xmlns="" xmlns:a16="http://schemas.microsoft.com/office/drawing/2014/main" id="{0B4A4766-3169-FE0B-0E4A-0C172EB00583}"/>
              </a:ext>
            </a:extLst>
          </p:cNvPr>
          <p:cNvSpPr/>
          <p:nvPr/>
        </p:nvSpPr>
        <p:spPr>
          <a:xfrm>
            <a:off x="2078243" y="123556"/>
            <a:ext cx="8558656" cy="52958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2700" algn="ctr">
              <a:lnSpc>
                <a:spcPct val="100000"/>
              </a:lnSpc>
              <a:spcBef>
                <a:spcPts val="100"/>
              </a:spcBef>
            </a:pPr>
            <a:r>
              <a:rPr lang="en-US" sz="3600" spc="-5" dirty="0"/>
              <a:t>Types</a:t>
            </a:r>
            <a:r>
              <a:rPr lang="en-US" sz="3600" spc="-10" dirty="0"/>
              <a:t> of ASICs</a:t>
            </a:r>
            <a:endParaRPr lang="en-IN" sz="1400" b="1" spc="-50" dirty="0"/>
          </a:p>
        </p:txBody>
      </p:sp>
      <p:sp>
        <p:nvSpPr>
          <p:cNvPr id="10" name="object 3">
            <a:extLst>
              <a:ext uri="{FF2B5EF4-FFF2-40B4-BE49-F238E27FC236}">
                <a16:creationId xmlns="" xmlns:a16="http://schemas.microsoft.com/office/drawing/2014/main" id="{4614A82F-A2F5-0C40-ABA0-F706F1C37A75}"/>
              </a:ext>
            </a:extLst>
          </p:cNvPr>
          <p:cNvSpPr txBox="1"/>
          <p:nvPr/>
        </p:nvSpPr>
        <p:spPr>
          <a:xfrm>
            <a:off x="158001" y="1635240"/>
            <a:ext cx="5690292" cy="4567917"/>
          </a:xfrm>
          <a:prstGeom prst="rect">
            <a:avLst/>
          </a:prstGeom>
        </p:spPr>
        <p:txBody>
          <a:bodyPr vert="horz" wrap="square" lIns="0" tIns="12700" rIns="0" bIns="0" rtlCol="0">
            <a:spAutoFit/>
          </a:bodyPr>
          <a:lstStyle/>
          <a:p>
            <a:pPr algn="ctr"/>
            <a:r>
              <a:rPr lang="en-US" sz="2200" b="1" dirty="0">
                <a:solidFill>
                  <a:srgbClr val="00B0F0"/>
                </a:solidFill>
                <a:latin typeface="Calibri" panose="020F0502020204030204" pitchFamily="34" charset="0"/>
                <a:ea typeface="Calibri" panose="020F0502020204030204" pitchFamily="34" charset="0"/>
                <a:cs typeface="Calibri" panose="020F0502020204030204" pitchFamily="34" charset="0"/>
              </a:rPr>
              <a:t>Field Programmable Gate Array</a:t>
            </a:r>
          </a:p>
          <a:p>
            <a:pPr algn="ctr"/>
            <a:endParaRPr lang="en-US" sz="1000" b="1" dirty="0">
              <a:solidFill>
                <a:srgbClr val="00B0F0"/>
              </a:solidFill>
              <a:latin typeface="Calibri" panose="020F0502020204030204" pitchFamily="34" charset="0"/>
              <a:ea typeface="Calibri" panose="020F0502020204030204" pitchFamily="34" charset="0"/>
              <a:cs typeface="Calibri" panose="020F0502020204030204" pitchFamily="34" charset="0"/>
            </a:endParaRPr>
          </a:p>
          <a:p>
            <a:pPr marL="457200" indent="-457200" algn="just">
              <a:buFont typeface="Wingdings" panose="05000000000000000000" pitchFamily="2" charset="2"/>
              <a:buChar char="Ø"/>
            </a:pPr>
            <a:r>
              <a:rPr lang="en-US" sz="2200" dirty="0">
                <a:latin typeface="Calibri" panose="020F0502020204030204" pitchFamily="34" charset="0"/>
                <a:ea typeface="Calibri" panose="020F0502020204030204" pitchFamily="34" charset="0"/>
                <a:cs typeface="Calibri" panose="020F0502020204030204" pitchFamily="34" charset="0"/>
              </a:rPr>
              <a:t>None of the mask layers are customized.</a:t>
            </a:r>
          </a:p>
          <a:p>
            <a:pPr marL="457200" indent="-457200" algn="just">
              <a:buFont typeface="Wingdings" panose="05000000000000000000" pitchFamily="2" charset="2"/>
              <a:buChar char="Ø"/>
            </a:pPr>
            <a:r>
              <a:rPr lang="en-US" sz="2200" dirty="0">
                <a:latin typeface="Calibri" panose="020F0502020204030204" pitchFamily="34" charset="0"/>
                <a:ea typeface="Calibri" panose="020F0502020204030204" pitchFamily="34" charset="0"/>
                <a:cs typeface="Calibri" panose="020F0502020204030204" pitchFamily="34" charset="0"/>
              </a:rPr>
              <a:t>A method for programming the basic logic cells and the interconnect.</a:t>
            </a:r>
          </a:p>
          <a:p>
            <a:pPr marL="457200" indent="-457200" algn="just">
              <a:buFont typeface="Wingdings" panose="05000000000000000000" pitchFamily="2" charset="2"/>
              <a:buChar char="Ø"/>
            </a:pPr>
            <a:r>
              <a:rPr lang="en-US" sz="2200" dirty="0">
                <a:latin typeface="Calibri" panose="020F0502020204030204" pitchFamily="34" charset="0"/>
                <a:ea typeface="Calibri" panose="020F0502020204030204" pitchFamily="34" charset="0"/>
                <a:cs typeface="Calibri" panose="020F0502020204030204" pitchFamily="34" charset="0"/>
              </a:rPr>
              <a:t>The core is a regular array of programmable basic logic cells that can implement combinational as well as sequential logic (flip-flops)</a:t>
            </a:r>
          </a:p>
          <a:p>
            <a:pPr marL="457200" indent="-457200" algn="just">
              <a:buFont typeface="Wingdings" panose="05000000000000000000" pitchFamily="2" charset="2"/>
              <a:buChar char="Ø"/>
            </a:pPr>
            <a:r>
              <a:rPr lang="en-US" sz="2200" dirty="0">
                <a:latin typeface="Calibri" panose="020F0502020204030204" pitchFamily="34" charset="0"/>
                <a:ea typeface="Calibri" panose="020F0502020204030204" pitchFamily="34" charset="0"/>
                <a:cs typeface="Calibri" panose="020F0502020204030204" pitchFamily="34" charset="0"/>
              </a:rPr>
              <a:t>A matrix of programmable interconnect surrounds the basic logic cells.</a:t>
            </a:r>
          </a:p>
          <a:p>
            <a:pPr marL="457200" indent="-457200" algn="just">
              <a:buFont typeface="Wingdings" panose="05000000000000000000" pitchFamily="2" charset="2"/>
              <a:buChar char="Ø"/>
            </a:pPr>
            <a:r>
              <a:rPr lang="en-US" sz="2200" dirty="0">
                <a:latin typeface="Calibri" panose="020F0502020204030204" pitchFamily="34" charset="0"/>
                <a:ea typeface="Calibri" panose="020F0502020204030204" pitchFamily="34" charset="0"/>
                <a:cs typeface="Calibri" panose="020F0502020204030204" pitchFamily="34" charset="0"/>
              </a:rPr>
              <a:t>Programmable I/O cells surround the core.</a:t>
            </a:r>
          </a:p>
          <a:p>
            <a:pPr marL="457200" indent="-457200" algn="just">
              <a:buFont typeface="Wingdings" panose="05000000000000000000" pitchFamily="2" charset="2"/>
              <a:buChar char="Ø"/>
            </a:pPr>
            <a:r>
              <a:rPr lang="en-US" sz="2200" dirty="0">
                <a:latin typeface="Calibri" panose="020F0502020204030204" pitchFamily="34" charset="0"/>
                <a:ea typeface="Calibri" panose="020F0502020204030204" pitchFamily="34" charset="0"/>
                <a:cs typeface="Calibri" panose="020F0502020204030204" pitchFamily="34" charset="0"/>
              </a:rPr>
              <a:t>Design turnaround is a few hours</a:t>
            </a:r>
          </a:p>
          <a:p>
            <a:pPr marL="457200" indent="-457200" algn="just">
              <a:buFont typeface="Wingdings" panose="05000000000000000000" pitchFamily="2" charset="2"/>
              <a:buChar char="Ø"/>
            </a:pPr>
            <a:endParaRPr lang="en-US" sz="2200" dirty="0">
              <a:latin typeface="Calibri" panose="020F0502020204030204" pitchFamily="34" charset="0"/>
              <a:ea typeface="Calibri" panose="020F0502020204030204" pitchFamily="34" charset="0"/>
              <a:cs typeface="Calibri" panose="020F0502020204030204" pitchFamily="34" charset="0"/>
            </a:endParaRPr>
          </a:p>
        </p:txBody>
      </p:sp>
      <p:sp>
        <p:nvSpPr>
          <p:cNvPr id="11" name="TextBox 10">
            <a:extLst>
              <a:ext uri="{FF2B5EF4-FFF2-40B4-BE49-F238E27FC236}">
                <a16:creationId xmlns="" xmlns:a16="http://schemas.microsoft.com/office/drawing/2014/main" id="{C03FAAE9-0114-1F82-DF3F-C228971ABEF4}"/>
              </a:ext>
            </a:extLst>
          </p:cNvPr>
          <p:cNvSpPr txBox="1"/>
          <p:nvPr/>
        </p:nvSpPr>
        <p:spPr>
          <a:xfrm>
            <a:off x="4132288" y="755589"/>
            <a:ext cx="5177796" cy="584775"/>
          </a:xfrm>
          <a:prstGeom prst="rect">
            <a:avLst/>
          </a:prstGeom>
          <a:noFill/>
        </p:spPr>
        <p:txBody>
          <a:bodyPr wrap="square" rtlCol="0">
            <a:spAutoFit/>
          </a:bodyPr>
          <a:lstStyle/>
          <a:p>
            <a:r>
              <a:rPr lang="en-US" sz="3200" b="1" dirty="0">
                <a:solidFill>
                  <a:srgbClr val="7030A0"/>
                </a:solidFill>
                <a:latin typeface="Calibri" panose="020F0502020204030204" pitchFamily="34" charset="0"/>
                <a:ea typeface="Calibri" panose="020F0502020204030204" pitchFamily="34" charset="0"/>
                <a:cs typeface="Calibri" panose="020F0502020204030204" pitchFamily="34" charset="0"/>
              </a:rPr>
              <a:t>Gate-Array-Based ASICs</a:t>
            </a:r>
            <a:endParaRPr lang="en-IN" sz="3200" b="1" dirty="0">
              <a:solidFill>
                <a:srgbClr val="7030A0"/>
              </a:solidFill>
              <a:latin typeface="Calibri" panose="020F0502020204030204" pitchFamily="34" charset="0"/>
              <a:ea typeface="Calibri" panose="020F0502020204030204" pitchFamily="34" charset="0"/>
              <a:cs typeface="Calibri" panose="020F0502020204030204" pitchFamily="34" charset="0"/>
            </a:endParaRPr>
          </a:p>
        </p:txBody>
      </p:sp>
      <p:sp>
        <p:nvSpPr>
          <p:cNvPr id="13" name="object 3">
            <a:extLst>
              <a:ext uri="{FF2B5EF4-FFF2-40B4-BE49-F238E27FC236}">
                <a16:creationId xmlns="" xmlns:a16="http://schemas.microsoft.com/office/drawing/2014/main" id="{C69C1904-FF15-BBC5-9F56-A92DF80D9ED0}"/>
              </a:ext>
            </a:extLst>
          </p:cNvPr>
          <p:cNvSpPr txBox="1"/>
          <p:nvPr/>
        </p:nvSpPr>
        <p:spPr>
          <a:xfrm>
            <a:off x="6738838" y="5623511"/>
            <a:ext cx="4681832" cy="579646"/>
          </a:xfrm>
          <a:prstGeom prst="rect">
            <a:avLst/>
          </a:prstGeom>
        </p:spPr>
        <p:txBody>
          <a:bodyPr vert="horz" wrap="square" lIns="0" tIns="12700" rIns="0" bIns="0" rtlCol="0">
            <a:spAutoFit/>
          </a:bodyPr>
          <a:lstStyle/>
          <a:p>
            <a:pPr marL="12065" marR="5080" algn="ctr">
              <a:lnSpc>
                <a:spcPct val="100000"/>
              </a:lnSpc>
              <a:spcBef>
                <a:spcPts val="100"/>
              </a:spcBef>
              <a:tabLst>
                <a:tab pos="356870" algn="l"/>
              </a:tabLst>
            </a:pPr>
            <a:r>
              <a:rPr lang="en-US" dirty="0">
                <a:latin typeface="Calibri" panose="020F0502020204030204" pitchFamily="34" charset="0"/>
                <a:ea typeface="Calibri" panose="020F0502020204030204" pitchFamily="34" charset="0"/>
                <a:cs typeface="Calibri" panose="020F0502020204030204" pitchFamily="34" charset="0"/>
              </a:rPr>
              <a:t>Fig. Field Programmable Gate Array (FPGA) die</a:t>
            </a:r>
          </a:p>
          <a:p>
            <a:pPr marL="12065" marR="5080" algn="ctr">
              <a:lnSpc>
                <a:spcPct val="100000"/>
              </a:lnSpc>
              <a:spcBef>
                <a:spcPts val="100"/>
              </a:spcBef>
              <a:tabLst>
                <a:tab pos="356870" algn="l"/>
              </a:tabLst>
            </a:pPr>
            <a:endParaRPr lang="en-US" dirty="0">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a:extLst>
              <a:ext uri="{FF2B5EF4-FFF2-40B4-BE49-F238E27FC236}">
                <a16:creationId xmlns="" xmlns:a16="http://schemas.microsoft.com/office/drawing/2014/main" id="{179563AA-ABBF-BF51-8F1F-83BF62EB8732}"/>
              </a:ext>
            </a:extLst>
          </p:cNvPr>
          <p:cNvPicPr>
            <a:picLocks noChangeAspect="1"/>
          </p:cNvPicPr>
          <p:nvPr/>
        </p:nvPicPr>
        <p:blipFill>
          <a:blip r:embed="rId2"/>
          <a:stretch>
            <a:fillRect/>
          </a:stretch>
        </p:blipFill>
        <p:spPr>
          <a:xfrm>
            <a:off x="6236481" y="1570787"/>
            <a:ext cx="5686544" cy="4052724"/>
          </a:xfrm>
          <a:prstGeom prst="rect">
            <a:avLst/>
          </a:prstGeom>
        </p:spPr>
      </p:pic>
    </p:spTree>
    <p:extLst>
      <p:ext uri="{BB962C8B-B14F-4D97-AF65-F5344CB8AC3E}">
        <p14:creationId xmlns:p14="http://schemas.microsoft.com/office/powerpoint/2010/main" val="7540275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5189683-C7C7-352C-2AB1-35125F72D8E7}"/>
            </a:ext>
          </a:extLst>
        </p:cNvPr>
        <p:cNvGrpSpPr/>
        <p:nvPr/>
      </p:nvGrpSpPr>
      <p:grpSpPr>
        <a:xfrm>
          <a:off x="0" y="0"/>
          <a:ext cx="0" cy="0"/>
          <a:chOff x="0" y="0"/>
          <a:chExt cx="0" cy="0"/>
        </a:xfrm>
      </p:grpSpPr>
      <p:sp>
        <p:nvSpPr>
          <p:cNvPr id="9" name="Rounded Rectangle 17">
            <a:extLst>
              <a:ext uri="{FF2B5EF4-FFF2-40B4-BE49-F238E27FC236}">
                <a16:creationId xmlns="" xmlns:a16="http://schemas.microsoft.com/office/drawing/2014/main" id="{072A6DA2-00EA-3613-2D8F-AA0F697A13D1}"/>
              </a:ext>
            </a:extLst>
          </p:cNvPr>
          <p:cNvSpPr/>
          <p:nvPr/>
        </p:nvSpPr>
        <p:spPr>
          <a:xfrm>
            <a:off x="2078243" y="123556"/>
            <a:ext cx="8558656" cy="52958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2700" algn="ctr">
              <a:lnSpc>
                <a:spcPct val="100000"/>
              </a:lnSpc>
              <a:spcBef>
                <a:spcPts val="100"/>
              </a:spcBef>
            </a:pPr>
            <a:r>
              <a:rPr lang="en-US" sz="3600" spc="-10" dirty="0"/>
              <a:t>ASIC Design Flow</a:t>
            </a:r>
            <a:endParaRPr lang="en-IN" sz="1400" b="1" spc="-50" dirty="0"/>
          </a:p>
        </p:txBody>
      </p:sp>
      <p:sp>
        <p:nvSpPr>
          <p:cNvPr id="10" name="object 3">
            <a:extLst>
              <a:ext uri="{FF2B5EF4-FFF2-40B4-BE49-F238E27FC236}">
                <a16:creationId xmlns="" xmlns:a16="http://schemas.microsoft.com/office/drawing/2014/main" id="{F32B458D-A431-E3D7-EF78-252226D039C7}"/>
              </a:ext>
            </a:extLst>
          </p:cNvPr>
          <p:cNvSpPr txBox="1"/>
          <p:nvPr/>
        </p:nvSpPr>
        <p:spPr>
          <a:xfrm>
            <a:off x="158000" y="1133086"/>
            <a:ext cx="6093510" cy="4783361"/>
          </a:xfrm>
          <a:prstGeom prst="rect">
            <a:avLst/>
          </a:prstGeom>
        </p:spPr>
        <p:txBody>
          <a:bodyPr vert="horz" wrap="square" lIns="0" tIns="12700" rIns="0" bIns="0" rtlCol="0">
            <a:spAutoFit/>
          </a:bodyPr>
          <a:lstStyle/>
          <a:p>
            <a:pPr marL="342900" indent="-342900" algn="just">
              <a:buFont typeface="+mj-lt"/>
              <a:buAutoNum type="arabicPeriod"/>
            </a:pPr>
            <a:r>
              <a:rPr lang="en-US" b="1" dirty="0">
                <a:latin typeface="Calibri" panose="020F0502020204030204" pitchFamily="34" charset="0"/>
                <a:ea typeface="Calibri" panose="020F0502020204030204" pitchFamily="34" charset="0"/>
                <a:cs typeface="Calibri" panose="020F0502020204030204" pitchFamily="34" charset="0"/>
              </a:rPr>
              <a:t>Design entry </a:t>
            </a:r>
            <a:r>
              <a:rPr lang="en-US" dirty="0">
                <a:latin typeface="Calibri" panose="020F0502020204030204" pitchFamily="34" charset="0"/>
                <a:ea typeface="Calibri" panose="020F0502020204030204" pitchFamily="34" charset="0"/>
                <a:cs typeface="Calibri" panose="020F0502020204030204" pitchFamily="34" charset="0"/>
              </a:rPr>
              <a:t>– Using a hardware description language (HDL) or schematic entry</a:t>
            </a:r>
          </a:p>
          <a:p>
            <a:pPr marL="342900" indent="-342900" algn="just">
              <a:buFont typeface="+mj-lt"/>
              <a:buAutoNum type="arabicPeriod"/>
            </a:pPr>
            <a:endParaRPr lang="en-US" sz="500" dirty="0">
              <a:latin typeface="Calibri" panose="020F0502020204030204" pitchFamily="34" charset="0"/>
              <a:ea typeface="Calibri" panose="020F0502020204030204" pitchFamily="34" charset="0"/>
              <a:cs typeface="Calibri" panose="020F0502020204030204" pitchFamily="34" charset="0"/>
            </a:endParaRPr>
          </a:p>
          <a:p>
            <a:pPr marL="342900" indent="-342900" algn="just">
              <a:buFont typeface="+mj-lt"/>
              <a:buAutoNum type="arabicPeriod"/>
            </a:pPr>
            <a:r>
              <a:rPr lang="en-US" b="1" dirty="0">
                <a:latin typeface="Calibri" panose="020F0502020204030204" pitchFamily="34" charset="0"/>
                <a:ea typeface="Calibri" panose="020F0502020204030204" pitchFamily="34" charset="0"/>
                <a:cs typeface="Calibri" panose="020F0502020204030204" pitchFamily="34" charset="0"/>
              </a:rPr>
              <a:t>Logic synthesis </a:t>
            </a:r>
            <a:r>
              <a:rPr lang="en-US" dirty="0">
                <a:latin typeface="Calibri" panose="020F0502020204030204" pitchFamily="34" charset="0"/>
                <a:ea typeface="Calibri" panose="020F0502020204030204" pitchFamily="34" charset="0"/>
                <a:cs typeface="Calibri" panose="020F0502020204030204" pitchFamily="34" charset="0"/>
              </a:rPr>
              <a:t>– Produces a netlist – logic cells and their connections</a:t>
            </a:r>
          </a:p>
          <a:p>
            <a:pPr marL="342900" indent="-342900" algn="just">
              <a:buFont typeface="+mj-lt"/>
              <a:buAutoNum type="arabicPeriod"/>
            </a:pPr>
            <a:endParaRPr lang="en-US" sz="500" dirty="0">
              <a:latin typeface="Calibri" panose="020F0502020204030204" pitchFamily="34" charset="0"/>
              <a:ea typeface="Calibri" panose="020F0502020204030204" pitchFamily="34" charset="0"/>
              <a:cs typeface="Calibri" panose="020F0502020204030204" pitchFamily="34" charset="0"/>
            </a:endParaRPr>
          </a:p>
          <a:p>
            <a:pPr marL="342900" indent="-342900" algn="just">
              <a:buFont typeface="+mj-lt"/>
              <a:buAutoNum type="arabicPeriod"/>
            </a:pPr>
            <a:r>
              <a:rPr lang="en-US" b="1" dirty="0">
                <a:latin typeface="Calibri" panose="020F0502020204030204" pitchFamily="34" charset="0"/>
                <a:ea typeface="Calibri" panose="020F0502020204030204" pitchFamily="34" charset="0"/>
                <a:cs typeface="Calibri" panose="020F0502020204030204" pitchFamily="34" charset="0"/>
              </a:rPr>
              <a:t>System partitioning </a:t>
            </a:r>
            <a:r>
              <a:rPr lang="en-US" dirty="0">
                <a:latin typeface="Calibri" panose="020F0502020204030204" pitchFamily="34" charset="0"/>
                <a:ea typeface="Calibri" panose="020F0502020204030204" pitchFamily="34" charset="0"/>
                <a:cs typeface="Calibri" panose="020F0502020204030204" pitchFamily="34" charset="0"/>
              </a:rPr>
              <a:t>– Divide a large system into ASIC-sized pieces</a:t>
            </a:r>
          </a:p>
          <a:p>
            <a:pPr marL="342900" indent="-342900" algn="just">
              <a:buFont typeface="+mj-lt"/>
              <a:buAutoNum type="arabicPeriod"/>
            </a:pPr>
            <a:endParaRPr lang="en-US" sz="500" dirty="0">
              <a:latin typeface="Calibri" panose="020F0502020204030204" pitchFamily="34" charset="0"/>
              <a:ea typeface="Calibri" panose="020F0502020204030204" pitchFamily="34" charset="0"/>
              <a:cs typeface="Calibri" panose="020F0502020204030204" pitchFamily="34" charset="0"/>
            </a:endParaRPr>
          </a:p>
          <a:p>
            <a:pPr marL="342900" indent="-342900" algn="just">
              <a:buFont typeface="+mj-lt"/>
              <a:buAutoNum type="arabicPeriod"/>
            </a:pPr>
            <a:r>
              <a:rPr lang="en-US" b="1" dirty="0">
                <a:latin typeface="Calibri" panose="020F0502020204030204" pitchFamily="34" charset="0"/>
                <a:ea typeface="Calibri" panose="020F0502020204030204" pitchFamily="34" charset="0"/>
                <a:cs typeface="Calibri" panose="020F0502020204030204" pitchFamily="34" charset="0"/>
              </a:rPr>
              <a:t>Pre layout simulation </a:t>
            </a:r>
            <a:r>
              <a:rPr lang="en-US" dirty="0">
                <a:latin typeface="Calibri" panose="020F0502020204030204" pitchFamily="34" charset="0"/>
                <a:ea typeface="Calibri" panose="020F0502020204030204" pitchFamily="34" charset="0"/>
                <a:cs typeface="Calibri" panose="020F0502020204030204" pitchFamily="34" charset="0"/>
              </a:rPr>
              <a:t>– Check to see if the design functions correctly</a:t>
            </a:r>
          </a:p>
          <a:p>
            <a:pPr marL="342900" indent="-342900" algn="just">
              <a:buFont typeface="+mj-lt"/>
              <a:buAutoNum type="arabicPeriod"/>
            </a:pPr>
            <a:endParaRPr lang="en-US" sz="500" dirty="0">
              <a:latin typeface="Calibri" panose="020F0502020204030204" pitchFamily="34" charset="0"/>
              <a:ea typeface="Calibri" panose="020F0502020204030204" pitchFamily="34" charset="0"/>
              <a:cs typeface="Calibri" panose="020F0502020204030204" pitchFamily="34" charset="0"/>
            </a:endParaRPr>
          </a:p>
          <a:p>
            <a:pPr marL="342900" indent="-342900" algn="just">
              <a:buFont typeface="+mj-lt"/>
              <a:buAutoNum type="arabicPeriod"/>
            </a:pPr>
            <a:r>
              <a:rPr lang="en-US" b="1" dirty="0">
                <a:latin typeface="Calibri" panose="020F0502020204030204" pitchFamily="34" charset="0"/>
                <a:ea typeface="Calibri" panose="020F0502020204030204" pitchFamily="34" charset="0"/>
                <a:cs typeface="Calibri" panose="020F0502020204030204" pitchFamily="34" charset="0"/>
              </a:rPr>
              <a:t>Floor planning </a:t>
            </a:r>
            <a:r>
              <a:rPr lang="en-US" dirty="0">
                <a:latin typeface="Calibri" panose="020F0502020204030204" pitchFamily="34" charset="0"/>
                <a:ea typeface="Calibri" panose="020F0502020204030204" pitchFamily="34" charset="0"/>
                <a:cs typeface="Calibri" panose="020F0502020204030204" pitchFamily="34" charset="0"/>
              </a:rPr>
              <a:t>– Arrange the blocks of the netlist on the chip</a:t>
            </a:r>
          </a:p>
          <a:p>
            <a:pPr marL="342900" indent="-342900" algn="just">
              <a:buFont typeface="+mj-lt"/>
              <a:buAutoNum type="arabicPeriod"/>
            </a:pPr>
            <a:endParaRPr lang="en-US" sz="500" dirty="0">
              <a:latin typeface="Calibri" panose="020F0502020204030204" pitchFamily="34" charset="0"/>
              <a:ea typeface="Calibri" panose="020F0502020204030204" pitchFamily="34" charset="0"/>
              <a:cs typeface="Calibri" panose="020F0502020204030204" pitchFamily="34" charset="0"/>
            </a:endParaRPr>
          </a:p>
          <a:p>
            <a:pPr marL="342900" indent="-342900" algn="just">
              <a:buFont typeface="+mj-lt"/>
              <a:buAutoNum type="arabicPeriod"/>
            </a:pPr>
            <a:r>
              <a:rPr lang="en-US" b="1" dirty="0">
                <a:latin typeface="Calibri" panose="020F0502020204030204" pitchFamily="34" charset="0"/>
                <a:ea typeface="Calibri" panose="020F0502020204030204" pitchFamily="34" charset="0"/>
                <a:cs typeface="Calibri" panose="020F0502020204030204" pitchFamily="34" charset="0"/>
              </a:rPr>
              <a:t>Placement</a:t>
            </a:r>
            <a:r>
              <a:rPr lang="en-US" dirty="0">
                <a:latin typeface="Calibri" panose="020F0502020204030204" pitchFamily="34" charset="0"/>
                <a:ea typeface="Calibri" panose="020F0502020204030204" pitchFamily="34" charset="0"/>
                <a:cs typeface="Calibri" panose="020F0502020204030204" pitchFamily="34" charset="0"/>
              </a:rPr>
              <a:t> – Decide the locations of cells in a block</a:t>
            </a:r>
          </a:p>
          <a:p>
            <a:pPr marL="342900" indent="-342900" algn="just">
              <a:buFont typeface="+mj-lt"/>
              <a:buAutoNum type="arabicPeriod"/>
            </a:pPr>
            <a:endParaRPr lang="en-US" sz="500" dirty="0">
              <a:latin typeface="Calibri" panose="020F0502020204030204" pitchFamily="34" charset="0"/>
              <a:ea typeface="Calibri" panose="020F0502020204030204" pitchFamily="34" charset="0"/>
              <a:cs typeface="Calibri" panose="020F0502020204030204" pitchFamily="34" charset="0"/>
            </a:endParaRPr>
          </a:p>
          <a:p>
            <a:pPr marL="342900" indent="-342900" algn="just">
              <a:buFont typeface="+mj-lt"/>
              <a:buAutoNum type="arabicPeriod"/>
            </a:pPr>
            <a:r>
              <a:rPr lang="en-US" b="1" dirty="0">
                <a:latin typeface="Calibri" panose="020F0502020204030204" pitchFamily="34" charset="0"/>
                <a:ea typeface="Calibri" panose="020F0502020204030204" pitchFamily="34" charset="0"/>
                <a:cs typeface="Calibri" panose="020F0502020204030204" pitchFamily="34" charset="0"/>
              </a:rPr>
              <a:t>Routing</a:t>
            </a:r>
            <a:r>
              <a:rPr lang="en-US" dirty="0">
                <a:latin typeface="Calibri" panose="020F0502020204030204" pitchFamily="34" charset="0"/>
                <a:ea typeface="Calibri" panose="020F0502020204030204" pitchFamily="34" charset="0"/>
                <a:cs typeface="Calibri" panose="020F0502020204030204" pitchFamily="34" charset="0"/>
              </a:rPr>
              <a:t> – Make the connections between cells and blocks</a:t>
            </a:r>
          </a:p>
          <a:p>
            <a:pPr marL="342900" indent="-342900" algn="just">
              <a:buFont typeface="+mj-lt"/>
              <a:buAutoNum type="arabicPeriod"/>
            </a:pPr>
            <a:endParaRPr lang="en-US" sz="500" dirty="0">
              <a:latin typeface="Calibri" panose="020F0502020204030204" pitchFamily="34" charset="0"/>
              <a:ea typeface="Calibri" panose="020F0502020204030204" pitchFamily="34" charset="0"/>
              <a:cs typeface="Calibri" panose="020F0502020204030204" pitchFamily="34" charset="0"/>
            </a:endParaRPr>
          </a:p>
          <a:p>
            <a:pPr marL="342900" indent="-342900" algn="just">
              <a:buFont typeface="+mj-lt"/>
              <a:buAutoNum type="arabicPeriod"/>
            </a:pPr>
            <a:r>
              <a:rPr lang="en-US" b="1" dirty="0">
                <a:latin typeface="Calibri" panose="020F0502020204030204" pitchFamily="34" charset="0"/>
                <a:ea typeface="Calibri" panose="020F0502020204030204" pitchFamily="34" charset="0"/>
                <a:cs typeface="Calibri" panose="020F0502020204030204" pitchFamily="34" charset="0"/>
              </a:rPr>
              <a:t>Extraction</a:t>
            </a:r>
            <a:r>
              <a:rPr lang="en-US" dirty="0">
                <a:latin typeface="Calibri" panose="020F0502020204030204" pitchFamily="34" charset="0"/>
                <a:ea typeface="Calibri" panose="020F0502020204030204" pitchFamily="34" charset="0"/>
                <a:cs typeface="Calibri" panose="020F0502020204030204" pitchFamily="34" charset="0"/>
              </a:rPr>
              <a:t> – Determine the resistance and capacitance of the interconnect</a:t>
            </a:r>
          </a:p>
          <a:p>
            <a:pPr marL="342900" indent="-342900" algn="just">
              <a:buFont typeface="+mj-lt"/>
              <a:buAutoNum type="arabicPeriod"/>
            </a:pPr>
            <a:endParaRPr lang="en-US" sz="500" dirty="0">
              <a:latin typeface="Calibri" panose="020F0502020204030204" pitchFamily="34" charset="0"/>
              <a:ea typeface="Calibri" panose="020F0502020204030204" pitchFamily="34" charset="0"/>
              <a:cs typeface="Calibri" panose="020F0502020204030204" pitchFamily="34" charset="0"/>
            </a:endParaRPr>
          </a:p>
          <a:p>
            <a:pPr marL="342900" indent="-342900" algn="just">
              <a:buFont typeface="+mj-lt"/>
              <a:buAutoNum type="arabicPeriod"/>
            </a:pPr>
            <a:r>
              <a:rPr lang="en-US" b="1" dirty="0">
                <a:latin typeface="Calibri" panose="020F0502020204030204" pitchFamily="34" charset="0"/>
                <a:ea typeface="Calibri" panose="020F0502020204030204" pitchFamily="34" charset="0"/>
                <a:cs typeface="Calibri" panose="020F0502020204030204" pitchFamily="34" charset="0"/>
              </a:rPr>
              <a:t>Post layout simulation </a:t>
            </a:r>
            <a:r>
              <a:rPr lang="en-US" dirty="0">
                <a:latin typeface="Calibri" panose="020F0502020204030204" pitchFamily="34" charset="0"/>
                <a:ea typeface="Calibri" panose="020F0502020204030204" pitchFamily="34" charset="0"/>
                <a:cs typeface="Calibri" panose="020F0502020204030204" pitchFamily="34" charset="0"/>
              </a:rPr>
              <a:t>– Check to see if the design still works with the added loads of the interconnect</a:t>
            </a:r>
          </a:p>
        </p:txBody>
      </p:sp>
      <p:sp>
        <p:nvSpPr>
          <p:cNvPr id="13" name="object 3">
            <a:extLst>
              <a:ext uri="{FF2B5EF4-FFF2-40B4-BE49-F238E27FC236}">
                <a16:creationId xmlns="" xmlns:a16="http://schemas.microsoft.com/office/drawing/2014/main" id="{56845A82-BDBE-9529-06EF-08C6936E469C}"/>
              </a:ext>
            </a:extLst>
          </p:cNvPr>
          <p:cNvSpPr txBox="1"/>
          <p:nvPr/>
        </p:nvSpPr>
        <p:spPr>
          <a:xfrm>
            <a:off x="7037418" y="5882485"/>
            <a:ext cx="4681832" cy="228268"/>
          </a:xfrm>
          <a:prstGeom prst="rect">
            <a:avLst/>
          </a:prstGeom>
        </p:spPr>
        <p:txBody>
          <a:bodyPr vert="horz" wrap="square" lIns="0" tIns="12700" rIns="0" bIns="0" rtlCol="0">
            <a:spAutoFit/>
          </a:bodyPr>
          <a:lstStyle/>
          <a:p>
            <a:pPr marL="12065" marR="5080" algn="ctr">
              <a:lnSpc>
                <a:spcPct val="100000"/>
              </a:lnSpc>
              <a:spcBef>
                <a:spcPts val="100"/>
              </a:spcBef>
              <a:tabLst>
                <a:tab pos="356870" algn="l"/>
              </a:tabLst>
            </a:pPr>
            <a:r>
              <a:rPr lang="en-US" sz="1400" dirty="0">
                <a:latin typeface="Calibri" panose="020F0502020204030204" pitchFamily="34" charset="0"/>
                <a:ea typeface="Calibri" panose="020F0502020204030204" pitchFamily="34" charset="0"/>
                <a:cs typeface="Calibri" panose="020F0502020204030204" pitchFamily="34" charset="0"/>
              </a:rPr>
              <a:t>Fig. ASIC Design Flow</a:t>
            </a:r>
          </a:p>
        </p:txBody>
      </p:sp>
      <p:pic>
        <p:nvPicPr>
          <p:cNvPr id="4" name="Picture 3">
            <a:extLst>
              <a:ext uri="{FF2B5EF4-FFF2-40B4-BE49-F238E27FC236}">
                <a16:creationId xmlns="" xmlns:a16="http://schemas.microsoft.com/office/drawing/2014/main" id="{F1CA0936-A4E0-1F32-3705-87C22D6BDAE2}"/>
              </a:ext>
            </a:extLst>
          </p:cNvPr>
          <p:cNvPicPr>
            <a:picLocks noChangeAspect="1"/>
          </p:cNvPicPr>
          <p:nvPr/>
        </p:nvPicPr>
        <p:blipFill>
          <a:blip r:embed="rId2"/>
          <a:stretch>
            <a:fillRect/>
          </a:stretch>
        </p:blipFill>
        <p:spPr>
          <a:xfrm>
            <a:off x="6382139" y="741678"/>
            <a:ext cx="5775951" cy="5140807"/>
          </a:xfrm>
          <a:prstGeom prst="rect">
            <a:avLst/>
          </a:prstGeom>
        </p:spPr>
      </p:pic>
    </p:spTree>
    <p:extLst>
      <p:ext uri="{BB962C8B-B14F-4D97-AF65-F5344CB8AC3E}">
        <p14:creationId xmlns:p14="http://schemas.microsoft.com/office/powerpoint/2010/main" val="20599841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AEB2961-D21F-8C3F-37DA-A8DA4E1A1F57}"/>
            </a:ext>
          </a:extLst>
        </p:cNvPr>
        <p:cNvGrpSpPr/>
        <p:nvPr/>
      </p:nvGrpSpPr>
      <p:grpSpPr>
        <a:xfrm>
          <a:off x="0" y="0"/>
          <a:ext cx="0" cy="0"/>
          <a:chOff x="0" y="0"/>
          <a:chExt cx="0" cy="0"/>
        </a:xfrm>
      </p:grpSpPr>
      <p:sp>
        <p:nvSpPr>
          <p:cNvPr id="9" name="Rounded Rectangle 17">
            <a:extLst>
              <a:ext uri="{FF2B5EF4-FFF2-40B4-BE49-F238E27FC236}">
                <a16:creationId xmlns="" xmlns:a16="http://schemas.microsoft.com/office/drawing/2014/main" id="{9210C53A-0C47-385B-898F-C97191B2B1AF}"/>
              </a:ext>
            </a:extLst>
          </p:cNvPr>
          <p:cNvSpPr/>
          <p:nvPr/>
        </p:nvSpPr>
        <p:spPr>
          <a:xfrm>
            <a:off x="2078243" y="123556"/>
            <a:ext cx="8558656" cy="52958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2700" algn="ctr">
              <a:lnSpc>
                <a:spcPct val="100000"/>
              </a:lnSpc>
              <a:spcBef>
                <a:spcPts val="100"/>
              </a:spcBef>
            </a:pPr>
            <a:r>
              <a:rPr lang="en-US" sz="3600" spc="-10" dirty="0"/>
              <a:t>Case Study</a:t>
            </a:r>
            <a:endParaRPr lang="en-IN" sz="1400" b="1" spc="-50" dirty="0"/>
          </a:p>
        </p:txBody>
      </p:sp>
      <p:sp>
        <p:nvSpPr>
          <p:cNvPr id="10" name="object 3">
            <a:extLst>
              <a:ext uri="{FF2B5EF4-FFF2-40B4-BE49-F238E27FC236}">
                <a16:creationId xmlns="" xmlns:a16="http://schemas.microsoft.com/office/drawing/2014/main" id="{8F58210A-D035-394F-36B5-630714FA3406}"/>
              </a:ext>
            </a:extLst>
          </p:cNvPr>
          <p:cNvSpPr txBox="1"/>
          <p:nvPr/>
        </p:nvSpPr>
        <p:spPr>
          <a:xfrm>
            <a:off x="130006" y="722533"/>
            <a:ext cx="5244427" cy="5306581"/>
          </a:xfrm>
          <a:prstGeom prst="rect">
            <a:avLst/>
          </a:prstGeom>
        </p:spPr>
        <p:txBody>
          <a:bodyPr vert="horz" wrap="square" lIns="0" tIns="12700" rIns="0" bIns="0" rtlCol="0">
            <a:spAutoFit/>
          </a:bodyPr>
          <a:lstStyle/>
          <a:p>
            <a:pPr algn="ctr"/>
            <a:r>
              <a:rPr lang="en-US" b="1" dirty="0">
                <a:solidFill>
                  <a:srgbClr val="7030A0"/>
                </a:solidFill>
                <a:latin typeface="Calibri" panose="020F0502020204030204" pitchFamily="34" charset="0"/>
                <a:ea typeface="Calibri" panose="020F0502020204030204" pitchFamily="34" charset="0"/>
                <a:cs typeface="Calibri" panose="020F0502020204030204" pitchFamily="34" charset="0"/>
              </a:rPr>
              <a:t>Case Study – ASIC in Wearable Health Monitoring Device</a:t>
            </a:r>
          </a:p>
          <a:p>
            <a:pPr algn="just"/>
            <a:r>
              <a:rPr lang="en-US" sz="1600" b="1" dirty="0">
                <a:latin typeface="Calibri" panose="020F0502020204030204" pitchFamily="34" charset="0"/>
                <a:ea typeface="Calibri" panose="020F0502020204030204" pitchFamily="34" charset="0"/>
                <a:cs typeface="Calibri" panose="020F0502020204030204" pitchFamily="34" charset="0"/>
              </a:rPr>
              <a:t>Application Context: </a:t>
            </a:r>
            <a:r>
              <a:rPr lang="en-US" sz="1600" dirty="0">
                <a:latin typeface="Calibri" panose="020F0502020204030204" pitchFamily="34" charset="0"/>
                <a:ea typeface="Calibri" panose="020F0502020204030204" pitchFamily="34" charset="0"/>
                <a:cs typeface="Calibri" panose="020F0502020204030204" pitchFamily="34" charset="0"/>
              </a:rPr>
              <a:t>Development of a low-power, real-time ECG monitoring chip for a wearable health device (e.g., smart band or patch).</a:t>
            </a:r>
          </a:p>
          <a:p>
            <a:pPr algn="just"/>
            <a:endParaRPr lang="en-US" sz="500" dirty="0">
              <a:latin typeface="Calibri" panose="020F0502020204030204" pitchFamily="34" charset="0"/>
              <a:ea typeface="Calibri" panose="020F0502020204030204" pitchFamily="34" charset="0"/>
              <a:cs typeface="Calibri" panose="020F0502020204030204" pitchFamily="34" charset="0"/>
            </a:endParaRPr>
          </a:p>
          <a:p>
            <a:pPr algn="just"/>
            <a:r>
              <a:rPr lang="en-US" sz="1600" b="1" dirty="0">
                <a:latin typeface="Calibri" panose="020F0502020204030204" pitchFamily="34" charset="0"/>
                <a:ea typeface="Calibri" panose="020F0502020204030204" pitchFamily="34" charset="0"/>
                <a:cs typeface="Calibri" panose="020F0502020204030204" pitchFamily="34" charset="0"/>
              </a:rPr>
              <a:t>Design Goal: </a:t>
            </a:r>
          </a:p>
          <a:p>
            <a:pPr marL="742950" lvl="1" indent="-285750" algn="just">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Continuous monitoring of ECG signals</a:t>
            </a:r>
          </a:p>
          <a:p>
            <a:pPr marL="742950" lvl="1" indent="-285750" algn="just">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Ultra-low power operation for multi-day battery life</a:t>
            </a:r>
          </a:p>
          <a:p>
            <a:pPr marL="742950" lvl="1" indent="-285750" algn="just">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Compact form factor</a:t>
            </a:r>
          </a:p>
          <a:p>
            <a:pPr marL="742950" lvl="1" indent="-285750" algn="just">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On-chip signal filtering and compression</a:t>
            </a:r>
          </a:p>
          <a:p>
            <a:pPr marL="742950" lvl="1" indent="-285750" algn="just">
              <a:buFont typeface="Arial" panose="020B0604020202020204" pitchFamily="34" charset="0"/>
              <a:buChar char="•"/>
            </a:pPr>
            <a:endParaRPr lang="en-US" sz="500" dirty="0">
              <a:latin typeface="Calibri" panose="020F0502020204030204" pitchFamily="34" charset="0"/>
              <a:ea typeface="Calibri" panose="020F0502020204030204" pitchFamily="34" charset="0"/>
              <a:cs typeface="Calibri" panose="020F0502020204030204" pitchFamily="34" charset="0"/>
            </a:endParaRPr>
          </a:p>
          <a:p>
            <a:pPr algn="just"/>
            <a:r>
              <a:rPr lang="en-US" sz="1600" b="1" dirty="0">
                <a:latin typeface="Calibri" panose="020F0502020204030204" pitchFamily="34" charset="0"/>
                <a:ea typeface="Calibri" panose="020F0502020204030204" pitchFamily="34" charset="0"/>
                <a:cs typeface="Calibri" panose="020F0502020204030204" pitchFamily="34" charset="0"/>
              </a:rPr>
              <a:t>ASIC Solution Features:</a:t>
            </a:r>
          </a:p>
          <a:p>
            <a:pPr marL="742950" lvl="1" indent="-285750" algn="just">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Technology Node: 65nm CMOS LP</a:t>
            </a:r>
          </a:p>
          <a:p>
            <a:pPr marL="742950" lvl="1" indent="-285750" algn="just">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Analog Front End (AFE):</a:t>
            </a:r>
          </a:p>
          <a:p>
            <a:pPr marL="1200150" lvl="2" indent="-285750" algn="just">
              <a:buFont typeface="Wingdings" panose="05000000000000000000" pitchFamily="2" charset="2"/>
              <a:buChar char="ü"/>
            </a:pPr>
            <a:r>
              <a:rPr lang="en-US" sz="1600" dirty="0">
                <a:latin typeface="Calibri" panose="020F0502020204030204" pitchFamily="34" charset="0"/>
                <a:ea typeface="Calibri" panose="020F0502020204030204" pitchFamily="34" charset="0"/>
                <a:cs typeface="Calibri" panose="020F0502020204030204" pitchFamily="34" charset="0"/>
              </a:rPr>
              <a:t>Integrated instrumentation amplifier</a:t>
            </a:r>
          </a:p>
          <a:p>
            <a:pPr marL="1200150" lvl="2" indent="-285750" algn="just">
              <a:buFont typeface="Wingdings" panose="05000000000000000000" pitchFamily="2" charset="2"/>
              <a:buChar char="ü"/>
            </a:pPr>
            <a:r>
              <a:rPr lang="en-US" sz="1600" dirty="0">
                <a:latin typeface="Calibri" panose="020F0502020204030204" pitchFamily="34" charset="0"/>
                <a:ea typeface="Calibri" panose="020F0502020204030204" pitchFamily="34" charset="0"/>
                <a:cs typeface="Calibri" panose="020F0502020204030204" pitchFamily="34" charset="0"/>
              </a:rPr>
              <a:t>Low-noise ADC with 10-bit resolution</a:t>
            </a:r>
          </a:p>
          <a:p>
            <a:pPr marL="1200150" lvl="2" indent="-285750" algn="just">
              <a:buFont typeface="Wingdings" panose="05000000000000000000" pitchFamily="2" charset="2"/>
              <a:buChar char="ü"/>
            </a:pPr>
            <a:r>
              <a:rPr lang="en-US" sz="1600" dirty="0">
                <a:latin typeface="Calibri" panose="020F0502020204030204" pitchFamily="34" charset="0"/>
                <a:ea typeface="Calibri" panose="020F0502020204030204" pitchFamily="34" charset="0"/>
                <a:cs typeface="Calibri" panose="020F0502020204030204" pitchFamily="34" charset="0"/>
              </a:rPr>
              <a:t>Hardware bandpass filtering for noise reduction</a:t>
            </a:r>
          </a:p>
          <a:p>
            <a:pPr marL="1200150" lvl="2" indent="-285750" algn="just">
              <a:buFont typeface="Wingdings" panose="05000000000000000000" pitchFamily="2" charset="2"/>
              <a:buChar char="ü"/>
            </a:pPr>
            <a:endParaRPr lang="en-US" sz="500" dirty="0">
              <a:latin typeface="Calibri" panose="020F0502020204030204" pitchFamily="34" charset="0"/>
              <a:ea typeface="Calibri" panose="020F0502020204030204" pitchFamily="34" charset="0"/>
              <a:cs typeface="Calibri" panose="020F0502020204030204" pitchFamily="34" charset="0"/>
            </a:endParaRPr>
          </a:p>
          <a:p>
            <a:pPr algn="just"/>
            <a:r>
              <a:rPr lang="en-US" sz="1600" b="1" dirty="0">
                <a:latin typeface="Calibri" panose="020F0502020204030204" pitchFamily="34" charset="0"/>
                <a:ea typeface="Calibri" panose="020F0502020204030204" pitchFamily="34" charset="0"/>
                <a:cs typeface="Calibri" panose="020F0502020204030204" pitchFamily="34" charset="0"/>
              </a:rPr>
              <a:t>Digital Signal Processing Block:</a:t>
            </a:r>
          </a:p>
          <a:p>
            <a:pPr marL="742950" lvl="1" indent="-285750" algn="just">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QRS detection implemented using optimized FSM</a:t>
            </a:r>
          </a:p>
          <a:p>
            <a:pPr marL="742950" lvl="1" indent="-285750" algn="just">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R-R interval calculation</a:t>
            </a:r>
          </a:p>
          <a:p>
            <a:pPr marL="742950" lvl="1" indent="-285750" algn="just">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Lossless compression module (Huffman encoding)</a:t>
            </a:r>
          </a:p>
          <a:p>
            <a:pPr marL="742950" lvl="1" indent="-285750" algn="just">
              <a:buFont typeface="Arial" panose="020B0604020202020204" pitchFamily="34" charset="0"/>
              <a:buChar char="•"/>
            </a:pPr>
            <a:endParaRPr lang="en-US" sz="500" dirty="0">
              <a:latin typeface="Calibri" panose="020F0502020204030204" pitchFamily="34" charset="0"/>
              <a:ea typeface="Calibri" panose="020F0502020204030204" pitchFamily="34" charset="0"/>
              <a:cs typeface="Calibri" panose="020F0502020204030204" pitchFamily="34" charset="0"/>
            </a:endParaRPr>
          </a:p>
        </p:txBody>
      </p:sp>
      <p:sp>
        <p:nvSpPr>
          <p:cNvPr id="3" name="TextBox 2">
            <a:extLst>
              <a:ext uri="{FF2B5EF4-FFF2-40B4-BE49-F238E27FC236}">
                <a16:creationId xmlns="" xmlns:a16="http://schemas.microsoft.com/office/drawing/2014/main" id="{533F9F43-CCCE-29F8-43D2-7E385847D3C1}"/>
              </a:ext>
            </a:extLst>
          </p:cNvPr>
          <p:cNvSpPr txBox="1"/>
          <p:nvPr/>
        </p:nvSpPr>
        <p:spPr>
          <a:xfrm>
            <a:off x="5589038" y="655762"/>
            <a:ext cx="6602962" cy="5570756"/>
          </a:xfrm>
          <a:prstGeom prst="rect">
            <a:avLst/>
          </a:prstGeom>
          <a:noFill/>
        </p:spPr>
        <p:txBody>
          <a:bodyPr wrap="square">
            <a:spAutoFit/>
          </a:bodyPr>
          <a:lstStyle/>
          <a:p>
            <a:pPr algn="just"/>
            <a:r>
              <a:rPr lang="en-US" sz="1600" b="1" dirty="0">
                <a:latin typeface="Calibri" panose="020F0502020204030204" pitchFamily="34" charset="0"/>
                <a:ea typeface="Calibri" panose="020F0502020204030204" pitchFamily="34" charset="0"/>
                <a:cs typeface="Calibri" panose="020F0502020204030204" pitchFamily="34" charset="0"/>
              </a:rPr>
              <a:t>Power Management:</a:t>
            </a:r>
          </a:p>
          <a:p>
            <a:pPr marL="742950" lvl="1" indent="-285750" algn="just">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Dynamic voltage scaling</a:t>
            </a:r>
          </a:p>
          <a:p>
            <a:pPr marL="742950" lvl="1" indent="-285750" algn="just">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Power gating for idle logic</a:t>
            </a:r>
          </a:p>
          <a:p>
            <a:pPr algn="just"/>
            <a:endParaRPr lang="en-US" sz="500" b="1" dirty="0">
              <a:latin typeface="Calibri" panose="020F0502020204030204" pitchFamily="34" charset="0"/>
              <a:ea typeface="Calibri" panose="020F0502020204030204" pitchFamily="34" charset="0"/>
              <a:cs typeface="Calibri" panose="020F0502020204030204" pitchFamily="34" charset="0"/>
            </a:endParaRPr>
          </a:p>
          <a:p>
            <a:pPr algn="just"/>
            <a:r>
              <a:rPr lang="en-US" sz="1600" b="1" dirty="0">
                <a:latin typeface="Calibri" panose="020F0502020204030204" pitchFamily="34" charset="0"/>
                <a:ea typeface="Calibri" panose="020F0502020204030204" pitchFamily="34" charset="0"/>
                <a:cs typeface="Calibri" panose="020F0502020204030204" pitchFamily="34" charset="0"/>
              </a:rPr>
              <a:t>I/O Interface:</a:t>
            </a:r>
          </a:p>
          <a:p>
            <a:pPr marL="742950" lvl="1" indent="-285750" algn="just">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SPI slave for data transfer to MCU or wireless transceiver</a:t>
            </a:r>
          </a:p>
          <a:p>
            <a:pPr marL="742950" lvl="1" indent="-285750" algn="just">
              <a:buFont typeface="Arial" panose="020B0604020202020204" pitchFamily="34" charset="0"/>
              <a:buChar char="•"/>
            </a:pPr>
            <a:endParaRPr lang="en-US" sz="500" dirty="0">
              <a:latin typeface="Calibri" panose="020F0502020204030204" pitchFamily="34" charset="0"/>
              <a:ea typeface="Calibri" panose="020F0502020204030204" pitchFamily="34" charset="0"/>
              <a:cs typeface="Calibri" panose="020F0502020204030204" pitchFamily="34" charset="0"/>
            </a:endParaRPr>
          </a:p>
          <a:p>
            <a:pPr algn="just"/>
            <a:r>
              <a:rPr lang="en-US" sz="1600" b="1" dirty="0">
                <a:latin typeface="Calibri" panose="020F0502020204030204" pitchFamily="34" charset="0"/>
                <a:ea typeface="Calibri" panose="020F0502020204030204" pitchFamily="34" charset="0"/>
                <a:cs typeface="Calibri" panose="020F0502020204030204" pitchFamily="34" charset="0"/>
              </a:rPr>
              <a:t>Design Flow Highlights:</a:t>
            </a:r>
          </a:p>
          <a:p>
            <a:pPr marL="742950" lvl="1" indent="-285750" algn="just">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RTL design and behavioral verification in Verilog</a:t>
            </a:r>
          </a:p>
          <a:p>
            <a:pPr marL="742950" lvl="1" indent="-285750" algn="just">
              <a:buFont typeface="Arial" panose="020B0604020202020204" pitchFamily="34" charset="0"/>
              <a:buChar char="•"/>
            </a:pPr>
            <a:r>
              <a:rPr lang="en-US" sz="1600" dirty="0" err="1">
                <a:latin typeface="Calibri" panose="020F0502020204030204" pitchFamily="34" charset="0"/>
                <a:ea typeface="Calibri" panose="020F0502020204030204" pitchFamily="34" charset="0"/>
                <a:cs typeface="Calibri" panose="020F0502020204030204" pitchFamily="34" charset="0"/>
              </a:rPr>
              <a:t>Floorplanning</a:t>
            </a:r>
            <a:r>
              <a:rPr lang="en-US" sz="1600" dirty="0">
                <a:latin typeface="Calibri" panose="020F0502020204030204" pitchFamily="34" charset="0"/>
                <a:ea typeface="Calibri" panose="020F0502020204030204" pitchFamily="34" charset="0"/>
                <a:cs typeface="Calibri" panose="020F0502020204030204" pitchFamily="34" charset="0"/>
              </a:rPr>
              <a:t> with area constraint &lt; 2 mm²</a:t>
            </a:r>
          </a:p>
          <a:p>
            <a:pPr marL="742950" lvl="1" indent="-285750" algn="just">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Clock tree synthesis to minimize skew in DSP block</a:t>
            </a:r>
          </a:p>
          <a:p>
            <a:pPr marL="742950" lvl="1" indent="-285750" algn="just">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Post-layout simulation with extracted </a:t>
            </a:r>
            <a:r>
              <a:rPr lang="en-US" sz="1600" dirty="0" err="1">
                <a:latin typeface="Calibri" panose="020F0502020204030204" pitchFamily="34" charset="0"/>
                <a:ea typeface="Calibri" panose="020F0502020204030204" pitchFamily="34" charset="0"/>
                <a:cs typeface="Calibri" panose="020F0502020204030204" pitchFamily="34" charset="0"/>
              </a:rPr>
              <a:t>parasitics</a:t>
            </a:r>
            <a:r>
              <a:rPr lang="en-US" sz="1600" dirty="0">
                <a:latin typeface="Calibri" panose="020F0502020204030204" pitchFamily="34" charset="0"/>
                <a:ea typeface="Calibri" panose="020F0502020204030204" pitchFamily="34" charset="0"/>
                <a:cs typeface="Calibri" panose="020F0502020204030204" pitchFamily="34" charset="0"/>
              </a:rPr>
              <a:t> for power estimation</a:t>
            </a:r>
          </a:p>
          <a:p>
            <a:pPr marL="742950" lvl="1" indent="-285750" algn="just">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Final GDSII taped out using TSMC 65nm LP process</a:t>
            </a:r>
          </a:p>
          <a:p>
            <a:pPr marL="742950" lvl="1" indent="-285750" algn="just">
              <a:buFont typeface="Arial" panose="020B0604020202020204" pitchFamily="34" charset="0"/>
              <a:buChar char="•"/>
            </a:pPr>
            <a:endParaRPr lang="en-US" sz="500" dirty="0">
              <a:latin typeface="Calibri" panose="020F0502020204030204" pitchFamily="34" charset="0"/>
              <a:ea typeface="Calibri" panose="020F0502020204030204" pitchFamily="34" charset="0"/>
              <a:cs typeface="Calibri" panose="020F0502020204030204" pitchFamily="34" charset="0"/>
            </a:endParaRPr>
          </a:p>
          <a:p>
            <a:pPr algn="just"/>
            <a:r>
              <a:rPr lang="en-US" sz="1600" b="1" dirty="0">
                <a:latin typeface="Calibri" panose="020F0502020204030204" pitchFamily="34" charset="0"/>
                <a:ea typeface="Calibri" panose="020F0502020204030204" pitchFamily="34" charset="0"/>
                <a:cs typeface="Calibri" panose="020F0502020204030204" pitchFamily="34" charset="0"/>
              </a:rPr>
              <a:t>Results:</a:t>
            </a:r>
          </a:p>
          <a:p>
            <a:pPr marL="742950" lvl="1" indent="-285750" algn="just">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Total Power Consumption: ~120 µW at 1V supply</a:t>
            </a:r>
          </a:p>
          <a:p>
            <a:pPr marL="742950" lvl="1" indent="-285750" algn="just">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Throughput: 1 ECG sample processed every 2 </a:t>
            </a:r>
            <a:r>
              <a:rPr lang="en-US" sz="1600" dirty="0" err="1">
                <a:latin typeface="Calibri" panose="020F0502020204030204" pitchFamily="34" charset="0"/>
                <a:ea typeface="Calibri" panose="020F0502020204030204" pitchFamily="34" charset="0"/>
                <a:cs typeface="Calibri" panose="020F0502020204030204" pitchFamily="34" charset="0"/>
              </a:rPr>
              <a:t>ms</a:t>
            </a:r>
            <a:endParaRPr lang="en-US" sz="1600" dirty="0">
              <a:latin typeface="Calibri" panose="020F0502020204030204" pitchFamily="34" charset="0"/>
              <a:ea typeface="Calibri" panose="020F0502020204030204" pitchFamily="34" charset="0"/>
              <a:cs typeface="Calibri" panose="020F0502020204030204" pitchFamily="34" charset="0"/>
            </a:endParaRPr>
          </a:p>
          <a:p>
            <a:pPr marL="742950" lvl="1" indent="-285750" algn="just">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Silicon Area: 1.6 mm² including ESD pads</a:t>
            </a:r>
          </a:p>
          <a:p>
            <a:pPr marL="742950" lvl="1" indent="-285750" algn="just">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Battery Life Impact: Extended device operation to &gt;5 days on 50 </a:t>
            </a:r>
            <a:r>
              <a:rPr lang="en-US" sz="1600" dirty="0" err="1">
                <a:latin typeface="Calibri" panose="020F0502020204030204" pitchFamily="34" charset="0"/>
                <a:ea typeface="Calibri" panose="020F0502020204030204" pitchFamily="34" charset="0"/>
                <a:cs typeface="Calibri" panose="020F0502020204030204" pitchFamily="34" charset="0"/>
              </a:rPr>
              <a:t>mAh</a:t>
            </a:r>
            <a:r>
              <a:rPr lang="en-US" sz="1600" dirty="0">
                <a:latin typeface="Calibri" panose="020F0502020204030204" pitchFamily="34" charset="0"/>
                <a:ea typeface="Calibri" panose="020F0502020204030204" pitchFamily="34" charset="0"/>
                <a:cs typeface="Calibri" panose="020F0502020204030204" pitchFamily="34" charset="0"/>
              </a:rPr>
              <a:t> battery</a:t>
            </a:r>
          </a:p>
          <a:p>
            <a:pPr marL="742950" lvl="1" indent="-285750" algn="just">
              <a:buFont typeface="Arial" panose="020B0604020202020204" pitchFamily="34" charset="0"/>
              <a:buChar char="•"/>
            </a:pPr>
            <a:endParaRPr lang="en-US" sz="500" dirty="0">
              <a:latin typeface="Calibri" panose="020F0502020204030204" pitchFamily="34" charset="0"/>
              <a:ea typeface="Calibri" panose="020F0502020204030204" pitchFamily="34" charset="0"/>
              <a:cs typeface="Calibri" panose="020F0502020204030204" pitchFamily="34" charset="0"/>
            </a:endParaRPr>
          </a:p>
          <a:p>
            <a:pPr algn="just"/>
            <a:r>
              <a:rPr lang="en-US" sz="1600" b="1" dirty="0">
                <a:latin typeface="Calibri" panose="020F0502020204030204" pitchFamily="34" charset="0"/>
                <a:ea typeface="Calibri" panose="020F0502020204030204" pitchFamily="34" charset="0"/>
                <a:cs typeface="Calibri" panose="020F0502020204030204" pitchFamily="34" charset="0"/>
              </a:rPr>
              <a:t>Conclusion:</a:t>
            </a:r>
          </a:p>
          <a:p>
            <a:pPr algn="just"/>
            <a:r>
              <a:rPr lang="en-US" sz="1600" dirty="0">
                <a:latin typeface="Calibri" panose="020F0502020204030204" pitchFamily="34" charset="0"/>
                <a:ea typeface="Calibri" panose="020F0502020204030204" pitchFamily="34" charset="0"/>
                <a:cs typeface="Calibri" panose="020F0502020204030204" pitchFamily="34" charset="0"/>
              </a:rPr>
              <a:t>This ASIC enabled high-precision, energy-efficient ECG monitoring for wearables, outperforming equivalent FPGA or microcontroller-based implementations in terms of power, size, and integration.</a:t>
            </a:r>
          </a:p>
        </p:txBody>
      </p:sp>
      <p:cxnSp>
        <p:nvCxnSpPr>
          <p:cNvPr id="5" name="Straight Connector 4">
            <a:extLst>
              <a:ext uri="{FF2B5EF4-FFF2-40B4-BE49-F238E27FC236}">
                <a16:creationId xmlns="" xmlns:a16="http://schemas.microsoft.com/office/drawing/2014/main" id="{B51F5175-E5EF-FAE7-312B-03AF43E66C8D}"/>
              </a:ext>
            </a:extLst>
          </p:cNvPr>
          <p:cNvCxnSpPr>
            <a:cxnSpLocks/>
          </p:cNvCxnSpPr>
          <p:nvPr/>
        </p:nvCxnSpPr>
        <p:spPr>
          <a:xfrm>
            <a:off x="5495728" y="653143"/>
            <a:ext cx="0" cy="5505061"/>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62476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B74B084-246B-94AE-3C13-11DA54729F0E}"/>
            </a:ext>
          </a:extLst>
        </p:cNvPr>
        <p:cNvGrpSpPr/>
        <p:nvPr/>
      </p:nvGrpSpPr>
      <p:grpSpPr>
        <a:xfrm>
          <a:off x="0" y="0"/>
          <a:ext cx="0" cy="0"/>
          <a:chOff x="0" y="0"/>
          <a:chExt cx="0" cy="0"/>
        </a:xfrm>
      </p:grpSpPr>
      <p:sp>
        <p:nvSpPr>
          <p:cNvPr id="9" name="Rounded Rectangle 17">
            <a:extLst>
              <a:ext uri="{FF2B5EF4-FFF2-40B4-BE49-F238E27FC236}">
                <a16:creationId xmlns="" xmlns:a16="http://schemas.microsoft.com/office/drawing/2014/main" id="{AAAAF158-226B-5405-DF80-3DECA40A109B}"/>
              </a:ext>
            </a:extLst>
          </p:cNvPr>
          <p:cNvSpPr/>
          <p:nvPr/>
        </p:nvSpPr>
        <p:spPr>
          <a:xfrm>
            <a:off x="2078243" y="123556"/>
            <a:ext cx="8558656" cy="52958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2700" algn="ctr">
              <a:lnSpc>
                <a:spcPct val="100000"/>
              </a:lnSpc>
              <a:spcBef>
                <a:spcPts val="100"/>
              </a:spcBef>
            </a:pPr>
            <a:r>
              <a:rPr lang="en-US" sz="3600" spc="-10" dirty="0"/>
              <a:t>Economics of ASICs</a:t>
            </a:r>
            <a:endParaRPr lang="en-IN" sz="1400" b="1" spc="-50" dirty="0"/>
          </a:p>
        </p:txBody>
      </p:sp>
      <p:cxnSp>
        <p:nvCxnSpPr>
          <p:cNvPr id="5" name="Straight Connector 4">
            <a:extLst>
              <a:ext uri="{FF2B5EF4-FFF2-40B4-BE49-F238E27FC236}">
                <a16:creationId xmlns="" xmlns:a16="http://schemas.microsoft.com/office/drawing/2014/main" id="{5594A70B-2DED-0B1A-4848-5E6A1E7CBC34}"/>
              </a:ext>
            </a:extLst>
          </p:cNvPr>
          <p:cNvCxnSpPr>
            <a:cxnSpLocks/>
          </p:cNvCxnSpPr>
          <p:nvPr/>
        </p:nvCxnSpPr>
        <p:spPr>
          <a:xfrm>
            <a:off x="6002729" y="653143"/>
            <a:ext cx="0" cy="3867239"/>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 xmlns:a16="http://schemas.microsoft.com/office/drawing/2014/main" id="{2026FE14-17A1-F42C-A775-E6CDD0833641}"/>
              </a:ext>
            </a:extLst>
          </p:cNvPr>
          <p:cNvSpPr txBox="1"/>
          <p:nvPr/>
        </p:nvSpPr>
        <p:spPr>
          <a:xfrm>
            <a:off x="161731" y="812899"/>
            <a:ext cx="6102220" cy="2769989"/>
          </a:xfrm>
          <a:prstGeom prst="rect">
            <a:avLst/>
          </a:prstGeom>
          <a:noFill/>
        </p:spPr>
        <p:txBody>
          <a:bodyPr wrap="square">
            <a:spAutoFit/>
          </a:bodyPr>
          <a:lstStyle/>
          <a:p>
            <a:r>
              <a:rPr lang="en-IN" sz="2000" b="1" dirty="0">
                <a:solidFill>
                  <a:srgbClr val="7030A0"/>
                </a:solidFill>
                <a:latin typeface="Calibri" panose="020F0502020204030204" pitchFamily="34" charset="0"/>
                <a:ea typeface="Calibri" panose="020F0502020204030204" pitchFamily="34" charset="0"/>
                <a:cs typeface="Calibri" panose="020F0502020204030204" pitchFamily="34" charset="0"/>
              </a:rPr>
              <a:t>Cost Components</a:t>
            </a:r>
          </a:p>
          <a:p>
            <a:endParaRPr lang="en-IN" sz="1000" b="1" dirty="0">
              <a:solidFill>
                <a:srgbClr val="7030A0"/>
              </a:solidFill>
              <a:latin typeface="Calibri" panose="020F0502020204030204" pitchFamily="34" charset="0"/>
              <a:ea typeface="Calibri" panose="020F0502020204030204" pitchFamily="34" charset="0"/>
              <a:cs typeface="Calibri" panose="020F0502020204030204" pitchFamily="34" charset="0"/>
            </a:endParaRPr>
          </a:p>
          <a:p>
            <a:r>
              <a:rPr lang="en-IN" b="1" dirty="0">
                <a:latin typeface="Calibri" panose="020F0502020204030204" pitchFamily="34" charset="0"/>
                <a:ea typeface="Calibri" panose="020F0502020204030204" pitchFamily="34" charset="0"/>
                <a:cs typeface="Calibri" panose="020F0502020204030204" pitchFamily="34" charset="0"/>
              </a:rPr>
              <a:t>Fixed Costs (NRE):</a:t>
            </a:r>
          </a:p>
          <a:p>
            <a:pPr marL="742950" lvl="1"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Design tools, mask generation, simulation, test programs</a:t>
            </a:r>
          </a:p>
          <a:p>
            <a:pPr marL="742950" lvl="1"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Range: $10K–$300K+</a:t>
            </a:r>
          </a:p>
          <a:p>
            <a:endParaRPr lang="en-IN" dirty="0">
              <a:latin typeface="Calibri" panose="020F0502020204030204" pitchFamily="34" charset="0"/>
              <a:ea typeface="Calibri" panose="020F0502020204030204" pitchFamily="34" charset="0"/>
              <a:cs typeface="Calibri" panose="020F0502020204030204" pitchFamily="34" charset="0"/>
            </a:endParaRPr>
          </a:p>
          <a:p>
            <a:r>
              <a:rPr lang="en-IN" b="1" dirty="0">
                <a:latin typeface="Calibri" panose="020F0502020204030204" pitchFamily="34" charset="0"/>
                <a:ea typeface="Calibri" panose="020F0502020204030204" pitchFamily="34" charset="0"/>
                <a:cs typeface="Calibri" panose="020F0502020204030204" pitchFamily="34" charset="0"/>
              </a:rPr>
              <a:t>Variable Costs (Per Unit):</a:t>
            </a:r>
          </a:p>
          <a:p>
            <a:pPr marL="742950" lvl="1"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Fabrication, packaging, testing</a:t>
            </a:r>
          </a:p>
          <a:p>
            <a:pPr marL="742950" lvl="1"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Decreases with higher volume</a:t>
            </a:r>
          </a:p>
        </p:txBody>
      </p:sp>
      <p:graphicFrame>
        <p:nvGraphicFramePr>
          <p:cNvPr id="6" name="Table 5">
            <a:extLst>
              <a:ext uri="{FF2B5EF4-FFF2-40B4-BE49-F238E27FC236}">
                <a16:creationId xmlns="" xmlns:a16="http://schemas.microsoft.com/office/drawing/2014/main" id="{D29E1661-A6A3-7451-CF11-5A9A61D6CDBE}"/>
              </a:ext>
            </a:extLst>
          </p:cNvPr>
          <p:cNvGraphicFramePr>
            <a:graphicFrameLocks noGrp="1"/>
          </p:cNvGraphicFramePr>
          <p:nvPr>
            <p:extLst>
              <p:ext uri="{D42A27DB-BD31-4B8C-83A1-F6EECF244321}">
                <p14:modId xmlns:p14="http://schemas.microsoft.com/office/powerpoint/2010/main" val="3356174553"/>
              </p:ext>
            </p:extLst>
          </p:nvPr>
        </p:nvGraphicFramePr>
        <p:xfrm>
          <a:off x="1200541" y="4324431"/>
          <a:ext cx="9604376" cy="1463040"/>
        </p:xfrm>
        <a:graphic>
          <a:graphicData uri="http://schemas.openxmlformats.org/drawingml/2006/table">
            <a:tbl>
              <a:tblPr/>
              <a:tblGrid>
                <a:gridCol w="2401094">
                  <a:extLst>
                    <a:ext uri="{9D8B030D-6E8A-4147-A177-3AD203B41FA5}">
                      <a16:colId xmlns="" xmlns:a16="http://schemas.microsoft.com/office/drawing/2014/main" val="2227236234"/>
                    </a:ext>
                  </a:extLst>
                </a:gridCol>
                <a:gridCol w="2401094">
                  <a:extLst>
                    <a:ext uri="{9D8B030D-6E8A-4147-A177-3AD203B41FA5}">
                      <a16:colId xmlns="" xmlns:a16="http://schemas.microsoft.com/office/drawing/2014/main" val="2679655934"/>
                    </a:ext>
                  </a:extLst>
                </a:gridCol>
                <a:gridCol w="2401094">
                  <a:extLst>
                    <a:ext uri="{9D8B030D-6E8A-4147-A177-3AD203B41FA5}">
                      <a16:colId xmlns="" xmlns:a16="http://schemas.microsoft.com/office/drawing/2014/main" val="2060161634"/>
                    </a:ext>
                  </a:extLst>
                </a:gridCol>
                <a:gridCol w="2401094">
                  <a:extLst>
                    <a:ext uri="{9D8B030D-6E8A-4147-A177-3AD203B41FA5}">
                      <a16:colId xmlns="" xmlns:a16="http://schemas.microsoft.com/office/drawing/2014/main" val="1482264260"/>
                    </a:ext>
                  </a:extLst>
                </a:gridCol>
              </a:tblGrid>
              <a:tr h="365760">
                <a:tc>
                  <a:txBody>
                    <a:bodyPr/>
                    <a:lstStyle/>
                    <a:p>
                      <a:pPr algn="ctr"/>
                      <a:r>
                        <a:rPr lang="en-IN" sz="1800" dirty="0">
                          <a:latin typeface="Calibri" panose="020F0502020204030204" pitchFamily="34" charset="0"/>
                          <a:ea typeface="Calibri" panose="020F0502020204030204" pitchFamily="34" charset="0"/>
                          <a:cs typeface="Calibri" panose="020F0502020204030204" pitchFamily="34" charset="0"/>
                        </a:rPr>
                        <a:t>ASIC Type</a:t>
                      </a:r>
                    </a:p>
                  </a:txBody>
                  <a:tcPr anchor="ctr">
                    <a:lnL>
                      <a:noFill/>
                    </a:lnL>
                    <a:lnR>
                      <a:noFill/>
                    </a:lnR>
                    <a:lnT>
                      <a:noFill/>
                    </a:lnT>
                    <a:lnB>
                      <a:noFill/>
                    </a:lnB>
                    <a:solidFill>
                      <a:schemeClr val="bg2">
                        <a:lumMod val="75000"/>
                      </a:schemeClr>
                    </a:solidFill>
                  </a:tcPr>
                </a:tc>
                <a:tc>
                  <a:txBody>
                    <a:bodyPr/>
                    <a:lstStyle/>
                    <a:p>
                      <a:pPr algn="ctr"/>
                      <a:r>
                        <a:rPr lang="en-IN" sz="1800">
                          <a:latin typeface="Calibri" panose="020F0502020204030204" pitchFamily="34" charset="0"/>
                          <a:ea typeface="Calibri" panose="020F0502020204030204" pitchFamily="34" charset="0"/>
                          <a:cs typeface="Calibri" panose="020F0502020204030204" pitchFamily="34" charset="0"/>
                        </a:rPr>
                        <a:t>Fixed Cost</a:t>
                      </a:r>
                    </a:p>
                  </a:txBody>
                  <a:tcPr anchor="ctr">
                    <a:lnL>
                      <a:noFill/>
                    </a:lnL>
                    <a:lnR>
                      <a:noFill/>
                    </a:lnR>
                    <a:lnT>
                      <a:noFill/>
                    </a:lnT>
                    <a:lnB>
                      <a:noFill/>
                    </a:lnB>
                    <a:solidFill>
                      <a:schemeClr val="bg2">
                        <a:lumMod val="75000"/>
                      </a:schemeClr>
                    </a:solidFill>
                  </a:tcPr>
                </a:tc>
                <a:tc>
                  <a:txBody>
                    <a:bodyPr/>
                    <a:lstStyle/>
                    <a:p>
                      <a:pPr algn="ctr"/>
                      <a:r>
                        <a:rPr lang="en-IN" sz="1800" dirty="0">
                          <a:latin typeface="Calibri" panose="020F0502020204030204" pitchFamily="34" charset="0"/>
                          <a:ea typeface="Calibri" panose="020F0502020204030204" pitchFamily="34" charset="0"/>
                          <a:cs typeface="Calibri" panose="020F0502020204030204" pitchFamily="34" charset="0"/>
                        </a:rPr>
                        <a:t>Unit Cost</a:t>
                      </a:r>
                    </a:p>
                  </a:txBody>
                  <a:tcPr anchor="ctr">
                    <a:lnL>
                      <a:noFill/>
                    </a:lnL>
                    <a:lnR>
                      <a:noFill/>
                    </a:lnR>
                    <a:lnT>
                      <a:noFill/>
                    </a:lnT>
                    <a:lnB>
                      <a:noFill/>
                    </a:lnB>
                    <a:solidFill>
                      <a:schemeClr val="bg2">
                        <a:lumMod val="75000"/>
                      </a:schemeClr>
                    </a:solidFill>
                  </a:tcPr>
                </a:tc>
                <a:tc>
                  <a:txBody>
                    <a:bodyPr/>
                    <a:lstStyle/>
                    <a:p>
                      <a:pPr algn="ctr"/>
                      <a:r>
                        <a:rPr lang="en-IN" sz="1800" dirty="0">
                          <a:latin typeface="Calibri" panose="020F0502020204030204" pitchFamily="34" charset="0"/>
                          <a:ea typeface="Calibri" panose="020F0502020204030204" pitchFamily="34" charset="0"/>
                          <a:cs typeface="Calibri" panose="020F0502020204030204" pitchFamily="34" charset="0"/>
                        </a:rPr>
                        <a:t>Breakeven Volume</a:t>
                      </a:r>
                    </a:p>
                  </a:txBody>
                  <a:tcPr anchor="ctr">
                    <a:lnL>
                      <a:noFill/>
                    </a:lnL>
                    <a:lnR>
                      <a:noFill/>
                    </a:lnR>
                    <a:lnT>
                      <a:noFill/>
                    </a:lnT>
                    <a:lnB>
                      <a:noFill/>
                    </a:lnB>
                    <a:solidFill>
                      <a:schemeClr val="bg2">
                        <a:lumMod val="75000"/>
                      </a:schemeClr>
                    </a:solidFill>
                  </a:tcPr>
                </a:tc>
                <a:extLst>
                  <a:ext uri="{0D108BD9-81ED-4DB2-BD59-A6C34878D82A}">
                    <a16:rowId xmlns="" xmlns:a16="http://schemas.microsoft.com/office/drawing/2014/main" val="1660554096"/>
                  </a:ext>
                </a:extLst>
              </a:tr>
              <a:tr h="365760">
                <a:tc>
                  <a:txBody>
                    <a:bodyPr/>
                    <a:lstStyle/>
                    <a:p>
                      <a:pPr algn="ctr"/>
                      <a:r>
                        <a:rPr lang="en-IN" sz="1800">
                          <a:latin typeface="Calibri" panose="020F0502020204030204" pitchFamily="34" charset="0"/>
                          <a:ea typeface="Calibri" panose="020F0502020204030204" pitchFamily="34" charset="0"/>
                          <a:cs typeface="Calibri" panose="020F0502020204030204" pitchFamily="34" charset="0"/>
                        </a:rPr>
                        <a:t>FPGA</a:t>
                      </a:r>
                    </a:p>
                  </a:txBody>
                  <a:tcPr anchor="ctr">
                    <a:lnL>
                      <a:noFill/>
                    </a:lnL>
                    <a:lnR>
                      <a:noFill/>
                    </a:lnR>
                    <a:lnT>
                      <a:noFill/>
                    </a:lnT>
                    <a:lnB>
                      <a:noFill/>
                    </a:lnB>
                    <a:noFill/>
                  </a:tcPr>
                </a:tc>
                <a:tc>
                  <a:txBody>
                    <a:bodyPr/>
                    <a:lstStyle/>
                    <a:p>
                      <a:pPr algn="ctr"/>
                      <a:r>
                        <a:rPr lang="en-IN" sz="1800">
                          <a:latin typeface="Calibri" panose="020F0502020204030204" pitchFamily="34" charset="0"/>
                          <a:ea typeface="Calibri" panose="020F0502020204030204" pitchFamily="34" charset="0"/>
                          <a:cs typeface="Calibri" panose="020F0502020204030204" pitchFamily="34" charset="0"/>
                        </a:rPr>
                        <a:t>$21,800</a:t>
                      </a:r>
                    </a:p>
                  </a:txBody>
                  <a:tcPr anchor="ctr">
                    <a:lnL>
                      <a:noFill/>
                    </a:lnL>
                    <a:lnR>
                      <a:noFill/>
                    </a:lnR>
                    <a:lnT>
                      <a:noFill/>
                    </a:lnT>
                    <a:lnB>
                      <a:noFill/>
                    </a:lnB>
                    <a:noFill/>
                  </a:tcPr>
                </a:tc>
                <a:tc>
                  <a:txBody>
                    <a:bodyPr/>
                    <a:lstStyle/>
                    <a:p>
                      <a:pPr algn="ctr"/>
                      <a:r>
                        <a:rPr lang="en-IN" sz="1800">
                          <a:latin typeface="Calibri" panose="020F0502020204030204" pitchFamily="34" charset="0"/>
                          <a:ea typeface="Calibri" panose="020F0502020204030204" pitchFamily="34" charset="0"/>
                          <a:cs typeface="Calibri" panose="020F0502020204030204" pitchFamily="34" charset="0"/>
                        </a:rPr>
                        <a:t>$39</a:t>
                      </a:r>
                    </a:p>
                  </a:txBody>
                  <a:tcPr anchor="ctr">
                    <a:lnL>
                      <a:noFill/>
                    </a:lnL>
                    <a:lnR>
                      <a:noFill/>
                    </a:lnR>
                    <a:lnT>
                      <a:noFill/>
                    </a:lnT>
                    <a:lnB>
                      <a:noFill/>
                    </a:lnB>
                    <a:noFill/>
                  </a:tcPr>
                </a:tc>
                <a:tc>
                  <a:txBody>
                    <a:bodyPr/>
                    <a:lstStyle/>
                    <a:p>
                      <a:pPr algn="ctr"/>
                      <a:r>
                        <a:rPr lang="en-IN" sz="1800">
                          <a:latin typeface="Calibri" panose="020F0502020204030204" pitchFamily="34" charset="0"/>
                          <a:ea typeface="Calibri" panose="020F0502020204030204" pitchFamily="34" charset="0"/>
                          <a:cs typeface="Calibri" panose="020F0502020204030204" pitchFamily="34" charset="0"/>
                        </a:rPr>
                        <a:t>-</a:t>
                      </a:r>
                    </a:p>
                  </a:txBody>
                  <a:tcPr anchor="ctr">
                    <a:lnL>
                      <a:noFill/>
                    </a:lnL>
                    <a:lnR>
                      <a:noFill/>
                    </a:lnR>
                    <a:lnT>
                      <a:noFill/>
                    </a:lnT>
                    <a:lnB>
                      <a:noFill/>
                    </a:lnB>
                    <a:noFill/>
                  </a:tcPr>
                </a:tc>
                <a:extLst>
                  <a:ext uri="{0D108BD9-81ED-4DB2-BD59-A6C34878D82A}">
                    <a16:rowId xmlns="" xmlns:a16="http://schemas.microsoft.com/office/drawing/2014/main" val="2130348987"/>
                  </a:ext>
                </a:extLst>
              </a:tr>
              <a:tr h="365760">
                <a:tc>
                  <a:txBody>
                    <a:bodyPr/>
                    <a:lstStyle/>
                    <a:p>
                      <a:pPr algn="ctr"/>
                      <a:r>
                        <a:rPr lang="en-IN" sz="1800">
                          <a:latin typeface="Calibri" panose="020F0502020204030204" pitchFamily="34" charset="0"/>
                          <a:ea typeface="Calibri" panose="020F0502020204030204" pitchFamily="34" charset="0"/>
                          <a:cs typeface="Calibri" panose="020F0502020204030204" pitchFamily="34" charset="0"/>
                        </a:rPr>
                        <a:t>MGA</a:t>
                      </a:r>
                    </a:p>
                  </a:txBody>
                  <a:tcPr anchor="ctr">
                    <a:lnL>
                      <a:noFill/>
                    </a:lnL>
                    <a:lnR>
                      <a:noFill/>
                    </a:lnR>
                    <a:lnT>
                      <a:noFill/>
                    </a:lnT>
                    <a:lnB>
                      <a:noFill/>
                    </a:lnB>
                    <a:noFill/>
                  </a:tcPr>
                </a:tc>
                <a:tc>
                  <a:txBody>
                    <a:bodyPr/>
                    <a:lstStyle/>
                    <a:p>
                      <a:pPr algn="ctr"/>
                      <a:r>
                        <a:rPr lang="en-IN" sz="1800" dirty="0">
                          <a:latin typeface="Calibri" panose="020F0502020204030204" pitchFamily="34" charset="0"/>
                          <a:ea typeface="Calibri" panose="020F0502020204030204" pitchFamily="34" charset="0"/>
                          <a:cs typeface="Calibri" panose="020F0502020204030204" pitchFamily="34" charset="0"/>
                        </a:rPr>
                        <a:t>$86,000</a:t>
                      </a:r>
                    </a:p>
                  </a:txBody>
                  <a:tcPr anchor="ctr">
                    <a:lnL>
                      <a:noFill/>
                    </a:lnL>
                    <a:lnR>
                      <a:noFill/>
                    </a:lnR>
                    <a:lnT>
                      <a:noFill/>
                    </a:lnT>
                    <a:lnB>
                      <a:noFill/>
                    </a:lnB>
                    <a:noFill/>
                  </a:tcPr>
                </a:tc>
                <a:tc>
                  <a:txBody>
                    <a:bodyPr/>
                    <a:lstStyle/>
                    <a:p>
                      <a:pPr algn="ctr"/>
                      <a:r>
                        <a:rPr lang="en-IN" sz="1800">
                          <a:latin typeface="Calibri" panose="020F0502020204030204" pitchFamily="34" charset="0"/>
                          <a:ea typeface="Calibri" panose="020F0502020204030204" pitchFamily="34" charset="0"/>
                          <a:cs typeface="Calibri" panose="020F0502020204030204" pitchFamily="34" charset="0"/>
                        </a:rPr>
                        <a:t>$10</a:t>
                      </a:r>
                    </a:p>
                  </a:txBody>
                  <a:tcPr anchor="ctr">
                    <a:lnL>
                      <a:noFill/>
                    </a:lnL>
                    <a:lnR>
                      <a:noFill/>
                    </a:lnR>
                    <a:lnT>
                      <a:noFill/>
                    </a:lnT>
                    <a:lnB>
                      <a:noFill/>
                    </a:lnB>
                    <a:noFill/>
                  </a:tcPr>
                </a:tc>
                <a:tc>
                  <a:txBody>
                    <a:bodyPr/>
                    <a:lstStyle/>
                    <a:p>
                      <a:pPr algn="ctr"/>
                      <a:r>
                        <a:rPr lang="en-IN" sz="1800">
                          <a:latin typeface="Calibri" panose="020F0502020204030204" pitchFamily="34" charset="0"/>
                          <a:ea typeface="Calibri" panose="020F0502020204030204" pitchFamily="34" charset="0"/>
                          <a:cs typeface="Calibri" panose="020F0502020204030204" pitchFamily="34" charset="0"/>
                        </a:rPr>
                        <a:t>~2,000 units</a:t>
                      </a:r>
                    </a:p>
                  </a:txBody>
                  <a:tcPr anchor="ctr">
                    <a:lnL>
                      <a:noFill/>
                    </a:lnL>
                    <a:lnR>
                      <a:noFill/>
                    </a:lnR>
                    <a:lnT>
                      <a:noFill/>
                    </a:lnT>
                    <a:lnB>
                      <a:noFill/>
                    </a:lnB>
                    <a:noFill/>
                  </a:tcPr>
                </a:tc>
                <a:extLst>
                  <a:ext uri="{0D108BD9-81ED-4DB2-BD59-A6C34878D82A}">
                    <a16:rowId xmlns="" xmlns:a16="http://schemas.microsoft.com/office/drawing/2014/main" val="4214114994"/>
                  </a:ext>
                </a:extLst>
              </a:tr>
              <a:tr h="365760">
                <a:tc>
                  <a:txBody>
                    <a:bodyPr/>
                    <a:lstStyle/>
                    <a:p>
                      <a:pPr algn="ctr"/>
                      <a:r>
                        <a:rPr lang="en-IN" sz="1800">
                          <a:latin typeface="Calibri" panose="020F0502020204030204" pitchFamily="34" charset="0"/>
                          <a:ea typeface="Calibri" panose="020F0502020204030204" pitchFamily="34" charset="0"/>
                          <a:cs typeface="Calibri" panose="020F0502020204030204" pitchFamily="34" charset="0"/>
                        </a:rPr>
                        <a:t>CBIC</a:t>
                      </a:r>
                    </a:p>
                  </a:txBody>
                  <a:tcPr anchor="ctr">
                    <a:lnL>
                      <a:noFill/>
                    </a:lnL>
                    <a:lnR>
                      <a:noFill/>
                    </a:lnR>
                    <a:lnT>
                      <a:noFill/>
                    </a:lnT>
                    <a:lnB>
                      <a:noFill/>
                    </a:lnB>
                    <a:noFill/>
                  </a:tcPr>
                </a:tc>
                <a:tc>
                  <a:txBody>
                    <a:bodyPr/>
                    <a:lstStyle/>
                    <a:p>
                      <a:pPr algn="ctr"/>
                      <a:r>
                        <a:rPr lang="en-IN" sz="1800">
                          <a:latin typeface="Calibri" panose="020F0502020204030204" pitchFamily="34" charset="0"/>
                          <a:ea typeface="Calibri" panose="020F0502020204030204" pitchFamily="34" charset="0"/>
                          <a:cs typeface="Calibri" panose="020F0502020204030204" pitchFamily="34" charset="0"/>
                        </a:rPr>
                        <a:t>$146,000</a:t>
                      </a:r>
                    </a:p>
                  </a:txBody>
                  <a:tcPr anchor="ctr">
                    <a:lnL>
                      <a:noFill/>
                    </a:lnL>
                    <a:lnR>
                      <a:noFill/>
                    </a:lnR>
                    <a:lnT>
                      <a:noFill/>
                    </a:lnT>
                    <a:lnB>
                      <a:noFill/>
                    </a:lnB>
                    <a:noFill/>
                  </a:tcPr>
                </a:tc>
                <a:tc>
                  <a:txBody>
                    <a:bodyPr/>
                    <a:lstStyle/>
                    <a:p>
                      <a:pPr algn="ctr"/>
                      <a:r>
                        <a:rPr lang="en-IN" sz="1800">
                          <a:latin typeface="Calibri" panose="020F0502020204030204" pitchFamily="34" charset="0"/>
                          <a:ea typeface="Calibri" panose="020F0502020204030204" pitchFamily="34" charset="0"/>
                          <a:cs typeface="Calibri" panose="020F0502020204030204" pitchFamily="34" charset="0"/>
                        </a:rPr>
                        <a:t>$8</a:t>
                      </a:r>
                    </a:p>
                  </a:txBody>
                  <a:tcPr anchor="ctr">
                    <a:lnL>
                      <a:noFill/>
                    </a:lnL>
                    <a:lnR>
                      <a:noFill/>
                    </a:lnR>
                    <a:lnT>
                      <a:noFill/>
                    </a:lnT>
                    <a:lnB>
                      <a:noFill/>
                    </a:lnB>
                    <a:noFill/>
                  </a:tcPr>
                </a:tc>
                <a:tc>
                  <a:txBody>
                    <a:bodyPr/>
                    <a:lstStyle/>
                    <a:p>
                      <a:pPr algn="ctr"/>
                      <a:r>
                        <a:rPr lang="en-IN" sz="1800" dirty="0">
                          <a:latin typeface="Calibri" panose="020F0502020204030204" pitchFamily="34" charset="0"/>
                          <a:ea typeface="Calibri" panose="020F0502020204030204" pitchFamily="34" charset="0"/>
                          <a:cs typeface="Calibri" panose="020F0502020204030204" pitchFamily="34" charset="0"/>
                        </a:rPr>
                        <a:t>~4,000 units</a:t>
                      </a:r>
                    </a:p>
                  </a:txBody>
                  <a:tcPr anchor="ctr">
                    <a:lnL>
                      <a:noFill/>
                    </a:lnL>
                    <a:lnR>
                      <a:noFill/>
                    </a:lnR>
                    <a:lnT>
                      <a:noFill/>
                    </a:lnT>
                    <a:lnB>
                      <a:noFill/>
                    </a:lnB>
                    <a:noFill/>
                  </a:tcPr>
                </a:tc>
                <a:extLst>
                  <a:ext uri="{0D108BD9-81ED-4DB2-BD59-A6C34878D82A}">
                    <a16:rowId xmlns="" xmlns:a16="http://schemas.microsoft.com/office/drawing/2014/main" val="4194500323"/>
                  </a:ext>
                </a:extLst>
              </a:tr>
            </a:tbl>
          </a:graphicData>
        </a:graphic>
      </p:graphicFrame>
      <p:sp>
        <p:nvSpPr>
          <p:cNvPr id="8" name="TextBox 7">
            <a:extLst>
              <a:ext uri="{FF2B5EF4-FFF2-40B4-BE49-F238E27FC236}">
                <a16:creationId xmlns="" xmlns:a16="http://schemas.microsoft.com/office/drawing/2014/main" id="{13053FB1-B49E-D2B6-22F5-70C8840422A7}"/>
              </a:ext>
            </a:extLst>
          </p:cNvPr>
          <p:cNvSpPr txBox="1"/>
          <p:nvPr/>
        </p:nvSpPr>
        <p:spPr>
          <a:xfrm>
            <a:off x="6263951" y="792990"/>
            <a:ext cx="5890658" cy="646331"/>
          </a:xfrm>
          <a:prstGeom prst="rect">
            <a:avLst/>
          </a:prstGeom>
          <a:noFill/>
        </p:spPr>
        <p:txBody>
          <a:bodyPr wrap="square">
            <a:spAutoFit/>
          </a:bodyPr>
          <a:lstStyle/>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MGAs and CBICs become cost-effective at higher volumes due to amortized NRE.</a:t>
            </a:r>
          </a:p>
        </p:txBody>
      </p:sp>
      <p:sp>
        <p:nvSpPr>
          <p:cNvPr id="13" name="TextBox 12">
            <a:extLst>
              <a:ext uri="{FF2B5EF4-FFF2-40B4-BE49-F238E27FC236}">
                <a16:creationId xmlns="" xmlns:a16="http://schemas.microsoft.com/office/drawing/2014/main" id="{09954CF9-D211-B672-CACA-F3597D3B3C81}"/>
              </a:ext>
            </a:extLst>
          </p:cNvPr>
          <p:cNvSpPr txBox="1"/>
          <p:nvPr/>
        </p:nvSpPr>
        <p:spPr>
          <a:xfrm>
            <a:off x="6301343" y="1573359"/>
            <a:ext cx="5890658" cy="1908215"/>
          </a:xfrm>
          <a:prstGeom prst="rect">
            <a:avLst/>
          </a:prstGeom>
          <a:noFill/>
        </p:spPr>
        <p:txBody>
          <a:bodyPr wrap="square">
            <a:spAutoFit/>
          </a:bodyPr>
          <a:lstStyle/>
          <a:p>
            <a:pPr algn="ctr"/>
            <a:r>
              <a:rPr lang="en-IN" b="1" dirty="0">
                <a:latin typeface="Calibri" panose="020F0502020204030204" pitchFamily="34" charset="0"/>
                <a:ea typeface="Calibri" panose="020F0502020204030204" pitchFamily="34" charset="0"/>
                <a:cs typeface="Calibri" panose="020F0502020204030204" pitchFamily="34" charset="0"/>
              </a:rPr>
              <a:t>Time-to-Market vs. Volume </a:t>
            </a:r>
            <a:r>
              <a:rPr lang="en-IN" b="1" dirty="0" err="1">
                <a:latin typeface="Calibri" panose="020F0502020204030204" pitchFamily="34" charset="0"/>
                <a:ea typeface="Calibri" panose="020F0502020204030204" pitchFamily="34" charset="0"/>
                <a:cs typeface="Calibri" panose="020F0502020204030204" pitchFamily="34" charset="0"/>
              </a:rPr>
              <a:t>Tradeoff</a:t>
            </a:r>
            <a:endParaRPr lang="en-IN" b="1" dirty="0">
              <a:latin typeface="Calibri" panose="020F0502020204030204" pitchFamily="34" charset="0"/>
              <a:ea typeface="Calibri" panose="020F0502020204030204" pitchFamily="34" charset="0"/>
              <a:cs typeface="Calibri" panose="020F0502020204030204" pitchFamily="34" charset="0"/>
            </a:endParaRPr>
          </a:p>
          <a:p>
            <a:endParaRPr lang="en-IN" sz="1000" dirty="0">
              <a:latin typeface="Calibri" panose="020F0502020204030204" pitchFamily="34" charset="0"/>
              <a:ea typeface="Calibri" panose="020F0502020204030204" pitchFamily="34" charset="0"/>
              <a:cs typeface="Calibri" panose="020F0502020204030204" pitchFamily="34" charset="0"/>
            </a:endParaRPr>
          </a:p>
          <a:p>
            <a:r>
              <a:rPr lang="en-IN" b="1" dirty="0">
                <a:latin typeface="Calibri" panose="020F0502020204030204" pitchFamily="34" charset="0"/>
                <a:ea typeface="Calibri" panose="020F0502020204030204" pitchFamily="34" charset="0"/>
                <a:cs typeface="Calibri" panose="020F0502020204030204" pitchFamily="34" charset="0"/>
              </a:rPr>
              <a:t>FPGAs: </a:t>
            </a:r>
            <a:r>
              <a:rPr lang="en-IN" dirty="0">
                <a:latin typeface="Calibri" panose="020F0502020204030204" pitchFamily="34" charset="0"/>
                <a:ea typeface="Calibri" panose="020F0502020204030204" pitchFamily="34" charset="0"/>
                <a:cs typeface="Calibri" panose="020F0502020204030204" pitchFamily="34" charset="0"/>
              </a:rPr>
              <a:t>Faster development, higher unit cost → ideal for prototypes &amp; low volume</a:t>
            </a:r>
          </a:p>
          <a:p>
            <a:endParaRPr lang="en-IN" dirty="0">
              <a:latin typeface="Calibri" panose="020F0502020204030204" pitchFamily="34" charset="0"/>
              <a:ea typeface="Calibri" panose="020F0502020204030204" pitchFamily="34" charset="0"/>
              <a:cs typeface="Calibri" panose="020F0502020204030204" pitchFamily="34" charset="0"/>
            </a:endParaRPr>
          </a:p>
          <a:p>
            <a:r>
              <a:rPr lang="en-IN" b="1" dirty="0">
                <a:latin typeface="Calibri" panose="020F0502020204030204" pitchFamily="34" charset="0"/>
                <a:ea typeface="Calibri" panose="020F0502020204030204" pitchFamily="34" charset="0"/>
                <a:cs typeface="Calibri" panose="020F0502020204030204" pitchFamily="34" charset="0"/>
              </a:rPr>
              <a:t>CBICs/MGAs: </a:t>
            </a:r>
            <a:r>
              <a:rPr lang="en-IN" dirty="0">
                <a:latin typeface="Calibri" panose="020F0502020204030204" pitchFamily="34" charset="0"/>
                <a:ea typeface="Calibri" panose="020F0502020204030204" pitchFamily="34" charset="0"/>
                <a:cs typeface="Calibri" panose="020F0502020204030204" pitchFamily="34" charset="0"/>
              </a:rPr>
              <a:t>Slower dev time, low unit cost → suited for high-volume production</a:t>
            </a:r>
          </a:p>
        </p:txBody>
      </p:sp>
    </p:spTree>
    <p:extLst>
      <p:ext uri="{BB962C8B-B14F-4D97-AF65-F5344CB8AC3E}">
        <p14:creationId xmlns:p14="http://schemas.microsoft.com/office/powerpoint/2010/main" val="38204742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ounded Rectangle 17">
            <a:extLst>
              <a:ext uri="{FF2B5EF4-FFF2-40B4-BE49-F238E27FC236}">
                <a16:creationId xmlns="" xmlns:a16="http://schemas.microsoft.com/office/drawing/2014/main" id="{DBF24F09-8CF9-CC4F-5E7C-DE65C8B2B2E6}"/>
              </a:ext>
            </a:extLst>
          </p:cNvPr>
          <p:cNvSpPr/>
          <p:nvPr/>
        </p:nvSpPr>
        <p:spPr>
          <a:xfrm>
            <a:off x="3037595" y="123556"/>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2700" algn="ctr">
              <a:lnSpc>
                <a:spcPct val="100000"/>
              </a:lnSpc>
              <a:spcBef>
                <a:spcPts val="100"/>
              </a:spcBef>
            </a:pPr>
            <a:r>
              <a:rPr lang="en-IN" sz="2400" b="1" spc="-5" dirty="0"/>
              <a:t>ASIC cell library</a:t>
            </a:r>
            <a:endParaRPr lang="en-IN" sz="2400" b="1" spc="-50" dirty="0"/>
          </a:p>
        </p:txBody>
      </p:sp>
      <p:sp>
        <p:nvSpPr>
          <p:cNvPr id="2" name="object 3">
            <a:extLst>
              <a:ext uri="{FF2B5EF4-FFF2-40B4-BE49-F238E27FC236}">
                <a16:creationId xmlns="" xmlns:a16="http://schemas.microsoft.com/office/drawing/2014/main" id="{616FEE9B-E9A3-917A-B6AD-8079E3D2744E}"/>
              </a:ext>
            </a:extLst>
          </p:cNvPr>
          <p:cNvSpPr txBox="1"/>
          <p:nvPr/>
        </p:nvSpPr>
        <p:spPr>
          <a:xfrm>
            <a:off x="21039" y="843197"/>
            <a:ext cx="6305119" cy="1295868"/>
          </a:xfrm>
          <a:prstGeom prst="rect">
            <a:avLst/>
          </a:prstGeom>
        </p:spPr>
        <p:txBody>
          <a:bodyPr vert="horz" wrap="square" lIns="0" tIns="53975" rIns="0" bIns="0" rtlCol="0">
            <a:spAutoFit/>
          </a:bodyPr>
          <a:lstStyle/>
          <a:p>
            <a:pPr marL="469900" marR="6985" indent="-457200" algn="just">
              <a:spcBef>
                <a:spcPts val="425"/>
              </a:spcBef>
              <a:buFont typeface="Wingdings" panose="05000000000000000000" pitchFamily="2" charset="2"/>
              <a:buChar char="Ø"/>
              <a:tabLst>
                <a:tab pos="355600" algn="l"/>
              </a:tabLst>
            </a:pPr>
            <a:r>
              <a:rPr lang="en-US" dirty="0">
                <a:latin typeface="Calibri"/>
                <a:cs typeface="Calibri"/>
              </a:rPr>
              <a:t>The logic cells such as AND, OR, XOR, NOR, NAND, multiplexers and Flip-Flops are predesigned by designers using different configuration, standardized and stored in the form of a library.</a:t>
            </a:r>
          </a:p>
          <a:p>
            <a:pPr marL="469900" marR="6985" indent="-457200" algn="just">
              <a:spcBef>
                <a:spcPts val="425"/>
              </a:spcBef>
              <a:buFont typeface="Wingdings" panose="05000000000000000000" pitchFamily="2" charset="2"/>
              <a:buChar char="Ø"/>
              <a:tabLst>
                <a:tab pos="355600" algn="l"/>
              </a:tabLst>
            </a:pPr>
            <a:endParaRPr lang="en-US" sz="200" dirty="0">
              <a:latin typeface="Calibri"/>
              <a:cs typeface="Calibri"/>
            </a:endParaRPr>
          </a:p>
          <a:p>
            <a:pPr marL="469900" marR="6985" indent="-457200" algn="just">
              <a:spcBef>
                <a:spcPts val="425"/>
              </a:spcBef>
              <a:buFont typeface="Wingdings" panose="05000000000000000000" pitchFamily="2" charset="2"/>
              <a:buChar char="Ø"/>
              <a:tabLst>
                <a:tab pos="355600" algn="l"/>
              </a:tabLst>
            </a:pPr>
            <a:r>
              <a:rPr lang="en-US" dirty="0">
                <a:latin typeface="Calibri"/>
                <a:cs typeface="Calibri"/>
              </a:rPr>
              <a:t>Cell libraries are fixed set of well-characterized logic blocks.</a:t>
            </a:r>
            <a:endParaRPr dirty="0">
              <a:latin typeface="Calibri"/>
              <a:cs typeface="Calibri"/>
            </a:endParaRPr>
          </a:p>
        </p:txBody>
      </p:sp>
      <p:cxnSp>
        <p:nvCxnSpPr>
          <p:cNvPr id="3" name="Straight Connector 2">
            <a:extLst>
              <a:ext uri="{FF2B5EF4-FFF2-40B4-BE49-F238E27FC236}">
                <a16:creationId xmlns="" xmlns:a16="http://schemas.microsoft.com/office/drawing/2014/main" id="{EE81DA62-C1F9-C4FB-D23B-5D3815F66EB6}"/>
              </a:ext>
            </a:extLst>
          </p:cNvPr>
          <p:cNvCxnSpPr>
            <a:cxnSpLocks/>
          </p:cNvCxnSpPr>
          <p:nvPr/>
        </p:nvCxnSpPr>
        <p:spPr>
          <a:xfrm>
            <a:off x="6475450" y="601591"/>
            <a:ext cx="0" cy="5556613"/>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sp>
        <p:nvSpPr>
          <p:cNvPr id="4" name="object 3">
            <a:extLst>
              <a:ext uri="{FF2B5EF4-FFF2-40B4-BE49-F238E27FC236}">
                <a16:creationId xmlns="" xmlns:a16="http://schemas.microsoft.com/office/drawing/2014/main" id="{2F03A1A5-F03C-3303-9797-9AC1D2615D16}"/>
              </a:ext>
            </a:extLst>
          </p:cNvPr>
          <p:cNvSpPr txBox="1"/>
          <p:nvPr/>
        </p:nvSpPr>
        <p:spPr>
          <a:xfrm>
            <a:off x="6567729" y="833870"/>
            <a:ext cx="5529627" cy="331501"/>
          </a:xfrm>
          <a:prstGeom prst="rect">
            <a:avLst/>
          </a:prstGeom>
        </p:spPr>
        <p:txBody>
          <a:bodyPr vert="horz" wrap="square" lIns="0" tIns="53975" rIns="0" bIns="0" rtlCol="0">
            <a:spAutoFit/>
          </a:bodyPr>
          <a:lstStyle/>
          <a:p>
            <a:pPr marL="469900" marR="6985" indent="-457200" algn="just">
              <a:spcBef>
                <a:spcPts val="425"/>
              </a:spcBef>
              <a:buFont typeface="Wingdings" panose="05000000000000000000" pitchFamily="2" charset="2"/>
              <a:buChar char="Ø"/>
              <a:tabLst>
                <a:tab pos="355600" algn="l"/>
              </a:tabLst>
            </a:pPr>
            <a:r>
              <a:rPr lang="en-US" dirty="0">
                <a:latin typeface="Calibri"/>
                <a:cs typeface="Calibri"/>
              </a:rPr>
              <a:t>Each cell in an ASIC cell library must contain:</a:t>
            </a:r>
            <a:endParaRPr dirty="0">
              <a:latin typeface="Calibri"/>
              <a:cs typeface="Calibri"/>
            </a:endParaRPr>
          </a:p>
        </p:txBody>
      </p:sp>
      <p:sp>
        <p:nvSpPr>
          <p:cNvPr id="5" name="object 3">
            <a:extLst>
              <a:ext uri="{FF2B5EF4-FFF2-40B4-BE49-F238E27FC236}">
                <a16:creationId xmlns="" xmlns:a16="http://schemas.microsoft.com/office/drawing/2014/main" id="{4122B13F-F31E-3F3A-0AE4-F5AAE653E695}"/>
              </a:ext>
            </a:extLst>
          </p:cNvPr>
          <p:cNvSpPr txBox="1"/>
          <p:nvPr/>
        </p:nvSpPr>
        <p:spPr>
          <a:xfrm>
            <a:off x="8131414" y="1195990"/>
            <a:ext cx="3471423" cy="2957861"/>
          </a:xfrm>
          <a:prstGeom prst="rect">
            <a:avLst/>
          </a:prstGeom>
        </p:spPr>
        <p:txBody>
          <a:bodyPr vert="horz" wrap="square" lIns="0" tIns="53975" rIns="0" bIns="0" rtlCol="0">
            <a:spAutoFit/>
          </a:bodyPr>
          <a:lstStyle/>
          <a:p>
            <a:pPr marL="469900" marR="6985" indent="-457200" algn="just">
              <a:spcAft>
                <a:spcPts val="400"/>
              </a:spcAft>
              <a:buFont typeface="Wingdings" panose="05000000000000000000" pitchFamily="2" charset="2"/>
              <a:buChar char="ü"/>
              <a:tabLst>
                <a:tab pos="355600" algn="l"/>
              </a:tabLst>
            </a:pPr>
            <a:r>
              <a:rPr lang="en-US" i="1" dirty="0">
                <a:latin typeface="Calibri"/>
                <a:cs typeface="Calibri"/>
              </a:rPr>
              <a:t>A physical layout</a:t>
            </a:r>
          </a:p>
          <a:p>
            <a:pPr marL="469900" marR="6985" indent="-457200" algn="just">
              <a:spcAft>
                <a:spcPts val="400"/>
              </a:spcAft>
              <a:buFont typeface="Wingdings" panose="05000000000000000000" pitchFamily="2" charset="2"/>
              <a:buChar char="ü"/>
              <a:tabLst>
                <a:tab pos="355600" algn="l"/>
              </a:tabLst>
            </a:pPr>
            <a:r>
              <a:rPr lang="en-US" i="1" dirty="0">
                <a:latin typeface="Calibri"/>
                <a:cs typeface="Calibri"/>
              </a:rPr>
              <a:t>A behavioral model</a:t>
            </a:r>
          </a:p>
          <a:p>
            <a:pPr marL="469900" marR="6985" indent="-457200" algn="just">
              <a:spcAft>
                <a:spcPts val="400"/>
              </a:spcAft>
              <a:buFont typeface="Wingdings" panose="05000000000000000000" pitchFamily="2" charset="2"/>
              <a:buChar char="ü"/>
              <a:tabLst>
                <a:tab pos="355600" algn="l"/>
              </a:tabLst>
            </a:pPr>
            <a:r>
              <a:rPr lang="en-US" i="1" dirty="0">
                <a:latin typeface="Calibri"/>
                <a:cs typeface="Calibri"/>
              </a:rPr>
              <a:t>A Verilog/VHDL model</a:t>
            </a:r>
          </a:p>
          <a:p>
            <a:pPr marL="469900" marR="6985" indent="-457200" algn="just">
              <a:spcAft>
                <a:spcPts val="400"/>
              </a:spcAft>
              <a:buFont typeface="Wingdings" panose="05000000000000000000" pitchFamily="2" charset="2"/>
              <a:buChar char="ü"/>
              <a:tabLst>
                <a:tab pos="355600" algn="l"/>
              </a:tabLst>
            </a:pPr>
            <a:r>
              <a:rPr lang="en-US" i="1" dirty="0">
                <a:latin typeface="Calibri"/>
                <a:cs typeface="Calibri"/>
              </a:rPr>
              <a:t>A detailed timing model</a:t>
            </a:r>
          </a:p>
          <a:p>
            <a:pPr marL="469900" marR="6985" indent="-457200" algn="just">
              <a:spcAft>
                <a:spcPts val="400"/>
              </a:spcAft>
              <a:buFont typeface="Wingdings" panose="05000000000000000000" pitchFamily="2" charset="2"/>
              <a:buChar char="ü"/>
              <a:tabLst>
                <a:tab pos="355600" algn="l"/>
              </a:tabLst>
            </a:pPr>
            <a:r>
              <a:rPr lang="en-US" i="1" dirty="0">
                <a:latin typeface="Calibri"/>
                <a:cs typeface="Calibri"/>
              </a:rPr>
              <a:t>A test strategy</a:t>
            </a:r>
          </a:p>
          <a:p>
            <a:pPr marL="469900" marR="6985" indent="-457200" algn="just">
              <a:spcAft>
                <a:spcPts val="400"/>
              </a:spcAft>
              <a:buFont typeface="Wingdings" panose="05000000000000000000" pitchFamily="2" charset="2"/>
              <a:buChar char="ü"/>
              <a:tabLst>
                <a:tab pos="355600" algn="l"/>
              </a:tabLst>
            </a:pPr>
            <a:r>
              <a:rPr lang="en-US" i="1" dirty="0">
                <a:latin typeface="Calibri"/>
                <a:cs typeface="Calibri"/>
              </a:rPr>
              <a:t>A circuit schematic</a:t>
            </a:r>
          </a:p>
          <a:p>
            <a:pPr marL="469900" marR="6985" indent="-457200" algn="just">
              <a:spcAft>
                <a:spcPts val="400"/>
              </a:spcAft>
              <a:buFont typeface="Wingdings" panose="05000000000000000000" pitchFamily="2" charset="2"/>
              <a:buChar char="ü"/>
              <a:tabLst>
                <a:tab pos="355600" algn="l"/>
              </a:tabLst>
            </a:pPr>
            <a:r>
              <a:rPr lang="en-US" i="1" dirty="0">
                <a:latin typeface="Calibri"/>
                <a:cs typeface="Calibri"/>
              </a:rPr>
              <a:t>A cell icon</a:t>
            </a:r>
          </a:p>
          <a:p>
            <a:pPr marL="469900" marR="6985" indent="-457200" algn="just">
              <a:spcAft>
                <a:spcPts val="400"/>
              </a:spcAft>
              <a:buFont typeface="Wingdings" panose="05000000000000000000" pitchFamily="2" charset="2"/>
              <a:buChar char="ü"/>
              <a:tabLst>
                <a:tab pos="355600" algn="l"/>
              </a:tabLst>
            </a:pPr>
            <a:r>
              <a:rPr lang="en-US" i="1" dirty="0">
                <a:latin typeface="Calibri"/>
                <a:cs typeface="Calibri"/>
              </a:rPr>
              <a:t>A wire load mode</a:t>
            </a:r>
          </a:p>
          <a:p>
            <a:pPr marL="469900" marR="6985" indent="-457200" algn="just">
              <a:spcAft>
                <a:spcPts val="400"/>
              </a:spcAft>
              <a:buFont typeface="Wingdings" panose="05000000000000000000" pitchFamily="2" charset="2"/>
              <a:buChar char="ü"/>
              <a:tabLst>
                <a:tab pos="355600" algn="l"/>
              </a:tabLst>
            </a:pPr>
            <a:r>
              <a:rPr lang="en-US" i="1" dirty="0">
                <a:latin typeface="Calibri"/>
                <a:cs typeface="Calibri"/>
              </a:rPr>
              <a:t>A routing model</a:t>
            </a:r>
            <a:endParaRPr dirty="0">
              <a:latin typeface="Calibri"/>
              <a:cs typeface="Calibri"/>
            </a:endParaRPr>
          </a:p>
        </p:txBody>
      </p:sp>
      <p:grpSp>
        <p:nvGrpSpPr>
          <p:cNvPr id="20" name="Group 19">
            <a:extLst>
              <a:ext uri="{FF2B5EF4-FFF2-40B4-BE49-F238E27FC236}">
                <a16:creationId xmlns="" xmlns:a16="http://schemas.microsoft.com/office/drawing/2014/main" id="{FA1BE59E-E99F-7884-1123-E79095324FF7}"/>
              </a:ext>
            </a:extLst>
          </p:cNvPr>
          <p:cNvGrpSpPr/>
          <p:nvPr/>
        </p:nvGrpSpPr>
        <p:grpSpPr>
          <a:xfrm>
            <a:off x="717146" y="2178038"/>
            <a:ext cx="5112418" cy="1899436"/>
            <a:chOff x="338763" y="3648998"/>
            <a:chExt cx="5794558" cy="2476279"/>
          </a:xfrm>
        </p:grpSpPr>
        <p:sp>
          <p:nvSpPr>
            <p:cNvPr id="19" name="Rectangle 18">
              <a:extLst>
                <a:ext uri="{FF2B5EF4-FFF2-40B4-BE49-F238E27FC236}">
                  <a16:creationId xmlns="" xmlns:a16="http://schemas.microsoft.com/office/drawing/2014/main" id="{B1A67C77-C8C4-C799-D51C-97F747E4F903}"/>
                </a:ext>
              </a:extLst>
            </p:cNvPr>
            <p:cNvSpPr/>
            <p:nvPr/>
          </p:nvSpPr>
          <p:spPr>
            <a:xfrm>
              <a:off x="338763" y="3795922"/>
              <a:ext cx="5794558" cy="35563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7" name="Group 16">
              <a:extLst>
                <a:ext uri="{FF2B5EF4-FFF2-40B4-BE49-F238E27FC236}">
                  <a16:creationId xmlns="" xmlns:a16="http://schemas.microsoft.com/office/drawing/2014/main" id="{C57C13D1-6548-C5DE-9AE6-B65114065D2F}"/>
                </a:ext>
              </a:extLst>
            </p:cNvPr>
            <p:cNvGrpSpPr/>
            <p:nvPr/>
          </p:nvGrpSpPr>
          <p:grpSpPr>
            <a:xfrm>
              <a:off x="338763" y="3926610"/>
              <a:ext cx="5794558" cy="2198667"/>
              <a:chOff x="1862760" y="3099412"/>
              <a:chExt cx="3157108" cy="1516600"/>
            </a:xfrm>
          </p:grpSpPr>
          <p:grpSp>
            <p:nvGrpSpPr>
              <p:cNvPr id="15" name="Group 14">
                <a:extLst>
                  <a:ext uri="{FF2B5EF4-FFF2-40B4-BE49-F238E27FC236}">
                    <a16:creationId xmlns="" xmlns:a16="http://schemas.microsoft.com/office/drawing/2014/main" id="{7B00A0E9-D77C-B929-72F6-4C33CC22EBBD}"/>
                  </a:ext>
                </a:extLst>
              </p:cNvPr>
              <p:cNvGrpSpPr/>
              <p:nvPr/>
            </p:nvGrpSpPr>
            <p:grpSpPr>
              <a:xfrm>
                <a:off x="1862760" y="3099412"/>
                <a:ext cx="3157108" cy="1516600"/>
                <a:chOff x="27728" y="3379897"/>
                <a:chExt cx="6068272" cy="2915057"/>
              </a:xfrm>
            </p:grpSpPr>
            <p:grpSp>
              <p:nvGrpSpPr>
                <p:cNvPr id="12" name="Group 11">
                  <a:extLst>
                    <a:ext uri="{FF2B5EF4-FFF2-40B4-BE49-F238E27FC236}">
                      <a16:creationId xmlns="" xmlns:a16="http://schemas.microsoft.com/office/drawing/2014/main" id="{81E2A478-60AD-5735-9765-26794FA2B51C}"/>
                    </a:ext>
                  </a:extLst>
                </p:cNvPr>
                <p:cNvGrpSpPr/>
                <p:nvPr/>
              </p:nvGrpSpPr>
              <p:grpSpPr>
                <a:xfrm>
                  <a:off x="27728" y="3379897"/>
                  <a:ext cx="6068272" cy="2915057"/>
                  <a:chOff x="1755579" y="2636969"/>
                  <a:chExt cx="6068272" cy="2915057"/>
                </a:xfrm>
              </p:grpSpPr>
              <p:sp>
                <p:nvSpPr>
                  <p:cNvPr id="11" name="Oval 10">
                    <a:extLst>
                      <a:ext uri="{FF2B5EF4-FFF2-40B4-BE49-F238E27FC236}">
                        <a16:creationId xmlns="" xmlns:a16="http://schemas.microsoft.com/office/drawing/2014/main" id="{46B5EC73-0CC2-A87E-73F8-BE48B73049D7}"/>
                      </a:ext>
                    </a:extLst>
                  </p:cNvPr>
                  <p:cNvSpPr/>
                  <p:nvPr/>
                </p:nvSpPr>
                <p:spPr>
                  <a:xfrm>
                    <a:off x="4627988" y="3305251"/>
                    <a:ext cx="1847462" cy="1847462"/>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800" b="1" dirty="0">
                      <a:solidFill>
                        <a:schemeClr val="tx1"/>
                      </a:solidFill>
                    </a:endParaRPr>
                  </a:p>
                </p:txBody>
              </p:sp>
              <p:pic>
                <p:nvPicPr>
                  <p:cNvPr id="10" name="Picture 9">
                    <a:extLst>
                      <a:ext uri="{FF2B5EF4-FFF2-40B4-BE49-F238E27FC236}">
                        <a16:creationId xmlns="" xmlns:a16="http://schemas.microsoft.com/office/drawing/2014/main" id="{AEC3256A-1834-43F1-6BF8-D37DB49AD9B6}"/>
                      </a:ext>
                    </a:extLst>
                  </p:cNvPr>
                  <p:cNvPicPr>
                    <a:picLocks noChangeAspect="1"/>
                  </p:cNvPicPr>
                  <p:nvPr/>
                </p:nvPicPr>
                <p:blipFill>
                  <a:blip r:embed="rId2"/>
                  <a:stretch>
                    <a:fillRect/>
                  </a:stretch>
                </p:blipFill>
                <p:spPr>
                  <a:xfrm>
                    <a:off x="1755579" y="2636969"/>
                    <a:ext cx="6068272" cy="2915057"/>
                  </a:xfrm>
                  <a:prstGeom prst="rect">
                    <a:avLst/>
                  </a:prstGeom>
                </p:spPr>
              </p:pic>
            </p:grpSp>
            <p:sp>
              <p:nvSpPr>
                <p:cNvPr id="13" name="Oval 12">
                  <a:extLst>
                    <a:ext uri="{FF2B5EF4-FFF2-40B4-BE49-F238E27FC236}">
                      <a16:creationId xmlns="" xmlns:a16="http://schemas.microsoft.com/office/drawing/2014/main" id="{42E0087D-8E5D-929C-5F13-6219E309ED10}"/>
                    </a:ext>
                  </a:extLst>
                </p:cNvPr>
                <p:cNvSpPr/>
                <p:nvPr/>
              </p:nvSpPr>
              <p:spPr>
                <a:xfrm>
                  <a:off x="2559394" y="4624678"/>
                  <a:ext cx="525495" cy="668282"/>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600" b="1" dirty="0">
                    <a:solidFill>
                      <a:schemeClr val="tx1"/>
                    </a:solidFill>
                  </a:endParaRPr>
                </a:p>
              </p:txBody>
            </p:sp>
            <p:sp>
              <p:nvSpPr>
                <p:cNvPr id="14" name="Oval 13">
                  <a:extLst>
                    <a:ext uri="{FF2B5EF4-FFF2-40B4-BE49-F238E27FC236}">
                      <a16:creationId xmlns="" xmlns:a16="http://schemas.microsoft.com/office/drawing/2014/main" id="{7F44E2E3-D63C-1581-DA6C-C32C3C68306E}"/>
                    </a:ext>
                  </a:extLst>
                </p:cNvPr>
                <p:cNvSpPr/>
                <p:nvPr/>
              </p:nvSpPr>
              <p:spPr>
                <a:xfrm>
                  <a:off x="4411829" y="4621766"/>
                  <a:ext cx="525495" cy="619669"/>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600" b="1" dirty="0">
                    <a:solidFill>
                      <a:schemeClr val="tx1"/>
                    </a:solidFill>
                  </a:endParaRPr>
                </a:p>
              </p:txBody>
            </p:sp>
          </p:grpSp>
          <p:sp>
            <p:nvSpPr>
              <p:cNvPr id="16" name="TextBox 15">
                <a:extLst>
                  <a:ext uri="{FF2B5EF4-FFF2-40B4-BE49-F238E27FC236}">
                    <a16:creationId xmlns="" xmlns:a16="http://schemas.microsoft.com/office/drawing/2014/main" id="{5864B8C7-FAA2-6ACD-408C-FB9F9EA9844A}"/>
                  </a:ext>
                </a:extLst>
              </p:cNvPr>
              <p:cNvSpPr txBox="1"/>
              <p:nvPr/>
            </p:nvSpPr>
            <p:spPr>
              <a:xfrm>
                <a:off x="3366503" y="3500355"/>
                <a:ext cx="942510" cy="841026"/>
              </a:xfrm>
              <a:prstGeom prst="rect">
                <a:avLst/>
              </a:prstGeom>
              <a:noFill/>
            </p:spPr>
            <p:txBody>
              <a:bodyPr wrap="square" rtlCol="0">
                <a:spAutoFit/>
              </a:bodyPr>
              <a:lstStyle/>
              <a:p>
                <a:pPr algn="ctr"/>
                <a:r>
                  <a:rPr lang="en-US" b="1" dirty="0">
                    <a:latin typeface="Calibri" panose="020F0502020204030204" pitchFamily="34" charset="0"/>
                    <a:ea typeface="Calibri" panose="020F0502020204030204" pitchFamily="34" charset="0"/>
                    <a:cs typeface="Calibri" panose="020F0502020204030204" pitchFamily="34" charset="0"/>
                  </a:rPr>
                  <a:t>Advantages </a:t>
                </a:r>
              </a:p>
              <a:p>
                <a:pPr algn="ctr"/>
                <a:r>
                  <a:rPr lang="en-US" b="1" dirty="0">
                    <a:latin typeface="Calibri" panose="020F0502020204030204" pitchFamily="34" charset="0"/>
                    <a:ea typeface="Calibri" panose="020F0502020204030204" pitchFamily="34" charset="0"/>
                    <a:cs typeface="Calibri" panose="020F0502020204030204" pitchFamily="34" charset="0"/>
                  </a:rPr>
                  <a:t>of using </a:t>
                </a:r>
              </a:p>
              <a:p>
                <a:pPr algn="ctr"/>
                <a:r>
                  <a:rPr lang="en-US" b="1" dirty="0">
                    <a:latin typeface="Calibri" panose="020F0502020204030204" pitchFamily="34" charset="0"/>
                    <a:ea typeface="Calibri" panose="020F0502020204030204" pitchFamily="34" charset="0"/>
                    <a:cs typeface="Calibri" panose="020F0502020204030204" pitchFamily="34" charset="0"/>
                  </a:rPr>
                  <a:t>ASIC</a:t>
                </a:r>
                <a:endParaRPr lang="en-IN" b="1" dirty="0">
                  <a:latin typeface="Calibri" panose="020F0502020204030204" pitchFamily="34" charset="0"/>
                  <a:ea typeface="Calibri" panose="020F0502020204030204" pitchFamily="34" charset="0"/>
                  <a:cs typeface="Calibri" panose="020F0502020204030204" pitchFamily="34" charset="0"/>
                </a:endParaRPr>
              </a:p>
            </p:txBody>
          </p:sp>
        </p:grpSp>
        <p:sp>
          <p:nvSpPr>
            <p:cNvPr id="18" name="TextBox 17">
              <a:extLst>
                <a:ext uri="{FF2B5EF4-FFF2-40B4-BE49-F238E27FC236}">
                  <a16:creationId xmlns="" xmlns:a16="http://schemas.microsoft.com/office/drawing/2014/main" id="{699846E8-CFC3-51E9-9BC1-8B42A89C6A83}"/>
                </a:ext>
              </a:extLst>
            </p:cNvPr>
            <p:cNvSpPr txBox="1"/>
            <p:nvPr/>
          </p:nvSpPr>
          <p:spPr>
            <a:xfrm>
              <a:off x="3782668" y="3648998"/>
              <a:ext cx="1503328" cy="338554"/>
            </a:xfrm>
            <a:prstGeom prst="rect">
              <a:avLst/>
            </a:prstGeom>
            <a:noFill/>
          </p:spPr>
          <p:txBody>
            <a:bodyPr wrap="square" rtlCol="0">
              <a:spAutoFit/>
            </a:bodyPr>
            <a:lstStyle/>
            <a:p>
              <a:pPr algn="ctr"/>
              <a:r>
                <a:rPr lang="en-US" sz="1600" dirty="0">
                  <a:latin typeface="Calibri" panose="020F0502020204030204" pitchFamily="34" charset="0"/>
                  <a:ea typeface="Calibri" panose="020F0502020204030204" pitchFamily="34" charset="0"/>
                  <a:cs typeface="Calibri" panose="020F0502020204030204" pitchFamily="34" charset="0"/>
                </a:rPr>
                <a:t>Performance</a:t>
              </a:r>
              <a:endParaRPr lang="en-IN" sz="1600" dirty="0">
                <a:latin typeface="Calibri" panose="020F0502020204030204" pitchFamily="34" charset="0"/>
                <a:ea typeface="Calibri" panose="020F0502020204030204" pitchFamily="34" charset="0"/>
                <a:cs typeface="Calibri" panose="020F0502020204030204" pitchFamily="34" charset="0"/>
              </a:endParaRPr>
            </a:p>
          </p:txBody>
        </p:sp>
      </p:grpSp>
      <p:sp>
        <p:nvSpPr>
          <p:cNvPr id="6" name="TextBox 5">
            <a:extLst>
              <a:ext uri="{FF2B5EF4-FFF2-40B4-BE49-F238E27FC236}">
                <a16:creationId xmlns="" xmlns:a16="http://schemas.microsoft.com/office/drawing/2014/main" id="{8AC9E314-0E35-B9DF-7D19-C6FF6DE131EE}"/>
              </a:ext>
            </a:extLst>
          </p:cNvPr>
          <p:cNvSpPr txBox="1"/>
          <p:nvPr/>
        </p:nvSpPr>
        <p:spPr>
          <a:xfrm>
            <a:off x="14534" y="4153851"/>
            <a:ext cx="5670996" cy="1964640"/>
          </a:xfrm>
          <a:prstGeom prst="rect">
            <a:avLst/>
          </a:prstGeom>
          <a:noFill/>
        </p:spPr>
        <p:txBody>
          <a:bodyPr wrap="square">
            <a:spAutoFit/>
          </a:bodyPr>
          <a:lstStyle/>
          <a:p>
            <a:pPr>
              <a:spcAft>
                <a:spcPts val="600"/>
              </a:spcAft>
            </a:pPr>
            <a:r>
              <a:rPr lang="en-IN" sz="2000" b="1" dirty="0">
                <a:latin typeface="Calibri" panose="020F0502020204030204" pitchFamily="34" charset="0"/>
                <a:ea typeface="Calibri" panose="020F0502020204030204" pitchFamily="34" charset="0"/>
                <a:cs typeface="Calibri" panose="020F0502020204030204" pitchFamily="34" charset="0"/>
              </a:rPr>
              <a:t>Characterization Parameters</a:t>
            </a:r>
          </a:p>
          <a:p>
            <a:pPr marL="742950" lvl="1" indent="-285750">
              <a:spcAft>
                <a:spcPts val="500"/>
              </a:spcAft>
              <a:buFont typeface="Wingdings" panose="05000000000000000000" pitchFamily="2" charset="2"/>
              <a:buChar char="Ø"/>
            </a:pPr>
            <a:r>
              <a:rPr lang="en-IN" sz="1600" dirty="0">
                <a:latin typeface="Calibri" panose="020F0502020204030204" pitchFamily="34" charset="0"/>
                <a:ea typeface="Calibri" panose="020F0502020204030204" pitchFamily="34" charset="0"/>
                <a:cs typeface="Calibri" panose="020F0502020204030204" pitchFamily="34" charset="0"/>
              </a:rPr>
              <a:t>Delay &amp; Transition Time (under various input slew/load)</a:t>
            </a:r>
          </a:p>
          <a:p>
            <a:pPr marL="742950" lvl="1" indent="-285750">
              <a:spcAft>
                <a:spcPts val="500"/>
              </a:spcAft>
              <a:buFont typeface="Wingdings" panose="05000000000000000000" pitchFamily="2" charset="2"/>
              <a:buChar char="Ø"/>
            </a:pPr>
            <a:r>
              <a:rPr lang="en-IN" sz="1600" dirty="0">
                <a:latin typeface="Calibri" panose="020F0502020204030204" pitchFamily="34" charset="0"/>
                <a:ea typeface="Calibri" panose="020F0502020204030204" pitchFamily="34" charset="0"/>
                <a:cs typeface="Calibri" panose="020F0502020204030204" pitchFamily="34" charset="0"/>
              </a:rPr>
              <a:t>Power Consumption (dynamic + leakage)</a:t>
            </a:r>
          </a:p>
          <a:p>
            <a:pPr marL="742950" lvl="1" indent="-285750">
              <a:spcAft>
                <a:spcPts val="500"/>
              </a:spcAft>
              <a:buFont typeface="Wingdings" panose="05000000000000000000" pitchFamily="2" charset="2"/>
              <a:buChar char="Ø"/>
            </a:pPr>
            <a:r>
              <a:rPr lang="en-IN" sz="1600" dirty="0">
                <a:latin typeface="Calibri" panose="020F0502020204030204" pitchFamily="34" charset="0"/>
                <a:ea typeface="Calibri" panose="020F0502020204030204" pitchFamily="34" charset="0"/>
                <a:cs typeface="Calibri" panose="020F0502020204030204" pitchFamily="34" charset="0"/>
              </a:rPr>
              <a:t>Drive Strength Variants (e.g., INVX1, INVX4)</a:t>
            </a:r>
          </a:p>
          <a:p>
            <a:pPr marL="742950" lvl="1" indent="-285750">
              <a:spcAft>
                <a:spcPts val="500"/>
              </a:spcAft>
              <a:buFont typeface="Wingdings" panose="05000000000000000000" pitchFamily="2" charset="2"/>
              <a:buChar char="Ø"/>
            </a:pPr>
            <a:r>
              <a:rPr lang="en-IN" sz="1600" dirty="0">
                <a:latin typeface="Calibri" panose="020F0502020204030204" pitchFamily="34" charset="0"/>
                <a:ea typeface="Calibri" panose="020F0502020204030204" pitchFamily="34" charset="0"/>
                <a:cs typeface="Calibri" panose="020F0502020204030204" pitchFamily="34" charset="0"/>
              </a:rPr>
              <a:t>Setup/Hold Times (for sequential cells)</a:t>
            </a:r>
          </a:p>
          <a:p>
            <a:pPr marL="742950" lvl="1" indent="-285750">
              <a:spcAft>
                <a:spcPts val="500"/>
              </a:spcAft>
              <a:buFont typeface="Wingdings" panose="05000000000000000000" pitchFamily="2" charset="2"/>
              <a:buChar char="Ø"/>
            </a:pPr>
            <a:r>
              <a:rPr lang="en-IN" sz="1600" dirty="0">
                <a:latin typeface="Calibri" panose="020F0502020204030204" pitchFamily="34" charset="0"/>
                <a:ea typeface="Calibri" panose="020F0502020204030204" pitchFamily="34" charset="0"/>
                <a:cs typeface="Calibri" panose="020F0502020204030204" pitchFamily="34" charset="0"/>
              </a:rPr>
              <a:t>Area Footprint (height fixed for row alignment)</a:t>
            </a:r>
          </a:p>
        </p:txBody>
      </p:sp>
      <p:sp>
        <p:nvSpPr>
          <p:cNvPr id="30" name="TextBox 29">
            <a:extLst>
              <a:ext uri="{FF2B5EF4-FFF2-40B4-BE49-F238E27FC236}">
                <a16:creationId xmlns="" xmlns:a16="http://schemas.microsoft.com/office/drawing/2014/main" id="{00B93C64-89D8-E76E-642B-36C99AFB3BD1}"/>
              </a:ext>
            </a:extLst>
          </p:cNvPr>
          <p:cNvSpPr txBox="1"/>
          <p:nvPr/>
        </p:nvSpPr>
        <p:spPr>
          <a:xfrm>
            <a:off x="6475450" y="4212463"/>
            <a:ext cx="5702014" cy="1654299"/>
          </a:xfrm>
          <a:prstGeom prst="rect">
            <a:avLst/>
          </a:prstGeom>
          <a:noFill/>
        </p:spPr>
        <p:txBody>
          <a:bodyPr wrap="square">
            <a:spAutoFit/>
          </a:bodyPr>
          <a:lstStyle/>
          <a:p>
            <a:pPr>
              <a:spcAft>
                <a:spcPts val="600"/>
              </a:spcAft>
            </a:pPr>
            <a:r>
              <a:rPr lang="en-IN" sz="2000" b="1" dirty="0">
                <a:latin typeface="Calibri" panose="020F0502020204030204" pitchFamily="34" charset="0"/>
                <a:ea typeface="Calibri" panose="020F0502020204030204" pitchFamily="34" charset="0"/>
                <a:cs typeface="Calibri" panose="020F0502020204030204" pitchFamily="34" charset="0"/>
              </a:rPr>
              <a:t>Advantages</a:t>
            </a:r>
          </a:p>
          <a:p>
            <a:pPr marL="742950" lvl="1" indent="-285750">
              <a:spcAft>
                <a:spcPts val="500"/>
              </a:spcAft>
              <a:buFont typeface="Wingdings" panose="05000000000000000000" pitchFamily="2" charset="2"/>
              <a:buChar char="Ø"/>
            </a:pPr>
            <a:r>
              <a:rPr lang="en-IN" sz="1600" dirty="0">
                <a:latin typeface="Calibri" panose="020F0502020204030204" pitchFamily="34" charset="0"/>
                <a:ea typeface="Calibri" panose="020F0502020204030204" pitchFamily="34" charset="0"/>
                <a:cs typeface="Calibri" panose="020F0502020204030204" pitchFamily="34" charset="0"/>
              </a:rPr>
              <a:t>Facilitates consistent logic synthesis and physical design</a:t>
            </a:r>
          </a:p>
          <a:p>
            <a:pPr marL="742950" lvl="1" indent="-285750">
              <a:spcAft>
                <a:spcPts val="500"/>
              </a:spcAft>
              <a:buFont typeface="Wingdings" panose="05000000000000000000" pitchFamily="2" charset="2"/>
              <a:buChar char="Ø"/>
            </a:pPr>
            <a:r>
              <a:rPr lang="en-IN" sz="1600" dirty="0">
                <a:latin typeface="Calibri" panose="020F0502020204030204" pitchFamily="34" charset="0"/>
                <a:ea typeface="Calibri" panose="020F0502020204030204" pitchFamily="34" charset="0"/>
                <a:cs typeface="Calibri" panose="020F0502020204030204" pitchFamily="34" charset="0"/>
              </a:rPr>
              <a:t>Speeds up time-to-market through reuse</a:t>
            </a:r>
          </a:p>
          <a:p>
            <a:pPr marL="742950" lvl="1" indent="-285750">
              <a:spcAft>
                <a:spcPts val="500"/>
              </a:spcAft>
              <a:buFont typeface="Wingdings" panose="05000000000000000000" pitchFamily="2" charset="2"/>
              <a:buChar char="Ø"/>
            </a:pPr>
            <a:r>
              <a:rPr lang="en-IN" sz="1600" dirty="0">
                <a:latin typeface="Calibri" panose="020F0502020204030204" pitchFamily="34" charset="0"/>
                <a:ea typeface="Calibri" panose="020F0502020204030204" pitchFamily="34" charset="0"/>
                <a:cs typeface="Calibri" panose="020F0502020204030204" pitchFamily="34" charset="0"/>
              </a:rPr>
              <a:t>Supports multi-corner multi-mode (MCMM) optimization</a:t>
            </a:r>
          </a:p>
          <a:p>
            <a:pPr marL="742950" lvl="1" indent="-285750">
              <a:spcAft>
                <a:spcPts val="500"/>
              </a:spcAft>
              <a:buFont typeface="Wingdings" panose="05000000000000000000" pitchFamily="2" charset="2"/>
              <a:buChar char="Ø"/>
            </a:pPr>
            <a:r>
              <a:rPr lang="en-IN" sz="1600" dirty="0">
                <a:latin typeface="Calibri" panose="020F0502020204030204" pitchFamily="34" charset="0"/>
                <a:ea typeface="Calibri" panose="020F0502020204030204" pitchFamily="34" charset="0"/>
                <a:cs typeface="Calibri" panose="020F0502020204030204" pitchFamily="34" charset="0"/>
              </a:rPr>
              <a:t>Enables integration with DFT, P&amp;R, STA, and IR-drop tools</a:t>
            </a:r>
          </a:p>
        </p:txBody>
      </p:sp>
    </p:spTree>
    <p:extLst>
      <p:ext uri="{BB962C8B-B14F-4D97-AF65-F5344CB8AC3E}">
        <p14:creationId xmlns:p14="http://schemas.microsoft.com/office/powerpoint/2010/main" val="39945127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7DF7CB7-DE02-D236-9450-ED751DEFC800}"/>
            </a:ext>
          </a:extLst>
        </p:cNvPr>
        <p:cNvGrpSpPr/>
        <p:nvPr/>
      </p:nvGrpSpPr>
      <p:grpSpPr>
        <a:xfrm>
          <a:off x="0" y="0"/>
          <a:ext cx="0" cy="0"/>
          <a:chOff x="0" y="0"/>
          <a:chExt cx="0" cy="0"/>
        </a:xfrm>
      </p:grpSpPr>
      <p:sp>
        <p:nvSpPr>
          <p:cNvPr id="9" name="Rounded Rectangle 17">
            <a:extLst>
              <a:ext uri="{FF2B5EF4-FFF2-40B4-BE49-F238E27FC236}">
                <a16:creationId xmlns="" xmlns:a16="http://schemas.microsoft.com/office/drawing/2014/main" id="{A697C908-6F46-9CB2-8EA6-B953F5A450A8}"/>
              </a:ext>
            </a:extLst>
          </p:cNvPr>
          <p:cNvSpPr/>
          <p:nvPr/>
        </p:nvSpPr>
        <p:spPr>
          <a:xfrm>
            <a:off x="2078243" y="123556"/>
            <a:ext cx="8558656" cy="52958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2700" algn="ctr">
              <a:lnSpc>
                <a:spcPct val="100000"/>
              </a:lnSpc>
              <a:spcBef>
                <a:spcPts val="100"/>
              </a:spcBef>
            </a:pPr>
            <a:r>
              <a:rPr lang="en-US" sz="3600" spc="-10" dirty="0"/>
              <a:t>Combinational Logic Cells</a:t>
            </a:r>
            <a:endParaRPr lang="en-IN" sz="1400" b="1" spc="-50" dirty="0"/>
          </a:p>
        </p:txBody>
      </p:sp>
      <p:cxnSp>
        <p:nvCxnSpPr>
          <p:cNvPr id="5" name="Straight Connector 4">
            <a:extLst>
              <a:ext uri="{FF2B5EF4-FFF2-40B4-BE49-F238E27FC236}">
                <a16:creationId xmlns="" xmlns:a16="http://schemas.microsoft.com/office/drawing/2014/main" id="{98F0D8C7-095F-05BC-D538-3A6F49CD68E1}"/>
              </a:ext>
            </a:extLst>
          </p:cNvPr>
          <p:cNvCxnSpPr>
            <a:cxnSpLocks/>
          </p:cNvCxnSpPr>
          <p:nvPr/>
        </p:nvCxnSpPr>
        <p:spPr>
          <a:xfrm>
            <a:off x="6511728" y="653143"/>
            <a:ext cx="0" cy="5513977"/>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pic>
        <p:nvPicPr>
          <p:cNvPr id="1026" name="Picture 2" descr="Combinational Circuit | Block Diagram | Design Procedure">
            <a:extLst>
              <a:ext uri="{FF2B5EF4-FFF2-40B4-BE49-F238E27FC236}">
                <a16:creationId xmlns="" xmlns:a16="http://schemas.microsoft.com/office/drawing/2014/main" id="{4DA694DB-497D-7576-8611-6B12BC23849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7540"/>
          <a:stretch>
            <a:fillRect/>
          </a:stretch>
        </p:blipFill>
        <p:spPr bwMode="auto">
          <a:xfrm>
            <a:off x="233679" y="1815913"/>
            <a:ext cx="5780104" cy="1517004"/>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 xmlns:a16="http://schemas.microsoft.com/office/drawing/2014/main" id="{783A1BD3-CCBE-3CA9-A365-ED5CD1A61FB3}"/>
              </a:ext>
            </a:extLst>
          </p:cNvPr>
          <p:cNvSpPr txBox="1"/>
          <p:nvPr/>
        </p:nvSpPr>
        <p:spPr>
          <a:xfrm>
            <a:off x="1238139" y="3293309"/>
            <a:ext cx="3873026" cy="338554"/>
          </a:xfrm>
          <a:prstGeom prst="rect">
            <a:avLst/>
          </a:prstGeom>
          <a:noFill/>
        </p:spPr>
        <p:txBody>
          <a:bodyPr wrap="square">
            <a:spAutoFit/>
          </a:bodyPr>
          <a:lstStyle/>
          <a:p>
            <a:pPr algn="ctr">
              <a:spcAft>
                <a:spcPts val="600"/>
              </a:spcAft>
            </a:pPr>
            <a:r>
              <a:rPr lang="en-IN" sz="1600" dirty="0">
                <a:latin typeface="Calibri" panose="020F0502020204030204" pitchFamily="34" charset="0"/>
                <a:ea typeface="Calibri" panose="020F0502020204030204" pitchFamily="34" charset="0"/>
                <a:cs typeface="Calibri" panose="020F0502020204030204" pitchFamily="34" charset="0"/>
              </a:rPr>
              <a:t>Fig. Block diagram of a Combinational Circuit</a:t>
            </a:r>
            <a:endParaRPr lang="en-IN" sz="1200" dirty="0">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 xmlns:a16="http://schemas.microsoft.com/office/drawing/2014/main" id="{BA267FAF-D2EB-95DA-F28A-03D28378D56E}"/>
              </a:ext>
            </a:extLst>
          </p:cNvPr>
          <p:cNvSpPr txBox="1"/>
          <p:nvPr/>
        </p:nvSpPr>
        <p:spPr>
          <a:xfrm>
            <a:off x="69890" y="686000"/>
            <a:ext cx="6348521" cy="1015663"/>
          </a:xfrm>
          <a:prstGeom prst="rect">
            <a:avLst/>
          </a:prstGeom>
          <a:noFill/>
        </p:spPr>
        <p:txBody>
          <a:bodyPr wrap="square">
            <a:spAutoFit/>
          </a:bodyPr>
          <a:lstStyle/>
          <a:p>
            <a:pPr marL="285750" indent="-285750" algn="just">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A Combinational Circuit is a combination of Logic gates, the output depends upon the current value of the inputs.</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sp>
        <p:nvSpPr>
          <p:cNvPr id="13" name="TextBox 12">
            <a:extLst>
              <a:ext uri="{FF2B5EF4-FFF2-40B4-BE49-F238E27FC236}">
                <a16:creationId xmlns="" xmlns:a16="http://schemas.microsoft.com/office/drawing/2014/main" id="{2D1DF496-D20D-105D-86EA-37ECB6E7279A}"/>
              </a:ext>
            </a:extLst>
          </p:cNvPr>
          <p:cNvSpPr txBox="1"/>
          <p:nvPr/>
        </p:nvSpPr>
        <p:spPr>
          <a:xfrm>
            <a:off x="6676169" y="1209407"/>
            <a:ext cx="5282152" cy="2308324"/>
          </a:xfrm>
          <a:prstGeom prst="rect">
            <a:avLst/>
          </a:prstGeom>
          <a:noFill/>
        </p:spPr>
        <p:txBody>
          <a:bodyPr wrap="square">
            <a:spAutoFit/>
          </a:bodyPr>
          <a:lstStyle/>
          <a:p>
            <a:pPr>
              <a:spcAft>
                <a:spcPts val="600"/>
              </a:spcAft>
            </a:pPr>
            <a:r>
              <a:rPr lang="en-IN" sz="2000" b="1" dirty="0">
                <a:latin typeface="Calibri" panose="020F0502020204030204" pitchFamily="34" charset="0"/>
                <a:ea typeface="Calibri" panose="020F0502020204030204" pitchFamily="34" charset="0"/>
                <a:cs typeface="Calibri" panose="020F0502020204030204" pitchFamily="34" charset="0"/>
              </a:rPr>
              <a:t>Addition: </a:t>
            </a:r>
          </a:p>
          <a:p>
            <a:pPr marL="285750" indent="-285750">
              <a:buFont typeface="Wingdings" panose="05000000000000000000" pitchFamily="2" charset="2"/>
              <a:buChar char="§"/>
            </a:pPr>
            <a:r>
              <a:rPr lang="en-IN" sz="2000" dirty="0">
                <a:latin typeface="Calibri" panose="020F0502020204030204" pitchFamily="34" charset="0"/>
                <a:ea typeface="Calibri" panose="020F0502020204030204" pitchFamily="34" charset="0"/>
                <a:cs typeface="Calibri" panose="020F0502020204030204" pitchFamily="34" charset="0"/>
              </a:rPr>
              <a:t>Half Adder (HA). </a:t>
            </a:r>
          </a:p>
          <a:p>
            <a:pPr marL="285750" indent="-285750">
              <a:buFont typeface="Wingdings" panose="05000000000000000000" pitchFamily="2" charset="2"/>
              <a:buChar char="§"/>
            </a:pPr>
            <a:r>
              <a:rPr lang="en-IN" sz="2000" dirty="0">
                <a:latin typeface="Calibri" panose="020F0502020204030204" pitchFamily="34" charset="0"/>
                <a:ea typeface="Calibri" panose="020F0502020204030204" pitchFamily="34" charset="0"/>
                <a:cs typeface="Calibri" panose="020F0502020204030204" pitchFamily="34" charset="0"/>
              </a:rPr>
              <a:t>Full Adder (FA). </a:t>
            </a:r>
          </a:p>
          <a:p>
            <a:pPr marL="285750" indent="-285750">
              <a:buFont typeface="Wingdings" panose="05000000000000000000" pitchFamily="2" charset="2"/>
              <a:buChar char="§"/>
            </a:pPr>
            <a:r>
              <a:rPr lang="en-IN" sz="2000" dirty="0">
                <a:latin typeface="Calibri" panose="020F0502020204030204" pitchFamily="34" charset="0"/>
                <a:ea typeface="Calibri" panose="020F0502020204030204" pitchFamily="34" charset="0"/>
                <a:cs typeface="Calibri" panose="020F0502020204030204" pitchFamily="34" charset="0"/>
              </a:rPr>
              <a:t>BCD(Decimal) Adder. </a:t>
            </a:r>
          </a:p>
          <a:p>
            <a:pPr marL="285750" indent="-285750">
              <a:buFont typeface="Wingdings" panose="05000000000000000000" pitchFamily="2" charset="2"/>
              <a:buChar char="§"/>
            </a:pPr>
            <a:endParaRPr lang="en-IN" sz="1200" dirty="0">
              <a:latin typeface="Calibri" panose="020F0502020204030204" pitchFamily="34" charset="0"/>
              <a:ea typeface="Calibri" panose="020F0502020204030204" pitchFamily="34" charset="0"/>
              <a:cs typeface="Calibri" panose="020F0502020204030204" pitchFamily="34" charset="0"/>
            </a:endParaRPr>
          </a:p>
          <a:p>
            <a:pPr>
              <a:spcAft>
                <a:spcPts val="600"/>
              </a:spcAft>
            </a:pPr>
            <a:r>
              <a:rPr lang="en-IN" sz="2000" dirty="0">
                <a:latin typeface="Calibri" panose="020F0502020204030204" pitchFamily="34" charset="0"/>
                <a:ea typeface="Calibri" panose="020F0502020204030204" pitchFamily="34" charset="0"/>
                <a:cs typeface="Calibri" panose="020F0502020204030204" pitchFamily="34" charset="0"/>
              </a:rPr>
              <a:t> </a:t>
            </a:r>
            <a:r>
              <a:rPr lang="en-IN" sz="2000" b="1" dirty="0">
                <a:latin typeface="Calibri" panose="020F0502020204030204" pitchFamily="34" charset="0"/>
                <a:ea typeface="Calibri" panose="020F0502020204030204" pitchFamily="34" charset="0"/>
                <a:cs typeface="Calibri" panose="020F0502020204030204" pitchFamily="34" charset="0"/>
              </a:rPr>
              <a:t>Multiplication: </a:t>
            </a:r>
          </a:p>
          <a:p>
            <a:pPr marL="285750" indent="-285750">
              <a:buFont typeface="Wingdings" panose="05000000000000000000" pitchFamily="2" charset="2"/>
              <a:buChar char="§"/>
            </a:pPr>
            <a:r>
              <a:rPr lang="en-IN" sz="2000" dirty="0">
                <a:latin typeface="Calibri" panose="020F0502020204030204" pitchFamily="34" charset="0"/>
                <a:ea typeface="Calibri" panose="020F0502020204030204" pitchFamily="34" charset="0"/>
                <a:cs typeface="Calibri" panose="020F0502020204030204" pitchFamily="34" charset="0"/>
              </a:rPr>
              <a:t>Binary Multipliers. </a:t>
            </a:r>
          </a:p>
        </p:txBody>
      </p:sp>
      <p:sp>
        <p:nvSpPr>
          <p:cNvPr id="15" name="TextBox 14">
            <a:extLst>
              <a:ext uri="{FF2B5EF4-FFF2-40B4-BE49-F238E27FC236}">
                <a16:creationId xmlns="" xmlns:a16="http://schemas.microsoft.com/office/drawing/2014/main" id="{29964CA4-8AD5-8985-61F7-62CE63331391}"/>
              </a:ext>
            </a:extLst>
          </p:cNvPr>
          <p:cNvSpPr txBox="1"/>
          <p:nvPr/>
        </p:nvSpPr>
        <p:spPr>
          <a:xfrm>
            <a:off x="6676173" y="687469"/>
            <a:ext cx="5282144" cy="461665"/>
          </a:xfrm>
          <a:prstGeom prst="rect">
            <a:avLst/>
          </a:prstGeom>
          <a:noFill/>
        </p:spPr>
        <p:txBody>
          <a:bodyPr wrap="square">
            <a:spAutoFit/>
          </a:bodyPr>
          <a:lstStyle/>
          <a:p>
            <a:pPr algn="ctr">
              <a:spcAft>
                <a:spcPts val="600"/>
              </a:spcAft>
            </a:pPr>
            <a:r>
              <a:rPr lang="en-IN" sz="2400" b="1" dirty="0">
                <a:solidFill>
                  <a:srgbClr val="7030A0"/>
                </a:solidFill>
                <a:latin typeface="Calibri" panose="020F0502020204030204" pitchFamily="34" charset="0"/>
                <a:ea typeface="Calibri" panose="020F0502020204030204" pitchFamily="34" charset="0"/>
                <a:cs typeface="Calibri" panose="020F0502020204030204" pitchFamily="34" charset="0"/>
              </a:rPr>
              <a:t>Examples of Combinational Circuits</a:t>
            </a:r>
          </a:p>
        </p:txBody>
      </p:sp>
      <p:sp>
        <p:nvSpPr>
          <p:cNvPr id="17" name="TextBox 16">
            <a:extLst>
              <a:ext uri="{FF2B5EF4-FFF2-40B4-BE49-F238E27FC236}">
                <a16:creationId xmlns="" xmlns:a16="http://schemas.microsoft.com/office/drawing/2014/main" id="{232AB3C4-BF4D-1C0C-6330-7A62DA9BAC87}"/>
              </a:ext>
            </a:extLst>
          </p:cNvPr>
          <p:cNvSpPr txBox="1"/>
          <p:nvPr/>
        </p:nvSpPr>
        <p:spPr>
          <a:xfrm>
            <a:off x="9931923" y="1246198"/>
            <a:ext cx="2260077" cy="1000274"/>
          </a:xfrm>
          <a:prstGeom prst="rect">
            <a:avLst/>
          </a:prstGeom>
          <a:noFill/>
        </p:spPr>
        <p:txBody>
          <a:bodyPr wrap="square">
            <a:spAutoFit/>
          </a:bodyPr>
          <a:lstStyle/>
          <a:p>
            <a:pPr>
              <a:spcAft>
                <a:spcPts val="600"/>
              </a:spcAft>
            </a:pPr>
            <a:r>
              <a:rPr lang="en-IN" sz="1800" b="1" dirty="0">
                <a:latin typeface="Calibri" panose="020F0502020204030204" pitchFamily="34" charset="0"/>
                <a:ea typeface="Calibri" panose="020F0502020204030204" pitchFamily="34" charset="0"/>
                <a:cs typeface="Calibri" panose="020F0502020204030204" pitchFamily="34" charset="0"/>
              </a:rPr>
              <a:t>Subtraction: </a:t>
            </a:r>
          </a:p>
          <a:p>
            <a:pPr marL="285750" indent="-285750">
              <a:buFont typeface="Wingdings" panose="05000000000000000000" pitchFamily="2" charset="2"/>
              <a:buChar char="§"/>
            </a:pPr>
            <a:r>
              <a:rPr lang="en-IN" sz="1800" dirty="0">
                <a:latin typeface="Calibri" panose="020F0502020204030204" pitchFamily="34" charset="0"/>
                <a:ea typeface="Calibri" panose="020F0502020204030204" pitchFamily="34" charset="0"/>
                <a:cs typeface="Calibri" panose="020F0502020204030204" pitchFamily="34" charset="0"/>
              </a:rPr>
              <a:t>Half Subtractor. </a:t>
            </a:r>
          </a:p>
          <a:p>
            <a:pPr marL="285750" indent="-285750">
              <a:buFont typeface="Wingdings" panose="05000000000000000000" pitchFamily="2" charset="2"/>
              <a:buChar char="§"/>
            </a:pPr>
            <a:r>
              <a:rPr lang="en-IN" sz="1800" dirty="0">
                <a:latin typeface="Calibri" panose="020F0502020204030204" pitchFamily="34" charset="0"/>
                <a:ea typeface="Calibri" panose="020F0502020204030204" pitchFamily="34" charset="0"/>
                <a:cs typeface="Calibri" panose="020F0502020204030204" pitchFamily="34" charset="0"/>
              </a:rPr>
              <a:t>Full Subtractor. </a:t>
            </a:r>
          </a:p>
        </p:txBody>
      </p:sp>
      <p:sp>
        <p:nvSpPr>
          <p:cNvPr id="19" name="TextBox 18">
            <a:extLst>
              <a:ext uri="{FF2B5EF4-FFF2-40B4-BE49-F238E27FC236}">
                <a16:creationId xmlns="" xmlns:a16="http://schemas.microsoft.com/office/drawing/2014/main" id="{FF969582-5870-A0CA-AF68-055AD11877CE}"/>
              </a:ext>
            </a:extLst>
          </p:cNvPr>
          <p:cNvSpPr txBox="1"/>
          <p:nvPr/>
        </p:nvSpPr>
        <p:spPr>
          <a:xfrm>
            <a:off x="9395931" y="2730344"/>
            <a:ext cx="2726830" cy="723275"/>
          </a:xfrm>
          <a:prstGeom prst="rect">
            <a:avLst/>
          </a:prstGeom>
          <a:noFill/>
        </p:spPr>
        <p:txBody>
          <a:bodyPr wrap="square">
            <a:spAutoFit/>
          </a:bodyPr>
          <a:lstStyle/>
          <a:p>
            <a:pPr>
              <a:spcAft>
                <a:spcPts val="600"/>
              </a:spcAft>
            </a:pPr>
            <a:r>
              <a:rPr lang="en-IN" sz="1800" b="1" dirty="0">
                <a:latin typeface="Calibri" panose="020F0502020204030204" pitchFamily="34" charset="0"/>
                <a:ea typeface="Calibri" panose="020F0502020204030204" pitchFamily="34" charset="0"/>
                <a:cs typeface="Calibri" panose="020F0502020204030204" pitchFamily="34" charset="0"/>
              </a:rPr>
              <a:t>Comparator: </a:t>
            </a:r>
          </a:p>
          <a:p>
            <a:pPr marL="285750" indent="-285750">
              <a:buFont typeface="Wingdings" panose="05000000000000000000" pitchFamily="2" charset="2"/>
              <a:buChar char="§"/>
            </a:pPr>
            <a:r>
              <a:rPr lang="en-IN" sz="1800" dirty="0">
                <a:latin typeface="Calibri" panose="020F0502020204030204" pitchFamily="34" charset="0"/>
                <a:ea typeface="Calibri" panose="020F0502020204030204" pitchFamily="34" charset="0"/>
                <a:cs typeface="Calibri" panose="020F0502020204030204" pitchFamily="34" charset="0"/>
              </a:rPr>
              <a:t>Magnitude Comparator.</a:t>
            </a:r>
            <a:endParaRPr lang="en-IN" dirty="0"/>
          </a:p>
        </p:txBody>
      </p:sp>
      <p:pic>
        <p:nvPicPr>
          <p:cNvPr id="21" name="Picture 20">
            <a:extLst>
              <a:ext uri="{FF2B5EF4-FFF2-40B4-BE49-F238E27FC236}">
                <a16:creationId xmlns="" xmlns:a16="http://schemas.microsoft.com/office/drawing/2014/main" id="{C9324BB1-DDAA-7911-E3A6-8A5BAAC8B1C2}"/>
              </a:ext>
            </a:extLst>
          </p:cNvPr>
          <p:cNvPicPr>
            <a:picLocks noChangeAspect="1"/>
          </p:cNvPicPr>
          <p:nvPr/>
        </p:nvPicPr>
        <p:blipFill>
          <a:blip r:embed="rId3"/>
          <a:stretch>
            <a:fillRect/>
          </a:stretch>
        </p:blipFill>
        <p:spPr>
          <a:xfrm>
            <a:off x="218444" y="3624833"/>
            <a:ext cx="3843874" cy="2455714"/>
          </a:xfrm>
          <a:prstGeom prst="rect">
            <a:avLst/>
          </a:prstGeom>
          <a:ln w="19050">
            <a:solidFill>
              <a:schemeClr val="tx1"/>
            </a:solidFill>
          </a:ln>
        </p:spPr>
      </p:pic>
      <p:cxnSp>
        <p:nvCxnSpPr>
          <p:cNvPr id="23" name="Straight Arrow Connector 22">
            <a:extLst>
              <a:ext uri="{FF2B5EF4-FFF2-40B4-BE49-F238E27FC236}">
                <a16:creationId xmlns="" xmlns:a16="http://schemas.microsoft.com/office/drawing/2014/main" id="{BA02E58A-AB2C-3613-3F4A-65F8316CA546}"/>
              </a:ext>
            </a:extLst>
          </p:cNvPr>
          <p:cNvCxnSpPr>
            <a:cxnSpLocks/>
          </p:cNvCxnSpPr>
          <p:nvPr/>
        </p:nvCxnSpPr>
        <p:spPr>
          <a:xfrm>
            <a:off x="4077466" y="4889241"/>
            <a:ext cx="335907"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 xmlns:a16="http://schemas.microsoft.com/office/drawing/2014/main" id="{2ED456A3-0ED1-315F-20FA-243483709EE5}"/>
              </a:ext>
            </a:extLst>
          </p:cNvPr>
          <p:cNvSpPr txBox="1"/>
          <p:nvPr/>
        </p:nvSpPr>
        <p:spPr>
          <a:xfrm>
            <a:off x="4310734" y="4614189"/>
            <a:ext cx="2117008" cy="646331"/>
          </a:xfrm>
          <a:prstGeom prst="rect">
            <a:avLst/>
          </a:prstGeom>
          <a:noFill/>
        </p:spPr>
        <p:txBody>
          <a:bodyPr wrap="square">
            <a:spAutoFit/>
          </a:bodyPr>
          <a:lstStyle/>
          <a:p>
            <a:pPr algn="ctr">
              <a:spcAft>
                <a:spcPts val="600"/>
              </a:spcAft>
            </a:pPr>
            <a:r>
              <a:rPr lang="en-IN" sz="1800" b="1" dirty="0">
                <a:latin typeface="Calibri" panose="020F0502020204030204" pitchFamily="34" charset="0"/>
                <a:ea typeface="Calibri" panose="020F0502020204030204" pitchFamily="34" charset="0"/>
                <a:cs typeface="Calibri" panose="020F0502020204030204" pitchFamily="34" charset="0"/>
              </a:rPr>
              <a:t>Classification of Combinational Logic</a:t>
            </a:r>
            <a:endParaRPr lang="en-IN" dirty="0"/>
          </a:p>
        </p:txBody>
      </p:sp>
      <p:sp>
        <p:nvSpPr>
          <p:cNvPr id="27" name="TextBox 26">
            <a:extLst>
              <a:ext uri="{FF2B5EF4-FFF2-40B4-BE49-F238E27FC236}">
                <a16:creationId xmlns="" xmlns:a16="http://schemas.microsoft.com/office/drawing/2014/main" id="{F013906C-D2B1-431A-B6FE-CBC7B589AB36}"/>
              </a:ext>
            </a:extLst>
          </p:cNvPr>
          <p:cNvSpPr txBox="1"/>
          <p:nvPr/>
        </p:nvSpPr>
        <p:spPr>
          <a:xfrm>
            <a:off x="6511098" y="4001603"/>
            <a:ext cx="5695017" cy="2139047"/>
          </a:xfrm>
          <a:prstGeom prst="rect">
            <a:avLst/>
          </a:prstGeom>
          <a:noFill/>
        </p:spPr>
        <p:txBody>
          <a:bodyPr wrap="square">
            <a:spAutoFit/>
          </a:bodyPr>
          <a:lstStyle/>
          <a:p>
            <a:pPr marL="285750" indent="-285750" algn="just">
              <a:buFont typeface="Wingdings" panose="05000000000000000000" pitchFamily="2" charset="2"/>
              <a:buChar char="Ø"/>
            </a:pPr>
            <a:r>
              <a:rPr lang="en-IN" sz="1700" dirty="0">
                <a:latin typeface="Calibri" panose="020F0502020204030204" pitchFamily="34" charset="0"/>
                <a:ea typeface="Calibri" panose="020F0502020204030204" pitchFamily="34" charset="0"/>
                <a:cs typeface="Calibri" panose="020F0502020204030204" pitchFamily="34" charset="0"/>
              </a:rPr>
              <a:t>The output of combinational circuit at any instant of time, depends only on the levels present at input terminals.</a:t>
            </a:r>
          </a:p>
          <a:p>
            <a:pPr marL="285750" indent="-285750" algn="just">
              <a:buFont typeface="Wingdings" panose="05000000000000000000" pitchFamily="2" charset="2"/>
              <a:buChar char="Ø"/>
            </a:pPr>
            <a:endParaRPr lang="en-IN" sz="700" dirty="0">
              <a:latin typeface="Calibri" panose="020F0502020204030204" pitchFamily="34" charset="0"/>
              <a:ea typeface="Calibri" panose="020F0502020204030204" pitchFamily="34" charset="0"/>
              <a:cs typeface="Calibri" panose="020F0502020204030204" pitchFamily="34" charset="0"/>
            </a:endParaRPr>
          </a:p>
          <a:p>
            <a:pPr marL="285750" indent="-285750" algn="just">
              <a:buFont typeface="Wingdings" panose="05000000000000000000" pitchFamily="2" charset="2"/>
              <a:buChar char="Ø"/>
            </a:pPr>
            <a:r>
              <a:rPr lang="en-IN" sz="1700" dirty="0">
                <a:latin typeface="Calibri" panose="020F0502020204030204" pitchFamily="34" charset="0"/>
                <a:ea typeface="Calibri" panose="020F0502020204030204" pitchFamily="34" charset="0"/>
                <a:cs typeface="Calibri" panose="020F0502020204030204" pitchFamily="34" charset="0"/>
              </a:rPr>
              <a:t>The combinational circuit do not use any memory. The previous state of input does not have any effect on the present state of the circuit.</a:t>
            </a:r>
          </a:p>
          <a:p>
            <a:pPr marL="285750" indent="-285750" algn="just">
              <a:buFont typeface="Wingdings" panose="05000000000000000000" pitchFamily="2" charset="2"/>
              <a:buChar char="Ø"/>
            </a:pPr>
            <a:endParaRPr lang="en-IN" sz="700" dirty="0">
              <a:latin typeface="Calibri" panose="020F0502020204030204" pitchFamily="34" charset="0"/>
              <a:ea typeface="Calibri" panose="020F0502020204030204" pitchFamily="34" charset="0"/>
              <a:cs typeface="Calibri" panose="020F0502020204030204" pitchFamily="34" charset="0"/>
            </a:endParaRPr>
          </a:p>
          <a:p>
            <a:pPr marL="285750" indent="-285750" algn="just">
              <a:buFont typeface="Wingdings" panose="05000000000000000000" pitchFamily="2" charset="2"/>
              <a:buChar char="Ø"/>
            </a:pPr>
            <a:r>
              <a:rPr lang="en-IN" sz="1700" dirty="0">
                <a:latin typeface="Calibri" panose="020F0502020204030204" pitchFamily="34" charset="0"/>
                <a:ea typeface="Calibri" panose="020F0502020204030204" pitchFamily="34" charset="0"/>
                <a:cs typeface="Calibri" panose="020F0502020204030204" pitchFamily="34" charset="0"/>
              </a:rPr>
              <a:t>A combinational circuit can have an n number of inputs and m number of outputs.</a:t>
            </a:r>
          </a:p>
        </p:txBody>
      </p:sp>
      <p:sp>
        <p:nvSpPr>
          <p:cNvPr id="28" name="TextBox 27">
            <a:extLst>
              <a:ext uri="{FF2B5EF4-FFF2-40B4-BE49-F238E27FC236}">
                <a16:creationId xmlns="" xmlns:a16="http://schemas.microsoft.com/office/drawing/2014/main" id="{07FD0F4F-34D9-30DB-06B8-35260C2FCC87}"/>
              </a:ext>
            </a:extLst>
          </p:cNvPr>
          <p:cNvSpPr txBox="1"/>
          <p:nvPr/>
        </p:nvSpPr>
        <p:spPr>
          <a:xfrm>
            <a:off x="6549697" y="3577786"/>
            <a:ext cx="2174425" cy="461665"/>
          </a:xfrm>
          <a:prstGeom prst="rect">
            <a:avLst/>
          </a:prstGeom>
          <a:noFill/>
        </p:spPr>
        <p:txBody>
          <a:bodyPr wrap="square">
            <a:spAutoFit/>
          </a:bodyPr>
          <a:lstStyle/>
          <a:p>
            <a:pPr>
              <a:spcAft>
                <a:spcPts val="600"/>
              </a:spcAft>
            </a:pPr>
            <a:r>
              <a:rPr lang="en-IN" sz="2400" b="1" dirty="0">
                <a:solidFill>
                  <a:srgbClr val="7030A0"/>
                </a:solidFill>
                <a:latin typeface="Calibri" panose="020F0502020204030204" pitchFamily="34" charset="0"/>
                <a:ea typeface="Calibri" panose="020F0502020204030204" pitchFamily="34" charset="0"/>
                <a:cs typeface="Calibri" panose="020F0502020204030204" pitchFamily="34" charset="0"/>
              </a:rPr>
              <a:t>Characteristics:</a:t>
            </a:r>
          </a:p>
        </p:txBody>
      </p:sp>
    </p:spTree>
    <p:extLst>
      <p:ext uri="{BB962C8B-B14F-4D97-AF65-F5344CB8AC3E}">
        <p14:creationId xmlns:p14="http://schemas.microsoft.com/office/powerpoint/2010/main" val="14763115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AB7E5B7-20B3-8908-95E5-493D80E98533}"/>
            </a:ext>
          </a:extLst>
        </p:cNvPr>
        <p:cNvGrpSpPr/>
        <p:nvPr/>
      </p:nvGrpSpPr>
      <p:grpSpPr>
        <a:xfrm>
          <a:off x="0" y="0"/>
          <a:ext cx="0" cy="0"/>
          <a:chOff x="0" y="0"/>
          <a:chExt cx="0" cy="0"/>
        </a:xfrm>
      </p:grpSpPr>
      <p:sp>
        <p:nvSpPr>
          <p:cNvPr id="9" name="Rounded Rectangle 17">
            <a:extLst>
              <a:ext uri="{FF2B5EF4-FFF2-40B4-BE49-F238E27FC236}">
                <a16:creationId xmlns="" xmlns:a16="http://schemas.microsoft.com/office/drawing/2014/main" id="{A4F285B9-ED12-3C20-E105-E52F5A0C8F5D}"/>
              </a:ext>
            </a:extLst>
          </p:cNvPr>
          <p:cNvSpPr/>
          <p:nvPr/>
        </p:nvSpPr>
        <p:spPr>
          <a:xfrm>
            <a:off x="2078243" y="123556"/>
            <a:ext cx="8558656" cy="52958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2700" algn="ctr">
              <a:lnSpc>
                <a:spcPct val="100000"/>
              </a:lnSpc>
              <a:spcBef>
                <a:spcPts val="100"/>
              </a:spcBef>
            </a:pPr>
            <a:r>
              <a:rPr lang="en-US" sz="3600" spc="-10" dirty="0"/>
              <a:t>Sequential Logic Cells</a:t>
            </a:r>
            <a:endParaRPr lang="en-IN" sz="1400" b="1" spc="-50" dirty="0"/>
          </a:p>
        </p:txBody>
      </p:sp>
      <p:cxnSp>
        <p:nvCxnSpPr>
          <p:cNvPr id="5" name="Straight Connector 4">
            <a:extLst>
              <a:ext uri="{FF2B5EF4-FFF2-40B4-BE49-F238E27FC236}">
                <a16:creationId xmlns="" xmlns:a16="http://schemas.microsoft.com/office/drawing/2014/main" id="{D80AA221-9736-70A6-9397-EC02289E49D7}"/>
              </a:ext>
            </a:extLst>
          </p:cNvPr>
          <p:cNvCxnSpPr>
            <a:cxnSpLocks/>
          </p:cNvCxnSpPr>
          <p:nvPr/>
        </p:nvCxnSpPr>
        <p:spPr>
          <a:xfrm>
            <a:off x="6511728" y="653143"/>
            <a:ext cx="0" cy="5513977"/>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 xmlns:a16="http://schemas.microsoft.com/office/drawing/2014/main" id="{219F7864-7904-F83C-8661-2337FA5E0869}"/>
              </a:ext>
            </a:extLst>
          </p:cNvPr>
          <p:cNvSpPr txBox="1"/>
          <p:nvPr/>
        </p:nvSpPr>
        <p:spPr>
          <a:xfrm>
            <a:off x="1182155" y="4504384"/>
            <a:ext cx="3873026" cy="338554"/>
          </a:xfrm>
          <a:prstGeom prst="rect">
            <a:avLst/>
          </a:prstGeom>
          <a:noFill/>
        </p:spPr>
        <p:txBody>
          <a:bodyPr wrap="square">
            <a:spAutoFit/>
          </a:bodyPr>
          <a:lstStyle/>
          <a:p>
            <a:pPr algn="ctr">
              <a:spcAft>
                <a:spcPts val="600"/>
              </a:spcAft>
            </a:pPr>
            <a:r>
              <a:rPr lang="en-IN" sz="1600" dirty="0">
                <a:latin typeface="Calibri" panose="020F0502020204030204" pitchFamily="34" charset="0"/>
                <a:ea typeface="Calibri" panose="020F0502020204030204" pitchFamily="34" charset="0"/>
                <a:cs typeface="Calibri" panose="020F0502020204030204" pitchFamily="34" charset="0"/>
              </a:rPr>
              <a:t>Fig. Block diagram of a Sequential Circuit</a:t>
            </a:r>
            <a:endParaRPr lang="en-IN" sz="1200" dirty="0">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 xmlns:a16="http://schemas.microsoft.com/office/drawing/2014/main" id="{1BCFA5B5-19BA-1E74-04C8-3B5DA1DD8070}"/>
              </a:ext>
            </a:extLst>
          </p:cNvPr>
          <p:cNvSpPr txBox="1"/>
          <p:nvPr/>
        </p:nvSpPr>
        <p:spPr>
          <a:xfrm>
            <a:off x="69890" y="769979"/>
            <a:ext cx="6348521" cy="1015663"/>
          </a:xfrm>
          <a:prstGeom prst="rect">
            <a:avLst/>
          </a:prstGeom>
          <a:noFill/>
        </p:spPr>
        <p:txBody>
          <a:bodyPr wrap="square">
            <a:spAutoFit/>
          </a:bodyPr>
          <a:lstStyle/>
          <a:p>
            <a:pPr marL="285750" indent="-285750" algn="just">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A sequential logic circuit is a type of digital circuit whose output depends not only on the current input but also on the sequence of past inputs.</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sp>
        <p:nvSpPr>
          <p:cNvPr id="13" name="TextBox 12">
            <a:extLst>
              <a:ext uri="{FF2B5EF4-FFF2-40B4-BE49-F238E27FC236}">
                <a16:creationId xmlns="" xmlns:a16="http://schemas.microsoft.com/office/drawing/2014/main" id="{2E08EF7F-EDFB-E209-82EB-3DCB60EC56D4}"/>
              </a:ext>
            </a:extLst>
          </p:cNvPr>
          <p:cNvSpPr txBox="1"/>
          <p:nvPr/>
        </p:nvSpPr>
        <p:spPr>
          <a:xfrm>
            <a:off x="-3101" y="5491628"/>
            <a:ext cx="1525680" cy="400110"/>
          </a:xfrm>
          <a:prstGeom prst="rect">
            <a:avLst/>
          </a:prstGeom>
          <a:noFill/>
        </p:spPr>
        <p:txBody>
          <a:bodyPr wrap="square">
            <a:spAutoFit/>
          </a:bodyPr>
          <a:lstStyle/>
          <a:p>
            <a:pPr marL="342900" indent="-342900">
              <a:spcAft>
                <a:spcPts val="600"/>
              </a:spcAft>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Flip-flops</a:t>
            </a:r>
          </a:p>
        </p:txBody>
      </p:sp>
      <p:sp>
        <p:nvSpPr>
          <p:cNvPr id="15" name="TextBox 14">
            <a:extLst>
              <a:ext uri="{FF2B5EF4-FFF2-40B4-BE49-F238E27FC236}">
                <a16:creationId xmlns="" xmlns:a16="http://schemas.microsoft.com/office/drawing/2014/main" id="{017C9F3E-E9B5-9513-22F4-E0658721AD66}"/>
              </a:ext>
            </a:extLst>
          </p:cNvPr>
          <p:cNvSpPr txBox="1"/>
          <p:nvPr/>
        </p:nvSpPr>
        <p:spPr>
          <a:xfrm>
            <a:off x="756836" y="4959774"/>
            <a:ext cx="5282144" cy="461665"/>
          </a:xfrm>
          <a:prstGeom prst="rect">
            <a:avLst/>
          </a:prstGeom>
          <a:noFill/>
        </p:spPr>
        <p:txBody>
          <a:bodyPr wrap="square">
            <a:spAutoFit/>
          </a:bodyPr>
          <a:lstStyle/>
          <a:p>
            <a:pPr algn="ctr">
              <a:spcAft>
                <a:spcPts val="600"/>
              </a:spcAft>
            </a:pPr>
            <a:r>
              <a:rPr lang="en-IN" sz="2400" b="1" dirty="0">
                <a:solidFill>
                  <a:srgbClr val="7030A0"/>
                </a:solidFill>
                <a:latin typeface="Calibri" panose="020F0502020204030204" pitchFamily="34" charset="0"/>
                <a:ea typeface="Calibri" panose="020F0502020204030204" pitchFamily="34" charset="0"/>
                <a:cs typeface="Calibri" panose="020F0502020204030204" pitchFamily="34" charset="0"/>
              </a:rPr>
              <a:t>Examples of Combinational Circuits</a:t>
            </a:r>
          </a:p>
        </p:txBody>
      </p:sp>
      <p:sp>
        <p:nvSpPr>
          <p:cNvPr id="27" name="TextBox 26">
            <a:extLst>
              <a:ext uri="{FF2B5EF4-FFF2-40B4-BE49-F238E27FC236}">
                <a16:creationId xmlns="" xmlns:a16="http://schemas.microsoft.com/office/drawing/2014/main" id="{2AD05A33-5E35-18BD-B95F-E73FD960061D}"/>
              </a:ext>
            </a:extLst>
          </p:cNvPr>
          <p:cNvSpPr txBox="1"/>
          <p:nvPr/>
        </p:nvSpPr>
        <p:spPr>
          <a:xfrm>
            <a:off x="6528769" y="1306288"/>
            <a:ext cx="5695017" cy="3400931"/>
          </a:xfrm>
          <a:prstGeom prst="rect">
            <a:avLst/>
          </a:prstGeom>
          <a:noFill/>
        </p:spPr>
        <p:txBody>
          <a:bodyPr wrap="square">
            <a:spAutoFit/>
          </a:bodyPr>
          <a:lstStyle/>
          <a:p>
            <a:pPr marL="285750" indent="-285750" algn="just">
              <a:buFont typeface="Wingdings" panose="05000000000000000000" pitchFamily="2" charset="2"/>
              <a:buChar char="Ø"/>
            </a:pPr>
            <a:r>
              <a:rPr lang="en-US" sz="1700" dirty="0">
                <a:latin typeface="Calibri" panose="020F0502020204030204" pitchFamily="34" charset="0"/>
                <a:ea typeface="Calibri" panose="020F0502020204030204" pitchFamily="34" charset="0"/>
                <a:cs typeface="Calibri" panose="020F0502020204030204" pitchFamily="34" charset="0"/>
              </a:rPr>
              <a:t>Clock-Driven – Operate based on a clock signal to synchronize state transitions.</a:t>
            </a:r>
          </a:p>
          <a:p>
            <a:pPr marL="285750" indent="-285750" algn="just">
              <a:buFont typeface="Wingdings" panose="05000000000000000000" pitchFamily="2" charset="2"/>
              <a:buChar char="Ø"/>
            </a:pPr>
            <a:endParaRPr lang="en-US" sz="700" dirty="0">
              <a:latin typeface="Calibri" panose="020F0502020204030204" pitchFamily="34" charset="0"/>
              <a:ea typeface="Calibri" panose="020F0502020204030204" pitchFamily="34" charset="0"/>
              <a:cs typeface="Calibri" panose="020F0502020204030204" pitchFamily="34" charset="0"/>
            </a:endParaRPr>
          </a:p>
          <a:p>
            <a:pPr marL="285750" indent="-285750" algn="just">
              <a:buFont typeface="Wingdings" panose="05000000000000000000" pitchFamily="2" charset="2"/>
              <a:buChar char="Ø"/>
            </a:pPr>
            <a:r>
              <a:rPr lang="en-US" sz="1700" dirty="0">
                <a:latin typeface="Calibri" panose="020F0502020204030204" pitchFamily="34" charset="0"/>
                <a:ea typeface="Calibri" panose="020F0502020204030204" pitchFamily="34" charset="0"/>
                <a:cs typeface="Calibri" panose="020F0502020204030204" pitchFamily="34" charset="0"/>
              </a:rPr>
              <a:t>Stores State – Use flip-flops or latches to retain previous input values.</a:t>
            </a:r>
          </a:p>
          <a:p>
            <a:pPr marL="285750" indent="-285750" algn="just">
              <a:buFont typeface="Wingdings" panose="05000000000000000000" pitchFamily="2" charset="2"/>
              <a:buChar char="Ø"/>
            </a:pPr>
            <a:endParaRPr lang="en-US" sz="700" dirty="0">
              <a:latin typeface="Calibri" panose="020F0502020204030204" pitchFamily="34" charset="0"/>
              <a:ea typeface="Calibri" panose="020F0502020204030204" pitchFamily="34" charset="0"/>
              <a:cs typeface="Calibri" panose="020F0502020204030204" pitchFamily="34" charset="0"/>
            </a:endParaRPr>
          </a:p>
          <a:p>
            <a:pPr marL="285750" indent="-285750" algn="just">
              <a:buFont typeface="Wingdings" panose="05000000000000000000" pitchFamily="2" charset="2"/>
              <a:buChar char="Ø"/>
            </a:pPr>
            <a:r>
              <a:rPr lang="en-US" sz="1700" dirty="0">
                <a:latin typeface="Calibri" panose="020F0502020204030204" pitchFamily="34" charset="0"/>
                <a:ea typeface="Calibri" panose="020F0502020204030204" pitchFamily="34" charset="0"/>
                <a:cs typeface="Calibri" panose="020F0502020204030204" pitchFamily="34" charset="0"/>
              </a:rPr>
              <a:t>Output Depends on Inputs + State – Outputs are a function of both current inputs and stored states.</a:t>
            </a:r>
          </a:p>
          <a:p>
            <a:pPr marL="285750" indent="-285750" algn="just">
              <a:buFont typeface="Wingdings" panose="05000000000000000000" pitchFamily="2" charset="2"/>
              <a:buChar char="Ø"/>
            </a:pPr>
            <a:endParaRPr lang="en-US" sz="700" dirty="0">
              <a:latin typeface="Calibri" panose="020F0502020204030204" pitchFamily="34" charset="0"/>
              <a:ea typeface="Calibri" panose="020F0502020204030204" pitchFamily="34" charset="0"/>
              <a:cs typeface="Calibri" panose="020F0502020204030204" pitchFamily="34" charset="0"/>
            </a:endParaRPr>
          </a:p>
          <a:p>
            <a:pPr marL="285750" indent="-285750" algn="just">
              <a:buFont typeface="Wingdings" panose="05000000000000000000" pitchFamily="2" charset="2"/>
              <a:buChar char="Ø"/>
            </a:pPr>
            <a:r>
              <a:rPr lang="en-US" sz="1700" dirty="0">
                <a:latin typeface="Calibri" panose="020F0502020204030204" pitchFamily="34" charset="0"/>
                <a:ea typeface="Calibri" panose="020F0502020204030204" pitchFamily="34" charset="0"/>
                <a:cs typeface="Calibri" panose="020F0502020204030204" pitchFamily="34" charset="0"/>
              </a:rPr>
              <a:t>Timing Constraints – Require careful handling of setup time, hold time, and clock skew during ASIC timing analysis.</a:t>
            </a:r>
          </a:p>
          <a:p>
            <a:pPr marL="285750" indent="-285750" algn="just">
              <a:buFont typeface="Wingdings" panose="05000000000000000000" pitchFamily="2" charset="2"/>
              <a:buChar char="Ø"/>
            </a:pPr>
            <a:endParaRPr lang="en-US" sz="700" dirty="0">
              <a:latin typeface="Calibri" panose="020F0502020204030204" pitchFamily="34" charset="0"/>
              <a:ea typeface="Calibri" panose="020F0502020204030204" pitchFamily="34" charset="0"/>
              <a:cs typeface="Calibri" panose="020F0502020204030204" pitchFamily="34" charset="0"/>
            </a:endParaRPr>
          </a:p>
          <a:p>
            <a:pPr marL="285750" indent="-285750" algn="just">
              <a:buFont typeface="Wingdings" panose="05000000000000000000" pitchFamily="2" charset="2"/>
              <a:buChar char="Ø"/>
            </a:pPr>
            <a:r>
              <a:rPr lang="en-US" sz="1700" dirty="0">
                <a:latin typeface="Calibri" panose="020F0502020204030204" pitchFamily="34" charset="0"/>
                <a:ea typeface="Calibri" panose="020F0502020204030204" pitchFamily="34" charset="0"/>
                <a:cs typeface="Calibri" panose="020F0502020204030204" pitchFamily="34" charset="0"/>
              </a:rPr>
              <a:t>Used in Control and Data Path Logic – Essential for implementing FSMs, registers, pipelines, and protocol controllers in ASICs.</a:t>
            </a:r>
            <a:endParaRPr lang="en-IN" sz="1700" dirty="0">
              <a:latin typeface="Calibri" panose="020F0502020204030204" pitchFamily="34" charset="0"/>
              <a:ea typeface="Calibri" panose="020F0502020204030204" pitchFamily="34" charset="0"/>
              <a:cs typeface="Calibri" panose="020F0502020204030204" pitchFamily="34" charset="0"/>
            </a:endParaRPr>
          </a:p>
        </p:txBody>
      </p:sp>
      <p:sp>
        <p:nvSpPr>
          <p:cNvPr id="28" name="TextBox 27">
            <a:extLst>
              <a:ext uri="{FF2B5EF4-FFF2-40B4-BE49-F238E27FC236}">
                <a16:creationId xmlns="" xmlns:a16="http://schemas.microsoft.com/office/drawing/2014/main" id="{36F29578-EFA7-09F1-9730-2DE67D6077DE}"/>
              </a:ext>
            </a:extLst>
          </p:cNvPr>
          <p:cNvSpPr txBox="1"/>
          <p:nvPr/>
        </p:nvSpPr>
        <p:spPr>
          <a:xfrm>
            <a:off x="6549697" y="797975"/>
            <a:ext cx="2174425" cy="461665"/>
          </a:xfrm>
          <a:prstGeom prst="rect">
            <a:avLst/>
          </a:prstGeom>
          <a:noFill/>
        </p:spPr>
        <p:txBody>
          <a:bodyPr wrap="square">
            <a:spAutoFit/>
          </a:bodyPr>
          <a:lstStyle/>
          <a:p>
            <a:pPr>
              <a:spcAft>
                <a:spcPts val="600"/>
              </a:spcAft>
            </a:pPr>
            <a:r>
              <a:rPr lang="en-IN" sz="2400" b="1" dirty="0">
                <a:solidFill>
                  <a:srgbClr val="7030A0"/>
                </a:solidFill>
                <a:latin typeface="Calibri" panose="020F0502020204030204" pitchFamily="34" charset="0"/>
                <a:ea typeface="Calibri" panose="020F0502020204030204" pitchFamily="34" charset="0"/>
                <a:cs typeface="Calibri" panose="020F0502020204030204" pitchFamily="34" charset="0"/>
              </a:rPr>
              <a:t>Characteristics:</a:t>
            </a:r>
          </a:p>
        </p:txBody>
      </p:sp>
      <p:pic>
        <p:nvPicPr>
          <p:cNvPr id="2050" name="Picture 2" descr="Exploring Sequential Circuits: Latches, Flip Flops, Counters, and Registers.  | by Radha Kulkarni | Medium">
            <a:extLst>
              <a:ext uri="{FF2B5EF4-FFF2-40B4-BE49-F238E27FC236}">
                <a16:creationId xmlns="" xmlns:a16="http://schemas.microsoft.com/office/drawing/2014/main" id="{C44C9067-4B0A-3910-873A-3FE3811AF47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02" t="7909" r="3101" b="6833"/>
          <a:stretch>
            <a:fillRect/>
          </a:stretch>
        </p:blipFill>
        <p:spPr bwMode="auto">
          <a:xfrm>
            <a:off x="517328" y="1995788"/>
            <a:ext cx="5371324" cy="2485070"/>
          </a:xfrm>
          <a:prstGeom prst="rect">
            <a:avLst/>
          </a:prstGeom>
          <a:noFill/>
          <a:ln w="28575">
            <a:solidFill>
              <a:schemeClr val="tx1"/>
            </a:solidFill>
          </a:ln>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 xmlns:a16="http://schemas.microsoft.com/office/drawing/2014/main" id="{E57558D5-7E64-AB53-67D4-45F6FA209B1C}"/>
              </a:ext>
            </a:extLst>
          </p:cNvPr>
          <p:cNvSpPr txBox="1"/>
          <p:nvPr/>
        </p:nvSpPr>
        <p:spPr>
          <a:xfrm>
            <a:off x="1472758" y="5486416"/>
            <a:ext cx="2174421" cy="400110"/>
          </a:xfrm>
          <a:prstGeom prst="rect">
            <a:avLst/>
          </a:prstGeom>
          <a:noFill/>
        </p:spPr>
        <p:txBody>
          <a:bodyPr wrap="square">
            <a:spAutoFit/>
          </a:bodyPr>
          <a:lstStyle/>
          <a:p>
            <a:pPr marL="342900" indent="-342900">
              <a:spcAft>
                <a:spcPts val="600"/>
              </a:spcAft>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Counters</a:t>
            </a:r>
          </a:p>
        </p:txBody>
      </p:sp>
      <p:sp>
        <p:nvSpPr>
          <p:cNvPr id="7" name="TextBox 6">
            <a:extLst>
              <a:ext uri="{FF2B5EF4-FFF2-40B4-BE49-F238E27FC236}">
                <a16:creationId xmlns="" xmlns:a16="http://schemas.microsoft.com/office/drawing/2014/main" id="{AE9809A7-15B5-AEA1-08CC-D2E4488726EF}"/>
              </a:ext>
            </a:extLst>
          </p:cNvPr>
          <p:cNvSpPr txBox="1"/>
          <p:nvPr/>
        </p:nvSpPr>
        <p:spPr>
          <a:xfrm>
            <a:off x="2889512" y="5490546"/>
            <a:ext cx="2174421" cy="400110"/>
          </a:xfrm>
          <a:prstGeom prst="rect">
            <a:avLst/>
          </a:prstGeom>
          <a:noFill/>
        </p:spPr>
        <p:txBody>
          <a:bodyPr wrap="square">
            <a:spAutoFit/>
          </a:bodyPr>
          <a:lstStyle/>
          <a:p>
            <a:pPr marL="342900" indent="-342900">
              <a:spcAft>
                <a:spcPts val="600"/>
              </a:spcAft>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Registers</a:t>
            </a:r>
          </a:p>
        </p:txBody>
      </p:sp>
      <p:sp>
        <p:nvSpPr>
          <p:cNvPr id="10" name="TextBox 9">
            <a:extLst>
              <a:ext uri="{FF2B5EF4-FFF2-40B4-BE49-F238E27FC236}">
                <a16:creationId xmlns="" xmlns:a16="http://schemas.microsoft.com/office/drawing/2014/main" id="{31015410-6229-1FBE-C072-4D4E18D66498}"/>
              </a:ext>
            </a:extLst>
          </p:cNvPr>
          <p:cNvSpPr txBox="1"/>
          <p:nvPr/>
        </p:nvSpPr>
        <p:spPr>
          <a:xfrm>
            <a:off x="4375276" y="5510290"/>
            <a:ext cx="2174421" cy="400110"/>
          </a:xfrm>
          <a:prstGeom prst="rect">
            <a:avLst/>
          </a:prstGeom>
          <a:noFill/>
        </p:spPr>
        <p:txBody>
          <a:bodyPr wrap="square">
            <a:spAutoFit/>
          </a:bodyPr>
          <a:lstStyle/>
          <a:p>
            <a:pPr marL="342900" indent="-342900">
              <a:spcAft>
                <a:spcPts val="600"/>
              </a:spcAft>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State Machines</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sp>
        <p:nvSpPr>
          <p:cNvPr id="12" name="TextBox 11">
            <a:extLst>
              <a:ext uri="{FF2B5EF4-FFF2-40B4-BE49-F238E27FC236}">
                <a16:creationId xmlns="" xmlns:a16="http://schemas.microsoft.com/office/drawing/2014/main" id="{920D5E87-27AE-9BB5-7C20-3ACC60C16F53}"/>
              </a:ext>
            </a:extLst>
          </p:cNvPr>
          <p:cNvSpPr txBox="1"/>
          <p:nvPr/>
        </p:nvSpPr>
        <p:spPr>
          <a:xfrm>
            <a:off x="6568366" y="5188925"/>
            <a:ext cx="3060825" cy="769441"/>
          </a:xfrm>
          <a:prstGeom prst="rect">
            <a:avLst/>
          </a:prstGeom>
          <a:noFill/>
        </p:spPr>
        <p:txBody>
          <a:bodyPr wrap="square">
            <a:spAutoFit/>
          </a:bodyPr>
          <a:lstStyle/>
          <a:p>
            <a:pPr marL="285750" indent="-285750">
              <a:buFont typeface="Wingdings" panose="05000000000000000000" pitchFamily="2" charset="2"/>
              <a:buChar char="§"/>
            </a:pPr>
            <a:r>
              <a:rPr lang="en-IN" sz="1700" dirty="0">
                <a:latin typeface="Calibri" panose="020F0502020204030204" pitchFamily="34" charset="0"/>
                <a:ea typeface="Calibri" panose="020F0502020204030204" pitchFamily="34" charset="0"/>
                <a:cs typeface="Calibri" panose="020F0502020204030204" pitchFamily="34" charset="0"/>
              </a:rPr>
              <a:t>Finite State Machines (FSMs)</a:t>
            </a:r>
          </a:p>
          <a:p>
            <a:pPr marL="285750" indent="-285750">
              <a:buFont typeface="Wingdings" panose="05000000000000000000" pitchFamily="2" charset="2"/>
              <a:buChar char="§"/>
            </a:pPr>
            <a:endParaRPr lang="en-IN" sz="5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
            </a:pPr>
            <a:r>
              <a:rPr lang="en-IN" sz="1700" dirty="0">
                <a:latin typeface="Calibri" panose="020F0502020204030204" pitchFamily="34" charset="0"/>
                <a:ea typeface="Calibri" panose="020F0502020204030204" pitchFamily="34" charset="0"/>
                <a:cs typeface="Calibri" panose="020F0502020204030204" pitchFamily="34" charset="0"/>
              </a:rPr>
              <a:t>Pipelined Data Paths</a:t>
            </a:r>
          </a:p>
          <a:p>
            <a:pPr marL="285750" indent="-285750">
              <a:buFont typeface="Wingdings" panose="05000000000000000000" pitchFamily="2" charset="2"/>
              <a:buChar char="§"/>
            </a:pPr>
            <a:endParaRPr lang="en-IN" sz="500" dirty="0">
              <a:latin typeface="Calibri" panose="020F0502020204030204" pitchFamily="34" charset="0"/>
              <a:ea typeface="Calibri" panose="020F0502020204030204" pitchFamily="34" charset="0"/>
              <a:cs typeface="Calibri" panose="020F0502020204030204" pitchFamily="34" charset="0"/>
            </a:endParaRPr>
          </a:p>
        </p:txBody>
      </p:sp>
      <p:sp>
        <p:nvSpPr>
          <p:cNvPr id="14" name="TextBox 13">
            <a:extLst>
              <a:ext uri="{FF2B5EF4-FFF2-40B4-BE49-F238E27FC236}">
                <a16:creationId xmlns="" xmlns:a16="http://schemas.microsoft.com/office/drawing/2014/main" id="{26D8EC4F-3A02-91E9-A80A-8C54886C9B51}"/>
              </a:ext>
            </a:extLst>
          </p:cNvPr>
          <p:cNvSpPr txBox="1"/>
          <p:nvPr/>
        </p:nvSpPr>
        <p:spPr>
          <a:xfrm>
            <a:off x="6541880" y="4760126"/>
            <a:ext cx="2174425" cy="461665"/>
          </a:xfrm>
          <a:prstGeom prst="rect">
            <a:avLst/>
          </a:prstGeom>
          <a:noFill/>
        </p:spPr>
        <p:txBody>
          <a:bodyPr wrap="square">
            <a:spAutoFit/>
          </a:bodyPr>
          <a:lstStyle/>
          <a:p>
            <a:pPr>
              <a:spcAft>
                <a:spcPts val="600"/>
              </a:spcAft>
            </a:pPr>
            <a:r>
              <a:rPr lang="en-IN" sz="2400" b="1" dirty="0">
                <a:solidFill>
                  <a:srgbClr val="7030A0"/>
                </a:solidFill>
                <a:latin typeface="Calibri" panose="020F0502020204030204" pitchFamily="34" charset="0"/>
                <a:ea typeface="Calibri" panose="020F0502020204030204" pitchFamily="34" charset="0"/>
                <a:cs typeface="Calibri" panose="020F0502020204030204" pitchFamily="34" charset="0"/>
              </a:rPr>
              <a:t>Applications:</a:t>
            </a:r>
          </a:p>
        </p:txBody>
      </p:sp>
      <p:sp>
        <p:nvSpPr>
          <p:cNvPr id="16" name="TextBox 15">
            <a:extLst>
              <a:ext uri="{FF2B5EF4-FFF2-40B4-BE49-F238E27FC236}">
                <a16:creationId xmlns="" xmlns:a16="http://schemas.microsoft.com/office/drawing/2014/main" id="{77E92101-D686-406E-7848-1E7867E80563}"/>
              </a:ext>
            </a:extLst>
          </p:cNvPr>
          <p:cNvSpPr txBox="1"/>
          <p:nvPr/>
        </p:nvSpPr>
        <p:spPr>
          <a:xfrm>
            <a:off x="9516274" y="5188925"/>
            <a:ext cx="2538877" cy="692497"/>
          </a:xfrm>
          <a:prstGeom prst="rect">
            <a:avLst/>
          </a:prstGeom>
          <a:noFill/>
        </p:spPr>
        <p:txBody>
          <a:bodyPr wrap="square">
            <a:spAutoFit/>
          </a:bodyPr>
          <a:lstStyle/>
          <a:p>
            <a:pPr marL="285750" indent="-285750">
              <a:buFont typeface="Wingdings" panose="05000000000000000000" pitchFamily="2" charset="2"/>
              <a:buChar char="§"/>
            </a:pPr>
            <a:r>
              <a:rPr lang="en-IN" sz="1700" dirty="0">
                <a:latin typeface="Calibri" panose="020F0502020204030204" pitchFamily="34" charset="0"/>
                <a:ea typeface="Calibri" panose="020F0502020204030204" pitchFamily="34" charset="0"/>
                <a:cs typeface="Calibri" panose="020F0502020204030204" pitchFamily="34" charset="0"/>
              </a:rPr>
              <a:t>Counters and Timers</a:t>
            </a:r>
          </a:p>
          <a:p>
            <a:pPr marL="285750" indent="-285750">
              <a:buFont typeface="Wingdings" panose="05000000000000000000" pitchFamily="2" charset="2"/>
              <a:buChar char="§"/>
            </a:pPr>
            <a:endParaRPr lang="en-IN" sz="5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
            </a:pPr>
            <a:r>
              <a:rPr lang="en-IN" sz="1700" dirty="0">
                <a:latin typeface="Calibri" panose="020F0502020204030204" pitchFamily="34" charset="0"/>
                <a:ea typeface="Calibri" panose="020F0502020204030204" pitchFamily="34" charset="0"/>
                <a:cs typeface="Calibri" panose="020F0502020204030204" pitchFamily="34" charset="0"/>
              </a:rPr>
              <a:t>Registers and Buffers</a:t>
            </a:r>
          </a:p>
        </p:txBody>
      </p:sp>
    </p:spTree>
    <p:extLst>
      <p:ext uri="{BB962C8B-B14F-4D97-AF65-F5344CB8AC3E}">
        <p14:creationId xmlns:p14="http://schemas.microsoft.com/office/powerpoint/2010/main" val="24550669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C72B3C9-9E12-C509-853C-74CC6CB38315}"/>
            </a:ext>
          </a:extLst>
        </p:cNvPr>
        <p:cNvGrpSpPr/>
        <p:nvPr/>
      </p:nvGrpSpPr>
      <p:grpSpPr>
        <a:xfrm>
          <a:off x="0" y="0"/>
          <a:ext cx="0" cy="0"/>
          <a:chOff x="0" y="0"/>
          <a:chExt cx="0" cy="0"/>
        </a:xfrm>
      </p:grpSpPr>
      <p:sp>
        <p:nvSpPr>
          <p:cNvPr id="9" name="Rounded Rectangle 17">
            <a:extLst>
              <a:ext uri="{FF2B5EF4-FFF2-40B4-BE49-F238E27FC236}">
                <a16:creationId xmlns="" xmlns:a16="http://schemas.microsoft.com/office/drawing/2014/main" id="{62EC2F5D-06FF-9BFB-4049-4F2B271715CB}"/>
              </a:ext>
            </a:extLst>
          </p:cNvPr>
          <p:cNvSpPr/>
          <p:nvPr/>
        </p:nvSpPr>
        <p:spPr>
          <a:xfrm>
            <a:off x="2078243" y="123556"/>
            <a:ext cx="8558656" cy="52958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2700" algn="ctr">
              <a:lnSpc>
                <a:spcPct val="100000"/>
              </a:lnSpc>
              <a:spcBef>
                <a:spcPts val="100"/>
              </a:spcBef>
            </a:pPr>
            <a:r>
              <a:rPr lang="en-US" sz="3600" spc="-10" dirty="0"/>
              <a:t>Data Path Logic Cells</a:t>
            </a:r>
            <a:endParaRPr lang="en-IN" sz="1400" b="1" spc="-50" dirty="0"/>
          </a:p>
        </p:txBody>
      </p:sp>
      <p:cxnSp>
        <p:nvCxnSpPr>
          <p:cNvPr id="5" name="Straight Connector 4">
            <a:extLst>
              <a:ext uri="{FF2B5EF4-FFF2-40B4-BE49-F238E27FC236}">
                <a16:creationId xmlns="" xmlns:a16="http://schemas.microsoft.com/office/drawing/2014/main" id="{3FAED8A8-5D19-6A1A-B772-C5858D5F29D2}"/>
              </a:ext>
            </a:extLst>
          </p:cNvPr>
          <p:cNvCxnSpPr>
            <a:cxnSpLocks/>
          </p:cNvCxnSpPr>
          <p:nvPr/>
        </p:nvCxnSpPr>
        <p:spPr>
          <a:xfrm>
            <a:off x="6511728" y="653143"/>
            <a:ext cx="0" cy="5513977"/>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 xmlns:a16="http://schemas.microsoft.com/office/drawing/2014/main" id="{55EBA4C2-C2D5-A573-B2F3-168B95F43B21}"/>
              </a:ext>
            </a:extLst>
          </p:cNvPr>
          <p:cNvSpPr txBox="1"/>
          <p:nvPr/>
        </p:nvSpPr>
        <p:spPr>
          <a:xfrm>
            <a:off x="1164748" y="5783877"/>
            <a:ext cx="3873026" cy="338554"/>
          </a:xfrm>
          <a:prstGeom prst="rect">
            <a:avLst/>
          </a:prstGeom>
          <a:noFill/>
        </p:spPr>
        <p:txBody>
          <a:bodyPr wrap="square">
            <a:spAutoFit/>
          </a:bodyPr>
          <a:lstStyle/>
          <a:p>
            <a:pPr algn="ctr">
              <a:spcAft>
                <a:spcPts val="600"/>
              </a:spcAft>
            </a:pPr>
            <a:r>
              <a:rPr lang="en-IN" sz="1600" dirty="0">
                <a:latin typeface="Calibri" panose="020F0502020204030204" pitchFamily="34" charset="0"/>
                <a:ea typeface="Calibri" panose="020F0502020204030204" pitchFamily="34" charset="0"/>
                <a:cs typeface="Calibri" panose="020F0502020204030204" pitchFamily="34" charset="0"/>
              </a:rPr>
              <a:t>Fig. Block diagram of a Data Path Logic Cell</a:t>
            </a:r>
            <a:endParaRPr lang="en-IN" sz="1200" dirty="0">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 xmlns:a16="http://schemas.microsoft.com/office/drawing/2014/main" id="{5E0F0C64-27D1-55DA-4F62-CF01449CC67C}"/>
              </a:ext>
            </a:extLst>
          </p:cNvPr>
          <p:cNvSpPr txBox="1"/>
          <p:nvPr/>
        </p:nvSpPr>
        <p:spPr>
          <a:xfrm>
            <a:off x="69890" y="769979"/>
            <a:ext cx="6348521" cy="2046714"/>
          </a:xfrm>
          <a:prstGeom prst="rect">
            <a:avLst/>
          </a:prstGeom>
          <a:noFill/>
        </p:spPr>
        <p:txBody>
          <a:bodyPr wrap="square">
            <a:spAutoFit/>
          </a:bodyPr>
          <a:lstStyle/>
          <a:p>
            <a:pPr marL="285750" indent="-285750" algn="just">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Datapath Logic Cells are specialized standard cells designed to implement arithmetic and logical operations on multi-bit data buses in ASICs.</a:t>
            </a:r>
          </a:p>
          <a:p>
            <a:pPr marL="285750" indent="-285750" algn="just">
              <a:buFont typeface="Wingdings" panose="05000000000000000000" pitchFamily="2" charset="2"/>
              <a:buChar char="Ø"/>
            </a:pPr>
            <a:endParaRPr lang="en-US" sz="700" dirty="0">
              <a:latin typeface="Calibri" panose="020F0502020204030204" pitchFamily="34" charset="0"/>
              <a:ea typeface="Calibri" panose="020F0502020204030204" pitchFamily="34" charset="0"/>
              <a:cs typeface="Calibri" panose="020F0502020204030204" pitchFamily="34" charset="0"/>
            </a:endParaRPr>
          </a:p>
          <a:p>
            <a:pPr marL="285750" indent="-285750" algn="just">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They are optimized for speed, area, and bit-wise uniformity, and often used in pipelined or register-transfer logic.</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sp>
        <p:nvSpPr>
          <p:cNvPr id="13" name="TextBox 12">
            <a:extLst>
              <a:ext uri="{FF2B5EF4-FFF2-40B4-BE49-F238E27FC236}">
                <a16:creationId xmlns="" xmlns:a16="http://schemas.microsoft.com/office/drawing/2014/main" id="{6B1F9DB5-0F9A-F887-32F8-0E916A4D860A}"/>
              </a:ext>
            </a:extLst>
          </p:cNvPr>
          <p:cNvSpPr txBox="1"/>
          <p:nvPr/>
        </p:nvSpPr>
        <p:spPr>
          <a:xfrm>
            <a:off x="6901603" y="949078"/>
            <a:ext cx="2174421" cy="1323439"/>
          </a:xfrm>
          <a:prstGeom prst="rect">
            <a:avLst/>
          </a:prstGeom>
          <a:noFill/>
        </p:spPr>
        <p:txBody>
          <a:bodyPr wrap="square">
            <a:spAutoFit/>
          </a:bodyPr>
          <a:lstStyle/>
          <a:p>
            <a:pPr marL="342900" indent="-342900">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Adders </a:t>
            </a:r>
          </a:p>
          <a:p>
            <a:pPr marL="342900" indent="-342900">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Multipliers </a:t>
            </a:r>
          </a:p>
          <a:p>
            <a:pPr marL="342900" indent="-342900">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Subtractors  </a:t>
            </a:r>
          </a:p>
          <a:p>
            <a:pPr marL="342900" indent="-342900">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Shifters </a:t>
            </a:r>
          </a:p>
        </p:txBody>
      </p:sp>
      <p:sp>
        <p:nvSpPr>
          <p:cNvPr id="15" name="TextBox 14">
            <a:extLst>
              <a:ext uri="{FF2B5EF4-FFF2-40B4-BE49-F238E27FC236}">
                <a16:creationId xmlns="" xmlns:a16="http://schemas.microsoft.com/office/drawing/2014/main" id="{2A559E50-5D26-87FE-005B-07A7E4CB8F09}"/>
              </a:ext>
            </a:extLst>
          </p:cNvPr>
          <p:cNvSpPr txBox="1"/>
          <p:nvPr/>
        </p:nvSpPr>
        <p:spPr>
          <a:xfrm>
            <a:off x="6476916" y="598169"/>
            <a:ext cx="5282144" cy="461665"/>
          </a:xfrm>
          <a:prstGeom prst="rect">
            <a:avLst/>
          </a:prstGeom>
          <a:noFill/>
        </p:spPr>
        <p:txBody>
          <a:bodyPr wrap="square">
            <a:spAutoFit/>
          </a:bodyPr>
          <a:lstStyle/>
          <a:p>
            <a:pPr algn="ctr">
              <a:spcAft>
                <a:spcPts val="600"/>
              </a:spcAft>
            </a:pPr>
            <a:r>
              <a:rPr lang="en-IN" sz="2400" b="1" dirty="0">
                <a:solidFill>
                  <a:srgbClr val="7030A0"/>
                </a:solidFill>
                <a:latin typeface="Calibri" panose="020F0502020204030204" pitchFamily="34" charset="0"/>
                <a:ea typeface="Calibri" panose="020F0502020204030204" pitchFamily="34" charset="0"/>
                <a:cs typeface="Calibri" panose="020F0502020204030204" pitchFamily="34" charset="0"/>
              </a:rPr>
              <a:t>Examples </a:t>
            </a:r>
          </a:p>
        </p:txBody>
      </p:sp>
      <p:sp>
        <p:nvSpPr>
          <p:cNvPr id="28" name="TextBox 27">
            <a:extLst>
              <a:ext uri="{FF2B5EF4-FFF2-40B4-BE49-F238E27FC236}">
                <a16:creationId xmlns="" xmlns:a16="http://schemas.microsoft.com/office/drawing/2014/main" id="{0194DFB8-C6CC-2663-D7D8-2AFAB5718E48}"/>
              </a:ext>
            </a:extLst>
          </p:cNvPr>
          <p:cNvSpPr txBox="1"/>
          <p:nvPr/>
        </p:nvSpPr>
        <p:spPr>
          <a:xfrm>
            <a:off x="6605046" y="4799967"/>
            <a:ext cx="2174425" cy="461665"/>
          </a:xfrm>
          <a:prstGeom prst="rect">
            <a:avLst/>
          </a:prstGeom>
          <a:noFill/>
        </p:spPr>
        <p:txBody>
          <a:bodyPr wrap="square">
            <a:spAutoFit/>
          </a:bodyPr>
          <a:lstStyle/>
          <a:p>
            <a:pPr>
              <a:spcAft>
                <a:spcPts val="600"/>
              </a:spcAft>
            </a:pPr>
            <a:r>
              <a:rPr lang="en-IN" sz="2400" b="1" dirty="0">
                <a:solidFill>
                  <a:srgbClr val="7030A0"/>
                </a:solidFill>
                <a:latin typeface="Calibri" panose="020F0502020204030204" pitchFamily="34" charset="0"/>
                <a:ea typeface="Calibri" panose="020F0502020204030204" pitchFamily="34" charset="0"/>
                <a:cs typeface="Calibri" panose="020F0502020204030204" pitchFamily="34" charset="0"/>
              </a:rPr>
              <a:t>Applications</a:t>
            </a:r>
          </a:p>
        </p:txBody>
      </p:sp>
      <p:pic>
        <p:nvPicPr>
          <p:cNvPr id="3076" name="Picture 4" descr="Datapath | SpringerLink">
            <a:extLst>
              <a:ext uri="{FF2B5EF4-FFF2-40B4-BE49-F238E27FC236}">
                <a16:creationId xmlns="" xmlns:a16="http://schemas.microsoft.com/office/drawing/2014/main" id="{C11D8770-D74F-A77B-3ACD-7CCB4E26B6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2986" y="2962429"/>
            <a:ext cx="4679811" cy="2742478"/>
          </a:xfrm>
          <a:prstGeom prst="rect">
            <a:avLst/>
          </a:prstGeom>
          <a:noFill/>
          <a:ln w="28575">
            <a:solidFill>
              <a:schemeClr val="tx1"/>
            </a:solidFill>
          </a:ln>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 xmlns:a16="http://schemas.microsoft.com/office/drawing/2014/main" id="{88271A82-A37E-588B-524F-C976EEFF5EA5}"/>
              </a:ext>
            </a:extLst>
          </p:cNvPr>
          <p:cNvSpPr txBox="1"/>
          <p:nvPr/>
        </p:nvSpPr>
        <p:spPr>
          <a:xfrm>
            <a:off x="9652535" y="1051824"/>
            <a:ext cx="2888938" cy="923330"/>
          </a:xfrm>
          <a:prstGeom prst="rect">
            <a:avLst/>
          </a:prstGeom>
          <a:noFill/>
        </p:spPr>
        <p:txBody>
          <a:bodyPr wrap="square">
            <a:spAutoFit/>
          </a:bodyPr>
          <a:lstStyle/>
          <a:p>
            <a:pPr marL="342900" indent="-342900">
              <a:buFont typeface="Wingdings" panose="05000000000000000000" pitchFamily="2" charset="2"/>
              <a:buChar char="§"/>
            </a:pPr>
            <a:r>
              <a:rPr lang="en-US" sz="1800" dirty="0">
                <a:latin typeface="Calibri" panose="020F0502020204030204" pitchFamily="34" charset="0"/>
                <a:ea typeface="Calibri" panose="020F0502020204030204" pitchFamily="34" charset="0"/>
                <a:cs typeface="Calibri" panose="020F0502020204030204" pitchFamily="34" charset="0"/>
              </a:rPr>
              <a:t>Comparators </a:t>
            </a:r>
          </a:p>
          <a:p>
            <a:pPr marL="342900" indent="-342900">
              <a:buFont typeface="Wingdings" panose="05000000000000000000" pitchFamily="2" charset="2"/>
              <a:buChar char="§"/>
            </a:pPr>
            <a:r>
              <a:rPr lang="en-US" sz="1800" dirty="0">
                <a:latin typeface="Calibri" panose="020F0502020204030204" pitchFamily="34" charset="0"/>
                <a:ea typeface="Calibri" panose="020F0502020204030204" pitchFamily="34" charset="0"/>
                <a:cs typeface="Calibri" panose="020F0502020204030204" pitchFamily="34" charset="0"/>
              </a:rPr>
              <a:t>Arithmetic Logic Units  </a:t>
            </a:r>
          </a:p>
          <a:p>
            <a:pPr marL="342900" indent="-342900">
              <a:buFont typeface="Wingdings" panose="05000000000000000000" pitchFamily="2" charset="2"/>
              <a:buChar char="§"/>
            </a:pPr>
            <a:r>
              <a:rPr lang="en-US" sz="1800" dirty="0">
                <a:latin typeface="Calibri" panose="020F0502020204030204" pitchFamily="34" charset="0"/>
                <a:ea typeface="Calibri" panose="020F0502020204030204" pitchFamily="34" charset="0"/>
                <a:cs typeface="Calibri" panose="020F0502020204030204" pitchFamily="34" charset="0"/>
              </a:rPr>
              <a:t>Accumulators</a:t>
            </a:r>
          </a:p>
        </p:txBody>
      </p:sp>
      <p:sp>
        <p:nvSpPr>
          <p:cNvPr id="19" name="TextBox 18">
            <a:extLst>
              <a:ext uri="{FF2B5EF4-FFF2-40B4-BE49-F238E27FC236}">
                <a16:creationId xmlns="" xmlns:a16="http://schemas.microsoft.com/office/drawing/2014/main" id="{6CA95C9B-F17D-2603-BF8C-5EA366F1DC09}"/>
              </a:ext>
            </a:extLst>
          </p:cNvPr>
          <p:cNvSpPr txBox="1"/>
          <p:nvPr/>
        </p:nvSpPr>
        <p:spPr>
          <a:xfrm>
            <a:off x="6511736" y="5238454"/>
            <a:ext cx="3332056" cy="923330"/>
          </a:xfrm>
          <a:prstGeom prst="rect">
            <a:avLst/>
          </a:prstGeom>
          <a:noFill/>
        </p:spPr>
        <p:txBody>
          <a:bodyPr wrap="square">
            <a:spAutoFit/>
          </a:bodyPr>
          <a:lstStyle/>
          <a:p>
            <a:pPr marL="285750" indent="-285750">
              <a:buFont typeface="Wingdings" panose="05000000000000000000" pitchFamily="2" charset="2"/>
              <a:buChar char="§"/>
            </a:pPr>
            <a:r>
              <a:rPr lang="en-IN" dirty="0">
                <a:latin typeface="Calibri" panose="020F0502020204030204" pitchFamily="34" charset="0"/>
                <a:ea typeface="Calibri" panose="020F0502020204030204" pitchFamily="34" charset="0"/>
                <a:cs typeface="Calibri" panose="020F0502020204030204" pitchFamily="34" charset="0"/>
              </a:rPr>
              <a:t>Digital Signal Processing (DSP)</a:t>
            </a:r>
          </a:p>
          <a:p>
            <a:pPr marL="285750" indent="-285750">
              <a:buFont typeface="Wingdings" panose="05000000000000000000" pitchFamily="2" charset="2"/>
              <a:buChar char="§"/>
            </a:pPr>
            <a:r>
              <a:rPr lang="en-IN" dirty="0">
                <a:latin typeface="Calibri" panose="020F0502020204030204" pitchFamily="34" charset="0"/>
                <a:ea typeface="Calibri" panose="020F0502020204030204" pitchFamily="34" charset="0"/>
                <a:cs typeface="Calibri" panose="020F0502020204030204" pitchFamily="34" charset="0"/>
              </a:rPr>
              <a:t>Microprocessors / Controllers</a:t>
            </a:r>
          </a:p>
          <a:p>
            <a:pPr marL="285750" indent="-285750">
              <a:buFont typeface="Wingdings" panose="05000000000000000000" pitchFamily="2" charset="2"/>
              <a:buChar char="§"/>
            </a:pPr>
            <a:r>
              <a:rPr lang="en-IN" dirty="0">
                <a:latin typeface="Calibri" panose="020F0502020204030204" pitchFamily="34" charset="0"/>
                <a:ea typeface="Calibri" panose="020F0502020204030204" pitchFamily="34" charset="0"/>
                <a:cs typeface="Calibri" panose="020F0502020204030204" pitchFamily="34" charset="0"/>
              </a:rPr>
              <a:t>Image and Video Processing</a:t>
            </a:r>
          </a:p>
        </p:txBody>
      </p:sp>
      <p:sp>
        <p:nvSpPr>
          <p:cNvPr id="21" name="TextBox 20">
            <a:extLst>
              <a:ext uri="{FF2B5EF4-FFF2-40B4-BE49-F238E27FC236}">
                <a16:creationId xmlns="" xmlns:a16="http://schemas.microsoft.com/office/drawing/2014/main" id="{D1FE1214-B5B5-96E0-46D9-EF36C57E8197}"/>
              </a:ext>
            </a:extLst>
          </p:cNvPr>
          <p:cNvSpPr txBox="1"/>
          <p:nvPr/>
        </p:nvSpPr>
        <p:spPr>
          <a:xfrm>
            <a:off x="9692746" y="5238454"/>
            <a:ext cx="2696544" cy="646331"/>
          </a:xfrm>
          <a:prstGeom prst="rect">
            <a:avLst/>
          </a:prstGeom>
          <a:noFill/>
        </p:spPr>
        <p:txBody>
          <a:bodyPr wrap="square">
            <a:spAutoFit/>
          </a:bodyPr>
          <a:lstStyle/>
          <a:p>
            <a:pPr marL="285750" indent="-285750">
              <a:buFont typeface="Wingdings" panose="05000000000000000000" pitchFamily="2" charset="2"/>
              <a:buChar char="§"/>
            </a:pPr>
            <a:r>
              <a:rPr lang="en-IN" dirty="0">
                <a:latin typeface="Calibri" panose="020F0502020204030204" pitchFamily="34" charset="0"/>
                <a:ea typeface="Calibri" panose="020F0502020204030204" pitchFamily="34" charset="0"/>
                <a:cs typeface="Calibri" panose="020F0502020204030204" pitchFamily="34" charset="0"/>
              </a:rPr>
              <a:t>Cryptographic Engines</a:t>
            </a:r>
          </a:p>
          <a:p>
            <a:pPr marL="285750" indent="-285750">
              <a:buFont typeface="Wingdings" panose="05000000000000000000" pitchFamily="2" charset="2"/>
              <a:buChar char="§"/>
            </a:pPr>
            <a:r>
              <a:rPr lang="en-IN" dirty="0">
                <a:latin typeface="Calibri" panose="020F0502020204030204" pitchFamily="34" charset="0"/>
                <a:ea typeface="Calibri" panose="020F0502020204030204" pitchFamily="34" charset="0"/>
                <a:cs typeface="Calibri" panose="020F0502020204030204" pitchFamily="34" charset="0"/>
              </a:rPr>
              <a:t>Networking ASICs</a:t>
            </a:r>
          </a:p>
        </p:txBody>
      </p:sp>
      <p:sp>
        <p:nvSpPr>
          <p:cNvPr id="22" name="TextBox 21">
            <a:extLst>
              <a:ext uri="{FF2B5EF4-FFF2-40B4-BE49-F238E27FC236}">
                <a16:creationId xmlns="" xmlns:a16="http://schemas.microsoft.com/office/drawing/2014/main" id="{757E1A0E-31C4-306F-5DB5-7F41988E3B8C}"/>
              </a:ext>
            </a:extLst>
          </p:cNvPr>
          <p:cNvSpPr txBox="1"/>
          <p:nvPr/>
        </p:nvSpPr>
        <p:spPr>
          <a:xfrm>
            <a:off x="6523447" y="2130377"/>
            <a:ext cx="2174425" cy="461665"/>
          </a:xfrm>
          <a:prstGeom prst="rect">
            <a:avLst/>
          </a:prstGeom>
          <a:noFill/>
        </p:spPr>
        <p:txBody>
          <a:bodyPr wrap="square">
            <a:spAutoFit/>
          </a:bodyPr>
          <a:lstStyle/>
          <a:p>
            <a:pPr>
              <a:spcAft>
                <a:spcPts val="600"/>
              </a:spcAft>
            </a:pPr>
            <a:r>
              <a:rPr lang="en-IN" sz="2400" b="1" dirty="0">
                <a:solidFill>
                  <a:srgbClr val="7030A0"/>
                </a:solidFill>
                <a:latin typeface="Calibri" panose="020F0502020204030204" pitchFamily="34" charset="0"/>
                <a:ea typeface="Calibri" panose="020F0502020204030204" pitchFamily="34" charset="0"/>
                <a:cs typeface="Calibri" panose="020F0502020204030204" pitchFamily="34" charset="0"/>
              </a:rPr>
              <a:t>Characteristics</a:t>
            </a:r>
          </a:p>
        </p:txBody>
      </p:sp>
      <p:sp>
        <p:nvSpPr>
          <p:cNvPr id="24" name="TextBox 23">
            <a:extLst>
              <a:ext uri="{FF2B5EF4-FFF2-40B4-BE49-F238E27FC236}">
                <a16:creationId xmlns="" xmlns:a16="http://schemas.microsoft.com/office/drawing/2014/main" id="{2E830614-1379-5423-D221-954AACD1A265}"/>
              </a:ext>
            </a:extLst>
          </p:cNvPr>
          <p:cNvSpPr txBox="1"/>
          <p:nvPr/>
        </p:nvSpPr>
        <p:spPr>
          <a:xfrm>
            <a:off x="6546541" y="2556232"/>
            <a:ext cx="5586950" cy="2369880"/>
          </a:xfrm>
          <a:prstGeom prst="rect">
            <a:avLst/>
          </a:prstGeom>
          <a:noFill/>
        </p:spPr>
        <p:txBody>
          <a:bodyPr wrap="square">
            <a:spAutoFit/>
          </a:bodyPr>
          <a:lstStyle/>
          <a:p>
            <a:pPr marL="285750" indent="-285750" algn="just">
              <a:buFont typeface="Wingdings" panose="05000000000000000000" pitchFamily="2" charset="2"/>
              <a:buChar char="Ø"/>
            </a:pPr>
            <a:r>
              <a:rPr lang="en-IN" sz="1700" dirty="0">
                <a:latin typeface="Calibri" panose="020F0502020204030204" pitchFamily="34" charset="0"/>
                <a:ea typeface="Calibri" panose="020F0502020204030204" pitchFamily="34" charset="0"/>
                <a:cs typeface="Calibri" panose="020F0502020204030204" pitchFamily="34" charset="0"/>
              </a:rPr>
              <a:t>Designed in bit-slice architecture for easy scaling to multi-bit operations.</a:t>
            </a:r>
          </a:p>
          <a:p>
            <a:pPr marL="285750" indent="-285750" algn="just">
              <a:buFont typeface="Wingdings" panose="05000000000000000000" pitchFamily="2" charset="2"/>
              <a:buChar char="Ø"/>
            </a:pPr>
            <a:endParaRPr lang="en-IN" sz="400" dirty="0">
              <a:latin typeface="Calibri" panose="020F0502020204030204" pitchFamily="34" charset="0"/>
              <a:ea typeface="Calibri" panose="020F0502020204030204" pitchFamily="34" charset="0"/>
              <a:cs typeface="Calibri" panose="020F0502020204030204" pitchFamily="34" charset="0"/>
            </a:endParaRPr>
          </a:p>
          <a:p>
            <a:pPr marL="285750" indent="-285750" algn="just">
              <a:buFont typeface="Wingdings" panose="05000000000000000000" pitchFamily="2" charset="2"/>
              <a:buChar char="Ø"/>
            </a:pPr>
            <a:r>
              <a:rPr lang="en-IN" sz="1700" dirty="0">
                <a:latin typeface="Calibri" panose="020F0502020204030204" pitchFamily="34" charset="0"/>
                <a:ea typeface="Calibri" panose="020F0502020204030204" pitchFamily="34" charset="0"/>
                <a:cs typeface="Calibri" panose="020F0502020204030204" pitchFamily="34" charset="0"/>
              </a:rPr>
              <a:t>Optimized for high speed and throughput in arithmetic and logic processing.</a:t>
            </a:r>
          </a:p>
          <a:p>
            <a:pPr marL="285750" indent="-285750" algn="just">
              <a:buFont typeface="Wingdings" panose="05000000000000000000" pitchFamily="2" charset="2"/>
              <a:buChar char="Ø"/>
            </a:pPr>
            <a:endParaRPr lang="en-IN" sz="400" dirty="0">
              <a:latin typeface="Calibri" panose="020F0502020204030204" pitchFamily="34" charset="0"/>
              <a:ea typeface="Calibri" panose="020F0502020204030204" pitchFamily="34" charset="0"/>
              <a:cs typeface="Calibri" panose="020F0502020204030204" pitchFamily="34" charset="0"/>
            </a:endParaRPr>
          </a:p>
          <a:p>
            <a:pPr marL="285750" indent="-285750" algn="just">
              <a:buFont typeface="Wingdings" panose="05000000000000000000" pitchFamily="2" charset="2"/>
              <a:buChar char="Ø"/>
            </a:pPr>
            <a:r>
              <a:rPr lang="en-IN" sz="1700" dirty="0">
                <a:latin typeface="Calibri" panose="020F0502020204030204" pitchFamily="34" charset="0"/>
                <a:ea typeface="Calibri" panose="020F0502020204030204" pitchFamily="34" charset="0"/>
                <a:cs typeface="Calibri" panose="020F0502020204030204" pitchFamily="34" charset="0"/>
              </a:rPr>
              <a:t>Area-efficient layout with regular, modular structure for better silicon utilization.</a:t>
            </a:r>
          </a:p>
          <a:p>
            <a:pPr marL="285750" indent="-285750" algn="just">
              <a:buFont typeface="Wingdings" panose="05000000000000000000" pitchFamily="2" charset="2"/>
              <a:buChar char="Ø"/>
            </a:pPr>
            <a:endParaRPr lang="en-IN" sz="400" dirty="0">
              <a:latin typeface="Calibri" panose="020F0502020204030204" pitchFamily="34" charset="0"/>
              <a:ea typeface="Calibri" panose="020F0502020204030204" pitchFamily="34" charset="0"/>
              <a:cs typeface="Calibri" panose="020F0502020204030204" pitchFamily="34" charset="0"/>
            </a:endParaRPr>
          </a:p>
          <a:p>
            <a:pPr marL="285750" indent="-285750" algn="just">
              <a:buFont typeface="Wingdings" panose="05000000000000000000" pitchFamily="2" charset="2"/>
              <a:buChar char="Ø"/>
            </a:pPr>
            <a:r>
              <a:rPr lang="en-IN" sz="1700" dirty="0">
                <a:latin typeface="Calibri" panose="020F0502020204030204" pitchFamily="34" charset="0"/>
                <a:ea typeface="Calibri" panose="020F0502020204030204" pitchFamily="34" charset="0"/>
                <a:cs typeface="Calibri" panose="020F0502020204030204" pitchFamily="34" charset="0"/>
              </a:rPr>
              <a:t>Supports pipelining, making it ideal for high-performance, data-heavy ASIC designs.</a:t>
            </a:r>
          </a:p>
        </p:txBody>
      </p:sp>
    </p:spTree>
    <p:extLst>
      <p:ext uri="{BB962C8B-B14F-4D97-AF65-F5344CB8AC3E}">
        <p14:creationId xmlns:p14="http://schemas.microsoft.com/office/powerpoint/2010/main" val="28764901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AF17ED9-12CC-561E-9876-F3DD673624F6}"/>
            </a:ext>
          </a:extLst>
        </p:cNvPr>
        <p:cNvGrpSpPr/>
        <p:nvPr/>
      </p:nvGrpSpPr>
      <p:grpSpPr>
        <a:xfrm>
          <a:off x="0" y="0"/>
          <a:ext cx="0" cy="0"/>
          <a:chOff x="0" y="0"/>
          <a:chExt cx="0" cy="0"/>
        </a:xfrm>
      </p:grpSpPr>
      <p:sp>
        <p:nvSpPr>
          <p:cNvPr id="9" name="Rounded Rectangle 17">
            <a:extLst>
              <a:ext uri="{FF2B5EF4-FFF2-40B4-BE49-F238E27FC236}">
                <a16:creationId xmlns="" xmlns:a16="http://schemas.microsoft.com/office/drawing/2014/main" id="{B8C1DCA7-5488-CFDE-6E64-8AC24C821D92}"/>
              </a:ext>
            </a:extLst>
          </p:cNvPr>
          <p:cNvSpPr/>
          <p:nvPr/>
        </p:nvSpPr>
        <p:spPr>
          <a:xfrm>
            <a:off x="2078243" y="123556"/>
            <a:ext cx="8558656" cy="52958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2700" algn="ctr">
              <a:lnSpc>
                <a:spcPct val="100000"/>
              </a:lnSpc>
              <a:spcBef>
                <a:spcPts val="100"/>
              </a:spcBef>
            </a:pPr>
            <a:r>
              <a:rPr lang="en-US" sz="3600" spc="-10" dirty="0"/>
              <a:t>I/O Cells</a:t>
            </a:r>
            <a:endParaRPr lang="en-IN" sz="1400" b="1" spc="-50" dirty="0"/>
          </a:p>
        </p:txBody>
      </p:sp>
      <p:cxnSp>
        <p:nvCxnSpPr>
          <p:cNvPr id="5" name="Straight Connector 4">
            <a:extLst>
              <a:ext uri="{FF2B5EF4-FFF2-40B4-BE49-F238E27FC236}">
                <a16:creationId xmlns="" xmlns:a16="http://schemas.microsoft.com/office/drawing/2014/main" id="{7FA38FDA-9924-AC99-EE5B-8DDDB1BDB453}"/>
              </a:ext>
            </a:extLst>
          </p:cNvPr>
          <p:cNvCxnSpPr>
            <a:cxnSpLocks/>
          </p:cNvCxnSpPr>
          <p:nvPr/>
        </p:nvCxnSpPr>
        <p:spPr>
          <a:xfrm>
            <a:off x="6511728" y="653143"/>
            <a:ext cx="0" cy="5513977"/>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 xmlns:a16="http://schemas.microsoft.com/office/drawing/2014/main" id="{5CA8952D-E7C4-4DC4-789F-2A35802D7FCD}"/>
              </a:ext>
            </a:extLst>
          </p:cNvPr>
          <p:cNvSpPr txBox="1"/>
          <p:nvPr/>
        </p:nvSpPr>
        <p:spPr>
          <a:xfrm>
            <a:off x="-159442" y="5749467"/>
            <a:ext cx="3873026" cy="338554"/>
          </a:xfrm>
          <a:prstGeom prst="rect">
            <a:avLst/>
          </a:prstGeom>
          <a:noFill/>
        </p:spPr>
        <p:txBody>
          <a:bodyPr wrap="square">
            <a:spAutoFit/>
          </a:bodyPr>
          <a:lstStyle/>
          <a:p>
            <a:pPr algn="ctr">
              <a:spcAft>
                <a:spcPts val="600"/>
              </a:spcAft>
            </a:pPr>
            <a:r>
              <a:rPr lang="en-IN" sz="1600" dirty="0">
                <a:latin typeface="Calibri" panose="020F0502020204030204" pitchFamily="34" charset="0"/>
                <a:ea typeface="Calibri" panose="020F0502020204030204" pitchFamily="34" charset="0"/>
                <a:cs typeface="Calibri" panose="020F0502020204030204" pitchFamily="34" charset="0"/>
              </a:rPr>
              <a:t>Fig. Block diagram of I/O Cells</a:t>
            </a:r>
            <a:endParaRPr lang="en-IN" sz="1200" dirty="0">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 xmlns:a16="http://schemas.microsoft.com/office/drawing/2014/main" id="{2779ABE0-31A3-22C9-8C40-5BA7AB1C2877}"/>
              </a:ext>
            </a:extLst>
          </p:cNvPr>
          <p:cNvSpPr txBox="1"/>
          <p:nvPr/>
        </p:nvSpPr>
        <p:spPr>
          <a:xfrm>
            <a:off x="69890" y="769979"/>
            <a:ext cx="6348521" cy="1846659"/>
          </a:xfrm>
          <a:prstGeom prst="rect">
            <a:avLst/>
          </a:prstGeom>
          <a:noFill/>
        </p:spPr>
        <p:txBody>
          <a:bodyPr wrap="square">
            <a:spAutoFit/>
          </a:bodyPr>
          <a:lstStyle/>
          <a:p>
            <a:pPr marL="285750" indent="-285750" algn="just">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I/O (Input/Output) cells are special logic cells in an ASIC that interface the internal core logic to the outside world via chip/package pins.</a:t>
            </a:r>
          </a:p>
          <a:p>
            <a:pPr marL="285750" indent="-285750" algn="just">
              <a:buFont typeface="Wingdings" panose="05000000000000000000" pitchFamily="2" charset="2"/>
              <a:buChar char="Ø"/>
            </a:pPr>
            <a:endParaRPr lang="en-US" sz="600" dirty="0">
              <a:latin typeface="Calibri" panose="020F0502020204030204" pitchFamily="34" charset="0"/>
              <a:ea typeface="Calibri" panose="020F0502020204030204" pitchFamily="34" charset="0"/>
              <a:cs typeface="Calibri" panose="020F0502020204030204" pitchFamily="34" charset="0"/>
            </a:endParaRPr>
          </a:p>
          <a:p>
            <a:pPr marL="285750" indent="-285750" algn="just">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They ensure signal compatibility, electrical protection, and driving capability between internal signals and external devices.</a:t>
            </a: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13" name="TextBox 12">
            <a:extLst>
              <a:ext uri="{FF2B5EF4-FFF2-40B4-BE49-F238E27FC236}">
                <a16:creationId xmlns="" xmlns:a16="http://schemas.microsoft.com/office/drawing/2014/main" id="{73AA8F68-E84B-3ED2-2016-C871BD1108A9}"/>
              </a:ext>
            </a:extLst>
          </p:cNvPr>
          <p:cNvSpPr txBox="1"/>
          <p:nvPr/>
        </p:nvSpPr>
        <p:spPr>
          <a:xfrm>
            <a:off x="3682587" y="2880810"/>
            <a:ext cx="2773148" cy="3093154"/>
          </a:xfrm>
          <a:prstGeom prst="rect">
            <a:avLst/>
          </a:prstGeom>
          <a:noFill/>
        </p:spPr>
        <p:txBody>
          <a:bodyPr wrap="square">
            <a:spAutoFit/>
          </a:bodyPr>
          <a:lstStyle/>
          <a:p>
            <a:pPr marL="342900" indent="-342900" algn="just">
              <a:buFont typeface="Wingdings" panose="05000000000000000000" pitchFamily="2" charset="2"/>
              <a:buChar char="§"/>
            </a:pPr>
            <a:r>
              <a:rPr lang="en-US" sz="1500" dirty="0">
                <a:latin typeface="Calibri" panose="020F0502020204030204" pitchFamily="34" charset="0"/>
                <a:ea typeface="Calibri" panose="020F0502020204030204" pitchFamily="34" charset="0"/>
                <a:cs typeface="Calibri" panose="020F0502020204030204" pitchFamily="34" charset="0"/>
              </a:rPr>
              <a:t>Input Cells – Receive signals from external sources.</a:t>
            </a:r>
          </a:p>
          <a:p>
            <a:pPr marL="342900" indent="-342900" algn="just">
              <a:buFont typeface="Wingdings" panose="05000000000000000000" pitchFamily="2" charset="2"/>
              <a:buChar char="§"/>
            </a:pPr>
            <a:r>
              <a:rPr lang="en-US" sz="1500" dirty="0">
                <a:latin typeface="Calibri" panose="020F0502020204030204" pitchFamily="34" charset="0"/>
                <a:ea typeface="Calibri" panose="020F0502020204030204" pitchFamily="34" charset="0"/>
                <a:cs typeface="Calibri" panose="020F0502020204030204" pitchFamily="34" charset="0"/>
              </a:rPr>
              <a:t>Output Cells – Drive signals out from the chip.</a:t>
            </a:r>
          </a:p>
          <a:p>
            <a:pPr marL="342900" indent="-342900" algn="just">
              <a:buFont typeface="Wingdings" panose="05000000000000000000" pitchFamily="2" charset="2"/>
              <a:buChar char="§"/>
            </a:pPr>
            <a:r>
              <a:rPr lang="en-US" sz="1500" dirty="0">
                <a:latin typeface="Calibri" panose="020F0502020204030204" pitchFamily="34" charset="0"/>
                <a:ea typeface="Calibri" panose="020F0502020204030204" pitchFamily="34" charset="0"/>
                <a:cs typeface="Calibri" panose="020F0502020204030204" pitchFamily="34" charset="0"/>
              </a:rPr>
              <a:t>Bidirectional I/O Cells – Can act as input or output depending on control logic.</a:t>
            </a:r>
          </a:p>
          <a:p>
            <a:pPr marL="342900" indent="-342900" algn="just">
              <a:buFont typeface="Wingdings" panose="05000000000000000000" pitchFamily="2" charset="2"/>
              <a:buChar char="§"/>
            </a:pPr>
            <a:r>
              <a:rPr lang="en-US" sz="1500" dirty="0">
                <a:latin typeface="Calibri" panose="020F0502020204030204" pitchFamily="34" charset="0"/>
                <a:ea typeface="Calibri" panose="020F0502020204030204" pitchFamily="34" charset="0"/>
                <a:cs typeface="Calibri" panose="020F0502020204030204" pitchFamily="34" charset="0"/>
              </a:rPr>
              <a:t>ESD Protection Cells – Protect internal circuits from electrostatic discharge.</a:t>
            </a:r>
          </a:p>
          <a:p>
            <a:pPr marL="342900" indent="-342900" algn="just">
              <a:buFont typeface="Wingdings" panose="05000000000000000000" pitchFamily="2" charset="2"/>
              <a:buChar char="§"/>
            </a:pPr>
            <a:r>
              <a:rPr lang="en-US" sz="1500" dirty="0">
                <a:latin typeface="Calibri" panose="020F0502020204030204" pitchFamily="34" charset="0"/>
                <a:ea typeface="Calibri" panose="020F0502020204030204" pitchFamily="34" charset="0"/>
                <a:cs typeface="Calibri" panose="020F0502020204030204" pitchFamily="34" charset="0"/>
              </a:rPr>
              <a:t>Analog I/O Pads – For interfacing with analog signals (e.g., ADC/DAC).</a:t>
            </a:r>
          </a:p>
        </p:txBody>
      </p:sp>
      <p:sp>
        <p:nvSpPr>
          <p:cNvPr id="15" name="TextBox 14">
            <a:extLst>
              <a:ext uri="{FF2B5EF4-FFF2-40B4-BE49-F238E27FC236}">
                <a16:creationId xmlns="" xmlns:a16="http://schemas.microsoft.com/office/drawing/2014/main" id="{736B563D-B7E7-9889-9FCC-1DC7941816F2}"/>
              </a:ext>
            </a:extLst>
          </p:cNvPr>
          <p:cNvSpPr txBox="1"/>
          <p:nvPr/>
        </p:nvSpPr>
        <p:spPr>
          <a:xfrm>
            <a:off x="2640373" y="2452563"/>
            <a:ext cx="5282144" cy="461665"/>
          </a:xfrm>
          <a:prstGeom prst="rect">
            <a:avLst/>
          </a:prstGeom>
          <a:noFill/>
        </p:spPr>
        <p:txBody>
          <a:bodyPr wrap="square">
            <a:spAutoFit/>
          </a:bodyPr>
          <a:lstStyle/>
          <a:p>
            <a:pPr algn="ctr">
              <a:spcAft>
                <a:spcPts val="600"/>
              </a:spcAft>
            </a:pPr>
            <a:r>
              <a:rPr lang="en-IN" sz="2400" b="1" dirty="0">
                <a:solidFill>
                  <a:srgbClr val="7030A0"/>
                </a:solidFill>
                <a:latin typeface="Calibri" panose="020F0502020204030204" pitchFamily="34" charset="0"/>
                <a:ea typeface="Calibri" panose="020F0502020204030204" pitchFamily="34" charset="0"/>
                <a:cs typeface="Calibri" panose="020F0502020204030204" pitchFamily="34" charset="0"/>
              </a:rPr>
              <a:t>Examples </a:t>
            </a:r>
          </a:p>
        </p:txBody>
      </p:sp>
      <p:sp>
        <p:nvSpPr>
          <p:cNvPr id="28" name="TextBox 27">
            <a:extLst>
              <a:ext uri="{FF2B5EF4-FFF2-40B4-BE49-F238E27FC236}">
                <a16:creationId xmlns="" xmlns:a16="http://schemas.microsoft.com/office/drawing/2014/main" id="{3A5199C1-4406-B46C-4FFA-E846CC744730}"/>
              </a:ext>
            </a:extLst>
          </p:cNvPr>
          <p:cNvSpPr txBox="1"/>
          <p:nvPr/>
        </p:nvSpPr>
        <p:spPr>
          <a:xfrm>
            <a:off x="8347044" y="3210877"/>
            <a:ext cx="2174425" cy="461665"/>
          </a:xfrm>
          <a:prstGeom prst="rect">
            <a:avLst/>
          </a:prstGeom>
          <a:noFill/>
        </p:spPr>
        <p:txBody>
          <a:bodyPr wrap="square">
            <a:spAutoFit/>
          </a:bodyPr>
          <a:lstStyle/>
          <a:p>
            <a:pPr>
              <a:spcAft>
                <a:spcPts val="600"/>
              </a:spcAft>
            </a:pPr>
            <a:r>
              <a:rPr lang="en-IN" sz="2400" b="1" dirty="0">
                <a:solidFill>
                  <a:srgbClr val="7030A0"/>
                </a:solidFill>
                <a:latin typeface="Calibri" panose="020F0502020204030204" pitchFamily="34" charset="0"/>
                <a:ea typeface="Calibri" panose="020F0502020204030204" pitchFamily="34" charset="0"/>
                <a:cs typeface="Calibri" panose="020F0502020204030204" pitchFamily="34" charset="0"/>
              </a:rPr>
              <a:t>Applications</a:t>
            </a:r>
          </a:p>
        </p:txBody>
      </p:sp>
      <p:sp>
        <p:nvSpPr>
          <p:cNvPr id="22" name="TextBox 21">
            <a:extLst>
              <a:ext uri="{FF2B5EF4-FFF2-40B4-BE49-F238E27FC236}">
                <a16:creationId xmlns="" xmlns:a16="http://schemas.microsoft.com/office/drawing/2014/main" id="{973FCCE4-1B13-740B-D08E-63CB51A4B1AE}"/>
              </a:ext>
            </a:extLst>
          </p:cNvPr>
          <p:cNvSpPr txBox="1"/>
          <p:nvPr/>
        </p:nvSpPr>
        <p:spPr>
          <a:xfrm>
            <a:off x="8107591" y="634676"/>
            <a:ext cx="2174425" cy="461665"/>
          </a:xfrm>
          <a:prstGeom prst="rect">
            <a:avLst/>
          </a:prstGeom>
          <a:noFill/>
        </p:spPr>
        <p:txBody>
          <a:bodyPr wrap="square">
            <a:spAutoFit/>
          </a:bodyPr>
          <a:lstStyle/>
          <a:p>
            <a:pPr>
              <a:spcAft>
                <a:spcPts val="600"/>
              </a:spcAft>
            </a:pPr>
            <a:r>
              <a:rPr lang="en-IN" sz="2400" b="1" dirty="0">
                <a:solidFill>
                  <a:srgbClr val="7030A0"/>
                </a:solidFill>
                <a:latin typeface="Calibri" panose="020F0502020204030204" pitchFamily="34" charset="0"/>
                <a:ea typeface="Calibri" panose="020F0502020204030204" pitchFamily="34" charset="0"/>
                <a:cs typeface="Calibri" panose="020F0502020204030204" pitchFamily="34" charset="0"/>
              </a:rPr>
              <a:t>Characteristics</a:t>
            </a:r>
          </a:p>
        </p:txBody>
      </p:sp>
      <p:sp>
        <p:nvSpPr>
          <p:cNvPr id="24" name="TextBox 23">
            <a:extLst>
              <a:ext uri="{FF2B5EF4-FFF2-40B4-BE49-F238E27FC236}">
                <a16:creationId xmlns="" xmlns:a16="http://schemas.microsoft.com/office/drawing/2014/main" id="{FF779627-2F84-C001-1F23-82F328A479F2}"/>
              </a:ext>
            </a:extLst>
          </p:cNvPr>
          <p:cNvSpPr txBox="1"/>
          <p:nvPr/>
        </p:nvSpPr>
        <p:spPr>
          <a:xfrm>
            <a:off x="6567722" y="1027451"/>
            <a:ext cx="5586950" cy="2308324"/>
          </a:xfrm>
          <a:prstGeom prst="rect">
            <a:avLst/>
          </a:prstGeom>
          <a:noFill/>
        </p:spPr>
        <p:txBody>
          <a:bodyPr wrap="square">
            <a:spAutoFit/>
          </a:bodyPr>
          <a:lstStyle/>
          <a:p>
            <a:pPr marL="285750" indent="-285750" algn="just">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Connect internal ASIC signals to chip pins or pads.</a:t>
            </a:r>
          </a:p>
          <a:p>
            <a:pPr marL="285750" indent="-285750" algn="just">
              <a:buFont typeface="Wingdings" panose="05000000000000000000" pitchFamily="2" charset="2"/>
              <a:buChar char="Ø"/>
            </a:pPr>
            <a:endParaRPr lang="en-US" sz="400" dirty="0">
              <a:latin typeface="Calibri" panose="020F0502020204030204" pitchFamily="34" charset="0"/>
              <a:ea typeface="Calibri" panose="020F0502020204030204" pitchFamily="34" charset="0"/>
              <a:cs typeface="Calibri" panose="020F0502020204030204" pitchFamily="34" charset="0"/>
            </a:endParaRPr>
          </a:p>
          <a:p>
            <a:pPr marL="285750" indent="-285750" algn="just">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Support multiple voltage and I/O standards (e.g., CMOS, LVTTL, LVCMOS).</a:t>
            </a:r>
          </a:p>
          <a:p>
            <a:pPr marL="285750" indent="-285750" algn="just">
              <a:buFont typeface="Wingdings" panose="05000000000000000000" pitchFamily="2" charset="2"/>
              <a:buChar char="Ø"/>
            </a:pPr>
            <a:endParaRPr lang="en-US" sz="400" dirty="0">
              <a:latin typeface="Calibri" panose="020F0502020204030204" pitchFamily="34" charset="0"/>
              <a:ea typeface="Calibri" panose="020F0502020204030204" pitchFamily="34" charset="0"/>
              <a:cs typeface="Calibri" panose="020F0502020204030204" pitchFamily="34" charset="0"/>
            </a:endParaRPr>
          </a:p>
          <a:p>
            <a:pPr marL="285750" indent="-285750" algn="just">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Include protection circuitry like ESD and over-voltage clamps.</a:t>
            </a:r>
          </a:p>
          <a:p>
            <a:pPr marL="285750" indent="-285750" algn="just">
              <a:buFont typeface="Wingdings" panose="05000000000000000000" pitchFamily="2" charset="2"/>
              <a:buChar char="Ø"/>
            </a:pPr>
            <a:endParaRPr lang="en-US" sz="400" dirty="0">
              <a:latin typeface="Calibri" panose="020F0502020204030204" pitchFamily="34" charset="0"/>
              <a:ea typeface="Calibri" panose="020F0502020204030204" pitchFamily="34" charset="0"/>
              <a:cs typeface="Calibri" panose="020F0502020204030204" pitchFamily="34" charset="0"/>
            </a:endParaRPr>
          </a:p>
          <a:p>
            <a:pPr marL="285750" indent="-285750" algn="just">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Offer customizable drive strength, slew rate control, and impedance matching.</a:t>
            </a:r>
          </a:p>
          <a:p>
            <a:pPr marL="285750" indent="-285750" algn="just">
              <a:buFont typeface="Wingdings" panose="05000000000000000000" pitchFamily="2" charset="2"/>
              <a:buChar char="Ø"/>
            </a:pPr>
            <a:endParaRPr lang="en-US" sz="400" dirty="0">
              <a:latin typeface="Calibri" panose="020F0502020204030204" pitchFamily="34" charset="0"/>
              <a:ea typeface="Calibri" panose="020F0502020204030204" pitchFamily="34" charset="0"/>
              <a:cs typeface="Calibri" panose="020F0502020204030204" pitchFamily="34" charset="0"/>
            </a:endParaRPr>
          </a:p>
          <a:p>
            <a:pPr marL="285750" indent="-285750" algn="just">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Placed around the periphery of the chip (in pad rings or frames).</a:t>
            </a:r>
            <a:endParaRPr lang="en-IN" sz="1600" dirty="0">
              <a:latin typeface="Calibri" panose="020F0502020204030204" pitchFamily="34" charset="0"/>
              <a:ea typeface="Calibri" panose="020F0502020204030204" pitchFamily="34" charset="0"/>
              <a:cs typeface="Calibri" panose="020F0502020204030204" pitchFamily="34" charset="0"/>
            </a:endParaRPr>
          </a:p>
        </p:txBody>
      </p:sp>
      <p:pic>
        <p:nvPicPr>
          <p:cNvPr id="4098" name="Picture 2">
            <a:extLst>
              <a:ext uri="{FF2B5EF4-FFF2-40B4-BE49-F238E27FC236}">
                <a16:creationId xmlns="" xmlns:a16="http://schemas.microsoft.com/office/drawing/2014/main" id="{A5961569-7F48-375A-87CB-0F24ABE570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890" y="2582228"/>
            <a:ext cx="3643694" cy="310766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 xmlns:a16="http://schemas.microsoft.com/office/drawing/2014/main" id="{DDE054CF-9FE3-2BC3-57AD-65EDC26EF633}"/>
              </a:ext>
            </a:extLst>
          </p:cNvPr>
          <p:cNvSpPr txBox="1"/>
          <p:nvPr/>
        </p:nvSpPr>
        <p:spPr>
          <a:xfrm>
            <a:off x="6570316" y="3799224"/>
            <a:ext cx="5551793" cy="2021066"/>
          </a:xfrm>
          <a:prstGeom prst="rect">
            <a:avLst/>
          </a:prstGeom>
          <a:noFill/>
        </p:spPr>
        <p:txBody>
          <a:bodyPr wrap="square">
            <a:spAutoFit/>
          </a:bodyPr>
          <a:lstStyle/>
          <a:p>
            <a:pPr marL="285750" indent="-285750" algn="just">
              <a:spcAft>
                <a:spcPts val="400"/>
              </a:spcAft>
              <a:buFont typeface="Wingdings" panose="05000000000000000000" pitchFamily="2" charset="2"/>
              <a:buChar char="§"/>
            </a:pPr>
            <a:r>
              <a:rPr lang="en-IN" sz="1600" dirty="0">
                <a:latin typeface="Calibri" panose="020F0502020204030204" pitchFamily="34" charset="0"/>
                <a:ea typeface="Calibri" panose="020F0502020204030204" pitchFamily="34" charset="0"/>
                <a:cs typeface="Calibri" panose="020F0502020204030204" pitchFamily="34" charset="0"/>
              </a:rPr>
              <a:t>Interface with external components (memory, processors, sensors).</a:t>
            </a:r>
          </a:p>
          <a:p>
            <a:pPr marL="285750" indent="-285750" algn="just">
              <a:spcAft>
                <a:spcPts val="400"/>
              </a:spcAft>
              <a:buFont typeface="Wingdings" panose="05000000000000000000" pitchFamily="2" charset="2"/>
              <a:buChar char="§"/>
            </a:pPr>
            <a:r>
              <a:rPr lang="en-IN" sz="1600" dirty="0">
                <a:latin typeface="Calibri" panose="020F0502020204030204" pitchFamily="34" charset="0"/>
                <a:ea typeface="Calibri" panose="020F0502020204030204" pitchFamily="34" charset="0"/>
                <a:cs typeface="Calibri" panose="020F0502020204030204" pitchFamily="34" charset="0"/>
              </a:rPr>
              <a:t>Support communication protocols (SPI, I²C, UART, USB, Ethernet).</a:t>
            </a:r>
          </a:p>
          <a:p>
            <a:pPr marL="285750" indent="-285750" algn="just">
              <a:spcAft>
                <a:spcPts val="400"/>
              </a:spcAft>
              <a:buFont typeface="Wingdings" panose="05000000000000000000" pitchFamily="2" charset="2"/>
              <a:buChar char="§"/>
            </a:pPr>
            <a:r>
              <a:rPr lang="en-IN" sz="1600" dirty="0">
                <a:latin typeface="Calibri" panose="020F0502020204030204" pitchFamily="34" charset="0"/>
                <a:ea typeface="Calibri" panose="020F0502020204030204" pitchFamily="34" charset="0"/>
                <a:cs typeface="Calibri" panose="020F0502020204030204" pitchFamily="34" charset="0"/>
              </a:rPr>
              <a:t>Provide power and ground connections.</a:t>
            </a:r>
          </a:p>
          <a:p>
            <a:pPr marL="285750" indent="-285750" algn="just">
              <a:spcAft>
                <a:spcPts val="400"/>
              </a:spcAft>
              <a:buFont typeface="Wingdings" panose="05000000000000000000" pitchFamily="2" charset="2"/>
              <a:buChar char="§"/>
            </a:pPr>
            <a:r>
              <a:rPr lang="en-IN" sz="1600" dirty="0">
                <a:latin typeface="Calibri" panose="020F0502020204030204" pitchFamily="34" charset="0"/>
                <a:ea typeface="Calibri" panose="020F0502020204030204" pitchFamily="34" charset="0"/>
                <a:cs typeface="Calibri" panose="020F0502020204030204" pitchFamily="34" charset="0"/>
              </a:rPr>
              <a:t>Connect clock, reset, and async signals.</a:t>
            </a:r>
          </a:p>
          <a:p>
            <a:pPr marL="285750" indent="-285750" algn="just">
              <a:spcAft>
                <a:spcPts val="400"/>
              </a:spcAft>
              <a:buFont typeface="Wingdings" panose="05000000000000000000" pitchFamily="2" charset="2"/>
              <a:buChar char="§"/>
            </a:pPr>
            <a:r>
              <a:rPr lang="en-IN" sz="1600" dirty="0">
                <a:latin typeface="Calibri" panose="020F0502020204030204" pitchFamily="34" charset="0"/>
                <a:ea typeface="Calibri" panose="020F0502020204030204" pitchFamily="34" charset="0"/>
                <a:cs typeface="Calibri" panose="020F0502020204030204" pitchFamily="34" charset="0"/>
              </a:rPr>
              <a:t>Enable test access (e.g., JTAG, scan chains).</a:t>
            </a:r>
          </a:p>
        </p:txBody>
      </p:sp>
    </p:spTree>
    <p:extLst>
      <p:ext uri="{BB962C8B-B14F-4D97-AF65-F5344CB8AC3E}">
        <p14:creationId xmlns:p14="http://schemas.microsoft.com/office/powerpoint/2010/main" val="5196584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BABCCC1-BF11-4F37-963E-1BCD5B23FD72}" type="slidenum">
              <a:rPr lang="en-IN" smtClean="0"/>
              <a:t>23</a:t>
            </a:fld>
            <a:endParaRPr lang="en-IN"/>
          </a:p>
        </p:txBody>
      </p:sp>
      <p:sp>
        <p:nvSpPr>
          <p:cNvPr id="3" name="Rounded Rectangle 17">
            <a:extLst>
              <a:ext uri="{FF2B5EF4-FFF2-40B4-BE49-F238E27FC236}">
                <a16:creationId xmlns="" xmlns:a16="http://schemas.microsoft.com/office/drawing/2014/main" id="{01FA19A5-9588-483E-843E-C76873B71790}"/>
              </a:ext>
            </a:extLst>
          </p:cNvPr>
          <p:cNvSpPr/>
          <p:nvPr/>
        </p:nvSpPr>
        <p:spPr>
          <a:xfrm>
            <a:off x="2738742" y="194513"/>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sp>
        <p:nvSpPr>
          <p:cNvPr id="4" name="Rectangle 3"/>
          <p:cNvSpPr/>
          <p:nvPr/>
        </p:nvSpPr>
        <p:spPr>
          <a:xfrm>
            <a:off x="159656" y="986592"/>
            <a:ext cx="11872686" cy="4801314"/>
          </a:xfrm>
          <a:prstGeom prst="rect">
            <a:avLst/>
          </a:prstGeom>
        </p:spPr>
        <p:txBody>
          <a:bodyPr wrap="square">
            <a:spAutoFit/>
          </a:bodyPr>
          <a:lstStyle/>
          <a:p>
            <a:pPr marL="285750" indent="-285750" algn="just">
              <a:buFont typeface="Wingdings" panose="05000000000000000000" pitchFamily="2" charset="2"/>
              <a:buChar char="Ø"/>
            </a:pPr>
            <a:r>
              <a:rPr lang="en-US" dirty="0"/>
              <a:t>ASICs (Application Specific Integrated Circuits) are custom-designed chips tailored for specific applications, offering optimized performance, power efficiency, and area savings compared to general-purpose ICs.</a:t>
            </a:r>
          </a:p>
          <a:p>
            <a:pPr marL="285750" indent="-285750" algn="just">
              <a:buFont typeface="Wingdings" panose="05000000000000000000" pitchFamily="2" charset="2"/>
              <a:buChar char="Ø"/>
            </a:pPr>
            <a:endParaRPr lang="en-US" dirty="0"/>
          </a:p>
          <a:p>
            <a:pPr marL="285750" indent="-285750" algn="just">
              <a:buFont typeface="Wingdings" panose="05000000000000000000" pitchFamily="2" charset="2"/>
              <a:buChar char="Ø"/>
            </a:pPr>
            <a:r>
              <a:rPr lang="en-US" dirty="0"/>
              <a:t>ASICs are broadly categorized into Full-Custom, Semi-Custom, and Programmable types, each with trade-offs in cost, flexibility, and performance.</a:t>
            </a:r>
          </a:p>
          <a:p>
            <a:pPr marL="285750" indent="-285750" algn="just">
              <a:buFont typeface="Wingdings" panose="05000000000000000000" pitchFamily="2" charset="2"/>
              <a:buChar char="Ø"/>
            </a:pPr>
            <a:endParaRPr lang="en-US" dirty="0"/>
          </a:p>
          <a:p>
            <a:pPr marL="285750" indent="-285750" algn="just">
              <a:buFont typeface="Wingdings" panose="05000000000000000000" pitchFamily="2" charset="2"/>
              <a:buChar char="Ø"/>
            </a:pPr>
            <a:r>
              <a:rPr lang="en-US" dirty="0"/>
              <a:t>The ASIC design flow covers all stages from specification, design entry, synthesis, simulation, </a:t>
            </a:r>
            <a:r>
              <a:rPr lang="en-US" dirty="0" err="1"/>
              <a:t>floorplanning</a:t>
            </a:r>
            <a:r>
              <a:rPr lang="en-US" dirty="0"/>
              <a:t>, placement, routing, to tape-out and fabrication.</a:t>
            </a:r>
          </a:p>
          <a:p>
            <a:pPr marL="285750" indent="-285750" algn="just">
              <a:buFont typeface="Wingdings" panose="05000000000000000000" pitchFamily="2" charset="2"/>
              <a:buChar char="Ø"/>
            </a:pPr>
            <a:endParaRPr lang="en-US" dirty="0"/>
          </a:p>
          <a:p>
            <a:pPr marL="285750" indent="-285750" algn="just">
              <a:buFont typeface="Wingdings" panose="05000000000000000000" pitchFamily="2" charset="2"/>
              <a:buChar char="Ø"/>
            </a:pPr>
            <a:r>
              <a:rPr lang="en-US" dirty="0"/>
              <a:t>Standard cell libraries provide well-characterized, reusable building blocks including combinational, sequential, </a:t>
            </a:r>
            <a:r>
              <a:rPr lang="en-US" dirty="0" err="1"/>
              <a:t>datapath</a:t>
            </a:r>
            <a:r>
              <a:rPr lang="en-US" dirty="0"/>
              <a:t>, and I/O cells.</a:t>
            </a:r>
          </a:p>
          <a:p>
            <a:pPr marL="285750" indent="-285750" algn="just">
              <a:buFont typeface="Wingdings" panose="05000000000000000000" pitchFamily="2" charset="2"/>
              <a:buChar char="Ø"/>
            </a:pPr>
            <a:endParaRPr lang="en-US" dirty="0"/>
          </a:p>
          <a:p>
            <a:pPr marL="285750" indent="-285750" algn="just">
              <a:buFont typeface="Wingdings" panose="05000000000000000000" pitchFamily="2" charset="2"/>
              <a:buChar char="Ø"/>
            </a:pPr>
            <a:r>
              <a:rPr lang="en-US" dirty="0"/>
              <a:t>A case study in wearable ECG monitoring demonstrated ASIC advantages in power, area, and integration compared to FPGAs or microcontrollers.</a:t>
            </a:r>
          </a:p>
          <a:p>
            <a:pPr marL="285750" indent="-285750" algn="just">
              <a:buFont typeface="Wingdings" panose="05000000000000000000" pitchFamily="2" charset="2"/>
              <a:buChar char="Ø"/>
            </a:pPr>
            <a:endParaRPr lang="en-US" dirty="0"/>
          </a:p>
          <a:p>
            <a:pPr marL="285750" indent="-285750" algn="just">
              <a:buFont typeface="Wingdings" panose="05000000000000000000" pitchFamily="2" charset="2"/>
              <a:buChar char="Ø"/>
            </a:pPr>
            <a:r>
              <a:rPr lang="en-US" dirty="0"/>
              <a:t>Economic considerations such as NRE (non-recurring engineering cost), volume, and unit cost are essential in determining ASIC feasibility.</a:t>
            </a:r>
            <a:endParaRPr lang="en-IN" dirty="0"/>
          </a:p>
        </p:txBody>
      </p:sp>
    </p:spTree>
    <p:extLst>
      <p:ext uri="{BB962C8B-B14F-4D97-AF65-F5344CB8AC3E}">
        <p14:creationId xmlns:p14="http://schemas.microsoft.com/office/powerpoint/2010/main" val="3755668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ED7FD29D-BBDE-078E-D487-E57247CDB50D}"/>
              </a:ext>
            </a:extLst>
          </p:cNvPr>
          <p:cNvSpPr/>
          <p:nvPr/>
        </p:nvSpPr>
        <p:spPr>
          <a:xfrm>
            <a:off x="3390636" y="43432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 xmlns:a16="http://schemas.microsoft.com/office/drawing/2014/main" id="{AE3D0AA7-0A5F-7BD6-7BC7-1D38F326B8B4}"/>
              </a:ext>
            </a:extLst>
          </p:cNvPr>
          <p:cNvSpPr/>
          <p:nvPr/>
        </p:nvSpPr>
        <p:spPr>
          <a:xfrm>
            <a:off x="0" y="1093156"/>
            <a:ext cx="12192000" cy="601860"/>
          </a:xfrm>
          <a:prstGeom prst="roundRect">
            <a:avLst>
              <a:gd name="adj" fmla="val 35613"/>
            </a:avLst>
          </a:prstGeom>
          <a:solidFill>
            <a:srgbClr val="FFFF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a:pPr>
            <a:r>
              <a:rPr lang="en-US" dirty="0">
                <a:latin typeface="Calibri" panose="020F0502020204030204" pitchFamily="34" charset="0"/>
                <a:ea typeface="Calibri" panose="020F0502020204030204" pitchFamily="34" charset="0"/>
                <a:cs typeface="Calibri" panose="020F0502020204030204" pitchFamily="34" charset="0"/>
              </a:rPr>
              <a:t>Which of the following is </a:t>
            </a:r>
            <a:r>
              <a:rPr lang="en-US" b="1" dirty="0">
                <a:latin typeface="Calibri" panose="020F0502020204030204" pitchFamily="34" charset="0"/>
                <a:ea typeface="Calibri" panose="020F0502020204030204" pitchFamily="34" charset="0"/>
                <a:cs typeface="Calibri" panose="020F0502020204030204" pitchFamily="34" charset="0"/>
              </a:rPr>
              <a:t>not</a:t>
            </a:r>
            <a:r>
              <a:rPr lang="en-US" dirty="0">
                <a:latin typeface="Calibri" panose="020F0502020204030204" pitchFamily="34" charset="0"/>
                <a:ea typeface="Calibri" panose="020F0502020204030204" pitchFamily="34" charset="0"/>
                <a:cs typeface="Calibri" panose="020F0502020204030204" pitchFamily="34" charset="0"/>
              </a:rPr>
              <a:t> a type of ASIC?</a:t>
            </a:r>
            <a:endParaRPr dirty="0">
              <a:solidFill>
                <a:schemeClr val="bg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 name="Rounded Rectangle 17">
            <a:extLst>
              <a:ext uri="{FF2B5EF4-FFF2-40B4-BE49-F238E27FC236}">
                <a16:creationId xmlns="" xmlns:a16="http://schemas.microsoft.com/office/drawing/2014/main" id="{5D8B791C-9B35-CF16-C192-D202E0DB9A60}"/>
              </a:ext>
            </a:extLst>
          </p:cNvPr>
          <p:cNvSpPr/>
          <p:nvPr/>
        </p:nvSpPr>
        <p:spPr>
          <a:xfrm>
            <a:off x="0" y="1695016"/>
            <a:ext cx="12192000"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latin typeface="Calibri" panose="020F0502020204030204" pitchFamily="34" charset="0"/>
                <a:ea typeface="Calibri" panose="020F0502020204030204" pitchFamily="34" charset="0"/>
                <a:cs typeface="Calibri" panose="020F0502020204030204" pitchFamily="34" charset="0"/>
              </a:rPr>
              <a:t>A. Standard Processor ASIC</a:t>
            </a:r>
          </a:p>
          <a:p>
            <a:r>
              <a:rPr lang="en-US" dirty="0">
                <a:latin typeface="Calibri" panose="020F0502020204030204" pitchFamily="34" charset="0"/>
                <a:ea typeface="Calibri" panose="020F0502020204030204" pitchFamily="34" charset="0"/>
                <a:cs typeface="Calibri" panose="020F0502020204030204" pitchFamily="34" charset="0"/>
              </a:rPr>
              <a:t>B. Semi-Custom ASIC</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C. Full-Custom ASIC</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D. Programmable ASIC</a:t>
            </a:r>
          </a:p>
        </p:txBody>
      </p:sp>
      <p:sp>
        <p:nvSpPr>
          <p:cNvPr id="13" name="Google Shape;502;p17">
            <a:extLst>
              <a:ext uri="{FF2B5EF4-FFF2-40B4-BE49-F238E27FC236}">
                <a16:creationId xmlns="" xmlns:a16="http://schemas.microsoft.com/office/drawing/2014/main" id="{BB41B87C-BE5F-4BF2-531D-57DC21D1A451}"/>
              </a:ext>
            </a:extLst>
          </p:cNvPr>
          <p:cNvSpPr/>
          <p:nvPr/>
        </p:nvSpPr>
        <p:spPr>
          <a:xfrm>
            <a:off x="0" y="3831771"/>
            <a:ext cx="12192000" cy="546046"/>
          </a:xfrm>
          <a:prstGeom prst="roundRect">
            <a:avLst>
              <a:gd name="adj" fmla="val 35613"/>
            </a:avLst>
          </a:prstGeom>
          <a:solidFill>
            <a:srgbClr val="FFFF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lnSpc>
                <a:spcPct val="150000"/>
              </a:lnSpc>
              <a:buFont typeface="+mj-lt"/>
              <a:buAutoNum type="arabicPeriod" startAt="2"/>
            </a:pPr>
            <a:r>
              <a:rPr lang="en-US" dirty="0">
                <a:latin typeface="Calibri" panose="020F0502020204030204" pitchFamily="34" charset="0"/>
                <a:ea typeface="Calibri" panose="020F0502020204030204" pitchFamily="34" charset="0"/>
                <a:cs typeface="Calibri" panose="020F0502020204030204" pitchFamily="34" charset="0"/>
              </a:rPr>
              <a:t>The output of a </a:t>
            </a:r>
            <a:r>
              <a:rPr lang="en-US" b="1" dirty="0">
                <a:latin typeface="Calibri" panose="020F0502020204030204" pitchFamily="34" charset="0"/>
                <a:ea typeface="Calibri" panose="020F0502020204030204" pitchFamily="34" charset="0"/>
                <a:cs typeface="Calibri" panose="020F0502020204030204" pitchFamily="34" charset="0"/>
              </a:rPr>
              <a:t>combinational logic circuit</a:t>
            </a:r>
            <a:r>
              <a:rPr lang="en-US" dirty="0">
                <a:latin typeface="Calibri" panose="020F0502020204030204" pitchFamily="34" charset="0"/>
                <a:ea typeface="Calibri" panose="020F0502020204030204" pitchFamily="34" charset="0"/>
                <a:cs typeface="Calibri" panose="020F0502020204030204" pitchFamily="34" charset="0"/>
              </a:rPr>
              <a:t> depends on:</a:t>
            </a:r>
            <a:endParaRPr sz="1600" dirty="0">
              <a:solidFill>
                <a:schemeClr val="bg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4" name="Rounded Rectangle 17">
            <a:extLst>
              <a:ext uri="{FF2B5EF4-FFF2-40B4-BE49-F238E27FC236}">
                <a16:creationId xmlns="" xmlns:a16="http://schemas.microsoft.com/office/drawing/2014/main" id="{7E00138C-2256-5D01-E821-A57ADA3BBCB0}"/>
              </a:ext>
            </a:extLst>
          </p:cNvPr>
          <p:cNvSpPr/>
          <p:nvPr/>
        </p:nvSpPr>
        <p:spPr>
          <a:xfrm>
            <a:off x="0" y="4377817"/>
            <a:ext cx="12191999"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lvl="0" indent="-342900" defTabSz="914400" eaLnBrk="0" fontAlgn="base" hangingPunct="0">
              <a:spcBef>
                <a:spcPct val="0"/>
              </a:spcBef>
              <a:spcAft>
                <a:spcPct val="0"/>
              </a:spcAft>
              <a:buAutoNum type="alphaUcPeriod"/>
            </a:pPr>
            <a:r>
              <a:rPr lang="en-US" dirty="0">
                <a:latin typeface="Calibri" panose="020F0502020204030204" pitchFamily="34" charset="0"/>
                <a:ea typeface="Calibri" panose="020F0502020204030204" pitchFamily="34" charset="0"/>
                <a:cs typeface="Calibri" panose="020F0502020204030204" pitchFamily="34" charset="0"/>
              </a:rPr>
              <a:t>Clock</a:t>
            </a:r>
          </a:p>
          <a:p>
            <a:pPr marL="342900" lvl="0" indent="-342900" defTabSz="914400" eaLnBrk="0" fontAlgn="base" hangingPunct="0">
              <a:spcBef>
                <a:spcPct val="0"/>
              </a:spcBef>
              <a:spcAft>
                <a:spcPct val="0"/>
              </a:spcAft>
              <a:buAutoNum type="alphaUcPeriod"/>
            </a:pPr>
            <a:r>
              <a:rPr lang="en-US" dirty="0">
                <a:latin typeface="Calibri" panose="020F0502020204030204" pitchFamily="34" charset="0"/>
                <a:ea typeface="Calibri" panose="020F0502020204030204" pitchFamily="34" charset="0"/>
                <a:cs typeface="Calibri" panose="020F0502020204030204" pitchFamily="34" charset="0"/>
              </a:rPr>
              <a:t>Previous state</a:t>
            </a:r>
          </a:p>
          <a:p>
            <a:pPr marL="342900" lvl="0" indent="-342900" defTabSz="914400" eaLnBrk="0" fontAlgn="base" hangingPunct="0">
              <a:spcBef>
                <a:spcPct val="0"/>
              </a:spcBef>
              <a:spcAft>
                <a:spcPct val="0"/>
              </a:spcAft>
              <a:buAutoNum type="alphaUcPeriod"/>
            </a:pPr>
            <a:r>
              <a:rPr lang="en-US" dirty="0">
                <a:latin typeface="Calibri" panose="020F0502020204030204" pitchFamily="34" charset="0"/>
                <a:ea typeface="Calibri" panose="020F0502020204030204" pitchFamily="34" charset="0"/>
                <a:cs typeface="Calibri" panose="020F0502020204030204" pitchFamily="34" charset="0"/>
              </a:rPr>
              <a:t>None of the above</a:t>
            </a:r>
          </a:p>
          <a:p>
            <a:pPr marL="342900" lvl="0" indent="-342900" defTabSz="914400" eaLnBrk="0" fontAlgn="base" hangingPunct="0">
              <a:spcBef>
                <a:spcPct val="0"/>
              </a:spcBef>
              <a:spcAft>
                <a:spcPct val="0"/>
              </a:spcAft>
              <a:buAutoNum type="alphaUcPeriod"/>
            </a:pPr>
            <a:r>
              <a:rPr lang="en-US" dirty="0">
                <a:latin typeface="Calibri" panose="020F0502020204030204" pitchFamily="34" charset="0"/>
                <a:ea typeface="Calibri" panose="020F0502020204030204" pitchFamily="34" charset="0"/>
                <a:cs typeface="Calibri" panose="020F0502020204030204" pitchFamily="34" charset="0"/>
              </a:rPr>
              <a:t>Current inputs</a:t>
            </a:r>
          </a:p>
          <a:p>
            <a:pPr marL="342900" lvl="0" indent="-342900" defTabSz="914400" eaLnBrk="0" fontAlgn="base" hangingPunct="0">
              <a:spcBef>
                <a:spcPct val="0"/>
              </a:spcBef>
              <a:spcAft>
                <a:spcPct val="0"/>
              </a:spcAft>
              <a:buAutoNum type="alphaUcPeriod"/>
            </a:pPr>
            <a:endParaRPr lang="en-US" altLang="en-US"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Slide Number Placeholder 1">
            <a:extLst>
              <a:ext uri="{FF2B5EF4-FFF2-40B4-BE49-F238E27FC236}">
                <a16:creationId xmlns="" xmlns:a16="http://schemas.microsoft.com/office/drawing/2014/main" id="{52EDBA37-72E0-B143-3DC8-EBC1891ADA6C}"/>
              </a:ext>
            </a:extLst>
          </p:cNvPr>
          <p:cNvSpPr>
            <a:spLocks noGrp="1"/>
          </p:cNvSpPr>
          <p:nvPr>
            <p:ph type="sldNum" sz="quarter" idx="12"/>
          </p:nvPr>
        </p:nvSpPr>
        <p:spPr/>
        <p:txBody>
          <a:bodyPr/>
          <a:lstStyle/>
          <a:p>
            <a:fld id="{CBABCCC1-BF11-4F37-963E-1BCD5B23FD72}" type="slidenum">
              <a:rPr lang="en-IN" smtClean="0"/>
              <a:t>24</a:t>
            </a:fld>
            <a:endParaRPr lang="en-IN"/>
          </a:p>
        </p:txBody>
      </p:sp>
    </p:spTree>
    <p:extLst>
      <p:ext uri="{BB962C8B-B14F-4D97-AF65-F5344CB8AC3E}">
        <p14:creationId xmlns:p14="http://schemas.microsoft.com/office/powerpoint/2010/main" val="4192766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animBg="1"/>
      <p:bldP spid="13" grpId="0" animBg="1"/>
      <p:bldP spid="1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ED7FD29D-BBDE-078E-D487-E57247CDB50D}"/>
              </a:ext>
            </a:extLst>
          </p:cNvPr>
          <p:cNvSpPr/>
          <p:nvPr/>
        </p:nvSpPr>
        <p:spPr>
          <a:xfrm>
            <a:off x="3390636" y="43432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 xmlns:a16="http://schemas.microsoft.com/office/drawing/2014/main" id="{AE3D0AA7-0A5F-7BD6-7BC7-1D38F326B8B4}"/>
              </a:ext>
            </a:extLst>
          </p:cNvPr>
          <p:cNvSpPr/>
          <p:nvPr/>
        </p:nvSpPr>
        <p:spPr>
          <a:xfrm>
            <a:off x="0" y="1093156"/>
            <a:ext cx="12192000" cy="601860"/>
          </a:xfrm>
          <a:prstGeom prst="roundRect">
            <a:avLst>
              <a:gd name="adj" fmla="val 35613"/>
            </a:avLst>
          </a:prstGeom>
          <a:solidFill>
            <a:srgbClr val="FFFF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US" dirty="0">
                <a:latin typeface="Calibri" panose="020F0502020204030204" pitchFamily="34" charset="0"/>
                <a:ea typeface="Calibri" panose="020F0502020204030204" pitchFamily="34" charset="0"/>
                <a:cs typeface="Calibri" panose="020F0502020204030204" pitchFamily="34" charset="0"/>
              </a:rPr>
              <a:t>3. A </a:t>
            </a:r>
            <a:r>
              <a:rPr lang="en-US" b="1" dirty="0">
                <a:latin typeface="Calibri" panose="020F0502020204030204" pitchFamily="34" charset="0"/>
                <a:ea typeface="Calibri" panose="020F0502020204030204" pitchFamily="34" charset="0"/>
                <a:cs typeface="Calibri" panose="020F0502020204030204" pitchFamily="34" charset="0"/>
              </a:rPr>
              <a:t>flip-flop</a:t>
            </a:r>
            <a:r>
              <a:rPr lang="en-US" dirty="0">
                <a:latin typeface="Calibri" panose="020F0502020204030204" pitchFamily="34" charset="0"/>
                <a:ea typeface="Calibri" panose="020F0502020204030204" pitchFamily="34" charset="0"/>
                <a:cs typeface="Calibri" panose="020F0502020204030204" pitchFamily="34" charset="0"/>
              </a:rPr>
              <a:t> is classified as which type of logic cell?</a:t>
            </a:r>
            <a:endParaRPr sz="1600" dirty="0">
              <a:solidFill>
                <a:schemeClr val="bg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 name="Rounded Rectangle 17">
            <a:extLst>
              <a:ext uri="{FF2B5EF4-FFF2-40B4-BE49-F238E27FC236}">
                <a16:creationId xmlns="" xmlns:a16="http://schemas.microsoft.com/office/drawing/2014/main" id="{5D8B791C-9B35-CF16-C192-D202E0DB9A60}"/>
              </a:ext>
            </a:extLst>
          </p:cNvPr>
          <p:cNvSpPr/>
          <p:nvPr/>
        </p:nvSpPr>
        <p:spPr>
          <a:xfrm>
            <a:off x="0" y="1695016"/>
            <a:ext cx="12192000"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defTabSz="914400" eaLnBrk="0" fontAlgn="base" hangingPunct="0">
              <a:spcBef>
                <a:spcPct val="0"/>
              </a:spcBef>
              <a:spcAft>
                <a:spcPct val="0"/>
              </a:spcAft>
            </a:pPr>
            <a:r>
              <a:rPr lang="en-IN" dirty="0">
                <a:latin typeface="Calibri" panose="020F0502020204030204" pitchFamily="34" charset="0"/>
                <a:ea typeface="Calibri" panose="020F0502020204030204" pitchFamily="34" charset="0"/>
                <a:cs typeface="Calibri" panose="020F0502020204030204" pitchFamily="34" charset="0"/>
              </a:rPr>
              <a:t>A. Combinational</a:t>
            </a:r>
            <a:br>
              <a:rPr lang="en-IN" dirty="0">
                <a:latin typeface="Calibri" panose="020F0502020204030204" pitchFamily="34" charset="0"/>
                <a:ea typeface="Calibri" panose="020F0502020204030204" pitchFamily="34" charset="0"/>
                <a:cs typeface="Calibri" panose="020F0502020204030204" pitchFamily="34" charset="0"/>
              </a:rPr>
            </a:br>
            <a:r>
              <a:rPr lang="en-IN" dirty="0">
                <a:latin typeface="Calibri" panose="020F0502020204030204" pitchFamily="34" charset="0"/>
                <a:ea typeface="Calibri" panose="020F0502020204030204" pitchFamily="34" charset="0"/>
                <a:cs typeface="Calibri" panose="020F0502020204030204" pitchFamily="34" charset="0"/>
              </a:rPr>
              <a:t>B. Sequential</a:t>
            </a:r>
            <a:br>
              <a:rPr lang="en-IN" dirty="0">
                <a:latin typeface="Calibri" panose="020F0502020204030204" pitchFamily="34" charset="0"/>
                <a:ea typeface="Calibri" panose="020F0502020204030204" pitchFamily="34" charset="0"/>
                <a:cs typeface="Calibri" panose="020F0502020204030204" pitchFamily="34" charset="0"/>
              </a:rPr>
            </a:br>
            <a:r>
              <a:rPr lang="en-IN" dirty="0">
                <a:latin typeface="Calibri" panose="020F0502020204030204" pitchFamily="34" charset="0"/>
                <a:ea typeface="Calibri" panose="020F0502020204030204" pitchFamily="34" charset="0"/>
                <a:cs typeface="Calibri" panose="020F0502020204030204" pitchFamily="34" charset="0"/>
              </a:rPr>
              <a:t>C. Data path</a:t>
            </a:r>
            <a:br>
              <a:rPr lang="en-IN" dirty="0">
                <a:latin typeface="Calibri" panose="020F0502020204030204" pitchFamily="34" charset="0"/>
                <a:ea typeface="Calibri" panose="020F0502020204030204" pitchFamily="34" charset="0"/>
                <a:cs typeface="Calibri" panose="020F0502020204030204" pitchFamily="34" charset="0"/>
              </a:rPr>
            </a:br>
            <a:r>
              <a:rPr lang="en-IN" dirty="0">
                <a:latin typeface="Calibri" panose="020F0502020204030204" pitchFamily="34" charset="0"/>
                <a:ea typeface="Calibri" panose="020F0502020204030204" pitchFamily="34" charset="0"/>
                <a:cs typeface="Calibri" panose="020F0502020204030204" pitchFamily="34" charset="0"/>
              </a:rPr>
              <a:t>D. I/O</a:t>
            </a:r>
            <a:endParaRPr lang="en-US" altLang="en-US"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13" name="Google Shape;502;p17">
            <a:extLst>
              <a:ext uri="{FF2B5EF4-FFF2-40B4-BE49-F238E27FC236}">
                <a16:creationId xmlns="" xmlns:a16="http://schemas.microsoft.com/office/drawing/2014/main" id="{BB41B87C-BE5F-4BF2-531D-57DC21D1A451}"/>
              </a:ext>
            </a:extLst>
          </p:cNvPr>
          <p:cNvSpPr/>
          <p:nvPr/>
        </p:nvSpPr>
        <p:spPr>
          <a:xfrm>
            <a:off x="0" y="3788229"/>
            <a:ext cx="12192000" cy="589588"/>
          </a:xfrm>
          <a:prstGeom prst="roundRect">
            <a:avLst>
              <a:gd name="adj" fmla="val 35613"/>
            </a:avLst>
          </a:prstGeom>
          <a:solidFill>
            <a:srgbClr val="FFFF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r>
              <a:rPr lang="en-US" dirty="0">
                <a:latin typeface="Calibri" panose="020F0502020204030204" pitchFamily="34" charset="0"/>
                <a:ea typeface="Calibri" panose="020F0502020204030204" pitchFamily="34" charset="0"/>
                <a:cs typeface="Calibri" panose="020F0502020204030204" pitchFamily="34" charset="0"/>
              </a:rPr>
              <a:t>4. Which logic cells are responsible for arithmetic operations in an ASIC?</a:t>
            </a: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14" name="Rounded Rectangle 17">
            <a:extLst>
              <a:ext uri="{FF2B5EF4-FFF2-40B4-BE49-F238E27FC236}">
                <a16:creationId xmlns="" xmlns:a16="http://schemas.microsoft.com/office/drawing/2014/main" id="{7E00138C-2256-5D01-E821-A57ADA3BBCB0}"/>
              </a:ext>
            </a:extLst>
          </p:cNvPr>
          <p:cNvSpPr/>
          <p:nvPr/>
        </p:nvSpPr>
        <p:spPr>
          <a:xfrm>
            <a:off x="0" y="4377817"/>
            <a:ext cx="12191999"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defTabSz="914400" eaLnBrk="0" fontAlgn="base" hangingPunct="0">
              <a:spcBef>
                <a:spcPct val="0"/>
              </a:spcBef>
              <a:spcAft>
                <a:spcPct val="0"/>
              </a:spcAft>
            </a:pPr>
            <a:r>
              <a:rPr lang="en-IN" dirty="0">
                <a:latin typeface="Calibri" panose="020F0502020204030204" pitchFamily="34" charset="0"/>
                <a:ea typeface="Calibri" panose="020F0502020204030204" pitchFamily="34" charset="0"/>
                <a:cs typeface="Calibri" panose="020F0502020204030204" pitchFamily="34" charset="0"/>
              </a:rPr>
              <a:t>A. Combinational Cells</a:t>
            </a:r>
            <a:br>
              <a:rPr lang="en-IN" dirty="0">
                <a:latin typeface="Calibri" panose="020F0502020204030204" pitchFamily="34" charset="0"/>
                <a:ea typeface="Calibri" panose="020F0502020204030204" pitchFamily="34" charset="0"/>
                <a:cs typeface="Calibri" panose="020F0502020204030204" pitchFamily="34" charset="0"/>
              </a:rPr>
            </a:br>
            <a:r>
              <a:rPr lang="en-IN" dirty="0">
                <a:latin typeface="Calibri" panose="020F0502020204030204" pitchFamily="34" charset="0"/>
                <a:ea typeface="Calibri" panose="020F0502020204030204" pitchFamily="34" charset="0"/>
                <a:cs typeface="Calibri" panose="020F0502020204030204" pitchFamily="34" charset="0"/>
              </a:rPr>
              <a:t>B. Sequential Cells</a:t>
            </a:r>
            <a:br>
              <a:rPr lang="en-IN" dirty="0">
                <a:latin typeface="Calibri" panose="020F0502020204030204" pitchFamily="34" charset="0"/>
                <a:ea typeface="Calibri" panose="020F0502020204030204" pitchFamily="34" charset="0"/>
                <a:cs typeface="Calibri" panose="020F0502020204030204" pitchFamily="34" charset="0"/>
              </a:rPr>
            </a:br>
            <a:r>
              <a:rPr lang="en-IN" dirty="0">
                <a:latin typeface="Calibri" panose="020F0502020204030204" pitchFamily="34" charset="0"/>
                <a:ea typeface="Calibri" panose="020F0502020204030204" pitchFamily="34" charset="0"/>
                <a:cs typeface="Calibri" panose="020F0502020204030204" pitchFamily="34" charset="0"/>
              </a:rPr>
              <a:t>C. Datapath Cells</a:t>
            </a:r>
            <a:br>
              <a:rPr lang="en-IN" dirty="0">
                <a:latin typeface="Calibri" panose="020F0502020204030204" pitchFamily="34" charset="0"/>
                <a:ea typeface="Calibri" panose="020F0502020204030204" pitchFamily="34" charset="0"/>
                <a:cs typeface="Calibri" panose="020F0502020204030204" pitchFamily="34" charset="0"/>
              </a:rPr>
            </a:br>
            <a:r>
              <a:rPr lang="en-IN" dirty="0">
                <a:latin typeface="Calibri" panose="020F0502020204030204" pitchFamily="34" charset="0"/>
                <a:ea typeface="Calibri" panose="020F0502020204030204" pitchFamily="34" charset="0"/>
                <a:cs typeface="Calibri" panose="020F0502020204030204" pitchFamily="34" charset="0"/>
              </a:rPr>
              <a:t>D. Control Cells</a:t>
            </a:r>
            <a:endParaRPr lang="en-US" altLang="en-US"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Slide Number Placeholder 1">
            <a:extLst>
              <a:ext uri="{FF2B5EF4-FFF2-40B4-BE49-F238E27FC236}">
                <a16:creationId xmlns="" xmlns:a16="http://schemas.microsoft.com/office/drawing/2014/main" id="{18829C7D-C954-07F8-3E2D-0980653D94BE}"/>
              </a:ext>
            </a:extLst>
          </p:cNvPr>
          <p:cNvSpPr>
            <a:spLocks noGrp="1"/>
          </p:cNvSpPr>
          <p:nvPr>
            <p:ph type="sldNum" sz="quarter" idx="12"/>
          </p:nvPr>
        </p:nvSpPr>
        <p:spPr/>
        <p:txBody>
          <a:bodyPr/>
          <a:lstStyle/>
          <a:p>
            <a:fld id="{CBABCCC1-BF11-4F37-963E-1BCD5B23FD72}" type="slidenum">
              <a:rPr lang="en-IN" smtClean="0"/>
              <a:t>25</a:t>
            </a:fld>
            <a:endParaRPr lang="en-IN"/>
          </a:p>
        </p:txBody>
      </p:sp>
    </p:spTree>
    <p:extLst>
      <p:ext uri="{BB962C8B-B14F-4D97-AF65-F5344CB8AC3E}">
        <p14:creationId xmlns:p14="http://schemas.microsoft.com/office/powerpoint/2010/main" val="2079790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animBg="1"/>
      <p:bldP spid="13" grpId="0" animBg="1"/>
      <p:bldP spid="1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ED7FD29D-BBDE-078E-D487-E57247CDB50D}"/>
              </a:ext>
            </a:extLst>
          </p:cNvPr>
          <p:cNvSpPr/>
          <p:nvPr/>
        </p:nvSpPr>
        <p:spPr>
          <a:xfrm>
            <a:off x="3390636" y="43432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 xmlns:a16="http://schemas.microsoft.com/office/drawing/2014/main" id="{AE3D0AA7-0A5F-7BD6-7BC7-1D38F326B8B4}"/>
              </a:ext>
            </a:extLst>
          </p:cNvPr>
          <p:cNvSpPr/>
          <p:nvPr/>
        </p:nvSpPr>
        <p:spPr>
          <a:xfrm>
            <a:off x="0" y="1093156"/>
            <a:ext cx="12192000" cy="601860"/>
          </a:xfrm>
          <a:prstGeom prst="roundRect">
            <a:avLst>
              <a:gd name="adj" fmla="val 35613"/>
            </a:avLst>
          </a:prstGeom>
          <a:solidFill>
            <a:srgbClr val="FFFF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US" dirty="0">
                <a:latin typeface="Calibri" panose="020F0502020204030204" pitchFamily="34" charset="0"/>
                <a:ea typeface="Calibri" panose="020F0502020204030204" pitchFamily="34" charset="0"/>
                <a:cs typeface="Calibri" panose="020F0502020204030204" pitchFamily="34" charset="0"/>
              </a:rPr>
              <a:t>5. I/O cells are placed:</a:t>
            </a:r>
            <a:endParaRPr sz="1600" dirty="0">
              <a:solidFill>
                <a:schemeClr val="bg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1" name="Rounded Rectangle 17">
            <a:extLst>
              <a:ext uri="{FF2B5EF4-FFF2-40B4-BE49-F238E27FC236}">
                <a16:creationId xmlns="" xmlns:a16="http://schemas.microsoft.com/office/drawing/2014/main" id="{5D8B791C-9B35-CF16-C192-D202E0DB9A60}"/>
              </a:ext>
            </a:extLst>
          </p:cNvPr>
          <p:cNvSpPr/>
          <p:nvPr/>
        </p:nvSpPr>
        <p:spPr>
          <a:xfrm>
            <a:off x="0" y="1695016"/>
            <a:ext cx="12192000"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dirty="0">
                <a:latin typeface="Calibri" panose="020F0502020204030204" pitchFamily="34" charset="0"/>
                <a:ea typeface="Calibri" panose="020F0502020204030204" pitchFamily="34" charset="0"/>
                <a:cs typeface="Calibri" panose="020F0502020204030204" pitchFamily="34" charset="0"/>
              </a:rPr>
              <a:t>A. Inside the core logic</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B. In the standard cell region</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C. Around the periphery of the chip</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D. At the top-left corner</a:t>
            </a:r>
            <a:endParaRPr lang="en-US"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Slide Number Placeholder 1">
            <a:extLst>
              <a:ext uri="{FF2B5EF4-FFF2-40B4-BE49-F238E27FC236}">
                <a16:creationId xmlns="" xmlns:a16="http://schemas.microsoft.com/office/drawing/2014/main" id="{F01EE7FC-9187-561F-217C-5A5FC6DE3B0E}"/>
              </a:ext>
            </a:extLst>
          </p:cNvPr>
          <p:cNvSpPr>
            <a:spLocks noGrp="1"/>
          </p:cNvSpPr>
          <p:nvPr>
            <p:ph type="sldNum" sz="quarter" idx="12"/>
          </p:nvPr>
        </p:nvSpPr>
        <p:spPr/>
        <p:txBody>
          <a:bodyPr/>
          <a:lstStyle/>
          <a:p>
            <a:fld id="{CBABCCC1-BF11-4F37-963E-1BCD5B23FD72}" type="slidenum">
              <a:rPr lang="en-IN" smtClean="0"/>
              <a:t>26</a:t>
            </a:fld>
            <a:endParaRPr lang="en-IN"/>
          </a:p>
        </p:txBody>
      </p:sp>
    </p:spTree>
    <p:extLst>
      <p:ext uri="{BB962C8B-B14F-4D97-AF65-F5344CB8AC3E}">
        <p14:creationId xmlns:p14="http://schemas.microsoft.com/office/powerpoint/2010/main" val="2079790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56E62616-E55E-DAB7-B0A0-D8540B2F648A}"/>
              </a:ext>
            </a:extLst>
          </p:cNvPr>
          <p:cNvSpPr>
            <a:spLocks noGrp="1"/>
          </p:cNvSpPr>
          <p:nvPr>
            <p:ph idx="1"/>
          </p:nvPr>
        </p:nvSpPr>
        <p:spPr/>
        <p:txBody>
          <a:bodyPr/>
          <a:lstStyle/>
          <a:p>
            <a:pPr marL="457200" indent="-457200">
              <a:buFont typeface="+mj-lt"/>
              <a:buAutoNum type="arabicPeriod"/>
            </a:pPr>
            <a:r>
              <a:rPr lang="en-IN" dirty="0"/>
              <a:t>A</a:t>
            </a:r>
          </a:p>
          <a:p>
            <a:pPr marL="457200" indent="-457200">
              <a:buFont typeface="+mj-lt"/>
              <a:buAutoNum type="arabicPeriod"/>
            </a:pPr>
            <a:r>
              <a:rPr lang="en-US" dirty="0"/>
              <a:t>D</a:t>
            </a:r>
          </a:p>
          <a:p>
            <a:pPr marL="457200" indent="-457200">
              <a:buFont typeface="+mj-lt"/>
              <a:buAutoNum type="arabicPeriod"/>
            </a:pPr>
            <a:r>
              <a:rPr lang="en-US" dirty="0"/>
              <a:t>C</a:t>
            </a:r>
          </a:p>
          <a:p>
            <a:pPr marL="457200" indent="-457200">
              <a:buFont typeface="+mj-lt"/>
              <a:buAutoNum type="arabicPeriod"/>
            </a:pPr>
            <a:r>
              <a:rPr lang="en-US" dirty="0"/>
              <a:t>C</a:t>
            </a:r>
          </a:p>
          <a:p>
            <a:pPr marL="457200" indent="-457200">
              <a:buFont typeface="+mj-lt"/>
              <a:buAutoNum type="arabicPeriod"/>
            </a:pPr>
            <a:r>
              <a:rPr lang="en-US" dirty="0"/>
              <a:t>C</a:t>
            </a:r>
            <a:endParaRPr lang="en-IN" dirty="0"/>
          </a:p>
          <a:p>
            <a:pPr marL="457200" indent="-457200">
              <a:buFont typeface="+mj-lt"/>
              <a:buAutoNum type="arabicPeriod"/>
            </a:pPr>
            <a:endParaRPr lang="en-IN" dirty="0"/>
          </a:p>
          <a:p>
            <a:pPr marL="457200" indent="-457200">
              <a:buFont typeface="+mj-lt"/>
              <a:buAutoNum type="arabicPeriod"/>
            </a:pPr>
            <a:endParaRPr lang="en-IN" dirty="0"/>
          </a:p>
          <a:p>
            <a:pPr marL="457200" indent="-457200">
              <a:buFont typeface="+mj-lt"/>
              <a:buAutoNum type="arabicPeriod"/>
            </a:pPr>
            <a:endParaRPr lang="en-IN" dirty="0"/>
          </a:p>
          <a:p>
            <a:pPr marL="457200" indent="-457200">
              <a:buFont typeface="+mj-lt"/>
              <a:buAutoNum type="arabicPeriod"/>
            </a:pPr>
            <a:endParaRPr lang="en-IN" dirty="0"/>
          </a:p>
          <a:p>
            <a:pPr marL="457200" indent="-457200">
              <a:buFont typeface="+mj-lt"/>
              <a:buAutoNum type="arabicPeriod"/>
            </a:pPr>
            <a:endParaRPr lang="en-IN" dirty="0"/>
          </a:p>
        </p:txBody>
      </p:sp>
      <p:sp>
        <p:nvSpPr>
          <p:cNvPr id="5" name="Rounded Rectangle 17">
            <a:extLst>
              <a:ext uri="{FF2B5EF4-FFF2-40B4-BE49-F238E27FC236}">
                <a16:creationId xmlns="" xmlns:a16="http://schemas.microsoft.com/office/drawing/2014/main" id="{F67DA82E-43B9-32C7-5D30-307DE1BBBD76}"/>
              </a:ext>
            </a:extLst>
          </p:cNvPr>
          <p:cNvSpPr/>
          <p:nvPr/>
        </p:nvSpPr>
        <p:spPr>
          <a:xfrm>
            <a:off x="3390635" y="1185508"/>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ANSWERS</a:t>
            </a:r>
          </a:p>
        </p:txBody>
      </p:sp>
      <p:sp>
        <p:nvSpPr>
          <p:cNvPr id="2" name="Slide Number Placeholder 1">
            <a:extLst>
              <a:ext uri="{FF2B5EF4-FFF2-40B4-BE49-F238E27FC236}">
                <a16:creationId xmlns="" xmlns:a16="http://schemas.microsoft.com/office/drawing/2014/main" id="{BC27356B-052E-D281-3C5C-119046BA2893}"/>
              </a:ext>
            </a:extLst>
          </p:cNvPr>
          <p:cNvSpPr>
            <a:spLocks noGrp="1"/>
          </p:cNvSpPr>
          <p:nvPr>
            <p:ph type="sldNum" sz="quarter" idx="12"/>
          </p:nvPr>
        </p:nvSpPr>
        <p:spPr/>
        <p:txBody>
          <a:bodyPr/>
          <a:lstStyle/>
          <a:p>
            <a:fld id="{CBABCCC1-BF11-4F37-963E-1BCD5B23FD72}" type="slidenum">
              <a:rPr lang="en-IN" smtClean="0"/>
              <a:t>27</a:t>
            </a:fld>
            <a:endParaRPr lang="en-IN"/>
          </a:p>
        </p:txBody>
      </p:sp>
    </p:spTree>
    <p:extLst>
      <p:ext uri="{BB962C8B-B14F-4D97-AF65-F5344CB8AC3E}">
        <p14:creationId xmlns:p14="http://schemas.microsoft.com/office/powerpoint/2010/main" val="3257230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045E056E-10BD-0B9E-4ACE-A3F54C31FD9F}"/>
              </a:ext>
            </a:extLst>
          </p:cNvPr>
          <p:cNvSpPr/>
          <p:nvPr/>
        </p:nvSpPr>
        <p:spPr>
          <a:xfrm>
            <a:off x="3390636" y="1167618"/>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406606" y="2154534"/>
            <a:ext cx="11643154" cy="2585323"/>
          </a:xfrm>
          <a:prstGeom prst="rect">
            <a:avLst/>
          </a:prstGeom>
          <a:noFill/>
        </p:spPr>
        <p:txBody>
          <a:bodyPr wrap="square" rtlCol="0">
            <a:spAutoFit/>
          </a:bodyPr>
          <a:lstStyle/>
          <a:p>
            <a:pPr marL="342900" indent="-342900" algn="just">
              <a:buFont typeface="+mj-lt"/>
              <a:buAutoNum type="arabicPeriod"/>
            </a:pPr>
            <a:r>
              <a:rPr lang="en-US" dirty="0"/>
              <a:t>Explain the difference between Full-Custom and Semi-Custom ASICs with suitable examples.</a:t>
            </a:r>
          </a:p>
          <a:p>
            <a:pPr marL="342900" indent="-342900" algn="just">
              <a:buFont typeface="+mj-lt"/>
              <a:buAutoNum type="arabicPeriod"/>
            </a:pPr>
            <a:endParaRPr lang="en-US" dirty="0"/>
          </a:p>
          <a:p>
            <a:pPr marL="342900" indent="-342900" algn="just">
              <a:buFont typeface="+mj-lt"/>
              <a:buAutoNum type="arabicPeriod"/>
            </a:pPr>
            <a:r>
              <a:rPr lang="en-US" dirty="0"/>
              <a:t>Describe the complete ASIC design flow and the purpose of each stage.</a:t>
            </a:r>
          </a:p>
          <a:p>
            <a:pPr marL="342900" indent="-342900" algn="just">
              <a:buFont typeface="+mj-lt"/>
              <a:buAutoNum type="arabicPeriod"/>
            </a:pPr>
            <a:endParaRPr lang="en-US" dirty="0"/>
          </a:p>
          <a:p>
            <a:pPr marL="342900" indent="-342900" algn="just">
              <a:buFont typeface="+mj-lt"/>
              <a:buAutoNum type="arabicPeriod"/>
            </a:pPr>
            <a:r>
              <a:rPr lang="en-US" dirty="0"/>
              <a:t>Discuss the roles and differences between combinational, sequential, </a:t>
            </a:r>
            <a:r>
              <a:rPr lang="en-US" dirty="0" err="1"/>
              <a:t>datapath</a:t>
            </a:r>
            <a:r>
              <a:rPr lang="en-US" dirty="0"/>
              <a:t>, and I/O logic cells.</a:t>
            </a:r>
          </a:p>
          <a:p>
            <a:pPr marL="342900" indent="-342900" algn="just">
              <a:buFont typeface="+mj-lt"/>
              <a:buAutoNum type="arabicPeriod"/>
            </a:pPr>
            <a:endParaRPr lang="en-US" dirty="0"/>
          </a:p>
          <a:p>
            <a:pPr marL="342900" indent="-342900" algn="just">
              <a:buFont typeface="+mj-lt"/>
              <a:buAutoNum type="arabicPeriod"/>
            </a:pPr>
            <a:r>
              <a:rPr lang="en-US" dirty="0"/>
              <a:t>Analyze the trade-offs between using ASICs vs. FPGAs in terms of economics and application scope.</a:t>
            </a:r>
          </a:p>
          <a:p>
            <a:pPr marL="342900" indent="-342900" algn="just">
              <a:buFont typeface="+mj-lt"/>
              <a:buAutoNum type="arabicPeriod"/>
            </a:pPr>
            <a:endParaRPr lang="en-US" dirty="0"/>
          </a:p>
          <a:p>
            <a:pPr marL="342900" indent="-342900" algn="just">
              <a:buFont typeface="+mj-lt"/>
              <a:buAutoNum type="arabicPeriod"/>
            </a:pPr>
            <a:r>
              <a:rPr lang="en-US" dirty="0"/>
              <a:t>Based on the case study, what key design strategies helped reduce power consumption in the ECG monitoring ASIC?</a:t>
            </a:r>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Slide Number Placeholder 1">
            <a:extLst>
              <a:ext uri="{FF2B5EF4-FFF2-40B4-BE49-F238E27FC236}">
                <a16:creationId xmlns="" xmlns:a16="http://schemas.microsoft.com/office/drawing/2014/main" id="{E563FC40-ACE7-059A-8514-8441DE8582D5}"/>
              </a:ext>
            </a:extLst>
          </p:cNvPr>
          <p:cNvSpPr>
            <a:spLocks noGrp="1"/>
          </p:cNvSpPr>
          <p:nvPr>
            <p:ph type="sldNum" sz="quarter" idx="12"/>
          </p:nvPr>
        </p:nvSpPr>
        <p:spPr/>
        <p:txBody>
          <a:bodyPr/>
          <a:lstStyle/>
          <a:p>
            <a:fld id="{CBABCCC1-BF11-4F37-963E-1BCD5B23FD72}" type="slidenum">
              <a:rPr lang="en-IN" smtClean="0"/>
              <a:t>28</a:t>
            </a:fld>
            <a:endParaRPr lang="en-IN"/>
          </a:p>
        </p:txBody>
      </p:sp>
    </p:spTree>
    <p:extLst>
      <p:ext uri="{BB962C8B-B14F-4D97-AF65-F5344CB8AC3E}">
        <p14:creationId xmlns:p14="http://schemas.microsoft.com/office/powerpoint/2010/main" val="2602073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045E056E-10BD-0B9E-4ACE-A3F54C31FD9F}"/>
              </a:ext>
            </a:extLst>
          </p:cNvPr>
          <p:cNvSpPr/>
          <p:nvPr/>
        </p:nvSpPr>
        <p:spPr>
          <a:xfrm>
            <a:off x="2124128" y="1172223"/>
            <a:ext cx="794374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770854" y="2072947"/>
            <a:ext cx="11421146" cy="2956387"/>
          </a:xfrm>
          <a:prstGeom prst="rect">
            <a:avLst/>
          </a:prstGeom>
          <a:noFill/>
        </p:spPr>
        <p:txBody>
          <a:bodyPr wrap="square" rtlCol="0">
            <a:spAutoFit/>
          </a:bodyPr>
          <a:lstStyle/>
          <a:p>
            <a:pPr algn="just">
              <a:lnSpc>
                <a:spcPct val="150000"/>
              </a:lnSpc>
              <a:spcAft>
                <a:spcPts val="0"/>
              </a:spcAft>
            </a:pPr>
            <a:r>
              <a:rPr lang="en-IN" sz="1800" b="1" dirty="0">
                <a:effectLst/>
                <a:latin typeface="Times New Roman" panose="02020603050405020304" pitchFamily="18" charset="0"/>
              </a:rPr>
              <a:t>References of books, sites, links</a:t>
            </a:r>
            <a:endParaRPr lang="en-IN" sz="1800" dirty="0">
              <a:effectLst/>
              <a:latin typeface="Calibri" panose="020F0502020204030204" pitchFamily="34" charset="0"/>
            </a:endParaRPr>
          </a:p>
          <a:p>
            <a:pPr marL="342900" indent="-342900" algn="just">
              <a:lnSpc>
                <a:spcPct val="150000"/>
              </a:lnSpc>
              <a:spcAft>
                <a:spcPts val="0"/>
              </a:spcAft>
              <a:buAutoNum type="arabicPeriod"/>
            </a:pPr>
            <a:r>
              <a:rPr lang="en-IN" dirty="0">
                <a:latin typeface="Times New Roman" panose="02020603050405020304" pitchFamily="18" charset="0"/>
              </a:rPr>
              <a:t>Michael John Sebastian Smith, “Application Specific Integrated Circuits”, Pearson Education,2001. </a:t>
            </a:r>
          </a:p>
          <a:p>
            <a:pPr marL="342900" indent="-342900" algn="just">
              <a:lnSpc>
                <a:spcPct val="150000"/>
              </a:lnSpc>
              <a:spcAft>
                <a:spcPts val="0"/>
              </a:spcAft>
              <a:buAutoNum type="arabicPeriod"/>
            </a:pPr>
            <a:r>
              <a:rPr lang="en-IN" dirty="0" err="1">
                <a:latin typeface="Times New Roman" panose="02020603050405020304" pitchFamily="18" charset="0"/>
              </a:rPr>
              <a:t>Debaprasad</a:t>
            </a:r>
            <a:r>
              <a:rPr lang="en-IN" dirty="0">
                <a:latin typeface="Times New Roman" panose="02020603050405020304" pitchFamily="18" charset="0"/>
              </a:rPr>
              <a:t> Das, “VLSI Design”. 3. Neil H. E. Weste and K. </a:t>
            </a:r>
            <a:r>
              <a:rPr lang="en-IN" dirty="0" err="1">
                <a:latin typeface="Times New Roman" panose="02020603050405020304" pitchFamily="18" charset="0"/>
              </a:rPr>
              <a:t>Eshraghian</a:t>
            </a:r>
            <a:r>
              <a:rPr lang="en-IN" dirty="0">
                <a:latin typeface="Times New Roman" panose="02020603050405020304" pitchFamily="18" charset="0"/>
              </a:rPr>
              <a:t>, Principles of CMOS VLSI Design, 2nd Edition, Addison Wesley.</a:t>
            </a:r>
          </a:p>
          <a:p>
            <a:pPr marL="342900" indent="-342900" algn="just">
              <a:lnSpc>
                <a:spcPct val="150000"/>
              </a:lnSpc>
              <a:spcAft>
                <a:spcPts val="0"/>
              </a:spcAft>
              <a:buAutoNum type="arabicPeriod"/>
            </a:pPr>
            <a:r>
              <a:rPr lang="en-IN" dirty="0">
                <a:latin typeface="Times New Roman" panose="02020603050405020304" pitchFamily="18" charset="0"/>
              </a:rPr>
              <a:t>Bob Zeidman, “Designing with FPGAs and CPLDs”. </a:t>
            </a:r>
          </a:p>
          <a:p>
            <a:pPr marL="342900" indent="-342900" algn="just">
              <a:lnSpc>
                <a:spcPct val="150000"/>
              </a:lnSpc>
              <a:spcAft>
                <a:spcPts val="0"/>
              </a:spcAft>
              <a:buAutoNum type="arabicPeriod"/>
            </a:pPr>
            <a:r>
              <a:rPr lang="en-IN" dirty="0">
                <a:latin typeface="Times New Roman" panose="02020603050405020304" pitchFamily="18" charset="0"/>
              </a:rPr>
              <a:t>Stephen Brown and </a:t>
            </a:r>
            <a:r>
              <a:rPr lang="en-IN" dirty="0" err="1">
                <a:latin typeface="Times New Roman" panose="02020603050405020304" pitchFamily="18" charset="0"/>
              </a:rPr>
              <a:t>ZvonkoVranesic</a:t>
            </a:r>
            <a:r>
              <a:rPr lang="en-IN" dirty="0">
                <a:latin typeface="Times New Roman" panose="02020603050405020304" pitchFamily="18" charset="0"/>
              </a:rPr>
              <a:t> “Fundamentals of Digital Logic with Verilog Design”. </a:t>
            </a:r>
          </a:p>
          <a:p>
            <a:pPr marL="342900" indent="-342900" algn="just">
              <a:lnSpc>
                <a:spcPct val="150000"/>
              </a:lnSpc>
              <a:spcAft>
                <a:spcPts val="0"/>
              </a:spcAft>
              <a:buAutoNum type="arabicPeriod"/>
            </a:pPr>
            <a:r>
              <a:rPr lang="en-IN" dirty="0">
                <a:latin typeface="Times New Roman" panose="02020603050405020304" pitchFamily="18" charset="0"/>
              </a:rPr>
              <a:t>Pak K. Chan, Samiha </a:t>
            </a:r>
            <a:r>
              <a:rPr lang="en-IN" dirty="0" err="1">
                <a:latin typeface="Times New Roman" panose="02020603050405020304" pitchFamily="18" charset="0"/>
              </a:rPr>
              <a:t>Mourad,“Digital</a:t>
            </a:r>
            <a:r>
              <a:rPr lang="en-IN" dirty="0">
                <a:latin typeface="Times New Roman" panose="02020603050405020304" pitchFamily="18" charset="0"/>
              </a:rPr>
              <a:t> Design Using Field Programmable Gate Array”.</a:t>
            </a:r>
            <a:endParaRPr lang="en-IN" sz="1800" dirty="0">
              <a:effectLst/>
              <a:latin typeface="Calibri" panose="020F0502020204030204" pitchFamily="34" charset="0"/>
            </a:endParaRPr>
          </a:p>
        </p:txBody>
      </p:sp>
      <p:pic>
        <p:nvPicPr>
          <p:cNvPr id="5"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Slide Number Placeholder 1">
            <a:extLst>
              <a:ext uri="{FF2B5EF4-FFF2-40B4-BE49-F238E27FC236}">
                <a16:creationId xmlns="" xmlns:a16="http://schemas.microsoft.com/office/drawing/2014/main" id="{F8434282-180E-B9C0-A311-4A82B1B4917E}"/>
              </a:ext>
            </a:extLst>
          </p:cNvPr>
          <p:cNvSpPr>
            <a:spLocks noGrp="1"/>
          </p:cNvSpPr>
          <p:nvPr>
            <p:ph type="sldNum" sz="quarter" idx="12"/>
          </p:nvPr>
        </p:nvSpPr>
        <p:spPr/>
        <p:txBody>
          <a:bodyPr/>
          <a:lstStyle/>
          <a:p>
            <a:fld id="{CBABCCC1-BF11-4F37-963E-1BCD5B23FD72}" type="slidenum">
              <a:rPr lang="en-IN" smtClean="0"/>
              <a:t>29</a:t>
            </a:fld>
            <a:endParaRPr lang="en-IN"/>
          </a:p>
        </p:txBody>
      </p:sp>
    </p:spTree>
    <p:extLst>
      <p:ext uri="{BB962C8B-B14F-4D97-AF65-F5344CB8AC3E}">
        <p14:creationId xmlns:p14="http://schemas.microsoft.com/office/powerpoint/2010/main" val="3773420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 xmlns:a16="http://schemas.microsoft.com/office/drawing/2014/main" id="{06F267B9-90E6-4D91-2F94-99937051E1E4}"/>
              </a:ext>
            </a:extLst>
          </p:cNvPr>
          <p:cNvGrpSpPr/>
          <p:nvPr/>
        </p:nvGrpSpPr>
        <p:grpSpPr>
          <a:xfrm>
            <a:off x="2247960" y="1780855"/>
            <a:ext cx="7920111" cy="2883877"/>
            <a:chOff x="2247960" y="2332796"/>
            <a:chExt cx="7920111" cy="2883877"/>
          </a:xfrm>
        </p:grpSpPr>
        <p:sp>
          <p:nvSpPr>
            <p:cNvPr id="4" name="Rounded Rectangle 3">
              <a:extLst>
                <a:ext uri="{FF2B5EF4-FFF2-40B4-BE49-F238E27FC236}">
                  <a16:creationId xmlns="" xmlns:a16="http://schemas.microsoft.com/office/drawing/2014/main" id="{E792BE84-3448-2348-B352-CD5BC083E5FD}"/>
                </a:ext>
              </a:extLst>
            </p:cNvPr>
            <p:cNvSpPr/>
            <p:nvPr/>
          </p:nvSpPr>
          <p:spPr>
            <a:xfrm>
              <a:off x="2247960" y="2332796"/>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3200" b="1" dirty="0">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marR="0" lvl="0" indent="0" algn="ctr">
                <a:spcBef>
                  <a:spcPts val="0"/>
                </a:spcBef>
                <a:spcAft>
                  <a:spcPts val="0"/>
                </a:spcAft>
                <a:buNone/>
              </a:pPr>
              <a:r>
                <a:rPr lang="en-US" sz="2000" b="1" dirty="0">
                  <a:cs typeface="Poppins" pitchFamily="2" charset="77"/>
                </a:rPr>
                <a:t>Team </a:t>
              </a:r>
              <a:r>
                <a:rPr lang="en-US" sz="2000" b="1">
                  <a:cs typeface="Poppins" pitchFamily="2" charset="77"/>
                </a:rPr>
                <a:t>– </a:t>
              </a:r>
              <a:r>
                <a:rPr lang="en-US" sz="2000" b="1" cap="all">
                  <a:ln/>
                  <a:solidFill>
                    <a:schemeClr val="bg1"/>
                  </a:solidFill>
                  <a:cs typeface="Poppins" panose="00000500000000000000" pitchFamily="2" charset="0"/>
                  <a:sym typeface="BioRhyme ExtraBold"/>
                </a:rPr>
                <a:t>LOW POWER VLSI </a:t>
              </a:r>
              <a:r>
                <a:rPr lang="en-US" sz="2000" b="1" cap="all" dirty="0">
                  <a:ln/>
                  <a:solidFill>
                    <a:schemeClr val="bg1"/>
                  </a:solidFill>
                  <a:cs typeface="Poppins" panose="00000500000000000000" pitchFamily="2" charset="0"/>
                  <a:sym typeface="BioRhyme ExtraBold"/>
                </a:rPr>
                <a:t>Design</a:t>
              </a:r>
              <a:endParaRPr lang="en-US" sz="2000" dirty="0">
                <a:solidFill>
                  <a:schemeClr val="bg1"/>
                </a:solidFill>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131980" y="3092166"/>
              <a:ext cx="3235570" cy="1083212"/>
            </a:xfrm>
            <a:prstGeom prst="rect">
              <a:avLst/>
            </a:prstGeom>
            <a:noFill/>
          </p:spPr>
        </p:pic>
      </p:grpSp>
      <p:sp>
        <p:nvSpPr>
          <p:cNvPr id="3" name="Slide Number Placeholder 2">
            <a:extLst>
              <a:ext uri="{FF2B5EF4-FFF2-40B4-BE49-F238E27FC236}">
                <a16:creationId xmlns="" xmlns:a16="http://schemas.microsoft.com/office/drawing/2014/main" id="{2334CFA7-6563-1E15-9A04-911D55B0C8B0}"/>
              </a:ext>
            </a:extLst>
          </p:cNvPr>
          <p:cNvSpPr>
            <a:spLocks noGrp="1"/>
          </p:cNvSpPr>
          <p:nvPr>
            <p:ph type="sldNum" sz="quarter" idx="12"/>
          </p:nvPr>
        </p:nvSpPr>
        <p:spPr/>
        <p:txBody>
          <a:bodyPr/>
          <a:lstStyle/>
          <a:p>
            <a:fld id="{CBABCCC1-BF11-4F37-963E-1BCD5B23FD72}" type="slidenum">
              <a:rPr lang="en-IN" smtClean="0"/>
              <a:t>30</a:t>
            </a:fld>
            <a:endParaRPr lang="en-IN"/>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Presentation1" id="{24598BE9-BD78-4C1A-902E-0BA786164A9D}" vid="{1551CBD6-114D-4A17-981D-82FBB9D549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CoE PPT Template</Template>
  <TotalTime>3360</TotalTime>
  <Words>2861</Words>
  <Application>Microsoft Office PowerPoint</Application>
  <PresentationFormat>Widescreen</PresentationFormat>
  <Paragraphs>457</Paragraphs>
  <Slides>30</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Arial</vt:lpstr>
      <vt:lpstr>BioRhyme ExtraBold</vt:lpstr>
      <vt:lpstr>Calibri</vt:lpstr>
      <vt:lpstr>Gill Sans MT</vt:lpstr>
      <vt:lpstr>Poppins</vt:lpstr>
      <vt:lpstr>Times New Roman</vt:lpstr>
      <vt:lpstr>Wingdings</vt:lpstr>
      <vt:lpstr>Gallery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Subba Reddy Vasipalli</dc:creator>
  <cp:lastModifiedBy>123</cp:lastModifiedBy>
  <cp:revision>210</cp:revision>
  <dcterms:created xsi:type="dcterms:W3CDTF">2023-05-11T04:21:37Z</dcterms:created>
  <dcterms:modified xsi:type="dcterms:W3CDTF">2025-07-28T05:08:38Z</dcterms:modified>
</cp:coreProperties>
</file>