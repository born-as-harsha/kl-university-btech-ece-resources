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07" r:id="rId2"/>
    <p:sldId id="290" r:id="rId3"/>
    <p:sldId id="291" r:id="rId4"/>
    <p:sldId id="292" r:id="rId5"/>
    <p:sldId id="293" r:id="rId6"/>
    <p:sldId id="294" r:id="rId7"/>
    <p:sldId id="295" r:id="rId8"/>
    <p:sldId id="296" r:id="rId9"/>
    <p:sldId id="28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87F059-1FD3-4F39-BE62-FA40EA6B0B13}"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58917-74D7-4F58-9CDD-826089178B97}" type="slidenum">
              <a:rPr lang="en-IN" smtClean="0"/>
              <a:pPr/>
              <a:t>‹#›</a:t>
            </a:fld>
            <a:endParaRPr lang="en-IN"/>
          </a:p>
        </p:txBody>
      </p:sp>
    </p:spTree>
    <p:extLst>
      <p:ext uri="{BB962C8B-B14F-4D97-AF65-F5344CB8AC3E}">
        <p14:creationId xmlns:p14="http://schemas.microsoft.com/office/powerpoint/2010/main" val="406502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1430-02A2-4F6F-95A9-34ACA1DE0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F78057-42B0-49AF-9408-35CB29A90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8D3F8-B6C1-41BD-8351-5EDEA765D70B}"/>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68F89A96-79DE-4C4B-AE8F-6A765906D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4BB84-16EB-4912-A9EE-BF7B2827E00F}"/>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766917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7F2B9-6BF3-4943-B01F-791617F596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BB8D58-416E-4512-8DAA-C6D089EE43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CC4D0-C741-4447-83F3-68571A6A9D98}"/>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56F5E9BF-BA0C-400A-84D5-848407F7B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D92A4-D16E-41C8-9847-8C2DFCD7961A}"/>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99741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A7044-82C4-4B4E-B88C-B4365FE44E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02BC52-6876-4EE5-9CDA-5FCB5EBD30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328F78-3A5A-496D-9C14-C9F1BAB7468D}"/>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5F98022D-E983-4184-A9FC-F92B1B975B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EBF96-90CE-4612-BB9B-1AF1D3B5545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7551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28D0-DFB8-45A5-A23E-1ED905AB50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4017F1-0EEC-43A1-A15A-F82D95DA23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D0F63D-52EF-409C-9232-E370B173ED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4CE5AD-5403-43F9-AA0F-F06DD55F6FC8}"/>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6" name="Footer Placeholder 5">
            <a:extLst>
              <a:ext uri="{FF2B5EF4-FFF2-40B4-BE49-F238E27FC236}">
                <a16:creationId xmlns:a16="http://schemas.microsoft.com/office/drawing/2014/main" id="{AF607E7D-E366-4524-A63C-D8FBF1317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7F81B-446A-437D-B65F-5CF29B083134}"/>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239780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2ABB-A139-4F88-9CD3-666928ECD8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1F431E-D4AB-42F0-9B1B-D50F491615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BEB46-23BA-4521-A320-762A050ACC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C7064F-CC01-402D-A009-E4A7EA1717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1AFA2-0DC6-44CE-8235-73A3FA02DD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826A7-C252-4F8A-B071-AD820B09222B}"/>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8" name="Footer Placeholder 7">
            <a:extLst>
              <a:ext uri="{FF2B5EF4-FFF2-40B4-BE49-F238E27FC236}">
                <a16:creationId xmlns:a16="http://schemas.microsoft.com/office/drawing/2014/main" id="{D3FD308A-25C2-4F39-835E-FA06A30F0E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447B1F-90FA-4D87-93EA-AD2C27E15CE5}"/>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109785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DDB7-C8C9-4A1A-A026-21708D41C3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396E43-A13F-4773-A273-EC4E02F15DB1}"/>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4" name="Footer Placeholder 3">
            <a:extLst>
              <a:ext uri="{FF2B5EF4-FFF2-40B4-BE49-F238E27FC236}">
                <a16:creationId xmlns:a16="http://schemas.microsoft.com/office/drawing/2014/main" id="{C905B703-B5B7-4C37-8BDE-E766074D1E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49C412-2172-4C52-9C49-E00501EA384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741412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7950EC-21D7-43B2-85A2-C05197542B77}"/>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3" name="Footer Placeholder 2">
            <a:extLst>
              <a:ext uri="{FF2B5EF4-FFF2-40B4-BE49-F238E27FC236}">
                <a16:creationId xmlns:a16="http://schemas.microsoft.com/office/drawing/2014/main" id="{609382C4-9278-4515-B6AA-6DBA0E5BCA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3E7F18-0BA9-4AC3-9AAE-8FA758CD3661}"/>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4221746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6703-9D36-45E1-9997-F0EE1EF283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B56D04-2035-413B-9C0D-366DBEF838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526C-1440-4E60-B326-80B29EAD7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B8F0C-3464-44DD-B898-D490284E0E02}"/>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6" name="Footer Placeholder 5">
            <a:extLst>
              <a:ext uri="{FF2B5EF4-FFF2-40B4-BE49-F238E27FC236}">
                <a16:creationId xmlns:a16="http://schemas.microsoft.com/office/drawing/2014/main" id="{67CFDE26-224D-414D-8E97-21A03A68AC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B881B-D2E4-4883-9087-753BD8963458}"/>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182323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EBD5D-0D6C-4E67-95DA-B8ABB46BA1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7A90C8-5F6B-4A47-9CC5-776327C3A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703E00-C491-4054-86C5-AA8275252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82B0E1-9964-4390-8549-C894573D1103}"/>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6" name="Footer Placeholder 5">
            <a:extLst>
              <a:ext uri="{FF2B5EF4-FFF2-40B4-BE49-F238E27FC236}">
                <a16:creationId xmlns:a16="http://schemas.microsoft.com/office/drawing/2014/main" id="{1BA22811-2287-4292-8422-3863E90805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7AAEC-2E4C-424B-8BE1-023E2B96EBA6}"/>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3071516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3753-0440-4F15-B38C-AC9BD5A01E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A2196C-6956-40E2-8025-184D03BEC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032DF-F7AB-4631-96F2-69ACE164504E}"/>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3C8A73C3-78A9-4F3F-AED9-A5AABA952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7231D-FCB1-4F04-A0C0-941BB56C2AEF}"/>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1714397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90680D-7DEF-4749-845A-38690F6B4B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6EE8E9-79FF-41DB-8DAE-03F895F259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74A64-7BC9-4B99-A352-7D42ACEA3228}"/>
              </a:ext>
            </a:extLst>
          </p:cNvPr>
          <p:cNvSpPr>
            <a:spLocks noGrp="1"/>
          </p:cNvSpPr>
          <p:nvPr>
            <p:ph type="dt" sz="half" idx="10"/>
          </p:nvPr>
        </p:nvSpPr>
        <p:spPr/>
        <p:txBody>
          <a:body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E49C2EB3-337F-499B-8083-FD9E21BAF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F3A5D-C4B8-4D9C-B9BE-9C94BCA3DAEC}"/>
              </a:ext>
            </a:extLst>
          </p:cNvPr>
          <p:cNvSpPr>
            <a:spLocks noGrp="1"/>
          </p:cNvSpPr>
          <p:nvPr>
            <p:ph type="sldNum" sz="quarter" idx="12"/>
          </p:nvPr>
        </p:nvSpPr>
        <p:spPr/>
        <p:txBody>
          <a:bodyPr/>
          <a:lstStyle/>
          <a:p>
            <a:fld id="{37BA6162-2D20-4B0A-96B2-AE7CD500622C}" type="slidenum">
              <a:rPr lang="en-US" smtClean="0"/>
              <a:pPr/>
              <a:t>‹#›</a:t>
            </a:fld>
            <a:endParaRPr lang="en-US"/>
          </a:p>
        </p:txBody>
      </p:sp>
    </p:spTree>
    <p:extLst>
      <p:ext uri="{BB962C8B-B14F-4D97-AF65-F5344CB8AC3E}">
        <p14:creationId xmlns:p14="http://schemas.microsoft.com/office/powerpoint/2010/main" val="2882486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703559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8CE8AA-8556-4E61-A024-298F312A85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2634FA-8772-4E4D-8B8B-4905A934EF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FE9B1-5F5D-4D32-A63C-85273AB938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82556E-593C-48B2-8C8F-13666BE3F444}" type="datetimeFigureOut">
              <a:rPr lang="en-US" smtClean="0"/>
              <a:pPr/>
              <a:t>12/17/2025</a:t>
            </a:fld>
            <a:endParaRPr lang="en-US"/>
          </a:p>
        </p:txBody>
      </p:sp>
      <p:sp>
        <p:nvSpPr>
          <p:cNvPr id="5" name="Footer Placeholder 4">
            <a:extLst>
              <a:ext uri="{FF2B5EF4-FFF2-40B4-BE49-F238E27FC236}">
                <a16:creationId xmlns:a16="http://schemas.microsoft.com/office/drawing/2014/main" id="{325915B0-CCDF-47F4-A464-508185A47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31B3B6-9423-4AC6-A3E2-41C0420C7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BA6162-2D20-4B0A-96B2-AE7CD500622C}" type="slidenum">
              <a:rPr lang="en-US" smtClean="0"/>
              <a:pPr/>
              <a:t>‹#›</a:t>
            </a:fld>
            <a:endParaRPr lang="en-US"/>
          </a:p>
        </p:txBody>
      </p:sp>
    </p:spTree>
    <p:extLst>
      <p:ext uri="{BB962C8B-B14F-4D97-AF65-F5344CB8AC3E}">
        <p14:creationId xmlns:p14="http://schemas.microsoft.com/office/powerpoint/2010/main" val="3310745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394455" y="1933408"/>
            <a:ext cx="6729005"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dirty="0"/>
              <a:t>RSA algorithm</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18646" y="508500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38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1D59-8A4F-4514-9181-B745F920C451}"/>
              </a:ext>
            </a:extLst>
          </p:cNvPr>
          <p:cNvSpPr>
            <a:spLocks noGrp="1"/>
          </p:cNvSpPr>
          <p:nvPr>
            <p:ph type="title"/>
          </p:nvPr>
        </p:nvSpPr>
        <p:spPr>
          <a:xfrm>
            <a:off x="838200" y="365125"/>
            <a:ext cx="10515600" cy="5768389"/>
          </a:xfrm>
        </p:spPr>
        <p:txBody>
          <a:bodyPr>
            <a:normAutofit/>
          </a:bodyPr>
          <a:lstStyle/>
          <a:p>
            <a:pPr algn="ctr"/>
            <a:r>
              <a:rPr lang="en-US" sz="5400" b="1" dirty="0"/>
              <a:t>RSA Encryption</a:t>
            </a:r>
          </a:p>
        </p:txBody>
      </p:sp>
    </p:spTree>
    <p:extLst>
      <p:ext uri="{BB962C8B-B14F-4D97-AF65-F5344CB8AC3E}">
        <p14:creationId xmlns:p14="http://schemas.microsoft.com/office/powerpoint/2010/main" val="1725724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C8594-61AE-43DB-9E3A-4ED75DB8D093}"/>
              </a:ext>
            </a:extLst>
          </p:cNvPr>
          <p:cNvSpPr>
            <a:spLocks noGrp="1"/>
          </p:cNvSpPr>
          <p:nvPr>
            <p:ph type="title"/>
          </p:nvPr>
        </p:nvSpPr>
        <p:spPr/>
        <p:txBody>
          <a:bodyPr/>
          <a:lstStyle/>
          <a:p>
            <a:r>
              <a:rPr lang="en-US" sz="4400" b="1" dirty="0">
                <a:solidFill>
                  <a:srgbClr val="C00000"/>
                </a:solidFill>
              </a:rPr>
              <a:t>RSA Algorithm</a:t>
            </a:r>
            <a:endParaRPr lang="en-US" dirty="0">
              <a:solidFill>
                <a:srgbClr val="C00000"/>
              </a:solidFill>
            </a:endParaRPr>
          </a:p>
        </p:txBody>
      </p:sp>
      <p:sp>
        <p:nvSpPr>
          <p:cNvPr id="3" name="Content Placeholder 2">
            <a:extLst>
              <a:ext uri="{FF2B5EF4-FFF2-40B4-BE49-F238E27FC236}">
                <a16:creationId xmlns:a16="http://schemas.microsoft.com/office/drawing/2014/main" id="{3679652A-BDA2-45DF-B849-5AD49488FF0F}"/>
              </a:ext>
            </a:extLst>
          </p:cNvPr>
          <p:cNvSpPr>
            <a:spLocks noGrp="1"/>
          </p:cNvSpPr>
          <p:nvPr>
            <p:ph idx="1"/>
          </p:nvPr>
        </p:nvSpPr>
        <p:spPr/>
        <p:txBody>
          <a:bodyPr>
            <a:normAutofit/>
          </a:bodyPr>
          <a:lstStyle/>
          <a:p>
            <a:pPr algn="just"/>
            <a:r>
              <a:rPr lang="en-US" sz="2400" dirty="0">
                <a:latin typeface="Bookman Old Style" panose="02050604050505020204" pitchFamily="18" charset="0"/>
              </a:rPr>
              <a:t>Asymmetric encryption method</a:t>
            </a:r>
          </a:p>
          <a:p>
            <a:pPr algn="just"/>
            <a:r>
              <a:rPr lang="en-US" sz="2400" dirty="0">
                <a:latin typeface="Bookman Old Style" panose="02050604050505020204" pitchFamily="18" charset="0"/>
              </a:rPr>
              <a:t>Also know as Public Key Cryptography</a:t>
            </a:r>
          </a:p>
          <a:p>
            <a:pPr algn="just"/>
            <a:r>
              <a:rPr lang="en-US" sz="2400" dirty="0">
                <a:latin typeface="Bookman Old Style" panose="02050604050505020204" pitchFamily="18" charset="0"/>
              </a:rPr>
              <a:t>Uses two different keys are used for encryption and decryption.</a:t>
            </a:r>
          </a:p>
          <a:p>
            <a:pPr lvl="1" algn="just"/>
            <a:r>
              <a:rPr lang="en-US" dirty="0">
                <a:solidFill>
                  <a:srgbClr val="00B0F0"/>
                </a:solidFill>
                <a:latin typeface="Bookman Old Style" panose="02050604050505020204" pitchFamily="18" charset="0"/>
              </a:rPr>
              <a:t>Public key</a:t>
            </a:r>
          </a:p>
          <a:p>
            <a:pPr lvl="1" algn="just"/>
            <a:r>
              <a:rPr lang="en-US" dirty="0">
                <a:solidFill>
                  <a:srgbClr val="00B0F0"/>
                </a:solidFill>
                <a:latin typeface="Bookman Old Style" panose="02050604050505020204" pitchFamily="18" charset="0"/>
              </a:rPr>
              <a:t>Private(secret) key</a:t>
            </a:r>
          </a:p>
          <a:p>
            <a:pPr algn="just"/>
            <a:r>
              <a:rPr lang="en-US" sz="2400" dirty="0">
                <a:latin typeface="Bookman Old Style" panose="02050604050505020204" pitchFamily="18" charset="0"/>
              </a:rPr>
              <a:t>Encryption is done using public key and decryption is done using secret key.</a:t>
            </a:r>
          </a:p>
          <a:p>
            <a:pPr algn="just"/>
            <a:r>
              <a:rPr lang="en-US" sz="2400" dirty="0">
                <a:latin typeface="Bookman Old Style" panose="02050604050505020204" pitchFamily="18" charset="0"/>
              </a:rPr>
              <a:t>Ron Rivest, Adi Shamir and Len Adleman have developed this algorithm(Rivest-Shamir-Adleman).</a:t>
            </a:r>
          </a:p>
        </p:txBody>
      </p:sp>
    </p:spTree>
    <p:extLst>
      <p:ext uri="{BB962C8B-B14F-4D97-AF65-F5344CB8AC3E}">
        <p14:creationId xmlns:p14="http://schemas.microsoft.com/office/powerpoint/2010/main" val="159093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C6CD1-4887-4108-B44D-846A5FDD506A}"/>
              </a:ext>
            </a:extLst>
          </p:cNvPr>
          <p:cNvSpPr>
            <a:spLocks noGrp="1"/>
          </p:cNvSpPr>
          <p:nvPr>
            <p:ph type="title"/>
          </p:nvPr>
        </p:nvSpPr>
        <p:spPr>
          <a:xfrm>
            <a:off x="197225" y="161365"/>
            <a:ext cx="11156575" cy="519673"/>
          </a:xfrm>
        </p:spPr>
        <p:txBody>
          <a:bodyPr>
            <a:normAutofit fontScale="90000"/>
          </a:bodyPr>
          <a:lstStyle/>
          <a:p>
            <a:r>
              <a:rPr lang="en-US" sz="4400" b="1" dirty="0">
                <a:solidFill>
                  <a:srgbClr val="C00000"/>
                </a:solidFill>
              </a:rPr>
              <a:t>RSA…		</a:t>
            </a:r>
            <a:endParaRPr lang="en-US" dirty="0"/>
          </a:p>
        </p:txBody>
      </p:sp>
      <p:sp>
        <p:nvSpPr>
          <p:cNvPr id="3" name="Content Placeholder 2">
            <a:extLst>
              <a:ext uri="{FF2B5EF4-FFF2-40B4-BE49-F238E27FC236}">
                <a16:creationId xmlns:a16="http://schemas.microsoft.com/office/drawing/2014/main" id="{3A5F4C1F-4320-4238-9442-444290FE8C4D}"/>
              </a:ext>
            </a:extLst>
          </p:cNvPr>
          <p:cNvSpPr>
            <a:spLocks noGrp="1"/>
          </p:cNvSpPr>
          <p:nvPr>
            <p:ph idx="1"/>
          </p:nvPr>
        </p:nvSpPr>
        <p:spPr>
          <a:xfrm>
            <a:off x="98476" y="860564"/>
            <a:ext cx="7727575" cy="5170645"/>
          </a:xfrm>
          <a:ln>
            <a:solidFill>
              <a:schemeClr val="tx1"/>
            </a:solidFill>
          </a:ln>
        </p:spPr>
        <p:txBody>
          <a:bodyPr>
            <a:normAutofit/>
          </a:bodyPr>
          <a:lstStyle/>
          <a:p>
            <a:pPr marL="0" indent="0">
              <a:buNone/>
            </a:pPr>
            <a:endParaRPr lang="en-US" sz="2400" dirty="0">
              <a:latin typeface="Bookman Old Style" panose="02050604050505020204" pitchFamily="18" charset="0"/>
            </a:endParaRPr>
          </a:p>
          <a:p>
            <a:pPr marL="0" indent="0">
              <a:buNone/>
            </a:pPr>
            <a:r>
              <a:rPr lang="en-US" sz="2200" dirty="0">
                <a:latin typeface="Bookman Old Style" panose="02050604050505020204" pitchFamily="18" charset="0"/>
              </a:rPr>
              <a:t>This algorithm works as follows:</a:t>
            </a:r>
          </a:p>
          <a:p>
            <a:pPr marL="0" indent="0">
              <a:buNone/>
            </a:pPr>
            <a:r>
              <a:rPr lang="en-US" sz="2200" b="1" dirty="0">
                <a:latin typeface="Bookman Old Style" panose="02050604050505020204" pitchFamily="18" charset="0"/>
              </a:rPr>
              <a:t>Key Generation:</a:t>
            </a:r>
          </a:p>
          <a:p>
            <a:pPr marL="457200" indent="-457200">
              <a:buFont typeface="+mj-lt"/>
              <a:buAutoNum type="arabicPeriod"/>
            </a:pPr>
            <a:r>
              <a:rPr lang="en-US" sz="2200" dirty="0">
                <a:latin typeface="Bookman Old Style" panose="02050604050505020204" pitchFamily="18" charset="0"/>
              </a:rPr>
              <a:t>Select any two prime numbers p and q where p ≠ q.</a:t>
            </a:r>
          </a:p>
          <a:p>
            <a:pPr marL="457200" indent="-457200">
              <a:buFont typeface="+mj-lt"/>
              <a:buAutoNum type="arabicPeriod"/>
            </a:pPr>
            <a:r>
              <a:rPr lang="en-US" sz="2200" dirty="0">
                <a:latin typeface="Bookman Old Style" panose="02050604050505020204" pitchFamily="18" charset="0"/>
              </a:rPr>
              <a:t>Calculate n = p*q.</a:t>
            </a:r>
          </a:p>
          <a:p>
            <a:pPr marL="457200" indent="-457200">
              <a:buFont typeface="+mj-lt"/>
              <a:buAutoNum type="arabicPeriod"/>
            </a:pPr>
            <a:r>
              <a:rPr lang="en-US" sz="2200" dirty="0">
                <a:latin typeface="Bookman Old Style" panose="02050604050505020204" pitchFamily="18" charset="0"/>
              </a:rPr>
              <a:t>Calculate </a:t>
            </a:r>
            <a:r>
              <a:rPr lang="hy-AM" sz="2200" dirty="0">
                <a:latin typeface="Arial" panose="020B0604020202020204" pitchFamily="34" charset="0"/>
                <a:cs typeface="Arial" panose="020B0604020202020204" pitchFamily="34" charset="0"/>
              </a:rPr>
              <a:t>Փ</a:t>
            </a:r>
            <a:r>
              <a:rPr lang="en-US" sz="2200" dirty="0">
                <a:latin typeface="Bookman Old Style" panose="02050604050505020204" pitchFamily="18" charset="0"/>
                <a:cs typeface="Arial" panose="020B0604020202020204" pitchFamily="34" charset="0"/>
              </a:rPr>
              <a:t>(n) = (p-1) * (q-1).</a:t>
            </a:r>
          </a:p>
          <a:p>
            <a:pPr marL="457200" indent="-457200">
              <a:buFont typeface="+mj-lt"/>
              <a:buAutoNum type="arabicPeriod"/>
            </a:pPr>
            <a:r>
              <a:rPr lang="en-US" sz="2200" dirty="0">
                <a:latin typeface="Bookman Old Style" panose="02050604050505020204" pitchFamily="18" charset="0"/>
                <a:cs typeface="Arial" panose="020B0604020202020204" pitchFamily="34" charset="0"/>
              </a:rPr>
              <a:t>Select e such that, e is relatively prime to </a:t>
            </a:r>
            <a:r>
              <a:rPr lang="hy-AM" sz="2200" dirty="0">
                <a:latin typeface="Arial" panose="020B0604020202020204" pitchFamily="34" charset="0"/>
                <a:cs typeface="Arial" panose="020B0604020202020204" pitchFamily="34" charset="0"/>
              </a:rPr>
              <a:t>Փ</a:t>
            </a:r>
            <a:r>
              <a:rPr lang="en-US" sz="2200" dirty="0">
                <a:latin typeface="Bookman Old Style" panose="02050604050505020204" pitchFamily="18" charset="0"/>
                <a:cs typeface="Arial" panose="020B0604020202020204" pitchFamily="34" charset="0"/>
              </a:rPr>
              <a:t>(n)</a:t>
            </a:r>
          </a:p>
          <a:p>
            <a:pPr marL="0" indent="0">
              <a:buNone/>
            </a:pPr>
            <a:r>
              <a:rPr lang="en-US" sz="2200" dirty="0">
                <a:latin typeface="Bookman Old Style" panose="02050604050505020204" pitchFamily="18" charset="0"/>
                <a:cs typeface="Arial" panose="020B0604020202020204" pitchFamily="34" charset="0"/>
              </a:rPr>
              <a:t>	i.e., </a:t>
            </a:r>
            <a:r>
              <a:rPr lang="en-US" sz="2200" dirty="0" err="1">
                <a:latin typeface="Bookman Old Style" panose="02050604050505020204" pitchFamily="18" charset="0"/>
                <a:cs typeface="Arial" panose="020B0604020202020204" pitchFamily="34" charset="0"/>
              </a:rPr>
              <a:t>gcd</a:t>
            </a:r>
            <a:r>
              <a:rPr lang="en-US" sz="2200" dirty="0">
                <a:latin typeface="Bookman Old Style" panose="02050604050505020204" pitchFamily="18" charset="0"/>
                <a:cs typeface="Arial" panose="020B0604020202020204" pitchFamily="34" charset="0"/>
              </a:rPr>
              <a:t>(e, </a:t>
            </a:r>
            <a:r>
              <a:rPr lang="hy-AM" sz="2200" dirty="0">
                <a:latin typeface="Arial" panose="020B0604020202020204" pitchFamily="34" charset="0"/>
                <a:cs typeface="Arial" panose="020B0604020202020204" pitchFamily="34" charset="0"/>
              </a:rPr>
              <a:t>Փ</a:t>
            </a:r>
            <a:r>
              <a:rPr lang="en-US" sz="2200" dirty="0">
                <a:latin typeface="Bookman Old Style" panose="02050604050505020204" pitchFamily="18" charset="0"/>
                <a:cs typeface="Arial" panose="020B0604020202020204" pitchFamily="34" charset="0"/>
              </a:rPr>
              <a:t>(n)) =1 and 1&lt;e&lt;</a:t>
            </a:r>
            <a:r>
              <a:rPr lang="hy-AM" sz="2200" dirty="0">
                <a:latin typeface="Arial" panose="020B0604020202020204" pitchFamily="34" charset="0"/>
                <a:cs typeface="Arial" panose="020B0604020202020204" pitchFamily="34" charset="0"/>
              </a:rPr>
              <a:t> Փ</a:t>
            </a:r>
            <a:r>
              <a:rPr lang="en-US" sz="2200" dirty="0">
                <a:latin typeface="Bookman Old Style" panose="02050604050505020204" pitchFamily="18" charset="0"/>
                <a:cs typeface="Arial" panose="020B0604020202020204" pitchFamily="34" charset="0"/>
              </a:rPr>
              <a:t>(n)</a:t>
            </a:r>
          </a:p>
          <a:p>
            <a:pPr marL="457200" indent="-457200">
              <a:buFont typeface="+mj-lt"/>
              <a:buAutoNum type="arabicPeriod" startAt="5"/>
            </a:pPr>
            <a:r>
              <a:rPr lang="en-US" sz="2200" dirty="0">
                <a:latin typeface="Bookman Old Style" panose="02050604050505020204" pitchFamily="18" charset="0"/>
                <a:cs typeface="Arial" panose="020B0604020202020204" pitchFamily="34" charset="0"/>
              </a:rPr>
              <a:t>Calculate d = e</a:t>
            </a:r>
            <a:r>
              <a:rPr lang="en-US" sz="2200" baseline="30000" dirty="0">
                <a:latin typeface="Bookman Old Style" panose="02050604050505020204" pitchFamily="18" charset="0"/>
                <a:cs typeface="Arial" panose="020B0604020202020204" pitchFamily="34" charset="0"/>
              </a:rPr>
              <a:t>-1</a:t>
            </a:r>
            <a:r>
              <a:rPr lang="en-US" sz="2200" dirty="0">
                <a:latin typeface="Bookman Old Style" panose="02050604050505020204" pitchFamily="18" charset="0"/>
                <a:cs typeface="Arial" panose="020B0604020202020204" pitchFamily="34" charset="0"/>
              </a:rPr>
              <a:t> mod </a:t>
            </a:r>
            <a:r>
              <a:rPr lang="hy-AM" sz="2200" dirty="0">
                <a:latin typeface="Arial" panose="020B0604020202020204" pitchFamily="34" charset="0"/>
                <a:cs typeface="Arial" panose="020B0604020202020204" pitchFamily="34" charset="0"/>
              </a:rPr>
              <a:t>Փ</a:t>
            </a:r>
            <a:r>
              <a:rPr lang="en-US" sz="2200" dirty="0">
                <a:latin typeface="Bookman Old Style" panose="02050604050505020204" pitchFamily="18" charset="0"/>
                <a:cs typeface="Arial" panose="020B0604020202020204" pitchFamily="34" charset="0"/>
              </a:rPr>
              <a:t>(n) or ed = 1 mod </a:t>
            </a:r>
            <a:r>
              <a:rPr lang="hy-AM" sz="2200" dirty="0">
                <a:latin typeface="Arial" panose="020B0604020202020204" pitchFamily="34" charset="0"/>
                <a:cs typeface="Arial" panose="020B0604020202020204" pitchFamily="34" charset="0"/>
              </a:rPr>
              <a:t>Փ</a:t>
            </a:r>
            <a:r>
              <a:rPr lang="en-US" sz="2200" dirty="0">
                <a:latin typeface="Bookman Old Style" panose="02050604050505020204" pitchFamily="18" charset="0"/>
                <a:cs typeface="Arial" panose="020B0604020202020204" pitchFamily="34" charset="0"/>
              </a:rPr>
              <a:t>(n)</a:t>
            </a:r>
          </a:p>
          <a:p>
            <a:pPr marL="457200" indent="-457200">
              <a:buFont typeface="+mj-lt"/>
              <a:buAutoNum type="arabicPeriod" startAt="5"/>
            </a:pPr>
            <a:r>
              <a:rPr lang="en-US" sz="2200" dirty="0">
                <a:latin typeface="Bookman Old Style" panose="02050604050505020204" pitchFamily="18" charset="0"/>
                <a:cs typeface="Arial" panose="020B0604020202020204" pitchFamily="34" charset="0"/>
              </a:rPr>
              <a:t>Public key = {</a:t>
            </a:r>
            <a:r>
              <a:rPr lang="en-US" sz="2200" dirty="0" err="1">
                <a:latin typeface="Bookman Old Style" panose="02050604050505020204" pitchFamily="18" charset="0"/>
                <a:cs typeface="Arial" panose="020B0604020202020204" pitchFamily="34" charset="0"/>
              </a:rPr>
              <a:t>e,n</a:t>
            </a:r>
            <a:r>
              <a:rPr lang="en-US" sz="2200" dirty="0">
                <a:latin typeface="Bookman Old Style" panose="02050604050505020204" pitchFamily="18" charset="0"/>
                <a:cs typeface="Arial" panose="020B0604020202020204" pitchFamily="34" charset="0"/>
              </a:rPr>
              <a:t>} ; Private key = {</a:t>
            </a:r>
            <a:r>
              <a:rPr lang="en-US" sz="2200" dirty="0" err="1">
                <a:latin typeface="Bookman Old Style" panose="02050604050505020204" pitchFamily="18" charset="0"/>
                <a:cs typeface="Arial" panose="020B0604020202020204" pitchFamily="34" charset="0"/>
              </a:rPr>
              <a:t>d,n</a:t>
            </a:r>
            <a:r>
              <a:rPr lang="en-US" sz="2200" dirty="0">
                <a:latin typeface="Bookman Old Style" panose="02050604050505020204" pitchFamily="18" charset="0"/>
                <a:cs typeface="Arial" panose="020B0604020202020204" pitchFamily="34" charset="0"/>
              </a:rPr>
              <a:t>}</a:t>
            </a:r>
          </a:p>
          <a:p>
            <a:pPr marL="0" indent="0">
              <a:buNone/>
            </a:pPr>
            <a:endParaRPr lang="en-US" sz="2400" dirty="0"/>
          </a:p>
        </p:txBody>
      </p:sp>
      <p:sp>
        <p:nvSpPr>
          <p:cNvPr id="5" name="TextBox 4">
            <a:extLst>
              <a:ext uri="{FF2B5EF4-FFF2-40B4-BE49-F238E27FC236}">
                <a16:creationId xmlns:a16="http://schemas.microsoft.com/office/drawing/2014/main" id="{34C85E38-D80F-44B7-B87B-D531DE8867E3}"/>
              </a:ext>
            </a:extLst>
          </p:cNvPr>
          <p:cNvSpPr txBox="1"/>
          <p:nvPr/>
        </p:nvSpPr>
        <p:spPr>
          <a:xfrm>
            <a:off x="8001485" y="860563"/>
            <a:ext cx="4105834" cy="5170646"/>
          </a:xfrm>
          <a:prstGeom prst="rect">
            <a:avLst/>
          </a:prstGeom>
          <a:noFill/>
          <a:ln>
            <a:solidFill>
              <a:schemeClr val="tx1"/>
            </a:solidFill>
          </a:ln>
        </p:spPr>
        <p:txBody>
          <a:bodyPr wrap="square" rtlCol="0">
            <a:spAutoFit/>
          </a:bodyPr>
          <a:lstStyle/>
          <a:p>
            <a:pPr marL="0" indent="0">
              <a:buNone/>
            </a:pPr>
            <a:r>
              <a:rPr lang="en-US" sz="2200" b="1" dirty="0">
                <a:latin typeface="Bookman Old Style" panose="02050604050505020204" pitchFamily="18" charset="0"/>
              </a:rPr>
              <a:t>7. Encryption: </a:t>
            </a:r>
          </a:p>
          <a:p>
            <a:pPr marL="0" indent="0">
              <a:buNone/>
            </a:pPr>
            <a:endParaRPr lang="en-US" sz="2200" b="1" dirty="0">
              <a:latin typeface="Bookman Old Style" panose="02050604050505020204" pitchFamily="18" charset="0"/>
            </a:endParaRPr>
          </a:p>
          <a:p>
            <a:pPr marL="0" indent="0">
              <a:buNone/>
            </a:pPr>
            <a:r>
              <a:rPr lang="en-US" sz="2200" dirty="0">
                <a:latin typeface="Bookman Old Style" panose="02050604050505020204" pitchFamily="18" charset="0"/>
              </a:rPr>
              <a:t>C = M</a:t>
            </a:r>
            <a:r>
              <a:rPr lang="en-US" sz="2200" baseline="30000" dirty="0">
                <a:latin typeface="Bookman Old Style" panose="02050604050505020204" pitchFamily="18" charset="0"/>
              </a:rPr>
              <a:t>e</a:t>
            </a:r>
            <a:r>
              <a:rPr lang="en-US" sz="2200" dirty="0">
                <a:latin typeface="Bookman Old Style" panose="02050604050505020204" pitchFamily="18" charset="0"/>
              </a:rPr>
              <a:t> mod n, where M&lt;n</a:t>
            </a:r>
          </a:p>
          <a:p>
            <a:pPr marL="0" indent="0">
              <a:buNone/>
            </a:pPr>
            <a:endParaRPr lang="en-US" sz="2200" dirty="0">
              <a:latin typeface="Bookman Old Style" panose="02050604050505020204" pitchFamily="18" charset="0"/>
            </a:endParaRPr>
          </a:p>
          <a:p>
            <a:pPr marL="0" indent="0">
              <a:buNone/>
            </a:pPr>
            <a:r>
              <a:rPr lang="en-US" sz="2200" dirty="0">
                <a:latin typeface="Bookman Old Style" panose="02050604050505020204" pitchFamily="18" charset="0"/>
              </a:rPr>
              <a:t>Where,</a:t>
            </a:r>
          </a:p>
          <a:p>
            <a:pPr marL="0" indent="0">
              <a:buNone/>
            </a:pPr>
            <a:r>
              <a:rPr lang="en-US" sz="2200" dirty="0">
                <a:latin typeface="Bookman Old Style" panose="02050604050505020204" pitchFamily="18" charset="0"/>
              </a:rPr>
              <a:t>C = Ciphertext,</a:t>
            </a:r>
          </a:p>
          <a:p>
            <a:pPr marL="0" indent="0">
              <a:buNone/>
            </a:pPr>
            <a:r>
              <a:rPr lang="en-US" sz="2200" dirty="0">
                <a:latin typeface="Bookman Old Style" panose="02050604050505020204" pitchFamily="18" charset="0"/>
              </a:rPr>
              <a:t>M = Plaintext,</a:t>
            </a:r>
          </a:p>
          <a:p>
            <a:pPr marL="0" indent="0">
              <a:buNone/>
            </a:pPr>
            <a:r>
              <a:rPr lang="en-US" sz="2200" dirty="0">
                <a:latin typeface="Bookman Old Style" panose="02050604050505020204" pitchFamily="18" charset="0"/>
              </a:rPr>
              <a:t>e = Encryption key.</a:t>
            </a:r>
          </a:p>
          <a:p>
            <a:pPr marL="0" indent="0">
              <a:buNone/>
            </a:pPr>
            <a:r>
              <a:rPr lang="en-US" sz="2200" dirty="0">
                <a:latin typeface="Bookman Old Style" panose="02050604050505020204" pitchFamily="18" charset="0"/>
              </a:rPr>
              <a:t>n = Block size ________________________</a:t>
            </a:r>
          </a:p>
          <a:p>
            <a:pPr marL="0" indent="0">
              <a:buNone/>
            </a:pPr>
            <a:endParaRPr lang="en-US" sz="2200" dirty="0">
              <a:latin typeface="Bookman Old Style" panose="02050604050505020204" pitchFamily="18" charset="0"/>
            </a:endParaRPr>
          </a:p>
          <a:p>
            <a:pPr marL="0" indent="0">
              <a:buNone/>
            </a:pPr>
            <a:r>
              <a:rPr lang="en-US" sz="2200" b="1" dirty="0">
                <a:latin typeface="Bookman Old Style" panose="02050604050505020204" pitchFamily="18" charset="0"/>
              </a:rPr>
              <a:t>8. Decryption :</a:t>
            </a:r>
          </a:p>
          <a:p>
            <a:pPr marL="0" indent="0">
              <a:buNone/>
            </a:pPr>
            <a:endParaRPr lang="en-US" sz="2200" b="1" dirty="0">
              <a:latin typeface="Bookman Old Style" panose="02050604050505020204" pitchFamily="18" charset="0"/>
            </a:endParaRPr>
          </a:p>
          <a:p>
            <a:pPr marL="0" indent="0">
              <a:buNone/>
            </a:pPr>
            <a:r>
              <a:rPr lang="en-US" sz="2200" dirty="0">
                <a:latin typeface="Bookman Old Style" panose="02050604050505020204" pitchFamily="18" charset="0"/>
              </a:rPr>
              <a:t>M = C</a:t>
            </a:r>
            <a:r>
              <a:rPr lang="en-US" sz="2200" baseline="30000" dirty="0">
                <a:latin typeface="Bookman Old Style" panose="02050604050505020204" pitchFamily="18" charset="0"/>
              </a:rPr>
              <a:t>d</a:t>
            </a:r>
            <a:r>
              <a:rPr lang="en-US" sz="2200" dirty="0">
                <a:latin typeface="Bookman Old Style" panose="02050604050505020204" pitchFamily="18" charset="0"/>
              </a:rPr>
              <a:t> mod n</a:t>
            </a:r>
          </a:p>
          <a:p>
            <a:pPr marL="0" indent="0">
              <a:buNone/>
            </a:pPr>
            <a:r>
              <a:rPr lang="en-US" sz="2200" dirty="0">
                <a:latin typeface="Bookman Old Style" panose="02050604050505020204" pitchFamily="18" charset="0"/>
              </a:rPr>
              <a:t>Where d = decryption key</a:t>
            </a:r>
          </a:p>
        </p:txBody>
      </p:sp>
    </p:spTree>
    <p:extLst>
      <p:ext uri="{BB962C8B-B14F-4D97-AF65-F5344CB8AC3E}">
        <p14:creationId xmlns:p14="http://schemas.microsoft.com/office/powerpoint/2010/main" val="400393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B18F-B8B8-4C3C-A457-92A404A4C376}"/>
              </a:ext>
            </a:extLst>
          </p:cNvPr>
          <p:cNvSpPr>
            <a:spLocks noGrp="1"/>
          </p:cNvSpPr>
          <p:nvPr>
            <p:ph type="title"/>
          </p:nvPr>
        </p:nvSpPr>
        <p:spPr>
          <a:xfrm>
            <a:off x="98475" y="168812"/>
            <a:ext cx="11255325" cy="512226"/>
          </a:xfrm>
        </p:spPr>
        <p:txBody>
          <a:bodyPr>
            <a:normAutofit fontScale="90000"/>
          </a:bodyPr>
          <a:lstStyle/>
          <a:p>
            <a:r>
              <a:rPr lang="en-US" sz="4400" b="1" dirty="0">
                <a:latin typeface="Bookman Old Style" panose="02050604050505020204" pitchFamily="18" charset="0"/>
              </a:rPr>
              <a:t>RSA Example1</a:t>
            </a:r>
            <a:endParaRPr lang="en-US" dirty="0"/>
          </a:p>
        </p:txBody>
      </p:sp>
      <p:sp>
        <p:nvSpPr>
          <p:cNvPr id="3" name="Content Placeholder 2">
            <a:extLst>
              <a:ext uri="{FF2B5EF4-FFF2-40B4-BE49-F238E27FC236}">
                <a16:creationId xmlns:a16="http://schemas.microsoft.com/office/drawing/2014/main" id="{AC3BC843-A9DE-454B-9FCF-573552DD332A}"/>
              </a:ext>
            </a:extLst>
          </p:cNvPr>
          <p:cNvSpPr>
            <a:spLocks noGrp="1"/>
          </p:cNvSpPr>
          <p:nvPr>
            <p:ph idx="1"/>
          </p:nvPr>
        </p:nvSpPr>
        <p:spPr>
          <a:xfrm>
            <a:off x="98475" y="984738"/>
            <a:ext cx="5997525" cy="5444197"/>
          </a:xfrm>
          <a:ln>
            <a:solidFill>
              <a:schemeClr val="tx1"/>
            </a:solidFill>
          </a:ln>
        </p:spPr>
        <p:txBody>
          <a:bodyPr>
            <a:normAutofit lnSpcReduction="10000"/>
          </a:bodyPr>
          <a:lstStyle/>
          <a:p>
            <a:pPr marL="342900" indent="-342900">
              <a:spcAft>
                <a:spcPts val="1200"/>
              </a:spcAft>
              <a:buFont typeface="+mj-lt"/>
              <a:buAutoNum type="arabicPeriod"/>
            </a:pPr>
            <a:r>
              <a:rPr lang="en-US" sz="1800" dirty="0">
                <a:latin typeface="Bookman Old Style" panose="02050604050505020204" pitchFamily="18" charset="0"/>
              </a:rPr>
              <a:t>Select any two prime numbers p and q where,   p ≠ q.</a:t>
            </a:r>
          </a:p>
          <a:p>
            <a:pPr marL="342900" indent="-342900">
              <a:spcAft>
                <a:spcPts val="1200"/>
              </a:spcAft>
              <a:buFont typeface="+mj-lt"/>
              <a:buAutoNum type="arabicPeriod"/>
            </a:pPr>
            <a:r>
              <a:rPr lang="en-US" sz="1800" dirty="0">
                <a:latin typeface="Bookman Old Style" panose="02050604050505020204" pitchFamily="18" charset="0"/>
              </a:rPr>
              <a:t>Calculate n = p*q.</a:t>
            </a:r>
          </a:p>
          <a:p>
            <a:pPr marL="342900" indent="-342900">
              <a:spcAft>
                <a:spcPts val="1200"/>
              </a:spcAft>
              <a:buFont typeface="+mj-lt"/>
              <a:buAutoNum type="arabicPeriod"/>
            </a:pPr>
            <a:r>
              <a:rPr lang="en-US" sz="1800" dirty="0">
                <a:latin typeface="Bookman Old Style" panose="02050604050505020204" pitchFamily="18" charset="0"/>
              </a:rPr>
              <a:t>Calculate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 (p-1) * (q-1).</a:t>
            </a:r>
          </a:p>
          <a:p>
            <a:pPr marL="457200" indent="-457200">
              <a:spcAft>
                <a:spcPts val="1200"/>
              </a:spcAft>
              <a:buFont typeface="+mj-lt"/>
              <a:buAutoNum type="arabicPeriod"/>
            </a:pPr>
            <a:r>
              <a:rPr lang="en-US" sz="1800" dirty="0">
                <a:latin typeface="Bookman Old Style" panose="02050604050505020204" pitchFamily="18" charset="0"/>
                <a:cs typeface="Arial" panose="020B0604020202020204" pitchFamily="34" charset="0"/>
              </a:rPr>
              <a:t>Select e such that, e is relatively prime to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a:t>
            </a:r>
          </a:p>
          <a:p>
            <a:pPr marL="0" indent="0">
              <a:spcAft>
                <a:spcPts val="1200"/>
              </a:spcAft>
              <a:buNone/>
            </a:pPr>
            <a:r>
              <a:rPr lang="en-US" sz="1800" dirty="0">
                <a:latin typeface="Bookman Old Style" panose="02050604050505020204" pitchFamily="18" charset="0"/>
                <a:cs typeface="Arial" panose="020B0604020202020204" pitchFamily="34" charset="0"/>
              </a:rPr>
              <a:t>	i.e., </a:t>
            </a:r>
            <a:r>
              <a:rPr lang="en-US" sz="1800" dirty="0" err="1">
                <a:latin typeface="Bookman Old Style" panose="02050604050505020204" pitchFamily="18" charset="0"/>
                <a:cs typeface="Arial" panose="020B0604020202020204" pitchFamily="34" charset="0"/>
              </a:rPr>
              <a:t>gcd</a:t>
            </a:r>
            <a:r>
              <a:rPr lang="en-US" sz="1800" dirty="0">
                <a:latin typeface="Bookman Old Style" panose="02050604050505020204" pitchFamily="18" charset="0"/>
                <a:cs typeface="Arial" panose="020B0604020202020204" pitchFamily="34" charset="0"/>
              </a:rPr>
              <a:t>(e,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=1 and 1&lt;e&lt;</a:t>
            </a:r>
            <a:r>
              <a:rPr lang="hy-AM" sz="1800" dirty="0">
                <a:latin typeface="Arial" panose="020B0604020202020204" pitchFamily="34" charset="0"/>
                <a:cs typeface="Arial" panose="020B0604020202020204" pitchFamily="34" charset="0"/>
              </a:rPr>
              <a:t> Փ</a:t>
            </a:r>
            <a:r>
              <a:rPr lang="en-US" sz="1800" dirty="0">
                <a:latin typeface="Bookman Old Style" panose="02050604050505020204" pitchFamily="18" charset="0"/>
                <a:cs typeface="Arial" panose="020B0604020202020204" pitchFamily="34" charset="0"/>
              </a:rPr>
              <a:t>(n)</a:t>
            </a:r>
          </a:p>
          <a:p>
            <a:pPr marL="342900" indent="-342900">
              <a:spcAft>
                <a:spcPts val="1200"/>
              </a:spcAft>
              <a:buFont typeface="+mj-lt"/>
              <a:buAutoNum type="arabicPeriod" startAt="5"/>
            </a:pPr>
            <a:r>
              <a:rPr lang="en-US" sz="1800" dirty="0">
                <a:latin typeface="Bookman Old Style" panose="02050604050505020204" pitchFamily="18" charset="0"/>
                <a:cs typeface="Arial" panose="020B0604020202020204" pitchFamily="34" charset="0"/>
              </a:rPr>
              <a:t>Calculate d = e</a:t>
            </a:r>
            <a:r>
              <a:rPr lang="en-US" sz="1800" baseline="30000" dirty="0">
                <a:latin typeface="Bookman Old Style" panose="02050604050505020204" pitchFamily="18" charset="0"/>
                <a:cs typeface="Arial" panose="020B0604020202020204" pitchFamily="34" charset="0"/>
              </a:rPr>
              <a:t>-1</a:t>
            </a:r>
            <a:r>
              <a:rPr lang="en-US" sz="1800" dirty="0">
                <a:latin typeface="Bookman Old Style" panose="02050604050505020204" pitchFamily="18" charset="0"/>
                <a:cs typeface="Arial" panose="020B0604020202020204" pitchFamily="34" charset="0"/>
              </a:rPr>
              <a:t> mod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or ed = 1 mod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a:t>
            </a:r>
          </a:p>
          <a:p>
            <a:pPr marL="0" indent="0">
              <a:spcAft>
                <a:spcPts val="1200"/>
              </a:spcAft>
              <a:buNone/>
            </a:pPr>
            <a:r>
              <a:rPr lang="en-US" sz="1800" dirty="0">
                <a:latin typeface="Bookman Old Style" panose="02050604050505020204" pitchFamily="18" charset="0"/>
                <a:cs typeface="Arial" panose="020B0604020202020204" pitchFamily="34" charset="0"/>
              </a:rPr>
              <a:t>	d =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 </a:t>
            </a:r>
            <a:r>
              <a:rPr lang="en-US" sz="1800" dirty="0" err="1">
                <a:latin typeface="Bookman Old Style" panose="02050604050505020204" pitchFamily="18" charset="0"/>
                <a:cs typeface="Arial" panose="020B0604020202020204" pitchFamily="34" charset="0"/>
              </a:rPr>
              <a:t>i</a:t>
            </a:r>
            <a:r>
              <a:rPr lang="en-US" sz="1800" dirty="0">
                <a:latin typeface="Bookman Old Style" panose="02050604050505020204" pitchFamily="18" charset="0"/>
                <a:cs typeface="Arial" panose="020B0604020202020204" pitchFamily="34" charset="0"/>
              </a:rPr>
              <a:t>) + 1) / e</a:t>
            </a:r>
          </a:p>
          <a:p>
            <a:pPr marL="0" indent="0">
              <a:spcAft>
                <a:spcPts val="1200"/>
              </a:spcAft>
              <a:buNone/>
            </a:pPr>
            <a:r>
              <a:rPr lang="en-US" sz="1800" dirty="0">
                <a:latin typeface="Bookman Old Style" panose="02050604050505020204" pitchFamily="18" charset="0"/>
                <a:cs typeface="Arial" panose="020B0604020202020204" pitchFamily="34" charset="0"/>
              </a:rPr>
              <a:t>      </a:t>
            </a:r>
            <a:r>
              <a:rPr lang="en-US" sz="1600" dirty="0">
                <a:solidFill>
                  <a:srgbClr val="FF0000"/>
                </a:solidFill>
                <a:latin typeface="Bookman Old Style" panose="02050604050505020204" pitchFamily="18" charset="0"/>
                <a:cs typeface="Arial" panose="020B0604020202020204" pitchFamily="34" charset="0"/>
              </a:rPr>
              <a:t>Stop calculating d when you get a numerical value.</a:t>
            </a:r>
            <a:endParaRPr lang="en-US" sz="1800" dirty="0">
              <a:solidFill>
                <a:srgbClr val="FF0000"/>
              </a:solidFill>
              <a:latin typeface="Bookman Old Style" panose="02050604050505020204" pitchFamily="18" charset="0"/>
              <a:cs typeface="Arial" panose="020B0604020202020204" pitchFamily="34" charset="0"/>
            </a:endParaRPr>
          </a:p>
          <a:p>
            <a:pPr marL="342900" indent="-342900">
              <a:buFont typeface="+mj-lt"/>
              <a:buAutoNum type="arabicPeriod" startAt="5"/>
            </a:pPr>
            <a:endParaRPr lang="en-US" sz="1800" dirty="0">
              <a:latin typeface="Bookman Old Style" panose="02050604050505020204" pitchFamily="18" charset="0"/>
              <a:cs typeface="Arial" panose="020B0604020202020204" pitchFamily="34" charset="0"/>
            </a:endParaRPr>
          </a:p>
          <a:p>
            <a:pPr marL="342900" indent="-342900">
              <a:buFont typeface="+mj-lt"/>
              <a:buAutoNum type="arabicPeriod" startAt="6"/>
            </a:pPr>
            <a:r>
              <a:rPr lang="en-US" sz="1800" dirty="0">
                <a:latin typeface="Bookman Old Style" panose="02050604050505020204" pitchFamily="18" charset="0"/>
              </a:rPr>
              <a:t>Public Key(Pu) = {</a:t>
            </a:r>
            <a:r>
              <a:rPr lang="en-US" sz="1800" dirty="0" err="1">
                <a:latin typeface="Bookman Old Style" panose="02050604050505020204" pitchFamily="18" charset="0"/>
              </a:rPr>
              <a:t>e,n</a:t>
            </a:r>
            <a:r>
              <a:rPr lang="en-US" sz="1800" dirty="0">
                <a:latin typeface="Bookman Old Style" panose="02050604050505020204" pitchFamily="18" charset="0"/>
              </a:rPr>
              <a:t>}</a:t>
            </a:r>
          </a:p>
          <a:p>
            <a:pPr marL="0" indent="0">
              <a:buNone/>
            </a:pPr>
            <a:r>
              <a:rPr lang="en-US" sz="1800" dirty="0">
                <a:latin typeface="Bookman Old Style" panose="02050604050505020204" pitchFamily="18" charset="0"/>
              </a:rPr>
              <a:t>     Private Key(Pk) = {</a:t>
            </a:r>
            <a:r>
              <a:rPr lang="en-US" sz="1800" dirty="0" err="1">
                <a:latin typeface="Bookman Old Style" panose="02050604050505020204" pitchFamily="18" charset="0"/>
              </a:rPr>
              <a:t>d,n</a:t>
            </a:r>
            <a:r>
              <a:rPr lang="en-US" sz="1800" dirty="0">
                <a:latin typeface="Bookman Old Style" panose="02050604050505020204" pitchFamily="18" charset="0"/>
              </a:rPr>
              <a:t>}</a:t>
            </a:r>
          </a:p>
          <a:p>
            <a:pPr marL="342900" indent="-342900">
              <a:buFont typeface="+mj-lt"/>
              <a:buAutoNum type="arabicPeriod" startAt="5"/>
            </a:pPr>
            <a:endParaRPr lang="en-US" sz="1800" dirty="0">
              <a:latin typeface="Bookman Old Style" panose="02050604050505020204" pitchFamily="18" charset="0"/>
            </a:endParaRPr>
          </a:p>
          <a:p>
            <a:endParaRPr lang="en-US" dirty="0"/>
          </a:p>
        </p:txBody>
      </p:sp>
      <p:sp>
        <p:nvSpPr>
          <p:cNvPr id="4" name="TextBox 3">
            <a:extLst>
              <a:ext uri="{FF2B5EF4-FFF2-40B4-BE49-F238E27FC236}">
                <a16:creationId xmlns:a16="http://schemas.microsoft.com/office/drawing/2014/main" id="{9EE1ECB1-9978-419B-A59F-2EB5ACA6FE7B}"/>
              </a:ext>
            </a:extLst>
          </p:cNvPr>
          <p:cNvSpPr txBox="1"/>
          <p:nvPr/>
        </p:nvSpPr>
        <p:spPr>
          <a:xfrm>
            <a:off x="6808763" y="1899138"/>
            <a:ext cx="5050302" cy="4304714"/>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B5F1808A-7570-41FD-9CCF-EE51CE481A7A}"/>
              </a:ext>
            </a:extLst>
          </p:cNvPr>
          <p:cNvSpPr txBox="1"/>
          <p:nvPr/>
        </p:nvSpPr>
        <p:spPr>
          <a:xfrm>
            <a:off x="6485212" y="984738"/>
            <a:ext cx="5373859" cy="5355312"/>
          </a:xfrm>
          <a:prstGeom prst="rect">
            <a:avLst/>
          </a:prstGeom>
          <a:noFill/>
          <a:ln>
            <a:solidFill>
              <a:schemeClr val="tx1"/>
            </a:solidFill>
          </a:ln>
        </p:spPr>
        <p:txBody>
          <a:bodyPr wrap="square" rtlCol="0">
            <a:spAutoFit/>
          </a:bodyPr>
          <a:lstStyle/>
          <a:p>
            <a:pPr marL="342900" indent="-342900">
              <a:spcBef>
                <a:spcPts val="1200"/>
              </a:spcBef>
              <a:spcAft>
                <a:spcPts val="1200"/>
              </a:spcAft>
              <a:buFont typeface="+mj-lt"/>
              <a:buAutoNum type="arabicPeriod"/>
            </a:pPr>
            <a:r>
              <a:rPr lang="en-US" sz="1800" dirty="0">
                <a:latin typeface="Bookman Old Style" panose="02050604050505020204" pitchFamily="18" charset="0"/>
              </a:rPr>
              <a:t>p = 13, q = 11</a:t>
            </a:r>
          </a:p>
          <a:p>
            <a:pPr marL="342900" indent="-342900">
              <a:spcBef>
                <a:spcPts val="1200"/>
              </a:spcBef>
              <a:spcAft>
                <a:spcPts val="1200"/>
              </a:spcAft>
              <a:buFont typeface="+mj-lt"/>
              <a:buAutoNum type="arabicPeriod"/>
            </a:pPr>
            <a:r>
              <a:rPr lang="en-US" dirty="0">
                <a:latin typeface="Bookman Old Style" panose="02050604050505020204" pitchFamily="18" charset="0"/>
              </a:rPr>
              <a:t>n = 13*11 = 143</a:t>
            </a:r>
          </a:p>
          <a:p>
            <a:pPr marL="342900" indent="-342900">
              <a:spcBef>
                <a:spcPts val="1200"/>
              </a:spcBef>
              <a:spcAft>
                <a:spcPts val="1200"/>
              </a:spcAft>
              <a:buFont typeface="+mj-lt"/>
              <a:buAutoNum type="arabicPeriod" startAt="3"/>
            </a:pP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 (13-1) * (11-1) = 12*10 = 120</a:t>
            </a:r>
          </a:p>
          <a:p>
            <a:pPr marL="342900" indent="-342900">
              <a:spcBef>
                <a:spcPts val="1200"/>
              </a:spcBef>
              <a:spcAft>
                <a:spcPts val="1200"/>
              </a:spcAft>
              <a:buFont typeface="+mj-lt"/>
              <a:buAutoNum type="arabicPeriod" startAt="3"/>
            </a:pPr>
            <a:r>
              <a:rPr lang="en-US" dirty="0">
                <a:latin typeface="Bookman Old Style" panose="02050604050505020204" pitchFamily="18" charset="0"/>
                <a:cs typeface="Arial" panose="020B0604020202020204" pitchFamily="34" charset="0"/>
              </a:rPr>
              <a:t>Select e =13 ; </a:t>
            </a:r>
            <a:r>
              <a:rPr lang="en-US" dirty="0" err="1">
                <a:latin typeface="Bookman Old Style" panose="02050604050505020204" pitchFamily="18" charset="0"/>
                <a:cs typeface="Arial" panose="020B0604020202020204" pitchFamily="34" charset="0"/>
              </a:rPr>
              <a:t>gcd</a:t>
            </a:r>
            <a:r>
              <a:rPr lang="en-US" dirty="0">
                <a:latin typeface="Bookman Old Style" panose="02050604050505020204" pitchFamily="18" charset="0"/>
                <a:cs typeface="Arial" panose="020B0604020202020204" pitchFamily="34" charset="0"/>
              </a:rPr>
              <a:t>(13,120) =1</a:t>
            </a:r>
          </a:p>
          <a:p>
            <a:pPr marL="342900" indent="-342900">
              <a:spcBef>
                <a:spcPts val="1200"/>
              </a:spcBef>
              <a:spcAft>
                <a:spcPts val="1200"/>
              </a:spcAft>
              <a:buFont typeface="+mj-lt"/>
              <a:buAutoNum type="arabicPeriod" startAt="3"/>
            </a:pPr>
            <a:endParaRPr lang="en-US" sz="1800" dirty="0">
              <a:latin typeface="Bookman Old Style" panose="02050604050505020204" pitchFamily="18" charset="0"/>
              <a:cs typeface="Arial" panose="020B0604020202020204" pitchFamily="34" charset="0"/>
            </a:endParaRPr>
          </a:p>
          <a:p>
            <a:pPr marL="342900" indent="-342900">
              <a:buFont typeface="+mj-lt"/>
              <a:buAutoNum type="arabicPeriod" startAt="3"/>
            </a:pPr>
            <a:r>
              <a:rPr lang="en-US" sz="1800" dirty="0">
                <a:latin typeface="Bookman Old Style" panose="02050604050505020204" pitchFamily="18" charset="0"/>
                <a:cs typeface="Arial" panose="020B0604020202020204" pitchFamily="34" charset="0"/>
              </a:rPr>
              <a:t>d = ((</a:t>
            </a:r>
            <a:r>
              <a:rPr lang="hy-AM" sz="1800" dirty="0">
                <a:latin typeface="Arial" panose="020B0604020202020204" pitchFamily="34" charset="0"/>
                <a:cs typeface="Arial" panose="020B0604020202020204" pitchFamily="34" charset="0"/>
              </a:rPr>
              <a:t>Փ</a:t>
            </a:r>
            <a:r>
              <a:rPr lang="en-US" sz="1800" dirty="0">
                <a:latin typeface="Bookman Old Style" panose="02050604050505020204" pitchFamily="18" charset="0"/>
                <a:cs typeface="Arial" panose="020B0604020202020204" pitchFamily="34" charset="0"/>
              </a:rPr>
              <a:t>(n) * </a:t>
            </a:r>
            <a:r>
              <a:rPr lang="en-US" sz="1800" dirty="0" err="1">
                <a:latin typeface="Bookman Old Style" panose="02050604050505020204" pitchFamily="18" charset="0"/>
                <a:cs typeface="Arial" panose="020B0604020202020204" pitchFamily="34" charset="0"/>
              </a:rPr>
              <a:t>i</a:t>
            </a:r>
            <a:r>
              <a:rPr lang="en-US" sz="1800" dirty="0">
                <a:latin typeface="Bookman Old Style" panose="02050604050505020204" pitchFamily="18" charset="0"/>
                <a:cs typeface="Arial" panose="020B0604020202020204" pitchFamily="34" charset="0"/>
              </a:rPr>
              <a:t>) + 1) / e</a:t>
            </a:r>
          </a:p>
          <a:p>
            <a:r>
              <a:rPr lang="en-US" dirty="0">
                <a:latin typeface="Bookman Old Style" panose="02050604050505020204" pitchFamily="18" charset="0"/>
                <a:cs typeface="Arial" panose="020B0604020202020204" pitchFamily="34" charset="0"/>
              </a:rPr>
              <a:t>     d = (120 * 1) + 1) / 13 = </a:t>
            </a:r>
            <a:r>
              <a:rPr lang="en-US" dirty="0">
                <a:solidFill>
                  <a:srgbClr val="FF0000"/>
                </a:solidFill>
                <a:latin typeface="Bookman Old Style" panose="02050604050505020204" pitchFamily="18" charset="0"/>
                <a:cs typeface="Arial" panose="020B0604020202020204" pitchFamily="34" charset="0"/>
              </a:rPr>
              <a:t>9.3</a:t>
            </a:r>
            <a:r>
              <a:rPr lang="en-US" dirty="0">
                <a:latin typeface="Bookman Old Style" panose="02050604050505020204" pitchFamily="18" charset="0"/>
                <a:cs typeface="Arial" panose="020B0604020202020204" pitchFamily="34" charset="0"/>
              </a:rPr>
              <a:t> (for </a:t>
            </a:r>
            <a:r>
              <a:rPr lang="en-US" dirty="0" err="1">
                <a:latin typeface="Bookman Old Style" panose="02050604050505020204" pitchFamily="18" charset="0"/>
                <a:cs typeface="Arial" panose="020B0604020202020204" pitchFamily="34" charset="0"/>
              </a:rPr>
              <a:t>i</a:t>
            </a:r>
            <a:r>
              <a:rPr lang="en-US" dirty="0">
                <a:latin typeface="Bookman Old Style" panose="02050604050505020204" pitchFamily="18" charset="0"/>
                <a:cs typeface="Arial" panose="020B0604020202020204" pitchFamily="34" charset="0"/>
              </a:rPr>
              <a:t> =1)</a:t>
            </a:r>
          </a:p>
          <a:p>
            <a:r>
              <a:rPr lang="en-US" dirty="0">
                <a:latin typeface="Bookman Old Style" panose="02050604050505020204" pitchFamily="18" charset="0"/>
                <a:cs typeface="Arial" panose="020B0604020202020204" pitchFamily="34" charset="0"/>
              </a:rPr>
              <a:t>     d = (120 * 2) + 1) / 13 = </a:t>
            </a:r>
            <a:r>
              <a:rPr lang="en-US" dirty="0">
                <a:solidFill>
                  <a:srgbClr val="FF0000"/>
                </a:solidFill>
                <a:latin typeface="Bookman Old Style" panose="02050604050505020204" pitchFamily="18" charset="0"/>
                <a:cs typeface="Arial" panose="020B0604020202020204" pitchFamily="34" charset="0"/>
              </a:rPr>
              <a:t>18.5</a:t>
            </a:r>
            <a:r>
              <a:rPr lang="en-US" dirty="0">
                <a:latin typeface="Bookman Old Style" panose="02050604050505020204" pitchFamily="18" charset="0"/>
                <a:cs typeface="Arial" panose="020B0604020202020204" pitchFamily="34" charset="0"/>
              </a:rPr>
              <a:t> (for </a:t>
            </a:r>
            <a:r>
              <a:rPr lang="en-US" dirty="0" err="1">
                <a:latin typeface="Bookman Old Style" panose="02050604050505020204" pitchFamily="18" charset="0"/>
                <a:cs typeface="Arial" panose="020B0604020202020204" pitchFamily="34" charset="0"/>
              </a:rPr>
              <a:t>i</a:t>
            </a:r>
            <a:r>
              <a:rPr lang="en-US" dirty="0">
                <a:latin typeface="Bookman Old Style" panose="02050604050505020204" pitchFamily="18" charset="0"/>
                <a:cs typeface="Arial" panose="020B0604020202020204" pitchFamily="34" charset="0"/>
              </a:rPr>
              <a:t>=2)</a:t>
            </a:r>
          </a:p>
          <a:p>
            <a:r>
              <a:rPr lang="en-US" dirty="0">
                <a:latin typeface="Bookman Old Style" panose="02050604050505020204" pitchFamily="18" charset="0"/>
                <a:cs typeface="Arial" panose="020B0604020202020204" pitchFamily="34" charset="0"/>
              </a:rPr>
              <a:t>     d = (120 * 3) + 1) / 13 = </a:t>
            </a:r>
            <a:r>
              <a:rPr lang="en-US" dirty="0">
                <a:solidFill>
                  <a:srgbClr val="FF0000"/>
                </a:solidFill>
                <a:latin typeface="Bookman Old Style" panose="02050604050505020204" pitchFamily="18" charset="0"/>
                <a:cs typeface="Arial" panose="020B0604020202020204" pitchFamily="34" charset="0"/>
              </a:rPr>
              <a:t>27.7</a:t>
            </a:r>
            <a:r>
              <a:rPr lang="en-US" dirty="0">
                <a:latin typeface="Bookman Old Style" panose="02050604050505020204" pitchFamily="18" charset="0"/>
                <a:cs typeface="Arial" panose="020B0604020202020204" pitchFamily="34" charset="0"/>
              </a:rPr>
              <a:t> (for </a:t>
            </a:r>
            <a:r>
              <a:rPr lang="en-US" dirty="0" err="1">
                <a:latin typeface="Bookman Old Style" panose="02050604050505020204" pitchFamily="18" charset="0"/>
                <a:cs typeface="Arial" panose="020B0604020202020204" pitchFamily="34" charset="0"/>
              </a:rPr>
              <a:t>i</a:t>
            </a:r>
            <a:r>
              <a:rPr lang="en-US" dirty="0">
                <a:latin typeface="Bookman Old Style" panose="02050604050505020204" pitchFamily="18" charset="0"/>
                <a:cs typeface="Arial" panose="020B0604020202020204" pitchFamily="34" charset="0"/>
              </a:rPr>
              <a:t>=3)</a:t>
            </a:r>
          </a:p>
          <a:p>
            <a:r>
              <a:rPr lang="en-US" dirty="0">
                <a:latin typeface="Bookman Old Style" panose="02050604050505020204" pitchFamily="18" charset="0"/>
                <a:cs typeface="Arial" panose="020B0604020202020204" pitchFamily="34" charset="0"/>
              </a:rPr>
              <a:t>     d = (120 * 4) + 1) / 13 = </a:t>
            </a:r>
            <a:r>
              <a:rPr lang="en-US" dirty="0">
                <a:solidFill>
                  <a:srgbClr val="0070C0"/>
                </a:solidFill>
                <a:latin typeface="Bookman Old Style" panose="02050604050505020204" pitchFamily="18" charset="0"/>
                <a:cs typeface="Arial" panose="020B0604020202020204" pitchFamily="34" charset="0"/>
              </a:rPr>
              <a:t>37</a:t>
            </a:r>
            <a:r>
              <a:rPr lang="en-US" dirty="0">
                <a:latin typeface="Bookman Old Style" panose="02050604050505020204" pitchFamily="18" charset="0"/>
                <a:cs typeface="Arial" panose="020B0604020202020204" pitchFamily="34" charset="0"/>
              </a:rPr>
              <a:t> (for </a:t>
            </a:r>
            <a:r>
              <a:rPr lang="en-US" dirty="0" err="1">
                <a:latin typeface="Bookman Old Style" panose="02050604050505020204" pitchFamily="18" charset="0"/>
                <a:cs typeface="Arial" panose="020B0604020202020204" pitchFamily="34" charset="0"/>
              </a:rPr>
              <a:t>i</a:t>
            </a:r>
            <a:r>
              <a:rPr lang="en-US" dirty="0">
                <a:latin typeface="Bookman Old Style" panose="02050604050505020204" pitchFamily="18" charset="0"/>
                <a:cs typeface="Arial" panose="020B0604020202020204" pitchFamily="34" charset="0"/>
              </a:rPr>
              <a:t> = 4)</a:t>
            </a:r>
          </a:p>
          <a:p>
            <a:r>
              <a:rPr lang="en-US" dirty="0">
                <a:latin typeface="Bookman Old Style" panose="02050604050505020204" pitchFamily="18" charset="0"/>
                <a:cs typeface="Arial" panose="020B0604020202020204" pitchFamily="34" charset="0"/>
              </a:rPr>
              <a:t>    Therefore </a:t>
            </a:r>
            <a:r>
              <a:rPr lang="en-US" dirty="0">
                <a:solidFill>
                  <a:srgbClr val="0070C0"/>
                </a:solidFill>
                <a:latin typeface="Bookman Old Style" panose="02050604050505020204" pitchFamily="18" charset="0"/>
                <a:cs typeface="Arial" panose="020B0604020202020204" pitchFamily="34" charset="0"/>
              </a:rPr>
              <a:t>d = 37</a:t>
            </a:r>
          </a:p>
          <a:p>
            <a:pPr marL="342900" indent="-342900">
              <a:buFont typeface="+mj-lt"/>
              <a:buAutoNum type="arabicPeriod"/>
            </a:pPr>
            <a:endParaRPr lang="en-US" sz="1800" dirty="0">
              <a:latin typeface="Bookman Old Style" panose="02050604050505020204" pitchFamily="18" charset="0"/>
            </a:endParaRPr>
          </a:p>
          <a:p>
            <a:pPr marL="342900" indent="-342900">
              <a:buFont typeface="+mj-lt"/>
              <a:buAutoNum type="arabicPeriod" startAt="6"/>
            </a:pPr>
            <a:r>
              <a:rPr lang="en-US" dirty="0">
                <a:latin typeface="Bookman Old Style" panose="02050604050505020204" pitchFamily="18" charset="0"/>
              </a:rPr>
              <a:t>Public Key(Pu) = {13,143}</a:t>
            </a:r>
          </a:p>
          <a:p>
            <a:r>
              <a:rPr lang="en-US" sz="1800" dirty="0">
                <a:latin typeface="Bookman Old Style" panose="02050604050505020204" pitchFamily="18" charset="0"/>
              </a:rPr>
              <a:t>     Private Key(Pk) = {37,143}</a:t>
            </a:r>
          </a:p>
        </p:txBody>
      </p:sp>
    </p:spTree>
    <p:extLst>
      <p:ext uri="{BB962C8B-B14F-4D97-AF65-F5344CB8AC3E}">
        <p14:creationId xmlns:p14="http://schemas.microsoft.com/office/powerpoint/2010/main" val="154844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 calcmode="lin" valueType="num">
                                      <p:cBhvr additive="base">
                                        <p:cTn id="2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 calcmode="lin" valueType="num">
                                      <p:cBhvr additive="base">
                                        <p:cTn id="3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additive="base">
                                        <p:cTn id="4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xEl>
                                              <p:pRg st="3" end="3"/>
                                            </p:txEl>
                                          </p:spTgt>
                                        </p:tgtEl>
                                        <p:attrNameLst>
                                          <p:attrName>style.visibility</p:attrName>
                                        </p:attrNameLst>
                                      </p:cBhvr>
                                      <p:to>
                                        <p:strVal val="visible"/>
                                      </p:to>
                                    </p:set>
                                    <p:anim calcmode="lin" valueType="num">
                                      <p:cBhvr additive="base">
                                        <p:cTn id="5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 calcmode="lin" valueType="num">
                                      <p:cBhvr additive="base">
                                        <p:cTn id="5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 calcmode="lin" valueType="num">
                                      <p:cBhvr additive="base">
                                        <p:cTn id="6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anim calcmode="lin" valueType="num">
                                      <p:cBhvr additive="base">
                                        <p:cTn id="6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5" end="5"/>
                                            </p:txEl>
                                          </p:spTgt>
                                        </p:tgtEl>
                                        <p:attrNameLst>
                                          <p:attrName>style.visibility</p:attrName>
                                        </p:attrNameLst>
                                      </p:cBhvr>
                                      <p:to>
                                        <p:strVal val="visible"/>
                                      </p:to>
                                    </p:set>
                                    <p:anim calcmode="lin" valueType="num">
                                      <p:cBhvr additive="base">
                                        <p:cTn id="7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
                                            <p:txEl>
                                              <p:pRg st="6" end="6"/>
                                            </p:txEl>
                                          </p:spTgt>
                                        </p:tgtEl>
                                        <p:attrNameLst>
                                          <p:attrName>style.visibility</p:attrName>
                                        </p:attrNameLst>
                                      </p:cBhvr>
                                      <p:to>
                                        <p:strVal val="visible"/>
                                      </p:to>
                                    </p:set>
                                    <p:anim calcmode="lin" valueType="num">
                                      <p:cBhvr additive="base">
                                        <p:cTn id="7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5">
                                            <p:txEl>
                                              <p:pRg st="7" end="7"/>
                                            </p:txEl>
                                          </p:spTgt>
                                        </p:tgtEl>
                                        <p:attrNameLst>
                                          <p:attrName>style.visibility</p:attrName>
                                        </p:attrNameLst>
                                      </p:cBhvr>
                                      <p:to>
                                        <p:strVal val="visible"/>
                                      </p:to>
                                    </p:set>
                                    <p:anim calcmode="lin" valueType="num">
                                      <p:cBhvr additive="base">
                                        <p:cTn id="8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5">
                                            <p:txEl>
                                              <p:pRg st="8" end="8"/>
                                            </p:txEl>
                                          </p:spTgt>
                                        </p:tgtEl>
                                        <p:attrNameLst>
                                          <p:attrName>style.visibility</p:attrName>
                                        </p:attrNameLst>
                                      </p:cBhvr>
                                      <p:to>
                                        <p:strVal val="visible"/>
                                      </p:to>
                                    </p:set>
                                    <p:anim calcmode="lin" valueType="num">
                                      <p:cBhvr additive="base">
                                        <p:cTn id="8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5">
                                            <p:txEl>
                                              <p:pRg st="9" end="9"/>
                                            </p:txEl>
                                          </p:spTgt>
                                        </p:tgtEl>
                                        <p:attrNameLst>
                                          <p:attrName>style.visibility</p:attrName>
                                        </p:attrNameLst>
                                      </p:cBhvr>
                                      <p:to>
                                        <p:strVal val="visible"/>
                                      </p:to>
                                    </p:set>
                                    <p:anim calcmode="lin" valueType="num">
                                      <p:cBhvr additive="base">
                                        <p:cTn id="95"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5">
                                            <p:txEl>
                                              <p:pRg st="10" end="10"/>
                                            </p:txEl>
                                          </p:spTgt>
                                        </p:tgtEl>
                                        <p:attrNameLst>
                                          <p:attrName>style.visibility</p:attrName>
                                        </p:attrNameLst>
                                      </p:cBhvr>
                                      <p:to>
                                        <p:strVal val="visible"/>
                                      </p:to>
                                    </p:set>
                                    <p:anim calcmode="lin" valueType="num">
                                      <p:cBhvr additive="base">
                                        <p:cTn id="10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3">
                                            <p:txEl>
                                              <p:pRg st="9" end="9"/>
                                            </p:txEl>
                                          </p:spTgt>
                                        </p:tgtEl>
                                        <p:attrNameLst>
                                          <p:attrName>style.visibility</p:attrName>
                                        </p:attrNameLst>
                                      </p:cBhvr>
                                      <p:to>
                                        <p:strVal val="visible"/>
                                      </p:to>
                                    </p:set>
                                    <p:anim calcmode="lin" valueType="num">
                                      <p:cBhvr additive="base">
                                        <p:cTn id="10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
                                            <p:txEl>
                                              <p:pRg st="10" end="10"/>
                                            </p:txEl>
                                          </p:spTgt>
                                        </p:tgtEl>
                                        <p:attrNameLst>
                                          <p:attrName>style.visibility</p:attrName>
                                        </p:attrNameLst>
                                      </p:cBhvr>
                                      <p:to>
                                        <p:strVal val="visible"/>
                                      </p:to>
                                    </p:set>
                                    <p:anim calcmode="lin" valueType="num">
                                      <p:cBhvr additive="base">
                                        <p:cTn id="1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5">
                                            <p:txEl>
                                              <p:pRg st="12" end="12"/>
                                            </p:txEl>
                                          </p:spTgt>
                                        </p:tgtEl>
                                        <p:attrNameLst>
                                          <p:attrName>style.visibility</p:attrName>
                                        </p:attrNameLst>
                                      </p:cBhvr>
                                      <p:to>
                                        <p:strVal val="visible"/>
                                      </p:to>
                                    </p:set>
                                    <p:anim calcmode="lin" valueType="num">
                                      <p:cBhvr additive="base">
                                        <p:cTn id="11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5">
                                            <p:txEl>
                                              <p:pRg st="12" end="12"/>
                                            </p:txEl>
                                          </p:spTgt>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5">
                                            <p:txEl>
                                              <p:pRg st="13" end="13"/>
                                            </p:txEl>
                                          </p:spTgt>
                                        </p:tgtEl>
                                        <p:attrNameLst>
                                          <p:attrName>style.visibility</p:attrName>
                                        </p:attrNameLst>
                                      </p:cBhvr>
                                      <p:to>
                                        <p:strVal val="visible"/>
                                      </p:to>
                                    </p:set>
                                    <p:anim calcmode="lin" valueType="num">
                                      <p:cBhvr additive="base">
                                        <p:cTn id="121"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B18F-B8B8-4C3C-A457-92A404A4C376}"/>
              </a:ext>
            </a:extLst>
          </p:cNvPr>
          <p:cNvSpPr>
            <a:spLocks noGrp="1"/>
          </p:cNvSpPr>
          <p:nvPr>
            <p:ph type="title"/>
          </p:nvPr>
        </p:nvSpPr>
        <p:spPr>
          <a:xfrm>
            <a:off x="98475" y="168812"/>
            <a:ext cx="11255325" cy="512226"/>
          </a:xfrm>
        </p:spPr>
        <p:txBody>
          <a:bodyPr>
            <a:noAutofit/>
          </a:bodyPr>
          <a:lstStyle/>
          <a:p>
            <a:r>
              <a:rPr lang="en-US" sz="3200" b="1" dirty="0">
                <a:latin typeface="Bookman Old Style" panose="02050604050505020204" pitchFamily="18" charset="0"/>
              </a:rPr>
              <a:t>RSA Example1</a:t>
            </a:r>
          </a:p>
        </p:txBody>
      </p:sp>
      <p:sp>
        <p:nvSpPr>
          <p:cNvPr id="3" name="Content Placeholder 2">
            <a:extLst>
              <a:ext uri="{FF2B5EF4-FFF2-40B4-BE49-F238E27FC236}">
                <a16:creationId xmlns:a16="http://schemas.microsoft.com/office/drawing/2014/main" id="{AC3BC843-A9DE-454B-9FCF-573552DD332A}"/>
              </a:ext>
            </a:extLst>
          </p:cNvPr>
          <p:cNvSpPr>
            <a:spLocks noGrp="1"/>
          </p:cNvSpPr>
          <p:nvPr>
            <p:ph idx="1"/>
          </p:nvPr>
        </p:nvSpPr>
        <p:spPr>
          <a:xfrm>
            <a:off x="98475" y="984739"/>
            <a:ext cx="5997525" cy="4462760"/>
          </a:xfrm>
          <a:ln>
            <a:solidFill>
              <a:schemeClr val="tx1"/>
            </a:solidFill>
          </a:ln>
        </p:spPr>
        <p:txBody>
          <a:bodyPr>
            <a:normAutofit/>
          </a:bodyPr>
          <a:lstStyle/>
          <a:p>
            <a:pPr marL="0" indent="0">
              <a:buNone/>
            </a:pPr>
            <a:r>
              <a:rPr lang="en-US" sz="1800" b="1" dirty="0">
                <a:latin typeface="Bookman Old Style" panose="02050604050505020204" pitchFamily="18" charset="0"/>
              </a:rPr>
              <a:t>7. Encryption: </a:t>
            </a:r>
          </a:p>
          <a:p>
            <a:pPr marL="0" indent="0">
              <a:buNone/>
            </a:pPr>
            <a:r>
              <a:rPr lang="en-US" sz="1800" dirty="0">
                <a:latin typeface="Bookman Old Style" panose="02050604050505020204" pitchFamily="18" charset="0"/>
              </a:rPr>
              <a:t>	C = M</a:t>
            </a:r>
            <a:r>
              <a:rPr lang="en-US" sz="1800" baseline="30000" dirty="0">
                <a:latin typeface="Bookman Old Style" panose="02050604050505020204" pitchFamily="18" charset="0"/>
              </a:rPr>
              <a:t>e</a:t>
            </a:r>
            <a:r>
              <a:rPr lang="en-US" sz="1800" dirty="0">
                <a:latin typeface="Bookman Old Style" panose="02050604050505020204" pitchFamily="18" charset="0"/>
              </a:rPr>
              <a:t> mod n, where M&lt;n</a:t>
            </a:r>
          </a:p>
          <a:p>
            <a:pPr marL="0" indent="0">
              <a:buNone/>
            </a:pPr>
            <a:endParaRPr lang="en-US" sz="1800" dirty="0">
              <a:latin typeface="Bookman Old Style" panose="02050604050505020204" pitchFamily="18" charset="0"/>
            </a:endParaRPr>
          </a:p>
          <a:p>
            <a:pPr marL="0" indent="0">
              <a:buNone/>
            </a:pPr>
            <a:endParaRPr lang="en-US" sz="1800" dirty="0">
              <a:latin typeface="Bookman Old Style" panose="02050604050505020204" pitchFamily="18" charset="0"/>
            </a:endParaRPr>
          </a:p>
          <a:p>
            <a:pPr marL="0" indent="0">
              <a:buNone/>
            </a:pPr>
            <a:endParaRPr lang="en-US" sz="1800" dirty="0">
              <a:latin typeface="Bookman Old Style" panose="02050604050505020204" pitchFamily="18" charset="0"/>
            </a:endParaRPr>
          </a:p>
          <a:p>
            <a:pPr marL="0" indent="0">
              <a:buNone/>
            </a:pPr>
            <a:endParaRPr lang="en-US" sz="1800" dirty="0">
              <a:latin typeface="Bookman Old Style" panose="02050604050505020204" pitchFamily="18" charset="0"/>
            </a:endParaRPr>
          </a:p>
          <a:p>
            <a:pPr marL="0" indent="0">
              <a:buNone/>
            </a:pPr>
            <a:r>
              <a:rPr lang="en-US" sz="1800" b="1" dirty="0">
                <a:latin typeface="Bookman Old Style" panose="02050604050505020204" pitchFamily="18" charset="0"/>
              </a:rPr>
              <a:t>8. Decryption :</a:t>
            </a:r>
          </a:p>
          <a:p>
            <a:pPr marL="0" indent="0">
              <a:buNone/>
            </a:pPr>
            <a:r>
              <a:rPr lang="en-US" sz="1800" dirty="0">
                <a:latin typeface="Bookman Old Style" panose="02050604050505020204" pitchFamily="18" charset="0"/>
              </a:rPr>
              <a:t>	M = C</a:t>
            </a:r>
            <a:r>
              <a:rPr lang="en-US" sz="1800" baseline="30000" dirty="0">
                <a:latin typeface="Bookman Old Style" panose="02050604050505020204" pitchFamily="18" charset="0"/>
              </a:rPr>
              <a:t>d</a:t>
            </a:r>
            <a:r>
              <a:rPr lang="en-US" sz="1800" dirty="0">
                <a:latin typeface="Bookman Old Style" panose="02050604050505020204" pitchFamily="18" charset="0"/>
              </a:rPr>
              <a:t> mod n</a:t>
            </a:r>
          </a:p>
          <a:p>
            <a:pPr marL="0" indent="0">
              <a:buNone/>
            </a:pPr>
            <a:endParaRPr lang="en-US" sz="1800" dirty="0">
              <a:latin typeface="Bookman Old Style" panose="02050604050505020204" pitchFamily="18" charset="0"/>
            </a:endParaRPr>
          </a:p>
          <a:p>
            <a:pPr marL="0" indent="0">
              <a:spcAft>
                <a:spcPts val="1200"/>
              </a:spcAft>
              <a:buNone/>
            </a:pPr>
            <a:r>
              <a:rPr lang="en-US" sz="1800" dirty="0">
                <a:latin typeface="Bookman Old Style" panose="02050604050505020204" pitchFamily="18" charset="0"/>
              </a:rPr>
              <a:t>	</a:t>
            </a:r>
          </a:p>
        </p:txBody>
      </p:sp>
      <p:sp>
        <p:nvSpPr>
          <p:cNvPr id="4" name="TextBox 3">
            <a:extLst>
              <a:ext uri="{FF2B5EF4-FFF2-40B4-BE49-F238E27FC236}">
                <a16:creationId xmlns:a16="http://schemas.microsoft.com/office/drawing/2014/main" id="{9EE1ECB1-9978-419B-A59F-2EB5ACA6FE7B}"/>
              </a:ext>
            </a:extLst>
          </p:cNvPr>
          <p:cNvSpPr txBox="1"/>
          <p:nvPr/>
        </p:nvSpPr>
        <p:spPr>
          <a:xfrm>
            <a:off x="6808763" y="1899138"/>
            <a:ext cx="5050302" cy="4304714"/>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B5F1808A-7570-41FD-9CCF-EE51CE481A7A}"/>
              </a:ext>
            </a:extLst>
          </p:cNvPr>
          <p:cNvSpPr txBox="1"/>
          <p:nvPr/>
        </p:nvSpPr>
        <p:spPr>
          <a:xfrm>
            <a:off x="6485212" y="984738"/>
            <a:ext cx="5373859" cy="4462760"/>
          </a:xfrm>
          <a:prstGeom prst="rect">
            <a:avLst/>
          </a:prstGeom>
          <a:noFill/>
          <a:ln>
            <a:solidFill>
              <a:schemeClr val="tx1"/>
            </a:solidFill>
          </a:ln>
        </p:spPr>
        <p:txBody>
          <a:bodyPr wrap="square" rtlCol="0">
            <a:spAutoFit/>
          </a:bodyPr>
          <a:lstStyle/>
          <a:p>
            <a:pPr marL="342900" indent="-342900">
              <a:spcBef>
                <a:spcPts val="1200"/>
              </a:spcBef>
              <a:spcAft>
                <a:spcPts val="1200"/>
              </a:spcAft>
              <a:buFont typeface="+mj-lt"/>
              <a:buAutoNum type="arabicPeriod" startAt="7"/>
            </a:pPr>
            <a:r>
              <a:rPr lang="en-US" b="1" dirty="0">
                <a:latin typeface="Bookman Old Style" panose="02050604050505020204" pitchFamily="18" charset="0"/>
              </a:rPr>
              <a:t>Encryption:</a:t>
            </a:r>
          </a:p>
          <a:p>
            <a:pPr>
              <a:spcBef>
                <a:spcPts val="1200"/>
              </a:spcBef>
              <a:spcAft>
                <a:spcPts val="1200"/>
              </a:spcAft>
            </a:pPr>
            <a:r>
              <a:rPr lang="en-US" dirty="0">
                <a:latin typeface="Bookman Old Style" panose="02050604050505020204" pitchFamily="18" charset="0"/>
              </a:rPr>
              <a:t>	Choose Plaintext M = 13</a:t>
            </a:r>
          </a:p>
          <a:p>
            <a:pPr>
              <a:spcBef>
                <a:spcPts val="1200"/>
              </a:spcBef>
              <a:spcAft>
                <a:spcPts val="1200"/>
              </a:spcAft>
            </a:pPr>
            <a:r>
              <a:rPr lang="en-US" dirty="0">
                <a:latin typeface="Bookman Old Style" panose="02050604050505020204" pitchFamily="18" charset="0"/>
              </a:rPr>
              <a:t>	C = 13</a:t>
            </a:r>
            <a:r>
              <a:rPr lang="en-US" baseline="30000" dirty="0">
                <a:latin typeface="Bookman Old Style" panose="02050604050505020204" pitchFamily="18" charset="0"/>
              </a:rPr>
              <a:t>13</a:t>
            </a:r>
            <a:r>
              <a:rPr lang="en-US" dirty="0">
                <a:latin typeface="Bookman Old Style" panose="02050604050505020204" pitchFamily="18" charset="0"/>
              </a:rPr>
              <a:t> mod 143 = 52</a:t>
            </a:r>
          </a:p>
          <a:p>
            <a:pPr>
              <a:spcBef>
                <a:spcPts val="1200"/>
              </a:spcBef>
              <a:spcAft>
                <a:spcPts val="1200"/>
              </a:spcAft>
            </a:pPr>
            <a:r>
              <a:rPr lang="en-US" dirty="0">
                <a:latin typeface="Bookman Old Style" panose="02050604050505020204" pitchFamily="18" charset="0"/>
              </a:rPr>
              <a:t>	Therefore, </a:t>
            </a:r>
            <a:r>
              <a:rPr lang="en-US" b="1" dirty="0">
                <a:solidFill>
                  <a:srgbClr val="0070C0"/>
                </a:solidFill>
                <a:latin typeface="Bookman Old Style" panose="02050604050505020204" pitchFamily="18" charset="0"/>
              </a:rPr>
              <a:t>C =52</a:t>
            </a:r>
          </a:p>
          <a:p>
            <a:pPr>
              <a:spcBef>
                <a:spcPts val="1200"/>
              </a:spcBef>
              <a:spcAft>
                <a:spcPts val="1200"/>
              </a:spcAft>
            </a:pPr>
            <a:r>
              <a:rPr lang="en-US" b="1" dirty="0">
                <a:latin typeface="Bookman Old Style" panose="02050604050505020204" pitchFamily="18" charset="0"/>
              </a:rPr>
              <a:t>8. Decryption:</a:t>
            </a:r>
          </a:p>
          <a:p>
            <a:pPr>
              <a:spcBef>
                <a:spcPts val="1200"/>
              </a:spcBef>
              <a:spcAft>
                <a:spcPts val="1200"/>
              </a:spcAft>
            </a:pPr>
            <a:r>
              <a:rPr lang="en-US" dirty="0">
                <a:latin typeface="Bookman Old Style" panose="02050604050505020204" pitchFamily="18" charset="0"/>
              </a:rPr>
              <a:t>	M = 52</a:t>
            </a:r>
            <a:r>
              <a:rPr lang="en-US" baseline="30000" dirty="0">
                <a:latin typeface="Bookman Old Style" panose="02050604050505020204" pitchFamily="18" charset="0"/>
              </a:rPr>
              <a:t>37</a:t>
            </a:r>
            <a:r>
              <a:rPr lang="en-US" dirty="0">
                <a:latin typeface="Bookman Old Style" panose="02050604050505020204" pitchFamily="18" charset="0"/>
              </a:rPr>
              <a:t> mod 143 = 13</a:t>
            </a:r>
          </a:p>
          <a:p>
            <a:pPr>
              <a:spcBef>
                <a:spcPts val="1200"/>
              </a:spcBef>
              <a:spcAft>
                <a:spcPts val="1200"/>
              </a:spcAft>
            </a:pPr>
            <a:r>
              <a:rPr lang="en-US" dirty="0">
                <a:latin typeface="Bookman Old Style" panose="02050604050505020204" pitchFamily="18" charset="0"/>
              </a:rPr>
              <a:t>	Therefore</a:t>
            </a:r>
            <a:r>
              <a:rPr lang="en-US">
                <a:latin typeface="Bookman Old Style" panose="02050604050505020204" pitchFamily="18" charset="0"/>
              </a:rPr>
              <a:t>, </a:t>
            </a:r>
            <a:r>
              <a:rPr lang="en-US" b="1" dirty="0">
                <a:solidFill>
                  <a:srgbClr val="0070C0"/>
                </a:solidFill>
                <a:latin typeface="Bookman Old Style" panose="02050604050505020204" pitchFamily="18" charset="0"/>
              </a:rPr>
              <a:t>M</a:t>
            </a:r>
            <a:r>
              <a:rPr lang="en-US" b="1">
                <a:solidFill>
                  <a:srgbClr val="0070C0"/>
                </a:solidFill>
                <a:latin typeface="Bookman Old Style" panose="02050604050505020204" pitchFamily="18" charset="0"/>
              </a:rPr>
              <a:t> </a:t>
            </a:r>
            <a:r>
              <a:rPr lang="en-US" b="1" dirty="0">
                <a:solidFill>
                  <a:srgbClr val="0070C0"/>
                </a:solidFill>
                <a:latin typeface="Bookman Old Style" panose="02050604050505020204" pitchFamily="18" charset="0"/>
              </a:rPr>
              <a:t>= 13</a:t>
            </a:r>
          </a:p>
          <a:p>
            <a:pPr>
              <a:spcBef>
                <a:spcPts val="1200"/>
              </a:spcBef>
              <a:spcAft>
                <a:spcPts val="1200"/>
              </a:spcAft>
            </a:pPr>
            <a:r>
              <a:rPr lang="en-US" dirty="0">
                <a:latin typeface="Bookman Old Style" panose="02050604050505020204" pitchFamily="18" charset="0"/>
              </a:rPr>
              <a:t> </a:t>
            </a:r>
            <a:endParaRPr lang="en-US" sz="1800" dirty="0">
              <a:latin typeface="Bookman Old Style" panose="02050604050505020204" pitchFamily="18" charset="0"/>
            </a:endParaRPr>
          </a:p>
        </p:txBody>
      </p:sp>
    </p:spTree>
    <p:extLst>
      <p:ext uri="{BB962C8B-B14F-4D97-AF65-F5344CB8AC3E}">
        <p14:creationId xmlns:p14="http://schemas.microsoft.com/office/powerpoint/2010/main" val="116290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additive="base">
                                        <p:cTn id="2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 calcmode="lin" valueType="num">
                                      <p:cBhvr additive="base">
                                        <p:cTn id="2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 calcmode="lin" valueType="num">
                                      <p:cBhvr additive="base">
                                        <p:cTn id="3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4" end="4"/>
                                            </p:txEl>
                                          </p:spTgt>
                                        </p:tgtEl>
                                        <p:attrNameLst>
                                          <p:attrName>style.visibility</p:attrName>
                                        </p:attrNameLst>
                                      </p:cBhvr>
                                      <p:to>
                                        <p:strVal val="visible"/>
                                      </p:to>
                                    </p:set>
                                    <p:anim calcmode="lin" valueType="num">
                                      <p:cBhvr additive="base">
                                        <p:cTn id="4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
                                            <p:txEl>
                                              <p:pRg st="5" end="5"/>
                                            </p:txEl>
                                          </p:spTgt>
                                        </p:tgtEl>
                                        <p:attrNameLst>
                                          <p:attrName>style.visibility</p:attrName>
                                        </p:attrNameLst>
                                      </p:cBhvr>
                                      <p:to>
                                        <p:strVal val="visible"/>
                                      </p:to>
                                    </p:set>
                                    <p:anim calcmode="lin" valueType="num">
                                      <p:cBhvr additive="base">
                                        <p:cTn id="5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anim calcmode="lin" valueType="num">
                                      <p:cBhvr additive="base">
                                        <p:cTn id="5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80ABB-B5F1-47BE-9140-5A1B9932ABD9}"/>
              </a:ext>
            </a:extLst>
          </p:cNvPr>
          <p:cNvSpPr>
            <a:spLocks noGrp="1"/>
          </p:cNvSpPr>
          <p:nvPr>
            <p:ph type="title"/>
          </p:nvPr>
        </p:nvSpPr>
        <p:spPr/>
        <p:txBody>
          <a:bodyPr/>
          <a:lstStyle/>
          <a:p>
            <a:r>
              <a:rPr lang="en-US" sz="4400" b="1" dirty="0">
                <a:latin typeface="Bookman Old Style" panose="02050604050505020204" pitchFamily="18" charset="0"/>
              </a:rPr>
              <a:t>RSA Exercise	</a:t>
            </a:r>
            <a:endParaRPr lang="en-US" dirty="0"/>
          </a:p>
        </p:txBody>
      </p:sp>
      <p:sp>
        <p:nvSpPr>
          <p:cNvPr id="3" name="Content Placeholder 2">
            <a:extLst>
              <a:ext uri="{FF2B5EF4-FFF2-40B4-BE49-F238E27FC236}">
                <a16:creationId xmlns:a16="http://schemas.microsoft.com/office/drawing/2014/main" id="{A4414F07-6F07-410A-A2FB-27DF31819DB1}"/>
              </a:ext>
            </a:extLst>
          </p:cNvPr>
          <p:cNvSpPr>
            <a:spLocks noGrp="1"/>
          </p:cNvSpPr>
          <p:nvPr>
            <p:ph idx="1"/>
          </p:nvPr>
        </p:nvSpPr>
        <p:spPr/>
        <p:txBody>
          <a:bodyPr/>
          <a:lstStyle/>
          <a:p>
            <a:pPr marL="0" indent="0">
              <a:buNone/>
            </a:pPr>
            <a:r>
              <a:rPr lang="en-US" b="1" dirty="0"/>
              <a:t>Example-2: </a:t>
            </a:r>
          </a:p>
          <a:p>
            <a:pPr marL="0" indent="0" algn="just">
              <a:buNone/>
            </a:pPr>
            <a:r>
              <a:rPr lang="en-US" dirty="0"/>
              <a:t>P and Q are two prime numbers. P=7 and Q=17. Take public key E=5. If the plaintext value is 6, then what will be the cipher text value according to RSA algorithm? Again, calculate plaintext value from cipher text.</a:t>
            </a:r>
          </a:p>
        </p:txBody>
      </p:sp>
    </p:spTree>
    <p:extLst>
      <p:ext uri="{BB962C8B-B14F-4D97-AF65-F5344CB8AC3E}">
        <p14:creationId xmlns:p14="http://schemas.microsoft.com/office/powerpoint/2010/main" val="2767535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80ABB-B5F1-47BE-9140-5A1B9932ABD9}"/>
              </a:ext>
            </a:extLst>
          </p:cNvPr>
          <p:cNvSpPr>
            <a:spLocks noGrp="1"/>
          </p:cNvSpPr>
          <p:nvPr>
            <p:ph type="title"/>
          </p:nvPr>
        </p:nvSpPr>
        <p:spPr/>
        <p:txBody>
          <a:bodyPr/>
          <a:lstStyle/>
          <a:p>
            <a:r>
              <a:rPr lang="en-US" sz="4400" b="1" dirty="0">
                <a:latin typeface="Bookman Old Style" panose="02050604050505020204" pitchFamily="18" charset="0"/>
              </a:rPr>
              <a:t>RSA Exercise…	</a:t>
            </a:r>
            <a:endParaRPr lang="en-US" dirty="0"/>
          </a:p>
        </p:txBody>
      </p:sp>
      <p:sp>
        <p:nvSpPr>
          <p:cNvPr id="3" name="Content Placeholder 2">
            <a:extLst>
              <a:ext uri="{FF2B5EF4-FFF2-40B4-BE49-F238E27FC236}">
                <a16:creationId xmlns:a16="http://schemas.microsoft.com/office/drawing/2014/main" id="{A4414F07-6F07-410A-A2FB-27DF31819DB1}"/>
              </a:ext>
            </a:extLst>
          </p:cNvPr>
          <p:cNvSpPr>
            <a:spLocks noGrp="1"/>
          </p:cNvSpPr>
          <p:nvPr>
            <p:ph idx="1"/>
          </p:nvPr>
        </p:nvSpPr>
        <p:spPr/>
        <p:txBody>
          <a:bodyPr/>
          <a:lstStyle/>
          <a:p>
            <a:pPr marL="0" indent="0">
              <a:buNone/>
            </a:pPr>
            <a:r>
              <a:rPr lang="en-US" b="1" dirty="0"/>
              <a:t>Example-3: </a:t>
            </a:r>
          </a:p>
          <a:p>
            <a:pPr marL="0" indent="0" algn="just">
              <a:buNone/>
            </a:pPr>
            <a:r>
              <a:rPr lang="en-US" dirty="0"/>
              <a:t>In a public key crypto system using RSA algorithm, user uses two prime numbers 5 and 7. He chooses 11 as encryption key, find out decryption key. What will be the cipher text, if the plaintext is 2? Decrypt the cipher text, what will be the plaintext value?</a:t>
            </a:r>
          </a:p>
        </p:txBody>
      </p:sp>
    </p:spTree>
    <p:extLst>
      <p:ext uri="{BB962C8B-B14F-4D97-AF65-F5344CB8AC3E}">
        <p14:creationId xmlns:p14="http://schemas.microsoft.com/office/powerpoint/2010/main" val="392954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A315-9C45-48FD-B254-9D3B2851E6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AD36C-B3A6-42D7-B6E4-C4C8EBB17FF0}"/>
              </a:ext>
            </a:extLst>
          </p:cNvPr>
          <p:cNvSpPr>
            <a:spLocks noGrp="1"/>
          </p:cNvSpPr>
          <p:nvPr>
            <p:ph idx="1"/>
          </p:nvPr>
        </p:nvSpPr>
        <p:spPr/>
        <p:txBody>
          <a:bodyPr/>
          <a:lstStyle/>
          <a:p>
            <a:endParaRPr lang="en-US"/>
          </a:p>
        </p:txBody>
      </p:sp>
      <p:pic>
        <p:nvPicPr>
          <p:cNvPr id="9218" name="Picture 2">
            <a:extLst>
              <a:ext uri="{FF2B5EF4-FFF2-40B4-BE49-F238E27FC236}">
                <a16:creationId xmlns:a16="http://schemas.microsoft.com/office/drawing/2014/main" id="{E2662D6D-2DF2-449E-A8FA-508496E1D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36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1254</TotalTime>
  <Words>731</Words>
  <Application>Microsoft Office PowerPoint</Application>
  <PresentationFormat>Widescreen</PresentationFormat>
  <Paragraphs>91</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BioRhyme ExtraBold</vt:lpstr>
      <vt:lpstr>Bookman Old Style</vt:lpstr>
      <vt:lpstr>Calibri</vt:lpstr>
      <vt:lpstr>Calibri Light</vt:lpstr>
      <vt:lpstr>Poppins</vt:lpstr>
      <vt:lpstr>Office Theme</vt:lpstr>
      <vt:lpstr>PowerPoint Presentation</vt:lpstr>
      <vt:lpstr>RSA Encryption</vt:lpstr>
      <vt:lpstr>RSA Algorithm</vt:lpstr>
      <vt:lpstr>RSA…  </vt:lpstr>
      <vt:lpstr>RSA Example1</vt:lpstr>
      <vt:lpstr>RSA Example1</vt:lpstr>
      <vt:lpstr>RSA Exercise </vt:lpstr>
      <vt:lpstr>RSA Exercise…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Security</dc:title>
  <dc:creator>Radhika Rani Chintala</dc:creator>
  <cp:lastModifiedBy>GORLA VENKATA GANESH</cp:lastModifiedBy>
  <cp:revision>46</cp:revision>
  <dcterms:created xsi:type="dcterms:W3CDTF">2022-03-25T10:08:01Z</dcterms:created>
  <dcterms:modified xsi:type="dcterms:W3CDTF">2025-12-17T06:51:40Z</dcterms:modified>
</cp:coreProperties>
</file>