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71" r:id="rId5"/>
    <p:sldId id="258" r:id="rId6"/>
    <p:sldId id="259" r:id="rId7"/>
    <p:sldId id="263" r:id="rId8"/>
    <p:sldId id="264" r:id="rId9"/>
    <p:sldId id="265" r:id="rId10"/>
    <p:sldId id="267" r:id="rId11"/>
    <p:sldId id="260" r:id="rId12"/>
    <p:sldId id="26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44196-20C1-42AF-B0BD-3A0C01340ABD}" type="datetimeFigureOut">
              <a:rPr lang="en-AU" smtClean="0"/>
              <a:pPr/>
              <a:t>17/12/2025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46252-7977-470F-A63B-F34B0A5EB215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4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C78D7B-0656-44BD-8479-67D5622B601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34" charset="-128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B16A80-5089-42E8-A98D-44D86A4CEDC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15CS2007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Database Systems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3578" y="6356350"/>
            <a:ext cx="9933709" cy="365125"/>
          </a:xfrm>
        </p:spPr>
        <p:txBody>
          <a:bodyPr/>
          <a:lstStyle/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026" name="Picture 2" descr="K L University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5251479"/>
            <a:ext cx="46863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9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669087" cy="365125"/>
          </a:xfrm>
        </p:spPr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050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54"/>
          <a:stretch/>
        </p:blipFill>
        <p:spPr bwMode="auto">
          <a:xfrm>
            <a:off x="11140094" y="-15902"/>
            <a:ext cx="105190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80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15CS2007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Database Systems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1850" y="6356350"/>
            <a:ext cx="9160048" cy="365125"/>
          </a:xfrm>
        </p:spPr>
        <p:txBody>
          <a:bodyPr/>
          <a:lstStyle/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3074" name="Picture 2" descr="K L University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07818"/>
            <a:ext cx="46863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19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5181600" cy="494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6187"/>
            <a:ext cx="5181600" cy="49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4098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409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76"/>
          <a:stretch/>
        </p:blipFill>
        <p:spPr bwMode="auto">
          <a:xfrm>
            <a:off x="11131781" y="0"/>
            <a:ext cx="1060219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8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759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8190"/>
            <a:ext cx="5157787" cy="40914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759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8190"/>
            <a:ext cx="5183188" cy="40914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</a:t>
            </a:r>
            <a:r>
              <a:rPr lang="en-AU" dirty="0"/>
              <a:t> </a:t>
            </a:r>
            <a:r>
              <a:rPr lang="en-AU" dirty="0">
                <a:solidFill>
                  <a:srgbClr val="C00000"/>
                </a:solidFill>
              </a:rPr>
              <a:t>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5122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92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57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47898" y="6356350"/>
            <a:ext cx="914400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5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80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9788" y="6356350"/>
            <a:ext cx="9152110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2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 rot="5400000">
            <a:off x="11126258" y="-1059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41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9153698" cy="365125"/>
          </a:xfrm>
        </p:spPr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 rot="5400000">
            <a:off x="11126259" y="-59248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683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References</a:t>
            </a:r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>
                <a:solidFill>
                  <a:srgbClr val="C00000"/>
                </a:solidFill>
              </a:rPr>
              <a:t>© 2016 KL University </a:t>
            </a:r>
            <a:r>
              <a:rPr lang="en-AU" dirty="0"/>
              <a:t>– The contents of this presentation are an intellectual and copyrighted property of KL University. </a:t>
            </a:r>
            <a:r>
              <a:rPr lang="en-AU" dirty="0">
                <a:solidFill>
                  <a:srgbClr val="C00000"/>
                </a:solidFill>
              </a:rPr>
              <a:t>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838200" y="1238596"/>
            <a:ext cx="10515599" cy="501257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pic>
        <p:nvPicPr>
          <p:cNvPr id="9" name="Picture 2" descr="K L University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/>
        </p:blipFill>
        <p:spPr bwMode="auto">
          <a:xfrm>
            <a:off x="11127317" y="-2380"/>
            <a:ext cx="106468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16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53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5470"/>
            <a:ext cx="10515600" cy="5021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1536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2016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48604" y="6356350"/>
            <a:ext cx="7051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87FF5-4BF9-4B21-B0D2-9B7FF2B27D7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084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Domain Name System (DNS)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8646" y="508500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- 31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DNS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10618694" cy="2753887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sz="2000" dirty="0">
                <a:latin typeface="Bookman Old Style" pitchFamily="18" charset="0"/>
              </a:rPr>
              <a:t>DNS is short name for 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Domain Name Service</a:t>
            </a:r>
            <a:r>
              <a:rPr lang="en-US" sz="2000" dirty="0">
                <a:latin typeface="Bookman Old Style" pitchFamily="18" charset="0"/>
              </a:rPr>
              <a:t> or 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Domain Name System.</a:t>
            </a:r>
          </a:p>
          <a:p>
            <a:pPr fontAlgn="base"/>
            <a:r>
              <a:rPr lang="en-US" sz="2000" dirty="0">
                <a:latin typeface="Bookman Old Style" pitchFamily="18" charset="0"/>
              </a:rPr>
              <a:t>It is an application layer protocol.</a:t>
            </a:r>
          </a:p>
          <a:p>
            <a:pPr fontAlgn="base"/>
            <a:endParaRPr lang="en-US" sz="2000" dirty="0">
              <a:latin typeface="Bookman Old Style" pitchFamily="18" charset="0"/>
            </a:endParaRPr>
          </a:p>
          <a:p>
            <a:pPr fontAlgn="base">
              <a:buNone/>
            </a:pPr>
            <a:r>
              <a:rPr lang="en-US" sz="2000" b="1" dirty="0">
                <a:solidFill>
                  <a:srgbClr val="C00000"/>
                </a:solidFill>
                <a:latin typeface="Bookman Old Style" pitchFamily="18" charset="0"/>
              </a:rPr>
              <a:t>Purpose:-</a:t>
            </a:r>
          </a:p>
          <a:p>
            <a:pPr fontAlgn="base"/>
            <a:r>
              <a:rPr lang="en-US" sz="2000" dirty="0">
                <a:latin typeface="Bookman Old Style" pitchFamily="18" charset="0"/>
              </a:rPr>
              <a:t>DNS is a 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host name to IP Address </a:t>
            </a:r>
            <a:r>
              <a:rPr lang="en-US" sz="2000" dirty="0">
                <a:latin typeface="Bookman Old Style" pitchFamily="18" charset="0"/>
              </a:rPr>
              <a:t>translation service.</a:t>
            </a:r>
          </a:p>
          <a:p>
            <a:pPr marL="0" indent="0" fontAlgn="base">
              <a:buNone/>
            </a:pPr>
            <a:endParaRPr lang="en-US" sz="2000" dirty="0">
              <a:latin typeface="Bookman Old Style" pitchFamily="18" charset="0"/>
            </a:endParaRPr>
          </a:p>
          <a:p>
            <a:pPr fontAlgn="base"/>
            <a:r>
              <a:rPr lang="en-US" sz="2000" dirty="0">
                <a:latin typeface="Bookman Old Style" pitchFamily="18" charset="0"/>
              </a:rPr>
              <a:t>It converts the names we type in our web browser address bar to the IP Address of web servers hosting those sites.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2</a:t>
            </a:fld>
            <a:endParaRPr lang="en-AU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6105" y="4268923"/>
            <a:ext cx="6959789" cy="180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DNS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4856"/>
            <a:ext cx="10515600" cy="50214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Bookman Old Style" pitchFamily="18" charset="0"/>
              </a:rPr>
              <a:t>The need for Domain Name Service arises due to the following reasons:</a:t>
            </a:r>
          </a:p>
          <a:p>
            <a:pPr algn="just"/>
            <a:endParaRPr lang="en-US" sz="2400" dirty="0">
              <a:latin typeface="Bookman Old Style" pitchFamily="18" charset="0"/>
            </a:endParaRP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IP addresses are not static </a:t>
            </a:r>
            <a:r>
              <a:rPr lang="en-US" sz="2000" dirty="0">
                <a:latin typeface="Bookman Old Style" pitchFamily="18" charset="0"/>
              </a:rPr>
              <a:t>and may change dynamically. So, a mapping is required which maps the domain names to the IP Addresses of their web servers.</a:t>
            </a:r>
          </a:p>
          <a:p>
            <a:pPr lvl="1" algn="just" fontAlgn="base">
              <a:buFont typeface="Wingdings" panose="05000000000000000000" pitchFamily="2" charset="2"/>
              <a:buChar char="Ø"/>
            </a:pPr>
            <a:endParaRPr lang="en-US" sz="2000" dirty="0">
              <a:latin typeface="Bookman Old Style" pitchFamily="18" charset="0"/>
            </a:endParaRP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itchFamily="18" charset="0"/>
              </a:rPr>
              <a:t>IP Addresses are a complex series of numbers. So, it is 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difficult to remember IP Addresses</a:t>
            </a:r>
            <a:r>
              <a:rPr lang="en-US" sz="2000" dirty="0">
                <a:latin typeface="Bookman Old Style" pitchFamily="18" charset="0"/>
              </a:rPr>
              <a:t> directly while it is easy to remember names.</a:t>
            </a:r>
          </a:p>
          <a:p>
            <a:pPr fontAlgn="base">
              <a:buNone/>
            </a:pPr>
            <a:r>
              <a:rPr lang="en-US" dirty="0">
                <a:latin typeface="Bookman Old Style" pitchFamily="18" charset="0"/>
              </a:rPr>
              <a:t> 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Types of Domain name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380"/>
            <a:ext cx="10515600" cy="50214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man Old Style" pitchFamily="18" charset="0"/>
              </a:rPr>
              <a:t>The name assigned to machines must be unique.</a:t>
            </a:r>
          </a:p>
          <a:p>
            <a:endParaRPr lang="en-US" sz="2000" dirty="0">
              <a:latin typeface="Bookman Old Style" pitchFamily="18" charset="0"/>
            </a:endParaRPr>
          </a:p>
          <a:p>
            <a:r>
              <a:rPr lang="en-US" sz="2000" dirty="0">
                <a:latin typeface="Bookman Old Style" pitchFamily="18" charset="0"/>
              </a:rPr>
              <a:t>Name space map each address to a unique name in two ways</a:t>
            </a:r>
          </a:p>
          <a:p>
            <a:pPr lvl="2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dirty="0">
                <a:latin typeface="Bookman Old Style" pitchFamily="18" charset="0"/>
              </a:rPr>
              <a:t>	</a:t>
            </a:r>
            <a:r>
              <a:rPr lang="en-US" sz="1600" b="1" dirty="0">
                <a:solidFill>
                  <a:srgbClr val="C00000"/>
                </a:solidFill>
                <a:latin typeface="Bookman Old Style" pitchFamily="18" charset="0"/>
              </a:rPr>
              <a:t>- </a:t>
            </a: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Flat name space</a:t>
            </a:r>
          </a:p>
          <a:p>
            <a:pPr lvl="2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	- Hierarchical name space</a:t>
            </a:r>
          </a:p>
          <a:p>
            <a:pPr>
              <a:buNone/>
            </a:pPr>
            <a:endParaRPr lang="en-US" sz="2000" dirty="0">
              <a:latin typeface="Bookman Old Style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Types of Domain name spaces…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418"/>
            <a:ext cx="10515600" cy="502149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>
                <a:latin typeface="Bookman Old Style" pitchFamily="18" charset="0"/>
              </a:rPr>
              <a:t>Flat name space:</a:t>
            </a:r>
          </a:p>
          <a:p>
            <a:pPr lvl="2"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A name in this space is a sequence of characters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without structure.</a:t>
            </a:r>
          </a:p>
          <a:p>
            <a:pPr lvl="2"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A name may or may not have a common section.</a:t>
            </a:r>
          </a:p>
          <a:p>
            <a:pPr lvl="2"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It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cannot be used in internet</a:t>
            </a:r>
            <a:r>
              <a:rPr lang="en-US" sz="1800" dirty="0">
                <a:latin typeface="Bookman Old Style" pitchFamily="18" charset="0"/>
              </a:rPr>
              <a:t>.</a:t>
            </a:r>
          </a:p>
          <a:p>
            <a:pPr marL="914400" lvl="2" indent="0">
              <a:spcAft>
                <a:spcPts val="600"/>
              </a:spcAft>
              <a:buNone/>
            </a:pPr>
            <a:endParaRPr lang="en-US" sz="1800" dirty="0">
              <a:latin typeface="Bookman Old Style" pitchFamily="18" charset="0"/>
            </a:endParaRPr>
          </a:p>
          <a:p>
            <a:pPr marL="914400" lvl="2" indent="0">
              <a:spcAft>
                <a:spcPts val="600"/>
              </a:spcAft>
              <a:buNone/>
            </a:pPr>
            <a:endParaRPr lang="en-US" sz="1800" dirty="0">
              <a:latin typeface="Bookman Old Style" pitchFamily="18" charset="0"/>
            </a:endParaRPr>
          </a:p>
          <a:p>
            <a:pPr>
              <a:buNone/>
            </a:pPr>
            <a:r>
              <a:rPr lang="en-US" sz="2400" b="1" dirty="0">
                <a:latin typeface="Bookman Old Style" pitchFamily="18" charset="0"/>
              </a:rPr>
              <a:t>Hierarchical name space:</a:t>
            </a:r>
          </a:p>
          <a:p>
            <a:pPr>
              <a:buNone/>
            </a:pPr>
            <a:endParaRPr lang="en-US" sz="100" b="1" dirty="0">
              <a:latin typeface="Bookman Old Style" pitchFamily="18" charset="0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Each name has several parts.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The first part define the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nature of the organization.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The second part define the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name of the organization.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The third part define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departments in the organization </a:t>
            </a:r>
            <a:r>
              <a:rPr lang="en-US" sz="1800" dirty="0">
                <a:latin typeface="Bookman Old Style" pitchFamily="18" charset="0"/>
              </a:rPr>
              <a:t>and so on.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Bookman Old Style" pitchFamily="18" charset="0"/>
              </a:rPr>
              <a:t>The central authority assigned only the </a:t>
            </a:r>
            <a:r>
              <a:rPr lang="en-US" sz="1800" dirty="0">
                <a:solidFill>
                  <a:srgbClr val="C00000"/>
                </a:solidFill>
                <a:latin typeface="Bookman Old Style" pitchFamily="18" charset="0"/>
              </a:rPr>
              <a:t>first two parts</a:t>
            </a:r>
            <a:r>
              <a:rPr lang="en-US" sz="1800" dirty="0">
                <a:latin typeface="Bookman Old Style" pitchFamily="18" charset="0"/>
              </a:rPr>
              <a:t> of the name space and the rest of parts are assigned organization itself.</a:t>
            </a:r>
          </a:p>
          <a:p>
            <a:endParaRPr lang="en-US" dirty="0">
              <a:latin typeface="Bookman Old Style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The DNS Name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470" y="1699981"/>
            <a:ext cx="5320553" cy="5021494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Bookman Old Style" pitchFamily="18" charset="0"/>
              </a:rPr>
              <a:t>The Internet is divided into over 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200 top-level domains</a:t>
            </a:r>
            <a:r>
              <a:rPr lang="en-US" sz="2000" dirty="0">
                <a:latin typeface="Bookman Old Style" pitchFamily="18" charset="0"/>
              </a:rPr>
              <a:t>, where each domain covers many hosts. </a:t>
            </a:r>
          </a:p>
          <a:p>
            <a:pPr algn="just"/>
            <a:endParaRPr lang="en-US" sz="2000" dirty="0">
              <a:latin typeface="Bookman Old Style" pitchFamily="18" charset="0"/>
            </a:endParaRPr>
          </a:p>
          <a:p>
            <a:pPr algn="just"/>
            <a:r>
              <a:rPr lang="en-US" sz="2000" dirty="0">
                <a:latin typeface="Bookman Old Style" pitchFamily="18" charset="0"/>
              </a:rPr>
              <a:t>Each domain is partitioned into </a:t>
            </a:r>
            <a:r>
              <a:rPr lang="en-US" sz="2000" dirty="0">
                <a:solidFill>
                  <a:srgbClr val="C00000"/>
                </a:solidFill>
                <a:latin typeface="Bookman Old Style" pitchFamily="18" charset="0"/>
              </a:rPr>
              <a:t>subdomains</a:t>
            </a:r>
            <a:r>
              <a:rPr lang="en-US" sz="2000" dirty="0">
                <a:latin typeface="Bookman Old Style" pitchFamily="18" charset="0"/>
              </a:rPr>
              <a:t>, and these are further partitioned, and so on. </a:t>
            </a:r>
          </a:p>
          <a:p>
            <a:pPr algn="just"/>
            <a:endParaRPr lang="en-US" sz="2000" dirty="0">
              <a:latin typeface="Bookman Old Style" pitchFamily="18" charset="0"/>
            </a:endParaRPr>
          </a:p>
          <a:p>
            <a:pPr algn="just"/>
            <a:r>
              <a:rPr lang="en-US" sz="2000" dirty="0">
                <a:latin typeface="Bookman Old Style" pitchFamily="18" charset="0"/>
              </a:rPr>
              <a:t>All these domains can be represented by a tree, as shown in Figure</a:t>
            </a:r>
            <a:r>
              <a:rPr lang="en-US" sz="20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0129" y="1398494"/>
            <a:ext cx="5584844" cy="433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Domain Names and Labels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13184" r="7476"/>
          <a:stretch/>
        </p:blipFill>
        <p:spPr bwMode="auto">
          <a:xfrm>
            <a:off x="6096000" y="1740422"/>
            <a:ext cx="5950946" cy="39759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F93479-CCC2-E25D-0852-F0F0F7504E4C}"/>
              </a:ext>
            </a:extLst>
          </p:cNvPr>
          <p:cNvSpPr txBox="1"/>
          <p:nvPr/>
        </p:nvSpPr>
        <p:spPr>
          <a:xfrm>
            <a:off x="224117" y="1856963"/>
            <a:ext cx="524435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itchFamily="18" charset="0"/>
              </a:rPr>
              <a:t>Each node in the tree has a </a:t>
            </a: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label</a:t>
            </a:r>
            <a:r>
              <a:rPr lang="en-US" dirty="0">
                <a:latin typeface="Bookman Old Style" pitchFamily="18" charset="0"/>
              </a:rPr>
              <a:t>, which is a string with a maximum of 63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Bookman Old Style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itchFamily="18" charset="0"/>
              </a:rPr>
              <a:t>The </a:t>
            </a: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root label is a null string </a:t>
            </a:r>
            <a:r>
              <a:rPr lang="en-US" dirty="0">
                <a:latin typeface="Bookman Old Style" pitchFamily="18" charset="0"/>
              </a:rPr>
              <a:t>(empty).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Bookman Old Style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itchFamily="18" charset="0"/>
              </a:rPr>
              <a:t>A full domain name is a sequence of </a:t>
            </a: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labels separated by dots.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Bookman Old Style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itchFamily="18" charset="0"/>
              </a:rPr>
              <a:t>The domain names are always read from the </a:t>
            </a:r>
            <a:r>
              <a:rPr lang="en-US" dirty="0">
                <a:solidFill>
                  <a:srgbClr val="C00000"/>
                </a:solidFill>
                <a:latin typeface="Bookman Old Style" pitchFamily="18" charset="0"/>
              </a:rPr>
              <a:t>node up to the root.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Bookman Old Style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itchFamily="18" charset="0"/>
              </a:rPr>
              <a:t>Finally, it end with null (root node).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DNS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230284"/>
            <a:ext cx="10304417" cy="152597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ookman Old Style" pitchFamily="18" charset="0"/>
              </a:rPr>
              <a:t>DNS Resolution is a process of resolving a domain name onto an IP Address.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8041" y="2282671"/>
            <a:ext cx="8464731" cy="3435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DNS Resolution…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>
              <a:buNone/>
            </a:pPr>
            <a:r>
              <a:rPr lang="en-US" sz="2200" dirty="0">
                <a:latin typeface="Bookman Old Style" pitchFamily="18" charset="0"/>
              </a:rPr>
              <a:t>The steps involved in DNS Resolution are-</a:t>
            </a:r>
          </a:p>
          <a:p>
            <a:pPr fontAlgn="base">
              <a:buNone/>
            </a:pPr>
            <a:r>
              <a:rPr lang="en-US" sz="2200" dirty="0">
                <a:latin typeface="Bookman Old Style" pitchFamily="18" charset="0"/>
              </a:rPr>
              <a:t>	1. A user program sends a name query to a library procedure called the resolver.</a:t>
            </a:r>
          </a:p>
          <a:p>
            <a:pPr fontAlgn="base">
              <a:buNone/>
            </a:pPr>
            <a:endParaRPr lang="en-US" sz="2200" dirty="0">
              <a:latin typeface="Bookman Old Style" pitchFamily="18" charset="0"/>
            </a:endParaRPr>
          </a:p>
          <a:p>
            <a:pPr fontAlgn="base">
              <a:buNone/>
            </a:pPr>
            <a:r>
              <a:rPr lang="en-US" sz="2200" dirty="0">
                <a:latin typeface="Bookman Old Style" pitchFamily="18" charset="0"/>
              </a:rPr>
              <a:t>	2. Resolver looks up the local domain name cache for a match.</a:t>
            </a:r>
          </a:p>
          <a:p>
            <a:pPr lvl="1" fontAlgn="base"/>
            <a:r>
              <a:rPr lang="en-US" sz="1900" dirty="0">
                <a:latin typeface="Bookman Old Style" pitchFamily="18" charset="0"/>
              </a:rPr>
              <a:t>If a match is found, it sends the corresponding IP Address back.</a:t>
            </a:r>
          </a:p>
          <a:p>
            <a:pPr lvl="1" fontAlgn="base"/>
            <a:r>
              <a:rPr lang="en-US" sz="1900" dirty="0">
                <a:latin typeface="Bookman Old Style" pitchFamily="18" charset="0"/>
              </a:rPr>
              <a:t>If no match is found, it sends a query to the local DNS server.</a:t>
            </a:r>
          </a:p>
          <a:p>
            <a:pPr lvl="1" fontAlgn="base"/>
            <a:endParaRPr lang="en-US" sz="1900" dirty="0">
              <a:latin typeface="Bookman Old Style" pitchFamily="18" charset="0"/>
            </a:endParaRPr>
          </a:p>
          <a:p>
            <a:pPr fontAlgn="base">
              <a:buNone/>
            </a:pPr>
            <a:r>
              <a:rPr lang="en-US" sz="2200" dirty="0">
                <a:latin typeface="Bookman Old Style" pitchFamily="18" charset="0"/>
              </a:rPr>
              <a:t>	3. DNS server looks up the name.</a:t>
            </a:r>
          </a:p>
          <a:p>
            <a:pPr lvl="1" fontAlgn="base"/>
            <a:r>
              <a:rPr lang="en-US" sz="1900" dirty="0">
                <a:latin typeface="Bookman Old Style" pitchFamily="18" charset="0"/>
              </a:rPr>
              <a:t>If a match is found, it returns the corresponding IP Address to the resolver.</a:t>
            </a:r>
          </a:p>
          <a:p>
            <a:pPr lvl="1" fontAlgn="base"/>
            <a:r>
              <a:rPr lang="en-US" sz="1900" dirty="0">
                <a:latin typeface="Bookman Old Style" pitchFamily="18" charset="0"/>
              </a:rPr>
              <a:t>If no match is found, the local DNS server sends a query to a higher level DNS server.</a:t>
            </a:r>
          </a:p>
          <a:p>
            <a:pPr lvl="1" fontAlgn="base"/>
            <a:r>
              <a:rPr lang="en-US" sz="1900" dirty="0">
                <a:latin typeface="Bookman Old Style" pitchFamily="18" charset="0"/>
              </a:rPr>
              <a:t>This process is continued until a result is returned.</a:t>
            </a:r>
          </a:p>
          <a:p>
            <a:pPr lvl="1" fontAlgn="base"/>
            <a:endParaRPr lang="en-US" sz="1900" dirty="0">
              <a:latin typeface="Bookman Old Style" pitchFamily="18" charset="0"/>
            </a:endParaRPr>
          </a:p>
          <a:p>
            <a:pPr fontAlgn="base">
              <a:buNone/>
            </a:pPr>
            <a:r>
              <a:rPr lang="en-US" sz="2200" dirty="0">
                <a:latin typeface="Bookman Old Style" pitchFamily="18" charset="0"/>
              </a:rPr>
              <a:t>	4. After receiving a response, the DNS client returns the resolution result to the application.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9</a:t>
            </a:fld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pitchFamily="34" charset="-128"/>
              </a:rPr>
              <a:t>Application Layer</a:t>
            </a: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5950897" y="4881564"/>
            <a:ext cx="1644873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requesting host</a:t>
            </a:r>
            <a:endParaRPr lang="en-US" sz="2400">
              <a:latin typeface="Calibri" pitchFamily="34" charset="0"/>
            </a:endParaRPr>
          </a:p>
          <a:p>
            <a:pPr algn="ctr"/>
            <a:r>
              <a:rPr lang="en-US" sz="1600" i="1">
                <a:solidFill>
                  <a:srgbClr val="000099"/>
                </a:solidFill>
                <a:latin typeface="Calibri" pitchFamily="34" charset="0"/>
              </a:rPr>
              <a:t>cis.poly.edu</a:t>
            </a:r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9307814" y="5775325"/>
            <a:ext cx="1710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latin typeface="Calibri" pitchFamily="34" charset="0"/>
              </a:rPr>
              <a:t>gaia.cs.umass.edu</a:t>
            </a:r>
          </a:p>
        </p:txBody>
      </p:sp>
      <p:sp>
        <p:nvSpPr>
          <p:cNvPr id="10246" name="Text Box 17"/>
          <p:cNvSpPr txBox="1">
            <a:spLocks noChangeArrowheads="1"/>
          </p:cNvSpPr>
          <p:nvPr/>
        </p:nvSpPr>
        <p:spPr bwMode="auto">
          <a:xfrm>
            <a:off x="7721601" y="481013"/>
            <a:ext cx="268181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root DNS server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7048500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7200900" y="1220788"/>
            <a:ext cx="12192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 flipV="1">
            <a:off x="7581900" y="2382839"/>
            <a:ext cx="19812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7581901" y="2554288"/>
            <a:ext cx="18923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 flipH="1">
            <a:off x="7480301" y="1449388"/>
            <a:ext cx="977900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7302501" y="2933701"/>
            <a:ext cx="12700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588001" y="3062286"/>
            <a:ext cx="2501900" cy="615949"/>
            <a:chOff x="2838" y="2132"/>
            <a:chExt cx="1182" cy="388"/>
          </a:xfrm>
        </p:grpSpPr>
        <p:sp>
          <p:nvSpPr>
            <p:cNvPr id="10407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 pitchFamily="34" charset="0"/>
              </a:endParaRPr>
            </a:p>
          </p:txBody>
        </p:sp>
        <p:sp>
          <p:nvSpPr>
            <p:cNvPr id="10408" name="Text Box 26"/>
            <p:cNvSpPr txBox="1">
              <a:spLocks noChangeArrowheads="1"/>
            </p:cNvSpPr>
            <p:nvPr/>
          </p:nvSpPr>
          <p:spPr bwMode="auto">
            <a:xfrm>
              <a:off x="3026" y="2132"/>
              <a:ext cx="80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latin typeface="Calibri" pitchFamily="34" charset="0"/>
                </a:rPr>
                <a:t>local DNS server</a:t>
              </a:r>
              <a:endParaRPr lang="en-US" sz="2400">
                <a:latin typeface="Calibri" pitchFamily="34" charset="0"/>
              </a:endParaRPr>
            </a:p>
            <a:p>
              <a:pPr algn="ctr"/>
              <a:r>
                <a:rPr lang="en-US" sz="1600" i="1">
                  <a:solidFill>
                    <a:srgbClr val="000099"/>
                  </a:solidFill>
                  <a:latin typeface="Calibri" pitchFamily="34" charset="0"/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719857" y="377190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1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7443757" y="143827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2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8027956" y="167640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3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8447057" y="208597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4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8487274" y="25733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5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9283141" y="36131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6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10260" name="Text Box 60"/>
          <p:cNvSpPr txBox="1">
            <a:spLocks noChangeArrowheads="1"/>
          </p:cNvSpPr>
          <p:nvPr/>
        </p:nvSpPr>
        <p:spPr bwMode="auto">
          <a:xfrm>
            <a:off x="8951563" y="4429126"/>
            <a:ext cx="22348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Calibri" pitchFamily="34" charset="0"/>
              </a:rPr>
              <a:t>authoritative DNS server</a:t>
            </a:r>
            <a:endParaRPr lang="en-US" sz="2400">
              <a:latin typeface="Calibri" pitchFamily="34" charset="0"/>
            </a:endParaRPr>
          </a:p>
          <a:p>
            <a:pPr algn="ctr"/>
            <a:r>
              <a:rPr lang="en-US" sz="1600" b="1">
                <a:latin typeface="Calibri" pitchFamily="34" charset="0"/>
              </a:rPr>
              <a:t>dns.cs.umass.edu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8447057" y="364331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7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7456456" y="379095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8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>
            <a:off x="7493000" y="2714625"/>
            <a:ext cx="1991784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 flipV="1">
            <a:off x="7440085" y="2840038"/>
            <a:ext cx="1991783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Text Box 65"/>
          <p:cNvSpPr txBox="1">
            <a:spLocks noChangeArrowheads="1"/>
          </p:cNvSpPr>
          <p:nvPr/>
        </p:nvSpPr>
        <p:spPr bwMode="auto">
          <a:xfrm>
            <a:off x="8735484" y="1852613"/>
            <a:ext cx="2681816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TLD DNS server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10266" name="Rectangle 66"/>
          <p:cNvSpPr>
            <a:spLocks noGrp="1" noChangeArrowheads="1"/>
          </p:cNvSpPr>
          <p:nvPr>
            <p:ph type="title"/>
          </p:nvPr>
        </p:nvSpPr>
        <p:spPr>
          <a:xfrm>
            <a:off x="0" y="-61911"/>
            <a:ext cx="6546851" cy="11430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z="4000" dirty="0">
                <a:ea typeface="ＭＳ Ｐゴシック" pitchFamily="34" charset="-128"/>
              </a:rPr>
              <a:t>DNS name resolution example</a:t>
            </a:r>
          </a:p>
        </p:txBody>
      </p:sp>
      <p:sp>
        <p:nvSpPr>
          <p:cNvPr id="10268" name="Rectangle 69"/>
          <p:cNvSpPr>
            <a:spLocks noChangeArrowheads="1"/>
          </p:cNvSpPr>
          <p:nvPr/>
        </p:nvSpPr>
        <p:spPr bwMode="auto">
          <a:xfrm>
            <a:off x="251012" y="2085977"/>
            <a:ext cx="5163421" cy="362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sz="2800" i="1" dirty="0">
                <a:solidFill>
                  <a:srgbClr val="CC0000"/>
                </a:solidFill>
                <a:latin typeface="Gill Sans MT" pitchFamily="34" charset="0"/>
              </a:rPr>
              <a:t>Iterated query:</a:t>
            </a:r>
          </a:p>
          <a:p>
            <a:pPr marL="342900" indent="-342900"/>
            <a:endParaRPr lang="en-US" sz="2800" i="1" dirty="0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IN" sz="2200" dirty="0"/>
              <a:t>In iterative DNS query, the client communicates directly with each DNS server involved in the lookup.</a:t>
            </a:r>
          </a:p>
          <a:p>
            <a:pPr algn="just">
              <a:lnSpc>
                <a:spcPct val="85000"/>
              </a:lnSpc>
              <a:buClr>
                <a:srgbClr val="000099"/>
              </a:buClr>
              <a:buSzPct val="75000"/>
            </a:pPr>
            <a:endParaRPr lang="en-US" sz="2200" dirty="0"/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200" dirty="0"/>
              <a:t>contacted server replies with name of server to contact</a:t>
            </a:r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endParaRPr lang="en-US" sz="2200" dirty="0"/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ja-JP" altLang="en-US" sz="2200" dirty="0"/>
              <a:t>“</a:t>
            </a:r>
            <a:r>
              <a:rPr lang="en-US" altLang="ja-JP" sz="2200" dirty="0"/>
              <a:t>I don</a:t>
            </a:r>
            <a:r>
              <a:rPr lang="ja-JP" altLang="en-US" sz="2200" dirty="0"/>
              <a:t>’</a:t>
            </a:r>
            <a:r>
              <a:rPr lang="en-US" altLang="ja-JP" sz="2200" dirty="0"/>
              <a:t>t know this name, but ask this server</a:t>
            </a:r>
            <a:r>
              <a:rPr lang="ja-JP" altLang="en-US" sz="2200" dirty="0"/>
              <a:t>”</a:t>
            </a:r>
            <a:endParaRPr lang="en-IN" altLang="ja-JP" sz="2200" dirty="0"/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 flipH="1">
            <a:off x="9635068" y="5091114"/>
            <a:ext cx="1234017" cy="795337"/>
            <a:chOff x="-44" y="1473"/>
            <a:chExt cx="981" cy="1105"/>
          </a:xfrm>
        </p:grpSpPr>
        <p:pic>
          <p:nvPicPr>
            <p:cNvPr id="10405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406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1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6354234" y="4244975"/>
            <a:ext cx="1234017" cy="795338"/>
            <a:chOff x="-44" y="1473"/>
            <a:chExt cx="981" cy="1105"/>
          </a:xfrm>
        </p:grpSpPr>
        <p:pic>
          <p:nvPicPr>
            <p:cNvPr id="10403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404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1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</p:grpSp>
      <p:grpSp>
        <p:nvGrpSpPr>
          <p:cNvPr id="5" name="Group 125"/>
          <p:cNvGrpSpPr>
            <a:grpSpLocks/>
          </p:cNvGrpSpPr>
          <p:nvPr/>
        </p:nvGrpSpPr>
        <p:grpSpPr bwMode="auto">
          <a:xfrm>
            <a:off x="9635067" y="3743325"/>
            <a:ext cx="520700" cy="641350"/>
            <a:chOff x="4140" y="429"/>
            <a:chExt cx="1425" cy="2396"/>
          </a:xfrm>
        </p:grpSpPr>
        <p:sp>
          <p:nvSpPr>
            <p:cNvPr id="10371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72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73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74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75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6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401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402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77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7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99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400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79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80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8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97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98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82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9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395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96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84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85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86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87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88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89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90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91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92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0393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94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10" name="Group 158"/>
          <p:cNvGrpSpPr>
            <a:grpSpLocks/>
          </p:cNvGrpSpPr>
          <p:nvPr/>
        </p:nvGrpSpPr>
        <p:grpSpPr bwMode="auto">
          <a:xfrm>
            <a:off x="6963834" y="2230438"/>
            <a:ext cx="520700" cy="641350"/>
            <a:chOff x="4140" y="429"/>
            <a:chExt cx="1425" cy="2396"/>
          </a:xfrm>
        </p:grpSpPr>
        <p:sp>
          <p:nvSpPr>
            <p:cNvPr id="10339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40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41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42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43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1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69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70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45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2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67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68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47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48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3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65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66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50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14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363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64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52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53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54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55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56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57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58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59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60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0361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62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15" name="Group 224"/>
          <p:cNvGrpSpPr>
            <a:grpSpLocks/>
          </p:cNvGrpSpPr>
          <p:nvPr/>
        </p:nvGrpSpPr>
        <p:grpSpPr bwMode="auto">
          <a:xfrm>
            <a:off x="8502651" y="968375"/>
            <a:ext cx="520700" cy="641350"/>
            <a:chOff x="4140" y="429"/>
            <a:chExt cx="1425" cy="2396"/>
          </a:xfrm>
        </p:grpSpPr>
        <p:sp>
          <p:nvSpPr>
            <p:cNvPr id="10307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08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09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10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11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6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37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38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13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7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35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36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15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16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8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33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34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18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19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331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32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320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21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22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23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24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325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26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27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28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0329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330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20" name="Group 257"/>
          <p:cNvGrpSpPr>
            <a:grpSpLocks/>
          </p:cNvGrpSpPr>
          <p:nvPr/>
        </p:nvGrpSpPr>
        <p:grpSpPr bwMode="auto">
          <a:xfrm>
            <a:off x="9590618" y="2220913"/>
            <a:ext cx="520700" cy="641350"/>
            <a:chOff x="4140" y="429"/>
            <a:chExt cx="1425" cy="2396"/>
          </a:xfrm>
        </p:grpSpPr>
        <p:sp>
          <p:nvSpPr>
            <p:cNvPr id="10275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76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77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78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79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1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05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06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281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2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303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04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283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84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3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0301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02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286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24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0299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0300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0288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89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90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91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92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0293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94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95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96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0297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0298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EE96E0A-0432-7BF4-8E8F-2DF7D8B265CD}"/>
              </a:ext>
            </a:extLst>
          </p:cNvPr>
          <p:cNvSpPr txBox="1"/>
          <p:nvPr/>
        </p:nvSpPr>
        <p:spPr>
          <a:xfrm>
            <a:off x="22663" y="866487"/>
            <a:ext cx="7488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70C0"/>
                </a:solidFill>
                <a:ea typeface="ＭＳ Ｐゴシック" pitchFamily="34" charset="-128"/>
              </a:rPr>
              <a:t>host at cis.poly.edu </a:t>
            </a:r>
            <a:r>
              <a:rPr lang="en-US" sz="2400" dirty="0">
                <a:ea typeface="ＭＳ Ｐゴシック" pitchFamily="34" charset="-128"/>
              </a:rPr>
              <a:t>wants IP address for </a:t>
            </a:r>
            <a:r>
              <a:rPr lang="en-US" sz="2400" dirty="0">
                <a:solidFill>
                  <a:srgbClr val="00B050"/>
                </a:solidFill>
                <a:ea typeface="ＭＳ Ｐゴシック" pitchFamily="34" charset="-128"/>
              </a:rPr>
              <a:t>gaia.cs.umass.edu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0" grpId="0" animBg="1"/>
      <p:bldP spid="202771" grpId="0" animBg="1"/>
      <p:bldP spid="202772" grpId="0" animBg="1"/>
      <p:bldP spid="202773" grpId="0" animBg="1"/>
      <p:bldP spid="202774" grpId="0" animBg="1"/>
      <p:bldP spid="202775" grpId="0" animBg="1"/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  <p:bldP spid="202815" grpId="0" animBg="1"/>
      <p:bldP spid="2028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pitchFamily="34" charset="-128"/>
              </a:rPr>
              <a:t>Application Layer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5950897" y="4881564"/>
            <a:ext cx="1644873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requesting host</a:t>
            </a:r>
            <a:endParaRPr lang="en-US" sz="2400">
              <a:latin typeface="Calibri" pitchFamily="34" charset="0"/>
            </a:endParaRPr>
          </a:p>
          <a:p>
            <a:pPr algn="ctr"/>
            <a:r>
              <a:rPr lang="en-US" sz="1600" i="1">
                <a:solidFill>
                  <a:srgbClr val="000099"/>
                </a:solidFill>
                <a:latin typeface="Calibri" pitchFamily="34" charset="0"/>
              </a:rPr>
              <a:t>cis.poly.edu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9307814" y="5775325"/>
            <a:ext cx="1710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latin typeface="Calibri" pitchFamily="34" charset="0"/>
              </a:rPr>
              <a:t>gaia.cs.umass.edu</a:t>
            </a:r>
          </a:p>
        </p:txBody>
      </p:sp>
      <p:sp>
        <p:nvSpPr>
          <p:cNvPr id="11270" name="Text Box 17"/>
          <p:cNvSpPr txBox="1">
            <a:spLocks noChangeArrowheads="1"/>
          </p:cNvSpPr>
          <p:nvPr/>
        </p:nvSpPr>
        <p:spPr bwMode="auto">
          <a:xfrm>
            <a:off x="7721601" y="481013"/>
            <a:ext cx="268181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latin typeface="Calibri" pitchFamily="34" charset="0"/>
              </a:rPr>
              <a:t>root DNS server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7048500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7134224" y="1220788"/>
            <a:ext cx="1285876" cy="969386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>
            <a:off x="9957301" y="2796352"/>
            <a:ext cx="8965" cy="9318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9783234" y="2889464"/>
            <a:ext cx="24154" cy="83809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>
            <a:off x="9062508" y="1150937"/>
            <a:ext cx="876600" cy="1066216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7302501" y="2933701"/>
            <a:ext cx="12700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588001" y="3062286"/>
            <a:ext cx="2501900" cy="615949"/>
            <a:chOff x="2838" y="2132"/>
            <a:chExt cx="1182" cy="388"/>
          </a:xfrm>
        </p:grpSpPr>
        <p:sp>
          <p:nvSpPr>
            <p:cNvPr id="11431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 pitchFamily="34" charset="0"/>
              </a:endParaRPr>
            </a:p>
          </p:txBody>
        </p:sp>
        <p:sp>
          <p:nvSpPr>
            <p:cNvPr id="11432" name="Text Box 26"/>
            <p:cNvSpPr txBox="1">
              <a:spLocks noChangeArrowheads="1"/>
            </p:cNvSpPr>
            <p:nvPr/>
          </p:nvSpPr>
          <p:spPr bwMode="auto">
            <a:xfrm>
              <a:off x="3026" y="2132"/>
              <a:ext cx="80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latin typeface="Calibri" pitchFamily="34" charset="0"/>
                </a:rPr>
                <a:t>local DNS server</a:t>
              </a:r>
              <a:endParaRPr lang="en-US" sz="2400">
                <a:latin typeface="Calibri" pitchFamily="34" charset="0"/>
              </a:endParaRPr>
            </a:p>
            <a:p>
              <a:pPr algn="ctr"/>
              <a:r>
                <a:rPr lang="en-US" sz="1600" i="1">
                  <a:solidFill>
                    <a:srgbClr val="000099"/>
                  </a:solidFill>
                  <a:latin typeface="Calibri" pitchFamily="34" charset="0"/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719857" y="377190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1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7443757" y="143827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2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9399058" y="140596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3</a:t>
            </a: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9957301" y="311485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4</a:t>
            </a: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9549901" y="315753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5</a:t>
            </a: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8982076" y="1749980"/>
            <a:ext cx="6027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6</a:t>
            </a: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11284" name="Text Box 60"/>
          <p:cNvSpPr txBox="1">
            <a:spLocks noChangeArrowheads="1"/>
          </p:cNvSpPr>
          <p:nvPr/>
        </p:nvSpPr>
        <p:spPr bwMode="auto">
          <a:xfrm>
            <a:off x="8951563" y="4429126"/>
            <a:ext cx="22348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Calibri" pitchFamily="34" charset="0"/>
              </a:rPr>
              <a:t>authoritative DNS server</a:t>
            </a:r>
            <a:endParaRPr lang="en-US" sz="2400">
              <a:latin typeface="Calibri" pitchFamily="34" charset="0"/>
            </a:endParaRPr>
          </a:p>
          <a:p>
            <a:pPr algn="ctr"/>
            <a:r>
              <a:rPr lang="en-US" sz="1600" b="1">
                <a:latin typeface="Calibri" pitchFamily="34" charset="0"/>
              </a:rPr>
              <a:t>dns.cs.umass.edu</a:t>
            </a:r>
            <a:endParaRPr lang="en-US" sz="1600">
              <a:latin typeface="Calibri" pitchFamily="34" charset="0"/>
            </a:endParaRPr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7915804" y="174998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7</a:t>
            </a:r>
            <a:endParaRPr lang="en-US" sz="2400" dirty="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7456456" y="379095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CC0000"/>
                </a:solidFill>
                <a:latin typeface="Calibri" pitchFamily="34" charset="0"/>
              </a:rPr>
              <a:t>8</a:t>
            </a:r>
            <a:endParaRPr lang="en-US" sz="2400">
              <a:solidFill>
                <a:srgbClr val="CC0000"/>
              </a:solidFill>
              <a:latin typeface="Calibri" pitchFamily="34" charset="0"/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 flipH="1" flipV="1">
            <a:off x="9062509" y="1438275"/>
            <a:ext cx="638234" cy="78104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>
            <a:off x="7456455" y="1471614"/>
            <a:ext cx="990601" cy="74554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89" name="Text Box 65"/>
          <p:cNvSpPr txBox="1">
            <a:spLocks noChangeArrowheads="1"/>
          </p:cNvSpPr>
          <p:nvPr/>
        </p:nvSpPr>
        <p:spPr bwMode="auto">
          <a:xfrm>
            <a:off x="9581154" y="2355663"/>
            <a:ext cx="2681816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TLD DNS server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11290" name="Rectangle 66"/>
          <p:cNvSpPr>
            <a:spLocks noGrp="1" noChangeArrowheads="1"/>
          </p:cNvSpPr>
          <p:nvPr>
            <p:ph type="title"/>
          </p:nvPr>
        </p:nvSpPr>
        <p:spPr>
          <a:xfrm>
            <a:off x="118832" y="221973"/>
            <a:ext cx="6546851" cy="11430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z="4000" dirty="0">
                <a:ea typeface="ＭＳ Ｐゴシック" pitchFamily="34" charset="-128"/>
              </a:rPr>
              <a:t>DNS name resolution example</a:t>
            </a:r>
          </a:p>
        </p:txBody>
      </p:sp>
      <p:sp>
        <p:nvSpPr>
          <p:cNvPr id="11292" name="Rectangle 69"/>
          <p:cNvSpPr>
            <a:spLocks noChangeArrowheads="1"/>
          </p:cNvSpPr>
          <p:nvPr/>
        </p:nvSpPr>
        <p:spPr bwMode="auto">
          <a:xfrm>
            <a:off x="326913" y="2119312"/>
            <a:ext cx="5385618" cy="341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sz="2800" i="1" dirty="0">
                <a:solidFill>
                  <a:srgbClr val="CC0000"/>
                </a:solidFill>
                <a:latin typeface="Gill Sans MT" pitchFamily="34" charset="0"/>
              </a:rPr>
              <a:t>Recursive query:</a:t>
            </a:r>
          </a:p>
          <a:p>
            <a:pPr marL="342900" indent="-342900"/>
            <a:endParaRPr lang="en-US" sz="2800" i="1" dirty="0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IN" sz="2200" dirty="0"/>
              <a:t>A recursive DNS lookup is where one DNS server communicates with several other DNS servers to hunt down an IP address and return it to the client.</a:t>
            </a:r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endParaRPr lang="en-IN" sz="2200" dirty="0"/>
          </a:p>
          <a:p>
            <a:pPr marL="342900" indent="-342900" algn="just">
              <a:lnSpc>
                <a:spcPct val="85000"/>
              </a:lnSpc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IN" sz="2200" dirty="0"/>
              <a:t>Each server will query the next level server until the IP address is found and returns the IP address in reverse.</a:t>
            </a:r>
          </a:p>
          <a:p>
            <a:pPr>
              <a:lnSpc>
                <a:spcPct val="85000"/>
              </a:lnSpc>
              <a:buClr>
                <a:srgbClr val="000099"/>
              </a:buClr>
              <a:buSzPct val="75000"/>
            </a:pPr>
            <a:endParaRPr lang="en-US" sz="2400" dirty="0">
              <a:latin typeface="Gill Sans MT" pitchFamily="34" charset="0"/>
            </a:endParaRPr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 flipH="1">
            <a:off x="9635068" y="5091114"/>
            <a:ext cx="1234017" cy="795337"/>
            <a:chOff x="-44" y="1473"/>
            <a:chExt cx="981" cy="1105"/>
          </a:xfrm>
        </p:grpSpPr>
        <p:pic>
          <p:nvPicPr>
            <p:cNvPr id="11429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430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1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6354234" y="4244975"/>
            <a:ext cx="1234017" cy="795338"/>
            <a:chOff x="-44" y="1473"/>
            <a:chExt cx="981" cy="1105"/>
          </a:xfrm>
        </p:grpSpPr>
        <p:pic>
          <p:nvPicPr>
            <p:cNvPr id="11427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428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8127 w 356"/>
                <a:gd name="T3" fmla="*/ 4361 h 368"/>
                <a:gd name="T4" fmla="*/ 68956 w 356"/>
                <a:gd name="T5" fmla="*/ 90881 h 368"/>
                <a:gd name="T6" fmla="*/ 15197 w 356"/>
                <a:gd name="T7" fmla="*/ 11365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</p:grpSp>
      <p:grpSp>
        <p:nvGrpSpPr>
          <p:cNvPr id="5" name="Group 125"/>
          <p:cNvGrpSpPr>
            <a:grpSpLocks/>
          </p:cNvGrpSpPr>
          <p:nvPr/>
        </p:nvGrpSpPr>
        <p:grpSpPr bwMode="auto">
          <a:xfrm>
            <a:off x="9635067" y="3743325"/>
            <a:ext cx="520700" cy="641350"/>
            <a:chOff x="4140" y="429"/>
            <a:chExt cx="1425" cy="2396"/>
          </a:xfrm>
        </p:grpSpPr>
        <p:sp>
          <p:nvSpPr>
            <p:cNvPr id="11395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96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97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98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99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6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425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426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401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7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423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424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403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04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8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21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422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406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9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419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420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408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09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410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411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12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413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14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15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16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1417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418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10" name="Group 158"/>
          <p:cNvGrpSpPr>
            <a:grpSpLocks/>
          </p:cNvGrpSpPr>
          <p:nvPr/>
        </p:nvGrpSpPr>
        <p:grpSpPr bwMode="auto">
          <a:xfrm>
            <a:off x="6963834" y="2230438"/>
            <a:ext cx="520700" cy="641350"/>
            <a:chOff x="4140" y="429"/>
            <a:chExt cx="1425" cy="2396"/>
          </a:xfrm>
        </p:grpSpPr>
        <p:sp>
          <p:nvSpPr>
            <p:cNvPr id="11363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64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65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66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67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1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393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94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69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2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391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92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71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72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3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389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90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74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14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87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88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76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77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78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79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80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81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82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83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84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1385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86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15" name="Group 224"/>
          <p:cNvGrpSpPr>
            <a:grpSpLocks/>
          </p:cNvGrpSpPr>
          <p:nvPr/>
        </p:nvGrpSpPr>
        <p:grpSpPr bwMode="auto">
          <a:xfrm>
            <a:off x="8502651" y="968375"/>
            <a:ext cx="520700" cy="641350"/>
            <a:chOff x="4140" y="429"/>
            <a:chExt cx="1425" cy="2396"/>
          </a:xfrm>
        </p:grpSpPr>
        <p:sp>
          <p:nvSpPr>
            <p:cNvPr id="11331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32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33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34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35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6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361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62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37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7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359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60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39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40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18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357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58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42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19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55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56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44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45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46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47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48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49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50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51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52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1353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54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grpSp>
        <p:nvGrpSpPr>
          <p:cNvPr id="20" name="Group 257"/>
          <p:cNvGrpSpPr>
            <a:grpSpLocks/>
          </p:cNvGrpSpPr>
          <p:nvPr/>
        </p:nvGrpSpPr>
        <p:grpSpPr bwMode="auto">
          <a:xfrm>
            <a:off x="9590618" y="2220913"/>
            <a:ext cx="520700" cy="641350"/>
            <a:chOff x="4140" y="429"/>
            <a:chExt cx="1425" cy="2396"/>
          </a:xfrm>
        </p:grpSpPr>
        <p:sp>
          <p:nvSpPr>
            <p:cNvPr id="11299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6 w 354"/>
                <a:gd name="T3" fmla="*/ 13 h 2742"/>
                <a:gd name="T4" fmla="*/ 6 w 354"/>
                <a:gd name="T5" fmla="*/ 99 h 2742"/>
                <a:gd name="T6" fmla="*/ 0 w 354"/>
                <a:gd name="T7" fmla="*/ 10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00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01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4 w 211"/>
                <a:gd name="T3" fmla="*/ 9 h 2537"/>
                <a:gd name="T4" fmla="*/ 2 w 211"/>
                <a:gd name="T5" fmla="*/ 94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02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6 h 226"/>
                <a:gd name="T4" fmla="*/ 6 w 328"/>
                <a:gd name="T5" fmla="*/ 9 h 226"/>
                <a:gd name="T6" fmla="*/ 0 w 328"/>
                <a:gd name="T7" fmla="*/ 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03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1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329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30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05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2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327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28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07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08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23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325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26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10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6 w 328"/>
                <a:gd name="T3" fmla="*/ 5 h 226"/>
                <a:gd name="T4" fmla="*/ 6 w 328"/>
                <a:gd name="T5" fmla="*/ 8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grpSp>
          <p:nvGrpSpPr>
            <p:cNvPr id="24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323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11324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11312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13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6 w 296"/>
                <a:gd name="T3" fmla="*/ 5 h 256"/>
                <a:gd name="T4" fmla="*/ 6 w 296"/>
                <a:gd name="T5" fmla="*/ 9 h 256"/>
                <a:gd name="T6" fmla="*/ 0 w 296"/>
                <a:gd name="T7" fmla="*/ 3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14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6 w 304"/>
                <a:gd name="T3" fmla="*/ 7 h 288"/>
                <a:gd name="T4" fmla="*/ 5 w 304"/>
                <a:gd name="T5" fmla="*/ 11 h 288"/>
                <a:gd name="T6" fmla="*/ 2 w 304"/>
                <a:gd name="T7" fmla="*/ 5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15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16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 h 240"/>
                <a:gd name="T2" fmla="*/ 2 w 306"/>
                <a:gd name="T3" fmla="*/ 9 h 240"/>
                <a:gd name="T4" fmla="*/ 6 w 306"/>
                <a:gd name="T5" fmla="*/ 5 h 240"/>
                <a:gd name="T6" fmla="*/ 6 w 306"/>
                <a:gd name="T7" fmla="*/ 0 h 240"/>
                <a:gd name="T8" fmla="*/ 0 w 306"/>
                <a:gd name="T9" fmla="*/ 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11317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18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19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20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rgbClr val="FF0000"/>
                </a:solidFill>
                <a:latin typeface="Calibri" pitchFamily="34" charset="0"/>
              </a:endParaRPr>
            </a:p>
          </p:txBody>
        </p:sp>
        <p:sp>
          <p:nvSpPr>
            <p:cNvPr id="11321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322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465192A-EBBB-0D41-25B3-6161C4D355B5}"/>
              </a:ext>
            </a:extLst>
          </p:cNvPr>
          <p:cNvSpPr txBox="1"/>
          <p:nvPr/>
        </p:nvSpPr>
        <p:spPr>
          <a:xfrm>
            <a:off x="119108" y="1116815"/>
            <a:ext cx="7488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70C0"/>
                </a:solidFill>
                <a:ea typeface="ＭＳ Ｐゴシック" pitchFamily="34" charset="-128"/>
              </a:rPr>
              <a:t>host at cis.poly.edu </a:t>
            </a:r>
            <a:r>
              <a:rPr lang="en-US" sz="2400" dirty="0">
                <a:ea typeface="ＭＳ Ｐゴシック" pitchFamily="34" charset="-128"/>
              </a:rPr>
              <a:t>wants IP address for </a:t>
            </a:r>
            <a:r>
              <a:rPr lang="en-US" sz="2400" dirty="0">
                <a:solidFill>
                  <a:srgbClr val="00B050"/>
                </a:solidFill>
                <a:ea typeface="ＭＳ Ｐゴシック" pitchFamily="34" charset="-128"/>
              </a:rPr>
              <a:t>gaia.cs.umass.edu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0" grpId="0" animBg="1"/>
      <p:bldP spid="202771" grpId="0" animBg="1"/>
      <p:bldP spid="202772" grpId="0" animBg="1"/>
      <p:bldP spid="202773" grpId="0" animBg="1"/>
      <p:bldP spid="202774" grpId="0" animBg="1"/>
      <p:bldP spid="202775" grpId="0" animBg="1"/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  <p:bldP spid="202815" grpId="0" animBg="1"/>
      <p:bldP spid="2028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dirty="0">
                <a:solidFill>
                  <a:srgbClr val="00B050"/>
                </a:solidFill>
              </a:rPr>
              <a:t>Thank you 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32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8CA6BD4B6BB458EC4DF3BC6B8455E" ma:contentTypeVersion="2" ma:contentTypeDescription="Create a new document." ma:contentTypeScope="" ma:versionID="4c1744822c704be929cff37fdeaf54d0">
  <xsd:schema xmlns:xsd="http://www.w3.org/2001/XMLSchema" xmlns:xs="http://www.w3.org/2001/XMLSchema" xmlns:p="http://schemas.microsoft.com/office/2006/metadata/properties" xmlns:ns2="5e62a2dd-ff91-4591-8d2f-adadc8198891" targetNamespace="http://schemas.microsoft.com/office/2006/metadata/properties" ma:root="true" ma:fieldsID="b09255625856ef7ac3b4d8dfcdef169f" ns2:_="">
    <xsd:import namespace="5e62a2dd-ff91-4591-8d2f-adadc819889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2a2dd-ff91-4591-8d2f-adadc81988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E2E494-7E83-48A3-A37B-6A0EF14651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951B70-9DB6-4529-85A7-BC9F3B7C4C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2a2dd-ff91-4591-8d2f-adadc8198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989B67-2555-4DB6-B147-5FFEA8141233}">
  <ds:schemaRefs>
    <ds:schemaRef ds:uri="http://purl.org/dc/terms/"/>
    <ds:schemaRef ds:uri="5e62a2dd-ff91-4591-8d2f-adadc8198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827</Words>
  <Application>Microsoft Office PowerPoint</Application>
  <PresentationFormat>Widescreen</PresentationFormat>
  <Paragraphs>141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Arial</vt:lpstr>
      <vt:lpstr>BioRhyme ExtraBold</vt:lpstr>
      <vt:lpstr>Bookman Old Style</vt:lpstr>
      <vt:lpstr>Calibri</vt:lpstr>
      <vt:lpstr>Calibri Light</vt:lpstr>
      <vt:lpstr>Gill Sans MT</vt:lpstr>
      <vt:lpstr>Poppins</vt:lpstr>
      <vt:lpstr>Wingdings</vt:lpstr>
      <vt:lpstr>Office Theme</vt:lpstr>
      <vt:lpstr>PowerPoint Presentation</vt:lpstr>
      <vt:lpstr>DNS </vt:lpstr>
      <vt:lpstr>DNS</vt:lpstr>
      <vt:lpstr>Types of Domain name spaces</vt:lpstr>
      <vt:lpstr>Types of Domain name spaces…</vt:lpstr>
      <vt:lpstr>The DNS Name Space</vt:lpstr>
      <vt:lpstr>Domain Names and Labels</vt:lpstr>
      <vt:lpstr>DNS Resolution</vt:lpstr>
      <vt:lpstr>DNS Resolution…</vt:lpstr>
      <vt:lpstr>DNS name resolution example</vt:lpstr>
      <vt:lpstr>DNS name resolution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vege</dc:creator>
  <cp:lastModifiedBy>GORLA VENKATA GANESH</cp:lastModifiedBy>
  <cp:revision>143</cp:revision>
  <dcterms:created xsi:type="dcterms:W3CDTF">2016-10-27T15:05:54Z</dcterms:created>
  <dcterms:modified xsi:type="dcterms:W3CDTF">2025-12-17T06:47:15Z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0x01010057C8CA6BD4B6BB458EC4DF3BC6B8455E</vt:lpwstr>
  </property>
</Properties>
</file>