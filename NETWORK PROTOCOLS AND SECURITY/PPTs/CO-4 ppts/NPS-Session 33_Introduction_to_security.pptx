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474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C8D22-8B36-44C1-8733-DBE880CC7E56}" v="3" dt="2021-12-06T07:05:13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44196-20C1-42AF-B0BD-3A0C01340ABD}" type="datetimeFigureOut">
              <a:rPr lang="en-AU" smtClean="0"/>
              <a:pPr/>
              <a:t>17/12/2025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46252-7977-470F-A63B-F34B0A5EB21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49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15CS2007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Database Systems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3578" y="6356350"/>
            <a:ext cx="9933709" cy="365125"/>
          </a:xfrm>
        </p:spPr>
        <p:txBody>
          <a:bodyPr/>
          <a:lstStyle/>
          <a:p>
            <a:r>
              <a:rPr lang="en-AU" dirty="0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1026" name="Picture 2" descr="K L University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5251479"/>
            <a:ext cx="46863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9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669087" cy="365125"/>
          </a:xfrm>
        </p:spPr>
        <p:txBody>
          <a:bodyPr/>
          <a:lstStyle/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050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54"/>
          <a:stretch/>
        </p:blipFill>
        <p:spPr bwMode="auto">
          <a:xfrm>
            <a:off x="11140094" y="-15902"/>
            <a:ext cx="105190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80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15CS2007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Database Systems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1850" y="6356350"/>
            <a:ext cx="9160048" cy="365125"/>
          </a:xfrm>
        </p:spPr>
        <p:txBody>
          <a:bodyPr/>
          <a:lstStyle/>
          <a:p>
            <a:r>
              <a:rPr lang="en-AU" dirty="0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3074" name="Picture 2" descr="K L University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07818"/>
            <a:ext cx="46863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19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284"/>
            <a:ext cx="5181600" cy="4946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6187"/>
            <a:ext cx="5181600" cy="4930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4098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4098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76"/>
          <a:stretch/>
        </p:blipFill>
        <p:spPr bwMode="auto">
          <a:xfrm>
            <a:off x="11131781" y="0"/>
            <a:ext cx="106021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8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0759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98190"/>
            <a:ext cx="5157787" cy="40914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759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98190"/>
            <a:ext cx="5183188" cy="40914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</a:t>
            </a:r>
            <a:r>
              <a:rPr lang="en-AU" dirty="0"/>
              <a:t> </a:t>
            </a:r>
            <a:r>
              <a:rPr lang="en-AU" dirty="0">
                <a:solidFill>
                  <a:srgbClr val="C00000"/>
                </a:solidFill>
              </a:rPr>
              <a:t>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5122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92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6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57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47898" y="6356350"/>
            <a:ext cx="914400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5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80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21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 rot="5400000">
            <a:off x="11126258" y="-1059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41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 rot="5400000">
            <a:off x="11126259" y="-59248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83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References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838200" y="1238596"/>
            <a:ext cx="10515599" cy="5012575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pic>
        <p:nvPicPr>
          <p:cNvPr id="9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16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733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5470"/>
            <a:ext cx="10515600" cy="5021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87FF5-4BF9-4B21-B0D2-9B7FF2B27D7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084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9525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Introduction to Security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8646" y="508500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- 33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Introduction to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5469"/>
            <a:ext cx="10515600" cy="54151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Bookman Old Style" pitchFamily="18" charset="0"/>
              </a:rPr>
              <a:t>Security: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	Ensuring the (secrecy) confidentiality, data integrity and availability of components of computer system.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1. </a:t>
            </a:r>
            <a:r>
              <a:rPr lang="en-US" b="1" dirty="0">
                <a:latin typeface="Bookman Old Style" pitchFamily="18" charset="0"/>
              </a:rPr>
              <a:t>Network security </a:t>
            </a:r>
            <a:r>
              <a:rPr lang="en-US" dirty="0">
                <a:latin typeface="Bookman Old Style" pitchFamily="18" charset="0"/>
              </a:rPr>
              <a:t>– measures to protect data during their transmission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2. </a:t>
            </a:r>
            <a:r>
              <a:rPr lang="en-US" b="1" dirty="0">
                <a:latin typeface="Bookman Old Style" pitchFamily="18" charset="0"/>
              </a:rPr>
              <a:t>Internet security </a:t>
            </a:r>
            <a:r>
              <a:rPr lang="en-US" dirty="0">
                <a:latin typeface="Bookman Old Style" pitchFamily="18" charset="0"/>
              </a:rPr>
              <a:t>- measures to protect data during their transmission over a collection of interconnected networks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3. </a:t>
            </a:r>
            <a:r>
              <a:rPr lang="en-US" b="1" dirty="0">
                <a:latin typeface="Bookman Old Style" pitchFamily="18" charset="0"/>
              </a:rPr>
              <a:t>Computer security </a:t>
            </a:r>
            <a:r>
              <a:rPr lang="en-US" dirty="0">
                <a:latin typeface="Bookman Old Style" pitchFamily="18" charset="0"/>
              </a:rPr>
              <a:t>– Computer security, also called </a:t>
            </a:r>
            <a:r>
              <a:rPr lang="en-US" dirty="0" err="1">
                <a:latin typeface="Bookman Old Style" pitchFamily="18" charset="0"/>
              </a:rPr>
              <a:t>cybersecurity</a:t>
            </a:r>
            <a:r>
              <a:rPr lang="en-US" dirty="0">
                <a:latin typeface="Bookman Old Style" pitchFamily="18" charset="0"/>
              </a:rPr>
              <a:t>, is the protection of computer systems and information from harm, theft, and unauthorized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44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Key Security Concepts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</a:t>
            </a:fld>
            <a:endParaRPr lang="en-AU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4656138" y="5534025"/>
            <a:ext cx="29527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IN" altLang="en-US" sz="2400" dirty="0">
                <a:latin typeface="Bookman Old Style" pitchFamily="18" charset="0"/>
                <a:ea typeface="ＭＳ Ｐゴシック" pitchFamily="34" charset="-128"/>
              </a:rPr>
              <a:t>Authentication</a:t>
            </a:r>
          </a:p>
          <a:p>
            <a:pPr eaLnBrk="1" hangingPunct="1"/>
            <a:r>
              <a:rPr lang="en-IN" altLang="en-US" sz="2400" dirty="0">
                <a:latin typeface="Bookman Old Style" pitchFamily="18" charset="0"/>
                <a:ea typeface="ＭＳ Ｐゴシック" pitchFamily="34" charset="-128"/>
              </a:rPr>
              <a:t>Non-repudiation</a:t>
            </a:r>
          </a:p>
        </p:txBody>
      </p:sp>
      <p:pic>
        <p:nvPicPr>
          <p:cNvPr id="8" name="Picture 4" descr="&#10;Fig1.1.pdf                                                     00ABB570  Mnementh                      BEAE7A2F:"/>
          <p:cNvPicPr>
            <a:picLocks noChangeAspect="1" noChangeArrowheads="1"/>
          </p:cNvPicPr>
          <p:nvPr/>
        </p:nvPicPr>
        <p:blipFill>
          <a:blip r:embed="rId2" cstate="print"/>
          <a:srcRect l="4633" t="10739" r="4633" b="21477"/>
          <a:stretch>
            <a:fillRect/>
          </a:stretch>
        </p:blipFill>
        <p:spPr bwMode="auto">
          <a:xfrm>
            <a:off x="3863974" y="1346200"/>
            <a:ext cx="5345339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324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Bookman Old Style" pitchFamily="18" charset="0"/>
              </a:rPr>
              <a:t>Security Goals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Bookman Old Style" pitchFamily="18" charset="0"/>
              </a:rPr>
              <a:t>Confidentiality, data integrity and availability are the Security goals to protect computer assets from human errors, natural disasters, physical and electronic maliciousness.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</a:t>
            </a:fld>
            <a:endParaRPr lang="en-A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9246" y="2814028"/>
            <a:ext cx="7248117" cy="3467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51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ookman Old Style" pitchFamily="18" charset="0"/>
              </a:rPr>
              <a:t>Confidentiality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Bookman Old Style" pitchFamily="18" charset="0"/>
              </a:rPr>
              <a:t>Assures that </a:t>
            </a:r>
            <a:r>
              <a:rPr lang="en-US" sz="2400" dirty="0">
                <a:solidFill>
                  <a:srgbClr val="00B050"/>
                </a:solidFill>
                <a:latin typeface="Bookman Old Style" pitchFamily="18" charset="0"/>
              </a:rPr>
              <a:t>private or confidential information</a:t>
            </a:r>
            <a:r>
              <a:rPr lang="en-US" sz="2400" dirty="0">
                <a:latin typeface="Bookman Old Style" pitchFamily="18" charset="0"/>
              </a:rPr>
              <a:t> is not made available or disclosed to unauthorized individuals</a:t>
            </a:r>
          </a:p>
          <a:p>
            <a:pPr algn="just"/>
            <a:r>
              <a:rPr lang="en-US" sz="2400" dirty="0">
                <a:latin typeface="Bookman Old Style" pitchFamily="18" charset="0"/>
              </a:rPr>
              <a:t>Specifies that only the </a:t>
            </a:r>
            <a:r>
              <a:rPr lang="en-US" sz="2400" dirty="0">
                <a:solidFill>
                  <a:srgbClr val="00B050"/>
                </a:solidFill>
                <a:latin typeface="Bookman Old Style" pitchFamily="18" charset="0"/>
              </a:rPr>
              <a:t>sender and the intended recipient(s)</a:t>
            </a:r>
            <a:r>
              <a:rPr lang="en-US" sz="2400" dirty="0">
                <a:latin typeface="Bookman Old Style" pitchFamily="18" charset="0"/>
              </a:rPr>
              <a:t> should be able to access the contents of a message.</a:t>
            </a:r>
          </a:p>
          <a:p>
            <a:pPr algn="just"/>
            <a:r>
              <a:rPr lang="en-US" sz="2400" dirty="0">
                <a:latin typeface="Bookman Old Style" pitchFamily="18" charset="0"/>
              </a:rPr>
              <a:t>Another user C gets access to this message, which is not desired and therefore, defeats the purpose of confidentiality.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5</a:t>
            </a:fld>
            <a:endParaRPr lang="en-A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8434" y="3852725"/>
            <a:ext cx="7236823" cy="2443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0099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ookman Old Style" pitchFamily="18" charset="0"/>
              </a:rPr>
              <a:t>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4856"/>
            <a:ext cx="10515600" cy="502149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IN" dirty="0">
                <a:latin typeface="Bookman Old Style" pitchFamily="18" charset="0"/>
              </a:rPr>
              <a:t>       Integrity deals with making sure that things are not changed from their </a:t>
            </a:r>
            <a:r>
              <a:rPr lang="en-IN" dirty="0">
                <a:solidFill>
                  <a:srgbClr val="00B050"/>
                </a:solidFill>
                <a:latin typeface="Bookman Old Style" pitchFamily="18" charset="0"/>
              </a:rPr>
              <a:t>true form</a:t>
            </a:r>
            <a:r>
              <a:rPr lang="en-IN" dirty="0">
                <a:latin typeface="Bookman Old Style" pitchFamily="18" charset="0"/>
              </a:rPr>
              <a:t>. Attacks against integrity are those that try and modify something that’s likely going to be depended on later. </a:t>
            </a:r>
          </a:p>
          <a:p>
            <a:pPr algn="just">
              <a:buNone/>
            </a:pPr>
            <a:r>
              <a:rPr lang="en-IN" dirty="0">
                <a:latin typeface="Bookman Old Style" pitchFamily="18" charset="0"/>
              </a:rPr>
              <a:t>            Examples include changing prices in an ecommerce database, or changing someone’s pay rate on a spreadsheet.</a:t>
            </a:r>
            <a:endParaRPr lang="en-US" dirty="0">
              <a:latin typeface="Bookman Old Style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071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7110"/>
            <a:ext cx="10515600" cy="6857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Bookman Old Style" pitchFamily="18" charset="0"/>
              </a:rPr>
              <a:t>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1051" y="1517418"/>
            <a:ext cx="10515600" cy="5021494"/>
          </a:xfrm>
        </p:spPr>
        <p:txBody>
          <a:bodyPr/>
          <a:lstStyle/>
          <a:p>
            <a:r>
              <a:rPr lang="en-US" dirty="0">
                <a:latin typeface="Bookman Old Style" pitchFamily="18" charset="0"/>
              </a:rPr>
              <a:t>Assures that systems work promptly and service is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not denied to authorized users</a:t>
            </a:r>
            <a:r>
              <a:rPr lang="en-US" dirty="0">
                <a:latin typeface="Bookman Old Style" pitchFamily="18" charset="0"/>
              </a:rPr>
              <a:t>.</a:t>
            </a:r>
          </a:p>
          <a:p>
            <a:r>
              <a:rPr lang="en-US" dirty="0">
                <a:latin typeface="Bookman Old Style" pitchFamily="18" charset="0"/>
              </a:rPr>
              <a:t>Ensuring that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authorized parties are not denied access </a:t>
            </a:r>
            <a:r>
              <a:rPr lang="en-US" dirty="0">
                <a:latin typeface="Bookman Old Style" pitchFamily="18" charset="0"/>
              </a:rPr>
              <a:t>to information and resources.</a:t>
            </a:r>
          </a:p>
          <a:p>
            <a:endParaRPr lang="en-US" dirty="0">
              <a:latin typeface="Bookman Old Style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33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Bookman Old Style" pitchFamily="18" charset="0"/>
              </a:rPr>
              <a:t>Authentication is the process of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verifying the identity </a:t>
            </a:r>
            <a:r>
              <a:rPr lang="en-US" dirty="0">
                <a:latin typeface="Bookman Old Style" pitchFamily="18" charset="0"/>
              </a:rPr>
              <a:t>of user or information. </a:t>
            </a:r>
          </a:p>
          <a:p>
            <a:pPr algn="just"/>
            <a:r>
              <a:rPr lang="en-US" dirty="0">
                <a:latin typeface="Bookman Old Style" pitchFamily="18" charset="0"/>
              </a:rPr>
              <a:t>User authentication is the process of verifying the identity of user when that user logs into a computer system.</a:t>
            </a:r>
          </a:p>
          <a:p>
            <a:pPr algn="just"/>
            <a:r>
              <a:rPr lang="en-US" dirty="0">
                <a:latin typeface="Bookman Old Style" pitchFamily="18" charset="0"/>
              </a:rPr>
              <a:t>The main objective of authentication is to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allow authorized users to access</a:t>
            </a:r>
            <a:r>
              <a:rPr lang="en-US" dirty="0">
                <a:latin typeface="Bookman Old Style" pitchFamily="18" charset="0"/>
              </a:rPr>
              <a:t> the computer and to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deny access to the unauthorized users</a:t>
            </a:r>
            <a:r>
              <a:rPr lang="en-US" dirty="0">
                <a:latin typeface="Bookman Old Style" pitchFamily="18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366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Non-repudiation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Bookman Old Style" pitchFamily="18" charset="0"/>
              </a:rPr>
              <a:t>Non-repudiation is the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assurance that someone cannot deny something</a:t>
            </a:r>
            <a:r>
              <a:rPr lang="en-US" dirty="0">
                <a:latin typeface="Bookman Old Style" pitchFamily="18" charset="0"/>
              </a:rPr>
              <a:t>. </a:t>
            </a:r>
          </a:p>
          <a:p>
            <a:pPr algn="just"/>
            <a:endParaRPr lang="en-US" dirty="0">
              <a:latin typeface="Bookman Old Style" pitchFamily="18" charset="0"/>
            </a:endParaRPr>
          </a:p>
          <a:p>
            <a:pPr algn="just"/>
            <a:r>
              <a:rPr lang="en-US" dirty="0">
                <a:latin typeface="Bookman Old Style" pitchFamily="18" charset="0"/>
              </a:rPr>
              <a:t>It does not allow the sender of a message to refuse the claim of not sending that message.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486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97172" y="2885258"/>
            <a:ext cx="10239154" cy="89993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br>
              <a:rPr lang="en-IN" b="1" dirty="0">
                <a:latin typeface="Bookman Old Style" panose="02050604050505020204" pitchFamily="18" charset="0"/>
              </a:rPr>
            </a:br>
            <a:br>
              <a:rPr lang="en-IN" b="1" dirty="0">
                <a:latin typeface="Bookman Old Style" panose="02050604050505020204" pitchFamily="18" charset="0"/>
              </a:rPr>
            </a:br>
            <a:r>
              <a:rPr lang="en-IN" sz="4900" dirty="0">
                <a:latin typeface="Bookman Old Style" panose="02050604050505020204" pitchFamily="18" charset="0"/>
              </a:rPr>
              <a:t> Security Attacks</a:t>
            </a:r>
            <a:endParaRPr lang="en-US" sz="4900" dirty="0"/>
          </a:p>
        </p:txBody>
      </p:sp>
    </p:spTree>
    <p:extLst>
      <p:ext uri="{BB962C8B-B14F-4D97-AF65-F5344CB8AC3E}">
        <p14:creationId xmlns:p14="http://schemas.microsoft.com/office/powerpoint/2010/main" val="8095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Levels of Impact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altLang="en-US" dirty="0">
              <a:latin typeface="Bookman Old Style" pitchFamily="18" charset="0"/>
              <a:ea typeface="ＭＳ Ｐゴシック" pitchFamily="34" charset="-128"/>
            </a:endParaRPr>
          </a:p>
          <a:p>
            <a:pPr>
              <a:buFont typeface="Wingdings" pitchFamily="2" charset="2"/>
              <a:buChar char="Ø"/>
            </a:pPr>
            <a:r>
              <a:rPr lang="en-US" altLang="en-US" dirty="0">
                <a:latin typeface="Bookman Old Style" pitchFamily="18" charset="0"/>
                <a:ea typeface="ＭＳ Ｐゴシック" pitchFamily="34" charset="-128"/>
              </a:rPr>
              <a:t>We can define 3 levels of impact from a security attack</a:t>
            </a:r>
          </a:p>
          <a:p>
            <a:pPr lvl="1">
              <a:buFont typeface="Wingdings" pitchFamily="2" charset="2"/>
              <a:buChar char="l"/>
            </a:pPr>
            <a:endParaRPr lang="en-US" altLang="en-US" sz="3200" dirty="0">
              <a:latin typeface="Bookman Old Style" pitchFamily="18" charset="0"/>
              <a:ea typeface="ＭＳ Ｐゴシック" pitchFamily="34" charset="-128"/>
            </a:endParaRPr>
          </a:p>
          <a:p>
            <a:pPr lvl="1">
              <a:buFont typeface="Wingdings" pitchFamily="2" charset="2"/>
              <a:buChar char="l"/>
            </a:pPr>
            <a:r>
              <a:rPr lang="en-US" altLang="en-US" sz="3200" dirty="0">
                <a:latin typeface="Bookman Old Style" pitchFamily="18" charset="0"/>
                <a:ea typeface="ＭＳ Ｐゴシック" pitchFamily="34" charset="-128"/>
              </a:rPr>
              <a:t>Low -</a:t>
            </a:r>
            <a:r>
              <a:rPr lang="en-US" altLang="el-GR" sz="3200" dirty="0">
                <a:latin typeface="Bookman Old Style" pitchFamily="18" charset="0"/>
                <a:ea typeface="ＭＳ Ｐゴシック" pitchFamily="34" charset="-128"/>
                <a:cs typeface="Arial" charset="0"/>
              </a:rPr>
              <a:t> The loss is minor</a:t>
            </a:r>
            <a:endParaRPr lang="en-US" altLang="en-US" sz="3200" dirty="0">
              <a:latin typeface="Bookman Old Style" pitchFamily="18" charset="0"/>
              <a:ea typeface="ＭＳ Ｐゴシック" pitchFamily="34" charset="-128"/>
            </a:endParaRPr>
          </a:p>
          <a:p>
            <a:pPr lvl="1">
              <a:buFont typeface="Wingdings" pitchFamily="2" charset="2"/>
              <a:buChar char="l"/>
            </a:pPr>
            <a:r>
              <a:rPr lang="en-US" altLang="en-US" sz="3200" dirty="0">
                <a:latin typeface="Bookman Old Style" pitchFamily="18" charset="0"/>
                <a:ea typeface="ＭＳ Ｐゴシック" pitchFamily="34" charset="-128"/>
              </a:rPr>
              <a:t>Moderate - </a:t>
            </a:r>
            <a:r>
              <a:rPr lang="en-US" altLang="el-GR" sz="3200" dirty="0">
                <a:latin typeface="Bookman Old Style" pitchFamily="18" charset="0"/>
                <a:ea typeface="ＭＳ Ｐゴシック" pitchFamily="34" charset="-128"/>
              </a:rPr>
              <a:t>The loss is serious</a:t>
            </a:r>
            <a:endParaRPr lang="en-US" altLang="en-US" sz="3200" dirty="0">
              <a:latin typeface="Bookman Old Style" pitchFamily="18" charset="0"/>
              <a:ea typeface="ＭＳ Ｐゴシック" pitchFamily="34" charset="-128"/>
            </a:endParaRPr>
          </a:p>
          <a:p>
            <a:pPr lvl="1">
              <a:buFont typeface="Wingdings" pitchFamily="2" charset="2"/>
              <a:buChar char="l"/>
            </a:pPr>
            <a:r>
              <a:rPr lang="en-US" altLang="en-US" sz="3200" dirty="0">
                <a:latin typeface="Bookman Old Style" pitchFamily="18" charset="0"/>
                <a:ea typeface="ＭＳ Ｐゴシック" pitchFamily="34" charset="-128"/>
              </a:rPr>
              <a:t>High -</a:t>
            </a:r>
            <a:r>
              <a:rPr lang="en-US" altLang="el-GR" sz="3200" dirty="0">
                <a:latin typeface="Bookman Old Style" pitchFamily="18" charset="0"/>
                <a:ea typeface="ＭＳ Ｐゴシック" pitchFamily="34" charset="-128"/>
              </a:rPr>
              <a:t> The loss severe</a:t>
            </a:r>
            <a:endParaRPr lang="en-US" altLang="en-US" sz="3200" dirty="0">
              <a:latin typeface="Bookman Old Style" pitchFamily="18" charset="0"/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7097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Bookman Old Style" pitchFamily="18" charset="0"/>
              </a:rPr>
              <a:t>Security Attacks</a:t>
            </a:r>
            <a:endParaRPr lang="en-US" dirty="0">
              <a:latin typeface="Bookman Old Style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ookman Old Style" pitchFamily="18" charset="0"/>
              </a:rPr>
              <a:t>Any action that compromises the security of information owned by an organization.</a:t>
            </a:r>
          </a:p>
          <a:p>
            <a:r>
              <a:rPr lang="en-US" dirty="0">
                <a:latin typeface="Bookman Old Style" pitchFamily="18" charset="0"/>
              </a:rPr>
              <a:t>Types</a:t>
            </a:r>
          </a:p>
          <a:p>
            <a:pPr>
              <a:buNone/>
            </a:pPr>
            <a:r>
              <a:rPr lang="en-GB" sz="2200" dirty="0">
                <a:latin typeface="Bookman Old Style" pitchFamily="18" charset="0"/>
              </a:rPr>
              <a:t>		- </a:t>
            </a:r>
            <a:r>
              <a:rPr lang="en-GB" dirty="0">
                <a:latin typeface="Bookman Old Style" pitchFamily="18" charset="0"/>
              </a:rPr>
              <a:t>Passive Attack</a:t>
            </a:r>
          </a:p>
          <a:p>
            <a:pPr lvl="3"/>
            <a:r>
              <a:rPr lang="en-GB" sz="2800" dirty="0">
                <a:latin typeface="Bookman Old Style" pitchFamily="18" charset="0"/>
              </a:rPr>
              <a:t>Just to obtain information. Does not Modify or harm the system.</a:t>
            </a:r>
          </a:p>
          <a:p>
            <a:pPr lvl="3">
              <a:buFont typeface="Arial" charset="0"/>
              <a:buNone/>
            </a:pPr>
            <a:endParaRPr lang="en-GB" sz="2800" dirty="0">
              <a:latin typeface="Bookman Old Style" pitchFamily="18" charset="0"/>
            </a:endParaRPr>
          </a:p>
          <a:p>
            <a:pPr>
              <a:buNone/>
            </a:pPr>
            <a:r>
              <a:rPr lang="en-GB" dirty="0">
                <a:latin typeface="Bookman Old Style" pitchFamily="18" charset="0"/>
              </a:rPr>
              <a:t>		- Active Attack</a:t>
            </a:r>
          </a:p>
          <a:p>
            <a:pPr lvl="3"/>
            <a:r>
              <a:rPr lang="en-GB" sz="2800" dirty="0">
                <a:latin typeface="Bookman Old Style" pitchFamily="18" charset="0"/>
              </a:rPr>
              <a:t>May Change the Data and harm the system.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3723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Passive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Bookman Old Style" pitchFamily="18" charset="0"/>
              </a:rPr>
              <a:t>Passive attacks are in the nature of eavesdropping on, or monitoring of, transmissions. </a:t>
            </a:r>
          </a:p>
          <a:p>
            <a:r>
              <a:rPr lang="en-US" sz="3200" dirty="0">
                <a:latin typeface="Bookman Old Style" pitchFamily="18" charset="0"/>
              </a:rPr>
              <a:t>The goal of the opponent is to obtain information that is being transmitted. </a:t>
            </a:r>
          </a:p>
          <a:p>
            <a:r>
              <a:rPr lang="en-US" sz="3200" dirty="0">
                <a:latin typeface="Bookman Old Style" pitchFamily="18" charset="0"/>
              </a:rPr>
              <a:t>Two types of passive attacks </a:t>
            </a:r>
          </a:p>
          <a:p>
            <a:pPr>
              <a:buNone/>
            </a:pPr>
            <a:r>
              <a:rPr lang="en-US" sz="3200" dirty="0">
                <a:latin typeface="Bookman Old Style" pitchFamily="18" charset="0"/>
              </a:rPr>
              <a:t>		 - release of message contents </a:t>
            </a:r>
          </a:p>
          <a:p>
            <a:pPr>
              <a:buNone/>
            </a:pPr>
            <a:r>
              <a:rPr lang="en-US" sz="3200" dirty="0">
                <a:latin typeface="Bookman Old Style" pitchFamily="18" charset="0"/>
              </a:rPr>
              <a:t>		 - traffic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2693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altLang="el-GR" sz="3200" dirty="0">
                <a:latin typeface="Bookman Old Style" pitchFamily="18" charset="0"/>
                <a:ea typeface="ＭＳ Ｐゴシック" panose="020B0600070205080204" pitchFamily="34" charset="-128"/>
              </a:rPr>
              <a:t>Passive Attack   (a) Release of message Contents</a:t>
            </a:r>
            <a:endParaRPr lang="en-US" sz="3200" dirty="0">
              <a:latin typeface="Bookman Old Style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14</a:t>
            </a:fld>
            <a:endParaRPr lang="en-A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3843" y="1230245"/>
            <a:ext cx="81057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32509" y="5724344"/>
            <a:ext cx="116239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This attacker happens when confidential user data are released publicly over the network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6139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altLang="el-GR" sz="3200" dirty="0">
                <a:latin typeface="Bookman Old Style" pitchFamily="18" charset="0"/>
                <a:ea typeface="ＭＳ Ｐゴシック" panose="020B0600070205080204" pitchFamily="34" charset="-128"/>
              </a:rPr>
              <a:t>Passive Attack   (b) Traffic analysis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15</a:t>
            </a:fld>
            <a:endParaRPr lang="en-AU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988" y="1050898"/>
            <a:ext cx="7762875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399308" y="5061584"/>
            <a:ext cx="102385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Take SSH(</a:t>
            </a:r>
            <a:r>
              <a:rPr lang="en-US" sz="2400" i="1" dirty="0"/>
              <a:t>Secure Socket Shell)</a:t>
            </a:r>
            <a:r>
              <a:rPr lang="en-US" sz="2400" dirty="0"/>
              <a:t>, for example. Every time you press a key on your keyboard, SSH sends a separate IP packet. By analyzing these packets, an attacker can distinguish the timing between key presses. They can then use this information then, for example, </a:t>
            </a:r>
            <a:r>
              <a:rPr lang="en-US" sz="2400" b="1" dirty="0"/>
              <a:t>to guess users' password lengths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473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Active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Bookman Old Style" pitchFamily="18" charset="0"/>
              </a:rPr>
              <a:t>Active attacks involve some </a:t>
            </a:r>
            <a:r>
              <a:rPr lang="en-US" dirty="0">
                <a:solidFill>
                  <a:srgbClr val="00B050"/>
                </a:solidFill>
                <a:latin typeface="Bookman Old Style" pitchFamily="18" charset="0"/>
              </a:rPr>
              <a:t>modification of the data stream or the creation of a false stream </a:t>
            </a:r>
          </a:p>
          <a:p>
            <a:r>
              <a:rPr lang="en-US" dirty="0">
                <a:latin typeface="Bookman Old Style" pitchFamily="18" charset="0"/>
              </a:rPr>
              <a:t>It can be subdivided into four categories: </a:t>
            </a:r>
          </a:p>
          <a:p>
            <a:pPr>
              <a:buNone/>
            </a:pPr>
            <a:r>
              <a:rPr lang="en-US" dirty="0">
                <a:latin typeface="Bookman Old Style" pitchFamily="18" charset="0"/>
              </a:rPr>
              <a:t>		- masquerade</a:t>
            </a:r>
          </a:p>
          <a:p>
            <a:pPr>
              <a:buNone/>
            </a:pPr>
            <a:r>
              <a:rPr lang="en-US" dirty="0">
                <a:latin typeface="Bookman Old Style" pitchFamily="18" charset="0"/>
              </a:rPr>
              <a:t>		- replay</a:t>
            </a:r>
          </a:p>
          <a:p>
            <a:pPr>
              <a:buNone/>
            </a:pPr>
            <a:r>
              <a:rPr lang="en-US" dirty="0">
                <a:latin typeface="Bookman Old Style" pitchFamily="18" charset="0"/>
              </a:rPr>
              <a:t>		- modification of messages</a:t>
            </a:r>
          </a:p>
          <a:p>
            <a:pPr>
              <a:buNone/>
            </a:pPr>
            <a:r>
              <a:rPr lang="en-US" dirty="0">
                <a:latin typeface="Bookman Old Style" pitchFamily="18" charset="0"/>
              </a:rPr>
              <a:t>		- denial of service.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302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Active Attacks (a) Masquerade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17</a:t>
            </a:fld>
            <a:endParaRPr lang="en-AU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5969" y="1606753"/>
            <a:ext cx="78676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51164" y="5707915"/>
            <a:ext cx="101138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 masquerade attack is an online attack in which the attacker masquerades as a legitimate user to gain access to a device.</a:t>
            </a:r>
          </a:p>
        </p:txBody>
      </p:sp>
    </p:spTree>
    <p:extLst>
      <p:ext uri="{BB962C8B-B14F-4D97-AF65-F5344CB8AC3E}">
        <p14:creationId xmlns:p14="http://schemas.microsoft.com/office/powerpoint/2010/main" val="2233214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Active Attacks (b) Replay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18</a:t>
            </a:fld>
            <a:endParaRPr lang="en-AU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6994" y="1685110"/>
            <a:ext cx="6976519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1604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ookman Old Style" pitchFamily="18" charset="0"/>
              </a:rPr>
              <a:t>Active Attacks (c) Modification of messages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19</a:t>
            </a:fld>
            <a:endParaRPr lang="en-AU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9582" y="1389448"/>
            <a:ext cx="773430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1924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Active Attacks (d) Denial of service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20</a:t>
            </a:fld>
            <a:endParaRPr lang="en-AU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9972" y="1401423"/>
            <a:ext cx="733425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409972" y="5628623"/>
            <a:ext cx="104772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 Denial-of-Service (</a:t>
            </a:r>
            <a:r>
              <a:rPr lang="en-US" sz="2400" b="1" dirty="0" err="1"/>
              <a:t>DoS</a:t>
            </a:r>
            <a:r>
              <a:rPr lang="en-US" sz="2400" b="1" dirty="0"/>
              <a:t>) attack is an attack meant to shut down a machine or network, making it inaccessible to its intended users.</a:t>
            </a:r>
          </a:p>
        </p:txBody>
      </p:sp>
    </p:spTree>
    <p:extLst>
      <p:ext uri="{BB962C8B-B14F-4D97-AF65-F5344CB8AC3E}">
        <p14:creationId xmlns:p14="http://schemas.microsoft.com/office/powerpoint/2010/main" val="2505823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8CA6BD4B6BB458EC4DF3BC6B8455E" ma:contentTypeVersion="2" ma:contentTypeDescription="Create a new document." ma:contentTypeScope="" ma:versionID="4c1744822c704be929cff37fdeaf54d0">
  <xsd:schema xmlns:xsd="http://www.w3.org/2001/XMLSchema" xmlns:xs="http://www.w3.org/2001/XMLSchema" xmlns:p="http://schemas.microsoft.com/office/2006/metadata/properties" xmlns:ns2="5e62a2dd-ff91-4591-8d2f-adadc8198891" targetNamespace="http://schemas.microsoft.com/office/2006/metadata/properties" ma:root="true" ma:fieldsID="b09255625856ef7ac3b4d8dfcdef169f" ns2:_="">
    <xsd:import namespace="5e62a2dd-ff91-4591-8d2f-adadc819889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2a2dd-ff91-4591-8d2f-adadc819889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E2E494-7E83-48A3-A37B-6A0EF14651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89B67-2555-4DB6-B147-5FFEA8141233}">
  <ds:schemaRefs>
    <ds:schemaRef ds:uri="http://purl.org/dc/terms/"/>
    <ds:schemaRef ds:uri="5e62a2dd-ff91-4591-8d2f-adadc8198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9951B70-9DB6-4529-85A7-BC9F3B7C4C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2a2dd-ff91-4591-8d2f-adadc8198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3321</TotalTime>
  <Words>730</Words>
  <Application>Microsoft Office PowerPoint</Application>
  <PresentationFormat>Widescreen</PresentationFormat>
  <Paragraphs>96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BioRhyme ExtraBold</vt:lpstr>
      <vt:lpstr>Bookman Old Style</vt:lpstr>
      <vt:lpstr>Calibri</vt:lpstr>
      <vt:lpstr>Calibri Light</vt:lpstr>
      <vt:lpstr>Poppins</vt:lpstr>
      <vt:lpstr>Wingdings</vt:lpstr>
      <vt:lpstr>Office Theme</vt:lpstr>
      <vt:lpstr>PowerPoint Presentation</vt:lpstr>
      <vt:lpstr>Introduction to Security</vt:lpstr>
      <vt:lpstr>Key Security Concepts</vt:lpstr>
      <vt:lpstr>Security Goals</vt:lpstr>
      <vt:lpstr>Confidentiality</vt:lpstr>
      <vt:lpstr>Integrity</vt:lpstr>
      <vt:lpstr>Availability</vt:lpstr>
      <vt:lpstr>Authentication</vt:lpstr>
      <vt:lpstr>Non-repudiation</vt:lpstr>
      <vt:lpstr>   Security Attacks</vt:lpstr>
      <vt:lpstr>Levels of Impact</vt:lpstr>
      <vt:lpstr>Security Attacks</vt:lpstr>
      <vt:lpstr>Passive Attacks</vt:lpstr>
      <vt:lpstr>Passive Attack   (a) Release of message Contents</vt:lpstr>
      <vt:lpstr>Passive Attack   (b) Traffic analysis</vt:lpstr>
      <vt:lpstr>Active Attacks</vt:lpstr>
      <vt:lpstr>Active Attacks (a) Masquerade</vt:lpstr>
      <vt:lpstr>Active Attacks (b) Replay</vt:lpstr>
      <vt:lpstr>Active Attacks (c) Modification of messages</vt:lpstr>
      <vt:lpstr>Active Attacks (d) Denial of service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vege</dc:creator>
  <cp:lastModifiedBy>GORLA VENKATA GANESH</cp:lastModifiedBy>
  <cp:revision>219</cp:revision>
  <dcterms:created xsi:type="dcterms:W3CDTF">2016-10-27T15:05:54Z</dcterms:created>
  <dcterms:modified xsi:type="dcterms:W3CDTF">2025-12-17T06:50:49Z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0x01010057C8CA6BD4B6BB458EC4DF3BC6B8455E</vt:lpwstr>
  </property>
</Properties>
</file>