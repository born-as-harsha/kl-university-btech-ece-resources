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7" r:id="rId2"/>
    <p:sldId id="309" r:id="rId3"/>
    <p:sldId id="310" r:id="rId4"/>
    <p:sldId id="308" r:id="rId5"/>
    <p:sldId id="317" r:id="rId6"/>
    <p:sldId id="311" r:id="rId7"/>
    <p:sldId id="312" r:id="rId8"/>
    <p:sldId id="313" r:id="rId9"/>
    <p:sldId id="314" r:id="rId10"/>
    <p:sldId id="315" r:id="rId11"/>
    <p:sldId id="316" r:id="rId12"/>
    <p:sldId id="269" r:id="rId13"/>
    <p:sldId id="271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7F059-1FD3-4F39-BE62-FA40EA6B0B1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58917-74D7-4F58-9CDD-826089178B9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2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1430-02A2-4F6F-95A9-34ACA1DE0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78057-42B0-49AF-9408-35CB29A90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D3F8-B6C1-41BD-8351-5EDEA765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9A96-79DE-4C4B-AE8F-6A765906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4BB84-16EB-4912-A9EE-BF7B2827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F2B9-6BF3-4943-B01F-791617F5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8D58-416E-4512-8DAA-C6D089EE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C4D0-C741-4447-83F3-68571A6A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E9BF-BA0C-400A-84D5-848407F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92A4-D16E-41C8-9847-8C2DFCD7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7044-82C4-4B4E-B88C-B4365FE4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BC52-6876-4EE5-9CDA-5FCB5EBD3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28F78-3A5A-496D-9C14-C9F1BAB7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8022D-E983-4184-A9FC-F92B1B97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BF96-90CE-4612-BB9B-1AF1D3B5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28D0-DFB8-45A5-A23E-1ED905AB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017F1-0EEC-43A1-A15A-F82D95DA2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0F63D-52EF-409C-9232-E370B173E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E5AD-5403-43F9-AA0F-F06DD55F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07E7D-E366-4524-A63C-D8FBF131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7F81B-446A-437D-B65F-5CF29B0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8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2ABB-A139-4F88-9CD3-666928EC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431E-D4AB-42F0-9B1B-D50F4916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BEB46-23BA-4521-A320-762A050A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7064F-CC01-402D-A009-E4A7EA171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1AFA2-0DC6-44CE-8235-73A3FA02D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826A7-C252-4F8A-B071-AD820B09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D308A-25C2-4F39-835E-FA06A30F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47B1F-90FA-4D87-93EA-AD2C27E1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DDB7-C8C9-4A1A-A026-21708D41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96E43-A13F-4773-A273-EC4E02F1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5B703-B5B7-4C37-8BDE-E766074D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C412-2172-4C52-9C49-E00501E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950EC-21D7-43B2-85A2-C0519754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382C4-9278-4515-B6AA-6DBA0E5B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E7F18-0BA9-4AC3-9AAE-8FA758CD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4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6703-9D36-45E1-9997-F0EE1EF2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6D04-2035-413B-9C0D-366DBEF8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526C-1440-4E60-B326-80B29EAD7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B8F0C-3464-44DD-B898-D490284E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FDE26-224D-414D-8E97-21A03A68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881B-D2E4-4883-9087-753BD896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BD5D-0D6C-4E67-95DA-B8ABB46B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A90C8-5F6B-4A47-9CC5-776327C3A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03E00-C491-4054-86C5-AA827525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2B0E1-9964-4390-8549-C894573D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22811-2287-4292-8422-3863E908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7AAEC-2E4C-424B-8BE1-023E2B96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1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3753-0440-4F15-B38C-AC9BD5A0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2196C-6956-40E2-8025-184D03BEC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32DF-F7AB-4631-96F2-69ACE164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73C3-78A9-4F3F-AED9-A5AABA95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7231D-FCB1-4F04-A0C0-941BB56C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0680D-7DEF-4749-845A-38690F6B4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EE8E9-79FF-41DB-8DAE-03F895F25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74A64-7BC9-4B99-A352-7D42ACEA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C2EB3-337F-499B-8083-FD9E21BA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3A5D-C4B8-4D9C-B9BE-9C94BCA3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8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355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CE8AA-8556-4E61-A024-298F312A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34FA-8772-4E4D-8B8B-4905A934E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FE9B1-5F5D-4D32-A63C-85273AB93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556E-593C-48B2-8C8F-13666BE3F444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15B0-CCDF-47F4-A464-508185A47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B3B6-9423-4AC6-A3E2-41C0420C7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4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eksforgeeks.org/cryptography-introduction-to-crypto-terminologie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A Security Model, Asymmetric &amp; Symmetric key Ciphers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8646" y="508500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34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latin typeface="Bookman Old Style" pitchFamily="18" charset="0"/>
              </a:rPr>
              <a:t>Classic Encryption Techniques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b="1" dirty="0">
                <a:latin typeface="Bookman Old Style" pitchFamily="18" charset="0"/>
              </a:rPr>
              <a:t>Plain Text</a:t>
            </a:r>
            <a:r>
              <a:rPr lang="en-GB" dirty="0">
                <a:latin typeface="Bookman Old Style" pitchFamily="18" charset="0"/>
              </a:rPr>
              <a:t>: Original Message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Encryption/</a:t>
            </a:r>
            <a:r>
              <a:rPr lang="en-GB" b="1" dirty="0" err="1">
                <a:latin typeface="Bookman Old Style" pitchFamily="18" charset="0"/>
              </a:rPr>
              <a:t>Encipherment</a:t>
            </a:r>
            <a:r>
              <a:rPr lang="en-GB" dirty="0">
                <a:latin typeface="Bookman Old Style" pitchFamily="18" charset="0"/>
              </a:rPr>
              <a:t>: Process of Converting from Plain text to Cipher text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Decryption/Decipherment</a:t>
            </a:r>
            <a:r>
              <a:rPr lang="en-GB" dirty="0">
                <a:latin typeface="Bookman Old Style" pitchFamily="18" charset="0"/>
              </a:rPr>
              <a:t>: Restoring the plaintext from the cipher text.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Cryptography</a:t>
            </a:r>
            <a:r>
              <a:rPr lang="en-GB" dirty="0">
                <a:latin typeface="Bookman Old Style" pitchFamily="18" charset="0"/>
              </a:rPr>
              <a:t>: Many schemes used for encryption.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Cryptanalysis</a:t>
            </a:r>
            <a:r>
              <a:rPr lang="en-GB" dirty="0">
                <a:latin typeface="Bookman Old Style" pitchFamily="18" charset="0"/>
              </a:rPr>
              <a:t>: Techniques for deciphering a message without any knowledge of the enciphering details.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Cryptology</a:t>
            </a:r>
            <a:r>
              <a:rPr lang="en-GB" dirty="0">
                <a:latin typeface="Bookman Old Style" pitchFamily="18" charset="0"/>
              </a:rPr>
              <a:t>: areas of Cryptography and Cryptanalysis together are called Cryptology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</a:t>
            </a:fld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latin typeface="Bookman Old Style" pitchFamily="18" charset="0"/>
              </a:rPr>
              <a:t>Classic Encryption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>
                <a:latin typeface="Bookman Old Style" pitchFamily="18" charset="0"/>
              </a:rPr>
              <a:t>Encryption Algorithm</a:t>
            </a:r>
            <a:r>
              <a:rPr lang="en-GB" dirty="0">
                <a:latin typeface="Bookman Old Style" pitchFamily="18" charset="0"/>
              </a:rPr>
              <a:t>: Performs various substitution and transpositions on the plain text.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Secret Key</a:t>
            </a:r>
            <a:r>
              <a:rPr lang="en-GB" dirty="0">
                <a:latin typeface="Bookman Old Style" pitchFamily="18" charset="0"/>
              </a:rPr>
              <a:t>: Value independent of plain text and the algorithm.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Cipher Text</a:t>
            </a:r>
            <a:r>
              <a:rPr lang="en-GB" dirty="0">
                <a:latin typeface="Bookman Old Style" pitchFamily="18" charset="0"/>
              </a:rPr>
              <a:t>: Scrambled Message produced as Output.</a:t>
            </a:r>
          </a:p>
          <a:p>
            <a:pPr algn="just"/>
            <a:r>
              <a:rPr lang="en-GB" b="1" dirty="0">
                <a:latin typeface="Bookman Old Style" pitchFamily="18" charset="0"/>
              </a:rPr>
              <a:t>Decryption Algorithm</a:t>
            </a:r>
            <a:r>
              <a:rPr lang="en-GB" dirty="0">
                <a:latin typeface="Bookman Old Style" pitchFamily="18" charset="0"/>
              </a:rPr>
              <a:t>: Encryption Algorithm in reverse.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4785"/>
            <a:ext cx="10515600" cy="685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ookman Old Style" pitchFamily="18" charset="0"/>
              </a:rPr>
              <a:t>A Model for Network Security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5109" y="1488781"/>
            <a:ext cx="7735116" cy="4232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53C9-D057-4B00-BB9B-853DD872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09" y="1"/>
            <a:ext cx="10922391" cy="8418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4D3C-11F8-464A-900E-464A3B0F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09" y="880482"/>
            <a:ext cx="10922391" cy="4351338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rgbClr val="0070C0"/>
                </a:solidFill>
                <a:latin typeface="Bookman Old Style" panose="0205060405050502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Cryptography</a:t>
            </a:r>
            <a:r>
              <a:rPr lang="en-US" sz="2000" dirty="0">
                <a:latin typeface="Bookman Old Style" panose="02050604050505020204" pitchFamily="18" charset="0"/>
              </a:rPr>
              <a:t> is technique of securing information and communications through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use of codes </a:t>
            </a:r>
            <a:r>
              <a:rPr lang="en-US" sz="2000" dirty="0">
                <a:latin typeface="Bookman Old Style" panose="02050604050505020204" pitchFamily="18" charset="0"/>
              </a:rPr>
              <a:t>so that only those person for whom the information is intended can understand it and process it. Thus preventing unauthorized access to information. </a:t>
            </a:r>
          </a:p>
          <a:p>
            <a:pPr algn="just"/>
            <a:endParaRPr lang="en-US" sz="2000" dirty="0">
              <a:latin typeface="Bookman Old Style" panose="02050604050505020204" pitchFamily="18" charset="0"/>
            </a:endParaRPr>
          </a:p>
          <a:p>
            <a:pPr algn="just"/>
            <a:r>
              <a:rPr lang="en-US" sz="2000" dirty="0">
                <a:latin typeface="Bookman Old Style" panose="02050604050505020204" pitchFamily="18" charset="0"/>
              </a:rPr>
              <a:t>The prefix “crypt” means “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hidden</a:t>
            </a:r>
            <a:r>
              <a:rPr lang="en-US" sz="2000" dirty="0">
                <a:latin typeface="Bookman Old Style" panose="02050604050505020204" pitchFamily="18" charset="0"/>
              </a:rPr>
              <a:t>” and suffix “</a:t>
            </a:r>
            <a:r>
              <a:rPr lang="en-US" sz="2000" dirty="0" err="1">
                <a:latin typeface="Bookman Old Style" panose="02050604050505020204" pitchFamily="18" charset="0"/>
              </a:rPr>
              <a:t>graphy</a:t>
            </a:r>
            <a:r>
              <a:rPr lang="en-US" sz="2000" dirty="0">
                <a:latin typeface="Bookman Old Style" panose="02050604050505020204" pitchFamily="18" charset="0"/>
              </a:rPr>
              <a:t>” means “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writing</a:t>
            </a:r>
            <a:r>
              <a:rPr lang="en-US" sz="2000" dirty="0">
                <a:latin typeface="Bookman Old Style" panose="02050604050505020204" pitchFamily="18" charset="0"/>
              </a:rPr>
              <a:t>”.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DCABB-CEA1-4B57-A2FA-305F52A867CB}"/>
              </a:ext>
            </a:extLst>
          </p:cNvPr>
          <p:cNvSpPr txBox="1"/>
          <p:nvPr/>
        </p:nvSpPr>
        <p:spPr>
          <a:xfrm>
            <a:off x="1997612" y="2686819"/>
            <a:ext cx="714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45366E-5DAC-4C20-81EE-F02E58A3A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034" y="2615913"/>
            <a:ext cx="7635757" cy="424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05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Cryptography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Bookman Old Style" pitchFamily="18" charset="0"/>
              </a:rPr>
              <a:t>	Cryptography is associated with the process of converting ordinary plain text into incomprehensible text and vice-versa. </a:t>
            </a:r>
          </a:p>
          <a:p>
            <a:pPr marL="0" indent="0" algn="just">
              <a:buNone/>
            </a:pPr>
            <a:r>
              <a:rPr lang="en-US" dirty="0">
                <a:latin typeface="Bookman Old Style" pitchFamily="18" charset="0"/>
              </a:rPr>
              <a:t>	It is a method of storing and transmitting data in a particular form so that only those for whom it is intended can read and process it.</a:t>
            </a:r>
          </a:p>
          <a:p>
            <a:pPr algn="just">
              <a:buNone/>
            </a:pPr>
            <a:r>
              <a:rPr lang="en-US" sz="3200" dirty="0">
                <a:latin typeface="Bookman Old Style" pitchFamily="18" charset="0"/>
                <a:cs typeface="Arial" panose="020B0604020202020204" pitchFamily="34" charset="0"/>
              </a:rPr>
              <a:t>	</a:t>
            </a:r>
            <a:r>
              <a:rPr lang="en-US" sz="3200" b="1" dirty="0">
                <a:latin typeface="Bookman Old Style" pitchFamily="18" charset="0"/>
                <a:cs typeface="Arial" panose="020B0604020202020204" pitchFamily="34" charset="0"/>
              </a:rPr>
              <a:t>1</a:t>
            </a:r>
            <a:r>
              <a:rPr lang="en-US" b="1" dirty="0">
                <a:latin typeface="Bookman Old Style" pitchFamily="18" charset="0"/>
                <a:cs typeface="Arial" panose="020B0604020202020204" pitchFamily="34" charset="0"/>
              </a:rPr>
              <a:t>. Symmetric key Cryptography</a:t>
            </a:r>
          </a:p>
          <a:p>
            <a:pPr marL="0" indent="0" algn="just">
              <a:spcBef>
                <a:spcPts val="800"/>
              </a:spcBef>
              <a:buClr>
                <a:srgbClr val="5FAFFF"/>
              </a:buClr>
              <a:buSzPct val="80000"/>
              <a:buNone/>
              <a:defRPr/>
            </a:pPr>
            <a:r>
              <a:rPr lang="en-US" dirty="0">
                <a:latin typeface="Bookman Old Style" pitchFamily="18" charset="0"/>
              </a:rPr>
              <a:t> 	- </a:t>
            </a:r>
            <a:r>
              <a:rPr lang="en-IN" dirty="0">
                <a:latin typeface="Bookman Old Style" pitchFamily="18" charset="0"/>
              </a:rPr>
              <a:t>Symmetric encryption is also called secret key encryption, and it uses just one key, called a shared secret, for both encrypting and decrypting.</a:t>
            </a:r>
            <a:endParaRPr lang="en-US" dirty="0">
              <a:latin typeface="Bookman Old Style" pitchFamily="18" charset="0"/>
            </a:endParaRPr>
          </a:p>
          <a:p>
            <a:pPr marL="0" indent="0" algn="just">
              <a:spcBef>
                <a:spcPts val="800"/>
              </a:spcBef>
              <a:buClr>
                <a:srgbClr val="5FAFFF"/>
              </a:buClr>
              <a:buSzPct val="80000"/>
              <a:buNone/>
              <a:defRPr/>
            </a:pPr>
            <a:r>
              <a:rPr lang="en-US" dirty="0">
                <a:latin typeface="Bookman Old Style" pitchFamily="18" charset="0"/>
              </a:rPr>
              <a:t>	- This method is the opposite of Asymmetric Encryption where one key is used to encrypt and another is used to decrypt.</a:t>
            </a:r>
            <a:endParaRPr lang="en-IN" dirty="0">
              <a:latin typeface="Bookman Old Style" pitchFamily="18" charset="0"/>
              <a:cs typeface="Arial" panose="020B0604020202020204" pitchFamily="34" charset="0"/>
            </a:endParaRPr>
          </a:p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Bookman Old Style" pitchFamily="18" charset="0"/>
                <a:cs typeface="Arial" panose="020B0604020202020204" pitchFamily="34" charset="0"/>
              </a:rPr>
              <a:t>2. Public key cryptography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	- uses a </a:t>
            </a:r>
            <a:r>
              <a:rPr lang="en-US" b="1" dirty="0">
                <a:latin typeface="Bookman Old Style" pitchFamily="18" charset="0"/>
              </a:rPr>
              <a:t>pair of keys to encrypt and decrypt </a:t>
            </a:r>
            <a:r>
              <a:rPr lang="en-US" dirty="0">
                <a:latin typeface="Bookman Old Style" pitchFamily="18" charset="0"/>
              </a:rPr>
              <a:t>data to protect it against </a:t>
            </a:r>
            <a:r>
              <a:rPr lang="en-US" b="1" dirty="0">
                <a:latin typeface="Bookman Old Style" pitchFamily="18" charset="0"/>
              </a:rPr>
              <a:t>unauthorized access or use</a:t>
            </a:r>
            <a:r>
              <a:rPr lang="en-US" dirty="0">
                <a:latin typeface="Bookman Old Style" pitchFamily="18" charset="0"/>
              </a:rPr>
              <a:t>.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	</a:t>
            </a:r>
            <a:endParaRPr lang="en-US" dirty="0">
              <a:latin typeface="Bookman Old Style" pitchFamily="18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b="1" dirty="0">
                <a:latin typeface="Bookman Old Style" pitchFamily="18" charset="0"/>
                <a:cs typeface="Arial" panose="020B0604020202020204" pitchFamily="34" charset="0"/>
              </a:rPr>
              <a:t>  NOTE: </a:t>
            </a:r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Symmetric cryptography was one-type prior to invention of public-key in 1970’s and by far most widely used (still) is significantly faster than public-key cryptography.</a:t>
            </a:r>
          </a:p>
          <a:p>
            <a:pPr>
              <a:buNone/>
            </a:pPr>
            <a:endParaRPr lang="en-US" dirty="0">
              <a:latin typeface="Bookman Old Style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Bookman Old Style" pitchFamily="18" charset="0"/>
                <a:cs typeface="Arial" panose="020B0604020202020204" pitchFamily="34" charset="0"/>
              </a:rPr>
              <a:t>Symmetric Cipher Model</a:t>
            </a:r>
            <a:endParaRPr lang="en-US" sz="3600" dirty="0"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8354" y="1750423"/>
            <a:ext cx="8872946" cy="37098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Symmetric Cipher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Two requirements for secure use of symmetric encryption:</a:t>
            </a:r>
          </a:p>
          <a:p>
            <a:pPr>
              <a:buNone/>
            </a:pPr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		- 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a strong encryption algorithm</a:t>
            </a:r>
          </a:p>
          <a:p>
            <a:pPr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	- a secret key known only to sender / receiver</a:t>
            </a:r>
          </a:p>
          <a:p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Mathematically </a:t>
            </a:r>
          </a:p>
          <a:p>
            <a:pPr marL="741363" lvl="1" indent="-284163">
              <a:lnSpc>
                <a:spcPct val="80000"/>
              </a:lnSpc>
              <a:spcBef>
                <a:spcPts val="600"/>
              </a:spcBef>
              <a:buSzPct val="5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i="1" dirty="0">
                <a:latin typeface="Bookman Old Style" pitchFamily="18" charset="0"/>
                <a:ea typeface="ＭＳ Ｐゴシック" pitchFamily="34" charset="-128"/>
              </a:rPr>
              <a:t>		Y 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= E(K, </a:t>
            </a:r>
            <a:r>
              <a:rPr lang="en-US" altLang="en-US" sz="2800" i="1" dirty="0">
                <a:latin typeface="Bookman Old Style" pitchFamily="18" charset="0"/>
                <a:ea typeface="ＭＳ Ｐゴシック" pitchFamily="34" charset="-128"/>
              </a:rPr>
              <a:t>X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) = E</a:t>
            </a:r>
            <a:r>
              <a:rPr lang="en-US" altLang="en-US" sz="2800" baseline="-25000" dirty="0">
                <a:latin typeface="Bookman Old Style" pitchFamily="18" charset="0"/>
                <a:ea typeface="ＭＳ Ｐゴシック" pitchFamily="34" charset="-128"/>
              </a:rPr>
              <a:t>K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(X) </a:t>
            </a:r>
          </a:p>
          <a:p>
            <a:pPr marL="741363" lvl="1" indent="-284163">
              <a:lnSpc>
                <a:spcPct val="80000"/>
              </a:lnSpc>
              <a:spcBef>
                <a:spcPts val="600"/>
              </a:spcBef>
              <a:buSzPct val="5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i="1" dirty="0">
                <a:latin typeface="Bookman Old Style" pitchFamily="18" charset="0"/>
                <a:ea typeface="ＭＳ Ｐゴシック" pitchFamily="34" charset="-128"/>
              </a:rPr>
              <a:t>		X 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= D(K, </a:t>
            </a:r>
            <a:r>
              <a:rPr lang="en-US" altLang="en-US" sz="2800" i="1" dirty="0">
                <a:latin typeface="Bookman Old Style" pitchFamily="18" charset="0"/>
                <a:ea typeface="ＭＳ Ｐゴシック" pitchFamily="34" charset="-128"/>
              </a:rPr>
              <a:t>Y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) = D</a:t>
            </a:r>
            <a:r>
              <a:rPr lang="en-US" altLang="en-US" sz="2800" baseline="-25000" dirty="0">
                <a:latin typeface="Bookman Old Style" pitchFamily="18" charset="0"/>
                <a:ea typeface="ＭＳ Ｐゴシック" pitchFamily="34" charset="-128"/>
              </a:rPr>
              <a:t>K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(Y)</a:t>
            </a:r>
            <a:endParaRPr lang="en-US" altLang="en-US" dirty="0">
              <a:latin typeface="Bookman Old Style" pitchFamily="18" charset="0"/>
              <a:ea typeface="ＭＳ Ｐゴシック" pitchFamily="34" charset="-128"/>
            </a:endParaRPr>
          </a:p>
          <a:p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A secure channel is required to distribute the key, this is a big </a:t>
            </a:r>
            <a:r>
              <a:rPr lang="en-AU" altLang="en-US" dirty="0">
                <a:latin typeface="Bookman Old Style" pitchFamily="18" charset="0"/>
                <a:ea typeface="ＭＳ Ｐゴシック" pitchFamily="34" charset="-128"/>
              </a:rPr>
              <a:t>problem in symmetric cryptography</a:t>
            </a:r>
          </a:p>
          <a:p>
            <a:pPr marL="741363" lvl="1" indent="-284163">
              <a:lnSpc>
                <a:spcPct val="80000"/>
              </a:lnSpc>
              <a:spcBef>
                <a:spcPts val="600"/>
              </a:spcBef>
              <a:buSzPct val="50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 dirty="0">
              <a:latin typeface="Bookman Old Style" pitchFamily="18" charset="0"/>
              <a:ea typeface="ＭＳ Ｐゴシック" pitchFamily="34" charset="-128"/>
            </a:endParaRPr>
          </a:p>
          <a:p>
            <a:endParaRPr lang="en-US" altLang="en-US" dirty="0">
              <a:latin typeface="Bookman Old Style" pitchFamily="18" charset="0"/>
              <a:ea typeface="ＭＳ Ｐゴシック" pitchFamily="34" charset="-128"/>
            </a:endParaRPr>
          </a:p>
          <a:p>
            <a:endParaRPr lang="en-US" altLang="en-US" sz="2800" dirty="0">
              <a:latin typeface="Bookman Old Style" pitchFamily="18" charset="0"/>
              <a:ea typeface="ＭＳ Ｐゴシック" pitchFamily="34" charset="-128"/>
            </a:endParaRPr>
          </a:p>
          <a:p>
            <a:endParaRPr lang="en-US" altLang="en-US" dirty="0">
              <a:latin typeface="Bookman Old Style" pitchFamily="18" charset="0"/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9</a:t>
            </a:fld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Symmetric Cipher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  Cryptographic algorithms are characterized by the t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ype of encryption operations used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	</a:t>
            </a:r>
            <a:r>
              <a:rPr lang="en-US" altLang="en-US" sz="2800" dirty="0">
                <a:solidFill>
                  <a:srgbClr val="002060"/>
                </a:solidFill>
                <a:latin typeface="Bookman Old Style" pitchFamily="18" charset="0"/>
                <a:ea typeface="ＭＳ Ｐゴシック" pitchFamily="34" charset="-128"/>
              </a:rPr>
              <a:t>substitution, transposition, product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</a:t>
            </a: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Substitution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: Elements of plain text is mapped with another element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</a:t>
            </a: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Transposition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: Elements of plaintext are rearranged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</a:t>
            </a: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Product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: Combination of Substitution and Transposition</a:t>
            </a: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endParaRPr lang="en-US" altLang="en-US" sz="28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10</a:t>
            </a:fld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Bookman Old Style" pitchFamily="18" charset="0"/>
                <a:cs typeface="Arial" panose="020B0604020202020204" pitchFamily="34" charset="0"/>
              </a:rPr>
              <a:t>Symmetric Cipher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endParaRPr lang="en-US" altLang="en-US" sz="2800" b="1" dirty="0">
              <a:latin typeface="Bookman Old Style" pitchFamily="18" charset="0"/>
              <a:ea typeface="ＭＳ Ｐゴシック" pitchFamily="34" charset="-128"/>
            </a:endParaRPr>
          </a:p>
          <a:p>
            <a:pPr marL="228600" lvl="1">
              <a:spcBef>
                <a:spcPts val="1000"/>
              </a:spcBef>
            </a:pP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The way in which plaintext is processed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       </a:t>
            </a: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Block Cipher: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 Input is Processed one block at a time and outputs a block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	      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b="1" dirty="0">
                <a:latin typeface="Bookman Old Style" pitchFamily="18" charset="0"/>
                <a:ea typeface="ＭＳ Ｐゴシック" pitchFamily="34" charset="-128"/>
              </a:rPr>
              <a:t>        Stream Cipher:</a:t>
            </a:r>
            <a:r>
              <a:rPr lang="en-US" altLang="en-US" sz="2800" dirty="0">
                <a:latin typeface="Bookman Old Style" pitchFamily="18" charset="0"/>
                <a:ea typeface="ＭＳ Ｐゴシック" pitchFamily="34" charset="-128"/>
              </a:rPr>
              <a:t> Process the input element one at a time and outputs one element at a time.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11</a:t>
            </a:fld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A396-AA7F-4A6B-9551-CC20CBFB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41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Cryptography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8480D-A370-4D00-A3A8-03F1659C3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8" y="1537361"/>
            <a:ext cx="10699122" cy="437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0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1D59-8A4F-4514-9181-B745F920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838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</a:rPr>
              <a:t>Symmetric Cryptography</a:t>
            </a:r>
          </a:p>
        </p:txBody>
      </p:sp>
    </p:spTree>
    <p:extLst>
      <p:ext uri="{BB962C8B-B14F-4D97-AF65-F5344CB8AC3E}">
        <p14:creationId xmlns:p14="http://schemas.microsoft.com/office/powerpoint/2010/main" val="202493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202C-A593-4DEA-B511-E9C26831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47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Symmetric Cryptography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73D947-6378-4C7D-897A-2A5FEFD8F2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86794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D784B-8591-4BAD-8867-05FFFA7188A9}"/>
              </a:ext>
            </a:extLst>
          </p:cNvPr>
          <p:cNvSpPr txBox="1"/>
          <p:nvPr/>
        </p:nvSpPr>
        <p:spPr>
          <a:xfrm>
            <a:off x="838200" y="1125929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Symmetric encryption is a data encryption method whereby the same key is used to encode and decode information.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725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ACBF-99CA-4746-850A-F0C62022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70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Classical Symmetric Encryption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84FA-AB73-4A18-9E45-046549447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239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Substitution Ciphers </a:t>
            </a:r>
          </a:p>
          <a:p>
            <a:pPr algn="just"/>
            <a:r>
              <a:rPr lang="en-US" sz="2100" dirty="0">
                <a:solidFill>
                  <a:srgbClr val="273239"/>
                </a:solidFill>
                <a:latin typeface="Bookman Old Style" panose="02050604050505020204" pitchFamily="18" charset="0"/>
              </a:rPr>
              <a:t>Is a technique in which plaintext letters are replaced with other letters, numbers, or symbols.</a:t>
            </a:r>
          </a:p>
          <a:p>
            <a:pPr algn="just"/>
            <a:r>
              <a:rPr lang="en-US" sz="2000" b="1" dirty="0">
                <a:solidFill>
                  <a:srgbClr val="273239"/>
                </a:solidFill>
                <a:latin typeface="Bookman Old Style" panose="02050604050505020204" pitchFamily="18" charset="0"/>
              </a:rPr>
              <a:t>Substitution Cipher Methods:</a:t>
            </a:r>
            <a:endParaRPr lang="en-US" sz="2000" b="1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Bookman Old Style" panose="02050604050505020204" pitchFamily="18" charset="0"/>
              </a:rPr>
              <a:t> Caesar Cipher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Bookman Old Style" panose="02050604050505020204" pitchFamily="18" charset="0"/>
              </a:rPr>
              <a:t> Mono-alphabetic Cipher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Bookman Old Style" panose="02050604050505020204" pitchFamily="18" charset="0"/>
              </a:rPr>
              <a:t> Playfair Cipher</a:t>
            </a:r>
          </a:p>
          <a:p>
            <a:pPr lvl="1" algn="just"/>
            <a:endParaRPr lang="en-US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Transposition Ciphers</a:t>
            </a:r>
          </a:p>
          <a:p>
            <a:pPr algn="just"/>
            <a:r>
              <a:rPr lang="en-US" sz="2100" dirty="0">
                <a:solidFill>
                  <a:srgbClr val="273239"/>
                </a:solidFill>
                <a:latin typeface="Bookman Old Style" panose="02050604050505020204" pitchFamily="18" charset="0"/>
              </a:rPr>
              <a:t>Is a technique where the order of alphabets in the plaintext is rearranged to form a cipher text. </a:t>
            </a:r>
          </a:p>
          <a:p>
            <a:pPr algn="just"/>
            <a:r>
              <a:rPr lang="en-US" sz="2100" b="1" dirty="0">
                <a:solidFill>
                  <a:srgbClr val="273239"/>
                </a:solidFill>
                <a:latin typeface="Bookman Old Style" panose="02050604050505020204" pitchFamily="18" charset="0"/>
              </a:rPr>
              <a:t>Transposition Cipher methods: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 Columnar Cipher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 Rail fence Cipher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6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646</Words>
  <Application>Microsoft Office PowerPoint</Application>
  <PresentationFormat>Widescreen</PresentationFormat>
  <Paragraphs>91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Aptos</vt:lpstr>
      <vt:lpstr>Arial</vt:lpstr>
      <vt:lpstr>BioRhyme ExtraBold</vt:lpstr>
      <vt:lpstr>Bookman Old Style</vt:lpstr>
      <vt:lpstr>Calibri</vt:lpstr>
      <vt:lpstr>Calibri Light</vt:lpstr>
      <vt:lpstr>Poppins</vt:lpstr>
      <vt:lpstr>Wingdings</vt:lpstr>
      <vt:lpstr>Office Theme</vt:lpstr>
      <vt:lpstr>PowerPoint Presentation</vt:lpstr>
      <vt:lpstr>Classic Encryption Techniques</vt:lpstr>
      <vt:lpstr>Classic Encryption Techniques</vt:lpstr>
      <vt:lpstr>A Model for Network Security</vt:lpstr>
      <vt:lpstr>Cryptography</vt:lpstr>
      <vt:lpstr>Cryptography</vt:lpstr>
      <vt:lpstr>Cryptography</vt:lpstr>
      <vt:lpstr>Symmetric Cipher Model</vt:lpstr>
      <vt:lpstr>Symmetric Cipher Model</vt:lpstr>
      <vt:lpstr>Symmetric Cipher Model</vt:lpstr>
      <vt:lpstr>Symmetric Cipher Model</vt:lpstr>
      <vt:lpstr>Cryptography Methods</vt:lpstr>
      <vt:lpstr>Symmetric Cryptography</vt:lpstr>
      <vt:lpstr>Symmetric Cryptography</vt:lpstr>
      <vt:lpstr>Classical Symmetric Encryption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</dc:title>
  <dc:creator>Radhika Rani Chintala</dc:creator>
  <cp:lastModifiedBy>GORLA VENKATA GANESH</cp:lastModifiedBy>
  <cp:revision>52</cp:revision>
  <dcterms:created xsi:type="dcterms:W3CDTF">2022-03-25T10:08:01Z</dcterms:created>
  <dcterms:modified xsi:type="dcterms:W3CDTF">2025-12-17T06:51:02Z</dcterms:modified>
</cp:coreProperties>
</file>