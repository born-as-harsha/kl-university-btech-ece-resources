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271" r:id="rId2"/>
    <p:sldId id="318" r:id="rId3"/>
    <p:sldId id="258" r:id="rId4"/>
    <p:sldId id="267" r:id="rId5"/>
    <p:sldId id="261" r:id="rId6"/>
    <p:sldId id="346" r:id="rId7"/>
    <p:sldId id="335" r:id="rId8"/>
    <p:sldId id="359" r:id="rId9"/>
    <p:sldId id="360" r:id="rId10"/>
    <p:sldId id="361" r:id="rId11"/>
    <p:sldId id="362" r:id="rId12"/>
    <p:sldId id="345" r:id="rId13"/>
    <p:sldId id="352" r:id="rId14"/>
    <p:sldId id="338" r:id="rId15"/>
    <p:sldId id="358" r:id="rId16"/>
    <p:sldId id="367" r:id="rId17"/>
    <p:sldId id="368" r:id="rId18"/>
    <p:sldId id="323" r:id="rId19"/>
    <p:sldId id="324" r:id="rId20"/>
    <p:sldId id="325" r:id="rId21"/>
    <p:sldId id="326" r:id="rId22"/>
    <p:sldId id="3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21" autoAdjust="0"/>
  </p:normalViewPr>
  <p:slideViewPr>
    <p:cSldViewPr snapToGrid="0">
      <p:cViewPr varScale="1">
        <p:scale>
          <a:sx n="64" d="100"/>
          <a:sy n="64" d="100"/>
        </p:scale>
        <p:origin x="7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9997-1C04-4E7C-8307-C0D142CF000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B841A-3332-4ED5-ADE8-10887B27D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6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B841A-3332-4ED5-ADE8-10887B27D0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2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0" y="6553200"/>
            <a:ext cx="2946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McGraw-Hill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6096000" y="6553200"/>
            <a:ext cx="6096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©"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cGrawHill-Italic" pitchFamily="2" charset="0"/>
                <a:ea typeface="+mn-ea"/>
                <a:cs typeface="+mn-cs"/>
              </a:rPr>
              <a:t>The McGraw-Hill Companies, Inc., 2000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19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6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6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989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69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4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7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0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73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38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740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40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9898E-6382-4585-836E-8E9182938E3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71A4A89B-91B5-406C-B5B2-3706C9EFE7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9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nptel.ac.in/courses/106105081/2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9525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Email, SMTP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87472" y="524751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612430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2141355" y="600076"/>
            <a:ext cx="8272463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the basic concept 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Layer Protocols</a:t>
            </a: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65493" y="1665839"/>
            <a:ext cx="5812093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11695" y="2361871"/>
            <a:ext cx="5119688" cy="16312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Application Layer. </a:t>
            </a: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components of E-mail-SMTP,POP3.</a:t>
            </a:r>
          </a:p>
          <a:p>
            <a:pPr marL="342900" indent="-342900">
              <a:buFontTx/>
              <a:buAutoNum type="arabicPeriod"/>
            </a:pP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7027608" y="166583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6467475" y="2247571"/>
            <a:ext cx="5338761" cy="19389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Write a short note on E-Mail and SMTP.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POP3.</a:t>
            </a:r>
          </a:p>
          <a:p>
            <a:pPr marL="342900" indent="-342900">
              <a:buFontTx/>
              <a:buAutoNum type="arabicPeriod" startAt="2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out various protocols in application layer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487B9-470E-AD8C-DF54-687F8103A722}"/>
              </a:ext>
            </a:extLst>
          </p:cNvPr>
          <p:cNvSpPr txBox="1"/>
          <p:nvPr/>
        </p:nvSpPr>
        <p:spPr>
          <a:xfrm>
            <a:off x="2143125" y="721132"/>
            <a:ext cx="7972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Layer Protocols</a:t>
            </a:r>
            <a:endParaRPr lang="en-US" sz="2800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6E3CD-062E-AE15-11ED-EA287A365E76}"/>
              </a:ext>
            </a:extLst>
          </p:cNvPr>
          <p:cNvSpPr txBox="1"/>
          <p:nvPr/>
        </p:nvSpPr>
        <p:spPr>
          <a:xfrm>
            <a:off x="984454" y="1758727"/>
            <a:ext cx="9896168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 is present at the top of the OSI model. It is the layer through which users interact. It provides services to the user.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6A0702-8783-C0C2-5DD0-6FCABBBA0F96}"/>
              </a:ext>
            </a:extLst>
          </p:cNvPr>
          <p:cNvSpPr txBox="1"/>
          <p:nvPr/>
        </p:nvSpPr>
        <p:spPr>
          <a:xfrm>
            <a:off x="984454" y="3428999"/>
            <a:ext cx="5950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POP3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301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Bookman Old Style" pitchFamily="18" charset="0"/>
              </a:rPr>
              <a:t>Email Architecture and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568" y="2015732"/>
            <a:ext cx="11051458" cy="391312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>
                <a:latin typeface="Bookman Old Style" pitchFamily="18" charset="0"/>
              </a:rPr>
              <a:t>Typically, e-mail systems support five basic functions.</a:t>
            </a:r>
          </a:p>
          <a:p>
            <a:pPr algn="just">
              <a:buNone/>
            </a:pPr>
            <a:r>
              <a:rPr lang="en-US" sz="1800" b="1" dirty="0">
                <a:latin typeface="Bookman Old Style" pitchFamily="18" charset="0"/>
              </a:rPr>
              <a:t>	</a:t>
            </a:r>
            <a:r>
              <a:rPr lang="en-US" sz="1800" dirty="0">
                <a:latin typeface="Bookman Old Style" pitchFamily="18" charset="0"/>
              </a:rPr>
              <a:t>1. </a:t>
            </a:r>
            <a:r>
              <a:rPr lang="en-US" sz="1800" b="1" dirty="0">
                <a:latin typeface="Bookman Old Style" pitchFamily="18" charset="0"/>
              </a:rPr>
              <a:t>Composition</a:t>
            </a:r>
            <a:r>
              <a:rPr lang="en-US" sz="1800" dirty="0">
                <a:latin typeface="Bookman Old Style" pitchFamily="18" charset="0"/>
              </a:rPr>
              <a:t> refers to the process of creating messages and answers.</a:t>
            </a:r>
          </a:p>
          <a:p>
            <a:pPr algn="just">
              <a:buNone/>
            </a:pPr>
            <a:endParaRPr lang="en-US" sz="200" dirty="0">
              <a:latin typeface="Bookman Old Style" pitchFamily="18" charset="0"/>
            </a:endParaRPr>
          </a:p>
          <a:p>
            <a:pPr algn="just">
              <a:buNone/>
            </a:pPr>
            <a:r>
              <a:rPr lang="en-US" sz="1800" b="1" dirty="0">
                <a:latin typeface="Bookman Old Style" pitchFamily="18" charset="0"/>
              </a:rPr>
              <a:t>	</a:t>
            </a:r>
            <a:r>
              <a:rPr lang="en-US" sz="1800" dirty="0">
                <a:latin typeface="Bookman Old Style" pitchFamily="18" charset="0"/>
              </a:rPr>
              <a:t>2. </a:t>
            </a:r>
            <a:r>
              <a:rPr lang="en-US" sz="1800" b="1" dirty="0">
                <a:latin typeface="Bookman Old Style" pitchFamily="18" charset="0"/>
              </a:rPr>
              <a:t>Transfer</a:t>
            </a:r>
            <a:r>
              <a:rPr lang="en-US" sz="1800" dirty="0">
                <a:latin typeface="Bookman Old Style" pitchFamily="18" charset="0"/>
              </a:rPr>
              <a:t> refers to moving messages from the originator to the recipient.</a:t>
            </a:r>
          </a:p>
          <a:p>
            <a:pPr algn="just">
              <a:buNone/>
            </a:pPr>
            <a:endParaRPr lang="en-US" sz="200" dirty="0">
              <a:latin typeface="Bookman Old Style" pitchFamily="18" charset="0"/>
            </a:endParaRPr>
          </a:p>
          <a:p>
            <a:pPr algn="just">
              <a:buNone/>
            </a:pPr>
            <a:r>
              <a:rPr lang="en-US" sz="1800" b="1" dirty="0">
                <a:latin typeface="Bookman Old Style" pitchFamily="18" charset="0"/>
              </a:rPr>
              <a:t>	</a:t>
            </a:r>
            <a:r>
              <a:rPr lang="en-US" sz="1800" dirty="0">
                <a:latin typeface="Bookman Old Style" pitchFamily="18" charset="0"/>
              </a:rPr>
              <a:t>3. </a:t>
            </a:r>
            <a:r>
              <a:rPr lang="en-US" sz="1800" b="1" dirty="0">
                <a:latin typeface="Bookman Old Style" pitchFamily="18" charset="0"/>
              </a:rPr>
              <a:t>Reporting</a:t>
            </a:r>
            <a:r>
              <a:rPr lang="en-US" sz="1800" dirty="0">
                <a:latin typeface="Bookman Old Style" pitchFamily="18" charset="0"/>
              </a:rPr>
              <a:t> has to do with telling the originator what happened to the message. Was it delivered? Was it rejected? Was it lost?</a:t>
            </a:r>
          </a:p>
          <a:p>
            <a:pPr algn="just">
              <a:buNone/>
            </a:pPr>
            <a:endParaRPr lang="en-US" sz="500" dirty="0">
              <a:latin typeface="Bookman Old Style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Bookman Old Style" pitchFamily="18" charset="0"/>
              </a:rPr>
              <a:t>	4. </a:t>
            </a:r>
            <a:r>
              <a:rPr lang="en-US" sz="1800" b="1" dirty="0">
                <a:latin typeface="Bookman Old Style" pitchFamily="18" charset="0"/>
              </a:rPr>
              <a:t>Displaying</a:t>
            </a:r>
            <a:r>
              <a:rPr lang="en-US" sz="1800" dirty="0">
                <a:latin typeface="Bookman Old Style" pitchFamily="18" charset="0"/>
              </a:rPr>
              <a:t> incoming messages is needed so people can read their e-mail.</a:t>
            </a:r>
          </a:p>
          <a:p>
            <a:pPr algn="just">
              <a:buNone/>
            </a:pPr>
            <a:endParaRPr lang="en-US" sz="200" dirty="0">
              <a:latin typeface="Bookman Old Style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Bookman Old Style" pitchFamily="18" charset="0"/>
              </a:rPr>
              <a:t>	5. </a:t>
            </a:r>
            <a:r>
              <a:rPr lang="en-US" sz="1800" b="1" dirty="0">
                <a:latin typeface="Bookman Old Style" pitchFamily="18" charset="0"/>
              </a:rPr>
              <a:t>Disposition</a:t>
            </a:r>
            <a:r>
              <a:rPr lang="en-US" sz="1800" dirty="0">
                <a:latin typeface="Bookman Old Style" pitchFamily="18" charset="0"/>
              </a:rPr>
              <a:t> is the final step and concerns what the recipient does with the message after receiving it.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53FB5-1DAE-DB55-184D-DAC182105039}"/>
              </a:ext>
            </a:extLst>
          </p:cNvPr>
          <p:cNvSpPr txBox="1"/>
          <p:nvPr/>
        </p:nvSpPr>
        <p:spPr>
          <a:xfrm>
            <a:off x="2779088" y="95409"/>
            <a:ext cx="5617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Architecture</a:t>
            </a:r>
            <a:endParaRPr lang="en-US" sz="2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CF2CD-3311-7A3B-E2F2-1CD72D099C69}"/>
              </a:ext>
            </a:extLst>
          </p:cNvPr>
          <p:cNvSpPr txBox="1"/>
          <p:nvPr/>
        </p:nvSpPr>
        <p:spPr>
          <a:xfrm>
            <a:off x="141579" y="618629"/>
            <a:ext cx="63779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charset="0"/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major components: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Agents (UA)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servers </a:t>
            </a:r>
          </a:p>
          <a:p>
            <a:pPr marL="342900" indent="-342900">
              <a:spcAft>
                <a:spcPct val="75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</a:t>
            </a:r>
            <a:r>
              <a:rPr lang="en-US" sz="2000" dirty="0">
                <a:cs typeface="Times New Roman" panose="02020603050405020304" pitchFamily="18" charset="0"/>
              </a:rPr>
              <a:t>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Protocol: SMTP</a:t>
            </a:r>
          </a:p>
          <a:p>
            <a:pPr>
              <a:spcAft>
                <a:spcPct val="750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454">
            <a:extLst>
              <a:ext uri="{FF2B5EF4-FFF2-40B4-BE49-F238E27FC236}">
                <a16:creationId xmlns:a16="http://schemas.microsoft.com/office/drawing/2014/main" id="{2EBCFCEC-1D88-5642-674D-1CA14DC07C15}"/>
              </a:ext>
            </a:extLst>
          </p:cNvPr>
          <p:cNvGrpSpPr>
            <a:grpSpLocks/>
          </p:cNvGrpSpPr>
          <p:nvPr/>
        </p:nvGrpSpPr>
        <p:grpSpPr bwMode="auto">
          <a:xfrm>
            <a:off x="6701515" y="661492"/>
            <a:ext cx="4341392" cy="4666835"/>
            <a:chOff x="2937" y="886"/>
            <a:chExt cx="2720" cy="3224"/>
          </a:xfrm>
        </p:grpSpPr>
        <p:grpSp>
          <p:nvGrpSpPr>
            <p:cNvPr id="11" name="Group 389">
              <a:extLst>
                <a:ext uri="{FF2B5EF4-FFF2-40B4-BE49-F238E27FC236}">
                  <a16:creationId xmlns:a16="http://schemas.microsoft.com/office/drawing/2014/main" id="{46A30CB0-6961-0E36-9A26-C83BBFE03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74" name="Freeform 390">
                <a:extLst>
                  <a:ext uri="{FF2B5EF4-FFF2-40B4-BE49-F238E27FC236}">
                    <a16:creationId xmlns:a16="http://schemas.microsoft.com/office/drawing/2014/main" id="{90967292-79C4-7D23-B323-63776FBEC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Rectangle 391">
                <a:extLst>
                  <a:ext uri="{FF2B5EF4-FFF2-40B4-BE49-F238E27FC236}">
                    <a16:creationId xmlns:a16="http://schemas.microsoft.com/office/drawing/2014/main" id="{B47859AF-EAC4-B292-B578-5434B3E6D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Freeform 392">
                <a:extLst>
                  <a:ext uri="{FF2B5EF4-FFF2-40B4-BE49-F238E27FC236}">
                    <a16:creationId xmlns:a16="http://schemas.microsoft.com/office/drawing/2014/main" id="{B0AF3532-485A-AFE1-370F-F5A928420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393">
                <a:extLst>
                  <a:ext uri="{FF2B5EF4-FFF2-40B4-BE49-F238E27FC236}">
                    <a16:creationId xmlns:a16="http://schemas.microsoft.com/office/drawing/2014/main" id="{D901B97A-5336-66EE-E7B6-907488C5A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Rectangle 394">
                <a:extLst>
                  <a:ext uri="{FF2B5EF4-FFF2-40B4-BE49-F238E27FC236}">
                    <a16:creationId xmlns:a16="http://schemas.microsoft.com/office/drawing/2014/main" id="{855F8056-C226-E120-54D2-1B45116C7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79" name="Group 395">
                <a:extLst>
                  <a:ext uri="{FF2B5EF4-FFF2-40B4-BE49-F238E27FC236}">
                    <a16:creationId xmlns:a16="http://schemas.microsoft.com/office/drawing/2014/main" id="{B09FD5EF-0736-6E52-52C9-179DE8440D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4" name="AutoShape 396">
                  <a:extLst>
                    <a:ext uri="{FF2B5EF4-FFF2-40B4-BE49-F238E27FC236}">
                      <a16:creationId xmlns:a16="http://schemas.microsoft.com/office/drawing/2014/main" id="{96C436DF-3F8C-5B79-7D0D-E5BAEEF0B1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" name="AutoShape 397">
                  <a:extLst>
                    <a:ext uri="{FF2B5EF4-FFF2-40B4-BE49-F238E27FC236}">
                      <a16:creationId xmlns:a16="http://schemas.microsoft.com/office/drawing/2014/main" id="{1F4FFB92-278C-4797-5DFA-0F8E9FAF07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0" name="Rectangle 398">
                <a:extLst>
                  <a:ext uri="{FF2B5EF4-FFF2-40B4-BE49-F238E27FC236}">
                    <a16:creationId xmlns:a16="http://schemas.microsoft.com/office/drawing/2014/main" id="{BCCE8DB7-DAA6-5627-1DA2-6DB3673A2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1" name="Group 399">
                <a:extLst>
                  <a:ext uri="{FF2B5EF4-FFF2-40B4-BE49-F238E27FC236}">
                    <a16:creationId xmlns:a16="http://schemas.microsoft.com/office/drawing/2014/main" id="{3DCE55AA-88AA-01BA-D9BC-CA36A71775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2" name="AutoShape 400">
                  <a:extLst>
                    <a:ext uri="{FF2B5EF4-FFF2-40B4-BE49-F238E27FC236}">
                      <a16:creationId xmlns:a16="http://schemas.microsoft.com/office/drawing/2014/main" id="{995C3FA1-E314-2617-818C-435CF432F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3" name="AutoShape 401">
                  <a:extLst>
                    <a:ext uri="{FF2B5EF4-FFF2-40B4-BE49-F238E27FC236}">
                      <a16:creationId xmlns:a16="http://schemas.microsoft.com/office/drawing/2014/main" id="{F17E24AB-5FB3-1566-EB77-2D66FABEC5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2" name="Rectangle 402">
                <a:extLst>
                  <a:ext uri="{FF2B5EF4-FFF2-40B4-BE49-F238E27FC236}">
                    <a16:creationId xmlns:a16="http://schemas.microsoft.com/office/drawing/2014/main" id="{55AC684D-6440-8477-1D02-F2C746AD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3" name="Rectangle 403">
                <a:extLst>
                  <a:ext uri="{FF2B5EF4-FFF2-40B4-BE49-F238E27FC236}">
                    <a16:creationId xmlns:a16="http://schemas.microsoft.com/office/drawing/2014/main" id="{7662A67B-F66D-30AD-608F-02201CD7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4" name="Group 404">
                <a:extLst>
                  <a:ext uri="{FF2B5EF4-FFF2-40B4-BE49-F238E27FC236}">
                    <a16:creationId xmlns:a16="http://schemas.microsoft.com/office/drawing/2014/main" id="{283CB2FE-3DE1-D3CD-F0C1-77355FD4C9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00" name="AutoShape 405">
                  <a:extLst>
                    <a:ext uri="{FF2B5EF4-FFF2-40B4-BE49-F238E27FC236}">
                      <a16:creationId xmlns:a16="http://schemas.microsoft.com/office/drawing/2014/main" id="{8B4C0706-A4FB-A31B-CAF5-144735F68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1" name="AutoShape 406">
                  <a:extLst>
                    <a:ext uri="{FF2B5EF4-FFF2-40B4-BE49-F238E27FC236}">
                      <a16:creationId xmlns:a16="http://schemas.microsoft.com/office/drawing/2014/main" id="{7FDC0903-8A1D-586E-84DF-3F948078E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5" name="Freeform 407">
                <a:extLst>
                  <a:ext uri="{FF2B5EF4-FFF2-40B4-BE49-F238E27FC236}">
                    <a16:creationId xmlns:a16="http://schemas.microsoft.com/office/drawing/2014/main" id="{0153B78B-F396-E92B-69E6-C867545F2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" name="Group 408">
                <a:extLst>
                  <a:ext uri="{FF2B5EF4-FFF2-40B4-BE49-F238E27FC236}">
                    <a16:creationId xmlns:a16="http://schemas.microsoft.com/office/drawing/2014/main" id="{1C4D496A-564E-2894-3B7E-F9F5445637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8" name="AutoShape 409">
                  <a:extLst>
                    <a:ext uri="{FF2B5EF4-FFF2-40B4-BE49-F238E27FC236}">
                      <a16:creationId xmlns:a16="http://schemas.microsoft.com/office/drawing/2014/main" id="{D8F082FD-BD36-D45A-99E3-7DB8A32B3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9" name="AutoShape 410">
                  <a:extLst>
                    <a:ext uri="{FF2B5EF4-FFF2-40B4-BE49-F238E27FC236}">
                      <a16:creationId xmlns:a16="http://schemas.microsoft.com/office/drawing/2014/main" id="{8B1865FF-AE35-8254-0854-FA49F43CD5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7" name="Rectangle 411">
                <a:extLst>
                  <a:ext uri="{FF2B5EF4-FFF2-40B4-BE49-F238E27FC236}">
                    <a16:creationId xmlns:a16="http://schemas.microsoft.com/office/drawing/2014/main" id="{FF3353BB-D996-331A-506D-A6A68F9AE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8" name="Freeform 412">
                <a:extLst>
                  <a:ext uri="{FF2B5EF4-FFF2-40B4-BE49-F238E27FC236}">
                    <a16:creationId xmlns:a16="http://schemas.microsoft.com/office/drawing/2014/main" id="{2D9A62DC-1D33-41B5-45A8-7AE96A187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413">
                <a:extLst>
                  <a:ext uri="{FF2B5EF4-FFF2-40B4-BE49-F238E27FC236}">
                    <a16:creationId xmlns:a16="http://schemas.microsoft.com/office/drawing/2014/main" id="{1D56EE17-DABC-913B-9E06-DBC864E7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Oval 414">
                <a:extLst>
                  <a:ext uri="{FF2B5EF4-FFF2-40B4-BE49-F238E27FC236}">
                    <a16:creationId xmlns:a16="http://schemas.microsoft.com/office/drawing/2014/main" id="{4F2318D1-CF55-F20C-880B-B386F8B3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1" name="Freeform 415">
                <a:extLst>
                  <a:ext uri="{FF2B5EF4-FFF2-40B4-BE49-F238E27FC236}">
                    <a16:creationId xmlns:a16="http://schemas.microsoft.com/office/drawing/2014/main" id="{63AB1A42-C5CE-D744-A41F-E0EE0AD62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AutoShape 416">
                <a:extLst>
                  <a:ext uri="{FF2B5EF4-FFF2-40B4-BE49-F238E27FC236}">
                    <a16:creationId xmlns:a16="http://schemas.microsoft.com/office/drawing/2014/main" id="{3CD56361-3080-CA46-9F6C-8C95A6795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3" name="AutoShape 417">
                <a:extLst>
                  <a:ext uri="{FF2B5EF4-FFF2-40B4-BE49-F238E27FC236}">
                    <a16:creationId xmlns:a16="http://schemas.microsoft.com/office/drawing/2014/main" id="{5AACC680-19BC-9110-8EB3-9FF0255F4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" name="Oval 418">
                <a:extLst>
                  <a:ext uri="{FF2B5EF4-FFF2-40B4-BE49-F238E27FC236}">
                    <a16:creationId xmlns:a16="http://schemas.microsoft.com/office/drawing/2014/main" id="{7EBEC741-CEC6-C22D-D25A-F32FB6ABE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" name="Oval 419">
                <a:extLst>
                  <a:ext uri="{FF2B5EF4-FFF2-40B4-BE49-F238E27FC236}">
                    <a16:creationId xmlns:a16="http://schemas.microsoft.com/office/drawing/2014/main" id="{CE1908D2-6DCC-9F01-45D4-D10BDB7E4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96" name="Oval 420">
                <a:extLst>
                  <a:ext uri="{FF2B5EF4-FFF2-40B4-BE49-F238E27FC236}">
                    <a16:creationId xmlns:a16="http://schemas.microsoft.com/office/drawing/2014/main" id="{B2256977-8D00-A5F4-963A-0AC72D3A7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" name="Rectangle 421">
                <a:extLst>
                  <a:ext uri="{FF2B5EF4-FFF2-40B4-BE49-F238E27FC236}">
                    <a16:creationId xmlns:a16="http://schemas.microsoft.com/office/drawing/2014/main" id="{C52CE689-E551-E870-1D59-6BF4A0452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356">
              <a:extLst>
                <a:ext uri="{FF2B5EF4-FFF2-40B4-BE49-F238E27FC236}">
                  <a16:creationId xmlns:a16="http://schemas.microsoft.com/office/drawing/2014/main" id="{4E3B0737-D8ED-2C7D-E900-0DD7D343A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42" name="Freeform 357">
                <a:extLst>
                  <a:ext uri="{FF2B5EF4-FFF2-40B4-BE49-F238E27FC236}">
                    <a16:creationId xmlns:a16="http://schemas.microsoft.com/office/drawing/2014/main" id="{3C3F0FA1-9EAC-D049-C2F3-74118905D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Rectangle 358">
                <a:extLst>
                  <a:ext uri="{FF2B5EF4-FFF2-40B4-BE49-F238E27FC236}">
                    <a16:creationId xmlns:a16="http://schemas.microsoft.com/office/drawing/2014/main" id="{F6D42271-CD2F-700F-9806-897205C5A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Freeform 359">
                <a:extLst>
                  <a:ext uri="{FF2B5EF4-FFF2-40B4-BE49-F238E27FC236}">
                    <a16:creationId xmlns:a16="http://schemas.microsoft.com/office/drawing/2014/main" id="{2B8E9DEE-1FFD-D106-2A24-E3F6B6AD5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360">
                <a:extLst>
                  <a:ext uri="{FF2B5EF4-FFF2-40B4-BE49-F238E27FC236}">
                    <a16:creationId xmlns:a16="http://schemas.microsoft.com/office/drawing/2014/main" id="{17F4889A-6226-FA5F-0EC0-C00C15402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Rectangle 361">
                <a:extLst>
                  <a:ext uri="{FF2B5EF4-FFF2-40B4-BE49-F238E27FC236}">
                    <a16:creationId xmlns:a16="http://schemas.microsoft.com/office/drawing/2014/main" id="{17409983-3872-DBE8-05D6-D543D2B39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7" name="Group 362">
                <a:extLst>
                  <a:ext uri="{FF2B5EF4-FFF2-40B4-BE49-F238E27FC236}">
                    <a16:creationId xmlns:a16="http://schemas.microsoft.com/office/drawing/2014/main" id="{96E1FCB6-1174-8BD5-E643-70FC0C0F2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2" name="AutoShape 363">
                  <a:extLst>
                    <a:ext uri="{FF2B5EF4-FFF2-40B4-BE49-F238E27FC236}">
                      <a16:creationId xmlns:a16="http://schemas.microsoft.com/office/drawing/2014/main" id="{75337830-E799-7575-3F16-907A60041B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3" name="AutoShape 364">
                  <a:extLst>
                    <a:ext uri="{FF2B5EF4-FFF2-40B4-BE49-F238E27FC236}">
                      <a16:creationId xmlns:a16="http://schemas.microsoft.com/office/drawing/2014/main" id="{AEC7C27E-D360-E861-E08C-E1929B3622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8" name="Rectangle 365">
                <a:extLst>
                  <a:ext uri="{FF2B5EF4-FFF2-40B4-BE49-F238E27FC236}">
                    <a16:creationId xmlns:a16="http://schemas.microsoft.com/office/drawing/2014/main" id="{781F6095-8527-28A5-357E-D8DCC0C3A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9" name="Group 366">
                <a:extLst>
                  <a:ext uri="{FF2B5EF4-FFF2-40B4-BE49-F238E27FC236}">
                    <a16:creationId xmlns:a16="http://schemas.microsoft.com/office/drawing/2014/main" id="{39716A63-6E8A-4983-AABE-2428F8523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0" name="AutoShape 367">
                  <a:extLst>
                    <a:ext uri="{FF2B5EF4-FFF2-40B4-BE49-F238E27FC236}">
                      <a16:creationId xmlns:a16="http://schemas.microsoft.com/office/drawing/2014/main" id="{EBD26481-8817-D3DA-B6BB-EF37C35315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1" name="AutoShape 368">
                  <a:extLst>
                    <a:ext uri="{FF2B5EF4-FFF2-40B4-BE49-F238E27FC236}">
                      <a16:creationId xmlns:a16="http://schemas.microsoft.com/office/drawing/2014/main" id="{59335918-B6FC-7B5D-D521-B63C01FA6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0" name="Rectangle 369">
                <a:extLst>
                  <a:ext uri="{FF2B5EF4-FFF2-40B4-BE49-F238E27FC236}">
                    <a16:creationId xmlns:a16="http://schemas.microsoft.com/office/drawing/2014/main" id="{11B72E55-9123-2B5F-02F3-A0B79E2BA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Rectangle 370">
                <a:extLst>
                  <a:ext uri="{FF2B5EF4-FFF2-40B4-BE49-F238E27FC236}">
                    <a16:creationId xmlns:a16="http://schemas.microsoft.com/office/drawing/2014/main" id="{D822A713-41A1-3E3A-1568-438FE4B8E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2" name="Group 371">
                <a:extLst>
                  <a:ext uri="{FF2B5EF4-FFF2-40B4-BE49-F238E27FC236}">
                    <a16:creationId xmlns:a16="http://schemas.microsoft.com/office/drawing/2014/main" id="{B2257FBB-5271-30B6-065B-5455B979A8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8" name="AutoShape 372">
                  <a:extLst>
                    <a:ext uri="{FF2B5EF4-FFF2-40B4-BE49-F238E27FC236}">
                      <a16:creationId xmlns:a16="http://schemas.microsoft.com/office/drawing/2014/main" id="{E51B06E9-C0E4-1318-69C4-9114DAC40E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9" name="AutoShape 373">
                  <a:extLst>
                    <a:ext uri="{FF2B5EF4-FFF2-40B4-BE49-F238E27FC236}">
                      <a16:creationId xmlns:a16="http://schemas.microsoft.com/office/drawing/2014/main" id="{242815D7-EFF6-17D0-65B7-FD5E406DA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" name="Freeform 374">
                <a:extLst>
                  <a:ext uri="{FF2B5EF4-FFF2-40B4-BE49-F238E27FC236}">
                    <a16:creationId xmlns:a16="http://schemas.microsoft.com/office/drawing/2014/main" id="{C7324186-9B8E-4DA7-F7F1-47761C9DF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4" name="Group 375">
                <a:extLst>
                  <a:ext uri="{FF2B5EF4-FFF2-40B4-BE49-F238E27FC236}">
                    <a16:creationId xmlns:a16="http://schemas.microsoft.com/office/drawing/2014/main" id="{D006C5C9-2D06-1E62-6DB1-A21FDA467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6" name="AutoShape 376">
                  <a:extLst>
                    <a:ext uri="{FF2B5EF4-FFF2-40B4-BE49-F238E27FC236}">
                      <a16:creationId xmlns:a16="http://schemas.microsoft.com/office/drawing/2014/main" id="{ED0BBA70-844B-257A-D331-B1B87CA20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7" name="AutoShape 377">
                  <a:extLst>
                    <a:ext uri="{FF2B5EF4-FFF2-40B4-BE49-F238E27FC236}">
                      <a16:creationId xmlns:a16="http://schemas.microsoft.com/office/drawing/2014/main" id="{6A603702-6F9F-4057-5429-E08B8686AE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5" name="Rectangle 378">
                <a:extLst>
                  <a:ext uri="{FF2B5EF4-FFF2-40B4-BE49-F238E27FC236}">
                    <a16:creationId xmlns:a16="http://schemas.microsoft.com/office/drawing/2014/main" id="{B1DC0742-B833-0772-CB85-43C165F5D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" name="Freeform 379">
                <a:extLst>
                  <a:ext uri="{FF2B5EF4-FFF2-40B4-BE49-F238E27FC236}">
                    <a16:creationId xmlns:a16="http://schemas.microsoft.com/office/drawing/2014/main" id="{E32C254A-AE3B-EC0E-CE24-3F5857629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380">
                <a:extLst>
                  <a:ext uri="{FF2B5EF4-FFF2-40B4-BE49-F238E27FC236}">
                    <a16:creationId xmlns:a16="http://schemas.microsoft.com/office/drawing/2014/main" id="{0AF0F53A-5068-177D-F01E-771E7ED5A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Oval 381">
                <a:extLst>
                  <a:ext uri="{FF2B5EF4-FFF2-40B4-BE49-F238E27FC236}">
                    <a16:creationId xmlns:a16="http://schemas.microsoft.com/office/drawing/2014/main" id="{AB060858-998D-DD75-D2C3-F53AD4F54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Freeform 382">
                <a:extLst>
                  <a:ext uri="{FF2B5EF4-FFF2-40B4-BE49-F238E27FC236}">
                    <a16:creationId xmlns:a16="http://schemas.microsoft.com/office/drawing/2014/main" id="{58FC8F13-F7A7-9FF3-5444-177D19FF9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AutoShape 383">
                <a:extLst>
                  <a:ext uri="{FF2B5EF4-FFF2-40B4-BE49-F238E27FC236}">
                    <a16:creationId xmlns:a16="http://schemas.microsoft.com/office/drawing/2014/main" id="{68B975A6-4B5D-0D3C-10EA-E340919BF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" name="AutoShape 384">
                <a:extLst>
                  <a:ext uri="{FF2B5EF4-FFF2-40B4-BE49-F238E27FC236}">
                    <a16:creationId xmlns:a16="http://schemas.microsoft.com/office/drawing/2014/main" id="{C5D7629E-E84E-300B-E627-7FD933C84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2" name="Oval 385">
                <a:extLst>
                  <a:ext uri="{FF2B5EF4-FFF2-40B4-BE49-F238E27FC236}">
                    <a16:creationId xmlns:a16="http://schemas.microsoft.com/office/drawing/2014/main" id="{42CDA561-8947-8A76-FB2B-BEA0E77C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" name="Oval 386">
                <a:extLst>
                  <a:ext uri="{FF2B5EF4-FFF2-40B4-BE49-F238E27FC236}">
                    <a16:creationId xmlns:a16="http://schemas.microsoft.com/office/drawing/2014/main" id="{F853BD24-E4D6-6CBE-9FD5-F6681841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64" name="Oval 387">
                <a:extLst>
                  <a:ext uri="{FF2B5EF4-FFF2-40B4-BE49-F238E27FC236}">
                    <a16:creationId xmlns:a16="http://schemas.microsoft.com/office/drawing/2014/main" id="{04A77E0B-7A04-7D3B-AEF1-6E43038F1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5" name="Rectangle 388">
                <a:extLst>
                  <a:ext uri="{FF2B5EF4-FFF2-40B4-BE49-F238E27FC236}">
                    <a16:creationId xmlns:a16="http://schemas.microsoft.com/office/drawing/2014/main" id="{7A18C9F2-03F0-A2AC-9F8B-68473322D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320">
              <a:extLst>
                <a:ext uri="{FF2B5EF4-FFF2-40B4-BE49-F238E27FC236}">
                  <a16:creationId xmlns:a16="http://schemas.microsoft.com/office/drawing/2014/main" id="{A995296E-0919-6F5E-97CB-9E1F7D6D1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10" name="Freeform 321">
                <a:extLst>
                  <a:ext uri="{FF2B5EF4-FFF2-40B4-BE49-F238E27FC236}">
                    <a16:creationId xmlns:a16="http://schemas.microsoft.com/office/drawing/2014/main" id="{D92330CE-08F6-6A5C-662E-3880CD4B5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Rectangle 322">
                <a:extLst>
                  <a:ext uri="{FF2B5EF4-FFF2-40B4-BE49-F238E27FC236}">
                    <a16:creationId xmlns:a16="http://schemas.microsoft.com/office/drawing/2014/main" id="{8D9F7A09-743E-0CB0-E2B9-500ABB94D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Freeform 323">
                <a:extLst>
                  <a:ext uri="{FF2B5EF4-FFF2-40B4-BE49-F238E27FC236}">
                    <a16:creationId xmlns:a16="http://schemas.microsoft.com/office/drawing/2014/main" id="{9381AB47-087C-5C5E-54CF-2608D1D7B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324">
                <a:extLst>
                  <a:ext uri="{FF2B5EF4-FFF2-40B4-BE49-F238E27FC236}">
                    <a16:creationId xmlns:a16="http://schemas.microsoft.com/office/drawing/2014/main" id="{141A0736-0978-F7B4-3418-A91F32774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Rectangle 325">
                <a:extLst>
                  <a:ext uri="{FF2B5EF4-FFF2-40B4-BE49-F238E27FC236}">
                    <a16:creationId xmlns:a16="http://schemas.microsoft.com/office/drawing/2014/main" id="{F0754B8E-0098-E47D-7B12-3C876295D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" name="Group 326">
                <a:extLst>
                  <a:ext uri="{FF2B5EF4-FFF2-40B4-BE49-F238E27FC236}">
                    <a16:creationId xmlns:a16="http://schemas.microsoft.com/office/drawing/2014/main" id="{68C1DC66-B7F5-EF6A-A4A0-EEBC9CDB7D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0" name="AutoShape 327">
                  <a:extLst>
                    <a:ext uri="{FF2B5EF4-FFF2-40B4-BE49-F238E27FC236}">
                      <a16:creationId xmlns:a16="http://schemas.microsoft.com/office/drawing/2014/main" id="{934E827F-4E42-8ED5-1376-B9A0088A9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AutoShape 328">
                  <a:extLst>
                    <a:ext uri="{FF2B5EF4-FFF2-40B4-BE49-F238E27FC236}">
                      <a16:creationId xmlns:a16="http://schemas.microsoft.com/office/drawing/2014/main" id="{1824E65A-59C8-3054-DD03-9B11CC671A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6" name="Rectangle 329">
                <a:extLst>
                  <a:ext uri="{FF2B5EF4-FFF2-40B4-BE49-F238E27FC236}">
                    <a16:creationId xmlns:a16="http://schemas.microsoft.com/office/drawing/2014/main" id="{02EE9F75-C135-0492-2153-EF6A136EA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7" name="Group 330">
                <a:extLst>
                  <a:ext uri="{FF2B5EF4-FFF2-40B4-BE49-F238E27FC236}">
                    <a16:creationId xmlns:a16="http://schemas.microsoft.com/office/drawing/2014/main" id="{AEFD6D61-93BE-2555-20DA-CFB038466C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8" name="AutoShape 331">
                  <a:extLst>
                    <a:ext uri="{FF2B5EF4-FFF2-40B4-BE49-F238E27FC236}">
                      <a16:creationId xmlns:a16="http://schemas.microsoft.com/office/drawing/2014/main" id="{77C06769-3B64-08C9-874A-6B46D792F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AutoShape 332">
                  <a:extLst>
                    <a:ext uri="{FF2B5EF4-FFF2-40B4-BE49-F238E27FC236}">
                      <a16:creationId xmlns:a16="http://schemas.microsoft.com/office/drawing/2014/main" id="{32CF2E46-0560-EFA0-2B20-221144C9EE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8" name="Rectangle 333">
                <a:extLst>
                  <a:ext uri="{FF2B5EF4-FFF2-40B4-BE49-F238E27FC236}">
                    <a16:creationId xmlns:a16="http://schemas.microsoft.com/office/drawing/2014/main" id="{4DD447A4-7F47-7E93-A02D-8127DFEC2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334">
                <a:extLst>
                  <a:ext uri="{FF2B5EF4-FFF2-40B4-BE49-F238E27FC236}">
                    <a16:creationId xmlns:a16="http://schemas.microsoft.com/office/drawing/2014/main" id="{B644EA97-AA85-00C8-E956-05FE7B620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0" name="Group 335">
                <a:extLst>
                  <a:ext uri="{FF2B5EF4-FFF2-40B4-BE49-F238E27FC236}">
                    <a16:creationId xmlns:a16="http://schemas.microsoft.com/office/drawing/2014/main" id="{6B8F68D0-9D21-2688-1234-E81953AB23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6" name="AutoShape 336">
                  <a:extLst>
                    <a:ext uri="{FF2B5EF4-FFF2-40B4-BE49-F238E27FC236}">
                      <a16:creationId xmlns:a16="http://schemas.microsoft.com/office/drawing/2014/main" id="{5F941C3D-B6C7-733B-BFA9-25AAAF1F07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" name="AutoShape 337">
                  <a:extLst>
                    <a:ext uri="{FF2B5EF4-FFF2-40B4-BE49-F238E27FC236}">
                      <a16:creationId xmlns:a16="http://schemas.microsoft.com/office/drawing/2014/main" id="{E116131C-894C-7A5E-F27E-AE9A1B433D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1" name="Freeform 338">
                <a:extLst>
                  <a:ext uri="{FF2B5EF4-FFF2-40B4-BE49-F238E27FC236}">
                    <a16:creationId xmlns:a16="http://schemas.microsoft.com/office/drawing/2014/main" id="{66B405E0-66F4-C02F-BEFF-D82E38002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2" name="Group 339">
                <a:extLst>
                  <a:ext uri="{FF2B5EF4-FFF2-40B4-BE49-F238E27FC236}">
                    <a16:creationId xmlns:a16="http://schemas.microsoft.com/office/drawing/2014/main" id="{612F146D-97B6-C849-0E1E-824C16333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4" name="AutoShape 340">
                  <a:extLst>
                    <a:ext uri="{FF2B5EF4-FFF2-40B4-BE49-F238E27FC236}">
                      <a16:creationId xmlns:a16="http://schemas.microsoft.com/office/drawing/2014/main" id="{EA5E591F-9E70-C7FA-B97A-E55BAA0B0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AutoShape 341">
                  <a:extLst>
                    <a:ext uri="{FF2B5EF4-FFF2-40B4-BE49-F238E27FC236}">
                      <a16:creationId xmlns:a16="http://schemas.microsoft.com/office/drawing/2014/main" id="{876F1A13-02AF-63B4-8444-F5EB62131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23" name="Rectangle 342">
                <a:extLst>
                  <a:ext uri="{FF2B5EF4-FFF2-40B4-BE49-F238E27FC236}">
                    <a16:creationId xmlns:a16="http://schemas.microsoft.com/office/drawing/2014/main" id="{B04627D4-DA79-1F27-1725-5F5349987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Freeform 343">
                <a:extLst>
                  <a:ext uri="{FF2B5EF4-FFF2-40B4-BE49-F238E27FC236}">
                    <a16:creationId xmlns:a16="http://schemas.microsoft.com/office/drawing/2014/main" id="{616901E0-6B50-D8B5-0F75-BA7D9F533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344">
                <a:extLst>
                  <a:ext uri="{FF2B5EF4-FFF2-40B4-BE49-F238E27FC236}">
                    <a16:creationId xmlns:a16="http://schemas.microsoft.com/office/drawing/2014/main" id="{AF764DD8-46E9-2E59-7FB2-7539F9B17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Oval 345">
                <a:extLst>
                  <a:ext uri="{FF2B5EF4-FFF2-40B4-BE49-F238E27FC236}">
                    <a16:creationId xmlns:a16="http://schemas.microsoft.com/office/drawing/2014/main" id="{37EBBD05-A368-C86B-8604-EEC49E43E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Freeform 346">
                <a:extLst>
                  <a:ext uri="{FF2B5EF4-FFF2-40B4-BE49-F238E27FC236}">
                    <a16:creationId xmlns:a16="http://schemas.microsoft.com/office/drawing/2014/main" id="{88E5BAFE-7531-3241-046F-84CE1DA62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AutoShape 347">
                <a:extLst>
                  <a:ext uri="{FF2B5EF4-FFF2-40B4-BE49-F238E27FC236}">
                    <a16:creationId xmlns:a16="http://schemas.microsoft.com/office/drawing/2014/main" id="{75820DD4-2FF6-197D-1E07-3338B485C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AutoShape 348">
                <a:extLst>
                  <a:ext uri="{FF2B5EF4-FFF2-40B4-BE49-F238E27FC236}">
                    <a16:creationId xmlns:a16="http://schemas.microsoft.com/office/drawing/2014/main" id="{340F5FD4-0F1D-6C63-E0FB-1B068AB7A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Oval 349">
                <a:extLst>
                  <a:ext uri="{FF2B5EF4-FFF2-40B4-BE49-F238E27FC236}">
                    <a16:creationId xmlns:a16="http://schemas.microsoft.com/office/drawing/2014/main" id="{3879C3AC-DBE5-82BD-5334-D4AB6770D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" name="Oval 350">
                <a:extLst>
                  <a:ext uri="{FF2B5EF4-FFF2-40B4-BE49-F238E27FC236}">
                    <a16:creationId xmlns:a16="http://schemas.microsoft.com/office/drawing/2014/main" id="{F68C1A3E-24FF-0893-9EDC-CE7E242C0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800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132" name="Oval 351">
                <a:extLst>
                  <a:ext uri="{FF2B5EF4-FFF2-40B4-BE49-F238E27FC236}">
                    <a16:creationId xmlns:a16="http://schemas.microsoft.com/office/drawing/2014/main" id="{BD184C9B-E372-97B8-16BE-7960A1F18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352">
                <a:extLst>
                  <a:ext uri="{FF2B5EF4-FFF2-40B4-BE49-F238E27FC236}">
                    <a16:creationId xmlns:a16="http://schemas.microsoft.com/office/drawing/2014/main" id="{1DB1903D-9434-55C5-3DEA-F76DB9498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3415498E-740F-8E84-3A83-70037A453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" name="Group 19">
              <a:extLst>
                <a:ext uri="{FF2B5EF4-FFF2-40B4-BE49-F238E27FC236}">
                  <a16:creationId xmlns:a16="http://schemas.microsoft.com/office/drawing/2014/main" id="{18E697E4-10EB-D341-FECA-4F08F5C74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95" name="Rectangle 20">
                <a:extLst>
                  <a:ext uri="{FF2B5EF4-FFF2-40B4-BE49-F238E27FC236}">
                    <a16:creationId xmlns:a16="http://schemas.microsoft.com/office/drawing/2014/main" id="{CD89CBDC-D287-7F85-0CDF-83FC07CF5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6" name="Text Box 21">
                <a:extLst>
                  <a:ext uri="{FF2B5EF4-FFF2-40B4-BE49-F238E27FC236}">
                    <a16:creationId xmlns:a16="http://schemas.microsoft.com/office/drawing/2014/main" id="{954742DB-D677-71F8-1B37-12CE48B16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server</a:t>
                </a:r>
                <a:endParaRPr lang="en-US" sz="2400"/>
              </a:p>
            </p:txBody>
          </p:sp>
          <p:sp>
            <p:nvSpPr>
              <p:cNvPr id="97" name="Rectangle 22">
                <a:extLst>
                  <a:ext uri="{FF2B5EF4-FFF2-40B4-BE49-F238E27FC236}">
                    <a16:creationId xmlns:a16="http://schemas.microsoft.com/office/drawing/2014/main" id="{FF885782-F6E9-5851-14BB-D84E6DE93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8" name="Line 23">
                <a:extLst>
                  <a:ext uri="{FF2B5EF4-FFF2-40B4-BE49-F238E27FC236}">
                    <a16:creationId xmlns:a16="http://schemas.microsoft.com/office/drawing/2014/main" id="{A4EA220F-E4E6-9F24-A89F-94FE042C4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Line 24">
                <a:extLst>
                  <a:ext uri="{FF2B5EF4-FFF2-40B4-BE49-F238E27FC236}">
                    <a16:creationId xmlns:a16="http://schemas.microsoft.com/office/drawing/2014/main" id="{6E93D9C5-C3E8-79DC-2DE3-C9B43F137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Line 25">
                <a:extLst>
                  <a:ext uri="{FF2B5EF4-FFF2-40B4-BE49-F238E27FC236}">
                    <a16:creationId xmlns:a16="http://schemas.microsoft.com/office/drawing/2014/main" id="{A7BB5838-40D9-5E5F-3EFA-494693DD3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Line 26">
                <a:extLst>
                  <a:ext uri="{FF2B5EF4-FFF2-40B4-BE49-F238E27FC236}">
                    <a16:creationId xmlns:a16="http://schemas.microsoft.com/office/drawing/2014/main" id="{B99CCFD4-29C8-0693-51C8-491313BA4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Line 27">
                <a:extLst>
                  <a:ext uri="{FF2B5EF4-FFF2-40B4-BE49-F238E27FC236}">
                    <a16:creationId xmlns:a16="http://schemas.microsoft.com/office/drawing/2014/main" id="{D5CD86CC-7979-4B9B-B43F-5FDCC00E3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Line 28">
                <a:extLst>
                  <a:ext uri="{FF2B5EF4-FFF2-40B4-BE49-F238E27FC236}">
                    <a16:creationId xmlns:a16="http://schemas.microsoft.com/office/drawing/2014/main" id="{96E84535-C739-6FBB-0F49-78420195B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Line 29">
                <a:extLst>
                  <a:ext uri="{FF2B5EF4-FFF2-40B4-BE49-F238E27FC236}">
                    <a16:creationId xmlns:a16="http://schemas.microsoft.com/office/drawing/2014/main" id="{7CBA5513-88A5-0E5D-82F3-B2243E8B6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30">
                <a:extLst>
                  <a:ext uri="{FF2B5EF4-FFF2-40B4-BE49-F238E27FC236}">
                    <a16:creationId xmlns:a16="http://schemas.microsoft.com/office/drawing/2014/main" id="{2F38411C-3CD8-2D58-3A31-0E4429455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6" name="Rectangle 31">
                <a:extLst>
                  <a:ext uri="{FF2B5EF4-FFF2-40B4-BE49-F238E27FC236}">
                    <a16:creationId xmlns:a16="http://schemas.microsoft.com/office/drawing/2014/main" id="{14B7CBF7-F128-0510-702D-47440FD86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7" name="Rectangle 32">
                <a:extLst>
                  <a:ext uri="{FF2B5EF4-FFF2-40B4-BE49-F238E27FC236}">
                    <a16:creationId xmlns:a16="http://schemas.microsoft.com/office/drawing/2014/main" id="{BA779FDE-99EC-7454-02B1-31A411569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8" name="Rectangle 33">
                <a:extLst>
                  <a:ext uri="{FF2B5EF4-FFF2-40B4-BE49-F238E27FC236}">
                    <a16:creationId xmlns:a16="http://schemas.microsoft.com/office/drawing/2014/main" id="{2739D12C-063F-C2F8-2505-14363EBF5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109" name="Rectangle 34">
                <a:extLst>
                  <a:ext uri="{FF2B5EF4-FFF2-40B4-BE49-F238E27FC236}">
                    <a16:creationId xmlns:a16="http://schemas.microsoft.com/office/drawing/2014/main" id="{5645574F-AC49-BF82-17AE-FCA1B112D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6" name="Group 60">
              <a:extLst>
                <a:ext uri="{FF2B5EF4-FFF2-40B4-BE49-F238E27FC236}">
                  <a16:creationId xmlns:a16="http://schemas.microsoft.com/office/drawing/2014/main" id="{61F512FB-1971-EE83-B4D5-E03D804C3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80" name="Rectangle 61">
                <a:extLst>
                  <a:ext uri="{FF2B5EF4-FFF2-40B4-BE49-F238E27FC236}">
                    <a16:creationId xmlns:a16="http://schemas.microsoft.com/office/drawing/2014/main" id="{C318694B-D38E-6B51-47F6-C9048B092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1" name="Text Box 62">
                <a:extLst>
                  <a:ext uri="{FF2B5EF4-FFF2-40B4-BE49-F238E27FC236}">
                    <a16:creationId xmlns:a16="http://schemas.microsoft.com/office/drawing/2014/main" id="{1951C9F5-F580-7E97-1784-F71DF6190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dirty="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 dirty="0"/>
                  <a:t>server</a:t>
                </a:r>
                <a:endParaRPr lang="en-US" sz="2400" dirty="0"/>
              </a:p>
            </p:txBody>
          </p:sp>
          <p:sp>
            <p:nvSpPr>
              <p:cNvPr id="82" name="Rectangle 63">
                <a:extLst>
                  <a:ext uri="{FF2B5EF4-FFF2-40B4-BE49-F238E27FC236}">
                    <a16:creationId xmlns:a16="http://schemas.microsoft.com/office/drawing/2014/main" id="{946E1B0B-7467-2027-6B0E-3CAAAD4E5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83" name="Line 64">
                <a:extLst>
                  <a:ext uri="{FF2B5EF4-FFF2-40B4-BE49-F238E27FC236}">
                    <a16:creationId xmlns:a16="http://schemas.microsoft.com/office/drawing/2014/main" id="{57EFEE6A-A2A8-9862-1867-386889236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Line 65">
                <a:extLst>
                  <a:ext uri="{FF2B5EF4-FFF2-40B4-BE49-F238E27FC236}">
                    <a16:creationId xmlns:a16="http://schemas.microsoft.com/office/drawing/2014/main" id="{3B59DC25-A772-D26E-AD64-A19821664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Line 66">
                <a:extLst>
                  <a:ext uri="{FF2B5EF4-FFF2-40B4-BE49-F238E27FC236}">
                    <a16:creationId xmlns:a16="http://schemas.microsoft.com/office/drawing/2014/main" id="{7E614ADB-14FD-D8E9-290D-96BDB0335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67">
                <a:extLst>
                  <a:ext uri="{FF2B5EF4-FFF2-40B4-BE49-F238E27FC236}">
                    <a16:creationId xmlns:a16="http://schemas.microsoft.com/office/drawing/2014/main" id="{09D7A7EB-6E76-7B12-851D-3EBD47299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Line 68">
                <a:extLst>
                  <a:ext uri="{FF2B5EF4-FFF2-40B4-BE49-F238E27FC236}">
                    <a16:creationId xmlns:a16="http://schemas.microsoft.com/office/drawing/2014/main" id="{D33B1202-EC98-4C80-E6FA-443890D3C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69">
                <a:extLst>
                  <a:ext uri="{FF2B5EF4-FFF2-40B4-BE49-F238E27FC236}">
                    <a16:creationId xmlns:a16="http://schemas.microsoft.com/office/drawing/2014/main" id="{3F6C6528-822F-702C-EB2A-799709EA3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Line 70">
                <a:extLst>
                  <a:ext uri="{FF2B5EF4-FFF2-40B4-BE49-F238E27FC236}">
                    <a16:creationId xmlns:a16="http://schemas.microsoft.com/office/drawing/2014/main" id="{370E24BF-F81F-9E7D-EDD6-6AD6B1A57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71">
                <a:extLst>
                  <a:ext uri="{FF2B5EF4-FFF2-40B4-BE49-F238E27FC236}">
                    <a16:creationId xmlns:a16="http://schemas.microsoft.com/office/drawing/2014/main" id="{A3E7169C-E84F-B485-C1DD-646D681F7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1" name="Rectangle 72">
                <a:extLst>
                  <a:ext uri="{FF2B5EF4-FFF2-40B4-BE49-F238E27FC236}">
                    <a16:creationId xmlns:a16="http://schemas.microsoft.com/office/drawing/2014/main" id="{37A0E91E-AAC4-6BA6-9138-E125470CA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2" name="Rectangle 73">
                <a:extLst>
                  <a:ext uri="{FF2B5EF4-FFF2-40B4-BE49-F238E27FC236}">
                    <a16:creationId xmlns:a16="http://schemas.microsoft.com/office/drawing/2014/main" id="{668D419D-77BB-5926-DFCE-6C83F431D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3" name="Rectangle 74">
                <a:extLst>
                  <a:ext uri="{FF2B5EF4-FFF2-40B4-BE49-F238E27FC236}">
                    <a16:creationId xmlns:a16="http://schemas.microsoft.com/office/drawing/2014/main" id="{227B3C72-BA84-09CC-0B64-BAAF38715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94" name="Rectangle 75">
                <a:extLst>
                  <a:ext uri="{FF2B5EF4-FFF2-40B4-BE49-F238E27FC236}">
                    <a16:creationId xmlns:a16="http://schemas.microsoft.com/office/drawing/2014/main" id="{BF25E845-4134-AEA2-4D00-AF0AA4FDE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grpSp>
          <p:nvGrpSpPr>
            <p:cNvPr id="17" name="Group 96">
              <a:extLst>
                <a:ext uri="{FF2B5EF4-FFF2-40B4-BE49-F238E27FC236}">
                  <a16:creationId xmlns:a16="http://schemas.microsoft.com/office/drawing/2014/main" id="{150F5DB0-849C-C6CD-0B71-354E1B24F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65" name="Rectangle 97">
                <a:extLst>
                  <a:ext uri="{FF2B5EF4-FFF2-40B4-BE49-F238E27FC236}">
                    <a16:creationId xmlns:a16="http://schemas.microsoft.com/office/drawing/2014/main" id="{2D8D45A6-C1D3-2A94-28E6-18F405588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6" name="Text Box 98">
                <a:extLst>
                  <a:ext uri="{FF2B5EF4-FFF2-40B4-BE49-F238E27FC236}">
                    <a16:creationId xmlns:a16="http://schemas.microsoft.com/office/drawing/2014/main" id="{527D0571-59D6-BD6B-A45B-81664422A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server</a:t>
                </a:r>
                <a:endParaRPr lang="en-US" sz="2400"/>
              </a:p>
            </p:txBody>
          </p:sp>
          <p:sp>
            <p:nvSpPr>
              <p:cNvPr id="67" name="Rectangle 99">
                <a:extLst>
                  <a:ext uri="{FF2B5EF4-FFF2-40B4-BE49-F238E27FC236}">
                    <a16:creationId xmlns:a16="http://schemas.microsoft.com/office/drawing/2014/main" id="{F305C749-6EF7-062F-7F20-CA7E122D9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8" name="Line 100">
                <a:extLst>
                  <a:ext uri="{FF2B5EF4-FFF2-40B4-BE49-F238E27FC236}">
                    <a16:creationId xmlns:a16="http://schemas.microsoft.com/office/drawing/2014/main" id="{E7079EE0-B83A-3495-CA2C-D5CFA8834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101">
                <a:extLst>
                  <a:ext uri="{FF2B5EF4-FFF2-40B4-BE49-F238E27FC236}">
                    <a16:creationId xmlns:a16="http://schemas.microsoft.com/office/drawing/2014/main" id="{DB415B16-5850-517C-BBCD-6AB95ABD8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Line 102">
                <a:extLst>
                  <a:ext uri="{FF2B5EF4-FFF2-40B4-BE49-F238E27FC236}">
                    <a16:creationId xmlns:a16="http://schemas.microsoft.com/office/drawing/2014/main" id="{5468B3AC-F2AB-9B86-1061-B687EB73B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Line 103">
                <a:extLst>
                  <a:ext uri="{FF2B5EF4-FFF2-40B4-BE49-F238E27FC236}">
                    <a16:creationId xmlns:a16="http://schemas.microsoft.com/office/drawing/2014/main" id="{0CD2DD2F-F61D-AD53-B200-39679A72A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Line 104">
                <a:extLst>
                  <a:ext uri="{FF2B5EF4-FFF2-40B4-BE49-F238E27FC236}">
                    <a16:creationId xmlns:a16="http://schemas.microsoft.com/office/drawing/2014/main" id="{4A26D210-1A01-A295-39E8-EE4ADFBCC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Line 105">
                <a:extLst>
                  <a:ext uri="{FF2B5EF4-FFF2-40B4-BE49-F238E27FC236}">
                    <a16:creationId xmlns:a16="http://schemas.microsoft.com/office/drawing/2014/main" id="{CFAF6B7A-1970-F6F2-0F0B-16B61D706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Line 106">
                <a:extLst>
                  <a:ext uri="{FF2B5EF4-FFF2-40B4-BE49-F238E27FC236}">
                    <a16:creationId xmlns:a16="http://schemas.microsoft.com/office/drawing/2014/main" id="{007005DF-2DF9-C984-98C4-515C200BA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107">
                <a:extLst>
                  <a:ext uri="{FF2B5EF4-FFF2-40B4-BE49-F238E27FC236}">
                    <a16:creationId xmlns:a16="http://schemas.microsoft.com/office/drawing/2014/main" id="{107AC2F5-85CB-FA24-E573-5B07433D4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6" name="Rectangle 108">
                <a:extLst>
                  <a:ext uri="{FF2B5EF4-FFF2-40B4-BE49-F238E27FC236}">
                    <a16:creationId xmlns:a16="http://schemas.microsoft.com/office/drawing/2014/main" id="{594D9B5D-932C-898C-5937-A9F9B7E48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7" name="Rectangle 109">
                <a:extLst>
                  <a:ext uri="{FF2B5EF4-FFF2-40B4-BE49-F238E27FC236}">
                    <a16:creationId xmlns:a16="http://schemas.microsoft.com/office/drawing/2014/main" id="{3BDCC34C-417E-1EF9-5B25-5CAB06B78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8" name="Rectangle 110">
                <a:extLst>
                  <a:ext uri="{FF2B5EF4-FFF2-40B4-BE49-F238E27FC236}">
                    <a16:creationId xmlns:a16="http://schemas.microsoft.com/office/drawing/2014/main" id="{CA8EADB0-2C17-9D78-A037-D8FF0E4CA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79" name="Rectangle 111">
                <a:extLst>
                  <a:ext uri="{FF2B5EF4-FFF2-40B4-BE49-F238E27FC236}">
                    <a16:creationId xmlns:a16="http://schemas.microsoft.com/office/drawing/2014/main" id="{827B61EC-D763-C0D0-E19C-46598EB27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  <p:sp>
          <p:nvSpPr>
            <p:cNvPr id="18" name="Line 117">
              <a:extLst>
                <a:ext uri="{FF2B5EF4-FFF2-40B4-BE49-F238E27FC236}">
                  <a16:creationId xmlns:a16="http://schemas.microsoft.com/office/drawing/2014/main" id="{E86CCD94-3A93-D027-4290-3C5E8BCEF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18">
              <a:extLst>
                <a:ext uri="{FF2B5EF4-FFF2-40B4-BE49-F238E27FC236}">
                  <a16:creationId xmlns:a16="http://schemas.microsoft.com/office/drawing/2014/main" id="{B1EED4DF-237A-F05A-BF3B-47E76D48F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" name="Group 119">
              <a:extLst>
                <a:ext uri="{FF2B5EF4-FFF2-40B4-BE49-F238E27FC236}">
                  <a16:creationId xmlns:a16="http://schemas.microsoft.com/office/drawing/2014/main" id="{438AA15A-6D37-7CA6-667B-BC100966A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63" name="Rectangle 120">
                <a:extLst>
                  <a:ext uri="{FF2B5EF4-FFF2-40B4-BE49-F238E27FC236}">
                    <a16:creationId xmlns:a16="http://schemas.microsoft.com/office/drawing/2014/main" id="{E5890373-80DF-CBA6-F03F-56A3B7B96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4" name="Text Box 121">
                <a:extLst>
                  <a:ext uri="{FF2B5EF4-FFF2-40B4-BE49-F238E27FC236}">
                    <a16:creationId xmlns:a16="http://schemas.microsoft.com/office/drawing/2014/main" id="{855F943B-5750-9213-0108-0EFA77C1D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1" name="Group 122">
              <a:extLst>
                <a:ext uri="{FF2B5EF4-FFF2-40B4-BE49-F238E27FC236}">
                  <a16:creationId xmlns:a16="http://schemas.microsoft.com/office/drawing/2014/main" id="{679B5B4F-92AC-C3F5-B471-A7AE17CE4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61" name="Rectangle 123">
                <a:extLst>
                  <a:ext uri="{FF2B5EF4-FFF2-40B4-BE49-F238E27FC236}">
                    <a16:creationId xmlns:a16="http://schemas.microsoft.com/office/drawing/2014/main" id="{16F75259-9FD4-04E6-A38B-84B38F993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2" name="Text Box 124">
                <a:extLst>
                  <a:ext uri="{FF2B5EF4-FFF2-40B4-BE49-F238E27FC236}">
                    <a16:creationId xmlns:a16="http://schemas.microsoft.com/office/drawing/2014/main" id="{C183F1C7-5662-4C41-1E17-76EAADA826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2" name="Group 125">
              <a:extLst>
                <a:ext uri="{FF2B5EF4-FFF2-40B4-BE49-F238E27FC236}">
                  <a16:creationId xmlns:a16="http://schemas.microsoft.com/office/drawing/2014/main" id="{85087542-F5D1-D0C4-8F17-DF75A35F4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59" name="Rectangle 126">
                <a:extLst>
                  <a:ext uri="{FF2B5EF4-FFF2-40B4-BE49-F238E27FC236}">
                    <a16:creationId xmlns:a16="http://schemas.microsoft.com/office/drawing/2014/main" id="{21D6547F-73E2-E1FD-F8BA-74090E9F1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0" name="Text Box 127">
                <a:extLst>
                  <a:ext uri="{FF2B5EF4-FFF2-40B4-BE49-F238E27FC236}">
                    <a16:creationId xmlns:a16="http://schemas.microsoft.com/office/drawing/2014/main" id="{2BF056D3-823B-9508-8EA9-B6AA6DAC72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23" name="Group 423">
              <a:extLst>
                <a:ext uri="{FF2B5EF4-FFF2-40B4-BE49-F238E27FC236}">
                  <a16:creationId xmlns:a16="http://schemas.microsoft.com/office/drawing/2014/main" id="{18EB4CA2-83CC-CDDB-20E5-07245FD01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54" name="Group 353">
                <a:extLst>
                  <a:ext uri="{FF2B5EF4-FFF2-40B4-BE49-F238E27FC236}">
                    <a16:creationId xmlns:a16="http://schemas.microsoft.com/office/drawing/2014/main" id="{37A91CE3-63AB-E808-DD23-1D066FAF7D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7" name="Picture 354" descr="desktop_computer_stylized_medium">
                  <a:extLst>
                    <a:ext uri="{FF2B5EF4-FFF2-40B4-BE49-F238E27FC236}">
                      <a16:creationId xmlns:a16="http://schemas.microsoft.com/office/drawing/2014/main" id="{415C9754-720E-2721-FDCE-CE6A4AEF21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8" name="Freeform 355">
                  <a:extLst>
                    <a:ext uri="{FF2B5EF4-FFF2-40B4-BE49-F238E27FC236}">
                      <a16:creationId xmlns:a16="http://schemas.microsoft.com/office/drawing/2014/main" id="{A56D1296-BE8D-2640-6183-1609A40A9D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5" name="Rectangle 115">
                <a:extLst>
                  <a:ext uri="{FF2B5EF4-FFF2-40B4-BE49-F238E27FC236}">
                    <a16:creationId xmlns:a16="http://schemas.microsoft.com/office/drawing/2014/main" id="{EA5FBB49-7203-86EB-7018-32A5BE398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6" name="Text Box 116">
                <a:extLst>
                  <a:ext uri="{FF2B5EF4-FFF2-40B4-BE49-F238E27FC236}">
                    <a16:creationId xmlns:a16="http://schemas.microsoft.com/office/drawing/2014/main" id="{288FDAEB-5287-C89B-00F1-8A22D83082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4" name="Group 424">
              <a:extLst>
                <a:ext uri="{FF2B5EF4-FFF2-40B4-BE49-F238E27FC236}">
                  <a16:creationId xmlns:a16="http://schemas.microsoft.com/office/drawing/2014/main" id="{C1C7D9A4-87E6-49FD-0160-B2A0457A2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49" name="Group 425">
                <a:extLst>
                  <a:ext uri="{FF2B5EF4-FFF2-40B4-BE49-F238E27FC236}">
                    <a16:creationId xmlns:a16="http://schemas.microsoft.com/office/drawing/2014/main" id="{700A351B-805F-CB8C-B245-61FE899061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2" name="Picture 426" descr="desktop_computer_stylized_medium">
                  <a:extLst>
                    <a:ext uri="{FF2B5EF4-FFF2-40B4-BE49-F238E27FC236}">
                      <a16:creationId xmlns:a16="http://schemas.microsoft.com/office/drawing/2014/main" id="{EF476CB5-F97E-75F0-E62C-39102E69DE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3" name="Freeform 427">
                  <a:extLst>
                    <a:ext uri="{FF2B5EF4-FFF2-40B4-BE49-F238E27FC236}">
                      <a16:creationId xmlns:a16="http://schemas.microsoft.com/office/drawing/2014/main" id="{F7990349-EC2D-0534-88FF-CCA38604FB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115">
                <a:extLst>
                  <a:ext uri="{FF2B5EF4-FFF2-40B4-BE49-F238E27FC236}">
                    <a16:creationId xmlns:a16="http://schemas.microsoft.com/office/drawing/2014/main" id="{A7D2D027-0395-3AB8-A09B-77C84D3CA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51" name="Text Box 116">
                <a:extLst>
                  <a:ext uri="{FF2B5EF4-FFF2-40B4-BE49-F238E27FC236}">
                    <a16:creationId xmlns:a16="http://schemas.microsoft.com/office/drawing/2014/main" id="{2F1F0710-DCCF-257B-A6B8-6D287A4E94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5" name="Group 430">
              <a:extLst>
                <a:ext uri="{FF2B5EF4-FFF2-40B4-BE49-F238E27FC236}">
                  <a16:creationId xmlns:a16="http://schemas.microsoft.com/office/drawing/2014/main" id="{628EEC49-3F35-149E-187A-CBEC4E773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44" name="Group 431">
                <a:extLst>
                  <a:ext uri="{FF2B5EF4-FFF2-40B4-BE49-F238E27FC236}">
                    <a16:creationId xmlns:a16="http://schemas.microsoft.com/office/drawing/2014/main" id="{6ABA431F-F7D5-CAC3-BCEB-E2B3ABCA2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" name="Picture 432" descr="desktop_computer_stylized_medium">
                  <a:extLst>
                    <a:ext uri="{FF2B5EF4-FFF2-40B4-BE49-F238E27FC236}">
                      <a16:creationId xmlns:a16="http://schemas.microsoft.com/office/drawing/2014/main" id="{6A09364F-BBAE-820B-DCD8-48F5E967AB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" name="Freeform 433">
                  <a:extLst>
                    <a:ext uri="{FF2B5EF4-FFF2-40B4-BE49-F238E27FC236}">
                      <a16:creationId xmlns:a16="http://schemas.microsoft.com/office/drawing/2014/main" id="{7B981B01-3D89-47CB-67AC-F240B4B5F7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115">
                <a:extLst>
                  <a:ext uri="{FF2B5EF4-FFF2-40B4-BE49-F238E27FC236}">
                    <a16:creationId xmlns:a16="http://schemas.microsoft.com/office/drawing/2014/main" id="{A52FAE70-F521-ADAB-0542-D40F650BF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6" name="Text Box 116">
                <a:extLst>
                  <a:ext uri="{FF2B5EF4-FFF2-40B4-BE49-F238E27FC236}">
                    <a16:creationId xmlns:a16="http://schemas.microsoft.com/office/drawing/2014/main" id="{3E229D03-0F22-FADA-927E-4853FF8DD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6" name="Group 436">
              <a:extLst>
                <a:ext uri="{FF2B5EF4-FFF2-40B4-BE49-F238E27FC236}">
                  <a16:creationId xmlns:a16="http://schemas.microsoft.com/office/drawing/2014/main" id="{697FF23E-4280-2F5A-802C-78850C302C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39" name="Group 437">
                <a:extLst>
                  <a:ext uri="{FF2B5EF4-FFF2-40B4-BE49-F238E27FC236}">
                    <a16:creationId xmlns:a16="http://schemas.microsoft.com/office/drawing/2014/main" id="{C04D6034-D938-3CF5-7190-C4C3255E1D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2" name="Picture 438" descr="desktop_computer_stylized_medium">
                  <a:extLst>
                    <a:ext uri="{FF2B5EF4-FFF2-40B4-BE49-F238E27FC236}">
                      <a16:creationId xmlns:a16="http://schemas.microsoft.com/office/drawing/2014/main" id="{A31821A5-8A18-F3FD-4F07-328281D82A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" name="Freeform 439">
                  <a:extLst>
                    <a:ext uri="{FF2B5EF4-FFF2-40B4-BE49-F238E27FC236}">
                      <a16:creationId xmlns:a16="http://schemas.microsoft.com/office/drawing/2014/main" id="{D6BB66C3-D444-0F53-859E-B9D3CF526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40" name="Rectangle 115">
                <a:extLst>
                  <a:ext uri="{FF2B5EF4-FFF2-40B4-BE49-F238E27FC236}">
                    <a16:creationId xmlns:a16="http://schemas.microsoft.com/office/drawing/2014/main" id="{239F1E6E-AF0F-C204-08A4-6E34E8895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41" name="Text Box 116">
                <a:extLst>
                  <a:ext uri="{FF2B5EF4-FFF2-40B4-BE49-F238E27FC236}">
                    <a16:creationId xmlns:a16="http://schemas.microsoft.com/office/drawing/2014/main" id="{DD9507A7-EE06-695B-411B-311834D50E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7" name="Group 442">
              <a:extLst>
                <a:ext uri="{FF2B5EF4-FFF2-40B4-BE49-F238E27FC236}">
                  <a16:creationId xmlns:a16="http://schemas.microsoft.com/office/drawing/2014/main" id="{C0B966F0-D526-62A2-021B-C5E72C3F5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34" name="Group 443">
                <a:extLst>
                  <a:ext uri="{FF2B5EF4-FFF2-40B4-BE49-F238E27FC236}">
                    <a16:creationId xmlns:a16="http://schemas.microsoft.com/office/drawing/2014/main" id="{A90FE3FB-0188-7227-4D63-929EB5421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37" name="Picture 444" descr="desktop_computer_stylized_medium">
                  <a:extLst>
                    <a:ext uri="{FF2B5EF4-FFF2-40B4-BE49-F238E27FC236}">
                      <a16:creationId xmlns:a16="http://schemas.microsoft.com/office/drawing/2014/main" id="{2FD766EA-468C-5E4E-C785-5032367BCD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Freeform 445">
                  <a:extLst>
                    <a:ext uri="{FF2B5EF4-FFF2-40B4-BE49-F238E27FC236}">
                      <a16:creationId xmlns:a16="http://schemas.microsoft.com/office/drawing/2014/main" id="{C6B7AC15-1700-1F50-0535-7011DF3F1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35" name="Rectangle 115">
                <a:extLst>
                  <a:ext uri="{FF2B5EF4-FFF2-40B4-BE49-F238E27FC236}">
                    <a16:creationId xmlns:a16="http://schemas.microsoft.com/office/drawing/2014/main" id="{FCE1856E-161A-8D89-744E-DF9DC7924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6" name="Text Box 116">
                <a:extLst>
                  <a:ext uri="{FF2B5EF4-FFF2-40B4-BE49-F238E27FC236}">
                    <a16:creationId xmlns:a16="http://schemas.microsoft.com/office/drawing/2014/main" id="{C42E0783-0FB2-5492-B602-A8B878DD5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  <p:grpSp>
          <p:nvGrpSpPr>
            <p:cNvPr id="28" name="Group 448">
              <a:extLst>
                <a:ext uri="{FF2B5EF4-FFF2-40B4-BE49-F238E27FC236}">
                  <a16:creationId xmlns:a16="http://schemas.microsoft.com/office/drawing/2014/main" id="{6F9275F2-3EBA-6B20-888C-A3A09D318B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29" name="Group 449">
                <a:extLst>
                  <a:ext uri="{FF2B5EF4-FFF2-40B4-BE49-F238E27FC236}">
                    <a16:creationId xmlns:a16="http://schemas.microsoft.com/office/drawing/2014/main" id="{65868F6F-260C-939C-FE94-38FBEE4AAF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32" name="Picture 450" descr="desktop_computer_stylized_medium">
                  <a:extLst>
                    <a:ext uri="{FF2B5EF4-FFF2-40B4-BE49-F238E27FC236}">
                      <a16:creationId xmlns:a16="http://schemas.microsoft.com/office/drawing/2014/main" id="{65DE81AD-39BD-78A9-ACE7-D2F83AE2AA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" name="Freeform 451">
                  <a:extLst>
                    <a:ext uri="{FF2B5EF4-FFF2-40B4-BE49-F238E27FC236}">
                      <a16:creationId xmlns:a16="http://schemas.microsoft.com/office/drawing/2014/main" id="{3946C14B-FE86-E8AE-9BB5-F5527C25FD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497 w 356"/>
                    <a:gd name="T3" fmla="*/ 469 h 368"/>
                    <a:gd name="T4" fmla="*/ 8894 w 356"/>
                    <a:gd name="T5" fmla="*/ 9780 h 368"/>
                    <a:gd name="T6" fmla="*/ 1960 w 356"/>
                    <a:gd name="T7" fmla="*/ 1223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30" name="Rectangle 115">
                <a:extLst>
                  <a:ext uri="{FF2B5EF4-FFF2-40B4-BE49-F238E27FC236}">
                    <a16:creationId xmlns:a16="http://schemas.microsoft.com/office/drawing/2014/main" id="{3FD557B7-D225-7D7E-8365-8B965169F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31" name="Text Box 116">
                <a:extLst>
                  <a:ext uri="{FF2B5EF4-FFF2-40B4-BE49-F238E27FC236}">
                    <a16:creationId xmlns:a16="http://schemas.microsoft.com/office/drawing/2014/main" id="{213FDF36-ACF7-CB38-4AB4-530A6E830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0"/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/>
                  <a:t>agent</a:t>
                </a:r>
                <a:endParaRPr lang="en-US" sz="2400"/>
              </a:p>
            </p:txBody>
          </p:sp>
        </p:grpSp>
      </p:grpSp>
      <p:grpSp>
        <p:nvGrpSpPr>
          <p:cNvPr id="206" name="Group 279">
            <a:extLst>
              <a:ext uri="{FF2B5EF4-FFF2-40B4-BE49-F238E27FC236}">
                <a16:creationId xmlns:a16="http://schemas.microsoft.com/office/drawing/2014/main" id="{AE1FF2FD-B475-1805-D569-7011B92D43A6}"/>
              </a:ext>
            </a:extLst>
          </p:cNvPr>
          <p:cNvGrpSpPr>
            <a:grpSpLocks/>
          </p:cNvGrpSpPr>
          <p:nvPr/>
        </p:nvGrpSpPr>
        <p:grpSpPr bwMode="auto">
          <a:xfrm>
            <a:off x="8969352" y="5274880"/>
            <a:ext cx="4146550" cy="674688"/>
            <a:chOff x="4458" y="3374"/>
            <a:chExt cx="2612" cy="425"/>
          </a:xfrm>
        </p:grpSpPr>
        <p:sp>
          <p:nvSpPr>
            <p:cNvPr id="207" name="Text Box 263">
              <a:extLst>
                <a:ext uri="{FF2B5EF4-FFF2-40B4-BE49-F238E27FC236}">
                  <a16:creationId xmlns:a16="http://schemas.microsoft.com/office/drawing/2014/main" id="{15833997-6D8C-D302-36FB-1D6716759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" y="3587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user mailbox</a:t>
              </a:r>
              <a:endParaRPr lang="en-US" sz="2400" dirty="0"/>
            </a:p>
          </p:txBody>
        </p:sp>
        <p:grpSp>
          <p:nvGrpSpPr>
            <p:cNvPr id="208" name="Group 278">
              <a:extLst>
                <a:ext uri="{FF2B5EF4-FFF2-40B4-BE49-F238E27FC236}">
                  <a16:creationId xmlns:a16="http://schemas.microsoft.com/office/drawing/2014/main" id="{7C79FBD4-E653-C759-2FBD-6BD80C7EE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11" name="Rectangle 264">
                <a:extLst>
                  <a:ext uri="{FF2B5EF4-FFF2-40B4-BE49-F238E27FC236}">
                    <a16:creationId xmlns:a16="http://schemas.microsoft.com/office/drawing/2014/main" id="{68108B6B-BB40-C939-13F6-853CAB5A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212" name="Line 265">
                <a:extLst>
                  <a:ext uri="{FF2B5EF4-FFF2-40B4-BE49-F238E27FC236}">
                    <a16:creationId xmlns:a16="http://schemas.microsoft.com/office/drawing/2014/main" id="{3CA0D9E5-79C7-C1B8-ADDE-1FD1C3552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3" name="Line 266">
                <a:extLst>
                  <a:ext uri="{FF2B5EF4-FFF2-40B4-BE49-F238E27FC236}">
                    <a16:creationId xmlns:a16="http://schemas.microsoft.com/office/drawing/2014/main" id="{C89ED773-29AB-2EFF-4B70-517D53DCB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" name="Line 267">
                <a:extLst>
                  <a:ext uri="{FF2B5EF4-FFF2-40B4-BE49-F238E27FC236}">
                    <a16:creationId xmlns:a16="http://schemas.microsoft.com/office/drawing/2014/main" id="{B75559C2-C1E8-9B06-787F-DCF858E49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" name="Line 268">
                <a:extLst>
                  <a:ext uri="{FF2B5EF4-FFF2-40B4-BE49-F238E27FC236}">
                    <a16:creationId xmlns:a16="http://schemas.microsoft.com/office/drawing/2014/main" id="{EE594115-F735-0DA1-B34D-7E2253364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" name="Line 269">
                <a:extLst>
                  <a:ext uri="{FF2B5EF4-FFF2-40B4-BE49-F238E27FC236}">
                    <a16:creationId xmlns:a16="http://schemas.microsoft.com/office/drawing/2014/main" id="{8F7697CC-4980-C3EB-8C4F-CF51C3EE5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7" name="Line 270">
                <a:extLst>
                  <a:ext uri="{FF2B5EF4-FFF2-40B4-BE49-F238E27FC236}">
                    <a16:creationId xmlns:a16="http://schemas.microsoft.com/office/drawing/2014/main" id="{67BA8733-EEF1-6F4B-49F2-4083A6A7F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8" name="Line 271">
                <a:extLst>
                  <a:ext uri="{FF2B5EF4-FFF2-40B4-BE49-F238E27FC236}">
                    <a16:creationId xmlns:a16="http://schemas.microsoft.com/office/drawing/2014/main" id="{F0D7FA08-5A67-33ED-704D-3CDBCA5C2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9" name="Rectangle 272">
              <a:extLst>
                <a:ext uri="{FF2B5EF4-FFF2-40B4-BE49-F238E27FC236}">
                  <a16:creationId xmlns:a16="http://schemas.microsoft.com/office/drawing/2014/main" id="{6CE508F8-2C80-C9BA-61E1-891441004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3646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10" name="Text Box 277">
              <a:extLst>
                <a:ext uri="{FF2B5EF4-FFF2-40B4-BE49-F238E27FC236}">
                  <a16:creationId xmlns:a16="http://schemas.microsoft.com/office/drawing/2014/main" id="{202BC02B-C146-A5CB-36FF-6DCB01B93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" y="3374"/>
              <a:ext cx="214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outgoing message queue</a:t>
              </a:r>
              <a:endParaRPr lang="en-US" sz="24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1D42D0-A321-B545-E2B4-5FA46BD13083}"/>
              </a:ext>
            </a:extLst>
          </p:cNvPr>
          <p:cNvSpPr txBox="1"/>
          <p:nvPr/>
        </p:nvSpPr>
        <p:spPr>
          <a:xfrm>
            <a:off x="141579" y="2157978"/>
            <a:ext cx="6462444" cy="3939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Font typeface="Wingdings" charset="0"/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Gill Sans MT" charset="0"/>
              </a:rPr>
              <a:t>a.k.a.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mail reader</a:t>
            </a:r>
            <a:r>
              <a:rPr lang="ja-JP" altLang="en-US" dirty="0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Gill Sans MT" charset="0"/>
              </a:rPr>
              <a:t>composing, editing, reading mail messages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Gill Sans MT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 servers: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CC0000"/>
                </a:solidFill>
                <a:latin typeface="Gill Sans MT" charset="0"/>
              </a:rPr>
              <a:t>mailbox</a:t>
            </a:r>
            <a:r>
              <a:rPr lang="en-US" sz="1800" dirty="0">
                <a:latin typeface="Gill Sans MT" charset="0"/>
              </a:rPr>
              <a:t> contains incoming messages for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solidFill>
                  <a:srgbClr val="CC0000"/>
                </a:solidFill>
                <a:latin typeface="Gill Sans MT" charset="0"/>
              </a:rPr>
              <a:t>message queue</a:t>
            </a:r>
            <a:r>
              <a:rPr lang="en-US" sz="1800" dirty="0">
                <a:latin typeface="Gill Sans MT" charset="0"/>
              </a:rPr>
              <a:t> of outgoing (to be sent) mail messages</a:t>
            </a:r>
          </a:p>
          <a:p>
            <a:pPr marL="0" indent="0">
              <a:buNone/>
            </a:pPr>
            <a:endParaRPr lang="en-US" sz="1800" i="1" dirty="0">
              <a:solidFill>
                <a:srgbClr val="CC0000"/>
              </a:solidFill>
              <a:latin typeface="Gill Sans MT" charset="0"/>
            </a:endParaRPr>
          </a:p>
          <a:p>
            <a:pPr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SMTP protocol: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charset="0"/>
              </a:rPr>
              <a:t>U</a:t>
            </a:r>
            <a:r>
              <a:rPr lang="en-US" sz="1800" dirty="0">
                <a:latin typeface="Gill Sans MT" charset="0"/>
              </a:rPr>
              <a:t>sed between mail servers to send email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CC0000"/>
                </a:solidFill>
                <a:latin typeface="Gill Sans MT" charset="0"/>
              </a:rPr>
              <a:t>client: </a:t>
            </a:r>
            <a:r>
              <a:rPr lang="en-US" sz="1800" dirty="0">
                <a:latin typeface="Gill Sans MT" charset="0"/>
              </a:rPr>
              <a:t>sending mail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000" i="1" dirty="0">
                <a:solidFill>
                  <a:srgbClr val="CC0000"/>
                </a:solidFill>
                <a:latin typeface="Gill Sans MT" charset="0"/>
              </a:rPr>
              <a:t>server:</a:t>
            </a:r>
            <a:r>
              <a:rPr lang="en-US" altLang="ja-JP" sz="1800" dirty="0">
                <a:latin typeface="Gill Sans MT" charset="0"/>
              </a:rPr>
              <a:t> receiving mail server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013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5DC6-2EE9-23A8-34F7-564BAD91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103" y="1213531"/>
            <a:ext cx="6157791" cy="4643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Services of user agent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46E021D-8BA7-5B0D-14CA-767B295A5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918" y="2212258"/>
            <a:ext cx="8666163" cy="377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611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AC4E05-F004-CFDE-6B22-2D314A5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43544"/>
            <a:ext cx="7915275" cy="57877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Mail: SMTP [RFC 2821]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A7AEDB-CA9B-3B1B-79E6-E4791C859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1579" y="2015732"/>
            <a:ext cx="10358129" cy="4075102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Gill Sans MT" charset="0"/>
              </a:rPr>
              <a:t>Uses TCP to reliably transfer email message from client to server, port 25</a:t>
            </a:r>
          </a:p>
          <a:p>
            <a:r>
              <a:rPr lang="en-US" sz="2600" dirty="0">
                <a:latin typeface="Gill Sans MT" charset="0"/>
              </a:rPr>
              <a:t>Direct transfer: sending server to receiving server</a:t>
            </a:r>
          </a:p>
          <a:p>
            <a:r>
              <a:rPr lang="en-US" sz="2600" dirty="0">
                <a:latin typeface="Gill Sans MT" charset="0"/>
              </a:rPr>
              <a:t>Three phases of transfer</a:t>
            </a:r>
          </a:p>
          <a:p>
            <a:pPr lvl="1"/>
            <a:r>
              <a:rPr lang="en-US" sz="2200" dirty="0">
                <a:latin typeface="Gill Sans MT" charset="0"/>
              </a:rPr>
              <a:t>Handshaking (greeting)</a:t>
            </a:r>
          </a:p>
          <a:p>
            <a:pPr lvl="1"/>
            <a:r>
              <a:rPr lang="en-US" sz="2200" dirty="0">
                <a:latin typeface="Gill Sans MT" charset="0"/>
              </a:rPr>
              <a:t>Transfer of messages</a:t>
            </a:r>
          </a:p>
          <a:p>
            <a:pPr lvl="1"/>
            <a:r>
              <a:rPr lang="en-US" sz="2200" dirty="0">
                <a:latin typeface="Gill Sans MT" charset="0"/>
              </a:rPr>
              <a:t>Closure</a:t>
            </a:r>
          </a:p>
          <a:p>
            <a:r>
              <a:rPr lang="en-US" sz="2600" dirty="0">
                <a:latin typeface="Gill Sans MT" charset="0"/>
              </a:rPr>
              <a:t>messages must be in 7-bit ASCI</a:t>
            </a:r>
            <a:endParaRPr lang="en-US" sz="3800" dirty="0">
              <a:latin typeface="Gill Sans MT" charset="0"/>
            </a:endParaRPr>
          </a:p>
          <a:p>
            <a:pPr lvl="1"/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B447-6BD3-8F1E-B08F-FEE2926F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558" y="1143544"/>
            <a:ext cx="9097296" cy="608269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scenario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in electronic mail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19B31-4014-198C-79C2-19F61E32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029" y="2444358"/>
            <a:ext cx="3691921" cy="3056330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When the sender and the receiver of an e-mail are on the same system, we need only two user agents.</a:t>
            </a:r>
          </a:p>
          <a:p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C6FF476-AFA5-1DC0-AEAF-E6066F2B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2393849"/>
            <a:ext cx="5916066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535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C8E2-3AC8-295D-B718-150F5D90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166" y="1164477"/>
            <a:ext cx="9230032" cy="505030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Second scenario in electronic mail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D986-27CE-EC8B-2113-32136B96D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614613"/>
            <a:ext cx="5134959" cy="32146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sender and the receiver of an e-mail are on different systems, we need two UAs and a pair of  MTAs (client and server).</a:t>
            </a:r>
          </a:p>
          <a:p>
            <a:endParaRPr lang="en-IN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DFF19BB-9E27-0204-7CA8-7C016FA59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2646363"/>
            <a:ext cx="4792334" cy="320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188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F36-3F31-5659-BF29-67032B13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271" y="1209947"/>
            <a:ext cx="9259529" cy="5492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Third scenario in electronic 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D2661-2FA7-CD9E-A3D8-1C4EEEB2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043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sender is connected to the mail server via a LAN or a WAN, we need two UAs and two pairs of MTAs (client and server).</a:t>
            </a:r>
          </a:p>
          <a:p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F0274EC-3A0C-957E-EA03-74D3D3314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498" y="3008671"/>
            <a:ext cx="6784258" cy="3484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64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0B54-3CA5-6500-0714-0E0D9B2F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475" y="1307178"/>
            <a:ext cx="9261988" cy="49028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Fourth </a:t>
            </a:r>
            <a:r>
              <a:rPr lang="en-US" altLang="en-US" sz="31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scenario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in electronic 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546CC-746B-4668-9389-75B7EE2C1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920448"/>
            <a:ext cx="5051937" cy="379455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both sender and receiver are connected to the mail server via a LAN or a WAN, we need two UAs, two pairs of MTAs and a pair of MAAs.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most common situation today.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969951A-AE28-CC9F-EF7D-E0D5D925C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540" y="1928814"/>
            <a:ext cx="4949697" cy="381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6354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4126-FF10-62DB-52D2-5E09481A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568" y="1218182"/>
            <a:ext cx="8918917" cy="47788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Push versus pull in electronic email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FE42AE2-AB7E-8A49-5D03-DB9C449E40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58" y="2521974"/>
            <a:ext cx="7037171" cy="3169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8333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13CF-EBCF-B19D-E8D5-22D68BB3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68" y="1000125"/>
            <a:ext cx="4600362" cy="771525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SMTP range</a:t>
            </a:r>
            <a:endParaRPr lang="en-IN" sz="1800" b="1" dirty="0">
              <a:solidFill>
                <a:srgbClr val="C00000"/>
              </a:solidFill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7832C72-D26A-DB57-58C6-88387562ED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9973" y="2016125"/>
            <a:ext cx="8746378" cy="344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385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2D16-FEB1-93CE-7AA5-3CEDF048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920" y="1207782"/>
            <a:ext cx="5469704" cy="5169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 access protocols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0D8CC6-0ABC-47AE-2659-26C77677BF19}"/>
              </a:ext>
            </a:extLst>
          </p:cNvPr>
          <p:cNvSpPr txBox="1">
            <a:spLocks noChangeArrowheads="1"/>
          </p:cNvSpPr>
          <p:nvPr/>
        </p:nvSpPr>
        <p:spPr>
          <a:xfrm>
            <a:off x="422786" y="3965941"/>
            <a:ext cx="11769213" cy="220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SMTP:</a:t>
            </a:r>
            <a:r>
              <a:rPr lang="en-US" sz="2400" dirty="0">
                <a:latin typeface="Gill Sans MT" charset="0"/>
              </a:rPr>
              <a:t> </a:t>
            </a:r>
            <a:r>
              <a:rPr lang="en-US" sz="2200" dirty="0">
                <a:latin typeface="Gill Sans MT" charset="0"/>
              </a:rPr>
              <a:t>Delivery/Storage to Receiver</a:t>
            </a:r>
            <a:r>
              <a:rPr lang="ja-JP" altLang="en-US" sz="2200" dirty="0">
                <a:latin typeface="Gill Sans MT" charset="0"/>
              </a:rPr>
              <a:t>’</a:t>
            </a:r>
            <a:r>
              <a:rPr lang="en-US" altLang="ja-JP" sz="2200" dirty="0">
                <a:latin typeface="Gill Sans MT" charset="0"/>
              </a:rPr>
              <a:t>s Server.</a:t>
            </a:r>
          </a:p>
          <a:p>
            <a:endParaRPr lang="en-US" altLang="ja-JP" sz="2200" dirty="0">
              <a:latin typeface="Gill Sans MT" charset="0"/>
            </a:endParaRPr>
          </a:p>
          <a:p>
            <a:r>
              <a:rPr lang="en-US" sz="2400" b="1" dirty="0">
                <a:latin typeface="Gill Sans MT" charset="0"/>
              </a:rPr>
              <a:t>Mail Access protocol: </a:t>
            </a:r>
            <a:r>
              <a:rPr lang="en-US" sz="2400" dirty="0">
                <a:latin typeface="Gill Sans MT" charset="0"/>
              </a:rPr>
              <a:t>Retrieval from server</a:t>
            </a:r>
          </a:p>
          <a:p>
            <a:pPr lvl="1"/>
            <a:r>
              <a:rPr lang="en-US" sz="2200" dirty="0">
                <a:solidFill>
                  <a:srgbClr val="CC0000"/>
                </a:solidFill>
                <a:latin typeface="Gill Sans MT" charset="0"/>
              </a:rPr>
              <a:t>POP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</a:rPr>
              <a:t>(Post Office Protocol):  </a:t>
            </a:r>
            <a:r>
              <a:rPr lang="en-US" sz="2200" dirty="0">
                <a:latin typeface="Gill Sans MT" charset="0"/>
              </a:rPr>
              <a:t>Authorization, download</a:t>
            </a:r>
          </a:p>
          <a:p>
            <a:pPr marL="457200" lvl="1" indent="0">
              <a:buNone/>
            </a:pPr>
            <a:endParaRPr lang="en-US" sz="2200" dirty="0">
              <a:latin typeface="Gill Sans MT" charset="0"/>
            </a:endParaRPr>
          </a:p>
          <a:p>
            <a:pPr lvl="1"/>
            <a:r>
              <a:rPr lang="en-US" sz="2200" dirty="0">
                <a:solidFill>
                  <a:srgbClr val="C00000"/>
                </a:solidFill>
                <a:latin typeface="Gill Sans MT" charset="0"/>
              </a:rPr>
              <a:t>IMAP (Internet Mail Access Protocol): </a:t>
            </a:r>
            <a:r>
              <a:rPr lang="en-US" sz="2200" dirty="0">
                <a:latin typeface="Gill Sans MT" charset="0"/>
              </a:rPr>
              <a:t>More features, including manipulation of stored messages on server.</a:t>
            </a:r>
          </a:p>
          <a:p>
            <a:pPr lvl="1"/>
            <a:endParaRPr lang="en-US" sz="2200" dirty="0">
              <a:latin typeface="Gill Sans MT" charset="0"/>
            </a:endParaRPr>
          </a:p>
        </p:txBody>
      </p:sp>
      <p:grpSp>
        <p:nvGrpSpPr>
          <p:cNvPr id="6" name="Group 133">
            <a:extLst>
              <a:ext uri="{FF2B5EF4-FFF2-40B4-BE49-F238E27FC236}">
                <a16:creationId xmlns:a16="http://schemas.microsoft.com/office/drawing/2014/main" id="{C896C3D9-3F7C-F81C-378F-B08D03EEC08B}"/>
              </a:ext>
            </a:extLst>
          </p:cNvPr>
          <p:cNvGrpSpPr>
            <a:grpSpLocks/>
          </p:cNvGrpSpPr>
          <p:nvPr/>
        </p:nvGrpSpPr>
        <p:grpSpPr bwMode="auto">
          <a:xfrm>
            <a:off x="4510856" y="2241653"/>
            <a:ext cx="511175" cy="693738"/>
            <a:chOff x="4140" y="429"/>
            <a:chExt cx="1425" cy="2396"/>
          </a:xfrm>
        </p:grpSpPr>
        <p:sp>
          <p:nvSpPr>
            <p:cNvPr id="7" name="Freeform 134">
              <a:extLst>
                <a:ext uri="{FF2B5EF4-FFF2-40B4-BE49-F238E27FC236}">
                  <a16:creationId xmlns:a16="http://schemas.microsoft.com/office/drawing/2014/main" id="{8292E718-58FF-D00C-0C87-DF1A64654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135">
              <a:extLst>
                <a:ext uri="{FF2B5EF4-FFF2-40B4-BE49-F238E27FC236}">
                  <a16:creationId xmlns:a16="http://schemas.microsoft.com/office/drawing/2014/main" id="{78A44A6B-4759-13FE-73F8-E1BBAB5A1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136">
              <a:extLst>
                <a:ext uri="{FF2B5EF4-FFF2-40B4-BE49-F238E27FC236}">
                  <a16:creationId xmlns:a16="http://schemas.microsoft.com/office/drawing/2014/main" id="{3B0BF625-CE9E-4062-A732-4EE3AFF91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7">
              <a:extLst>
                <a:ext uri="{FF2B5EF4-FFF2-40B4-BE49-F238E27FC236}">
                  <a16:creationId xmlns:a16="http://schemas.microsoft.com/office/drawing/2014/main" id="{81FDCAC7-A891-9F75-B730-55F6672F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38">
              <a:extLst>
                <a:ext uri="{FF2B5EF4-FFF2-40B4-BE49-F238E27FC236}">
                  <a16:creationId xmlns:a16="http://schemas.microsoft.com/office/drawing/2014/main" id="{BFD16432-A260-3423-4316-D425DC47B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39">
              <a:extLst>
                <a:ext uri="{FF2B5EF4-FFF2-40B4-BE49-F238E27FC236}">
                  <a16:creationId xmlns:a16="http://schemas.microsoft.com/office/drawing/2014/main" id="{3755F319-2D9B-1C48-D9D6-80F26499E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" name="AutoShape 140">
                <a:extLst>
                  <a:ext uri="{FF2B5EF4-FFF2-40B4-BE49-F238E27FC236}">
                    <a16:creationId xmlns:a16="http://schemas.microsoft.com/office/drawing/2014/main" id="{B806E921-78BB-EB35-1C6C-4C0A4257E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AutoShape 141">
                <a:extLst>
                  <a:ext uri="{FF2B5EF4-FFF2-40B4-BE49-F238E27FC236}">
                    <a16:creationId xmlns:a16="http://schemas.microsoft.com/office/drawing/2014/main" id="{0F93EB1A-2174-6B2D-EB13-F386B3AF3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Rectangle 142">
              <a:extLst>
                <a:ext uri="{FF2B5EF4-FFF2-40B4-BE49-F238E27FC236}">
                  <a16:creationId xmlns:a16="http://schemas.microsoft.com/office/drawing/2014/main" id="{D871AE9E-CE9F-142A-1D6C-11FA5140A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" name="Group 143">
              <a:extLst>
                <a:ext uri="{FF2B5EF4-FFF2-40B4-BE49-F238E27FC236}">
                  <a16:creationId xmlns:a16="http://schemas.microsoft.com/office/drawing/2014/main" id="{C8798FFB-AAC3-7A54-75A5-5D130B77D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" name="AutoShape 144">
                <a:extLst>
                  <a:ext uri="{FF2B5EF4-FFF2-40B4-BE49-F238E27FC236}">
                    <a16:creationId xmlns:a16="http://schemas.microsoft.com/office/drawing/2014/main" id="{6BE348ED-7047-D9E1-2AA5-740326451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AutoShape 145">
                <a:extLst>
                  <a:ext uri="{FF2B5EF4-FFF2-40B4-BE49-F238E27FC236}">
                    <a16:creationId xmlns:a16="http://schemas.microsoft.com/office/drawing/2014/main" id="{41EA806E-8D78-B03A-A2AD-9B6A76DF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Rectangle 146">
              <a:extLst>
                <a:ext uri="{FF2B5EF4-FFF2-40B4-BE49-F238E27FC236}">
                  <a16:creationId xmlns:a16="http://schemas.microsoft.com/office/drawing/2014/main" id="{E8243734-3CCF-27F4-DE73-F070969EB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47">
              <a:extLst>
                <a:ext uri="{FF2B5EF4-FFF2-40B4-BE49-F238E27FC236}">
                  <a16:creationId xmlns:a16="http://schemas.microsoft.com/office/drawing/2014/main" id="{5A38848F-87B2-8C4E-7EF7-5399EE940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" name="Group 148">
              <a:extLst>
                <a:ext uri="{FF2B5EF4-FFF2-40B4-BE49-F238E27FC236}">
                  <a16:creationId xmlns:a16="http://schemas.microsoft.com/office/drawing/2014/main" id="{91F9C68A-BC38-323A-2D9F-B0E9E70A6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3" name="AutoShape 149">
                <a:extLst>
                  <a:ext uri="{FF2B5EF4-FFF2-40B4-BE49-F238E27FC236}">
                    <a16:creationId xmlns:a16="http://schemas.microsoft.com/office/drawing/2014/main" id="{1BC90E85-8DE8-5D8F-22CE-B60B7D6FC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AutoShape 150">
                <a:extLst>
                  <a:ext uri="{FF2B5EF4-FFF2-40B4-BE49-F238E27FC236}">
                    <a16:creationId xmlns:a16="http://schemas.microsoft.com/office/drawing/2014/main" id="{E584C860-FDA0-48CB-3802-F8D0C66EC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Freeform 151">
              <a:extLst>
                <a:ext uri="{FF2B5EF4-FFF2-40B4-BE49-F238E27FC236}">
                  <a16:creationId xmlns:a16="http://schemas.microsoft.com/office/drawing/2014/main" id="{62994077-CAA3-54F8-6D0B-39FAD61BF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52">
              <a:extLst>
                <a:ext uri="{FF2B5EF4-FFF2-40B4-BE49-F238E27FC236}">
                  <a16:creationId xmlns:a16="http://schemas.microsoft.com/office/drawing/2014/main" id="{13F213D2-6D92-F80F-7740-351667A7D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" name="AutoShape 153">
                <a:extLst>
                  <a:ext uri="{FF2B5EF4-FFF2-40B4-BE49-F238E27FC236}">
                    <a16:creationId xmlns:a16="http://schemas.microsoft.com/office/drawing/2014/main" id="{D3544724-B804-5074-8F14-80869A7D4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AutoShape 154">
                <a:extLst>
                  <a:ext uri="{FF2B5EF4-FFF2-40B4-BE49-F238E27FC236}">
                    <a16:creationId xmlns:a16="http://schemas.microsoft.com/office/drawing/2014/main" id="{AADBAC3C-96CC-B477-CD69-EC573937B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" name="Rectangle 155">
              <a:extLst>
                <a:ext uri="{FF2B5EF4-FFF2-40B4-BE49-F238E27FC236}">
                  <a16:creationId xmlns:a16="http://schemas.microsoft.com/office/drawing/2014/main" id="{44D326BC-B4CA-2FF9-F8B1-2CABE416D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56">
              <a:extLst>
                <a:ext uri="{FF2B5EF4-FFF2-40B4-BE49-F238E27FC236}">
                  <a16:creationId xmlns:a16="http://schemas.microsoft.com/office/drawing/2014/main" id="{577220FD-1D29-F484-3D7D-B5B909770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7">
              <a:extLst>
                <a:ext uri="{FF2B5EF4-FFF2-40B4-BE49-F238E27FC236}">
                  <a16:creationId xmlns:a16="http://schemas.microsoft.com/office/drawing/2014/main" id="{57EC099A-39E6-766D-ECE0-B02E2E1FA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158">
              <a:extLst>
                <a:ext uri="{FF2B5EF4-FFF2-40B4-BE49-F238E27FC236}">
                  <a16:creationId xmlns:a16="http://schemas.microsoft.com/office/drawing/2014/main" id="{8BBE5742-D331-432D-3F91-5020B3F4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159">
              <a:extLst>
                <a:ext uri="{FF2B5EF4-FFF2-40B4-BE49-F238E27FC236}">
                  <a16:creationId xmlns:a16="http://schemas.microsoft.com/office/drawing/2014/main" id="{C1D8AB92-2E7D-0732-BA5F-272A97491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60">
              <a:extLst>
                <a:ext uri="{FF2B5EF4-FFF2-40B4-BE49-F238E27FC236}">
                  <a16:creationId xmlns:a16="http://schemas.microsoft.com/office/drawing/2014/main" id="{1940EE78-3357-E062-FD7D-D7EDC0C13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161">
              <a:extLst>
                <a:ext uri="{FF2B5EF4-FFF2-40B4-BE49-F238E27FC236}">
                  <a16:creationId xmlns:a16="http://schemas.microsoft.com/office/drawing/2014/main" id="{3E06CB45-2333-52B0-C004-6982EF11E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162">
              <a:extLst>
                <a:ext uri="{FF2B5EF4-FFF2-40B4-BE49-F238E27FC236}">
                  <a16:creationId xmlns:a16="http://schemas.microsoft.com/office/drawing/2014/main" id="{66E65262-6AF5-5056-25E7-0B82C3C29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163">
              <a:extLst>
                <a:ext uri="{FF2B5EF4-FFF2-40B4-BE49-F238E27FC236}">
                  <a16:creationId xmlns:a16="http://schemas.microsoft.com/office/drawing/2014/main" id="{10C72EA8-13E7-A399-F2EF-AF8D703D6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29" name="Oval 164">
              <a:extLst>
                <a:ext uri="{FF2B5EF4-FFF2-40B4-BE49-F238E27FC236}">
                  <a16:creationId xmlns:a16="http://schemas.microsoft.com/office/drawing/2014/main" id="{47CCF239-BBF6-BAB1-56D3-33DC50903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65">
              <a:extLst>
                <a:ext uri="{FF2B5EF4-FFF2-40B4-BE49-F238E27FC236}">
                  <a16:creationId xmlns:a16="http://schemas.microsoft.com/office/drawing/2014/main" id="{8FA453C2-A0D9-A632-A218-2608FAA02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100">
            <a:extLst>
              <a:ext uri="{FF2B5EF4-FFF2-40B4-BE49-F238E27FC236}">
                <a16:creationId xmlns:a16="http://schemas.microsoft.com/office/drawing/2014/main" id="{531DE146-D00F-8496-8CB8-B014751F90C4}"/>
              </a:ext>
            </a:extLst>
          </p:cNvPr>
          <p:cNvGrpSpPr>
            <a:grpSpLocks/>
          </p:cNvGrpSpPr>
          <p:nvPr/>
        </p:nvGrpSpPr>
        <p:grpSpPr bwMode="auto">
          <a:xfrm>
            <a:off x="6196781" y="2251178"/>
            <a:ext cx="511175" cy="693738"/>
            <a:chOff x="4140" y="429"/>
            <a:chExt cx="1425" cy="2396"/>
          </a:xfrm>
        </p:grpSpPr>
        <p:sp>
          <p:nvSpPr>
            <p:cNvPr id="40" name="Freeform 101">
              <a:extLst>
                <a:ext uri="{FF2B5EF4-FFF2-40B4-BE49-F238E27FC236}">
                  <a16:creationId xmlns:a16="http://schemas.microsoft.com/office/drawing/2014/main" id="{41FA1376-9896-5A8B-6462-A1201D83E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02">
              <a:extLst>
                <a:ext uri="{FF2B5EF4-FFF2-40B4-BE49-F238E27FC236}">
                  <a16:creationId xmlns:a16="http://schemas.microsoft.com/office/drawing/2014/main" id="{96A74783-7AB6-DCCC-AAAE-9B8F5D79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103">
              <a:extLst>
                <a:ext uri="{FF2B5EF4-FFF2-40B4-BE49-F238E27FC236}">
                  <a16:creationId xmlns:a16="http://schemas.microsoft.com/office/drawing/2014/main" id="{3F6ED5ED-48EC-DA25-3E3B-A0DD53912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04">
              <a:extLst>
                <a:ext uri="{FF2B5EF4-FFF2-40B4-BE49-F238E27FC236}">
                  <a16:creationId xmlns:a16="http://schemas.microsoft.com/office/drawing/2014/main" id="{654B16CF-82EC-8059-E7E7-09B279B79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105">
              <a:extLst>
                <a:ext uri="{FF2B5EF4-FFF2-40B4-BE49-F238E27FC236}">
                  <a16:creationId xmlns:a16="http://schemas.microsoft.com/office/drawing/2014/main" id="{7BAE2324-3B49-911B-1EF0-3DFD88199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" name="Group 106">
              <a:extLst>
                <a:ext uri="{FF2B5EF4-FFF2-40B4-BE49-F238E27FC236}">
                  <a16:creationId xmlns:a16="http://schemas.microsoft.com/office/drawing/2014/main" id="{588963F3-BADA-B8AF-2770-6124BEDD1E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" name="AutoShape 107">
                <a:extLst>
                  <a:ext uri="{FF2B5EF4-FFF2-40B4-BE49-F238E27FC236}">
                    <a16:creationId xmlns:a16="http://schemas.microsoft.com/office/drawing/2014/main" id="{B750097F-20D7-C6F8-8826-CD61FF7CD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AutoShape 108">
                <a:extLst>
                  <a:ext uri="{FF2B5EF4-FFF2-40B4-BE49-F238E27FC236}">
                    <a16:creationId xmlns:a16="http://schemas.microsoft.com/office/drawing/2014/main" id="{B08F47AD-021B-7ABC-F697-E5C837F53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Rectangle 109">
              <a:extLst>
                <a:ext uri="{FF2B5EF4-FFF2-40B4-BE49-F238E27FC236}">
                  <a16:creationId xmlns:a16="http://schemas.microsoft.com/office/drawing/2014/main" id="{7916E57B-6032-A7F4-E805-FDCBB910C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7" name="Group 110">
              <a:extLst>
                <a:ext uri="{FF2B5EF4-FFF2-40B4-BE49-F238E27FC236}">
                  <a16:creationId xmlns:a16="http://schemas.microsoft.com/office/drawing/2014/main" id="{95835E90-22B4-A1EB-042E-4E0164893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8" name="AutoShape 111">
                <a:extLst>
                  <a:ext uri="{FF2B5EF4-FFF2-40B4-BE49-F238E27FC236}">
                    <a16:creationId xmlns:a16="http://schemas.microsoft.com/office/drawing/2014/main" id="{2D5BEADB-7928-39ED-A407-C78B6675C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AutoShape 112">
                <a:extLst>
                  <a:ext uri="{FF2B5EF4-FFF2-40B4-BE49-F238E27FC236}">
                    <a16:creationId xmlns:a16="http://schemas.microsoft.com/office/drawing/2014/main" id="{288911CF-FA89-6F1F-59B5-300266A24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" name="Rectangle 113">
              <a:extLst>
                <a:ext uri="{FF2B5EF4-FFF2-40B4-BE49-F238E27FC236}">
                  <a16:creationId xmlns:a16="http://schemas.microsoft.com/office/drawing/2014/main" id="{BF14DE71-471D-98DB-90B6-F9DEC7161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114">
              <a:extLst>
                <a:ext uri="{FF2B5EF4-FFF2-40B4-BE49-F238E27FC236}">
                  <a16:creationId xmlns:a16="http://schemas.microsoft.com/office/drawing/2014/main" id="{676C938B-35F9-B303-B134-78B81ABF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0" name="Group 115">
              <a:extLst>
                <a:ext uri="{FF2B5EF4-FFF2-40B4-BE49-F238E27FC236}">
                  <a16:creationId xmlns:a16="http://schemas.microsoft.com/office/drawing/2014/main" id="{3D508C4F-D54D-6362-C746-EA70EC703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6" name="AutoShape 116">
                <a:extLst>
                  <a:ext uri="{FF2B5EF4-FFF2-40B4-BE49-F238E27FC236}">
                    <a16:creationId xmlns:a16="http://schemas.microsoft.com/office/drawing/2014/main" id="{851AA747-B01B-E55C-83B4-90E1A0E98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AutoShape 117">
                <a:extLst>
                  <a:ext uri="{FF2B5EF4-FFF2-40B4-BE49-F238E27FC236}">
                    <a16:creationId xmlns:a16="http://schemas.microsoft.com/office/drawing/2014/main" id="{A013C63B-1D69-A2FA-4753-AE1B813FD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" name="Freeform 118">
              <a:extLst>
                <a:ext uri="{FF2B5EF4-FFF2-40B4-BE49-F238E27FC236}">
                  <a16:creationId xmlns:a16="http://schemas.microsoft.com/office/drawing/2014/main" id="{BE5A4A39-4008-495F-5281-C64C67A9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oup 119">
              <a:extLst>
                <a:ext uri="{FF2B5EF4-FFF2-40B4-BE49-F238E27FC236}">
                  <a16:creationId xmlns:a16="http://schemas.microsoft.com/office/drawing/2014/main" id="{1A0E3678-E27E-404E-F612-84AC9D2FB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" name="AutoShape 120">
                <a:extLst>
                  <a:ext uri="{FF2B5EF4-FFF2-40B4-BE49-F238E27FC236}">
                    <a16:creationId xmlns:a16="http://schemas.microsoft.com/office/drawing/2014/main" id="{2511F42A-2AEE-D75D-CA63-ABA54A5FD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AutoShape 121">
                <a:extLst>
                  <a:ext uri="{FF2B5EF4-FFF2-40B4-BE49-F238E27FC236}">
                    <a16:creationId xmlns:a16="http://schemas.microsoft.com/office/drawing/2014/main" id="{81902388-B897-351A-9A0B-39D40ACA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" name="Rectangle 122">
              <a:extLst>
                <a:ext uri="{FF2B5EF4-FFF2-40B4-BE49-F238E27FC236}">
                  <a16:creationId xmlns:a16="http://schemas.microsoft.com/office/drawing/2014/main" id="{C6E5446B-3A73-144D-9124-4C5FFCC6D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123">
              <a:extLst>
                <a:ext uri="{FF2B5EF4-FFF2-40B4-BE49-F238E27FC236}">
                  <a16:creationId xmlns:a16="http://schemas.microsoft.com/office/drawing/2014/main" id="{785C18B5-0130-B4C0-E74A-FE4EF708D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24">
              <a:extLst>
                <a:ext uri="{FF2B5EF4-FFF2-40B4-BE49-F238E27FC236}">
                  <a16:creationId xmlns:a16="http://schemas.microsoft.com/office/drawing/2014/main" id="{107C3EDF-CEF3-F9C1-04A9-D75BF9BE0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6B0FF3C6-CF4D-789E-1B6D-DF4D0416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26">
              <a:extLst>
                <a:ext uri="{FF2B5EF4-FFF2-40B4-BE49-F238E27FC236}">
                  <a16:creationId xmlns:a16="http://schemas.microsoft.com/office/drawing/2014/main" id="{774098CA-FFC6-864F-C51E-4F1F277D5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AutoShape 127">
              <a:extLst>
                <a:ext uri="{FF2B5EF4-FFF2-40B4-BE49-F238E27FC236}">
                  <a16:creationId xmlns:a16="http://schemas.microsoft.com/office/drawing/2014/main" id="{D6C1845E-BC79-4A28-E45E-07F9ECD55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AutoShape 128">
              <a:extLst>
                <a:ext uri="{FF2B5EF4-FFF2-40B4-BE49-F238E27FC236}">
                  <a16:creationId xmlns:a16="http://schemas.microsoft.com/office/drawing/2014/main" id="{A73C2DE6-85BE-B2C3-8E59-694A9C1B4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129">
              <a:extLst>
                <a:ext uri="{FF2B5EF4-FFF2-40B4-BE49-F238E27FC236}">
                  <a16:creationId xmlns:a16="http://schemas.microsoft.com/office/drawing/2014/main" id="{68B374CE-08FF-600F-420A-209E34D6C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130">
              <a:extLst>
                <a:ext uri="{FF2B5EF4-FFF2-40B4-BE49-F238E27FC236}">
                  <a16:creationId xmlns:a16="http://schemas.microsoft.com/office/drawing/2014/main" id="{CF8CAD26-16ED-7CD1-62C3-CA1C88301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sz="180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62" name="Oval 131">
              <a:extLst>
                <a:ext uri="{FF2B5EF4-FFF2-40B4-BE49-F238E27FC236}">
                  <a16:creationId xmlns:a16="http://schemas.microsoft.com/office/drawing/2014/main" id="{E577D5ED-4FA2-9667-17E0-122689A9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32">
              <a:extLst>
                <a:ext uri="{FF2B5EF4-FFF2-40B4-BE49-F238E27FC236}">
                  <a16:creationId xmlns:a16="http://schemas.microsoft.com/office/drawing/2014/main" id="{4EE4FBD7-47B0-5352-46A8-CDE4E2ECE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" name="Group 158">
            <a:extLst>
              <a:ext uri="{FF2B5EF4-FFF2-40B4-BE49-F238E27FC236}">
                <a16:creationId xmlns:a16="http://schemas.microsoft.com/office/drawing/2014/main" id="{BBFB4E9A-2680-9CF2-79BB-CD5EF0F3FF93}"/>
              </a:ext>
            </a:extLst>
          </p:cNvPr>
          <p:cNvGrpSpPr>
            <a:grpSpLocks/>
          </p:cNvGrpSpPr>
          <p:nvPr/>
        </p:nvGrpSpPr>
        <p:grpSpPr bwMode="auto">
          <a:xfrm>
            <a:off x="4345756" y="2651228"/>
            <a:ext cx="1436688" cy="1131888"/>
            <a:chOff x="1796" y="1206"/>
            <a:chExt cx="905" cy="713"/>
          </a:xfrm>
        </p:grpSpPr>
        <p:sp>
          <p:nvSpPr>
            <p:cNvPr id="73" name="Text Box 95">
              <a:extLst>
                <a:ext uri="{FF2B5EF4-FFF2-40B4-BE49-F238E27FC236}">
                  <a16:creationId xmlns:a16="http://schemas.microsoft.com/office/drawing/2014/main" id="{01A70F96-F832-76E4-3414-E649E4D2B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sender</a:t>
              </a:r>
              <a:r>
                <a:rPr lang="ja-JP" altLang="en-US" sz="1600"/>
                <a:t>’</a:t>
              </a:r>
              <a:r>
                <a:rPr lang="en-US" altLang="ja-JP" sz="1600"/>
                <a:t>s mail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server</a:t>
              </a:r>
              <a:endParaRPr lang="en-US" sz="2400"/>
            </a:p>
          </p:txBody>
        </p:sp>
        <p:grpSp>
          <p:nvGrpSpPr>
            <p:cNvPr id="74" name="Group 157">
              <a:extLst>
                <a:ext uri="{FF2B5EF4-FFF2-40B4-BE49-F238E27FC236}">
                  <a16:creationId xmlns:a16="http://schemas.microsoft.com/office/drawing/2014/main" id="{490382CF-D020-7AE4-851B-D2369E2A0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75" name="Rectangle 94">
                <a:extLst>
                  <a:ext uri="{FF2B5EF4-FFF2-40B4-BE49-F238E27FC236}">
                    <a16:creationId xmlns:a16="http://schemas.microsoft.com/office/drawing/2014/main" id="{C4FD93BA-0060-6439-161A-629ABF04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76" name="Rectangle 96">
                <a:extLst>
                  <a:ext uri="{FF2B5EF4-FFF2-40B4-BE49-F238E27FC236}">
                    <a16:creationId xmlns:a16="http://schemas.microsoft.com/office/drawing/2014/main" id="{5DD15893-9F02-7121-A74A-BB5EFDFE0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77" name="Line 97">
                <a:extLst>
                  <a:ext uri="{FF2B5EF4-FFF2-40B4-BE49-F238E27FC236}">
                    <a16:creationId xmlns:a16="http://schemas.microsoft.com/office/drawing/2014/main" id="{7979FD74-7F61-46CC-EBBA-89592B506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98">
                <a:extLst>
                  <a:ext uri="{FF2B5EF4-FFF2-40B4-BE49-F238E27FC236}">
                    <a16:creationId xmlns:a16="http://schemas.microsoft.com/office/drawing/2014/main" id="{6EFCB341-B317-9F6A-E2A9-5CDD42625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Line 99">
                <a:extLst>
                  <a:ext uri="{FF2B5EF4-FFF2-40B4-BE49-F238E27FC236}">
                    <a16:creationId xmlns:a16="http://schemas.microsoft.com/office/drawing/2014/main" id="{5D2EC294-457B-EF31-1465-64001B5BA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Line 100">
                <a:extLst>
                  <a:ext uri="{FF2B5EF4-FFF2-40B4-BE49-F238E27FC236}">
                    <a16:creationId xmlns:a16="http://schemas.microsoft.com/office/drawing/2014/main" id="{343B2834-01E4-B619-FC60-FB403C3BC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01">
                <a:extLst>
                  <a:ext uri="{FF2B5EF4-FFF2-40B4-BE49-F238E27FC236}">
                    <a16:creationId xmlns:a16="http://schemas.microsoft.com/office/drawing/2014/main" id="{B8D77F46-0B80-3A40-8E91-F62D996EF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Line 102">
                <a:extLst>
                  <a:ext uri="{FF2B5EF4-FFF2-40B4-BE49-F238E27FC236}">
                    <a16:creationId xmlns:a16="http://schemas.microsoft.com/office/drawing/2014/main" id="{DC2B232F-6F19-8ECB-FB94-53587BD33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03">
                <a:extLst>
                  <a:ext uri="{FF2B5EF4-FFF2-40B4-BE49-F238E27FC236}">
                    <a16:creationId xmlns:a16="http://schemas.microsoft.com/office/drawing/2014/main" id="{B7E8FD37-C579-207B-249B-84CDEF526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104">
                <a:extLst>
                  <a:ext uri="{FF2B5EF4-FFF2-40B4-BE49-F238E27FC236}">
                    <a16:creationId xmlns:a16="http://schemas.microsoft.com/office/drawing/2014/main" id="{36DDEC4B-C4B8-1D2D-2547-386A89223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5" name="Rectangle 105">
                <a:extLst>
                  <a:ext uri="{FF2B5EF4-FFF2-40B4-BE49-F238E27FC236}">
                    <a16:creationId xmlns:a16="http://schemas.microsoft.com/office/drawing/2014/main" id="{1A31C7BB-CCC4-8F2B-F414-D9FD18032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6" name="Rectangle 106">
                <a:extLst>
                  <a:ext uri="{FF2B5EF4-FFF2-40B4-BE49-F238E27FC236}">
                    <a16:creationId xmlns:a16="http://schemas.microsoft.com/office/drawing/2014/main" id="{B4D9097B-D86A-B316-71A1-4B817B2ED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7" name="Rectangle 107">
                <a:extLst>
                  <a:ext uri="{FF2B5EF4-FFF2-40B4-BE49-F238E27FC236}">
                    <a16:creationId xmlns:a16="http://schemas.microsoft.com/office/drawing/2014/main" id="{1BA116FC-794A-549A-F1AC-CCD02B26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  <p:sp>
            <p:nvSpPr>
              <p:cNvPr id="88" name="Rectangle 108">
                <a:extLst>
                  <a:ext uri="{FF2B5EF4-FFF2-40B4-BE49-F238E27FC236}">
                    <a16:creationId xmlns:a16="http://schemas.microsoft.com/office/drawing/2014/main" id="{D3BE6D01-0970-4D48-CE02-CA41068A2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>
                  <a:latin typeface="Comic Sans MS" charset="0"/>
                </a:endParaRPr>
              </a:p>
            </p:txBody>
          </p:sp>
        </p:grpSp>
      </p:grpSp>
      <p:sp>
        <p:nvSpPr>
          <p:cNvPr id="89" name="Text Box 121">
            <a:extLst>
              <a:ext uri="{FF2B5EF4-FFF2-40B4-BE49-F238E27FC236}">
                <a16:creationId xmlns:a16="http://schemas.microsoft.com/office/drawing/2014/main" id="{5CA9EAE3-4DAE-D6CD-8A11-07CC1B7BE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9469" y="2130528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0" name="Rectangle 153">
            <a:extLst>
              <a:ext uri="{FF2B5EF4-FFF2-40B4-BE49-F238E27FC236}">
                <a16:creationId xmlns:a16="http://schemas.microsoft.com/office/drawing/2014/main" id="{FE1F6068-E327-4B75-12D7-97B036AF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006" y="2121003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>
              <a:latin typeface="Comic Sans MS" charset="0"/>
            </a:endParaRPr>
          </a:p>
        </p:txBody>
      </p:sp>
      <p:sp>
        <p:nvSpPr>
          <p:cNvPr id="91" name="Text Box 154">
            <a:extLst>
              <a:ext uri="{FF2B5EF4-FFF2-40B4-BE49-F238E27FC236}">
                <a16:creationId xmlns:a16="http://schemas.microsoft.com/office/drawing/2014/main" id="{2C3A6586-599F-323D-693F-48A54EA7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1256" y="2141641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92" name="Text Box 156">
            <a:extLst>
              <a:ext uri="{FF2B5EF4-FFF2-40B4-BE49-F238E27FC236}">
                <a16:creationId xmlns:a16="http://schemas.microsoft.com/office/drawing/2014/main" id="{B013AAFA-2EDF-C192-45D0-6F72B426A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394" y="1971778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i="1" dirty="0">
                <a:solidFill>
                  <a:srgbClr val="CC0000"/>
                </a:solidFill>
              </a:rPr>
              <a:t>mail access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i="1" dirty="0">
                <a:solidFill>
                  <a:srgbClr val="CC0000"/>
                </a:solidFill>
              </a:rPr>
              <a:t>protocol</a:t>
            </a:r>
            <a:endParaRPr lang="en-US" sz="1800" dirty="0">
              <a:solidFill>
                <a:srgbClr val="CC0000"/>
              </a:solidFill>
            </a:endParaRPr>
          </a:p>
        </p:txBody>
      </p:sp>
      <p:sp>
        <p:nvSpPr>
          <p:cNvPr id="93" name="Text Box 160">
            <a:extLst>
              <a:ext uri="{FF2B5EF4-FFF2-40B4-BE49-F238E27FC236}">
                <a16:creationId xmlns:a16="http://schemas.microsoft.com/office/drawing/2014/main" id="{00A2CE2B-0FE1-2DC7-5255-4963B6BB6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556" y="3262416"/>
            <a:ext cx="153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receiver</a:t>
            </a:r>
            <a:r>
              <a:rPr lang="ja-JP" altLang="en-US" sz="1600"/>
              <a:t>’</a:t>
            </a:r>
            <a:r>
              <a:rPr lang="en-US" altLang="ja-JP" sz="1600"/>
              <a:t>s mail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/>
              <a:t>server</a:t>
            </a:r>
            <a:endParaRPr lang="en-US" sz="2400"/>
          </a:p>
        </p:txBody>
      </p:sp>
      <p:grpSp>
        <p:nvGrpSpPr>
          <p:cNvPr id="94" name="Group 161">
            <a:extLst>
              <a:ext uri="{FF2B5EF4-FFF2-40B4-BE49-F238E27FC236}">
                <a16:creationId xmlns:a16="http://schemas.microsoft.com/office/drawing/2014/main" id="{5D23C92A-FD90-50F9-627A-5EFC6107F9C8}"/>
              </a:ext>
            </a:extLst>
          </p:cNvPr>
          <p:cNvGrpSpPr>
            <a:grpSpLocks/>
          </p:cNvGrpSpPr>
          <p:nvPr/>
        </p:nvGrpSpPr>
        <p:grpSpPr bwMode="auto">
          <a:xfrm>
            <a:off x="6349181" y="2663928"/>
            <a:ext cx="809625" cy="561975"/>
            <a:chOff x="2070" y="2004"/>
            <a:chExt cx="510" cy="354"/>
          </a:xfrm>
        </p:grpSpPr>
        <p:sp>
          <p:nvSpPr>
            <p:cNvPr id="95" name="Rectangle 162">
              <a:extLst>
                <a:ext uri="{FF2B5EF4-FFF2-40B4-BE49-F238E27FC236}">
                  <a16:creationId xmlns:a16="http://schemas.microsoft.com/office/drawing/2014/main" id="{720581A7-2FCC-72D4-1F5E-FE48F9E47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96" name="Rectangle 163">
              <a:extLst>
                <a:ext uri="{FF2B5EF4-FFF2-40B4-BE49-F238E27FC236}">
                  <a16:creationId xmlns:a16="http://schemas.microsoft.com/office/drawing/2014/main" id="{91516881-8A5D-F8AF-F9E9-75498F3D9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97" name="Line 164">
              <a:extLst>
                <a:ext uri="{FF2B5EF4-FFF2-40B4-BE49-F238E27FC236}">
                  <a16:creationId xmlns:a16="http://schemas.microsoft.com/office/drawing/2014/main" id="{99A7B258-3ABD-3BCC-5BAC-4A9BA3BB7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165">
              <a:extLst>
                <a:ext uri="{FF2B5EF4-FFF2-40B4-BE49-F238E27FC236}">
                  <a16:creationId xmlns:a16="http://schemas.microsoft.com/office/drawing/2014/main" id="{DFF1054E-1869-21D8-AA9A-A50E6F593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Line 166">
              <a:extLst>
                <a:ext uri="{FF2B5EF4-FFF2-40B4-BE49-F238E27FC236}">
                  <a16:creationId xmlns:a16="http://schemas.microsoft.com/office/drawing/2014/main" id="{EE471975-6112-E743-A5A1-16FB1F246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Line 167">
              <a:extLst>
                <a:ext uri="{FF2B5EF4-FFF2-40B4-BE49-F238E27FC236}">
                  <a16:creationId xmlns:a16="http://schemas.microsoft.com/office/drawing/2014/main" id="{D31B9977-447E-16AD-8429-232E33273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8">
              <a:extLst>
                <a:ext uri="{FF2B5EF4-FFF2-40B4-BE49-F238E27FC236}">
                  <a16:creationId xmlns:a16="http://schemas.microsoft.com/office/drawing/2014/main" id="{D908125E-BAE0-AF6C-50AD-604909508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Line 169">
              <a:extLst>
                <a:ext uri="{FF2B5EF4-FFF2-40B4-BE49-F238E27FC236}">
                  <a16:creationId xmlns:a16="http://schemas.microsoft.com/office/drawing/2014/main" id="{FABF2CAC-7BE6-7601-BA67-4A0A21372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Line 170">
              <a:extLst>
                <a:ext uri="{FF2B5EF4-FFF2-40B4-BE49-F238E27FC236}">
                  <a16:creationId xmlns:a16="http://schemas.microsoft.com/office/drawing/2014/main" id="{FBA4422D-F1B8-52E4-54CA-4F67C2743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171">
              <a:extLst>
                <a:ext uri="{FF2B5EF4-FFF2-40B4-BE49-F238E27FC236}">
                  <a16:creationId xmlns:a16="http://schemas.microsoft.com/office/drawing/2014/main" id="{DCEFACE1-F2C7-5243-3DA9-82ED012CC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5" name="Rectangle 172">
              <a:extLst>
                <a:ext uri="{FF2B5EF4-FFF2-40B4-BE49-F238E27FC236}">
                  <a16:creationId xmlns:a16="http://schemas.microsoft.com/office/drawing/2014/main" id="{19152367-ECE1-597B-51F3-833DFC530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6" name="Rectangle 173">
              <a:extLst>
                <a:ext uri="{FF2B5EF4-FFF2-40B4-BE49-F238E27FC236}">
                  <a16:creationId xmlns:a16="http://schemas.microsoft.com/office/drawing/2014/main" id="{613CFCA2-D527-F089-449A-1D88C6C1F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7" name="Rectangle 174">
              <a:extLst>
                <a:ext uri="{FF2B5EF4-FFF2-40B4-BE49-F238E27FC236}">
                  <a16:creationId xmlns:a16="http://schemas.microsoft.com/office/drawing/2014/main" id="{DF9A32F1-0092-87F1-17BF-DF2BCE6C4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  <p:sp>
          <p:nvSpPr>
            <p:cNvPr id="108" name="Rectangle 175">
              <a:extLst>
                <a:ext uri="{FF2B5EF4-FFF2-40B4-BE49-F238E27FC236}">
                  <a16:creationId xmlns:a16="http://schemas.microsoft.com/office/drawing/2014/main" id="{4078C5DF-FC3B-A4EF-76A6-319FAC60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omic Sans MS" charset="0"/>
              </a:endParaRPr>
            </a:p>
          </p:txBody>
        </p:sp>
      </p:grpSp>
      <p:pic>
        <p:nvPicPr>
          <p:cNvPr id="109" name="Picture 176" descr="Alice">
            <a:extLst>
              <a:ext uri="{FF2B5EF4-FFF2-40B4-BE49-F238E27FC236}">
                <a16:creationId xmlns:a16="http://schemas.microsoft.com/office/drawing/2014/main" id="{43A2D7C1-07FC-0101-821E-4C11A5D67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81" y="2221016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Picture 179" descr="Bob">
            <a:extLst>
              <a:ext uri="{FF2B5EF4-FFF2-40B4-BE49-F238E27FC236}">
                <a16:creationId xmlns:a16="http://schemas.microsoft.com/office/drawing/2014/main" id="{9CF96969-9DCF-454B-6625-5A7ABE125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281" y="2235303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" name="Line 94">
            <a:extLst>
              <a:ext uri="{FF2B5EF4-FFF2-40B4-BE49-F238E27FC236}">
                <a16:creationId xmlns:a16="http://schemas.microsoft.com/office/drawing/2014/main" id="{280B898A-0077-F52A-0A4F-11C453971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006" y="2568678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95">
            <a:extLst>
              <a:ext uri="{FF2B5EF4-FFF2-40B4-BE49-F238E27FC236}">
                <a16:creationId xmlns:a16="http://schemas.microsoft.com/office/drawing/2014/main" id="{7D0D15D4-39E8-758E-F968-FA1D0A4DF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369" y="2565503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96">
            <a:extLst>
              <a:ext uri="{FF2B5EF4-FFF2-40B4-BE49-F238E27FC236}">
                <a16:creationId xmlns:a16="http://schemas.microsoft.com/office/drawing/2014/main" id="{60A5EAE9-8B51-5745-8255-39F968337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1619" y="2562328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Text Box 156">
            <a:extLst>
              <a:ext uri="{FF2B5EF4-FFF2-40B4-BE49-F238E27FC236}">
                <a16:creationId xmlns:a16="http://schemas.microsoft.com/office/drawing/2014/main" id="{1CFAB0FD-68E5-DC10-8945-E592038E1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819" y="2590903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0"/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800" i="1">
                <a:solidFill>
                  <a:srgbClr val="CC0000"/>
                </a:solidFill>
              </a:rPr>
              <a:t>(e.g., </a:t>
            </a:r>
            <a:r>
              <a:rPr lang="en-US" sz="1600" i="1">
                <a:solidFill>
                  <a:srgbClr val="CC0000"/>
                </a:solidFill>
              </a:rPr>
              <a:t>POP, 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600" i="1">
                <a:solidFill>
                  <a:srgbClr val="CC0000"/>
                </a:solidFill>
              </a:rPr>
              <a:t>         IMAP</a:t>
            </a:r>
            <a:r>
              <a:rPr lang="en-US" sz="1800" i="1">
                <a:solidFill>
                  <a:srgbClr val="CC0000"/>
                </a:solidFill>
              </a:rPr>
              <a:t>)</a:t>
            </a:r>
          </a:p>
        </p:txBody>
      </p:sp>
      <p:grpSp>
        <p:nvGrpSpPr>
          <p:cNvPr id="115" name="Group 166">
            <a:extLst>
              <a:ext uri="{FF2B5EF4-FFF2-40B4-BE49-F238E27FC236}">
                <a16:creationId xmlns:a16="http://schemas.microsoft.com/office/drawing/2014/main" id="{A315A94A-B494-14A7-A60E-C329513B1AFC}"/>
              </a:ext>
            </a:extLst>
          </p:cNvPr>
          <p:cNvGrpSpPr>
            <a:grpSpLocks/>
          </p:cNvGrpSpPr>
          <p:nvPr/>
        </p:nvGrpSpPr>
        <p:grpSpPr bwMode="auto">
          <a:xfrm>
            <a:off x="2615381" y="2082903"/>
            <a:ext cx="912813" cy="1054100"/>
            <a:chOff x="3574" y="550"/>
            <a:chExt cx="575" cy="664"/>
          </a:xfrm>
        </p:grpSpPr>
        <p:grpSp>
          <p:nvGrpSpPr>
            <p:cNvPr id="116" name="Group 167">
              <a:extLst>
                <a:ext uri="{FF2B5EF4-FFF2-40B4-BE49-F238E27FC236}">
                  <a16:creationId xmlns:a16="http://schemas.microsoft.com/office/drawing/2014/main" id="{51D9E01F-A397-EE32-B591-75EA3E2DF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19" name="Picture 168" descr="desktop_computer_stylized_medium">
                <a:extLst>
                  <a:ext uri="{FF2B5EF4-FFF2-40B4-BE49-F238E27FC236}">
                    <a16:creationId xmlns:a16="http://schemas.microsoft.com/office/drawing/2014/main" id="{09C2ED71-DF0B-D646-2D45-1A56C8BC5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0" name="Freeform 169">
                <a:extLst>
                  <a:ext uri="{FF2B5EF4-FFF2-40B4-BE49-F238E27FC236}">
                    <a16:creationId xmlns:a16="http://schemas.microsoft.com/office/drawing/2014/main" id="{2333985F-EFA3-86DF-D09E-B27054151B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7" name="Rectangle 115">
              <a:extLst>
                <a:ext uri="{FF2B5EF4-FFF2-40B4-BE49-F238E27FC236}">
                  <a16:creationId xmlns:a16="http://schemas.microsoft.com/office/drawing/2014/main" id="{00C26BDF-F858-A212-6E1A-D8F38A416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18" name="Text Box 116">
              <a:extLst>
                <a:ext uri="{FF2B5EF4-FFF2-40B4-BE49-F238E27FC236}">
                  <a16:creationId xmlns:a16="http://schemas.microsoft.com/office/drawing/2014/main" id="{88EF9210-EBBB-6C0A-4FA6-5A9A79437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dirty="0"/>
                <a:t>agent</a:t>
              </a:r>
              <a:endParaRPr lang="en-US" sz="2400" dirty="0"/>
            </a:p>
          </p:txBody>
        </p:sp>
      </p:grpSp>
      <p:grpSp>
        <p:nvGrpSpPr>
          <p:cNvPr id="121" name="Group 172">
            <a:extLst>
              <a:ext uri="{FF2B5EF4-FFF2-40B4-BE49-F238E27FC236}">
                <a16:creationId xmlns:a16="http://schemas.microsoft.com/office/drawing/2014/main" id="{7D91DD20-F553-79AD-C56E-270C1E290C13}"/>
              </a:ext>
            </a:extLst>
          </p:cNvPr>
          <p:cNvGrpSpPr>
            <a:grpSpLocks/>
          </p:cNvGrpSpPr>
          <p:nvPr/>
        </p:nvGrpSpPr>
        <p:grpSpPr bwMode="auto">
          <a:xfrm>
            <a:off x="8516119" y="2086078"/>
            <a:ext cx="912812" cy="1054100"/>
            <a:chOff x="3574" y="550"/>
            <a:chExt cx="575" cy="664"/>
          </a:xfrm>
        </p:grpSpPr>
        <p:grpSp>
          <p:nvGrpSpPr>
            <p:cNvPr id="122" name="Group 173">
              <a:extLst>
                <a:ext uri="{FF2B5EF4-FFF2-40B4-BE49-F238E27FC236}">
                  <a16:creationId xmlns:a16="http://schemas.microsoft.com/office/drawing/2014/main" id="{AA59BC43-9C14-B1F8-A203-E2A299773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25" name="Picture 174" descr="desktop_computer_stylized_medium">
                <a:extLst>
                  <a:ext uri="{FF2B5EF4-FFF2-40B4-BE49-F238E27FC236}">
                    <a16:creationId xmlns:a16="http://schemas.microsoft.com/office/drawing/2014/main" id="{FE2A88C9-D9B1-97CF-593C-B08D8A6D7E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" name="Freeform 175">
                <a:extLst>
                  <a:ext uri="{FF2B5EF4-FFF2-40B4-BE49-F238E27FC236}">
                    <a16:creationId xmlns:a16="http://schemas.microsoft.com/office/drawing/2014/main" id="{46D8380F-8D20-C9B4-18CF-0A7943F7FB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23" name="Rectangle 115">
              <a:extLst>
                <a:ext uri="{FF2B5EF4-FFF2-40B4-BE49-F238E27FC236}">
                  <a16:creationId xmlns:a16="http://schemas.microsoft.com/office/drawing/2014/main" id="{1928C5A5-A42C-C6C9-4AA6-A8A98AB05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124" name="Text Box 116">
              <a:extLst>
                <a:ext uri="{FF2B5EF4-FFF2-40B4-BE49-F238E27FC236}">
                  <a16:creationId xmlns:a16="http://schemas.microsoft.com/office/drawing/2014/main" id="{06EAD5F1-F64D-528F-9BD9-2101814E1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0"/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/>
                <a:t>agent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01489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EBC6-27D5-3D4D-92FE-74D1D1C6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713" y="925563"/>
            <a:ext cx="9117037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POP3 (</a:t>
            </a:r>
            <a:r>
              <a:rPr lang="en-IN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Office Protocol Version3)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9A44-767A-57A2-4C22-34D7325F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480" y="1973868"/>
            <a:ext cx="9816319" cy="3826857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 stands for Post Office Protocol. It is generally used to support a single client.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are several versions of POP but the POP 3 is the current standard.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 is an application layer internet standard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POP supports offline access to the messages, thus requires less internet usage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 does not allow search facility.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order to access the messages, it is necessary to download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only one mailbox to be created on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not suitable for accessing non mail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 commands are generally abbreviated into codes of three or four letters. </a:t>
            </a:r>
            <a:r>
              <a:rPr lang="en-US" dirty="0" err="1"/>
              <a:t>Eg.</a:t>
            </a:r>
            <a:r>
              <a:rPr lang="en-US" dirty="0"/>
              <a:t> STAT.</a:t>
            </a:r>
          </a:p>
        </p:txBody>
      </p:sp>
    </p:spTree>
    <p:extLst>
      <p:ext uri="{BB962C8B-B14F-4D97-AF65-F5344CB8AC3E}">
        <p14:creationId xmlns:p14="http://schemas.microsoft.com/office/powerpoint/2010/main" val="68713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27E7-742D-FA5F-C144-3C40ACC6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10356963" cy="1049235"/>
          </a:xfrm>
        </p:spPr>
        <p:txBody>
          <a:bodyPr/>
          <a:lstStyle/>
          <a:p>
            <a: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IMAP (Internet Message Access Protocol)</a:t>
            </a:r>
            <a:endParaRPr lang="en-IN" sz="29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B41B-76C4-5662-8FA1-76965F6A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IMAP</a:t>
            </a:r>
            <a:r>
              <a:rPr lang="en-US" dirty="0"/>
              <a:t> stands for </a:t>
            </a:r>
            <a:r>
              <a:rPr lang="en-US" b="1" dirty="0"/>
              <a:t>Internet Message Access Protocol.</a:t>
            </a:r>
            <a:r>
              <a:rPr lang="en-US" dirty="0"/>
              <a:t> It was first proposed in 1986.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IMAP allows the client program to manipulate the e-mail message on the server without downloading them on the local computer.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e-mail is hold and maintained by the remote server.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enables us to take any action such as downloading, delete the mail without reading the mail. It enables us to create, manipulate and delete remote message folders called mail boxes.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IMAP enables the users to search the e-mails.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allows concurrent access to multiple mailboxes on multiple mail servers.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56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E720-D280-8C4A-9B80-8EAF1690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146" y="834016"/>
            <a:ext cx="9603275" cy="1049235"/>
          </a:xfrm>
        </p:spPr>
        <p:txBody>
          <a:bodyPr/>
          <a:lstStyle/>
          <a:p>
            <a:pPr algn="ctr"/>
            <a: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POP and IMAP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394B5F4-48FD-969E-37BE-1DC305D7A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733623"/>
              </p:ext>
            </p:extLst>
          </p:nvPr>
        </p:nvGraphicFramePr>
        <p:xfrm>
          <a:off x="845575" y="1554010"/>
          <a:ext cx="10209279" cy="4346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8034">
                  <a:extLst>
                    <a:ext uri="{9D8B030D-6E8A-4147-A177-3AD203B41FA5}">
                      <a16:colId xmlns:a16="http://schemas.microsoft.com/office/drawing/2014/main" val="322962514"/>
                    </a:ext>
                  </a:extLst>
                </a:gridCol>
                <a:gridCol w="4712056">
                  <a:extLst>
                    <a:ext uri="{9D8B030D-6E8A-4147-A177-3AD203B41FA5}">
                      <a16:colId xmlns:a16="http://schemas.microsoft.com/office/drawing/2014/main" val="2715930612"/>
                    </a:ext>
                  </a:extLst>
                </a:gridCol>
                <a:gridCol w="4939189">
                  <a:extLst>
                    <a:ext uri="{9D8B030D-6E8A-4147-A177-3AD203B41FA5}">
                      <a16:colId xmlns:a16="http://schemas.microsoft.com/office/drawing/2014/main" val="446248474"/>
                    </a:ext>
                  </a:extLst>
                </a:gridCol>
              </a:tblGrid>
              <a:tr h="26021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S.No</a:t>
                      </a:r>
                      <a:endParaRPr lang="en-IN" sz="1600" dirty="0"/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POP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IMAP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3638412756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Generally used to support single client.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Designed to handle multiple clients.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336267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Messages are accessed offline.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Messages are accessed online although it also supports offline mode.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624526288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POP does not allow search facility.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 offers ability to search emails.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699758725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 the messages have to be downloaded.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 allows selective transfer of messages to the client.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620613043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5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one mailbox can be created on the server.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Multiple mailboxes can be created on the server.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872779971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6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 suitable for accessing non-mail data.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Suitable for accessing non-mail data i.e. attachment.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441475879"/>
                  </a:ext>
                </a:extLst>
              </a:tr>
              <a:tr h="37092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7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POP commands are generally abbreviated into codes of three or four letters. Eg. STAT.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IMAP commands are not abbreviated, they are full. Eg. STATUS.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859856641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/>
                        <a:t>8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It requires minimum use of server resources.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Clients are totally dependent on server.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797686887"/>
                  </a:ext>
                </a:extLst>
              </a:tr>
              <a:tr h="37092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9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Mails once downloaded cannot be accessed from some other location.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Allows mails to be accessed from multiple locations.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304042714"/>
                  </a:ext>
                </a:extLst>
              </a:tr>
              <a:tr h="37092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10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 e-mails are not downloaded automatically.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Users can view the headings and sender of e-mails and then decide to download.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406124017"/>
                  </a:ext>
                </a:extLst>
              </a:tr>
              <a:tr h="2596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11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POP requires less internet usage time.</a:t>
                      </a:r>
                    </a:p>
                  </a:txBody>
                  <a:tcPr marL="37093" marR="37093" marT="18546" marB="18546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IMAP requires more internet usage time.</a:t>
                      </a:r>
                    </a:p>
                  </a:txBody>
                  <a:tcPr marL="37093" marR="37093" marT="18546" marB="18546" anchor="ctr"/>
                </a:tc>
                <a:extLst>
                  <a:ext uri="{0D108BD9-81ED-4DB2-BD59-A6C34878D82A}">
                    <a16:rowId xmlns:a16="http://schemas.microsoft.com/office/drawing/2014/main" val="2261256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02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249859" y="112762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04490" y="2468274"/>
            <a:ext cx="1146874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This unit provides a complete overview of application layer of TCP/IP. 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Till now we have studied that there are various kinds of application layer related protocols. Some of them have been discussed in this unit, e.g., DNS, E-mail, SMTP, POP3, and IMAP.</a:t>
            </a:r>
          </a:p>
        </p:txBody>
      </p:sp>
    </p:spTree>
    <p:extLst>
      <p:ext uri="{BB962C8B-B14F-4D97-AF65-F5344CB8AC3E}">
        <p14:creationId xmlns:p14="http://schemas.microsoft.com/office/powerpoint/2010/main" val="343846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63400" y="709965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/>
              <a:t>1.Gmail.com, yahoo.com, yahoo.co.in, rediffmail.com, etc. are popular_________________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995362" y="1344400"/>
            <a:ext cx="8031680" cy="65274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a. email servers		                c. social media sites</a:t>
            </a:r>
          </a:p>
          <a:p>
            <a:r>
              <a:rPr lang="fr-FR" dirty="0"/>
              <a:t>b. FTP servers		                d. None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1" y="2529953"/>
            <a:ext cx="10172210" cy="460533"/>
          </a:xfrm>
          <a:prstGeom prst="roundRect">
            <a:avLst>
              <a:gd name="adj" fmla="val 3561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/>
              <a:t>2.SMTP stands for__________________</a:t>
            </a:r>
            <a:endParaRPr lang="en-IN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6072" y="5073148"/>
            <a:ext cx="8030970" cy="61527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dirty="0"/>
              <a:t>a. application layer			  c. transport layer</a:t>
            </a:r>
            <a:br>
              <a:rPr lang="en-US" dirty="0"/>
            </a:br>
            <a:r>
              <a:rPr lang="en-US" dirty="0"/>
              <a:t>b. network layer			  d. data link layer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63400" y="4480556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3.Post office protocol works on __________</a:t>
            </a:r>
            <a:endParaRPr sz="2400" b="1" dirty="0">
              <a:solidFill>
                <a:schemeClr val="bg1"/>
              </a:solidFill>
              <a:latin typeface="Calibri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1" y="3231512"/>
            <a:ext cx="8031681" cy="72686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a. Simple Main Transfer Protocol	  c. Server Mail Transfer Protocol</a:t>
            </a:r>
          </a:p>
          <a:p>
            <a:r>
              <a:rPr lang="en-IN" dirty="0"/>
              <a:t>b. Short mail transmission protocol	  d. Small mail transmission protocol</a:t>
            </a:r>
          </a:p>
        </p:txBody>
      </p:sp>
    </p:spTree>
    <p:extLst>
      <p:ext uri="{BB962C8B-B14F-4D97-AF65-F5344CB8AC3E}">
        <p14:creationId xmlns:p14="http://schemas.microsoft.com/office/powerpoint/2010/main" val="4086670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31642" y="1061489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" y="2347489"/>
            <a:ext cx="960823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1.Write a note on email.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Explain about e-mail architecture and service.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3.What is (POP3)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rotocols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4.Write the difference between IMAP and POP3. Why they are uses?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0043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220302" y="1171772"/>
            <a:ext cx="8133065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5362" y="2155760"/>
            <a:ext cx="96082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and Computer Communications (5th Ed.)” – W. Stallings –   PHI/ Pearson Education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Network for Computer Scientists &amp; Engineers, Zheng &amp; Akhtar,  OUP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&amp; Computer Communication, Black, PHI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http://nptel.ac.in/courses/106105081/31 </a:t>
            </a:r>
          </a:p>
          <a:p>
            <a:pPr>
              <a:lnSpc>
                <a:spcPct val="150000"/>
              </a:lnSpc>
            </a:pPr>
            <a:r>
              <a:rPr lang="en-IN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   http://nptel.ac.in/courses/106105081/28</a:t>
            </a:r>
            <a:endParaRPr lang="en-IN" u="sng" dirty="0"/>
          </a:p>
          <a:p>
            <a:pPr>
              <a:lnSpc>
                <a:spcPct val="150000"/>
              </a:lnSpc>
            </a:pPr>
            <a:r>
              <a:rPr lang="en-IN" dirty="0"/>
              <a:t> 3.   http://nptel.ac.in/courses/106105081/39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278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423851" y="1097278"/>
            <a:ext cx="9692640" cy="4572002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</a:rPr>
              <a:t> NETWORK PROTOCOLS &amp; SECURITY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cap="all" dirty="0">
                <a:ln/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 panose="00000500000000000000" pitchFamily="2" charset="0"/>
                <a:sym typeface="BioRhyme ExtraBold"/>
              </a:rPr>
              <a:t>21EC2210A</a:t>
            </a:r>
            <a:endParaRPr lang="en-US" sz="2400" b="1" cap="all" dirty="0">
              <a:ln/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8386" y="2642857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48895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S25_Congestion_control_Open_Loop_and_closed_loop_Choke_Packets_PPT</Template>
  <TotalTime>2049</TotalTime>
  <Words>1384</Words>
  <Application>Microsoft Office PowerPoint</Application>
  <PresentationFormat>Widescreen</PresentationFormat>
  <Paragraphs>206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BioRhyme ExtraBold</vt:lpstr>
      <vt:lpstr>Bookman Old Style</vt:lpstr>
      <vt:lpstr>Calibri</vt:lpstr>
      <vt:lpstr>Cambria</vt:lpstr>
      <vt:lpstr>Comic Sans MS</vt:lpstr>
      <vt:lpstr>Gill Sans MT</vt:lpstr>
      <vt:lpstr>McGrawHill-Italic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Email Architecture and Services</vt:lpstr>
      <vt:lpstr>PowerPoint Presentation</vt:lpstr>
      <vt:lpstr>Services of user agent</vt:lpstr>
      <vt:lpstr>Electronic Mail: SMTP [RFC 2821]</vt:lpstr>
      <vt:lpstr>First scenario in electronic mail</vt:lpstr>
      <vt:lpstr>Second scenario in electronic mail</vt:lpstr>
      <vt:lpstr>Third scenario in electronic mail</vt:lpstr>
      <vt:lpstr>Fourth scenario in electronic mail</vt:lpstr>
      <vt:lpstr>Push versus pull in electronic email</vt:lpstr>
      <vt:lpstr>SMTP range</vt:lpstr>
      <vt:lpstr>Mail access protocols</vt:lpstr>
      <vt:lpstr>POP3 (Post Office Protocol Version3)</vt:lpstr>
      <vt:lpstr>IMAP (Internet Message Access Protocol)</vt:lpstr>
      <vt:lpstr>Comparison between POP and IMAP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&amp; digital communications</dc:title>
  <dc:creator>syamsundar</dc:creator>
  <cp:lastModifiedBy>GORLA VENKATA GANESH</cp:lastModifiedBy>
  <cp:revision>199</cp:revision>
  <dcterms:created xsi:type="dcterms:W3CDTF">2022-11-09T14:23:54Z</dcterms:created>
  <dcterms:modified xsi:type="dcterms:W3CDTF">2025-12-17T06:47:25Z</dcterms:modified>
</cp:coreProperties>
</file>