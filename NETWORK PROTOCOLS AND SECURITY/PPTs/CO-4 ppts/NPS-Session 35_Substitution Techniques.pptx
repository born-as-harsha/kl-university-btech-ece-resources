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307" r:id="rId2"/>
    <p:sldId id="274" r:id="rId3"/>
    <p:sldId id="322" r:id="rId4"/>
    <p:sldId id="323" r:id="rId5"/>
    <p:sldId id="329" r:id="rId6"/>
    <p:sldId id="330" r:id="rId7"/>
    <p:sldId id="324" r:id="rId8"/>
    <p:sldId id="325" r:id="rId9"/>
    <p:sldId id="276" r:id="rId10"/>
    <p:sldId id="277" r:id="rId11"/>
    <p:sldId id="326" r:id="rId12"/>
    <p:sldId id="278" r:id="rId13"/>
    <p:sldId id="279" r:id="rId14"/>
    <p:sldId id="327" r:id="rId15"/>
    <p:sldId id="328" r:id="rId16"/>
    <p:sldId id="280" r:id="rId17"/>
    <p:sldId id="281" r:id="rId18"/>
    <p:sldId id="282" r:id="rId19"/>
    <p:sldId id="315" r:id="rId20"/>
    <p:sldId id="316" r:id="rId21"/>
    <p:sldId id="317" r:id="rId22"/>
    <p:sldId id="318" r:id="rId23"/>
    <p:sldId id="319" r:id="rId24"/>
    <p:sldId id="320" r:id="rId25"/>
    <p:sldId id="321"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82" d="100"/>
          <a:sy n="82" d="100"/>
        </p:scale>
        <p:origin x="720"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rsha Abhi" userId="f8e599a9041de5bd" providerId="LiveId" clId="{0E881EA1-49BF-416A-85DE-896CE4F6B4DC}"/>
    <pc:docChg chg="modSld">
      <pc:chgData name="Harsha Abhi" userId="f8e599a9041de5bd" providerId="LiveId" clId="{0E881EA1-49BF-416A-85DE-896CE4F6B4DC}" dt="2026-04-15T04:07:17.948" v="0" actId="1038"/>
      <pc:docMkLst>
        <pc:docMk/>
      </pc:docMkLst>
      <pc:sldChg chg="modSp mod">
        <pc:chgData name="Harsha Abhi" userId="f8e599a9041de5bd" providerId="LiveId" clId="{0E881EA1-49BF-416A-85DE-896CE4F6B4DC}" dt="2026-04-15T04:07:17.948" v="0" actId="1038"/>
        <pc:sldMkLst>
          <pc:docMk/>
          <pc:sldMk cId="1187747853" sldId="278"/>
        </pc:sldMkLst>
        <pc:spChg chg="mod">
          <ac:chgData name="Harsha Abhi" userId="f8e599a9041de5bd" providerId="LiveId" clId="{0E881EA1-49BF-416A-85DE-896CE4F6B4DC}" dt="2026-04-15T04:07:17.948" v="0" actId="1038"/>
          <ac:spMkLst>
            <pc:docMk/>
            <pc:sldMk cId="1187747853" sldId="278"/>
            <ac:spMk id="2" creationId="{57D05D22-AC79-4A59-A4D4-FB178DEB1CA3}"/>
          </ac:spMkLst>
        </pc:spChg>
      </pc:sldChg>
    </pc:docChg>
  </pc:docChgLst>
</pc:chgInfo>
</file>

<file path=ppt/ink/ink1.xml><?xml version="1.0" encoding="utf-8"?>
<inkml:ink xmlns:inkml="http://www.w3.org/2003/InkML">
  <inkml:definitions>
    <inkml:context xml:id="ctx0">
      <inkml:inkSource xml:id="inkSrc0">
        <inkml:traceFormat>
          <inkml:channel name="X" type="integer" max="1360" units="cm"/>
          <inkml:channel name="Y" type="integer" max="768" units="cm"/>
        </inkml:traceFormat>
        <inkml:channelProperties>
          <inkml:channelProperty channel="X" name="resolution" value="44.29967" units="1/cm"/>
          <inkml:channelProperty channel="Y" name="resolution" value="44.13793" units="1/cm"/>
        </inkml:channelProperties>
      </inkml:inkSource>
      <inkml:timestamp xml:id="ts0" timeString="2023-02-27T04:51:43.651"/>
    </inkml:context>
    <inkml:brush xml:id="br0">
      <inkml:brushProperty name="width" value="0.05292" units="cm"/>
      <inkml:brushProperty name="height" value="0.05292" units="cm"/>
      <inkml:brushProperty name="color" value="#FF0000"/>
    </inkml:brush>
  </inkml:definitions>
  <inkml:trace contextRef="#ctx0" brushRef="#br0">11355 5005,'25'0,"0"-24,0-26,0 0,25 0,-25 0,24 25,-24-24,0 24,0 0,0 0,-25 0,0 0,25 0,0 25,-25-25,25 0,0 25,0-24,-25-1,24 0,1-25,0 50,-25-25,25 25,-25-25,25 25,-25-25,25 0,0 0,0 1,-25-1,25 25,-25-25,25 25</inkml:trace>
  <inkml:trace contextRef="#ctx0" brushRef="#br0" timeOffset="3723.91">12700 3760,'-25'0,"0"0,-50 0,51 0,-1 0,-50 0,-25 0,75 0,-24 0,24 0,0 0,0 0,0 0,25 25,0 0,0 0,0 0,-25-25,25 25,0 0,0 0,0 0,0 0,0-1,0 1,0 0,0 0,0 0,25-25,-25 25,25-25,-25 25,25-25,0 0,0 0,0 0,-1 0,1 0,0 0,0 0,0 0,0 0,0 0,0 0,0 0,0 0,-1 0,1 0,-25-25</inkml:trace>
  <inkml:trace contextRef="#ctx0" brushRef="#br0" timeOffset="4848.87">12924 3885,'25'0,"-25"25,25 0,-25 0,0 0,0-1,0 1,0 0,0 0,0 0,0 0</inkml:trace>
  <inkml:trace contextRef="#ctx0" brushRef="#br0" timeOffset="5454.92">12949 3711</inkml:trace>
  <inkml:trace contextRef="#ctx0" brushRef="#br0" timeOffset="6270.41">13173 3636,'0'0,"0"25,0 0,0 0,0-1,0 1,25-25,-25 75,0 0,25-50,-25 49,25 1,-25-50,0 25,25 0,0-50,-25 25,0-1,0 1,0-74</inkml:trace>
  <inkml:trace contextRef="#ctx0" brushRef="#br0" timeOffset="8957.34">13123 3611,'25'0,"0"0,0 0,-25-25,25 25,0 0,-25 25,25-25,-25 25,25-25,-25 25,25-25,-25 25,24-25,-24 25,0-1,25-24,-25 25,0 0,0 0,0 0,0 0,0 0,-25-25,25 25</inkml:trace>
  <inkml:trace contextRef="#ctx0" brushRef="#br0" timeOffset="12210.74">13646 3038,'0'25,"0"0,0 25,0-25,0 25,25-1,-25 1,25 0,-25 25,25-50,-25 24,0-24,25 0,-25 0,0 0,0 50,25-26,-25-24,0 0,0 0,0 0,0 0,0 0,0 0,0 0,0 0,0 0,0-1,0 1,25-25,-25 25,25-25,-25-25,24-24,1-1,0 25,-25 0,25 25,-25-50,25 25,0 25,-25-25,0 0,25 50,0 50,0-50,-25 0,25 0,0 25,-1-26,-24 26,25-25,0 0,-25 0,0 0,25-25,0 0,-25 25,25-25,-25-50,0 0,0 25</inkml:trace>
  <inkml:trace contextRef="#ctx0" brushRef="#br0" timeOffset="14053.72">14319 3885,'25'0,"-1"0,1 0,0-25,-25 0,25 0,0 0,0 0,-25 0,25 1,-25-1,25 25,-25-25,0 0,0 0,0 0,0 0,-25 0,0 0,0 25,0-25,0 25,0 0,0 0,25 25,-24-25,24 25,0 0,0 0,0 0,-25 25,25-25,0 0,0-1,0 1,0 0,0 0,0 0,0 0,0 0,0 0,25 0,-1-25,-24 25,25 0,0-25,0 0,0 0,0 0,0 0,0 0,0 0,0 0,-1 0,-24-25,25 25,0 0,-25-25,0 0</inkml:trace>
  <inkml:trace contextRef="#ctx0" brushRef="#br0" timeOffset="15405.18">14667 3536,'25'0,"0"0,0 0,0 0,0 0,0 0,0 0,-1 25,1-25,0 25,-25 0,25 0,25 25,-50-25,25-1,-25 1,25-25,-25 25,0 0,25 0,-25 0,0 0,0 0,0 0,-25-25,0 0,0-25,0 25,0-50,25 0,-25 50,0-50,25 25,0-24,-25-1,25 25,0 0,0-25,0 25,-24 0,24 1,0-1,0 0,0 0,0 0,0 0,0 0,0 0,24 25</inkml:trace>
  <inkml:trace contextRef="#ctx0" brushRef="#br0" timeOffset="17093.9">15912 3113,'-25'0,"25"50,0-25,0 24,0 1,0 0,0 0,0 25,0-26,0 1,0 0,0-25,0 0,0 0,0 0,0-1,25-24,-25 25,0 0,25-25,0 0,25 0,-25 0,0 0,0-25,-25 0,25 25,-25-24</inkml:trace>
  <inkml:trace contextRef="#ctx0" brushRef="#br0" timeOffset="17915.91">15788 3412,'0'-25,"25"25,0-25,24 0,-24 25,-25-25,25 25,-25-25,25 25,0 0,-25-25,25 25,0 0,-25-25,25 25,0 0</inkml:trace>
  <inkml:trace contextRef="#ctx0" brushRef="#br0" timeOffset="19757.27">16410 3711,'25'0,"-25"-25,0 0,25 25,-25-25,0-25,25 25,0-25,-25 25,0 1,25-1,-25 0,0-25,0 25,0 0,0 0,-25 25,0 0,0 0,0 0,0 0,25 25,-25-25,25 25,0 0,0 0,0 0,0 0,0 0,0-1,0 1,0 0,0 0,0 0,0 0,0 0,0 0,0 0,25-25,-25 25,25-25,0 0,0 0,0 0,0 0,0 0,0 0,0 0,0 0,-25-25,24 25,-24-25,0 0,25 25,-25-25</inkml:trace>
  <inkml:trace contextRef="#ctx0" brushRef="#br0" timeOffset="21197.2">16859 3188,'25'0,"-1"0,-24 25,0-1,25 1,0 0,-25 0,0 0,0 0,0 0,0 0,0 0,0 0,0-1,0 1,0 0,0 0,0 0,0 0,0 0,0-100,0 25,50 1,-25 49</inkml:trace>
  <inkml:trace contextRef="#ctx0" brushRef="#br0" timeOffset="22452.56">17157 3138,'0'25,"0"0,0 0,0-1,-24 1,24 0,0 0,0 0,0 0,0 0,0 0,0 0,0 0,0-1,0 1,24 0,1-25,-25 25,25-25,0 0,0 0,-25 25,0-50</inkml:trace>
  <inkml:trace contextRef="#ctx0" brushRef="#br0" timeOffset="23649.8">17307 2715,'-25'0,"25"24,0 51,0-25,0-25,0 25,0-1,0 1,0-25,0 0,25 0,-25 25,25 0,0-50,-25 49,0-24,0 0,25 0,-1-25,-24 25,25-25,-25 25,0 0,25-25,0 0,0 0,0 0,0-25,0 0,-25 0,25 25,-25-25,0 0,0 0</inkml:trace>
  <inkml:trace contextRef="#ctx0" brushRef="#br0" timeOffset="24419.34">17232 3088,'0'-25,"25"25,-25-25,50-25,-25 50,0-24,-25-1,25 25,-1 0,-24-25,25 25,-25-25,25 25,-25-25</inkml:trace>
  <inkml:trace contextRef="#ctx0" brushRef="#br0" timeOffset="27363.16">11206 4582,'0'0,"0"25,0 25,0 0,25-1,-25-24,25 0,-25 0,0 0,0 0,0 0,0 0,25 0,-25 0,0-1,0 1,24 0,1-25,0 0,25-25,0-24,-25 49,0-25,25 0,-50 0,24 25,1 0,0 0,0 0,0 0,0 0,-25-25,25 25,0 0,0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87F059-1FD3-4F39-BE62-FA40EA6B0B13}" type="datetimeFigureOut">
              <a:rPr lang="en-IN" smtClean="0"/>
              <a:pPr/>
              <a:t>15-04-2026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658917-74D7-4F58-9CDD-826089178B97}" type="slidenum">
              <a:rPr lang="en-IN" smtClean="0"/>
              <a:pPr/>
              <a:t>‹#›</a:t>
            </a:fld>
            <a:endParaRPr lang="en-IN"/>
          </a:p>
        </p:txBody>
      </p:sp>
    </p:spTree>
    <p:extLst>
      <p:ext uri="{BB962C8B-B14F-4D97-AF65-F5344CB8AC3E}">
        <p14:creationId xmlns:p14="http://schemas.microsoft.com/office/powerpoint/2010/main" val="40650286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2" name="Google Shape;46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244303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2E658917-74D7-4F58-9CDD-826089178B97}" type="slidenum">
              <a:rPr lang="en-IN" smtClean="0"/>
              <a:pPr/>
              <a:t>16</a:t>
            </a:fld>
            <a:endParaRPr lang="en-IN"/>
          </a:p>
        </p:txBody>
      </p:sp>
    </p:spTree>
    <p:extLst>
      <p:ext uri="{BB962C8B-B14F-4D97-AF65-F5344CB8AC3E}">
        <p14:creationId xmlns:p14="http://schemas.microsoft.com/office/powerpoint/2010/main" val="31906113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3F1430-02A2-4F6F-95A9-34ACA1DE0B0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2F78057-42B0-49AF-9408-35CB29A9039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6E8D3F8-B6C1-41BD-8351-5EDEA765D70B}"/>
              </a:ext>
            </a:extLst>
          </p:cNvPr>
          <p:cNvSpPr>
            <a:spLocks noGrp="1"/>
          </p:cNvSpPr>
          <p:nvPr>
            <p:ph type="dt" sz="half" idx="10"/>
          </p:nvPr>
        </p:nvSpPr>
        <p:spPr/>
        <p:txBody>
          <a:bodyPr/>
          <a:lstStyle/>
          <a:p>
            <a:fld id="{6A82556E-593C-48B2-8C8F-13666BE3F444}" type="datetimeFigureOut">
              <a:rPr lang="en-US" smtClean="0"/>
              <a:pPr/>
              <a:t>15-Apr-26</a:t>
            </a:fld>
            <a:endParaRPr lang="en-US"/>
          </a:p>
        </p:txBody>
      </p:sp>
      <p:sp>
        <p:nvSpPr>
          <p:cNvPr id="5" name="Footer Placeholder 4">
            <a:extLst>
              <a:ext uri="{FF2B5EF4-FFF2-40B4-BE49-F238E27FC236}">
                <a16:creationId xmlns:a16="http://schemas.microsoft.com/office/drawing/2014/main" id="{68F89A96-79DE-4C4B-AE8F-6A765906DB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14BB84-16EB-4912-A9EE-BF7B2827E00F}"/>
              </a:ext>
            </a:extLst>
          </p:cNvPr>
          <p:cNvSpPr>
            <a:spLocks noGrp="1"/>
          </p:cNvSpPr>
          <p:nvPr>
            <p:ph type="sldNum" sz="quarter" idx="12"/>
          </p:nvPr>
        </p:nvSpPr>
        <p:spPr/>
        <p:txBody>
          <a:bodyPr/>
          <a:lstStyle/>
          <a:p>
            <a:fld id="{37BA6162-2D20-4B0A-96B2-AE7CD500622C}" type="slidenum">
              <a:rPr lang="en-US" smtClean="0"/>
              <a:pPr/>
              <a:t>‹#›</a:t>
            </a:fld>
            <a:endParaRPr lang="en-US"/>
          </a:p>
        </p:txBody>
      </p:sp>
    </p:spTree>
    <p:extLst>
      <p:ext uri="{BB962C8B-B14F-4D97-AF65-F5344CB8AC3E}">
        <p14:creationId xmlns:p14="http://schemas.microsoft.com/office/powerpoint/2010/main" val="27669174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27F2B9-6BF3-4943-B01F-791617F5965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CBB8D58-416E-4512-8DAA-C6D089EE439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2CC4D0-C741-4447-83F3-68571A6A9D98}"/>
              </a:ext>
            </a:extLst>
          </p:cNvPr>
          <p:cNvSpPr>
            <a:spLocks noGrp="1"/>
          </p:cNvSpPr>
          <p:nvPr>
            <p:ph type="dt" sz="half" idx="10"/>
          </p:nvPr>
        </p:nvSpPr>
        <p:spPr/>
        <p:txBody>
          <a:bodyPr/>
          <a:lstStyle/>
          <a:p>
            <a:fld id="{6A82556E-593C-48B2-8C8F-13666BE3F444}" type="datetimeFigureOut">
              <a:rPr lang="en-US" smtClean="0"/>
              <a:pPr/>
              <a:t>15-Apr-26</a:t>
            </a:fld>
            <a:endParaRPr lang="en-US"/>
          </a:p>
        </p:txBody>
      </p:sp>
      <p:sp>
        <p:nvSpPr>
          <p:cNvPr id="5" name="Footer Placeholder 4">
            <a:extLst>
              <a:ext uri="{FF2B5EF4-FFF2-40B4-BE49-F238E27FC236}">
                <a16:creationId xmlns:a16="http://schemas.microsoft.com/office/drawing/2014/main" id="{56F5E9BF-BA0C-400A-84D5-848407F7BE2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1D92A4-D16E-41C8-9847-8C2DFCD7961A}"/>
              </a:ext>
            </a:extLst>
          </p:cNvPr>
          <p:cNvSpPr>
            <a:spLocks noGrp="1"/>
          </p:cNvSpPr>
          <p:nvPr>
            <p:ph type="sldNum" sz="quarter" idx="12"/>
          </p:nvPr>
        </p:nvSpPr>
        <p:spPr/>
        <p:txBody>
          <a:bodyPr/>
          <a:lstStyle/>
          <a:p>
            <a:fld id="{37BA6162-2D20-4B0A-96B2-AE7CD500622C}" type="slidenum">
              <a:rPr lang="en-US" smtClean="0"/>
              <a:pPr/>
              <a:t>‹#›</a:t>
            </a:fld>
            <a:endParaRPr lang="en-US"/>
          </a:p>
        </p:txBody>
      </p:sp>
    </p:spTree>
    <p:extLst>
      <p:ext uri="{BB962C8B-B14F-4D97-AF65-F5344CB8AC3E}">
        <p14:creationId xmlns:p14="http://schemas.microsoft.com/office/powerpoint/2010/main" val="39974197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DA7044-82C4-4B4E-B88C-B4365FE44E5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F02BC52-6876-4EE5-9CDA-5FCB5EBD301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7328F78-3A5A-496D-9C14-C9F1BAB7468D}"/>
              </a:ext>
            </a:extLst>
          </p:cNvPr>
          <p:cNvSpPr>
            <a:spLocks noGrp="1"/>
          </p:cNvSpPr>
          <p:nvPr>
            <p:ph type="dt" sz="half" idx="10"/>
          </p:nvPr>
        </p:nvSpPr>
        <p:spPr/>
        <p:txBody>
          <a:bodyPr/>
          <a:lstStyle/>
          <a:p>
            <a:fld id="{6A82556E-593C-48B2-8C8F-13666BE3F444}" type="datetimeFigureOut">
              <a:rPr lang="en-US" smtClean="0"/>
              <a:pPr/>
              <a:t>15-Apr-26</a:t>
            </a:fld>
            <a:endParaRPr lang="en-US"/>
          </a:p>
        </p:txBody>
      </p:sp>
      <p:sp>
        <p:nvSpPr>
          <p:cNvPr id="5" name="Footer Placeholder 4">
            <a:extLst>
              <a:ext uri="{FF2B5EF4-FFF2-40B4-BE49-F238E27FC236}">
                <a16:creationId xmlns:a16="http://schemas.microsoft.com/office/drawing/2014/main" id="{5F98022D-E983-4184-A9FC-F92B1B975B2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F4EBF96-90CE-4612-BB9B-1AF1D3B55456}"/>
              </a:ext>
            </a:extLst>
          </p:cNvPr>
          <p:cNvSpPr>
            <a:spLocks noGrp="1"/>
          </p:cNvSpPr>
          <p:nvPr>
            <p:ph type="sldNum" sz="quarter" idx="12"/>
          </p:nvPr>
        </p:nvSpPr>
        <p:spPr/>
        <p:txBody>
          <a:bodyPr/>
          <a:lstStyle/>
          <a:p>
            <a:fld id="{37BA6162-2D20-4B0A-96B2-AE7CD500622C}" type="slidenum">
              <a:rPr lang="en-US" smtClean="0"/>
              <a:pPr/>
              <a:t>‹#›</a:t>
            </a:fld>
            <a:endParaRPr lang="en-US"/>
          </a:p>
        </p:txBody>
      </p:sp>
    </p:spTree>
    <p:extLst>
      <p:ext uri="{BB962C8B-B14F-4D97-AF65-F5344CB8AC3E}">
        <p14:creationId xmlns:p14="http://schemas.microsoft.com/office/powerpoint/2010/main" val="4755145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9728D0-DFB8-45A5-A23E-1ED905AB507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34017F1-0EEC-43A1-A15A-F82D95DA238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CD0F63D-52EF-409C-9232-E370B173ED0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D4CE5AD-5403-43F9-AA0F-F06DD55F6FC8}"/>
              </a:ext>
            </a:extLst>
          </p:cNvPr>
          <p:cNvSpPr>
            <a:spLocks noGrp="1"/>
          </p:cNvSpPr>
          <p:nvPr>
            <p:ph type="dt" sz="half" idx="10"/>
          </p:nvPr>
        </p:nvSpPr>
        <p:spPr/>
        <p:txBody>
          <a:bodyPr/>
          <a:lstStyle/>
          <a:p>
            <a:fld id="{6A82556E-593C-48B2-8C8F-13666BE3F444}" type="datetimeFigureOut">
              <a:rPr lang="en-US" smtClean="0"/>
              <a:pPr/>
              <a:t>15-Apr-26</a:t>
            </a:fld>
            <a:endParaRPr lang="en-US"/>
          </a:p>
        </p:txBody>
      </p:sp>
      <p:sp>
        <p:nvSpPr>
          <p:cNvPr id="6" name="Footer Placeholder 5">
            <a:extLst>
              <a:ext uri="{FF2B5EF4-FFF2-40B4-BE49-F238E27FC236}">
                <a16:creationId xmlns:a16="http://schemas.microsoft.com/office/drawing/2014/main" id="{AF607E7D-E366-4524-A63C-D8FBF1317BD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87F81B-446A-437D-B65F-5CF29B083134}"/>
              </a:ext>
            </a:extLst>
          </p:cNvPr>
          <p:cNvSpPr>
            <a:spLocks noGrp="1"/>
          </p:cNvSpPr>
          <p:nvPr>
            <p:ph type="sldNum" sz="quarter" idx="12"/>
          </p:nvPr>
        </p:nvSpPr>
        <p:spPr/>
        <p:txBody>
          <a:bodyPr/>
          <a:lstStyle/>
          <a:p>
            <a:fld id="{37BA6162-2D20-4B0A-96B2-AE7CD500622C}" type="slidenum">
              <a:rPr lang="en-US" smtClean="0"/>
              <a:pPr/>
              <a:t>‹#›</a:t>
            </a:fld>
            <a:endParaRPr lang="en-US"/>
          </a:p>
        </p:txBody>
      </p:sp>
    </p:spTree>
    <p:extLst>
      <p:ext uri="{BB962C8B-B14F-4D97-AF65-F5344CB8AC3E}">
        <p14:creationId xmlns:p14="http://schemas.microsoft.com/office/powerpoint/2010/main" val="42397808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692ABB-A139-4F88-9CD3-666928ECD80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41F431E-D4AB-42F0-9B1B-D50F491615B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25BEB46-23BA-4521-A320-762A050ACCF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1C7064F-CC01-402D-A009-E4A7EA17178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F41AFA2-0DC6-44CE-8235-73A3FA02DD5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15826A7-C252-4F8A-B071-AD820B09222B}"/>
              </a:ext>
            </a:extLst>
          </p:cNvPr>
          <p:cNvSpPr>
            <a:spLocks noGrp="1"/>
          </p:cNvSpPr>
          <p:nvPr>
            <p:ph type="dt" sz="half" idx="10"/>
          </p:nvPr>
        </p:nvSpPr>
        <p:spPr/>
        <p:txBody>
          <a:bodyPr/>
          <a:lstStyle/>
          <a:p>
            <a:fld id="{6A82556E-593C-48B2-8C8F-13666BE3F444}" type="datetimeFigureOut">
              <a:rPr lang="en-US" smtClean="0"/>
              <a:pPr/>
              <a:t>15-Apr-26</a:t>
            </a:fld>
            <a:endParaRPr lang="en-US"/>
          </a:p>
        </p:txBody>
      </p:sp>
      <p:sp>
        <p:nvSpPr>
          <p:cNvPr id="8" name="Footer Placeholder 7">
            <a:extLst>
              <a:ext uri="{FF2B5EF4-FFF2-40B4-BE49-F238E27FC236}">
                <a16:creationId xmlns:a16="http://schemas.microsoft.com/office/drawing/2014/main" id="{D3FD308A-25C2-4F39-835E-FA06A30F0EC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2447B1F-90FA-4D87-93EA-AD2C27E15CE5}"/>
              </a:ext>
            </a:extLst>
          </p:cNvPr>
          <p:cNvSpPr>
            <a:spLocks noGrp="1"/>
          </p:cNvSpPr>
          <p:nvPr>
            <p:ph type="sldNum" sz="quarter" idx="12"/>
          </p:nvPr>
        </p:nvSpPr>
        <p:spPr/>
        <p:txBody>
          <a:bodyPr/>
          <a:lstStyle/>
          <a:p>
            <a:fld id="{37BA6162-2D20-4B0A-96B2-AE7CD500622C}" type="slidenum">
              <a:rPr lang="en-US" smtClean="0"/>
              <a:pPr/>
              <a:t>‹#›</a:t>
            </a:fld>
            <a:endParaRPr lang="en-US"/>
          </a:p>
        </p:txBody>
      </p:sp>
    </p:spTree>
    <p:extLst>
      <p:ext uri="{BB962C8B-B14F-4D97-AF65-F5344CB8AC3E}">
        <p14:creationId xmlns:p14="http://schemas.microsoft.com/office/powerpoint/2010/main" val="1097853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1DDB7-C8C9-4A1A-A026-21708D41C3F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8396E43-A13F-4773-A273-EC4E02F15DB1}"/>
              </a:ext>
            </a:extLst>
          </p:cNvPr>
          <p:cNvSpPr>
            <a:spLocks noGrp="1"/>
          </p:cNvSpPr>
          <p:nvPr>
            <p:ph type="dt" sz="half" idx="10"/>
          </p:nvPr>
        </p:nvSpPr>
        <p:spPr/>
        <p:txBody>
          <a:bodyPr/>
          <a:lstStyle/>
          <a:p>
            <a:fld id="{6A82556E-593C-48B2-8C8F-13666BE3F444}" type="datetimeFigureOut">
              <a:rPr lang="en-US" smtClean="0"/>
              <a:pPr/>
              <a:t>15-Apr-26</a:t>
            </a:fld>
            <a:endParaRPr lang="en-US"/>
          </a:p>
        </p:txBody>
      </p:sp>
      <p:sp>
        <p:nvSpPr>
          <p:cNvPr id="4" name="Footer Placeholder 3">
            <a:extLst>
              <a:ext uri="{FF2B5EF4-FFF2-40B4-BE49-F238E27FC236}">
                <a16:creationId xmlns:a16="http://schemas.microsoft.com/office/drawing/2014/main" id="{C905B703-B5B7-4C37-8BDE-E766074D1EF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849C412-2172-4C52-9C49-E00501EA3846}"/>
              </a:ext>
            </a:extLst>
          </p:cNvPr>
          <p:cNvSpPr>
            <a:spLocks noGrp="1"/>
          </p:cNvSpPr>
          <p:nvPr>
            <p:ph type="sldNum" sz="quarter" idx="12"/>
          </p:nvPr>
        </p:nvSpPr>
        <p:spPr/>
        <p:txBody>
          <a:bodyPr/>
          <a:lstStyle/>
          <a:p>
            <a:fld id="{37BA6162-2D20-4B0A-96B2-AE7CD500622C}" type="slidenum">
              <a:rPr lang="en-US" smtClean="0"/>
              <a:pPr/>
              <a:t>‹#›</a:t>
            </a:fld>
            <a:endParaRPr lang="en-US"/>
          </a:p>
        </p:txBody>
      </p:sp>
    </p:spTree>
    <p:extLst>
      <p:ext uri="{BB962C8B-B14F-4D97-AF65-F5344CB8AC3E}">
        <p14:creationId xmlns:p14="http://schemas.microsoft.com/office/powerpoint/2010/main" val="37414126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67950EC-21D7-43B2-85A2-C05197542B77}"/>
              </a:ext>
            </a:extLst>
          </p:cNvPr>
          <p:cNvSpPr>
            <a:spLocks noGrp="1"/>
          </p:cNvSpPr>
          <p:nvPr>
            <p:ph type="dt" sz="half" idx="10"/>
          </p:nvPr>
        </p:nvSpPr>
        <p:spPr/>
        <p:txBody>
          <a:bodyPr/>
          <a:lstStyle/>
          <a:p>
            <a:fld id="{6A82556E-593C-48B2-8C8F-13666BE3F444}" type="datetimeFigureOut">
              <a:rPr lang="en-US" smtClean="0"/>
              <a:pPr/>
              <a:t>15-Apr-26</a:t>
            </a:fld>
            <a:endParaRPr lang="en-US"/>
          </a:p>
        </p:txBody>
      </p:sp>
      <p:sp>
        <p:nvSpPr>
          <p:cNvPr id="3" name="Footer Placeholder 2">
            <a:extLst>
              <a:ext uri="{FF2B5EF4-FFF2-40B4-BE49-F238E27FC236}">
                <a16:creationId xmlns:a16="http://schemas.microsoft.com/office/drawing/2014/main" id="{609382C4-9278-4515-B6AA-6DBA0E5BCA7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33E7F18-0BA9-4AC3-9AAE-8FA758CD3661}"/>
              </a:ext>
            </a:extLst>
          </p:cNvPr>
          <p:cNvSpPr>
            <a:spLocks noGrp="1"/>
          </p:cNvSpPr>
          <p:nvPr>
            <p:ph type="sldNum" sz="quarter" idx="12"/>
          </p:nvPr>
        </p:nvSpPr>
        <p:spPr/>
        <p:txBody>
          <a:bodyPr/>
          <a:lstStyle/>
          <a:p>
            <a:fld id="{37BA6162-2D20-4B0A-96B2-AE7CD500622C}" type="slidenum">
              <a:rPr lang="en-US" smtClean="0"/>
              <a:pPr/>
              <a:t>‹#›</a:t>
            </a:fld>
            <a:endParaRPr lang="en-US"/>
          </a:p>
        </p:txBody>
      </p:sp>
    </p:spTree>
    <p:extLst>
      <p:ext uri="{BB962C8B-B14F-4D97-AF65-F5344CB8AC3E}">
        <p14:creationId xmlns:p14="http://schemas.microsoft.com/office/powerpoint/2010/main" val="42217468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06703-9D36-45E1-9997-F0EE1EF2836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1B56D04-2035-413B-9C0D-366DBEF8386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B20526C-1440-4E60-B326-80B29EAD707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BB8F0C-3464-44DD-B898-D490284E0E02}"/>
              </a:ext>
            </a:extLst>
          </p:cNvPr>
          <p:cNvSpPr>
            <a:spLocks noGrp="1"/>
          </p:cNvSpPr>
          <p:nvPr>
            <p:ph type="dt" sz="half" idx="10"/>
          </p:nvPr>
        </p:nvSpPr>
        <p:spPr/>
        <p:txBody>
          <a:bodyPr/>
          <a:lstStyle/>
          <a:p>
            <a:fld id="{6A82556E-593C-48B2-8C8F-13666BE3F444}" type="datetimeFigureOut">
              <a:rPr lang="en-US" smtClean="0"/>
              <a:pPr/>
              <a:t>15-Apr-26</a:t>
            </a:fld>
            <a:endParaRPr lang="en-US"/>
          </a:p>
        </p:txBody>
      </p:sp>
      <p:sp>
        <p:nvSpPr>
          <p:cNvPr id="6" name="Footer Placeholder 5">
            <a:extLst>
              <a:ext uri="{FF2B5EF4-FFF2-40B4-BE49-F238E27FC236}">
                <a16:creationId xmlns:a16="http://schemas.microsoft.com/office/drawing/2014/main" id="{67CFDE26-224D-414D-8E97-21A03A68AC2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DAB881B-D2E4-4883-9087-753BD8963458}"/>
              </a:ext>
            </a:extLst>
          </p:cNvPr>
          <p:cNvSpPr>
            <a:spLocks noGrp="1"/>
          </p:cNvSpPr>
          <p:nvPr>
            <p:ph type="sldNum" sz="quarter" idx="12"/>
          </p:nvPr>
        </p:nvSpPr>
        <p:spPr/>
        <p:txBody>
          <a:bodyPr/>
          <a:lstStyle/>
          <a:p>
            <a:fld id="{37BA6162-2D20-4B0A-96B2-AE7CD500622C}" type="slidenum">
              <a:rPr lang="en-US" smtClean="0"/>
              <a:pPr/>
              <a:t>‹#›</a:t>
            </a:fld>
            <a:endParaRPr lang="en-US"/>
          </a:p>
        </p:txBody>
      </p:sp>
    </p:spTree>
    <p:extLst>
      <p:ext uri="{BB962C8B-B14F-4D97-AF65-F5344CB8AC3E}">
        <p14:creationId xmlns:p14="http://schemas.microsoft.com/office/powerpoint/2010/main" val="21823231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6EBD5D-0D6C-4E67-95DA-B8ABB46BA1C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47A90C8-5F6B-4A47-9CC5-776327C3A19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D703E00-C491-4054-86C5-AA82752529B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582B0E1-9964-4390-8549-C894573D1103}"/>
              </a:ext>
            </a:extLst>
          </p:cNvPr>
          <p:cNvSpPr>
            <a:spLocks noGrp="1"/>
          </p:cNvSpPr>
          <p:nvPr>
            <p:ph type="dt" sz="half" idx="10"/>
          </p:nvPr>
        </p:nvSpPr>
        <p:spPr/>
        <p:txBody>
          <a:bodyPr/>
          <a:lstStyle/>
          <a:p>
            <a:fld id="{6A82556E-593C-48B2-8C8F-13666BE3F444}" type="datetimeFigureOut">
              <a:rPr lang="en-US" smtClean="0"/>
              <a:pPr/>
              <a:t>15-Apr-26</a:t>
            </a:fld>
            <a:endParaRPr lang="en-US"/>
          </a:p>
        </p:txBody>
      </p:sp>
      <p:sp>
        <p:nvSpPr>
          <p:cNvPr id="6" name="Footer Placeholder 5">
            <a:extLst>
              <a:ext uri="{FF2B5EF4-FFF2-40B4-BE49-F238E27FC236}">
                <a16:creationId xmlns:a16="http://schemas.microsoft.com/office/drawing/2014/main" id="{1BA22811-2287-4292-8422-3863E908051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BE7AAEC-2E4C-424B-8BE1-023E2B96EBA6}"/>
              </a:ext>
            </a:extLst>
          </p:cNvPr>
          <p:cNvSpPr>
            <a:spLocks noGrp="1"/>
          </p:cNvSpPr>
          <p:nvPr>
            <p:ph type="sldNum" sz="quarter" idx="12"/>
          </p:nvPr>
        </p:nvSpPr>
        <p:spPr/>
        <p:txBody>
          <a:bodyPr/>
          <a:lstStyle/>
          <a:p>
            <a:fld id="{37BA6162-2D20-4B0A-96B2-AE7CD500622C}" type="slidenum">
              <a:rPr lang="en-US" smtClean="0"/>
              <a:pPr/>
              <a:t>‹#›</a:t>
            </a:fld>
            <a:endParaRPr lang="en-US"/>
          </a:p>
        </p:txBody>
      </p:sp>
    </p:spTree>
    <p:extLst>
      <p:ext uri="{BB962C8B-B14F-4D97-AF65-F5344CB8AC3E}">
        <p14:creationId xmlns:p14="http://schemas.microsoft.com/office/powerpoint/2010/main" val="30715163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173753-0440-4F15-B38C-AC9BD5A01E3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1A2196C-6956-40E2-8025-184D03BEC11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C7032DF-F7AB-4631-96F2-69ACE164504E}"/>
              </a:ext>
            </a:extLst>
          </p:cNvPr>
          <p:cNvSpPr>
            <a:spLocks noGrp="1"/>
          </p:cNvSpPr>
          <p:nvPr>
            <p:ph type="dt" sz="half" idx="10"/>
          </p:nvPr>
        </p:nvSpPr>
        <p:spPr/>
        <p:txBody>
          <a:bodyPr/>
          <a:lstStyle/>
          <a:p>
            <a:fld id="{6A82556E-593C-48B2-8C8F-13666BE3F444}" type="datetimeFigureOut">
              <a:rPr lang="en-US" smtClean="0"/>
              <a:pPr/>
              <a:t>15-Apr-26</a:t>
            </a:fld>
            <a:endParaRPr lang="en-US"/>
          </a:p>
        </p:txBody>
      </p:sp>
      <p:sp>
        <p:nvSpPr>
          <p:cNvPr id="5" name="Footer Placeholder 4">
            <a:extLst>
              <a:ext uri="{FF2B5EF4-FFF2-40B4-BE49-F238E27FC236}">
                <a16:creationId xmlns:a16="http://schemas.microsoft.com/office/drawing/2014/main" id="{3C8A73C3-78A9-4F3F-AED9-A5AABA9529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787231D-FCB1-4F04-A0C0-941BB56C2AEF}"/>
              </a:ext>
            </a:extLst>
          </p:cNvPr>
          <p:cNvSpPr>
            <a:spLocks noGrp="1"/>
          </p:cNvSpPr>
          <p:nvPr>
            <p:ph type="sldNum" sz="quarter" idx="12"/>
          </p:nvPr>
        </p:nvSpPr>
        <p:spPr/>
        <p:txBody>
          <a:bodyPr/>
          <a:lstStyle/>
          <a:p>
            <a:fld id="{37BA6162-2D20-4B0A-96B2-AE7CD500622C}" type="slidenum">
              <a:rPr lang="en-US" smtClean="0"/>
              <a:pPr/>
              <a:t>‹#›</a:t>
            </a:fld>
            <a:endParaRPr lang="en-US"/>
          </a:p>
        </p:txBody>
      </p:sp>
    </p:spTree>
    <p:extLst>
      <p:ext uri="{BB962C8B-B14F-4D97-AF65-F5344CB8AC3E}">
        <p14:creationId xmlns:p14="http://schemas.microsoft.com/office/powerpoint/2010/main" val="17143971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790680D-7DEF-4749-845A-38690F6B4B1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96EE8E9-79FF-41DB-8DAE-03F895F259A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5574A64-7BC9-4B99-A352-7D42ACEA3228}"/>
              </a:ext>
            </a:extLst>
          </p:cNvPr>
          <p:cNvSpPr>
            <a:spLocks noGrp="1"/>
          </p:cNvSpPr>
          <p:nvPr>
            <p:ph type="dt" sz="half" idx="10"/>
          </p:nvPr>
        </p:nvSpPr>
        <p:spPr/>
        <p:txBody>
          <a:bodyPr/>
          <a:lstStyle/>
          <a:p>
            <a:fld id="{6A82556E-593C-48B2-8C8F-13666BE3F444}" type="datetimeFigureOut">
              <a:rPr lang="en-US" smtClean="0"/>
              <a:pPr/>
              <a:t>15-Apr-26</a:t>
            </a:fld>
            <a:endParaRPr lang="en-US"/>
          </a:p>
        </p:txBody>
      </p:sp>
      <p:sp>
        <p:nvSpPr>
          <p:cNvPr id="5" name="Footer Placeholder 4">
            <a:extLst>
              <a:ext uri="{FF2B5EF4-FFF2-40B4-BE49-F238E27FC236}">
                <a16:creationId xmlns:a16="http://schemas.microsoft.com/office/drawing/2014/main" id="{E49C2EB3-337F-499B-8083-FD9E21BAF6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12F3A5D-C4B8-4D9C-B9BE-9C94BCA3DAEC}"/>
              </a:ext>
            </a:extLst>
          </p:cNvPr>
          <p:cNvSpPr>
            <a:spLocks noGrp="1"/>
          </p:cNvSpPr>
          <p:nvPr>
            <p:ph type="sldNum" sz="quarter" idx="12"/>
          </p:nvPr>
        </p:nvSpPr>
        <p:spPr/>
        <p:txBody>
          <a:bodyPr/>
          <a:lstStyle/>
          <a:p>
            <a:fld id="{37BA6162-2D20-4B0A-96B2-AE7CD500622C}" type="slidenum">
              <a:rPr lang="en-US" smtClean="0"/>
              <a:pPr/>
              <a:t>‹#›</a:t>
            </a:fld>
            <a:endParaRPr lang="en-US"/>
          </a:p>
        </p:txBody>
      </p:sp>
    </p:spTree>
    <p:extLst>
      <p:ext uri="{BB962C8B-B14F-4D97-AF65-F5344CB8AC3E}">
        <p14:creationId xmlns:p14="http://schemas.microsoft.com/office/powerpoint/2010/main" val="28824863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7035599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D8CE8AA-8556-4E61-A024-298F312A850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12634FA-8772-4E4D-8B8B-4905A934EF2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0CFE9B1-5F5D-4D32-A63C-85273AB9386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A82556E-593C-48B2-8C8F-13666BE3F444}" type="datetimeFigureOut">
              <a:rPr lang="en-US" smtClean="0"/>
              <a:pPr/>
              <a:t>15-Apr-26</a:t>
            </a:fld>
            <a:endParaRPr lang="en-US"/>
          </a:p>
        </p:txBody>
      </p:sp>
      <p:sp>
        <p:nvSpPr>
          <p:cNvPr id="5" name="Footer Placeholder 4">
            <a:extLst>
              <a:ext uri="{FF2B5EF4-FFF2-40B4-BE49-F238E27FC236}">
                <a16:creationId xmlns:a16="http://schemas.microsoft.com/office/drawing/2014/main" id="{325915B0-CCDF-47F4-A464-508185A47D1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431B3B6-9423-4AC6-A3E2-41C0420C72A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7BA6162-2D20-4B0A-96B2-AE7CD500622C}" type="slidenum">
              <a:rPr lang="en-US" smtClean="0"/>
              <a:pPr/>
              <a:t>‹#›</a:t>
            </a:fld>
            <a:endParaRPr lang="en-US"/>
          </a:p>
        </p:txBody>
      </p:sp>
    </p:spTree>
    <p:extLst>
      <p:ext uri="{BB962C8B-B14F-4D97-AF65-F5344CB8AC3E}">
        <p14:creationId xmlns:p14="http://schemas.microsoft.com/office/powerpoint/2010/main" val="33107459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 Id="rId5" Type="http://schemas.openxmlformats.org/officeDocument/2006/relationships/image" Target="../media/image7.emf"/><Relationship Id="rId4" Type="http://schemas.openxmlformats.org/officeDocument/2006/relationships/customXml" Target="../ink/ink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www.geeksforgeeks.org/caesar-cipher/"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pic>
        <p:nvPicPr>
          <p:cNvPr id="464" name="Google Shape;464;p16"/>
          <p:cNvPicPr preferRelativeResize="0"/>
          <p:nvPr/>
        </p:nvPicPr>
        <p:blipFill>
          <a:blip r:embed="rId3">
            <a:extLst>
              <a:ext uri="{28A0092B-C50C-407E-A947-70E740481C1C}">
                <a14:useLocalDpi xmlns:a14="http://schemas.microsoft.com/office/drawing/2010/main" val="0"/>
              </a:ext>
            </a:extLst>
          </a:blip>
          <a:stretch>
            <a:fillRect/>
          </a:stretch>
        </p:blipFill>
        <p:spPr>
          <a:xfrm>
            <a:off x="68540" y="45719"/>
            <a:ext cx="6027459" cy="6623931"/>
          </a:xfrm>
          <a:prstGeom prst="rect">
            <a:avLst/>
          </a:prstGeom>
          <a:noFill/>
          <a:ln>
            <a:noFill/>
          </a:ln>
        </p:spPr>
      </p:pic>
      <p:sp>
        <p:nvSpPr>
          <p:cNvPr id="476" name="Google Shape;476;p16"/>
          <p:cNvSpPr txBox="1"/>
          <p:nvPr/>
        </p:nvSpPr>
        <p:spPr>
          <a:xfrm>
            <a:off x="5394455" y="1933408"/>
            <a:ext cx="6729005" cy="2308284"/>
          </a:xfrm>
          <a:prstGeom prst="rect">
            <a:avLst/>
          </a:prstGeom>
          <a:noFill/>
          <a:ln>
            <a:noFill/>
          </a:ln>
        </p:spPr>
        <p:txBody>
          <a:bodyPr spcFirstLastPara="1" wrap="square" lIns="91425" tIns="45700" rIns="91425" bIns="45700" anchor="t" anchorCtr="0">
            <a:spAutoFit/>
          </a:bodyPr>
          <a:lstStyle/>
          <a:p>
            <a:pPr marR="0" lvl="0" indent="0" algn="ctr">
              <a:spcBef>
                <a:spcPts val="0"/>
              </a:spcBef>
              <a:spcAft>
                <a:spcPts val="0"/>
              </a:spcAft>
              <a:buNone/>
            </a:pPr>
            <a:r>
              <a:rPr lang="en-US" sz="3200" b="1" cap="all" dirty="0">
                <a:ln/>
                <a:solidFill>
                  <a:srgbClr val="C00000"/>
                </a:solidFill>
                <a:cs typeface="Poppins" panose="00000500000000000000" pitchFamily="2" charset="0"/>
                <a:sym typeface="BioRhyme ExtraBold"/>
              </a:rPr>
              <a:t>Network protocols &amp; security</a:t>
            </a:r>
          </a:p>
          <a:p>
            <a:pPr marR="0" lvl="0" indent="0" algn="ctr">
              <a:spcBef>
                <a:spcPts val="0"/>
              </a:spcBef>
              <a:spcAft>
                <a:spcPts val="0"/>
              </a:spcAft>
              <a:buNone/>
            </a:pPr>
            <a:r>
              <a:rPr lang="en-IN" sz="3200" b="1">
                <a:ln/>
                <a:solidFill>
                  <a:srgbClr val="C00000"/>
                </a:solidFill>
                <a:cs typeface="Poppins" panose="00000500000000000000" pitchFamily="2" charset="0"/>
                <a:sym typeface="BioRhyme ExtraBold"/>
              </a:rPr>
              <a:t>24EC2210</a:t>
            </a:r>
            <a:endParaRPr lang="en-US" sz="2000" b="1" dirty="0">
              <a:solidFill>
                <a:schemeClr val="bg1">
                  <a:lumMod val="50000"/>
                </a:schemeClr>
              </a:solidFill>
              <a:ea typeface="BioRhyme ExtraBold"/>
              <a:cs typeface="Poppins" panose="00000500000000000000" pitchFamily="2" charset="0"/>
              <a:sym typeface="BioRhyme ExtraBold"/>
            </a:endParaRPr>
          </a:p>
          <a:p>
            <a:pPr marR="0" lvl="0" indent="0" algn="ctr">
              <a:spcBef>
                <a:spcPts val="0"/>
              </a:spcBef>
              <a:spcAft>
                <a:spcPts val="0"/>
              </a:spcAft>
              <a:buNone/>
            </a:pPr>
            <a:endParaRPr lang="en-US" sz="2000" b="1" dirty="0">
              <a:solidFill>
                <a:schemeClr val="bg1">
                  <a:lumMod val="50000"/>
                </a:schemeClr>
              </a:solidFill>
              <a:ea typeface="BioRhyme ExtraBold"/>
              <a:cs typeface="Poppins" panose="00000500000000000000" pitchFamily="2" charset="0"/>
              <a:sym typeface="BioRhyme ExtraBold"/>
            </a:endParaRPr>
          </a:p>
          <a:p>
            <a:pPr marR="0" lvl="0" indent="0" algn="ctr">
              <a:spcBef>
                <a:spcPts val="0"/>
              </a:spcBef>
              <a:spcAft>
                <a:spcPts val="0"/>
              </a:spcAft>
              <a:buNone/>
            </a:pPr>
            <a:r>
              <a:rPr lang="en-US" sz="2000" b="1" dirty="0">
                <a:solidFill>
                  <a:schemeClr val="bg1">
                    <a:lumMod val="50000"/>
                  </a:schemeClr>
                </a:solidFill>
                <a:ea typeface="BioRhyme ExtraBold"/>
                <a:cs typeface="Poppins" panose="00000500000000000000" pitchFamily="2" charset="0"/>
                <a:sym typeface="BioRhyme ExtraBold"/>
              </a:rPr>
              <a:t>Topic: </a:t>
            </a:r>
          </a:p>
          <a:p>
            <a:pPr marR="0" lvl="0" indent="0" algn="ctr">
              <a:spcBef>
                <a:spcPts val="0"/>
              </a:spcBef>
              <a:spcAft>
                <a:spcPts val="0"/>
              </a:spcAft>
              <a:buNone/>
            </a:pPr>
            <a:r>
              <a:rPr lang="en-US" sz="4000" dirty="0"/>
              <a:t>Substitution Techniques</a:t>
            </a:r>
            <a:endParaRPr lang="en-US" sz="4000" b="1" dirty="0">
              <a:solidFill>
                <a:srgbClr val="C00000"/>
              </a:solidFill>
              <a:effectLst/>
              <a:cs typeface="Poppins" panose="00000500000000000000" pitchFamily="2" charset="0"/>
            </a:endParaRPr>
          </a:p>
        </p:txBody>
      </p:sp>
      <p:sp>
        <p:nvSpPr>
          <p:cNvPr id="8" name="Google Shape;502;p17">
            <a:extLst>
              <a:ext uri="{FF2B5EF4-FFF2-40B4-BE49-F238E27FC236}">
                <a16:creationId xmlns:a16="http://schemas.microsoft.com/office/drawing/2014/main" id="{7153E61F-4441-DBE3-3DFF-6E9EF6C48D23}"/>
              </a:ext>
            </a:extLst>
          </p:cNvPr>
          <p:cNvSpPr/>
          <p:nvPr/>
        </p:nvSpPr>
        <p:spPr>
          <a:xfrm>
            <a:off x="7718646" y="5085005"/>
            <a:ext cx="2235116" cy="453054"/>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ea typeface="Calibri"/>
                <a:cs typeface="Poppins" panose="00000500000000000000" pitchFamily="2" charset="0"/>
                <a:sym typeface="Calibri"/>
              </a:rPr>
              <a:t>Session – 35</a:t>
            </a:r>
            <a:endParaRPr sz="2400" dirty="0">
              <a:solidFill>
                <a:schemeClr val="lt1"/>
              </a:solidFill>
              <a:ea typeface="Calibri"/>
              <a:cs typeface="Poppins" panose="00000500000000000000" pitchFamily="2" charset="0"/>
              <a:sym typeface="Calibri"/>
            </a:endParaRPr>
          </a:p>
        </p:txBody>
      </p:sp>
      <p:sp>
        <p:nvSpPr>
          <p:cNvPr id="33" name="Rectangle 32">
            <a:extLst>
              <a:ext uri="{FF2B5EF4-FFF2-40B4-BE49-F238E27FC236}">
                <a16:creationId xmlns:a16="http://schemas.microsoft.com/office/drawing/2014/main" id="{A2BDCC77-0491-FC57-401C-380586D8ED1D}"/>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38D9C68F-2EE2-5410-B640-4F43BF92A6C1}"/>
              </a:ext>
            </a:extLst>
          </p:cNvPr>
          <p:cNvSpPr/>
          <p:nvPr/>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KL Deemed to be University Logo"/>
          <p:cNvPicPr>
            <a:picLocks noChangeAspect="1" noChangeArrowheads="1"/>
          </p:cNvPicPr>
          <p:nvPr/>
        </p:nvPicPr>
        <p:blipFill>
          <a:blip r:embed="rId4"/>
          <a:srcRect/>
          <a:stretch>
            <a:fillRect/>
          </a:stretch>
        </p:blipFill>
        <p:spPr bwMode="auto">
          <a:xfrm>
            <a:off x="222703" y="81945"/>
            <a:ext cx="2509863" cy="1061599"/>
          </a:xfrm>
          <a:prstGeom prst="rect">
            <a:avLst/>
          </a:prstGeom>
          <a:noFill/>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91D59-8A4F-4514-9181-B745F920C451}"/>
              </a:ext>
            </a:extLst>
          </p:cNvPr>
          <p:cNvSpPr>
            <a:spLocks noGrp="1"/>
          </p:cNvSpPr>
          <p:nvPr>
            <p:ph type="title"/>
          </p:nvPr>
        </p:nvSpPr>
        <p:spPr>
          <a:xfrm>
            <a:off x="838200" y="365125"/>
            <a:ext cx="10515600" cy="5768389"/>
          </a:xfrm>
        </p:spPr>
        <p:txBody>
          <a:bodyPr>
            <a:normAutofit/>
          </a:bodyPr>
          <a:lstStyle/>
          <a:p>
            <a:pPr algn="ctr"/>
            <a:r>
              <a:rPr lang="en-US" sz="5400" b="1" dirty="0"/>
              <a:t>Substitution Ciphers</a:t>
            </a:r>
          </a:p>
        </p:txBody>
      </p:sp>
    </p:spTree>
    <p:extLst>
      <p:ext uri="{BB962C8B-B14F-4D97-AF65-F5344CB8AC3E}">
        <p14:creationId xmlns:p14="http://schemas.microsoft.com/office/powerpoint/2010/main" val="11542575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dirty="0">
                <a:latin typeface="Bookman Old Style" pitchFamily="18" charset="0"/>
              </a:rPr>
              <a:t>Substitution Techniques</a:t>
            </a:r>
            <a:endParaRPr lang="en-IN" dirty="0">
              <a:latin typeface="Bookman Old Style" pitchFamily="18" charset="0"/>
            </a:endParaRPr>
          </a:p>
        </p:txBody>
      </p:sp>
      <p:sp>
        <p:nvSpPr>
          <p:cNvPr id="3" name="Content Placeholder 2"/>
          <p:cNvSpPr>
            <a:spLocks noGrp="1"/>
          </p:cNvSpPr>
          <p:nvPr>
            <p:ph idx="1"/>
          </p:nvPr>
        </p:nvSpPr>
        <p:spPr>
          <a:xfrm>
            <a:off x="387177" y="1825625"/>
            <a:ext cx="11359979" cy="2219153"/>
          </a:xfrm>
        </p:spPr>
        <p:txBody>
          <a:bodyPr/>
          <a:lstStyle/>
          <a:p>
            <a:pPr algn="ctr">
              <a:buNone/>
            </a:pPr>
            <a:r>
              <a:rPr lang="en-US" dirty="0">
                <a:latin typeface="Bookman Old Style" pitchFamily="18" charset="0"/>
              </a:rPr>
              <a:t>	A character of plaintext is replaced by another character</a:t>
            </a:r>
          </a:p>
          <a:p>
            <a:pPr algn="ctr">
              <a:buNone/>
            </a:pPr>
            <a:r>
              <a:rPr lang="en-US" dirty="0">
                <a:latin typeface="Bookman Old Style" pitchFamily="18" charset="0"/>
              </a:rPr>
              <a:t>	or </a:t>
            </a:r>
          </a:p>
          <a:p>
            <a:pPr algn="ctr">
              <a:buNone/>
            </a:pPr>
            <a:r>
              <a:rPr lang="en-US" dirty="0">
                <a:latin typeface="Bookman Old Style" pitchFamily="18" charset="0"/>
              </a:rPr>
              <a:t>	A sequence of bits of plain text is replaced by another sequence of bits.</a:t>
            </a:r>
          </a:p>
          <a:p>
            <a:pPr algn="ctr"/>
            <a:endParaRPr lang="en-US" dirty="0"/>
          </a:p>
        </p:txBody>
      </p:sp>
      <p:sp>
        <p:nvSpPr>
          <p:cNvPr id="5" name="Slide Number Placeholder 4"/>
          <p:cNvSpPr>
            <a:spLocks noGrp="1"/>
          </p:cNvSpPr>
          <p:nvPr>
            <p:ph type="sldNum" sz="quarter" idx="12"/>
          </p:nvPr>
        </p:nvSpPr>
        <p:spPr/>
        <p:txBody>
          <a:bodyPr/>
          <a:lstStyle/>
          <a:p>
            <a:fld id="{68187FF5-4BF9-4B21-B0D2-9B7FF2B27D7F}" type="slidenum">
              <a:rPr lang="en-AU" smtClean="0"/>
              <a:pPr/>
              <a:t>3</a:t>
            </a:fld>
            <a:endParaRPr lang="en-AU"/>
          </a:p>
        </p:txBody>
      </p:sp>
    </p:spTree>
    <p:extLst>
      <p:ext uri="{BB962C8B-B14F-4D97-AF65-F5344CB8AC3E}">
        <p14:creationId xmlns:p14="http://schemas.microsoft.com/office/powerpoint/2010/main" val="29285970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dirty="0">
                <a:latin typeface="Bookman Old Style" pitchFamily="18" charset="0"/>
                <a:cs typeface="Arial" panose="020B0604020202020204" pitchFamily="34" charset="0"/>
              </a:rPr>
              <a:t>Caesar Cipher</a:t>
            </a:r>
            <a:endParaRPr lang="en-US" dirty="0">
              <a:latin typeface="Bookman Old Style" pitchFamily="18" charset="0"/>
            </a:endParaRPr>
          </a:p>
        </p:txBody>
      </p:sp>
      <p:sp>
        <p:nvSpPr>
          <p:cNvPr id="3" name="Content Placeholder 2"/>
          <p:cNvSpPr>
            <a:spLocks noGrp="1"/>
          </p:cNvSpPr>
          <p:nvPr>
            <p:ph idx="1"/>
          </p:nvPr>
        </p:nvSpPr>
        <p:spPr/>
        <p:txBody>
          <a:bodyPr>
            <a:normAutofit fontScale="92500" lnSpcReduction="20000"/>
          </a:bodyPr>
          <a:lstStyle/>
          <a:p>
            <a:r>
              <a:rPr lang="en-AU" dirty="0">
                <a:latin typeface="Bookman Old Style" pitchFamily="18" charset="0"/>
                <a:cs typeface="Arial" panose="020B0604020202020204" pitchFamily="34" charset="0"/>
              </a:rPr>
              <a:t>It replaces each letter by next 3rd letter </a:t>
            </a:r>
          </a:p>
          <a:p>
            <a:pPr>
              <a:buNone/>
            </a:pPr>
            <a:r>
              <a:rPr lang="en-US" dirty="0">
                <a:latin typeface="Bookman Old Style" pitchFamily="18" charset="0"/>
                <a:cs typeface="Arial" panose="020B0604020202020204" pitchFamily="34" charset="0"/>
              </a:rPr>
              <a:t>	example: </a:t>
            </a:r>
            <a:r>
              <a:rPr lang="en-AU" dirty="0">
                <a:latin typeface="Bookman Old Style" pitchFamily="18" charset="0"/>
                <a:cs typeface="Arial" panose="020B0604020202020204" pitchFamily="34" charset="0"/>
              </a:rPr>
              <a:t>meet    me after     the    toga    party</a:t>
            </a:r>
          </a:p>
          <a:p>
            <a:pPr>
              <a:buNone/>
            </a:pPr>
            <a:r>
              <a:rPr lang="en-AU" dirty="0">
                <a:latin typeface="Bookman Old Style" pitchFamily="18" charset="0"/>
                <a:cs typeface="Arial" panose="020B0604020202020204" pitchFamily="34" charset="0"/>
              </a:rPr>
              <a:t>                 PHHW PH DIWHU WKH WRJD SDUWB</a:t>
            </a:r>
          </a:p>
          <a:p>
            <a:r>
              <a:rPr lang="en-US" dirty="0">
                <a:latin typeface="Bookman Old Style" pitchFamily="18" charset="0"/>
                <a:cs typeface="Arial" panose="020B0604020202020204" pitchFamily="34" charset="0"/>
              </a:rPr>
              <a:t>Can define transformation as:</a:t>
            </a:r>
          </a:p>
          <a:p>
            <a:pPr>
              <a:buNone/>
            </a:pPr>
            <a:r>
              <a:rPr lang="en-AU" sz="1800" dirty="0">
                <a:latin typeface="Bookman Old Style" pitchFamily="18" charset="0"/>
                <a:cs typeface="Arial" panose="020B0604020202020204" pitchFamily="34" charset="0"/>
              </a:rPr>
              <a:t>	plain:   a  b c d  e  f g h </a:t>
            </a:r>
            <a:r>
              <a:rPr lang="en-AU" sz="1800" dirty="0" err="1">
                <a:latin typeface="Bookman Old Style" pitchFamily="18" charset="0"/>
                <a:cs typeface="Arial" panose="020B0604020202020204" pitchFamily="34" charset="0"/>
              </a:rPr>
              <a:t>i</a:t>
            </a:r>
            <a:r>
              <a:rPr lang="en-AU" sz="1800" dirty="0">
                <a:latin typeface="Bookman Old Style" pitchFamily="18" charset="0"/>
                <a:cs typeface="Arial" panose="020B0604020202020204" pitchFamily="34" charset="0"/>
              </a:rPr>
              <a:t>  j   k  l  m n o  p q r  s  t  u  v w x y  z = IN</a:t>
            </a:r>
          </a:p>
          <a:p>
            <a:pPr>
              <a:buNone/>
            </a:pPr>
            <a:r>
              <a:rPr lang="en-AU" sz="1800" dirty="0">
                <a:latin typeface="Bookman Old Style" pitchFamily="18" charset="0"/>
                <a:cs typeface="Arial" panose="020B0604020202020204" pitchFamily="34" charset="0"/>
              </a:rPr>
              <a:t>	cipher :D E F G H I J K L M N O P  Q R S T U V W X Y Z A B C = OUT</a:t>
            </a:r>
          </a:p>
          <a:p>
            <a:pPr>
              <a:buNone/>
            </a:pPr>
            <a:endParaRPr lang="en-AU" sz="1800" dirty="0">
              <a:latin typeface="Bookman Old Style" pitchFamily="18" charset="0"/>
              <a:cs typeface="Arial" panose="020B0604020202020204" pitchFamily="34" charset="0"/>
            </a:endParaRPr>
          </a:p>
          <a:p>
            <a:r>
              <a:rPr lang="en-US" dirty="0">
                <a:latin typeface="Bookman Old Style" pitchFamily="18" charset="0"/>
                <a:cs typeface="Arial" panose="020B0604020202020204" pitchFamily="34" charset="0"/>
              </a:rPr>
              <a:t>If </a:t>
            </a:r>
            <a:r>
              <a:rPr lang="en-AU" dirty="0">
                <a:latin typeface="Bookman Old Style" pitchFamily="18" charset="0"/>
                <a:cs typeface="Arial" panose="020B0604020202020204" pitchFamily="34" charset="0"/>
              </a:rPr>
              <a:t>a=0, b=1, … z =25, then </a:t>
            </a:r>
            <a:r>
              <a:rPr lang="en-US" dirty="0">
                <a:latin typeface="Bookman Old Style" pitchFamily="18" charset="0"/>
              </a:rPr>
              <a:t>for each plaintext letter P</a:t>
            </a:r>
            <a:r>
              <a:rPr lang="en-US" i="1" dirty="0">
                <a:latin typeface="Bookman Old Style" pitchFamily="18" charset="0"/>
              </a:rPr>
              <a:t>, </a:t>
            </a:r>
            <a:r>
              <a:rPr lang="en-US" dirty="0">
                <a:latin typeface="Bookman Old Style" pitchFamily="18" charset="0"/>
              </a:rPr>
              <a:t>substitute the ciphertext letter </a:t>
            </a:r>
            <a:r>
              <a:rPr lang="en-US" i="1" dirty="0">
                <a:latin typeface="Bookman Old Style" pitchFamily="18" charset="0"/>
              </a:rPr>
              <a:t>C,</a:t>
            </a:r>
            <a:endParaRPr lang="en-AU" dirty="0">
              <a:latin typeface="Bookman Old Style" pitchFamily="18" charset="0"/>
              <a:cs typeface="Arial" panose="020B0604020202020204" pitchFamily="34" charset="0"/>
            </a:endParaRPr>
          </a:p>
          <a:p>
            <a:pPr lvl="1">
              <a:spcBef>
                <a:spcPts val="700"/>
              </a:spcBef>
              <a:buSzPct val="50000"/>
              <a:buNone/>
              <a:defRPr/>
            </a:pPr>
            <a:r>
              <a:rPr lang="en-AU" i="1" dirty="0">
                <a:latin typeface="Bookman Old Style" pitchFamily="18" charset="0"/>
                <a:cs typeface="Arial" panose="020B0604020202020204" pitchFamily="34" charset="0"/>
              </a:rPr>
              <a:t>	</a:t>
            </a:r>
            <a:r>
              <a:rPr lang="en-US" i="1" dirty="0">
                <a:latin typeface="Bookman Old Style" pitchFamily="18" charset="0"/>
              </a:rPr>
              <a:t> C</a:t>
            </a:r>
            <a:r>
              <a:rPr lang="en-AU" i="1" dirty="0">
                <a:latin typeface="Bookman Old Style" pitchFamily="18" charset="0"/>
                <a:cs typeface="Arial" panose="020B0604020202020204" pitchFamily="34" charset="0"/>
              </a:rPr>
              <a:t> </a:t>
            </a:r>
            <a:r>
              <a:rPr lang="en-AU" dirty="0">
                <a:latin typeface="Bookman Old Style" pitchFamily="18" charset="0"/>
                <a:cs typeface="Arial" panose="020B0604020202020204" pitchFamily="34" charset="0"/>
              </a:rPr>
              <a:t>= E(k, </a:t>
            </a:r>
            <a:r>
              <a:rPr lang="en-AU" i="1" dirty="0">
                <a:latin typeface="Bookman Old Style" pitchFamily="18" charset="0"/>
                <a:cs typeface="Arial" panose="020B0604020202020204" pitchFamily="34" charset="0"/>
              </a:rPr>
              <a:t>p</a:t>
            </a:r>
            <a:r>
              <a:rPr lang="en-AU" dirty="0">
                <a:latin typeface="Bookman Old Style" pitchFamily="18" charset="0"/>
                <a:cs typeface="Arial" panose="020B0604020202020204" pitchFamily="34" charset="0"/>
              </a:rPr>
              <a:t>) = (</a:t>
            </a:r>
            <a:r>
              <a:rPr lang="en-AU" i="1" dirty="0">
                <a:latin typeface="Bookman Old Style" pitchFamily="18" charset="0"/>
                <a:cs typeface="Arial" panose="020B0604020202020204" pitchFamily="34" charset="0"/>
              </a:rPr>
              <a:t>p </a:t>
            </a:r>
            <a:r>
              <a:rPr lang="en-AU" dirty="0">
                <a:latin typeface="Bookman Old Style" pitchFamily="18" charset="0"/>
                <a:cs typeface="Arial" panose="020B0604020202020204" pitchFamily="34" charset="0"/>
              </a:rPr>
              <a:t>+ </a:t>
            </a:r>
            <a:r>
              <a:rPr lang="en-AU" i="1" dirty="0">
                <a:latin typeface="Bookman Old Style" pitchFamily="18" charset="0"/>
                <a:cs typeface="Arial" panose="020B0604020202020204" pitchFamily="34" charset="0"/>
              </a:rPr>
              <a:t>k</a:t>
            </a:r>
            <a:r>
              <a:rPr lang="en-AU" dirty="0">
                <a:latin typeface="Bookman Old Style" pitchFamily="18" charset="0"/>
                <a:cs typeface="Arial" panose="020B0604020202020204" pitchFamily="34" charset="0"/>
              </a:rPr>
              <a:t>) mod (26) for Encryption</a:t>
            </a:r>
          </a:p>
          <a:p>
            <a:pPr lvl="1">
              <a:spcBef>
                <a:spcPts val="700"/>
              </a:spcBef>
              <a:buSzPct val="50000"/>
              <a:buNone/>
              <a:defRPr/>
            </a:pPr>
            <a:r>
              <a:rPr lang="en-AU" i="1" dirty="0">
                <a:latin typeface="Bookman Old Style" pitchFamily="18" charset="0"/>
                <a:cs typeface="Arial" panose="020B0604020202020204" pitchFamily="34" charset="0"/>
              </a:rPr>
              <a:t>	</a:t>
            </a:r>
            <a:r>
              <a:rPr lang="en-US" dirty="0">
                <a:latin typeface="Bookman Old Style" pitchFamily="18" charset="0"/>
              </a:rPr>
              <a:t> p</a:t>
            </a:r>
            <a:r>
              <a:rPr lang="en-AU" i="1" dirty="0">
                <a:latin typeface="Bookman Old Style" pitchFamily="18" charset="0"/>
                <a:cs typeface="Arial" panose="020B0604020202020204" pitchFamily="34" charset="0"/>
              </a:rPr>
              <a:t> </a:t>
            </a:r>
            <a:r>
              <a:rPr lang="en-AU" dirty="0">
                <a:latin typeface="Bookman Old Style" pitchFamily="18" charset="0"/>
                <a:cs typeface="Arial" panose="020B0604020202020204" pitchFamily="34" charset="0"/>
              </a:rPr>
              <a:t>= D(k, </a:t>
            </a:r>
            <a:r>
              <a:rPr lang="en-US" i="1" dirty="0">
                <a:latin typeface="Bookman Old Style" pitchFamily="18" charset="0"/>
              </a:rPr>
              <a:t>C</a:t>
            </a:r>
            <a:r>
              <a:rPr lang="en-AU" dirty="0">
                <a:latin typeface="Bookman Old Style" pitchFamily="18" charset="0"/>
                <a:cs typeface="Arial" panose="020B0604020202020204" pitchFamily="34" charset="0"/>
              </a:rPr>
              <a:t>) = (</a:t>
            </a:r>
            <a:r>
              <a:rPr lang="en-US" i="1" dirty="0">
                <a:latin typeface="Bookman Old Style" pitchFamily="18" charset="0"/>
              </a:rPr>
              <a:t>C</a:t>
            </a:r>
            <a:r>
              <a:rPr lang="en-AU" dirty="0">
                <a:latin typeface="Bookman Old Style" pitchFamily="18" charset="0"/>
                <a:cs typeface="Arial" panose="020B0604020202020204" pitchFamily="34" charset="0"/>
              </a:rPr>
              <a:t> – </a:t>
            </a:r>
            <a:r>
              <a:rPr lang="en-AU" i="1" dirty="0">
                <a:latin typeface="Bookman Old Style" pitchFamily="18" charset="0"/>
                <a:cs typeface="Arial" panose="020B0604020202020204" pitchFamily="34" charset="0"/>
              </a:rPr>
              <a:t>k</a:t>
            </a:r>
            <a:r>
              <a:rPr lang="en-AU" dirty="0">
                <a:latin typeface="Bookman Old Style" pitchFamily="18" charset="0"/>
                <a:cs typeface="Arial" panose="020B0604020202020204" pitchFamily="34" charset="0"/>
              </a:rPr>
              <a:t>) mod (26) for Decryption</a:t>
            </a:r>
          </a:p>
          <a:p>
            <a:pPr lvl="1">
              <a:spcBef>
                <a:spcPts val="700"/>
              </a:spcBef>
              <a:buSzPct val="50000"/>
              <a:buNone/>
              <a:defRPr/>
            </a:pPr>
            <a:r>
              <a:rPr lang="en-US" dirty="0">
                <a:latin typeface="Bookman Old Style" pitchFamily="18" charset="0"/>
              </a:rPr>
              <a:t>where </a:t>
            </a:r>
            <a:r>
              <a:rPr lang="en-US" i="1" dirty="0">
                <a:latin typeface="Bookman Old Style" pitchFamily="18" charset="0"/>
              </a:rPr>
              <a:t>k takes on a value in the range 1 to 25.</a:t>
            </a:r>
            <a:endParaRPr lang="en-US" dirty="0">
              <a:latin typeface="Bookman Old Style" pitchFamily="18" charset="0"/>
            </a:endParaRPr>
          </a:p>
        </p:txBody>
      </p:sp>
      <p:sp>
        <p:nvSpPr>
          <p:cNvPr id="5" name="Slide Number Placeholder 4"/>
          <p:cNvSpPr>
            <a:spLocks noGrp="1"/>
          </p:cNvSpPr>
          <p:nvPr>
            <p:ph type="sldNum" sz="quarter" idx="12"/>
          </p:nvPr>
        </p:nvSpPr>
        <p:spPr/>
        <p:txBody>
          <a:bodyPr/>
          <a:lstStyle/>
          <a:p>
            <a:fld id="{68187FF5-4BF9-4B21-B0D2-9B7FF2B27D7F}" type="slidenum">
              <a:rPr lang="en-AU" smtClean="0"/>
              <a:pPr/>
              <a:t>4</a:t>
            </a:fld>
            <a:endParaRPr lang="en-AU"/>
          </a:p>
        </p:txBody>
      </p:sp>
    </p:spTree>
    <p:extLst>
      <p:ext uri="{BB962C8B-B14F-4D97-AF65-F5344CB8AC3E}">
        <p14:creationId xmlns:p14="http://schemas.microsoft.com/office/powerpoint/2010/main" val="4829217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D05D22-AC79-4A59-A4D4-FB178DEB1CA3}"/>
              </a:ext>
            </a:extLst>
          </p:cNvPr>
          <p:cNvSpPr>
            <a:spLocks noGrp="1"/>
          </p:cNvSpPr>
          <p:nvPr>
            <p:ph type="title"/>
          </p:nvPr>
        </p:nvSpPr>
        <p:spPr>
          <a:xfrm>
            <a:off x="464234" y="365126"/>
            <a:ext cx="10889566" cy="605546"/>
          </a:xfrm>
        </p:spPr>
        <p:txBody>
          <a:bodyPr>
            <a:normAutofit fontScale="90000"/>
          </a:bodyPr>
          <a:lstStyle/>
          <a:p>
            <a:r>
              <a:rPr lang="en-US" b="1" dirty="0">
                <a:solidFill>
                  <a:srgbClr val="C00000"/>
                </a:solidFill>
              </a:rPr>
              <a:t>Caesar Cipher</a:t>
            </a:r>
          </a:p>
        </p:txBody>
      </p:sp>
      <p:sp>
        <p:nvSpPr>
          <p:cNvPr id="3" name="Content Placeholder 2">
            <a:extLst>
              <a:ext uri="{FF2B5EF4-FFF2-40B4-BE49-F238E27FC236}">
                <a16:creationId xmlns:a16="http://schemas.microsoft.com/office/drawing/2014/main" id="{A9251F9D-7420-453F-BB3B-B479437D5DEA}"/>
              </a:ext>
            </a:extLst>
          </p:cNvPr>
          <p:cNvSpPr>
            <a:spLocks noGrp="1"/>
          </p:cNvSpPr>
          <p:nvPr>
            <p:ph idx="1"/>
          </p:nvPr>
        </p:nvSpPr>
        <p:spPr>
          <a:xfrm>
            <a:off x="464234" y="1036869"/>
            <a:ext cx="11324492" cy="4784261"/>
          </a:xfrm>
        </p:spPr>
        <p:txBody>
          <a:bodyPr>
            <a:normAutofit/>
          </a:bodyPr>
          <a:lstStyle/>
          <a:p>
            <a:r>
              <a:rPr lang="en-US" sz="2000" b="0" i="0" dirty="0">
                <a:solidFill>
                  <a:srgbClr val="2D3748"/>
                </a:solidFill>
                <a:effectLst/>
                <a:latin typeface="Bookman Old Style" panose="02050604050505020204" pitchFamily="18" charset="0"/>
              </a:rPr>
              <a:t>The Caesar cipher includes substituting each letter of the alphabet according to the positions of the key values down the alphabet. </a:t>
            </a:r>
          </a:p>
          <a:p>
            <a:endParaRPr lang="en-US" sz="2000" b="0" i="0" dirty="0">
              <a:solidFill>
                <a:srgbClr val="2D3748"/>
              </a:solidFill>
              <a:effectLst/>
              <a:latin typeface="Bookman Old Style" panose="02050604050505020204" pitchFamily="18" charset="0"/>
            </a:endParaRPr>
          </a:p>
          <a:p>
            <a:r>
              <a:rPr lang="en-US" sz="2000" b="0" i="0" dirty="0">
                <a:solidFill>
                  <a:srgbClr val="2D3748"/>
                </a:solidFill>
                <a:effectLst/>
                <a:latin typeface="Bookman Old Style" panose="02050604050505020204" pitchFamily="18" charset="0"/>
              </a:rPr>
              <a:t>It is also known as </a:t>
            </a:r>
            <a:r>
              <a:rPr lang="en-US" sz="2000" b="0" i="0" dirty="0">
                <a:solidFill>
                  <a:srgbClr val="0070C0"/>
                </a:solidFill>
                <a:effectLst/>
                <a:latin typeface="Bookman Old Style" panose="02050604050505020204" pitchFamily="18" charset="0"/>
              </a:rPr>
              <a:t>additive cipher</a:t>
            </a:r>
            <a:r>
              <a:rPr lang="en-US" sz="2000" b="0" i="0" dirty="0">
                <a:solidFill>
                  <a:srgbClr val="2D3748"/>
                </a:solidFill>
                <a:effectLst/>
                <a:latin typeface="Bookman Old Style" panose="02050604050505020204" pitchFamily="18" charset="0"/>
              </a:rPr>
              <a:t>.</a:t>
            </a:r>
          </a:p>
          <a:p>
            <a:endParaRPr lang="en-US" sz="2000" b="0" i="0" dirty="0">
              <a:solidFill>
                <a:srgbClr val="2D3748"/>
              </a:solidFill>
              <a:effectLst/>
              <a:latin typeface="Bookman Old Style" panose="02050604050505020204" pitchFamily="18" charset="0"/>
            </a:endParaRPr>
          </a:p>
          <a:p>
            <a:pPr marL="0" indent="0">
              <a:buNone/>
            </a:pPr>
            <a:r>
              <a:rPr lang="en-US" sz="2000" b="0" i="0" dirty="0">
                <a:solidFill>
                  <a:srgbClr val="273239"/>
                </a:solidFill>
                <a:effectLst/>
                <a:latin typeface="Bookman Old Style" panose="02050604050505020204" pitchFamily="18" charset="0"/>
              </a:rPr>
              <a:t>For example, with a shift of 1, A would be replaced by B, B would become C, and so on. </a:t>
            </a:r>
          </a:p>
          <a:p>
            <a:endParaRPr lang="en-US" sz="2000" b="0" i="0" dirty="0">
              <a:solidFill>
                <a:srgbClr val="273239"/>
              </a:solidFill>
              <a:effectLst/>
              <a:latin typeface="Bookman Old Style" panose="02050604050505020204" pitchFamily="18" charset="0"/>
            </a:endParaRPr>
          </a:p>
          <a:p>
            <a:endParaRPr lang="en-US" dirty="0"/>
          </a:p>
        </p:txBody>
      </p:sp>
      <p:pic>
        <p:nvPicPr>
          <p:cNvPr id="11" name="Picture 10">
            <a:extLst>
              <a:ext uri="{FF2B5EF4-FFF2-40B4-BE49-F238E27FC236}">
                <a16:creationId xmlns:a16="http://schemas.microsoft.com/office/drawing/2014/main" id="{A01C5E54-860E-4FFD-A7F6-FF4DE4939D88}"/>
              </a:ext>
            </a:extLst>
          </p:cNvPr>
          <p:cNvPicPr>
            <a:picLocks noChangeAspect="1"/>
          </p:cNvPicPr>
          <p:nvPr/>
        </p:nvPicPr>
        <p:blipFill>
          <a:blip r:embed="rId2"/>
          <a:stretch>
            <a:fillRect/>
          </a:stretch>
        </p:blipFill>
        <p:spPr>
          <a:xfrm>
            <a:off x="3913187" y="3734933"/>
            <a:ext cx="4772025" cy="2581275"/>
          </a:xfrm>
          <a:prstGeom prst="rect">
            <a:avLst/>
          </a:prstGeom>
        </p:spPr>
      </p:pic>
    </p:spTree>
    <p:extLst>
      <p:ext uri="{BB962C8B-B14F-4D97-AF65-F5344CB8AC3E}">
        <p14:creationId xmlns:p14="http://schemas.microsoft.com/office/powerpoint/2010/main" val="12441992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AB7609-56BD-4D89-9DFD-878D658D8ADE}"/>
              </a:ext>
            </a:extLst>
          </p:cNvPr>
          <p:cNvSpPr>
            <a:spLocks noGrp="1"/>
          </p:cNvSpPr>
          <p:nvPr>
            <p:ph type="title"/>
          </p:nvPr>
        </p:nvSpPr>
        <p:spPr>
          <a:xfrm>
            <a:off x="533400" y="195944"/>
            <a:ext cx="10515600" cy="478937"/>
          </a:xfrm>
        </p:spPr>
        <p:txBody>
          <a:bodyPr>
            <a:normAutofit fontScale="90000"/>
          </a:bodyPr>
          <a:lstStyle/>
          <a:p>
            <a:r>
              <a:rPr lang="en-US" b="1" dirty="0">
                <a:solidFill>
                  <a:srgbClr val="C00000"/>
                </a:solidFill>
              </a:rPr>
              <a:t>Caesar Cipher…</a:t>
            </a:r>
            <a:endParaRPr lang="en-US" dirty="0"/>
          </a:p>
        </p:txBody>
      </p:sp>
      <p:sp>
        <p:nvSpPr>
          <p:cNvPr id="3" name="Content Placeholder 2">
            <a:extLst>
              <a:ext uri="{FF2B5EF4-FFF2-40B4-BE49-F238E27FC236}">
                <a16:creationId xmlns:a16="http://schemas.microsoft.com/office/drawing/2014/main" id="{92D35E73-9F27-4596-8EB6-78AF1A5A7094}"/>
              </a:ext>
            </a:extLst>
          </p:cNvPr>
          <p:cNvSpPr>
            <a:spLocks noGrp="1"/>
          </p:cNvSpPr>
          <p:nvPr>
            <p:ph idx="1"/>
          </p:nvPr>
        </p:nvSpPr>
        <p:spPr>
          <a:xfrm>
            <a:off x="653143" y="841829"/>
            <a:ext cx="11306628" cy="5820227"/>
          </a:xfrm>
        </p:spPr>
        <p:txBody>
          <a:bodyPr>
            <a:normAutofit fontScale="62500" lnSpcReduction="20000"/>
          </a:bodyPr>
          <a:lstStyle/>
          <a:p>
            <a:pPr marL="0" indent="0">
              <a:buNone/>
            </a:pPr>
            <a:r>
              <a:rPr lang="en-US" sz="3800" b="1" dirty="0">
                <a:solidFill>
                  <a:srgbClr val="273239"/>
                </a:solidFill>
                <a:latin typeface="Bookman Old Style" panose="02050604050505020204" pitchFamily="18" charset="0"/>
              </a:rPr>
              <a:t>Mathematical Representation:</a:t>
            </a:r>
          </a:p>
          <a:p>
            <a:pPr marL="0" indent="0">
              <a:buNone/>
            </a:pPr>
            <a:r>
              <a:rPr lang="en-US" sz="2900" dirty="0">
                <a:solidFill>
                  <a:srgbClr val="273239"/>
                </a:solidFill>
                <a:latin typeface="Bookman Old Style" panose="02050604050505020204" pitchFamily="18" charset="0"/>
              </a:rPr>
              <a:t>Caesar cipher can be represented using modular arithmetic by first transforming the letters into The encryption numbers, according to the scheme, A = 0, B = 1,…, Z = 25.</a:t>
            </a:r>
          </a:p>
          <a:p>
            <a:pPr marL="0" indent="0">
              <a:buNone/>
            </a:pPr>
            <a:endParaRPr lang="en-US" sz="2900" dirty="0">
              <a:solidFill>
                <a:srgbClr val="273239"/>
              </a:solidFill>
              <a:latin typeface="Bookman Old Style" panose="02050604050505020204" pitchFamily="18" charset="0"/>
            </a:endParaRPr>
          </a:p>
          <a:p>
            <a:pPr marL="0" indent="0" algn="just">
              <a:buNone/>
            </a:pPr>
            <a:endParaRPr lang="en-US" sz="2900" b="1" dirty="0">
              <a:solidFill>
                <a:srgbClr val="273239"/>
              </a:solidFill>
              <a:latin typeface="Bookman Old Style" panose="02050604050505020204" pitchFamily="18" charset="0"/>
            </a:endParaRPr>
          </a:p>
          <a:p>
            <a:pPr marL="0" indent="0" algn="just">
              <a:buNone/>
            </a:pPr>
            <a:endParaRPr lang="en-US" sz="2900" b="1" dirty="0">
              <a:solidFill>
                <a:srgbClr val="273239"/>
              </a:solidFill>
              <a:latin typeface="Bookman Old Style" panose="02050604050505020204" pitchFamily="18" charset="0"/>
            </a:endParaRPr>
          </a:p>
          <a:p>
            <a:pPr marL="0" indent="0" algn="just">
              <a:buNone/>
            </a:pPr>
            <a:endParaRPr lang="en-US" sz="2900" dirty="0">
              <a:solidFill>
                <a:srgbClr val="273239"/>
              </a:solidFill>
              <a:latin typeface="Bookman Old Style" panose="02050604050505020204" pitchFamily="18" charset="0"/>
            </a:endParaRPr>
          </a:p>
          <a:p>
            <a:pPr marL="0" indent="0" algn="just">
              <a:buNone/>
            </a:pPr>
            <a:r>
              <a:rPr lang="en-US" sz="2900" dirty="0">
                <a:solidFill>
                  <a:srgbClr val="273239"/>
                </a:solidFill>
                <a:latin typeface="Bookman Old Style" panose="02050604050505020204" pitchFamily="18" charset="0"/>
              </a:rPr>
              <a:t>The formula of encryption is:</a:t>
            </a:r>
          </a:p>
          <a:p>
            <a:pPr marL="0" indent="0" algn="just">
              <a:buNone/>
            </a:pPr>
            <a:r>
              <a:rPr lang="en-US" sz="2900" dirty="0">
                <a:solidFill>
                  <a:srgbClr val="273239"/>
                </a:solidFill>
                <a:latin typeface="Bookman Old Style" panose="02050604050505020204" pitchFamily="18" charset="0"/>
              </a:rPr>
              <a:t>	</a:t>
            </a:r>
            <a:r>
              <a:rPr lang="en-US" sz="2900" b="1" dirty="0" err="1">
                <a:solidFill>
                  <a:srgbClr val="273239"/>
                </a:solidFill>
                <a:latin typeface="Bookman Old Style" panose="02050604050505020204" pitchFamily="18" charset="0"/>
              </a:rPr>
              <a:t>En</a:t>
            </a:r>
            <a:r>
              <a:rPr lang="en-US" sz="2900" b="1" dirty="0">
                <a:solidFill>
                  <a:srgbClr val="273239"/>
                </a:solidFill>
                <a:latin typeface="Bookman Old Style" panose="02050604050505020204" pitchFamily="18" charset="0"/>
              </a:rPr>
              <a:t> (x) = (x + n) mod 26</a:t>
            </a:r>
          </a:p>
          <a:p>
            <a:pPr marL="0" indent="0" algn="just">
              <a:buNone/>
            </a:pPr>
            <a:r>
              <a:rPr lang="en-US" sz="2900" dirty="0">
                <a:solidFill>
                  <a:srgbClr val="273239"/>
                </a:solidFill>
                <a:latin typeface="Bookman Old Style" panose="02050604050505020204" pitchFamily="18" charset="0"/>
              </a:rPr>
              <a:t>The formula of decryption is:</a:t>
            </a:r>
          </a:p>
          <a:p>
            <a:pPr marL="0" indent="0" algn="just">
              <a:buNone/>
            </a:pPr>
            <a:r>
              <a:rPr lang="en-US" sz="2900" dirty="0">
                <a:solidFill>
                  <a:srgbClr val="273239"/>
                </a:solidFill>
                <a:latin typeface="Bookman Old Style" panose="02050604050505020204" pitchFamily="18" charset="0"/>
              </a:rPr>
              <a:t>	</a:t>
            </a:r>
            <a:r>
              <a:rPr lang="en-US" sz="2900" b="1" dirty="0" err="1">
                <a:solidFill>
                  <a:srgbClr val="273239"/>
                </a:solidFill>
                <a:latin typeface="Bookman Old Style" panose="02050604050505020204" pitchFamily="18" charset="0"/>
              </a:rPr>
              <a:t>Dn</a:t>
            </a:r>
            <a:r>
              <a:rPr lang="en-US" sz="2900" b="1" dirty="0">
                <a:solidFill>
                  <a:srgbClr val="273239"/>
                </a:solidFill>
                <a:latin typeface="Bookman Old Style" panose="02050604050505020204" pitchFamily="18" charset="0"/>
              </a:rPr>
              <a:t> (x) = (xi - n) mod 26</a:t>
            </a:r>
          </a:p>
          <a:p>
            <a:pPr marL="0" indent="0" algn="just">
              <a:buNone/>
            </a:pPr>
            <a:endParaRPr lang="en-US" sz="2900" dirty="0">
              <a:solidFill>
                <a:srgbClr val="273239"/>
              </a:solidFill>
              <a:latin typeface="Bookman Old Style" panose="02050604050505020204" pitchFamily="18" charset="0"/>
            </a:endParaRPr>
          </a:p>
          <a:p>
            <a:pPr marL="0" indent="0" algn="just">
              <a:buNone/>
            </a:pPr>
            <a:r>
              <a:rPr lang="en-US" sz="2900" dirty="0">
                <a:solidFill>
                  <a:srgbClr val="273239"/>
                </a:solidFill>
                <a:latin typeface="Bookman Old Style" panose="02050604050505020204" pitchFamily="18" charset="0"/>
              </a:rPr>
              <a:t>Where,</a:t>
            </a:r>
          </a:p>
          <a:p>
            <a:pPr marL="0" indent="0">
              <a:buNone/>
            </a:pPr>
            <a:r>
              <a:rPr lang="en-US" sz="2900" dirty="0">
                <a:solidFill>
                  <a:srgbClr val="273239"/>
                </a:solidFill>
                <a:latin typeface="Bookman Old Style" panose="02050604050505020204" pitchFamily="18" charset="0"/>
              </a:rPr>
              <a:t>	</a:t>
            </a:r>
            <a:r>
              <a:rPr lang="en-US" sz="2900" b="1" dirty="0">
                <a:solidFill>
                  <a:srgbClr val="273239"/>
                </a:solidFill>
                <a:latin typeface="Bookman Old Style" panose="02050604050505020204" pitchFamily="18" charset="0"/>
              </a:rPr>
              <a:t>E</a:t>
            </a:r>
            <a:r>
              <a:rPr lang="en-US" sz="2900" dirty="0">
                <a:solidFill>
                  <a:srgbClr val="273239"/>
                </a:solidFill>
                <a:latin typeface="Bookman Old Style" panose="02050604050505020204" pitchFamily="18" charset="0"/>
              </a:rPr>
              <a:t> denotes the encryption</a:t>
            </a:r>
            <a:br>
              <a:rPr lang="en-US" sz="2900" dirty="0">
                <a:solidFill>
                  <a:srgbClr val="273239"/>
                </a:solidFill>
                <a:latin typeface="Bookman Old Style" panose="02050604050505020204" pitchFamily="18" charset="0"/>
              </a:rPr>
            </a:br>
            <a:r>
              <a:rPr lang="en-US" sz="2900" dirty="0">
                <a:solidFill>
                  <a:srgbClr val="273239"/>
                </a:solidFill>
                <a:latin typeface="Bookman Old Style" panose="02050604050505020204" pitchFamily="18" charset="0"/>
              </a:rPr>
              <a:t>	</a:t>
            </a:r>
            <a:r>
              <a:rPr lang="en-US" sz="2900" b="1" dirty="0">
                <a:solidFill>
                  <a:srgbClr val="273239"/>
                </a:solidFill>
                <a:latin typeface="Bookman Old Style" panose="02050604050505020204" pitchFamily="18" charset="0"/>
              </a:rPr>
              <a:t>D</a:t>
            </a:r>
            <a:r>
              <a:rPr lang="en-US" sz="2900" dirty="0">
                <a:solidFill>
                  <a:srgbClr val="273239"/>
                </a:solidFill>
                <a:latin typeface="Bookman Old Style" panose="02050604050505020204" pitchFamily="18" charset="0"/>
              </a:rPr>
              <a:t> denotes the decryption</a:t>
            </a:r>
            <a:br>
              <a:rPr lang="en-US" sz="2900" dirty="0">
                <a:solidFill>
                  <a:srgbClr val="273239"/>
                </a:solidFill>
                <a:latin typeface="Bookman Old Style" panose="02050604050505020204" pitchFamily="18" charset="0"/>
              </a:rPr>
            </a:br>
            <a:r>
              <a:rPr lang="en-US" sz="2900" dirty="0">
                <a:solidFill>
                  <a:srgbClr val="273239"/>
                </a:solidFill>
                <a:latin typeface="Bookman Old Style" panose="02050604050505020204" pitchFamily="18" charset="0"/>
              </a:rPr>
              <a:t>	</a:t>
            </a:r>
            <a:r>
              <a:rPr lang="en-US" sz="2900" b="1" dirty="0">
                <a:solidFill>
                  <a:srgbClr val="273239"/>
                </a:solidFill>
                <a:latin typeface="Bookman Old Style" panose="02050604050505020204" pitchFamily="18" charset="0"/>
              </a:rPr>
              <a:t>x</a:t>
            </a:r>
            <a:r>
              <a:rPr lang="en-US" sz="2900" dirty="0">
                <a:solidFill>
                  <a:srgbClr val="273239"/>
                </a:solidFill>
                <a:latin typeface="Bookman Old Style" panose="02050604050505020204" pitchFamily="18" charset="0"/>
              </a:rPr>
              <a:t> denotes the letters value</a:t>
            </a:r>
            <a:br>
              <a:rPr lang="en-US" sz="2900" dirty="0">
                <a:solidFill>
                  <a:srgbClr val="273239"/>
                </a:solidFill>
                <a:latin typeface="Bookman Old Style" panose="02050604050505020204" pitchFamily="18" charset="0"/>
              </a:rPr>
            </a:br>
            <a:r>
              <a:rPr lang="en-US" sz="2900" dirty="0">
                <a:solidFill>
                  <a:srgbClr val="273239"/>
                </a:solidFill>
                <a:latin typeface="Bookman Old Style" panose="02050604050505020204" pitchFamily="18" charset="0"/>
              </a:rPr>
              <a:t>	</a:t>
            </a:r>
            <a:r>
              <a:rPr lang="en-US" sz="2900" b="1" dirty="0">
                <a:solidFill>
                  <a:srgbClr val="273239"/>
                </a:solidFill>
                <a:latin typeface="Bookman Old Style" panose="02050604050505020204" pitchFamily="18" charset="0"/>
              </a:rPr>
              <a:t>n</a:t>
            </a:r>
            <a:r>
              <a:rPr lang="en-US" sz="2900" dirty="0">
                <a:solidFill>
                  <a:srgbClr val="273239"/>
                </a:solidFill>
                <a:latin typeface="Bookman Old Style" panose="02050604050505020204" pitchFamily="18" charset="0"/>
              </a:rPr>
              <a:t> denotes the key value (shift value)</a:t>
            </a:r>
          </a:p>
          <a:p>
            <a:pPr marL="0" indent="0">
              <a:buNone/>
            </a:pPr>
            <a:endParaRPr lang="en-US" sz="2900" dirty="0">
              <a:solidFill>
                <a:srgbClr val="273239"/>
              </a:solidFill>
              <a:latin typeface="Bookman Old Style" panose="02050604050505020204" pitchFamily="18" charset="0"/>
            </a:endParaRPr>
          </a:p>
          <a:p>
            <a:pPr marL="0" indent="0">
              <a:buNone/>
            </a:pPr>
            <a:r>
              <a:rPr lang="en-US" sz="2900" dirty="0">
                <a:solidFill>
                  <a:srgbClr val="FF0000"/>
                </a:solidFill>
                <a:latin typeface="Bookman Old Style" panose="02050604050505020204" pitchFamily="18" charset="0"/>
              </a:rPr>
              <a:t>Note: If any case (</a:t>
            </a:r>
            <a:r>
              <a:rPr lang="en-US" sz="2900" dirty="0" err="1">
                <a:solidFill>
                  <a:srgbClr val="FF0000"/>
                </a:solidFill>
                <a:latin typeface="Bookman Old Style" panose="02050604050505020204" pitchFamily="18" charset="0"/>
              </a:rPr>
              <a:t>Dn</a:t>
            </a:r>
            <a:r>
              <a:rPr lang="en-US" sz="2900" dirty="0">
                <a:solidFill>
                  <a:srgbClr val="FF0000"/>
                </a:solidFill>
                <a:latin typeface="Bookman Old Style" panose="02050604050505020204" pitchFamily="18" charset="0"/>
              </a:rPr>
              <a:t>) value becomes negative (-</a:t>
            </a:r>
            <a:r>
              <a:rPr lang="en-US" sz="2900" dirty="0" err="1">
                <a:solidFill>
                  <a:srgbClr val="FF0000"/>
                </a:solidFill>
                <a:latin typeface="Bookman Old Style" panose="02050604050505020204" pitchFamily="18" charset="0"/>
              </a:rPr>
              <a:t>ve</a:t>
            </a:r>
            <a:r>
              <a:rPr lang="en-US" sz="2900" dirty="0">
                <a:solidFill>
                  <a:srgbClr val="FF0000"/>
                </a:solidFill>
                <a:latin typeface="Bookman Old Style" panose="02050604050505020204" pitchFamily="18" charset="0"/>
              </a:rPr>
              <a:t>), in this case, we will add 26 in the negative value.</a:t>
            </a:r>
          </a:p>
          <a:p>
            <a:pPr marL="0" indent="0">
              <a:buNone/>
            </a:pPr>
            <a:endParaRPr lang="en-US" sz="2900" dirty="0">
              <a:solidFill>
                <a:srgbClr val="273239"/>
              </a:solidFill>
              <a:latin typeface="Bookman Old Style" panose="02050604050505020204" pitchFamily="18" charset="0"/>
            </a:endParaRPr>
          </a:p>
        </p:txBody>
      </p:sp>
      <p:pic>
        <p:nvPicPr>
          <p:cNvPr id="5" name="Picture 4">
            <a:extLst>
              <a:ext uri="{FF2B5EF4-FFF2-40B4-BE49-F238E27FC236}">
                <a16:creationId xmlns:a16="http://schemas.microsoft.com/office/drawing/2014/main" id="{C5ADBF1F-8BD7-45FF-924F-AFB6015AD903}"/>
              </a:ext>
            </a:extLst>
          </p:cNvPr>
          <p:cNvPicPr>
            <a:picLocks noChangeAspect="1"/>
          </p:cNvPicPr>
          <p:nvPr/>
        </p:nvPicPr>
        <p:blipFill>
          <a:blip r:embed="rId2"/>
          <a:stretch>
            <a:fillRect/>
          </a:stretch>
        </p:blipFill>
        <p:spPr>
          <a:xfrm>
            <a:off x="2052183" y="1858054"/>
            <a:ext cx="8369074" cy="971515"/>
          </a:xfrm>
          <a:prstGeom prst="rect">
            <a:avLst/>
          </a:prstGeom>
        </p:spPr>
      </p:pic>
    </p:spTree>
    <p:extLst>
      <p:ext uri="{BB962C8B-B14F-4D97-AF65-F5344CB8AC3E}">
        <p14:creationId xmlns:p14="http://schemas.microsoft.com/office/powerpoint/2010/main" val="41816788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latin typeface="Bookman Old Style" pitchFamily="18" charset="0"/>
                <a:cs typeface="Arial" panose="020B0604020202020204" pitchFamily="34" charset="0"/>
              </a:rPr>
              <a:t>Brute-Force Cryptanalysis of Caesar Cipher </a:t>
            </a:r>
            <a:endParaRPr lang="en-US" sz="3600" dirty="0"/>
          </a:p>
        </p:txBody>
      </p:sp>
      <p:sp>
        <p:nvSpPr>
          <p:cNvPr id="6" name="Slide Number Placeholder 5"/>
          <p:cNvSpPr>
            <a:spLocks noGrp="1"/>
          </p:cNvSpPr>
          <p:nvPr>
            <p:ph type="sldNum" sz="quarter" idx="12"/>
          </p:nvPr>
        </p:nvSpPr>
        <p:spPr/>
        <p:txBody>
          <a:bodyPr/>
          <a:lstStyle/>
          <a:p>
            <a:fld id="{68187FF5-4BF9-4B21-B0D2-9B7FF2B27D7F}" type="slidenum">
              <a:rPr lang="en-AU" smtClean="0"/>
              <a:pPr/>
              <a:t>7</a:t>
            </a:fld>
            <a:endParaRPr lang="en-AU"/>
          </a:p>
        </p:txBody>
      </p:sp>
      <p:pic>
        <p:nvPicPr>
          <p:cNvPr id="7" name="Content Placeholder 5"/>
          <p:cNvPicPr>
            <a:picLocks noGrp="1" noChangeAspect="1" noChangeArrowheads="1"/>
          </p:cNvPicPr>
          <p:nvPr>
            <p:ph sz="half" idx="1"/>
          </p:nvPr>
        </p:nvPicPr>
        <p:blipFill>
          <a:blip r:embed="rId2" cstate="print"/>
          <a:srcRect/>
          <a:stretch>
            <a:fillRect/>
          </a:stretch>
        </p:blipFill>
        <p:spPr bwMode="auto">
          <a:xfrm>
            <a:off x="838200" y="1802674"/>
            <a:ext cx="5181600" cy="3840480"/>
          </a:xfrm>
          <a:prstGeom prst="rect">
            <a:avLst/>
          </a:prstGeom>
          <a:noFill/>
          <a:ln w="9525">
            <a:noFill/>
            <a:miter lim="800000"/>
            <a:headEnd/>
            <a:tailEnd/>
          </a:ln>
        </p:spPr>
      </p:pic>
      <p:pic>
        <p:nvPicPr>
          <p:cNvPr id="8" name="Picture 2"/>
          <p:cNvPicPr>
            <a:picLocks noGrp="1" noChangeAspect="1" noChangeArrowheads="1"/>
          </p:cNvPicPr>
          <p:nvPr>
            <p:ph sz="half" idx="2"/>
          </p:nvPr>
        </p:nvPicPr>
        <p:blipFill>
          <a:blip r:embed="rId3" cstate="print"/>
          <a:srcRect/>
          <a:stretch>
            <a:fillRect/>
          </a:stretch>
        </p:blipFill>
        <p:spPr bwMode="auto">
          <a:xfrm>
            <a:off x="6172200" y="1776549"/>
            <a:ext cx="5181600" cy="3892731"/>
          </a:xfrm>
          <a:prstGeom prst="rect">
            <a:avLst/>
          </a:prstGeom>
          <a:noFill/>
          <a:ln w="9525">
            <a:noFill/>
            <a:miter lim="800000"/>
            <a:headEnd/>
            <a:tailEnd/>
          </a:ln>
        </p:spPr>
      </p:pic>
      <mc:AlternateContent xmlns:mc="http://schemas.openxmlformats.org/markup-compatibility/2006" xmlns:p14="http://schemas.microsoft.com/office/powerpoint/2010/main">
        <mc:Choice Requires="p14">
          <p:contentPart p14:bwMode="auto" r:id="rId4">
            <p14:nvContentPartPr>
              <p14:cNvPr id="3" name="Ink 2"/>
              <p14:cNvContentPartPr/>
              <p14:nvPr/>
            </p14:nvContentPartPr>
            <p14:xfrm>
              <a:off x="4034160" y="977400"/>
              <a:ext cx="2304360" cy="842760"/>
            </p14:xfrm>
          </p:contentPart>
        </mc:Choice>
        <mc:Fallback xmlns="">
          <p:pic>
            <p:nvPicPr>
              <p:cNvPr id="3" name="Ink 2"/>
              <p:cNvPicPr/>
              <p:nvPr/>
            </p:nvPicPr>
            <p:blipFill>
              <a:blip r:embed="rId5"/>
              <a:stretch>
                <a:fillRect/>
              </a:stretch>
            </p:blipFill>
            <p:spPr>
              <a:xfrm>
                <a:off x="4024800" y="968040"/>
                <a:ext cx="2323080" cy="861480"/>
              </a:xfrm>
              <a:prstGeom prst="rect">
                <a:avLst/>
              </a:prstGeom>
            </p:spPr>
          </p:pic>
        </mc:Fallback>
      </mc:AlternateContent>
    </p:spTree>
    <p:extLst>
      <p:ext uri="{BB962C8B-B14F-4D97-AF65-F5344CB8AC3E}">
        <p14:creationId xmlns:p14="http://schemas.microsoft.com/office/powerpoint/2010/main" val="36563363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600" dirty="0">
                <a:latin typeface="Bookman Old Style" pitchFamily="18" charset="0"/>
                <a:cs typeface="Arial" panose="020B0604020202020204" pitchFamily="34" charset="0"/>
              </a:rPr>
              <a:t>Caesar Cipher - brute-force cryptanalysis</a:t>
            </a:r>
          </a:p>
        </p:txBody>
      </p:sp>
      <p:sp>
        <p:nvSpPr>
          <p:cNvPr id="5" name="Slide Number Placeholder 4"/>
          <p:cNvSpPr>
            <a:spLocks noGrp="1"/>
          </p:cNvSpPr>
          <p:nvPr>
            <p:ph type="sldNum" sz="quarter" idx="12"/>
          </p:nvPr>
        </p:nvSpPr>
        <p:spPr/>
        <p:txBody>
          <a:bodyPr/>
          <a:lstStyle/>
          <a:p>
            <a:fld id="{68187FF5-4BF9-4B21-B0D2-9B7FF2B27D7F}" type="slidenum">
              <a:rPr lang="en-AU" smtClean="0"/>
              <a:pPr/>
              <a:t>8</a:t>
            </a:fld>
            <a:endParaRPr lang="en-AU"/>
          </a:p>
        </p:txBody>
      </p:sp>
      <p:sp>
        <p:nvSpPr>
          <p:cNvPr id="7" name="Content Placeholder 6"/>
          <p:cNvSpPr>
            <a:spLocks noGrp="1"/>
          </p:cNvSpPr>
          <p:nvPr>
            <p:ph idx="1"/>
          </p:nvPr>
        </p:nvSpPr>
        <p:spPr/>
        <p:txBody>
          <a:bodyPr>
            <a:normAutofit/>
          </a:bodyPr>
          <a:lstStyle/>
          <a:p>
            <a:r>
              <a:rPr lang="en-US" dirty="0">
                <a:latin typeface="Bookman Old Style" pitchFamily="18" charset="0"/>
              </a:rPr>
              <a:t>Three important characteristics of this problem enabled us to use a brute-force cryptanalysis:</a:t>
            </a:r>
          </a:p>
          <a:p>
            <a:pPr>
              <a:buNone/>
            </a:pPr>
            <a:r>
              <a:rPr lang="en-US" dirty="0">
                <a:latin typeface="Bookman Old Style" pitchFamily="18" charset="0"/>
              </a:rPr>
              <a:t>	1. The encryption and decryption algorithms are known.</a:t>
            </a:r>
          </a:p>
          <a:p>
            <a:pPr>
              <a:buNone/>
            </a:pPr>
            <a:r>
              <a:rPr lang="en-US" dirty="0">
                <a:latin typeface="Bookman Old Style" pitchFamily="18" charset="0"/>
              </a:rPr>
              <a:t>	2. There are only 25 keys to try.</a:t>
            </a:r>
          </a:p>
          <a:p>
            <a:pPr>
              <a:buNone/>
            </a:pPr>
            <a:r>
              <a:rPr lang="en-US" dirty="0">
                <a:latin typeface="Bookman Old Style" pitchFamily="18" charset="0"/>
              </a:rPr>
              <a:t>	3. The language of the plaintext is known and easily recognizable.</a:t>
            </a:r>
          </a:p>
        </p:txBody>
      </p:sp>
    </p:spTree>
    <p:extLst>
      <p:ext uri="{BB962C8B-B14F-4D97-AF65-F5344CB8AC3E}">
        <p14:creationId xmlns:p14="http://schemas.microsoft.com/office/powerpoint/2010/main" val="33043064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47584-3193-488E-84AF-D2540A94FE6D}"/>
              </a:ext>
            </a:extLst>
          </p:cNvPr>
          <p:cNvSpPr>
            <a:spLocks noGrp="1"/>
          </p:cNvSpPr>
          <p:nvPr>
            <p:ph type="title"/>
          </p:nvPr>
        </p:nvSpPr>
        <p:spPr>
          <a:xfrm>
            <a:off x="317696" y="0"/>
            <a:ext cx="10515600" cy="801857"/>
          </a:xfrm>
        </p:spPr>
        <p:txBody>
          <a:bodyPr/>
          <a:lstStyle/>
          <a:p>
            <a:r>
              <a:rPr lang="en-US" b="1" dirty="0">
                <a:solidFill>
                  <a:srgbClr val="C00000"/>
                </a:solidFill>
              </a:rPr>
              <a:t>Caesar Cipher Example</a:t>
            </a:r>
            <a:endParaRPr lang="en-US" dirty="0"/>
          </a:p>
        </p:txBody>
      </p:sp>
      <p:sp>
        <p:nvSpPr>
          <p:cNvPr id="3" name="Content Placeholder 2">
            <a:extLst>
              <a:ext uri="{FF2B5EF4-FFF2-40B4-BE49-F238E27FC236}">
                <a16:creationId xmlns:a16="http://schemas.microsoft.com/office/drawing/2014/main" id="{1B4996AF-0264-437C-8901-F3EDD96DD292}"/>
              </a:ext>
            </a:extLst>
          </p:cNvPr>
          <p:cNvSpPr>
            <a:spLocks noGrp="1"/>
          </p:cNvSpPr>
          <p:nvPr>
            <p:ph idx="1"/>
          </p:nvPr>
        </p:nvSpPr>
        <p:spPr>
          <a:xfrm>
            <a:off x="464234" y="801857"/>
            <a:ext cx="10889566" cy="5375106"/>
          </a:xfrm>
        </p:spPr>
        <p:txBody>
          <a:bodyPr>
            <a:normAutofit/>
          </a:bodyPr>
          <a:lstStyle/>
          <a:p>
            <a:pPr marL="0" indent="0">
              <a:buNone/>
            </a:pPr>
            <a:endParaRPr lang="en-US" sz="1800" dirty="0">
              <a:solidFill>
                <a:srgbClr val="333333"/>
              </a:solidFill>
              <a:latin typeface="Bookman Old Style" panose="02050604050505020204" pitchFamily="18" charset="0"/>
            </a:endParaRPr>
          </a:p>
          <a:p>
            <a:pPr marL="0" indent="0">
              <a:buNone/>
            </a:pPr>
            <a:endParaRPr lang="en-US" sz="1800" dirty="0">
              <a:solidFill>
                <a:srgbClr val="333333"/>
              </a:solidFill>
              <a:latin typeface="Bookman Old Style" panose="02050604050505020204" pitchFamily="18" charset="0"/>
            </a:endParaRPr>
          </a:p>
          <a:p>
            <a:pPr marL="0" indent="0">
              <a:buNone/>
            </a:pPr>
            <a:r>
              <a:rPr lang="en-US" sz="1800" dirty="0">
                <a:solidFill>
                  <a:srgbClr val="333333"/>
                </a:solidFill>
                <a:latin typeface="Bookman Old Style" panose="02050604050505020204" pitchFamily="18" charset="0"/>
              </a:rPr>
              <a:t>Given,	</a:t>
            </a:r>
          </a:p>
          <a:p>
            <a:pPr marL="0" indent="0">
              <a:buNone/>
            </a:pPr>
            <a:r>
              <a:rPr lang="en-US" sz="1800" dirty="0">
                <a:solidFill>
                  <a:srgbClr val="333333"/>
                </a:solidFill>
                <a:latin typeface="Bookman Old Style" panose="02050604050505020204" pitchFamily="18" charset="0"/>
              </a:rPr>
              <a:t>Plaintext: </a:t>
            </a:r>
            <a:r>
              <a:rPr lang="en-US" sz="1800" b="0" i="0" dirty="0">
                <a:solidFill>
                  <a:srgbClr val="333333"/>
                </a:solidFill>
                <a:effectLst/>
                <a:latin typeface="Bookman Old Style" panose="02050604050505020204" pitchFamily="18" charset="0"/>
              </a:rPr>
              <a:t>JAVATPOINT </a:t>
            </a:r>
          </a:p>
          <a:p>
            <a:pPr marL="0" indent="0">
              <a:buNone/>
            </a:pPr>
            <a:r>
              <a:rPr lang="en-US" sz="1800" b="0" i="0" dirty="0">
                <a:solidFill>
                  <a:srgbClr val="333333"/>
                </a:solidFill>
                <a:effectLst/>
                <a:latin typeface="Bookman Old Style" panose="02050604050505020204" pitchFamily="18" charset="0"/>
              </a:rPr>
              <a:t>Key(shift) value: 3</a:t>
            </a:r>
          </a:p>
          <a:p>
            <a:pPr marL="0" indent="0">
              <a:buNone/>
            </a:pPr>
            <a:endParaRPr lang="en-US" sz="1800" dirty="0">
              <a:solidFill>
                <a:srgbClr val="333333"/>
              </a:solidFill>
              <a:latin typeface="Bookman Old Style" panose="02050604050505020204" pitchFamily="18" charset="0"/>
            </a:endParaRPr>
          </a:p>
          <a:p>
            <a:pPr marL="0" indent="0">
              <a:buNone/>
            </a:pPr>
            <a:r>
              <a:rPr lang="en-US" sz="1800" b="1" i="0" dirty="0">
                <a:solidFill>
                  <a:srgbClr val="333333"/>
                </a:solidFill>
                <a:effectLst/>
                <a:latin typeface="Bookman Old Style" panose="02050604050505020204" pitchFamily="18" charset="0"/>
              </a:rPr>
              <a:t>Encryp</a:t>
            </a:r>
            <a:r>
              <a:rPr lang="en-US" sz="1800" b="1" dirty="0">
                <a:solidFill>
                  <a:srgbClr val="333333"/>
                </a:solidFill>
                <a:latin typeface="Bookman Old Style" panose="02050604050505020204" pitchFamily="18" charset="0"/>
              </a:rPr>
              <a:t>ted Message/ Cipher text:</a:t>
            </a:r>
          </a:p>
          <a:p>
            <a:pPr marL="0" indent="0">
              <a:buNone/>
            </a:pPr>
            <a:r>
              <a:rPr lang="en-US" sz="1800" b="0" i="0" dirty="0">
                <a:solidFill>
                  <a:srgbClr val="333333"/>
                </a:solidFill>
                <a:effectLst/>
                <a:latin typeface="Bookman Old Style" panose="02050604050505020204" pitchFamily="18" charset="0"/>
              </a:rPr>
              <a:t>MDYDWSRLQW</a:t>
            </a:r>
            <a:endParaRPr lang="en-US" b="1" i="0" dirty="0">
              <a:solidFill>
                <a:srgbClr val="333333"/>
              </a:solidFill>
              <a:effectLst/>
              <a:latin typeface="Bookman Old Style" panose="02050604050505020204" pitchFamily="18" charset="0"/>
            </a:endParaRPr>
          </a:p>
        </p:txBody>
      </p:sp>
      <p:pic>
        <p:nvPicPr>
          <p:cNvPr id="5" name="Picture 4">
            <a:extLst>
              <a:ext uri="{FF2B5EF4-FFF2-40B4-BE49-F238E27FC236}">
                <a16:creationId xmlns:a16="http://schemas.microsoft.com/office/drawing/2014/main" id="{6A641F42-621E-4FCC-93D4-E9BBFC1676F2}"/>
              </a:ext>
            </a:extLst>
          </p:cNvPr>
          <p:cNvPicPr>
            <a:picLocks noChangeAspect="1"/>
          </p:cNvPicPr>
          <p:nvPr/>
        </p:nvPicPr>
        <p:blipFill>
          <a:blip r:embed="rId2"/>
          <a:stretch>
            <a:fillRect/>
          </a:stretch>
        </p:blipFill>
        <p:spPr>
          <a:xfrm>
            <a:off x="4614203" y="876299"/>
            <a:ext cx="7507010" cy="5872844"/>
          </a:xfrm>
          <a:prstGeom prst="rect">
            <a:avLst/>
          </a:prstGeom>
        </p:spPr>
      </p:pic>
    </p:spTree>
    <p:extLst>
      <p:ext uri="{BB962C8B-B14F-4D97-AF65-F5344CB8AC3E}">
        <p14:creationId xmlns:p14="http://schemas.microsoft.com/office/powerpoint/2010/main" val="16671472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47584-3193-488E-84AF-D2540A94FE6D}"/>
              </a:ext>
            </a:extLst>
          </p:cNvPr>
          <p:cNvSpPr>
            <a:spLocks noGrp="1"/>
          </p:cNvSpPr>
          <p:nvPr>
            <p:ph type="title"/>
          </p:nvPr>
        </p:nvSpPr>
        <p:spPr>
          <a:xfrm>
            <a:off x="317696" y="0"/>
            <a:ext cx="10515600" cy="801857"/>
          </a:xfrm>
        </p:spPr>
        <p:txBody>
          <a:bodyPr/>
          <a:lstStyle/>
          <a:p>
            <a:r>
              <a:rPr lang="en-US" b="1" dirty="0">
                <a:solidFill>
                  <a:srgbClr val="C00000"/>
                </a:solidFill>
              </a:rPr>
              <a:t>Caesar Cipher Example…</a:t>
            </a:r>
            <a:endParaRPr lang="en-US" dirty="0"/>
          </a:p>
        </p:txBody>
      </p:sp>
      <p:sp>
        <p:nvSpPr>
          <p:cNvPr id="3" name="Content Placeholder 2">
            <a:extLst>
              <a:ext uri="{FF2B5EF4-FFF2-40B4-BE49-F238E27FC236}">
                <a16:creationId xmlns:a16="http://schemas.microsoft.com/office/drawing/2014/main" id="{1B4996AF-0264-437C-8901-F3EDD96DD292}"/>
              </a:ext>
            </a:extLst>
          </p:cNvPr>
          <p:cNvSpPr>
            <a:spLocks noGrp="1"/>
          </p:cNvSpPr>
          <p:nvPr>
            <p:ph idx="1"/>
          </p:nvPr>
        </p:nvSpPr>
        <p:spPr>
          <a:xfrm>
            <a:off x="464234" y="801857"/>
            <a:ext cx="10889566" cy="5375106"/>
          </a:xfrm>
        </p:spPr>
        <p:txBody>
          <a:bodyPr>
            <a:normAutofit/>
          </a:bodyPr>
          <a:lstStyle/>
          <a:p>
            <a:pPr marL="0" indent="0">
              <a:buNone/>
            </a:pPr>
            <a:endParaRPr lang="en-US" sz="1800" dirty="0">
              <a:solidFill>
                <a:srgbClr val="333333"/>
              </a:solidFill>
              <a:latin typeface="Bookman Old Style" panose="02050604050505020204" pitchFamily="18" charset="0"/>
            </a:endParaRPr>
          </a:p>
          <a:p>
            <a:pPr marL="0" indent="0">
              <a:buNone/>
            </a:pPr>
            <a:endParaRPr lang="en-US" sz="1800" dirty="0">
              <a:solidFill>
                <a:srgbClr val="333333"/>
              </a:solidFill>
              <a:latin typeface="Bookman Old Style" panose="02050604050505020204" pitchFamily="18" charset="0"/>
            </a:endParaRPr>
          </a:p>
          <a:p>
            <a:pPr marL="0" indent="0">
              <a:buNone/>
            </a:pPr>
            <a:r>
              <a:rPr lang="en-US" sz="1800" dirty="0">
                <a:solidFill>
                  <a:srgbClr val="333333"/>
                </a:solidFill>
                <a:latin typeface="Bookman Old Style" panose="02050604050505020204" pitchFamily="18" charset="0"/>
              </a:rPr>
              <a:t>	</a:t>
            </a:r>
          </a:p>
          <a:p>
            <a:pPr marL="0" indent="0">
              <a:buNone/>
            </a:pPr>
            <a:r>
              <a:rPr lang="en-US" sz="1800" dirty="0">
                <a:solidFill>
                  <a:srgbClr val="333333"/>
                </a:solidFill>
                <a:latin typeface="Bookman Old Style" panose="02050604050505020204" pitchFamily="18" charset="0"/>
              </a:rPr>
              <a:t>Ciphertext: </a:t>
            </a:r>
            <a:r>
              <a:rPr lang="en-US" sz="1800" b="0" i="0" dirty="0">
                <a:solidFill>
                  <a:srgbClr val="333333"/>
                </a:solidFill>
                <a:effectLst/>
                <a:latin typeface="Bookman Old Style" panose="02050604050505020204" pitchFamily="18" charset="0"/>
              </a:rPr>
              <a:t>MDYDWSRLQW</a:t>
            </a:r>
            <a:endParaRPr lang="en-US" sz="1800" b="1" i="0" dirty="0">
              <a:solidFill>
                <a:srgbClr val="333333"/>
              </a:solidFill>
              <a:effectLst/>
              <a:latin typeface="Bookman Old Style" panose="02050604050505020204" pitchFamily="18" charset="0"/>
            </a:endParaRPr>
          </a:p>
          <a:p>
            <a:pPr marL="0" indent="0">
              <a:buNone/>
            </a:pPr>
            <a:r>
              <a:rPr lang="en-US" sz="1800" b="0" i="0" dirty="0">
                <a:solidFill>
                  <a:srgbClr val="333333"/>
                </a:solidFill>
                <a:effectLst/>
                <a:latin typeface="Bookman Old Style" panose="02050604050505020204" pitchFamily="18" charset="0"/>
              </a:rPr>
              <a:t> </a:t>
            </a:r>
          </a:p>
          <a:p>
            <a:pPr marL="0" indent="0">
              <a:buNone/>
            </a:pPr>
            <a:r>
              <a:rPr lang="en-US" sz="1800" b="1" i="0" dirty="0">
                <a:solidFill>
                  <a:srgbClr val="333333"/>
                </a:solidFill>
                <a:effectLst/>
                <a:latin typeface="Bookman Old Style" panose="02050604050505020204" pitchFamily="18" charset="0"/>
              </a:rPr>
              <a:t>Decrypted </a:t>
            </a:r>
            <a:r>
              <a:rPr lang="en-US" sz="1800" b="1" dirty="0">
                <a:solidFill>
                  <a:srgbClr val="333333"/>
                </a:solidFill>
                <a:latin typeface="Bookman Old Style" panose="02050604050505020204" pitchFamily="18" charset="0"/>
              </a:rPr>
              <a:t>Message:</a:t>
            </a:r>
          </a:p>
          <a:p>
            <a:pPr marL="0" indent="0">
              <a:buNone/>
            </a:pPr>
            <a:r>
              <a:rPr lang="en-US" sz="1800" b="0" i="0" dirty="0">
                <a:solidFill>
                  <a:srgbClr val="333333"/>
                </a:solidFill>
                <a:effectLst/>
                <a:latin typeface="Bookman Old Style" panose="02050604050505020204" pitchFamily="18" charset="0"/>
              </a:rPr>
              <a:t>JAVATPOINT</a:t>
            </a:r>
            <a:endParaRPr lang="en-US" b="1" i="0" dirty="0">
              <a:solidFill>
                <a:srgbClr val="333333"/>
              </a:solidFill>
              <a:effectLst/>
              <a:latin typeface="Bookman Old Style" panose="02050604050505020204" pitchFamily="18" charset="0"/>
            </a:endParaRPr>
          </a:p>
        </p:txBody>
      </p:sp>
      <p:pic>
        <p:nvPicPr>
          <p:cNvPr id="8" name="Picture 7">
            <a:extLst>
              <a:ext uri="{FF2B5EF4-FFF2-40B4-BE49-F238E27FC236}">
                <a16:creationId xmlns:a16="http://schemas.microsoft.com/office/drawing/2014/main" id="{F41B6FF3-33A1-41BF-85AE-DAA98F7AA425}"/>
              </a:ext>
            </a:extLst>
          </p:cNvPr>
          <p:cNvPicPr>
            <a:picLocks noChangeAspect="1"/>
          </p:cNvPicPr>
          <p:nvPr/>
        </p:nvPicPr>
        <p:blipFill>
          <a:blip r:embed="rId2"/>
          <a:stretch>
            <a:fillRect/>
          </a:stretch>
        </p:blipFill>
        <p:spPr>
          <a:xfrm>
            <a:off x="4034359" y="1281339"/>
            <a:ext cx="8064609" cy="4669518"/>
          </a:xfrm>
          <a:prstGeom prst="rect">
            <a:avLst/>
          </a:prstGeom>
        </p:spPr>
      </p:pic>
    </p:spTree>
    <p:extLst>
      <p:ext uri="{BB962C8B-B14F-4D97-AF65-F5344CB8AC3E}">
        <p14:creationId xmlns:p14="http://schemas.microsoft.com/office/powerpoint/2010/main" val="32626062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AU" dirty="0">
                <a:latin typeface="Bookman Old Style" pitchFamily="18" charset="0"/>
                <a:cs typeface="Arial" panose="020B0604020202020204" pitchFamily="34" charset="0"/>
              </a:rPr>
              <a:t>Mono alphabetic Cipher</a:t>
            </a:r>
            <a:endParaRPr lang="en-US" dirty="0">
              <a:latin typeface="Bookman Old Style" pitchFamily="18" charset="0"/>
            </a:endParaRPr>
          </a:p>
        </p:txBody>
      </p:sp>
      <p:sp>
        <p:nvSpPr>
          <p:cNvPr id="3" name="Content Placeholder 2"/>
          <p:cNvSpPr>
            <a:spLocks noGrp="1"/>
          </p:cNvSpPr>
          <p:nvPr>
            <p:ph idx="1"/>
          </p:nvPr>
        </p:nvSpPr>
        <p:spPr/>
        <p:txBody>
          <a:bodyPr>
            <a:normAutofit fontScale="92500" lnSpcReduction="20000"/>
          </a:bodyPr>
          <a:lstStyle/>
          <a:p>
            <a:r>
              <a:rPr lang="en-AU" altLang="en-US" dirty="0">
                <a:latin typeface="Bookman Old Style" pitchFamily="18" charset="0"/>
                <a:ea typeface="ＭＳ Ｐゴシック" pitchFamily="34" charset="-128"/>
              </a:rPr>
              <a:t>Rather than just shifting the alphabet could shuffle the letters arbitrarily </a:t>
            </a:r>
          </a:p>
          <a:p>
            <a:r>
              <a:rPr lang="en-AU" altLang="en-US" dirty="0">
                <a:latin typeface="Bookman Old Style" pitchFamily="18" charset="0"/>
                <a:ea typeface="ＭＳ Ｐゴシック" pitchFamily="34" charset="-128"/>
              </a:rPr>
              <a:t>But, Here, Each plaintext letter maps to a different random cipher text letter</a:t>
            </a:r>
          </a:p>
          <a:p>
            <a:r>
              <a:rPr lang="en-AU" altLang="en-US" dirty="0">
                <a:latin typeface="Bookman Old Style" pitchFamily="18" charset="0"/>
                <a:ea typeface="ＭＳ Ｐゴシック" pitchFamily="34" charset="-128"/>
              </a:rPr>
              <a:t>Hence key is 26 letters long </a:t>
            </a:r>
          </a:p>
          <a:p>
            <a:pPr lvl="1" indent="-284163">
              <a:spcBef>
                <a:spcPts val="600"/>
              </a:spcBef>
              <a:buSzPct val="5000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AU" altLang="en-US" sz="2800" dirty="0">
                <a:latin typeface="Bookman Old Style" pitchFamily="18" charset="0"/>
                <a:ea typeface="ＭＳ Ｐゴシック" pitchFamily="34" charset="-128"/>
              </a:rPr>
              <a:t>	</a:t>
            </a:r>
            <a:r>
              <a:rPr lang="en-AU" altLang="en-US" sz="2600" dirty="0">
                <a:latin typeface="Bookman Old Style" pitchFamily="18" charset="0"/>
                <a:ea typeface="ＭＳ Ｐゴシック" pitchFamily="34" charset="-128"/>
              </a:rPr>
              <a:t>Letters:  </a:t>
            </a:r>
            <a:r>
              <a:rPr lang="en-AU" altLang="en-US" sz="2600" dirty="0" err="1">
                <a:latin typeface="Bookman Old Style" pitchFamily="18" charset="0"/>
                <a:ea typeface="ＭＳ Ｐゴシック" pitchFamily="34" charset="-128"/>
              </a:rPr>
              <a:t>abcdefghijklmnopqrstuvwxyz</a:t>
            </a:r>
            <a:endParaRPr lang="en-AU" altLang="en-US" sz="2600" dirty="0">
              <a:latin typeface="Bookman Old Style" pitchFamily="18" charset="0"/>
              <a:ea typeface="ＭＳ Ｐゴシック" pitchFamily="34" charset="-128"/>
            </a:endParaRPr>
          </a:p>
          <a:p>
            <a:pPr lvl="1" indent="-284163">
              <a:spcBef>
                <a:spcPts val="600"/>
              </a:spcBef>
              <a:buSzPct val="5000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AU" altLang="en-US" sz="2600" dirty="0">
                <a:latin typeface="Bookman Old Style" pitchFamily="18" charset="0"/>
                <a:ea typeface="ＭＳ Ｐゴシック" pitchFamily="34" charset="-128"/>
              </a:rPr>
              <a:t>	Key    :   DKVQFIBJWPESCXHTMYAUOLRGZN</a:t>
            </a:r>
          </a:p>
          <a:p>
            <a:pPr lvl="1" indent="-284163">
              <a:spcBef>
                <a:spcPts val="600"/>
              </a:spcBef>
              <a:buSzPct val="5000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AU" altLang="en-US" sz="2600" dirty="0">
                <a:latin typeface="Bookman Old Style" pitchFamily="18" charset="0"/>
                <a:ea typeface="ＭＳ Ｐゴシック" pitchFamily="34" charset="-128"/>
              </a:rPr>
              <a:t>	Plaintext:    </a:t>
            </a:r>
            <a:r>
              <a:rPr lang="en-AU" altLang="en-US" sz="2600" dirty="0" err="1">
                <a:latin typeface="Bookman Old Style" pitchFamily="18" charset="0"/>
                <a:ea typeface="ＭＳ Ｐゴシック" pitchFamily="34" charset="-128"/>
              </a:rPr>
              <a:t>ifwewishtoreplaceletters</a:t>
            </a:r>
            <a:endParaRPr lang="en-AU" altLang="en-US" sz="2600" dirty="0">
              <a:latin typeface="Bookman Old Style" pitchFamily="18" charset="0"/>
              <a:ea typeface="ＭＳ Ｐゴシック" pitchFamily="34" charset="-128"/>
            </a:endParaRPr>
          </a:p>
          <a:p>
            <a:pPr lvl="1" indent="-284163">
              <a:spcBef>
                <a:spcPts val="600"/>
              </a:spcBef>
              <a:buSzPct val="5000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AU" altLang="en-US" sz="2600" dirty="0">
                <a:latin typeface="Bookman Old Style" pitchFamily="18" charset="0"/>
                <a:ea typeface="ＭＳ Ｐゴシック" pitchFamily="34" charset="-128"/>
              </a:rPr>
              <a:t>	</a:t>
            </a:r>
            <a:r>
              <a:rPr lang="en-AU" altLang="en-US" sz="2600" dirty="0" err="1">
                <a:latin typeface="Bookman Old Style" pitchFamily="18" charset="0"/>
                <a:ea typeface="ＭＳ Ｐゴシック" pitchFamily="34" charset="-128"/>
              </a:rPr>
              <a:t>Ciphertext</a:t>
            </a:r>
            <a:r>
              <a:rPr lang="en-AU" altLang="en-US" sz="2600" dirty="0">
                <a:latin typeface="Bookman Old Style" pitchFamily="18" charset="0"/>
                <a:ea typeface="ＭＳ Ｐゴシック" pitchFamily="34" charset="-128"/>
              </a:rPr>
              <a:t>: WIRFRWAJUHYFTSDVFSFUUFYA</a:t>
            </a:r>
          </a:p>
          <a:p>
            <a:r>
              <a:rPr lang="en-US" dirty="0">
                <a:latin typeface="Bookman Old Style" pitchFamily="18" charset="0"/>
              </a:rPr>
              <a:t>If, instead, the "cipher" line can be any permutation of the 26 alphabetic characters, then 10</a:t>
            </a:r>
            <a:r>
              <a:rPr lang="en-US" baseline="30000" dirty="0">
                <a:latin typeface="Bookman Old Style" pitchFamily="18" charset="0"/>
              </a:rPr>
              <a:t>26 </a:t>
            </a:r>
            <a:r>
              <a:rPr lang="en-AU" altLang="en-US" dirty="0">
                <a:latin typeface="Bookman Old Style" pitchFamily="18" charset="0"/>
                <a:ea typeface="ＭＳ Ｐゴシック" pitchFamily="34" charset="-128"/>
              </a:rPr>
              <a:t> Keys are </a:t>
            </a:r>
            <a:r>
              <a:rPr lang="en-AU" altLang="en-US" dirty="0" err="1">
                <a:latin typeface="Bookman Old Style" pitchFamily="18" charset="0"/>
                <a:ea typeface="ＭＳ Ｐゴシック" pitchFamily="34" charset="-128"/>
              </a:rPr>
              <a:t>possibe</a:t>
            </a:r>
            <a:r>
              <a:rPr lang="en-AU" altLang="en-US" dirty="0">
                <a:latin typeface="Bookman Old Style" pitchFamily="18" charset="0"/>
                <a:ea typeface="ＭＳ Ｐゴシック" pitchFamily="34" charset="-128"/>
              </a:rPr>
              <a:t>, is it secure ? No.</a:t>
            </a:r>
          </a:p>
          <a:p>
            <a:endParaRPr lang="en-US" dirty="0"/>
          </a:p>
        </p:txBody>
      </p:sp>
      <p:sp>
        <p:nvSpPr>
          <p:cNvPr id="5" name="Slide Number Placeholder 4"/>
          <p:cNvSpPr>
            <a:spLocks noGrp="1"/>
          </p:cNvSpPr>
          <p:nvPr>
            <p:ph type="sldNum" sz="quarter" idx="12"/>
          </p:nvPr>
        </p:nvSpPr>
        <p:spPr/>
        <p:txBody>
          <a:bodyPr/>
          <a:lstStyle/>
          <a:p>
            <a:fld id="{68187FF5-4BF9-4B21-B0D2-9B7FF2B27D7F}" type="slidenum">
              <a:rPr lang="en-AU" smtClean="0"/>
              <a:pPr/>
              <a:t>11</a:t>
            </a:fld>
            <a:endParaRPr lang="en-AU"/>
          </a:p>
        </p:txBody>
      </p:sp>
    </p:spTree>
    <p:extLst>
      <p:ext uri="{BB962C8B-B14F-4D97-AF65-F5344CB8AC3E}">
        <p14:creationId xmlns:p14="http://schemas.microsoft.com/office/powerpoint/2010/main" val="37736103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D05D22-AC79-4A59-A4D4-FB178DEB1CA3}"/>
              </a:ext>
            </a:extLst>
          </p:cNvPr>
          <p:cNvSpPr>
            <a:spLocks noGrp="1"/>
          </p:cNvSpPr>
          <p:nvPr>
            <p:ph type="title"/>
          </p:nvPr>
        </p:nvSpPr>
        <p:spPr>
          <a:xfrm>
            <a:off x="473565" y="365126"/>
            <a:ext cx="10889566" cy="605546"/>
          </a:xfrm>
        </p:spPr>
        <p:txBody>
          <a:bodyPr>
            <a:normAutofit fontScale="90000"/>
          </a:bodyPr>
          <a:lstStyle/>
          <a:p>
            <a:r>
              <a:rPr lang="en-US" b="1" dirty="0">
                <a:solidFill>
                  <a:srgbClr val="C00000"/>
                </a:solidFill>
              </a:rPr>
              <a:t>Mono alphabetic Cipher</a:t>
            </a:r>
          </a:p>
        </p:txBody>
      </p:sp>
      <p:sp>
        <p:nvSpPr>
          <p:cNvPr id="3" name="Content Placeholder 2">
            <a:extLst>
              <a:ext uri="{FF2B5EF4-FFF2-40B4-BE49-F238E27FC236}">
                <a16:creationId xmlns:a16="http://schemas.microsoft.com/office/drawing/2014/main" id="{A9251F9D-7420-453F-BB3B-B479437D5DEA}"/>
              </a:ext>
            </a:extLst>
          </p:cNvPr>
          <p:cNvSpPr>
            <a:spLocks noGrp="1"/>
          </p:cNvSpPr>
          <p:nvPr>
            <p:ph idx="1"/>
          </p:nvPr>
        </p:nvSpPr>
        <p:spPr>
          <a:xfrm>
            <a:off x="464234" y="1036869"/>
            <a:ext cx="11324492" cy="4784261"/>
          </a:xfrm>
        </p:spPr>
        <p:txBody>
          <a:bodyPr>
            <a:normAutofit/>
          </a:bodyPr>
          <a:lstStyle/>
          <a:p>
            <a:pPr algn="just"/>
            <a:r>
              <a:rPr lang="en-US" sz="2000" dirty="0">
                <a:solidFill>
                  <a:srgbClr val="273239"/>
                </a:solidFill>
                <a:latin typeface="Bookman Old Style" panose="02050604050505020204" pitchFamily="18" charset="0"/>
              </a:rPr>
              <a:t>Monoalphabetic Cipher is a cipher where the letters of the plain text are mapped to ciphertext letters based on a single alphabetic key. </a:t>
            </a:r>
          </a:p>
          <a:p>
            <a:pPr algn="just"/>
            <a:r>
              <a:rPr lang="en-US" sz="2000" dirty="0">
                <a:solidFill>
                  <a:srgbClr val="273239"/>
                </a:solidFill>
                <a:latin typeface="Bookman Old Style" panose="02050604050505020204" pitchFamily="18" charset="0"/>
              </a:rPr>
              <a:t>Key is 26 letters long</a:t>
            </a:r>
          </a:p>
          <a:p>
            <a:pPr algn="just"/>
            <a:r>
              <a:rPr lang="en-US" sz="2000" dirty="0">
                <a:solidFill>
                  <a:srgbClr val="273239"/>
                </a:solidFill>
                <a:latin typeface="Bookman Old Style" panose="02050604050505020204" pitchFamily="18" charset="0"/>
              </a:rPr>
              <a:t>It is a one to one mapping.</a:t>
            </a:r>
            <a:endParaRPr lang="en-US" sz="2000" b="0" i="0" dirty="0">
              <a:solidFill>
                <a:srgbClr val="2D3748"/>
              </a:solidFill>
              <a:effectLst/>
              <a:latin typeface="Bookman Old Style" panose="02050604050505020204" pitchFamily="18" charset="0"/>
            </a:endParaRPr>
          </a:p>
          <a:p>
            <a:pPr marL="0" indent="0">
              <a:buNone/>
            </a:pPr>
            <a:r>
              <a:rPr lang="en-US" sz="2000" b="0" i="0" dirty="0">
                <a:solidFill>
                  <a:srgbClr val="273239"/>
                </a:solidFill>
                <a:effectLst/>
                <a:latin typeface="Bookman Old Style" panose="02050604050505020204" pitchFamily="18" charset="0"/>
              </a:rPr>
              <a:t> </a:t>
            </a:r>
          </a:p>
          <a:p>
            <a:endParaRPr lang="en-US" sz="2000" b="0" i="0" dirty="0">
              <a:solidFill>
                <a:srgbClr val="273239"/>
              </a:solidFill>
              <a:effectLst/>
              <a:latin typeface="Bookman Old Style" panose="02050604050505020204" pitchFamily="18" charset="0"/>
            </a:endParaRPr>
          </a:p>
          <a:p>
            <a:endParaRPr lang="en-US" dirty="0"/>
          </a:p>
        </p:txBody>
      </p:sp>
      <p:pic>
        <p:nvPicPr>
          <p:cNvPr id="7" name="Picture 6">
            <a:extLst>
              <a:ext uri="{FF2B5EF4-FFF2-40B4-BE49-F238E27FC236}">
                <a16:creationId xmlns:a16="http://schemas.microsoft.com/office/drawing/2014/main" id="{D2258F30-F213-4827-8A10-27440F98A7EB}"/>
              </a:ext>
            </a:extLst>
          </p:cNvPr>
          <p:cNvPicPr>
            <a:picLocks noChangeAspect="1"/>
          </p:cNvPicPr>
          <p:nvPr/>
        </p:nvPicPr>
        <p:blipFill>
          <a:blip r:embed="rId2"/>
          <a:stretch>
            <a:fillRect/>
          </a:stretch>
        </p:blipFill>
        <p:spPr>
          <a:xfrm>
            <a:off x="1394635" y="3062977"/>
            <a:ext cx="8960991" cy="1030514"/>
          </a:xfrm>
          <a:prstGeom prst="rect">
            <a:avLst/>
          </a:prstGeom>
        </p:spPr>
      </p:pic>
      <p:pic>
        <p:nvPicPr>
          <p:cNvPr id="9" name="Picture 8">
            <a:extLst>
              <a:ext uri="{FF2B5EF4-FFF2-40B4-BE49-F238E27FC236}">
                <a16:creationId xmlns:a16="http://schemas.microsoft.com/office/drawing/2014/main" id="{E5033ED8-437E-4ECB-BB99-4C768CC93E56}"/>
              </a:ext>
            </a:extLst>
          </p:cNvPr>
          <p:cNvPicPr>
            <a:picLocks noChangeAspect="1"/>
          </p:cNvPicPr>
          <p:nvPr/>
        </p:nvPicPr>
        <p:blipFill>
          <a:blip r:embed="rId3"/>
          <a:stretch>
            <a:fillRect/>
          </a:stretch>
        </p:blipFill>
        <p:spPr>
          <a:xfrm>
            <a:off x="1512359" y="4856813"/>
            <a:ext cx="9167281" cy="1030514"/>
          </a:xfrm>
          <a:prstGeom prst="rect">
            <a:avLst/>
          </a:prstGeom>
        </p:spPr>
      </p:pic>
    </p:spTree>
    <p:extLst>
      <p:ext uri="{BB962C8B-B14F-4D97-AF65-F5344CB8AC3E}">
        <p14:creationId xmlns:p14="http://schemas.microsoft.com/office/powerpoint/2010/main" val="11877478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F1631-B8B3-4E7E-BCDE-EF597585A9DB}"/>
              </a:ext>
            </a:extLst>
          </p:cNvPr>
          <p:cNvSpPr>
            <a:spLocks noGrp="1"/>
          </p:cNvSpPr>
          <p:nvPr>
            <p:ph type="title"/>
          </p:nvPr>
        </p:nvSpPr>
        <p:spPr>
          <a:xfrm>
            <a:off x="838200" y="365125"/>
            <a:ext cx="10515600" cy="746223"/>
          </a:xfrm>
        </p:spPr>
        <p:txBody>
          <a:bodyPr/>
          <a:lstStyle/>
          <a:p>
            <a:r>
              <a:rPr lang="en-US" b="1" dirty="0">
                <a:solidFill>
                  <a:srgbClr val="C00000"/>
                </a:solidFill>
              </a:rPr>
              <a:t>Monoalphabetic Cipher example</a:t>
            </a:r>
            <a:endParaRPr lang="en-US" dirty="0"/>
          </a:p>
        </p:txBody>
      </p:sp>
      <p:sp>
        <p:nvSpPr>
          <p:cNvPr id="3" name="Content Placeholder 2">
            <a:extLst>
              <a:ext uri="{FF2B5EF4-FFF2-40B4-BE49-F238E27FC236}">
                <a16:creationId xmlns:a16="http://schemas.microsoft.com/office/drawing/2014/main" id="{B74A02DD-65E6-407C-A76E-8CA414A414E0}"/>
              </a:ext>
            </a:extLst>
          </p:cNvPr>
          <p:cNvSpPr>
            <a:spLocks noGrp="1"/>
          </p:cNvSpPr>
          <p:nvPr>
            <p:ph idx="1"/>
          </p:nvPr>
        </p:nvSpPr>
        <p:spPr/>
        <p:txBody>
          <a:bodyPr/>
          <a:lstStyle/>
          <a:p>
            <a:endParaRPr lang="en-US" dirty="0"/>
          </a:p>
        </p:txBody>
      </p:sp>
      <p:pic>
        <p:nvPicPr>
          <p:cNvPr id="7" name="Picture 6">
            <a:extLst>
              <a:ext uri="{FF2B5EF4-FFF2-40B4-BE49-F238E27FC236}">
                <a16:creationId xmlns:a16="http://schemas.microsoft.com/office/drawing/2014/main" id="{9B3FD6F5-0FBB-4B41-8085-EE8657C4B89D}"/>
              </a:ext>
            </a:extLst>
          </p:cNvPr>
          <p:cNvPicPr>
            <a:picLocks noChangeAspect="1"/>
          </p:cNvPicPr>
          <p:nvPr/>
        </p:nvPicPr>
        <p:blipFill>
          <a:blip r:embed="rId2"/>
          <a:stretch>
            <a:fillRect/>
          </a:stretch>
        </p:blipFill>
        <p:spPr>
          <a:xfrm>
            <a:off x="632239" y="1669767"/>
            <a:ext cx="4652084" cy="4423058"/>
          </a:xfrm>
          <a:prstGeom prst="rect">
            <a:avLst/>
          </a:prstGeom>
          <a:ln>
            <a:solidFill>
              <a:schemeClr val="tx1"/>
            </a:solidFill>
          </a:ln>
        </p:spPr>
      </p:pic>
      <p:pic>
        <p:nvPicPr>
          <p:cNvPr id="9" name="Picture 8">
            <a:extLst>
              <a:ext uri="{FF2B5EF4-FFF2-40B4-BE49-F238E27FC236}">
                <a16:creationId xmlns:a16="http://schemas.microsoft.com/office/drawing/2014/main" id="{12CF56E5-3167-433B-876E-8DBF0A043B85}"/>
              </a:ext>
            </a:extLst>
          </p:cNvPr>
          <p:cNvPicPr>
            <a:picLocks noChangeAspect="1"/>
          </p:cNvPicPr>
          <p:nvPr/>
        </p:nvPicPr>
        <p:blipFill>
          <a:blip r:embed="rId3"/>
          <a:stretch>
            <a:fillRect/>
          </a:stretch>
        </p:blipFill>
        <p:spPr>
          <a:xfrm>
            <a:off x="6096000" y="2948939"/>
            <a:ext cx="5684712" cy="1520751"/>
          </a:xfrm>
          <a:prstGeom prst="rect">
            <a:avLst/>
          </a:prstGeom>
          <a:ln>
            <a:solidFill>
              <a:schemeClr val="tx1"/>
            </a:solidFill>
          </a:ln>
        </p:spPr>
      </p:pic>
    </p:spTree>
    <p:extLst>
      <p:ext uri="{BB962C8B-B14F-4D97-AF65-F5344CB8AC3E}">
        <p14:creationId xmlns:p14="http://schemas.microsoft.com/office/powerpoint/2010/main" val="34643752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AU" dirty="0" err="1">
                <a:latin typeface="Bookman Old Style" pitchFamily="18" charset="0"/>
                <a:cs typeface="Arial" panose="020B0604020202020204" pitchFamily="34" charset="0"/>
              </a:rPr>
              <a:t>Playfair</a:t>
            </a:r>
            <a:r>
              <a:rPr lang="en-AU" dirty="0">
                <a:latin typeface="Bookman Old Style" pitchFamily="18" charset="0"/>
                <a:cs typeface="Arial" panose="020B0604020202020204" pitchFamily="34" charset="0"/>
              </a:rPr>
              <a:t> Cipher</a:t>
            </a:r>
            <a:endParaRPr lang="en-US" dirty="0">
              <a:latin typeface="Bookman Old Style" pitchFamily="18" charset="0"/>
            </a:endParaRPr>
          </a:p>
        </p:txBody>
      </p:sp>
      <p:sp>
        <p:nvSpPr>
          <p:cNvPr id="3" name="Content Placeholder 2"/>
          <p:cNvSpPr>
            <a:spLocks noGrp="1"/>
          </p:cNvSpPr>
          <p:nvPr>
            <p:ph idx="1"/>
          </p:nvPr>
        </p:nvSpPr>
        <p:spPr/>
        <p:txBody>
          <a:bodyPr>
            <a:normAutofit fontScale="92500" lnSpcReduction="10000"/>
          </a:bodyPr>
          <a:lstStyle/>
          <a:p>
            <a:pPr marL="0" indent="0" algn="just">
              <a:buNone/>
            </a:pPr>
            <a:r>
              <a:rPr lang="en-IN" b="0" i="0" dirty="0">
                <a:solidFill>
                  <a:srgbClr val="273239"/>
                </a:solidFill>
                <a:effectLst/>
                <a:latin typeface="urw-din"/>
              </a:rPr>
              <a:t>	</a:t>
            </a:r>
            <a:r>
              <a:rPr lang="en-IN" dirty="0">
                <a:latin typeface="Bookman Old Style" pitchFamily="18" charset="0"/>
                <a:ea typeface="ＭＳ Ｐゴシック" pitchFamily="34" charset="-128"/>
              </a:rPr>
              <a:t>The Playfair cipher was the first practical digraph substitution cipher. The scheme was invented in 1854 by Charles Wheatstone but was named after Lord Playfair who promoted the use of the cipher. </a:t>
            </a:r>
          </a:p>
          <a:p>
            <a:pPr marL="0" indent="0" algn="just">
              <a:buNone/>
            </a:pPr>
            <a:r>
              <a:rPr lang="en-IN" dirty="0">
                <a:latin typeface="Bookman Old Style" pitchFamily="18" charset="0"/>
                <a:ea typeface="ＭＳ Ｐゴシック" pitchFamily="34" charset="-128"/>
              </a:rPr>
              <a:t>	In </a:t>
            </a:r>
            <a:r>
              <a:rPr lang="en-IN" dirty="0" err="1">
                <a:latin typeface="Bookman Old Style" pitchFamily="18" charset="0"/>
                <a:ea typeface="ＭＳ Ｐゴシック" pitchFamily="34" charset="-128"/>
              </a:rPr>
              <a:t>playfair</a:t>
            </a:r>
            <a:r>
              <a:rPr lang="en-IN" dirty="0">
                <a:latin typeface="Bookman Old Style" pitchFamily="18" charset="0"/>
                <a:ea typeface="ＭＳ Ｐゴシック" pitchFamily="34" charset="-128"/>
              </a:rPr>
              <a:t> cipher unlike </a:t>
            </a:r>
            <a:r>
              <a:rPr lang="en-IN" dirty="0">
                <a:latin typeface="Bookman Old Style" pitchFamily="18" charset="0"/>
                <a:ea typeface="ＭＳ Ｐゴシック" pitchFamily="34" charset="-128"/>
                <a:hlinkClick r:id="rId2">
                  <a:extLst>
                    <a:ext uri="{A12FA001-AC4F-418D-AE19-62706E023703}">
                      <ahyp:hlinkClr xmlns:ahyp="http://schemas.microsoft.com/office/drawing/2018/hyperlinkcolor" val="tx"/>
                    </a:ext>
                  </a:extLst>
                </a:hlinkClick>
              </a:rPr>
              <a:t>traditional cipher</a:t>
            </a:r>
            <a:r>
              <a:rPr lang="en-IN" dirty="0">
                <a:latin typeface="Bookman Old Style" pitchFamily="18" charset="0"/>
                <a:ea typeface="ＭＳ Ｐゴシック" pitchFamily="34" charset="-128"/>
              </a:rPr>
              <a:t> we encrypt a pair of alphabets(digraphs) instead of a single alphabet.</a:t>
            </a:r>
            <a:br>
              <a:rPr lang="en-IN" dirty="0">
                <a:latin typeface="Bookman Old Style" pitchFamily="18" charset="0"/>
                <a:ea typeface="ＭＳ Ｐゴシック" pitchFamily="34" charset="-128"/>
              </a:rPr>
            </a:br>
            <a:r>
              <a:rPr lang="en-IN" dirty="0">
                <a:latin typeface="Bookman Old Style" pitchFamily="18" charset="0"/>
                <a:ea typeface="ＭＳ Ｐゴシック" pitchFamily="34" charset="-128"/>
              </a:rPr>
              <a:t>because Playfair is reasonably fast to use and requires no special equipment.</a:t>
            </a:r>
          </a:p>
          <a:p>
            <a:pPr marL="0" indent="0" algn="just">
              <a:buNone/>
            </a:pPr>
            <a:r>
              <a:rPr lang="en-AU" altLang="en-US" dirty="0">
                <a:latin typeface="Bookman Old Style" pitchFamily="18" charset="0"/>
                <a:ea typeface="ＭＳ Ｐゴシック" pitchFamily="34" charset="-128"/>
              </a:rPr>
              <a:t>	So we can go for multiple letters substitution                         at a time. The Play fair Cipher is an                                       example of 2 letter substitution at a time.</a:t>
            </a:r>
            <a:br>
              <a:rPr lang="en-IN" dirty="0"/>
            </a:br>
            <a:r>
              <a:rPr lang="en-IN" b="0" i="0" dirty="0">
                <a:solidFill>
                  <a:srgbClr val="273239"/>
                </a:solidFill>
                <a:effectLst/>
                <a:latin typeface="urw-din"/>
              </a:rPr>
              <a:t> </a:t>
            </a:r>
            <a:endParaRPr lang="en-AU" altLang="en-US" dirty="0">
              <a:latin typeface="Bookman Old Style" pitchFamily="18" charset="0"/>
              <a:ea typeface="ＭＳ Ｐゴシック" pitchFamily="34" charset="-128"/>
            </a:endParaRPr>
          </a:p>
          <a:p>
            <a:endParaRPr lang="en-US" dirty="0"/>
          </a:p>
        </p:txBody>
      </p:sp>
      <p:sp>
        <p:nvSpPr>
          <p:cNvPr id="5" name="Slide Number Placeholder 4"/>
          <p:cNvSpPr>
            <a:spLocks noGrp="1"/>
          </p:cNvSpPr>
          <p:nvPr>
            <p:ph type="sldNum" sz="quarter" idx="12"/>
          </p:nvPr>
        </p:nvSpPr>
        <p:spPr/>
        <p:txBody>
          <a:bodyPr/>
          <a:lstStyle/>
          <a:p>
            <a:fld id="{68187FF5-4BF9-4B21-B0D2-9B7FF2B27D7F}" type="slidenum">
              <a:rPr lang="en-AU" smtClean="0"/>
              <a:pPr/>
              <a:t>14</a:t>
            </a:fld>
            <a:endParaRPr lang="en-AU"/>
          </a:p>
        </p:txBody>
      </p:sp>
    </p:spTree>
    <p:extLst>
      <p:ext uri="{BB962C8B-B14F-4D97-AF65-F5344CB8AC3E}">
        <p14:creationId xmlns:p14="http://schemas.microsoft.com/office/powerpoint/2010/main" val="23294953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AU" dirty="0" err="1">
                <a:latin typeface="Bookman Old Style" pitchFamily="18" charset="0"/>
                <a:cs typeface="Arial" panose="020B0604020202020204" pitchFamily="34" charset="0"/>
              </a:rPr>
              <a:t>Playfair</a:t>
            </a:r>
            <a:r>
              <a:rPr lang="en-AU" dirty="0">
                <a:latin typeface="Bookman Old Style" pitchFamily="18" charset="0"/>
                <a:cs typeface="Arial" panose="020B0604020202020204" pitchFamily="34" charset="0"/>
              </a:rPr>
              <a:t> Key Matrix</a:t>
            </a:r>
            <a:endParaRPr lang="en-US" dirty="0">
              <a:latin typeface="Bookman Old Style" pitchFamily="18" charset="0"/>
            </a:endParaRPr>
          </a:p>
        </p:txBody>
      </p:sp>
      <p:sp>
        <p:nvSpPr>
          <p:cNvPr id="3" name="Content Placeholder 2"/>
          <p:cNvSpPr>
            <a:spLocks noGrp="1"/>
          </p:cNvSpPr>
          <p:nvPr>
            <p:ph idx="1"/>
          </p:nvPr>
        </p:nvSpPr>
        <p:spPr/>
        <p:txBody>
          <a:bodyPr/>
          <a:lstStyle/>
          <a:p>
            <a:r>
              <a:rPr lang="en-AU" dirty="0">
                <a:latin typeface="Bookman Old Style" pitchFamily="18" charset="0"/>
                <a:cs typeface="Arial" panose="020B0604020202020204" pitchFamily="34" charset="0"/>
              </a:rPr>
              <a:t>A 5X5 matrix of letters based on a keyword </a:t>
            </a:r>
          </a:p>
          <a:p>
            <a:r>
              <a:rPr lang="en-AU" dirty="0">
                <a:latin typeface="Bookman Old Style" pitchFamily="18" charset="0"/>
                <a:cs typeface="Arial" panose="020B0604020202020204" pitchFamily="34" charset="0"/>
              </a:rPr>
              <a:t>fill the letters of keyword in table first, then other   letters.</a:t>
            </a:r>
          </a:p>
          <a:p>
            <a:r>
              <a:rPr lang="en-AU" dirty="0">
                <a:latin typeface="Bookman Old Style" pitchFamily="18" charset="0"/>
                <a:cs typeface="Arial" panose="020B0604020202020204" pitchFamily="34" charset="0"/>
              </a:rPr>
              <a:t>For Example, using the keyword MONARCHY the table is</a:t>
            </a:r>
          </a:p>
          <a:p>
            <a:endParaRPr lang="en-AU" dirty="0">
              <a:effectLst>
                <a:outerShdw blurRad="38100" dist="38100" dir="2700000" algn="tl">
                  <a:srgbClr val="000000">
                    <a:alpha val="43137"/>
                  </a:srgbClr>
                </a:outerShdw>
              </a:effectLst>
              <a:cs typeface="Arial" panose="020B0604020202020204" pitchFamily="34" charset="0"/>
            </a:endParaRPr>
          </a:p>
          <a:p>
            <a:endParaRPr lang="en-US" dirty="0"/>
          </a:p>
        </p:txBody>
      </p:sp>
      <p:sp>
        <p:nvSpPr>
          <p:cNvPr id="5" name="Slide Number Placeholder 4"/>
          <p:cNvSpPr>
            <a:spLocks noGrp="1"/>
          </p:cNvSpPr>
          <p:nvPr>
            <p:ph type="sldNum" sz="quarter" idx="12"/>
          </p:nvPr>
        </p:nvSpPr>
        <p:spPr/>
        <p:txBody>
          <a:bodyPr/>
          <a:lstStyle/>
          <a:p>
            <a:fld id="{68187FF5-4BF9-4B21-B0D2-9B7FF2B27D7F}" type="slidenum">
              <a:rPr lang="en-AU" smtClean="0"/>
              <a:pPr/>
              <a:t>15</a:t>
            </a:fld>
            <a:endParaRPr lang="en-AU"/>
          </a:p>
        </p:txBody>
      </p:sp>
      <p:graphicFrame>
        <p:nvGraphicFramePr>
          <p:cNvPr id="6" name="Table 5"/>
          <p:cNvGraphicFramePr>
            <a:graphicFrameLocks noGrp="1"/>
          </p:cNvGraphicFramePr>
          <p:nvPr/>
        </p:nvGraphicFramePr>
        <p:xfrm>
          <a:off x="3394804" y="3770607"/>
          <a:ext cx="4158935" cy="2403115"/>
        </p:xfrm>
        <a:graphic>
          <a:graphicData uri="http://schemas.openxmlformats.org/drawingml/2006/table">
            <a:tbl>
              <a:tblPr firstRow="1" bandRow="1">
                <a:tableStyleId>{073A0DAA-6AF3-43AB-8588-CEC1D06C72B9}</a:tableStyleId>
              </a:tblPr>
              <a:tblGrid>
                <a:gridCol w="705108">
                  <a:extLst>
                    <a:ext uri="{9D8B030D-6E8A-4147-A177-3AD203B41FA5}">
                      <a16:colId xmlns:a16="http://schemas.microsoft.com/office/drawing/2014/main" val="20000"/>
                    </a:ext>
                  </a:extLst>
                </a:gridCol>
                <a:gridCol w="828294">
                  <a:extLst>
                    <a:ext uri="{9D8B030D-6E8A-4147-A177-3AD203B41FA5}">
                      <a16:colId xmlns:a16="http://schemas.microsoft.com/office/drawing/2014/main" val="20001"/>
                    </a:ext>
                  </a:extLst>
                </a:gridCol>
                <a:gridCol w="890805">
                  <a:extLst>
                    <a:ext uri="{9D8B030D-6E8A-4147-A177-3AD203B41FA5}">
                      <a16:colId xmlns:a16="http://schemas.microsoft.com/office/drawing/2014/main" val="20002"/>
                    </a:ext>
                  </a:extLst>
                </a:gridCol>
                <a:gridCol w="859550">
                  <a:extLst>
                    <a:ext uri="{9D8B030D-6E8A-4147-A177-3AD203B41FA5}">
                      <a16:colId xmlns:a16="http://schemas.microsoft.com/office/drawing/2014/main" val="20003"/>
                    </a:ext>
                  </a:extLst>
                </a:gridCol>
                <a:gridCol w="875178">
                  <a:extLst>
                    <a:ext uri="{9D8B030D-6E8A-4147-A177-3AD203B41FA5}">
                      <a16:colId xmlns:a16="http://schemas.microsoft.com/office/drawing/2014/main" val="20004"/>
                    </a:ext>
                  </a:extLst>
                </a:gridCol>
              </a:tblGrid>
              <a:tr h="480623">
                <a:tc>
                  <a:txBody>
                    <a:bodyPr/>
                    <a:lstStyle/>
                    <a:p>
                      <a:r>
                        <a:rPr lang="en-US" dirty="0"/>
                        <a:t>M</a:t>
                      </a:r>
                    </a:p>
                  </a:txBody>
                  <a:tcPr/>
                </a:tc>
                <a:tc>
                  <a:txBody>
                    <a:bodyPr/>
                    <a:lstStyle/>
                    <a:p>
                      <a:r>
                        <a:rPr lang="en-US" dirty="0"/>
                        <a:t>O</a:t>
                      </a:r>
                    </a:p>
                  </a:txBody>
                  <a:tcPr/>
                </a:tc>
                <a:tc>
                  <a:txBody>
                    <a:bodyPr/>
                    <a:lstStyle/>
                    <a:p>
                      <a:r>
                        <a:rPr lang="en-US" dirty="0"/>
                        <a:t>N</a:t>
                      </a:r>
                    </a:p>
                  </a:txBody>
                  <a:tcPr/>
                </a:tc>
                <a:tc>
                  <a:txBody>
                    <a:bodyPr/>
                    <a:lstStyle/>
                    <a:p>
                      <a:r>
                        <a:rPr lang="en-US" dirty="0"/>
                        <a:t>A</a:t>
                      </a:r>
                    </a:p>
                  </a:txBody>
                  <a:tcPr/>
                </a:tc>
                <a:tc>
                  <a:txBody>
                    <a:bodyPr/>
                    <a:lstStyle/>
                    <a:p>
                      <a:r>
                        <a:rPr lang="en-US" dirty="0"/>
                        <a:t>R</a:t>
                      </a:r>
                    </a:p>
                  </a:txBody>
                  <a:tcPr/>
                </a:tc>
                <a:extLst>
                  <a:ext uri="{0D108BD9-81ED-4DB2-BD59-A6C34878D82A}">
                    <a16:rowId xmlns:a16="http://schemas.microsoft.com/office/drawing/2014/main" val="10000"/>
                  </a:ext>
                </a:extLst>
              </a:tr>
              <a:tr h="480623">
                <a:tc>
                  <a:txBody>
                    <a:bodyPr/>
                    <a:lstStyle/>
                    <a:p>
                      <a:r>
                        <a:rPr lang="en-US" dirty="0"/>
                        <a:t>C</a:t>
                      </a:r>
                    </a:p>
                  </a:txBody>
                  <a:tcPr/>
                </a:tc>
                <a:tc>
                  <a:txBody>
                    <a:bodyPr/>
                    <a:lstStyle/>
                    <a:p>
                      <a:r>
                        <a:rPr lang="en-US" dirty="0"/>
                        <a:t>H</a:t>
                      </a:r>
                    </a:p>
                  </a:txBody>
                  <a:tcPr/>
                </a:tc>
                <a:tc>
                  <a:txBody>
                    <a:bodyPr/>
                    <a:lstStyle/>
                    <a:p>
                      <a:r>
                        <a:rPr lang="en-US" dirty="0"/>
                        <a:t>Y</a:t>
                      </a:r>
                    </a:p>
                  </a:txBody>
                  <a:tcPr/>
                </a:tc>
                <a:tc>
                  <a:txBody>
                    <a:bodyPr/>
                    <a:lstStyle/>
                    <a:p>
                      <a:r>
                        <a:rPr lang="en-US" dirty="0"/>
                        <a:t>B</a:t>
                      </a:r>
                    </a:p>
                  </a:txBody>
                  <a:tcPr/>
                </a:tc>
                <a:tc>
                  <a:txBody>
                    <a:bodyPr/>
                    <a:lstStyle/>
                    <a:p>
                      <a:r>
                        <a:rPr lang="en-US" dirty="0"/>
                        <a:t>D</a:t>
                      </a:r>
                    </a:p>
                  </a:txBody>
                  <a:tcPr/>
                </a:tc>
                <a:extLst>
                  <a:ext uri="{0D108BD9-81ED-4DB2-BD59-A6C34878D82A}">
                    <a16:rowId xmlns:a16="http://schemas.microsoft.com/office/drawing/2014/main" val="10001"/>
                  </a:ext>
                </a:extLst>
              </a:tr>
              <a:tr h="480623">
                <a:tc>
                  <a:txBody>
                    <a:bodyPr/>
                    <a:lstStyle/>
                    <a:p>
                      <a:r>
                        <a:rPr lang="en-US" dirty="0"/>
                        <a:t> E</a:t>
                      </a:r>
                    </a:p>
                  </a:txBody>
                  <a:tcPr/>
                </a:tc>
                <a:tc>
                  <a:txBody>
                    <a:bodyPr/>
                    <a:lstStyle/>
                    <a:p>
                      <a:r>
                        <a:rPr lang="en-US" dirty="0"/>
                        <a:t>F</a:t>
                      </a:r>
                    </a:p>
                  </a:txBody>
                  <a:tcPr/>
                </a:tc>
                <a:tc>
                  <a:txBody>
                    <a:bodyPr/>
                    <a:lstStyle/>
                    <a:p>
                      <a:r>
                        <a:rPr lang="en-US" dirty="0"/>
                        <a:t>G</a:t>
                      </a:r>
                    </a:p>
                  </a:txBody>
                  <a:tcPr/>
                </a:tc>
                <a:tc>
                  <a:txBody>
                    <a:bodyPr/>
                    <a:lstStyle/>
                    <a:p>
                      <a:r>
                        <a:rPr lang="en-US" dirty="0"/>
                        <a:t>I/J</a:t>
                      </a:r>
                    </a:p>
                  </a:txBody>
                  <a:tcPr/>
                </a:tc>
                <a:tc>
                  <a:txBody>
                    <a:bodyPr/>
                    <a:lstStyle/>
                    <a:p>
                      <a:r>
                        <a:rPr lang="en-US" dirty="0"/>
                        <a:t>K</a:t>
                      </a:r>
                    </a:p>
                  </a:txBody>
                  <a:tcPr/>
                </a:tc>
                <a:extLst>
                  <a:ext uri="{0D108BD9-81ED-4DB2-BD59-A6C34878D82A}">
                    <a16:rowId xmlns:a16="http://schemas.microsoft.com/office/drawing/2014/main" val="10002"/>
                  </a:ext>
                </a:extLst>
              </a:tr>
              <a:tr h="480623">
                <a:tc>
                  <a:txBody>
                    <a:bodyPr/>
                    <a:lstStyle/>
                    <a:p>
                      <a:r>
                        <a:rPr lang="en-US" dirty="0"/>
                        <a:t>L</a:t>
                      </a:r>
                    </a:p>
                  </a:txBody>
                  <a:tcPr/>
                </a:tc>
                <a:tc>
                  <a:txBody>
                    <a:bodyPr/>
                    <a:lstStyle/>
                    <a:p>
                      <a:r>
                        <a:rPr lang="en-US" dirty="0"/>
                        <a:t>P</a:t>
                      </a:r>
                    </a:p>
                  </a:txBody>
                  <a:tcPr/>
                </a:tc>
                <a:tc>
                  <a:txBody>
                    <a:bodyPr/>
                    <a:lstStyle/>
                    <a:p>
                      <a:r>
                        <a:rPr lang="en-US" dirty="0"/>
                        <a:t>Q</a:t>
                      </a:r>
                    </a:p>
                  </a:txBody>
                  <a:tcPr/>
                </a:tc>
                <a:tc>
                  <a:txBody>
                    <a:bodyPr/>
                    <a:lstStyle/>
                    <a:p>
                      <a:r>
                        <a:rPr lang="en-US" dirty="0"/>
                        <a:t>S</a:t>
                      </a:r>
                    </a:p>
                  </a:txBody>
                  <a:tcPr/>
                </a:tc>
                <a:tc>
                  <a:txBody>
                    <a:bodyPr/>
                    <a:lstStyle/>
                    <a:p>
                      <a:r>
                        <a:rPr lang="en-US" dirty="0"/>
                        <a:t>T</a:t>
                      </a:r>
                    </a:p>
                  </a:txBody>
                  <a:tcPr/>
                </a:tc>
                <a:extLst>
                  <a:ext uri="{0D108BD9-81ED-4DB2-BD59-A6C34878D82A}">
                    <a16:rowId xmlns:a16="http://schemas.microsoft.com/office/drawing/2014/main" val="10003"/>
                  </a:ext>
                </a:extLst>
              </a:tr>
              <a:tr h="480623">
                <a:tc>
                  <a:txBody>
                    <a:bodyPr/>
                    <a:lstStyle/>
                    <a:p>
                      <a:r>
                        <a:rPr lang="en-US" dirty="0"/>
                        <a:t>U</a:t>
                      </a:r>
                    </a:p>
                  </a:txBody>
                  <a:tcPr/>
                </a:tc>
                <a:tc>
                  <a:txBody>
                    <a:bodyPr/>
                    <a:lstStyle/>
                    <a:p>
                      <a:r>
                        <a:rPr lang="en-US" dirty="0"/>
                        <a:t>V</a:t>
                      </a:r>
                    </a:p>
                  </a:txBody>
                  <a:tcPr/>
                </a:tc>
                <a:tc>
                  <a:txBody>
                    <a:bodyPr/>
                    <a:lstStyle/>
                    <a:p>
                      <a:r>
                        <a:rPr lang="en-US" dirty="0"/>
                        <a:t>W</a:t>
                      </a:r>
                    </a:p>
                  </a:txBody>
                  <a:tcPr/>
                </a:tc>
                <a:tc>
                  <a:txBody>
                    <a:bodyPr/>
                    <a:lstStyle/>
                    <a:p>
                      <a:r>
                        <a:rPr lang="en-US" dirty="0"/>
                        <a:t>X</a:t>
                      </a:r>
                    </a:p>
                  </a:txBody>
                  <a:tcPr/>
                </a:tc>
                <a:tc>
                  <a:txBody>
                    <a:bodyPr/>
                    <a:lstStyle/>
                    <a:p>
                      <a:r>
                        <a:rPr lang="en-US" dirty="0"/>
                        <a:t>Z</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8015850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D05D22-AC79-4A59-A4D4-FB178DEB1CA3}"/>
              </a:ext>
            </a:extLst>
          </p:cNvPr>
          <p:cNvSpPr>
            <a:spLocks noGrp="1"/>
          </p:cNvSpPr>
          <p:nvPr>
            <p:ph type="title"/>
          </p:nvPr>
        </p:nvSpPr>
        <p:spPr>
          <a:xfrm>
            <a:off x="464234" y="176440"/>
            <a:ext cx="10889566" cy="605546"/>
          </a:xfrm>
        </p:spPr>
        <p:txBody>
          <a:bodyPr>
            <a:normAutofit fontScale="90000"/>
          </a:bodyPr>
          <a:lstStyle/>
          <a:p>
            <a:r>
              <a:rPr lang="en-US" b="1" dirty="0">
                <a:solidFill>
                  <a:srgbClr val="C00000"/>
                </a:solidFill>
              </a:rPr>
              <a:t>Playfair Cipher</a:t>
            </a:r>
          </a:p>
        </p:txBody>
      </p:sp>
      <p:sp>
        <p:nvSpPr>
          <p:cNvPr id="3" name="Content Placeholder 2">
            <a:extLst>
              <a:ext uri="{FF2B5EF4-FFF2-40B4-BE49-F238E27FC236}">
                <a16:creationId xmlns:a16="http://schemas.microsoft.com/office/drawing/2014/main" id="{A9251F9D-7420-453F-BB3B-B479437D5DEA}"/>
              </a:ext>
            </a:extLst>
          </p:cNvPr>
          <p:cNvSpPr>
            <a:spLocks noGrp="1"/>
          </p:cNvSpPr>
          <p:nvPr>
            <p:ph idx="1"/>
          </p:nvPr>
        </p:nvSpPr>
        <p:spPr>
          <a:xfrm>
            <a:off x="538375" y="657144"/>
            <a:ext cx="11324492" cy="5908413"/>
          </a:xfrm>
        </p:spPr>
        <p:txBody>
          <a:bodyPr>
            <a:normAutofit/>
          </a:bodyPr>
          <a:lstStyle/>
          <a:p>
            <a:pPr algn="just"/>
            <a:r>
              <a:rPr lang="en-US" sz="2000" dirty="0">
                <a:solidFill>
                  <a:srgbClr val="273239"/>
                </a:solidFill>
                <a:latin typeface="Bookman Old Style" panose="02050604050505020204" pitchFamily="18" charset="0"/>
              </a:rPr>
              <a:t>The Playfair cipher was the first practical </a:t>
            </a:r>
            <a:r>
              <a:rPr lang="en-US" sz="2000" b="1" dirty="0">
                <a:solidFill>
                  <a:srgbClr val="273239"/>
                </a:solidFill>
                <a:latin typeface="Bookman Old Style" panose="02050604050505020204" pitchFamily="18" charset="0"/>
              </a:rPr>
              <a:t>digraph substitution cipher.</a:t>
            </a:r>
          </a:p>
          <a:p>
            <a:pPr algn="just"/>
            <a:r>
              <a:rPr lang="en-US" sz="2000" dirty="0">
                <a:solidFill>
                  <a:srgbClr val="273239"/>
                </a:solidFill>
                <a:latin typeface="Bookman Old Style" panose="02050604050505020204" pitchFamily="18" charset="0"/>
              </a:rPr>
              <a:t>The Playfair cipher encrypts pairs of letters (digraphs), instead of single letters. </a:t>
            </a:r>
          </a:p>
          <a:p>
            <a:pPr algn="just"/>
            <a:r>
              <a:rPr lang="en-US" sz="2000" dirty="0">
                <a:solidFill>
                  <a:srgbClr val="273239"/>
                </a:solidFill>
                <a:latin typeface="Bookman Old Style" panose="02050604050505020204" pitchFamily="18" charset="0"/>
              </a:rPr>
              <a:t>This is significantly harder to break. </a:t>
            </a:r>
          </a:p>
          <a:p>
            <a:pPr marL="0" indent="0">
              <a:buNone/>
            </a:pPr>
            <a:r>
              <a:rPr lang="en-US" sz="2400" b="1" i="0" dirty="0">
                <a:solidFill>
                  <a:srgbClr val="273239"/>
                </a:solidFill>
                <a:effectLst/>
                <a:latin typeface="Bookman Old Style" panose="02050604050505020204" pitchFamily="18" charset="0"/>
              </a:rPr>
              <a:t>Method:</a:t>
            </a:r>
          </a:p>
          <a:p>
            <a:pPr algn="just"/>
            <a:r>
              <a:rPr lang="en-US" sz="2000" dirty="0">
                <a:solidFill>
                  <a:srgbClr val="273239"/>
                </a:solidFill>
                <a:latin typeface="Bookman Old Style" panose="02050604050505020204" pitchFamily="18" charset="0"/>
              </a:rPr>
              <a:t>The Playfair cipher uses a 5 by 5 table containing a key word or phrase. </a:t>
            </a:r>
          </a:p>
          <a:p>
            <a:pPr algn="just"/>
            <a:r>
              <a:rPr lang="en-US" sz="2000" dirty="0">
                <a:solidFill>
                  <a:srgbClr val="273239"/>
                </a:solidFill>
                <a:latin typeface="Bookman Old Style" panose="02050604050505020204" pitchFamily="18" charset="0"/>
              </a:rPr>
              <a:t>To generate the table, one would first fill in the spaces of the table with the letters of the keyword (dropping any duplicate letters). </a:t>
            </a:r>
          </a:p>
          <a:p>
            <a:pPr algn="just"/>
            <a:r>
              <a:rPr lang="en-US" sz="2000" dirty="0">
                <a:solidFill>
                  <a:srgbClr val="273239"/>
                </a:solidFill>
                <a:latin typeface="Bookman Old Style" panose="02050604050505020204" pitchFamily="18" charset="0"/>
              </a:rPr>
              <a:t>Then fill the remaining spaces with the rest of the letters of the alphabet in order (to reduce the alphabet to fit you can either omit "Q" or replace "J" with "I"). </a:t>
            </a:r>
          </a:p>
          <a:p>
            <a:pPr algn="just"/>
            <a:r>
              <a:rPr lang="en-US" sz="2000" dirty="0">
                <a:solidFill>
                  <a:srgbClr val="273239"/>
                </a:solidFill>
                <a:latin typeface="Bookman Old Style" panose="02050604050505020204" pitchFamily="18" charset="0"/>
              </a:rPr>
              <a:t>In the example to the right, the key is "keyword".</a:t>
            </a:r>
          </a:p>
        </p:txBody>
      </p:sp>
      <p:pic>
        <p:nvPicPr>
          <p:cNvPr id="5" name="Picture 4">
            <a:extLst>
              <a:ext uri="{FF2B5EF4-FFF2-40B4-BE49-F238E27FC236}">
                <a16:creationId xmlns:a16="http://schemas.microsoft.com/office/drawing/2014/main" id="{C237E921-DBA1-4575-9804-F86DACC7E582}"/>
              </a:ext>
            </a:extLst>
          </p:cNvPr>
          <p:cNvPicPr>
            <a:picLocks noChangeAspect="1"/>
          </p:cNvPicPr>
          <p:nvPr/>
        </p:nvPicPr>
        <p:blipFill>
          <a:blip r:embed="rId3"/>
          <a:srcRect l="7415" t="3183" r="5577" b="7203"/>
          <a:stretch>
            <a:fillRect/>
          </a:stretch>
        </p:blipFill>
        <p:spPr>
          <a:xfrm>
            <a:off x="8789773" y="3995351"/>
            <a:ext cx="2479589" cy="2479590"/>
          </a:xfrm>
          <a:prstGeom prst="rect">
            <a:avLst/>
          </a:prstGeom>
        </p:spPr>
      </p:pic>
    </p:spTree>
    <p:extLst>
      <p:ext uri="{BB962C8B-B14F-4D97-AF65-F5344CB8AC3E}">
        <p14:creationId xmlns:p14="http://schemas.microsoft.com/office/powerpoint/2010/main" val="11341393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BC02F-E680-4815-93BD-0ECF17109751}"/>
              </a:ext>
            </a:extLst>
          </p:cNvPr>
          <p:cNvSpPr>
            <a:spLocks noGrp="1"/>
          </p:cNvSpPr>
          <p:nvPr>
            <p:ph type="title"/>
          </p:nvPr>
        </p:nvSpPr>
        <p:spPr>
          <a:xfrm>
            <a:off x="205153" y="230188"/>
            <a:ext cx="10515600" cy="591463"/>
          </a:xfrm>
        </p:spPr>
        <p:txBody>
          <a:bodyPr>
            <a:normAutofit fontScale="90000"/>
          </a:bodyPr>
          <a:lstStyle/>
          <a:p>
            <a:r>
              <a:rPr lang="en-US" b="1" dirty="0">
                <a:solidFill>
                  <a:srgbClr val="C00000"/>
                </a:solidFill>
              </a:rPr>
              <a:t>Playfair Cipher…</a:t>
            </a:r>
            <a:endParaRPr lang="en-US" dirty="0"/>
          </a:p>
        </p:txBody>
      </p:sp>
      <p:sp>
        <p:nvSpPr>
          <p:cNvPr id="5" name="TextBox 4">
            <a:extLst>
              <a:ext uri="{FF2B5EF4-FFF2-40B4-BE49-F238E27FC236}">
                <a16:creationId xmlns:a16="http://schemas.microsoft.com/office/drawing/2014/main" id="{5BE63A9F-4733-4D5B-867C-3772C87757A2}"/>
              </a:ext>
            </a:extLst>
          </p:cNvPr>
          <p:cNvSpPr txBox="1"/>
          <p:nvPr/>
        </p:nvSpPr>
        <p:spPr>
          <a:xfrm>
            <a:off x="205153" y="1026942"/>
            <a:ext cx="11183815" cy="5016758"/>
          </a:xfrm>
          <a:prstGeom prst="rect">
            <a:avLst/>
          </a:prstGeom>
          <a:noFill/>
        </p:spPr>
        <p:txBody>
          <a:bodyPr wrap="square">
            <a:spAutoFit/>
          </a:bodyPr>
          <a:lstStyle/>
          <a:p>
            <a:pPr marL="285750" indent="-285750" algn="l">
              <a:buFont typeface="Arial" panose="020B0604020202020204" pitchFamily="34" charset="0"/>
              <a:buChar char="•"/>
            </a:pPr>
            <a:r>
              <a:rPr lang="en-US" sz="1600" b="0" i="0" dirty="0">
                <a:solidFill>
                  <a:srgbClr val="000000"/>
                </a:solidFill>
                <a:effectLst/>
                <a:latin typeface="Bookman Old Style" panose="02050604050505020204" pitchFamily="18" charset="0"/>
              </a:rPr>
              <a:t>To encrypt a message, one would break the message into groups of 2 letters. If there is a dangling letter at the end, we add an X. For example. "Secret Message" becomes "SE CR ET ME SS AG EX". We now take each group and find them out on the table. Noticing the location of the two letters in the table, we apply the following rules, in order.</a:t>
            </a:r>
          </a:p>
          <a:p>
            <a:pPr lvl="2">
              <a:buFont typeface="+mj-lt"/>
              <a:buAutoNum type="arabicPeriod"/>
            </a:pPr>
            <a:r>
              <a:rPr lang="en-US" sz="1600" b="0" i="0" dirty="0">
                <a:solidFill>
                  <a:srgbClr val="000000"/>
                </a:solidFill>
                <a:effectLst/>
                <a:latin typeface="Bookman Old Style" panose="02050604050505020204" pitchFamily="18" charset="0"/>
              </a:rPr>
              <a:t>If both letters are the same, add an X between them. Encrypt the new pair, re-pair the remining letters and continue.</a:t>
            </a:r>
          </a:p>
          <a:p>
            <a:pPr lvl="2">
              <a:buFont typeface="+mj-lt"/>
              <a:buAutoNum type="arabicPeriod"/>
            </a:pPr>
            <a:r>
              <a:rPr lang="en-US" sz="1600" b="0" i="0" dirty="0">
                <a:solidFill>
                  <a:srgbClr val="000000"/>
                </a:solidFill>
                <a:effectLst/>
                <a:latin typeface="Bookman Old Style" panose="02050604050505020204" pitchFamily="18" charset="0"/>
              </a:rPr>
              <a:t>If the letters appear on the same row of your table, replace them with the letters to their immediate right respectively, wrapping around to the left side of the row if necessary. For example, using the table above, the letter pair GJ would be encoded as HF.</a:t>
            </a:r>
          </a:p>
          <a:p>
            <a:pPr lvl="2">
              <a:buFont typeface="+mj-lt"/>
              <a:buAutoNum type="arabicPeriod"/>
            </a:pPr>
            <a:r>
              <a:rPr lang="en-US" sz="1600" b="0" i="0" dirty="0">
                <a:solidFill>
                  <a:srgbClr val="000000"/>
                </a:solidFill>
                <a:effectLst/>
                <a:latin typeface="Bookman Old Style" panose="02050604050505020204" pitchFamily="18" charset="0"/>
              </a:rPr>
              <a:t>If the letters appear on the same column of your table, replace them with the letters immediately below, wrapping around to the top if necessary. For example, using the table above, the letter pair MD would be encoded as UG.</a:t>
            </a:r>
          </a:p>
          <a:p>
            <a:pPr lvl="2">
              <a:buFont typeface="+mj-lt"/>
              <a:buAutoNum type="arabicPeriod"/>
            </a:pPr>
            <a:r>
              <a:rPr lang="en-US" sz="1600" b="0" i="0" dirty="0">
                <a:solidFill>
                  <a:srgbClr val="000000"/>
                </a:solidFill>
                <a:effectLst/>
                <a:latin typeface="Bookman Old Style" panose="02050604050505020204" pitchFamily="18" charset="0"/>
              </a:rPr>
              <a:t>If the letters are on different rows and columns, replace them with the letters on the same row respectively but at the other pair of corners of the rectangle defined by the original pair. The order is important - the first letter of the pair should be replaced first. For example, using the table above, the letter pair EB would be encoded as WD.</a:t>
            </a:r>
          </a:p>
          <a:p>
            <a:pPr lvl="1"/>
            <a:endParaRPr lang="en-US" sz="1600" b="0" i="0" dirty="0">
              <a:solidFill>
                <a:srgbClr val="000000"/>
              </a:solidFill>
              <a:effectLst/>
              <a:latin typeface="Bookman Old Style" panose="02050604050505020204" pitchFamily="18" charset="0"/>
            </a:endParaRPr>
          </a:p>
          <a:p>
            <a:pPr marL="285750" indent="-285750" algn="l">
              <a:buFont typeface="Arial" panose="020B0604020202020204" pitchFamily="34" charset="0"/>
              <a:buChar char="•"/>
            </a:pPr>
            <a:r>
              <a:rPr lang="en-US" sz="1600" b="0" i="0" dirty="0">
                <a:solidFill>
                  <a:srgbClr val="000000"/>
                </a:solidFill>
                <a:effectLst/>
                <a:latin typeface="Bookman Old Style" panose="02050604050505020204" pitchFamily="18" charset="0"/>
              </a:rPr>
              <a:t>To decipher, ignore rule 1. In rules 2 and 3 shift up and left instead of down and right. Rule 4 remains the same. Once you are done, drop any extra </a:t>
            </a:r>
            <a:r>
              <a:rPr lang="en-US" sz="1600" b="0" i="0" dirty="0" err="1">
                <a:solidFill>
                  <a:srgbClr val="000000"/>
                </a:solidFill>
                <a:effectLst/>
                <a:latin typeface="Bookman Old Style" panose="02050604050505020204" pitchFamily="18" charset="0"/>
              </a:rPr>
              <a:t>Xs</a:t>
            </a:r>
            <a:r>
              <a:rPr lang="en-US" sz="1600" b="0" i="0" dirty="0">
                <a:solidFill>
                  <a:srgbClr val="000000"/>
                </a:solidFill>
                <a:effectLst/>
                <a:latin typeface="Bookman Old Style" panose="02050604050505020204" pitchFamily="18" charset="0"/>
              </a:rPr>
              <a:t> that don't make sense in the final message and locate any missing Qs or any Is that should be </a:t>
            </a:r>
            <a:r>
              <a:rPr lang="en-US" sz="1600" b="0" i="0" dirty="0" err="1">
                <a:solidFill>
                  <a:srgbClr val="000000"/>
                </a:solidFill>
                <a:effectLst/>
                <a:latin typeface="Bookman Old Style" panose="02050604050505020204" pitchFamily="18" charset="0"/>
              </a:rPr>
              <a:t>Js</a:t>
            </a:r>
            <a:r>
              <a:rPr lang="en-US" sz="1600" b="0" i="0" dirty="0">
                <a:solidFill>
                  <a:srgbClr val="000000"/>
                </a:solidFill>
                <a:effectLst/>
                <a:latin typeface="Bookman Old Style" panose="02050604050505020204" pitchFamily="18" charset="0"/>
              </a:rPr>
              <a:t>.</a:t>
            </a:r>
          </a:p>
        </p:txBody>
      </p:sp>
    </p:spTree>
    <p:extLst>
      <p:ext uri="{BB962C8B-B14F-4D97-AF65-F5344CB8AC3E}">
        <p14:creationId xmlns:p14="http://schemas.microsoft.com/office/powerpoint/2010/main" val="19724944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CE07E5-58BE-4B7D-AC12-280565520B35}"/>
              </a:ext>
            </a:extLst>
          </p:cNvPr>
          <p:cNvSpPr>
            <a:spLocks noGrp="1"/>
          </p:cNvSpPr>
          <p:nvPr>
            <p:ph type="title"/>
          </p:nvPr>
        </p:nvSpPr>
        <p:spPr>
          <a:xfrm>
            <a:off x="126609" y="0"/>
            <a:ext cx="10515600" cy="681037"/>
          </a:xfrm>
        </p:spPr>
        <p:txBody>
          <a:bodyPr>
            <a:normAutofit fontScale="90000"/>
          </a:bodyPr>
          <a:lstStyle/>
          <a:p>
            <a:r>
              <a:rPr lang="en-US" b="1" dirty="0">
                <a:solidFill>
                  <a:srgbClr val="C00000"/>
                </a:solidFill>
              </a:rPr>
              <a:t>Playfair Cipher example</a:t>
            </a:r>
            <a:endParaRPr lang="en-US" dirty="0"/>
          </a:p>
        </p:txBody>
      </p:sp>
      <p:sp>
        <p:nvSpPr>
          <p:cNvPr id="3" name="Content Placeholder 2">
            <a:extLst>
              <a:ext uri="{FF2B5EF4-FFF2-40B4-BE49-F238E27FC236}">
                <a16:creationId xmlns:a16="http://schemas.microsoft.com/office/drawing/2014/main" id="{2CC64B33-633A-4821-ABA0-A514E2762567}"/>
              </a:ext>
            </a:extLst>
          </p:cNvPr>
          <p:cNvSpPr>
            <a:spLocks noGrp="1"/>
          </p:cNvSpPr>
          <p:nvPr>
            <p:ph idx="1"/>
          </p:nvPr>
        </p:nvSpPr>
        <p:spPr>
          <a:xfrm>
            <a:off x="233289" y="883089"/>
            <a:ext cx="10515600" cy="4351338"/>
          </a:xfrm>
        </p:spPr>
        <p:txBody>
          <a:bodyPr/>
          <a:lstStyle/>
          <a:p>
            <a:r>
              <a:rPr lang="en-US" sz="2000" dirty="0">
                <a:latin typeface="Bookman Old Style" pitchFamily="18" charset="0"/>
              </a:rPr>
              <a:t>Key: MONARCHY                     Message: instruments</a:t>
            </a:r>
          </a:p>
          <a:p>
            <a:r>
              <a:rPr lang="en-US" sz="2000" dirty="0">
                <a:latin typeface="Bookman Old Style" pitchFamily="18" charset="0"/>
              </a:rPr>
              <a:t>After Split: 'in' '</a:t>
            </a:r>
            <a:r>
              <a:rPr lang="en-US" sz="2000" dirty="0" err="1">
                <a:latin typeface="Bookman Old Style" pitchFamily="18" charset="0"/>
              </a:rPr>
              <a:t>st</a:t>
            </a:r>
            <a:r>
              <a:rPr lang="en-US" sz="2000" dirty="0">
                <a:latin typeface="Bookman Old Style" pitchFamily="18" charset="0"/>
              </a:rPr>
              <a:t>' '</a:t>
            </a:r>
            <a:r>
              <a:rPr lang="en-US" sz="2000" dirty="0" err="1">
                <a:latin typeface="Bookman Old Style" pitchFamily="18" charset="0"/>
              </a:rPr>
              <a:t>ru</a:t>
            </a:r>
            <a:r>
              <a:rPr lang="en-US" sz="2000" dirty="0">
                <a:latin typeface="Bookman Old Style" pitchFamily="18" charset="0"/>
              </a:rPr>
              <a:t>' 'me' '</a:t>
            </a:r>
            <a:r>
              <a:rPr lang="en-US" sz="2000" dirty="0" err="1">
                <a:latin typeface="Bookman Old Style" pitchFamily="18" charset="0"/>
              </a:rPr>
              <a:t>nt</a:t>
            </a:r>
            <a:r>
              <a:rPr lang="en-US" sz="2000" dirty="0">
                <a:latin typeface="Bookman Old Style" pitchFamily="18" charset="0"/>
              </a:rPr>
              <a:t>' ‘</a:t>
            </a:r>
            <a:r>
              <a:rPr lang="en-US" sz="2000" dirty="0" err="1">
                <a:latin typeface="Bookman Old Style" pitchFamily="18" charset="0"/>
              </a:rPr>
              <a:t>sz</a:t>
            </a:r>
            <a:r>
              <a:rPr lang="en-US" sz="2000" dirty="0">
                <a:latin typeface="Bookman Old Style" pitchFamily="18" charset="0"/>
              </a:rPr>
              <a:t>‘</a:t>
            </a:r>
          </a:p>
          <a:p>
            <a:r>
              <a:rPr lang="en-AU" altLang="en-US" sz="2000" dirty="0">
                <a:latin typeface="Bookman Old Style" pitchFamily="18" charset="0"/>
              </a:rPr>
              <a:t>Here z is padded to make even number of characters</a:t>
            </a:r>
          </a:p>
          <a:p>
            <a:r>
              <a:rPr lang="en-US" sz="2000" dirty="0">
                <a:latin typeface="Bookman Old Style" pitchFamily="18" charset="0"/>
              </a:rPr>
              <a:t>Cipher text: </a:t>
            </a:r>
            <a:r>
              <a:rPr lang="en-US" sz="2000" dirty="0" err="1">
                <a:latin typeface="Bookman Old Style" pitchFamily="18" charset="0"/>
              </a:rPr>
              <a:t>gatlmzclrqtx</a:t>
            </a:r>
            <a:endParaRPr lang="en-AU" altLang="en-US" sz="2000" dirty="0">
              <a:latin typeface="Bookman Old Style" pitchFamily="18" charset="0"/>
            </a:endParaRPr>
          </a:p>
          <a:p>
            <a:endParaRPr lang="en-US" sz="2000" dirty="0">
              <a:latin typeface="Bookman Old Style" pitchFamily="18" charset="0"/>
            </a:endParaRPr>
          </a:p>
          <a:p>
            <a:endParaRPr lang="en-US" dirty="0"/>
          </a:p>
        </p:txBody>
      </p:sp>
      <p:pic>
        <p:nvPicPr>
          <p:cNvPr id="5122" name="Picture 2">
            <a:extLst>
              <a:ext uri="{FF2B5EF4-FFF2-40B4-BE49-F238E27FC236}">
                <a16:creationId xmlns:a16="http://schemas.microsoft.com/office/drawing/2014/main" id="{C7710FA7-1798-41DA-BA62-D9C37B5C48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639" y="2534716"/>
            <a:ext cx="10855569" cy="44114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555721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63FE7065-92A2-4BC1-B9FA-2FE5822C43AC}"/>
              </a:ext>
            </a:extLst>
          </p:cNvPr>
          <p:cNvSpPr>
            <a:spLocks noGrp="1"/>
          </p:cNvSpPr>
          <p:nvPr>
            <p:ph type="ftr" sz="quarter" idx="11"/>
          </p:nvPr>
        </p:nvSpPr>
        <p:spPr/>
        <p:txBody>
          <a:bodyPr/>
          <a:lstStyle/>
          <a:p>
            <a:r>
              <a:rPr lang="en-AU"/>
              <a:t>© 2016 KL University – The contents of this presentation are an intellectual and copyrighted property of KL University. ALL RIGHTS RESERVED</a:t>
            </a:r>
            <a:endParaRPr lang="en-AU" dirty="0"/>
          </a:p>
        </p:txBody>
      </p:sp>
      <p:sp>
        <p:nvSpPr>
          <p:cNvPr id="5" name="Slide Number Placeholder 4">
            <a:extLst>
              <a:ext uri="{FF2B5EF4-FFF2-40B4-BE49-F238E27FC236}">
                <a16:creationId xmlns:a16="http://schemas.microsoft.com/office/drawing/2014/main" id="{DB2C5E8F-5C6B-4BDC-AF89-48720FB90A8E}"/>
              </a:ext>
            </a:extLst>
          </p:cNvPr>
          <p:cNvSpPr>
            <a:spLocks noGrp="1"/>
          </p:cNvSpPr>
          <p:nvPr>
            <p:ph type="sldNum" sz="quarter" idx="12"/>
          </p:nvPr>
        </p:nvSpPr>
        <p:spPr/>
        <p:txBody>
          <a:bodyPr/>
          <a:lstStyle/>
          <a:p>
            <a:fld id="{68187FF5-4BF9-4B21-B0D2-9B7FF2B27D7F}" type="slidenum">
              <a:rPr lang="en-AU" smtClean="0"/>
              <a:pPr/>
              <a:t>19</a:t>
            </a:fld>
            <a:endParaRPr lang="en-AU"/>
          </a:p>
        </p:txBody>
      </p:sp>
      <p:pic>
        <p:nvPicPr>
          <p:cNvPr id="7" name="Picture 6">
            <a:extLst>
              <a:ext uri="{FF2B5EF4-FFF2-40B4-BE49-F238E27FC236}">
                <a16:creationId xmlns:a16="http://schemas.microsoft.com/office/drawing/2014/main" id="{D8EBE9AE-CDC2-43FC-B5F1-B7CFC487975A}"/>
              </a:ext>
            </a:extLst>
          </p:cNvPr>
          <p:cNvPicPr>
            <a:picLocks noChangeAspect="1"/>
          </p:cNvPicPr>
          <p:nvPr/>
        </p:nvPicPr>
        <p:blipFill rotWithShape="1">
          <a:blip r:embed="rId2"/>
          <a:srcRect l="30326" t="18536" r="30217" b="43958"/>
          <a:stretch/>
        </p:blipFill>
        <p:spPr>
          <a:xfrm>
            <a:off x="1504604" y="1260185"/>
            <a:ext cx="9144000" cy="4886877"/>
          </a:xfrm>
          <a:prstGeom prst="rect">
            <a:avLst/>
          </a:prstGeom>
        </p:spPr>
      </p:pic>
    </p:spTree>
    <p:extLst>
      <p:ext uri="{BB962C8B-B14F-4D97-AF65-F5344CB8AC3E}">
        <p14:creationId xmlns:p14="http://schemas.microsoft.com/office/powerpoint/2010/main" val="28988403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8EE9FAFE-B4EF-48D5-9976-8716178A7C68}"/>
              </a:ext>
            </a:extLst>
          </p:cNvPr>
          <p:cNvSpPr>
            <a:spLocks noGrp="1"/>
          </p:cNvSpPr>
          <p:nvPr>
            <p:ph type="ftr" sz="quarter" idx="11"/>
          </p:nvPr>
        </p:nvSpPr>
        <p:spPr/>
        <p:txBody>
          <a:bodyPr/>
          <a:lstStyle/>
          <a:p>
            <a:r>
              <a:rPr lang="en-AU"/>
              <a:t>© 2016 KL University – The contents of this presentation are an intellectual and copyrighted property of KL University. ALL RIGHTS RESERVED</a:t>
            </a:r>
            <a:endParaRPr lang="en-AU" dirty="0"/>
          </a:p>
        </p:txBody>
      </p:sp>
      <p:sp>
        <p:nvSpPr>
          <p:cNvPr id="5" name="Slide Number Placeholder 4">
            <a:extLst>
              <a:ext uri="{FF2B5EF4-FFF2-40B4-BE49-F238E27FC236}">
                <a16:creationId xmlns:a16="http://schemas.microsoft.com/office/drawing/2014/main" id="{DEE34BEB-80E3-4387-BB3C-F0A2267CE02A}"/>
              </a:ext>
            </a:extLst>
          </p:cNvPr>
          <p:cNvSpPr>
            <a:spLocks noGrp="1"/>
          </p:cNvSpPr>
          <p:nvPr>
            <p:ph type="sldNum" sz="quarter" idx="12"/>
          </p:nvPr>
        </p:nvSpPr>
        <p:spPr/>
        <p:txBody>
          <a:bodyPr/>
          <a:lstStyle/>
          <a:p>
            <a:fld id="{68187FF5-4BF9-4B21-B0D2-9B7FF2B27D7F}" type="slidenum">
              <a:rPr lang="en-AU" smtClean="0"/>
              <a:pPr/>
              <a:t>20</a:t>
            </a:fld>
            <a:endParaRPr lang="en-AU"/>
          </a:p>
        </p:txBody>
      </p:sp>
      <p:pic>
        <p:nvPicPr>
          <p:cNvPr id="7" name="Picture 6">
            <a:extLst>
              <a:ext uri="{FF2B5EF4-FFF2-40B4-BE49-F238E27FC236}">
                <a16:creationId xmlns:a16="http://schemas.microsoft.com/office/drawing/2014/main" id="{C1B1899F-46DA-4476-8A9A-707ED9866BB6}"/>
              </a:ext>
            </a:extLst>
          </p:cNvPr>
          <p:cNvPicPr>
            <a:picLocks noChangeAspect="1"/>
          </p:cNvPicPr>
          <p:nvPr/>
        </p:nvPicPr>
        <p:blipFill rotWithShape="1">
          <a:blip r:embed="rId2"/>
          <a:srcRect l="34131" t="16833" r="30543" b="42798"/>
          <a:stretch/>
        </p:blipFill>
        <p:spPr>
          <a:xfrm>
            <a:off x="1558786" y="785826"/>
            <a:ext cx="8420101" cy="5409825"/>
          </a:xfrm>
          <a:prstGeom prst="rect">
            <a:avLst/>
          </a:prstGeom>
        </p:spPr>
      </p:pic>
    </p:spTree>
    <p:extLst>
      <p:ext uri="{BB962C8B-B14F-4D97-AF65-F5344CB8AC3E}">
        <p14:creationId xmlns:p14="http://schemas.microsoft.com/office/powerpoint/2010/main" val="35241064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AA874101-00A5-4B3E-A150-03CF1E44A87F}"/>
              </a:ext>
            </a:extLst>
          </p:cNvPr>
          <p:cNvSpPr>
            <a:spLocks noGrp="1"/>
          </p:cNvSpPr>
          <p:nvPr>
            <p:ph type="ftr" sz="quarter" idx="11"/>
          </p:nvPr>
        </p:nvSpPr>
        <p:spPr/>
        <p:txBody>
          <a:bodyPr/>
          <a:lstStyle/>
          <a:p>
            <a:r>
              <a:rPr lang="en-AU"/>
              <a:t>© 2016 KL University – The contents of this presentation are an intellectual and copyrighted property of KL University. ALL RIGHTS RESERVED</a:t>
            </a:r>
            <a:endParaRPr lang="en-AU" dirty="0"/>
          </a:p>
        </p:txBody>
      </p:sp>
      <p:sp>
        <p:nvSpPr>
          <p:cNvPr id="5" name="Slide Number Placeholder 4">
            <a:extLst>
              <a:ext uri="{FF2B5EF4-FFF2-40B4-BE49-F238E27FC236}">
                <a16:creationId xmlns:a16="http://schemas.microsoft.com/office/drawing/2014/main" id="{92294445-EDFF-43FE-A4FF-F69B7AACA7CE}"/>
              </a:ext>
            </a:extLst>
          </p:cNvPr>
          <p:cNvSpPr>
            <a:spLocks noGrp="1"/>
          </p:cNvSpPr>
          <p:nvPr>
            <p:ph type="sldNum" sz="quarter" idx="12"/>
          </p:nvPr>
        </p:nvSpPr>
        <p:spPr/>
        <p:txBody>
          <a:bodyPr/>
          <a:lstStyle/>
          <a:p>
            <a:fld id="{68187FF5-4BF9-4B21-B0D2-9B7FF2B27D7F}" type="slidenum">
              <a:rPr lang="en-AU" smtClean="0"/>
              <a:pPr/>
              <a:t>21</a:t>
            </a:fld>
            <a:endParaRPr lang="en-AU"/>
          </a:p>
        </p:txBody>
      </p:sp>
      <p:pic>
        <p:nvPicPr>
          <p:cNvPr id="7" name="Picture 6">
            <a:extLst>
              <a:ext uri="{FF2B5EF4-FFF2-40B4-BE49-F238E27FC236}">
                <a16:creationId xmlns:a16="http://schemas.microsoft.com/office/drawing/2014/main" id="{73909F57-60C5-4EB3-826D-9E5B151BC927}"/>
              </a:ext>
            </a:extLst>
          </p:cNvPr>
          <p:cNvPicPr>
            <a:picLocks noChangeAspect="1"/>
          </p:cNvPicPr>
          <p:nvPr/>
        </p:nvPicPr>
        <p:blipFill rotWithShape="1">
          <a:blip r:embed="rId2"/>
          <a:srcRect l="43804" t="16833" r="34348" b="56331"/>
          <a:stretch/>
        </p:blipFill>
        <p:spPr>
          <a:xfrm>
            <a:off x="1948070" y="967271"/>
            <a:ext cx="7357431" cy="4280592"/>
          </a:xfrm>
          <a:prstGeom prst="rect">
            <a:avLst/>
          </a:prstGeom>
        </p:spPr>
      </p:pic>
    </p:spTree>
    <p:extLst>
      <p:ext uri="{BB962C8B-B14F-4D97-AF65-F5344CB8AC3E}">
        <p14:creationId xmlns:p14="http://schemas.microsoft.com/office/powerpoint/2010/main" val="31846620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6B4AE821-5EB9-432F-B228-FBDED04ABD34}"/>
              </a:ext>
            </a:extLst>
          </p:cNvPr>
          <p:cNvSpPr>
            <a:spLocks noGrp="1"/>
          </p:cNvSpPr>
          <p:nvPr>
            <p:ph type="ftr" sz="quarter" idx="11"/>
          </p:nvPr>
        </p:nvSpPr>
        <p:spPr/>
        <p:txBody>
          <a:bodyPr/>
          <a:lstStyle/>
          <a:p>
            <a:r>
              <a:rPr lang="en-AU"/>
              <a:t>© 2016 KL University – The contents of this presentation are an intellectual and copyrighted property of KL University. ALL RIGHTS RESERVED</a:t>
            </a:r>
            <a:endParaRPr lang="en-AU" dirty="0"/>
          </a:p>
        </p:txBody>
      </p:sp>
      <p:sp>
        <p:nvSpPr>
          <p:cNvPr id="5" name="Slide Number Placeholder 4">
            <a:extLst>
              <a:ext uri="{FF2B5EF4-FFF2-40B4-BE49-F238E27FC236}">
                <a16:creationId xmlns:a16="http://schemas.microsoft.com/office/drawing/2014/main" id="{C52400A2-8041-432B-8A0E-91F246F75029}"/>
              </a:ext>
            </a:extLst>
          </p:cNvPr>
          <p:cNvSpPr>
            <a:spLocks noGrp="1"/>
          </p:cNvSpPr>
          <p:nvPr>
            <p:ph type="sldNum" sz="quarter" idx="12"/>
          </p:nvPr>
        </p:nvSpPr>
        <p:spPr/>
        <p:txBody>
          <a:bodyPr/>
          <a:lstStyle/>
          <a:p>
            <a:fld id="{68187FF5-4BF9-4B21-B0D2-9B7FF2B27D7F}" type="slidenum">
              <a:rPr lang="en-AU" smtClean="0"/>
              <a:pPr/>
              <a:t>22</a:t>
            </a:fld>
            <a:endParaRPr lang="en-AU"/>
          </a:p>
        </p:txBody>
      </p:sp>
      <p:pic>
        <p:nvPicPr>
          <p:cNvPr id="9" name="Picture 8">
            <a:extLst>
              <a:ext uri="{FF2B5EF4-FFF2-40B4-BE49-F238E27FC236}">
                <a16:creationId xmlns:a16="http://schemas.microsoft.com/office/drawing/2014/main" id="{19CC62CA-3275-4B7A-9A50-59CFEEFB60E4}"/>
              </a:ext>
            </a:extLst>
          </p:cNvPr>
          <p:cNvPicPr>
            <a:picLocks noChangeAspect="1"/>
          </p:cNvPicPr>
          <p:nvPr/>
        </p:nvPicPr>
        <p:blipFill rotWithShape="1">
          <a:blip r:embed="rId2"/>
          <a:srcRect l="36957" t="17923" r="33587" b="45505"/>
          <a:stretch/>
        </p:blipFill>
        <p:spPr>
          <a:xfrm>
            <a:off x="1948069" y="565666"/>
            <a:ext cx="8295862" cy="5790684"/>
          </a:xfrm>
          <a:prstGeom prst="rect">
            <a:avLst/>
          </a:prstGeom>
        </p:spPr>
      </p:pic>
    </p:spTree>
    <p:extLst>
      <p:ext uri="{BB962C8B-B14F-4D97-AF65-F5344CB8AC3E}">
        <p14:creationId xmlns:p14="http://schemas.microsoft.com/office/powerpoint/2010/main" val="40593280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A5953CCF-7F86-481B-874B-6532CCF71EEF}"/>
              </a:ext>
            </a:extLst>
          </p:cNvPr>
          <p:cNvSpPr>
            <a:spLocks noGrp="1"/>
          </p:cNvSpPr>
          <p:nvPr>
            <p:ph type="ftr" sz="quarter" idx="11"/>
          </p:nvPr>
        </p:nvSpPr>
        <p:spPr/>
        <p:txBody>
          <a:bodyPr/>
          <a:lstStyle/>
          <a:p>
            <a:r>
              <a:rPr lang="en-AU"/>
              <a:t>© 2016 KL University – The contents of this presentation are an intellectual and copyrighted property of KL University. ALL RIGHTS RESERVED</a:t>
            </a:r>
            <a:endParaRPr lang="en-AU" dirty="0"/>
          </a:p>
        </p:txBody>
      </p:sp>
      <p:sp>
        <p:nvSpPr>
          <p:cNvPr id="5" name="Slide Number Placeholder 4">
            <a:extLst>
              <a:ext uri="{FF2B5EF4-FFF2-40B4-BE49-F238E27FC236}">
                <a16:creationId xmlns:a16="http://schemas.microsoft.com/office/drawing/2014/main" id="{918816FB-F110-40F1-8B63-57B5C51F7007}"/>
              </a:ext>
            </a:extLst>
          </p:cNvPr>
          <p:cNvSpPr>
            <a:spLocks noGrp="1"/>
          </p:cNvSpPr>
          <p:nvPr>
            <p:ph type="sldNum" sz="quarter" idx="12"/>
          </p:nvPr>
        </p:nvSpPr>
        <p:spPr/>
        <p:txBody>
          <a:bodyPr/>
          <a:lstStyle/>
          <a:p>
            <a:fld id="{68187FF5-4BF9-4B21-B0D2-9B7FF2B27D7F}" type="slidenum">
              <a:rPr lang="en-AU" smtClean="0"/>
              <a:pPr/>
              <a:t>23</a:t>
            </a:fld>
            <a:endParaRPr lang="en-AU"/>
          </a:p>
        </p:txBody>
      </p:sp>
      <p:pic>
        <p:nvPicPr>
          <p:cNvPr id="9" name="Picture 8">
            <a:extLst>
              <a:ext uri="{FF2B5EF4-FFF2-40B4-BE49-F238E27FC236}">
                <a16:creationId xmlns:a16="http://schemas.microsoft.com/office/drawing/2014/main" id="{4A9B6CD6-FF3F-4C76-A043-620CF30C3B75}"/>
              </a:ext>
            </a:extLst>
          </p:cNvPr>
          <p:cNvPicPr>
            <a:picLocks noChangeAspect="1"/>
          </p:cNvPicPr>
          <p:nvPr/>
        </p:nvPicPr>
        <p:blipFill rotWithShape="1">
          <a:blip r:embed="rId2"/>
          <a:srcRect l="33696" t="16832" r="33478" b="48019"/>
          <a:stretch/>
        </p:blipFill>
        <p:spPr>
          <a:xfrm>
            <a:off x="1802295" y="850670"/>
            <a:ext cx="8704991" cy="5240551"/>
          </a:xfrm>
          <a:prstGeom prst="rect">
            <a:avLst/>
          </a:prstGeom>
        </p:spPr>
      </p:pic>
    </p:spTree>
    <p:extLst>
      <p:ext uri="{BB962C8B-B14F-4D97-AF65-F5344CB8AC3E}">
        <p14:creationId xmlns:p14="http://schemas.microsoft.com/office/powerpoint/2010/main" val="5189350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19774083-5CAF-413A-93FB-21B109D230EA}"/>
              </a:ext>
            </a:extLst>
          </p:cNvPr>
          <p:cNvSpPr>
            <a:spLocks noGrp="1"/>
          </p:cNvSpPr>
          <p:nvPr>
            <p:ph type="ftr" sz="quarter" idx="11"/>
          </p:nvPr>
        </p:nvSpPr>
        <p:spPr/>
        <p:txBody>
          <a:bodyPr/>
          <a:lstStyle/>
          <a:p>
            <a:r>
              <a:rPr lang="en-AU"/>
              <a:t>© 2016 KL University – The contents of this presentation are an intellectual and copyrighted property of KL University. ALL RIGHTS RESERVED</a:t>
            </a:r>
            <a:endParaRPr lang="en-AU" dirty="0"/>
          </a:p>
        </p:txBody>
      </p:sp>
      <p:sp>
        <p:nvSpPr>
          <p:cNvPr id="5" name="Slide Number Placeholder 4">
            <a:extLst>
              <a:ext uri="{FF2B5EF4-FFF2-40B4-BE49-F238E27FC236}">
                <a16:creationId xmlns:a16="http://schemas.microsoft.com/office/drawing/2014/main" id="{FF74CB9A-3873-464B-AD39-DF6D0B025BDC}"/>
              </a:ext>
            </a:extLst>
          </p:cNvPr>
          <p:cNvSpPr>
            <a:spLocks noGrp="1"/>
          </p:cNvSpPr>
          <p:nvPr>
            <p:ph type="sldNum" sz="quarter" idx="12"/>
          </p:nvPr>
        </p:nvSpPr>
        <p:spPr/>
        <p:txBody>
          <a:bodyPr/>
          <a:lstStyle/>
          <a:p>
            <a:fld id="{68187FF5-4BF9-4B21-B0D2-9B7FF2B27D7F}" type="slidenum">
              <a:rPr lang="en-AU" smtClean="0"/>
              <a:pPr/>
              <a:t>24</a:t>
            </a:fld>
            <a:endParaRPr lang="en-AU"/>
          </a:p>
        </p:txBody>
      </p:sp>
      <p:pic>
        <p:nvPicPr>
          <p:cNvPr id="7" name="Picture 6">
            <a:extLst>
              <a:ext uri="{FF2B5EF4-FFF2-40B4-BE49-F238E27FC236}">
                <a16:creationId xmlns:a16="http://schemas.microsoft.com/office/drawing/2014/main" id="{07A3FA6C-A219-4CC2-9184-C244F78A7607}"/>
              </a:ext>
            </a:extLst>
          </p:cNvPr>
          <p:cNvPicPr>
            <a:picLocks noChangeAspect="1"/>
          </p:cNvPicPr>
          <p:nvPr/>
        </p:nvPicPr>
        <p:blipFill rotWithShape="1">
          <a:blip r:embed="rId2"/>
          <a:srcRect l="31739" t="18535" r="35326" b="47245"/>
          <a:stretch/>
        </p:blipFill>
        <p:spPr>
          <a:xfrm>
            <a:off x="1351722" y="728869"/>
            <a:ext cx="9296882" cy="5430851"/>
          </a:xfrm>
          <a:prstGeom prst="rect">
            <a:avLst/>
          </a:prstGeom>
        </p:spPr>
      </p:pic>
    </p:spTree>
    <p:extLst>
      <p:ext uri="{BB962C8B-B14F-4D97-AF65-F5344CB8AC3E}">
        <p14:creationId xmlns:p14="http://schemas.microsoft.com/office/powerpoint/2010/main" val="35301363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69725EFF-69EE-47AC-ACA7-29BDC56C7D83}"/>
              </a:ext>
            </a:extLst>
          </p:cNvPr>
          <p:cNvSpPr>
            <a:spLocks noGrp="1"/>
          </p:cNvSpPr>
          <p:nvPr>
            <p:ph type="ftr" sz="quarter" idx="11"/>
          </p:nvPr>
        </p:nvSpPr>
        <p:spPr/>
        <p:txBody>
          <a:bodyPr/>
          <a:lstStyle/>
          <a:p>
            <a:r>
              <a:rPr lang="en-AU"/>
              <a:t>© 2016 KL University – The contents of this presentation are an intellectual and copyrighted property of KL University. ALL RIGHTS RESERVED</a:t>
            </a:r>
            <a:endParaRPr lang="en-AU" dirty="0"/>
          </a:p>
        </p:txBody>
      </p:sp>
      <p:sp>
        <p:nvSpPr>
          <p:cNvPr id="5" name="Slide Number Placeholder 4">
            <a:extLst>
              <a:ext uri="{FF2B5EF4-FFF2-40B4-BE49-F238E27FC236}">
                <a16:creationId xmlns:a16="http://schemas.microsoft.com/office/drawing/2014/main" id="{0D33608D-6C10-42CA-A73A-8EB1355B2967}"/>
              </a:ext>
            </a:extLst>
          </p:cNvPr>
          <p:cNvSpPr>
            <a:spLocks noGrp="1"/>
          </p:cNvSpPr>
          <p:nvPr>
            <p:ph type="sldNum" sz="quarter" idx="12"/>
          </p:nvPr>
        </p:nvSpPr>
        <p:spPr/>
        <p:txBody>
          <a:bodyPr/>
          <a:lstStyle/>
          <a:p>
            <a:fld id="{68187FF5-4BF9-4B21-B0D2-9B7FF2B27D7F}" type="slidenum">
              <a:rPr lang="en-AU" smtClean="0"/>
              <a:pPr/>
              <a:t>25</a:t>
            </a:fld>
            <a:endParaRPr lang="en-AU"/>
          </a:p>
        </p:txBody>
      </p:sp>
      <p:pic>
        <p:nvPicPr>
          <p:cNvPr id="7" name="Picture 6">
            <a:extLst>
              <a:ext uri="{FF2B5EF4-FFF2-40B4-BE49-F238E27FC236}">
                <a16:creationId xmlns:a16="http://schemas.microsoft.com/office/drawing/2014/main" id="{E5F8792B-99E3-415C-B956-BA6F7ABE28EB}"/>
              </a:ext>
            </a:extLst>
          </p:cNvPr>
          <p:cNvPicPr>
            <a:picLocks noChangeAspect="1"/>
          </p:cNvPicPr>
          <p:nvPr/>
        </p:nvPicPr>
        <p:blipFill rotWithShape="1">
          <a:blip r:embed="rId2"/>
          <a:srcRect l="31956" t="16833" r="35326" b="47245"/>
          <a:stretch/>
        </p:blipFill>
        <p:spPr>
          <a:xfrm>
            <a:off x="1566466" y="793513"/>
            <a:ext cx="9011479" cy="5562837"/>
          </a:xfrm>
          <a:prstGeom prst="rect">
            <a:avLst/>
          </a:prstGeom>
        </p:spPr>
      </p:pic>
    </p:spTree>
    <p:extLst>
      <p:ext uri="{BB962C8B-B14F-4D97-AF65-F5344CB8AC3E}">
        <p14:creationId xmlns:p14="http://schemas.microsoft.com/office/powerpoint/2010/main" val="38057909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1264</TotalTime>
  <Words>1486</Words>
  <Application>Microsoft Office PowerPoint</Application>
  <PresentationFormat>Widescreen</PresentationFormat>
  <Paragraphs>160</Paragraphs>
  <Slides>25</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25</vt:i4>
      </vt:variant>
    </vt:vector>
  </HeadingPairs>
  <TitlesOfParts>
    <vt:vector size="34" baseType="lpstr">
      <vt:lpstr>Aptos</vt:lpstr>
      <vt:lpstr>Arial</vt:lpstr>
      <vt:lpstr>BioRhyme ExtraBold</vt:lpstr>
      <vt:lpstr>Bookman Old Style</vt:lpstr>
      <vt:lpstr>Calibri</vt:lpstr>
      <vt:lpstr>Calibri Light</vt:lpstr>
      <vt:lpstr>Poppins</vt:lpstr>
      <vt:lpstr>urw-din</vt:lpstr>
      <vt:lpstr>Office Theme</vt:lpstr>
      <vt:lpstr>PowerPoint Presentation</vt:lpstr>
      <vt:lpstr>Substitution Ciphers</vt:lpstr>
      <vt:lpstr>Substitution Techniques</vt:lpstr>
      <vt:lpstr>Caesar Cipher</vt:lpstr>
      <vt:lpstr>Caesar Cipher</vt:lpstr>
      <vt:lpstr>Caesar Cipher…</vt:lpstr>
      <vt:lpstr>Brute-Force Cryptanalysis of Caesar Cipher </vt:lpstr>
      <vt:lpstr>Caesar Cipher - brute-force cryptanalysis</vt:lpstr>
      <vt:lpstr>Caesar Cipher Example</vt:lpstr>
      <vt:lpstr>Caesar Cipher Example…</vt:lpstr>
      <vt:lpstr>Mono alphabetic Cipher</vt:lpstr>
      <vt:lpstr>Mono alphabetic Cipher</vt:lpstr>
      <vt:lpstr>Monoalphabetic Cipher example</vt:lpstr>
      <vt:lpstr>Playfair Cipher</vt:lpstr>
      <vt:lpstr>Playfair Key Matrix</vt:lpstr>
      <vt:lpstr>Playfair Cipher</vt:lpstr>
      <vt:lpstr>Playfair Cipher…</vt:lpstr>
      <vt:lpstr>Playfair Cipher example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Network Security</dc:title>
  <dc:creator>Radhika Rani Chintala</dc:creator>
  <cp:lastModifiedBy>Harsha Abhi</cp:lastModifiedBy>
  <cp:revision>55</cp:revision>
  <dcterms:created xsi:type="dcterms:W3CDTF">2022-03-25T10:08:01Z</dcterms:created>
  <dcterms:modified xsi:type="dcterms:W3CDTF">2026-04-15T04:07:26Z</dcterms:modified>
</cp:coreProperties>
</file>