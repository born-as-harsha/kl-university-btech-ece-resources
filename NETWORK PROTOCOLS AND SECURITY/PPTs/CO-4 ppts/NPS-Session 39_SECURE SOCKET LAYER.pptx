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9"/>
  </p:notesMasterIdLst>
  <p:handoutMasterIdLst>
    <p:handoutMasterId r:id="rId20"/>
  </p:handoutMasterIdLst>
  <p:sldIdLst>
    <p:sldId id="302" r:id="rId3"/>
    <p:sldId id="303" r:id="rId4"/>
    <p:sldId id="304" r:id="rId5"/>
    <p:sldId id="257" r:id="rId6"/>
    <p:sldId id="293" r:id="rId7"/>
    <p:sldId id="294" r:id="rId8"/>
    <p:sldId id="258" r:id="rId9"/>
    <p:sldId id="295" r:id="rId10"/>
    <p:sldId id="296" r:id="rId11"/>
    <p:sldId id="297" r:id="rId12"/>
    <p:sldId id="298" r:id="rId13"/>
    <p:sldId id="299" r:id="rId14"/>
    <p:sldId id="300" r:id="rId15"/>
    <p:sldId id="306" r:id="rId16"/>
    <p:sldId id="307" r:id="rId17"/>
    <p:sldId id="30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17-12-2025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3553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24103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098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2138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5368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4232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1741460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62851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5533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703306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54893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4155833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6.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6293374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cloudflare.com/learning/ssl/what-is-ssl/" TargetMode="External"/><Relationship Id="rId2" Type="http://schemas.openxmlformats.org/officeDocument/2006/relationships/hyperlink" Target="https://www.geeksforgeeks.org/socket-in-computer-network/" TargetMode="External"/><Relationship Id="rId1" Type="http://schemas.openxmlformats.org/officeDocument/2006/relationships/slideLayout" Target="../slideLayouts/slideLayout2.xml"/><Relationship Id="rId5" Type="http://schemas.openxmlformats.org/officeDocument/2006/relationships/hyperlink" Target="https://www.javatpoint.com/simple-network-management-protocol" TargetMode="External"/><Relationship Id="rId4" Type="http://schemas.openxmlformats.org/officeDocument/2006/relationships/hyperlink" Target="https://www.geeksforgeeks.org/secure-socket-layer-ssl/"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FA60E-D65E-CEE8-1A89-09DFFD6E0227}"/>
              </a:ext>
            </a:extLst>
          </p:cNvPr>
          <p:cNvSpPr>
            <a:spLocks noGrp="1"/>
          </p:cNvSpPr>
          <p:nvPr>
            <p:ph type="ctrTitle"/>
          </p:nvPr>
        </p:nvSpPr>
        <p:spPr>
          <a:xfrm>
            <a:off x="5830957" y="802298"/>
            <a:ext cx="5223895" cy="2541431"/>
          </a:xfrm>
        </p:spPr>
        <p:txBody>
          <a:bodyPr>
            <a:normAutofit/>
          </a:bodyPr>
          <a:lstStyle/>
          <a:p>
            <a:pPr algn="ctr"/>
            <a:r>
              <a:rPr lang="en-US" sz="2200" b="1" dirty="0">
                <a:ln/>
                <a:solidFill>
                  <a:srgbClr val="C00000"/>
                </a:solidFill>
                <a:cs typeface="Poppins" panose="00000500000000000000" pitchFamily="2" charset="0"/>
                <a:sym typeface="BioRhyme ExtraBold"/>
              </a:rPr>
              <a:t>NETWORKS, PROTOCOLS &amp; SECURITY </a:t>
            </a:r>
            <a:br>
              <a:rPr lang="en-US" sz="2200" b="1" dirty="0">
                <a:ln/>
                <a:solidFill>
                  <a:srgbClr val="C00000"/>
                </a:solidFill>
                <a:cs typeface="Poppins" panose="00000500000000000000" pitchFamily="2" charset="0"/>
                <a:sym typeface="BioRhyme ExtraBold"/>
              </a:rPr>
            </a:br>
            <a:r>
              <a:rPr lang="en-IN" sz="2200" b="1">
                <a:ln/>
                <a:solidFill>
                  <a:srgbClr val="C00000"/>
                </a:solidFill>
                <a:cs typeface="Poppins" panose="00000500000000000000" pitchFamily="2" charset="0"/>
                <a:sym typeface="BioRhyme ExtraBold"/>
              </a:rPr>
              <a:t>24EC2210</a:t>
            </a:r>
            <a:br>
              <a:rPr lang="en-US" sz="2200" b="1" dirty="0">
                <a:solidFill>
                  <a:schemeClr val="bg1">
                    <a:lumMod val="50000"/>
                  </a:schemeClr>
                </a:solidFill>
                <a:ea typeface="BioRhyme ExtraBold"/>
                <a:cs typeface="Poppins" panose="00000500000000000000" pitchFamily="2" charset="0"/>
                <a:sym typeface="BioRhyme ExtraBold"/>
              </a:rPr>
            </a:br>
            <a:br>
              <a:rPr lang="en-US" sz="2200" b="1" dirty="0">
                <a:solidFill>
                  <a:schemeClr val="bg1">
                    <a:lumMod val="50000"/>
                  </a:schemeClr>
                </a:solidFill>
                <a:ea typeface="BioRhyme ExtraBold"/>
                <a:cs typeface="Poppins" panose="00000500000000000000" pitchFamily="2" charset="0"/>
                <a:sym typeface="BioRhyme ExtraBold"/>
              </a:rPr>
            </a:br>
            <a:br>
              <a:rPr lang="en-US" sz="2200" b="1" dirty="0">
                <a:solidFill>
                  <a:schemeClr val="bg1">
                    <a:lumMod val="50000"/>
                  </a:schemeClr>
                </a:solidFill>
                <a:ea typeface="BioRhyme ExtraBold"/>
                <a:cs typeface="Poppins" panose="00000500000000000000" pitchFamily="2" charset="0"/>
                <a:sym typeface="BioRhyme ExtraBold"/>
              </a:rPr>
            </a:br>
            <a:r>
              <a:rPr lang="en-US" sz="2200" b="1" dirty="0">
                <a:solidFill>
                  <a:schemeClr val="bg1">
                    <a:lumMod val="50000"/>
                  </a:schemeClr>
                </a:solidFill>
                <a:ea typeface="BioRhyme ExtraBold"/>
                <a:cs typeface="Poppins" panose="00000500000000000000" pitchFamily="2" charset="0"/>
                <a:sym typeface="BioRhyme ExtraBold"/>
              </a:rPr>
              <a:t>Topic: </a:t>
            </a:r>
            <a:br>
              <a:rPr lang="en-US" sz="2200" b="1" dirty="0">
                <a:solidFill>
                  <a:schemeClr val="bg1">
                    <a:lumMod val="50000"/>
                  </a:schemeClr>
                </a:solidFill>
                <a:ea typeface="BioRhyme ExtraBold"/>
                <a:cs typeface="Poppins" panose="00000500000000000000" pitchFamily="2" charset="0"/>
                <a:sym typeface="BioRhyme ExtraBold"/>
              </a:rPr>
            </a:br>
            <a:r>
              <a:rPr lang="en-US" sz="2000" dirty="0"/>
              <a:t>Secure Socket Layer</a:t>
            </a:r>
            <a:br>
              <a:rPr lang="en-US" sz="1600" dirty="0">
                <a:solidFill>
                  <a:srgbClr val="C00000"/>
                </a:solidFill>
                <a:latin typeface="Stencil" panose="040409050D0802020404" pitchFamily="82" charset="0"/>
              </a:rPr>
            </a:br>
            <a:endParaRPr lang="en-IN" sz="1600" dirty="0"/>
          </a:p>
        </p:txBody>
      </p:sp>
      <p:pic>
        <p:nvPicPr>
          <p:cNvPr id="1026" name="Picture 2">
            <a:extLst>
              <a:ext uri="{FF2B5EF4-FFF2-40B4-BE49-F238E27FC236}">
                <a16:creationId xmlns:a16="http://schemas.microsoft.com/office/drawing/2014/main" id="{098D6180-B7B8-1D72-839C-5AB62B5F2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642" y="802298"/>
            <a:ext cx="4804951" cy="5240693"/>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a:extLst>
              <a:ext uri="{FF2B5EF4-FFF2-40B4-BE49-F238E27FC236}">
                <a16:creationId xmlns:a16="http://schemas.microsoft.com/office/drawing/2014/main" id="{47F081B7-2165-4332-7F0D-39327004EB57}"/>
              </a:ext>
            </a:extLst>
          </p:cNvPr>
          <p:cNvSpPr/>
          <p:nvPr/>
        </p:nvSpPr>
        <p:spPr>
          <a:xfrm>
            <a:off x="7130310" y="3699803"/>
            <a:ext cx="3605348" cy="7707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Session-39</a:t>
            </a:r>
          </a:p>
        </p:txBody>
      </p:sp>
    </p:spTree>
    <p:extLst>
      <p:ext uri="{BB962C8B-B14F-4D97-AF65-F5344CB8AC3E}">
        <p14:creationId xmlns:p14="http://schemas.microsoft.com/office/powerpoint/2010/main" val="1795418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5E77D5-99FC-49D7-9758-E05DA33F69DC}"/>
              </a:ext>
            </a:extLst>
          </p:cNvPr>
          <p:cNvSpPr>
            <a:spLocks noGrp="1"/>
          </p:cNvSpPr>
          <p:nvPr>
            <p:ph type="sldNum" sz="quarter" idx="12"/>
          </p:nvPr>
        </p:nvSpPr>
        <p:spPr/>
        <p:txBody>
          <a:bodyPr/>
          <a:lstStyle/>
          <a:p>
            <a:fld id="{CBABCCC1-BF11-4F37-963E-1BCD5B23FD72}" type="slidenum">
              <a:rPr lang="en-IN" smtClean="0"/>
              <a:pPr/>
              <a:t>2</a:t>
            </a:fld>
            <a:endParaRPr lang="en-IN"/>
          </a:p>
        </p:txBody>
      </p:sp>
      <p:sp>
        <p:nvSpPr>
          <p:cNvPr id="3" name="Rounded Rectangle 17">
            <a:extLst>
              <a:ext uri="{FF2B5EF4-FFF2-40B4-BE49-F238E27FC236}">
                <a16:creationId xmlns:a16="http://schemas.microsoft.com/office/drawing/2014/main" id="{E26E68BB-B8CD-C95A-2CFC-9E51BDF497E3}"/>
              </a:ext>
            </a:extLst>
          </p:cNvPr>
          <p:cNvSpPr/>
          <p:nvPr/>
        </p:nvSpPr>
        <p:spPr>
          <a:xfrm>
            <a:off x="4908690" y="203676"/>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AIM OF THE SESSION</a:t>
            </a:r>
          </a:p>
        </p:txBody>
      </p:sp>
      <p:sp>
        <p:nvSpPr>
          <p:cNvPr id="4" name="TextBox 3">
            <a:extLst>
              <a:ext uri="{FF2B5EF4-FFF2-40B4-BE49-F238E27FC236}">
                <a16:creationId xmlns:a16="http://schemas.microsoft.com/office/drawing/2014/main" id="{4EF5529E-0776-E00E-CA67-E56686A8C073}"/>
              </a:ext>
            </a:extLst>
          </p:cNvPr>
          <p:cNvSpPr txBox="1"/>
          <p:nvPr/>
        </p:nvSpPr>
        <p:spPr>
          <a:xfrm>
            <a:off x="1275518" y="916320"/>
            <a:ext cx="10280378" cy="64633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lvl="0"/>
            <a:r>
              <a:rPr lang="en-US" dirty="0"/>
              <a:t>To familiarize the students with the basic concept of the socket, Secure Socket Layer, and the working of the simple mail transfer protocol</a:t>
            </a:r>
            <a:endParaRPr lang="en-IN" dirty="0"/>
          </a:p>
        </p:txBody>
      </p:sp>
      <p:sp>
        <p:nvSpPr>
          <p:cNvPr id="5" name="Rounded Rectangle 17">
            <a:extLst>
              <a:ext uri="{FF2B5EF4-FFF2-40B4-BE49-F238E27FC236}">
                <a16:creationId xmlns:a16="http://schemas.microsoft.com/office/drawing/2014/main" id="{687831C4-23ED-BE9B-C568-75DA0D2391E1}"/>
              </a:ext>
            </a:extLst>
          </p:cNvPr>
          <p:cNvSpPr/>
          <p:nvPr/>
        </p:nvSpPr>
        <p:spPr>
          <a:xfrm>
            <a:off x="4597900" y="192633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p>
        </p:txBody>
      </p:sp>
      <p:sp>
        <p:nvSpPr>
          <p:cNvPr id="6" name="TextBox 5">
            <a:extLst>
              <a:ext uri="{FF2B5EF4-FFF2-40B4-BE49-F238E27FC236}">
                <a16:creationId xmlns:a16="http://schemas.microsoft.com/office/drawing/2014/main" id="{F88A2C33-8BD7-A653-69BE-7AF21607A372}"/>
              </a:ext>
            </a:extLst>
          </p:cNvPr>
          <p:cNvSpPr txBox="1"/>
          <p:nvPr/>
        </p:nvSpPr>
        <p:spPr>
          <a:xfrm>
            <a:off x="2189918" y="2557873"/>
            <a:ext cx="8791575" cy="120032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dirty="0"/>
              <a:t>The session is design to understand the:</a:t>
            </a:r>
            <a:endParaRPr lang="en-IN" b="1" dirty="0"/>
          </a:p>
          <a:p>
            <a:pPr marL="342900" lvl="0" indent="-342900">
              <a:buFont typeface="+mj-lt"/>
              <a:buAutoNum type="arabicPeriod"/>
            </a:pPr>
            <a:r>
              <a:rPr lang="en-US" dirty="0"/>
              <a:t>Introduction of the concepts of socket</a:t>
            </a:r>
            <a:endParaRPr lang="en-IN" b="1" dirty="0"/>
          </a:p>
          <a:p>
            <a:pPr marL="342900" lvl="0" indent="-342900">
              <a:buFont typeface="+mj-lt"/>
              <a:buAutoNum type="arabicPeriod"/>
            </a:pPr>
            <a:r>
              <a:rPr lang="en-US" dirty="0"/>
              <a:t>To understand the Secure Socket Layer and </a:t>
            </a:r>
            <a:endParaRPr lang="en-IN" b="1" dirty="0"/>
          </a:p>
          <a:p>
            <a:pPr marL="342900" lvl="0" indent="-342900">
              <a:buFont typeface="+mj-lt"/>
              <a:buAutoNum type="arabicPeriod"/>
            </a:pPr>
            <a:r>
              <a:rPr lang="en-US" dirty="0"/>
              <a:t>To understand the concepts of the </a:t>
            </a:r>
            <a:r>
              <a:rPr lang="en-IN" dirty="0"/>
              <a:t>working of simple mail transfer protocol.</a:t>
            </a:r>
          </a:p>
        </p:txBody>
      </p:sp>
      <p:pic>
        <p:nvPicPr>
          <p:cNvPr id="7" name="Graphic 6" descr="Bullseye outline">
            <a:extLst>
              <a:ext uri="{FF2B5EF4-FFF2-40B4-BE49-F238E27FC236}">
                <a16:creationId xmlns:a16="http://schemas.microsoft.com/office/drawing/2014/main" id="{7002CC28-62CB-A0B3-D325-A57EACF3E32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7318" y="744594"/>
            <a:ext cx="914400" cy="914400"/>
          </a:xfrm>
          <a:prstGeom prst="rect">
            <a:avLst/>
          </a:prstGeom>
        </p:spPr>
      </p:pic>
      <p:pic>
        <p:nvPicPr>
          <p:cNvPr id="8" name="Graphic 7" descr="Presentation with checklist outline">
            <a:extLst>
              <a:ext uri="{FF2B5EF4-FFF2-40B4-BE49-F238E27FC236}">
                <a16:creationId xmlns:a16="http://schemas.microsoft.com/office/drawing/2014/main" id="{3CF2E37F-203C-8E85-4FEC-09821DC4C13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5518" y="2557873"/>
            <a:ext cx="914400" cy="914400"/>
          </a:xfrm>
          <a:prstGeom prst="rect">
            <a:avLst/>
          </a:prstGeom>
        </p:spPr>
      </p:pic>
      <p:sp>
        <p:nvSpPr>
          <p:cNvPr id="9" name="Rounded Rectangle 17">
            <a:extLst>
              <a:ext uri="{FF2B5EF4-FFF2-40B4-BE49-F238E27FC236}">
                <a16:creationId xmlns:a16="http://schemas.microsoft.com/office/drawing/2014/main" id="{B2DF2C48-3044-7FC9-775B-47F6E185B619}"/>
              </a:ext>
            </a:extLst>
          </p:cNvPr>
          <p:cNvSpPr/>
          <p:nvPr/>
        </p:nvSpPr>
        <p:spPr>
          <a:xfrm>
            <a:off x="4650289" y="4368378"/>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10" name="Graphic 9" descr="Idea outline">
            <a:extLst>
              <a:ext uri="{FF2B5EF4-FFF2-40B4-BE49-F238E27FC236}">
                <a16:creationId xmlns:a16="http://schemas.microsoft.com/office/drawing/2014/main" id="{C93B941C-8D7A-8739-30E1-549684BD2396}"/>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51718" y="4885039"/>
            <a:ext cx="914400" cy="914400"/>
          </a:xfrm>
          <a:prstGeom prst="rect">
            <a:avLst/>
          </a:prstGeom>
        </p:spPr>
      </p:pic>
      <p:sp>
        <p:nvSpPr>
          <p:cNvPr id="11" name="TextBox 10">
            <a:extLst>
              <a:ext uri="{FF2B5EF4-FFF2-40B4-BE49-F238E27FC236}">
                <a16:creationId xmlns:a16="http://schemas.microsoft.com/office/drawing/2014/main" id="{F48AEBD8-9737-6036-BFC9-27DBDA90B595}"/>
              </a:ext>
            </a:extLst>
          </p:cNvPr>
          <p:cNvSpPr txBox="1"/>
          <p:nvPr/>
        </p:nvSpPr>
        <p:spPr>
          <a:xfrm>
            <a:off x="2137527" y="4893425"/>
            <a:ext cx="8791575" cy="120032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r>
              <a:rPr lang="en-US" dirty="0"/>
              <a:t>At the end of this session,</a:t>
            </a:r>
            <a:r>
              <a:rPr lang="en-IN" dirty="0"/>
              <a:t> you should be able to:</a:t>
            </a:r>
            <a:endParaRPr lang="en-IN" b="1" dirty="0"/>
          </a:p>
          <a:p>
            <a:pPr marL="342900" lvl="0" indent="-342900">
              <a:buFont typeface="+mj-lt"/>
              <a:buAutoNum type="arabicPeriod"/>
            </a:pPr>
            <a:r>
              <a:rPr lang="en-IN" dirty="0"/>
              <a:t>Describe the concept of Socket.</a:t>
            </a:r>
            <a:endParaRPr lang="en-IN" b="1" dirty="0"/>
          </a:p>
          <a:p>
            <a:pPr marL="342900" lvl="0" indent="-342900">
              <a:buFont typeface="+mj-lt"/>
              <a:buAutoNum type="arabicPeriod"/>
            </a:pPr>
            <a:r>
              <a:rPr lang="en-IN" dirty="0"/>
              <a:t>Describe the </a:t>
            </a:r>
            <a:r>
              <a:rPr lang="en-US" dirty="0"/>
              <a:t>Secure Socket Layer and </a:t>
            </a:r>
            <a:endParaRPr lang="en-IN" b="1" dirty="0"/>
          </a:p>
          <a:p>
            <a:pPr marL="342900" lvl="0" indent="-342900">
              <a:buFont typeface="+mj-lt"/>
              <a:buAutoNum type="arabicPeriod"/>
            </a:pPr>
            <a:r>
              <a:rPr lang="en-IN" dirty="0"/>
              <a:t>Describe the working of simple mail transfer protocol.</a:t>
            </a:r>
            <a:endParaRPr lang="en-IN" b="1" dirty="0"/>
          </a:p>
        </p:txBody>
      </p:sp>
    </p:spTree>
    <p:extLst>
      <p:ext uri="{BB962C8B-B14F-4D97-AF65-F5344CB8AC3E}">
        <p14:creationId xmlns:p14="http://schemas.microsoft.com/office/powerpoint/2010/main" val="148433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9"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p:nvPr>
        </p:nvSpPr>
        <p:spPr>
          <a:xfrm>
            <a:off x="2417779" y="509451"/>
            <a:ext cx="8637073" cy="744583"/>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dirty="0">
                <a:solidFill>
                  <a:schemeClr val="bg1"/>
                </a:solidFill>
              </a:rPr>
              <a:t>Syllabus</a:t>
            </a:r>
            <a:endParaRPr lang="en-IN" dirty="0">
              <a:solidFill>
                <a:schemeClr val="bg1"/>
              </a:solidFill>
            </a:endParaRPr>
          </a:p>
        </p:txBody>
      </p:sp>
      <p:sp>
        <p:nvSpPr>
          <p:cNvPr id="3" name="Subtitle 2">
            <a:extLst>
              <a:ext uri="{FF2B5EF4-FFF2-40B4-BE49-F238E27FC236}">
                <a16:creationId xmlns:a16="http://schemas.microsoft.com/office/drawing/2014/main" id="{5F640656-3048-2A08-BF39-81705306F79A}"/>
              </a:ext>
            </a:extLst>
          </p:cNvPr>
          <p:cNvSpPr>
            <a:spLocks noGrp="1"/>
          </p:cNvSpPr>
          <p:nvPr>
            <p:ph type="subTitle" idx="1"/>
          </p:nvPr>
        </p:nvSpPr>
        <p:spPr>
          <a:xfrm>
            <a:off x="2417780" y="1580606"/>
            <a:ext cx="8637072" cy="4232365"/>
          </a:xfrm>
        </p:spPr>
        <p:txBody>
          <a:bodyPr/>
          <a:lstStyle/>
          <a:p>
            <a:r>
              <a:rPr lang="en-US" b="0" i="0" dirty="0">
                <a:solidFill>
                  <a:srgbClr val="000000"/>
                </a:solidFill>
                <a:effectLst/>
              </a:rPr>
              <a:t>Preface of Socket , </a:t>
            </a:r>
          </a:p>
          <a:p>
            <a:r>
              <a:rPr lang="en-US" b="0" i="0" dirty="0">
                <a:solidFill>
                  <a:srgbClr val="000000"/>
                </a:solidFill>
                <a:effectLst/>
              </a:rPr>
              <a:t>Secure Socket Layer</a:t>
            </a:r>
            <a:endParaRPr lang="en-IN" dirty="0"/>
          </a:p>
        </p:txBody>
      </p:sp>
    </p:spTree>
    <p:extLst>
      <p:ext uri="{BB962C8B-B14F-4D97-AF65-F5344CB8AC3E}">
        <p14:creationId xmlns:p14="http://schemas.microsoft.com/office/powerpoint/2010/main" val="2503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68FFA-6EB0-ADD4-B2B9-DCECE635DA2B}"/>
              </a:ext>
            </a:extLst>
          </p:cNvPr>
          <p:cNvSpPr>
            <a:spLocks noGrp="1"/>
          </p:cNvSpPr>
          <p:nvPr>
            <p:ph type="title"/>
          </p:nvPr>
        </p:nvSpPr>
        <p:spPr/>
        <p:txBody>
          <a:bodyPr/>
          <a:lstStyle/>
          <a:p>
            <a:r>
              <a:rPr lang="en-US" dirty="0"/>
              <a:t>Preface to the Socket</a:t>
            </a:r>
            <a:endParaRPr lang="en-IN" dirty="0"/>
          </a:p>
        </p:txBody>
      </p:sp>
      <p:sp>
        <p:nvSpPr>
          <p:cNvPr id="3" name="Content Placeholder 2">
            <a:extLst>
              <a:ext uri="{FF2B5EF4-FFF2-40B4-BE49-F238E27FC236}">
                <a16:creationId xmlns:a16="http://schemas.microsoft.com/office/drawing/2014/main" id="{17E46578-7B49-C9CE-6590-A4245C28FFC6}"/>
              </a:ext>
            </a:extLst>
          </p:cNvPr>
          <p:cNvSpPr>
            <a:spLocks noGrp="1"/>
          </p:cNvSpPr>
          <p:nvPr>
            <p:ph idx="1"/>
          </p:nvPr>
        </p:nvSpPr>
        <p:spPr/>
        <p:txBody>
          <a:bodyPr/>
          <a:lstStyle/>
          <a:p>
            <a:r>
              <a:rPr lang="en-IN" sz="1800" dirty="0">
                <a:effectLst/>
                <a:latin typeface="Times New Roman" panose="02020603050405020304" pitchFamily="18" charset="0"/>
                <a:ea typeface="Calibri" panose="020F0502020204030204" pitchFamily="34" charset="0"/>
              </a:rPr>
              <a:t>Sockets in computer networks are used for allowing the transmission of information between two processes of the same machines or different machines in the network.</a:t>
            </a:r>
          </a:p>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Sockets allow communication of two processes that are running on the same or different machines. </a:t>
            </a:r>
          </a:p>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Sockets are the end of two-way communication between two programs that are running on the networks.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C6ECBAEA-F25E-2FB9-F06F-A1A4548AF1F8}"/>
              </a:ext>
            </a:extLst>
          </p:cNvPr>
          <p:cNvSpPr>
            <a:spLocks noGrp="1"/>
          </p:cNvSpPr>
          <p:nvPr>
            <p:ph type="sldNum" sz="quarter" idx="12"/>
          </p:nvPr>
        </p:nvSpPr>
        <p:spPr/>
        <p:txBody>
          <a:bodyPr/>
          <a:lstStyle/>
          <a:p>
            <a:fld id="{CBABCCC1-BF11-4F37-963E-1BCD5B23FD72}" type="slidenum">
              <a:rPr lang="en-IN" smtClean="0"/>
              <a:pPr/>
              <a:t>4</a:t>
            </a:fld>
            <a:endParaRPr lang="en-IN" dirty="0"/>
          </a:p>
        </p:txBody>
      </p:sp>
    </p:spTree>
    <p:extLst>
      <p:ext uri="{BB962C8B-B14F-4D97-AF65-F5344CB8AC3E}">
        <p14:creationId xmlns:p14="http://schemas.microsoft.com/office/powerpoint/2010/main" val="546788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4A74F-E3E8-815D-6EC4-27CAD5989BF1}"/>
              </a:ext>
            </a:extLst>
          </p:cNvPr>
          <p:cNvSpPr>
            <a:spLocks noGrp="1"/>
          </p:cNvSpPr>
          <p:nvPr>
            <p:ph type="title"/>
          </p:nvPr>
        </p:nvSpPr>
        <p:spPr/>
        <p:txBody>
          <a:bodyPr/>
          <a:lstStyle/>
          <a:p>
            <a:r>
              <a:rPr lang="en-US" dirty="0"/>
              <a:t>Preface to the Socket</a:t>
            </a:r>
            <a:endParaRPr lang="en-IN" dirty="0"/>
          </a:p>
        </p:txBody>
      </p:sp>
      <p:sp>
        <p:nvSpPr>
          <p:cNvPr id="3" name="Content Placeholder 2">
            <a:extLst>
              <a:ext uri="{FF2B5EF4-FFF2-40B4-BE49-F238E27FC236}">
                <a16:creationId xmlns:a16="http://schemas.microsoft.com/office/drawing/2014/main" id="{9A0D5569-578B-4A42-4E54-F3EA553E88BF}"/>
              </a:ext>
            </a:extLst>
          </p:cNvPr>
          <p:cNvSpPr>
            <a:spLocks noGrp="1"/>
          </p:cNvSpPr>
          <p:nvPr>
            <p:ph idx="1"/>
          </p:nvPr>
        </p:nvSpPr>
        <p:spPr>
          <a:xfrm>
            <a:off x="1451579" y="2015732"/>
            <a:ext cx="9603275" cy="3989652"/>
          </a:xfrm>
        </p:spPr>
        <p:txBody>
          <a:bodyPr/>
          <a:lstStyle/>
          <a:p>
            <a:pPr marL="342900" lvl="0" indent="-342900" algn="jus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Sockets are mostly used in client-server architecture for communication between multiple applications.</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The socket is created by the combination of the IP address and port number of the software. With this combination, the process knows the system address and address of the application where data is to be sent.</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rPr>
              <a:t>: is used to separate IP address and port number. or e.g.: 192.168.1.67:80, 155.2.12.23:77, etc.</a:t>
            </a:r>
            <a:endParaRPr lang="en-IN" sz="18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9943F4B3-F57F-839B-73CD-D9349C5E3CBD}"/>
              </a:ext>
            </a:extLst>
          </p:cNvPr>
          <p:cNvSpPr>
            <a:spLocks noGrp="1"/>
          </p:cNvSpPr>
          <p:nvPr>
            <p:ph type="sldNum" sz="quarter" idx="12"/>
          </p:nvPr>
        </p:nvSpPr>
        <p:spPr/>
        <p:txBody>
          <a:bodyPr/>
          <a:lstStyle/>
          <a:p>
            <a:fld id="{CBABCCC1-BF11-4F37-963E-1BCD5B23FD72}" type="slidenum">
              <a:rPr lang="en-IN" smtClean="0"/>
              <a:pPr/>
              <a:t>5</a:t>
            </a:fld>
            <a:endParaRPr lang="en-IN"/>
          </a:p>
        </p:txBody>
      </p:sp>
    </p:spTree>
    <p:extLst>
      <p:ext uri="{BB962C8B-B14F-4D97-AF65-F5344CB8AC3E}">
        <p14:creationId xmlns:p14="http://schemas.microsoft.com/office/powerpoint/2010/main" val="3106952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13935-0C42-200D-49AF-C68239147832}"/>
              </a:ext>
            </a:extLst>
          </p:cNvPr>
          <p:cNvSpPr>
            <a:spLocks noGrp="1"/>
          </p:cNvSpPr>
          <p:nvPr>
            <p:ph type="title"/>
          </p:nvPr>
        </p:nvSpPr>
        <p:spPr/>
        <p:txBody>
          <a:bodyPr/>
          <a:lstStyle/>
          <a:p>
            <a:r>
              <a:rPr lang="en-US" dirty="0"/>
              <a:t>Preface to the Socket</a:t>
            </a:r>
            <a:endParaRPr lang="en-IN" dirty="0"/>
          </a:p>
        </p:txBody>
      </p:sp>
      <p:sp>
        <p:nvSpPr>
          <p:cNvPr id="4" name="Slide Number Placeholder 3">
            <a:extLst>
              <a:ext uri="{FF2B5EF4-FFF2-40B4-BE49-F238E27FC236}">
                <a16:creationId xmlns:a16="http://schemas.microsoft.com/office/drawing/2014/main" id="{5F341473-509D-FAF9-9F55-205871EFC5DB}"/>
              </a:ext>
            </a:extLst>
          </p:cNvPr>
          <p:cNvSpPr>
            <a:spLocks noGrp="1"/>
          </p:cNvSpPr>
          <p:nvPr>
            <p:ph type="sldNum" sz="quarter" idx="12"/>
          </p:nvPr>
        </p:nvSpPr>
        <p:spPr/>
        <p:txBody>
          <a:bodyPr/>
          <a:lstStyle/>
          <a:p>
            <a:fld id="{CBABCCC1-BF11-4F37-963E-1BCD5B23FD72}" type="slidenum">
              <a:rPr lang="en-IN" smtClean="0"/>
              <a:pPr/>
              <a:t>6</a:t>
            </a:fld>
            <a:endParaRPr lang="en-IN"/>
          </a:p>
        </p:txBody>
      </p:sp>
      <p:pic>
        <p:nvPicPr>
          <p:cNvPr id="5" name="Content Placeholder 4">
            <a:extLst>
              <a:ext uri="{FF2B5EF4-FFF2-40B4-BE49-F238E27FC236}">
                <a16:creationId xmlns:a16="http://schemas.microsoft.com/office/drawing/2014/main" id="{F935EE03-5785-0BA8-C1C1-B26011143E0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219" r="5219"/>
          <a:stretch>
            <a:fillRect/>
          </a:stretch>
        </p:blipFill>
        <p:spPr bwMode="auto">
          <a:xfrm>
            <a:off x="3855678" y="2154810"/>
            <a:ext cx="4794968" cy="317226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62996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9C558-D248-E5D4-7336-B7BBBDBCAD9E}"/>
              </a:ext>
            </a:extLst>
          </p:cNvPr>
          <p:cNvSpPr>
            <a:spLocks noGrp="1"/>
          </p:cNvSpPr>
          <p:nvPr>
            <p:ph type="title"/>
          </p:nvPr>
        </p:nvSpPr>
        <p:spPr/>
        <p:txBody>
          <a:bodyPr/>
          <a:lstStyle/>
          <a:p>
            <a:r>
              <a:rPr lang="en-US" dirty="0"/>
              <a:t>Secure Socket Layer (SSL)</a:t>
            </a:r>
            <a:endParaRPr lang="en-IN" dirty="0"/>
          </a:p>
        </p:txBody>
      </p:sp>
      <p:sp>
        <p:nvSpPr>
          <p:cNvPr id="3" name="Content Placeholder 2">
            <a:extLst>
              <a:ext uri="{FF2B5EF4-FFF2-40B4-BE49-F238E27FC236}">
                <a16:creationId xmlns:a16="http://schemas.microsoft.com/office/drawing/2014/main" id="{4639875A-9EAD-DA6F-4C65-8158000168F9}"/>
              </a:ext>
            </a:extLst>
          </p:cNvPr>
          <p:cNvSpPr>
            <a:spLocks noGrp="1"/>
          </p:cNvSpPr>
          <p:nvPr>
            <p:ph idx="1"/>
          </p:nvPr>
        </p:nvSpPr>
        <p:spPr/>
        <p:txBody>
          <a:bodyPr/>
          <a:lstStyle/>
          <a:p>
            <a:r>
              <a:rPr lang="en-US" altLang="en-US" sz="2000" i="1" dirty="0">
                <a:effectLst>
                  <a:outerShdw blurRad="38100" dist="38100" dir="2700000" algn="tl">
                    <a:srgbClr val="C0C0C0"/>
                  </a:outerShdw>
                </a:effectLst>
                <a:latin typeface="Times New Roman" panose="02020603050405020304" pitchFamily="18" charset="0"/>
              </a:rPr>
              <a:t>Two protocols are dominant today for providing security at the transport layer: the Secure Sockets Layer (SSL) Protocol and the Transport Layer Security (TLS) Protocol. The latter is actually an IETF version of the former. </a:t>
            </a:r>
          </a:p>
          <a:p>
            <a:endParaRPr lang="en-IN" dirty="0"/>
          </a:p>
        </p:txBody>
      </p:sp>
      <p:sp>
        <p:nvSpPr>
          <p:cNvPr id="4" name="Slide Number Placeholder 3">
            <a:extLst>
              <a:ext uri="{FF2B5EF4-FFF2-40B4-BE49-F238E27FC236}">
                <a16:creationId xmlns:a16="http://schemas.microsoft.com/office/drawing/2014/main" id="{893F5B46-0104-5FFC-E075-3891E062B210}"/>
              </a:ext>
            </a:extLst>
          </p:cNvPr>
          <p:cNvSpPr>
            <a:spLocks noGrp="1"/>
          </p:cNvSpPr>
          <p:nvPr>
            <p:ph type="sldNum" sz="quarter" idx="12"/>
          </p:nvPr>
        </p:nvSpPr>
        <p:spPr/>
        <p:txBody>
          <a:bodyPr/>
          <a:lstStyle/>
          <a:p>
            <a:fld id="{CBABCCC1-BF11-4F37-963E-1BCD5B23FD72}" type="slidenum">
              <a:rPr lang="en-IN" smtClean="0"/>
              <a:pPr/>
              <a:t>7</a:t>
            </a:fld>
            <a:endParaRPr lang="en-IN" dirty="0"/>
          </a:p>
        </p:txBody>
      </p:sp>
    </p:spTree>
    <p:extLst>
      <p:ext uri="{BB962C8B-B14F-4D97-AF65-F5344CB8AC3E}">
        <p14:creationId xmlns:p14="http://schemas.microsoft.com/office/powerpoint/2010/main" val="1174457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16E2C-78A4-F75D-812E-FAA9B13E7074}"/>
              </a:ext>
            </a:extLst>
          </p:cNvPr>
          <p:cNvSpPr>
            <a:spLocks noGrp="1"/>
          </p:cNvSpPr>
          <p:nvPr>
            <p:ph type="title"/>
          </p:nvPr>
        </p:nvSpPr>
        <p:spPr/>
        <p:txBody>
          <a:bodyPr/>
          <a:lstStyle/>
          <a:p>
            <a:r>
              <a:rPr lang="en-US" dirty="0"/>
              <a:t>Secure Socket Layer (SSL)</a:t>
            </a:r>
            <a:endParaRPr lang="en-IN" dirty="0"/>
          </a:p>
        </p:txBody>
      </p:sp>
      <p:sp>
        <p:nvSpPr>
          <p:cNvPr id="3" name="Content Placeholder 2">
            <a:extLst>
              <a:ext uri="{FF2B5EF4-FFF2-40B4-BE49-F238E27FC236}">
                <a16:creationId xmlns:a16="http://schemas.microsoft.com/office/drawing/2014/main" id="{7DD325DD-08B6-2360-216D-1BD524D971A7}"/>
              </a:ext>
            </a:extLst>
          </p:cNvPr>
          <p:cNvSpPr>
            <a:spLocks noGrp="1"/>
          </p:cNvSpPr>
          <p:nvPr>
            <p:ph idx="1"/>
          </p:nvPr>
        </p:nvSpPr>
        <p:spPr/>
        <p:txBody>
          <a:bodyPr/>
          <a:lstStyle/>
          <a:p>
            <a:r>
              <a:rPr lang="en-US" dirty="0"/>
              <a:t>Location of SSL and TSL in the Internet Model</a:t>
            </a:r>
          </a:p>
          <a:p>
            <a:endParaRPr lang="en-IN" dirty="0"/>
          </a:p>
        </p:txBody>
      </p:sp>
      <p:sp>
        <p:nvSpPr>
          <p:cNvPr id="4" name="Slide Number Placeholder 3">
            <a:extLst>
              <a:ext uri="{FF2B5EF4-FFF2-40B4-BE49-F238E27FC236}">
                <a16:creationId xmlns:a16="http://schemas.microsoft.com/office/drawing/2014/main" id="{CB88D97D-7AD7-5A27-7D3F-5CC7CF8AFA8E}"/>
              </a:ext>
            </a:extLst>
          </p:cNvPr>
          <p:cNvSpPr>
            <a:spLocks noGrp="1"/>
          </p:cNvSpPr>
          <p:nvPr>
            <p:ph type="sldNum" sz="quarter" idx="12"/>
          </p:nvPr>
        </p:nvSpPr>
        <p:spPr/>
        <p:txBody>
          <a:bodyPr/>
          <a:lstStyle/>
          <a:p>
            <a:fld id="{CBABCCC1-BF11-4F37-963E-1BCD5B23FD72}" type="slidenum">
              <a:rPr lang="en-IN" smtClean="0"/>
              <a:pPr/>
              <a:t>8</a:t>
            </a:fld>
            <a:endParaRPr lang="en-IN"/>
          </a:p>
        </p:txBody>
      </p:sp>
      <p:pic>
        <p:nvPicPr>
          <p:cNvPr id="6" name="Picture 6">
            <a:extLst>
              <a:ext uri="{FF2B5EF4-FFF2-40B4-BE49-F238E27FC236}">
                <a16:creationId xmlns:a16="http://schemas.microsoft.com/office/drawing/2014/main" id="{38766649-2EDF-F4E5-0942-C998BFD07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0110" y="2500407"/>
            <a:ext cx="6526212" cy="248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062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7593E-168B-AF55-AB11-8294D3753EDE}"/>
              </a:ext>
            </a:extLst>
          </p:cNvPr>
          <p:cNvSpPr>
            <a:spLocks noGrp="1"/>
          </p:cNvSpPr>
          <p:nvPr>
            <p:ph type="title"/>
          </p:nvPr>
        </p:nvSpPr>
        <p:spPr/>
        <p:txBody>
          <a:bodyPr/>
          <a:lstStyle/>
          <a:p>
            <a:r>
              <a:rPr lang="en-US" dirty="0"/>
              <a:t>Secure Socket Layer (SSL)</a:t>
            </a:r>
            <a:endParaRPr lang="en-IN" dirty="0"/>
          </a:p>
        </p:txBody>
      </p:sp>
      <p:sp>
        <p:nvSpPr>
          <p:cNvPr id="3" name="Content Placeholder 2">
            <a:extLst>
              <a:ext uri="{FF2B5EF4-FFF2-40B4-BE49-F238E27FC236}">
                <a16:creationId xmlns:a16="http://schemas.microsoft.com/office/drawing/2014/main" id="{A5CE7C7C-CB93-7DDD-AE51-FF4ED9522603}"/>
              </a:ext>
            </a:extLst>
          </p:cNvPr>
          <p:cNvSpPr>
            <a:spLocks noGrp="1"/>
          </p:cNvSpPr>
          <p:nvPr>
            <p:ph idx="1"/>
          </p:nvPr>
        </p:nvSpPr>
        <p:spPr/>
        <p:txBody>
          <a:bodyPr/>
          <a:lstStyle/>
          <a:p>
            <a:r>
              <a:rPr lang="en-US" dirty="0"/>
              <a:t>SSL cipher suit list</a:t>
            </a:r>
          </a:p>
          <a:p>
            <a:endParaRPr lang="en-US" dirty="0"/>
          </a:p>
          <a:p>
            <a:endParaRPr lang="en-IN" dirty="0"/>
          </a:p>
        </p:txBody>
      </p:sp>
      <p:sp>
        <p:nvSpPr>
          <p:cNvPr id="4" name="Slide Number Placeholder 3">
            <a:extLst>
              <a:ext uri="{FF2B5EF4-FFF2-40B4-BE49-F238E27FC236}">
                <a16:creationId xmlns:a16="http://schemas.microsoft.com/office/drawing/2014/main" id="{FF9D379D-D4C0-0D8B-0449-4E9E74538CE7}"/>
              </a:ext>
            </a:extLst>
          </p:cNvPr>
          <p:cNvSpPr>
            <a:spLocks noGrp="1"/>
          </p:cNvSpPr>
          <p:nvPr>
            <p:ph type="sldNum" sz="quarter" idx="12"/>
          </p:nvPr>
        </p:nvSpPr>
        <p:spPr/>
        <p:txBody>
          <a:bodyPr/>
          <a:lstStyle/>
          <a:p>
            <a:fld id="{CBABCCC1-BF11-4F37-963E-1BCD5B23FD72}" type="slidenum">
              <a:rPr lang="en-IN" smtClean="0"/>
              <a:pPr/>
              <a:t>9</a:t>
            </a:fld>
            <a:endParaRPr lang="en-IN"/>
          </a:p>
        </p:txBody>
      </p:sp>
      <p:grpSp>
        <p:nvGrpSpPr>
          <p:cNvPr id="5" name="Group 6">
            <a:extLst>
              <a:ext uri="{FF2B5EF4-FFF2-40B4-BE49-F238E27FC236}">
                <a16:creationId xmlns:a16="http://schemas.microsoft.com/office/drawing/2014/main" id="{0EDD05AA-0F69-C7A9-9537-7DF1D3544138}"/>
              </a:ext>
            </a:extLst>
          </p:cNvPr>
          <p:cNvGrpSpPr>
            <a:grpSpLocks/>
          </p:cNvGrpSpPr>
          <p:nvPr/>
        </p:nvGrpSpPr>
        <p:grpSpPr bwMode="auto">
          <a:xfrm>
            <a:off x="3790122" y="2015732"/>
            <a:ext cx="7264732" cy="3748204"/>
            <a:chOff x="144" y="1261"/>
            <a:chExt cx="5459" cy="2483"/>
          </a:xfrm>
        </p:grpSpPr>
        <p:pic>
          <p:nvPicPr>
            <p:cNvPr id="6" name="Picture 4">
              <a:extLst>
                <a:ext uri="{FF2B5EF4-FFF2-40B4-BE49-F238E27FC236}">
                  <a16:creationId xmlns:a16="http://schemas.microsoft.com/office/drawing/2014/main" id="{99CFD892-9944-1FBE-4607-108CB04823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 y="1561"/>
              <a:ext cx="5459" cy="2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a:extLst>
                <a:ext uri="{FF2B5EF4-FFF2-40B4-BE49-F238E27FC236}">
                  <a16:creationId xmlns:a16="http://schemas.microsoft.com/office/drawing/2014/main" id="{E2AE181A-947D-5755-EFFF-BDBDC3B32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 y="1261"/>
              <a:ext cx="5361" cy="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716936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CE126-D3D1-8996-4783-6C99D68DE74E}"/>
              </a:ext>
            </a:extLst>
          </p:cNvPr>
          <p:cNvSpPr>
            <a:spLocks noGrp="1"/>
          </p:cNvSpPr>
          <p:nvPr>
            <p:ph type="title"/>
          </p:nvPr>
        </p:nvSpPr>
        <p:spPr/>
        <p:txBody>
          <a:bodyPr/>
          <a:lstStyle/>
          <a:p>
            <a:r>
              <a:rPr lang="en-US" dirty="0"/>
              <a:t>Secure Socket Layer (SSL)</a:t>
            </a:r>
            <a:endParaRPr lang="en-IN" dirty="0"/>
          </a:p>
        </p:txBody>
      </p:sp>
      <p:sp>
        <p:nvSpPr>
          <p:cNvPr id="3" name="Content Placeholder 2">
            <a:extLst>
              <a:ext uri="{FF2B5EF4-FFF2-40B4-BE49-F238E27FC236}">
                <a16:creationId xmlns:a16="http://schemas.microsoft.com/office/drawing/2014/main" id="{389F0538-5EAD-F877-4AA2-449AB14E6FB9}"/>
              </a:ext>
            </a:extLst>
          </p:cNvPr>
          <p:cNvSpPr>
            <a:spLocks noGrp="1"/>
          </p:cNvSpPr>
          <p:nvPr>
            <p:ph idx="1"/>
          </p:nvPr>
        </p:nvSpPr>
        <p:spPr>
          <a:xfrm>
            <a:off x="1451579" y="2015732"/>
            <a:ext cx="3928804" cy="3450613"/>
          </a:xfrm>
        </p:spPr>
        <p:txBody>
          <a:bodyPr/>
          <a:lstStyle/>
          <a:p>
            <a:r>
              <a:rPr lang="en-US" altLang="en-US" i="1" dirty="0">
                <a:latin typeface="Times New Roman" panose="02020603050405020304" pitchFamily="18" charset="0"/>
              </a:rPr>
              <a:t>The client and the server have six different cryptography secrets.</a:t>
            </a:r>
          </a:p>
          <a:p>
            <a:r>
              <a:rPr lang="en-US" altLang="en-US" sz="2000" i="1" dirty="0">
                <a:latin typeface="Times New Roman" panose="02020603050405020304" pitchFamily="18" charset="0"/>
              </a:rPr>
              <a:t>Creation of cryptographic secrets in SSL</a:t>
            </a:r>
            <a:endParaRPr lang="en-US" altLang="en-US" dirty="0"/>
          </a:p>
          <a:p>
            <a:pPr marL="0" indent="0">
              <a:buNone/>
            </a:pPr>
            <a:endParaRPr lang="en-IN" dirty="0"/>
          </a:p>
        </p:txBody>
      </p:sp>
      <p:sp>
        <p:nvSpPr>
          <p:cNvPr id="4" name="Slide Number Placeholder 3">
            <a:extLst>
              <a:ext uri="{FF2B5EF4-FFF2-40B4-BE49-F238E27FC236}">
                <a16:creationId xmlns:a16="http://schemas.microsoft.com/office/drawing/2014/main" id="{F5A4E0C4-D0CC-4C96-E303-2AE21D78192B}"/>
              </a:ext>
            </a:extLst>
          </p:cNvPr>
          <p:cNvSpPr>
            <a:spLocks noGrp="1"/>
          </p:cNvSpPr>
          <p:nvPr>
            <p:ph type="sldNum" sz="quarter" idx="12"/>
          </p:nvPr>
        </p:nvSpPr>
        <p:spPr/>
        <p:txBody>
          <a:bodyPr/>
          <a:lstStyle/>
          <a:p>
            <a:fld id="{CBABCCC1-BF11-4F37-963E-1BCD5B23FD72}" type="slidenum">
              <a:rPr lang="en-IN" smtClean="0"/>
              <a:pPr/>
              <a:t>10</a:t>
            </a:fld>
            <a:endParaRPr lang="en-IN"/>
          </a:p>
        </p:txBody>
      </p:sp>
      <p:pic>
        <p:nvPicPr>
          <p:cNvPr id="5" name="Picture 6">
            <a:extLst>
              <a:ext uri="{FF2B5EF4-FFF2-40B4-BE49-F238E27FC236}">
                <a16:creationId xmlns:a16="http://schemas.microsoft.com/office/drawing/2014/main" id="{D3A577D4-189A-228F-C4D9-F711270508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80383" y="2015733"/>
            <a:ext cx="5674471" cy="3816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7030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1EDAC-E3F2-FA7E-C607-CA3A58922896}"/>
              </a:ext>
            </a:extLst>
          </p:cNvPr>
          <p:cNvSpPr>
            <a:spLocks noGrp="1"/>
          </p:cNvSpPr>
          <p:nvPr>
            <p:ph type="title"/>
          </p:nvPr>
        </p:nvSpPr>
        <p:spPr/>
        <p:txBody>
          <a:bodyPr/>
          <a:lstStyle/>
          <a:p>
            <a:r>
              <a:rPr lang="en-US" dirty="0"/>
              <a:t>Secure Socket Layer (SSL)</a:t>
            </a:r>
            <a:endParaRPr lang="en-IN" dirty="0"/>
          </a:p>
        </p:txBody>
      </p:sp>
      <p:sp>
        <p:nvSpPr>
          <p:cNvPr id="3" name="Content Placeholder 2">
            <a:extLst>
              <a:ext uri="{FF2B5EF4-FFF2-40B4-BE49-F238E27FC236}">
                <a16:creationId xmlns:a16="http://schemas.microsoft.com/office/drawing/2014/main" id="{59AADA25-568A-1610-6E84-DA61BFBF0483}"/>
              </a:ext>
            </a:extLst>
          </p:cNvPr>
          <p:cNvSpPr>
            <a:spLocks noGrp="1"/>
          </p:cNvSpPr>
          <p:nvPr>
            <p:ph idx="1"/>
          </p:nvPr>
        </p:nvSpPr>
        <p:spPr/>
        <p:txBody>
          <a:bodyPr/>
          <a:lstStyle/>
          <a:p>
            <a:r>
              <a:rPr lang="en-US" dirty="0"/>
              <a:t>SSL Protocol suit</a:t>
            </a:r>
          </a:p>
          <a:p>
            <a:endParaRPr lang="en-IN" dirty="0"/>
          </a:p>
        </p:txBody>
      </p:sp>
      <p:sp>
        <p:nvSpPr>
          <p:cNvPr id="4" name="Slide Number Placeholder 3">
            <a:extLst>
              <a:ext uri="{FF2B5EF4-FFF2-40B4-BE49-F238E27FC236}">
                <a16:creationId xmlns:a16="http://schemas.microsoft.com/office/drawing/2014/main" id="{4C8128E7-981D-343F-9BE2-2754AD4A8D98}"/>
              </a:ext>
            </a:extLst>
          </p:cNvPr>
          <p:cNvSpPr>
            <a:spLocks noGrp="1"/>
          </p:cNvSpPr>
          <p:nvPr>
            <p:ph type="sldNum" sz="quarter" idx="12"/>
          </p:nvPr>
        </p:nvSpPr>
        <p:spPr/>
        <p:txBody>
          <a:bodyPr/>
          <a:lstStyle/>
          <a:p>
            <a:fld id="{CBABCCC1-BF11-4F37-963E-1BCD5B23FD72}" type="slidenum">
              <a:rPr lang="en-IN" smtClean="0"/>
              <a:pPr/>
              <a:t>11</a:t>
            </a:fld>
            <a:endParaRPr lang="en-IN"/>
          </a:p>
        </p:txBody>
      </p:sp>
      <p:pic>
        <p:nvPicPr>
          <p:cNvPr id="5" name="Picture 6">
            <a:extLst>
              <a:ext uri="{FF2B5EF4-FFF2-40B4-BE49-F238E27FC236}">
                <a16:creationId xmlns:a16="http://schemas.microsoft.com/office/drawing/2014/main" id="{A38B0ABD-8659-A72A-E9B7-2BDB1FDB3D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7074" y="2094800"/>
            <a:ext cx="7057780" cy="353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6073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B9EB7-07E8-245A-7FC3-E5E3A9C0CBA5}"/>
              </a:ext>
            </a:extLst>
          </p:cNvPr>
          <p:cNvSpPr>
            <a:spLocks noGrp="1"/>
          </p:cNvSpPr>
          <p:nvPr>
            <p:ph type="title"/>
          </p:nvPr>
        </p:nvSpPr>
        <p:spPr/>
        <p:txBody>
          <a:bodyPr/>
          <a:lstStyle/>
          <a:p>
            <a:r>
              <a:rPr lang="en-US" dirty="0"/>
              <a:t>Secure Socket Layer (SSL)</a:t>
            </a:r>
            <a:endParaRPr lang="en-IN" dirty="0"/>
          </a:p>
        </p:txBody>
      </p:sp>
      <p:sp>
        <p:nvSpPr>
          <p:cNvPr id="3" name="Content Placeholder 2">
            <a:extLst>
              <a:ext uri="{FF2B5EF4-FFF2-40B4-BE49-F238E27FC236}">
                <a16:creationId xmlns:a16="http://schemas.microsoft.com/office/drawing/2014/main" id="{902F8E74-E81A-DF80-008B-F57229D3F880}"/>
              </a:ext>
            </a:extLst>
          </p:cNvPr>
          <p:cNvSpPr>
            <a:spLocks noGrp="1"/>
          </p:cNvSpPr>
          <p:nvPr>
            <p:ph idx="1"/>
          </p:nvPr>
        </p:nvSpPr>
        <p:spPr/>
        <p:txBody>
          <a:bodyPr/>
          <a:lstStyle/>
          <a:p>
            <a:r>
              <a:rPr lang="en-US" dirty="0"/>
              <a:t>Hand shake Protocol</a:t>
            </a:r>
          </a:p>
          <a:p>
            <a:endParaRPr lang="en-IN" dirty="0"/>
          </a:p>
        </p:txBody>
      </p:sp>
      <p:sp>
        <p:nvSpPr>
          <p:cNvPr id="4" name="Slide Number Placeholder 3">
            <a:extLst>
              <a:ext uri="{FF2B5EF4-FFF2-40B4-BE49-F238E27FC236}">
                <a16:creationId xmlns:a16="http://schemas.microsoft.com/office/drawing/2014/main" id="{55596816-2278-CFA7-DFB4-0F28188B4900}"/>
              </a:ext>
            </a:extLst>
          </p:cNvPr>
          <p:cNvSpPr>
            <a:spLocks noGrp="1"/>
          </p:cNvSpPr>
          <p:nvPr>
            <p:ph type="sldNum" sz="quarter" idx="12"/>
          </p:nvPr>
        </p:nvSpPr>
        <p:spPr/>
        <p:txBody>
          <a:bodyPr/>
          <a:lstStyle/>
          <a:p>
            <a:fld id="{CBABCCC1-BF11-4F37-963E-1BCD5B23FD72}" type="slidenum">
              <a:rPr lang="en-IN" smtClean="0"/>
              <a:pPr/>
              <a:t>12</a:t>
            </a:fld>
            <a:endParaRPr lang="en-IN"/>
          </a:p>
        </p:txBody>
      </p:sp>
      <p:pic>
        <p:nvPicPr>
          <p:cNvPr id="5" name="Picture 6">
            <a:extLst>
              <a:ext uri="{FF2B5EF4-FFF2-40B4-BE49-F238E27FC236}">
                <a16:creationId xmlns:a16="http://schemas.microsoft.com/office/drawing/2014/main" id="{C07FE233-B93D-C218-996E-DE3332517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4278" y="2015732"/>
            <a:ext cx="6310576" cy="403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2750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FA96C-6926-6431-B3DC-E18F4512E789}"/>
              </a:ext>
            </a:extLst>
          </p:cNvPr>
          <p:cNvSpPr>
            <a:spLocks noGrp="1"/>
          </p:cNvSpPr>
          <p:nvPr>
            <p:ph type="title"/>
          </p:nvPr>
        </p:nvSpPr>
        <p:spPr/>
        <p:txBody>
          <a:bodyPr/>
          <a:lstStyle/>
          <a:p>
            <a:r>
              <a:rPr lang="en-US" dirty="0"/>
              <a:t>Secure Socket Layer (SSL)</a:t>
            </a:r>
            <a:endParaRPr lang="en-IN" dirty="0"/>
          </a:p>
        </p:txBody>
      </p:sp>
      <p:sp>
        <p:nvSpPr>
          <p:cNvPr id="3" name="Content Placeholder 2">
            <a:extLst>
              <a:ext uri="{FF2B5EF4-FFF2-40B4-BE49-F238E27FC236}">
                <a16:creationId xmlns:a16="http://schemas.microsoft.com/office/drawing/2014/main" id="{5747C030-AFEB-02CA-BD26-3C66D45F796A}"/>
              </a:ext>
            </a:extLst>
          </p:cNvPr>
          <p:cNvSpPr>
            <a:spLocks noGrp="1"/>
          </p:cNvSpPr>
          <p:nvPr>
            <p:ph idx="1"/>
          </p:nvPr>
        </p:nvSpPr>
        <p:spPr>
          <a:xfrm>
            <a:off x="1451580" y="2015732"/>
            <a:ext cx="2285534" cy="3450613"/>
          </a:xfrm>
        </p:spPr>
        <p:txBody>
          <a:bodyPr/>
          <a:lstStyle/>
          <a:p>
            <a:r>
              <a:rPr lang="en-US" dirty="0"/>
              <a:t>Processing done by the record Protocol</a:t>
            </a:r>
          </a:p>
          <a:p>
            <a:endParaRPr lang="en-IN" dirty="0"/>
          </a:p>
        </p:txBody>
      </p:sp>
      <p:sp>
        <p:nvSpPr>
          <p:cNvPr id="4" name="Slide Number Placeholder 3">
            <a:extLst>
              <a:ext uri="{FF2B5EF4-FFF2-40B4-BE49-F238E27FC236}">
                <a16:creationId xmlns:a16="http://schemas.microsoft.com/office/drawing/2014/main" id="{6ABC0B24-43B9-59D5-352A-FD8914CAD459}"/>
              </a:ext>
            </a:extLst>
          </p:cNvPr>
          <p:cNvSpPr>
            <a:spLocks noGrp="1"/>
          </p:cNvSpPr>
          <p:nvPr>
            <p:ph type="sldNum" sz="quarter" idx="12"/>
          </p:nvPr>
        </p:nvSpPr>
        <p:spPr/>
        <p:txBody>
          <a:bodyPr/>
          <a:lstStyle/>
          <a:p>
            <a:fld id="{CBABCCC1-BF11-4F37-963E-1BCD5B23FD72}" type="slidenum">
              <a:rPr lang="en-IN" smtClean="0"/>
              <a:pPr/>
              <a:t>13</a:t>
            </a:fld>
            <a:endParaRPr lang="en-IN"/>
          </a:p>
        </p:txBody>
      </p:sp>
      <p:pic>
        <p:nvPicPr>
          <p:cNvPr id="5" name="Picture 6">
            <a:extLst>
              <a:ext uri="{FF2B5EF4-FFF2-40B4-BE49-F238E27FC236}">
                <a16:creationId xmlns:a16="http://schemas.microsoft.com/office/drawing/2014/main" id="{23B03016-B898-43F9-2DB4-C7922D1F08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6382" y="2016003"/>
            <a:ext cx="7198471" cy="3988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73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F66730-4DD3-BB53-C455-2D71FD600D33}"/>
              </a:ext>
            </a:extLst>
          </p:cNvPr>
          <p:cNvSpPr>
            <a:spLocks noGrp="1"/>
          </p:cNvSpPr>
          <p:nvPr>
            <p:ph type="sldNum" sz="quarter" idx="12"/>
          </p:nvPr>
        </p:nvSpPr>
        <p:spPr/>
        <p:txBody>
          <a:bodyPr/>
          <a:lstStyle/>
          <a:p>
            <a:fld id="{CBABCCC1-BF11-4F37-963E-1BCD5B23FD72}" type="slidenum">
              <a:rPr lang="en-IN" smtClean="0"/>
              <a:pPr/>
              <a:t>14</a:t>
            </a:fld>
            <a:endParaRPr lang="en-IN"/>
          </a:p>
        </p:txBody>
      </p:sp>
      <p:sp>
        <p:nvSpPr>
          <p:cNvPr id="4" name="TextBox 3">
            <a:extLst>
              <a:ext uri="{FF2B5EF4-FFF2-40B4-BE49-F238E27FC236}">
                <a16:creationId xmlns:a16="http://schemas.microsoft.com/office/drawing/2014/main" id="{5A623F95-0F21-0612-3216-7FA387DC5384}"/>
              </a:ext>
            </a:extLst>
          </p:cNvPr>
          <p:cNvSpPr txBox="1"/>
          <p:nvPr/>
        </p:nvSpPr>
        <p:spPr>
          <a:xfrm>
            <a:off x="2955235" y="366596"/>
            <a:ext cx="679836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US" sz="2400" dirty="0"/>
              <a:t>SELF LEARNING QUESTION</a:t>
            </a:r>
            <a:endParaRPr lang="en-IN" sz="2400" dirty="0"/>
          </a:p>
        </p:txBody>
      </p:sp>
      <p:sp>
        <p:nvSpPr>
          <p:cNvPr id="9" name="TextBox 8">
            <a:extLst>
              <a:ext uri="{FF2B5EF4-FFF2-40B4-BE49-F238E27FC236}">
                <a16:creationId xmlns:a16="http://schemas.microsoft.com/office/drawing/2014/main" id="{A0F3CFE7-2641-2608-5DEC-596F1A95F87A}"/>
              </a:ext>
            </a:extLst>
          </p:cNvPr>
          <p:cNvSpPr txBox="1"/>
          <p:nvPr/>
        </p:nvSpPr>
        <p:spPr>
          <a:xfrm>
            <a:off x="993913" y="1189382"/>
            <a:ext cx="10429461" cy="4524315"/>
          </a:xfrm>
          <a:prstGeom prst="rect">
            <a:avLst/>
          </a:prstGeom>
          <a:noFill/>
        </p:spPr>
        <p:txBody>
          <a:bodyPr wrap="square" rtlCol="0">
            <a:spAutoFit/>
          </a:bodyPr>
          <a:lstStyle/>
          <a:p>
            <a:pPr marL="342900" indent="-342900">
              <a:buAutoNum type="arabicPeriod"/>
            </a:pPr>
            <a:r>
              <a:rPr lang="en-US" b="0" i="0" dirty="0">
                <a:solidFill>
                  <a:srgbClr val="3A3A3A"/>
                </a:solidFill>
                <a:effectLst/>
                <a:latin typeface="Open Sans" panose="020B0604020202020204" pitchFamily="34" charset="0"/>
              </a:rPr>
              <a:t>In the above figure from left to right, the correct order of the shaded levels are</a:t>
            </a:r>
            <a:br>
              <a:rPr lang="en-US" dirty="0"/>
            </a:br>
            <a:r>
              <a:rPr lang="en-US" b="0" i="0" dirty="0">
                <a:solidFill>
                  <a:srgbClr val="3A3A3A"/>
                </a:solidFill>
                <a:effectLst/>
                <a:latin typeface="Open Sans" panose="020B0604020202020204" pitchFamily="34" charset="0"/>
              </a:rPr>
              <a:t>a) Network level, Application level, Transport level</a:t>
            </a:r>
            <a:br>
              <a:rPr lang="en-US" dirty="0"/>
            </a:br>
            <a:r>
              <a:rPr lang="en-US" b="0" i="0" dirty="0">
                <a:solidFill>
                  <a:srgbClr val="3A3A3A"/>
                </a:solidFill>
                <a:effectLst/>
                <a:latin typeface="Open Sans" panose="020B0604020202020204" pitchFamily="34" charset="0"/>
              </a:rPr>
              <a:t>b) Application level, Network level, Transport level</a:t>
            </a:r>
            <a:br>
              <a:rPr lang="en-US" dirty="0"/>
            </a:br>
            <a:r>
              <a:rPr lang="en-US" b="0" i="0" dirty="0">
                <a:solidFill>
                  <a:srgbClr val="3A3A3A"/>
                </a:solidFill>
                <a:effectLst/>
                <a:latin typeface="Open Sans" panose="020B0604020202020204" pitchFamily="34" charset="0"/>
              </a:rPr>
              <a:t>c) Transport level, Application level, Network level</a:t>
            </a:r>
            <a:br>
              <a:rPr lang="en-US" dirty="0"/>
            </a:br>
            <a:r>
              <a:rPr lang="en-US" b="0" i="0" dirty="0">
                <a:solidFill>
                  <a:srgbClr val="3A3A3A"/>
                </a:solidFill>
                <a:effectLst/>
                <a:latin typeface="Open Sans" panose="020B0604020202020204" pitchFamily="34" charset="0"/>
              </a:rPr>
              <a:t>d) Network level, Transport level, Application level</a:t>
            </a:r>
          </a:p>
          <a:p>
            <a:r>
              <a:rPr lang="en-US" b="0" i="0" dirty="0">
                <a:solidFill>
                  <a:srgbClr val="3A3A3A"/>
                </a:solidFill>
                <a:effectLst/>
                <a:latin typeface="Open Sans" panose="020B0604020202020204" pitchFamily="34" charset="0"/>
              </a:rPr>
              <a:t>Answer: d</a:t>
            </a:r>
            <a:br>
              <a:rPr lang="en-US" dirty="0"/>
            </a:br>
            <a:r>
              <a:rPr lang="en-US" b="0" i="0" dirty="0">
                <a:solidFill>
                  <a:srgbClr val="3A3A3A"/>
                </a:solidFill>
                <a:effectLst/>
                <a:latin typeface="Open Sans" panose="020B0606030504020204" pitchFamily="34" charset="0"/>
              </a:rPr>
              <a:t>Explanation: IP/</a:t>
            </a:r>
            <a:r>
              <a:rPr lang="en-US" b="0" i="0" dirty="0" err="1">
                <a:solidFill>
                  <a:srgbClr val="3A3A3A"/>
                </a:solidFill>
                <a:effectLst/>
                <a:latin typeface="Open Sans" panose="020B0606030504020204" pitchFamily="34" charset="0"/>
              </a:rPr>
              <a:t>IPSec</a:t>
            </a:r>
            <a:r>
              <a:rPr lang="en-US" b="0" i="0" dirty="0">
                <a:solidFill>
                  <a:srgbClr val="3A3A3A"/>
                </a:solidFill>
                <a:effectLst/>
                <a:latin typeface="Open Sans" panose="020B0606030504020204" pitchFamily="34" charset="0"/>
              </a:rPr>
              <a:t> is the Network level, SSL or TLS is the Transport Level, Kerberos and S/MIME are the Application level.</a:t>
            </a:r>
          </a:p>
          <a:p>
            <a:pPr marL="342900" indent="-342900">
              <a:buFont typeface="+mj-lt"/>
              <a:buAutoNum type="arabicPeriod"/>
            </a:pPr>
            <a:r>
              <a:rPr lang="en-US" b="0" i="0" dirty="0">
                <a:solidFill>
                  <a:srgbClr val="3A3A3A"/>
                </a:solidFill>
                <a:effectLst/>
                <a:latin typeface="Open Sans" panose="020B0606030504020204" pitchFamily="34" charset="0"/>
              </a:rPr>
              <a:t>In the above figure, which of the above shaded block is transparent to end users and applications?</a:t>
            </a:r>
            <a:br>
              <a:rPr lang="en-US" dirty="0"/>
            </a:br>
            <a:r>
              <a:rPr lang="en-US" b="0" i="0" dirty="0">
                <a:solidFill>
                  <a:srgbClr val="3A3A3A"/>
                </a:solidFill>
                <a:effectLst/>
                <a:latin typeface="Open Sans" panose="020B0606030504020204" pitchFamily="34" charset="0"/>
              </a:rPr>
              <a:t>a) IP/</a:t>
            </a:r>
            <a:r>
              <a:rPr lang="en-US" b="0" i="0" dirty="0" err="1">
                <a:solidFill>
                  <a:srgbClr val="3A3A3A"/>
                </a:solidFill>
                <a:effectLst/>
                <a:latin typeface="Open Sans" panose="020B0606030504020204" pitchFamily="34" charset="0"/>
              </a:rPr>
              <a:t>IPSec</a:t>
            </a:r>
            <a:br>
              <a:rPr lang="en-US" dirty="0"/>
            </a:br>
            <a:r>
              <a:rPr lang="en-US" b="0" i="0" dirty="0">
                <a:solidFill>
                  <a:srgbClr val="3A3A3A"/>
                </a:solidFill>
                <a:effectLst/>
                <a:latin typeface="Open Sans" panose="020B0606030504020204" pitchFamily="34" charset="0"/>
              </a:rPr>
              <a:t>b) SSL</a:t>
            </a:r>
            <a:br>
              <a:rPr lang="en-US" dirty="0"/>
            </a:br>
            <a:r>
              <a:rPr lang="en-US" b="0" i="0" dirty="0">
                <a:solidFill>
                  <a:srgbClr val="3A3A3A"/>
                </a:solidFill>
                <a:effectLst/>
                <a:latin typeface="Open Sans" panose="020B0606030504020204" pitchFamily="34" charset="0"/>
              </a:rPr>
              <a:t>c) Kerberos</a:t>
            </a:r>
            <a:br>
              <a:rPr lang="en-US" dirty="0"/>
            </a:br>
            <a:r>
              <a:rPr lang="en-US" b="0" i="0" dirty="0">
                <a:solidFill>
                  <a:srgbClr val="3A3A3A"/>
                </a:solidFill>
                <a:effectLst/>
                <a:latin typeface="Open Sans" panose="020B0606030504020204" pitchFamily="34" charset="0"/>
              </a:rPr>
              <a:t>d) S/MIME</a:t>
            </a:r>
            <a:endParaRPr lang="en-US" dirty="0">
              <a:solidFill>
                <a:srgbClr val="3A3A3A"/>
              </a:solidFill>
              <a:latin typeface="Open Sans" panose="020B0606030504020204" pitchFamily="34" charset="0"/>
            </a:endParaRPr>
          </a:p>
          <a:p>
            <a:r>
              <a:rPr lang="en-US" b="0" i="0" dirty="0">
                <a:solidFill>
                  <a:srgbClr val="3A3A3A"/>
                </a:solidFill>
                <a:effectLst/>
                <a:latin typeface="Open Sans" panose="020B0606030504020204" pitchFamily="34" charset="0"/>
              </a:rPr>
              <a:t>Answer: a</a:t>
            </a:r>
            <a:br>
              <a:rPr lang="en-US" dirty="0"/>
            </a:br>
            <a:r>
              <a:rPr lang="en-US" b="0" i="0" dirty="0">
                <a:solidFill>
                  <a:srgbClr val="3A3A3A"/>
                </a:solidFill>
                <a:effectLst/>
                <a:latin typeface="Open Sans" panose="020B0606030504020204" pitchFamily="34" charset="0"/>
              </a:rPr>
              <a:t>Explanation: IP/</a:t>
            </a:r>
            <a:r>
              <a:rPr lang="en-US" b="0" i="0" dirty="0" err="1">
                <a:solidFill>
                  <a:srgbClr val="3A3A3A"/>
                </a:solidFill>
                <a:effectLst/>
                <a:latin typeface="Open Sans" panose="020B0606030504020204" pitchFamily="34" charset="0"/>
              </a:rPr>
              <a:t>IPSec</a:t>
            </a:r>
            <a:r>
              <a:rPr lang="en-US" b="0" i="0" dirty="0">
                <a:solidFill>
                  <a:srgbClr val="3A3A3A"/>
                </a:solidFill>
                <a:effectLst/>
                <a:latin typeface="Open Sans" panose="020B0606030504020204" pitchFamily="34" charset="0"/>
              </a:rPr>
              <a:t> is the Network layer which is transparent to end users and applications.</a:t>
            </a:r>
            <a:endParaRPr lang="en-IN" dirty="0"/>
          </a:p>
        </p:txBody>
      </p:sp>
    </p:spTree>
    <p:extLst>
      <p:ext uri="{BB962C8B-B14F-4D97-AF65-F5344CB8AC3E}">
        <p14:creationId xmlns:p14="http://schemas.microsoft.com/office/powerpoint/2010/main" val="2132524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92345-09F3-0534-05D3-5F3F58246534}"/>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normAutofit/>
          </a:bodyPr>
          <a:lstStyle/>
          <a:p>
            <a:r>
              <a:rPr lang="en-US" sz="3200" dirty="0"/>
              <a:t>REFERENCES FOR FURTHER LEARNING OF THE SESSION</a:t>
            </a:r>
            <a:endParaRPr lang="en-IN" dirty="0"/>
          </a:p>
        </p:txBody>
      </p:sp>
      <p:sp>
        <p:nvSpPr>
          <p:cNvPr id="3" name="Content Placeholder 2">
            <a:extLst>
              <a:ext uri="{FF2B5EF4-FFF2-40B4-BE49-F238E27FC236}">
                <a16:creationId xmlns:a16="http://schemas.microsoft.com/office/drawing/2014/main" id="{CB2C869B-E86C-B640-D52B-7D513C6F6326}"/>
              </a:ext>
            </a:extLst>
          </p:cNvPr>
          <p:cNvSpPr>
            <a:spLocks noGrp="1"/>
          </p:cNvSpPr>
          <p:nvPr>
            <p:ph idx="1"/>
          </p:nvPr>
        </p:nvSpPr>
        <p:spPr/>
        <p:txBody>
          <a:bodyPr>
            <a:normAutofit fontScale="62500" lnSpcReduction="20000"/>
          </a:bodyPr>
          <a:lstStyle/>
          <a:p>
            <a:pPr marL="0" indent="0" algn="just">
              <a:buNone/>
            </a:pPr>
            <a:r>
              <a:rPr lang="en-US" sz="1800" b="1" kern="0" dirty="0">
                <a:effectLst/>
                <a:latin typeface="Times New Roman" panose="02020603050405020304" pitchFamily="18" charset="0"/>
                <a:ea typeface="Times New Roman" panose="02020603050405020304" pitchFamily="18" charset="0"/>
              </a:rPr>
              <a:t>Reference Books:</a:t>
            </a:r>
            <a:endParaRPr lang="en-IN" sz="1800" b="1" kern="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US" sz="1800" dirty="0">
                <a:effectLst/>
                <a:latin typeface="Times New Roman" panose="02020603050405020304" pitchFamily="18" charset="0"/>
                <a:ea typeface="Times New Roman" panose="02020603050405020304" pitchFamily="18" charset="0"/>
              </a:rPr>
              <a:t>Data Communications and Networking (3rd Ed.) “–B. A. </a:t>
            </a:r>
            <a:r>
              <a:rPr lang="en-US" sz="1800" dirty="0" err="1">
                <a:effectLst/>
                <a:latin typeface="Times New Roman" panose="02020603050405020304" pitchFamily="18" charset="0"/>
                <a:ea typeface="Times New Roman" panose="02020603050405020304" pitchFamily="18" charset="0"/>
              </a:rPr>
              <a:t>Ferouzan</a:t>
            </a:r>
            <a:r>
              <a:rPr lang="en-US" sz="1800" dirty="0">
                <a:effectLst/>
                <a:latin typeface="Times New Roman" panose="02020603050405020304" pitchFamily="18" charset="0"/>
                <a:ea typeface="Times New Roman" panose="02020603050405020304" pitchFamily="18" charset="0"/>
              </a:rPr>
              <a:t> – TMH</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pPr>
            <a:r>
              <a:rPr lang="en-US" sz="1800" dirty="0">
                <a:effectLst/>
                <a:latin typeface="Times New Roman" panose="02020603050405020304" pitchFamily="18" charset="0"/>
                <a:ea typeface="Times New Roman" panose="02020603050405020304" pitchFamily="18" charset="0"/>
              </a:rPr>
              <a:t>Computer Networks (4th Ed.)”, A. S. Tanenbaum – – Pearson Education/PHI</a:t>
            </a:r>
            <a:endParaRPr lang="en-IN" sz="1800" dirty="0">
              <a:effectLst/>
              <a:latin typeface="Times New Roman" panose="02020603050405020304" pitchFamily="18" charset="0"/>
              <a:ea typeface="Times New Roman" panose="02020603050405020304" pitchFamily="18" charset="0"/>
            </a:endParaRPr>
          </a:p>
          <a:p>
            <a:pPr marL="0" indent="0" algn="just">
              <a:buNone/>
            </a:pPr>
            <a:r>
              <a:rPr lang="en-US" sz="1800" b="1" kern="0" dirty="0">
                <a:effectLst/>
                <a:latin typeface="Times New Roman" panose="02020603050405020304" pitchFamily="18" charset="0"/>
                <a:ea typeface="Times New Roman" panose="02020603050405020304" pitchFamily="18" charset="0"/>
              </a:rPr>
              <a:t>Sites and Web links:</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kern="0" dirty="0">
                <a:effectLst/>
                <a:latin typeface="Times New Roman" panose="02020603050405020304" pitchFamily="18" charset="0"/>
                <a:ea typeface="Times New Roman" panose="02020603050405020304" pitchFamily="18" charset="0"/>
              </a:rPr>
              <a:t>https://www.scaler.com/topics/computer-network/socket-programming/</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u="sng" kern="0" dirty="0">
                <a:effectLst/>
                <a:latin typeface="Times New Roman" panose="02020603050405020304" pitchFamily="18" charset="0"/>
                <a:ea typeface="Times New Roman" panose="02020603050405020304" pitchFamily="18" charset="0"/>
                <a:hlinkClick r:id="rId2">
                  <a:extLst>
                    <a:ext uri="{A12FA001-AC4F-418D-AE19-62706E023703}">
                      <ahyp:hlinkClr xmlns:ahyp="http://schemas.microsoft.com/office/drawing/2018/hyperlinkcolor" val="tx"/>
                    </a:ext>
                  </a:extLst>
                </a:hlinkClick>
              </a:rPr>
              <a:t>https://www.geeksforgeeks.org/socket-in-computer-network/</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u="sng" kern="0" dirty="0">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https://www.cloudflare.com/learning/ssl/what-is-ssl/</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u="sng" kern="0" dirty="0">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https://www.geeksforgeeks.org/secure-socket-layer-ssl/</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u="sng" kern="0" dirty="0">
                <a:effectLst/>
                <a:latin typeface="Times New Roman" panose="02020603050405020304" pitchFamily="18" charset="0"/>
                <a:ea typeface="Times New Roman" panose="02020603050405020304" pitchFamily="18" charset="0"/>
                <a:hlinkClick r:id="rId5">
                  <a:extLst>
                    <a:ext uri="{A12FA001-AC4F-418D-AE19-62706E023703}">
                      <ahyp:hlinkClr xmlns:ahyp="http://schemas.microsoft.com/office/drawing/2018/hyperlinkcolor" val="tx"/>
                    </a:ext>
                  </a:extLst>
                </a:hlinkClick>
              </a:rPr>
              <a:t>https://www.javatpoint.com/simple-network-management-protocol</a:t>
            </a:r>
            <a:endParaRPr lang="en-IN" sz="1800" b="1" kern="0" dirty="0">
              <a:effectLst/>
              <a:latin typeface="Times New Roman" panose="02020603050405020304" pitchFamily="18" charset="0"/>
              <a:ea typeface="Times New Roman" panose="02020603050405020304" pitchFamily="18" charset="0"/>
            </a:endParaRPr>
          </a:p>
          <a:p>
            <a:pPr marL="342900" lvl="0" indent="-342900" algn="l">
              <a:lnSpc>
                <a:spcPct val="150000"/>
              </a:lnSpc>
              <a:buFont typeface="+mj-lt"/>
              <a:buAutoNum type="arabicPeriod"/>
            </a:pPr>
            <a:r>
              <a:rPr lang="en-US" sz="1800" b="0" kern="0" dirty="0">
                <a:effectLst/>
                <a:latin typeface="Times New Roman" panose="02020603050405020304" pitchFamily="18" charset="0"/>
                <a:ea typeface="Times New Roman" panose="02020603050405020304" pitchFamily="18" charset="0"/>
              </a:rPr>
              <a:t>https://www.manageengine.com/network-monitoring/what-is-snmp.html</a:t>
            </a:r>
            <a:endParaRPr lang="en-IN" sz="1800" b="1" kern="0" dirty="0">
              <a:effectLst/>
              <a:latin typeface="Times New Roman" panose="02020603050405020304" pitchFamily="18" charset="0"/>
              <a:ea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1FEA7D92-9011-5508-98BE-0802776702EB}"/>
              </a:ext>
            </a:extLst>
          </p:cNvPr>
          <p:cNvSpPr>
            <a:spLocks noGrp="1"/>
          </p:cNvSpPr>
          <p:nvPr>
            <p:ph type="sldNum" sz="quarter" idx="12"/>
          </p:nvPr>
        </p:nvSpPr>
        <p:spPr/>
        <p:txBody>
          <a:bodyPr/>
          <a:lstStyle/>
          <a:p>
            <a:fld id="{CBABCCC1-BF11-4F37-963E-1BCD5B23FD72}" type="slidenum">
              <a:rPr lang="en-IN" smtClean="0"/>
              <a:pPr/>
              <a:t>15</a:t>
            </a:fld>
            <a:endParaRPr lang="en-IN"/>
          </a:p>
        </p:txBody>
      </p:sp>
    </p:spTree>
    <p:extLst>
      <p:ext uri="{BB962C8B-B14F-4D97-AF65-F5344CB8AC3E}">
        <p14:creationId xmlns:p14="http://schemas.microsoft.com/office/powerpoint/2010/main" val="3648335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92BE84-3448-2348-B352-CD5BC083E5FD}"/>
              </a:ext>
            </a:extLst>
          </p:cNvPr>
          <p:cNvSpPr>
            <a:spLocks noGrp="1"/>
          </p:cNvSpPr>
          <p:nvPr>
            <p:ph type="ctrTitle"/>
          </p:nvPr>
        </p:nvSpPr>
        <p:spPr>
          <a:xfrm>
            <a:off x="2417779" y="1711234"/>
            <a:ext cx="8637073" cy="2677885"/>
          </a:xfrm>
          <a:prstGeom prst="round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br>
              <a:rPr lang="en-US" sz="2400" b="1" dirty="0">
                <a:latin typeface="Poppins" pitchFamily="2" charset="77"/>
                <a:cs typeface="Poppins" pitchFamily="2" charset="77"/>
              </a:rPr>
            </a:b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a:solidFill>
                  <a:schemeClr val="bg1"/>
                </a:solidFill>
                <a:latin typeface="Poppins" pitchFamily="2" charset="77"/>
                <a:cs typeface="Poppins" pitchFamily="2" charset="77"/>
              </a:rPr>
              <a:t>Team –</a:t>
            </a:r>
            <a:r>
              <a:rPr lang="en-US" sz="2400">
                <a:solidFill>
                  <a:schemeClr val="bg1"/>
                </a:solidFill>
              </a:rPr>
              <a:t>NETWORK </a:t>
            </a:r>
            <a:r>
              <a:rPr lang="en-US" sz="2400" dirty="0">
                <a:solidFill>
                  <a:schemeClr val="bg1"/>
                </a:solidFill>
              </a:rPr>
              <a:t>PROTOCOLS &amp; </a:t>
            </a:r>
            <a:r>
              <a:rPr lang="en-US" sz="2400">
                <a:solidFill>
                  <a:schemeClr val="bg1"/>
                </a:solidFill>
              </a:rPr>
              <a:t>SECURITY (NPS</a:t>
            </a:r>
            <a:r>
              <a:rPr lang="en-US" sz="2400" dirty="0">
                <a:solidFill>
                  <a:schemeClr val="bg1"/>
                </a:solidFill>
              </a:rPr>
              <a:t>)</a:t>
            </a:r>
          </a:p>
          <a:p>
            <a:pPr algn="ctr"/>
            <a:endParaRPr lang="en-US" sz="2400" b="1" cap="all" dirty="0">
              <a:ln/>
              <a:solidFill>
                <a:srgbClr val="C00000"/>
              </a:solidFill>
              <a:cs typeface="Poppins" panose="00000500000000000000" pitchFamily="2" charset="0"/>
              <a:sym typeface="BioRhyme ExtraBold"/>
            </a:endParaRPr>
          </a:p>
          <a:p>
            <a:pPr algn="ct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5" name="Picture 2" descr="KL Deemed to be University Logo"/>
          <p:cNvPicPr>
            <a:picLocks noChangeAspect="1" noChangeArrowheads="1"/>
          </p:cNvPicPr>
          <p:nvPr/>
        </p:nvPicPr>
        <p:blipFill>
          <a:blip r:embed="rId2" cstate="print"/>
          <a:srcRect/>
          <a:stretch>
            <a:fillRect/>
          </a:stretch>
        </p:blipFill>
        <p:spPr bwMode="auto">
          <a:xfrm>
            <a:off x="5645163" y="2168435"/>
            <a:ext cx="3235570" cy="1083212"/>
          </a:xfrm>
          <a:prstGeom prst="rect">
            <a:avLst/>
          </a:prstGeom>
          <a:noFill/>
        </p:spPr>
      </p:pic>
    </p:spTree>
    <p:extLst>
      <p:ext uri="{BB962C8B-B14F-4D97-AF65-F5344CB8AC3E}">
        <p14:creationId xmlns:p14="http://schemas.microsoft.com/office/powerpoint/2010/main" val="235980485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5_6233206605559631053</Template>
  <TotalTime>460</TotalTime>
  <Words>699</Words>
  <Application>Microsoft Office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16</vt:i4>
      </vt:variant>
    </vt:vector>
  </HeadingPairs>
  <TitlesOfParts>
    <vt:vector size="27" baseType="lpstr">
      <vt:lpstr>Arial</vt:lpstr>
      <vt:lpstr>BioRhyme ExtraBold</vt:lpstr>
      <vt:lpstr>Calibri</vt:lpstr>
      <vt:lpstr>Gill Sans MT</vt:lpstr>
      <vt:lpstr>Open Sans</vt:lpstr>
      <vt:lpstr>Poppins</vt:lpstr>
      <vt:lpstr>Stencil</vt:lpstr>
      <vt:lpstr>Symbol</vt:lpstr>
      <vt:lpstr>Times New Roman</vt:lpstr>
      <vt:lpstr>Gallery</vt:lpstr>
      <vt:lpstr>1_Gallery</vt:lpstr>
      <vt:lpstr>NETWORKS, PROTOCOLS &amp; SECURITY  24EC2210   Topic:  Secure Socket Layer </vt:lpstr>
      <vt:lpstr>PowerPoint Presentation</vt:lpstr>
      <vt:lpstr>Syllabus</vt:lpstr>
      <vt:lpstr>Preface to the Socket</vt:lpstr>
      <vt:lpstr>Preface to the Socket</vt:lpstr>
      <vt:lpstr>Preface to the Socket</vt:lpstr>
      <vt:lpstr>Secure Socket Layer (SSL)</vt:lpstr>
      <vt:lpstr>Secure Socket Layer (SSL)</vt:lpstr>
      <vt:lpstr>Secure Socket Layer (SSL)</vt:lpstr>
      <vt:lpstr>Secure Socket Layer (SSL)</vt:lpstr>
      <vt:lpstr>Secure Socket Layer (SSL)</vt:lpstr>
      <vt:lpstr>Secure Socket Layer (SSL)</vt:lpstr>
      <vt:lpstr>Secure Socket Layer (SSL)</vt:lpstr>
      <vt:lpstr>PowerPoint Presentation</vt:lpstr>
      <vt:lpstr>REFERENCES FOR FURTHER LEARNING OF THE SESSION</vt:lpstr>
      <vt:lpstr>  THANK YOU       Team –NETWORK PROTOCOLS &amp; SECURITY (NPS)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Mohd Shamsh Tabarej</dc:creator>
  <cp:lastModifiedBy>GORLA VENKATA GANESH</cp:lastModifiedBy>
  <cp:revision>38</cp:revision>
  <dcterms:created xsi:type="dcterms:W3CDTF">2023-05-15T04:45:49Z</dcterms:created>
  <dcterms:modified xsi:type="dcterms:W3CDTF">2025-12-17T06:51:50Z</dcterms:modified>
</cp:coreProperties>
</file>