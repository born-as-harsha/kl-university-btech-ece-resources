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1"/>
  </p:notesMasterIdLst>
  <p:sldIdLst>
    <p:sldId id="271" r:id="rId2"/>
    <p:sldId id="945" r:id="rId3"/>
    <p:sldId id="286" r:id="rId4"/>
    <p:sldId id="261" r:id="rId5"/>
    <p:sldId id="283" r:id="rId6"/>
    <p:sldId id="287" r:id="rId7"/>
    <p:sldId id="284" r:id="rId8"/>
    <p:sldId id="947" r:id="rId9"/>
    <p:sldId id="265" r:id="rId10"/>
    <p:sldId id="935" r:id="rId11"/>
    <p:sldId id="268" r:id="rId12"/>
    <p:sldId id="270" r:id="rId13"/>
    <p:sldId id="273" r:id="rId14"/>
    <p:sldId id="948" r:id="rId15"/>
    <p:sldId id="289" r:id="rId16"/>
    <p:sldId id="432" r:id="rId17"/>
    <p:sldId id="433" r:id="rId18"/>
    <p:sldId id="434"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E25"/>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4AB80-D52C-4BC5-A318-9957F559669C}" type="datetimeFigureOut">
              <a:rPr lang="en-IN" smtClean="0"/>
              <a:pPr/>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56A1-FF8F-4F33-877A-3F66CC94892A}" type="slidenum">
              <a:rPr lang="en-IN" smtClean="0"/>
              <a:pPr/>
              <a:t>‹#›</a:t>
            </a:fld>
            <a:endParaRPr lang="en-IN"/>
          </a:p>
        </p:txBody>
      </p:sp>
    </p:spTree>
    <p:extLst>
      <p:ext uri="{BB962C8B-B14F-4D97-AF65-F5344CB8AC3E}">
        <p14:creationId xmlns:p14="http://schemas.microsoft.com/office/powerpoint/2010/main" val="1751637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2402D0-783A-4513-89F8-C57FCDE2BCF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07266" name="Rectangle 2"/>
          <p:cNvSpPr>
            <a:spLocks noGrp="1" noRot="1" noChangeAspect="1" noChangeArrowheads="1" noTextEdit="1"/>
          </p:cNvSpPr>
          <p:nvPr>
            <p:ph type="sldImg"/>
          </p:nvPr>
        </p:nvSpPr>
        <p:spPr>
          <a:ln/>
        </p:spPr>
      </p:sp>
      <p:sp>
        <p:nvSpPr>
          <p:cNvPr id="9072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802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D4E9785-A889-462E-AE33-F453B25376E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08290" name="Rectangle 2"/>
          <p:cNvSpPr>
            <a:spLocks noGrp="1" noRot="1" noChangeAspect="1" noChangeArrowheads="1" noTextEdit="1"/>
          </p:cNvSpPr>
          <p:nvPr>
            <p:ph type="sldImg"/>
          </p:nvPr>
        </p:nvSpPr>
        <p:spPr>
          <a:ln/>
        </p:spPr>
      </p:sp>
      <p:sp>
        <p:nvSpPr>
          <p:cNvPr id="9082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11780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2C086C0-1A9C-4FFB-907A-F8FCA3F6230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0430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2C086C0-1A9C-4FFB-907A-F8FCA3F6230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598494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2C086C0-1A9C-4FFB-907A-F8FCA3F6230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0242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2C086C0-1A9C-4FFB-907A-F8FCA3F6230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84480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4612AF1-67B0-4644-A965-9BEF7312CD9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3410" name="Rectangle 2"/>
          <p:cNvSpPr>
            <a:spLocks noGrp="1" noRot="1" noChangeAspect="1" noChangeArrowheads="1" noTextEdit="1"/>
          </p:cNvSpPr>
          <p:nvPr>
            <p:ph type="sldImg"/>
          </p:nvPr>
        </p:nvSpPr>
        <p:spPr>
          <a:ln/>
        </p:spPr>
      </p:sp>
      <p:sp>
        <p:nvSpPr>
          <p:cNvPr id="9134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76857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916766-A19C-4778-ACFC-55089E934A7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22681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916766-A19C-4778-ACFC-55089E934A7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12779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916766-A19C-4778-ACFC-55089E934A7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68434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916766-A19C-4778-ACFC-55089E934A7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60664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916766-A19C-4778-ACFC-55089E934A7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81964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501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52391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000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715640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07075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436140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259090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B5B2125-68AE-4292-BFAC-A6FA3EACBA97}" type="datetimeFigureOut">
              <a:rPr lang="en-IN" smtClean="0"/>
              <a:pPr/>
              <a:t>17-12-2025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5678DB-EBE9-4DFA-8B86-ED495AE1F12C}" type="slidenum">
              <a:rPr lang="en-IN" smtClean="0"/>
              <a:pPr/>
              <a:t>‹#›</a:t>
            </a:fld>
            <a:endParaRPr lang="en-IN"/>
          </a:p>
        </p:txBody>
      </p:sp>
    </p:spTree>
    <p:extLst>
      <p:ext uri="{BB962C8B-B14F-4D97-AF65-F5344CB8AC3E}">
        <p14:creationId xmlns:p14="http://schemas.microsoft.com/office/powerpoint/2010/main" val="2639123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026526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539499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4135758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52127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B5B2125-68AE-4292-BFAC-A6FA3EACBA97}" type="datetimeFigureOut">
              <a:rPr lang="en-IN" smtClean="0"/>
              <a:pPr/>
              <a:t>17-12-2025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5678DB-EBE9-4DFA-8B86-ED495AE1F12C}" type="slidenum">
              <a:rPr lang="en-IN" smtClean="0"/>
              <a:pPr/>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71111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9525"/>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45719"/>
            <a:ext cx="6027459" cy="6623931"/>
          </a:xfrm>
          <a:prstGeom prst="rect">
            <a:avLst/>
          </a:prstGeom>
          <a:noFill/>
          <a:ln>
            <a:noFill/>
          </a:ln>
        </p:spPr>
      </p:pic>
      <p:sp>
        <p:nvSpPr>
          <p:cNvPr id="476" name="Google Shape;476;p16"/>
          <p:cNvSpPr txBox="1"/>
          <p:nvPr/>
        </p:nvSpPr>
        <p:spPr>
          <a:xfrm>
            <a:off x="5394455" y="1933408"/>
            <a:ext cx="6729005"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dirty="0">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Congestion Control</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18646" y="508500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- 28</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1023581" y="2362866"/>
            <a:ext cx="15645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000" b="1" dirty="0">
                <a:solidFill>
                  <a:srgbClr val="FF0000"/>
                </a:solidFill>
                <a:latin typeface="Cambria" panose="02040503050406030204" pitchFamily="18" charset="0"/>
                <a:ea typeface="Cambria" panose="02040503050406030204" pitchFamily="18" charset="0"/>
              </a:rPr>
              <a:t>Data Traffic</a:t>
            </a:r>
          </a:p>
        </p:txBody>
      </p:sp>
      <p:sp>
        <p:nvSpPr>
          <p:cNvPr id="565252" name="Text Box 4"/>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altLang="en-US" b="1">
              <a:solidFill>
                <a:srgbClr val="000000"/>
              </a:solidFill>
              <a:latin typeface="Times New Roman" panose="02020603050405020304" pitchFamily="18" charset="0"/>
            </a:endParaRPr>
          </a:p>
        </p:txBody>
      </p:sp>
      <p:sp>
        <p:nvSpPr>
          <p:cNvPr id="565253" name="Rectangle 5"/>
          <p:cNvSpPr>
            <a:spLocks noChangeArrowheads="1"/>
          </p:cNvSpPr>
          <p:nvPr/>
        </p:nvSpPr>
        <p:spPr bwMode="auto">
          <a:xfrm>
            <a:off x="1023581" y="2962907"/>
            <a:ext cx="10522424"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fontAlgn="base">
              <a:lnSpc>
                <a:spcPct val="150000"/>
              </a:lnSpc>
              <a:spcBef>
                <a:spcPct val="0"/>
              </a:spcBef>
              <a:spcAft>
                <a:spcPct val="0"/>
              </a:spcAft>
              <a:buFont typeface="Arial" panose="020B0604020202020204" pitchFamily="34" charset="0"/>
              <a:buChar char="•"/>
            </a:pPr>
            <a:r>
              <a:rPr lang="en-US" altLang="en-US" sz="2000" dirty="0">
                <a:solidFill>
                  <a:srgbClr val="000000"/>
                </a:solidFill>
                <a:latin typeface="Times New Roman" panose="02020603050405020304" pitchFamily="18" charset="0"/>
              </a:rPr>
              <a:t>The main focus of congestion control and quality of service is </a:t>
            </a:r>
            <a:r>
              <a:rPr lang="en-US" altLang="en-US" sz="2000" dirty="0">
                <a:solidFill>
                  <a:srgbClr val="FF0000"/>
                </a:solidFill>
                <a:latin typeface="Times New Roman" panose="02020603050405020304" pitchFamily="18" charset="0"/>
              </a:rPr>
              <a:t>data traffic</a:t>
            </a:r>
            <a:r>
              <a:rPr lang="en-US" altLang="en-US" sz="2000" dirty="0">
                <a:solidFill>
                  <a:srgbClr val="000000"/>
                </a:solidFill>
                <a:latin typeface="Times New Roman" panose="02020603050405020304" pitchFamily="18" charset="0"/>
              </a:rPr>
              <a:t>. </a:t>
            </a:r>
          </a:p>
          <a:p>
            <a:pPr marL="457200" indent="-457200" algn="just" fontAlgn="base">
              <a:lnSpc>
                <a:spcPct val="150000"/>
              </a:lnSpc>
              <a:spcBef>
                <a:spcPct val="0"/>
              </a:spcBef>
              <a:spcAft>
                <a:spcPct val="0"/>
              </a:spcAft>
              <a:buFont typeface="Arial" panose="020B0604020202020204" pitchFamily="34" charset="0"/>
              <a:buChar char="•"/>
            </a:pPr>
            <a:endParaRPr lang="en-US" altLang="en-US" sz="2000" dirty="0">
              <a:solidFill>
                <a:srgbClr val="000000"/>
              </a:solidFill>
              <a:latin typeface="Times New Roman" panose="02020603050405020304" pitchFamily="18" charset="0"/>
            </a:endParaRPr>
          </a:p>
          <a:p>
            <a:pPr marL="457200" indent="-457200" algn="just" fontAlgn="base">
              <a:lnSpc>
                <a:spcPct val="150000"/>
              </a:lnSpc>
              <a:spcBef>
                <a:spcPct val="0"/>
              </a:spcBef>
              <a:spcAft>
                <a:spcPct val="0"/>
              </a:spcAft>
              <a:buFont typeface="Arial" panose="020B0604020202020204" pitchFamily="34" charset="0"/>
              <a:buChar char="•"/>
            </a:pPr>
            <a:r>
              <a:rPr lang="en-US" altLang="en-US" sz="2000" dirty="0">
                <a:solidFill>
                  <a:srgbClr val="000000"/>
                </a:solidFill>
                <a:latin typeface="Times New Roman" panose="02020603050405020304" pitchFamily="18" charset="0"/>
              </a:rPr>
              <a:t>In congestion control we try to </a:t>
            </a:r>
            <a:r>
              <a:rPr lang="en-US" altLang="en-US" sz="2000" dirty="0">
                <a:solidFill>
                  <a:srgbClr val="FF0000"/>
                </a:solidFill>
                <a:latin typeface="Times New Roman" panose="02020603050405020304" pitchFamily="18" charset="0"/>
              </a:rPr>
              <a:t>avoid traffic congestion</a:t>
            </a:r>
            <a:r>
              <a:rPr lang="en-US" altLang="en-US" sz="2000" dirty="0">
                <a:solidFill>
                  <a:srgbClr val="000000"/>
                </a:solidFill>
                <a:latin typeface="Times New Roman" panose="02020603050405020304" pitchFamily="18" charset="0"/>
              </a:rPr>
              <a:t>. </a:t>
            </a:r>
          </a:p>
          <a:p>
            <a:pPr marL="457200" indent="-457200" algn="just" fontAlgn="base">
              <a:lnSpc>
                <a:spcPct val="150000"/>
              </a:lnSpc>
              <a:spcBef>
                <a:spcPct val="0"/>
              </a:spcBef>
              <a:spcAft>
                <a:spcPct val="0"/>
              </a:spcAft>
              <a:buFont typeface="Arial" panose="020B0604020202020204" pitchFamily="34" charset="0"/>
              <a:buChar char="•"/>
            </a:pPr>
            <a:endParaRPr lang="en-US" altLang="en-US" sz="2000" dirty="0">
              <a:solidFill>
                <a:srgbClr val="000000"/>
              </a:solidFill>
              <a:latin typeface="Times New Roman" panose="02020603050405020304" pitchFamily="18" charset="0"/>
            </a:endParaRPr>
          </a:p>
          <a:p>
            <a:pPr marL="457200" indent="-457200" algn="just" fontAlgn="base">
              <a:lnSpc>
                <a:spcPct val="150000"/>
              </a:lnSpc>
              <a:spcBef>
                <a:spcPct val="0"/>
              </a:spcBef>
              <a:spcAft>
                <a:spcPct val="0"/>
              </a:spcAft>
              <a:buFont typeface="Arial" panose="020B0604020202020204" pitchFamily="34" charset="0"/>
              <a:buChar char="•"/>
            </a:pPr>
            <a:r>
              <a:rPr lang="en-US" altLang="en-US" sz="2000" dirty="0">
                <a:solidFill>
                  <a:srgbClr val="000000"/>
                </a:solidFill>
                <a:latin typeface="Times New Roman" panose="02020603050405020304" pitchFamily="18" charset="0"/>
              </a:rPr>
              <a:t>In quality of service, we try to create an appropriate environment for the traffic. </a:t>
            </a:r>
          </a:p>
        </p:txBody>
      </p:sp>
      <p:sp>
        <p:nvSpPr>
          <p:cNvPr id="10" name="Rectangle 3"/>
          <p:cNvSpPr>
            <a:spLocks noChangeArrowheads="1"/>
          </p:cNvSpPr>
          <p:nvPr/>
        </p:nvSpPr>
        <p:spPr bwMode="auto">
          <a:xfrm>
            <a:off x="3711575" y="1135148"/>
            <a:ext cx="3945435" cy="523220"/>
          </a:xfrm>
          <a:prstGeom prst="rect">
            <a:avLst/>
          </a:prstGeom>
          <a:solidFill>
            <a:srgbClr val="A71E25"/>
          </a:solidFill>
          <a:ln>
            <a:solidFill>
              <a:srgbClr val="A71E25"/>
            </a:solidFill>
          </a:ln>
          <a:effectLst/>
        </p:spPr>
        <p:txBody>
          <a:bodyPr wrap="square">
            <a:spAutoFit/>
          </a:bodyPr>
          <a:lstStyle/>
          <a:p>
            <a:pPr algn="ctr" eaLnBrk="0" fontAlgn="base" hangingPunct="0">
              <a:spcBef>
                <a:spcPct val="0"/>
              </a:spcBef>
              <a:spcAft>
                <a:spcPct val="0"/>
              </a:spcAft>
            </a:pPr>
            <a:r>
              <a:rPr lang="en-US" altLang="en-US" sz="2800" b="1" dirty="0">
                <a:solidFill>
                  <a:schemeClr val="bg1"/>
                </a:solidFill>
                <a:latin typeface="Adobe Garamond Pro Bold" panose="02020702060506020403" pitchFamily="18" charset="0"/>
              </a:rPr>
              <a:t>Congestion Control</a:t>
            </a:r>
          </a:p>
        </p:txBody>
      </p:sp>
      <p:sp>
        <p:nvSpPr>
          <p:cNvPr id="6" name="Rectangle 5"/>
          <p:cNvSpPr/>
          <p:nvPr/>
        </p:nvSpPr>
        <p:spPr>
          <a:xfrm>
            <a:off x="1473958" y="1815152"/>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64712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09" r="49788" b="58597"/>
          <a:stretch/>
        </p:blipFill>
        <p:spPr bwMode="auto">
          <a:xfrm>
            <a:off x="272956" y="1155109"/>
            <a:ext cx="2756847" cy="147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934228" y="285293"/>
            <a:ext cx="3116751" cy="461665"/>
          </a:xfrm>
          <a:prstGeom prst="rect">
            <a:avLst/>
          </a:prstGeom>
          <a:solidFill>
            <a:srgbClr val="A71E25"/>
          </a:solidFill>
          <a:ln>
            <a:solidFill>
              <a:srgbClr val="A71E25"/>
            </a:solidFill>
          </a:ln>
        </p:spPr>
        <p:txBody>
          <a:bodyPr wrap="none">
            <a:spAutoFit/>
          </a:bodyPr>
          <a:lstStyle/>
          <a:p>
            <a:pPr eaLnBrk="0" fontAlgn="base" hangingPunct="0">
              <a:spcBef>
                <a:spcPct val="0"/>
              </a:spcBef>
              <a:spcAft>
                <a:spcPct val="0"/>
              </a:spcAft>
            </a:pPr>
            <a:r>
              <a:rPr lang="en-US" altLang="en-US" sz="2400" b="1" dirty="0">
                <a:solidFill>
                  <a:schemeClr val="bg1"/>
                </a:solidFill>
                <a:latin typeface="Cambria" panose="02040503050406030204" pitchFamily="18" charset="0"/>
                <a:ea typeface="Cambria" panose="02040503050406030204" pitchFamily="18" charset="0"/>
              </a:rPr>
              <a:t>Three traffic profiles</a:t>
            </a:r>
            <a:endParaRPr lang="en-IN" sz="2400" b="1" dirty="0">
              <a:solidFill>
                <a:schemeClr val="bg1"/>
              </a:solidFill>
              <a:latin typeface="Cambria" panose="02040503050406030204" pitchFamily="18" charset="0"/>
              <a:ea typeface="Cambria" panose="02040503050406030204" pitchFamily="18" charset="0"/>
            </a:endParaRPr>
          </a:p>
        </p:txBody>
      </p:sp>
      <p:sp>
        <p:nvSpPr>
          <p:cNvPr id="3" name="Rectangle 2"/>
          <p:cNvSpPr/>
          <p:nvPr/>
        </p:nvSpPr>
        <p:spPr>
          <a:xfrm>
            <a:off x="3152636" y="1244394"/>
            <a:ext cx="8191640" cy="1310743"/>
          </a:xfrm>
          <a:prstGeom prst="rect">
            <a:avLst/>
          </a:prstGeom>
        </p:spPr>
        <p:txBody>
          <a:bodyPr wrap="square">
            <a:spAutoFit/>
          </a:bodyPr>
          <a:lstStyle/>
          <a:p>
            <a:pPr algn="just">
              <a:lnSpc>
                <a:spcPct val="107000"/>
              </a:lnSpc>
              <a:spcAft>
                <a:spcPts val="0"/>
              </a:spcAft>
            </a:pPr>
            <a:r>
              <a:rPr lang="en-IN" b="1" i="1"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Constant Bit Rate</a:t>
            </a:r>
            <a:endParaRPr lang="en-IN" sz="1600" dirty="0">
              <a:solidFill>
                <a:srgbClr val="A71E25"/>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A </a:t>
            </a:r>
            <a:r>
              <a:rPr lang="en-IN" sz="2000" dirty="0">
                <a:latin typeface="Times New Roman" panose="02020603050405020304" pitchFamily="18" charset="0"/>
                <a:ea typeface="Calibri" panose="020F0502020204030204" pitchFamily="34" charset="0"/>
                <a:cs typeface="Times New Roman" panose="02020603050405020304" pitchFamily="18" charset="0"/>
              </a:rPr>
              <a:t>constant-bit-rate (CBR), </a:t>
            </a:r>
            <a:r>
              <a:rPr lang="en-IN" dirty="0">
                <a:latin typeface="Times New Roman" panose="02020603050405020304" pitchFamily="18" charset="0"/>
                <a:ea typeface="Calibri" panose="020F0502020204030204" pitchFamily="34" charset="0"/>
                <a:cs typeface="Times New Roman" panose="02020603050405020304" pitchFamily="18" charset="0"/>
              </a:rPr>
              <a:t>or a fixed-rate, traffic model has a data rate that does not change. In this type of flow, the average data rate and the peak data rate are the same.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The network knows in advance how much bandwidth to allocate for this type of flow.</a:t>
            </a:r>
          </a:p>
        </p:txBody>
      </p:sp>
      <p:sp>
        <p:nvSpPr>
          <p:cNvPr id="4" name="Rectangle 3"/>
          <p:cNvSpPr/>
          <p:nvPr/>
        </p:nvSpPr>
        <p:spPr>
          <a:xfrm>
            <a:off x="3152634" y="4425475"/>
            <a:ext cx="8191642" cy="1277786"/>
          </a:xfrm>
          <a:prstGeom prst="rect">
            <a:avLst/>
          </a:prstGeom>
        </p:spPr>
        <p:txBody>
          <a:bodyPr wrap="square">
            <a:spAutoFit/>
          </a:bodyPr>
          <a:lstStyle/>
          <a:p>
            <a:pPr algn="just">
              <a:lnSpc>
                <a:spcPct val="107000"/>
              </a:lnSpc>
              <a:spcAft>
                <a:spcPts val="0"/>
              </a:spcAft>
            </a:pPr>
            <a:r>
              <a:rPr lang="en-IN" b="1" i="1" dirty="0" err="1">
                <a:solidFill>
                  <a:srgbClr val="A71E25"/>
                </a:solidFill>
                <a:latin typeface="Times New Roman" panose="02020603050405020304" pitchFamily="18" charset="0"/>
                <a:ea typeface="Calibri" panose="020F0502020204030204" pitchFamily="34" charset="0"/>
                <a:cs typeface="Times New Roman" panose="02020603050405020304" pitchFamily="18" charset="0"/>
              </a:rPr>
              <a:t>Bursty</a:t>
            </a:r>
            <a:endParaRPr lang="en-IN" sz="1600" b="1" dirty="0">
              <a:solidFill>
                <a:srgbClr val="A71E25"/>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In the </a:t>
            </a:r>
            <a:r>
              <a:rPr lang="en-IN" b="1" dirty="0" err="1">
                <a:latin typeface="Times New Roman" panose="02020603050405020304" pitchFamily="18" charset="0"/>
                <a:ea typeface="Calibri" panose="020F0502020204030204" pitchFamily="34" charset="0"/>
                <a:cs typeface="Times New Roman" panose="02020603050405020304" pitchFamily="18" charset="0"/>
              </a:rPr>
              <a:t>bursty</a:t>
            </a:r>
            <a:r>
              <a:rPr lang="en-IN" b="1" dirty="0">
                <a:latin typeface="Times New Roman" panose="02020603050405020304" pitchFamily="18" charset="0"/>
                <a:ea typeface="Calibri" panose="020F0502020204030204" pitchFamily="34" charset="0"/>
                <a:cs typeface="Times New Roman" panose="02020603050405020304" pitchFamily="18" charset="0"/>
              </a:rPr>
              <a:t> data </a:t>
            </a:r>
            <a:r>
              <a:rPr lang="en-IN" dirty="0">
                <a:latin typeface="Times New Roman" panose="02020603050405020304" pitchFamily="18" charset="0"/>
                <a:ea typeface="Calibri" panose="020F0502020204030204" pitchFamily="34" charset="0"/>
                <a:cs typeface="Times New Roman" panose="02020603050405020304" pitchFamily="18" charset="0"/>
              </a:rPr>
              <a:t>category, the data rate changes suddenly in a very short time. It may jump from zero, for example, to 1 Mbps in a few microseconds and vice versa. </a:t>
            </a:r>
            <a:r>
              <a:rPr lang="en-IN" dirty="0" err="1">
                <a:latin typeface="Times New Roman" panose="02020603050405020304" pitchFamily="18" charset="0"/>
                <a:ea typeface="Calibri" panose="020F0502020204030204" pitchFamily="34" charset="0"/>
                <a:cs typeface="Times New Roman" panose="02020603050405020304" pitchFamily="18" charset="0"/>
              </a:rPr>
              <a:t>Bursty</a:t>
            </a:r>
            <a:r>
              <a:rPr lang="en-IN" dirty="0">
                <a:latin typeface="Times New Roman" panose="02020603050405020304" pitchFamily="18" charset="0"/>
                <a:ea typeface="Calibri" panose="020F0502020204030204" pitchFamily="34" charset="0"/>
                <a:cs typeface="Times New Roman" panose="02020603050405020304" pitchFamily="18" charset="0"/>
              </a:rPr>
              <a:t> traffic is one of the main causes of congestion in a network.</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1040072" y="847786"/>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83" b="59041"/>
          <a:stretch/>
        </p:blipFill>
        <p:spPr bwMode="auto">
          <a:xfrm>
            <a:off x="272955" y="2868947"/>
            <a:ext cx="2620370" cy="1260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842" t="46608" r="25671" b="-1"/>
          <a:stretch/>
        </p:blipFill>
        <p:spPr bwMode="auto">
          <a:xfrm>
            <a:off x="272955" y="4367285"/>
            <a:ext cx="2620370" cy="1643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120424" y="2862207"/>
            <a:ext cx="8223852" cy="973472"/>
          </a:xfrm>
          <a:prstGeom prst="rect">
            <a:avLst/>
          </a:prstGeom>
        </p:spPr>
        <p:txBody>
          <a:bodyPr wrap="square">
            <a:spAutoFit/>
          </a:bodyPr>
          <a:lstStyle/>
          <a:p>
            <a:pPr algn="just">
              <a:lnSpc>
                <a:spcPct val="107000"/>
              </a:lnSpc>
              <a:spcAft>
                <a:spcPts val="0"/>
              </a:spcAft>
            </a:pPr>
            <a:r>
              <a:rPr lang="en-IN" b="1" i="1"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Variable Bit Rate</a:t>
            </a:r>
            <a:endParaRPr lang="en-IN" sz="1600" dirty="0">
              <a:solidFill>
                <a:srgbClr val="A71E25"/>
              </a:solidFill>
              <a:latin typeface="Calibri" panose="020F0502020204030204" pitchFamily="34" charset="0"/>
              <a:ea typeface="Calibri" panose="020F0502020204030204" pitchFamily="34" charset="0"/>
              <a:cs typeface="Times New Roman" panose="02020603050405020304" pitchFamily="18" charset="0"/>
            </a:endParaRPr>
          </a:p>
          <a:p>
            <a:pPr algn="just"/>
            <a:r>
              <a:rPr lang="en-IN" dirty="0">
                <a:latin typeface="Times New Roman" panose="02020603050405020304" pitchFamily="18" charset="0"/>
                <a:ea typeface="Calibri" panose="020F0502020204030204" pitchFamily="34" charset="0"/>
              </a:rPr>
              <a:t>In the </a:t>
            </a:r>
            <a:r>
              <a:rPr lang="en-IN" sz="2000" dirty="0">
                <a:latin typeface="Times New Roman" panose="02020603050405020304" pitchFamily="18" charset="0"/>
                <a:ea typeface="Calibri" panose="020F0502020204030204" pitchFamily="34" charset="0"/>
              </a:rPr>
              <a:t>variable-bit-rate (VBR) </a:t>
            </a:r>
            <a:r>
              <a:rPr lang="en-IN" dirty="0">
                <a:latin typeface="Times New Roman" panose="02020603050405020304" pitchFamily="18" charset="0"/>
                <a:ea typeface="Calibri" panose="020F0502020204030204" pitchFamily="34" charset="0"/>
              </a:rPr>
              <a:t>category, the rate of the data flow changes in time. In this type of flow, the average data rate and the peak data rate are different.</a:t>
            </a:r>
            <a:endParaRPr lang="en-IN" dirty="0"/>
          </a:p>
        </p:txBody>
      </p:sp>
    </p:spTree>
    <p:extLst>
      <p:ext uri="{BB962C8B-B14F-4D97-AF65-F5344CB8AC3E}">
        <p14:creationId xmlns:p14="http://schemas.microsoft.com/office/powerpoint/2010/main" val="426112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8115" name="Text Box 3"/>
          <p:cNvSpPr txBox="1">
            <a:spLocks noChangeArrowheads="1"/>
          </p:cNvSpPr>
          <p:nvPr/>
        </p:nvSpPr>
        <p:spPr bwMode="auto">
          <a:xfrm>
            <a:off x="5132870" y="932304"/>
            <a:ext cx="2016065" cy="523220"/>
          </a:xfrm>
          <a:prstGeom prst="rect">
            <a:avLst/>
          </a:prstGeom>
          <a:solidFill>
            <a:srgbClr val="A71E25"/>
          </a:solidFill>
          <a:ln w="9525">
            <a:solidFill>
              <a:srgbClr val="A71E25"/>
            </a:solidFill>
            <a:miter lim="800000"/>
            <a:headEnd/>
            <a:tailEnd/>
          </a:ln>
          <a:effectLst/>
        </p:spPr>
        <p:txBody>
          <a:bodyPr wrap="none">
            <a:spAutoFit/>
          </a:bodyPr>
          <a:lstStyle>
            <a:defPPr>
              <a:defRPr lang="en-US"/>
            </a:defPPr>
            <a:lvl1pPr eaLnBrk="0" fontAlgn="base" hangingPunct="0">
              <a:spcBef>
                <a:spcPct val="0"/>
              </a:spcBef>
              <a:spcAft>
                <a:spcPct val="0"/>
              </a:spcAft>
              <a:defRPr sz="2000" b="1">
                <a:solidFill>
                  <a:srgbClr val="FF0000"/>
                </a:solidFill>
                <a:latin typeface="Cambria" panose="02040503050406030204" pitchFamily="18" charset="0"/>
                <a:ea typeface="Cambria" panose="02040503050406030204" pitchFamily="18" charset="0"/>
              </a:defRPr>
            </a:lvl1pPr>
          </a:lstStyle>
          <a:p>
            <a:r>
              <a:rPr lang="en-US" altLang="en-US" sz="2800" dirty="0">
                <a:solidFill>
                  <a:schemeClr val="bg1"/>
                </a:solidFill>
              </a:rPr>
              <a:t>Congestion</a:t>
            </a:r>
          </a:p>
        </p:txBody>
      </p:sp>
      <p:sp>
        <p:nvSpPr>
          <p:cNvPr id="858116" name="Text Box 4"/>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altLang="en-US" b="1">
              <a:solidFill>
                <a:srgbClr val="000000"/>
              </a:solidFill>
              <a:latin typeface="Times New Roman" panose="02020603050405020304" pitchFamily="18" charset="0"/>
            </a:endParaRPr>
          </a:p>
        </p:txBody>
      </p:sp>
      <p:sp>
        <p:nvSpPr>
          <p:cNvPr id="3" name="Rectangle 2"/>
          <p:cNvSpPr/>
          <p:nvPr/>
        </p:nvSpPr>
        <p:spPr>
          <a:xfrm>
            <a:off x="838200" y="1731952"/>
            <a:ext cx="10571328" cy="4238148"/>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An important issue in a packet-switched network is </a:t>
            </a:r>
            <a:r>
              <a:rPr lang="en-IN" sz="20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congestion. </a:t>
            </a:r>
          </a:p>
          <a:p>
            <a:pPr marL="342900" indent="-342900" algn="just">
              <a:lnSpc>
                <a:spcPct val="150000"/>
              </a:lnSpc>
              <a:spcAft>
                <a:spcPts val="0"/>
              </a:spcAft>
              <a:buFont typeface="Arial" panose="020B0604020202020204" pitchFamily="34" charset="0"/>
              <a:buChar char="•"/>
            </a:pPr>
            <a:endParaRPr lang="en-IN" sz="9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Congestion in a network may occur </a:t>
            </a:r>
            <a:r>
              <a:rPr lang="en-IN" sz="2000" i="1"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if the load on the network (the number of packets sent to the network) is greater than the capacity of the network (the number of packets a network can handle).</a:t>
            </a:r>
          </a:p>
          <a:p>
            <a:pPr marL="342900" indent="-342900" algn="just">
              <a:lnSpc>
                <a:spcPct val="150000"/>
              </a:lnSpc>
              <a:spcAft>
                <a:spcPts val="0"/>
              </a:spcAft>
              <a:buFont typeface="Arial" panose="020B0604020202020204" pitchFamily="34" charset="0"/>
              <a:buChar char="•"/>
            </a:pPr>
            <a:endParaRPr lang="en-IN" sz="1100" i="1" dirty="0">
              <a:solidFill>
                <a:srgbClr val="A71E25"/>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Congestion control </a:t>
            </a:r>
            <a:r>
              <a:rPr lang="en-IN" sz="2000" dirty="0">
                <a:latin typeface="Times New Roman" panose="02020603050405020304" pitchFamily="18" charset="0"/>
                <a:ea typeface="Calibri" panose="020F0502020204030204" pitchFamily="34" charset="0"/>
                <a:cs typeface="Times New Roman" panose="02020603050405020304" pitchFamily="18" charset="0"/>
              </a:rPr>
              <a:t>refers to the mechanisms and techniques to </a:t>
            </a:r>
            <a:r>
              <a:rPr lang="en-IN" sz="20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control the congestion and keep the load below the capacity. </a:t>
            </a:r>
          </a:p>
          <a:p>
            <a:pPr marL="342900" indent="-342900" algn="just">
              <a:lnSpc>
                <a:spcPct val="150000"/>
              </a:lnSpc>
              <a:buFont typeface="Arial" panose="020B0604020202020204" pitchFamily="34" charset="0"/>
              <a:buChar char="•"/>
            </a:pPr>
            <a:endParaRPr lang="en-IN" sz="11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Congestion happens in any system that </a:t>
            </a:r>
            <a:r>
              <a:rPr lang="en-IN" sz="20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involves waiting. </a:t>
            </a:r>
          </a:p>
          <a:p>
            <a:pPr marL="342900" indent="-342900" algn="just">
              <a:lnSpc>
                <a:spcPct val="150000"/>
              </a:lnSpc>
              <a:buFont typeface="Arial" panose="020B0604020202020204" pitchFamily="34" charset="0"/>
              <a:buChar char="•"/>
            </a:pPr>
            <a:endParaRPr lang="en-IN" sz="11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000" dirty="0">
                <a:solidFill>
                  <a:srgbClr val="A71E25"/>
                </a:solidFill>
                <a:latin typeface="Times New Roman" panose="02020603050405020304" pitchFamily="18" charset="0"/>
                <a:ea typeface="Calibri" panose="020F0502020204030204" pitchFamily="34" charset="0"/>
                <a:cs typeface="Times New Roman" panose="02020603050405020304" pitchFamily="18" charset="0"/>
              </a:rPr>
              <a:t>Congestion cannot be completely avoided.</a:t>
            </a:r>
          </a:p>
        </p:txBody>
      </p:sp>
      <p:sp>
        <p:nvSpPr>
          <p:cNvPr id="5" name="Rectangle 4"/>
          <p:cNvSpPr/>
          <p:nvPr/>
        </p:nvSpPr>
        <p:spPr>
          <a:xfrm>
            <a:off x="1473958" y="1542194"/>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86633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858116" name="Text Box 4"/>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altLang="en-US" b="1">
              <a:solidFill>
                <a:srgbClr val="000000"/>
              </a:solidFill>
              <a:latin typeface="Times New Roman" panose="02020603050405020304" pitchFamily="18" charset="0"/>
            </a:endParaRPr>
          </a:p>
        </p:txBody>
      </p:sp>
      <p:pic>
        <p:nvPicPr>
          <p:cNvPr id="9"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5413" y="2938211"/>
            <a:ext cx="6105195" cy="235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4"/>
          <p:cNvSpPr txBox="1">
            <a:spLocks noChangeArrowheads="1"/>
          </p:cNvSpPr>
          <p:nvPr/>
        </p:nvSpPr>
        <p:spPr bwMode="auto">
          <a:xfrm>
            <a:off x="4827911" y="5527495"/>
            <a:ext cx="2140201" cy="369332"/>
          </a:xfrm>
          <a:prstGeom prst="rect">
            <a:avLst/>
          </a:prstGeom>
        </p:spPr>
        <p:txBody>
          <a:bodyPr wrap="square">
            <a:spAutoFit/>
          </a:bodyPr>
          <a:lstStyle>
            <a:defPPr>
              <a:defRPr lang="en-US"/>
            </a:defPPr>
            <a:lvl1pPr algn="ctr" eaLnBrk="0" fontAlgn="base" hangingPunct="0">
              <a:spcBef>
                <a:spcPct val="0"/>
              </a:spcBef>
              <a:spcAft>
                <a:spcPct val="0"/>
              </a:spcAft>
              <a:defRPr b="1">
                <a:solidFill>
                  <a:schemeClr val="tx2">
                    <a:lumMod val="50000"/>
                  </a:schemeClr>
                </a:solidFill>
                <a:latin typeface="Cambria" panose="02040503050406030204" pitchFamily="18" charset="0"/>
                <a:ea typeface="Cambria" panose="02040503050406030204" pitchFamily="18" charset="0"/>
              </a:defRPr>
            </a:lvl1pPr>
          </a:lstStyle>
          <a:p>
            <a:r>
              <a:rPr lang="en-US" altLang="en-US" dirty="0"/>
              <a:t>Queues in a router</a:t>
            </a:r>
          </a:p>
        </p:txBody>
      </p:sp>
      <p:sp>
        <p:nvSpPr>
          <p:cNvPr id="3" name="Rectangle 2"/>
          <p:cNvSpPr/>
          <p:nvPr/>
        </p:nvSpPr>
        <p:spPr>
          <a:xfrm>
            <a:off x="538305" y="761315"/>
            <a:ext cx="10748393" cy="193899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Congestion in a network or internetwork occurs because </a:t>
            </a:r>
            <a:r>
              <a:rPr lang="en-IN"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routers and switches have queues-buffers that hold the packets before and after processing</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p>
          <a:p>
            <a:pPr marL="342900" indent="-342900" algn="just">
              <a:lnSpc>
                <a:spcPct val="150000"/>
              </a:lnSpc>
              <a:spcAft>
                <a:spcPts val="0"/>
              </a:spcAf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A router, for example, has an input queue and an output queue for each interface. When a packet arrives at the incoming interface, it undergoes three steps before departing, as shown in Figure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10652550" y="5712161"/>
            <a:ext cx="1268296" cy="369332"/>
          </a:xfrm>
          <a:prstGeom prst="rect">
            <a:avLst/>
          </a:prstGeom>
        </p:spPr>
        <p:txBody>
          <a:bodyPr wrap="none">
            <a:spAutoFit/>
          </a:bodyPr>
          <a:lstStyle/>
          <a:p>
            <a:r>
              <a:rPr lang="en-IN"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Continue.,.</a:t>
            </a:r>
            <a:endParaRPr lang="en-IN" dirty="0"/>
          </a:p>
        </p:txBody>
      </p:sp>
    </p:spTree>
    <p:extLst>
      <p:ext uri="{BB962C8B-B14F-4D97-AF65-F5344CB8AC3E}">
        <p14:creationId xmlns:p14="http://schemas.microsoft.com/office/powerpoint/2010/main" val="359645163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858116" name="Text Box 4"/>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altLang="en-US" b="1">
              <a:solidFill>
                <a:srgbClr val="000000"/>
              </a:solidFill>
              <a:latin typeface="Times New Roman" panose="02020603050405020304" pitchFamily="18" charset="0"/>
            </a:endParaRPr>
          </a:p>
        </p:txBody>
      </p:sp>
      <p:sp>
        <p:nvSpPr>
          <p:cNvPr id="4" name="Rectangle 3"/>
          <p:cNvSpPr/>
          <p:nvPr/>
        </p:nvSpPr>
        <p:spPr>
          <a:xfrm>
            <a:off x="807007" y="1187216"/>
            <a:ext cx="10534283" cy="4864793"/>
          </a:xfrm>
          <a:prstGeom prst="rect">
            <a:avLst/>
          </a:prstGeom>
        </p:spPr>
        <p:txBody>
          <a:bodyPr wrap="square">
            <a:spAutoFit/>
          </a:bodyPr>
          <a:lstStyle/>
          <a:p>
            <a:pPr marL="342900" lvl="0" indent="-342900" algn="just">
              <a:lnSpc>
                <a:spcPct val="150000"/>
              </a:lnSpc>
              <a:spcAft>
                <a:spcPts val="0"/>
              </a:spcAft>
              <a:buFont typeface="+mj-lt"/>
              <a:buAutoNum type="arabicPeriod"/>
            </a:pPr>
            <a:r>
              <a:rPr lang="en-US" sz="2000" dirty="0">
                <a:latin typeface="Times New Roman" panose="02020603050405020304" pitchFamily="18" charset="0"/>
                <a:ea typeface="Times New Roman" panose="02020603050405020304" pitchFamily="18" charset="0"/>
              </a:rPr>
              <a:t>The packet is put at the end of the input queue while waiting to be checked.</a:t>
            </a:r>
            <a:endParaRPr lang="en-IN" sz="20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US" sz="2000" dirty="0">
                <a:latin typeface="Times New Roman" panose="02020603050405020304" pitchFamily="18" charset="0"/>
                <a:ea typeface="Times New Roman" panose="02020603050405020304" pitchFamily="18" charset="0"/>
              </a:rPr>
              <a:t>The processing module of the router removes the packet from the input queue once it reaches the front of the queue and uses its routing table and the destination address to find the route.</a:t>
            </a:r>
            <a:endParaRPr lang="en-IN" sz="20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US" sz="2000" dirty="0">
                <a:latin typeface="Times New Roman" panose="02020603050405020304" pitchFamily="18" charset="0"/>
                <a:ea typeface="Times New Roman" panose="02020603050405020304" pitchFamily="18" charset="0"/>
              </a:rPr>
              <a:t>The packet is put in the appropriate output queue and waits its turn to be sent.</a:t>
            </a:r>
          </a:p>
          <a:p>
            <a:pPr lvl="0" algn="just">
              <a:lnSpc>
                <a:spcPct val="150000"/>
              </a:lnSpc>
              <a:spcAft>
                <a:spcPts val="0"/>
              </a:spcAft>
            </a:pPr>
            <a:endParaRPr lang="en-IN" sz="2000" dirty="0">
              <a:latin typeface="Times New Roman" panose="02020603050405020304" pitchFamily="18" charset="0"/>
              <a:ea typeface="Times New Roman" panose="02020603050405020304" pitchFamily="18" charset="0"/>
            </a:endParaRPr>
          </a:p>
          <a:p>
            <a:pPr marL="41910" algn="just">
              <a:lnSpc>
                <a:spcPct val="150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We need to be aware of two issues</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p>
          <a:p>
            <a:pPr marL="384810" indent="-342900" algn="just">
              <a:lnSpc>
                <a:spcPct val="150000"/>
              </a:lnSpc>
              <a:spcAft>
                <a:spcPts val="8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First, </a:t>
            </a:r>
            <a:r>
              <a:rPr lang="en-IN" sz="2000" dirty="0">
                <a:latin typeface="Times New Roman" panose="02020603050405020304" pitchFamily="18" charset="0"/>
                <a:ea typeface="Calibri" panose="020F0502020204030204" pitchFamily="34" charset="0"/>
                <a:cs typeface="Times New Roman" panose="02020603050405020304" pitchFamily="18" charset="0"/>
              </a:rPr>
              <a:t>if the rate of packet arrival is higher than the packet processing rate, the input queues become longer and longer. </a:t>
            </a:r>
          </a:p>
          <a:p>
            <a:pPr marL="384810" indent="-342900" algn="just">
              <a:lnSpc>
                <a:spcPct val="150000"/>
              </a:lnSpc>
              <a:spcAft>
                <a:spcPts val="8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Second,</a:t>
            </a:r>
            <a:r>
              <a:rPr lang="en-IN" sz="2000" dirty="0">
                <a:latin typeface="Times New Roman" panose="02020603050405020304" pitchFamily="18" charset="0"/>
                <a:ea typeface="Calibri" panose="020F0502020204030204" pitchFamily="34" charset="0"/>
                <a:cs typeface="Times New Roman" panose="02020603050405020304" pitchFamily="18" charset="0"/>
              </a:rPr>
              <a:t> if the packet departure rate is less than the packet processing rate, the output queues become longer and longer.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p:cNvSpPr/>
          <p:nvPr/>
        </p:nvSpPr>
        <p:spPr>
          <a:xfrm>
            <a:off x="596320" y="532134"/>
            <a:ext cx="2021707" cy="461665"/>
          </a:xfrm>
          <a:prstGeom prst="rect">
            <a:avLst/>
          </a:prstGeom>
        </p:spPr>
        <p:txBody>
          <a:bodyPr wrap="none">
            <a:spAutoFit/>
          </a:bodyPr>
          <a:lstStyle/>
          <a:p>
            <a:r>
              <a:rPr lang="en-US" altLang="en-US" sz="2400" b="1" dirty="0">
                <a:solidFill>
                  <a:srgbClr val="C00000"/>
                </a:solidFill>
                <a:latin typeface="Times New Roman" panose="02020603050405020304" pitchFamily="18" charset="0"/>
                <a:cs typeface="Times New Roman" panose="02020603050405020304" pitchFamily="18" charset="0"/>
              </a:rPr>
              <a:t>Queues policy</a:t>
            </a:r>
            <a:endParaRPr lang="en-IN" sz="24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91556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858116" name="Text Box 4"/>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altLang="en-US" b="1">
              <a:solidFill>
                <a:srgbClr val="000000"/>
              </a:solidFill>
              <a:latin typeface="Times New Roman" panose="02020603050405020304" pitchFamily="18" charset="0"/>
            </a:endParaRPr>
          </a:p>
        </p:txBody>
      </p:sp>
      <p:pic>
        <p:nvPicPr>
          <p:cNvPr id="10"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1281"/>
          <a:stretch/>
        </p:blipFill>
        <p:spPr bwMode="auto">
          <a:xfrm>
            <a:off x="1473958" y="3179936"/>
            <a:ext cx="3527815" cy="275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113917" y="1888374"/>
            <a:ext cx="10596127" cy="1015663"/>
          </a:xfrm>
          <a:prstGeom prst="rect">
            <a:avLst/>
          </a:prstGeom>
        </p:spPr>
        <p:txBody>
          <a:bodyPr wrap="square">
            <a:spAutoFit/>
          </a:bodyPr>
          <a:lstStyle/>
          <a:p>
            <a:pPr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Congestion control involves two factors that measure the performance of a network: </a:t>
            </a:r>
            <a:r>
              <a:rPr lang="en-IN" sz="2000" b="1" i="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delay </a:t>
            </a:r>
            <a:r>
              <a:rPr lang="en-IN" sz="20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and </a:t>
            </a:r>
            <a:r>
              <a:rPr lang="en-IN" sz="2000" b="1" i="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throughput</a:t>
            </a:r>
            <a:r>
              <a:rPr lang="en-IN" sz="2000" i="1"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Figure shows these two performance measures as function of load.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4199107" y="1225383"/>
            <a:ext cx="3114955" cy="468077"/>
          </a:xfrm>
          <a:prstGeom prst="rect">
            <a:avLst/>
          </a:prstGeom>
          <a:solidFill>
            <a:srgbClr val="A71E25"/>
          </a:solidFill>
          <a:ln>
            <a:solidFill>
              <a:srgbClr val="A71E25"/>
            </a:solidFill>
          </a:ln>
        </p:spPr>
        <p:txBody>
          <a:bodyPr wrap="none">
            <a:spAutoFit/>
          </a:bodyPr>
          <a:lstStyle/>
          <a:p>
            <a:pPr algn="just">
              <a:lnSpc>
                <a:spcPct val="107000"/>
              </a:lnSpc>
              <a:spcAft>
                <a:spcPts val="0"/>
              </a:spcAft>
            </a:pPr>
            <a:r>
              <a:rPr lang="en-IN" sz="2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Network Performance</a:t>
            </a:r>
            <a:endParaRPr lang="en-IN" sz="24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1473958" y="1815152"/>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703"/>
          <a:stretch/>
        </p:blipFill>
        <p:spPr bwMode="auto">
          <a:xfrm>
            <a:off x="7093672" y="3179936"/>
            <a:ext cx="3497255" cy="275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122239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9" name="Text Box 3"/>
          <p:cNvSpPr txBox="1">
            <a:spLocks noChangeArrowheads="1"/>
          </p:cNvSpPr>
          <p:nvPr/>
        </p:nvSpPr>
        <p:spPr bwMode="auto">
          <a:xfrm>
            <a:off x="3852559" y="1298777"/>
            <a:ext cx="4722062" cy="461665"/>
          </a:xfrm>
          <a:prstGeom prst="rect">
            <a:avLst/>
          </a:prstGeom>
          <a:solidFill>
            <a:srgbClr val="A71E25"/>
          </a:solidFill>
          <a:ln w="9525">
            <a:solidFill>
              <a:srgbClr val="A71E25"/>
            </a:solidFill>
            <a:miter lim="800000"/>
            <a:headEnd/>
            <a:tailEnd/>
          </a:ln>
          <a:effectLst/>
        </p:spPr>
        <p:txBody>
          <a:bodyPr wrap="none">
            <a:spAutoFit/>
          </a:bodyPr>
          <a:lstStyle>
            <a:defPPr>
              <a:defRPr lang="en-US"/>
            </a:defPPr>
            <a:lvl1pPr eaLnBrk="0" fontAlgn="base" hangingPunct="0">
              <a:spcBef>
                <a:spcPct val="0"/>
              </a:spcBef>
              <a:spcAft>
                <a:spcPct val="0"/>
              </a:spcAft>
              <a:defRPr sz="2000" b="1">
                <a:solidFill>
                  <a:srgbClr val="FF0000"/>
                </a:solidFill>
                <a:latin typeface="Cambria" panose="02040503050406030204" pitchFamily="18" charset="0"/>
                <a:ea typeface="Cambria" panose="02040503050406030204" pitchFamily="18" charset="0"/>
              </a:defRPr>
            </a:lvl1pPr>
          </a:lstStyle>
          <a:p>
            <a:r>
              <a:rPr lang="en-US" altLang="en-US" sz="2400" dirty="0">
                <a:solidFill>
                  <a:schemeClr val="bg1"/>
                </a:solidFill>
              </a:rPr>
              <a:t>Congestion Control</a:t>
            </a:r>
            <a:r>
              <a:rPr lang="en-US" altLang="en-US" sz="2400" dirty="0">
                <a:solidFill>
                  <a:schemeClr val="bg1"/>
                </a:solidFill>
                <a:latin typeface="Times New Roman" panose="02020603050405020304" pitchFamily="18" charset="0"/>
              </a:rPr>
              <a:t> </a:t>
            </a:r>
            <a:r>
              <a:rPr lang="en-US" altLang="en-US" sz="2400" dirty="0">
                <a:solidFill>
                  <a:schemeClr val="bg1"/>
                </a:solidFill>
              </a:rPr>
              <a:t>mechanisms</a:t>
            </a:r>
          </a:p>
        </p:txBody>
      </p:sp>
      <p:sp>
        <p:nvSpPr>
          <p:cNvPr id="859140" name="Text Box 4"/>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altLang="en-US" b="1">
              <a:solidFill>
                <a:srgbClr val="000000"/>
              </a:solidFill>
              <a:latin typeface="Times New Roman" panose="02020603050405020304" pitchFamily="18" charset="0"/>
            </a:endParaRPr>
          </a:p>
        </p:txBody>
      </p:sp>
      <p:sp>
        <p:nvSpPr>
          <p:cNvPr id="859141" name="Rectangle 5"/>
          <p:cNvSpPr>
            <a:spLocks noChangeArrowheads="1"/>
          </p:cNvSpPr>
          <p:nvPr/>
        </p:nvSpPr>
        <p:spPr bwMode="auto">
          <a:xfrm>
            <a:off x="1119116" y="2048273"/>
            <a:ext cx="1030406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fontAlgn="base">
              <a:lnSpc>
                <a:spcPct val="150000"/>
              </a:lnSpc>
              <a:spcBef>
                <a:spcPct val="0"/>
              </a:spcBef>
              <a:spcAft>
                <a:spcPct val="0"/>
              </a:spcAft>
            </a:pPr>
            <a:r>
              <a:rPr lang="en-US" altLang="en-US" sz="2000" dirty="0">
                <a:solidFill>
                  <a:srgbClr val="000000"/>
                </a:solidFill>
                <a:latin typeface="Times New Roman" panose="02020603050405020304" pitchFamily="18" charset="0"/>
              </a:rPr>
              <a:t>Congestion control refers to techniques and mechanisms that can either prevent congestion, before it happens, or remove congestion, after it has happened. </a:t>
            </a:r>
          </a:p>
          <a:p>
            <a:pPr algn="just" fontAlgn="base">
              <a:lnSpc>
                <a:spcPct val="150000"/>
              </a:lnSpc>
              <a:spcBef>
                <a:spcPct val="0"/>
              </a:spcBef>
              <a:spcAft>
                <a:spcPct val="0"/>
              </a:spcAft>
            </a:pPr>
            <a:endParaRPr lang="en-US" altLang="en-US" sz="2000" dirty="0">
              <a:solidFill>
                <a:srgbClr val="000000"/>
              </a:solidFill>
              <a:latin typeface="Times New Roman" panose="02020603050405020304" pitchFamily="18" charset="0"/>
            </a:endParaRPr>
          </a:p>
          <a:p>
            <a:pPr algn="just" fontAlgn="base">
              <a:lnSpc>
                <a:spcPct val="150000"/>
              </a:lnSpc>
              <a:spcBef>
                <a:spcPct val="0"/>
              </a:spcBef>
              <a:spcAft>
                <a:spcPct val="0"/>
              </a:spcAft>
            </a:pPr>
            <a:r>
              <a:rPr lang="en-US" altLang="en-US" sz="2000" dirty="0">
                <a:solidFill>
                  <a:srgbClr val="000000"/>
                </a:solidFill>
                <a:latin typeface="Times New Roman" panose="02020603050405020304" pitchFamily="18" charset="0"/>
              </a:rPr>
              <a:t>In general, we can divide congestion control mechanisms into two broad categories: </a:t>
            </a:r>
          </a:p>
          <a:p>
            <a:pPr marL="900113" indent="-457200" algn="just" fontAlgn="base">
              <a:lnSpc>
                <a:spcPct val="150000"/>
              </a:lnSpc>
              <a:spcBef>
                <a:spcPct val="0"/>
              </a:spcBef>
              <a:spcAft>
                <a:spcPct val="0"/>
              </a:spcAft>
              <a:buFont typeface="Arial" panose="020B0604020202020204" pitchFamily="34" charset="0"/>
              <a:buChar char="•"/>
            </a:pPr>
            <a:r>
              <a:rPr lang="en-US" altLang="en-US" sz="2000" b="1" dirty="0">
                <a:solidFill>
                  <a:schemeClr val="tx2">
                    <a:lumMod val="50000"/>
                  </a:schemeClr>
                </a:solidFill>
                <a:latin typeface="Times New Roman" panose="02020603050405020304" pitchFamily="18" charset="0"/>
              </a:rPr>
              <a:t>Open-loop congestion control </a:t>
            </a:r>
          </a:p>
          <a:p>
            <a:pPr marL="900113" indent="-457200" algn="just" fontAlgn="base">
              <a:lnSpc>
                <a:spcPct val="150000"/>
              </a:lnSpc>
              <a:spcBef>
                <a:spcPct val="0"/>
              </a:spcBef>
              <a:spcAft>
                <a:spcPct val="0"/>
              </a:spcAft>
              <a:buFont typeface="Arial" panose="020B0604020202020204" pitchFamily="34" charset="0"/>
              <a:buChar char="•"/>
            </a:pPr>
            <a:r>
              <a:rPr lang="en-US" altLang="en-US" sz="2000" b="1" dirty="0">
                <a:solidFill>
                  <a:schemeClr val="tx2">
                    <a:lumMod val="50000"/>
                  </a:schemeClr>
                </a:solidFill>
                <a:latin typeface="Times New Roman" panose="02020603050405020304" pitchFamily="18" charset="0"/>
              </a:rPr>
              <a:t>Closed-loop congestion control.</a:t>
            </a:r>
          </a:p>
        </p:txBody>
      </p:sp>
      <p:sp>
        <p:nvSpPr>
          <p:cNvPr id="5" name="Rectangle 4"/>
          <p:cNvSpPr/>
          <p:nvPr/>
        </p:nvSpPr>
        <p:spPr>
          <a:xfrm>
            <a:off x="1473958" y="1815152"/>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92592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4" name="Text Box 4"/>
          <p:cNvSpPr txBox="1">
            <a:spLocks noChangeArrowheads="1"/>
          </p:cNvSpPr>
          <p:nvPr/>
        </p:nvSpPr>
        <p:spPr bwMode="auto">
          <a:xfrm>
            <a:off x="4214805" y="1055853"/>
            <a:ext cx="4370171" cy="461665"/>
          </a:xfrm>
          <a:prstGeom prst="rect">
            <a:avLst/>
          </a:prstGeom>
          <a:solidFill>
            <a:srgbClr val="A71E25"/>
          </a:solidFill>
          <a:ln>
            <a:solidFill>
              <a:srgbClr val="A71E25"/>
            </a:solidFill>
          </a:ln>
          <a:effectLst/>
        </p:spPr>
        <p:txBody>
          <a:bodyPr wrap="none">
            <a:spAutoFit/>
          </a:bodyPr>
          <a:lstStyle/>
          <a:p>
            <a:pPr eaLnBrk="0" fontAlgn="base" hangingPunct="0">
              <a:spcBef>
                <a:spcPct val="0"/>
              </a:spcBef>
              <a:spcAft>
                <a:spcPct val="0"/>
              </a:spcAft>
            </a:pPr>
            <a:r>
              <a:rPr lang="en-US" altLang="en-US" sz="2400" b="1" dirty="0">
                <a:solidFill>
                  <a:schemeClr val="bg1"/>
                </a:solidFill>
                <a:latin typeface="Cambria" panose="02040503050406030204" pitchFamily="18" charset="0"/>
                <a:ea typeface="Cambria" panose="02040503050406030204" pitchFamily="18" charset="0"/>
              </a:rPr>
              <a:t>Congestion control categories</a:t>
            </a:r>
          </a:p>
        </p:txBody>
      </p:sp>
      <p:sp>
        <p:nvSpPr>
          <p:cNvPr id="9" name="Rectangle 8"/>
          <p:cNvSpPr/>
          <p:nvPr/>
        </p:nvSpPr>
        <p:spPr>
          <a:xfrm>
            <a:off x="3745940" y="5376283"/>
            <a:ext cx="6259086" cy="369332"/>
          </a:xfrm>
          <a:prstGeom prst="rect">
            <a:avLst/>
          </a:prstGeom>
        </p:spPr>
        <p:txBody>
          <a:bodyPr wrap="none">
            <a:spAutoFit/>
          </a:bodyPr>
          <a:lstStyle/>
          <a:p>
            <a:r>
              <a:rPr lang="en-US" b="1" i="0" dirty="0">
                <a:solidFill>
                  <a:srgbClr val="273239"/>
                </a:solidFill>
                <a:effectLst/>
                <a:latin typeface="Cambria" panose="02040503050406030204" pitchFamily="18" charset="0"/>
                <a:ea typeface="Cambria" panose="02040503050406030204" pitchFamily="18" charset="0"/>
                <a:cs typeface="Times New Roman" panose="02020603050405020304" pitchFamily="18" charset="0"/>
              </a:rPr>
              <a:t>Policies adopted by open &amp; </a:t>
            </a:r>
            <a:r>
              <a:rPr lang="en-US" b="1" dirty="0">
                <a:solidFill>
                  <a:srgbClr val="273239"/>
                </a:solidFill>
                <a:latin typeface="Cambria" panose="02040503050406030204" pitchFamily="18" charset="0"/>
                <a:ea typeface="Cambria" panose="02040503050406030204" pitchFamily="18" charset="0"/>
                <a:cs typeface="Times New Roman" panose="02020603050405020304" pitchFamily="18" charset="0"/>
              </a:rPr>
              <a:t>closed </a:t>
            </a:r>
            <a:r>
              <a:rPr lang="en-US" b="1" i="0" dirty="0">
                <a:solidFill>
                  <a:srgbClr val="273239"/>
                </a:solidFill>
                <a:effectLst/>
                <a:latin typeface="Cambria" panose="02040503050406030204" pitchFamily="18" charset="0"/>
                <a:ea typeface="Cambria" panose="02040503050406030204" pitchFamily="18" charset="0"/>
                <a:cs typeface="Times New Roman" panose="02020603050405020304" pitchFamily="18" charset="0"/>
              </a:rPr>
              <a:t>loop congestion control</a:t>
            </a:r>
            <a:endParaRPr lang="en-IN"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Rectangle 5"/>
          <p:cNvSpPr/>
          <p:nvPr/>
        </p:nvSpPr>
        <p:spPr>
          <a:xfrm>
            <a:off x="1473958" y="1624081"/>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5C331449-65BE-7154-F2DD-AFB4A4E96415}"/>
              </a:ext>
            </a:extLst>
          </p:cNvPr>
          <p:cNvPicPr>
            <a:picLocks noChangeAspect="1"/>
          </p:cNvPicPr>
          <p:nvPr/>
        </p:nvPicPr>
        <p:blipFill>
          <a:blip r:embed="rId3"/>
          <a:stretch>
            <a:fillRect/>
          </a:stretch>
        </p:blipFill>
        <p:spPr>
          <a:xfrm>
            <a:off x="2691762" y="1909005"/>
            <a:ext cx="8064914" cy="3467278"/>
          </a:xfrm>
          <a:prstGeom prst="rect">
            <a:avLst/>
          </a:prstGeom>
        </p:spPr>
      </p:pic>
    </p:spTree>
    <p:extLst>
      <p:ext uri="{BB962C8B-B14F-4D97-AF65-F5344CB8AC3E}">
        <p14:creationId xmlns:p14="http://schemas.microsoft.com/office/powerpoint/2010/main" val="126609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D662-2F04-9524-2FA2-F36908CDAB89}"/>
              </a:ext>
            </a:extLst>
          </p:cNvPr>
          <p:cNvSpPr>
            <a:spLocks noGrp="1"/>
          </p:cNvSpPr>
          <p:nvPr>
            <p:ph type="title"/>
          </p:nvPr>
        </p:nvSpPr>
        <p:spPr>
          <a:xfrm>
            <a:off x="1097280" y="2419349"/>
            <a:ext cx="10058400" cy="1085851"/>
          </a:xfrm>
        </p:spPr>
        <p:txBody>
          <a:bodyPr>
            <a:normAutofit/>
          </a:bodyPr>
          <a:lstStyle/>
          <a:p>
            <a:pPr algn="ctr"/>
            <a:r>
              <a:rPr lang="en-IN" b="1" dirty="0">
                <a:solidFill>
                  <a:srgbClr val="C00000"/>
                </a:solidFill>
              </a:rPr>
              <a:t>Open Loop Congestion Control</a:t>
            </a:r>
          </a:p>
        </p:txBody>
      </p:sp>
    </p:spTree>
    <p:extLst>
      <p:ext uri="{BB962C8B-B14F-4D97-AF65-F5344CB8AC3E}">
        <p14:creationId xmlns:p14="http://schemas.microsoft.com/office/powerpoint/2010/main" val="3740553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063" y="526789"/>
            <a:ext cx="10276338" cy="873572"/>
          </a:xfrm>
          <a:prstGeom prst="rect">
            <a:avLst/>
          </a:prstGeom>
        </p:spPr>
        <p:txBody>
          <a:bodyPr wrap="square">
            <a:spAutoFit/>
          </a:bodyPr>
          <a:lstStyle/>
          <a:p>
            <a:pPr algn="just" fontAlgn="base">
              <a:lnSpc>
                <a:spcPct val="150000"/>
              </a:lnSpc>
            </a:pPr>
            <a:r>
              <a:rPr lang="en-US" b="1"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Open loop congestion control policies are applied to prevent congestion before it happens. </a:t>
            </a:r>
          </a:p>
          <a:p>
            <a:pPr algn="just" fontAlgn="base">
              <a:lnSpc>
                <a:spcPct val="150000"/>
              </a:lnSpc>
            </a:pPr>
            <a:r>
              <a:rPr lang="en-US" b="1"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The congestion control is handled either by the source or the destination.</a:t>
            </a:r>
          </a:p>
        </p:txBody>
      </p:sp>
      <p:sp>
        <p:nvSpPr>
          <p:cNvPr id="3" name="Rectangle 2"/>
          <p:cNvSpPr/>
          <p:nvPr/>
        </p:nvSpPr>
        <p:spPr>
          <a:xfrm>
            <a:off x="3963829" y="127957"/>
            <a:ext cx="3750514" cy="400110"/>
          </a:xfrm>
          <a:prstGeom prst="rect">
            <a:avLst/>
          </a:prstGeom>
        </p:spPr>
        <p:txBody>
          <a:bodyPr wrap="none">
            <a:spAutoFit/>
          </a:bodyPr>
          <a:lstStyle/>
          <a:p>
            <a:pPr fontAlgn="base"/>
            <a:r>
              <a:rPr lang="en-US" sz="2000" b="1" dirty="0">
                <a:solidFill>
                  <a:srgbClr val="FF0000"/>
                </a:solidFill>
                <a:latin typeface="Cambria" panose="02040503050406030204" pitchFamily="18" charset="0"/>
                <a:ea typeface="Cambria" panose="02040503050406030204" pitchFamily="18" charset="0"/>
              </a:rPr>
              <a:t>Open Loop Congestion Control</a:t>
            </a:r>
          </a:p>
        </p:txBody>
      </p:sp>
      <p:sp>
        <p:nvSpPr>
          <p:cNvPr id="9" name="Rounded Rectangle 8"/>
          <p:cNvSpPr/>
          <p:nvPr/>
        </p:nvSpPr>
        <p:spPr bwMode="auto">
          <a:xfrm>
            <a:off x="798063" y="1479341"/>
            <a:ext cx="4559548" cy="545751"/>
          </a:xfrm>
          <a:prstGeom prst="roundRect">
            <a:avLst/>
          </a:prstGeom>
          <a:solidFill>
            <a:srgbClr val="A71E25"/>
          </a:solidFill>
          <a:ln w="9525" cap="flat" cmpd="sng" algn="ctr">
            <a:solidFill>
              <a:srgbClr val="A71E2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eaLnBrk="0" fontAlgn="base" hangingPunct="0">
              <a:spcBef>
                <a:spcPct val="0"/>
              </a:spcBef>
              <a:spcAft>
                <a:spcPct val="0"/>
              </a:spcAft>
            </a:pPr>
            <a:r>
              <a:rPr lang="en-IN" sz="2400" b="1" dirty="0">
                <a:solidFill>
                  <a:schemeClr val="bg1"/>
                </a:solidFill>
                <a:latin typeface="Adobe Garamond Pro Bold" panose="02020702060506020403" pitchFamily="18" charset="0"/>
              </a:rPr>
              <a:t>Retransmission Policy </a:t>
            </a:r>
            <a:endParaRPr lang="en-US" sz="2400" dirty="0">
              <a:solidFill>
                <a:schemeClr val="bg1"/>
              </a:solidFill>
              <a:latin typeface="Adobe Garamond Pro Bold" panose="02020702060506020403" pitchFamily="18" charset="0"/>
            </a:endParaRPr>
          </a:p>
        </p:txBody>
      </p:sp>
      <p:sp>
        <p:nvSpPr>
          <p:cNvPr id="10" name="Rectangle 9"/>
          <p:cNvSpPr/>
          <p:nvPr/>
        </p:nvSpPr>
        <p:spPr>
          <a:xfrm>
            <a:off x="657158" y="1926192"/>
            <a:ext cx="10886365" cy="1704569"/>
          </a:xfrm>
          <a:prstGeom prst="rect">
            <a:avLst/>
          </a:prstGeom>
          <a:ln>
            <a:solidFill>
              <a:srgbClr val="A71E25"/>
            </a:solidFill>
          </a:ln>
        </p:spPr>
        <p:txBody>
          <a:bodyPr wrap="square">
            <a:spAutoFit/>
          </a:bodyPr>
          <a:lstStyle/>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If the sender feels that </a:t>
            </a:r>
            <a:r>
              <a:rPr lang="en-IN" spc="1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 sent packet is lost or corrupted, the packet needs to be retransmitted.</a:t>
            </a:r>
            <a:r>
              <a:rPr lang="en-IN" spc="10" dirty="0">
                <a:latin typeface="Times New Roman" panose="02020603050405020304" pitchFamily="18" charset="0"/>
                <a:ea typeface="Times New Roman" panose="02020603050405020304" pitchFamily="18" charset="0"/>
                <a:cs typeface="Times New Roman" panose="02020603050405020304" pitchFamily="18" charset="0"/>
              </a:rPr>
              <a:t> This transmission may increase the congestion in the network. </a:t>
            </a:r>
          </a:p>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To prevent congestion, retransmission timers must be designed to prevent congestion and also able to optimize efficiency. </a:t>
            </a:r>
            <a:endParaRPr lang="en-IN" dirty="0">
              <a:latin typeface="Times New Roman" panose="02020603050405020304" pitchFamily="18" charset="0"/>
              <a:cs typeface="Times New Roman" panose="02020603050405020304" pitchFamily="18" charset="0"/>
            </a:endParaRPr>
          </a:p>
        </p:txBody>
      </p:sp>
      <p:sp>
        <p:nvSpPr>
          <p:cNvPr id="13" name="Rounded Rectangle 12"/>
          <p:cNvSpPr/>
          <p:nvPr/>
        </p:nvSpPr>
        <p:spPr bwMode="auto">
          <a:xfrm>
            <a:off x="798063" y="3881714"/>
            <a:ext cx="4103430" cy="537136"/>
          </a:xfrm>
          <a:prstGeom prst="roundRect">
            <a:avLst/>
          </a:prstGeom>
          <a:solidFill>
            <a:srgbClr val="A71E25"/>
          </a:solidFill>
          <a:ln w="9525" cap="flat" cmpd="sng" algn="ctr">
            <a:solidFill>
              <a:srgbClr val="A71E25"/>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IN" sz="2400" b="1" dirty="0">
                <a:solidFill>
                  <a:schemeClr val="bg1"/>
                </a:solidFill>
                <a:latin typeface="Adobe Garamond Pro Bold" panose="02020702060506020403" pitchFamily="18" charset="0"/>
              </a:rPr>
              <a:t>Window Policy </a:t>
            </a:r>
            <a:endParaRPr lang="en-US" sz="2400" b="1" dirty="0">
              <a:solidFill>
                <a:schemeClr val="bg1"/>
              </a:solidFill>
              <a:latin typeface="Adobe Garamond Pro Bold" panose="02020702060506020403" pitchFamily="18" charset="0"/>
            </a:endParaRPr>
          </a:p>
        </p:txBody>
      </p:sp>
      <p:sp>
        <p:nvSpPr>
          <p:cNvPr id="14" name="Rectangle 13"/>
          <p:cNvSpPr/>
          <p:nvPr/>
        </p:nvSpPr>
        <p:spPr>
          <a:xfrm>
            <a:off x="657158" y="4323314"/>
            <a:ext cx="10886365" cy="1754326"/>
          </a:xfrm>
          <a:prstGeom prst="rect">
            <a:avLst/>
          </a:prstGeom>
          <a:ln>
            <a:solidFill>
              <a:srgbClr val="A71E25"/>
            </a:solidFill>
          </a:ln>
        </p:spPr>
        <p:txBody>
          <a:bodyPr wrap="square">
            <a:spAutoFit/>
          </a:bodyPr>
          <a:lstStyle/>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The type of window at </a:t>
            </a:r>
            <a:r>
              <a:rPr lang="en-IN" spc="1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the sender’s side may also affect the congestion</a:t>
            </a:r>
            <a:r>
              <a:rPr lang="en-IN" spc="10" dirty="0">
                <a:latin typeface="Times New Roman" panose="02020603050405020304" pitchFamily="18" charset="0"/>
                <a:ea typeface="Times New Roman" panose="02020603050405020304" pitchFamily="18" charset="0"/>
                <a:cs typeface="Times New Roman" panose="02020603050405020304" pitchFamily="18" charset="0"/>
              </a:rPr>
              <a:t>. </a:t>
            </a:r>
            <a:r>
              <a:rPr lang="en-IN" spc="1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Several packets in the Go-back-n window are re-sent, although some packets may be received successfully at the receiver side.</a:t>
            </a:r>
            <a:r>
              <a:rPr lang="en-IN" spc="10" dirty="0">
                <a:latin typeface="Times New Roman" panose="02020603050405020304" pitchFamily="18" charset="0"/>
                <a:ea typeface="Times New Roman" panose="02020603050405020304" pitchFamily="18" charset="0"/>
                <a:cs typeface="Times New Roman" panose="02020603050405020304" pitchFamily="18" charset="0"/>
              </a:rPr>
              <a:t> This duplication may increase the congestion in the network and make it worse.</a:t>
            </a:r>
          </a:p>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Therefore, Selective repeat window should be adopted as it sends the specific packet that may have been lost.</a:t>
            </a:r>
          </a:p>
        </p:txBody>
      </p:sp>
    </p:spTree>
    <p:extLst>
      <p:ext uri="{BB962C8B-B14F-4D97-AF65-F5344CB8AC3E}">
        <p14:creationId xmlns:p14="http://schemas.microsoft.com/office/powerpoint/2010/main" val="310156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bwMode="auto">
          <a:xfrm>
            <a:off x="656826" y="959986"/>
            <a:ext cx="3425588" cy="450398"/>
          </a:xfrm>
          <a:prstGeom prst="roundRect">
            <a:avLst/>
          </a:prstGeom>
          <a:solidFill>
            <a:srgbClr val="A71E25"/>
          </a:solidFill>
          <a:ln w="9525" cap="flat" cmpd="sng" algn="ctr">
            <a:solidFill>
              <a:srgbClr val="A71E2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IN" sz="2400" b="1" dirty="0">
                <a:solidFill>
                  <a:schemeClr val="bg1"/>
                </a:solidFill>
                <a:latin typeface="Adobe Garamond Pro Bold" panose="02020702060506020403" pitchFamily="18" charset="0"/>
              </a:rPr>
              <a:t>Discarding Policy</a:t>
            </a:r>
            <a:endParaRPr lang="en-US" sz="2400" b="1" dirty="0">
              <a:solidFill>
                <a:schemeClr val="bg1"/>
              </a:solidFill>
              <a:latin typeface="Adobe Garamond Pro Bold" panose="02020702060506020403" pitchFamily="18" charset="0"/>
            </a:endParaRPr>
          </a:p>
        </p:txBody>
      </p:sp>
      <p:sp>
        <p:nvSpPr>
          <p:cNvPr id="10" name="Rectangle 9"/>
          <p:cNvSpPr/>
          <p:nvPr/>
        </p:nvSpPr>
        <p:spPr>
          <a:xfrm>
            <a:off x="499757" y="1333639"/>
            <a:ext cx="11252698" cy="1754326"/>
          </a:xfrm>
          <a:prstGeom prst="rect">
            <a:avLst/>
          </a:prstGeom>
          <a:ln>
            <a:solidFill>
              <a:srgbClr val="A71E25"/>
            </a:solidFill>
          </a:ln>
        </p:spPr>
        <p:txBody>
          <a:bodyPr wrap="square">
            <a:spAutoFit/>
          </a:bodyPr>
          <a:lstStyle/>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A good discarding policy adopted by the routers is that the routers may prevent congestion and at the same time </a:t>
            </a:r>
            <a:r>
              <a:rPr lang="en-IN" spc="10" dirty="0">
                <a:solidFill>
                  <a:srgbClr val="A71E25"/>
                </a:solidFill>
                <a:latin typeface="Times New Roman" panose="02020603050405020304" pitchFamily="18" charset="0"/>
                <a:ea typeface="Times New Roman" panose="02020603050405020304" pitchFamily="18" charset="0"/>
                <a:cs typeface="Times New Roman" panose="02020603050405020304" pitchFamily="18" charset="0"/>
              </a:rPr>
              <a:t>partially discard the corrupted or less sensitive packets and also be able to maintain the quality of a message.</a:t>
            </a:r>
          </a:p>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In case of audio file transmission, routers can discard less sensitive packets to prevent congestion and also maintain the quality of the audio file.</a:t>
            </a:r>
          </a:p>
        </p:txBody>
      </p:sp>
      <p:sp>
        <p:nvSpPr>
          <p:cNvPr id="13" name="Rounded Rectangle 12"/>
          <p:cNvSpPr/>
          <p:nvPr/>
        </p:nvSpPr>
        <p:spPr bwMode="auto">
          <a:xfrm>
            <a:off x="656826" y="3461618"/>
            <a:ext cx="5020074" cy="465724"/>
          </a:xfrm>
          <a:prstGeom prst="roundRect">
            <a:avLst/>
          </a:prstGeom>
          <a:solidFill>
            <a:srgbClr val="A71E25"/>
          </a:solidFill>
          <a:ln w="9525" cap="flat" cmpd="sng" algn="ctr">
            <a:solidFill>
              <a:srgbClr val="A71E25"/>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eaLnBrk="0" fontAlgn="base" hangingPunct="0">
              <a:spcBef>
                <a:spcPct val="0"/>
              </a:spcBef>
              <a:spcAft>
                <a:spcPct val="0"/>
              </a:spcAft>
            </a:pPr>
            <a:r>
              <a:rPr lang="en-IN" sz="2400" b="1" dirty="0">
                <a:solidFill>
                  <a:schemeClr val="bg1"/>
                </a:solidFill>
                <a:latin typeface="Adobe Garamond Pro Bold" panose="02020702060506020403" pitchFamily="18" charset="0"/>
              </a:rPr>
              <a:t>Acknowledgment Policy </a:t>
            </a:r>
            <a:endParaRPr lang="en-US" sz="2400" b="1" dirty="0">
              <a:solidFill>
                <a:schemeClr val="bg1"/>
              </a:solidFill>
              <a:latin typeface="Adobe Garamond Pro Bold" panose="02020702060506020403" pitchFamily="18" charset="0"/>
            </a:endParaRPr>
          </a:p>
        </p:txBody>
      </p:sp>
      <p:sp>
        <p:nvSpPr>
          <p:cNvPr id="14" name="Rectangle 13"/>
          <p:cNvSpPr/>
          <p:nvPr/>
        </p:nvSpPr>
        <p:spPr>
          <a:xfrm>
            <a:off x="499757" y="3802593"/>
            <a:ext cx="11252698" cy="2169825"/>
          </a:xfrm>
          <a:prstGeom prst="rect">
            <a:avLst/>
          </a:prstGeom>
          <a:ln>
            <a:solidFill>
              <a:srgbClr val="A71E25"/>
            </a:solidFill>
          </a:ln>
        </p:spPr>
        <p:txBody>
          <a:bodyPr wrap="square">
            <a:spAutoFit/>
          </a:bodyPr>
          <a:lstStyle/>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Since acknowledgements are also the part of the load in the network, the acknowledgment policy imposed by the receiver may also affect congestion. Several approaches can be used to prevent congestion related to acknowledgment.</a:t>
            </a:r>
          </a:p>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The receiver should </a:t>
            </a:r>
            <a:r>
              <a:rPr lang="en-IN" spc="10" dirty="0">
                <a:solidFill>
                  <a:srgbClr val="A71E25"/>
                </a:solidFill>
                <a:latin typeface="Times New Roman" panose="02020603050405020304" pitchFamily="18" charset="0"/>
                <a:ea typeface="Times New Roman" panose="02020603050405020304" pitchFamily="18" charset="0"/>
                <a:cs typeface="Times New Roman" panose="02020603050405020304" pitchFamily="18" charset="0"/>
              </a:rPr>
              <a:t>send acknowledgement for N packets rather than sending acknowledgement for a single packet</a:t>
            </a:r>
            <a:r>
              <a:rPr lang="en-IN" spc="10" dirty="0">
                <a:latin typeface="Times New Roman" panose="02020603050405020304" pitchFamily="18" charset="0"/>
                <a:ea typeface="Times New Roman" panose="02020603050405020304" pitchFamily="18" charset="0"/>
                <a:cs typeface="Times New Roman" panose="02020603050405020304" pitchFamily="18" charset="0"/>
              </a:rPr>
              <a:t>. The receiver should send an </a:t>
            </a:r>
            <a:r>
              <a:rPr lang="en-IN" spc="10" dirty="0">
                <a:solidFill>
                  <a:srgbClr val="A71E25"/>
                </a:solidFill>
                <a:latin typeface="Times New Roman" panose="02020603050405020304" pitchFamily="18" charset="0"/>
                <a:ea typeface="Times New Roman" panose="02020603050405020304" pitchFamily="18" charset="0"/>
                <a:cs typeface="Times New Roman" panose="02020603050405020304" pitchFamily="18" charset="0"/>
              </a:rPr>
              <a:t>acknowledgment only if it has to send a packet(Piggybacking) or a timer expires.</a:t>
            </a:r>
          </a:p>
        </p:txBody>
      </p:sp>
    </p:spTree>
    <p:extLst>
      <p:ext uri="{BB962C8B-B14F-4D97-AF65-F5344CB8AC3E}">
        <p14:creationId xmlns:p14="http://schemas.microsoft.com/office/powerpoint/2010/main" val="404885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bwMode="auto">
          <a:xfrm>
            <a:off x="518615" y="1968580"/>
            <a:ext cx="3425588" cy="384401"/>
          </a:xfrm>
          <a:prstGeom prst="roundRect">
            <a:avLst/>
          </a:prstGeom>
          <a:solidFill>
            <a:srgbClr val="A71E25"/>
          </a:solidFill>
          <a:ln w="9525" cap="flat" cmpd="sng" algn="ctr">
            <a:solidFill>
              <a:srgbClr val="A71E25"/>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IN" sz="2400" b="1" dirty="0">
                <a:solidFill>
                  <a:schemeClr val="bg1"/>
                </a:solidFill>
                <a:latin typeface="Adobe Garamond Pro Bold" panose="02020702060506020403" pitchFamily="18" charset="0"/>
              </a:rPr>
              <a:t>Admission Policy </a:t>
            </a:r>
            <a:endParaRPr lang="en-US" sz="2400" b="1" dirty="0">
              <a:solidFill>
                <a:schemeClr val="bg1"/>
              </a:solidFill>
              <a:latin typeface="Adobe Garamond Pro Bold" panose="02020702060506020403" pitchFamily="18" charset="0"/>
            </a:endParaRPr>
          </a:p>
        </p:txBody>
      </p:sp>
      <p:sp>
        <p:nvSpPr>
          <p:cNvPr id="11" name="Rectangle 10"/>
          <p:cNvSpPr/>
          <p:nvPr/>
        </p:nvSpPr>
        <p:spPr>
          <a:xfrm>
            <a:off x="361547" y="2284741"/>
            <a:ext cx="11252697" cy="1754326"/>
          </a:xfrm>
          <a:prstGeom prst="rect">
            <a:avLst/>
          </a:prstGeom>
          <a:ln>
            <a:solidFill>
              <a:srgbClr val="A71E25"/>
            </a:solidFill>
          </a:ln>
        </p:spPr>
        <p:txBody>
          <a:bodyPr wrap="square">
            <a:spAutoFit/>
          </a:bodyPr>
          <a:lstStyle/>
          <a:p>
            <a:pPr marL="285750" indent="-285750" algn="just">
              <a:lnSpc>
                <a:spcPct val="150000"/>
              </a:lnSpc>
              <a:buFont typeface="Arial" panose="020B0604020202020204" pitchFamily="34" charset="0"/>
              <a:buChar char="•"/>
            </a:pPr>
            <a:r>
              <a:rPr lang="en-IN" spc="10" dirty="0">
                <a:latin typeface="Times New Roman" panose="02020603050405020304" pitchFamily="18" charset="0"/>
                <a:ea typeface="Times New Roman" panose="02020603050405020304" pitchFamily="18" charset="0"/>
                <a:cs typeface="Times New Roman" panose="02020603050405020304" pitchFamily="18" charset="0"/>
              </a:rPr>
              <a:t>In admission policy a mechanism should be used to prevent congestion. Switches in a flow should first check the resource requirement of a network flow before transmitting it further. If there is a chance of a congestion or there is a congestion in the network, </a:t>
            </a:r>
            <a:r>
              <a:rPr lang="en-IN" spc="10" dirty="0">
                <a:solidFill>
                  <a:srgbClr val="A71E25"/>
                </a:solidFill>
                <a:latin typeface="Times New Roman" panose="02020603050405020304" pitchFamily="18" charset="0"/>
                <a:ea typeface="Times New Roman" panose="02020603050405020304" pitchFamily="18" charset="0"/>
                <a:cs typeface="Times New Roman" panose="02020603050405020304" pitchFamily="18" charset="0"/>
              </a:rPr>
              <a:t>router should deny establishing a virtual network connection to prevent further congestion</a:t>
            </a:r>
          </a:p>
        </p:txBody>
      </p:sp>
      <p:sp>
        <p:nvSpPr>
          <p:cNvPr id="4" name="Rectangle 3"/>
          <p:cNvSpPr/>
          <p:nvPr/>
        </p:nvSpPr>
        <p:spPr>
          <a:xfrm>
            <a:off x="1314734" y="4876487"/>
            <a:ext cx="10449636" cy="369332"/>
          </a:xfrm>
          <a:prstGeom prst="rect">
            <a:avLst/>
          </a:prstGeom>
        </p:spPr>
        <p:txBody>
          <a:bodyPr wrap="square">
            <a:spAutoFit/>
          </a:bodyPr>
          <a:lstStyle/>
          <a:p>
            <a:r>
              <a:rPr lang="en-IN" b="1" spc="10" dirty="0">
                <a:solidFill>
                  <a:srgbClr val="FF0000"/>
                </a:solidFill>
                <a:latin typeface="Cambria" panose="02040503050406030204" pitchFamily="18" charset="0"/>
                <a:ea typeface="Cambria" panose="02040503050406030204" pitchFamily="18" charset="0"/>
              </a:rPr>
              <a:t>All the above policies are adopted to prevent congestion before it happens in the network</a:t>
            </a:r>
            <a:endParaRPr lang="en-IN" b="1"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86680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D662-2F04-9524-2FA2-F36908CDAB89}"/>
              </a:ext>
            </a:extLst>
          </p:cNvPr>
          <p:cNvSpPr>
            <a:spLocks noGrp="1"/>
          </p:cNvSpPr>
          <p:nvPr>
            <p:ph type="title"/>
          </p:nvPr>
        </p:nvSpPr>
        <p:spPr>
          <a:xfrm>
            <a:off x="1097280" y="2419349"/>
            <a:ext cx="10058400" cy="1085851"/>
          </a:xfrm>
        </p:spPr>
        <p:txBody>
          <a:bodyPr>
            <a:normAutofit/>
          </a:bodyPr>
          <a:lstStyle/>
          <a:p>
            <a:pPr algn="ctr"/>
            <a:r>
              <a:rPr lang="en-IN" b="1" dirty="0">
                <a:solidFill>
                  <a:srgbClr val="C00000"/>
                </a:solidFill>
              </a:rPr>
              <a:t>Closed Loop Congestion Control</a:t>
            </a:r>
          </a:p>
        </p:txBody>
      </p:sp>
    </p:spTree>
    <p:extLst>
      <p:ext uri="{BB962C8B-B14F-4D97-AF65-F5344CB8AC3E}">
        <p14:creationId xmlns:p14="http://schemas.microsoft.com/office/powerpoint/2010/main" val="1533816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4" name="Text Box 4"/>
          <p:cNvSpPr txBox="1">
            <a:spLocks noChangeArrowheads="1"/>
          </p:cNvSpPr>
          <p:nvPr/>
        </p:nvSpPr>
        <p:spPr bwMode="auto">
          <a:xfrm>
            <a:off x="3707810" y="1110415"/>
            <a:ext cx="4370171" cy="461665"/>
          </a:xfrm>
          <a:prstGeom prst="rect">
            <a:avLst/>
          </a:prstGeom>
          <a:solidFill>
            <a:srgbClr val="A71E25"/>
          </a:solidFill>
          <a:ln w="9525">
            <a:solidFill>
              <a:schemeClr val="tx1"/>
            </a:solidFill>
            <a:miter lim="800000"/>
            <a:headEnd/>
            <a:tailEnd/>
          </a:ln>
          <a:effectLst/>
        </p:spPr>
        <p:txBody>
          <a:bodyPr wrap="none">
            <a:spAutoFit/>
          </a:bodyPr>
          <a:lstStyle/>
          <a:p>
            <a:pPr eaLnBrk="0" fontAlgn="base" hangingPunct="0">
              <a:spcBef>
                <a:spcPct val="0"/>
              </a:spcBef>
              <a:spcAft>
                <a:spcPct val="0"/>
              </a:spcAft>
            </a:pPr>
            <a:r>
              <a:rPr lang="en-US" altLang="en-US" sz="2400" b="1" dirty="0">
                <a:solidFill>
                  <a:schemeClr val="bg1"/>
                </a:solidFill>
                <a:latin typeface="Cambria" panose="02040503050406030204" pitchFamily="18" charset="0"/>
                <a:ea typeface="Cambria" panose="02040503050406030204" pitchFamily="18" charset="0"/>
              </a:rPr>
              <a:t>Congestion control categories</a:t>
            </a:r>
          </a:p>
        </p:txBody>
      </p:sp>
      <p:sp>
        <p:nvSpPr>
          <p:cNvPr id="6" name="Rectangle 5"/>
          <p:cNvSpPr/>
          <p:nvPr/>
        </p:nvSpPr>
        <p:spPr>
          <a:xfrm>
            <a:off x="1380701" y="1790971"/>
            <a:ext cx="9621671" cy="55182"/>
          </a:xfrm>
          <a:prstGeom prst="rect">
            <a:avLst/>
          </a:prstGeom>
          <a:solidFill>
            <a:srgbClr val="A71E25"/>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4" name="Picture 3">
            <a:extLst>
              <a:ext uri="{FF2B5EF4-FFF2-40B4-BE49-F238E27FC236}">
                <a16:creationId xmlns:a16="http://schemas.microsoft.com/office/drawing/2014/main" id="{88C6D3E4-C8C5-33FE-1D56-F84EAA4FB502}"/>
              </a:ext>
            </a:extLst>
          </p:cNvPr>
          <p:cNvPicPr>
            <a:picLocks noChangeAspect="1"/>
          </p:cNvPicPr>
          <p:nvPr/>
        </p:nvPicPr>
        <p:blipFill>
          <a:blip r:embed="rId3"/>
          <a:stretch>
            <a:fillRect/>
          </a:stretch>
        </p:blipFill>
        <p:spPr>
          <a:xfrm>
            <a:off x="4792052" y="2120226"/>
            <a:ext cx="7247548" cy="3488031"/>
          </a:xfrm>
          <a:prstGeom prst="rect">
            <a:avLst/>
          </a:prstGeom>
        </p:spPr>
      </p:pic>
      <p:sp>
        <p:nvSpPr>
          <p:cNvPr id="7" name="TextBox 6">
            <a:extLst>
              <a:ext uri="{FF2B5EF4-FFF2-40B4-BE49-F238E27FC236}">
                <a16:creationId xmlns:a16="http://schemas.microsoft.com/office/drawing/2014/main" id="{F67A66F1-5B74-5E5B-4148-70A301C60CB0}"/>
              </a:ext>
            </a:extLst>
          </p:cNvPr>
          <p:cNvSpPr txBox="1"/>
          <p:nvPr/>
        </p:nvSpPr>
        <p:spPr>
          <a:xfrm>
            <a:off x="152400" y="2619196"/>
            <a:ext cx="4152900" cy="2862322"/>
          </a:xfrm>
          <a:prstGeom prst="rect">
            <a:avLst/>
          </a:prstGeom>
          <a:noFill/>
        </p:spPr>
        <p:txBody>
          <a:bodyPr wrap="square">
            <a:spAutoFit/>
          </a:bodyPr>
          <a:lstStyle/>
          <a:p>
            <a:pPr marL="285750" indent="-285750" algn="just" fontAlgn="base">
              <a:buFont typeface="Wingdings" panose="05000000000000000000" pitchFamily="2" charset="2"/>
              <a:buChar char="Ø"/>
            </a:pPr>
            <a:r>
              <a:rPr lang="en-US" sz="2000" i="0" dirty="0">
                <a:solidFill>
                  <a:schemeClr val="tx2">
                    <a:lumMod val="50000"/>
                  </a:schemeClr>
                </a:solidFill>
                <a:effectLst/>
                <a:latin typeface="Times New Roman" panose="02020603050405020304" pitchFamily="18" charset="0"/>
                <a:ea typeface="Cambria" panose="02040503050406030204" pitchFamily="18" charset="0"/>
                <a:cs typeface="Times New Roman" panose="02020603050405020304" pitchFamily="18" charset="0"/>
              </a:rPr>
              <a:t>Closed loop congestion control techniques are used to treat or alleviate congestion after it happens. </a:t>
            </a:r>
          </a:p>
          <a:p>
            <a:pPr marL="285750" indent="-285750" algn="just" fontAlgn="base">
              <a:buFont typeface="Wingdings" panose="05000000000000000000" pitchFamily="2" charset="2"/>
              <a:buChar char="Ø"/>
            </a:pPr>
            <a:endParaRPr lang="en-US" sz="2000" i="0" dirty="0">
              <a:solidFill>
                <a:schemeClr val="tx2">
                  <a:lumMod val="50000"/>
                </a:schemeClr>
              </a:solidFill>
              <a:effectLst/>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fontAlgn="base">
              <a:buFont typeface="Wingdings" panose="05000000000000000000" pitchFamily="2" charset="2"/>
              <a:buChar char="Ø"/>
            </a:pPr>
            <a:endParaRPr lang="en-US" sz="2000" i="0" dirty="0">
              <a:solidFill>
                <a:schemeClr val="tx2">
                  <a:lumMod val="50000"/>
                </a:schemeClr>
              </a:solidFill>
              <a:effectLst/>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fontAlgn="base">
              <a:buFont typeface="Wingdings" panose="05000000000000000000" pitchFamily="2" charset="2"/>
              <a:buChar char="Ø"/>
            </a:pPr>
            <a:r>
              <a:rPr lang="en-US" sz="2000" i="0" dirty="0">
                <a:solidFill>
                  <a:schemeClr val="tx2">
                    <a:lumMod val="50000"/>
                  </a:schemeClr>
                </a:solidFill>
                <a:effectLst/>
                <a:latin typeface="Times New Roman" panose="02020603050405020304" pitchFamily="18" charset="0"/>
                <a:ea typeface="Cambria" panose="02040503050406030204" pitchFamily="18" charset="0"/>
                <a:cs typeface="Times New Roman" panose="02020603050405020304" pitchFamily="18" charset="0"/>
              </a:rPr>
              <a:t>Several techniques are used by different protocols; some of them are</a:t>
            </a:r>
            <a:r>
              <a:rPr lang="en-US" sz="20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 listed here.</a:t>
            </a:r>
            <a:endParaRPr lang="en-US" sz="2000" i="0" dirty="0">
              <a:solidFill>
                <a:schemeClr val="tx2">
                  <a:lumMod val="50000"/>
                </a:schemeClr>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798155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47B7EE6-5945-B89E-9BEE-54EC11BAA719}"/>
              </a:ext>
            </a:extLst>
          </p:cNvPr>
          <p:cNvSpPr>
            <a:spLocks noGrp="1" noChangeArrowheads="1"/>
          </p:cNvSpPr>
          <p:nvPr>
            <p:ph type="title"/>
          </p:nvPr>
        </p:nvSpPr>
        <p:spPr>
          <a:xfrm>
            <a:off x="1019175" y="1076326"/>
            <a:ext cx="9144000" cy="390525"/>
          </a:xfrm>
        </p:spPr>
        <p:txBody>
          <a:bodyPr>
            <a:normAutofit fontScale="90000"/>
          </a:bodyPr>
          <a:lstStyle/>
          <a:p>
            <a:pPr algn="l" eaLnBrk="1" hangingPunct="1"/>
            <a:r>
              <a:rPr lang="en-US" altLang="en-US" sz="4000" b="1" dirty="0">
                <a:solidFill>
                  <a:srgbClr val="A71E25"/>
                </a:solidFill>
                <a:latin typeface="+mn-lt"/>
              </a:rPr>
              <a:t>1. Choke Packets</a:t>
            </a:r>
          </a:p>
        </p:txBody>
      </p:sp>
      <p:sp>
        <p:nvSpPr>
          <p:cNvPr id="10243" name="TextBox 4">
            <a:extLst>
              <a:ext uri="{FF2B5EF4-FFF2-40B4-BE49-F238E27FC236}">
                <a16:creationId xmlns:a16="http://schemas.microsoft.com/office/drawing/2014/main" id="{A4BE858D-35E4-3226-6CF4-1861FD4E6A3B}"/>
              </a:ext>
            </a:extLst>
          </p:cNvPr>
          <p:cNvSpPr txBox="1">
            <a:spLocks noChangeArrowheads="1"/>
          </p:cNvSpPr>
          <p:nvPr/>
        </p:nvSpPr>
        <p:spPr bwMode="auto">
          <a:xfrm>
            <a:off x="476249" y="2519364"/>
            <a:ext cx="667702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buFont typeface="Wingdings" panose="05000000000000000000" pitchFamily="2" charset="2"/>
              <a:buChar char="Ø"/>
            </a:pPr>
            <a:r>
              <a:rPr lang="en-US" altLang="en-US" dirty="0">
                <a:latin typeface="Times-Roman"/>
              </a:rPr>
              <a:t>The most direct way to notify a sender of congestion is to tell it directly. </a:t>
            </a:r>
          </a:p>
          <a:p>
            <a:pPr algn="just">
              <a:buFont typeface="Wingdings" panose="05000000000000000000" pitchFamily="2" charset="2"/>
              <a:buChar char="Ø"/>
            </a:pPr>
            <a:endParaRPr lang="en-US" altLang="en-US" dirty="0">
              <a:latin typeface="Times-Roman"/>
            </a:endParaRPr>
          </a:p>
          <a:p>
            <a:pPr algn="just">
              <a:buFont typeface="Wingdings" panose="05000000000000000000" pitchFamily="2" charset="2"/>
              <a:buChar char="Ø"/>
            </a:pPr>
            <a:endParaRPr lang="en-US" altLang="en-US" dirty="0">
              <a:latin typeface="Times-Roman"/>
            </a:endParaRPr>
          </a:p>
          <a:p>
            <a:pPr algn="just">
              <a:buFont typeface="Wingdings" panose="05000000000000000000" pitchFamily="2" charset="2"/>
              <a:buChar char="Ø"/>
            </a:pPr>
            <a:r>
              <a:rPr lang="en-US" altLang="en-US" dirty="0">
                <a:latin typeface="Times-Roman"/>
              </a:rPr>
              <a:t>In this approach, the router selects a congested packet and sends a </a:t>
            </a:r>
            <a:r>
              <a:rPr lang="en-US" altLang="en-US" b="1" dirty="0">
                <a:latin typeface="Times-Bold"/>
              </a:rPr>
              <a:t>choke packet </a:t>
            </a:r>
            <a:r>
              <a:rPr lang="en-US" altLang="en-US" dirty="0">
                <a:latin typeface="Times-Roman"/>
              </a:rPr>
              <a:t>back to the source host, giving it the destination found in the packet.</a:t>
            </a:r>
          </a:p>
          <a:p>
            <a:pPr algn="just">
              <a:buFont typeface="Wingdings" panose="05000000000000000000" pitchFamily="2" charset="2"/>
              <a:buChar char="Ø"/>
            </a:pPr>
            <a:endParaRPr lang="en-US" altLang="en-US" dirty="0">
              <a:latin typeface="Times-Roman"/>
            </a:endParaRPr>
          </a:p>
          <a:p>
            <a:pPr algn="just">
              <a:buFont typeface="Wingdings" panose="05000000000000000000" pitchFamily="2" charset="2"/>
              <a:buChar char="Ø"/>
            </a:pPr>
            <a:endParaRPr lang="en-US" altLang="en-US" dirty="0">
              <a:latin typeface="Times-Roman"/>
            </a:endParaRPr>
          </a:p>
          <a:p>
            <a:pPr algn="just">
              <a:buFont typeface="Wingdings" panose="05000000000000000000" pitchFamily="2" charset="2"/>
              <a:buChar char="Ø"/>
            </a:pPr>
            <a:r>
              <a:rPr lang="en-US" altLang="en-US" dirty="0">
                <a:latin typeface="Times-Roman"/>
              </a:rPr>
              <a:t>When the source host gets the choke packet, it is required to reduce the traffic sent to the specified destination, for example, by 50%.</a:t>
            </a:r>
            <a:endParaRPr lang="en-US" altLang="en-US" sz="2000" dirty="0"/>
          </a:p>
        </p:txBody>
      </p:sp>
      <p:pic>
        <p:nvPicPr>
          <p:cNvPr id="10244" name="Picture 2">
            <a:extLst>
              <a:ext uri="{FF2B5EF4-FFF2-40B4-BE49-F238E27FC236}">
                <a16:creationId xmlns:a16="http://schemas.microsoft.com/office/drawing/2014/main" id="{6881CF4A-B27E-9EAB-0F41-DBC5E9AF0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7174" y="0"/>
            <a:ext cx="34004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8704CE3-A711-5C2C-0019-0976413A8AC0}"/>
              </a:ext>
            </a:extLst>
          </p:cNvPr>
          <p:cNvSpPr>
            <a:spLocks noGrp="1" noChangeArrowheads="1"/>
          </p:cNvSpPr>
          <p:nvPr>
            <p:ph type="title"/>
          </p:nvPr>
        </p:nvSpPr>
        <p:spPr>
          <a:xfrm>
            <a:off x="1905000" y="895351"/>
            <a:ext cx="9144000" cy="390525"/>
          </a:xfrm>
        </p:spPr>
        <p:txBody>
          <a:bodyPr>
            <a:normAutofit fontScale="90000"/>
          </a:bodyPr>
          <a:lstStyle/>
          <a:p>
            <a:pPr algn="l" eaLnBrk="1" hangingPunct="1"/>
            <a:r>
              <a:rPr lang="en-US" altLang="en-US" sz="4000" b="1" dirty="0">
                <a:solidFill>
                  <a:srgbClr val="A71E25"/>
                </a:solidFill>
                <a:latin typeface="+mn-lt"/>
              </a:rPr>
              <a:t>2.ECN (Explicit Congestion Notification)</a:t>
            </a:r>
          </a:p>
        </p:txBody>
      </p:sp>
      <p:sp>
        <p:nvSpPr>
          <p:cNvPr id="11267" name="TextBox 4">
            <a:extLst>
              <a:ext uri="{FF2B5EF4-FFF2-40B4-BE49-F238E27FC236}">
                <a16:creationId xmlns:a16="http://schemas.microsoft.com/office/drawing/2014/main" id="{6667979A-8197-E8D6-22B8-DA43E97935D2}"/>
              </a:ext>
            </a:extLst>
          </p:cNvPr>
          <p:cNvSpPr txBox="1">
            <a:spLocks noChangeArrowheads="1"/>
          </p:cNvSpPr>
          <p:nvPr/>
        </p:nvSpPr>
        <p:spPr bwMode="auto">
          <a:xfrm>
            <a:off x="257175" y="1760538"/>
            <a:ext cx="1118234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lgn="just">
              <a:buFont typeface="Wingdings" panose="05000000000000000000" pitchFamily="2" charset="2"/>
              <a:buChar char="Ø"/>
            </a:pPr>
            <a:r>
              <a:rPr lang="en-US" altLang="en-US" sz="2000" dirty="0">
                <a:latin typeface="Times-Roman"/>
              </a:rPr>
              <a:t>Used in internet. </a:t>
            </a: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r>
              <a:rPr lang="en-US" altLang="en-US" sz="2000" dirty="0">
                <a:latin typeface="Times-Roman"/>
              </a:rPr>
              <a:t>Instead of generating additional packets to warn of congestion, a router can tag any packet it forwards (by setting a bit in the packet’s header) to signal that it is experiencing congestion. </a:t>
            </a: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r>
              <a:rPr lang="en-US" altLang="en-US" sz="2000" dirty="0">
                <a:latin typeface="Times-Roman"/>
              </a:rPr>
              <a:t>When the network delivers the packet, the destination can note that there is congestion and inform the sender when it sends a reply packet.</a:t>
            </a: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r>
              <a:rPr lang="en-US" altLang="en-US" sz="2000" dirty="0">
                <a:latin typeface="Times-Roman"/>
              </a:rPr>
              <a:t>The sender can then throttle its transmissions.</a:t>
            </a:r>
          </a:p>
        </p:txBody>
      </p:sp>
      <p:pic>
        <p:nvPicPr>
          <p:cNvPr id="11268" name="Picture 3">
            <a:extLst>
              <a:ext uri="{FF2B5EF4-FFF2-40B4-BE49-F238E27FC236}">
                <a16:creationId xmlns:a16="http://schemas.microsoft.com/office/drawing/2014/main" id="{24B3FE20-A903-3071-7610-1CB8855B08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0675" y="3995678"/>
            <a:ext cx="679132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1477CD6-0D06-2023-E977-A2DF73C11AE2}"/>
              </a:ext>
            </a:extLst>
          </p:cNvPr>
          <p:cNvSpPr>
            <a:spLocks noGrp="1" noChangeArrowheads="1"/>
          </p:cNvSpPr>
          <p:nvPr>
            <p:ph type="title"/>
          </p:nvPr>
        </p:nvSpPr>
        <p:spPr>
          <a:xfrm>
            <a:off x="714375" y="710804"/>
            <a:ext cx="9144000" cy="390525"/>
          </a:xfrm>
        </p:spPr>
        <p:txBody>
          <a:bodyPr>
            <a:noAutofit/>
          </a:bodyPr>
          <a:lstStyle/>
          <a:p>
            <a:pPr algn="l" eaLnBrk="1" hangingPunct="1"/>
            <a:r>
              <a:rPr lang="en-US" altLang="en-US" sz="3600" b="1" dirty="0">
                <a:solidFill>
                  <a:srgbClr val="A71E25"/>
                </a:solidFill>
                <a:latin typeface="+mn-lt"/>
              </a:rPr>
              <a:t>3.Hop-by-Hop Backpressure</a:t>
            </a:r>
          </a:p>
        </p:txBody>
      </p:sp>
      <p:sp>
        <p:nvSpPr>
          <p:cNvPr id="12291" name="TextBox 4">
            <a:extLst>
              <a:ext uri="{FF2B5EF4-FFF2-40B4-BE49-F238E27FC236}">
                <a16:creationId xmlns:a16="http://schemas.microsoft.com/office/drawing/2014/main" id="{DA946408-3853-6B8D-5C3D-621F3984F648}"/>
              </a:ext>
            </a:extLst>
          </p:cNvPr>
          <p:cNvSpPr txBox="1">
            <a:spLocks noChangeArrowheads="1"/>
          </p:cNvSpPr>
          <p:nvPr/>
        </p:nvSpPr>
        <p:spPr bwMode="auto">
          <a:xfrm>
            <a:off x="590550" y="2045465"/>
            <a:ext cx="707707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lgn="just">
              <a:buFont typeface="Wingdings" panose="05000000000000000000" pitchFamily="2" charset="2"/>
              <a:buChar char="Ø"/>
            </a:pPr>
            <a:r>
              <a:rPr lang="en-US" altLang="en-US" sz="2000" dirty="0">
                <a:latin typeface="Times-Roman"/>
              </a:rPr>
              <a:t>At high speeds or over long distances, many new packets may be transmitted after congestion has been signaled because of the delay before the signal takes effect.</a:t>
            </a: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r>
              <a:rPr lang="en-US" altLang="en-US" sz="2000" dirty="0">
                <a:latin typeface="Times-Roman"/>
              </a:rPr>
              <a:t>An ECN indication will take even longer because it is delivered via the destination.</a:t>
            </a: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endParaRPr lang="en-US" altLang="en-US" sz="2000" dirty="0">
              <a:latin typeface="Times-Roman"/>
            </a:endParaRPr>
          </a:p>
          <a:p>
            <a:pPr marL="342900" indent="-342900" algn="just">
              <a:buFont typeface="Wingdings" panose="05000000000000000000" pitchFamily="2" charset="2"/>
              <a:buChar char="Ø"/>
            </a:pPr>
            <a:r>
              <a:rPr lang="en-US" altLang="en-US" sz="2000" dirty="0">
                <a:latin typeface="Times-Roman"/>
              </a:rPr>
              <a:t>An alternative approach(Hop-by-Hop) is to have the choke packet take effect at every hop it passes through</a:t>
            </a:r>
            <a:endParaRPr lang="en-US" altLang="en-US" sz="2400" dirty="0"/>
          </a:p>
        </p:txBody>
      </p:sp>
      <p:pic>
        <p:nvPicPr>
          <p:cNvPr id="12292" name="Picture 3">
            <a:extLst>
              <a:ext uri="{FF2B5EF4-FFF2-40B4-BE49-F238E27FC236}">
                <a16:creationId xmlns:a16="http://schemas.microsoft.com/office/drawing/2014/main" id="{502E9DF2-7A1D-0904-B7B7-BF19C7206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9225" y="95251"/>
            <a:ext cx="4422775" cy="676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–Network Protocols and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393</TotalTime>
  <Words>1245</Words>
  <Application>Microsoft Office PowerPoint</Application>
  <PresentationFormat>Widescreen</PresentationFormat>
  <Paragraphs>122</Paragraphs>
  <Slides>19</Slides>
  <Notes>13</Notes>
  <HiddenSlides>3</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19</vt:i4>
      </vt:variant>
    </vt:vector>
  </HeadingPairs>
  <TitlesOfParts>
    <vt:vector size="32" baseType="lpstr">
      <vt:lpstr>Adobe Garamond Pro Bold</vt:lpstr>
      <vt:lpstr>Aptos</vt:lpstr>
      <vt:lpstr>Arial</vt:lpstr>
      <vt:lpstr>BioRhyme ExtraBold</vt:lpstr>
      <vt:lpstr>Calibri</vt:lpstr>
      <vt:lpstr>Calibri Light</vt:lpstr>
      <vt:lpstr>Cambria</vt:lpstr>
      <vt:lpstr>Poppins</vt:lpstr>
      <vt:lpstr>Times New Roman</vt:lpstr>
      <vt:lpstr>Times-Bold</vt:lpstr>
      <vt:lpstr>Times-Roman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Open Loop Congestion Control</vt:lpstr>
      <vt:lpstr>PowerPoint Presentation</vt:lpstr>
      <vt:lpstr>PowerPoint Presentation</vt:lpstr>
      <vt:lpstr>PowerPoint Presentation</vt:lpstr>
      <vt:lpstr>Closed Loop Congestion Control</vt:lpstr>
      <vt:lpstr>PowerPoint Presentation</vt:lpstr>
      <vt:lpstr>1. Choke Packets</vt:lpstr>
      <vt:lpstr>2.ECN (Explicit Congestion Notification)</vt:lpstr>
      <vt:lpstr>3.Hop-by-Hop Backpressure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NAT implementation</dc:title>
  <dc:creator>preetham chiramana</dc:creator>
  <cp:lastModifiedBy>GORLA VENKATA GANESH</cp:lastModifiedBy>
  <cp:revision>66</cp:revision>
  <dcterms:created xsi:type="dcterms:W3CDTF">2020-11-27T17:03:30Z</dcterms:created>
  <dcterms:modified xsi:type="dcterms:W3CDTF">2025-12-17T06:50:06Z</dcterms:modified>
</cp:coreProperties>
</file>