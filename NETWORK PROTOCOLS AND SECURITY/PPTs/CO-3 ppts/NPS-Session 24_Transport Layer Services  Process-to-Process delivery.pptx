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</p:sldMasterIdLst>
  <p:notesMasterIdLst>
    <p:notesMasterId r:id="rId13"/>
  </p:notesMasterIdLst>
  <p:sldIdLst>
    <p:sldId id="271" r:id="rId2"/>
    <p:sldId id="257" r:id="rId3"/>
    <p:sldId id="258" r:id="rId4"/>
    <p:sldId id="259" r:id="rId5"/>
    <p:sldId id="265" r:id="rId6"/>
    <p:sldId id="266" r:id="rId7"/>
    <p:sldId id="840" r:id="rId8"/>
    <p:sldId id="268" r:id="rId9"/>
    <p:sldId id="272" r:id="rId10"/>
    <p:sldId id="273" r:id="rId11"/>
    <p:sldId id="304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74AB80-D52C-4BC5-A318-9957F559669C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C356A1-FF8F-4F33-877A-3F66CC94892A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163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244303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6FA21652-50DF-CA53-737A-B574B2DEDF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50C64E-2374-4ADD-B349-FE06993D2568}" type="slidenum">
              <a:rPr lang="en-US" altLang="en-US" sz="1200" b="0" baseline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AF717641-B70E-2B8F-01A3-1A5BC1C61544}"/>
              </a:ext>
            </a:extLst>
          </p:cNvPr>
          <p:cNvSpPr>
            <a:spLocks noRo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E48ACDC8-88A0-AA36-D2B8-A973CF9C78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215018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916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00002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6400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752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61407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90906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9123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65267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49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5758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1_Title and Conte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7"/>
          <p:cNvSpPr>
            <a:spLocks noGrp="1"/>
          </p:cNvSpPr>
          <p:nvPr>
            <p:ph type="pic" idx="2"/>
          </p:nvPr>
        </p:nvSpPr>
        <p:spPr>
          <a:xfrm>
            <a:off x="0" y="0"/>
            <a:ext cx="5467350" cy="5987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2127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5B2125-68AE-4292-BFAC-A6FA3EACBA97}" type="datetimeFigureOut">
              <a:rPr lang="en-IN" smtClean="0"/>
              <a:pPr/>
              <a:t>27-02-2026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285678DB-EBE9-4DFA-8B86-ED495AE1F12C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4711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398423B-5803-30F8-31C4-BF716BD7197E}"/>
              </a:ext>
            </a:extLst>
          </p:cNvPr>
          <p:cNvSpPr/>
          <p:nvPr/>
        </p:nvSpPr>
        <p:spPr>
          <a:xfrm>
            <a:off x="-1" y="0"/>
            <a:ext cx="12192000" cy="68580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4" name="Google Shape;464;p16"/>
          <p:cNvPicPr preferRelativeResize="0"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40" y="45719"/>
            <a:ext cx="6027459" cy="6623931"/>
          </a:xfrm>
          <a:prstGeom prst="rect">
            <a:avLst/>
          </a:prstGeom>
          <a:noFill/>
          <a:ln>
            <a:noFill/>
          </a:ln>
        </p:spPr>
      </p:pic>
      <p:sp>
        <p:nvSpPr>
          <p:cNvPr id="476" name="Google Shape;476;p16"/>
          <p:cNvSpPr txBox="1"/>
          <p:nvPr/>
        </p:nvSpPr>
        <p:spPr>
          <a:xfrm>
            <a:off x="5394455" y="1933408"/>
            <a:ext cx="6729005" cy="32316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cap="all" dirty="0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Network protocols &amp; security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ln/>
                <a:solidFill>
                  <a:srgbClr val="C00000"/>
                </a:solidFill>
                <a:cs typeface="Poppins" panose="00000500000000000000" pitchFamily="2" charset="0"/>
                <a:sym typeface="BioRhyme ExtraBold"/>
              </a:rPr>
              <a:t>24EC2210</a:t>
            </a:r>
            <a:endParaRPr lang="en-US" sz="2000" b="1" dirty="0">
              <a:solidFill>
                <a:schemeClr val="bg1">
                  <a:lumMod val="50000"/>
                </a:schemeClr>
              </a:solidFill>
              <a:ea typeface="BioRhyme ExtraBold"/>
              <a:cs typeface="Poppins" panose="00000500000000000000" pitchFamily="2" charset="0"/>
              <a:sym typeface="BioRhyme ExtraBold"/>
            </a:endParaRP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chemeClr val="bg1">
                    <a:lumMod val="50000"/>
                  </a:schemeClr>
                </a:solidFill>
                <a:ea typeface="BioRhyme ExtraBold"/>
                <a:cs typeface="Poppins" panose="00000500000000000000" pitchFamily="2" charset="0"/>
                <a:sym typeface="BioRhyme ExtraBold"/>
              </a:rPr>
              <a:t>Topic: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Transport layer: services </a:t>
            </a:r>
          </a:p>
          <a:p>
            <a:pPr marR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cap="all" dirty="0">
                <a:ln/>
                <a:solidFill>
                  <a:srgbClr val="C00000"/>
                </a:solidFill>
                <a:cs typeface="Poppins" panose="00000500000000000000" pitchFamily="2" charset="0"/>
              </a:rPr>
              <a:t>&amp; Process-to-process delivery</a:t>
            </a:r>
            <a:endParaRPr lang="en-US" sz="4000" b="1" dirty="0">
              <a:solidFill>
                <a:srgbClr val="C00000"/>
              </a:solidFill>
              <a:effectLst/>
              <a:cs typeface="Poppins" panose="00000500000000000000" pitchFamily="2" charset="0"/>
            </a:endParaRPr>
          </a:p>
        </p:txBody>
      </p:sp>
      <p:sp>
        <p:nvSpPr>
          <p:cNvPr id="8" name="Google Shape;502;p17">
            <a:extLst>
              <a:ext uri="{FF2B5EF4-FFF2-40B4-BE49-F238E27FC236}">
                <a16:creationId xmlns:a16="http://schemas.microsoft.com/office/drawing/2014/main" id="{7153E61F-4441-DBE3-3DFF-6E9EF6C48D23}"/>
              </a:ext>
            </a:extLst>
          </p:cNvPr>
          <p:cNvSpPr/>
          <p:nvPr/>
        </p:nvSpPr>
        <p:spPr>
          <a:xfrm>
            <a:off x="7737696" y="5627930"/>
            <a:ext cx="2235116" cy="453054"/>
          </a:xfrm>
          <a:prstGeom prst="roundRect">
            <a:avLst>
              <a:gd name="adj" fmla="val 35613"/>
            </a:avLst>
          </a:prstGeom>
          <a:solidFill>
            <a:srgbClr val="C00000"/>
          </a:solidFill>
          <a:ln>
            <a:noFill/>
          </a:ln>
          <a:effectLst>
            <a:outerShdw blurRad="190500" sx="102000" sy="102000" algn="ctr" rotWithShape="0">
              <a:srgbClr val="000000">
                <a:alpha val="24705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lt1"/>
                </a:solidFill>
                <a:ea typeface="Calibri"/>
                <a:cs typeface="Poppins" panose="00000500000000000000" pitchFamily="2" charset="0"/>
                <a:sym typeface="Calibri"/>
              </a:rPr>
              <a:t>Session - 24</a:t>
            </a:r>
            <a:endParaRPr sz="2400" dirty="0">
              <a:solidFill>
                <a:schemeClr val="lt1"/>
              </a:solidFill>
              <a:ea typeface="Calibri"/>
              <a:cs typeface="Poppins" panose="00000500000000000000" pitchFamily="2" charset="0"/>
              <a:sym typeface="Calibri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2BDCC77-0491-FC57-401C-380586D8ED1D}"/>
              </a:ext>
            </a:extLst>
          </p:cNvPr>
          <p:cNvSpPr/>
          <p:nvPr/>
        </p:nvSpPr>
        <p:spPr>
          <a:xfrm>
            <a:off x="0" y="6812281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8D9C68F-2EE2-5410-B640-4F43BF92A6C1}"/>
              </a:ext>
            </a:extLst>
          </p:cNvPr>
          <p:cNvSpPr/>
          <p:nvPr/>
        </p:nvSpPr>
        <p:spPr>
          <a:xfrm>
            <a:off x="0" y="0"/>
            <a:ext cx="12192000" cy="45719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2" descr="KL Deemed to be University Logo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22703" y="81945"/>
            <a:ext cx="2509863" cy="1061599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991" y="713451"/>
            <a:ext cx="11029616" cy="1231419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 to Process Delivery</a:t>
            </a:r>
            <a:r>
              <a:rPr lang="en-IN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br>
              <a:rPr lang="en-IN" sz="1800" dirty="0">
                <a:solidFill>
                  <a:srgbClr val="C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79" y="1845734"/>
            <a:ext cx="10437327" cy="4023360"/>
          </a:xfrm>
        </p:spPr>
        <p:txBody>
          <a:bodyPr>
            <a:normAutofit fontScale="92500" lnSpcReduction="20000"/>
          </a:bodyPr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data link layer is responsible for delivery of frames between two neighbouring nodes over a link. This is called 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Node-to-Node delivery. 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network layer is responsible for delivery of datagrams between two hosts. This is called 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Host-to-Host delivery. 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I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Real communication takes place between two processes (application programs). We need Process-to-Process delivery. 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24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transport layer is responsible for </a:t>
            </a:r>
            <a:r>
              <a:rPr lang="en-IN" sz="2400" b="1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Process-to-Process delivery</a:t>
            </a: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-the delivery of a packet, part of a message, from one process to another. </a:t>
            </a:r>
          </a:p>
          <a:p>
            <a:pPr marL="0" indent="0" algn="just">
              <a:buNone/>
            </a:pPr>
            <a:endParaRPr lang="en-IN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US" sz="2800" dirty="0"/>
          </a:p>
          <a:p>
            <a:pPr marL="0" indent="0" algn="just">
              <a:buNone/>
            </a:pP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3806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17986"/>
            <a:ext cx="10058400" cy="1178844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Types of Data </a:t>
            </a: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D</a:t>
            </a:r>
            <a:r>
              <a:rPr lang="en-IN" b="1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eliveries</a:t>
            </a:r>
            <a:br>
              <a:rPr lang="en-IN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en-IN" sz="27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Node-to-Node , Host-to-Host, Process-to-Process</a:t>
            </a:r>
            <a:endParaRPr lang="en-US" sz="4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083" y="1845734"/>
            <a:ext cx="10058400" cy="40233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 algn="just">
              <a:buNone/>
            </a:pPr>
            <a:r>
              <a:rPr lang="en-US" dirty="0"/>
              <a:t>	</a:t>
            </a:r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3</a:t>
            </a:fld>
            <a:endParaRPr lang="en-IN"/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17D007D6-5635-D6BF-A7F2-63627B913E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4728" y="2087521"/>
            <a:ext cx="9220996" cy="37815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7822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Client/Server Paradigm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910" y="2015732"/>
            <a:ext cx="11362534" cy="4156468"/>
          </a:xfrm>
        </p:spPr>
        <p:txBody>
          <a:bodyPr>
            <a:normAutofit lnSpcReduction="10000"/>
          </a:bodyPr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Although there are several ways to achieve process-to-process communication, the most common one is through the </a:t>
            </a:r>
            <a:r>
              <a:rPr lang="en-IN" sz="24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client/server </a:t>
            </a: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paradigm. </a:t>
            </a:r>
          </a:p>
          <a:p>
            <a:pPr marL="0" indent="0" algn="just">
              <a:buNone/>
            </a:pPr>
            <a:endParaRPr lang="en-IN" sz="24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 process on the local host, called a client, needs services from a process usually on the remote host, called a server. </a:t>
            </a:r>
          </a:p>
          <a:p>
            <a:pPr marL="1371600" lvl="3" indent="0" algn="just">
              <a:lnSpc>
                <a:spcPct val="150000"/>
              </a:lnSpc>
              <a:spcAft>
                <a:spcPts val="750"/>
              </a:spcAft>
              <a:buNone/>
            </a:pPr>
            <a:r>
              <a:rPr lang="en-IN" sz="19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1.    </a:t>
            </a:r>
            <a:r>
              <a:rPr lang="en-IN" sz="12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5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IN" sz="19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Local host</a:t>
            </a:r>
            <a:endParaRPr lang="en-IN" sz="19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3" indent="0" algn="just">
              <a:lnSpc>
                <a:spcPct val="150000"/>
              </a:lnSpc>
              <a:spcAft>
                <a:spcPts val="750"/>
              </a:spcAft>
              <a:buNone/>
            </a:pPr>
            <a:r>
              <a:rPr lang="en-IN" sz="19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2.     Local process</a:t>
            </a:r>
            <a:endParaRPr lang="en-IN" sz="19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3" indent="0" algn="just">
              <a:lnSpc>
                <a:spcPct val="150000"/>
              </a:lnSpc>
              <a:spcAft>
                <a:spcPts val="750"/>
              </a:spcAft>
              <a:buNone/>
            </a:pPr>
            <a:r>
              <a:rPr lang="en-IN" sz="19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3.     Remote host</a:t>
            </a:r>
            <a:endParaRPr lang="en-IN" sz="19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1371600" lvl="3" indent="0" algn="just">
              <a:lnSpc>
                <a:spcPct val="150000"/>
              </a:lnSpc>
              <a:spcAft>
                <a:spcPts val="750"/>
              </a:spcAft>
              <a:buNone/>
            </a:pPr>
            <a:r>
              <a:rPr lang="en-IN" sz="1900" b="1" dirty="0">
                <a:solidFill>
                  <a:srgbClr val="0070C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4.     Remote process</a:t>
            </a:r>
            <a:endParaRPr lang="en-IN" sz="1900" b="1" dirty="0">
              <a:solidFill>
                <a:srgbClr val="0070C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n-US" sz="2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4476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5</a:t>
            </a:fld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B0A44D9-4BA4-349C-0F01-95B87028EA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48070" y="18954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422646F-9E0B-8058-A887-C06AF36144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86140" y="2352675"/>
            <a:ext cx="5964840" cy="2353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4C5C09-1092-4F16-6663-12C41352ED06}"/>
              </a:ext>
            </a:extLst>
          </p:cNvPr>
          <p:cNvSpPr txBox="1"/>
          <p:nvPr/>
        </p:nvSpPr>
        <p:spPr>
          <a:xfrm>
            <a:off x="932208" y="2560351"/>
            <a:ext cx="393506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/>
              <a:t>In transport layer, the source and destination processes are identified by a </a:t>
            </a:r>
            <a:r>
              <a:rPr lang="en-US" sz="2000" dirty="0">
                <a:solidFill>
                  <a:srgbClr val="C00000"/>
                </a:solidFill>
              </a:rPr>
              <a:t>port number.</a:t>
            </a:r>
          </a:p>
        </p:txBody>
      </p:sp>
    </p:spTree>
    <p:extLst>
      <p:ext uri="{BB962C8B-B14F-4D97-AF65-F5344CB8AC3E}">
        <p14:creationId xmlns:p14="http://schemas.microsoft.com/office/powerpoint/2010/main" val="41845847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Addressing…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6</a:t>
            </a:fld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6275" y="2148252"/>
            <a:ext cx="5257800" cy="3450613"/>
          </a:xfrm>
        </p:spPr>
        <p:txBody>
          <a:bodyPr>
            <a:normAutofit/>
          </a:bodyPr>
          <a:lstStyle/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sz="1800" dirty="0">
                <a:solidFill>
                  <a:srgbClr val="C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IP addresses and port numbers </a:t>
            </a: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play different roles in selecting the final destination of data. 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IN" sz="1800" dirty="0">
              <a:solidFill>
                <a:srgbClr val="000000"/>
              </a:solidFill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The destination IP address defines the host among the different hosts in the world. </a:t>
            </a:r>
          </a:p>
          <a:p>
            <a:pPr marL="361950" indent="-361950" algn="just">
              <a:buFont typeface="Wingdings" panose="05000000000000000000" pitchFamily="2" charset="2"/>
              <a:buChar char="Ø"/>
            </a:pPr>
            <a:endParaRPr lang="en-IN" sz="18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1950" indent="-361950" algn="just"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After the host has been selected, the port number defines one of the processes on this particular host</a:t>
            </a:r>
            <a:r>
              <a:rPr lang="en-IN" sz="18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pic>
        <p:nvPicPr>
          <p:cNvPr id="5" name="Picture 6">
            <a:extLst>
              <a:ext uri="{FF2B5EF4-FFF2-40B4-BE49-F238E27FC236}">
                <a16:creationId xmlns:a16="http://schemas.microsoft.com/office/drawing/2014/main" id="{AF584136-33DE-7826-036C-DB7540DAD1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599" y="1962962"/>
            <a:ext cx="5092823" cy="4119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7675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Slide Number Placeholder 1">
            <a:extLst>
              <a:ext uri="{FF2B5EF4-FFF2-40B4-BE49-F238E27FC236}">
                <a16:creationId xmlns:a16="http://schemas.microsoft.com/office/drawing/2014/main" id="{7AE1C1F0-2D6A-4C7D-87D7-A7AE5D3FB2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000" baseline="0">
                <a:solidFill>
                  <a:schemeClr val="bg2"/>
                </a:solidFill>
              </a:rPr>
              <a:t>23.</a:t>
            </a:r>
            <a:fld id="{59A8D22A-6275-4B5E-A459-1C8C3CC686BD}" type="slidenum">
              <a:rPr lang="en-US" altLang="en-US" sz="2000" baseline="0">
                <a:solidFill>
                  <a:schemeClr val="bg2"/>
                </a:solidFill>
              </a:rPr>
              <a:pPr/>
              <a:t>7</a:t>
            </a:fld>
            <a:endParaRPr lang="en-US" altLang="en-US" sz="2000" baseline="0">
              <a:solidFill>
                <a:schemeClr val="bg2"/>
              </a:solidFill>
            </a:endParaRPr>
          </a:p>
        </p:txBody>
      </p:sp>
      <p:sp>
        <p:nvSpPr>
          <p:cNvPr id="9219" name="Line 2">
            <a:extLst>
              <a:ext uri="{FF2B5EF4-FFF2-40B4-BE49-F238E27FC236}">
                <a16:creationId xmlns:a16="http://schemas.microsoft.com/office/drawing/2014/main" id="{EB1DA20F-D937-8D1C-7FA7-D6C51676878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Line 3">
            <a:extLst>
              <a:ext uri="{FF2B5EF4-FFF2-40B4-BE49-F238E27FC236}">
                <a16:creationId xmlns:a16="http://schemas.microsoft.com/office/drawing/2014/main" id="{4212A706-D461-7383-E03F-31AD04DE1E65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Text Box 4">
            <a:extLst>
              <a:ext uri="{FF2B5EF4-FFF2-40B4-BE49-F238E27FC236}">
                <a16:creationId xmlns:a16="http://schemas.microsoft.com/office/drawing/2014/main" id="{18181820-79BC-D8CF-57E9-68DDE0FB382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1" y="381001"/>
            <a:ext cx="78406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Figure 23.4  </a:t>
            </a:r>
            <a:r>
              <a:rPr lang="en-US" altLang="en-US" sz="2000" i="1" baseline="0">
                <a:latin typeface="Times New Roman" panose="02020603050405020304" pitchFamily="18" charset="0"/>
              </a:rPr>
              <a:t>IANA (</a:t>
            </a:r>
            <a:r>
              <a:rPr lang="en-US" altLang="en-US" sz="2000" baseline="0"/>
              <a:t>Internet Assigned Number Authority)</a:t>
            </a:r>
            <a:r>
              <a:rPr lang="en-US" altLang="en-US" sz="2000" i="1" baseline="0">
                <a:latin typeface="Times New Roman" panose="02020603050405020304" pitchFamily="18" charset="0"/>
              </a:rPr>
              <a:t> ranges</a:t>
            </a:r>
          </a:p>
        </p:txBody>
      </p:sp>
      <p:sp>
        <p:nvSpPr>
          <p:cNvPr id="9222" name="Line 5">
            <a:extLst>
              <a:ext uri="{FF2B5EF4-FFF2-40B4-BE49-F238E27FC236}">
                <a16:creationId xmlns:a16="http://schemas.microsoft.com/office/drawing/2014/main" id="{E07A3F94-7C93-05D9-2516-53DC62658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1676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pic>
        <p:nvPicPr>
          <p:cNvPr id="9223" name="Picture 6">
            <a:extLst>
              <a:ext uri="{FF2B5EF4-FFF2-40B4-BE49-F238E27FC236}">
                <a16:creationId xmlns:a16="http://schemas.microsoft.com/office/drawing/2014/main" id="{C0B0F2AA-17D8-839E-397F-553760135B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2214" y="2457450"/>
            <a:ext cx="6910387" cy="1504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50000"/>
              </a:lnSpc>
              <a:spcAft>
                <a:spcPts val="750"/>
              </a:spcAft>
            </a:pPr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Socket Address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0F85BB3-E530-E983-9E75-B914A64AEEE2}"/>
              </a:ext>
            </a:extLst>
          </p:cNvPr>
          <p:cNvSpPr txBox="1"/>
          <p:nvPr/>
        </p:nvSpPr>
        <p:spPr>
          <a:xfrm>
            <a:off x="7222434" y="4200938"/>
            <a:ext cx="3339548" cy="4633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750"/>
              </a:spcAft>
            </a:pPr>
            <a:r>
              <a:rPr lang="en-IN" sz="18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FIG. SOCKET ADDRES</a:t>
            </a:r>
            <a:endParaRPr lang="en-IN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4C60BD-9655-8E12-3783-85619B745370}"/>
              </a:ext>
            </a:extLst>
          </p:cNvPr>
          <p:cNvSpPr txBox="1"/>
          <p:nvPr/>
        </p:nvSpPr>
        <p:spPr>
          <a:xfrm>
            <a:off x="932208" y="2560352"/>
            <a:ext cx="4593688" cy="2352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/>
              <a:t>A socket address is the combination of </a:t>
            </a:r>
            <a:r>
              <a:rPr lang="en-US" sz="2000" b="1" dirty="0"/>
              <a:t>an IP address </a:t>
            </a:r>
            <a:r>
              <a:rPr lang="en-US" sz="2000" dirty="0"/>
              <a:t>(the location of the computer) </a:t>
            </a:r>
            <a:r>
              <a:rPr lang="en-US" sz="2000" b="1" dirty="0"/>
              <a:t>and a port number </a:t>
            </a:r>
            <a:r>
              <a:rPr lang="en-US" sz="2000" dirty="0"/>
              <a:t>(which is mapped to the application program process) </a:t>
            </a:r>
            <a:r>
              <a:rPr lang="en-US" sz="2000" b="1" dirty="0"/>
              <a:t>into a single identity</a:t>
            </a: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CCF7AD-C2C3-34D2-78A1-E8A14B557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2657062"/>
            <a:ext cx="5163792" cy="15438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94912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86603"/>
            <a:ext cx="10203180" cy="1450757"/>
          </a:xfrm>
        </p:spPr>
        <p:txBody>
          <a:bodyPr/>
          <a:lstStyle/>
          <a:p>
            <a:r>
              <a:rPr lang="en-IN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Services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5FD489-1137-853A-0FB7-D6D15BF4662E}"/>
              </a:ext>
            </a:extLst>
          </p:cNvPr>
          <p:cNvSpPr txBox="1"/>
          <p:nvPr/>
        </p:nvSpPr>
        <p:spPr>
          <a:xfrm>
            <a:off x="1085850" y="1758593"/>
            <a:ext cx="9819446" cy="5046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  <a:spcAft>
                <a:spcPts val="750"/>
              </a:spcAft>
            </a:pPr>
            <a:r>
              <a:rPr lang="en-IN" sz="20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transport layer protocol can either be connectionless or connection-oriented.</a:t>
            </a:r>
            <a:endParaRPr lang="en-IN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A9AEF6-F745-5D5F-769D-D7051F489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8849" y="2451360"/>
            <a:ext cx="7921839" cy="3815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841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br>
              <a:rPr lang="en-US" dirty="0"/>
            </a:br>
            <a:r>
              <a:rPr lang="en-IN" sz="53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Transport layer Protocols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pPr/>
              <a:t>10</a:t>
            </a:fld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4EFA053-D71D-256B-24C1-F22CA75D3F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72"/>
          <a:stretch/>
        </p:blipFill>
        <p:spPr bwMode="auto">
          <a:xfrm>
            <a:off x="5343525" y="2247900"/>
            <a:ext cx="6753629" cy="3669486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761C34F-AE05-8205-81BD-5844EE80DE35}"/>
              </a:ext>
            </a:extLst>
          </p:cNvPr>
          <p:cNvSpPr txBox="1"/>
          <p:nvPr/>
        </p:nvSpPr>
        <p:spPr>
          <a:xfrm>
            <a:off x="269664" y="2408242"/>
            <a:ext cx="52738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SCTP(Stream Control Transmission Protocol)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TCP (Transmission Control Protocol)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UDP (User Datagram Protocol)</a:t>
            </a:r>
          </a:p>
        </p:txBody>
      </p:sp>
    </p:spTree>
    <p:extLst>
      <p:ext uri="{BB962C8B-B14F-4D97-AF65-F5344CB8AC3E}">
        <p14:creationId xmlns:p14="http://schemas.microsoft.com/office/powerpoint/2010/main" val="1019274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792BE84-3448-2348-B352-CD5BC083E5FD}"/>
              </a:ext>
            </a:extLst>
          </p:cNvPr>
          <p:cNvSpPr/>
          <p:nvPr/>
        </p:nvSpPr>
        <p:spPr>
          <a:xfrm>
            <a:off x="2602523" y="1856934"/>
            <a:ext cx="7920111" cy="2883877"/>
          </a:xfrm>
          <a:prstGeom prst="roundRect">
            <a:avLst/>
          </a:prstGeom>
          <a:solidFill>
            <a:schemeClr val="accent2"/>
          </a:solidFill>
          <a:ln>
            <a:noFill/>
          </a:ln>
          <a:effectLst>
            <a:outerShdw blurRad="50800" dist="38100" dir="2700000" algn="tl" rotWithShape="0">
              <a:srgbClr val="BA2532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b="1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THANK YOU</a:t>
            </a: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latin typeface="Poppins" pitchFamily="2" charset="77"/>
              <a:cs typeface="Poppins" pitchFamily="2" charset="77"/>
            </a:endParaRPr>
          </a:p>
          <a:p>
            <a:pPr algn="ctr"/>
            <a:r>
              <a:rPr lang="en-US" sz="2400" b="1" dirty="0">
                <a:latin typeface="Poppins" pitchFamily="2" charset="77"/>
                <a:cs typeface="Poppins" pitchFamily="2" charset="77"/>
              </a:rPr>
              <a:t>Team –Network Protocols and Security</a:t>
            </a:r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  <a:p>
            <a:pPr algn="ctr"/>
            <a:endParaRPr lang="en-US" sz="2400" dirty="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6" name="Picture 2" descr="KL Deemed to be University Logo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14534" y="2560321"/>
            <a:ext cx="3235570" cy="10832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Retrospect">
    <a:dk1>
      <a:srgbClr val="000000"/>
    </a:dk1>
    <a:lt1>
      <a:sysClr val="window" lastClr="FFFFFF"/>
    </a:lt1>
    <a:dk2>
      <a:srgbClr val="637052"/>
    </a:dk2>
    <a:lt2>
      <a:srgbClr val="CCDDEA"/>
    </a:lt2>
    <a:accent1>
      <a:srgbClr val="E48312"/>
    </a:accent1>
    <a:accent2>
      <a:srgbClr val="BD582C"/>
    </a:accent2>
    <a:accent3>
      <a:srgbClr val="865640"/>
    </a:accent3>
    <a:accent4>
      <a:srgbClr val="9B8357"/>
    </a:accent4>
    <a:accent5>
      <a:srgbClr val="C2BC80"/>
    </a:accent5>
    <a:accent6>
      <a:srgbClr val="94A088"/>
    </a:accent6>
    <a:hlink>
      <a:srgbClr val="2998E3"/>
    </a:hlink>
    <a:folHlink>
      <a:srgbClr val="8C8C8C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227</TotalTime>
  <Words>362</Words>
  <Application>Microsoft Office PowerPoint</Application>
  <PresentationFormat>Widescreen</PresentationFormat>
  <Paragraphs>65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20" baseType="lpstr">
      <vt:lpstr>Aptos</vt:lpstr>
      <vt:lpstr>Arial</vt:lpstr>
      <vt:lpstr>BioRhyme ExtraBold</vt:lpstr>
      <vt:lpstr>Calibri</vt:lpstr>
      <vt:lpstr>Calibri Light</vt:lpstr>
      <vt:lpstr>Poppins</vt:lpstr>
      <vt:lpstr>Times New Roman</vt:lpstr>
      <vt:lpstr>Wingdings</vt:lpstr>
      <vt:lpstr>Retrospect</vt:lpstr>
      <vt:lpstr>PowerPoint Presentation</vt:lpstr>
      <vt:lpstr>Process to Process Delivery: </vt:lpstr>
      <vt:lpstr>Types of Data Deliveries Node-to-Node , Host-to-Host, Process-to-Process</vt:lpstr>
      <vt:lpstr>Client/Server Paradigm</vt:lpstr>
      <vt:lpstr>Addressing</vt:lpstr>
      <vt:lpstr>Addressing…</vt:lpstr>
      <vt:lpstr>PowerPoint Presentation</vt:lpstr>
      <vt:lpstr>Socket Address</vt:lpstr>
      <vt:lpstr>Transport Layer Services</vt:lpstr>
      <vt:lpstr> Transport layer Protocols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NAT implementation</dc:title>
  <dc:creator>preetham chiramana</dc:creator>
  <cp:lastModifiedBy>GORLA VENKATA GANESH</cp:lastModifiedBy>
  <cp:revision>33</cp:revision>
  <dcterms:created xsi:type="dcterms:W3CDTF">2020-11-27T17:03:30Z</dcterms:created>
  <dcterms:modified xsi:type="dcterms:W3CDTF">2026-02-27T08:51:21Z</dcterms:modified>
</cp:coreProperties>
</file>