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7"/>
  </p:notesMasterIdLst>
  <p:sldIdLst>
    <p:sldId id="271" r:id="rId2"/>
    <p:sldId id="936" r:id="rId3"/>
    <p:sldId id="938" r:id="rId4"/>
    <p:sldId id="939" r:id="rId5"/>
    <p:sldId id="940" r:id="rId6"/>
    <p:sldId id="941" r:id="rId7"/>
    <p:sldId id="883" r:id="rId8"/>
    <p:sldId id="855" r:id="rId9"/>
    <p:sldId id="942" r:id="rId10"/>
    <p:sldId id="944" r:id="rId11"/>
    <p:sldId id="943" r:id="rId12"/>
    <p:sldId id="886" r:id="rId13"/>
    <p:sldId id="887" r:id="rId14"/>
    <p:sldId id="29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4AB80-D52C-4BC5-A318-9957F559669C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356A1-FF8F-4F33-877A-3F66CC94892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3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DD32E1C-3226-C789-7C0C-F129B69E7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1D44B1-BCF6-43D9-8515-78AB0FA0F8AE}" type="slidenum">
              <a:rPr lang="en-US" altLang="en-US" sz="1200" b="0" baseline="0" smtClean="0">
                <a:latin typeface="Times New Roman" panose="02020603050405020304" pitchFamily="18" charset="0"/>
              </a:rPr>
              <a:pPr/>
              <a:t>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5047E2F8-4DD1-9741-AB9E-D0964B97B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F7B4D77-5D43-4DEB-D71E-B60B0013C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27B94E59-B76B-FA43-1AC2-7E530A900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6C89D48-37F9-41F5-AA33-8E65A3889F60}" type="slidenum">
              <a:rPr lang="en-US" altLang="en-US" sz="1200" b="0" baseline="0">
                <a:latin typeface="Times New Roman" panose="02020603050405020304" pitchFamily="18" charset="0"/>
              </a:rPr>
              <a:pPr/>
              <a:t>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083E080A-AF85-0563-C6E6-527A894392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3306F35-6DCF-7948-0614-F11C4EB5A9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099CFBF2-5661-C86A-C884-A73AC05B45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3956EE-3707-472A-A1EF-08378BF5F298}" type="slidenum">
              <a:rPr lang="en-US" altLang="en-US" sz="1200" b="0" baseline="0">
                <a:latin typeface="Times New Roman" panose="02020603050405020304" pitchFamily="18" charset="0"/>
              </a:rPr>
              <a:pPr/>
              <a:t>12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D6AEFB5D-3491-BF15-C15A-80A8C456E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4C1C7DF7-3199-1849-EF04-B7C363BD9B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9524DC82-61FB-C0FA-6B15-C6E99B18C0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7B34FA-6EA3-41EF-9388-AD562A1C45B5}" type="slidenum">
              <a:rPr lang="en-US" altLang="en-US" sz="1200" b="0" baseline="0">
                <a:latin typeface="Times New Roman" panose="02020603050405020304" pitchFamily="18" charset="0"/>
              </a:rPr>
              <a:pPr/>
              <a:t>13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6702A667-9F46-AC96-03D0-729D1B906A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DD3E2796-3486-1F37-DCD4-F5DD4B6BB9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0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1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00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40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5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4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09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12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52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49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75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12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61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TCP Connection Establishment &amp; Release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37696" y="562793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D662-2F04-9524-2FA2-F36908CD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419349"/>
            <a:ext cx="10058400" cy="1085851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TCP Connection Establishment</a:t>
            </a:r>
          </a:p>
        </p:txBody>
      </p:sp>
    </p:spTree>
    <p:extLst>
      <p:ext uri="{BB962C8B-B14F-4D97-AF65-F5344CB8AC3E}">
        <p14:creationId xmlns:p14="http://schemas.microsoft.com/office/powerpoint/2010/main" val="3806834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CBA3-D75E-8D00-C54E-F23E9C45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32622"/>
          </a:xfrm>
        </p:spPr>
        <p:txBody>
          <a:bodyPr/>
          <a:lstStyle/>
          <a:p>
            <a:r>
              <a:rPr lang="en-US" altLang="en-US" sz="4800" b="1" dirty="0">
                <a:solidFill>
                  <a:srgbClr val="C00000"/>
                </a:solidFill>
              </a:rPr>
              <a:t>TCP Connection Establishment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803B-2C18-BCEB-5ADE-167CBCFB7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1950" indent="-361950">
              <a:buFont typeface="Wingdings" panose="05000000000000000000" pitchFamily="2" charset="2"/>
              <a:buChar char="Ø"/>
            </a:pPr>
            <a:r>
              <a:rPr lang="en-US" dirty="0"/>
              <a:t>Connection establishment is performed by using the </a:t>
            </a:r>
            <a:r>
              <a:rPr lang="en-US" b="1" dirty="0">
                <a:solidFill>
                  <a:srgbClr val="C00000"/>
                </a:solidFill>
              </a:rPr>
              <a:t>three-way handshake </a:t>
            </a:r>
            <a:r>
              <a:rPr lang="en-US" dirty="0"/>
              <a:t>mechanism. </a:t>
            </a:r>
          </a:p>
          <a:p>
            <a:pPr marL="361950" indent="-361950">
              <a:buFont typeface="Wingdings" panose="05000000000000000000" pitchFamily="2" charset="2"/>
              <a:buChar char="Ø"/>
            </a:pPr>
            <a:r>
              <a:rPr lang="en-US" dirty="0"/>
              <a:t>A three-way handshake synchronizes both ends of a network by enabling both sides to agree upon original sequence numbers.</a:t>
            </a:r>
          </a:p>
          <a:p>
            <a:pPr marL="361950" indent="-3619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BFC5B4-4437-DE98-3638-5B55A403D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969" y="3043207"/>
            <a:ext cx="6456062" cy="291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4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CBA3-D75E-8D00-C54E-F23E9C45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32622"/>
          </a:xfrm>
        </p:spPr>
        <p:txBody>
          <a:bodyPr>
            <a:normAutofit/>
          </a:bodyPr>
          <a:lstStyle/>
          <a:p>
            <a:r>
              <a:rPr lang="en-US" altLang="en-US" sz="4800" b="1" dirty="0">
                <a:solidFill>
                  <a:srgbClr val="C00000"/>
                </a:solidFill>
              </a:rPr>
              <a:t>T</a:t>
            </a:r>
            <a:r>
              <a:rPr lang="en-US" b="1" dirty="0">
                <a:solidFill>
                  <a:srgbClr val="C00000"/>
                </a:solidFill>
              </a:rPr>
              <a:t>hree-way handshaking…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803B-2C18-BCEB-5ADE-167CBCFB7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2012442"/>
            <a:ext cx="6248400" cy="4023360"/>
          </a:xfrm>
        </p:spPr>
        <p:txBody>
          <a:bodyPr>
            <a:normAutofit fontScale="25000" lnSpcReduction="20000"/>
          </a:bodyPr>
          <a:lstStyle/>
          <a:p>
            <a:pPr>
              <a:defRPr/>
            </a:pPr>
            <a:r>
              <a:rPr lang="en-IN" sz="11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 1: SYN (Synchronize)</a:t>
            </a:r>
          </a:p>
          <a:p>
            <a:pPr>
              <a:defRPr/>
            </a:pPr>
            <a:endParaRPr lang="en-IN" sz="16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client initiates the connection by sending a TCP segment with the </a:t>
            </a:r>
            <a:r>
              <a:rPr lang="en-IN" sz="7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SYN flag set </a:t>
            </a: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to the server.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3200" dirty="0"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client selects an initial sequence number for the connection, which is a randomly chosen value.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4000" dirty="0"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SYN segment also includes the client's initial </a:t>
            </a:r>
            <a:r>
              <a:rPr lang="en-IN" sz="7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TCP window size,</a:t>
            </a: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 which indicates the number of bytes the client is willing to receive.</a:t>
            </a:r>
          </a:p>
          <a:p>
            <a:pPr marL="214313" indent="-214313">
              <a:buFont typeface="Wingdings" pitchFamily="2" charset="2"/>
              <a:buChar char="§"/>
              <a:defRPr/>
            </a:pPr>
            <a:endParaRPr lang="en-IN" sz="13500" dirty="0">
              <a:latin typeface="Times New Roman" pitchFamily="18" charset="0"/>
              <a:cs typeface="Times New Roman" pitchFamily="18" charset="0"/>
            </a:endParaRPr>
          </a:p>
          <a:p>
            <a:pPr marL="361950" indent="-361950"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87915D-1030-35A3-7107-7B347861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0" y="1714500"/>
            <a:ext cx="5467350" cy="43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CBA3-D75E-8D00-C54E-F23E9C45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32622"/>
          </a:xfrm>
        </p:spPr>
        <p:txBody>
          <a:bodyPr>
            <a:normAutofit/>
          </a:bodyPr>
          <a:lstStyle/>
          <a:p>
            <a:r>
              <a:rPr lang="en-US" altLang="en-US" sz="4800" b="1" dirty="0">
                <a:solidFill>
                  <a:srgbClr val="C00000"/>
                </a:solidFill>
              </a:rPr>
              <a:t>T</a:t>
            </a:r>
            <a:r>
              <a:rPr lang="en-US" b="1" dirty="0">
                <a:solidFill>
                  <a:srgbClr val="C00000"/>
                </a:solidFill>
              </a:rPr>
              <a:t>hree-way handshaking…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803B-2C18-BCEB-5ADE-167CBCFB7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88609"/>
            <a:ext cx="10058400" cy="4023360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0000"/>
              </a:lnSpc>
              <a:defRPr/>
            </a:pPr>
            <a:r>
              <a:rPr lang="en-IN" sz="11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 2: SYN-ACK (Synchronize-Acknowledge)</a:t>
            </a:r>
          </a:p>
          <a:p>
            <a:pPr>
              <a:lnSpc>
                <a:spcPct val="100000"/>
              </a:lnSpc>
              <a:defRPr/>
            </a:pPr>
            <a:endParaRPr lang="en-IN" sz="8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Upon receiving the SYN segment from the client, the server responds with a TCP segment containing the </a:t>
            </a:r>
            <a:r>
              <a:rPr lang="en-IN" sz="7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SYN and ACK flags set.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server selects its own initial sequence number for the connection.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SYN-ACK segment also includes the </a:t>
            </a:r>
            <a:r>
              <a:rPr lang="en-IN" sz="7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server's initial TCP window size, acknowledging the client's window size </a:t>
            </a: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from the previous step.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4000" dirty="0"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Additionally, the SYN-ACK segment may include other optional parameters negotiated between the client and server, such as maximum segment size (MSS) or TCP options.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7200" dirty="0">
              <a:latin typeface="Times New Roman" pitchFamily="18" charset="0"/>
              <a:cs typeface="Times New Roman" pitchFamily="18" charset="0"/>
            </a:endParaRPr>
          </a:p>
          <a:p>
            <a:pPr marL="361950" indent="-3619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7069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3CBA3-D75E-8D00-C54E-F23E9C45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32622"/>
          </a:xfrm>
        </p:spPr>
        <p:txBody>
          <a:bodyPr>
            <a:normAutofit/>
          </a:bodyPr>
          <a:lstStyle/>
          <a:p>
            <a:r>
              <a:rPr lang="en-US" altLang="en-US" sz="4800" b="1" dirty="0">
                <a:solidFill>
                  <a:srgbClr val="C00000"/>
                </a:solidFill>
              </a:rPr>
              <a:t>T</a:t>
            </a:r>
            <a:r>
              <a:rPr lang="en-US" b="1" dirty="0">
                <a:solidFill>
                  <a:srgbClr val="C00000"/>
                </a:solidFill>
              </a:rPr>
              <a:t>hree-way handshaking…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A803B-2C18-BCEB-5ADE-167CBCFB7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214313" indent="-214313">
              <a:buFont typeface="Wingdings" pitchFamily="2" charset="2"/>
              <a:buChar char="§"/>
              <a:defRPr/>
            </a:pPr>
            <a:endParaRPr lang="en-IN" sz="80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IN" sz="11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Step 3: ACK (Acknowledge)</a:t>
            </a:r>
          </a:p>
          <a:p>
            <a:pPr>
              <a:defRPr/>
            </a:pPr>
            <a:endParaRPr lang="en-IN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Finally, the client acknowledges the server's SYN-ACK segment by </a:t>
            </a:r>
            <a:r>
              <a:rPr lang="en-IN" sz="7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sending an ACK segment.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2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ACK segment has the </a:t>
            </a:r>
            <a:r>
              <a:rPr lang="en-IN" sz="7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ACK flag set </a:t>
            </a: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and contains the acknowledgment number, which is the server's initial sequence number incremented by one.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The client also confirms the server's TCP window size, indicating the number of bytes it is willing to receive from the server.</a:t>
            </a: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897255" lvl="2" indent="-422275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  <a:defRPr/>
            </a:pPr>
            <a:r>
              <a:rPr lang="en-IN" sz="7200" dirty="0">
                <a:latin typeface="Times New Roman" pitchFamily="18" charset="0"/>
                <a:cs typeface="Times New Roman" pitchFamily="18" charset="0"/>
              </a:rPr>
              <a:t>At this point, the connection is established, and both the client and server can begin transmitting data.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7629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1">
            <a:extLst>
              <a:ext uri="{FF2B5EF4-FFF2-40B4-BE49-F238E27FC236}">
                <a16:creationId xmlns:a16="http://schemas.microsoft.com/office/drawing/2014/main" id="{F3887B54-D8DD-9791-2067-F072C07EF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8AD22373-39AB-420A-ABFE-0B173E593B43}" type="slidenum">
              <a:rPr lang="en-US" altLang="en-US" sz="2000" baseline="0">
                <a:solidFill>
                  <a:schemeClr val="bg2"/>
                </a:solidFill>
              </a:rPr>
              <a:pPr/>
              <a:t>7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C2B7CF8-617A-C8AE-324F-D01A5AA22F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795BE8C-AEEC-8C17-FF9D-B212CA3869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839E00DF-D8AD-83E5-AE20-29B859EFF3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1EBF5B8A-0191-CB50-ED16-BC38EA41805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37B0A2D8-5AA6-ED5C-E3BF-97F3BA4C416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DFE977F6-70C6-4688-B116-66F194D139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D67DAF98-810D-D7C8-08D4-F8E6428ADC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4826" name="Line 9">
            <a:extLst>
              <a:ext uri="{FF2B5EF4-FFF2-40B4-BE49-F238E27FC236}">
                <a16:creationId xmlns:a16="http://schemas.microsoft.com/office/drawing/2014/main" id="{AECA1757-F494-4132-809C-A9152516D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7" name="Line 10">
            <a:extLst>
              <a:ext uri="{FF2B5EF4-FFF2-40B4-BE49-F238E27FC236}">
                <a16:creationId xmlns:a16="http://schemas.microsoft.com/office/drawing/2014/main" id="{7C482F66-A462-03F9-1F6F-D9A63ED6A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828" name="Rectangle 11">
            <a:extLst>
              <a:ext uri="{FF2B5EF4-FFF2-40B4-BE49-F238E27FC236}">
                <a16:creationId xmlns:a16="http://schemas.microsoft.com/office/drawing/2014/main" id="{9F07F04D-82B2-A177-FD52-2B0FF0E92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58648"/>
            <a:ext cx="8153400" cy="83099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0" baseline="0" dirty="0"/>
              <a:t>A </a:t>
            </a:r>
            <a:r>
              <a:rPr lang="en-US" altLang="en-US" sz="2400" baseline="0" dirty="0">
                <a:solidFill>
                  <a:srgbClr val="C00000"/>
                </a:solidFill>
              </a:rPr>
              <a:t>SYN segment </a:t>
            </a:r>
            <a:r>
              <a:rPr lang="en-US" altLang="en-US" sz="2400" b="0" baseline="0" dirty="0"/>
              <a:t>cannot carry data, but it consumes one sequence number.</a:t>
            </a:r>
          </a:p>
        </p:txBody>
      </p:sp>
      <p:grpSp>
        <p:nvGrpSpPr>
          <p:cNvPr id="34829" name="Group 12">
            <a:extLst>
              <a:ext uri="{FF2B5EF4-FFF2-40B4-BE49-F238E27FC236}">
                <a16:creationId xmlns:a16="http://schemas.microsoft.com/office/drawing/2014/main" id="{9AC1A9D8-95FC-D202-196F-F91F8C27D5B3}"/>
              </a:ext>
            </a:extLst>
          </p:cNvPr>
          <p:cNvGrpSpPr>
            <a:grpSpLocks/>
          </p:cNvGrpSpPr>
          <p:nvPr/>
        </p:nvGrpSpPr>
        <p:grpSpPr bwMode="auto">
          <a:xfrm>
            <a:off x="1920875" y="769939"/>
            <a:ext cx="1143000" cy="566737"/>
            <a:chOff x="1200" y="1248"/>
            <a:chExt cx="720" cy="357"/>
          </a:xfrm>
        </p:grpSpPr>
        <p:pic>
          <p:nvPicPr>
            <p:cNvPr id="34832" name="Picture 13">
              <a:extLst>
                <a:ext uri="{FF2B5EF4-FFF2-40B4-BE49-F238E27FC236}">
                  <a16:creationId xmlns:a16="http://schemas.microsoft.com/office/drawing/2014/main" id="{27AF9516-2354-0811-4EEC-D31B5747D4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33" name="Text Box 14">
              <a:extLst>
                <a:ext uri="{FF2B5EF4-FFF2-40B4-BE49-F238E27FC236}">
                  <a16:creationId xmlns:a16="http://schemas.microsoft.com/office/drawing/2014/main" id="{5DE73A1F-7B52-4DCB-CA65-05099CE1F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  <p:sp>
        <p:nvSpPr>
          <p:cNvPr id="34830" name="Rectangle 11">
            <a:extLst>
              <a:ext uri="{FF2B5EF4-FFF2-40B4-BE49-F238E27FC236}">
                <a16:creationId xmlns:a16="http://schemas.microsoft.com/office/drawing/2014/main" id="{5178DB3F-11C7-76A3-6596-5E0972063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54132"/>
            <a:ext cx="81534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0" baseline="0" dirty="0"/>
              <a:t>A </a:t>
            </a:r>
            <a:r>
              <a:rPr lang="en-US" altLang="en-US" sz="2400" baseline="0" dirty="0">
                <a:solidFill>
                  <a:srgbClr val="C00000"/>
                </a:solidFill>
              </a:rPr>
              <a:t>SYN + ACK segment </a:t>
            </a:r>
            <a:r>
              <a:rPr lang="en-US" altLang="en-US" sz="2400" b="0" baseline="0" dirty="0"/>
              <a:t>cannot carry data, </a:t>
            </a:r>
          </a:p>
          <a:p>
            <a:pPr algn="ctr"/>
            <a:r>
              <a:rPr lang="en-US" altLang="en-US" sz="2400" b="0" baseline="0" dirty="0"/>
              <a:t>but does consume one sequence number</a:t>
            </a:r>
            <a:r>
              <a:rPr lang="en-US" altLang="en-US" sz="2400" baseline="0" dirty="0"/>
              <a:t>.</a:t>
            </a:r>
          </a:p>
        </p:txBody>
      </p:sp>
      <p:sp>
        <p:nvSpPr>
          <p:cNvPr id="34831" name="Rectangle 11">
            <a:extLst>
              <a:ext uri="{FF2B5EF4-FFF2-40B4-BE49-F238E27FC236}">
                <a16:creationId xmlns:a16="http://schemas.microsoft.com/office/drawing/2014/main" id="{10E46DCF-C451-8B91-C1E8-F7ABE1549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914" y="4649952"/>
            <a:ext cx="8153400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0" baseline="0" dirty="0"/>
              <a:t>An </a:t>
            </a:r>
            <a:r>
              <a:rPr lang="en-US" altLang="en-US" sz="2400" baseline="0" dirty="0">
                <a:solidFill>
                  <a:srgbClr val="C00000"/>
                </a:solidFill>
              </a:rPr>
              <a:t>ACK segment</a:t>
            </a:r>
            <a:r>
              <a:rPr lang="en-US" altLang="en-US" sz="2400" b="0" baseline="0" dirty="0"/>
              <a:t>, if carrying no data, consumes no sequence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1">
            <a:extLst>
              <a:ext uri="{FF2B5EF4-FFF2-40B4-BE49-F238E27FC236}">
                <a16:creationId xmlns:a16="http://schemas.microsoft.com/office/drawing/2014/main" id="{F68DFD56-D31F-F936-CB32-9898FAB05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BC8CBDFF-AA52-4BDE-A1F0-71D813EAFE33}" type="slidenum">
              <a:rPr lang="en-US" altLang="en-US" sz="2000" baseline="0">
                <a:solidFill>
                  <a:schemeClr val="bg2"/>
                </a:solidFill>
              </a:rPr>
              <a:pPr/>
              <a:t>8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43011" name="Line 2">
            <a:extLst>
              <a:ext uri="{FF2B5EF4-FFF2-40B4-BE49-F238E27FC236}">
                <a16:creationId xmlns:a16="http://schemas.microsoft.com/office/drawing/2014/main" id="{023BBDAE-1320-8D02-E4C2-B32BF35E2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2" name="Line 3">
            <a:extLst>
              <a:ext uri="{FF2B5EF4-FFF2-40B4-BE49-F238E27FC236}">
                <a16:creationId xmlns:a16="http://schemas.microsoft.com/office/drawing/2014/main" id="{BCB67520-824B-24C8-E184-0294888226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367417F5-5725-1113-95BF-8C6A567F8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0"/>
            <a:ext cx="3362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23.19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Data transfer</a:t>
            </a:r>
          </a:p>
        </p:txBody>
      </p:sp>
      <p:sp>
        <p:nvSpPr>
          <p:cNvPr id="43014" name="Line 5">
            <a:extLst>
              <a:ext uri="{FF2B5EF4-FFF2-40B4-BE49-F238E27FC236}">
                <a16:creationId xmlns:a16="http://schemas.microsoft.com/office/drawing/2014/main" id="{3C91C272-6732-2783-6BD8-80CCA9B18C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43015" name="Picture 6">
            <a:extLst>
              <a:ext uri="{FF2B5EF4-FFF2-40B4-BE49-F238E27FC236}">
                <a16:creationId xmlns:a16="http://schemas.microsoft.com/office/drawing/2014/main" id="{F3B8462C-8CEC-D4CB-DCFB-EA3F57896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1143000"/>
            <a:ext cx="4214812" cy="488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D662-2F04-9524-2FA2-F36908CDA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419349"/>
            <a:ext cx="10058400" cy="1085851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</a:rPr>
              <a:t>TCP Connection Release</a:t>
            </a:r>
          </a:p>
        </p:txBody>
      </p:sp>
    </p:spTree>
    <p:extLst>
      <p:ext uri="{BB962C8B-B14F-4D97-AF65-F5344CB8AC3E}">
        <p14:creationId xmlns:p14="http://schemas.microsoft.com/office/powerpoint/2010/main" val="410246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FB2A-CE2F-A6FC-362B-3F92A0A1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TCP Connection Release</a:t>
            </a:r>
          </a:p>
        </p:txBody>
      </p:sp>
      <p:pic>
        <p:nvPicPr>
          <p:cNvPr id="5" name="Content Placeholder 4" descr="A diagram of a military system&#10;&#10;Description automatically generated with medium confidence">
            <a:extLst>
              <a:ext uri="{FF2B5EF4-FFF2-40B4-BE49-F238E27FC236}">
                <a16:creationId xmlns:a16="http://schemas.microsoft.com/office/drawing/2014/main" id="{1AF01AB4-5ECA-167F-519B-EC15BB80E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69" t="19859" r="9110" b="6435"/>
          <a:stretch/>
        </p:blipFill>
        <p:spPr>
          <a:xfrm>
            <a:off x="1876425" y="1885951"/>
            <a:ext cx="8490809" cy="4453754"/>
          </a:xfrm>
        </p:spPr>
      </p:pic>
    </p:spTree>
    <p:extLst>
      <p:ext uri="{BB962C8B-B14F-4D97-AF65-F5344CB8AC3E}">
        <p14:creationId xmlns:p14="http://schemas.microsoft.com/office/powerpoint/2010/main" val="425362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87E88-C1A8-8E51-8AF5-22CD58BF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0879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TCP Connection Release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9D844-1F73-27FA-E19C-21CF9B831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730" y="2771774"/>
            <a:ext cx="3874770" cy="338613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TCP connection release is also performed using three-way </a:t>
            </a:r>
            <a:r>
              <a:rPr lang="en-IN" dirty="0">
                <a:solidFill>
                  <a:srgbClr val="C00000"/>
                </a:solidFill>
              </a:rPr>
              <a:t>handshake mechanism.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85056EB2-31EB-907F-FA9B-4A3A27E5D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100" y="1295400"/>
            <a:ext cx="6864350" cy="486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434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1">
            <a:extLst>
              <a:ext uri="{FF2B5EF4-FFF2-40B4-BE49-F238E27FC236}">
                <a16:creationId xmlns:a16="http://schemas.microsoft.com/office/drawing/2014/main" id="{E5D8578E-6FA7-3EF3-7DA5-8AF89C1BFC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5C093280-6474-4B4F-B778-6DE57ED0BA73}" type="slidenum">
              <a:rPr lang="en-US" altLang="en-US" sz="2000" baseline="0">
                <a:solidFill>
                  <a:schemeClr val="bg2"/>
                </a:solidFill>
              </a:rPr>
              <a:pPr/>
              <a:t>12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A2EA4F79-297F-A4E5-1CA2-C423AD3B08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FBA0AA84-C0C2-2D36-8445-DBCDF5FDF1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C3D4A74F-F8B1-FA10-ABEC-4CA1BC1013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B4E6F402-701C-98AD-A8AE-DB2385D92F5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C74DB3A4-02EF-F6B4-97CF-B77650AAA7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8FDD77D6-4FE5-48C9-EEBE-B17AFD88A2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EDAC9888-06C2-2852-D8A0-9651FD2769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48FBD3AD-5878-2816-52E3-FA229F7E5B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C878E047-4F57-FA72-F16B-E5EDDCC8C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068" name="Rectangle 11">
            <a:extLst>
              <a:ext uri="{FF2B5EF4-FFF2-40B4-BE49-F238E27FC236}">
                <a16:creationId xmlns:a16="http://schemas.microsoft.com/office/drawing/2014/main" id="{5DFBBCB0-816E-2052-A657-771967D86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56966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FIN segment consumes one sequence number if it does </a:t>
            </a:r>
            <a:br>
              <a:rPr lang="en-US" altLang="en-US" baseline="0"/>
            </a:br>
            <a:r>
              <a:rPr lang="en-US" altLang="en-US" baseline="0"/>
              <a:t>not carry data.</a:t>
            </a:r>
          </a:p>
        </p:txBody>
      </p:sp>
      <p:grpSp>
        <p:nvGrpSpPr>
          <p:cNvPr id="45069" name="Group 12">
            <a:extLst>
              <a:ext uri="{FF2B5EF4-FFF2-40B4-BE49-F238E27FC236}">
                <a16:creationId xmlns:a16="http://schemas.microsoft.com/office/drawing/2014/main" id="{156EC889-8137-E506-29FE-7370A90F95F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45070" name="Picture 13">
              <a:extLst>
                <a:ext uri="{FF2B5EF4-FFF2-40B4-BE49-F238E27FC236}">
                  <a16:creationId xmlns:a16="http://schemas.microsoft.com/office/drawing/2014/main" id="{4786BE5A-4ED5-89E5-CA4E-9CE426A3F4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1" name="Text Box 14">
              <a:extLst>
                <a:ext uri="{FF2B5EF4-FFF2-40B4-BE49-F238E27FC236}">
                  <a16:creationId xmlns:a16="http://schemas.microsoft.com/office/drawing/2014/main" id="{D9C2BAA7-9F65-B886-0A67-CF73E54DE0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1">
            <a:extLst>
              <a:ext uri="{FF2B5EF4-FFF2-40B4-BE49-F238E27FC236}">
                <a16:creationId xmlns:a16="http://schemas.microsoft.com/office/drawing/2014/main" id="{1986DFAF-8C25-F9E9-509D-86059190F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9794EA32-47B5-4A73-A545-FBF664034CE0}" type="slidenum">
              <a:rPr lang="en-US" altLang="en-US" sz="2000" baseline="0">
                <a:solidFill>
                  <a:schemeClr val="bg2"/>
                </a:solidFill>
              </a:rPr>
              <a:pPr/>
              <a:t>13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3251847-3F01-6A58-5D35-810D824724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890713" y="107951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3E4653-A2B7-0464-431F-18D95A5D91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73301" y="107951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5" name="Rectangle 4">
            <a:extLst>
              <a:ext uri="{FF2B5EF4-FFF2-40B4-BE49-F238E27FC236}">
                <a16:creationId xmlns:a16="http://schemas.microsoft.com/office/drawing/2014/main" id="{E2427142-1CA5-23C1-0124-A4A5E0FD64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014539" y="530226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6" name="Rectangle 5">
            <a:extLst>
              <a:ext uri="{FF2B5EF4-FFF2-40B4-BE49-F238E27FC236}">
                <a16:creationId xmlns:a16="http://schemas.microsoft.com/office/drawing/2014/main" id="{335AA529-F9C1-B74D-91AC-AE4574D4B3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384425" y="530226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7" name="Rectangle 6">
            <a:extLst>
              <a:ext uri="{FF2B5EF4-FFF2-40B4-BE49-F238E27FC236}">
                <a16:creationId xmlns:a16="http://schemas.microsoft.com/office/drawing/2014/main" id="{0CE1F44B-59E9-FBE4-7E4D-E1BCB433F4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0200" y="457201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624A22A4-B9FD-1E91-C612-CF36A7700B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35200" y="1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9" name="Rectangle 8">
            <a:extLst>
              <a:ext uri="{FF2B5EF4-FFF2-40B4-BE49-F238E27FC236}">
                <a16:creationId xmlns:a16="http://schemas.microsoft.com/office/drawing/2014/main" id="{F0226DFE-F0BF-AF94-5DB2-4BAC3D02301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966914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90" name="Line 9">
            <a:extLst>
              <a:ext uri="{FF2B5EF4-FFF2-40B4-BE49-F238E27FC236}">
                <a16:creationId xmlns:a16="http://schemas.microsoft.com/office/drawing/2014/main" id="{CD537FCF-7CE8-B8E0-DA54-53B04EF9C9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1" name="Line 10">
            <a:extLst>
              <a:ext uri="{FF2B5EF4-FFF2-40B4-BE49-F238E27FC236}">
                <a16:creationId xmlns:a16="http://schemas.microsoft.com/office/drawing/2014/main" id="{A87AA3B6-3439-F3CF-E297-8C304F457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092" name="Rectangle 11">
            <a:extLst>
              <a:ext uri="{FF2B5EF4-FFF2-40B4-BE49-F238E27FC236}">
                <a16:creationId xmlns:a16="http://schemas.microsoft.com/office/drawing/2014/main" id="{BC464229-8DA1-3B8D-74DC-80DB1CBD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2759075"/>
            <a:ext cx="8077200" cy="156966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FIN + ACK segment consumes </a:t>
            </a:r>
            <a:br>
              <a:rPr lang="en-US" altLang="en-US" baseline="0"/>
            </a:br>
            <a:r>
              <a:rPr lang="en-US" altLang="en-US" baseline="0"/>
              <a:t>one sequence number if it </a:t>
            </a:r>
            <a:br>
              <a:rPr lang="en-US" altLang="en-US" baseline="0"/>
            </a:br>
            <a:r>
              <a:rPr lang="en-US" altLang="en-US" baseline="0"/>
              <a:t>does not carry data.</a:t>
            </a:r>
          </a:p>
        </p:txBody>
      </p:sp>
      <p:grpSp>
        <p:nvGrpSpPr>
          <p:cNvPr id="46093" name="Group 12">
            <a:extLst>
              <a:ext uri="{FF2B5EF4-FFF2-40B4-BE49-F238E27FC236}">
                <a16:creationId xmlns:a16="http://schemas.microsoft.com/office/drawing/2014/main" id="{145CA52F-2A7B-7A33-88F8-5BC3B1E2B3A5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81200"/>
            <a:ext cx="1143000" cy="566738"/>
            <a:chOff x="1200" y="1248"/>
            <a:chExt cx="720" cy="357"/>
          </a:xfrm>
        </p:grpSpPr>
        <p:pic>
          <p:nvPicPr>
            <p:cNvPr id="46094" name="Picture 13">
              <a:extLst>
                <a:ext uri="{FF2B5EF4-FFF2-40B4-BE49-F238E27FC236}">
                  <a16:creationId xmlns:a16="http://schemas.microsoft.com/office/drawing/2014/main" id="{83BF483B-47B4-20DF-0E92-4F565FC1C3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95" name="Text Box 14">
              <a:extLst>
                <a:ext uri="{FF2B5EF4-FFF2-40B4-BE49-F238E27FC236}">
                  <a16:creationId xmlns:a16="http://schemas.microsoft.com/office/drawing/2014/main" id="{272ACF9E-67D8-5814-4FF9-47BB174058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D9127108-D5C9-4BCE-EA57-BD62E8847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6" y="1882279"/>
            <a:ext cx="10820399" cy="450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14313" indent="-214313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altLang="en-US" sz="2800" dirty="0">
                <a:solidFill>
                  <a:srgbClr val="0070C0"/>
                </a:solidFill>
                <a:latin typeface="+mn-lt"/>
              </a:rPr>
              <a:t>Step-1: Initiating the Connection Termination - </a:t>
            </a:r>
            <a:r>
              <a:rPr lang="en-IN" altLang="en-US" sz="2800" b="0" dirty="0">
                <a:latin typeface="+mn-lt"/>
              </a:rPr>
              <a:t>The device that wishes to terminate the connection (active closer) sends a TCP segment with the </a:t>
            </a:r>
            <a:r>
              <a:rPr lang="en-IN" altLang="en-US" sz="2800" b="0" dirty="0">
                <a:solidFill>
                  <a:srgbClr val="C00000"/>
                </a:solidFill>
                <a:latin typeface="+mn-lt"/>
              </a:rPr>
              <a:t>FIN flag set</a:t>
            </a:r>
            <a:r>
              <a:rPr lang="en-IN" altLang="en-US" sz="2800" b="0" dirty="0">
                <a:latin typeface="+mn-lt"/>
              </a:rPr>
              <a:t> to the other device, indicating its intention to close the connection.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IN" altLang="en-US" sz="2800" b="0" dirty="0">
              <a:latin typeface="+mn-lt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altLang="en-US" sz="2800" dirty="0">
                <a:solidFill>
                  <a:srgbClr val="0070C0"/>
                </a:solidFill>
                <a:latin typeface="+mn-lt"/>
              </a:rPr>
              <a:t>Step-2: Acknowledgment and Finalizing the Connection Termination - </a:t>
            </a:r>
            <a:r>
              <a:rPr lang="en-IN" altLang="en-US" sz="2800" b="0" dirty="0">
                <a:latin typeface="+mn-lt"/>
              </a:rPr>
              <a:t>Upon receiving the FIN segment, the receiving device (passive closer) acknowledges the termination request by sending an acknowledgment (ACK+FIN) TCP segment back to the active closer. This segment has the </a:t>
            </a:r>
            <a:r>
              <a:rPr lang="en-IN" altLang="en-US" sz="2800" b="0" dirty="0">
                <a:solidFill>
                  <a:srgbClr val="C00000"/>
                </a:solidFill>
                <a:latin typeface="+mn-lt"/>
              </a:rPr>
              <a:t>ACK and FIN flags set</a:t>
            </a:r>
            <a:r>
              <a:rPr lang="en-IN" altLang="en-US" sz="2800" b="0" dirty="0">
                <a:latin typeface="+mn-lt"/>
              </a:rPr>
              <a:t>.</a:t>
            </a:r>
          </a:p>
          <a:p>
            <a:pPr marL="361950" indent="-361950" algn="just"/>
            <a:endParaRPr lang="en-IN" altLang="en-US" sz="1000" b="0" dirty="0">
              <a:latin typeface="+mn-lt"/>
            </a:endParaRPr>
          </a:p>
          <a:p>
            <a:pPr marL="361950" indent="-361950" algn="just"/>
            <a:endParaRPr lang="en-IN" altLang="en-US" sz="2800" b="0" dirty="0">
              <a:latin typeface="+mn-lt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altLang="en-US" sz="2800" dirty="0">
                <a:solidFill>
                  <a:srgbClr val="0070C0"/>
                </a:solidFill>
                <a:latin typeface="+mn-lt"/>
              </a:rPr>
              <a:t>Step-3: Acknowledgment of the Final Termination - </a:t>
            </a:r>
            <a:r>
              <a:rPr lang="en-IN" altLang="en-US" sz="2800" b="0" dirty="0">
                <a:latin typeface="+mn-lt"/>
              </a:rPr>
              <a:t>Upon receiving the FIN segment from the passive closer, the active closer acknowledges it by sending an </a:t>
            </a:r>
            <a:r>
              <a:rPr lang="en-IN" altLang="en-US" sz="2800" b="0" dirty="0">
                <a:solidFill>
                  <a:srgbClr val="C00000"/>
                </a:solidFill>
                <a:latin typeface="+mn-lt"/>
              </a:rPr>
              <a:t>ACK segment </a:t>
            </a:r>
            <a:r>
              <a:rPr lang="en-IN" altLang="en-US" sz="2800" b="0" dirty="0">
                <a:latin typeface="+mn-lt"/>
              </a:rPr>
              <a:t>back. This ACK serves as confirmation that the passive closer's FIN has been received.</a:t>
            </a:r>
          </a:p>
          <a:p>
            <a:pPr marL="361950" indent="-361950" algn="just"/>
            <a:endParaRPr lang="en-IN" altLang="en-US" sz="2800" b="0" dirty="0">
              <a:latin typeface="+mn-lt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altLang="en-US" sz="2800" b="0" dirty="0">
                <a:latin typeface="+mn-lt"/>
              </a:rPr>
              <a:t>Now the connection between two parties is terminated.</a:t>
            </a:r>
          </a:p>
          <a:p>
            <a:pPr marL="0" indent="0" algn="just"/>
            <a:endParaRPr lang="en-IN" altLang="en-US" sz="2800" b="0" dirty="0"/>
          </a:p>
        </p:txBody>
      </p:sp>
      <p:sp>
        <p:nvSpPr>
          <p:cNvPr id="39939" name="object 2">
            <a:extLst>
              <a:ext uri="{FF2B5EF4-FFF2-40B4-BE49-F238E27FC236}">
                <a16:creationId xmlns:a16="http://schemas.microsoft.com/office/drawing/2014/main" id="{0A03E77B-3149-9D52-8C95-4D1D145CF32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57275" y="774542"/>
            <a:ext cx="7696200" cy="6416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8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A TCP Connection Release</a:t>
            </a:r>
            <a:endParaRPr lang="en-I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–Network Protocols and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</TotalTime>
  <Words>586</Words>
  <Application>Microsoft Office PowerPoint</Application>
  <PresentationFormat>Widescreen</PresentationFormat>
  <Paragraphs>77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Arial</vt:lpstr>
      <vt:lpstr>BioRhyme ExtraBold</vt:lpstr>
      <vt:lpstr>Calibri</vt:lpstr>
      <vt:lpstr>Calibri Light</vt:lpstr>
      <vt:lpstr>Poppins</vt:lpstr>
      <vt:lpstr>Tahoma</vt:lpstr>
      <vt:lpstr>Times New Roman</vt:lpstr>
      <vt:lpstr>Wingdings</vt:lpstr>
      <vt:lpstr>Retrospect</vt:lpstr>
      <vt:lpstr>PowerPoint Presentation</vt:lpstr>
      <vt:lpstr>TCP Connection Establishment</vt:lpstr>
      <vt:lpstr>TCP Connection Establishment</vt:lpstr>
      <vt:lpstr>Three-way handshaking…</vt:lpstr>
      <vt:lpstr>Three-way handshaking…</vt:lpstr>
      <vt:lpstr>Three-way handshaking…</vt:lpstr>
      <vt:lpstr>PowerPoint Presentation</vt:lpstr>
      <vt:lpstr>PowerPoint Presentation</vt:lpstr>
      <vt:lpstr>TCP Connection Release</vt:lpstr>
      <vt:lpstr>TCP Connection Release</vt:lpstr>
      <vt:lpstr>TCP Connection Release</vt:lpstr>
      <vt:lpstr>PowerPoint Presentation</vt:lpstr>
      <vt:lpstr>PowerPoint Presentation</vt:lpstr>
      <vt:lpstr>A TCP Connection Release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NAT implementation</dc:title>
  <dc:creator>preetham chiramana</dc:creator>
  <cp:lastModifiedBy>GORLA VENKATA GANESH</cp:lastModifiedBy>
  <cp:revision>62</cp:revision>
  <dcterms:created xsi:type="dcterms:W3CDTF">2020-11-27T17:03:30Z</dcterms:created>
  <dcterms:modified xsi:type="dcterms:W3CDTF">2026-02-27T08:58:50Z</dcterms:modified>
</cp:coreProperties>
</file>