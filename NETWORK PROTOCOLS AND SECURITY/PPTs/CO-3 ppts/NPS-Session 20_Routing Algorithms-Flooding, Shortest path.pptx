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258" r:id="rId7"/>
    <p:sldId id="456" r:id="rId8"/>
    <p:sldId id="477" r:id="rId9"/>
    <p:sldId id="476" r:id="rId10"/>
    <p:sldId id="478" r:id="rId11"/>
    <p:sldId id="458" r:id="rId12"/>
    <p:sldId id="513" r:id="rId13"/>
    <p:sldId id="479" r:id="rId14"/>
    <p:sldId id="480" r:id="rId15"/>
    <p:sldId id="481" r:id="rId16"/>
    <p:sldId id="515" r:id="rId17"/>
    <p:sldId id="482" r:id="rId18"/>
    <p:sldId id="503" r:id="rId19"/>
    <p:sldId id="504" r:id="rId20"/>
    <p:sldId id="505" r:id="rId21"/>
    <p:sldId id="514" r:id="rId22"/>
    <p:sldId id="274" r:id="rId23"/>
    <p:sldId id="302" r:id="rId24"/>
    <p:sldId id="303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532"/>
    <a:srgbClr val="FF9900"/>
    <a:srgbClr val="E84845"/>
    <a:srgbClr val="FAD2D2"/>
    <a:srgbClr val="F89E4C"/>
    <a:srgbClr val="A81E24"/>
    <a:srgbClr val="FFF2CC"/>
    <a:srgbClr val="CF2F33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0E881EA1-49BF-416A-85DE-896CE4F6B4DC}"/>
    <pc:docChg chg="modSld">
      <pc:chgData name="Harsha Abhi" userId="f8e599a9041de5bd" providerId="LiveId" clId="{0E881EA1-49BF-416A-85DE-896CE4F6B4DC}" dt="2026-04-09T10:21:51.920" v="11" actId="1036"/>
      <pc:docMkLst>
        <pc:docMk/>
      </pc:docMkLst>
      <pc:sldChg chg="modSp mod">
        <pc:chgData name="Harsha Abhi" userId="f8e599a9041de5bd" providerId="LiveId" clId="{0E881EA1-49BF-416A-85DE-896CE4F6B4DC}" dt="2026-04-09T10:20:38.010" v="2" actId="1035"/>
        <pc:sldMkLst>
          <pc:docMk/>
          <pc:sldMk cId="3623988938" sldId="504"/>
        </pc:sldMkLst>
        <pc:picChg chg="mod">
          <ac:chgData name="Harsha Abhi" userId="f8e599a9041de5bd" providerId="LiveId" clId="{0E881EA1-49BF-416A-85DE-896CE4F6B4DC}" dt="2026-04-09T10:20:38.010" v="2" actId="1035"/>
          <ac:picMkLst>
            <pc:docMk/>
            <pc:sldMk cId="3623988938" sldId="504"/>
            <ac:picMk id="7" creationId="{09CB3AC2-B0B4-419D-B650-D4BD38E502D8}"/>
          </ac:picMkLst>
        </pc:picChg>
      </pc:sldChg>
      <pc:sldChg chg="modSp mod">
        <pc:chgData name="Harsha Abhi" userId="f8e599a9041de5bd" providerId="LiveId" clId="{0E881EA1-49BF-416A-85DE-896CE4F6B4DC}" dt="2026-04-09T10:21:13.980" v="4" actId="14100"/>
        <pc:sldMkLst>
          <pc:docMk/>
          <pc:sldMk cId="869184245" sldId="505"/>
        </pc:sldMkLst>
        <pc:picChg chg="mod">
          <ac:chgData name="Harsha Abhi" userId="f8e599a9041de5bd" providerId="LiveId" clId="{0E881EA1-49BF-416A-85DE-896CE4F6B4DC}" dt="2026-04-09T10:21:13.980" v="4" actId="14100"/>
          <ac:picMkLst>
            <pc:docMk/>
            <pc:sldMk cId="869184245" sldId="505"/>
            <ac:picMk id="7" creationId="{F347D205-3AB4-45D3-AE05-B389BDF5275C}"/>
          </ac:picMkLst>
        </pc:picChg>
      </pc:sldChg>
      <pc:sldChg chg="modSp mod">
        <pc:chgData name="Harsha Abhi" userId="f8e599a9041de5bd" providerId="LiveId" clId="{0E881EA1-49BF-416A-85DE-896CE4F6B4DC}" dt="2026-04-09T10:21:51.920" v="11" actId="1036"/>
        <pc:sldMkLst>
          <pc:docMk/>
          <pc:sldMk cId="2953433269" sldId="514"/>
        </pc:sldMkLst>
        <pc:picChg chg="mod">
          <ac:chgData name="Harsha Abhi" userId="f8e599a9041de5bd" providerId="LiveId" clId="{0E881EA1-49BF-416A-85DE-896CE4F6B4DC}" dt="2026-04-09T10:21:51.920" v="11" actId="1036"/>
          <ac:picMkLst>
            <pc:docMk/>
            <pc:sldMk cId="2953433269" sldId="514"/>
            <ac:picMk id="7" creationId="{54706607-6C4A-41DD-B997-D7B9C4EE10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09-Apr-26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09-Apr-26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Routing Algorithms: Flooding, Shortest path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28171" y="511952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- 20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Static routing algorithms 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</a:t>
            </a:r>
            <a:r>
              <a:rPr lang="en-US" sz="1600" dirty="0">
                <a:latin typeface="Arial" panose="020B0604020202020204" pitchFamily="34" charset="0"/>
              </a:rPr>
              <a:t>optimality principle of routing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routing process of Flooding algorithm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Explain the routing process of shortest path routing algorithm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Compare static and dynamic routing.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Illustrate the working of Flooding algorithm. 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Compute the shortest path using Dijkstra’s algorithm.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995362" y="88626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AB537D-1F06-ED24-7B76-3E4905C39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74" y="1081040"/>
            <a:ext cx="10923564" cy="520721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1900" dirty="0">
                <a:latin typeface="Times-Roman"/>
              </a:rPr>
              <a:t>The main function of the network layer is </a:t>
            </a:r>
            <a:r>
              <a:rPr lang="en-US" sz="1900" b="1" dirty="0">
                <a:latin typeface="Times-Roman"/>
              </a:rPr>
              <a:t>routing packets </a:t>
            </a:r>
            <a:r>
              <a:rPr lang="en-US" sz="1900" dirty="0">
                <a:latin typeface="Times-Roman"/>
              </a:rPr>
              <a:t>from the source machine to the destination machine. Packets will require </a:t>
            </a:r>
            <a:r>
              <a:rPr lang="en-US" sz="1900" b="1" dirty="0">
                <a:latin typeface="Times-Roman"/>
              </a:rPr>
              <a:t>multiple hops </a:t>
            </a:r>
            <a:r>
              <a:rPr lang="en-US" sz="1900" dirty="0">
                <a:latin typeface="Times-Roman"/>
              </a:rPr>
              <a:t>to make the journey. </a:t>
            </a:r>
          </a:p>
          <a:p>
            <a:pPr algn="just"/>
            <a:endParaRPr lang="en-US" sz="1900" dirty="0">
              <a:latin typeface="Times-Roman"/>
            </a:endParaRPr>
          </a:p>
          <a:p>
            <a:pPr algn="just"/>
            <a:r>
              <a:rPr lang="en-US" sz="1900" b="1" dirty="0">
                <a:latin typeface="Times-Bold"/>
              </a:rPr>
              <a:t>Routing algorithm </a:t>
            </a:r>
            <a:r>
              <a:rPr lang="en-US" sz="1900" dirty="0">
                <a:latin typeface="Times-Roman"/>
              </a:rPr>
              <a:t>is part of the network layer software responsible for deciding which output line an incoming packet should be transmitted on. </a:t>
            </a:r>
          </a:p>
          <a:p>
            <a:pPr algn="just"/>
            <a:endParaRPr lang="en-US" sz="1900" dirty="0">
              <a:latin typeface="Times-Roman"/>
            </a:endParaRPr>
          </a:p>
          <a:p>
            <a:pPr algn="just"/>
            <a:r>
              <a:rPr lang="en-US" sz="1900" dirty="0">
                <a:latin typeface="Times-Roman"/>
              </a:rPr>
              <a:t>Datagram network: </a:t>
            </a:r>
            <a:r>
              <a:rPr lang="en-US" sz="1900" b="1" dirty="0">
                <a:latin typeface="Times-Roman"/>
              </a:rPr>
              <a:t>Routing Decision must be made anew for every arriving data packet </a:t>
            </a:r>
            <a:r>
              <a:rPr lang="en-US" sz="1900" dirty="0">
                <a:latin typeface="Times-Roman"/>
              </a:rPr>
              <a:t>since the best route may have changed since last time. </a:t>
            </a:r>
          </a:p>
          <a:p>
            <a:pPr algn="just"/>
            <a:endParaRPr lang="en-US" sz="1900" dirty="0">
              <a:latin typeface="Times-Roman"/>
            </a:endParaRPr>
          </a:p>
          <a:p>
            <a:pPr algn="just"/>
            <a:r>
              <a:rPr lang="en-US" sz="1900" dirty="0">
                <a:latin typeface="Times-Roman"/>
              </a:rPr>
              <a:t>Virtual circuit Network: </a:t>
            </a:r>
            <a:r>
              <a:rPr lang="en-US" sz="1900" b="1" dirty="0">
                <a:latin typeface="Times-Roman"/>
              </a:rPr>
              <a:t>Routing decisions are made only when a new virtual circuit is being set up</a:t>
            </a:r>
            <a:r>
              <a:rPr lang="en-US" sz="1900" dirty="0">
                <a:latin typeface="Times-Roman"/>
              </a:rPr>
              <a:t>. Thereafter, data packets just follow the already established route. </a:t>
            </a:r>
          </a:p>
          <a:p>
            <a:pPr algn="just"/>
            <a:endParaRPr lang="en-US" sz="1900" dirty="0"/>
          </a:p>
          <a:p>
            <a:pPr algn="just"/>
            <a:endParaRPr lang="en-US" sz="1900" dirty="0"/>
          </a:p>
          <a:p>
            <a:pPr algn="just"/>
            <a:r>
              <a:rPr lang="en-US" sz="1900" b="1" dirty="0">
                <a:latin typeface="Times-Roman"/>
              </a:rPr>
              <a:t>When a router receives a packet, it handles two processes:</a:t>
            </a:r>
          </a:p>
          <a:p>
            <a:pPr lvl="2" algn="just">
              <a:buNone/>
            </a:pPr>
            <a:r>
              <a:rPr lang="en-US" sz="1900" dirty="0">
                <a:solidFill>
                  <a:srgbClr val="0070C0"/>
                </a:solidFill>
                <a:latin typeface="Times-Roman"/>
              </a:rPr>
              <a:t>1. Forwarding process-</a:t>
            </a:r>
            <a:r>
              <a:rPr lang="en-US" sz="1900" dirty="0">
                <a:latin typeface="Times-Roman"/>
              </a:rPr>
              <a:t> Looking up the outgoing line to use for it in the routing table.</a:t>
            </a:r>
          </a:p>
          <a:p>
            <a:pPr lvl="2" algn="just">
              <a:buNone/>
            </a:pPr>
            <a:r>
              <a:rPr lang="en-US" sz="1900" dirty="0">
                <a:solidFill>
                  <a:srgbClr val="0070C0"/>
                </a:solidFill>
                <a:latin typeface="Times-Roman"/>
              </a:rPr>
              <a:t>2. Table Updating process- </a:t>
            </a:r>
            <a:r>
              <a:rPr lang="en-US" sz="1900" dirty="0">
                <a:latin typeface="Times-Roman"/>
              </a:rPr>
              <a:t>Responsible for filling in and updating the routing table.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515600" cy="7180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b="1" dirty="0"/>
              <a:t>Properties of Routing Algorithms…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7231" y="1009357"/>
            <a:ext cx="11957538" cy="5848643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routing algorithms is to calculate `good’ routes.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Regardless of whether routes are chosen independently for each packet sent(Datagrams) or only when new connections are established(Virtual Circuits), certain properties are desirable in a routing algorithm.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Correctness: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routing should be done properly and correctly so that the packets may reach their proper destination.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Simplicity: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routing should be done in a simple manner so that the overhead is as low as possible.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algorithms designed for routing should be robust enough to handle hardware and software failures and should be able to cope with changes in the topology and traffic. 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routing algorithms should be stable under all possible circumstances.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node connected to the network should get a fair chance of transmitting their packets. This is generally done on a first come first serve basis.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Optimality: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routing algorithms should be optimal in terms of throughput and minimizing mean packet delays. 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97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4" y="136525"/>
            <a:ext cx="10515600" cy="6857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Types of Routing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084" y="1155470"/>
            <a:ext cx="11062042" cy="5021494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algorithms can be grouped into two major classes: </a:t>
            </a:r>
          </a:p>
          <a:p>
            <a:pPr marL="1490663" indent="-112713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Non-adaptive </a:t>
            </a:r>
          </a:p>
          <a:p>
            <a:pPr marL="1490663" indent="-112713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Adaptive</a:t>
            </a:r>
          </a:p>
          <a:p>
            <a:pPr marL="137795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Non-Adaptive:</a:t>
            </a:r>
          </a:p>
          <a:p>
            <a:pPr lvl="1" algn="just"/>
            <a:r>
              <a:rPr lang="en-US" sz="1800" b="0" i="0" u="none" strike="noStrike" baseline="0" dirty="0">
                <a:latin typeface="Times-Roman"/>
              </a:rPr>
              <a:t>Routing decisions does not depend on measurements or estimates of the current topology and traffic.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route to travel from source to destination is computed in advance.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procedure is sometimes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routing.</a:t>
            </a:r>
          </a:p>
          <a:p>
            <a:pPr marL="457200" lvl="1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algorithms: 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their routing decisions to reflect changes in the topology, and sometimes changes in the traffic as well. </a:t>
            </a:r>
          </a:p>
          <a:p>
            <a:pPr lvl="1"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26584" y="1485900"/>
            <a:ext cx="11165416" cy="5235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Optimality Principle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Vector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State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Routing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Routing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74444"/>
            <a:ext cx="7377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00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List of Routing Algorithms</a:t>
            </a:r>
            <a:endParaRPr lang="en-IN" sz="4000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58818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702531"/>
          </a:xfrm>
        </p:spPr>
        <p:txBody>
          <a:bodyPr>
            <a:normAutofit/>
          </a:bodyPr>
          <a:lstStyle/>
          <a:p>
            <a:r>
              <a:rPr lang="en-US" dirty="0"/>
              <a:t>Optimality Principle states that </a:t>
            </a:r>
          </a:p>
          <a:p>
            <a:pPr marL="0" indent="0" algn="ctr">
              <a:buNone/>
            </a:pPr>
            <a:r>
              <a:rPr lang="en-US" i="1" dirty="0">
                <a:solidFill>
                  <a:srgbClr val="0070C0"/>
                </a:solidFill>
              </a:rPr>
              <a:t>“ if router J is on the optimal path from router I to router K, then the optimal path from J to K also falls along the same route.”</a:t>
            </a:r>
          </a:p>
          <a:p>
            <a:pPr marL="0" indent="0" algn="ctr">
              <a:buNone/>
            </a:pPr>
            <a:endParaRPr lang="en-US" i="1" dirty="0">
              <a:solidFill>
                <a:srgbClr val="0070C0"/>
              </a:solidFill>
            </a:endParaRPr>
          </a:p>
          <a:p>
            <a:pPr algn="l"/>
            <a:r>
              <a:rPr lang="en-US" sz="2400" dirty="0">
                <a:latin typeface="Times-Roman"/>
              </a:rPr>
              <a:t>Let us </a:t>
            </a:r>
            <a:r>
              <a:rPr lang="en-US" sz="2400" b="0" i="0" u="none" strike="noStrike" baseline="0" dirty="0">
                <a:latin typeface="Times-Roman"/>
              </a:rPr>
              <a:t>call the part of the route from </a:t>
            </a:r>
            <a:r>
              <a:rPr lang="en-US" sz="2400" b="0" i="1" u="none" strike="noStrike" baseline="0" dirty="0">
                <a:latin typeface="Times-Italic"/>
              </a:rPr>
              <a:t>I </a:t>
            </a:r>
            <a:r>
              <a:rPr lang="en-US" sz="2400" b="0" i="0" u="none" strike="noStrike" baseline="0" dirty="0">
                <a:latin typeface="Times-Roman"/>
              </a:rPr>
              <a:t>to </a:t>
            </a:r>
            <a:r>
              <a:rPr lang="en-US" sz="2400" b="0" i="1" u="none" strike="noStrike" baseline="0" dirty="0">
                <a:latin typeface="Times-Italic"/>
              </a:rPr>
              <a:t>J as r</a:t>
            </a:r>
            <a:r>
              <a:rPr lang="en-US" sz="2400" b="0" i="0" u="none" strike="noStrike" baseline="0" dirty="0">
                <a:latin typeface="Times-Roman"/>
              </a:rPr>
              <a:t>1 and the rest of the route as </a:t>
            </a:r>
            <a:r>
              <a:rPr lang="en-US" sz="2400" b="0" i="1" u="none" strike="noStrike" baseline="0" dirty="0">
                <a:latin typeface="Times-Italic"/>
              </a:rPr>
              <a:t>r</a:t>
            </a:r>
            <a:r>
              <a:rPr lang="en-US" sz="2400" b="0" i="0" u="none" strike="noStrike" baseline="0" dirty="0">
                <a:latin typeface="Times-Roman"/>
              </a:rPr>
              <a:t>2</a:t>
            </a:r>
            <a:r>
              <a:rPr lang="en-US" sz="2400" b="0" i="1" u="none" strike="noStrike" baseline="0" dirty="0">
                <a:latin typeface="Times-Italic"/>
              </a:rPr>
              <a:t>. </a:t>
            </a:r>
          </a:p>
          <a:p>
            <a:pPr algn="l"/>
            <a:endParaRPr lang="en-US" sz="2400" b="0" i="1" u="none" strike="noStrike" baseline="0" dirty="0">
              <a:latin typeface="Times-Italic"/>
            </a:endParaRP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If a route better than </a:t>
            </a:r>
            <a:r>
              <a:rPr lang="en-US" sz="2400" b="0" i="1" u="none" strike="noStrike" baseline="0" dirty="0">
                <a:latin typeface="Times-Italic"/>
              </a:rPr>
              <a:t>r</a:t>
            </a:r>
            <a:r>
              <a:rPr lang="en-US" sz="2400" b="0" i="0" u="none" strike="noStrike" baseline="0" dirty="0">
                <a:latin typeface="Times-Roman"/>
              </a:rPr>
              <a:t>2 existed from </a:t>
            </a:r>
            <a:r>
              <a:rPr lang="en-US" sz="2400" b="0" i="1" u="none" strike="noStrike" baseline="0" dirty="0">
                <a:latin typeface="Times-Italic"/>
              </a:rPr>
              <a:t>J </a:t>
            </a:r>
            <a:r>
              <a:rPr lang="en-US" sz="2400" b="0" i="0" u="none" strike="noStrike" baseline="0" dirty="0">
                <a:latin typeface="Times-Roman"/>
              </a:rPr>
              <a:t>to </a:t>
            </a:r>
            <a:r>
              <a:rPr lang="en-US" sz="2400" b="0" i="1" u="none" strike="noStrike" baseline="0" dirty="0">
                <a:latin typeface="Times-Italic"/>
              </a:rPr>
              <a:t>K</a:t>
            </a:r>
            <a:r>
              <a:rPr lang="en-US" sz="2400" b="0" i="0" u="none" strike="noStrike" baseline="0" dirty="0">
                <a:latin typeface="Times-Roman"/>
              </a:rPr>
              <a:t>, it could be concatenated with </a:t>
            </a:r>
            <a:r>
              <a:rPr lang="en-US" sz="2400" b="0" i="1" u="none" strike="noStrike" baseline="0" dirty="0">
                <a:latin typeface="Times-Italic"/>
              </a:rPr>
              <a:t>r</a:t>
            </a:r>
            <a:r>
              <a:rPr lang="en-US" sz="2400" b="0" i="0" u="none" strike="noStrike" baseline="0" dirty="0">
                <a:latin typeface="Times-Roman"/>
              </a:rPr>
              <a:t>1 to improve the route from </a:t>
            </a:r>
            <a:r>
              <a:rPr lang="en-US" sz="2400" b="0" i="1" u="none" strike="noStrike" baseline="0" dirty="0">
                <a:latin typeface="Times-Italic"/>
              </a:rPr>
              <a:t>I </a:t>
            </a:r>
            <a:r>
              <a:rPr lang="en-US" sz="2400" b="0" i="0" u="none" strike="noStrike" baseline="0" dirty="0">
                <a:latin typeface="Times-Roman"/>
              </a:rPr>
              <a:t>to </a:t>
            </a:r>
            <a:r>
              <a:rPr lang="en-US" sz="2400" b="0" i="1" u="none" strike="noStrike" baseline="0" dirty="0">
                <a:latin typeface="Times-Italic"/>
              </a:rPr>
              <a:t>K</a:t>
            </a:r>
            <a:r>
              <a:rPr lang="en-US" sz="2400" b="0" i="0" u="none" strike="noStrike" baseline="0" dirty="0">
                <a:latin typeface="Times-Roman"/>
              </a:rPr>
              <a:t>, contradicting our statement that </a:t>
            </a:r>
            <a:r>
              <a:rPr lang="en-US" sz="2400" b="0" i="1" u="none" strike="noStrike" baseline="0" dirty="0">
                <a:latin typeface="Times-Italic"/>
              </a:rPr>
              <a:t>r</a:t>
            </a:r>
            <a:r>
              <a:rPr lang="en-US" sz="2400" b="0" i="0" u="none" strike="noStrike" baseline="0" dirty="0">
                <a:latin typeface="Times-Roman"/>
              </a:rPr>
              <a:t>1</a:t>
            </a:r>
            <a:r>
              <a:rPr lang="en-US" sz="2400" b="0" i="1" u="none" strike="noStrike" baseline="0" dirty="0">
                <a:latin typeface="Times-Italic"/>
              </a:rPr>
              <a:t>r</a:t>
            </a:r>
            <a:r>
              <a:rPr lang="en-US" sz="2400" b="0" i="0" u="none" strike="noStrike" baseline="0" dirty="0">
                <a:latin typeface="Times-Roman"/>
              </a:rPr>
              <a:t>2 is optimal.</a:t>
            </a:r>
            <a:endParaRPr lang="en-US" sz="3600" i="1" dirty="0">
              <a:solidFill>
                <a:srgbClr val="0070C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4F1DA917-5DFC-87F6-FAD5-14F5245E414C}"/>
              </a:ext>
            </a:extLst>
          </p:cNvPr>
          <p:cNvSpPr/>
          <p:nvPr/>
        </p:nvSpPr>
        <p:spPr>
          <a:xfrm>
            <a:off x="2897944" y="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Optimality Principle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3013" y="-3584"/>
            <a:ext cx="10515600" cy="6857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The Optimality principle Example…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F25CA6-75F4-4B5D-8FD8-8E7FE3067661}"/>
              </a:ext>
            </a:extLst>
          </p:cNvPr>
          <p:cNvSpPr txBox="1"/>
          <p:nvPr/>
        </p:nvSpPr>
        <p:spPr>
          <a:xfrm>
            <a:off x="396240" y="1012954"/>
            <a:ext cx="584981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Example</a:t>
            </a:r>
          </a:p>
          <a:p>
            <a:pPr algn="just"/>
            <a:r>
              <a:rPr lang="en-US" sz="2200" dirty="0"/>
              <a:t>Consider a network of routers, {G, H, I, J, K, L, M, N} as shown in the figure. Let the optimal route from I to K be as shown via the green path, i.e. via the route I-G-J-L-K. According to the optimality principle, the optimal path from J to K with be along the same route, i.e. J-L-K.</a:t>
            </a:r>
          </a:p>
          <a:p>
            <a:pPr algn="just"/>
            <a:endParaRPr lang="en-US" sz="2400" dirty="0"/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Now, suppose we find a better route from J to K is found, say along J-M-N-K. Consequently, we will also need to update the optimal route from I to K as I-G-J-M-N-K. This new optimal path is shown as orange lines in the figure.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5C4EF-C81C-3AA3-184A-E426675D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942" y="1191895"/>
            <a:ext cx="5359171" cy="2464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3EBA47-4DC3-A28D-990B-D57A4DF5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942" y="4166159"/>
            <a:ext cx="5359171" cy="247986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044F0A-9E39-A990-4FDF-AC7A837C9B98}"/>
              </a:ext>
            </a:extLst>
          </p:cNvPr>
          <p:cNvCxnSpPr/>
          <p:nvPr/>
        </p:nvCxnSpPr>
        <p:spPr>
          <a:xfrm>
            <a:off x="0" y="395302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43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AD282-2456-4AFE-B0B9-FD1ACC5C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2" y="6356350"/>
            <a:ext cx="2568811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>
              <a:spcAft>
                <a:spcPts val="600"/>
              </a:spcAft>
            </a:pPr>
            <a:fld id="{68187FF5-4BF9-4B21-B0D2-9B7FF2B27D7F}" type="slidenum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3D4E9-F3A8-4D14-9F61-F1160DBA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0000"/>
                </a:solidFill>
                <a:latin typeface="Algerian" panose="04020705040A02060702" pitchFamily="82" charset="0"/>
              </a:rPr>
              <a:t>Flooding</a:t>
            </a:r>
          </a:p>
        </p:txBody>
      </p:sp>
    </p:spTree>
    <p:extLst>
      <p:ext uri="{BB962C8B-B14F-4D97-AF65-F5344CB8AC3E}">
        <p14:creationId xmlns:p14="http://schemas.microsoft.com/office/powerpoint/2010/main" val="271237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606" y="1149399"/>
            <a:ext cx="10923563" cy="5708601"/>
          </a:xfrm>
        </p:spPr>
        <p:txBody>
          <a:bodyPr>
            <a:normAutofit/>
          </a:bodyPr>
          <a:lstStyle/>
          <a:p>
            <a:pPr lvl="0"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no network information like topology, load condition, cost of different paths, etc.</a:t>
            </a:r>
          </a:p>
          <a:p>
            <a:pPr lvl="0" algn="just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incoming packet to a node is sent out on every outgoing line except the one it arrived on.</a:t>
            </a:r>
          </a:p>
          <a:p>
            <a:pPr lvl="0" algn="just"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–</a:t>
            </a:r>
          </a:p>
          <a:p>
            <a:pPr lvl="1" algn="just" fontAlgn="base"/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Flooding generates vast number of duplicate packets</a:t>
            </a:r>
          </a:p>
          <a:p>
            <a:pPr lvl="1" algn="just" fontAlgn="base"/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5425" lvl="1" indent="-225425"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damping mechanism must be used</a:t>
            </a:r>
          </a:p>
          <a:p>
            <a:pPr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10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142F47-8CDE-47AB-BBE0-EE5AA35C1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418" y="3120297"/>
            <a:ext cx="4411976" cy="3601177"/>
          </a:xfrm>
          <a:prstGeom prst="rect">
            <a:avLst/>
          </a:prstGeom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26FF4732-CA12-DD9A-800F-67545BC35625}"/>
              </a:ext>
            </a:extLst>
          </p:cNvPr>
          <p:cNvSpPr/>
          <p:nvPr/>
        </p:nvSpPr>
        <p:spPr>
          <a:xfrm>
            <a:off x="2897944" y="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1. Flooding Algorithm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Flooding…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708" y="1155470"/>
            <a:ext cx="10791092" cy="5021494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 obviously generates vast numbers of duplicate packets, in fact, an infinite number unless some measures are taken to damp the process. One such measure is to have a hop counter.</a:t>
            </a:r>
          </a:p>
          <a:p>
            <a:pPr marL="0" indent="0" algn="just">
              <a:buNone/>
            </a:pP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Hop: </a:t>
            </a:r>
          </a:p>
          <a:p>
            <a:pPr lvl="1"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hop is a computer networking term that refers to the number of routers that a packet passes through from its source to its destination.</a:t>
            </a:r>
          </a:p>
          <a:p>
            <a:pPr marL="457200" lvl="1" indent="0" algn="just" fontAlgn="base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Hop-Count:</a:t>
            </a:r>
          </a:p>
          <a:p>
            <a:pPr lvl="1"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hop counter may be contained in the packet header which is decremented at each hop.</a:t>
            </a:r>
          </a:p>
          <a:p>
            <a:pPr lvl="1" algn="just" fontAlgn="base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packet is discarded when the counter becomes zero.</a:t>
            </a:r>
          </a:p>
          <a:p>
            <a:pPr lvl="1" algn="just" fontAlgn="base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Ideally, the hop counter should be initialized to the length of the path from source to destination.</a:t>
            </a:r>
          </a:p>
          <a:p>
            <a:pPr lvl="1" algn="just" fontAlgn="base"/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sender does not know how long the path is, it can initialize the counter to the worst case, namely, the full diameter of the network.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11</a:t>
            </a:fld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Flooding…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4856"/>
            <a:ext cx="10515600" cy="50214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Number:</a:t>
            </a:r>
          </a:p>
          <a:p>
            <a:pPr algn="just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Flooding with a hop count can produce an exponential number of duplicate packets as the hop count grows and routers duplicate packets they have seen before.</a:t>
            </a:r>
          </a:p>
          <a:p>
            <a:pPr algn="just"/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technique for damming the flood is to have routers keep track of which packets have been flooded, to avoid sending them out a second time. </a:t>
            </a:r>
          </a:p>
          <a:p>
            <a:pPr algn="just"/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to achieve this goal is to have the source router put a </a:t>
            </a:r>
            <a:r>
              <a:rPr lang="en-US" sz="28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each packet it receives from its hosts.</a:t>
            </a:r>
          </a:p>
          <a:p>
            <a:pPr algn="just"/>
            <a:endParaRPr lang="en-US" sz="2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then needs a list per source router telling which sequence numbers originating at that source have already been seen. If an incoming packet is on the list, it is not flooded.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Flooding: </a:t>
            </a:r>
          </a:p>
          <a:p>
            <a:pPr algn="just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Routers do not send every incoming packet out on every line, only on those lines that go in approximately in the direction of the destination.</a:t>
            </a:r>
          </a:p>
          <a:p>
            <a:pPr algn="just" fontAlgn="base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12</a:t>
            </a:fld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AD282-2456-4AFE-B0B9-FD1ACC5C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1732" y="6356350"/>
            <a:ext cx="2568811" cy="365125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algn="l">
              <a:spcAft>
                <a:spcPts val="600"/>
              </a:spcAft>
            </a:pPr>
            <a:fld id="{68187FF5-4BF9-4B21-B0D2-9B7FF2B27D7F}" type="slidenum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3D4E9-F3A8-4D14-9F61-F1160DBA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 dirty="0">
                <a:solidFill>
                  <a:srgbClr val="FF0000"/>
                </a:solidFill>
                <a:latin typeface="Algerian" panose="04020705040A02060702" pitchFamily="82" charset="0"/>
              </a:rPr>
              <a:t>Shortest path routing</a:t>
            </a:r>
          </a:p>
        </p:txBody>
      </p:sp>
    </p:spTree>
    <p:extLst>
      <p:ext uri="{BB962C8B-B14F-4D97-AF65-F5344CB8AC3E}">
        <p14:creationId xmlns:p14="http://schemas.microsoft.com/office/powerpoint/2010/main" val="250369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4105"/>
            <a:ext cx="10515600" cy="4351338"/>
          </a:xfrm>
        </p:spPr>
        <p:txBody>
          <a:bodyPr/>
          <a:lstStyle/>
          <a:p>
            <a:pPr algn="just"/>
            <a:r>
              <a:rPr lang="en-US" sz="2400" dirty="0"/>
              <a:t>A graph for the subnet is built with each node of the graph representing a router and each arc of the graph representing communication line.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The algorithm finds a shortest path from a node to all other nodes in the network.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Dijkstra’s algorithm is used for solving the problem.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Steps followed:</a:t>
            </a:r>
          </a:p>
          <a:p>
            <a:pPr lvl="1" algn="just"/>
            <a:r>
              <a:rPr lang="en-US" sz="2000" dirty="0" err="1"/>
              <a:t>Dijkstra’s</a:t>
            </a:r>
            <a:r>
              <a:rPr lang="en-US" sz="2000" dirty="0"/>
              <a:t> algorithm starts by assigning some initial values for the distance from node S to every other node in the network</a:t>
            </a:r>
          </a:p>
          <a:p>
            <a:pPr lvl="1" algn="just"/>
            <a:r>
              <a:rPr lang="en-US" sz="2000" dirty="0"/>
              <a:t>At each step, the shortest distance from node S to another node is determined.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14</a:t>
            </a:fld>
            <a:endParaRPr lang="en-AU"/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7A7B0D1-C686-47E7-CBCA-1441CF50D0F8}"/>
              </a:ext>
            </a:extLst>
          </p:cNvPr>
          <p:cNvSpPr/>
          <p:nvPr/>
        </p:nvSpPr>
        <p:spPr>
          <a:xfrm>
            <a:off x="2897944" y="0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2. Shortest Path Routing Algorithm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B2E3-A623-4B54-BF30-AF04590B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BD873-1534-42E2-81DB-B946AE20F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7B7BF-E06D-467E-A44F-E5061247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15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CABE2-A4E6-4244-9A7F-491F5C7F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99" y="0"/>
            <a:ext cx="9867901" cy="685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4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D5CC-E94A-4B79-B34F-CE6108E3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00E3F-74E0-417B-8A12-6DBEAE497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6DE0E-54FA-42CD-B5C0-BAEE314C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B3AC2-B0B4-419D-B650-D4BD38E50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78"/>
            <a:ext cx="12191999" cy="696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98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E9E5-07E4-4876-B8E0-D0499C5E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0D0CE-D37F-4D44-A09E-18F635BF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D872C-A13A-43F1-9974-2CF086CC8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D871E-9A4F-4B18-97CE-D7D8257D2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17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7D205-3AB4-45D3-AE05-B389BDF5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4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FE23-4620-41BF-A8EF-7AF378D4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1D6F5-5F63-418B-BBB9-342BC61E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B7FF5-CABF-4BF9-A088-87206467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18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06607-6C4A-41DD-B997-D7B9C4EE1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0"/>
            <a:ext cx="12192000" cy="685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3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844" y="2302412"/>
            <a:ext cx="6654018" cy="4731434"/>
          </a:xfrm>
        </p:spPr>
        <p:txBody>
          <a:bodyPr>
            <a:normAutofit/>
          </a:bodyPr>
          <a:lstStyle/>
          <a:p>
            <a:r>
              <a:rPr lang="en-US" sz="2400" dirty="0"/>
              <a:t>Optimality Principle</a:t>
            </a:r>
          </a:p>
          <a:p>
            <a:endParaRPr lang="en-US" sz="2400" dirty="0"/>
          </a:p>
          <a:p>
            <a:r>
              <a:rPr lang="en-US" sz="2400" dirty="0"/>
              <a:t>Flooding algorithm</a:t>
            </a:r>
          </a:p>
          <a:p>
            <a:endParaRPr lang="en-US" sz="2400" dirty="0"/>
          </a:p>
          <a:p>
            <a:r>
              <a:rPr lang="en-US" sz="2400" dirty="0"/>
              <a:t>Shortest Path Routing algorithm 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A6E623D-BF52-6CE8-7DF9-98E41C00C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BF5AC92A-328E-35D9-8A83-66295DF01654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528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1000902"/>
            <a:ext cx="10818056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/>
              <a:t>Compare adaptive and non-adaptive routing algorithms. 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/>
              <a:t>Define optimality principle with an example. 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/>
              <a:t>Illustrate the routing process of flooding algorithm. 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/>
              <a:t>Mention the drawback of flooding algorithm and explain the methods to overcome the drawback.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/>
              <a:t>Consider the network given. Compute shortest path from node A to all other nodes. </a:t>
            </a: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sz="2000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CC49FB-AFDB-C7EC-EDCD-4E84F56A6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096" y="3948437"/>
            <a:ext cx="4016957" cy="249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dirty="0"/>
              <a:t>Behrouz A. </a:t>
            </a:r>
            <a:r>
              <a:rPr lang="en-US" dirty="0" err="1"/>
              <a:t>Forouzan</a:t>
            </a:r>
            <a:r>
              <a:rPr lang="en-US" dirty="0"/>
              <a:t> , “Data Communication and Networking”, TMH, 5th Edition, 2012.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https://www.tutorialspoint.com/the-optimality-principle-in-computer-networks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</TotalTime>
  <Words>1396</Words>
  <Application>Microsoft Office PowerPoint</Application>
  <PresentationFormat>Widescreen</PresentationFormat>
  <Paragraphs>185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Algerian</vt:lpstr>
      <vt:lpstr>Arial</vt:lpstr>
      <vt:lpstr>BioRhyme ExtraBold</vt:lpstr>
      <vt:lpstr>Calibri</vt:lpstr>
      <vt:lpstr>Poppins</vt:lpstr>
      <vt:lpstr>Times New Roman</vt:lpstr>
      <vt:lpstr>Times-Bold</vt:lpstr>
      <vt:lpstr>Times-Italic</vt:lpstr>
      <vt:lpstr>Times-Roman</vt:lpstr>
      <vt:lpstr>Wingdings</vt:lpstr>
      <vt:lpstr>1_Office Theme</vt:lpstr>
      <vt:lpstr>PowerPoint Presentation</vt:lpstr>
      <vt:lpstr>PowerPoint Presentation</vt:lpstr>
      <vt:lpstr>PowerPoint Presentation</vt:lpstr>
      <vt:lpstr>Properties of Routing Algorithms…</vt:lpstr>
      <vt:lpstr>Types of Routing Algorithms</vt:lpstr>
      <vt:lpstr>PowerPoint Presentation</vt:lpstr>
      <vt:lpstr>PowerPoint Presentation</vt:lpstr>
      <vt:lpstr>The Optimality principle Example…</vt:lpstr>
      <vt:lpstr>Flooding</vt:lpstr>
      <vt:lpstr>PowerPoint Presentation</vt:lpstr>
      <vt:lpstr>Flooding…</vt:lpstr>
      <vt:lpstr>Flooding…</vt:lpstr>
      <vt:lpstr>Shortest path routing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Harsha Abhi</cp:lastModifiedBy>
  <cp:revision>40</cp:revision>
  <dcterms:created xsi:type="dcterms:W3CDTF">2020-02-08T09:57:44Z</dcterms:created>
  <dcterms:modified xsi:type="dcterms:W3CDTF">2026-04-09T10:21:59Z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