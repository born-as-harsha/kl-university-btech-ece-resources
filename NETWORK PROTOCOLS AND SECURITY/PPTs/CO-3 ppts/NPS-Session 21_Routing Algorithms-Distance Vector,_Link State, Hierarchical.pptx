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27"/>
  </p:notesMasterIdLst>
  <p:sldIdLst>
    <p:sldId id="271" r:id="rId5"/>
    <p:sldId id="300" r:id="rId6"/>
    <p:sldId id="508" r:id="rId7"/>
    <p:sldId id="509" r:id="rId8"/>
    <p:sldId id="460" r:id="rId9"/>
    <p:sldId id="511" r:id="rId10"/>
    <p:sldId id="512" r:id="rId11"/>
    <p:sldId id="462" r:id="rId12"/>
    <p:sldId id="516" r:id="rId13"/>
    <p:sldId id="517" r:id="rId14"/>
    <p:sldId id="518" r:id="rId15"/>
    <p:sldId id="465" r:id="rId16"/>
    <p:sldId id="519" r:id="rId17"/>
    <p:sldId id="466" r:id="rId18"/>
    <p:sldId id="520" r:id="rId19"/>
    <p:sldId id="521" r:id="rId20"/>
    <p:sldId id="522" r:id="rId21"/>
    <p:sldId id="467" r:id="rId22"/>
    <p:sldId id="274" r:id="rId23"/>
    <p:sldId id="302" r:id="rId24"/>
    <p:sldId id="303" r:id="rId25"/>
    <p:sldId id="304"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A2532"/>
    <a:srgbClr val="FF9900"/>
    <a:srgbClr val="E84845"/>
    <a:srgbClr val="FAD2D2"/>
    <a:srgbClr val="F89E4C"/>
    <a:srgbClr val="A81E24"/>
    <a:srgbClr val="FFF2CC"/>
    <a:srgbClr val="CF2F33"/>
    <a:srgbClr val="E3293B"/>
    <a:srgbClr val="FFFCF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0"/>
    <p:restoredTop sz="94689"/>
  </p:normalViewPr>
  <p:slideViewPr>
    <p:cSldViewPr snapToGrid="0">
      <p:cViewPr varScale="1">
        <p:scale>
          <a:sx n="65" d="100"/>
          <a:sy n="65" d="100"/>
        </p:scale>
        <p:origin x="700" y="60"/>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ADD66ED-011C-444B-AF08-9B316B070C56}" type="datetimeFigureOut">
              <a:rPr lang="en-US" smtClean="0"/>
              <a:pPr/>
              <a:t>12/17/2025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4E4ADD7-897F-4F47-A317-DE24AB827DD3}" type="slidenum">
              <a:rPr lang="en-US" smtClean="0"/>
              <a:pPr/>
              <a:t>‹#›</a:t>
            </a:fld>
            <a:endParaRPr lang="en-US"/>
          </a:p>
        </p:txBody>
      </p:sp>
    </p:spTree>
    <p:extLst>
      <p:ext uri="{BB962C8B-B14F-4D97-AF65-F5344CB8AC3E}">
        <p14:creationId xmlns:p14="http://schemas.microsoft.com/office/powerpoint/2010/main" val="39866589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0"/>
        <p:cNvGrpSpPr/>
        <p:nvPr/>
      </p:nvGrpSpPr>
      <p:grpSpPr>
        <a:xfrm>
          <a:off x="0" y="0"/>
          <a:ext cx="0" cy="0"/>
          <a:chOff x="0" y="0"/>
          <a:chExt cx="0" cy="0"/>
        </a:xfrm>
      </p:grpSpPr>
      <p:sp>
        <p:nvSpPr>
          <p:cNvPr id="461" name="Google Shape;461;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62" name="Google Shape;462;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2443036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12/17/2025</a:t>
            </a:fld>
            <a:endParaRPr lang="en-US">
              <a:solidFill>
                <a:prstClr val="black">
                  <a:tint val="75000"/>
                </a:prstClr>
              </a:solidFill>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6741656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12/17/2025</a:t>
            </a:fld>
            <a:endParaRPr lang="en-US">
              <a:solidFill>
                <a:prstClr val="black">
                  <a:tint val="75000"/>
                </a:prstClr>
              </a:solidFill>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8312422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12/17/2025</a:t>
            </a:fld>
            <a:endParaRPr lang="en-US">
              <a:solidFill>
                <a:prstClr val="black">
                  <a:tint val="75000"/>
                </a:prstClr>
              </a:solidFill>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5789190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12/17/2025</a:t>
            </a:fld>
            <a:endParaRPr lang="en-US">
              <a:solidFill>
                <a:prstClr val="black">
                  <a:tint val="75000"/>
                </a:prstClr>
              </a:solidFill>
            </a:endParaRPr>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542919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12/17/2025</a:t>
            </a:fld>
            <a:endParaRPr lang="en-US">
              <a:solidFill>
                <a:prstClr val="black">
                  <a:tint val="75000"/>
                </a:prstClr>
              </a:solidFill>
            </a:endParaRPr>
          </a:p>
        </p:txBody>
      </p:sp>
      <p:sp>
        <p:nvSpPr>
          <p:cNvPr id="8" name="Footer Placeholder 7"/>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9" name="Slide Number Placeholder 8"/>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6339771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12/17/2025</a:t>
            </a:fld>
            <a:endParaRPr lang="en-US">
              <a:solidFill>
                <a:prstClr val="black">
                  <a:tint val="75000"/>
                </a:prstClr>
              </a:solidFill>
            </a:endParaRPr>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4024589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12/17/2025</a:t>
            </a:fld>
            <a:endParaRPr lang="en-US">
              <a:solidFill>
                <a:prstClr val="black">
                  <a:tint val="75000"/>
                </a:prstClr>
              </a:solidFill>
            </a:endParaRPr>
          </a:p>
        </p:txBody>
      </p:sp>
      <p:sp>
        <p:nvSpPr>
          <p:cNvPr id="3" name="Footer Placeholder 2"/>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4" name="Slide Number Placeholder 3"/>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0399709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12/17/2025</a:t>
            </a:fld>
            <a:endParaRPr lang="en-US">
              <a:solidFill>
                <a:prstClr val="black">
                  <a:tint val="75000"/>
                </a:prstClr>
              </a:solidFill>
            </a:endParaRPr>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138835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12/17/2025</a:t>
            </a:fld>
            <a:endParaRPr lang="en-US">
              <a:solidFill>
                <a:prstClr val="black">
                  <a:tint val="75000"/>
                </a:prstClr>
              </a:solidFill>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365154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nly" preserve="1">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838200" y="365125"/>
            <a:ext cx="10515600" cy="58118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12/17/2025</a:t>
            </a:fld>
            <a:endParaRPr lang="en-US">
              <a:solidFill>
                <a:prstClr val="black">
                  <a:tint val="75000"/>
                </a:prstClr>
              </a:solidFill>
            </a:endParaRPr>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9176286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Content">
  <p:cSld name="1_Title and Content">
    <p:spTree>
      <p:nvGrpSpPr>
        <p:cNvPr id="1" name="Shape 48"/>
        <p:cNvGrpSpPr/>
        <p:nvPr/>
      </p:nvGrpSpPr>
      <p:grpSpPr>
        <a:xfrm>
          <a:off x="0" y="0"/>
          <a:ext cx="0" cy="0"/>
          <a:chOff x="0" y="0"/>
          <a:chExt cx="0" cy="0"/>
        </a:xfrm>
      </p:grpSpPr>
      <p:sp>
        <p:nvSpPr>
          <p:cNvPr id="49" name="Google Shape;49;p47"/>
          <p:cNvSpPr>
            <a:spLocks noGrp="1"/>
          </p:cNvSpPr>
          <p:nvPr>
            <p:ph type="pic" idx="2"/>
          </p:nvPr>
        </p:nvSpPr>
        <p:spPr>
          <a:xfrm>
            <a:off x="0" y="0"/>
            <a:ext cx="5467350" cy="598798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R="0" lvl="1"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R="0" lvl="2"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R="0" lvl="3"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R="0" lvl="4"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extLst>
      <p:ext uri="{BB962C8B-B14F-4D97-AF65-F5344CB8AC3E}">
        <p14:creationId xmlns:p14="http://schemas.microsoft.com/office/powerpoint/2010/main" val="33789292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4">
            <a:lumMod val="20000"/>
            <a:lumOff val="80000"/>
            <a:alpha val="20747"/>
          </a:schemeClr>
        </a:solidFill>
        <a:effectLst/>
      </p:bgPr>
    </p:bg>
    <p:spTree>
      <p:nvGrpSpPr>
        <p:cNvPr id="1" name=""/>
        <p:cNvGrpSpPr/>
        <p:nvPr/>
      </p:nvGrpSpPr>
      <p:grpSpPr>
        <a:xfrm>
          <a:off x="0" y="0"/>
          <a:ext cx="0" cy="0"/>
          <a:chOff x="0" y="0"/>
          <a:chExt cx="0" cy="0"/>
        </a:xfrm>
      </p:grpSpPr>
      <p:pic>
        <p:nvPicPr>
          <p:cNvPr id="11" name="Picture 10" descr="Background pattern&#10;&#10;Description automatically generated">
            <a:extLst>
              <a:ext uri="{FF2B5EF4-FFF2-40B4-BE49-F238E27FC236}">
                <a16:creationId xmlns:a16="http://schemas.microsoft.com/office/drawing/2014/main" id="{2F4508AD-1BA8-6D49-AD89-BB8C58C99DDF}"/>
              </a:ext>
            </a:extLst>
          </p:cNvPr>
          <p:cNvPicPr>
            <a:picLocks noChangeAspect="1"/>
          </p:cNvPicPr>
          <p:nvPr userDrawn="1"/>
        </p:nvPicPr>
        <p:blipFill>
          <a:blip r:embed="rId13">
            <a:clrChange>
              <a:clrFrom>
                <a:srgbClr val="FFFFFF"/>
              </a:clrFrom>
              <a:clrTo>
                <a:srgbClr val="FFFFFF">
                  <a:alpha val="0"/>
                </a:srgbClr>
              </a:clrTo>
            </a:clrChange>
            <a:alphaModFix amt="50000"/>
            <a:extLst>
              <a:ext uri="{28A0092B-C50C-407E-A947-70E740481C1C}">
                <a14:useLocalDpi xmlns:a14="http://schemas.microsoft.com/office/drawing/2010/main" val="0"/>
              </a:ext>
            </a:extLst>
          </a:blip>
          <a:stretch>
            <a:fillRect/>
          </a:stretch>
        </p:blipFill>
        <p:spPr>
          <a:xfrm>
            <a:off x="0" y="0"/>
            <a:ext cx="3003452" cy="3003452"/>
          </a:xfrm>
          <a:prstGeom prst="rect">
            <a:avLst/>
          </a:prstGeom>
        </p:spPr>
      </p:pic>
      <p:sp>
        <p:nvSpPr>
          <p:cNvPr id="2" name="Rectangle 1">
            <a:extLst>
              <a:ext uri="{FF2B5EF4-FFF2-40B4-BE49-F238E27FC236}">
                <a16:creationId xmlns:a16="http://schemas.microsoft.com/office/drawing/2014/main" id="{ACAD2B12-09F5-6D4A-9C1D-AFF6A38F62BF}"/>
              </a:ext>
            </a:extLst>
          </p:cNvPr>
          <p:cNvSpPr/>
          <p:nvPr userDrawn="1"/>
        </p:nvSpPr>
        <p:spPr>
          <a:xfrm>
            <a:off x="0" y="6812281"/>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2072F43C-0ACD-CF48-BDDC-4CA06CD195D7}"/>
              </a:ext>
            </a:extLst>
          </p:cNvPr>
          <p:cNvSpPr/>
          <p:nvPr userDrawn="1"/>
        </p:nvSpPr>
        <p:spPr>
          <a:xfrm>
            <a:off x="0" y="0"/>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13" descr="Background pattern&#10;&#10;Description automatically generated">
            <a:extLst>
              <a:ext uri="{FF2B5EF4-FFF2-40B4-BE49-F238E27FC236}">
                <a16:creationId xmlns:a16="http://schemas.microsoft.com/office/drawing/2014/main" id="{D4A3453C-FFE4-E949-B42B-748B5090DD36}"/>
              </a:ext>
            </a:extLst>
          </p:cNvPr>
          <p:cNvPicPr>
            <a:picLocks noChangeAspect="1"/>
          </p:cNvPicPr>
          <p:nvPr userDrawn="1"/>
        </p:nvPicPr>
        <p:blipFill rotWithShape="1">
          <a:blip r:embed="rId14">
            <a:clrChange>
              <a:clrFrom>
                <a:srgbClr val="F6F6F6"/>
              </a:clrFrom>
              <a:clrTo>
                <a:srgbClr val="F6F6F6">
                  <a:alpha val="0"/>
                </a:srgbClr>
              </a:clrTo>
            </a:clrChange>
            <a:duotone>
              <a:schemeClr val="bg2">
                <a:shade val="45000"/>
                <a:satMod val="135000"/>
              </a:schemeClr>
              <a:prstClr val="white"/>
            </a:duotone>
            <a:alphaModFix amt="35000"/>
            <a:extLst>
              <a:ext uri="{28A0092B-C50C-407E-A947-70E740481C1C}">
                <a14:useLocalDpi xmlns:a14="http://schemas.microsoft.com/office/drawing/2010/main" val="0"/>
              </a:ext>
            </a:extLst>
          </a:blip>
          <a:srcRect r="26721" b="8103"/>
          <a:stretch/>
        </p:blipFill>
        <p:spPr>
          <a:xfrm>
            <a:off x="8376334" y="4104641"/>
            <a:ext cx="3815666" cy="2707640"/>
          </a:xfrm>
          <a:prstGeom prst="rect">
            <a:avLst/>
          </a:prstGeom>
        </p:spPr>
      </p:pic>
      <p:sp>
        <p:nvSpPr>
          <p:cNvPr id="7" name="TextBox 6">
            <a:extLst>
              <a:ext uri="{FF2B5EF4-FFF2-40B4-BE49-F238E27FC236}">
                <a16:creationId xmlns:a16="http://schemas.microsoft.com/office/drawing/2014/main" id="{C1A8F9C9-F65C-BB4A-BF8E-4636F166836D}"/>
              </a:ext>
            </a:extLst>
          </p:cNvPr>
          <p:cNvSpPr txBox="1"/>
          <p:nvPr userDrawn="1"/>
        </p:nvSpPr>
        <p:spPr>
          <a:xfrm>
            <a:off x="1" y="6602979"/>
            <a:ext cx="2132068" cy="215444"/>
          </a:xfrm>
          <a:prstGeom prst="rect">
            <a:avLst/>
          </a:prstGeom>
          <a:noFill/>
        </p:spPr>
        <p:txBody>
          <a:bodyPr wrap="square" rtlCol="0">
            <a:spAutoFit/>
          </a:bodyPr>
          <a:lstStyle/>
          <a:p>
            <a:r>
              <a:rPr lang="en-US" sz="800">
                <a:solidFill>
                  <a:schemeClr val="bg1">
                    <a:lumMod val="95000"/>
                  </a:schemeClr>
                </a:solidFill>
              </a:rPr>
              <a:t>CREATED BY K. VICTOR BABU</a:t>
            </a:r>
          </a:p>
        </p:txBody>
      </p:sp>
    </p:spTree>
    <p:extLst>
      <p:ext uri="{BB962C8B-B14F-4D97-AF65-F5344CB8AC3E}">
        <p14:creationId xmlns:p14="http://schemas.microsoft.com/office/powerpoint/2010/main" val="62684126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1.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6.svg"/><Relationship Id="rId7" Type="http://schemas.openxmlformats.org/officeDocument/2006/relationships/image" Target="../media/image10.svg"/><Relationship Id="rId2" Type="http://schemas.openxmlformats.org/officeDocument/2006/relationships/image" Target="../media/image5.png"/><Relationship Id="rId1" Type="http://schemas.openxmlformats.org/officeDocument/2006/relationships/slideLayout" Target="../slideLayouts/slideLayout11.xml"/><Relationship Id="rId6" Type="http://schemas.openxmlformats.org/officeDocument/2006/relationships/image" Target="../media/image9.png"/><Relationship Id="rId5" Type="http://schemas.openxmlformats.org/officeDocument/2006/relationships/image" Target="../media/image8.svg"/><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63"/>
        <p:cNvGrpSpPr/>
        <p:nvPr/>
      </p:nvGrpSpPr>
      <p:grpSpPr>
        <a:xfrm>
          <a:off x="0" y="0"/>
          <a:ext cx="0" cy="0"/>
          <a:chOff x="0" y="0"/>
          <a:chExt cx="0" cy="0"/>
        </a:xfrm>
      </p:grpSpPr>
      <p:pic>
        <p:nvPicPr>
          <p:cNvPr id="464" name="Google Shape;464;p16"/>
          <p:cNvPicPr preferRelativeResize="0"/>
          <p:nvPr/>
        </p:nvPicPr>
        <p:blipFill>
          <a:blip r:embed="rId3">
            <a:extLst>
              <a:ext uri="{28A0092B-C50C-407E-A947-70E740481C1C}">
                <a14:useLocalDpi xmlns:a14="http://schemas.microsoft.com/office/drawing/2010/main" val="0"/>
              </a:ext>
            </a:extLst>
          </a:blip>
          <a:stretch>
            <a:fillRect/>
          </a:stretch>
        </p:blipFill>
        <p:spPr>
          <a:xfrm>
            <a:off x="0" y="117034"/>
            <a:ext cx="6027459" cy="6623931"/>
          </a:xfrm>
          <a:prstGeom prst="rect">
            <a:avLst/>
          </a:prstGeom>
          <a:noFill/>
          <a:ln>
            <a:noFill/>
          </a:ln>
        </p:spPr>
      </p:pic>
      <p:sp>
        <p:nvSpPr>
          <p:cNvPr id="476" name="Google Shape;476;p16"/>
          <p:cNvSpPr txBox="1"/>
          <p:nvPr/>
        </p:nvSpPr>
        <p:spPr>
          <a:xfrm>
            <a:off x="5394455" y="1933408"/>
            <a:ext cx="6902548" cy="3231614"/>
          </a:xfrm>
          <a:prstGeom prst="rect">
            <a:avLst/>
          </a:prstGeom>
          <a:noFill/>
          <a:ln>
            <a:noFill/>
          </a:ln>
        </p:spPr>
        <p:txBody>
          <a:bodyPr spcFirstLastPara="1" wrap="square" lIns="91425" tIns="45700" rIns="91425" bIns="45700" anchor="t" anchorCtr="0">
            <a:spAutoFit/>
          </a:bodyPr>
          <a:lstStyle/>
          <a:p>
            <a:pPr marR="0" lvl="0" indent="0" algn="ctr">
              <a:spcBef>
                <a:spcPts val="0"/>
              </a:spcBef>
              <a:spcAft>
                <a:spcPts val="0"/>
              </a:spcAft>
              <a:buNone/>
            </a:pPr>
            <a:r>
              <a:rPr lang="en-US" sz="3200" b="1" cap="all" dirty="0">
                <a:ln/>
                <a:solidFill>
                  <a:srgbClr val="C00000"/>
                </a:solidFill>
                <a:cs typeface="Poppins" panose="00000500000000000000" pitchFamily="2" charset="0"/>
                <a:sym typeface="BioRhyme ExtraBold"/>
              </a:rPr>
              <a:t>Network protocols &amp; security</a:t>
            </a:r>
          </a:p>
          <a:p>
            <a:pPr marR="0" lvl="0" indent="0" algn="ctr">
              <a:spcBef>
                <a:spcPts val="0"/>
              </a:spcBef>
              <a:spcAft>
                <a:spcPts val="0"/>
              </a:spcAft>
              <a:buNone/>
            </a:pPr>
            <a:r>
              <a:rPr lang="en-IN" sz="3200" b="1" dirty="0">
                <a:ln/>
                <a:solidFill>
                  <a:srgbClr val="C00000"/>
                </a:solidFill>
                <a:cs typeface="Poppins" panose="00000500000000000000" pitchFamily="2" charset="0"/>
                <a:sym typeface="BioRhyme ExtraBold"/>
              </a:rPr>
              <a:t>24EC2210</a:t>
            </a:r>
            <a:endParaRPr lang="en-US" sz="2000" b="1" dirty="0">
              <a:solidFill>
                <a:schemeClr val="bg1">
                  <a:lumMod val="50000"/>
                </a:schemeClr>
              </a:solidFill>
              <a:ea typeface="BioRhyme ExtraBold"/>
              <a:cs typeface="Poppins" panose="00000500000000000000" pitchFamily="2" charset="0"/>
              <a:sym typeface="BioRhyme ExtraBold"/>
            </a:endParaRPr>
          </a:p>
          <a:p>
            <a:pPr marR="0" lvl="0" indent="0" algn="ctr">
              <a:spcBef>
                <a:spcPts val="0"/>
              </a:spcBef>
              <a:spcAft>
                <a:spcPts val="0"/>
              </a:spcAft>
              <a:buNone/>
            </a:pPr>
            <a:r>
              <a:rPr lang="en-US" sz="2000" b="1" dirty="0">
                <a:solidFill>
                  <a:schemeClr val="bg1">
                    <a:lumMod val="50000"/>
                  </a:schemeClr>
                </a:solidFill>
                <a:ea typeface="BioRhyme ExtraBold"/>
                <a:cs typeface="Poppins" panose="00000500000000000000" pitchFamily="2" charset="0"/>
                <a:sym typeface="BioRhyme ExtraBold"/>
              </a:rPr>
              <a:t>Topic: </a:t>
            </a:r>
          </a:p>
          <a:p>
            <a:pPr marR="0" lvl="0" indent="0" algn="ctr">
              <a:spcBef>
                <a:spcPts val="0"/>
              </a:spcBef>
              <a:spcAft>
                <a:spcPts val="0"/>
              </a:spcAft>
              <a:buNone/>
            </a:pPr>
            <a:r>
              <a:rPr lang="en-US" sz="4000" b="1" cap="all" dirty="0">
                <a:ln/>
                <a:solidFill>
                  <a:srgbClr val="C00000"/>
                </a:solidFill>
                <a:cs typeface="Poppins" panose="00000500000000000000" pitchFamily="2" charset="0"/>
              </a:rPr>
              <a:t>Routing Algorithms: Distance vector, </a:t>
            </a:r>
            <a:r>
              <a:rPr lang="en-US" sz="4000" b="1" cap="all" dirty="0" err="1">
                <a:ln/>
                <a:solidFill>
                  <a:srgbClr val="C00000"/>
                </a:solidFill>
                <a:cs typeface="Poppins" panose="00000500000000000000" pitchFamily="2" charset="0"/>
              </a:rPr>
              <a:t>Linkstate</a:t>
            </a:r>
            <a:r>
              <a:rPr lang="en-US" sz="4000" b="1" cap="all" dirty="0">
                <a:ln/>
                <a:solidFill>
                  <a:srgbClr val="C00000"/>
                </a:solidFill>
                <a:cs typeface="Poppins" panose="00000500000000000000" pitchFamily="2" charset="0"/>
              </a:rPr>
              <a:t>, Hierarchical</a:t>
            </a:r>
            <a:endParaRPr lang="en-US" sz="4000" b="1" dirty="0">
              <a:solidFill>
                <a:srgbClr val="C00000"/>
              </a:solidFill>
              <a:effectLst/>
              <a:cs typeface="Poppins" panose="00000500000000000000" pitchFamily="2" charset="0"/>
            </a:endParaRPr>
          </a:p>
        </p:txBody>
      </p:sp>
      <p:sp>
        <p:nvSpPr>
          <p:cNvPr id="8" name="Google Shape;502;p17">
            <a:extLst>
              <a:ext uri="{FF2B5EF4-FFF2-40B4-BE49-F238E27FC236}">
                <a16:creationId xmlns:a16="http://schemas.microsoft.com/office/drawing/2014/main" id="{7153E61F-4441-DBE3-3DFF-6E9EF6C48D23}"/>
              </a:ext>
            </a:extLst>
          </p:cNvPr>
          <p:cNvSpPr/>
          <p:nvPr/>
        </p:nvSpPr>
        <p:spPr>
          <a:xfrm>
            <a:off x="7728171" y="5472798"/>
            <a:ext cx="2235116" cy="453054"/>
          </a:xfrm>
          <a:prstGeom prst="roundRect">
            <a:avLst>
              <a:gd name="adj" fmla="val 35613"/>
            </a:avLst>
          </a:prstGeom>
          <a:solidFill>
            <a:srgbClr val="C00000"/>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dirty="0">
                <a:solidFill>
                  <a:schemeClr val="lt1"/>
                </a:solidFill>
                <a:ea typeface="Calibri"/>
                <a:cs typeface="Poppins" panose="00000500000000000000" pitchFamily="2" charset="0"/>
                <a:sym typeface="Calibri"/>
              </a:rPr>
              <a:t>Session - 21 </a:t>
            </a:r>
            <a:endParaRPr sz="2400" dirty="0">
              <a:solidFill>
                <a:schemeClr val="lt1"/>
              </a:solidFill>
              <a:ea typeface="Calibri"/>
              <a:cs typeface="Poppins" panose="00000500000000000000" pitchFamily="2" charset="0"/>
              <a:sym typeface="Calibri"/>
            </a:endParaRPr>
          </a:p>
        </p:txBody>
      </p:sp>
      <p:sp>
        <p:nvSpPr>
          <p:cNvPr id="33" name="Rectangle 32">
            <a:extLst>
              <a:ext uri="{FF2B5EF4-FFF2-40B4-BE49-F238E27FC236}">
                <a16:creationId xmlns:a16="http://schemas.microsoft.com/office/drawing/2014/main" id="{A2BDCC77-0491-FC57-401C-380586D8ED1D}"/>
              </a:ext>
            </a:extLst>
          </p:cNvPr>
          <p:cNvSpPr/>
          <p:nvPr/>
        </p:nvSpPr>
        <p:spPr>
          <a:xfrm>
            <a:off x="0" y="6812281"/>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38D9C68F-2EE2-5410-B640-4F43BF92A6C1}"/>
              </a:ext>
            </a:extLst>
          </p:cNvPr>
          <p:cNvSpPr/>
          <p:nvPr/>
        </p:nvSpPr>
        <p:spPr>
          <a:xfrm>
            <a:off x="0" y="0"/>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Picture 2" descr="KL Deemed to be University Logo"/>
          <p:cNvPicPr>
            <a:picLocks noChangeAspect="1" noChangeArrowheads="1"/>
          </p:cNvPicPr>
          <p:nvPr/>
        </p:nvPicPr>
        <p:blipFill>
          <a:blip r:embed="rId4"/>
          <a:srcRect/>
          <a:stretch>
            <a:fillRect/>
          </a:stretch>
        </p:blipFill>
        <p:spPr bwMode="auto">
          <a:xfrm>
            <a:off x="222703" y="81945"/>
            <a:ext cx="2509863" cy="1061599"/>
          </a:xfrm>
          <a:prstGeom prst="rect">
            <a:avLst/>
          </a:prstGeom>
          <a:noFill/>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D530E72E-233E-E443-1A84-D3CD02ECB889}"/>
              </a:ext>
            </a:extLst>
          </p:cNvPr>
          <p:cNvSpPr/>
          <p:nvPr/>
        </p:nvSpPr>
        <p:spPr>
          <a:xfrm>
            <a:off x="4471372" y="84408"/>
            <a:ext cx="3011576"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AIM OF THE SESSION</a:t>
            </a:r>
          </a:p>
        </p:txBody>
      </p:sp>
      <p:sp>
        <p:nvSpPr>
          <p:cNvPr id="5" name="TextBox 4">
            <a:extLst>
              <a:ext uri="{FF2B5EF4-FFF2-40B4-BE49-F238E27FC236}">
                <a16:creationId xmlns:a16="http://schemas.microsoft.com/office/drawing/2014/main" id="{D7C61438-200D-827A-D4DD-5B5127AFA187}"/>
              </a:ext>
            </a:extLst>
          </p:cNvPr>
          <p:cNvSpPr txBox="1"/>
          <p:nvPr/>
        </p:nvSpPr>
        <p:spPr>
          <a:xfrm>
            <a:off x="914400" y="684469"/>
            <a:ext cx="10731286" cy="796115"/>
          </a:xfrm>
          <a:prstGeom prst="rect">
            <a:avLst/>
          </a:prstGeom>
          <a:gradFill flip="none" rotWithShape="1">
            <a:gsLst>
              <a:gs pos="0">
                <a:schemeClr val="accent1">
                  <a:lumMod val="5000"/>
                  <a:lumOff val="95000"/>
                  <a:alpha val="0"/>
                </a:schemeClr>
              </a:gs>
              <a:gs pos="100000">
                <a:schemeClr val="accent1">
                  <a:lumMod val="30000"/>
                  <a:lumOff val="70000"/>
                </a:schemeClr>
              </a:gs>
            </a:gsLst>
            <a:path path="circle">
              <a:fillToRect l="50000" t="50000" r="50000" b="50000"/>
            </a:path>
            <a:tileRect/>
          </a:gradFill>
          <a:ln cap="rnd">
            <a:solidFill>
              <a:schemeClr val="accent1">
                <a:lumMod val="20000"/>
                <a:lumOff val="80000"/>
              </a:schemeClr>
            </a:solidFill>
            <a:round/>
          </a:ln>
          <a:effectLst>
            <a:outerShdw blurRad="50800" dist="38100" algn="l" rotWithShape="0">
              <a:schemeClr val="accent1">
                <a:lumMod val="40000"/>
                <a:lumOff val="60000"/>
                <a:alpha val="0"/>
              </a:schemeClr>
            </a:outerShdw>
          </a:effectLst>
        </p:spPr>
        <p:txBody>
          <a:bodyPr wrap="square" lIns="91440" tIns="45720" rIns="91440" bIns="45720" rtlCol="0" anchor="t">
            <a:spAutoFit/>
          </a:bodyPr>
          <a:lstStyle/>
          <a:p>
            <a:pPr>
              <a:lnSpc>
                <a:spcPct val="150000"/>
              </a:lnSpc>
            </a:pPr>
            <a:r>
              <a:rPr lang="en-US" sz="1600" b="0" i="0" dirty="0">
                <a:effectLst/>
                <a:latin typeface="Poppins"/>
                <a:cs typeface="Poppins"/>
              </a:rPr>
              <a:t>To familiarize students with the Dynamic routing algorithms </a:t>
            </a:r>
          </a:p>
          <a:p>
            <a:pPr>
              <a:lnSpc>
                <a:spcPct val="150000"/>
              </a:lnSpc>
            </a:pPr>
            <a:endParaRPr lang="en-US" sz="1600" b="0" i="0" dirty="0">
              <a:effectLst/>
              <a:latin typeface="Poppins"/>
              <a:cs typeface="Poppins"/>
            </a:endParaRPr>
          </a:p>
        </p:txBody>
      </p:sp>
      <p:sp>
        <p:nvSpPr>
          <p:cNvPr id="7" name="Rounded Rectangle 17">
            <a:extLst>
              <a:ext uri="{FF2B5EF4-FFF2-40B4-BE49-F238E27FC236}">
                <a16:creationId xmlns:a16="http://schemas.microsoft.com/office/drawing/2014/main" id="{7F3AABB0-F8BA-C900-B6BF-45F4B58E9490}"/>
              </a:ext>
            </a:extLst>
          </p:cNvPr>
          <p:cNvSpPr/>
          <p:nvPr/>
        </p:nvSpPr>
        <p:spPr>
          <a:xfrm>
            <a:off x="4160582" y="1807062"/>
            <a:ext cx="3870831"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INSTRUCTIONAL OBJECTIVES</a:t>
            </a:r>
          </a:p>
        </p:txBody>
      </p:sp>
      <p:sp>
        <p:nvSpPr>
          <p:cNvPr id="9" name="TextBox 8">
            <a:extLst>
              <a:ext uri="{FF2B5EF4-FFF2-40B4-BE49-F238E27FC236}">
                <a16:creationId xmlns:a16="http://schemas.microsoft.com/office/drawing/2014/main" id="{2B5EAD4E-C007-9DE7-A40A-12802D3C9611}"/>
              </a:ext>
            </a:extLst>
          </p:cNvPr>
          <p:cNvSpPr txBox="1"/>
          <p:nvPr/>
        </p:nvSpPr>
        <p:spPr>
          <a:xfrm>
            <a:off x="1752600" y="2438605"/>
            <a:ext cx="8791575" cy="1323439"/>
          </a:xfrm>
          <a:prstGeom prst="rect">
            <a:avLst/>
          </a:prstGeom>
          <a:gradFill flip="none" rotWithShape="1">
            <a:gsLst>
              <a:gs pos="0">
                <a:schemeClr val="accent1">
                  <a:lumMod val="5000"/>
                  <a:lumOff val="95000"/>
                </a:schemeClr>
              </a:gs>
              <a:gs pos="100000">
                <a:schemeClr val="accent1">
                  <a:lumMod val="30000"/>
                  <a:lumOff val="70000"/>
                </a:schemeClr>
              </a:gs>
            </a:gsLst>
            <a:path path="circle">
              <a:fillToRect l="50000" t="50000" r="50000" b="50000"/>
            </a:path>
            <a:tileRect/>
          </a:gradFill>
          <a:ln>
            <a:solidFill>
              <a:schemeClr val="accent1">
                <a:lumMod val="20000"/>
                <a:lumOff val="80000"/>
              </a:schemeClr>
            </a:solidFill>
          </a:ln>
          <a:effectLst>
            <a:outerShdw blurRad="50800" dist="38100" algn="l" rotWithShape="0">
              <a:schemeClr val="accent1">
                <a:lumMod val="40000"/>
                <a:lumOff val="60000"/>
                <a:alpha val="40000"/>
              </a:schemeClr>
            </a:outerShdw>
          </a:effectLst>
        </p:spPr>
        <p:txBody>
          <a:bodyPr wrap="square" lIns="91440" tIns="45720" rIns="91440" bIns="45720" rtlCol="0" anchor="t">
            <a:spAutoFit/>
          </a:bodyPr>
          <a:lstStyle/>
          <a:p>
            <a:pPr>
              <a:lnSpc>
                <a:spcPct val="200000"/>
              </a:lnSpc>
            </a:pPr>
            <a:r>
              <a:rPr lang="en-US" sz="1600" dirty="0">
                <a:latin typeface="Poppins"/>
                <a:cs typeface="Poppins"/>
              </a:rPr>
              <a:t>This</a:t>
            </a:r>
            <a:r>
              <a:rPr lang="en-US" sz="1600" b="0" i="0" dirty="0">
                <a:effectLst/>
                <a:latin typeface="Poppins"/>
                <a:cs typeface="Poppins"/>
              </a:rPr>
              <a:t> </a:t>
            </a:r>
            <a:r>
              <a:rPr lang="en-US" sz="1600" dirty="0">
                <a:latin typeface="Poppins"/>
                <a:cs typeface="Poppins"/>
              </a:rPr>
              <a:t>Session</a:t>
            </a:r>
            <a:r>
              <a:rPr lang="en-US" sz="1600" b="0" i="0" dirty="0">
                <a:effectLst/>
                <a:latin typeface="Poppins"/>
                <a:cs typeface="Poppins"/>
              </a:rPr>
              <a:t> is designed to:</a:t>
            </a:r>
          </a:p>
          <a:p>
            <a:pPr marL="342900" indent="-342900">
              <a:buAutoNum type="arabicPeriod"/>
            </a:pPr>
            <a:r>
              <a:rPr lang="en-US" sz="1600" b="0" i="0" dirty="0">
                <a:effectLst/>
                <a:latin typeface="Arial" panose="020B0604020202020204" pitchFamily="34" charset="0"/>
              </a:rPr>
              <a:t>Describe the routing process of Distance Vector algorithm</a:t>
            </a:r>
            <a:endParaRPr lang="en-US" sz="1600" dirty="0">
              <a:latin typeface="Arial" panose="020B0604020202020204" pitchFamily="34" charset="0"/>
            </a:endParaRPr>
          </a:p>
          <a:p>
            <a:pPr marL="342900" indent="-342900">
              <a:buAutoNum type="arabicPeriod"/>
            </a:pPr>
            <a:r>
              <a:rPr lang="en-US" sz="1600" b="0" i="0" dirty="0">
                <a:effectLst/>
                <a:latin typeface="Arial" panose="020B0604020202020204" pitchFamily="34" charset="0"/>
              </a:rPr>
              <a:t>Describe the routing process of Link state routing algorithm</a:t>
            </a:r>
          </a:p>
          <a:p>
            <a:pPr marL="342900" indent="-342900">
              <a:buFontTx/>
              <a:buAutoNum type="arabicPeriod"/>
            </a:pPr>
            <a:r>
              <a:rPr lang="en-US" sz="1600" dirty="0">
                <a:latin typeface="Arial" panose="020B0604020202020204" pitchFamily="34" charset="0"/>
              </a:rPr>
              <a:t>Describe the routing process of Hierarchical routing algorithm</a:t>
            </a:r>
          </a:p>
        </p:txBody>
      </p:sp>
      <p:pic>
        <p:nvPicPr>
          <p:cNvPr id="11" name="Graphic 10" descr="Bullseye outline">
            <a:extLst>
              <a:ext uri="{FF2B5EF4-FFF2-40B4-BE49-F238E27FC236}">
                <a16:creationId xmlns:a16="http://schemas.microsoft.com/office/drawing/2014/main" id="{AB75B03E-9C0C-0AF7-2A76-D8618F8F999A}"/>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0" y="625326"/>
            <a:ext cx="914400" cy="914400"/>
          </a:xfrm>
          <a:prstGeom prst="rect">
            <a:avLst/>
          </a:prstGeom>
        </p:spPr>
      </p:pic>
      <p:pic>
        <p:nvPicPr>
          <p:cNvPr id="27" name="Graphic 26" descr="Presentation with checklist outline">
            <a:extLst>
              <a:ext uri="{FF2B5EF4-FFF2-40B4-BE49-F238E27FC236}">
                <a16:creationId xmlns:a16="http://schemas.microsoft.com/office/drawing/2014/main" id="{1E9F25CA-EF99-00B6-5FFA-810D1F1806C7}"/>
              </a:ext>
            </a:extLst>
          </p:cNvP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38200" y="2438605"/>
            <a:ext cx="914400" cy="914400"/>
          </a:xfrm>
          <a:prstGeom prst="rect">
            <a:avLst/>
          </a:prstGeom>
        </p:spPr>
      </p:pic>
      <p:sp>
        <p:nvSpPr>
          <p:cNvPr id="29" name="Rounded Rectangle 17">
            <a:extLst>
              <a:ext uri="{FF2B5EF4-FFF2-40B4-BE49-F238E27FC236}">
                <a16:creationId xmlns:a16="http://schemas.microsoft.com/office/drawing/2014/main" id="{6652A33D-9A9E-3EAC-0CAE-113901ECA179}"/>
              </a:ext>
            </a:extLst>
          </p:cNvPr>
          <p:cNvSpPr/>
          <p:nvPr/>
        </p:nvSpPr>
        <p:spPr>
          <a:xfrm>
            <a:off x="4212971" y="4249110"/>
            <a:ext cx="3870831"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LEARNING OUTCOMES</a:t>
            </a:r>
          </a:p>
        </p:txBody>
      </p:sp>
      <p:pic>
        <p:nvPicPr>
          <p:cNvPr id="31" name="Graphic 30" descr="Idea outline">
            <a:extLst>
              <a:ext uri="{FF2B5EF4-FFF2-40B4-BE49-F238E27FC236}">
                <a16:creationId xmlns:a16="http://schemas.microsoft.com/office/drawing/2014/main" id="{5F765FC3-60CF-297F-C1BD-F5A7B8B943AF}"/>
              </a:ext>
            </a:extLst>
          </p:cNvPr>
          <p:cNvPicPr>
            <a:picLocks noChangeAspect="1"/>
          </p:cNvPicPr>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14400" y="4765771"/>
            <a:ext cx="914400" cy="914400"/>
          </a:xfrm>
          <a:prstGeom prst="rect">
            <a:avLst/>
          </a:prstGeom>
        </p:spPr>
      </p:pic>
      <p:sp>
        <p:nvSpPr>
          <p:cNvPr id="37" name="TextBox 36">
            <a:extLst>
              <a:ext uri="{FF2B5EF4-FFF2-40B4-BE49-F238E27FC236}">
                <a16:creationId xmlns:a16="http://schemas.microsoft.com/office/drawing/2014/main" id="{B0BB8E68-8B73-12DE-615E-1091F19A9A9A}"/>
              </a:ext>
            </a:extLst>
          </p:cNvPr>
          <p:cNvSpPr txBox="1"/>
          <p:nvPr/>
        </p:nvSpPr>
        <p:spPr>
          <a:xfrm>
            <a:off x="1700212" y="4765771"/>
            <a:ext cx="8791575" cy="1569660"/>
          </a:xfrm>
          <a:prstGeom prst="rect">
            <a:avLst/>
          </a:prstGeom>
          <a:gradFill flip="none" rotWithShape="1">
            <a:gsLst>
              <a:gs pos="0">
                <a:schemeClr val="accent1">
                  <a:lumMod val="5000"/>
                  <a:lumOff val="95000"/>
                </a:schemeClr>
              </a:gs>
              <a:gs pos="100000">
                <a:schemeClr val="accent1">
                  <a:lumMod val="30000"/>
                  <a:lumOff val="70000"/>
                </a:schemeClr>
              </a:gs>
            </a:gsLst>
            <a:path path="circle">
              <a:fillToRect l="50000" t="50000" r="50000" b="50000"/>
            </a:path>
            <a:tileRect/>
          </a:gradFill>
          <a:ln>
            <a:solidFill>
              <a:schemeClr val="accent1">
                <a:lumMod val="20000"/>
                <a:lumOff val="80000"/>
              </a:schemeClr>
            </a:solidFill>
          </a:ln>
          <a:effectLst>
            <a:outerShdw blurRad="50800" dist="38100" algn="l" rotWithShape="0">
              <a:schemeClr val="accent1">
                <a:lumMod val="40000"/>
                <a:lumOff val="60000"/>
                <a:alpha val="40000"/>
              </a:schemeClr>
            </a:outerShdw>
          </a:effectLst>
        </p:spPr>
        <p:txBody>
          <a:bodyPr wrap="square" lIns="91440" tIns="45720" rIns="91440" bIns="45720" rtlCol="0" anchor="t">
            <a:spAutoFit/>
          </a:bodyPr>
          <a:lstStyle/>
          <a:p>
            <a:pPr>
              <a:lnSpc>
                <a:spcPct val="200000"/>
              </a:lnSpc>
            </a:pPr>
            <a:r>
              <a:rPr lang="en-US" sz="1600" b="0" i="0" dirty="0">
                <a:effectLst/>
                <a:latin typeface="Arial"/>
                <a:cs typeface="Arial"/>
              </a:rPr>
              <a:t>At the end of this </a:t>
            </a:r>
            <a:r>
              <a:rPr lang="en-US" sz="1600" dirty="0">
                <a:latin typeface="Arial"/>
                <a:cs typeface="Arial"/>
              </a:rPr>
              <a:t>session</a:t>
            </a:r>
            <a:r>
              <a:rPr lang="en-US" sz="1600" b="0" i="0" dirty="0">
                <a:effectLst/>
                <a:latin typeface="Arial"/>
                <a:cs typeface="Arial"/>
              </a:rPr>
              <a:t>, you should be able to:</a:t>
            </a:r>
          </a:p>
          <a:p>
            <a:pPr marL="342900" indent="-342900">
              <a:buAutoNum type="arabicPeriod"/>
            </a:pPr>
            <a:r>
              <a:rPr lang="en-US" sz="1600" b="0" i="0" dirty="0">
                <a:effectLst/>
                <a:latin typeface="Arial" panose="020B0604020202020204" pitchFamily="34" charset="0"/>
              </a:rPr>
              <a:t>Compute or update a router’s routing table using distance vector routing algorithm.</a:t>
            </a:r>
          </a:p>
          <a:p>
            <a:pPr marL="342900" indent="-342900">
              <a:buAutoNum type="arabicPeriod"/>
            </a:pPr>
            <a:r>
              <a:rPr lang="en-US" sz="1600" dirty="0">
                <a:latin typeface="Arial" panose="020B0604020202020204" pitchFamily="34" charset="0"/>
              </a:rPr>
              <a:t>Explain the drawback of Distance vector routing.</a:t>
            </a:r>
            <a:r>
              <a:rPr lang="en-US" sz="1600" b="0" i="0" dirty="0">
                <a:effectLst/>
                <a:latin typeface="Arial" panose="020B0604020202020204" pitchFamily="34" charset="0"/>
              </a:rPr>
              <a:t> </a:t>
            </a:r>
          </a:p>
          <a:p>
            <a:pPr marL="342900" indent="-342900">
              <a:buAutoNum type="arabicPeriod"/>
            </a:pPr>
            <a:r>
              <a:rPr lang="en-US" sz="1600" dirty="0">
                <a:latin typeface="Arial" panose="020B0604020202020204" pitchFamily="34" charset="0"/>
              </a:rPr>
              <a:t>Illustrate the working of Link state routing algorithm.</a:t>
            </a:r>
          </a:p>
          <a:p>
            <a:pPr marL="342900" indent="-342900">
              <a:buFontTx/>
              <a:buAutoNum type="arabicPeriod"/>
            </a:pPr>
            <a:r>
              <a:rPr lang="en-US" sz="1600" dirty="0">
                <a:latin typeface="Arial" panose="020B0604020202020204" pitchFamily="34" charset="0"/>
              </a:rPr>
              <a:t>Illustrate the working of Hierarchical routing algorithm.</a:t>
            </a:r>
          </a:p>
        </p:txBody>
      </p:sp>
      <p:pic>
        <p:nvPicPr>
          <p:cNvPr id="12" name="Picture 2" descr="KL Deemed to be University Logo"/>
          <p:cNvPicPr>
            <a:picLocks noChangeAspect="1" noChangeArrowheads="1"/>
          </p:cNvPicPr>
          <p:nvPr/>
        </p:nvPicPr>
        <p:blipFill>
          <a:blip r:embed="rId8"/>
          <a:srcRect/>
          <a:stretch>
            <a:fillRect/>
          </a:stretch>
        </p:blipFill>
        <p:spPr bwMode="auto">
          <a:xfrm>
            <a:off x="0" y="0"/>
            <a:ext cx="1990725" cy="600076"/>
          </a:xfrm>
          <a:prstGeom prst="rect">
            <a:avLst/>
          </a:prstGeom>
          <a:noFill/>
        </p:spPr>
      </p:pic>
    </p:spTree>
    <p:extLst>
      <p:ext uri="{BB962C8B-B14F-4D97-AF65-F5344CB8AC3E}">
        <p14:creationId xmlns:p14="http://schemas.microsoft.com/office/powerpoint/2010/main" val="138860798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500"/>
                                        <p:tgtEl>
                                          <p:spTgt spid="7"/>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500"/>
                                        <p:tgtEl>
                                          <p:spTgt spid="9"/>
                                        </p:tgtEl>
                                      </p:cBhvr>
                                    </p:animEffect>
                                  </p:childTnLst>
                                </p:cTn>
                              </p:par>
                              <p:par>
                                <p:cTn id="26" presetID="10" presetClass="entr" presetSubtype="0" fill="hold" nodeType="withEffect">
                                  <p:stCondLst>
                                    <p:cond delay="0"/>
                                  </p:stCondLst>
                                  <p:childTnLst>
                                    <p:set>
                                      <p:cBhvr>
                                        <p:cTn id="27" dur="1" fill="hold">
                                          <p:stCondLst>
                                            <p:cond delay="0"/>
                                          </p:stCondLst>
                                        </p:cTn>
                                        <p:tgtEl>
                                          <p:spTgt spid="27"/>
                                        </p:tgtEl>
                                        <p:attrNameLst>
                                          <p:attrName>style.visibility</p:attrName>
                                        </p:attrNameLst>
                                      </p:cBhvr>
                                      <p:to>
                                        <p:strVal val="visible"/>
                                      </p:to>
                                    </p:set>
                                    <p:animEffect transition="in" filter="fade">
                                      <p:cBhvr>
                                        <p:cTn id="28" dur="500"/>
                                        <p:tgtEl>
                                          <p:spTgt spid="27"/>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29"/>
                                        </p:tgtEl>
                                        <p:attrNameLst>
                                          <p:attrName>style.visibility</p:attrName>
                                        </p:attrNameLst>
                                      </p:cBhvr>
                                      <p:to>
                                        <p:strVal val="visible"/>
                                      </p:to>
                                    </p:set>
                                    <p:animEffect transition="in" filter="fade">
                                      <p:cBhvr>
                                        <p:cTn id="33" dur="500"/>
                                        <p:tgtEl>
                                          <p:spTgt spid="29"/>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37"/>
                                        </p:tgtEl>
                                        <p:attrNameLst>
                                          <p:attrName>style.visibility</p:attrName>
                                        </p:attrNameLst>
                                      </p:cBhvr>
                                      <p:to>
                                        <p:strVal val="visible"/>
                                      </p:to>
                                    </p:set>
                                    <p:animEffect transition="in" filter="fade">
                                      <p:cBhvr>
                                        <p:cTn id="38" dur="500"/>
                                        <p:tgtEl>
                                          <p:spTgt spid="37"/>
                                        </p:tgtEl>
                                      </p:cBhvr>
                                    </p:animEffect>
                                  </p:childTnLst>
                                </p:cTn>
                              </p:par>
                              <p:par>
                                <p:cTn id="39" presetID="10" presetClass="entr" presetSubtype="0" fill="hold" nodeType="withEffect">
                                  <p:stCondLst>
                                    <p:cond delay="0"/>
                                  </p:stCondLst>
                                  <p:childTnLst>
                                    <p:set>
                                      <p:cBhvr>
                                        <p:cTn id="40" dur="1" fill="hold">
                                          <p:stCondLst>
                                            <p:cond delay="0"/>
                                          </p:stCondLst>
                                        </p:cTn>
                                        <p:tgtEl>
                                          <p:spTgt spid="31"/>
                                        </p:tgtEl>
                                        <p:attrNameLst>
                                          <p:attrName>style.visibility</p:attrName>
                                        </p:attrNameLst>
                                      </p:cBhvr>
                                      <p:to>
                                        <p:strVal val="visible"/>
                                      </p:to>
                                    </p:set>
                                    <p:animEffect transition="in" filter="fade">
                                      <p:cBhvr>
                                        <p:cTn id="41"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9" grpId="0" animBg="1"/>
      <p:bldP spid="29" grpId="0" animBg="1"/>
      <p:bldP spid="37"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DB8AD282-2456-4AFE-B0B9-FD1ACC5C61BB}"/>
              </a:ext>
            </a:extLst>
          </p:cNvPr>
          <p:cNvSpPr>
            <a:spLocks noGrp="1"/>
          </p:cNvSpPr>
          <p:nvPr>
            <p:ph type="sldNum" sz="quarter" idx="12"/>
          </p:nvPr>
        </p:nvSpPr>
        <p:spPr>
          <a:xfrm>
            <a:off x="321732" y="6356350"/>
            <a:ext cx="2568811" cy="365125"/>
          </a:xfrm>
        </p:spPr>
        <p:txBody>
          <a:bodyPr vert="horz" lIns="91440" tIns="45720" rIns="91440" bIns="45720" rtlCol="0" anchor="ctr">
            <a:normAutofit lnSpcReduction="10000"/>
          </a:bodyPr>
          <a:lstStyle/>
          <a:p>
            <a:pPr algn="l">
              <a:spcAft>
                <a:spcPts val="600"/>
              </a:spcAft>
            </a:pPr>
            <a:fld id="{68187FF5-4BF9-4B21-B0D2-9B7FF2B27D7F}" type="slidenum">
              <a:rPr lang="en-US">
                <a:solidFill>
                  <a:srgbClr val="FFFFFF"/>
                </a:solidFill>
              </a:rPr>
              <a:pPr algn="l">
                <a:spcAft>
                  <a:spcPts val="600"/>
                </a:spcAft>
              </a:pPr>
              <a:t>3</a:t>
            </a:fld>
            <a:endParaRPr lang="en-US">
              <a:solidFill>
                <a:srgbClr val="FFFFFF"/>
              </a:solidFill>
            </a:endParaRPr>
          </a:p>
        </p:txBody>
      </p:sp>
      <p:sp>
        <p:nvSpPr>
          <p:cNvPr id="2" name="Title 1">
            <a:extLst>
              <a:ext uri="{FF2B5EF4-FFF2-40B4-BE49-F238E27FC236}">
                <a16:creationId xmlns:a16="http://schemas.microsoft.com/office/drawing/2014/main" id="{9463D4E9-F3A8-4D14-9F61-F1160DBA44AB}"/>
              </a:ext>
            </a:extLst>
          </p:cNvPr>
          <p:cNvSpPr>
            <a:spLocks noGrp="1"/>
          </p:cNvSpPr>
          <p:nvPr>
            <p:ph type="title"/>
          </p:nvPr>
        </p:nvSpPr>
        <p:spPr>
          <a:xfrm>
            <a:off x="2034143" y="2353641"/>
            <a:ext cx="8179002" cy="2150719"/>
          </a:xfrm>
          <a:noFill/>
        </p:spPr>
        <p:txBody>
          <a:bodyPr vert="horz" lIns="91440" tIns="45720" rIns="91440" bIns="45720" rtlCol="0" anchor="ctr">
            <a:normAutofit/>
          </a:bodyPr>
          <a:lstStyle/>
          <a:p>
            <a:pPr algn="ctr"/>
            <a:r>
              <a:rPr lang="en-US" sz="5400" kern="1200" dirty="0">
                <a:solidFill>
                  <a:srgbClr val="FF0000"/>
                </a:solidFill>
                <a:latin typeface="Algerian" panose="04020705040A02060702" pitchFamily="82" charset="0"/>
              </a:rPr>
              <a:t>Distance vector routing</a:t>
            </a:r>
          </a:p>
        </p:txBody>
      </p:sp>
    </p:spTree>
    <p:extLst>
      <p:ext uri="{BB962C8B-B14F-4D97-AF65-F5344CB8AC3E}">
        <p14:creationId xmlns:p14="http://schemas.microsoft.com/office/powerpoint/2010/main" val="29829273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EC88408-146F-4D44-96E2-1CC21923E4A0}"/>
              </a:ext>
            </a:extLst>
          </p:cNvPr>
          <p:cNvSpPr>
            <a:spLocks noGrp="1"/>
          </p:cNvSpPr>
          <p:nvPr>
            <p:ph idx="1"/>
          </p:nvPr>
        </p:nvSpPr>
        <p:spPr>
          <a:xfrm>
            <a:off x="669388" y="822297"/>
            <a:ext cx="11049000" cy="5789518"/>
          </a:xfrm>
        </p:spPr>
        <p:txBody>
          <a:bodyPr>
            <a:normAutofit/>
          </a:bodyPr>
          <a:lstStyle/>
          <a:p>
            <a:pPr algn="just"/>
            <a:r>
              <a:rPr lang="en-US" sz="2000" b="0" i="0" u="none" strike="noStrike" baseline="0" dirty="0">
                <a:latin typeface="Times-Roman"/>
              </a:rPr>
              <a:t>Dynamic routing algorithm.</a:t>
            </a:r>
          </a:p>
          <a:p>
            <a:pPr algn="just"/>
            <a:r>
              <a:rPr lang="en-US" sz="2000" dirty="0">
                <a:latin typeface="Times-Roman"/>
              </a:rPr>
              <a:t>More efficient </a:t>
            </a:r>
            <a:r>
              <a:rPr lang="en-US" sz="2000" b="0" i="0" u="none" strike="noStrike" baseline="0" dirty="0">
                <a:latin typeface="Times-Roman"/>
              </a:rPr>
              <a:t>because they find shortest paths for the current topology. </a:t>
            </a:r>
          </a:p>
          <a:p>
            <a:pPr algn="just"/>
            <a:r>
              <a:rPr lang="en-US" sz="2000" dirty="0">
                <a:latin typeface="Times-Roman"/>
              </a:rPr>
              <a:t>Popular dynamic algorithms: D</a:t>
            </a:r>
            <a:r>
              <a:rPr lang="en-US" sz="2000" b="0" i="0" u="none" strike="noStrike" baseline="0" dirty="0">
                <a:latin typeface="Times-Roman"/>
              </a:rPr>
              <a:t>istance vector routing and Link state routing</a:t>
            </a:r>
          </a:p>
          <a:p>
            <a:pPr algn="just"/>
            <a:endParaRPr lang="en-US" sz="2000" b="0" i="0" u="none" strike="noStrike" baseline="0" dirty="0">
              <a:latin typeface="Times-Roman"/>
            </a:endParaRPr>
          </a:p>
          <a:p>
            <a:pPr algn="just"/>
            <a:r>
              <a:rPr lang="en-US" sz="2000" b="0" i="0" u="none" strike="noStrike" baseline="0" dirty="0">
                <a:latin typeface="Times-Roman"/>
              </a:rPr>
              <a:t>A </a:t>
            </a:r>
            <a:r>
              <a:rPr lang="en-US" sz="2000" b="1" i="0" u="none" strike="noStrike" baseline="0" dirty="0">
                <a:latin typeface="Times-Bold"/>
              </a:rPr>
              <a:t>distance vector routing </a:t>
            </a:r>
            <a:r>
              <a:rPr lang="en-US" sz="2000" b="0" i="0" u="none" strike="noStrike" baseline="0" dirty="0">
                <a:latin typeface="Times-Roman"/>
              </a:rPr>
              <a:t>algorithm operates by having each router maintain a table (i.e., a vector) giving the best-known distance to each destination and which link to use to get there. </a:t>
            </a:r>
          </a:p>
          <a:p>
            <a:pPr algn="just"/>
            <a:r>
              <a:rPr lang="en-US" sz="2000" b="0" i="0" u="none" strike="noStrike" baseline="0" dirty="0">
                <a:latin typeface="Times-Roman"/>
              </a:rPr>
              <a:t>These tables are updated by exchanging information with the neighbors. Eventually, every router knows the best link to reach each destination. </a:t>
            </a:r>
          </a:p>
          <a:p>
            <a:pPr algn="just"/>
            <a:r>
              <a:rPr lang="en-US" sz="2000" b="0" i="0" u="none" strike="noStrike" baseline="0" dirty="0">
                <a:latin typeface="Times-Roman"/>
              </a:rPr>
              <a:t>In distance vector routing, each router maintains a routing table indexed by, and containing one entry for each router in the network. </a:t>
            </a:r>
          </a:p>
          <a:p>
            <a:pPr algn="just"/>
            <a:r>
              <a:rPr lang="en-US" sz="2000" dirty="0">
                <a:latin typeface="Times-Roman"/>
              </a:rPr>
              <a:t>Each table</a:t>
            </a:r>
            <a:r>
              <a:rPr lang="en-US" sz="2000" b="0" i="0" u="none" strike="noStrike" baseline="0" dirty="0">
                <a:latin typeface="Times-Roman"/>
              </a:rPr>
              <a:t> entry has two parts: </a:t>
            </a:r>
          </a:p>
          <a:p>
            <a:pPr marL="1312863" indent="-342900" algn="just">
              <a:buFont typeface="Wingdings" panose="05000000000000000000" pitchFamily="2" charset="2"/>
              <a:buChar char="Ø"/>
            </a:pPr>
            <a:r>
              <a:rPr lang="en-US" sz="2000" dirty="0">
                <a:latin typeface="Times-Roman"/>
              </a:rPr>
              <a:t>T</a:t>
            </a:r>
            <a:r>
              <a:rPr lang="en-US" sz="2000" b="0" i="0" u="none" strike="noStrike" baseline="0" dirty="0">
                <a:latin typeface="Times-Roman"/>
              </a:rPr>
              <a:t>he preferred outgoing line to use for that destination </a:t>
            </a:r>
          </a:p>
          <a:p>
            <a:pPr marL="1312863" indent="-342900" algn="just">
              <a:buFont typeface="Wingdings" panose="05000000000000000000" pitchFamily="2" charset="2"/>
              <a:buChar char="Ø"/>
            </a:pPr>
            <a:r>
              <a:rPr lang="en-US" sz="2000" b="0" i="0" u="none" strike="noStrike" baseline="0" dirty="0">
                <a:latin typeface="Times-Roman"/>
              </a:rPr>
              <a:t>An estimate of the distance to that destination. </a:t>
            </a:r>
          </a:p>
          <a:p>
            <a:pPr algn="just"/>
            <a:r>
              <a:rPr lang="en-US" sz="2000" b="0" i="0" u="none" strike="noStrike" baseline="0" dirty="0">
                <a:latin typeface="Times-Roman"/>
              </a:rPr>
              <a:t>The distance might be measured as the number of hops or using another metric</a:t>
            </a:r>
            <a:endParaRPr lang="en-US" sz="3200" dirty="0"/>
          </a:p>
        </p:txBody>
      </p:sp>
      <p:sp>
        <p:nvSpPr>
          <p:cNvPr id="5" name="Slide Number Placeholder 4">
            <a:extLst>
              <a:ext uri="{FF2B5EF4-FFF2-40B4-BE49-F238E27FC236}">
                <a16:creationId xmlns:a16="http://schemas.microsoft.com/office/drawing/2014/main" id="{A90F0589-CA1B-451F-A2C6-AC7E679A425F}"/>
              </a:ext>
            </a:extLst>
          </p:cNvPr>
          <p:cNvSpPr>
            <a:spLocks noGrp="1"/>
          </p:cNvSpPr>
          <p:nvPr>
            <p:ph type="sldNum" sz="quarter" idx="12"/>
          </p:nvPr>
        </p:nvSpPr>
        <p:spPr/>
        <p:txBody>
          <a:bodyPr/>
          <a:lstStyle/>
          <a:p>
            <a:fld id="{68187FF5-4BF9-4B21-B0D2-9B7FF2B27D7F}" type="slidenum">
              <a:rPr lang="en-AU" smtClean="0"/>
              <a:pPr/>
              <a:t>4</a:t>
            </a:fld>
            <a:endParaRPr lang="en-AU"/>
          </a:p>
        </p:txBody>
      </p:sp>
      <p:sp>
        <p:nvSpPr>
          <p:cNvPr id="4" name="Rounded Rectangle 17">
            <a:extLst>
              <a:ext uri="{FF2B5EF4-FFF2-40B4-BE49-F238E27FC236}">
                <a16:creationId xmlns:a16="http://schemas.microsoft.com/office/drawing/2014/main" id="{2DE268D6-4718-54D8-2851-DF2B585DF5B2}"/>
              </a:ext>
            </a:extLst>
          </p:cNvPr>
          <p:cNvSpPr/>
          <p:nvPr/>
        </p:nvSpPr>
        <p:spPr>
          <a:xfrm>
            <a:off x="2873912" y="53596"/>
            <a:ext cx="6639951" cy="47803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DISTANCE VECTOR ROUTING </a:t>
            </a:r>
          </a:p>
        </p:txBody>
      </p:sp>
    </p:spTree>
    <p:extLst>
      <p:ext uri="{BB962C8B-B14F-4D97-AF65-F5344CB8AC3E}">
        <p14:creationId xmlns:p14="http://schemas.microsoft.com/office/powerpoint/2010/main" val="30342510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normAutofit/>
          </a:bodyPr>
          <a:lstStyle/>
          <a:p>
            <a:pPr eaLnBrk="1" hangingPunct="1"/>
            <a:r>
              <a:rPr lang="en-US" dirty="0"/>
              <a:t>Distance Vector Routing…</a:t>
            </a:r>
          </a:p>
        </p:txBody>
      </p:sp>
      <p:sp>
        <p:nvSpPr>
          <p:cNvPr id="6147" name="Rectangle 3"/>
          <p:cNvSpPr>
            <a:spLocks noGrp="1" noChangeArrowheads="1"/>
          </p:cNvSpPr>
          <p:nvPr>
            <p:ph type="body" idx="1"/>
          </p:nvPr>
        </p:nvSpPr>
        <p:spPr>
          <a:xfrm>
            <a:off x="2110154" y="6094757"/>
            <a:ext cx="9672034" cy="462058"/>
          </a:xfrm>
        </p:spPr>
        <p:txBody>
          <a:bodyPr>
            <a:noAutofit/>
          </a:bodyPr>
          <a:lstStyle/>
          <a:p>
            <a:pPr eaLnBrk="1" hangingPunct="1">
              <a:lnSpc>
                <a:spcPct val="90000"/>
              </a:lnSpc>
              <a:buFontTx/>
              <a:buNone/>
            </a:pPr>
            <a:r>
              <a:rPr lang="en-US" sz="2000" dirty="0">
                <a:solidFill>
                  <a:schemeClr val="accent2"/>
                </a:solidFill>
              </a:rPr>
              <a:t>(a)</a:t>
            </a:r>
            <a:r>
              <a:rPr lang="en-US" sz="2000" dirty="0"/>
              <a:t> A subnet.                                         </a:t>
            </a:r>
            <a:r>
              <a:rPr lang="en-US" sz="2000" dirty="0">
                <a:solidFill>
                  <a:schemeClr val="accent2"/>
                </a:solidFill>
              </a:rPr>
              <a:t>(b)</a:t>
            </a:r>
            <a:r>
              <a:rPr lang="en-US" sz="2000" dirty="0"/>
              <a:t> Input from A, I, H, K, and the new routing table for J.</a:t>
            </a:r>
          </a:p>
        </p:txBody>
      </p:sp>
      <p:pic>
        <p:nvPicPr>
          <p:cNvPr id="6148" name="Picture 5" descr="5-09"/>
          <p:cNvPicPr>
            <a:picLocks noChangeAspect="1" noChangeArrowheads="1"/>
          </p:cNvPicPr>
          <p:nvPr/>
        </p:nvPicPr>
        <p:blipFill>
          <a:blip r:embed="rId2" cstate="print"/>
          <a:srcRect/>
          <a:stretch>
            <a:fillRect/>
          </a:stretch>
        </p:blipFill>
        <p:spPr bwMode="auto">
          <a:xfrm>
            <a:off x="1363014" y="1184234"/>
            <a:ext cx="9672034" cy="4383987"/>
          </a:xfrm>
          <a:prstGeom prst="rect">
            <a:avLst/>
          </a:prstGeom>
          <a:noFill/>
          <a:ln w="9525">
            <a:noFill/>
            <a:miter lim="800000"/>
            <a:headEnd/>
            <a:tailEnd/>
          </a:ln>
        </p:spPr>
      </p:pic>
      <p:sp>
        <p:nvSpPr>
          <p:cNvPr id="2" name="Rectangle 1"/>
          <p:cNvSpPr/>
          <p:nvPr/>
        </p:nvSpPr>
        <p:spPr>
          <a:xfrm>
            <a:off x="490545" y="3919440"/>
            <a:ext cx="4883313" cy="1754326"/>
          </a:xfrm>
          <a:prstGeom prst="rect">
            <a:avLst/>
          </a:prstGeom>
        </p:spPr>
        <p:txBody>
          <a:bodyPr wrap="square">
            <a:spAutoFit/>
          </a:bodyPr>
          <a:lstStyle/>
          <a:p>
            <a:pPr algn="just"/>
            <a:r>
              <a:rPr lang="en-US" dirty="0">
                <a:latin typeface="Arial" panose="020B0604020202020204" pitchFamily="34" charset="0"/>
              </a:rPr>
              <a:t>Each node knows the distance (=cost) to its directly </a:t>
            </a:r>
            <a:r>
              <a:rPr lang="en-IN" dirty="0">
                <a:latin typeface="Arial" panose="020B0604020202020204" pitchFamily="34" charset="0"/>
              </a:rPr>
              <a:t>connected neighbours</a:t>
            </a:r>
          </a:p>
          <a:p>
            <a:pPr algn="just"/>
            <a:r>
              <a:rPr lang="en-US" dirty="0">
                <a:latin typeface="Arial" panose="020B0604020202020204" pitchFamily="34" charset="0"/>
              </a:rPr>
              <a:t>– A node sends a list to its neighbors with the current distances </a:t>
            </a:r>
            <a:r>
              <a:rPr lang="en-IN" dirty="0">
                <a:latin typeface="Arial" panose="020B0604020202020204" pitchFamily="34" charset="0"/>
              </a:rPr>
              <a:t>to all nodes</a:t>
            </a:r>
          </a:p>
          <a:p>
            <a:pPr algn="just"/>
            <a:r>
              <a:rPr lang="en-US" dirty="0">
                <a:latin typeface="Arial" panose="020B0604020202020204" pitchFamily="34" charset="0"/>
              </a:rPr>
              <a:t>– If all nodes update their distances, the routing tables </a:t>
            </a:r>
            <a:r>
              <a:rPr lang="en-IN" dirty="0">
                <a:latin typeface="Arial" panose="020B0604020202020204" pitchFamily="34" charset="0"/>
              </a:rPr>
              <a:t>eventually converge</a:t>
            </a:r>
            <a:endParaRPr lang="en-IN" dirty="0"/>
          </a:p>
        </p:txBody>
      </p:sp>
    </p:spTree>
    <p:extLst>
      <p:ext uri="{BB962C8B-B14F-4D97-AF65-F5344CB8AC3E}">
        <p14:creationId xmlns:p14="http://schemas.microsoft.com/office/powerpoint/2010/main" val="25057544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EB15CA-2803-44AB-B628-3D322E6BBCB2}"/>
              </a:ext>
            </a:extLst>
          </p:cNvPr>
          <p:cNvSpPr>
            <a:spLocks noGrp="1"/>
          </p:cNvSpPr>
          <p:nvPr>
            <p:ph type="title"/>
          </p:nvPr>
        </p:nvSpPr>
        <p:spPr>
          <a:xfrm>
            <a:off x="45133" y="136526"/>
            <a:ext cx="11044311" cy="623130"/>
          </a:xfrm>
        </p:spPr>
        <p:txBody>
          <a:bodyPr>
            <a:normAutofit/>
          </a:bodyPr>
          <a:lstStyle/>
          <a:p>
            <a:r>
              <a:rPr lang="en-US" sz="3600" b="1" dirty="0"/>
              <a:t>Count-to-Infinity problem:</a:t>
            </a:r>
          </a:p>
        </p:txBody>
      </p:sp>
      <p:sp>
        <p:nvSpPr>
          <p:cNvPr id="3" name="Content Placeholder 2">
            <a:extLst>
              <a:ext uri="{FF2B5EF4-FFF2-40B4-BE49-F238E27FC236}">
                <a16:creationId xmlns:a16="http://schemas.microsoft.com/office/drawing/2014/main" id="{AA00F109-974A-493F-A1CE-7E2F62CDA922}"/>
              </a:ext>
            </a:extLst>
          </p:cNvPr>
          <p:cNvSpPr>
            <a:spLocks noGrp="1"/>
          </p:cNvSpPr>
          <p:nvPr>
            <p:ph idx="1"/>
          </p:nvPr>
        </p:nvSpPr>
        <p:spPr>
          <a:xfrm>
            <a:off x="154745" y="887571"/>
            <a:ext cx="10515600" cy="4351338"/>
          </a:xfrm>
        </p:spPr>
        <p:txBody>
          <a:bodyPr>
            <a:normAutofit/>
          </a:bodyPr>
          <a:lstStyle/>
          <a:p>
            <a:pPr algn="just"/>
            <a:r>
              <a:rPr lang="en-US" sz="2200" dirty="0">
                <a:latin typeface="Times New Roman" panose="02020603050405020304" pitchFamily="18" charset="0"/>
                <a:cs typeface="Times New Roman" panose="02020603050405020304" pitchFamily="18" charset="0"/>
              </a:rPr>
              <a:t>Drawback of distance vector routing is “</a:t>
            </a:r>
            <a:r>
              <a:rPr lang="en-US" sz="2200" b="1" dirty="0">
                <a:latin typeface="Times New Roman" panose="02020603050405020304" pitchFamily="18" charset="0"/>
                <a:cs typeface="Times New Roman" panose="02020603050405020304" pitchFamily="18" charset="0"/>
              </a:rPr>
              <a:t>Count-to-Infinity</a:t>
            </a:r>
            <a:r>
              <a:rPr lang="en-US" sz="2200" dirty="0">
                <a:latin typeface="Times New Roman" panose="02020603050405020304" pitchFamily="18" charset="0"/>
                <a:cs typeface="Times New Roman" panose="02020603050405020304" pitchFamily="18" charset="0"/>
              </a:rPr>
              <a:t>” problem.</a:t>
            </a:r>
          </a:p>
          <a:p>
            <a:pPr algn="just"/>
            <a:endParaRPr lang="en-US" sz="500" dirty="0">
              <a:latin typeface="Times New Roman" panose="02020603050405020304" pitchFamily="18" charset="0"/>
              <a:cs typeface="Times New Roman" panose="02020603050405020304" pitchFamily="18" charset="0"/>
            </a:endParaRPr>
          </a:p>
          <a:p>
            <a:pPr algn="just"/>
            <a:r>
              <a:rPr lang="en-US" sz="2200" b="0" i="0" u="none" strike="noStrike" baseline="0" dirty="0">
                <a:latin typeface="Times New Roman" panose="02020603050405020304" pitchFamily="18" charset="0"/>
                <a:cs typeface="Times New Roman" panose="02020603050405020304" pitchFamily="18" charset="0"/>
              </a:rPr>
              <a:t>Distance vector routing is useful as a simple technique by which routers can collectively compute shortest paths.</a:t>
            </a:r>
          </a:p>
          <a:p>
            <a:pPr algn="just"/>
            <a:endParaRPr lang="en-US" sz="700" b="0" i="0" u="none" strike="noStrike" baseline="0" dirty="0">
              <a:latin typeface="Times New Roman" panose="02020603050405020304" pitchFamily="18" charset="0"/>
              <a:cs typeface="Times New Roman" panose="02020603050405020304" pitchFamily="18" charset="0"/>
            </a:endParaRPr>
          </a:p>
          <a:p>
            <a:pPr algn="just"/>
            <a:r>
              <a:rPr lang="en-US" sz="2200" b="0" i="0" u="none" strike="noStrike" baseline="0" dirty="0">
                <a:latin typeface="Times New Roman" panose="02020603050405020304" pitchFamily="18" charset="0"/>
                <a:cs typeface="Times New Roman" panose="02020603050405020304" pitchFamily="18" charset="0"/>
              </a:rPr>
              <a:t>In particular, it reacts rapidly to good news, but leisurely to bad news. </a:t>
            </a:r>
          </a:p>
        </p:txBody>
      </p:sp>
      <p:pic>
        <p:nvPicPr>
          <p:cNvPr id="6" name="Picture 6" descr="5-10">
            <a:extLst>
              <a:ext uri="{FF2B5EF4-FFF2-40B4-BE49-F238E27FC236}">
                <a16:creationId xmlns:a16="http://schemas.microsoft.com/office/drawing/2014/main" id="{A57F2F88-2E17-FA2C-D452-B53299F0F4EF}"/>
              </a:ext>
            </a:extLst>
          </p:cNvPr>
          <p:cNvPicPr>
            <a:picLocks noChangeAspect="1" noChangeArrowheads="1"/>
          </p:cNvPicPr>
          <p:nvPr/>
        </p:nvPicPr>
        <p:blipFill>
          <a:blip r:embed="rId2" cstate="print"/>
          <a:srcRect/>
          <a:stretch>
            <a:fillRect/>
          </a:stretch>
        </p:blipFill>
        <p:spPr bwMode="auto">
          <a:xfrm>
            <a:off x="1463512" y="3222318"/>
            <a:ext cx="9206833" cy="3006787"/>
          </a:xfrm>
          <a:prstGeom prst="rect">
            <a:avLst/>
          </a:prstGeom>
          <a:noFill/>
          <a:ln w="9525">
            <a:noFill/>
            <a:miter lim="800000"/>
            <a:headEnd/>
            <a:tailEnd/>
          </a:ln>
        </p:spPr>
      </p:pic>
      <p:sp>
        <p:nvSpPr>
          <p:cNvPr id="7" name="Text Box 4">
            <a:extLst>
              <a:ext uri="{FF2B5EF4-FFF2-40B4-BE49-F238E27FC236}">
                <a16:creationId xmlns:a16="http://schemas.microsoft.com/office/drawing/2014/main" id="{4C2E759F-BD0F-E863-6754-BEC8CB103524}"/>
              </a:ext>
            </a:extLst>
          </p:cNvPr>
          <p:cNvSpPr txBox="1">
            <a:spLocks noChangeArrowheads="1"/>
          </p:cNvSpPr>
          <p:nvPr/>
        </p:nvSpPr>
        <p:spPr bwMode="auto">
          <a:xfrm>
            <a:off x="4194373" y="6310628"/>
            <a:ext cx="6475972" cy="400110"/>
          </a:xfrm>
          <a:prstGeom prst="rect">
            <a:avLst/>
          </a:prstGeom>
          <a:noFill/>
          <a:ln w="9525">
            <a:noFill/>
            <a:miter lim="800000"/>
            <a:headEnd/>
            <a:tailEnd/>
          </a:ln>
        </p:spPr>
        <p:txBody>
          <a:bodyPr wrap="square">
            <a:spAutoFit/>
          </a:bodyPr>
          <a:lstStyle/>
          <a:p>
            <a:pPr>
              <a:spcBef>
                <a:spcPct val="50000"/>
              </a:spcBef>
            </a:pPr>
            <a:r>
              <a:rPr lang="en-US" sz="2000" i="1" dirty="0">
                <a:solidFill>
                  <a:srgbClr val="0070C0"/>
                </a:solidFill>
                <a:latin typeface="Times New Roman" pitchFamily="18" charset="0"/>
              </a:rPr>
              <a:t>Fig: The count-to-infinity problem</a:t>
            </a:r>
            <a:r>
              <a:rPr lang="en-US" sz="2000" dirty="0">
                <a:latin typeface="Times New Roman" pitchFamily="18" charset="0"/>
              </a:rPr>
              <a:t>.</a:t>
            </a:r>
          </a:p>
        </p:txBody>
      </p:sp>
    </p:spTree>
    <p:extLst>
      <p:ext uri="{BB962C8B-B14F-4D97-AF65-F5344CB8AC3E}">
        <p14:creationId xmlns:p14="http://schemas.microsoft.com/office/powerpoint/2010/main" val="32451200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DB8AD282-2456-4AFE-B0B9-FD1ACC5C61BB}"/>
              </a:ext>
            </a:extLst>
          </p:cNvPr>
          <p:cNvSpPr>
            <a:spLocks noGrp="1"/>
          </p:cNvSpPr>
          <p:nvPr>
            <p:ph type="sldNum" sz="quarter" idx="12"/>
          </p:nvPr>
        </p:nvSpPr>
        <p:spPr>
          <a:xfrm>
            <a:off x="321732" y="6356350"/>
            <a:ext cx="2568811" cy="365125"/>
          </a:xfrm>
        </p:spPr>
        <p:txBody>
          <a:bodyPr vert="horz" lIns="91440" tIns="45720" rIns="91440" bIns="45720" rtlCol="0" anchor="ctr">
            <a:normAutofit lnSpcReduction="10000"/>
          </a:bodyPr>
          <a:lstStyle/>
          <a:p>
            <a:pPr algn="l">
              <a:spcAft>
                <a:spcPts val="600"/>
              </a:spcAft>
            </a:pPr>
            <a:fld id="{68187FF5-4BF9-4B21-B0D2-9B7FF2B27D7F}" type="slidenum">
              <a:rPr lang="en-US">
                <a:solidFill>
                  <a:srgbClr val="FFFFFF"/>
                </a:solidFill>
              </a:rPr>
              <a:pPr algn="l">
                <a:spcAft>
                  <a:spcPts val="600"/>
                </a:spcAft>
              </a:pPr>
              <a:t>7</a:t>
            </a:fld>
            <a:endParaRPr lang="en-US">
              <a:solidFill>
                <a:srgbClr val="FFFFFF"/>
              </a:solidFill>
            </a:endParaRPr>
          </a:p>
        </p:txBody>
      </p:sp>
      <p:sp>
        <p:nvSpPr>
          <p:cNvPr id="2" name="Title 1">
            <a:extLst>
              <a:ext uri="{FF2B5EF4-FFF2-40B4-BE49-F238E27FC236}">
                <a16:creationId xmlns:a16="http://schemas.microsoft.com/office/drawing/2014/main" id="{9463D4E9-F3A8-4D14-9F61-F1160DBA44AB}"/>
              </a:ext>
            </a:extLst>
          </p:cNvPr>
          <p:cNvSpPr>
            <a:spLocks noGrp="1"/>
          </p:cNvSpPr>
          <p:nvPr>
            <p:ph type="title"/>
          </p:nvPr>
        </p:nvSpPr>
        <p:spPr>
          <a:xfrm>
            <a:off x="2034143" y="2353641"/>
            <a:ext cx="8179002" cy="2150719"/>
          </a:xfrm>
          <a:noFill/>
        </p:spPr>
        <p:txBody>
          <a:bodyPr vert="horz" lIns="91440" tIns="45720" rIns="91440" bIns="45720" rtlCol="0" anchor="ctr">
            <a:normAutofit/>
          </a:bodyPr>
          <a:lstStyle/>
          <a:p>
            <a:pPr algn="ctr"/>
            <a:r>
              <a:rPr lang="en-US" sz="5400" kern="1200" dirty="0">
                <a:solidFill>
                  <a:srgbClr val="FF0000"/>
                </a:solidFill>
                <a:latin typeface="Algerian" panose="04020705040A02060702" pitchFamily="82" charset="0"/>
              </a:rPr>
              <a:t>Link state routing</a:t>
            </a:r>
          </a:p>
        </p:txBody>
      </p:sp>
    </p:spTree>
    <p:extLst>
      <p:ext uri="{BB962C8B-B14F-4D97-AF65-F5344CB8AC3E}">
        <p14:creationId xmlns:p14="http://schemas.microsoft.com/office/powerpoint/2010/main" val="13110599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type="body" idx="1"/>
          </p:nvPr>
        </p:nvSpPr>
        <p:spPr>
          <a:xfrm>
            <a:off x="620184" y="1317626"/>
            <a:ext cx="11571816" cy="5235575"/>
          </a:xfrm>
        </p:spPr>
        <p:txBody>
          <a:bodyPr>
            <a:normAutofit/>
          </a:bodyPr>
          <a:lstStyle/>
          <a:p>
            <a:r>
              <a:rPr lang="en-US" sz="2200" b="0" i="0" u="none" strike="noStrike" baseline="0" dirty="0">
                <a:latin typeface="Times New Roman" panose="02020603050405020304" pitchFamily="18" charset="0"/>
                <a:cs typeface="Times New Roman" panose="02020603050405020304" pitchFamily="18" charset="0"/>
              </a:rPr>
              <a:t>The idea behind link state routing is simple.</a:t>
            </a:r>
          </a:p>
          <a:p>
            <a:endParaRPr lang="en-US" sz="2200" b="0" i="0" u="none" strike="noStrike" baseline="0" dirty="0">
              <a:latin typeface="Times New Roman" panose="02020603050405020304" pitchFamily="18" charset="0"/>
              <a:cs typeface="Times New Roman" panose="02020603050405020304" pitchFamily="18" charset="0"/>
            </a:endParaRPr>
          </a:p>
          <a:p>
            <a:r>
              <a:rPr lang="en-US" sz="2200" dirty="0">
                <a:latin typeface="Times New Roman" panose="02020603050405020304" pitchFamily="18" charset="0"/>
                <a:cs typeface="Times New Roman" panose="02020603050405020304" pitchFamily="18" charset="0"/>
              </a:rPr>
              <a:t>Each router must do the following five steps:</a:t>
            </a:r>
          </a:p>
          <a:p>
            <a:pPr marL="1427163" indent="-457200">
              <a:buFont typeface="+mj-lt"/>
              <a:buAutoNum type="arabicPeriod"/>
            </a:pPr>
            <a:r>
              <a:rPr lang="en-US" sz="2200" dirty="0">
                <a:latin typeface="Times New Roman" panose="02020603050405020304" pitchFamily="18" charset="0"/>
                <a:cs typeface="Times New Roman" panose="02020603050405020304" pitchFamily="18" charset="0"/>
              </a:rPr>
              <a:t>Discover its neighbors, learn their network address.</a:t>
            </a:r>
          </a:p>
          <a:p>
            <a:pPr marL="1427163" indent="-457200">
              <a:buFont typeface="+mj-lt"/>
              <a:buAutoNum type="arabicPeriod"/>
            </a:pPr>
            <a:r>
              <a:rPr lang="en-US" sz="2200" dirty="0">
                <a:latin typeface="Times New Roman" panose="02020603050405020304" pitchFamily="18" charset="0"/>
                <a:cs typeface="Times New Roman" panose="02020603050405020304" pitchFamily="18" charset="0"/>
              </a:rPr>
              <a:t>Measure the delay or cost to each of its neighbors.</a:t>
            </a:r>
          </a:p>
          <a:p>
            <a:pPr marL="1427163" indent="-457200">
              <a:buFont typeface="+mj-lt"/>
              <a:buAutoNum type="arabicPeriod"/>
            </a:pPr>
            <a:r>
              <a:rPr lang="en-US" sz="2200" dirty="0">
                <a:latin typeface="Times New Roman" panose="02020603050405020304" pitchFamily="18" charset="0"/>
                <a:cs typeface="Times New Roman" panose="02020603050405020304" pitchFamily="18" charset="0"/>
              </a:rPr>
              <a:t>Construct a packet telling all it has just learned.</a:t>
            </a:r>
          </a:p>
          <a:p>
            <a:pPr marL="1427163" indent="-457200">
              <a:buFont typeface="+mj-lt"/>
              <a:buAutoNum type="arabicPeriod"/>
            </a:pPr>
            <a:r>
              <a:rPr lang="en-US" sz="2200" dirty="0">
                <a:latin typeface="Times New Roman" panose="02020603050405020304" pitchFamily="18" charset="0"/>
                <a:cs typeface="Times New Roman" panose="02020603050405020304" pitchFamily="18" charset="0"/>
              </a:rPr>
              <a:t>Send this packet to all other routers.</a:t>
            </a:r>
          </a:p>
          <a:p>
            <a:pPr marL="1427163" indent="-457200">
              <a:buFont typeface="+mj-lt"/>
              <a:buAutoNum type="arabicPeriod"/>
            </a:pPr>
            <a:r>
              <a:rPr lang="en-US" sz="2200" dirty="0">
                <a:latin typeface="Times New Roman" panose="02020603050405020304" pitchFamily="18" charset="0"/>
                <a:cs typeface="Times New Roman" panose="02020603050405020304" pitchFamily="18" charset="0"/>
              </a:rPr>
              <a:t>Compute the shortest path to every other router.</a:t>
            </a:r>
          </a:p>
          <a:p>
            <a:pPr marL="1427163" indent="-457200">
              <a:buFont typeface="+mj-lt"/>
              <a:buAutoNum type="arabicPeriod"/>
            </a:pPr>
            <a:endParaRPr lang="en-US" sz="2200" dirty="0">
              <a:latin typeface="Times New Roman" panose="02020603050405020304" pitchFamily="18" charset="0"/>
              <a:cs typeface="Times New Roman" panose="02020603050405020304" pitchFamily="18" charset="0"/>
            </a:endParaRPr>
          </a:p>
          <a:p>
            <a:pPr marL="225425" indent="-225425"/>
            <a:r>
              <a:rPr lang="en-US" sz="2200" b="0" i="0" u="none" strike="noStrike" baseline="0" dirty="0">
                <a:latin typeface="Times-Roman"/>
              </a:rPr>
              <a:t>In effect, the complete topology is distributed to every router. Then Dijkstra’s algorithm can be run at each router to find the shortest path to every other router.</a:t>
            </a:r>
            <a:endParaRPr lang="en-US" sz="2200" dirty="0">
              <a:latin typeface="Times New Roman" panose="02020603050405020304" pitchFamily="18" charset="0"/>
              <a:cs typeface="Times New Roman" panose="02020603050405020304" pitchFamily="18" charset="0"/>
            </a:endParaRPr>
          </a:p>
          <a:p>
            <a:pPr marL="1427163" indent="-457200">
              <a:buFont typeface="+mj-lt"/>
              <a:buAutoNum type="arabicPeriod"/>
            </a:pPr>
            <a:endParaRPr lang="en-US" sz="2200" dirty="0">
              <a:latin typeface="Times New Roman" panose="02020603050405020304" pitchFamily="18" charset="0"/>
              <a:cs typeface="Times New Roman" panose="02020603050405020304" pitchFamily="18" charset="0"/>
            </a:endParaRPr>
          </a:p>
        </p:txBody>
      </p:sp>
      <p:sp>
        <p:nvSpPr>
          <p:cNvPr id="2" name="Rounded Rectangle 17">
            <a:extLst>
              <a:ext uri="{FF2B5EF4-FFF2-40B4-BE49-F238E27FC236}">
                <a16:creationId xmlns:a16="http://schemas.microsoft.com/office/drawing/2014/main" id="{C814627F-E747-3811-9703-B6B211338F35}"/>
              </a:ext>
            </a:extLst>
          </p:cNvPr>
          <p:cNvSpPr/>
          <p:nvPr/>
        </p:nvSpPr>
        <p:spPr>
          <a:xfrm>
            <a:off x="2873912" y="53596"/>
            <a:ext cx="6639951" cy="47803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LINK STATE ROUTING </a:t>
            </a:r>
          </a:p>
        </p:txBody>
      </p:sp>
    </p:spTree>
    <p:extLst>
      <p:ext uri="{BB962C8B-B14F-4D97-AF65-F5344CB8AC3E}">
        <p14:creationId xmlns:p14="http://schemas.microsoft.com/office/powerpoint/2010/main" val="24773714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7B494F-2816-4376-BEA2-550B6E69D167}"/>
              </a:ext>
            </a:extLst>
          </p:cNvPr>
          <p:cNvSpPr>
            <a:spLocks noGrp="1"/>
          </p:cNvSpPr>
          <p:nvPr>
            <p:ph type="title"/>
          </p:nvPr>
        </p:nvSpPr>
        <p:spPr>
          <a:xfrm>
            <a:off x="528711" y="0"/>
            <a:ext cx="10515600" cy="604911"/>
          </a:xfrm>
        </p:spPr>
        <p:txBody>
          <a:bodyPr>
            <a:normAutofit fontScale="90000"/>
          </a:bodyPr>
          <a:lstStyle/>
          <a:p>
            <a:r>
              <a:rPr lang="en-US" dirty="0"/>
              <a:t>Link State Routing…</a:t>
            </a:r>
          </a:p>
        </p:txBody>
      </p:sp>
      <p:sp>
        <p:nvSpPr>
          <p:cNvPr id="3" name="Content Placeholder 2">
            <a:extLst>
              <a:ext uri="{FF2B5EF4-FFF2-40B4-BE49-F238E27FC236}">
                <a16:creationId xmlns:a16="http://schemas.microsoft.com/office/drawing/2014/main" id="{5EE4F121-1FBD-4D41-85EA-1AD0D7BB0A61}"/>
              </a:ext>
            </a:extLst>
          </p:cNvPr>
          <p:cNvSpPr>
            <a:spLocks noGrp="1"/>
          </p:cNvSpPr>
          <p:nvPr>
            <p:ph idx="1"/>
          </p:nvPr>
        </p:nvSpPr>
        <p:spPr>
          <a:xfrm>
            <a:off x="528711" y="799966"/>
            <a:ext cx="10515600" cy="5021494"/>
          </a:xfrm>
        </p:spPr>
        <p:txBody>
          <a:bodyPr>
            <a:normAutofit/>
          </a:bodyPr>
          <a:lstStyle/>
          <a:p>
            <a:pPr marL="457200" indent="-457200">
              <a:buAutoNum type="arabicPeriod"/>
            </a:pPr>
            <a:r>
              <a:rPr lang="en-US" sz="2400" b="1" dirty="0">
                <a:latin typeface="Times New Roman" panose="02020603050405020304" pitchFamily="18" charset="0"/>
                <a:cs typeface="Times New Roman" panose="02020603050405020304" pitchFamily="18" charset="0"/>
              </a:rPr>
              <a:t>Learning about the Neighbors:</a:t>
            </a:r>
          </a:p>
          <a:p>
            <a:pPr marL="0" indent="0">
              <a:buNone/>
            </a:pPr>
            <a:endParaRPr lang="en-US" sz="2400" b="1" dirty="0">
              <a:latin typeface="Times New Roman" panose="02020603050405020304" pitchFamily="18" charset="0"/>
              <a:cs typeface="Times New Roman" panose="02020603050405020304" pitchFamily="18" charset="0"/>
            </a:endParaRPr>
          </a:p>
          <a:p>
            <a:pPr algn="l"/>
            <a:r>
              <a:rPr lang="en-US" sz="2000" b="0" i="0" u="none" strike="noStrike" baseline="0" dirty="0">
                <a:latin typeface="Times-Roman"/>
              </a:rPr>
              <a:t>When a router is booted, its first task is to learn who its neighbors are. </a:t>
            </a:r>
          </a:p>
          <a:p>
            <a:pPr algn="l"/>
            <a:endParaRPr lang="en-US" sz="500" b="0" i="0" u="none" strike="noStrike" baseline="0" dirty="0">
              <a:latin typeface="Times-Roman"/>
            </a:endParaRPr>
          </a:p>
          <a:p>
            <a:pPr algn="l"/>
            <a:r>
              <a:rPr lang="en-US" sz="2000" b="0" i="0" u="none" strike="noStrike" baseline="0" dirty="0">
                <a:latin typeface="Times-Roman"/>
              </a:rPr>
              <a:t>It accomplishes this goal by sending a special HELLO packet on each point-to-point line. </a:t>
            </a:r>
          </a:p>
          <a:p>
            <a:pPr algn="l"/>
            <a:endParaRPr lang="en-US" sz="500" b="0" i="0" u="none" strike="noStrike" baseline="0" dirty="0">
              <a:latin typeface="Times-Roman"/>
            </a:endParaRPr>
          </a:p>
          <a:p>
            <a:pPr algn="l"/>
            <a:r>
              <a:rPr lang="en-US" sz="2000" b="0" i="0" u="none" strike="noStrike" baseline="0" dirty="0">
                <a:latin typeface="Times-Roman"/>
              </a:rPr>
              <a:t>The router on the other end is expected to send back a reply giving its name.</a:t>
            </a:r>
          </a:p>
          <a:p>
            <a:pPr algn="l"/>
            <a:endParaRPr lang="en-US" sz="500" b="0" i="0" u="none" strike="noStrike" baseline="0" dirty="0">
              <a:latin typeface="Times-Roman"/>
            </a:endParaRPr>
          </a:p>
          <a:p>
            <a:pPr algn="l"/>
            <a:r>
              <a:rPr lang="en-US" sz="2000" b="0" i="0" u="none" strike="noStrike" baseline="0" dirty="0">
                <a:latin typeface="Times-Roman"/>
              </a:rPr>
              <a:t>These names must be globally unique.</a:t>
            </a:r>
            <a:endParaRPr lang="en-US" sz="3200" dirty="0"/>
          </a:p>
        </p:txBody>
      </p:sp>
      <p:sp>
        <p:nvSpPr>
          <p:cNvPr id="5" name="Slide Number Placeholder 4">
            <a:extLst>
              <a:ext uri="{FF2B5EF4-FFF2-40B4-BE49-F238E27FC236}">
                <a16:creationId xmlns:a16="http://schemas.microsoft.com/office/drawing/2014/main" id="{6A61CD1A-5B54-46C5-B18C-D163E244C983}"/>
              </a:ext>
            </a:extLst>
          </p:cNvPr>
          <p:cNvSpPr>
            <a:spLocks noGrp="1"/>
          </p:cNvSpPr>
          <p:nvPr>
            <p:ph type="sldNum" sz="quarter" idx="12"/>
          </p:nvPr>
        </p:nvSpPr>
        <p:spPr/>
        <p:txBody>
          <a:bodyPr/>
          <a:lstStyle/>
          <a:p>
            <a:fld id="{68187FF5-4BF9-4B21-B0D2-9B7FF2B27D7F}" type="slidenum">
              <a:rPr lang="en-AU" smtClean="0"/>
              <a:pPr/>
              <a:t>9</a:t>
            </a:fld>
            <a:endParaRPr lang="en-AU"/>
          </a:p>
        </p:txBody>
      </p:sp>
      <p:pic>
        <p:nvPicPr>
          <p:cNvPr id="6" name="Picture 5">
            <a:extLst>
              <a:ext uri="{FF2B5EF4-FFF2-40B4-BE49-F238E27FC236}">
                <a16:creationId xmlns:a16="http://schemas.microsoft.com/office/drawing/2014/main" id="{0320B435-2BD6-BEEB-CE6A-845065855B4F}"/>
              </a:ext>
            </a:extLst>
          </p:cNvPr>
          <p:cNvPicPr>
            <a:picLocks noChangeAspect="1"/>
          </p:cNvPicPr>
          <p:nvPr/>
        </p:nvPicPr>
        <p:blipFill>
          <a:blip r:embed="rId2"/>
          <a:stretch>
            <a:fillRect/>
          </a:stretch>
        </p:blipFill>
        <p:spPr>
          <a:xfrm>
            <a:off x="4793733" y="3713871"/>
            <a:ext cx="7398267" cy="3007604"/>
          </a:xfrm>
          <a:prstGeom prst="rect">
            <a:avLst/>
          </a:prstGeom>
        </p:spPr>
      </p:pic>
    </p:spTree>
    <p:extLst>
      <p:ext uri="{BB962C8B-B14F-4D97-AF65-F5344CB8AC3E}">
        <p14:creationId xmlns:p14="http://schemas.microsoft.com/office/powerpoint/2010/main" val="28429047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7B494F-2816-4376-BEA2-550B6E69D167}"/>
              </a:ext>
            </a:extLst>
          </p:cNvPr>
          <p:cNvSpPr>
            <a:spLocks noGrp="1"/>
          </p:cNvSpPr>
          <p:nvPr>
            <p:ph type="title"/>
          </p:nvPr>
        </p:nvSpPr>
        <p:spPr/>
        <p:txBody>
          <a:bodyPr>
            <a:normAutofit/>
          </a:bodyPr>
          <a:lstStyle/>
          <a:p>
            <a:r>
              <a:rPr lang="en-US" dirty="0"/>
              <a:t>Link State Routing…</a:t>
            </a:r>
          </a:p>
        </p:txBody>
      </p:sp>
      <p:sp>
        <p:nvSpPr>
          <p:cNvPr id="3" name="Content Placeholder 2">
            <a:extLst>
              <a:ext uri="{FF2B5EF4-FFF2-40B4-BE49-F238E27FC236}">
                <a16:creationId xmlns:a16="http://schemas.microsoft.com/office/drawing/2014/main" id="{5EE4F121-1FBD-4D41-85EA-1AD0D7BB0A61}"/>
              </a:ext>
            </a:extLst>
          </p:cNvPr>
          <p:cNvSpPr>
            <a:spLocks noGrp="1"/>
          </p:cNvSpPr>
          <p:nvPr>
            <p:ph idx="1"/>
          </p:nvPr>
        </p:nvSpPr>
        <p:spPr>
          <a:xfrm>
            <a:off x="838200" y="1517418"/>
            <a:ext cx="10515600" cy="5021494"/>
          </a:xfrm>
        </p:spPr>
        <p:txBody>
          <a:bodyPr>
            <a:normAutofit/>
          </a:bodyPr>
          <a:lstStyle/>
          <a:p>
            <a:pPr marL="0" indent="0">
              <a:buNone/>
            </a:pPr>
            <a:r>
              <a:rPr lang="en-US" sz="2400" b="1" dirty="0">
                <a:latin typeface="Times New Roman" panose="02020603050405020304" pitchFamily="18" charset="0"/>
                <a:cs typeface="Times New Roman" panose="02020603050405020304" pitchFamily="18" charset="0"/>
              </a:rPr>
              <a:t>2. Measuring line cost:</a:t>
            </a:r>
          </a:p>
          <a:p>
            <a:pPr marL="0" indent="0">
              <a:buNone/>
            </a:pPr>
            <a:endParaRPr lang="en-US" sz="2400" b="1" dirty="0">
              <a:latin typeface="Times New Roman" panose="02020603050405020304" pitchFamily="18" charset="0"/>
              <a:cs typeface="Times New Roman" panose="02020603050405020304" pitchFamily="18" charset="0"/>
            </a:endParaRPr>
          </a:p>
          <a:p>
            <a:pPr algn="just"/>
            <a:r>
              <a:rPr lang="en-US" sz="2000" b="0" i="0" u="none" strike="noStrike" baseline="0" dirty="0">
                <a:latin typeface="Times New Roman" panose="02020603050405020304" pitchFamily="18" charset="0"/>
                <a:cs typeface="Times New Roman" panose="02020603050405020304" pitchFamily="18" charset="0"/>
              </a:rPr>
              <a:t>The link state routing algorithm requires each link to have a distance or delay for finding shortest paths. </a:t>
            </a:r>
          </a:p>
          <a:p>
            <a:pPr algn="just"/>
            <a:endParaRPr lang="en-US" sz="2000" b="0" i="0" u="none" strike="noStrike" baseline="0" dirty="0">
              <a:latin typeface="Times New Roman" panose="02020603050405020304" pitchFamily="18" charset="0"/>
              <a:cs typeface="Times New Roman" panose="02020603050405020304" pitchFamily="18" charset="0"/>
            </a:endParaRPr>
          </a:p>
          <a:p>
            <a:pPr algn="just"/>
            <a:r>
              <a:rPr lang="en-US" sz="2000" b="0" i="0" u="none" strike="noStrike" baseline="0" dirty="0">
                <a:latin typeface="Times New Roman" panose="02020603050405020304" pitchFamily="18" charset="0"/>
                <a:cs typeface="Times New Roman" panose="02020603050405020304" pitchFamily="18" charset="0"/>
              </a:rPr>
              <a:t>The most direct way to determine this delay is to send over the line a special ECHO packet that the other side is required to send back immediately. </a:t>
            </a:r>
          </a:p>
          <a:p>
            <a:pPr algn="just"/>
            <a:endParaRPr lang="en-US" sz="2000" b="0" i="0" u="none" strike="noStrike" baseline="0" dirty="0">
              <a:latin typeface="Times New Roman" panose="02020603050405020304" pitchFamily="18" charset="0"/>
              <a:cs typeface="Times New Roman" panose="02020603050405020304" pitchFamily="18" charset="0"/>
            </a:endParaRPr>
          </a:p>
          <a:p>
            <a:pPr algn="just"/>
            <a:r>
              <a:rPr lang="en-US" sz="2000" b="0" i="0" u="none" strike="noStrike" baseline="0" dirty="0">
                <a:latin typeface="Times New Roman" panose="02020603050405020304" pitchFamily="18" charset="0"/>
                <a:cs typeface="Times New Roman" panose="02020603050405020304" pitchFamily="18" charset="0"/>
              </a:rPr>
              <a:t>By measuring the round-trip time and dividing it by two, the sending router can get a reasonable estimate of the delay.</a:t>
            </a:r>
            <a:endParaRPr lang="en-US" sz="2000" dirty="0">
              <a:latin typeface="Times New Roman" panose="02020603050405020304" pitchFamily="18" charset="0"/>
              <a:cs typeface="Times New Roman" panose="02020603050405020304" pitchFamily="18" charset="0"/>
            </a:endParaRPr>
          </a:p>
        </p:txBody>
      </p:sp>
      <p:sp>
        <p:nvSpPr>
          <p:cNvPr id="5" name="Slide Number Placeholder 4">
            <a:extLst>
              <a:ext uri="{FF2B5EF4-FFF2-40B4-BE49-F238E27FC236}">
                <a16:creationId xmlns:a16="http://schemas.microsoft.com/office/drawing/2014/main" id="{6A61CD1A-5B54-46C5-B18C-D163E244C983}"/>
              </a:ext>
            </a:extLst>
          </p:cNvPr>
          <p:cNvSpPr>
            <a:spLocks noGrp="1"/>
          </p:cNvSpPr>
          <p:nvPr>
            <p:ph type="sldNum" sz="quarter" idx="12"/>
          </p:nvPr>
        </p:nvSpPr>
        <p:spPr/>
        <p:txBody>
          <a:bodyPr/>
          <a:lstStyle/>
          <a:p>
            <a:fld id="{68187FF5-4BF9-4B21-B0D2-9B7FF2B27D7F}" type="slidenum">
              <a:rPr lang="en-AU" smtClean="0"/>
              <a:pPr/>
              <a:t>10</a:t>
            </a:fld>
            <a:endParaRPr lang="en-AU"/>
          </a:p>
        </p:txBody>
      </p:sp>
    </p:spTree>
    <p:extLst>
      <p:ext uri="{BB962C8B-B14F-4D97-AF65-F5344CB8AC3E}">
        <p14:creationId xmlns:p14="http://schemas.microsoft.com/office/powerpoint/2010/main" val="13946143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7B494F-2816-4376-BEA2-550B6E69D167}"/>
              </a:ext>
            </a:extLst>
          </p:cNvPr>
          <p:cNvSpPr>
            <a:spLocks noGrp="1"/>
          </p:cNvSpPr>
          <p:nvPr>
            <p:ph type="title"/>
          </p:nvPr>
        </p:nvSpPr>
        <p:spPr/>
        <p:txBody>
          <a:bodyPr>
            <a:normAutofit/>
          </a:bodyPr>
          <a:lstStyle/>
          <a:p>
            <a:r>
              <a:rPr lang="en-US" dirty="0"/>
              <a:t>Link State Routing…</a:t>
            </a:r>
          </a:p>
        </p:txBody>
      </p:sp>
      <p:sp>
        <p:nvSpPr>
          <p:cNvPr id="3" name="Content Placeholder 2">
            <a:extLst>
              <a:ext uri="{FF2B5EF4-FFF2-40B4-BE49-F238E27FC236}">
                <a16:creationId xmlns:a16="http://schemas.microsoft.com/office/drawing/2014/main" id="{5EE4F121-1FBD-4D41-85EA-1AD0D7BB0A61}"/>
              </a:ext>
            </a:extLst>
          </p:cNvPr>
          <p:cNvSpPr>
            <a:spLocks noGrp="1"/>
          </p:cNvSpPr>
          <p:nvPr>
            <p:ph idx="1"/>
          </p:nvPr>
        </p:nvSpPr>
        <p:spPr>
          <a:xfrm>
            <a:off x="838200" y="1517418"/>
            <a:ext cx="10515600" cy="5021494"/>
          </a:xfrm>
        </p:spPr>
        <p:txBody>
          <a:bodyPr>
            <a:normAutofit/>
          </a:bodyPr>
          <a:lstStyle/>
          <a:p>
            <a:pPr marL="0" indent="0">
              <a:buNone/>
            </a:pPr>
            <a:r>
              <a:rPr lang="en-US" sz="2400" b="1" dirty="0">
                <a:latin typeface="Times New Roman" panose="02020603050405020304" pitchFamily="18" charset="0"/>
                <a:cs typeface="Times New Roman" panose="02020603050405020304" pitchFamily="18" charset="0"/>
              </a:rPr>
              <a:t>3. Building Link State Packets:</a:t>
            </a:r>
          </a:p>
          <a:p>
            <a:pPr algn="l"/>
            <a:r>
              <a:rPr lang="en-US" sz="1800" b="0" i="0" u="none" strike="noStrike" baseline="0" dirty="0">
                <a:latin typeface="Times-Roman"/>
              </a:rPr>
              <a:t>Once the information needed for the exchange has been collected, the next step is for each router to build a packet containing all the data. </a:t>
            </a:r>
          </a:p>
          <a:p>
            <a:pPr algn="l"/>
            <a:r>
              <a:rPr lang="en-US" sz="1800" b="0" i="0" u="none" strike="noStrike" baseline="0" dirty="0">
                <a:latin typeface="Times-Roman"/>
              </a:rPr>
              <a:t>The packet contains:</a:t>
            </a:r>
          </a:p>
          <a:p>
            <a:pPr marL="974725" indent="-285750" algn="l">
              <a:buFont typeface="Wingdings" panose="05000000000000000000" pitchFamily="2" charset="2"/>
              <a:buChar char="Ø"/>
            </a:pPr>
            <a:r>
              <a:rPr lang="en-US" sz="1800" dirty="0">
                <a:solidFill>
                  <a:srgbClr val="0070C0"/>
                </a:solidFill>
                <a:latin typeface="Times-Roman"/>
              </a:rPr>
              <a:t>T</a:t>
            </a:r>
            <a:r>
              <a:rPr lang="en-US" sz="1800" b="0" i="0" u="none" strike="noStrike" baseline="0" dirty="0">
                <a:solidFill>
                  <a:srgbClr val="0070C0"/>
                </a:solidFill>
                <a:latin typeface="Times-Roman"/>
              </a:rPr>
              <a:t>he identity of the sender</a:t>
            </a:r>
          </a:p>
          <a:p>
            <a:pPr marL="974725" indent="-285750" algn="l">
              <a:buFont typeface="Wingdings" panose="05000000000000000000" pitchFamily="2" charset="2"/>
              <a:buChar char="Ø"/>
            </a:pPr>
            <a:r>
              <a:rPr lang="en-US" sz="1800" dirty="0">
                <a:solidFill>
                  <a:srgbClr val="0070C0"/>
                </a:solidFill>
                <a:latin typeface="Times-Roman"/>
              </a:rPr>
              <a:t>S</a:t>
            </a:r>
            <a:r>
              <a:rPr lang="en-US" sz="1800" b="0" i="0" u="none" strike="noStrike" baseline="0" dirty="0">
                <a:solidFill>
                  <a:srgbClr val="0070C0"/>
                </a:solidFill>
                <a:latin typeface="Times-Roman"/>
              </a:rPr>
              <a:t>equence number</a:t>
            </a:r>
          </a:p>
          <a:p>
            <a:pPr marL="974725" indent="-285750" algn="l">
              <a:buFont typeface="Wingdings" panose="05000000000000000000" pitchFamily="2" charset="2"/>
              <a:buChar char="Ø"/>
            </a:pPr>
            <a:r>
              <a:rPr lang="en-US" sz="1800" dirty="0">
                <a:solidFill>
                  <a:srgbClr val="0070C0"/>
                </a:solidFill>
                <a:latin typeface="Times-Roman"/>
              </a:rPr>
              <a:t>A</a:t>
            </a:r>
            <a:r>
              <a:rPr lang="en-US" sz="1800" b="0" i="0" u="none" strike="noStrike" baseline="0" dirty="0">
                <a:solidFill>
                  <a:srgbClr val="0070C0"/>
                </a:solidFill>
                <a:latin typeface="Times-Roman"/>
              </a:rPr>
              <a:t>ge</a:t>
            </a:r>
          </a:p>
          <a:p>
            <a:pPr marL="974725" indent="-285750" algn="l">
              <a:buFont typeface="Wingdings" panose="05000000000000000000" pitchFamily="2" charset="2"/>
              <a:buChar char="Ø"/>
            </a:pPr>
            <a:r>
              <a:rPr lang="en-US" sz="1800" dirty="0">
                <a:solidFill>
                  <a:srgbClr val="0070C0"/>
                </a:solidFill>
                <a:latin typeface="Times-Roman"/>
              </a:rPr>
              <a:t>L</a:t>
            </a:r>
            <a:r>
              <a:rPr lang="en-US" sz="1800" b="0" i="0" u="none" strike="noStrike" baseline="0" dirty="0">
                <a:solidFill>
                  <a:srgbClr val="0070C0"/>
                </a:solidFill>
                <a:latin typeface="Times-Roman"/>
              </a:rPr>
              <a:t>ist of neighbors and cost to each neighbor </a:t>
            </a:r>
          </a:p>
          <a:p>
            <a:pPr algn="l"/>
            <a:r>
              <a:rPr lang="en-US" sz="1800" b="0" i="0" u="none" strike="noStrike" baseline="0" dirty="0">
                <a:latin typeface="Times-Roman"/>
              </a:rPr>
              <a:t>Building the link state packets is easy. </a:t>
            </a:r>
          </a:p>
          <a:p>
            <a:pPr algn="l"/>
            <a:r>
              <a:rPr lang="en-US" sz="1800" b="0" i="0" u="none" strike="noStrike" baseline="0" dirty="0">
                <a:latin typeface="Times-Roman"/>
              </a:rPr>
              <a:t>The hard part is determining when to build them. One possibility is to build them periodically at regular intervals.</a:t>
            </a:r>
          </a:p>
          <a:p>
            <a:pPr algn="l"/>
            <a:r>
              <a:rPr lang="en-US" sz="1800" b="0" i="0" u="none" strike="noStrike" baseline="0" dirty="0">
                <a:latin typeface="Times-Roman"/>
              </a:rPr>
              <a:t>Another possibility is to build them when some significant event occurs, such as a line or neighbor going down or coming back up again or changing its properties appreciably.</a:t>
            </a:r>
            <a:endParaRPr lang="en-US" sz="2000" dirty="0">
              <a:latin typeface="Times New Roman" panose="02020603050405020304" pitchFamily="18" charset="0"/>
              <a:cs typeface="Times New Roman" panose="02020603050405020304" pitchFamily="18" charset="0"/>
            </a:endParaRPr>
          </a:p>
        </p:txBody>
      </p:sp>
      <p:sp>
        <p:nvSpPr>
          <p:cNvPr id="5" name="Slide Number Placeholder 4">
            <a:extLst>
              <a:ext uri="{FF2B5EF4-FFF2-40B4-BE49-F238E27FC236}">
                <a16:creationId xmlns:a16="http://schemas.microsoft.com/office/drawing/2014/main" id="{6A61CD1A-5B54-46C5-B18C-D163E244C983}"/>
              </a:ext>
            </a:extLst>
          </p:cNvPr>
          <p:cNvSpPr>
            <a:spLocks noGrp="1"/>
          </p:cNvSpPr>
          <p:nvPr>
            <p:ph type="sldNum" sz="quarter" idx="12"/>
          </p:nvPr>
        </p:nvSpPr>
        <p:spPr/>
        <p:txBody>
          <a:bodyPr/>
          <a:lstStyle/>
          <a:p>
            <a:fld id="{68187FF5-4BF9-4B21-B0D2-9B7FF2B27D7F}" type="slidenum">
              <a:rPr lang="en-AU" smtClean="0"/>
              <a:pPr/>
              <a:t>11</a:t>
            </a:fld>
            <a:endParaRPr lang="en-AU"/>
          </a:p>
        </p:txBody>
      </p:sp>
    </p:spTree>
    <p:extLst>
      <p:ext uri="{BB962C8B-B14F-4D97-AF65-F5344CB8AC3E}">
        <p14:creationId xmlns:p14="http://schemas.microsoft.com/office/powerpoint/2010/main" val="28789402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p:txBody>
          <a:bodyPr>
            <a:normAutofit/>
          </a:bodyPr>
          <a:lstStyle/>
          <a:p>
            <a:pPr eaLnBrk="1" hangingPunct="1"/>
            <a:r>
              <a:rPr lang="en-US" dirty="0"/>
              <a:t>Building Link State Packets</a:t>
            </a:r>
          </a:p>
        </p:txBody>
      </p:sp>
      <p:sp>
        <p:nvSpPr>
          <p:cNvPr id="11267" name="Rectangle 3"/>
          <p:cNvSpPr>
            <a:spLocks noGrp="1" noChangeArrowheads="1"/>
          </p:cNvSpPr>
          <p:nvPr>
            <p:ph type="body" idx="1"/>
          </p:nvPr>
        </p:nvSpPr>
        <p:spPr>
          <a:xfrm>
            <a:off x="1599142" y="5550728"/>
            <a:ext cx="9984316" cy="838200"/>
          </a:xfrm>
        </p:spPr>
        <p:txBody>
          <a:bodyPr/>
          <a:lstStyle/>
          <a:p>
            <a:pPr eaLnBrk="1" hangingPunct="1">
              <a:lnSpc>
                <a:spcPct val="90000"/>
              </a:lnSpc>
              <a:buFontTx/>
              <a:buNone/>
            </a:pPr>
            <a:r>
              <a:rPr lang="en-US" dirty="0"/>
              <a:t>(a) A subnet.  (b) The link state packets for this subnet.</a:t>
            </a:r>
          </a:p>
        </p:txBody>
      </p:sp>
      <p:pic>
        <p:nvPicPr>
          <p:cNvPr id="11268" name="Picture 5" descr="5-13"/>
          <p:cNvPicPr>
            <a:picLocks noChangeAspect="1" noChangeArrowheads="1"/>
          </p:cNvPicPr>
          <p:nvPr/>
        </p:nvPicPr>
        <p:blipFill>
          <a:blip r:embed="rId2" cstate="print"/>
          <a:srcRect/>
          <a:stretch>
            <a:fillRect/>
          </a:stretch>
        </p:blipFill>
        <p:spPr bwMode="auto">
          <a:xfrm>
            <a:off x="608542" y="1609858"/>
            <a:ext cx="10974916" cy="3232597"/>
          </a:xfrm>
          <a:prstGeom prst="rect">
            <a:avLst/>
          </a:prstGeom>
          <a:noFill/>
          <a:ln w="9525">
            <a:noFill/>
            <a:miter lim="800000"/>
            <a:headEnd/>
            <a:tailEnd/>
          </a:ln>
        </p:spPr>
      </p:pic>
    </p:spTree>
    <p:extLst>
      <p:ext uri="{BB962C8B-B14F-4D97-AF65-F5344CB8AC3E}">
        <p14:creationId xmlns:p14="http://schemas.microsoft.com/office/powerpoint/2010/main" val="21161604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7B494F-2816-4376-BEA2-550B6E69D167}"/>
              </a:ext>
            </a:extLst>
          </p:cNvPr>
          <p:cNvSpPr>
            <a:spLocks noGrp="1"/>
          </p:cNvSpPr>
          <p:nvPr>
            <p:ph type="title"/>
          </p:nvPr>
        </p:nvSpPr>
        <p:spPr/>
        <p:txBody>
          <a:bodyPr>
            <a:normAutofit/>
          </a:bodyPr>
          <a:lstStyle/>
          <a:p>
            <a:r>
              <a:rPr lang="en-US" dirty="0"/>
              <a:t>Link State Routing…</a:t>
            </a:r>
          </a:p>
        </p:txBody>
      </p:sp>
      <p:sp>
        <p:nvSpPr>
          <p:cNvPr id="3" name="Content Placeholder 2">
            <a:extLst>
              <a:ext uri="{FF2B5EF4-FFF2-40B4-BE49-F238E27FC236}">
                <a16:creationId xmlns:a16="http://schemas.microsoft.com/office/drawing/2014/main" id="{5EE4F121-1FBD-4D41-85EA-1AD0D7BB0A61}"/>
              </a:ext>
            </a:extLst>
          </p:cNvPr>
          <p:cNvSpPr>
            <a:spLocks noGrp="1"/>
          </p:cNvSpPr>
          <p:nvPr>
            <p:ph idx="1"/>
          </p:nvPr>
        </p:nvSpPr>
        <p:spPr>
          <a:xfrm>
            <a:off x="838200" y="1517418"/>
            <a:ext cx="10515600" cy="5021494"/>
          </a:xfrm>
        </p:spPr>
        <p:txBody>
          <a:bodyPr>
            <a:normAutofit lnSpcReduction="10000"/>
          </a:bodyPr>
          <a:lstStyle/>
          <a:p>
            <a:pPr marL="0" indent="0">
              <a:buNone/>
            </a:pPr>
            <a:r>
              <a:rPr lang="en-US" sz="2400" b="1" dirty="0">
                <a:latin typeface="Times New Roman" panose="02020603050405020304" pitchFamily="18" charset="0"/>
                <a:cs typeface="Times New Roman" panose="02020603050405020304" pitchFamily="18" charset="0"/>
              </a:rPr>
              <a:t>4. Distributing the Link State Packets:</a:t>
            </a:r>
          </a:p>
          <a:p>
            <a:pPr marL="0" indent="0">
              <a:buNone/>
            </a:pPr>
            <a:endParaRPr lang="en-US" sz="2400" b="1" dirty="0">
              <a:latin typeface="Times New Roman" panose="02020603050405020304" pitchFamily="18" charset="0"/>
              <a:cs typeface="Times New Roman" panose="02020603050405020304" pitchFamily="18" charset="0"/>
            </a:endParaRPr>
          </a:p>
          <a:p>
            <a:pPr algn="just"/>
            <a:r>
              <a:rPr lang="en-US" sz="2000" b="0" i="0" u="none" strike="noStrike" baseline="0" dirty="0">
                <a:latin typeface="Times-Roman"/>
              </a:rPr>
              <a:t>The trickiest part of the algorithm is distributing the link state packets. All of the routers must get all of the link state packets quickly and reliably.</a:t>
            </a:r>
          </a:p>
          <a:p>
            <a:pPr algn="just"/>
            <a:endParaRPr lang="en-US" sz="2000" b="0" i="0" u="none" strike="noStrike" baseline="0" dirty="0">
              <a:latin typeface="Times-Roman"/>
            </a:endParaRPr>
          </a:p>
          <a:p>
            <a:pPr algn="just"/>
            <a:r>
              <a:rPr lang="en-US" sz="2000" b="0" i="0" u="none" strike="noStrike" baseline="0" dirty="0">
                <a:latin typeface="Times-Roman"/>
              </a:rPr>
              <a:t>When a link state packet comes into a router for flooding, it is not queued for transmission immediately. Instead, it is put in a holding area to wait a short while in case more links are coming up or going down. </a:t>
            </a:r>
          </a:p>
          <a:p>
            <a:pPr algn="just"/>
            <a:endParaRPr lang="en-US" sz="2000" b="0" i="0" u="none" strike="noStrike" baseline="0" dirty="0">
              <a:latin typeface="Times-Roman"/>
            </a:endParaRPr>
          </a:p>
          <a:p>
            <a:pPr algn="just"/>
            <a:r>
              <a:rPr lang="en-US" sz="2000" b="0" i="0" u="none" strike="noStrike" baseline="0" dirty="0">
                <a:latin typeface="Times-Roman"/>
              </a:rPr>
              <a:t>If another link state packet from the same source comes in before the first packet is transmitted, their sequence numbers are compared. If they are equal, the duplicate is discarded. If they are different, the older one is thrown out. </a:t>
            </a:r>
          </a:p>
          <a:p>
            <a:pPr algn="just"/>
            <a:endParaRPr lang="en-US" sz="2000" b="0" i="0" u="none" strike="noStrike" baseline="0" dirty="0">
              <a:latin typeface="Times-Roman"/>
            </a:endParaRPr>
          </a:p>
          <a:p>
            <a:pPr algn="just"/>
            <a:r>
              <a:rPr lang="en-US" sz="2000" b="0" i="0" u="none" strike="noStrike" baseline="0" dirty="0">
                <a:latin typeface="Times-Roman"/>
              </a:rPr>
              <a:t>To guard against errors on the links, all link state packets are acknowledged.</a:t>
            </a:r>
          </a:p>
        </p:txBody>
      </p:sp>
      <p:sp>
        <p:nvSpPr>
          <p:cNvPr id="5" name="Slide Number Placeholder 4">
            <a:extLst>
              <a:ext uri="{FF2B5EF4-FFF2-40B4-BE49-F238E27FC236}">
                <a16:creationId xmlns:a16="http://schemas.microsoft.com/office/drawing/2014/main" id="{6A61CD1A-5B54-46C5-B18C-D163E244C983}"/>
              </a:ext>
            </a:extLst>
          </p:cNvPr>
          <p:cNvSpPr>
            <a:spLocks noGrp="1"/>
          </p:cNvSpPr>
          <p:nvPr>
            <p:ph type="sldNum" sz="quarter" idx="12"/>
          </p:nvPr>
        </p:nvSpPr>
        <p:spPr/>
        <p:txBody>
          <a:bodyPr/>
          <a:lstStyle/>
          <a:p>
            <a:fld id="{68187FF5-4BF9-4B21-B0D2-9B7FF2B27D7F}" type="slidenum">
              <a:rPr lang="en-AU" smtClean="0"/>
              <a:pPr/>
              <a:t>13</a:t>
            </a:fld>
            <a:endParaRPr lang="en-AU"/>
          </a:p>
        </p:txBody>
      </p:sp>
    </p:spTree>
    <p:extLst>
      <p:ext uri="{BB962C8B-B14F-4D97-AF65-F5344CB8AC3E}">
        <p14:creationId xmlns:p14="http://schemas.microsoft.com/office/powerpoint/2010/main" val="322849740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a:xfrm>
            <a:off x="669386" y="125975"/>
            <a:ext cx="10515600" cy="685772"/>
          </a:xfrm>
        </p:spPr>
        <p:txBody>
          <a:bodyPr>
            <a:normAutofit fontScale="90000"/>
          </a:bodyPr>
          <a:lstStyle/>
          <a:p>
            <a:pPr eaLnBrk="1" hangingPunct="1"/>
            <a:r>
              <a:rPr lang="en-US" dirty="0"/>
              <a:t>Distributing the Link State Packets</a:t>
            </a:r>
          </a:p>
        </p:txBody>
      </p:sp>
      <p:sp>
        <p:nvSpPr>
          <p:cNvPr id="12291" name="Rectangle 3"/>
          <p:cNvSpPr>
            <a:spLocks noGrp="1" noChangeArrowheads="1"/>
          </p:cNvSpPr>
          <p:nvPr>
            <p:ph type="body" idx="1"/>
          </p:nvPr>
        </p:nvSpPr>
        <p:spPr>
          <a:xfrm>
            <a:off x="715239" y="3662430"/>
            <a:ext cx="10515600" cy="356658"/>
          </a:xfrm>
        </p:spPr>
        <p:txBody>
          <a:bodyPr>
            <a:normAutofit fontScale="92500" lnSpcReduction="20000"/>
          </a:bodyPr>
          <a:lstStyle/>
          <a:p>
            <a:pPr algn="ctr">
              <a:buNone/>
            </a:pPr>
            <a:r>
              <a:rPr lang="en-US" sz="2400" i="1" dirty="0">
                <a:solidFill>
                  <a:srgbClr val="0070C0"/>
                </a:solidFill>
              </a:rPr>
              <a:t>Fig: The packet buffer for router B</a:t>
            </a:r>
          </a:p>
          <a:p>
            <a:pPr algn="ctr" eaLnBrk="1" hangingPunct="1">
              <a:buFontTx/>
              <a:buNone/>
            </a:pPr>
            <a:endParaRPr lang="en-US" i="1" dirty="0">
              <a:solidFill>
                <a:srgbClr val="0070C0"/>
              </a:solidFill>
            </a:endParaRPr>
          </a:p>
        </p:txBody>
      </p:sp>
      <p:pic>
        <p:nvPicPr>
          <p:cNvPr id="12292" name="Picture 5" descr="5-14"/>
          <p:cNvPicPr>
            <a:picLocks noChangeAspect="1" noChangeArrowheads="1"/>
          </p:cNvPicPr>
          <p:nvPr/>
        </p:nvPicPr>
        <p:blipFill>
          <a:blip r:embed="rId2" cstate="print"/>
          <a:srcRect/>
          <a:stretch>
            <a:fillRect/>
          </a:stretch>
        </p:blipFill>
        <p:spPr bwMode="auto">
          <a:xfrm>
            <a:off x="4009292" y="971929"/>
            <a:ext cx="7848698" cy="2543741"/>
          </a:xfrm>
          <a:prstGeom prst="rect">
            <a:avLst/>
          </a:prstGeom>
          <a:noFill/>
          <a:ln w="9525">
            <a:noFill/>
            <a:miter lim="800000"/>
            <a:headEnd/>
            <a:tailEnd/>
          </a:ln>
        </p:spPr>
      </p:pic>
      <p:sp>
        <p:nvSpPr>
          <p:cNvPr id="6" name="TextBox 5">
            <a:extLst>
              <a:ext uri="{FF2B5EF4-FFF2-40B4-BE49-F238E27FC236}">
                <a16:creationId xmlns:a16="http://schemas.microsoft.com/office/drawing/2014/main" id="{4EC52FC3-21AA-4CF2-A1CB-0455FADDE50A}"/>
              </a:ext>
            </a:extLst>
          </p:cNvPr>
          <p:cNvSpPr txBox="1"/>
          <p:nvPr/>
        </p:nvSpPr>
        <p:spPr>
          <a:xfrm>
            <a:off x="253218" y="4153684"/>
            <a:ext cx="11830930" cy="2246769"/>
          </a:xfrm>
          <a:prstGeom prst="rect">
            <a:avLst/>
          </a:prstGeom>
          <a:noFill/>
        </p:spPr>
        <p:txBody>
          <a:bodyPr wrap="square">
            <a:spAutoFit/>
          </a:bodyPr>
          <a:lstStyle/>
          <a:p>
            <a:pPr marL="285750" indent="-285750" algn="l">
              <a:buFont typeface="Arial" panose="020B0604020202020204" pitchFamily="34" charset="0"/>
              <a:buChar char="•"/>
            </a:pPr>
            <a:r>
              <a:rPr lang="en-US" sz="2000" b="0" i="0" u="none" strike="noStrike" baseline="0" dirty="0">
                <a:latin typeface="Times-Roman"/>
              </a:rPr>
              <a:t>The data structure used by router </a:t>
            </a:r>
            <a:r>
              <a:rPr lang="en-US" sz="2000" b="0" i="1" u="none" strike="noStrike" baseline="0" dirty="0">
                <a:latin typeface="Times-Italic"/>
              </a:rPr>
              <a:t>B </a:t>
            </a:r>
            <a:r>
              <a:rPr lang="en-US" sz="2000" b="0" i="0" u="none" strike="noStrike" baseline="0" dirty="0">
                <a:latin typeface="Times-Roman"/>
              </a:rPr>
              <a:t>for the network shown above.</a:t>
            </a:r>
          </a:p>
          <a:p>
            <a:pPr marL="285750" indent="-285750" algn="l">
              <a:buFont typeface="Arial" panose="020B0604020202020204" pitchFamily="34" charset="0"/>
              <a:buChar char="•"/>
            </a:pPr>
            <a:endParaRPr lang="en-US" sz="2000" b="0" i="0" u="none" strike="noStrike" baseline="0" dirty="0">
              <a:latin typeface="Times-Roman"/>
            </a:endParaRPr>
          </a:p>
          <a:p>
            <a:pPr marL="285750" indent="-285750" algn="l">
              <a:buFont typeface="Arial" panose="020B0604020202020204" pitchFamily="34" charset="0"/>
              <a:buChar char="•"/>
            </a:pPr>
            <a:r>
              <a:rPr lang="en-US" sz="2000" b="0" i="0" u="none" strike="noStrike" baseline="0" dirty="0">
                <a:latin typeface="Times-Roman"/>
              </a:rPr>
              <a:t>Each row here corresponds to a recently arrived, but as yet not fully processed, link state packet. </a:t>
            </a:r>
          </a:p>
          <a:p>
            <a:pPr marL="285750" indent="-285750" algn="l">
              <a:buFont typeface="Arial" panose="020B0604020202020204" pitchFamily="34" charset="0"/>
              <a:buChar char="•"/>
            </a:pPr>
            <a:endParaRPr lang="en-US" sz="2000" b="0" i="0" u="none" strike="noStrike" baseline="0" dirty="0">
              <a:latin typeface="Times-Roman"/>
            </a:endParaRPr>
          </a:p>
          <a:p>
            <a:pPr marL="285750" indent="-285750" algn="l">
              <a:buFont typeface="Arial" panose="020B0604020202020204" pitchFamily="34" charset="0"/>
              <a:buChar char="•"/>
            </a:pPr>
            <a:r>
              <a:rPr lang="en-US" sz="2000" b="0" i="0" u="none" strike="noStrike" baseline="0" dirty="0">
                <a:latin typeface="Times-Roman"/>
              </a:rPr>
              <a:t>The table records where the packet originated, its sequence number and age, and the data. </a:t>
            </a:r>
          </a:p>
          <a:p>
            <a:pPr marL="285750" indent="-285750" algn="l">
              <a:buFont typeface="Arial" panose="020B0604020202020204" pitchFamily="34" charset="0"/>
              <a:buChar char="•"/>
            </a:pPr>
            <a:endParaRPr lang="en-US" sz="2000" b="0" i="0" u="none" strike="noStrike" baseline="0" dirty="0">
              <a:latin typeface="Times-Roman"/>
            </a:endParaRPr>
          </a:p>
          <a:p>
            <a:pPr marL="285750" indent="-285750" algn="l">
              <a:buFont typeface="Arial" panose="020B0604020202020204" pitchFamily="34" charset="0"/>
              <a:buChar char="•"/>
            </a:pPr>
            <a:r>
              <a:rPr lang="en-US" sz="2000" b="0" i="0" u="none" strike="noStrike" baseline="0" dirty="0">
                <a:latin typeface="Times-Roman"/>
              </a:rPr>
              <a:t>In addition, there are send and acknowledgement flags for each of </a:t>
            </a:r>
            <a:r>
              <a:rPr lang="en-US" sz="2000" b="0" i="1" u="none" strike="noStrike" baseline="0" dirty="0">
                <a:latin typeface="Times-Italic"/>
              </a:rPr>
              <a:t>B</a:t>
            </a:r>
            <a:r>
              <a:rPr lang="en-US" sz="2000" b="0" i="0" u="none" strike="noStrike" baseline="0" dirty="0">
                <a:latin typeface="Times-Roman"/>
              </a:rPr>
              <a:t>’s three links (to </a:t>
            </a:r>
            <a:r>
              <a:rPr lang="en-US" sz="2000" b="0" i="1" u="none" strike="noStrike" baseline="0" dirty="0">
                <a:latin typeface="Times-Italic"/>
              </a:rPr>
              <a:t>A</a:t>
            </a:r>
            <a:r>
              <a:rPr lang="en-US" sz="2000" b="0" i="0" u="none" strike="noStrike" baseline="0" dirty="0">
                <a:latin typeface="Times-Roman"/>
              </a:rPr>
              <a:t>, </a:t>
            </a:r>
            <a:r>
              <a:rPr lang="en-US" sz="2000" b="0" i="1" u="none" strike="noStrike" baseline="0" dirty="0">
                <a:latin typeface="Times-Italic"/>
              </a:rPr>
              <a:t>C</a:t>
            </a:r>
            <a:r>
              <a:rPr lang="en-US" sz="2000" b="0" i="0" u="none" strike="noStrike" baseline="0" dirty="0">
                <a:latin typeface="Times-Roman"/>
              </a:rPr>
              <a:t>, and </a:t>
            </a:r>
            <a:r>
              <a:rPr lang="en-US" sz="2000" b="0" i="1" u="none" strike="noStrike" baseline="0" dirty="0">
                <a:latin typeface="Times-Italic"/>
              </a:rPr>
              <a:t>F</a:t>
            </a:r>
            <a:r>
              <a:rPr lang="en-US" sz="2000" b="0" i="0" u="none" strike="noStrike" baseline="0" dirty="0">
                <a:latin typeface="Times-Roman"/>
              </a:rPr>
              <a:t>, respectively).</a:t>
            </a:r>
            <a:endParaRPr lang="en-US" sz="2000" dirty="0"/>
          </a:p>
        </p:txBody>
      </p:sp>
      <p:pic>
        <p:nvPicPr>
          <p:cNvPr id="4" name="Picture 3">
            <a:extLst>
              <a:ext uri="{FF2B5EF4-FFF2-40B4-BE49-F238E27FC236}">
                <a16:creationId xmlns:a16="http://schemas.microsoft.com/office/drawing/2014/main" id="{ADE46484-06E6-4497-9B1A-0870989B426C}"/>
              </a:ext>
            </a:extLst>
          </p:cNvPr>
          <p:cNvPicPr>
            <a:picLocks noChangeAspect="1"/>
          </p:cNvPicPr>
          <p:nvPr/>
        </p:nvPicPr>
        <p:blipFill>
          <a:blip r:embed="rId3"/>
          <a:stretch>
            <a:fillRect/>
          </a:stretch>
        </p:blipFill>
        <p:spPr>
          <a:xfrm>
            <a:off x="591545" y="1169589"/>
            <a:ext cx="2953513" cy="2317947"/>
          </a:xfrm>
          <a:prstGeom prst="rect">
            <a:avLst/>
          </a:prstGeom>
        </p:spPr>
      </p:pic>
    </p:spTree>
    <p:extLst>
      <p:ext uri="{BB962C8B-B14F-4D97-AF65-F5344CB8AC3E}">
        <p14:creationId xmlns:p14="http://schemas.microsoft.com/office/powerpoint/2010/main" val="38628748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7B494F-2816-4376-BEA2-550B6E69D167}"/>
              </a:ext>
            </a:extLst>
          </p:cNvPr>
          <p:cNvSpPr>
            <a:spLocks noGrp="1"/>
          </p:cNvSpPr>
          <p:nvPr>
            <p:ph type="title"/>
          </p:nvPr>
        </p:nvSpPr>
        <p:spPr/>
        <p:txBody>
          <a:bodyPr>
            <a:normAutofit/>
          </a:bodyPr>
          <a:lstStyle/>
          <a:p>
            <a:r>
              <a:rPr lang="en-US" dirty="0"/>
              <a:t>Link State Routing…</a:t>
            </a:r>
          </a:p>
        </p:txBody>
      </p:sp>
      <p:sp>
        <p:nvSpPr>
          <p:cNvPr id="3" name="Content Placeholder 2">
            <a:extLst>
              <a:ext uri="{FF2B5EF4-FFF2-40B4-BE49-F238E27FC236}">
                <a16:creationId xmlns:a16="http://schemas.microsoft.com/office/drawing/2014/main" id="{5EE4F121-1FBD-4D41-85EA-1AD0D7BB0A61}"/>
              </a:ext>
            </a:extLst>
          </p:cNvPr>
          <p:cNvSpPr>
            <a:spLocks noGrp="1"/>
          </p:cNvSpPr>
          <p:nvPr>
            <p:ph idx="1"/>
          </p:nvPr>
        </p:nvSpPr>
        <p:spPr>
          <a:xfrm>
            <a:off x="838200" y="1517418"/>
            <a:ext cx="10515600" cy="5021494"/>
          </a:xfrm>
        </p:spPr>
        <p:txBody>
          <a:bodyPr>
            <a:normAutofit/>
          </a:bodyPr>
          <a:lstStyle/>
          <a:p>
            <a:pPr marL="0" indent="0">
              <a:buNone/>
            </a:pPr>
            <a:r>
              <a:rPr lang="en-US" sz="2400" b="1" dirty="0">
                <a:latin typeface="Times New Roman" panose="02020603050405020304" pitchFamily="18" charset="0"/>
                <a:cs typeface="Times New Roman" panose="02020603050405020304" pitchFamily="18" charset="0"/>
              </a:rPr>
              <a:t>5. Computing the New Routes:</a:t>
            </a:r>
          </a:p>
          <a:p>
            <a:pPr marL="0" indent="0">
              <a:buNone/>
            </a:pPr>
            <a:endParaRPr lang="en-US" sz="2400" b="1" dirty="0">
              <a:latin typeface="Times New Roman" panose="02020603050405020304" pitchFamily="18" charset="0"/>
              <a:cs typeface="Times New Roman" panose="02020603050405020304" pitchFamily="18" charset="0"/>
            </a:endParaRPr>
          </a:p>
          <a:p>
            <a:pPr algn="just"/>
            <a:r>
              <a:rPr lang="en-US" sz="2000" b="0" i="0" u="none" strike="noStrike" baseline="0" dirty="0">
                <a:latin typeface="Times-Roman"/>
              </a:rPr>
              <a:t>Once a router has accumulated a full set of link state packets, it can construct the entire network graph because every link is represented. </a:t>
            </a:r>
          </a:p>
          <a:p>
            <a:pPr algn="just"/>
            <a:endParaRPr lang="en-US" sz="2000" b="0" i="0" u="none" strike="noStrike" baseline="0" dirty="0">
              <a:latin typeface="Times-Roman"/>
            </a:endParaRPr>
          </a:p>
          <a:p>
            <a:pPr algn="just"/>
            <a:r>
              <a:rPr lang="en-US" sz="2000" b="0" i="0" u="none" strike="noStrike" baseline="0" dirty="0">
                <a:latin typeface="Times-Roman"/>
              </a:rPr>
              <a:t>Now Dijkstra’s algorithm can be run locally to construct the shortest paths to all possible destinations. </a:t>
            </a:r>
          </a:p>
          <a:p>
            <a:pPr algn="just"/>
            <a:endParaRPr lang="en-US" sz="2000" b="0" i="0" u="none" strike="noStrike" baseline="0" dirty="0">
              <a:latin typeface="Times-Roman"/>
            </a:endParaRPr>
          </a:p>
          <a:p>
            <a:pPr algn="just"/>
            <a:r>
              <a:rPr lang="en-US" sz="2000" b="0" i="0" u="none" strike="noStrike" baseline="0" dirty="0">
                <a:latin typeface="Times-Roman"/>
              </a:rPr>
              <a:t>The results of this algorithm tell the router which link to use to reach each destination. This information is installed in the routing tables, and normal operation is resumed.</a:t>
            </a:r>
            <a:endParaRPr lang="en-US" sz="2400" b="0" i="0" u="none" strike="noStrike" baseline="0" dirty="0">
              <a:latin typeface="Times-Roman"/>
            </a:endParaRPr>
          </a:p>
        </p:txBody>
      </p:sp>
      <p:sp>
        <p:nvSpPr>
          <p:cNvPr id="5" name="Slide Number Placeholder 4">
            <a:extLst>
              <a:ext uri="{FF2B5EF4-FFF2-40B4-BE49-F238E27FC236}">
                <a16:creationId xmlns:a16="http://schemas.microsoft.com/office/drawing/2014/main" id="{6A61CD1A-5B54-46C5-B18C-D163E244C983}"/>
              </a:ext>
            </a:extLst>
          </p:cNvPr>
          <p:cNvSpPr>
            <a:spLocks noGrp="1"/>
          </p:cNvSpPr>
          <p:nvPr>
            <p:ph type="sldNum" sz="quarter" idx="12"/>
          </p:nvPr>
        </p:nvSpPr>
        <p:spPr/>
        <p:txBody>
          <a:bodyPr/>
          <a:lstStyle/>
          <a:p>
            <a:fld id="{68187FF5-4BF9-4B21-B0D2-9B7FF2B27D7F}" type="slidenum">
              <a:rPr lang="en-AU" smtClean="0"/>
              <a:pPr/>
              <a:t>15</a:t>
            </a:fld>
            <a:endParaRPr lang="en-AU"/>
          </a:p>
        </p:txBody>
      </p:sp>
    </p:spTree>
    <p:extLst>
      <p:ext uri="{BB962C8B-B14F-4D97-AF65-F5344CB8AC3E}">
        <p14:creationId xmlns:p14="http://schemas.microsoft.com/office/powerpoint/2010/main" val="343620446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DB8AD282-2456-4AFE-B0B9-FD1ACC5C61BB}"/>
              </a:ext>
            </a:extLst>
          </p:cNvPr>
          <p:cNvSpPr>
            <a:spLocks noGrp="1"/>
          </p:cNvSpPr>
          <p:nvPr>
            <p:ph type="sldNum" sz="quarter" idx="12"/>
          </p:nvPr>
        </p:nvSpPr>
        <p:spPr>
          <a:xfrm>
            <a:off x="321732" y="6356350"/>
            <a:ext cx="2568811" cy="365125"/>
          </a:xfrm>
        </p:spPr>
        <p:txBody>
          <a:bodyPr vert="horz" lIns="91440" tIns="45720" rIns="91440" bIns="45720" rtlCol="0" anchor="ctr">
            <a:normAutofit lnSpcReduction="10000"/>
          </a:bodyPr>
          <a:lstStyle/>
          <a:p>
            <a:pPr algn="l">
              <a:spcAft>
                <a:spcPts val="600"/>
              </a:spcAft>
            </a:pPr>
            <a:fld id="{68187FF5-4BF9-4B21-B0D2-9B7FF2B27D7F}" type="slidenum">
              <a:rPr lang="en-US">
                <a:solidFill>
                  <a:srgbClr val="FFFFFF"/>
                </a:solidFill>
              </a:rPr>
              <a:pPr algn="l">
                <a:spcAft>
                  <a:spcPts val="600"/>
                </a:spcAft>
              </a:pPr>
              <a:t>16</a:t>
            </a:fld>
            <a:endParaRPr lang="en-US">
              <a:solidFill>
                <a:srgbClr val="FFFFFF"/>
              </a:solidFill>
            </a:endParaRPr>
          </a:p>
        </p:txBody>
      </p:sp>
      <p:sp>
        <p:nvSpPr>
          <p:cNvPr id="2" name="Title 1">
            <a:extLst>
              <a:ext uri="{FF2B5EF4-FFF2-40B4-BE49-F238E27FC236}">
                <a16:creationId xmlns:a16="http://schemas.microsoft.com/office/drawing/2014/main" id="{9463D4E9-F3A8-4D14-9F61-F1160DBA44AB}"/>
              </a:ext>
            </a:extLst>
          </p:cNvPr>
          <p:cNvSpPr>
            <a:spLocks noGrp="1"/>
          </p:cNvSpPr>
          <p:nvPr>
            <p:ph type="title"/>
          </p:nvPr>
        </p:nvSpPr>
        <p:spPr>
          <a:xfrm>
            <a:off x="2034143" y="2353641"/>
            <a:ext cx="8179002" cy="2150719"/>
          </a:xfrm>
          <a:noFill/>
        </p:spPr>
        <p:txBody>
          <a:bodyPr vert="horz" lIns="91440" tIns="45720" rIns="91440" bIns="45720" rtlCol="0" anchor="ctr">
            <a:normAutofit/>
          </a:bodyPr>
          <a:lstStyle/>
          <a:p>
            <a:pPr algn="ctr"/>
            <a:r>
              <a:rPr lang="en-US" sz="5400" kern="1200" dirty="0">
                <a:solidFill>
                  <a:srgbClr val="FF0000"/>
                </a:solidFill>
                <a:latin typeface="Algerian" panose="04020705040A02060702" pitchFamily="82" charset="0"/>
              </a:rPr>
              <a:t>Hierarchical routing</a:t>
            </a:r>
          </a:p>
        </p:txBody>
      </p:sp>
    </p:spTree>
    <p:extLst>
      <p:ext uri="{BB962C8B-B14F-4D97-AF65-F5344CB8AC3E}">
        <p14:creationId xmlns:p14="http://schemas.microsoft.com/office/powerpoint/2010/main" val="231847861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EE4F121-1FBD-4D41-85EA-1AD0D7BB0A61}"/>
              </a:ext>
            </a:extLst>
          </p:cNvPr>
          <p:cNvSpPr>
            <a:spLocks noGrp="1"/>
          </p:cNvSpPr>
          <p:nvPr>
            <p:ph idx="1"/>
          </p:nvPr>
        </p:nvSpPr>
        <p:spPr>
          <a:xfrm>
            <a:off x="731520" y="858129"/>
            <a:ext cx="10622280" cy="5680783"/>
          </a:xfrm>
        </p:spPr>
        <p:txBody>
          <a:bodyPr>
            <a:normAutofit fontScale="92500" lnSpcReduction="10000"/>
          </a:bodyPr>
          <a:lstStyle/>
          <a:p>
            <a:pPr algn="just"/>
            <a:r>
              <a:rPr lang="en-US" sz="2000" b="0" i="0" u="none" strike="noStrike" baseline="0" dirty="0">
                <a:latin typeface="Times-Roman"/>
              </a:rPr>
              <a:t>As networks grow in size, the router routing tables grow proportionally. </a:t>
            </a:r>
          </a:p>
          <a:p>
            <a:pPr algn="just"/>
            <a:endParaRPr lang="en-US" sz="2000" b="0" i="0" u="none" strike="noStrike" baseline="0" dirty="0">
              <a:latin typeface="Times-Roman"/>
            </a:endParaRPr>
          </a:p>
          <a:p>
            <a:pPr algn="just"/>
            <a:r>
              <a:rPr lang="en-US" sz="2000" b="0" i="0" u="none" strike="noStrike" baseline="0" dirty="0">
                <a:latin typeface="Times-Roman"/>
              </a:rPr>
              <a:t>Due to which </a:t>
            </a:r>
            <a:r>
              <a:rPr lang="en-US" sz="2000" dirty="0">
                <a:latin typeface="Times-Roman"/>
              </a:rPr>
              <a:t>the </a:t>
            </a:r>
            <a:r>
              <a:rPr lang="en-US" sz="2000" b="0" i="0" u="none" strike="noStrike" baseline="0" dirty="0">
                <a:latin typeface="Times-Roman"/>
              </a:rPr>
              <a:t>memory </a:t>
            </a:r>
            <a:r>
              <a:rPr lang="en-US" sz="2000" dirty="0">
                <a:latin typeface="Times-Roman"/>
              </a:rPr>
              <a:t>consumption, CPU time is increased and requires</a:t>
            </a:r>
            <a:r>
              <a:rPr lang="en-US" sz="2000" b="0" i="0" u="none" strike="noStrike" baseline="0" dirty="0">
                <a:latin typeface="Times-Roman"/>
              </a:rPr>
              <a:t> more bandwidth to send status reports about them. </a:t>
            </a:r>
          </a:p>
          <a:p>
            <a:pPr algn="just"/>
            <a:endParaRPr lang="en-US" sz="2000" b="0" i="0" u="none" strike="noStrike" baseline="0" dirty="0">
              <a:latin typeface="Times-Roman"/>
            </a:endParaRPr>
          </a:p>
          <a:p>
            <a:pPr algn="just"/>
            <a:r>
              <a:rPr lang="en-US" sz="2000" b="0" i="0" u="none" strike="noStrike" baseline="0" dirty="0">
                <a:latin typeface="Times-Roman"/>
              </a:rPr>
              <a:t>At a certain point, the network may grow to the point where it is no longer feasible for every router to have an entry for every other router.</a:t>
            </a:r>
          </a:p>
          <a:p>
            <a:pPr algn="just"/>
            <a:endParaRPr lang="en-US" sz="2000" b="0" i="0" u="none" strike="noStrike" baseline="0" dirty="0">
              <a:latin typeface="Times-Roman"/>
            </a:endParaRPr>
          </a:p>
          <a:p>
            <a:pPr algn="just"/>
            <a:r>
              <a:rPr lang="en-US" sz="2000" dirty="0">
                <a:latin typeface="Times-Roman"/>
              </a:rPr>
              <a:t>Solution is </a:t>
            </a:r>
            <a:r>
              <a:rPr lang="en-US" sz="2000" b="1" dirty="0">
                <a:latin typeface="Times-Roman"/>
              </a:rPr>
              <a:t>H</a:t>
            </a:r>
            <a:r>
              <a:rPr lang="en-US" sz="2000" b="1" i="0" u="none" strike="noStrike" baseline="0" dirty="0">
                <a:latin typeface="Times-Roman"/>
              </a:rPr>
              <a:t>ierarchical routing.</a:t>
            </a:r>
          </a:p>
          <a:p>
            <a:pPr algn="just"/>
            <a:endParaRPr lang="en-US" sz="2000" b="0" i="0" u="none" strike="noStrike" baseline="0" dirty="0">
              <a:latin typeface="Times-Roman"/>
            </a:endParaRPr>
          </a:p>
          <a:p>
            <a:pPr algn="just"/>
            <a:r>
              <a:rPr lang="en-US" sz="2000" b="0" i="0" u="none" strike="noStrike" baseline="0" dirty="0">
                <a:latin typeface="Times-Roman"/>
              </a:rPr>
              <a:t>When hierarchical routing is used, the routers are divided into </a:t>
            </a:r>
            <a:r>
              <a:rPr lang="en-US" sz="2000" b="1" i="0" u="none" strike="noStrike" baseline="0" dirty="0">
                <a:latin typeface="Times-Bold"/>
              </a:rPr>
              <a:t>regions</a:t>
            </a:r>
            <a:r>
              <a:rPr lang="en-US" sz="2000" b="0" i="0" u="none" strike="noStrike" baseline="0" dirty="0">
                <a:latin typeface="Times-Roman"/>
              </a:rPr>
              <a:t>. </a:t>
            </a:r>
          </a:p>
          <a:p>
            <a:pPr algn="just"/>
            <a:endParaRPr lang="en-US" sz="2000" b="0" i="0" u="none" strike="noStrike" baseline="0" dirty="0">
              <a:latin typeface="Times-Roman"/>
            </a:endParaRPr>
          </a:p>
          <a:p>
            <a:pPr algn="just"/>
            <a:r>
              <a:rPr lang="en-US" sz="2000" b="0" i="0" u="none" strike="noStrike" baseline="0" dirty="0">
                <a:latin typeface="Times-Roman"/>
              </a:rPr>
              <a:t>Each router knows all the details about how to route packets to destinations within its own region but knows nothing about the internal structure of other regions. </a:t>
            </a:r>
          </a:p>
          <a:p>
            <a:pPr algn="just"/>
            <a:endParaRPr lang="en-US" sz="2000" b="0" i="0" u="none" strike="noStrike" baseline="0" dirty="0">
              <a:latin typeface="Times-Roman"/>
            </a:endParaRPr>
          </a:p>
          <a:p>
            <a:pPr algn="just"/>
            <a:r>
              <a:rPr lang="en-US" sz="2000" b="0" i="0" u="none" strike="noStrike" baseline="0" dirty="0">
                <a:latin typeface="Times-Roman"/>
              </a:rPr>
              <a:t>When different networks are interconnected, it is natural to regard each one as a separate region to free the routers in one network from having to know the topological structure of the other ones.</a:t>
            </a:r>
            <a:endParaRPr lang="en-US" b="0" i="0" u="none" strike="noStrike" baseline="0" dirty="0">
              <a:latin typeface="Times-Roman"/>
            </a:endParaRPr>
          </a:p>
        </p:txBody>
      </p:sp>
      <p:sp>
        <p:nvSpPr>
          <p:cNvPr id="5" name="Slide Number Placeholder 4">
            <a:extLst>
              <a:ext uri="{FF2B5EF4-FFF2-40B4-BE49-F238E27FC236}">
                <a16:creationId xmlns:a16="http://schemas.microsoft.com/office/drawing/2014/main" id="{6A61CD1A-5B54-46C5-B18C-D163E244C983}"/>
              </a:ext>
            </a:extLst>
          </p:cNvPr>
          <p:cNvSpPr>
            <a:spLocks noGrp="1"/>
          </p:cNvSpPr>
          <p:nvPr>
            <p:ph type="sldNum" sz="quarter" idx="12"/>
          </p:nvPr>
        </p:nvSpPr>
        <p:spPr/>
        <p:txBody>
          <a:bodyPr/>
          <a:lstStyle/>
          <a:p>
            <a:fld id="{68187FF5-4BF9-4B21-B0D2-9B7FF2B27D7F}" type="slidenum">
              <a:rPr lang="en-AU" smtClean="0"/>
              <a:pPr/>
              <a:t>17</a:t>
            </a:fld>
            <a:endParaRPr lang="en-AU"/>
          </a:p>
        </p:txBody>
      </p:sp>
      <p:sp>
        <p:nvSpPr>
          <p:cNvPr id="4" name="Rounded Rectangle 17">
            <a:extLst>
              <a:ext uri="{FF2B5EF4-FFF2-40B4-BE49-F238E27FC236}">
                <a16:creationId xmlns:a16="http://schemas.microsoft.com/office/drawing/2014/main" id="{481F73B5-322D-5688-82D6-E18BE4723EB1}"/>
              </a:ext>
            </a:extLst>
          </p:cNvPr>
          <p:cNvSpPr/>
          <p:nvPr/>
        </p:nvSpPr>
        <p:spPr>
          <a:xfrm>
            <a:off x="2873912" y="53596"/>
            <a:ext cx="6639951" cy="47803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HIERARCHICAL ROUTING </a:t>
            </a:r>
          </a:p>
        </p:txBody>
      </p:sp>
    </p:spTree>
    <p:extLst>
      <p:ext uri="{BB962C8B-B14F-4D97-AF65-F5344CB8AC3E}">
        <p14:creationId xmlns:p14="http://schemas.microsoft.com/office/powerpoint/2010/main" val="211471737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500575" y="123792"/>
            <a:ext cx="10515600" cy="685772"/>
          </a:xfrm>
        </p:spPr>
        <p:txBody>
          <a:bodyPr>
            <a:normAutofit fontScale="90000"/>
          </a:bodyPr>
          <a:lstStyle/>
          <a:p>
            <a:pPr eaLnBrk="1" hangingPunct="1"/>
            <a:r>
              <a:rPr lang="en-US" dirty="0"/>
              <a:t>Hierarchical Routing…</a:t>
            </a:r>
          </a:p>
        </p:txBody>
      </p:sp>
      <p:sp>
        <p:nvSpPr>
          <p:cNvPr id="13315" name="Rectangle 3"/>
          <p:cNvSpPr>
            <a:spLocks noGrp="1" noChangeArrowheads="1"/>
          </p:cNvSpPr>
          <p:nvPr>
            <p:ph type="body" idx="1"/>
          </p:nvPr>
        </p:nvSpPr>
        <p:spPr>
          <a:xfrm>
            <a:off x="838200" y="994213"/>
            <a:ext cx="10515600" cy="5021494"/>
          </a:xfrm>
        </p:spPr>
        <p:txBody>
          <a:bodyPr/>
          <a:lstStyle/>
          <a:p>
            <a:pPr algn="ctr" eaLnBrk="1" hangingPunct="1">
              <a:buFontTx/>
              <a:buNone/>
            </a:pPr>
            <a:r>
              <a:rPr lang="en-US" dirty="0"/>
              <a:t>Hierarchical routing.</a:t>
            </a:r>
          </a:p>
        </p:txBody>
      </p:sp>
      <p:pic>
        <p:nvPicPr>
          <p:cNvPr id="13316" name="Picture 5" descr="5-15"/>
          <p:cNvPicPr>
            <a:picLocks noChangeAspect="1" noChangeArrowheads="1"/>
          </p:cNvPicPr>
          <p:nvPr/>
        </p:nvPicPr>
        <p:blipFill>
          <a:blip r:embed="rId2" cstate="print"/>
          <a:srcRect/>
          <a:stretch>
            <a:fillRect/>
          </a:stretch>
        </p:blipFill>
        <p:spPr bwMode="auto">
          <a:xfrm>
            <a:off x="1341839" y="1526694"/>
            <a:ext cx="9508321" cy="5002190"/>
          </a:xfrm>
          <a:prstGeom prst="rect">
            <a:avLst/>
          </a:prstGeom>
          <a:noFill/>
          <a:ln w="9525">
            <a:noFill/>
            <a:miter lim="800000"/>
            <a:headEnd/>
            <a:tailEnd/>
          </a:ln>
        </p:spPr>
      </p:pic>
    </p:spTree>
    <p:extLst>
      <p:ext uri="{BB962C8B-B14F-4D97-AF65-F5344CB8AC3E}">
        <p14:creationId xmlns:p14="http://schemas.microsoft.com/office/powerpoint/2010/main" val="178023770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a:extLst>
              <a:ext uri="{FF2B5EF4-FFF2-40B4-BE49-F238E27FC236}">
                <a16:creationId xmlns:a16="http://schemas.microsoft.com/office/drawing/2014/main" id="{00BC72CD-0E64-4837-A23F-71719B051DFB}"/>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700487" y="1379529"/>
            <a:ext cx="4098941" cy="4098941"/>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51E0631B-1888-44A3-956F-2018E4A03155}"/>
              </a:ext>
            </a:extLst>
          </p:cNvPr>
          <p:cNvSpPr>
            <a:spLocks noGrp="1"/>
          </p:cNvSpPr>
          <p:nvPr>
            <p:ph idx="1"/>
          </p:nvPr>
        </p:nvSpPr>
        <p:spPr>
          <a:xfrm>
            <a:off x="5162844" y="2302412"/>
            <a:ext cx="6654018" cy="4731434"/>
          </a:xfrm>
        </p:spPr>
        <p:txBody>
          <a:bodyPr>
            <a:normAutofit/>
          </a:bodyPr>
          <a:lstStyle/>
          <a:p>
            <a:r>
              <a:rPr lang="en-US" sz="2400" dirty="0"/>
              <a:t>Distance Vector Routing</a:t>
            </a:r>
          </a:p>
          <a:p>
            <a:endParaRPr lang="en-US" sz="2400" dirty="0"/>
          </a:p>
          <a:p>
            <a:r>
              <a:rPr lang="en-US" sz="2400" dirty="0"/>
              <a:t>Count-to-Infinity Problem</a:t>
            </a:r>
          </a:p>
          <a:p>
            <a:endParaRPr lang="en-US" sz="2400" dirty="0"/>
          </a:p>
          <a:p>
            <a:r>
              <a:rPr lang="en-US" sz="2400" dirty="0"/>
              <a:t>Link State Routing </a:t>
            </a:r>
          </a:p>
          <a:p>
            <a:endParaRPr lang="en-US" sz="2400" dirty="0"/>
          </a:p>
          <a:p>
            <a:r>
              <a:rPr lang="en-US" sz="2400" dirty="0"/>
              <a:t>Hierarchical Routing</a:t>
            </a:r>
          </a:p>
          <a:p>
            <a:endParaRPr lang="en-US" dirty="0"/>
          </a:p>
          <a:p>
            <a:pPr>
              <a:buFont typeface="Wingdings" panose="05000000000000000000" pitchFamily="2" charset="2"/>
              <a:buChar char="Ø"/>
            </a:pPr>
            <a:endParaRPr lang="en-US" dirty="0"/>
          </a:p>
          <a:p>
            <a:endParaRPr lang="en-US" dirty="0"/>
          </a:p>
        </p:txBody>
      </p:sp>
      <p:pic>
        <p:nvPicPr>
          <p:cNvPr id="2" name="Picture 2" descr="KL Deemed to be University Logo">
            <a:extLst>
              <a:ext uri="{FF2B5EF4-FFF2-40B4-BE49-F238E27FC236}">
                <a16:creationId xmlns:a16="http://schemas.microsoft.com/office/drawing/2014/main" id="{1A6E623D-BF52-6CE8-7DF9-98E41C00CDDC}"/>
              </a:ext>
            </a:extLst>
          </p:cNvPr>
          <p:cNvPicPr>
            <a:picLocks noChangeAspect="1" noChangeArrowheads="1"/>
          </p:cNvPicPr>
          <p:nvPr/>
        </p:nvPicPr>
        <p:blipFill>
          <a:blip r:embed="rId3"/>
          <a:srcRect/>
          <a:stretch>
            <a:fillRect/>
          </a:stretch>
        </p:blipFill>
        <p:spPr bwMode="auto">
          <a:xfrm>
            <a:off x="0" y="0"/>
            <a:ext cx="1990725" cy="600076"/>
          </a:xfrm>
          <a:prstGeom prst="rect">
            <a:avLst/>
          </a:prstGeom>
          <a:noFill/>
        </p:spPr>
      </p:pic>
      <p:sp>
        <p:nvSpPr>
          <p:cNvPr id="4" name="Rounded Rectangle 17">
            <a:extLst>
              <a:ext uri="{FF2B5EF4-FFF2-40B4-BE49-F238E27FC236}">
                <a16:creationId xmlns:a16="http://schemas.microsoft.com/office/drawing/2014/main" id="{BF5AC92A-328E-35D9-8A83-66295DF01654}"/>
              </a:ext>
            </a:extLst>
          </p:cNvPr>
          <p:cNvSpPr/>
          <p:nvPr/>
        </p:nvSpPr>
        <p:spPr>
          <a:xfrm>
            <a:off x="3390636" y="94783"/>
            <a:ext cx="5410728" cy="4122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SUMMARY</a:t>
            </a:r>
          </a:p>
        </p:txBody>
      </p:sp>
    </p:spTree>
    <p:extLst>
      <p:ext uri="{BB962C8B-B14F-4D97-AF65-F5344CB8AC3E}">
        <p14:creationId xmlns:p14="http://schemas.microsoft.com/office/powerpoint/2010/main" val="17528323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10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 calcmode="lin" valueType="num">
                                      <p:cBhvr additive="base">
                                        <p:cTn id="19"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0" dur="10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anim calcmode="lin" valueType="num">
                                      <p:cBhvr additive="base">
                                        <p:cTn id="25"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26" dur="10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4"/>
                                        </p:tgtEl>
                                        <p:attrNameLst>
                                          <p:attrName>style.visibility</p:attrName>
                                        </p:attrNameLst>
                                      </p:cBhvr>
                                      <p:to>
                                        <p:strVal val="visible"/>
                                      </p:to>
                                    </p:set>
                                    <p:animEffect transition="in" filter="fade">
                                      <p:cBhvr>
                                        <p:cTn id="31"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045E056E-10BD-0B9E-4ACE-A3F54C31FD9F}"/>
              </a:ext>
            </a:extLst>
          </p:cNvPr>
          <p:cNvSpPr/>
          <p:nvPr/>
        </p:nvSpPr>
        <p:spPr>
          <a:xfrm>
            <a:off x="3390636" y="94783"/>
            <a:ext cx="5410728" cy="4122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TERMINAL QUESTIONS</a:t>
            </a:r>
          </a:p>
        </p:txBody>
      </p:sp>
      <p:sp>
        <p:nvSpPr>
          <p:cNvPr id="9" name="TextBox 8"/>
          <p:cNvSpPr txBox="1"/>
          <p:nvPr/>
        </p:nvSpPr>
        <p:spPr>
          <a:xfrm>
            <a:off x="858129" y="1000902"/>
            <a:ext cx="10818056" cy="2468368"/>
          </a:xfrm>
          <a:prstGeom prst="rect">
            <a:avLst/>
          </a:prstGeom>
          <a:noFill/>
        </p:spPr>
        <p:txBody>
          <a:bodyPr wrap="square" rtlCol="0">
            <a:spAutoFit/>
          </a:bodyPr>
          <a:lstStyle/>
          <a:p>
            <a:pPr marL="457200" indent="-457200">
              <a:lnSpc>
                <a:spcPct val="200000"/>
              </a:lnSpc>
              <a:buAutoNum type="arabicPeriod"/>
            </a:pPr>
            <a:r>
              <a:rPr lang="en-US" sz="2000" dirty="0"/>
              <a:t>Describe the steps of Link State routing algorithm. </a:t>
            </a:r>
          </a:p>
          <a:p>
            <a:pPr marL="457200" indent="-457200">
              <a:lnSpc>
                <a:spcPct val="200000"/>
              </a:lnSpc>
              <a:buAutoNum type="arabicPeriod"/>
            </a:pPr>
            <a:r>
              <a:rPr lang="en-US" sz="2000" dirty="0"/>
              <a:t>Define Count-to-Infinity problem. </a:t>
            </a:r>
          </a:p>
          <a:p>
            <a:pPr marL="457200" indent="-457200">
              <a:lnSpc>
                <a:spcPct val="200000"/>
              </a:lnSpc>
              <a:buAutoNum type="arabicPeriod"/>
            </a:pPr>
            <a:r>
              <a:rPr lang="en-US" sz="2000" dirty="0"/>
              <a:t>Explain the process of computing routing table using Distance vector routing algorithm. </a:t>
            </a:r>
          </a:p>
          <a:p>
            <a:pPr marL="457200" indent="-457200">
              <a:lnSpc>
                <a:spcPct val="200000"/>
              </a:lnSpc>
              <a:buAutoNum type="arabicPeriod"/>
            </a:pPr>
            <a:endParaRPr lang="en-US" sz="2000" dirty="0"/>
          </a:p>
        </p:txBody>
      </p:sp>
      <p:pic>
        <p:nvPicPr>
          <p:cNvPr id="10"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Tree>
    <p:extLst>
      <p:ext uri="{BB962C8B-B14F-4D97-AF65-F5344CB8AC3E}">
        <p14:creationId xmlns:p14="http://schemas.microsoft.com/office/powerpoint/2010/main" val="260207376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045E056E-10BD-0B9E-4ACE-A3F54C31FD9F}"/>
              </a:ext>
            </a:extLst>
          </p:cNvPr>
          <p:cNvSpPr/>
          <p:nvPr/>
        </p:nvSpPr>
        <p:spPr>
          <a:xfrm>
            <a:off x="2161309" y="93891"/>
            <a:ext cx="7105194" cy="4122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REFERENCES FOR FURTHER LEARNING OF THE SESSION</a:t>
            </a:r>
            <a:endParaRPr lang="en-US" sz="2400" dirty="0">
              <a:solidFill>
                <a:schemeClr val="bg1"/>
              </a:solidFill>
              <a:latin typeface="Poppins" panose="00000500000000000000" pitchFamily="2" charset="0"/>
              <a:cs typeface="Poppins" panose="00000500000000000000" pitchFamily="2" charset="0"/>
            </a:endParaRPr>
          </a:p>
        </p:txBody>
      </p:sp>
      <p:sp>
        <p:nvSpPr>
          <p:cNvPr id="9" name="TextBox 8"/>
          <p:cNvSpPr txBox="1"/>
          <p:nvPr/>
        </p:nvSpPr>
        <p:spPr>
          <a:xfrm>
            <a:off x="900332" y="1167618"/>
            <a:ext cx="9608234" cy="3373359"/>
          </a:xfrm>
          <a:prstGeom prst="rect">
            <a:avLst/>
          </a:prstGeom>
          <a:noFill/>
        </p:spPr>
        <p:txBody>
          <a:bodyPr wrap="square" rtlCol="0">
            <a:spAutoFit/>
          </a:bodyPr>
          <a:lstStyle/>
          <a:p>
            <a:pPr>
              <a:lnSpc>
                <a:spcPct val="150000"/>
              </a:lnSpc>
            </a:pPr>
            <a:r>
              <a:rPr lang="en-US" b="1" dirty="0"/>
              <a:t>Reference Books:</a:t>
            </a:r>
            <a:endParaRPr lang="en-US" dirty="0"/>
          </a:p>
          <a:p>
            <a:pPr marL="342900" indent="-342900">
              <a:lnSpc>
                <a:spcPct val="150000"/>
              </a:lnSpc>
              <a:buAutoNum type="arabicPeriod"/>
            </a:pPr>
            <a:r>
              <a:rPr lang="en-US" dirty="0"/>
              <a:t>A.S. Tanenbaum, David J. </a:t>
            </a:r>
            <a:r>
              <a:rPr lang="en-US" dirty="0" err="1"/>
              <a:t>Wetheral</a:t>
            </a:r>
            <a:r>
              <a:rPr lang="en-US" dirty="0"/>
              <a:t> “Computer Networks” Pearson, 5th Edition.</a:t>
            </a:r>
          </a:p>
          <a:p>
            <a:pPr marL="342900" indent="-342900">
              <a:lnSpc>
                <a:spcPct val="150000"/>
              </a:lnSpc>
              <a:buFontTx/>
              <a:buAutoNum type="arabicPeriod"/>
            </a:pPr>
            <a:r>
              <a:rPr lang="en-US" dirty="0"/>
              <a:t>Behrouz A. </a:t>
            </a:r>
            <a:r>
              <a:rPr lang="en-US" dirty="0" err="1"/>
              <a:t>Forouzan</a:t>
            </a:r>
            <a:r>
              <a:rPr lang="en-US" dirty="0"/>
              <a:t> , “Data Communication and Networking”, TMH, 5th Edition, 2012.</a:t>
            </a:r>
          </a:p>
          <a:p>
            <a:pPr marL="342900" indent="-342900">
              <a:lnSpc>
                <a:spcPct val="150000"/>
              </a:lnSpc>
              <a:buAutoNum type="arabicPeriod"/>
            </a:pPr>
            <a:endParaRPr lang="en-US" dirty="0"/>
          </a:p>
          <a:p>
            <a:pPr marL="342900" indent="-342900">
              <a:lnSpc>
                <a:spcPct val="150000"/>
              </a:lnSpc>
              <a:buAutoNum type="arabicPeriod"/>
            </a:pPr>
            <a:endParaRPr lang="en-US" dirty="0"/>
          </a:p>
          <a:p>
            <a:pPr>
              <a:lnSpc>
                <a:spcPct val="150000"/>
              </a:lnSpc>
            </a:pPr>
            <a:r>
              <a:rPr lang="en-US" b="1" dirty="0"/>
              <a:t>Web Links:</a:t>
            </a:r>
          </a:p>
          <a:p>
            <a:pPr marL="342900" indent="-342900">
              <a:lnSpc>
                <a:spcPct val="150000"/>
              </a:lnSpc>
              <a:buAutoNum type="arabicPeriod"/>
            </a:pPr>
            <a:r>
              <a:rPr lang="en-US" dirty="0"/>
              <a:t>https://www.tutorialspoint.com/the-optimality-principle-in-computer-networks</a:t>
            </a:r>
          </a:p>
          <a:p>
            <a:pPr>
              <a:lnSpc>
                <a:spcPct val="150000"/>
              </a:lnSpc>
            </a:pPr>
            <a:endParaRPr lang="en-US" dirty="0"/>
          </a:p>
        </p:txBody>
      </p:sp>
      <p:pic>
        <p:nvPicPr>
          <p:cNvPr id="5"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Tree>
    <p:extLst>
      <p:ext uri="{BB962C8B-B14F-4D97-AF65-F5344CB8AC3E}">
        <p14:creationId xmlns:p14="http://schemas.microsoft.com/office/powerpoint/2010/main" val="260207376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a:extLst>
              <a:ext uri="{FF2B5EF4-FFF2-40B4-BE49-F238E27FC236}">
                <a16:creationId xmlns:a16="http://schemas.microsoft.com/office/drawing/2014/main" id="{E792BE84-3448-2348-B352-CD5BC083E5FD}"/>
              </a:ext>
            </a:extLst>
          </p:cNvPr>
          <p:cNvSpPr/>
          <p:nvPr/>
        </p:nvSpPr>
        <p:spPr>
          <a:xfrm>
            <a:off x="2602523" y="1856934"/>
            <a:ext cx="7920111" cy="2883877"/>
          </a:xfrm>
          <a:prstGeom prst="roundRect">
            <a:avLst/>
          </a:prstGeom>
          <a:solidFill>
            <a:schemeClr val="accent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latin typeface="Poppins" pitchFamily="2" charset="77"/>
              <a:cs typeface="Poppins" pitchFamily="2" charset="77"/>
            </a:endParaRPr>
          </a:p>
          <a:p>
            <a:pPr algn="ctr"/>
            <a:endParaRPr lang="en-US" sz="2400" b="1" dirty="0">
              <a:latin typeface="Poppins" pitchFamily="2" charset="77"/>
              <a:cs typeface="Poppins" pitchFamily="2" charset="77"/>
            </a:endParaRPr>
          </a:p>
          <a:p>
            <a:pPr algn="ctr"/>
            <a:r>
              <a:rPr lang="en-US" sz="2400" b="1" dirty="0">
                <a:latin typeface="Poppins" pitchFamily="2" charset="77"/>
                <a:cs typeface="Poppins" pitchFamily="2" charset="77"/>
              </a:rPr>
              <a:t>THANK YOU</a:t>
            </a: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r>
              <a:rPr lang="en-US" sz="2400" b="1" dirty="0">
                <a:latin typeface="Poppins" pitchFamily="2" charset="77"/>
                <a:cs typeface="Poppins" pitchFamily="2" charset="77"/>
              </a:rPr>
              <a:t>Team – Network Protocols &amp; Security</a:t>
            </a:r>
            <a:endParaRPr lang="en-US" sz="2400" dirty="0">
              <a:solidFill>
                <a:schemeClr val="bg1"/>
              </a:solidFill>
              <a:latin typeface="Poppins" pitchFamily="2" charset="77"/>
              <a:cs typeface="Poppins" pitchFamily="2" charset="77"/>
            </a:endParaRPr>
          </a:p>
          <a:p>
            <a:pPr algn="ctr"/>
            <a:endParaRPr lang="en-US" sz="2400" dirty="0">
              <a:solidFill>
                <a:schemeClr val="bg1"/>
              </a:solidFill>
              <a:latin typeface="Poppins" pitchFamily="2" charset="77"/>
              <a:cs typeface="Poppins" pitchFamily="2" charset="77"/>
            </a:endParaRPr>
          </a:p>
          <a:p>
            <a:pPr algn="ctr"/>
            <a:endParaRPr lang="en-US" sz="2400" dirty="0">
              <a:solidFill>
                <a:schemeClr val="bg1"/>
              </a:solidFill>
              <a:latin typeface="Poppins" pitchFamily="2" charset="77"/>
              <a:cs typeface="Poppins" pitchFamily="2" charset="77"/>
            </a:endParaRPr>
          </a:p>
        </p:txBody>
      </p:sp>
      <p:pic>
        <p:nvPicPr>
          <p:cNvPr id="6" name="Picture 2" descr="KL Deemed to be University Logo"/>
          <p:cNvPicPr>
            <a:picLocks noChangeAspect="1" noChangeArrowheads="1"/>
          </p:cNvPicPr>
          <p:nvPr/>
        </p:nvPicPr>
        <p:blipFill>
          <a:blip r:embed="rId2"/>
          <a:srcRect/>
          <a:stretch>
            <a:fillRect/>
          </a:stretch>
        </p:blipFill>
        <p:spPr bwMode="auto">
          <a:xfrm>
            <a:off x="5514534" y="2560321"/>
            <a:ext cx="3235570" cy="1083212"/>
          </a:xfrm>
          <a:prstGeom prst="rect">
            <a:avLst/>
          </a:prstGeom>
          <a:noFill/>
        </p:spPr>
      </p:pic>
    </p:spTree>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xtreme Shadow">
      <a:fillStyleLst>
        <a:solidFill>
          <a:schemeClr val="phClr"/>
        </a:solidFill>
        <a:gradFill rotWithShape="1">
          <a:gsLst>
            <a:gs pos="0">
              <a:schemeClr val="phClr">
                <a:tint val="90000"/>
              </a:schemeClr>
            </a:gs>
            <a:gs pos="48000">
              <a:schemeClr val="phClr">
                <a:tint val="54000"/>
                <a:satMod val="140000"/>
              </a:schemeClr>
            </a:gs>
            <a:gs pos="100000">
              <a:schemeClr val="phClr">
                <a:tint val="24000"/>
                <a:satMod val="260000"/>
              </a:schemeClr>
            </a:gs>
          </a:gsLst>
          <a:lin ang="16200000" scaled="1"/>
        </a:gradFill>
        <a:gradFill rotWithShape="1">
          <a:gsLst>
            <a:gs pos="0">
              <a:schemeClr val="phClr"/>
            </a:gs>
            <a:gs pos="100000">
              <a:schemeClr val="phClr">
                <a:shade val="48000"/>
                <a:satMod val="180000"/>
                <a:lumMod val="94000"/>
              </a:schemeClr>
            </a:gs>
            <a:gs pos="100000">
              <a:schemeClr val="phClr">
                <a:shade val="48000"/>
                <a:satMod val="180000"/>
                <a:lumMod val="94000"/>
              </a:schemeClr>
            </a:gs>
          </a:gsLst>
          <a:lin ang="4140000" scaled="1"/>
        </a:gradFill>
      </a:fillStyleLst>
      <a:lnStyleLst>
        <a:ln w="12700" cap="flat" cmpd="sng" algn="ctr">
          <a:solidFill>
            <a:schemeClr val="phClr"/>
          </a:solidFill>
          <a:prstDash val="solid"/>
        </a:ln>
        <a:ln w="19050" cap="flat" cmpd="sng" algn="ctr">
          <a:solidFill>
            <a:schemeClr val="phClr"/>
          </a:solidFill>
          <a:prstDash val="solid"/>
        </a:ln>
        <a:ln w="28575" cap="flat" cmpd="sng" algn="ctr">
          <a:solidFill>
            <a:schemeClr val="phClr"/>
          </a:solidFill>
          <a:prstDash val="solid"/>
        </a:ln>
      </a:lnStyleLst>
      <a:effectStyleLst>
        <a:effectStyle>
          <a:effectLst>
            <a:outerShdw blurRad="63500" dist="12700" dir="5400000" sx="102000" sy="102000" rotWithShape="0">
              <a:srgbClr val="000000">
                <a:alpha val="32000"/>
              </a:srgbClr>
            </a:outerShdw>
          </a:effectLst>
        </a:effectStyle>
        <a:effectStyle>
          <a:effectLst>
            <a:outerShdw blurRad="76200" dist="38100" dir="5400000" rotWithShape="0">
              <a:srgbClr val="000000">
                <a:alpha val="60000"/>
              </a:srgbClr>
            </a:outerShdw>
          </a:effectLst>
          <a:scene3d>
            <a:camera prst="orthographicFront">
              <a:rot lat="0" lon="0" rev="0"/>
            </a:camera>
            <a:lightRig rig="threePt" dir="tl">
              <a:rot lat="0" lon="0" rev="19800000"/>
            </a:lightRig>
          </a:scene3d>
          <a:sp3d prstMaterial="plastic">
            <a:bevelT w="25400" h="19050"/>
          </a:sp3d>
        </a:effectStyle>
        <a:effectStyle>
          <a:effectLst>
            <a:outerShdw blurRad="114300" dist="114300" dir="5400000" rotWithShape="0">
              <a:srgbClr val="000000">
                <a:alpha val="70000"/>
              </a:srgbClr>
            </a:outerShdw>
          </a:effectLst>
          <a:scene3d>
            <a:camera prst="orthographicFront">
              <a:rot lat="0" lon="0" rev="0"/>
            </a:camera>
            <a:lightRig rig="threePt" dir="t">
              <a:rot lat="0" lon="0" rev="19800000"/>
            </a:lightRig>
          </a:scene3d>
          <a:sp3d prstMaterial="plastic">
            <a:bevelT w="38100" h="31750"/>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45058B0D91A7444BDF69F20EF097C18" ma:contentTypeVersion="14" ma:contentTypeDescription="Create a new document." ma:contentTypeScope="" ma:versionID="0ede872240208156a106060c7bf37a70">
  <xsd:schema xmlns:xsd="http://www.w3.org/2001/XMLSchema" xmlns:xs="http://www.w3.org/2001/XMLSchema" xmlns:p="http://schemas.microsoft.com/office/2006/metadata/properties" xmlns:ns3="d43ee83c-3e71-4748-8ebc-8eaadf793425" xmlns:ns4="0125a647-8023-46ae-ae6e-85cf36d841bd" targetNamespace="http://schemas.microsoft.com/office/2006/metadata/properties" ma:root="true" ma:fieldsID="e836ceb473825fb8f3d8aa266dca4abb" ns3:_="" ns4:_="">
    <xsd:import namespace="d43ee83c-3e71-4748-8ebc-8eaadf793425"/>
    <xsd:import namespace="0125a647-8023-46ae-ae6e-85cf36d841bd"/>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MediaServiceDateTaken" minOccurs="0"/>
                <xsd:element ref="ns4:MediaServiceAutoTags" minOccurs="0"/>
                <xsd:element ref="ns4:MediaServiceGenerationTime" minOccurs="0"/>
                <xsd:element ref="ns4:MediaServiceEventHashCode" minOccurs="0"/>
                <xsd:element ref="ns4:MediaServiceOCR" minOccurs="0"/>
                <xsd:element ref="ns4:MediaLengthInSeconds" minOccurs="0"/>
                <xsd:element ref="ns4:MediaServiceAutoKeyPoints" minOccurs="0"/>
                <xsd:element ref="ns4:MediaServiceKeyPoints" minOccurs="0"/>
                <xsd:element ref="ns4: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43ee83c-3e71-4748-8ebc-8eaadf793425"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SharingHintHash" ma:index="10" nillable="true" ma:displayName="Sharing Hint Hash"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0125a647-8023-46ae-ae6e-85cf36d841bd"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DateTaken" ma:index="13" nillable="true" ma:displayName="MediaServiceDateTaken" ma:hidden="true" ma:internalName="MediaServiceDateTaken" ma:readOnly="true">
      <xsd:simpleType>
        <xsd:restriction base="dms:Text"/>
      </xsd:simpleType>
    </xsd:element>
    <xsd:element name="MediaServiceAutoTags" ma:index="14" nillable="true" ma:displayName="Tags" ma:internalName="MediaServiceAutoTags"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LengthInSeconds" ma:index="18" nillable="true" ma:displayName="Length (seconds)" ma:internalName="MediaLengthInSeconds" ma:readOnly="true">
      <xsd:simpleType>
        <xsd:restriction base="dms:Unknown"/>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element name="MediaServiceLocation" ma:index="21" nillable="true" ma:displayName="Location" ma:internalName="MediaServiceLocatio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C89A6ECA-0C1B-4F00-836D-A696F073E5C2}">
  <ds:schemaRefs>
    <ds:schemaRef ds:uri="0125a647-8023-46ae-ae6e-85cf36d841bd"/>
    <ds:schemaRef ds:uri="d43ee83c-3e71-4748-8ebc-8eaadf79342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EBBD0A98-E68B-4DAA-8964-2F739D6D4075}">
  <ds:schemaRefs>
    <ds:schemaRef ds:uri="0125a647-8023-46ae-ae6e-85cf36d841bd"/>
    <ds:schemaRef ds:uri="d43ee83c-3e71-4748-8ebc-8eaadf793425"/>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3DA00F5F-5366-4B1C-9406-30DECA796ABB}">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Office Theme</Template>
  <TotalTime>408</TotalTime>
  <Words>1385</Words>
  <Application>Microsoft Office PowerPoint</Application>
  <PresentationFormat>Widescreen</PresentationFormat>
  <Paragraphs>169</Paragraphs>
  <Slides>22</Slides>
  <Notes>1</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22</vt:i4>
      </vt:variant>
    </vt:vector>
  </HeadingPairs>
  <TitlesOfParts>
    <vt:vector size="33" baseType="lpstr">
      <vt:lpstr>Algerian</vt:lpstr>
      <vt:lpstr>Arial</vt:lpstr>
      <vt:lpstr>BioRhyme ExtraBold</vt:lpstr>
      <vt:lpstr>Calibri</vt:lpstr>
      <vt:lpstr>Poppins</vt:lpstr>
      <vt:lpstr>Times New Roman</vt:lpstr>
      <vt:lpstr>Times-Bold</vt:lpstr>
      <vt:lpstr>Times-Italic</vt:lpstr>
      <vt:lpstr>Times-Roman</vt:lpstr>
      <vt:lpstr>Wingdings</vt:lpstr>
      <vt:lpstr>1_Office Theme</vt:lpstr>
      <vt:lpstr>PowerPoint Presentation</vt:lpstr>
      <vt:lpstr>PowerPoint Presentation</vt:lpstr>
      <vt:lpstr>Distance vector routing</vt:lpstr>
      <vt:lpstr>PowerPoint Presentation</vt:lpstr>
      <vt:lpstr>Distance Vector Routing…</vt:lpstr>
      <vt:lpstr>Count-to-Infinity problem:</vt:lpstr>
      <vt:lpstr>Link state routing</vt:lpstr>
      <vt:lpstr>PowerPoint Presentation</vt:lpstr>
      <vt:lpstr>Link State Routing…</vt:lpstr>
      <vt:lpstr>Link State Routing…</vt:lpstr>
      <vt:lpstr>Link State Routing…</vt:lpstr>
      <vt:lpstr>Building Link State Packets</vt:lpstr>
      <vt:lpstr>Link State Routing…</vt:lpstr>
      <vt:lpstr>Distributing the Link State Packets</vt:lpstr>
      <vt:lpstr>Link State Routing…</vt:lpstr>
      <vt:lpstr>Hierarchical routing</vt:lpstr>
      <vt:lpstr>PowerPoint Presentation</vt:lpstr>
      <vt:lpstr>Hierarchical Routing…</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 : FUNDMENTALS OF ORGANIZATIONAL BEHAVIOUR</dc:title>
  <dc:creator>Younus Sayyad</dc:creator>
  <cp:lastModifiedBy>GORLA VENKATA GANESH</cp:lastModifiedBy>
  <cp:revision>41</cp:revision>
  <dcterms:created xsi:type="dcterms:W3CDTF">2020-02-08T09:57:44Z</dcterms:created>
  <dcterms:modified xsi:type="dcterms:W3CDTF">2025-12-17T06:48:26Z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0x010100845058B0D91A7444BDF69F20EF097C18</vt:lpwstr>
  </property>
</Properties>
</file>