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5"/>
  </p:notesMasterIdLst>
  <p:sldIdLst>
    <p:sldId id="271" r:id="rId2"/>
    <p:sldId id="930" r:id="rId3"/>
    <p:sldId id="924" r:id="rId4"/>
    <p:sldId id="926" r:id="rId5"/>
    <p:sldId id="925" r:id="rId6"/>
    <p:sldId id="927" r:id="rId7"/>
    <p:sldId id="928" r:id="rId8"/>
    <p:sldId id="848" r:id="rId9"/>
    <p:sldId id="929" r:id="rId10"/>
    <p:sldId id="945" r:id="rId11"/>
    <p:sldId id="257" r:id="rId12"/>
    <p:sldId id="850" r:id="rId13"/>
    <p:sldId id="851" r:id="rId14"/>
    <p:sldId id="880" r:id="rId15"/>
    <p:sldId id="917" r:id="rId16"/>
    <p:sldId id="881" r:id="rId17"/>
    <p:sldId id="882" r:id="rId18"/>
    <p:sldId id="258" r:id="rId19"/>
    <p:sldId id="259" r:id="rId20"/>
    <p:sldId id="933" r:id="rId21"/>
    <p:sldId id="934" r:id="rId22"/>
    <p:sldId id="946"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74AB80-D52C-4BC5-A318-9957F559669C}" type="datetimeFigureOut">
              <a:rPr lang="en-IN" smtClean="0"/>
              <a:pPr/>
              <a:t>27-02-2026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56A1-FF8F-4F33-877A-3F66CC94892A}" type="slidenum">
              <a:rPr lang="en-IN" smtClean="0"/>
              <a:pPr/>
              <a:t>‹#›</a:t>
            </a:fld>
            <a:endParaRPr lang="en-IN"/>
          </a:p>
        </p:txBody>
      </p:sp>
    </p:spTree>
    <p:extLst>
      <p:ext uri="{BB962C8B-B14F-4D97-AF65-F5344CB8AC3E}">
        <p14:creationId xmlns:p14="http://schemas.microsoft.com/office/powerpoint/2010/main" val="1751637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D6DE56FD-13C8-77FC-D5C9-F4E72379EEF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3BDD510-CC62-499C-91E2-A15C6CA0A9F0}" type="slidenum">
              <a:rPr lang="en-US" altLang="en-US" sz="1200" b="0" baseline="0">
                <a:latin typeface="Times New Roman" panose="02020603050405020304" pitchFamily="18" charset="0"/>
              </a:rPr>
              <a:pPr/>
              <a:t>8</a:t>
            </a:fld>
            <a:endParaRPr lang="en-US" altLang="en-US" sz="1200" b="0" baseline="0">
              <a:latin typeface="Times New Roman" panose="02020603050405020304" pitchFamily="18" charset="0"/>
            </a:endParaRPr>
          </a:p>
        </p:txBody>
      </p:sp>
      <p:sp>
        <p:nvSpPr>
          <p:cNvPr id="80899" name="Rectangle 2">
            <a:extLst>
              <a:ext uri="{FF2B5EF4-FFF2-40B4-BE49-F238E27FC236}">
                <a16:creationId xmlns:a16="http://schemas.microsoft.com/office/drawing/2014/main" id="{8EECC795-DBD6-DF66-2E08-B15B7E054A7E}"/>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E6F9C09F-FFCF-BB20-A052-EA7514869C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6AA3F6A9-24C0-CFB2-A9FE-3236CD02DE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F98E2D86-EFC1-49AF-B998-801C1FD2506D}" type="slidenum">
              <a:rPr lang="en-US" altLang="en-US" sz="1200" b="0" baseline="0">
                <a:latin typeface="Times New Roman" panose="02020603050405020304" pitchFamily="18" charset="0"/>
              </a:rPr>
              <a:pPr/>
              <a:t>12</a:t>
            </a:fld>
            <a:endParaRPr lang="en-US" altLang="en-US" sz="1200" b="0" baseline="0">
              <a:latin typeface="Times New Roman" panose="02020603050405020304" pitchFamily="18" charset="0"/>
            </a:endParaRPr>
          </a:p>
        </p:txBody>
      </p:sp>
      <p:sp>
        <p:nvSpPr>
          <p:cNvPr id="84995" name="Rectangle 2">
            <a:extLst>
              <a:ext uri="{FF2B5EF4-FFF2-40B4-BE49-F238E27FC236}">
                <a16:creationId xmlns:a16="http://schemas.microsoft.com/office/drawing/2014/main" id="{EB9DB6D3-8134-E437-CF46-6B35C6CB26CE}"/>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3ADD9A4B-D8C0-CE7F-D45D-8FFCA73CC5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41A29242-6F72-F2A7-4347-B431A76DB91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97241229-A574-49BE-BFAC-DB1A267AC514}" type="slidenum">
              <a:rPr lang="en-US" altLang="en-US" sz="1200" b="0" baseline="0">
                <a:latin typeface="Times New Roman" panose="02020603050405020304" pitchFamily="18" charset="0"/>
              </a:rPr>
              <a:pPr/>
              <a:t>13</a:t>
            </a:fld>
            <a:endParaRPr lang="en-US" altLang="en-US" sz="1200" b="0" baseline="0">
              <a:latin typeface="Times New Roman" panose="02020603050405020304" pitchFamily="18" charset="0"/>
            </a:endParaRPr>
          </a:p>
        </p:txBody>
      </p:sp>
      <p:sp>
        <p:nvSpPr>
          <p:cNvPr id="86019" name="Rectangle 2">
            <a:extLst>
              <a:ext uri="{FF2B5EF4-FFF2-40B4-BE49-F238E27FC236}">
                <a16:creationId xmlns:a16="http://schemas.microsoft.com/office/drawing/2014/main" id="{B045EBB7-8D14-18CA-09F8-FE5DEBECDBDF}"/>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1EFAD36B-5ACE-6479-72ED-B08A1C9CEB3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201C35C8-6489-533F-9769-4482BEAB05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0F487A21-C7AA-4525-BCB5-7656407EE1E6}" type="slidenum">
              <a:rPr lang="en-US" altLang="en-US" sz="1200" b="0" baseline="0">
                <a:latin typeface="Times New Roman" panose="02020603050405020304" pitchFamily="18" charset="0"/>
              </a:rPr>
              <a:pPr/>
              <a:t>14</a:t>
            </a:fld>
            <a:endParaRPr lang="en-US" altLang="en-US" sz="1200" b="0" baseline="0">
              <a:latin typeface="Times New Roman" panose="02020603050405020304" pitchFamily="18" charset="0"/>
            </a:endParaRPr>
          </a:p>
        </p:txBody>
      </p:sp>
      <p:sp>
        <p:nvSpPr>
          <p:cNvPr id="87043" name="Rectangle 2">
            <a:extLst>
              <a:ext uri="{FF2B5EF4-FFF2-40B4-BE49-F238E27FC236}">
                <a16:creationId xmlns:a16="http://schemas.microsoft.com/office/drawing/2014/main" id="{467EE7D3-F268-70E3-BADE-414C8AC19C18}"/>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F545C5BA-5B99-D357-4A56-85F86C1A361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43D6880C-D0A1-67AE-578F-F9180CA44B3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2FE74360-8FAC-413B-B6DA-CEA2E2048706}" type="slidenum">
              <a:rPr lang="en-US" altLang="en-US" sz="1200" b="0" baseline="0">
                <a:latin typeface="Times New Roman" panose="02020603050405020304" pitchFamily="18" charset="0"/>
              </a:rPr>
              <a:pPr/>
              <a:t>15</a:t>
            </a:fld>
            <a:endParaRPr lang="en-US" altLang="en-US" sz="1200" b="0" baseline="0">
              <a:latin typeface="Times New Roman" panose="02020603050405020304" pitchFamily="18" charset="0"/>
            </a:endParaRPr>
          </a:p>
        </p:txBody>
      </p:sp>
      <p:sp>
        <p:nvSpPr>
          <p:cNvPr id="88067" name="Rectangle 2">
            <a:extLst>
              <a:ext uri="{FF2B5EF4-FFF2-40B4-BE49-F238E27FC236}">
                <a16:creationId xmlns:a16="http://schemas.microsoft.com/office/drawing/2014/main" id="{347A1D66-F8CB-8A83-5B6C-65F9EB686A51}"/>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B0D36C6B-EEDE-3C76-6992-3377694928C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5D83BDC3-4E48-BA94-1A2F-A16121544EF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4089D7A5-D135-4837-AA4C-F2A6834C7105}" type="slidenum">
              <a:rPr lang="en-US" altLang="en-US" sz="1200" b="0" baseline="0">
                <a:latin typeface="Times New Roman" panose="02020603050405020304" pitchFamily="18" charset="0"/>
              </a:rPr>
              <a:pPr/>
              <a:t>16</a:t>
            </a:fld>
            <a:endParaRPr lang="en-US" altLang="en-US" sz="1200" b="0" baseline="0">
              <a:latin typeface="Times New Roman" panose="02020603050405020304" pitchFamily="18" charset="0"/>
            </a:endParaRPr>
          </a:p>
        </p:txBody>
      </p:sp>
      <p:sp>
        <p:nvSpPr>
          <p:cNvPr id="89091" name="Rectangle 2">
            <a:extLst>
              <a:ext uri="{FF2B5EF4-FFF2-40B4-BE49-F238E27FC236}">
                <a16:creationId xmlns:a16="http://schemas.microsoft.com/office/drawing/2014/main" id="{4588034A-89BF-FC33-AC03-E71BFD35859B}"/>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5D06143C-2C52-1581-9265-8188EF926D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525D3033-5EFB-13CB-A8C8-B2950D4BA1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fld id="{A2CEDAB1-4BDC-466A-B578-7D63519BD1B4}" type="slidenum">
              <a:rPr lang="en-US" altLang="en-US" sz="1200" b="0" baseline="0">
                <a:latin typeface="Times New Roman" panose="02020603050405020304" pitchFamily="18" charset="0"/>
              </a:rPr>
              <a:pPr/>
              <a:t>17</a:t>
            </a:fld>
            <a:endParaRPr lang="en-US" altLang="en-US" sz="1200" b="0" baseline="0">
              <a:latin typeface="Times New Roman" panose="02020603050405020304" pitchFamily="18" charset="0"/>
            </a:endParaRPr>
          </a:p>
        </p:txBody>
      </p:sp>
      <p:sp>
        <p:nvSpPr>
          <p:cNvPr id="90115" name="Rectangle 2">
            <a:extLst>
              <a:ext uri="{FF2B5EF4-FFF2-40B4-BE49-F238E27FC236}">
                <a16:creationId xmlns:a16="http://schemas.microsoft.com/office/drawing/2014/main" id="{D71174E3-14BD-4A15-0A5D-1DFAD7E3F2E8}"/>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4A8F65BA-65B7-F807-CEDA-97B6DF7E1A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501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52391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000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715640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070752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436140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259090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B5B2125-68AE-4292-BFAC-A6FA3EACBA97}" type="datetimeFigureOut">
              <a:rPr lang="en-IN" smtClean="0"/>
              <a:pPr/>
              <a:t>27-02-2026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85678DB-EBE9-4DFA-8B86-ED495AE1F12C}" type="slidenum">
              <a:rPr lang="en-IN" smtClean="0"/>
              <a:pPr/>
              <a:t>‹#›</a:t>
            </a:fld>
            <a:endParaRPr lang="en-IN"/>
          </a:p>
        </p:txBody>
      </p:sp>
    </p:spTree>
    <p:extLst>
      <p:ext uri="{BB962C8B-B14F-4D97-AF65-F5344CB8AC3E}">
        <p14:creationId xmlns:p14="http://schemas.microsoft.com/office/powerpoint/2010/main" val="2639123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3026526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539499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5B2125-68AE-4292-BFAC-A6FA3EACBA97}" type="datetimeFigureOut">
              <a:rPr lang="en-IN" smtClean="0"/>
              <a:pPr/>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4135758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52127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B5B2125-68AE-4292-BFAC-A6FA3EACBA97}" type="datetimeFigureOut">
              <a:rPr lang="en-IN" smtClean="0"/>
              <a:pPr/>
              <a:t>27-02-2026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85678DB-EBE9-4DFA-8B86-ED495AE1F12C}" type="slidenum">
              <a:rPr lang="en-IN" smtClean="0"/>
              <a:pPr/>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71111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www.geeksforgeeks.org/simple-mail-transfer-protocol-smtp/" TargetMode="External"/><Relationship Id="rId13" Type="http://schemas.openxmlformats.org/officeDocument/2006/relationships/hyperlink" Target="https://www.geeksforgeeks.org/routing-information-protocol-rip/" TargetMode="External"/><Relationship Id="rId3" Type="http://schemas.openxmlformats.org/officeDocument/2006/relationships/hyperlink" Target="https://www.geeksforgeeks.org/user-datagram-protocol-udp/" TargetMode="External"/><Relationship Id="rId7" Type="http://schemas.openxmlformats.org/officeDocument/2006/relationships/hyperlink" Target="https://www.geeksforgeeks.org/file-transfer-protocol-ftp/" TargetMode="External"/><Relationship Id="rId12" Type="http://schemas.openxmlformats.org/officeDocument/2006/relationships/hyperlink" Target="https://www.geeksforgeeks.org/simple-network-management-protocol-snmp/" TargetMode="External"/><Relationship Id="rId2" Type="http://schemas.openxmlformats.org/officeDocument/2006/relationships/hyperlink" Target="https://www.geeksforgeeks.org/what-is-transmission-control-protocol-tcp/" TargetMode="External"/><Relationship Id="rId1" Type="http://schemas.openxmlformats.org/officeDocument/2006/relationships/slideLayout" Target="../slideLayouts/slideLayout2.xml"/><Relationship Id="rId6" Type="http://schemas.openxmlformats.org/officeDocument/2006/relationships/hyperlink" Target="https://www.geeksforgeeks.org/difference-between-http-and-https-2/" TargetMode="External"/><Relationship Id="rId11" Type="http://schemas.openxmlformats.org/officeDocument/2006/relationships/hyperlink" Target="https://www.geeksforgeeks.org/dynamic-host-configuration-protocol-dhcp/" TargetMode="External"/><Relationship Id="rId5" Type="http://schemas.openxmlformats.org/officeDocument/2006/relationships/hyperlink" Target="https://www.geeksforgeeks.org/error-detection-code-checksum/" TargetMode="External"/><Relationship Id="rId10" Type="http://schemas.openxmlformats.org/officeDocument/2006/relationships/hyperlink" Target="https://www.geeksforgeeks.org/details-on-dns/" TargetMode="External"/><Relationship Id="rId4" Type="http://schemas.openxmlformats.org/officeDocument/2006/relationships/hyperlink" Target="https://www.geeksforgeeks.org/error-detection-in-computer-networks/" TargetMode="External"/><Relationship Id="rId9" Type="http://schemas.openxmlformats.org/officeDocument/2006/relationships/hyperlink" Target="https://www.geeksforgeeks.org/introduction-to-telnet/" TargetMode="External"/><Relationship Id="rId14" Type="http://schemas.openxmlformats.org/officeDocument/2006/relationships/hyperlink" Target="https://www.geeksforgeeks.org/voice-over-internet-protocol-voip/"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45719"/>
            <a:ext cx="6027459" cy="6623931"/>
          </a:xfrm>
          <a:prstGeom prst="rect">
            <a:avLst/>
          </a:prstGeom>
          <a:noFill/>
          <a:ln>
            <a:noFill/>
          </a:ln>
        </p:spPr>
      </p:pic>
      <p:sp>
        <p:nvSpPr>
          <p:cNvPr id="476" name="Google Shape;476;p16"/>
          <p:cNvSpPr txBox="1"/>
          <p:nvPr/>
        </p:nvSpPr>
        <p:spPr>
          <a:xfrm>
            <a:off x="5531534" y="2274858"/>
            <a:ext cx="6729005" cy="2000507"/>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IN" sz="3200" b="1">
                <a:ln/>
                <a:solidFill>
                  <a:srgbClr val="C00000"/>
                </a:solidFill>
                <a:cs typeface="Poppins" panose="00000500000000000000" pitchFamily="2" charset="0"/>
                <a:sym typeface="BioRhyme ExtraBold"/>
              </a:rPr>
              <a:t>24EC2210</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UDP &amp; TCP Protocols</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778478" y="4946815"/>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- 25</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5D9C4-737E-028D-0F42-BD82520BC2A8}"/>
              </a:ext>
            </a:extLst>
          </p:cNvPr>
          <p:cNvSpPr>
            <a:spLocks noGrp="1"/>
          </p:cNvSpPr>
          <p:nvPr>
            <p:ph type="title"/>
          </p:nvPr>
        </p:nvSpPr>
        <p:spPr>
          <a:xfrm>
            <a:off x="1354455" y="1963003"/>
            <a:ext cx="10058400" cy="1465997"/>
          </a:xfrm>
        </p:spPr>
        <p:txBody>
          <a:bodyPr/>
          <a:lstStyle/>
          <a:p>
            <a:pPr algn="ctr"/>
            <a:r>
              <a:rPr lang="en-IN" b="1" dirty="0">
                <a:solidFill>
                  <a:srgbClr val="C00000"/>
                </a:solidFill>
              </a:rPr>
              <a:t>UDP – User Datagram Protocol</a:t>
            </a:r>
          </a:p>
        </p:txBody>
      </p:sp>
    </p:spTree>
    <p:extLst>
      <p:ext uri="{BB962C8B-B14F-4D97-AF65-F5344CB8AC3E}">
        <p14:creationId xmlns:p14="http://schemas.microsoft.com/office/powerpoint/2010/main" val="319734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lnSpc>
                <a:spcPct val="150000"/>
              </a:lnSpc>
              <a:spcAft>
                <a:spcPts val="750"/>
              </a:spcAft>
            </a:pPr>
            <a:r>
              <a:rPr lang="en-US" altLang="en-US" b="1" dirty="0">
                <a:solidFill>
                  <a:srgbClr val="C00000"/>
                </a:solidFill>
                <a:latin typeface="Times New Roman" panose="02020603050405020304" pitchFamily="18" charset="0"/>
                <a:cs typeface="Times New Roman" panose="02020603050405020304" pitchFamily="18" charset="0"/>
              </a:rPr>
              <a:t>User Datagram Protocol (UDP)</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3</a:t>
            </a:fld>
            <a:endParaRPr lang="en-IN"/>
          </a:p>
        </p:txBody>
      </p:sp>
      <p:sp>
        <p:nvSpPr>
          <p:cNvPr id="5" name="TextBox 4">
            <a:extLst>
              <a:ext uri="{FF2B5EF4-FFF2-40B4-BE49-F238E27FC236}">
                <a16:creationId xmlns:a16="http://schemas.microsoft.com/office/drawing/2014/main" id="{BB4C60BD-9655-8E12-3783-85619B745370}"/>
              </a:ext>
            </a:extLst>
          </p:cNvPr>
          <p:cNvSpPr txBox="1"/>
          <p:nvPr/>
        </p:nvSpPr>
        <p:spPr>
          <a:xfrm>
            <a:off x="932208" y="2560352"/>
            <a:ext cx="10223472" cy="1631216"/>
          </a:xfrm>
          <a:prstGeom prst="rect">
            <a:avLst/>
          </a:prstGeom>
          <a:noFill/>
        </p:spPr>
        <p:txBody>
          <a:bodyPr wrap="square">
            <a:spAutoFit/>
          </a:bodyPr>
          <a:lstStyle/>
          <a:p>
            <a:pPr marL="342900" indent="-342900" algn="just" eaLnBrk="1" hangingPunct="1">
              <a:buFont typeface="Wingdings" panose="05000000000000000000" pitchFamily="2" charset="2"/>
              <a:buChar char="Ø"/>
              <a:defRPr/>
            </a:pPr>
            <a:r>
              <a:rPr lang="en-US" altLang="en-US" sz="2000" dirty="0">
                <a:effectLst>
                  <a:outerShdw blurRad="38100" dist="38100" dir="2700000" algn="tl">
                    <a:srgbClr val="C0C0C0"/>
                  </a:outerShdw>
                </a:effectLst>
              </a:rPr>
              <a:t>The User Datagram Protocol (UDP) is called a </a:t>
            </a:r>
            <a:r>
              <a:rPr lang="en-US" altLang="en-US" sz="2000" dirty="0">
                <a:solidFill>
                  <a:srgbClr val="C00000"/>
                </a:solidFill>
                <a:effectLst>
                  <a:outerShdw blurRad="38100" dist="38100" dir="2700000" algn="tl">
                    <a:srgbClr val="C0C0C0"/>
                  </a:outerShdw>
                </a:effectLst>
              </a:rPr>
              <a:t>connectionless, unreliable transport </a:t>
            </a:r>
            <a:r>
              <a:rPr lang="en-US" altLang="en-US" sz="2000" dirty="0">
                <a:effectLst>
                  <a:outerShdw blurRad="38100" dist="38100" dir="2700000" algn="tl">
                    <a:srgbClr val="C0C0C0"/>
                  </a:outerShdw>
                </a:effectLst>
              </a:rPr>
              <a:t>protocol. </a:t>
            </a:r>
          </a:p>
          <a:p>
            <a:pPr marL="342900" indent="-342900" algn="just" eaLnBrk="1" hangingPunct="1">
              <a:buFont typeface="Wingdings" panose="05000000000000000000" pitchFamily="2" charset="2"/>
              <a:buChar char="Ø"/>
              <a:defRPr/>
            </a:pPr>
            <a:endParaRPr lang="en-US" altLang="en-US" sz="2000" dirty="0">
              <a:effectLst>
                <a:outerShdw blurRad="38100" dist="38100" dir="2700000" algn="tl">
                  <a:srgbClr val="C0C0C0"/>
                </a:outerShdw>
              </a:effectLst>
            </a:endParaRPr>
          </a:p>
          <a:p>
            <a:pPr marL="342900" indent="-342900" algn="just" eaLnBrk="1" hangingPunct="1">
              <a:buFont typeface="Wingdings" panose="05000000000000000000" pitchFamily="2" charset="2"/>
              <a:buChar char="Ø"/>
              <a:defRPr/>
            </a:pPr>
            <a:endParaRPr lang="en-US" altLang="en-US" sz="2000" dirty="0">
              <a:effectLst>
                <a:outerShdw blurRad="38100" dist="38100" dir="2700000" algn="tl">
                  <a:srgbClr val="C0C0C0"/>
                </a:outerShdw>
              </a:effectLst>
            </a:endParaRPr>
          </a:p>
          <a:p>
            <a:pPr marL="342900" indent="-342900" algn="just" eaLnBrk="1" hangingPunct="1">
              <a:buFont typeface="Wingdings" panose="05000000000000000000" pitchFamily="2" charset="2"/>
              <a:buChar char="Ø"/>
              <a:defRPr/>
            </a:pPr>
            <a:r>
              <a:rPr lang="en-US" altLang="en-US" sz="2000" dirty="0">
                <a:effectLst>
                  <a:outerShdw blurRad="38100" dist="38100" dir="2700000" algn="tl">
                    <a:srgbClr val="C0C0C0"/>
                  </a:outerShdw>
                </a:effectLst>
              </a:rPr>
              <a:t>It does not add anything to the services of IP except to </a:t>
            </a:r>
            <a:r>
              <a:rPr lang="en-US" altLang="en-US" sz="2000" dirty="0">
                <a:solidFill>
                  <a:srgbClr val="C00000"/>
                </a:solidFill>
                <a:effectLst>
                  <a:outerShdw blurRad="38100" dist="38100" dir="2700000" algn="tl">
                    <a:srgbClr val="C0C0C0"/>
                  </a:outerShdw>
                </a:effectLst>
              </a:rPr>
              <a:t>provide process-to-process communication</a:t>
            </a:r>
            <a:r>
              <a:rPr lang="en-US" altLang="en-US" sz="2000" dirty="0">
                <a:effectLst>
                  <a:outerShdw blurRad="38100" dist="38100" dir="2700000" algn="tl">
                    <a:srgbClr val="C0C0C0"/>
                  </a:outerShdw>
                </a:effectLst>
              </a:rPr>
              <a:t> instead of host-to-host communication. </a:t>
            </a:r>
          </a:p>
        </p:txBody>
      </p:sp>
    </p:spTree>
    <p:extLst>
      <p:ext uri="{BB962C8B-B14F-4D97-AF65-F5344CB8AC3E}">
        <p14:creationId xmlns:p14="http://schemas.microsoft.com/office/powerpoint/2010/main" val="3057627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lnSpc>
                <a:spcPct val="150000"/>
              </a:lnSpc>
              <a:spcAft>
                <a:spcPts val="750"/>
              </a:spcAft>
            </a:pPr>
            <a:r>
              <a:rPr lang="en-US" altLang="en-US" b="1" dirty="0">
                <a:solidFill>
                  <a:srgbClr val="C00000"/>
                </a:solidFill>
                <a:latin typeface="Times New Roman" panose="02020603050405020304" pitchFamily="18" charset="0"/>
                <a:cs typeface="Times New Roman" panose="02020603050405020304" pitchFamily="18" charset="0"/>
              </a:rPr>
              <a:t>UDP Format</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a:p>
        </p:txBody>
      </p:sp>
      <p:sp>
        <p:nvSpPr>
          <p:cNvPr id="5" name="TextBox 4">
            <a:extLst>
              <a:ext uri="{FF2B5EF4-FFF2-40B4-BE49-F238E27FC236}">
                <a16:creationId xmlns:a16="http://schemas.microsoft.com/office/drawing/2014/main" id="{BB4C60BD-9655-8E12-3783-85619B745370}"/>
              </a:ext>
            </a:extLst>
          </p:cNvPr>
          <p:cNvSpPr txBox="1"/>
          <p:nvPr/>
        </p:nvSpPr>
        <p:spPr>
          <a:xfrm>
            <a:off x="627408" y="1950752"/>
            <a:ext cx="5881536" cy="1015663"/>
          </a:xfrm>
          <a:prstGeom prst="rect">
            <a:avLst/>
          </a:prstGeom>
          <a:noFill/>
        </p:spPr>
        <p:txBody>
          <a:bodyPr wrap="square">
            <a:spAutoFit/>
          </a:bodyPr>
          <a:lstStyle/>
          <a:p>
            <a:pPr marL="342900" indent="-342900" algn="just" eaLnBrk="1" hangingPunct="1">
              <a:buFont typeface="Wingdings" panose="05000000000000000000" pitchFamily="2" charset="2"/>
              <a:buChar char="Ø"/>
              <a:defRPr/>
            </a:pPr>
            <a:r>
              <a:rPr lang="en-US" sz="2000" dirty="0"/>
              <a:t>UDP header is an </a:t>
            </a:r>
            <a:r>
              <a:rPr lang="en-US" sz="2000" b="1" dirty="0"/>
              <a:t>8-byte</a:t>
            </a:r>
            <a:r>
              <a:rPr lang="en-US" sz="2000" dirty="0"/>
              <a:t> fixed and simple header.</a:t>
            </a:r>
          </a:p>
          <a:p>
            <a:pPr algn="just" eaLnBrk="1" hangingPunct="1">
              <a:defRPr/>
            </a:pPr>
            <a:endParaRPr lang="en-US" sz="2000" dirty="0"/>
          </a:p>
          <a:p>
            <a:pPr algn="just" eaLnBrk="1" hangingPunct="1">
              <a:defRPr/>
            </a:pPr>
            <a:endParaRPr lang="en-US" altLang="en-US" sz="2000" dirty="0">
              <a:effectLst>
                <a:outerShdw blurRad="38100" dist="38100" dir="2700000" algn="tl">
                  <a:srgbClr val="C0C0C0"/>
                </a:outerShdw>
              </a:effectLst>
            </a:endParaRPr>
          </a:p>
        </p:txBody>
      </p:sp>
      <p:pic>
        <p:nvPicPr>
          <p:cNvPr id="3" name="Picture 6">
            <a:extLst>
              <a:ext uri="{FF2B5EF4-FFF2-40B4-BE49-F238E27FC236}">
                <a16:creationId xmlns:a16="http://schemas.microsoft.com/office/drawing/2014/main" id="{7FFC4182-7F4A-2B26-6E2C-65020B0A6C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2418" y="2921205"/>
            <a:ext cx="6853052" cy="299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4092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lnSpc>
                <a:spcPct val="150000"/>
              </a:lnSpc>
              <a:spcAft>
                <a:spcPts val="750"/>
              </a:spcAft>
            </a:pPr>
            <a:r>
              <a:rPr lang="en-US" altLang="en-US" b="1" dirty="0">
                <a:solidFill>
                  <a:srgbClr val="C00000"/>
                </a:solidFill>
                <a:latin typeface="Times New Roman" panose="02020603050405020304" pitchFamily="18" charset="0"/>
                <a:cs typeface="Times New Roman" panose="02020603050405020304" pitchFamily="18" charset="0"/>
              </a:rPr>
              <a:t>UDP Format…</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5</a:t>
            </a:fld>
            <a:endParaRPr lang="en-IN"/>
          </a:p>
        </p:txBody>
      </p:sp>
      <p:sp>
        <p:nvSpPr>
          <p:cNvPr id="5" name="TextBox 4">
            <a:extLst>
              <a:ext uri="{FF2B5EF4-FFF2-40B4-BE49-F238E27FC236}">
                <a16:creationId xmlns:a16="http://schemas.microsoft.com/office/drawing/2014/main" id="{BB4C60BD-9655-8E12-3783-85619B745370}"/>
              </a:ext>
            </a:extLst>
          </p:cNvPr>
          <p:cNvSpPr txBox="1"/>
          <p:nvPr/>
        </p:nvSpPr>
        <p:spPr>
          <a:xfrm>
            <a:off x="627407" y="1950752"/>
            <a:ext cx="11097867" cy="3477875"/>
          </a:xfrm>
          <a:prstGeom prst="rect">
            <a:avLst/>
          </a:prstGeom>
          <a:noFill/>
        </p:spPr>
        <p:txBody>
          <a:bodyPr wrap="square">
            <a:spAutoFit/>
          </a:bodyPr>
          <a:lstStyle/>
          <a:p>
            <a:pPr algn="just" eaLnBrk="1" hangingPunct="1">
              <a:defRPr/>
            </a:pPr>
            <a:endParaRPr lang="en-US" sz="2000" dirty="0"/>
          </a:p>
          <a:p>
            <a:pPr marL="342900" indent="-342900" algn="just">
              <a:buFont typeface="Wingdings" panose="05000000000000000000" pitchFamily="2" charset="2"/>
              <a:buChar char="Ø"/>
            </a:pPr>
            <a:r>
              <a:rPr lang="en-US" sz="2000" b="1" dirty="0"/>
              <a:t>Source Port:</a:t>
            </a:r>
            <a:r>
              <a:rPr lang="en-US" sz="2000" dirty="0"/>
              <a:t> Source Port is a 2 Byte long field used to identify the port number of the source.</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r>
              <a:rPr lang="en-US" sz="2000" b="1" dirty="0"/>
              <a:t>Destination Port:</a:t>
            </a:r>
            <a:r>
              <a:rPr lang="en-US" sz="2000" dirty="0"/>
              <a:t> It is a 2 Byte long field, used to identify the port of the destined packet.</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r>
              <a:rPr lang="en-US" sz="2000" b="1" dirty="0"/>
              <a:t>Length:</a:t>
            </a:r>
            <a:r>
              <a:rPr lang="en-US" sz="2000" dirty="0"/>
              <a:t> Length is the length of UDP including the header and the data. It is a 16-bits field.</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r>
              <a:rPr lang="en-US" sz="2000" b="1" dirty="0"/>
              <a:t>Checksum:</a:t>
            </a:r>
            <a:r>
              <a:rPr lang="en-US" sz="2000" dirty="0"/>
              <a:t> Checksum is 2 Bytes long field. Checksum is computed on the UDP header, the pseudo-header from the IP header, and the data, padded with zero octets at the end (if necessary) to make a multiple of two octets.</a:t>
            </a:r>
          </a:p>
          <a:p>
            <a:pPr marL="342900" indent="-342900" algn="just" eaLnBrk="1" hangingPunct="1">
              <a:buFont typeface="Wingdings" panose="05000000000000000000" pitchFamily="2" charset="2"/>
              <a:buChar char="Ø"/>
              <a:defRPr/>
            </a:pPr>
            <a:endParaRPr lang="en-US" altLang="en-US" sz="2000" dirty="0">
              <a:effectLst>
                <a:outerShdw blurRad="38100" dist="38100" dir="2700000" algn="tl">
                  <a:srgbClr val="C0C0C0"/>
                </a:outerShdw>
              </a:effectLst>
            </a:endParaRPr>
          </a:p>
        </p:txBody>
      </p:sp>
    </p:spTree>
    <p:extLst>
      <p:ext uri="{BB962C8B-B14F-4D97-AF65-F5344CB8AC3E}">
        <p14:creationId xmlns:p14="http://schemas.microsoft.com/office/powerpoint/2010/main" val="164645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118679"/>
          </a:xfrm>
        </p:spPr>
        <p:txBody>
          <a:bodyPr>
            <a:normAutofit fontScale="90000"/>
          </a:bodyPr>
          <a:lstStyle/>
          <a:p>
            <a:pPr algn="just">
              <a:lnSpc>
                <a:spcPct val="150000"/>
              </a:lnSpc>
              <a:spcAft>
                <a:spcPts val="750"/>
              </a:spcAft>
            </a:pPr>
            <a:r>
              <a:rPr lang="en-US" altLang="en-US" b="1" dirty="0" err="1">
                <a:solidFill>
                  <a:srgbClr val="C00000"/>
                </a:solidFill>
                <a:latin typeface="Times New Roman" panose="02020603050405020304" pitchFamily="18" charset="0"/>
                <a:cs typeface="Times New Roman" panose="02020603050405020304" pitchFamily="18" charset="0"/>
              </a:rPr>
              <a:t>Pseudoheader</a:t>
            </a:r>
            <a:r>
              <a:rPr lang="en-US" altLang="en-US" b="1" dirty="0">
                <a:solidFill>
                  <a:srgbClr val="C00000"/>
                </a:solidFill>
                <a:latin typeface="Times New Roman" panose="02020603050405020304" pitchFamily="18" charset="0"/>
                <a:cs typeface="Times New Roman" panose="02020603050405020304" pitchFamily="18" charset="0"/>
              </a:rPr>
              <a:t> for checksum calculation</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6</a:t>
            </a:fld>
            <a:endParaRPr lang="en-IN"/>
          </a:p>
        </p:txBody>
      </p:sp>
      <p:pic>
        <p:nvPicPr>
          <p:cNvPr id="6" name="Picture 6">
            <a:extLst>
              <a:ext uri="{FF2B5EF4-FFF2-40B4-BE49-F238E27FC236}">
                <a16:creationId xmlns:a16="http://schemas.microsoft.com/office/drawing/2014/main" id="{FBC712D9-621A-F0B1-1EC1-8FE2C2C584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2681" y="1649709"/>
            <a:ext cx="7017777" cy="45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7839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118679"/>
          </a:xfrm>
        </p:spPr>
        <p:txBody>
          <a:bodyPr>
            <a:normAutofit/>
          </a:bodyPr>
          <a:lstStyle/>
          <a:p>
            <a:pPr algn="just">
              <a:lnSpc>
                <a:spcPct val="150000"/>
              </a:lnSpc>
              <a:spcAft>
                <a:spcPts val="750"/>
              </a:spcAft>
            </a:pPr>
            <a:r>
              <a:rPr lang="en-US" altLang="en-US" b="1" dirty="0">
                <a:solidFill>
                  <a:srgbClr val="C00000"/>
                </a:solidFill>
                <a:latin typeface="Times New Roman" panose="02020603050405020304" pitchFamily="18" charset="0"/>
                <a:cs typeface="Times New Roman" panose="02020603050405020304" pitchFamily="18" charset="0"/>
              </a:rPr>
              <a:t>Example: Checksum calculation</a:t>
            </a:r>
            <a:endParaRPr lang="en-IN" b="1" dirty="0">
              <a:solidFill>
                <a:srgbClr val="C0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ABCCC1-BF11-4F37-963E-1BCD5B23FD72}" type="slidenum">
              <a:rPr lang="en-IN" smtClean="0"/>
              <a:pPr/>
              <a:t>7</a:t>
            </a:fld>
            <a:endParaRPr lang="en-IN"/>
          </a:p>
        </p:txBody>
      </p:sp>
      <p:pic>
        <p:nvPicPr>
          <p:cNvPr id="3" name="Picture 6">
            <a:extLst>
              <a:ext uri="{FF2B5EF4-FFF2-40B4-BE49-F238E27FC236}">
                <a16:creationId xmlns:a16="http://schemas.microsoft.com/office/drawing/2014/main" id="{110B50F1-699B-43A2-C0F3-6D90F7DE7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55" y="1809586"/>
            <a:ext cx="9591656" cy="440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6667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1">
            <a:extLst>
              <a:ext uri="{FF2B5EF4-FFF2-40B4-BE49-F238E27FC236}">
                <a16:creationId xmlns:a16="http://schemas.microsoft.com/office/drawing/2014/main" id="{0303A8A5-DB60-FB4D-8C33-40E86A22C5B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9076964E-71D2-44DB-A452-936BF81E8259}" type="slidenum">
              <a:rPr lang="en-US" altLang="en-US" sz="2000" baseline="0">
                <a:solidFill>
                  <a:schemeClr val="bg2"/>
                </a:solidFill>
              </a:rPr>
              <a:pPr/>
              <a:t>8</a:t>
            </a:fld>
            <a:endParaRPr lang="en-US" altLang="en-US" sz="2000" baseline="0">
              <a:solidFill>
                <a:schemeClr val="bg2"/>
              </a:solidFill>
            </a:endParaRPr>
          </a:p>
        </p:txBody>
      </p:sp>
      <p:sp>
        <p:nvSpPr>
          <p:cNvPr id="23555" name="Line 2">
            <a:extLst>
              <a:ext uri="{FF2B5EF4-FFF2-40B4-BE49-F238E27FC236}">
                <a16:creationId xmlns:a16="http://schemas.microsoft.com/office/drawing/2014/main" id="{47313E6C-B6CB-D7D5-8089-45FF891E15EB}"/>
              </a:ext>
            </a:extLst>
          </p:cNvPr>
          <p:cNvSpPr>
            <a:spLocks noChangeShapeType="1"/>
          </p:cNvSpPr>
          <p:nvPr/>
        </p:nvSpPr>
        <p:spPr bwMode="auto">
          <a:xfrm>
            <a:off x="1676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6" name="Line 3">
            <a:extLst>
              <a:ext uri="{FF2B5EF4-FFF2-40B4-BE49-F238E27FC236}">
                <a16:creationId xmlns:a16="http://schemas.microsoft.com/office/drawing/2014/main" id="{F4939CF3-2847-5D2D-8167-80F38ADFEB72}"/>
              </a:ext>
            </a:extLst>
          </p:cNvPr>
          <p:cNvSpPr>
            <a:spLocks noChangeShapeType="1"/>
          </p:cNvSpPr>
          <p:nvPr/>
        </p:nvSpPr>
        <p:spPr bwMode="auto">
          <a:xfrm>
            <a:off x="1676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7" name="Text Box 4">
            <a:extLst>
              <a:ext uri="{FF2B5EF4-FFF2-40B4-BE49-F238E27FC236}">
                <a16:creationId xmlns:a16="http://schemas.microsoft.com/office/drawing/2014/main" id="{E20BA25E-3AB9-F804-4A7E-4071690F8AC7}"/>
              </a:ext>
            </a:extLst>
          </p:cNvPr>
          <p:cNvSpPr txBox="1">
            <a:spLocks noChangeArrowheads="1"/>
          </p:cNvSpPr>
          <p:nvPr/>
        </p:nvSpPr>
        <p:spPr bwMode="auto">
          <a:xfrm>
            <a:off x="1828800" y="381000"/>
            <a:ext cx="3613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Figure 23.12  </a:t>
            </a:r>
            <a:r>
              <a:rPr lang="en-US" altLang="en-US" sz="2000" i="1" baseline="0">
                <a:latin typeface="Times New Roman" panose="02020603050405020304" pitchFamily="18" charset="0"/>
              </a:rPr>
              <a:t>Queues in UDP</a:t>
            </a:r>
          </a:p>
        </p:txBody>
      </p:sp>
      <p:sp>
        <p:nvSpPr>
          <p:cNvPr id="23558" name="Line 5">
            <a:extLst>
              <a:ext uri="{FF2B5EF4-FFF2-40B4-BE49-F238E27FC236}">
                <a16:creationId xmlns:a16="http://schemas.microsoft.com/office/drawing/2014/main" id="{F73D010A-25ED-3EE0-A147-C0A120F48308}"/>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3559" name="Picture 6">
            <a:extLst>
              <a:ext uri="{FF2B5EF4-FFF2-40B4-BE49-F238E27FC236}">
                <a16:creationId xmlns:a16="http://schemas.microsoft.com/office/drawing/2014/main" id="{BED6D319-25C7-025B-258A-D64686F46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1" y="1600200"/>
            <a:ext cx="7523163"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800" b="1" spc="-50" baseline="0" dirty="0">
                <a:solidFill>
                  <a:srgbClr val="C00000"/>
                </a:solidFill>
                <a:latin typeface="Times New Roman" panose="02020603050405020304" pitchFamily="18" charset="0"/>
                <a:ea typeface="+mj-ea"/>
                <a:cs typeface="Times New Roman" panose="02020603050405020304" pitchFamily="18" charset="0"/>
              </a:rPr>
              <a:t>Uses of UDP</a:t>
            </a:r>
          </a:p>
        </p:txBody>
      </p:sp>
      <p:sp>
        <p:nvSpPr>
          <p:cNvPr id="4" name="Slide Number Placeholder 3"/>
          <p:cNvSpPr>
            <a:spLocks noGrp="1"/>
          </p:cNvSpPr>
          <p:nvPr>
            <p:ph type="sldNum" sz="quarter" idx="12"/>
          </p:nvPr>
        </p:nvSpPr>
        <p:spPr/>
        <p:txBody>
          <a:bodyPr/>
          <a:lstStyle/>
          <a:p>
            <a:fld id="{CBABCCC1-BF11-4F37-963E-1BCD5B23FD72}" type="slidenum">
              <a:rPr lang="en-IN" smtClean="0"/>
              <a:pPr/>
              <a:t>9</a:t>
            </a:fld>
            <a:endParaRPr lang="en-IN"/>
          </a:p>
        </p:txBody>
      </p:sp>
      <p:sp>
        <p:nvSpPr>
          <p:cNvPr id="5" name="TextBox 4">
            <a:extLst>
              <a:ext uri="{FF2B5EF4-FFF2-40B4-BE49-F238E27FC236}">
                <a16:creationId xmlns:a16="http://schemas.microsoft.com/office/drawing/2014/main" id="{BB4C60BD-9655-8E12-3783-85619B745370}"/>
              </a:ext>
            </a:extLst>
          </p:cNvPr>
          <p:cNvSpPr txBox="1"/>
          <p:nvPr/>
        </p:nvSpPr>
        <p:spPr>
          <a:xfrm>
            <a:off x="627407" y="1950752"/>
            <a:ext cx="11097867" cy="4401205"/>
          </a:xfrm>
          <a:prstGeom prst="rect">
            <a:avLst/>
          </a:prstGeom>
          <a:noFill/>
        </p:spPr>
        <p:txBody>
          <a:bodyPr wrap="square">
            <a:spAutoFit/>
          </a:bodyPr>
          <a:lstStyle/>
          <a:p>
            <a:pPr algn="just" eaLnBrk="1" hangingPunct="1">
              <a:defRPr/>
            </a:pPr>
            <a:endParaRPr lang="en-US" sz="2000" dirty="0"/>
          </a:p>
          <a:p>
            <a:pPr marL="285750" indent="-285750" algn="just">
              <a:buFont typeface="Wingdings" panose="05000000000000000000" pitchFamily="2" charset="2"/>
              <a:buChar char="Ø"/>
            </a:pPr>
            <a:r>
              <a:rPr lang="en-US" altLang="en-US" sz="2000" b="0" baseline="0" dirty="0"/>
              <a:t>UDP is suitable for a process that requires simple request-response communication with little concern for flow and error control.</a:t>
            </a:r>
          </a:p>
          <a:p>
            <a:pPr marL="285750" indent="-285750" algn="just">
              <a:buFont typeface="Wingdings" panose="05000000000000000000" pitchFamily="2" charset="2"/>
              <a:buChar char="Ø"/>
            </a:pPr>
            <a:endParaRPr lang="en-US" altLang="en-US" sz="2000" b="0" baseline="0" dirty="0"/>
          </a:p>
          <a:p>
            <a:pPr marL="285750" indent="-285750" algn="just">
              <a:buFont typeface="Wingdings" panose="05000000000000000000" pitchFamily="2" charset="2"/>
              <a:buChar char="Ø"/>
            </a:pPr>
            <a:r>
              <a:rPr lang="en-US" altLang="en-US" sz="2000" b="0" baseline="0" dirty="0"/>
              <a:t>UDP is suitable for a process with internal flow and error control mechanisms. UDP is used for the Trivial File Transfer Protocol (TFTP) process includes flow and error control.</a:t>
            </a:r>
          </a:p>
          <a:p>
            <a:pPr marL="285750" indent="-285750" algn="just">
              <a:buFont typeface="Wingdings" panose="05000000000000000000" pitchFamily="2" charset="2"/>
              <a:buChar char="Ø"/>
            </a:pPr>
            <a:endParaRPr lang="en-US" altLang="en-US" sz="2000" b="0" baseline="0" dirty="0"/>
          </a:p>
          <a:p>
            <a:pPr marL="285750" indent="-285750" algn="just">
              <a:buFont typeface="Wingdings" panose="05000000000000000000" pitchFamily="2" charset="2"/>
              <a:buChar char="Ø"/>
            </a:pPr>
            <a:r>
              <a:rPr lang="en-US" altLang="en-US" sz="2000" b="0" baseline="0" dirty="0"/>
              <a:t>UDP is a suitable for multicasting. Multicasting capability is embedded in the UDP software but not in the TCP software.</a:t>
            </a:r>
          </a:p>
          <a:p>
            <a:pPr marL="285750" indent="-285750" algn="just">
              <a:buFont typeface="Wingdings" panose="05000000000000000000" pitchFamily="2" charset="2"/>
              <a:buChar char="Ø"/>
            </a:pPr>
            <a:endParaRPr lang="en-US" altLang="en-US" sz="2000" b="0" baseline="0" dirty="0"/>
          </a:p>
          <a:p>
            <a:pPr marL="285750" indent="-285750" algn="just">
              <a:buFont typeface="Wingdings" panose="05000000000000000000" pitchFamily="2" charset="2"/>
              <a:buChar char="Ø"/>
            </a:pPr>
            <a:r>
              <a:rPr lang="en-US" altLang="en-US" sz="2000" b="0" baseline="0" dirty="0"/>
              <a:t>UDP is used for management processes such as SNMP..</a:t>
            </a:r>
          </a:p>
          <a:p>
            <a:pPr marL="285750" indent="-285750" algn="just">
              <a:buFont typeface="Wingdings" panose="05000000000000000000" pitchFamily="2" charset="2"/>
              <a:buChar char="Ø"/>
            </a:pPr>
            <a:endParaRPr lang="en-US" altLang="en-US" sz="2000" b="0" baseline="0" dirty="0"/>
          </a:p>
          <a:p>
            <a:pPr marL="285750" indent="-285750" algn="just">
              <a:buFont typeface="Wingdings" panose="05000000000000000000" pitchFamily="2" charset="2"/>
              <a:buChar char="Ø"/>
            </a:pPr>
            <a:r>
              <a:rPr lang="en-US" altLang="en-US" sz="2000" b="0" baseline="0" dirty="0"/>
              <a:t>UDP is used for some route updating protocols such as Routing Information Protocol (RIP).</a:t>
            </a:r>
          </a:p>
          <a:p>
            <a:pPr marL="342900" indent="-342900" algn="just" eaLnBrk="1" hangingPunct="1">
              <a:buFont typeface="Wingdings" panose="05000000000000000000" pitchFamily="2" charset="2"/>
              <a:buChar char="Ø"/>
              <a:defRPr/>
            </a:pPr>
            <a:endParaRPr lang="en-US" altLang="en-US" sz="2000" dirty="0">
              <a:effectLst>
                <a:outerShdw blurRad="38100" dist="38100" dir="2700000" algn="tl">
                  <a:srgbClr val="C0C0C0"/>
                </a:outerShdw>
              </a:effectLst>
            </a:endParaRPr>
          </a:p>
        </p:txBody>
      </p:sp>
    </p:spTree>
    <p:extLst>
      <p:ext uri="{BB962C8B-B14F-4D97-AF65-F5344CB8AC3E}">
        <p14:creationId xmlns:p14="http://schemas.microsoft.com/office/powerpoint/2010/main" val="2237706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5D9C4-737E-028D-0F42-BD82520BC2A8}"/>
              </a:ext>
            </a:extLst>
          </p:cNvPr>
          <p:cNvSpPr>
            <a:spLocks noGrp="1"/>
          </p:cNvSpPr>
          <p:nvPr>
            <p:ph type="title"/>
          </p:nvPr>
        </p:nvSpPr>
        <p:spPr>
          <a:xfrm>
            <a:off x="1354455" y="1963003"/>
            <a:ext cx="10058400" cy="1465997"/>
          </a:xfrm>
        </p:spPr>
        <p:txBody>
          <a:bodyPr/>
          <a:lstStyle/>
          <a:p>
            <a:pPr algn="ctr"/>
            <a:r>
              <a:rPr lang="en-IN" b="1" dirty="0">
                <a:solidFill>
                  <a:srgbClr val="C00000"/>
                </a:solidFill>
              </a:rPr>
              <a:t>TCP – Transmission Control Protocol</a:t>
            </a:r>
          </a:p>
        </p:txBody>
      </p:sp>
    </p:spTree>
    <p:extLst>
      <p:ext uri="{BB962C8B-B14F-4D97-AF65-F5344CB8AC3E}">
        <p14:creationId xmlns:p14="http://schemas.microsoft.com/office/powerpoint/2010/main" val="156657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991" y="713451"/>
            <a:ext cx="11029616" cy="1231419"/>
          </a:xfrm>
        </p:spPr>
        <p:txBody>
          <a:bodyPr>
            <a:normAutofit fontScale="90000"/>
          </a:bodyPr>
          <a:lstStyle/>
          <a:p>
            <a:r>
              <a:rPr lang="en-IN"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TCP – Transport Control Protocol</a:t>
            </a:r>
            <a:br>
              <a:rPr lang="en-IN" sz="180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br>
            <a:endParaRPr lang="en-US" dirty="0">
              <a:solidFill>
                <a:srgbClr val="C00000"/>
              </a:solidFill>
            </a:endParaRPr>
          </a:p>
        </p:txBody>
      </p:sp>
      <p:sp>
        <p:nvSpPr>
          <p:cNvPr id="3" name="Content Placeholder 2"/>
          <p:cNvSpPr>
            <a:spLocks noGrp="1"/>
          </p:cNvSpPr>
          <p:nvPr>
            <p:ph idx="1"/>
          </p:nvPr>
        </p:nvSpPr>
        <p:spPr/>
        <p:txBody>
          <a:bodyPr>
            <a:normAutofit/>
          </a:bodyPr>
          <a:lstStyle/>
          <a:p>
            <a:pPr marL="361950" indent="-361950" algn="just" eaLnBrk="1" hangingPunct="1">
              <a:buFont typeface="Wingdings" panose="05000000000000000000" pitchFamily="2" charset="2"/>
              <a:buChar char="Ø"/>
              <a:defRPr/>
            </a:pPr>
            <a:r>
              <a:rPr lang="en-US" altLang="en-US" sz="2400" baseline="0" dirty="0"/>
              <a:t>TCP is a connection-oriented protocol.</a:t>
            </a:r>
          </a:p>
          <a:p>
            <a:pPr marL="361950" indent="-361950" algn="just" eaLnBrk="1" hangingPunct="1">
              <a:buFont typeface="Wingdings" panose="05000000000000000000" pitchFamily="2" charset="2"/>
              <a:buChar char="Ø"/>
              <a:defRPr/>
            </a:pPr>
            <a:r>
              <a:rPr lang="en-US" altLang="en-US" sz="2400" dirty="0"/>
              <a:t>I</a:t>
            </a:r>
            <a:r>
              <a:rPr lang="en-US" altLang="en-US" sz="2400" baseline="0" dirty="0"/>
              <a:t>t creates a virtual connection between two TCPs to send data. </a:t>
            </a:r>
          </a:p>
          <a:p>
            <a:pPr marL="361950" indent="-361950" algn="just" eaLnBrk="1" hangingPunct="1">
              <a:buFont typeface="Wingdings" panose="05000000000000000000" pitchFamily="2" charset="2"/>
              <a:buChar char="Ø"/>
              <a:defRPr/>
            </a:pPr>
            <a:r>
              <a:rPr lang="en-US" altLang="en-US" sz="2400" baseline="0" dirty="0"/>
              <a:t>In addition, TCP uses flow and error control mechanisms at the transport level.</a:t>
            </a:r>
          </a:p>
          <a:p>
            <a:pPr marL="361950" indent="-361950" algn="just">
              <a:buFont typeface="Wingdings" panose="05000000000000000000" pitchFamily="2" charset="2"/>
              <a:buChar char="Ø"/>
              <a:defRPr/>
            </a:pPr>
            <a:r>
              <a:rPr lang="en-US" altLang="en-US" sz="2400" dirty="0"/>
              <a:t>The bytes of data being transferred in each connection are numbered by TCP.</a:t>
            </a:r>
          </a:p>
          <a:p>
            <a:pPr marL="361950" indent="-361950" algn="just" eaLnBrk="1" hangingPunct="1">
              <a:buFont typeface="Wingdings" panose="05000000000000000000" pitchFamily="2" charset="2"/>
              <a:buChar char="Ø"/>
              <a:defRPr/>
            </a:pPr>
            <a:endParaRPr lang="en-US" altLang="en-US" sz="2400" baseline="0" dirty="0"/>
          </a:p>
          <a:p>
            <a:pPr marL="0" indent="0" algn="just">
              <a:buNone/>
            </a:pP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n-US" sz="2800" dirty="0"/>
          </a:p>
          <a:p>
            <a:pPr marL="0" indent="0" algn="just">
              <a:buNone/>
            </a:pPr>
            <a:endParaRPr lang="en-US" sz="28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11</a:t>
            </a:fld>
            <a:endParaRPr lang="en-IN"/>
          </a:p>
        </p:txBody>
      </p:sp>
      <p:pic>
        <p:nvPicPr>
          <p:cNvPr id="5" name="Picture 6">
            <a:extLst>
              <a:ext uri="{FF2B5EF4-FFF2-40B4-BE49-F238E27FC236}">
                <a16:creationId xmlns:a16="http://schemas.microsoft.com/office/drawing/2014/main" id="{A1B7552D-44A3-03AA-7706-57DC0CCCE3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7975" y="3962320"/>
            <a:ext cx="6034087" cy="2243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3380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a:extLst>
              <a:ext uri="{FF2B5EF4-FFF2-40B4-BE49-F238E27FC236}">
                <a16:creationId xmlns:a16="http://schemas.microsoft.com/office/drawing/2014/main" id="{9CAD9AE2-B581-9A67-5872-DB5F9121237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2A5B3572-8CCF-4972-A259-90E6C00915B0}" type="slidenum">
              <a:rPr lang="en-US" altLang="en-US" sz="2000" baseline="0">
                <a:solidFill>
                  <a:schemeClr val="bg2"/>
                </a:solidFill>
              </a:rPr>
              <a:pPr/>
              <a:t>12</a:t>
            </a:fld>
            <a:endParaRPr lang="en-US" altLang="en-US" sz="2000" baseline="0">
              <a:solidFill>
                <a:schemeClr val="bg2"/>
              </a:solidFill>
            </a:endParaRPr>
          </a:p>
        </p:txBody>
      </p:sp>
      <p:sp>
        <p:nvSpPr>
          <p:cNvPr id="28675" name="Line 2">
            <a:extLst>
              <a:ext uri="{FF2B5EF4-FFF2-40B4-BE49-F238E27FC236}">
                <a16:creationId xmlns:a16="http://schemas.microsoft.com/office/drawing/2014/main" id="{68EB8514-36CD-B973-1E89-6F3DE8B5E795}"/>
              </a:ext>
            </a:extLst>
          </p:cNvPr>
          <p:cNvSpPr>
            <a:spLocks noChangeShapeType="1"/>
          </p:cNvSpPr>
          <p:nvPr/>
        </p:nvSpPr>
        <p:spPr bwMode="auto">
          <a:xfrm>
            <a:off x="1676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6" name="Line 3">
            <a:extLst>
              <a:ext uri="{FF2B5EF4-FFF2-40B4-BE49-F238E27FC236}">
                <a16:creationId xmlns:a16="http://schemas.microsoft.com/office/drawing/2014/main" id="{07EE0838-34E4-16C6-4B84-6C4ED1EB674F}"/>
              </a:ext>
            </a:extLst>
          </p:cNvPr>
          <p:cNvSpPr>
            <a:spLocks noChangeShapeType="1"/>
          </p:cNvSpPr>
          <p:nvPr/>
        </p:nvSpPr>
        <p:spPr bwMode="auto">
          <a:xfrm>
            <a:off x="1676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7" name="Text Box 4">
            <a:extLst>
              <a:ext uri="{FF2B5EF4-FFF2-40B4-BE49-F238E27FC236}">
                <a16:creationId xmlns:a16="http://schemas.microsoft.com/office/drawing/2014/main" id="{F03539EB-7E3E-31E3-742A-0975A88B6133}"/>
              </a:ext>
            </a:extLst>
          </p:cNvPr>
          <p:cNvSpPr txBox="1">
            <a:spLocks noChangeArrowheads="1"/>
          </p:cNvSpPr>
          <p:nvPr/>
        </p:nvSpPr>
        <p:spPr bwMode="auto">
          <a:xfrm>
            <a:off x="1828801" y="381000"/>
            <a:ext cx="5110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Figure 23.14  </a:t>
            </a:r>
            <a:r>
              <a:rPr lang="en-US" altLang="en-US" sz="2000" i="1" baseline="0">
                <a:latin typeface="Times New Roman" panose="02020603050405020304" pitchFamily="18" charset="0"/>
              </a:rPr>
              <a:t>Sending and receiving buffers</a:t>
            </a:r>
          </a:p>
        </p:txBody>
      </p:sp>
      <p:sp>
        <p:nvSpPr>
          <p:cNvPr id="28678" name="Line 5">
            <a:extLst>
              <a:ext uri="{FF2B5EF4-FFF2-40B4-BE49-F238E27FC236}">
                <a16:creationId xmlns:a16="http://schemas.microsoft.com/office/drawing/2014/main" id="{01B8951E-BF16-B729-2F98-9A950D3BD1C1}"/>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8679" name="Picture 6">
            <a:extLst>
              <a:ext uri="{FF2B5EF4-FFF2-40B4-BE49-F238E27FC236}">
                <a16:creationId xmlns:a16="http://schemas.microsoft.com/office/drawing/2014/main" id="{17E0FD1C-94E2-C7E3-86DA-9588204953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0114" y="1127126"/>
            <a:ext cx="7888287" cy="458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CB9FE2DF-92A6-A04C-CF8E-8DF8F0B63FB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6B4C4085-C6B8-4397-BF87-A5E145ED4DDB}" type="slidenum">
              <a:rPr lang="en-US" altLang="en-US" sz="2000" baseline="0">
                <a:solidFill>
                  <a:schemeClr val="bg2"/>
                </a:solidFill>
              </a:rPr>
              <a:pPr/>
              <a:t>13</a:t>
            </a:fld>
            <a:endParaRPr lang="en-US" altLang="en-US" sz="2000" baseline="0">
              <a:solidFill>
                <a:schemeClr val="bg2"/>
              </a:solidFill>
            </a:endParaRPr>
          </a:p>
        </p:txBody>
      </p:sp>
      <p:sp>
        <p:nvSpPr>
          <p:cNvPr id="29699" name="Line 2">
            <a:extLst>
              <a:ext uri="{FF2B5EF4-FFF2-40B4-BE49-F238E27FC236}">
                <a16:creationId xmlns:a16="http://schemas.microsoft.com/office/drawing/2014/main" id="{256A472E-0879-B90B-10E9-2C3D1656C5B8}"/>
              </a:ext>
            </a:extLst>
          </p:cNvPr>
          <p:cNvSpPr>
            <a:spLocks noChangeShapeType="1"/>
          </p:cNvSpPr>
          <p:nvPr/>
        </p:nvSpPr>
        <p:spPr bwMode="auto">
          <a:xfrm>
            <a:off x="1676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0" name="Line 3">
            <a:extLst>
              <a:ext uri="{FF2B5EF4-FFF2-40B4-BE49-F238E27FC236}">
                <a16:creationId xmlns:a16="http://schemas.microsoft.com/office/drawing/2014/main" id="{B3B4AE20-F54B-B368-F9D5-981D24E1B4FC}"/>
              </a:ext>
            </a:extLst>
          </p:cNvPr>
          <p:cNvSpPr>
            <a:spLocks noChangeShapeType="1"/>
          </p:cNvSpPr>
          <p:nvPr/>
        </p:nvSpPr>
        <p:spPr bwMode="auto">
          <a:xfrm>
            <a:off x="1676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1" name="Text Box 4">
            <a:extLst>
              <a:ext uri="{FF2B5EF4-FFF2-40B4-BE49-F238E27FC236}">
                <a16:creationId xmlns:a16="http://schemas.microsoft.com/office/drawing/2014/main" id="{E2A02AC2-FBC2-FB5A-B765-DD369668F3E0}"/>
              </a:ext>
            </a:extLst>
          </p:cNvPr>
          <p:cNvSpPr txBox="1">
            <a:spLocks noChangeArrowheads="1"/>
          </p:cNvSpPr>
          <p:nvPr/>
        </p:nvSpPr>
        <p:spPr bwMode="auto">
          <a:xfrm>
            <a:off x="1828800" y="381000"/>
            <a:ext cx="3462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a:solidFill>
                  <a:schemeClr val="folHlink"/>
                </a:solidFill>
                <a:latin typeface="Times New Roman" panose="02020603050405020304" pitchFamily="18" charset="0"/>
              </a:rPr>
              <a:t>Figure 23.15  </a:t>
            </a:r>
            <a:r>
              <a:rPr lang="en-US" altLang="en-US" sz="2000" i="1" baseline="0">
                <a:latin typeface="Times New Roman" panose="02020603050405020304" pitchFamily="18" charset="0"/>
              </a:rPr>
              <a:t>TCP segments</a:t>
            </a:r>
          </a:p>
        </p:txBody>
      </p:sp>
      <p:sp>
        <p:nvSpPr>
          <p:cNvPr id="29702" name="Line 5">
            <a:extLst>
              <a:ext uri="{FF2B5EF4-FFF2-40B4-BE49-F238E27FC236}">
                <a16:creationId xmlns:a16="http://schemas.microsoft.com/office/drawing/2014/main" id="{D924B05C-DEC9-EAAB-3BD7-9ACEF6B6F7AC}"/>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29703" name="Picture 6">
            <a:extLst>
              <a:ext uri="{FF2B5EF4-FFF2-40B4-BE49-F238E27FC236}">
                <a16:creationId xmlns:a16="http://schemas.microsoft.com/office/drawing/2014/main" id="{D462BB2A-ABDA-21A3-46B3-11A4AF374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964" y="1279526"/>
            <a:ext cx="8428037" cy="458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a:extLst>
              <a:ext uri="{FF2B5EF4-FFF2-40B4-BE49-F238E27FC236}">
                <a16:creationId xmlns:a16="http://schemas.microsoft.com/office/drawing/2014/main" id="{F6338FD0-B617-7FBD-0289-398CC5E28F0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3F3E0028-E74A-4000-9FD2-14BE3F977439}" type="slidenum">
              <a:rPr lang="en-US" altLang="en-US" sz="2000" baseline="0">
                <a:solidFill>
                  <a:schemeClr val="bg2"/>
                </a:solidFill>
              </a:rPr>
              <a:pPr/>
              <a:t>14</a:t>
            </a:fld>
            <a:endParaRPr lang="en-US" altLang="en-US" sz="2000" baseline="0">
              <a:solidFill>
                <a:schemeClr val="bg2"/>
              </a:solidFill>
            </a:endParaRPr>
          </a:p>
        </p:txBody>
      </p:sp>
      <p:sp>
        <p:nvSpPr>
          <p:cNvPr id="30723" name="Rectangle 2">
            <a:extLst>
              <a:ext uri="{FF2B5EF4-FFF2-40B4-BE49-F238E27FC236}">
                <a16:creationId xmlns:a16="http://schemas.microsoft.com/office/drawing/2014/main" id="{89971C3B-C8D6-BA7D-A433-1EFA09E8B38E}"/>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4" name="Rectangle 3">
            <a:extLst>
              <a:ext uri="{FF2B5EF4-FFF2-40B4-BE49-F238E27FC236}">
                <a16:creationId xmlns:a16="http://schemas.microsoft.com/office/drawing/2014/main" id="{C4B1C350-E459-422D-EAFA-4462B17843F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5" name="Rectangle 4">
            <a:extLst>
              <a:ext uri="{FF2B5EF4-FFF2-40B4-BE49-F238E27FC236}">
                <a16:creationId xmlns:a16="http://schemas.microsoft.com/office/drawing/2014/main" id="{E4E556C7-3540-18B0-0622-45F477ED79B3}"/>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6" name="Rectangle 5">
            <a:extLst>
              <a:ext uri="{FF2B5EF4-FFF2-40B4-BE49-F238E27FC236}">
                <a16:creationId xmlns:a16="http://schemas.microsoft.com/office/drawing/2014/main" id="{E001BD0C-0EC7-767A-9D38-E1F756C2687D}"/>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7" name="Rectangle 6">
            <a:extLst>
              <a:ext uri="{FF2B5EF4-FFF2-40B4-BE49-F238E27FC236}">
                <a16:creationId xmlns:a16="http://schemas.microsoft.com/office/drawing/2014/main" id="{CC1C0CE3-E2F5-1501-B857-716AD4870D2D}"/>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8" name="Rectangle 7">
            <a:extLst>
              <a:ext uri="{FF2B5EF4-FFF2-40B4-BE49-F238E27FC236}">
                <a16:creationId xmlns:a16="http://schemas.microsoft.com/office/drawing/2014/main" id="{4C2BB127-3430-2BB6-A4D6-5410F1170E3B}"/>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29" name="Rectangle 8">
            <a:extLst>
              <a:ext uri="{FF2B5EF4-FFF2-40B4-BE49-F238E27FC236}">
                <a16:creationId xmlns:a16="http://schemas.microsoft.com/office/drawing/2014/main" id="{11B9AADB-9054-EA3E-E06F-25DDADBBB98A}"/>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0730" name="Line 9">
            <a:extLst>
              <a:ext uri="{FF2B5EF4-FFF2-40B4-BE49-F238E27FC236}">
                <a16:creationId xmlns:a16="http://schemas.microsoft.com/office/drawing/2014/main" id="{85135D9D-AB72-7227-ED5C-EA8788BAAC72}"/>
              </a:ext>
            </a:extLst>
          </p:cNvPr>
          <p:cNvSpPr>
            <a:spLocks noChangeShapeType="1"/>
          </p:cNvSpPr>
          <p:nvPr/>
        </p:nvSpPr>
        <p:spPr bwMode="auto">
          <a:xfrm>
            <a:off x="1981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1" name="Line 10">
            <a:extLst>
              <a:ext uri="{FF2B5EF4-FFF2-40B4-BE49-F238E27FC236}">
                <a16:creationId xmlns:a16="http://schemas.microsoft.com/office/drawing/2014/main" id="{32DBC63F-E2C3-0197-CF8B-1557869C66AB}"/>
              </a:ext>
            </a:extLst>
          </p:cNvPr>
          <p:cNvSpPr>
            <a:spLocks noChangeShapeType="1"/>
          </p:cNvSpPr>
          <p:nvPr/>
        </p:nvSpPr>
        <p:spPr bwMode="auto">
          <a:xfrm>
            <a:off x="1982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32" name="Rectangle 11">
            <a:extLst>
              <a:ext uri="{FF2B5EF4-FFF2-40B4-BE49-F238E27FC236}">
                <a16:creationId xmlns:a16="http://schemas.microsoft.com/office/drawing/2014/main" id="{21F00703-EDC8-E465-5D50-A757A1D20D21}"/>
              </a:ext>
            </a:extLst>
          </p:cNvPr>
          <p:cNvSpPr>
            <a:spLocks noChangeArrowheads="1"/>
          </p:cNvSpPr>
          <p:nvPr/>
        </p:nvSpPr>
        <p:spPr bwMode="auto">
          <a:xfrm>
            <a:off x="2019300" y="2759076"/>
            <a:ext cx="8077200" cy="206210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bytes of data being transferred in each connection are numbered by TCP.</a:t>
            </a:r>
          </a:p>
          <a:p>
            <a:pPr algn="ctr"/>
            <a:r>
              <a:rPr lang="en-US" altLang="en-US" baseline="0"/>
              <a:t>The numbering starts with a randomly generated number.</a:t>
            </a:r>
          </a:p>
        </p:txBody>
      </p:sp>
      <p:grpSp>
        <p:nvGrpSpPr>
          <p:cNvPr id="30733" name="Group 12">
            <a:extLst>
              <a:ext uri="{FF2B5EF4-FFF2-40B4-BE49-F238E27FC236}">
                <a16:creationId xmlns:a16="http://schemas.microsoft.com/office/drawing/2014/main" id="{97E67AB6-5470-72AA-6A48-7B4FC828B6B8}"/>
              </a:ext>
            </a:extLst>
          </p:cNvPr>
          <p:cNvGrpSpPr>
            <a:grpSpLocks/>
          </p:cNvGrpSpPr>
          <p:nvPr/>
        </p:nvGrpSpPr>
        <p:grpSpPr bwMode="auto">
          <a:xfrm>
            <a:off x="1981200" y="1981200"/>
            <a:ext cx="1143000" cy="566738"/>
            <a:chOff x="1200" y="1248"/>
            <a:chExt cx="720" cy="357"/>
          </a:xfrm>
        </p:grpSpPr>
        <p:pic>
          <p:nvPicPr>
            <p:cNvPr id="30734" name="Picture 13">
              <a:extLst>
                <a:ext uri="{FF2B5EF4-FFF2-40B4-BE49-F238E27FC236}">
                  <a16:creationId xmlns:a16="http://schemas.microsoft.com/office/drawing/2014/main" id="{3BA96F41-41C0-B942-6A61-70CC9F3ED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5" name="Text Box 14">
              <a:extLst>
                <a:ext uri="{FF2B5EF4-FFF2-40B4-BE49-F238E27FC236}">
                  <a16:creationId xmlns:a16="http://schemas.microsoft.com/office/drawing/2014/main" id="{0590A7E7-2DCC-CB55-4921-0555EB3320F0}"/>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1">
            <a:extLst>
              <a:ext uri="{FF2B5EF4-FFF2-40B4-BE49-F238E27FC236}">
                <a16:creationId xmlns:a16="http://schemas.microsoft.com/office/drawing/2014/main" id="{863C03F4-1F64-AD77-7B65-71E48EFA559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581ABB01-506C-48E3-B29D-60C67217C5F7}" type="slidenum">
              <a:rPr lang="en-US" altLang="en-US" sz="2000" baseline="0">
                <a:solidFill>
                  <a:schemeClr val="bg2"/>
                </a:solidFill>
              </a:rPr>
              <a:pPr/>
              <a:t>15</a:t>
            </a:fld>
            <a:endParaRPr lang="en-US" altLang="en-US" sz="2000" baseline="0">
              <a:solidFill>
                <a:schemeClr val="bg2"/>
              </a:solidFill>
            </a:endParaRPr>
          </a:p>
        </p:txBody>
      </p:sp>
      <p:sp>
        <p:nvSpPr>
          <p:cNvPr id="31747" name="Rectangle 2">
            <a:extLst>
              <a:ext uri="{FF2B5EF4-FFF2-40B4-BE49-F238E27FC236}">
                <a16:creationId xmlns:a16="http://schemas.microsoft.com/office/drawing/2014/main" id="{DBA5BC26-D41E-20C1-D6E7-0C3AE1B11F31}"/>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1748" name="Rectangle 3">
            <a:extLst>
              <a:ext uri="{FF2B5EF4-FFF2-40B4-BE49-F238E27FC236}">
                <a16:creationId xmlns:a16="http://schemas.microsoft.com/office/drawing/2014/main" id="{572BFE11-8072-F086-0C71-C31207378E4C}"/>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1749" name="Rectangle 4">
            <a:extLst>
              <a:ext uri="{FF2B5EF4-FFF2-40B4-BE49-F238E27FC236}">
                <a16:creationId xmlns:a16="http://schemas.microsoft.com/office/drawing/2014/main" id="{9CB719CA-4536-8E4C-D514-3599CFFC93BD}"/>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1750" name="Rectangle 5">
            <a:extLst>
              <a:ext uri="{FF2B5EF4-FFF2-40B4-BE49-F238E27FC236}">
                <a16:creationId xmlns:a16="http://schemas.microsoft.com/office/drawing/2014/main" id="{F285A7F7-422C-B341-F952-E599BB2207B8}"/>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1751" name="Rectangle 6">
            <a:extLst>
              <a:ext uri="{FF2B5EF4-FFF2-40B4-BE49-F238E27FC236}">
                <a16:creationId xmlns:a16="http://schemas.microsoft.com/office/drawing/2014/main" id="{1AED2D59-7F05-E9B8-F09D-F05E55FA7C7F}"/>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1752" name="Rectangle 7">
            <a:extLst>
              <a:ext uri="{FF2B5EF4-FFF2-40B4-BE49-F238E27FC236}">
                <a16:creationId xmlns:a16="http://schemas.microsoft.com/office/drawing/2014/main" id="{331031F5-31E3-78E1-349E-9D05FFD860EB}"/>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1753" name="Rectangle 8">
            <a:extLst>
              <a:ext uri="{FF2B5EF4-FFF2-40B4-BE49-F238E27FC236}">
                <a16:creationId xmlns:a16="http://schemas.microsoft.com/office/drawing/2014/main" id="{5C482755-D66D-7372-E9E4-CF0D3D476C82}"/>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1754" name="Rectangle 9">
            <a:extLst>
              <a:ext uri="{FF2B5EF4-FFF2-40B4-BE49-F238E27FC236}">
                <a16:creationId xmlns:a16="http://schemas.microsoft.com/office/drawing/2014/main" id="{FA87CB1E-58CE-A928-13CE-70A4B10EBD08}"/>
              </a:ext>
            </a:extLst>
          </p:cNvPr>
          <p:cNvSpPr>
            <a:spLocks noChangeArrowheads="1"/>
          </p:cNvSpPr>
          <p:nvPr/>
        </p:nvSpPr>
        <p:spPr bwMode="auto">
          <a:xfrm>
            <a:off x="1752600" y="114300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just"/>
            <a:r>
              <a:rPr lang="en-US" altLang="en-US" sz="2800" i="1" baseline="0">
                <a:latin typeface="Times New Roman" panose="02020603050405020304" pitchFamily="18" charset="0"/>
              </a:rPr>
              <a:t>The following shows the sequence number for each segment:</a:t>
            </a:r>
          </a:p>
        </p:txBody>
      </p:sp>
      <p:sp>
        <p:nvSpPr>
          <p:cNvPr id="31755" name="Text Box 10">
            <a:extLst>
              <a:ext uri="{FF2B5EF4-FFF2-40B4-BE49-F238E27FC236}">
                <a16:creationId xmlns:a16="http://schemas.microsoft.com/office/drawing/2014/main" id="{49EABE46-7F4F-AD65-FD4C-506C0E26A251}"/>
              </a:ext>
            </a:extLst>
          </p:cNvPr>
          <p:cNvSpPr txBox="1">
            <a:spLocks noChangeArrowheads="1"/>
          </p:cNvSpPr>
          <p:nvPr/>
        </p:nvSpPr>
        <p:spPr bwMode="auto">
          <a:xfrm>
            <a:off x="2667001"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i="1" baseline="0">
                <a:solidFill>
                  <a:schemeClr val="hlink"/>
                </a:solidFill>
                <a:latin typeface="Times New Roman" panose="02020603050405020304" pitchFamily="18" charset="0"/>
              </a:rPr>
              <a:t>Example 23.3</a:t>
            </a:r>
          </a:p>
        </p:txBody>
      </p:sp>
      <p:pic>
        <p:nvPicPr>
          <p:cNvPr id="31756" name="Picture 11">
            <a:extLst>
              <a:ext uri="{FF2B5EF4-FFF2-40B4-BE49-F238E27FC236}">
                <a16:creationId xmlns:a16="http://schemas.microsoft.com/office/drawing/2014/main" id="{165880B2-0D4B-0653-89FF-D3BE3EFFF0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238" y="2724150"/>
            <a:ext cx="8666162" cy="177165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a:extLst>
              <a:ext uri="{FF2B5EF4-FFF2-40B4-BE49-F238E27FC236}">
                <a16:creationId xmlns:a16="http://schemas.microsoft.com/office/drawing/2014/main" id="{72F0E93B-5B06-AB05-F61E-E54E1DAAFD3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E1B72FC3-240A-4872-B150-3479914E41BC}" type="slidenum">
              <a:rPr lang="en-US" altLang="en-US" sz="2000" baseline="0">
                <a:solidFill>
                  <a:schemeClr val="bg2"/>
                </a:solidFill>
              </a:rPr>
              <a:pPr/>
              <a:t>16</a:t>
            </a:fld>
            <a:endParaRPr lang="en-US" altLang="en-US" sz="2000" baseline="0">
              <a:solidFill>
                <a:schemeClr val="bg2"/>
              </a:solidFill>
            </a:endParaRPr>
          </a:p>
        </p:txBody>
      </p:sp>
      <p:sp>
        <p:nvSpPr>
          <p:cNvPr id="32771" name="Rectangle 2">
            <a:extLst>
              <a:ext uri="{FF2B5EF4-FFF2-40B4-BE49-F238E27FC236}">
                <a16:creationId xmlns:a16="http://schemas.microsoft.com/office/drawing/2014/main" id="{7E33409E-A6D6-69D0-DC2B-A36536194713}"/>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2772" name="Rectangle 3">
            <a:extLst>
              <a:ext uri="{FF2B5EF4-FFF2-40B4-BE49-F238E27FC236}">
                <a16:creationId xmlns:a16="http://schemas.microsoft.com/office/drawing/2014/main" id="{583B1061-9040-2464-F8F7-0A02E5CF02B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2773" name="Rectangle 4">
            <a:extLst>
              <a:ext uri="{FF2B5EF4-FFF2-40B4-BE49-F238E27FC236}">
                <a16:creationId xmlns:a16="http://schemas.microsoft.com/office/drawing/2014/main" id="{727368D8-EEC6-E8FA-242C-FC08D1A616EE}"/>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2774" name="Rectangle 5">
            <a:extLst>
              <a:ext uri="{FF2B5EF4-FFF2-40B4-BE49-F238E27FC236}">
                <a16:creationId xmlns:a16="http://schemas.microsoft.com/office/drawing/2014/main" id="{5DFB5382-8CE7-E42E-5BE6-8CD0D55D6BFE}"/>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2775" name="Rectangle 6">
            <a:extLst>
              <a:ext uri="{FF2B5EF4-FFF2-40B4-BE49-F238E27FC236}">
                <a16:creationId xmlns:a16="http://schemas.microsoft.com/office/drawing/2014/main" id="{6AF7E511-A653-4927-B158-3133159D9B98}"/>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2776" name="Rectangle 7">
            <a:extLst>
              <a:ext uri="{FF2B5EF4-FFF2-40B4-BE49-F238E27FC236}">
                <a16:creationId xmlns:a16="http://schemas.microsoft.com/office/drawing/2014/main" id="{1B58B435-B7FB-F436-0E20-874745DD09E1}"/>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2777" name="Rectangle 8">
            <a:extLst>
              <a:ext uri="{FF2B5EF4-FFF2-40B4-BE49-F238E27FC236}">
                <a16:creationId xmlns:a16="http://schemas.microsoft.com/office/drawing/2014/main" id="{C49ABC43-4ACA-5637-6CC6-2C050DDB4646}"/>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2778" name="Line 9">
            <a:extLst>
              <a:ext uri="{FF2B5EF4-FFF2-40B4-BE49-F238E27FC236}">
                <a16:creationId xmlns:a16="http://schemas.microsoft.com/office/drawing/2014/main" id="{6859DA95-06A8-B44F-6D44-ED20C58F0E29}"/>
              </a:ext>
            </a:extLst>
          </p:cNvPr>
          <p:cNvSpPr>
            <a:spLocks noChangeShapeType="1"/>
          </p:cNvSpPr>
          <p:nvPr/>
        </p:nvSpPr>
        <p:spPr bwMode="auto">
          <a:xfrm>
            <a:off x="1981200" y="2362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79" name="Line 10">
            <a:extLst>
              <a:ext uri="{FF2B5EF4-FFF2-40B4-BE49-F238E27FC236}">
                <a16:creationId xmlns:a16="http://schemas.microsoft.com/office/drawing/2014/main" id="{D8DD8A70-B0C9-CA86-D311-42362A92A372}"/>
              </a:ext>
            </a:extLst>
          </p:cNvPr>
          <p:cNvSpPr>
            <a:spLocks noChangeShapeType="1"/>
          </p:cNvSpPr>
          <p:nvPr/>
        </p:nvSpPr>
        <p:spPr bwMode="auto">
          <a:xfrm>
            <a:off x="1982788" y="4572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780" name="Rectangle 11">
            <a:extLst>
              <a:ext uri="{FF2B5EF4-FFF2-40B4-BE49-F238E27FC236}">
                <a16:creationId xmlns:a16="http://schemas.microsoft.com/office/drawing/2014/main" id="{53B510FF-257B-5A43-1F00-23D114146DC4}"/>
              </a:ext>
            </a:extLst>
          </p:cNvPr>
          <p:cNvSpPr>
            <a:spLocks noChangeArrowheads="1"/>
          </p:cNvSpPr>
          <p:nvPr/>
        </p:nvSpPr>
        <p:spPr bwMode="auto">
          <a:xfrm>
            <a:off x="2019300" y="2454276"/>
            <a:ext cx="8077200" cy="206210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value in the sequence number field of a segment defines the</a:t>
            </a:r>
          </a:p>
          <a:p>
            <a:pPr algn="ctr"/>
            <a:r>
              <a:rPr lang="en-US" altLang="en-US" baseline="0"/>
              <a:t>number of the first data byte </a:t>
            </a:r>
            <a:br>
              <a:rPr lang="en-US" altLang="en-US" baseline="0"/>
            </a:br>
            <a:r>
              <a:rPr lang="en-US" altLang="en-US" baseline="0"/>
              <a:t>contained in that segment.</a:t>
            </a:r>
          </a:p>
        </p:txBody>
      </p:sp>
      <p:grpSp>
        <p:nvGrpSpPr>
          <p:cNvPr id="32781" name="Group 12">
            <a:extLst>
              <a:ext uri="{FF2B5EF4-FFF2-40B4-BE49-F238E27FC236}">
                <a16:creationId xmlns:a16="http://schemas.microsoft.com/office/drawing/2014/main" id="{EC382FD9-13DB-7F7E-5845-31BC66E37B3E}"/>
              </a:ext>
            </a:extLst>
          </p:cNvPr>
          <p:cNvGrpSpPr>
            <a:grpSpLocks/>
          </p:cNvGrpSpPr>
          <p:nvPr/>
        </p:nvGrpSpPr>
        <p:grpSpPr bwMode="auto">
          <a:xfrm>
            <a:off x="1981200" y="1676400"/>
            <a:ext cx="1143000" cy="566738"/>
            <a:chOff x="1200" y="1248"/>
            <a:chExt cx="720" cy="357"/>
          </a:xfrm>
        </p:grpSpPr>
        <p:pic>
          <p:nvPicPr>
            <p:cNvPr id="32782" name="Picture 13">
              <a:extLst>
                <a:ext uri="{FF2B5EF4-FFF2-40B4-BE49-F238E27FC236}">
                  <a16:creationId xmlns:a16="http://schemas.microsoft.com/office/drawing/2014/main" id="{A46556E1-56CE-5F8F-FD83-5B6D3D1EF8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3" name="Text Box 14">
              <a:extLst>
                <a:ext uri="{FF2B5EF4-FFF2-40B4-BE49-F238E27FC236}">
                  <a16:creationId xmlns:a16="http://schemas.microsoft.com/office/drawing/2014/main" id="{765368D5-C481-4924-150A-C45FBCF0BC93}"/>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a:extLst>
              <a:ext uri="{FF2B5EF4-FFF2-40B4-BE49-F238E27FC236}">
                <a16:creationId xmlns:a16="http://schemas.microsoft.com/office/drawing/2014/main" id="{13420758-B88D-97D8-92B6-61B8B06BC59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000" baseline="0">
                <a:solidFill>
                  <a:schemeClr val="bg2"/>
                </a:solidFill>
              </a:rPr>
              <a:t>23.</a:t>
            </a:r>
            <a:fld id="{2A965D79-4FFA-4686-B7C3-9504EF457F2F}" type="slidenum">
              <a:rPr lang="en-US" altLang="en-US" sz="2000" baseline="0">
                <a:solidFill>
                  <a:schemeClr val="bg2"/>
                </a:solidFill>
              </a:rPr>
              <a:pPr/>
              <a:t>17</a:t>
            </a:fld>
            <a:endParaRPr lang="en-US" altLang="en-US" sz="2000" baseline="0">
              <a:solidFill>
                <a:schemeClr val="bg2"/>
              </a:solidFill>
            </a:endParaRPr>
          </a:p>
        </p:txBody>
      </p:sp>
      <p:sp>
        <p:nvSpPr>
          <p:cNvPr id="33795" name="Rectangle 2">
            <a:extLst>
              <a:ext uri="{FF2B5EF4-FFF2-40B4-BE49-F238E27FC236}">
                <a16:creationId xmlns:a16="http://schemas.microsoft.com/office/drawing/2014/main" id="{BEDD7A02-4454-999A-6AD7-7B50231C4504}"/>
              </a:ext>
            </a:extLst>
          </p:cNvPr>
          <p:cNvSpPr>
            <a:spLocks noChangeArrowheads="1"/>
          </p:cNvSpPr>
          <p:nvPr/>
        </p:nvSpPr>
        <p:spPr bwMode="ltGray">
          <a:xfrm>
            <a:off x="1890713" y="10795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3796" name="Rectangle 3">
            <a:extLst>
              <a:ext uri="{FF2B5EF4-FFF2-40B4-BE49-F238E27FC236}">
                <a16:creationId xmlns:a16="http://schemas.microsoft.com/office/drawing/2014/main" id="{EB1B62BE-3A67-E334-2D24-2D2C992AA443}"/>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3797" name="Rectangle 4">
            <a:extLst>
              <a:ext uri="{FF2B5EF4-FFF2-40B4-BE49-F238E27FC236}">
                <a16:creationId xmlns:a16="http://schemas.microsoft.com/office/drawing/2014/main" id="{20D22416-6195-D28C-2383-1B46203312B3}"/>
              </a:ext>
            </a:extLst>
          </p:cNvPr>
          <p:cNvSpPr>
            <a:spLocks noChangeArrowheads="1"/>
          </p:cNvSpPr>
          <p:nvPr/>
        </p:nvSpPr>
        <p:spPr bwMode="ltGray">
          <a:xfrm>
            <a:off x="2014539" y="530226"/>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3798" name="Rectangle 5">
            <a:extLst>
              <a:ext uri="{FF2B5EF4-FFF2-40B4-BE49-F238E27FC236}">
                <a16:creationId xmlns:a16="http://schemas.microsoft.com/office/drawing/2014/main" id="{64425914-3F56-328B-898E-36133E19140A}"/>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3799" name="Rectangle 6">
            <a:extLst>
              <a:ext uri="{FF2B5EF4-FFF2-40B4-BE49-F238E27FC236}">
                <a16:creationId xmlns:a16="http://schemas.microsoft.com/office/drawing/2014/main" id="{93FC0D45-02F0-19A1-A881-B9055FF552D1}"/>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3800" name="Rectangle 7">
            <a:extLst>
              <a:ext uri="{FF2B5EF4-FFF2-40B4-BE49-F238E27FC236}">
                <a16:creationId xmlns:a16="http://schemas.microsoft.com/office/drawing/2014/main" id="{9A6D418B-444B-10AF-6064-3F16E1F81FD2}"/>
              </a:ext>
            </a:extLst>
          </p:cNvPr>
          <p:cNvSpPr>
            <a:spLocks noChangeArrowheads="1"/>
          </p:cNvSpPr>
          <p:nvPr/>
        </p:nvSpPr>
        <p:spPr bwMode="gray">
          <a:xfrm>
            <a:off x="2235200" y="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3801" name="Rectangle 8">
            <a:extLst>
              <a:ext uri="{FF2B5EF4-FFF2-40B4-BE49-F238E27FC236}">
                <a16:creationId xmlns:a16="http://schemas.microsoft.com/office/drawing/2014/main" id="{0FE522A8-6CBA-89AF-45BB-EED17AA95744}"/>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eaLnBrk="1" hangingPunct="1"/>
            <a:endParaRPr kumimoji="1" lang="en-US" altLang="en-US" sz="2400" b="0" baseline="0">
              <a:latin typeface="Tahoma" panose="020B0604030504040204" pitchFamily="34" charset="0"/>
            </a:endParaRPr>
          </a:p>
        </p:txBody>
      </p:sp>
      <p:sp>
        <p:nvSpPr>
          <p:cNvPr id="33802" name="Line 9">
            <a:extLst>
              <a:ext uri="{FF2B5EF4-FFF2-40B4-BE49-F238E27FC236}">
                <a16:creationId xmlns:a16="http://schemas.microsoft.com/office/drawing/2014/main" id="{96661DD7-B850-DA43-FECA-528D1F3FC456}"/>
              </a:ext>
            </a:extLst>
          </p:cNvPr>
          <p:cNvSpPr>
            <a:spLocks noChangeShapeType="1"/>
          </p:cNvSpPr>
          <p:nvPr/>
        </p:nvSpPr>
        <p:spPr bwMode="auto">
          <a:xfrm>
            <a:off x="1981200" y="1905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3" name="Line 10">
            <a:extLst>
              <a:ext uri="{FF2B5EF4-FFF2-40B4-BE49-F238E27FC236}">
                <a16:creationId xmlns:a16="http://schemas.microsoft.com/office/drawing/2014/main" id="{8D03A9B7-49D1-055D-401E-AFE0D69B6FCF}"/>
              </a:ext>
            </a:extLst>
          </p:cNvPr>
          <p:cNvSpPr>
            <a:spLocks noChangeShapeType="1"/>
          </p:cNvSpPr>
          <p:nvPr/>
        </p:nvSpPr>
        <p:spPr bwMode="auto">
          <a:xfrm>
            <a:off x="1982788" y="5105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04" name="Rectangle 11">
            <a:extLst>
              <a:ext uri="{FF2B5EF4-FFF2-40B4-BE49-F238E27FC236}">
                <a16:creationId xmlns:a16="http://schemas.microsoft.com/office/drawing/2014/main" id="{1190D261-208E-8B8D-A1CA-6DA4311AB86F}"/>
              </a:ext>
            </a:extLst>
          </p:cNvPr>
          <p:cNvSpPr>
            <a:spLocks noChangeArrowheads="1"/>
          </p:cNvSpPr>
          <p:nvPr/>
        </p:nvSpPr>
        <p:spPr bwMode="auto">
          <a:xfrm>
            <a:off x="2019300" y="1997075"/>
            <a:ext cx="8077200" cy="304698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baseline="0"/>
              <a:t>The value of the acknowledgment field in a segment defines</a:t>
            </a:r>
          </a:p>
          <a:p>
            <a:pPr algn="ctr"/>
            <a:r>
              <a:rPr lang="en-US" altLang="en-US" baseline="0"/>
              <a:t>the number of the next byte a party expects to receive.</a:t>
            </a:r>
          </a:p>
          <a:p>
            <a:pPr algn="ctr"/>
            <a:r>
              <a:rPr lang="en-US" altLang="en-US" baseline="0"/>
              <a:t>The acknowledgment number is cumulative.</a:t>
            </a:r>
          </a:p>
        </p:txBody>
      </p:sp>
      <p:grpSp>
        <p:nvGrpSpPr>
          <p:cNvPr id="33805" name="Group 12">
            <a:extLst>
              <a:ext uri="{FF2B5EF4-FFF2-40B4-BE49-F238E27FC236}">
                <a16:creationId xmlns:a16="http://schemas.microsoft.com/office/drawing/2014/main" id="{1A78E46A-9CA4-0B7E-EB22-7C4328747379}"/>
              </a:ext>
            </a:extLst>
          </p:cNvPr>
          <p:cNvGrpSpPr>
            <a:grpSpLocks/>
          </p:cNvGrpSpPr>
          <p:nvPr/>
        </p:nvGrpSpPr>
        <p:grpSpPr bwMode="auto">
          <a:xfrm>
            <a:off x="1981200" y="1219200"/>
            <a:ext cx="1143000" cy="566738"/>
            <a:chOff x="1200" y="1248"/>
            <a:chExt cx="720" cy="357"/>
          </a:xfrm>
        </p:grpSpPr>
        <p:pic>
          <p:nvPicPr>
            <p:cNvPr id="33806" name="Picture 13">
              <a:extLst>
                <a:ext uri="{FF2B5EF4-FFF2-40B4-BE49-F238E27FC236}">
                  <a16:creationId xmlns:a16="http://schemas.microsoft.com/office/drawing/2014/main" id="{B909284E-633C-73A9-FDBB-8713C7FE1E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7" name="Text Box 14">
              <a:extLst>
                <a:ext uri="{FF2B5EF4-FFF2-40B4-BE49-F238E27FC236}">
                  <a16:creationId xmlns:a16="http://schemas.microsoft.com/office/drawing/2014/main" id="{0BAA6E2D-B8B1-FF94-4BC4-BED3DC0025C6}"/>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800" i="1" baseline="0">
                  <a:solidFill>
                    <a:schemeClr val="hlink"/>
                  </a:solidFill>
                  <a:latin typeface="Times New Roman" panose="02020603050405020304" pitchFamily="18" charset="0"/>
                </a:rPr>
                <a:t>Note</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317986"/>
            <a:ext cx="10058400" cy="464406"/>
          </a:xfrm>
        </p:spPr>
        <p:txBody>
          <a:bodyPr>
            <a:normAutofit fontScale="90000"/>
          </a:bodyPr>
          <a:lstStyle/>
          <a:p>
            <a:r>
              <a:rPr lang="en-US" altLang="en-US" b="1" dirty="0">
                <a:solidFill>
                  <a:srgbClr val="C00000"/>
                </a:solidFill>
                <a:latin typeface="Times New Roman" panose="02020603050405020304" pitchFamily="18" charset="0"/>
              </a:rPr>
              <a:t>TCP Segment Header</a:t>
            </a:r>
            <a:endParaRPr lang="en-US" sz="4800" dirty="0"/>
          </a:p>
        </p:txBody>
      </p:sp>
      <p:sp>
        <p:nvSpPr>
          <p:cNvPr id="3" name="Content Placeholder 2"/>
          <p:cNvSpPr>
            <a:spLocks noGrp="1"/>
          </p:cNvSpPr>
          <p:nvPr>
            <p:ph idx="1"/>
          </p:nvPr>
        </p:nvSpPr>
        <p:spPr>
          <a:xfrm>
            <a:off x="1154083" y="1845734"/>
            <a:ext cx="10058400" cy="4023360"/>
          </a:xfrm>
        </p:spPr>
        <p:txBody>
          <a:bodyPr/>
          <a:lstStyle/>
          <a:p>
            <a:pPr marL="0" indent="0">
              <a:buNone/>
            </a:pPr>
            <a:endParaRPr lang="en-US" dirty="0"/>
          </a:p>
          <a:p>
            <a:pPr marL="0" indent="0" algn="just">
              <a:buNone/>
            </a:pPr>
            <a:r>
              <a:rPr lang="en-US" dirty="0"/>
              <a:t>	</a:t>
            </a:r>
            <a:endParaRPr lang="en-US" sz="28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18</a:t>
            </a:fld>
            <a:endParaRPr lang="en-IN"/>
          </a:p>
        </p:txBody>
      </p:sp>
      <p:pic>
        <p:nvPicPr>
          <p:cNvPr id="5" name="Picture 6">
            <a:extLst>
              <a:ext uri="{FF2B5EF4-FFF2-40B4-BE49-F238E27FC236}">
                <a16:creationId xmlns:a16="http://schemas.microsoft.com/office/drawing/2014/main" id="{2E82F317-D888-1A46-9084-447559DAF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0454" y="1042806"/>
            <a:ext cx="9945657" cy="5210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7822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56422"/>
          </a:xfrm>
        </p:spPr>
        <p:txBody>
          <a:bodyPr/>
          <a:lstStyle/>
          <a:p>
            <a:r>
              <a:rPr lang="en-US" altLang="en-US" sz="4400" b="1" dirty="0">
                <a:solidFill>
                  <a:srgbClr val="C00000"/>
                </a:solidFill>
                <a:latin typeface="Times New Roman" panose="02020603050405020304" pitchFamily="18" charset="0"/>
              </a:rPr>
              <a:t>TCP Segment Header…</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19</a:t>
            </a:fld>
            <a:endParaRPr lang="en-IN"/>
          </a:p>
        </p:txBody>
      </p:sp>
      <p:sp>
        <p:nvSpPr>
          <p:cNvPr id="9" name="Rectangle 5">
            <a:extLst>
              <a:ext uri="{FF2B5EF4-FFF2-40B4-BE49-F238E27FC236}">
                <a16:creationId xmlns:a16="http://schemas.microsoft.com/office/drawing/2014/main" id="{709EC636-865F-C867-8473-F7E6EBCF4775}"/>
              </a:ext>
            </a:extLst>
          </p:cNvPr>
          <p:cNvSpPr>
            <a:spLocks noGrp="1" noChangeArrowheads="1"/>
          </p:cNvSpPr>
          <p:nvPr>
            <p:ph idx="1"/>
          </p:nvPr>
        </p:nvSpPr>
        <p:spPr bwMode="auto">
          <a:xfrm>
            <a:off x="680243" y="2037924"/>
            <a:ext cx="11311731"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rPr>
              <a:t>Source port:</a:t>
            </a:r>
            <a:r>
              <a:rPr kumimoji="0" lang="en-US" altLang="en-US" b="0" i="0" u="none" strike="noStrike" cap="none" normalizeH="0" baseline="0" dirty="0">
                <a:ln>
                  <a:noFill/>
                </a:ln>
                <a:solidFill>
                  <a:schemeClr val="tx1"/>
                </a:solidFill>
                <a:effectLst/>
              </a:rPr>
              <a:t> 16-bit field. It defines the port of the application, which is sending the data.  </a:t>
            </a: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endParaRP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rPr>
              <a:t>Destination port:</a:t>
            </a:r>
            <a:r>
              <a:rPr kumimoji="0" lang="en-US" altLang="en-US" b="0" i="0" u="none" strike="noStrike" cap="none" normalizeH="0" baseline="0" dirty="0">
                <a:ln>
                  <a:noFill/>
                </a:ln>
                <a:solidFill>
                  <a:schemeClr val="tx1"/>
                </a:solidFill>
                <a:effectLst/>
              </a:rPr>
              <a:t> 16-bit field. It defines the port of the application on the receiving side.  </a:t>
            </a: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endParaRPr>
          </a:p>
          <a:p>
            <a:pPr marL="361950" indent="-361950" algn="just" eaLnBrk="0" fontAlgn="base" hangingPunct="0">
              <a:lnSpc>
                <a:spcPct val="100000"/>
              </a:lnSpc>
              <a:spcBef>
                <a:spcPct val="0"/>
              </a:spcBef>
              <a:spcAft>
                <a:spcPct val="0"/>
              </a:spcAft>
              <a:buClrTx/>
              <a:buSzTx/>
              <a:buFont typeface="Wingdings" panose="05000000000000000000" pitchFamily="2" charset="2"/>
              <a:buChar char="Ø"/>
            </a:pPr>
            <a:r>
              <a:rPr kumimoji="0" lang="en-US" altLang="en-US" b="1" i="0" u="none" strike="noStrike" cap="none" normalizeH="0" baseline="0" dirty="0">
                <a:ln>
                  <a:noFill/>
                </a:ln>
                <a:solidFill>
                  <a:schemeClr val="tx1"/>
                </a:solidFill>
                <a:effectLst/>
              </a:rPr>
              <a:t>Sequence number:</a:t>
            </a:r>
            <a:r>
              <a:rPr kumimoji="0" lang="en-US" altLang="en-US" b="0" i="0" u="none" strike="noStrike" cap="none" normalizeH="0" baseline="0" dirty="0">
                <a:ln>
                  <a:noFill/>
                </a:ln>
                <a:solidFill>
                  <a:schemeClr val="tx1"/>
                </a:solidFill>
                <a:effectLst/>
              </a:rPr>
              <a:t> This </a:t>
            </a:r>
            <a:r>
              <a:rPr lang="en-US" altLang="en-US" dirty="0">
                <a:solidFill>
                  <a:schemeClr val="tx1"/>
                </a:solidFill>
              </a:rPr>
              <a:t>field contains the sequence number of first data byte in a particular segment.</a:t>
            </a:r>
          </a:p>
          <a:p>
            <a:pPr marL="0" indent="0" algn="just" eaLnBrk="0" fontAlgn="base" hangingPunct="0">
              <a:lnSpc>
                <a:spcPct val="100000"/>
              </a:lnSpc>
              <a:spcBef>
                <a:spcPct val="0"/>
              </a:spcBef>
              <a:spcAft>
                <a:spcPct val="0"/>
              </a:spcAft>
              <a:buClrTx/>
              <a:buSzTx/>
              <a:buNone/>
            </a:pPr>
            <a:endParaRPr lang="en-US" altLang="en-US" dirty="0">
              <a:solidFill>
                <a:schemeClr val="tx1"/>
              </a:solidFill>
            </a:endParaRPr>
          </a:p>
          <a:p>
            <a:pPr marL="361950" indent="-361950" algn="just" eaLnBrk="0" fontAlgn="base" hangingPunct="0">
              <a:lnSpc>
                <a:spcPct val="100000"/>
              </a:lnSpc>
              <a:spcBef>
                <a:spcPct val="0"/>
              </a:spcBef>
              <a:spcAft>
                <a:spcPct val="0"/>
              </a:spcAft>
              <a:buClrTx/>
              <a:buSzTx/>
              <a:buFont typeface="Wingdings" panose="05000000000000000000" pitchFamily="2" charset="2"/>
              <a:buChar char="Ø"/>
            </a:pPr>
            <a:r>
              <a:rPr lang="en-US" altLang="en-US" b="1" dirty="0">
                <a:solidFill>
                  <a:schemeClr val="tx1"/>
                </a:solidFill>
              </a:rPr>
              <a:t>Acknowledgment number: </a:t>
            </a:r>
            <a:r>
              <a:rPr lang="en-US" altLang="en-US" dirty="0">
                <a:solidFill>
                  <a:schemeClr val="tx1"/>
                </a:solidFill>
              </a:rPr>
              <a:t>The field in a segment defines the number of the next byte that receiver expects to receive.</a:t>
            </a:r>
          </a:p>
          <a:p>
            <a:pPr marL="361950" indent="-361950" algn="just" eaLnBrk="0" fontAlgn="base" hangingPunct="0">
              <a:lnSpc>
                <a:spcPct val="100000"/>
              </a:lnSpc>
              <a:spcBef>
                <a:spcPct val="0"/>
              </a:spcBef>
              <a:spcAft>
                <a:spcPct val="0"/>
              </a:spcAft>
              <a:buClrTx/>
              <a:buSzTx/>
              <a:buFont typeface="Wingdings" panose="05000000000000000000" pitchFamily="2" charset="2"/>
              <a:buChar char="Ø"/>
            </a:pPr>
            <a:endParaRPr lang="en-US" altLang="en-US" dirty="0">
              <a:solidFill>
                <a:schemeClr val="tx1"/>
              </a:solidFill>
            </a:endParaRP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rPr>
              <a:t>HLEN:</a:t>
            </a:r>
            <a:r>
              <a:rPr kumimoji="0" lang="en-US" altLang="en-US" b="0" i="0" u="none" strike="noStrike" cap="none" normalizeH="0" baseline="0" dirty="0">
                <a:ln>
                  <a:noFill/>
                </a:ln>
                <a:solidFill>
                  <a:schemeClr val="tx1"/>
                </a:solidFill>
                <a:effectLst/>
              </a:rPr>
              <a:t> It specifies the length of the header indicated by the 4-byte words in the header. The size of the header lies between 20 and 60 bytes. Therefore, the value of this field would lie between 5 and 15. </a:t>
            </a: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endParaRP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rPr>
              <a:t>Reserved:</a:t>
            </a:r>
            <a:r>
              <a:rPr kumimoji="0" lang="en-US" altLang="en-US" b="0" i="0" u="none" strike="noStrike" cap="none" normalizeH="0" baseline="0" dirty="0">
                <a:ln>
                  <a:noFill/>
                </a:ln>
                <a:solidFill>
                  <a:schemeClr val="tx1"/>
                </a:solidFill>
                <a:effectLst/>
              </a:rPr>
              <a:t> It is a 4-bit field reserved for future use, and by default, all are set to zero. </a:t>
            </a:r>
          </a:p>
        </p:txBody>
      </p:sp>
    </p:spTree>
    <p:extLst>
      <p:ext uri="{BB962C8B-B14F-4D97-AF65-F5344CB8AC3E}">
        <p14:creationId xmlns:p14="http://schemas.microsoft.com/office/powerpoint/2010/main" val="2556447613"/>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56422"/>
          </a:xfrm>
        </p:spPr>
        <p:txBody>
          <a:bodyPr/>
          <a:lstStyle/>
          <a:p>
            <a:r>
              <a:rPr lang="en-US" altLang="en-US" sz="4400" b="1" dirty="0">
                <a:solidFill>
                  <a:srgbClr val="C00000"/>
                </a:solidFill>
                <a:latin typeface="Times New Roman" panose="02020603050405020304" pitchFamily="18" charset="0"/>
              </a:rPr>
              <a:t>TCP Segment Header…</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20</a:t>
            </a:fld>
            <a:endParaRPr lang="en-IN"/>
          </a:p>
        </p:txBody>
      </p:sp>
      <p:sp>
        <p:nvSpPr>
          <p:cNvPr id="9" name="Rectangle 5">
            <a:extLst>
              <a:ext uri="{FF2B5EF4-FFF2-40B4-BE49-F238E27FC236}">
                <a16:creationId xmlns:a16="http://schemas.microsoft.com/office/drawing/2014/main" id="{709EC636-865F-C867-8473-F7E6EBCF4775}"/>
              </a:ext>
            </a:extLst>
          </p:cNvPr>
          <p:cNvSpPr>
            <a:spLocks noGrp="1" noChangeArrowheads="1"/>
          </p:cNvSpPr>
          <p:nvPr>
            <p:ph idx="1"/>
          </p:nvPr>
        </p:nvSpPr>
        <p:spPr bwMode="auto">
          <a:xfrm>
            <a:off x="514351" y="1823911"/>
            <a:ext cx="1155382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61950" indent="-361950" eaLnBrk="0" fontAlgn="base" hangingPunct="0">
              <a:lnSpc>
                <a:spcPct val="100000"/>
              </a:lnSpc>
              <a:spcBef>
                <a:spcPct val="0"/>
              </a:spcBef>
              <a:spcAft>
                <a:spcPct val="0"/>
              </a:spcAft>
              <a:buClrTx/>
              <a:buSzTx/>
              <a:buFont typeface="Wingdings" panose="05000000000000000000" pitchFamily="2" charset="2"/>
              <a:buChar char="Ø"/>
            </a:pPr>
            <a:r>
              <a:rPr lang="en-US" altLang="en-US" b="1" dirty="0">
                <a:solidFill>
                  <a:schemeClr val="tx1"/>
                </a:solidFill>
              </a:rPr>
              <a:t>Flags: </a:t>
            </a:r>
            <a:r>
              <a:rPr lang="en-US" altLang="en-US" dirty="0">
                <a:solidFill>
                  <a:schemeClr val="tx1"/>
                </a:solidFill>
              </a:rPr>
              <a:t>There are six control bits or flags.</a:t>
            </a:r>
          </a:p>
          <a:p>
            <a:pPr marL="0" indent="0" eaLnBrk="0" fontAlgn="base" hangingPunct="0">
              <a:lnSpc>
                <a:spcPct val="100000"/>
              </a:lnSpc>
              <a:spcBef>
                <a:spcPct val="0"/>
              </a:spcBef>
              <a:spcAft>
                <a:spcPct val="0"/>
              </a:spcAft>
              <a:buClrTx/>
              <a:buSzTx/>
              <a:buNone/>
            </a:pPr>
            <a:endParaRPr lang="en-US" altLang="en-US" dirty="0">
              <a:solidFill>
                <a:schemeClr val="tx1"/>
              </a:solidFill>
            </a:endParaRPr>
          </a:p>
          <a:p>
            <a:pPr marL="895350" lvl="2" indent="-352425" algn="just" eaLnBrk="0" fontAlgn="base" hangingPunct="0">
              <a:lnSpc>
                <a:spcPct val="100000"/>
              </a:lnSpc>
              <a:spcBef>
                <a:spcPct val="0"/>
              </a:spcBef>
              <a:spcAft>
                <a:spcPct val="0"/>
              </a:spcAft>
              <a:buClrTx/>
              <a:buFont typeface="+mj-lt"/>
              <a:buAutoNum type="arabicPeriod"/>
            </a:pPr>
            <a:r>
              <a:rPr lang="en-US" altLang="en-US" sz="2000" dirty="0">
                <a:solidFill>
                  <a:srgbClr val="C00000"/>
                </a:solidFill>
              </a:rPr>
              <a:t>URG: </a:t>
            </a:r>
            <a:r>
              <a:rPr lang="en-US" altLang="en-US" sz="2000" dirty="0">
                <a:solidFill>
                  <a:schemeClr val="tx1"/>
                </a:solidFill>
              </a:rPr>
              <a:t>It represents an urgent pointer. If it is set, then the data is processed urgently. </a:t>
            </a:r>
          </a:p>
          <a:p>
            <a:pPr marL="895350" lvl="2" indent="-352425" algn="just" eaLnBrk="0" fontAlgn="base" hangingPunct="0">
              <a:lnSpc>
                <a:spcPct val="100000"/>
              </a:lnSpc>
              <a:spcBef>
                <a:spcPct val="0"/>
              </a:spcBef>
              <a:spcAft>
                <a:spcPct val="0"/>
              </a:spcAft>
              <a:buClrTx/>
              <a:buFont typeface="+mj-lt"/>
              <a:buAutoNum type="arabicPeriod"/>
            </a:pPr>
            <a:endParaRPr lang="en-US" altLang="en-US" sz="2000" dirty="0">
              <a:solidFill>
                <a:schemeClr val="tx1"/>
              </a:solidFill>
            </a:endParaRPr>
          </a:p>
          <a:p>
            <a:pPr marL="895350" lvl="2" indent="-352425" algn="just" eaLnBrk="0" fontAlgn="base" hangingPunct="0">
              <a:lnSpc>
                <a:spcPct val="100000"/>
              </a:lnSpc>
              <a:spcBef>
                <a:spcPct val="0"/>
              </a:spcBef>
              <a:spcAft>
                <a:spcPct val="0"/>
              </a:spcAft>
              <a:buClrTx/>
              <a:buFont typeface="Wingdings" panose="05000000000000000000" pitchFamily="2" charset="2"/>
              <a:buAutoNum type="arabicPeriod"/>
            </a:pPr>
            <a:r>
              <a:rPr lang="en-US" altLang="en-US" sz="2000" dirty="0">
                <a:solidFill>
                  <a:srgbClr val="C00000"/>
                </a:solidFill>
              </a:rPr>
              <a:t>ACK: </a:t>
            </a:r>
            <a:r>
              <a:rPr lang="en-US" altLang="en-US" sz="2000" dirty="0">
                <a:solidFill>
                  <a:schemeClr val="tx1"/>
                </a:solidFill>
              </a:rPr>
              <a:t>If the ACK is set to 0, then it means that the data packet does not contain an acknowledgment. </a:t>
            </a:r>
          </a:p>
          <a:p>
            <a:pPr marL="895350" lvl="2" indent="-352425" algn="just" eaLnBrk="0" fontAlgn="base" hangingPunct="0">
              <a:lnSpc>
                <a:spcPct val="100000"/>
              </a:lnSpc>
              <a:spcBef>
                <a:spcPct val="0"/>
              </a:spcBef>
              <a:spcAft>
                <a:spcPct val="0"/>
              </a:spcAft>
              <a:buClrTx/>
              <a:buFont typeface="Wingdings" panose="05000000000000000000" pitchFamily="2" charset="2"/>
              <a:buAutoNum type="arabicPeriod"/>
            </a:pPr>
            <a:endParaRPr lang="en-US" altLang="en-US" sz="2000" dirty="0">
              <a:solidFill>
                <a:schemeClr val="tx1"/>
              </a:solidFill>
            </a:endParaRPr>
          </a:p>
          <a:p>
            <a:pPr marL="895350" lvl="2" indent="-352425" algn="just" eaLnBrk="0" fontAlgn="base" hangingPunct="0">
              <a:lnSpc>
                <a:spcPct val="100000"/>
              </a:lnSpc>
              <a:spcBef>
                <a:spcPct val="0"/>
              </a:spcBef>
              <a:spcAft>
                <a:spcPct val="0"/>
              </a:spcAft>
              <a:buClrTx/>
              <a:buFont typeface="+mj-lt"/>
              <a:buAutoNum type="arabicPeriod"/>
            </a:pPr>
            <a:r>
              <a:rPr lang="en-US" altLang="en-US" sz="2000" dirty="0">
                <a:solidFill>
                  <a:srgbClr val="C00000"/>
                </a:solidFill>
              </a:rPr>
              <a:t>PSH: </a:t>
            </a:r>
            <a:r>
              <a:rPr lang="en-US" altLang="en-US" sz="2000" dirty="0">
                <a:solidFill>
                  <a:schemeClr val="tx1"/>
                </a:solidFill>
              </a:rPr>
              <a:t>If this field is set, then it requests the receiving device to push the data to the receiving application without buffering it. </a:t>
            </a:r>
          </a:p>
          <a:p>
            <a:pPr marL="895350" lvl="2" indent="-352425" algn="just" eaLnBrk="0" fontAlgn="base" hangingPunct="0">
              <a:lnSpc>
                <a:spcPct val="100000"/>
              </a:lnSpc>
              <a:spcBef>
                <a:spcPct val="0"/>
              </a:spcBef>
              <a:spcAft>
                <a:spcPct val="0"/>
              </a:spcAft>
              <a:buClrTx/>
              <a:buFont typeface="+mj-lt"/>
              <a:buAutoNum type="arabicPeriod"/>
            </a:pPr>
            <a:endParaRPr lang="en-US" altLang="en-US" sz="2000" dirty="0">
              <a:solidFill>
                <a:schemeClr val="tx1"/>
              </a:solidFill>
            </a:endParaRPr>
          </a:p>
          <a:p>
            <a:pPr marL="895350" lvl="2" indent="-352425" algn="just" eaLnBrk="0" fontAlgn="base" hangingPunct="0">
              <a:lnSpc>
                <a:spcPct val="100000"/>
              </a:lnSpc>
              <a:spcBef>
                <a:spcPct val="0"/>
              </a:spcBef>
              <a:spcAft>
                <a:spcPct val="0"/>
              </a:spcAft>
              <a:buClrTx/>
              <a:buFont typeface="+mj-lt"/>
              <a:buAutoNum type="arabicPeriod"/>
            </a:pPr>
            <a:r>
              <a:rPr lang="en-US" altLang="en-US" sz="2000" dirty="0">
                <a:solidFill>
                  <a:srgbClr val="C00000"/>
                </a:solidFill>
              </a:rPr>
              <a:t>RST: </a:t>
            </a:r>
            <a:r>
              <a:rPr lang="en-US" altLang="en-US" sz="2000" dirty="0">
                <a:solidFill>
                  <a:schemeClr val="tx1"/>
                </a:solidFill>
              </a:rPr>
              <a:t>If it is set, then it requests to restart a connection. </a:t>
            </a:r>
          </a:p>
          <a:p>
            <a:pPr marL="895350" lvl="2" indent="-352425" algn="just" eaLnBrk="0" fontAlgn="base" hangingPunct="0">
              <a:lnSpc>
                <a:spcPct val="100000"/>
              </a:lnSpc>
              <a:spcBef>
                <a:spcPct val="0"/>
              </a:spcBef>
              <a:spcAft>
                <a:spcPct val="0"/>
              </a:spcAft>
              <a:buClrTx/>
              <a:buFont typeface="+mj-lt"/>
              <a:buAutoNum type="arabicPeriod"/>
            </a:pPr>
            <a:endParaRPr lang="en-US" altLang="en-US" sz="2000" dirty="0">
              <a:solidFill>
                <a:schemeClr val="tx1"/>
              </a:solidFill>
            </a:endParaRPr>
          </a:p>
          <a:p>
            <a:pPr marL="895350" lvl="2" indent="-352425" algn="just" eaLnBrk="0" fontAlgn="base" hangingPunct="0">
              <a:lnSpc>
                <a:spcPct val="100000"/>
              </a:lnSpc>
              <a:spcBef>
                <a:spcPct val="0"/>
              </a:spcBef>
              <a:spcAft>
                <a:spcPct val="0"/>
              </a:spcAft>
              <a:buClrTx/>
              <a:buFont typeface="+mj-lt"/>
              <a:buAutoNum type="arabicPeriod"/>
            </a:pPr>
            <a:r>
              <a:rPr lang="en-US" altLang="en-US" sz="2000" dirty="0">
                <a:solidFill>
                  <a:srgbClr val="C00000"/>
                </a:solidFill>
              </a:rPr>
              <a:t>SYN:</a:t>
            </a:r>
            <a:r>
              <a:rPr lang="en-US" altLang="en-US" sz="2000" dirty="0">
                <a:solidFill>
                  <a:schemeClr val="tx1"/>
                </a:solidFill>
              </a:rPr>
              <a:t> It is used to establish a connection between the hosts. </a:t>
            </a:r>
          </a:p>
          <a:p>
            <a:pPr marL="895350" lvl="2" indent="-352425" algn="just" eaLnBrk="0" fontAlgn="base" hangingPunct="0">
              <a:lnSpc>
                <a:spcPct val="100000"/>
              </a:lnSpc>
              <a:spcBef>
                <a:spcPct val="0"/>
              </a:spcBef>
              <a:spcAft>
                <a:spcPct val="0"/>
              </a:spcAft>
              <a:buClrTx/>
              <a:buFont typeface="+mj-lt"/>
              <a:buAutoNum type="arabicPeriod"/>
            </a:pPr>
            <a:endParaRPr lang="en-US" altLang="en-US" sz="2000" dirty="0">
              <a:solidFill>
                <a:schemeClr val="tx1"/>
              </a:solidFill>
            </a:endParaRPr>
          </a:p>
          <a:p>
            <a:pPr marL="895350" lvl="2" indent="-352425" algn="just" eaLnBrk="0" fontAlgn="base" hangingPunct="0">
              <a:lnSpc>
                <a:spcPct val="100000"/>
              </a:lnSpc>
              <a:spcBef>
                <a:spcPct val="0"/>
              </a:spcBef>
              <a:spcAft>
                <a:spcPct val="0"/>
              </a:spcAft>
              <a:buClrTx/>
              <a:buFont typeface="+mj-lt"/>
              <a:buAutoNum type="arabicPeriod"/>
            </a:pPr>
            <a:r>
              <a:rPr lang="en-US" altLang="en-US" sz="2000" dirty="0">
                <a:solidFill>
                  <a:srgbClr val="C00000"/>
                </a:solidFill>
              </a:rPr>
              <a:t>FIN: </a:t>
            </a:r>
            <a:r>
              <a:rPr lang="en-US" altLang="en-US" sz="2000" dirty="0">
                <a:solidFill>
                  <a:schemeClr val="tx1"/>
                </a:solidFill>
              </a:rPr>
              <a:t>It is used to release a connection, and no further data exchange will happen. </a:t>
            </a: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endParaRP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211805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056422"/>
          </a:xfrm>
        </p:spPr>
        <p:txBody>
          <a:bodyPr/>
          <a:lstStyle/>
          <a:p>
            <a:r>
              <a:rPr lang="en-US" altLang="en-US" sz="4400" b="1" dirty="0">
                <a:solidFill>
                  <a:srgbClr val="C00000"/>
                </a:solidFill>
                <a:latin typeface="Times New Roman" panose="02020603050405020304" pitchFamily="18" charset="0"/>
              </a:rPr>
              <a:t>TCP Segment Header…</a:t>
            </a:r>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21</a:t>
            </a:fld>
            <a:endParaRPr lang="en-IN"/>
          </a:p>
        </p:txBody>
      </p:sp>
      <p:sp>
        <p:nvSpPr>
          <p:cNvPr id="9" name="Rectangle 5">
            <a:extLst>
              <a:ext uri="{FF2B5EF4-FFF2-40B4-BE49-F238E27FC236}">
                <a16:creationId xmlns:a16="http://schemas.microsoft.com/office/drawing/2014/main" id="{709EC636-865F-C867-8473-F7E6EBCF4775}"/>
              </a:ext>
            </a:extLst>
          </p:cNvPr>
          <p:cNvSpPr>
            <a:spLocks noGrp="1" noChangeArrowheads="1"/>
          </p:cNvSpPr>
          <p:nvPr>
            <p:ph idx="1"/>
          </p:nvPr>
        </p:nvSpPr>
        <p:spPr bwMode="auto">
          <a:xfrm>
            <a:off x="904875" y="2041919"/>
            <a:ext cx="10391775" cy="4580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61950" indent="-361950" algn="just">
              <a:buFont typeface="Wingdings" panose="05000000000000000000" pitchFamily="2" charset="2"/>
              <a:buChar char="Ø"/>
            </a:pPr>
            <a:r>
              <a:rPr lang="en-US" b="1" dirty="0"/>
              <a:t>Window size: </a:t>
            </a:r>
            <a:r>
              <a:rPr lang="en-US" dirty="0"/>
              <a:t>16-bit field. It contains the size of data that the receiver can accept. This field is used for the flow control and the value of this field is determined by the receiver.</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b="1" dirty="0"/>
              <a:t>Checksum: </a:t>
            </a:r>
            <a:r>
              <a:rPr lang="en-US" dirty="0"/>
              <a:t>16-bit field. This field is optional in UDP, but in the case of TCP/IP, this field is mandatory.</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b="1" dirty="0"/>
              <a:t>Urgent pointer: </a:t>
            </a:r>
            <a:r>
              <a:rPr lang="en-US" dirty="0"/>
              <a:t>Pointer that points to the urgent data byte if the URG flag is set to 1. </a:t>
            </a:r>
          </a:p>
          <a:p>
            <a:pPr marL="361950" indent="-361950" algn="just">
              <a:buFont typeface="Wingdings" panose="05000000000000000000" pitchFamily="2" charset="2"/>
              <a:buChar char="Ø"/>
            </a:pPr>
            <a:endParaRPr lang="en-US" dirty="0"/>
          </a:p>
          <a:p>
            <a:pPr marL="361950" indent="-361950" algn="just">
              <a:buFont typeface="Wingdings" panose="05000000000000000000" pitchFamily="2" charset="2"/>
              <a:buChar char="Ø"/>
            </a:pPr>
            <a:r>
              <a:rPr lang="en-US" b="1" dirty="0"/>
              <a:t>Options: </a:t>
            </a:r>
            <a:r>
              <a:rPr lang="en-US" dirty="0"/>
              <a:t>32-bit field for additional options. If this field contains the data less than 32-bit, then padding is required to obtain the remaining bits.</a:t>
            </a: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endParaRPr>
          </a:p>
          <a:p>
            <a:pPr marL="361950" marR="0" lvl="0" indent="-3619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87505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2928-BDE5-7A11-A9A3-3C8D5BA34AA1}"/>
              </a:ext>
            </a:extLst>
          </p:cNvPr>
          <p:cNvSpPr>
            <a:spLocks noGrp="1"/>
          </p:cNvSpPr>
          <p:nvPr>
            <p:ph type="title"/>
          </p:nvPr>
        </p:nvSpPr>
        <p:spPr>
          <a:xfrm>
            <a:off x="1143000" y="1"/>
            <a:ext cx="10012679" cy="476249"/>
          </a:xfrm>
        </p:spPr>
        <p:txBody>
          <a:bodyPr>
            <a:noAutofit/>
          </a:bodyPr>
          <a:lstStyle/>
          <a:p>
            <a:pPr algn="ctr"/>
            <a:r>
              <a:rPr lang="en-US" altLang="en-US" sz="2800" b="1" dirty="0">
                <a:solidFill>
                  <a:srgbClr val="C00000"/>
                </a:solidFill>
                <a:latin typeface="Times New Roman" panose="02020603050405020304" pitchFamily="18" charset="0"/>
              </a:rPr>
              <a:t>Difference between TCP and UDP</a:t>
            </a:r>
            <a:endParaRPr lang="en-IN" sz="2800" dirty="0"/>
          </a:p>
        </p:txBody>
      </p:sp>
      <p:graphicFrame>
        <p:nvGraphicFramePr>
          <p:cNvPr id="4" name="Content Placeholder 3">
            <a:extLst>
              <a:ext uri="{FF2B5EF4-FFF2-40B4-BE49-F238E27FC236}">
                <a16:creationId xmlns:a16="http://schemas.microsoft.com/office/drawing/2014/main" id="{2E15CC0B-03A3-59DA-CDB3-0BED0AE51F1B}"/>
              </a:ext>
            </a:extLst>
          </p:cNvPr>
          <p:cNvGraphicFramePr>
            <a:graphicFrameLocks noGrp="1"/>
          </p:cNvGraphicFramePr>
          <p:nvPr>
            <p:ph idx="1"/>
            <p:extLst>
              <p:ext uri="{D42A27DB-BD31-4B8C-83A1-F6EECF244321}">
                <p14:modId xmlns:p14="http://schemas.microsoft.com/office/powerpoint/2010/main" val="1011910171"/>
              </p:ext>
            </p:extLst>
          </p:nvPr>
        </p:nvGraphicFramePr>
        <p:xfrm>
          <a:off x="129539" y="514350"/>
          <a:ext cx="11944349" cy="5783852"/>
        </p:xfrm>
        <a:graphic>
          <a:graphicData uri="http://schemas.openxmlformats.org/drawingml/2006/table">
            <a:tbl>
              <a:tblPr>
                <a:tableStyleId>{5940675A-B579-460E-94D1-54222C63F5DA}</a:tableStyleId>
              </a:tblPr>
              <a:tblGrid>
                <a:gridCol w="1623061">
                  <a:extLst>
                    <a:ext uri="{9D8B030D-6E8A-4147-A177-3AD203B41FA5}">
                      <a16:colId xmlns:a16="http://schemas.microsoft.com/office/drawing/2014/main" val="252022659"/>
                    </a:ext>
                  </a:extLst>
                </a:gridCol>
                <a:gridCol w="5196839">
                  <a:extLst>
                    <a:ext uri="{9D8B030D-6E8A-4147-A177-3AD203B41FA5}">
                      <a16:colId xmlns:a16="http://schemas.microsoft.com/office/drawing/2014/main" val="1784486350"/>
                    </a:ext>
                  </a:extLst>
                </a:gridCol>
                <a:gridCol w="5124449">
                  <a:extLst>
                    <a:ext uri="{9D8B030D-6E8A-4147-A177-3AD203B41FA5}">
                      <a16:colId xmlns:a16="http://schemas.microsoft.com/office/drawing/2014/main" val="3555423586"/>
                    </a:ext>
                  </a:extLst>
                </a:gridCol>
              </a:tblGrid>
              <a:tr h="230760">
                <a:tc>
                  <a:txBody>
                    <a:bodyPr/>
                    <a:lstStyle/>
                    <a:p>
                      <a:pPr algn="ctr"/>
                      <a:r>
                        <a:rPr lang="en-IN" sz="1800" b="1" dirty="0"/>
                        <a:t>Basis </a:t>
                      </a:r>
                    </a:p>
                  </a:txBody>
                  <a:tcPr marL="26122" marR="26122" marT="13061" marB="13061" anchor="ctr"/>
                </a:tc>
                <a:tc>
                  <a:txBody>
                    <a:bodyPr/>
                    <a:lstStyle/>
                    <a:p>
                      <a:pPr algn="ctr"/>
                      <a:r>
                        <a:rPr lang="en-IN" sz="1800" b="1" dirty="0"/>
                        <a:t>Transmission Control Protocol (TCP) </a:t>
                      </a:r>
                    </a:p>
                  </a:txBody>
                  <a:tcPr marL="26122" marR="26122" marT="13061" marB="13061" anchor="ctr"/>
                </a:tc>
                <a:tc>
                  <a:txBody>
                    <a:bodyPr/>
                    <a:lstStyle/>
                    <a:p>
                      <a:pPr algn="ctr"/>
                      <a:r>
                        <a:rPr lang="en-IN" sz="1800" b="1" dirty="0"/>
                        <a:t>User Datagram Protocol (UDP) </a:t>
                      </a:r>
                    </a:p>
                  </a:txBody>
                  <a:tcPr marL="26122" marR="26122" marT="13061" marB="13061" anchor="ctr"/>
                </a:tc>
                <a:extLst>
                  <a:ext uri="{0D108BD9-81ED-4DB2-BD59-A6C34878D82A}">
                    <a16:rowId xmlns:a16="http://schemas.microsoft.com/office/drawing/2014/main" val="2510716756"/>
                  </a:ext>
                </a:extLst>
              </a:tr>
              <a:tr h="368212">
                <a:tc>
                  <a:txBody>
                    <a:bodyPr/>
                    <a:lstStyle/>
                    <a:p>
                      <a:r>
                        <a:rPr lang="en-IN" sz="1700" dirty="0"/>
                        <a:t>Type of Service </a:t>
                      </a:r>
                    </a:p>
                  </a:txBody>
                  <a:tcPr marL="26122" marR="26122" marT="13061" marB="13061" anchor="ctr"/>
                </a:tc>
                <a:tc>
                  <a:txBody>
                    <a:bodyPr/>
                    <a:lstStyle/>
                    <a:p>
                      <a:pPr rtl="0"/>
                      <a:r>
                        <a:rPr lang="en-US" sz="1700" dirty="0">
                          <a:hlinkClick r:id="rId2"/>
                        </a:rPr>
                        <a:t>TCP </a:t>
                      </a:r>
                      <a:r>
                        <a:rPr lang="en-US" sz="1700" dirty="0"/>
                        <a:t>is a connection-oriented protocol. </a:t>
                      </a:r>
                    </a:p>
                  </a:txBody>
                  <a:tcPr marL="26122" marR="26122" marT="13061" marB="13061" anchor="ctr"/>
                </a:tc>
                <a:tc>
                  <a:txBody>
                    <a:bodyPr/>
                    <a:lstStyle/>
                    <a:p>
                      <a:pPr rtl="0"/>
                      <a:r>
                        <a:rPr lang="en-US" sz="1700" dirty="0">
                          <a:hlinkClick r:id="rId3"/>
                        </a:rPr>
                        <a:t>UDP </a:t>
                      </a:r>
                      <a:r>
                        <a:rPr lang="en-US" sz="1700" dirty="0"/>
                        <a:t>is the Datagram-oriented protocol. </a:t>
                      </a:r>
                    </a:p>
                  </a:txBody>
                  <a:tcPr marL="26122" marR="26122" marT="13061" marB="13061" anchor="ctr"/>
                </a:tc>
                <a:extLst>
                  <a:ext uri="{0D108BD9-81ED-4DB2-BD59-A6C34878D82A}">
                    <a16:rowId xmlns:a16="http://schemas.microsoft.com/office/drawing/2014/main" val="3089468943"/>
                  </a:ext>
                </a:extLst>
              </a:tr>
              <a:tr h="329659">
                <a:tc>
                  <a:txBody>
                    <a:bodyPr/>
                    <a:lstStyle/>
                    <a:p>
                      <a:r>
                        <a:rPr lang="en-IN" sz="1700" dirty="0"/>
                        <a:t>Reliability </a:t>
                      </a:r>
                    </a:p>
                  </a:txBody>
                  <a:tcPr marL="26122" marR="26122" marT="13061" marB="13061" anchor="ctr"/>
                </a:tc>
                <a:tc>
                  <a:txBody>
                    <a:bodyPr/>
                    <a:lstStyle/>
                    <a:p>
                      <a:r>
                        <a:rPr lang="en-US" sz="1700" dirty="0"/>
                        <a:t>TCP is reliable as it guarantees the delivery of data to the destination router. </a:t>
                      </a:r>
                    </a:p>
                  </a:txBody>
                  <a:tcPr marL="26122" marR="26122" marT="13061" marB="13061" anchor="ctr"/>
                </a:tc>
                <a:tc>
                  <a:txBody>
                    <a:bodyPr/>
                    <a:lstStyle/>
                    <a:p>
                      <a:r>
                        <a:rPr lang="en-US" sz="1700"/>
                        <a:t>The delivery of data to the destination cannot be guaranteed in UDP. </a:t>
                      </a:r>
                    </a:p>
                  </a:txBody>
                  <a:tcPr marL="26122" marR="26122" marT="13061" marB="13061" anchor="ctr"/>
                </a:tc>
                <a:extLst>
                  <a:ext uri="{0D108BD9-81ED-4DB2-BD59-A6C34878D82A}">
                    <a16:rowId xmlns:a16="http://schemas.microsoft.com/office/drawing/2014/main" val="3850774355"/>
                  </a:ext>
                </a:extLst>
              </a:tr>
              <a:tr h="537252">
                <a:tc>
                  <a:txBody>
                    <a:bodyPr/>
                    <a:lstStyle/>
                    <a:p>
                      <a:r>
                        <a:rPr lang="en-IN" sz="1700"/>
                        <a:t>Error checking mechanism </a:t>
                      </a:r>
                    </a:p>
                  </a:txBody>
                  <a:tcPr marL="26122" marR="26122" marT="13061" marB="13061" anchor="ctr"/>
                </a:tc>
                <a:tc>
                  <a:txBody>
                    <a:bodyPr/>
                    <a:lstStyle/>
                    <a:p>
                      <a:pPr rtl="0"/>
                      <a:r>
                        <a:rPr lang="en-US" sz="1700" dirty="0"/>
                        <a:t>TCP provides extensive </a:t>
                      </a:r>
                      <a:r>
                        <a:rPr lang="en-US" sz="1700" dirty="0">
                          <a:hlinkClick r:id="rId4"/>
                        </a:rPr>
                        <a:t>error-checking </a:t>
                      </a:r>
                      <a:r>
                        <a:rPr lang="en-US" sz="1700" dirty="0"/>
                        <a:t>mechanisms. It is because it provides flow control and acknowledgment of data. </a:t>
                      </a:r>
                    </a:p>
                  </a:txBody>
                  <a:tcPr marL="26122" marR="26122" marT="13061" marB="13061" anchor="ctr"/>
                </a:tc>
                <a:tc>
                  <a:txBody>
                    <a:bodyPr/>
                    <a:lstStyle/>
                    <a:p>
                      <a:r>
                        <a:rPr lang="en-US" sz="1700"/>
                        <a:t>UDP has only the basic error-checking mechanism using </a:t>
                      </a:r>
                      <a:r>
                        <a:rPr lang="en-US" sz="1700">
                          <a:hlinkClick r:id="rId5"/>
                        </a:rPr>
                        <a:t>checksums. </a:t>
                      </a:r>
                      <a:endParaRPr lang="en-US" sz="1700"/>
                    </a:p>
                  </a:txBody>
                  <a:tcPr marL="26122" marR="26122" marT="13061" marB="13061" anchor="ctr"/>
                </a:tc>
                <a:extLst>
                  <a:ext uri="{0D108BD9-81ED-4DB2-BD59-A6C34878D82A}">
                    <a16:rowId xmlns:a16="http://schemas.microsoft.com/office/drawing/2014/main" val="1824279983"/>
                  </a:ext>
                </a:extLst>
              </a:tr>
              <a:tr h="367410">
                <a:tc>
                  <a:txBody>
                    <a:bodyPr/>
                    <a:lstStyle/>
                    <a:p>
                      <a:r>
                        <a:rPr lang="en-IN" sz="1700"/>
                        <a:t>Acknowledgment </a:t>
                      </a:r>
                    </a:p>
                  </a:txBody>
                  <a:tcPr marL="26122" marR="26122" marT="13061" marB="13061" anchor="ctr"/>
                </a:tc>
                <a:tc>
                  <a:txBody>
                    <a:bodyPr/>
                    <a:lstStyle/>
                    <a:p>
                      <a:r>
                        <a:rPr lang="en-US" sz="1700" dirty="0"/>
                        <a:t>An acknowledgment segment is present. </a:t>
                      </a:r>
                    </a:p>
                  </a:txBody>
                  <a:tcPr marL="26122" marR="26122" marT="13061" marB="13061" anchor="ctr"/>
                </a:tc>
                <a:tc>
                  <a:txBody>
                    <a:bodyPr/>
                    <a:lstStyle/>
                    <a:p>
                      <a:r>
                        <a:rPr lang="en-IN" sz="1700"/>
                        <a:t>No acknowledgment segment. </a:t>
                      </a:r>
                    </a:p>
                  </a:txBody>
                  <a:tcPr marL="26122" marR="26122" marT="13061" marB="13061" anchor="ctr"/>
                </a:tc>
                <a:extLst>
                  <a:ext uri="{0D108BD9-81ED-4DB2-BD59-A6C34878D82A}">
                    <a16:rowId xmlns:a16="http://schemas.microsoft.com/office/drawing/2014/main" val="1300442886"/>
                  </a:ext>
                </a:extLst>
              </a:tr>
              <a:tr h="428555">
                <a:tc>
                  <a:txBody>
                    <a:bodyPr/>
                    <a:lstStyle/>
                    <a:p>
                      <a:r>
                        <a:rPr lang="en-IN" sz="1700"/>
                        <a:t>Sequence </a:t>
                      </a:r>
                    </a:p>
                  </a:txBody>
                  <a:tcPr marL="26122" marR="26122" marT="13061" marB="13061" anchor="ctr"/>
                </a:tc>
                <a:tc>
                  <a:txBody>
                    <a:bodyPr/>
                    <a:lstStyle/>
                    <a:p>
                      <a:pPr rtl="0"/>
                      <a:r>
                        <a:rPr lang="en-US" sz="1700" dirty="0"/>
                        <a:t>Sequencing of data is a feature of Transmission Control Protocol (TCP). This means that packets arrive in order at the receiver. </a:t>
                      </a:r>
                    </a:p>
                  </a:txBody>
                  <a:tcPr marL="26122" marR="26122" marT="13061" marB="13061" anchor="ctr"/>
                </a:tc>
                <a:tc>
                  <a:txBody>
                    <a:bodyPr/>
                    <a:lstStyle/>
                    <a:p>
                      <a:r>
                        <a:rPr lang="en-US" sz="1700"/>
                        <a:t>There is no sequencing of data in UDP. If the order is required, it has to be managed by the application layer. </a:t>
                      </a:r>
                    </a:p>
                  </a:txBody>
                  <a:tcPr marL="26122" marR="26122" marT="13061" marB="13061" anchor="ctr"/>
                </a:tc>
                <a:extLst>
                  <a:ext uri="{0D108BD9-81ED-4DB2-BD59-A6C34878D82A}">
                    <a16:rowId xmlns:a16="http://schemas.microsoft.com/office/drawing/2014/main" val="3214254526"/>
                  </a:ext>
                </a:extLst>
              </a:tr>
              <a:tr h="230760">
                <a:tc>
                  <a:txBody>
                    <a:bodyPr/>
                    <a:lstStyle/>
                    <a:p>
                      <a:r>
                        <a:rPr lang="en-IN" sz="1700"/>
                        <a:t>Speed </a:t>
                      </a:r>
                    </a:p>
                  </a:txBody>
                  <a:tcPr marL="26122" marR="26122" marT="13061" marB="13061" anchor="ctr"/>
                </a:tc>
                <a:tc>
                  <a:txBody>
                    <a:bodyPr/>
                    <a:lstStyle/>
                    <a:p>
                      <a:r>
                        <a:rPr lang="en-US" sz="1700" dirty="0"/>
                        <a:t>TCP is comparatively slower than UDP. </a:t>
                      </a:r>
                    </a:p>
                  </a:txBody>
                  <a:tcPr marL="26122" marR="26122" marT="13061" marB="13061" anchor="ctr"/>
                </a:tc>
                <a:tc>
                  <a:txBody>
                    <a:bodyPr/>
                    <a:lstStyle/>
                    <a:p>
                      <a:r>
                        <a:rPr lang="en-US" sz="1700"/>
                        <a:t>UDP is faster, simpler, and more efficient than TCP. </a:t>
                      </a:r>
                    </a:p>
                  </a:txBody>
                  <a:tcPr marL="26122" marR="26122" marT="13061" marB="13061" anchor="ctr"/>
                </a:tc>
                <a:extLst>
                  <a:ext uri="{0D108BD9-81ED-4DB2-BD59-A6C34878D82A}">
                    <a16:rowId xmlns:a16="http://schemas.microsoft.com/office/drawing/2014/main" val="979335650"/>
                  </a:ext>
                </a:extLst>
              </a:tr>
              <a:tr h="367410">
                <a:tc>
                  <a:txBody>
                    <a:bodyPr/>
                    <a:lstStyle/>
                    <a:p>
                      <a:r>
                        <a:rPr lang="en-IN" sz="1700"/>
                        <a:t>Retransmission </a:t>
                      </a:r>
                    </a:p>
                  </a:txBody>
                  <a:tcPr marL="26122" marR="26122" marT="13061" marB="13061" anchor="ctr"/>
                </a:tc>
                <a:tc>
                  <a:txBody>
                    <a:bodyPr/>
                    <a:lstStyle/>
                    <a:p>
                      <a:r>
                        <a:rPr lang="en-US" sz="1700" dirty="0"/>
                        <a:t>Retransmission of lost packets is possible in TCP, but not in UDP. </a:t>
                      </a:r>
                    </a:p>
                  </a:txBody>
                  <a:tcPr marL="26122" marR="26122" marT="13061" marB="13061" anchor="ctr"/>
                </a:tc>
                <a:tc>
                  <a:txBody>
                    <a:bodyPr/>
                    <a:lstStyle/>
                    <a:p>
                      <a:r>
                        <a:rPr lang="en-US" sz="1700"/>
                        <a:t>There is no retransmission of lost packets in the User Datagram Protocol (UDP). </a:t>
                      </a:r>
                    </a:p>
                  </a:txBody>
                  <a:tcPr marL="26122" marR="26122" marT="13061" marB="13061" anchor="ctr"/>
                </a:tc>
                <a:extLst>
                  <a:ext uri="{0D108BD9-81ED-4DB2-BD59-A6C34878D82A}">
                    <a16:rowId xmlns:a16="http://schemas.microsoft.com/office/drawing/2014/main" val="2424090618"/>
                  </a:ext>
                </a:extLst>
              </a:tr>
              <a:tr h="367410">
                <a:tc>
                  <a:txBody>
                    <a:bodyPr/>
                    <a:lstStyle/>
                    <a:p>
                      <a:r>
                        <a:rPr lang="en-IN" sz="1700"/>
                        <a:t>Header Length </a:t>
                      </a:r>
                    </a:p>
                  </a:txBody>
                  <a:tcPr marL="26122" marR="26122" marT="13061" marB="13061" anchor="ctr"/>
                </a:tc>
                <a:tc>
                  <a:txBody>
                    <a:bodyPr/>
                    <a:lstStyle/>
                    <a:p>
                      <a:r>
                        <a:rPr lang="en-US" sz="1700" dirty="0"/>
                        <a:t>TCP has a (20-60) bytes variable length header. </a:t>
                      </a:r>
                    </a:p>
                  </a:txBody>
                  <a:tcPr marL="26122" marR="26122" marT="13061" marB="13061" anchor="ctr"/>
                </a:tc>
                <a:tc>
                  <a:txBody>
                    <a:bodyPr/>
                    <a:lstStyle/>
                    <a:p>
                      <a:r>
                        <a:rPr lang="en-US" sz="1700" dirty="0"/>
                        <a:t>UDP has an 8 bytes fixed-length header. </a:t>
                      </a:r>
                    </a:p>
                  </a:txBody>
                  <a:tcPr marL="26122" marR="26122" marT="13061" marB="13061" anchor="ctr"/>
                </a:tc>
                <a:extLst>
                  <a:ext uri="{0D108BD9-81ED-4DB2-BD59-A6C34878D82A}">
                    <a16:rowId xmlns:a16="http://schemas.microsoft.com/office/drawing/2014/main" val="3456117318"/>
                  </a:ext>
                </a:extLst>
              </a:tr>
              <a:tr h="197568">
                <a:tc>
                  <a:txBody>
                    <a:bodyPr/>
                    <a:lstStyle/>
                    <a:p>
                      <a:r>
                        <a:rPr lang="en-IN" sz="1700"/>
                        <a:t>Weight </a:t>
                      </a:r>
                    </a:p>
                  </a:txBody>
                  <a:tcPr marL="26122" marR="26122" marT="13061" marB="13061" anchor="ctr"/>
                </a:tc>
                <a:tc>
                  <a:txBody>
                    <a:bodyPr/>
                    <a:lstStyle/>
                    <a:p>
                      <a:r>
                        <a:rPr lang="en-IN" sz="1700" dirty="0"/>
                        <a:t>TCP is heavy-weight. </a:t>
                      </a:r>
                    </a:p>
                  </a:txBody>
                  <a:tcPr marL="26122" marR="26122" marT="13061" marB="13061" anchor="ctr"/>
                </a:tc>
                <a:tc>
                  <a:txBody>
                    <a:bodyPr/>
                    <a:lstStyle/>
                    <a:p>
                      <a:r>
                        <a:rPr lang="en-IN" sz="1700" dirty="0"/>
                        <a:t>UDP is lightweight. </a:t>
                      </a:r>
                    </a:p>
                  </a:txBody>
                  <a:tcPr marL="26122" marR="26122" marT="13061" marB="13061" anchor="ctr"/>
                </a:tc>
                <a:extLst>
                  <a:ext uri="{0D108BD9-81ED-4DB2-BD59-A6C34878D82A}">
                    <a16:rowId xmlns:a16="http://schemas.microsoft.com/office/drawing/2014/main" val="460526415"/>
                  </a:ext>
                </a:extLst>
              </a:tr>
              <a:tr h="367410">
                <a:tc>
                  <a:txBody>
                    <a:bodyPr/>
                    <a:lstStyle/>
                    <a:p>
                      <a:r>
                        <a:rPr lang="en-IN" sz="1700"/>
                        <a:t>Handshaking Techniques </a:t>
                      </a:r>
                    </a:p>
                  </a:txBody>
                  <a:tcPr marL="26122" marR="26122" marT="13061" marB="13061" anchor="ctr"/>
                </a:tc>
                <a:tc>
                  <a:txBody>
                    <a:bodyPr/>
                    <a:lstStyle/>
                    <a:p>
                      <a:r>
                        <a:rPr lang="en-US" sz="1700" dirty="0"/>
                        <a:t>Uses handshakes such as SYN, ACK, SYN-ACK </a:t>
                      </a:r>
                    </a:p>
                  </a:txBody>
                  <a:tcPr marL="26122" marR="26122" marT="13061" marB="13061" anchor="ctr"/>
                </a:tc>
                <a:tc>
                  <a:txBody>
                    <a:bodyPr/>
                    <a:lstStyle/>
                    <a:p>
                      <a:r>
                        <a:rPr lang="en-US" sz="1700" dirty="0"/>
                        <a:t>It’s a connectionless protocol i.e. No handshake </a:t>
                      </a:r>
                    </a:p>
                  </a:txBody>
                  <a:tcPr marL="26122" marR="26122" marT="13061" marB="13061" anchor="ctr"/>
                </a:tc>
                <a:extLst>
                  <a:ext uri="{0D108BD9-81ED-4DB2-BD59-A6C34878D82A}">
                    <a16:rowId xmlns:a16="http://schemas.microsoft.com/office/drawing/2014/main" val="4266931588"/>
                  </a:ext>
                </a:extLst>
              </a:tr>
              <a:tr h="230760">
                <a:tc>
                  <a:txBody>
                    <a:bodyPr/>
                    <a:lstStyle/>
                    <a:p>
                      <a:r>
                        <a:rPr lang="en-IN" sz="1700"/>
                        <a:t>Broadcasting </a:t>
                      </a:r>
                    </a:p>
                  </a:txBody>
                  <a:tcPr marL="26122" marR="26122" marT="13061" marB="13061" anchor="ctr"/>
                </a:tc>
                <a:tc>
                  <a:txBody>
                    <a:bodyPr/>
                    <a:lstStyle/>
                    <a:p>
                      <a:r>
                        <a:rPr lang="en-IN" sz="1700" dirty="0"/>
                        <a:t>TCP doesn’t support Broadcasting. </a:t>
                      </a:r>
                    </a:p>
                  </a:txBody>
                  <a:tcPr marL="26122" marR="26122" marT="13061" marB="13061" anchor="ctr"/>
                </a:tc>
                <a:tc>
                  <a:txBody>
                    <a:bodyPr/>
                    <a:lstStyle/>
                    <a:p>
                      <a:r>
                        <a:rPr lang="en-IN" sz="1700" dirty="0"/>
                        <a:t>UDP supports Broadcasting. </a:t>
                      </a:r>
                    </a:p>
                  </a:txBody>
                  <a:tcPr marL="26122" marR="26122" marT="13061" marB="13061" anchor="ctr"/>
                </a:tc>
                <a:extLst>
                  <a:ext uri="{0D108BD9-81ED-4DB2-BD59-A6C34878D82A}">
                    <a16:rowId xmlns:a16="http://schemas.microsoft.com/office/drawing/2014/main" val="662947386"/>
                  </a:ext>
                </a:extLst>
              </a:tr>
              <a:tr h="230760">
                <a:tc>
                  <a:txBody>
                    <a:bodyPr/>
                    <a:lstStyle/>
                    <a:p>
                      <a:r>
                        <a:rPr lang="en-IN" sz="1700"/>
                        <a:t>Protocols </a:t>
                      </a:r>
                    </a:p>
                  </a:txBody>
                  <a:tcPr marL="26122" marR="26122" marT="13061" marB="13061" anchor="ctr"/>
                </a:tc>
                <a:tc>
                  <a:txBody>
                    <a:bodyPr/>
                    <a:lstStyle/>
                    <a:p>
                      <a:r>
                        <a:rPr lang="en-US" sz="1700" dirty="0"/>
                        <a:t>TCP is used by </a:t>
                      </a:r>
                      <a:r>
                        <a:rPr lang="en-US" sz="1700" dirty="0">
                          <a:hlinkClick r:id="rId6"/>
                        </a:rPr>
                        <a:t>HTTP, HTTPs </a:t>
                      </a:r>
                      <a:r>
                        <a:rPr lang="en-US" sz="1700" dirty="0"/>
                        <a:t>, </a:t>
                      </a:r>
                      <a:r>
                        <a:rPr lang="en-US" sz="1700" dirty="0">
                          <a:hlinkClick r:id="rId7"/>
                        </a:rPr>
                        <a:t>FTP </a:t>
                      </a:r>
                      <a:r>
                        <a:rPr lang="en-US" sz="1700" dirty="0"/>
                        <a:t>, </a:t>
                      </a:r>
                      <a:r>
                        <a:rPr lang="en-US" sz="1700" dirty="0">
                          <a:hlinkClick r:id="rId8"/>
                        </a:rPr>
                        <a:t>SMTP </a:t>
                      </a:r>
                      <a:r>
                        <a:rPr lang="en-US" sz="1700" dirty="0"/>
                        <a:t>and </a:t>
                      </a:r>
                      <a:r>
                        <a:rPr lang="en-US" sz="1700" dirty="0">
                          <a:hlinkClick r:id="rId9"/>
                        </a:rPr>
                        <a:t>Telnet </a:t>
                      </a:r>
                      <a:r>
                        <a:rPr lang="en-US" sz="1700" dirty="0"/>
                        <a:t>. </a:t>
                      </a:r>
                    </a:p>
                  </a:txBody>
                  <a:tcPr marL="26122" marR="26122" marT="13061" marB="13061" anchor="ctr"/>
                </a:tc>
                <a:tc>
                  <a:txBody>
                    <a:bodyPr/>
                    <a:lstStyle/>
                    <a:p>
                      <a:r>
                        <a:rPr lang="en-US" sz="1700" dirty="0"/>
                        <a:t>UDP is used by </a:t>
                      </a:r>
                      <a:r>
                        <a:rPr lang="en-US" sz="1700" dirty="0">
                          <a:hlinkClick r:id="rId10"/>
                        </a:rPr>
                        <a:t>DNS </a:t>
                      </a:r>
                      <a:r>
                        <a:rPr lang="en-US" sz="1700" dirty="0"/>
                        <a:t>, </a:t>
                      </a:r>
                      <a:r>
                        <a:rPr lang="en-US" sz="1700" dirty="0">
                          <a:hlinkClick r:id="rId11"/>
                        </a:rPr>
                        <a:t>DHCP </a:t>
                      </a:r>
                      <a:r>
                        <a:rPr lang="en-US" sz="1700" dirty="0"/>
                        <a:t>, TFTP, </a:t>
                      </a:r>
                      <a:r>
                        <a:rPr lang="en-US" sz="1700" dirty="0">
                          <a:hlinkClick r:id="rId12"/>
                        </a:rPr>
                        <a:t>SNMP </a:t>
                      </a:r>
                      <a:r>
                        <a:rPr lang="en-US" sz="1700" dirty="0"/>
                        <a:t>, </a:t>
                      </a:r>
                      <a:r>
                        <a:rPr lang="en-US" sz="1700" dirty="0">
                          <a:hlinkClick r:id="rId13"/>
                        </a:rPr>
                        <a:t>RIP </a:t>
                      </a:r>
                      <a:r>
                        <a:rPr lang="en-US" sz="1700" dirty="0"/>
                        <a:t>, and </a:t>
                      </a:r>
                      <a:r>
                        <a:rPr lang="en-US" sz="1700" dirty="0">
                          <a:hlinkClick r:id="rId14"/>
                        </a:rPr>
                        <a:t>VoIP </a:t>
                      </a:r>
                      <a:r>
                        <a:rPr lang="en-US" sz="1700" dirty="0"/>
                        <a:t>. </a:t>
                      </a:r>
                    </a:p>
                  </a:txBody>
                  <a:tcPr marL="26122" marR="26122" marT="13061" marB="13061" anchor="ctr"/>
                </a:tc>
                <a:extLst>
                  <a:ext uri="{0D108BD9-81ED-4DB2-BD59-A6C34878D82A}">
                    <a16:rowId xmlns:a16="http://schemas.microsoft.com/office/drawing/2014/main" val="455630198"/>
                  </a:ext>
                </a:extLst>
              </a:tr>
            </a:tbl>
          </a:graphicData>
        </a:graphic>
      </p:graphicFrame>
    </p:spTree>
    <p:extLst>
      <p:ext uri="{BB962C8B-B14F-4D97-AF65-F5344CB8AC3E}">
        <p14:creationId xmlns:p14="http://schemas.microsoft.com/office/powerpoint/2010/main" val="3285163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–Network Protocols and 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352</TotalTime>
  <Words>1187</Words>
  <Application>Microsoft Office PowerPoint</Application>
  <PresentationFormat>Widescreen</PresentationFormat>
  <Paragraphs>168</Paragraphs>
  <Slides>23</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Aptos</vt:lpstr>
      <vt:lpstr>Arial</vt:lpstr>
      <vt:lpstr>BioRhyme ExtraBold</vt:lpstr>
      <vt:lpstr>Calibri</vt:lpstr>
      <vt:lpstr>Calibri Light</vt:lpstr>
      <vt:lpstr>Poppins</vt:lpstr>
      <vt:lpstr>Tahoma</vt:lpstr>
      <vt:lpstr>Times New Roman</vt:lpstr>
      <vt:lpstr>Wingdings</vt:lpstr>
      <vt:lpstr>Retrospect</vt:lpstr>
      <vt:lpstr>PowerPoint Presentation</vt:lpstr>
      <vt:lpstr>UDP – User Datagram Protocol</vt:lpstr>
      <vt:lpstr>User Datagram Protocol (UDP)</vt:lpstr>
      <vt:lpstr>UDP Format</vt:lpstr>
      <vt:lpstr>UDP Format…</vt:lpstr>
      <vt:lpstr>Pseudoheader for checksum calculation</vt:lpstr>
      <vt:lpstr>Example: Checksum calculation</vt:lpstr>
      <vt:lpstr>PowerPoint Presentation</vt:lpstr>
      <vt:lpstr>Uses of UDP</vt:lpstr>
      <vt:lpstr>TCP – Transmission Control Protocol</vt:lpstr>
      <vt:lpstr>TCP – Transport Control Protocol </vt:lpstr>
      <vt:lpstr>PowerPoint Presentation</vt:lpstr>
      <vt:lpstr>PowerPoint Presentation</vt:lpstr>
      <vt:lpstr>PowerPoint Presentation</vt:lpstr>
      <vt:lpstr>PowerPoint Presentation</vt:lpstr>
      <vt:lpstr>PowerPoint Presentation</vt:lpstr>
      <vt:lpstr>PowerPoint Presentation</vt:lpstr>
      <vt:lpstr>TCP Segment Header</vt:lpstr>
      <vt:lpstr>TCP Segment Header…</vt:lpstr>
      <vt:lpstr>TCP Segment Header…</vt:lpstr>
      <vt:lpstr>TCP Segment Header…</vt:lpstr>
      <vt:lpstr>Difference between TCP and UDP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NAT implementation</dc:title>
  <dc:creator>preetham chiramana</dc:creator>
  <cp:lastModifiedBy>GORLA VENKATA GANESH</cp:lastModifiedBy>
  <cp:revision>68</cp:revision>
  <dcterms:created xsi:type="dcterms:W3CDTF">2020-11-27T17:03:30Z</dcterms:created>
  <dcterms:modified xsi:type="dcterms:W3CDTF">2026-02-27T08:59:00Z</dcterms:modified>
</cp:coreProperties>
</file>