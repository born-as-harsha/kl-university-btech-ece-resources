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48"/>
  </p:notesMasterIdLst>
  <p:sldIdLst>
    <p:sldId id="271" r:id="rId5"/>
    <p:sldId id="300" r:id="rId6"/>
    <p:sldId id="264" r:id="rId7"/>
    <p:sldId id="443" r:id="rId8"/>
    <p:sldId id="278" r:id="rId9"/>
    <p:sldId id="283" r:id="rId10"/>
    <p:sldId id="445" r:id="rId11"/>
    <p:sldId id="439" r:id="rId12"/>
    <p:sldId id="530" r:id="rId13"/>
    <p:sldId id="531" r:id="rId14"/>
    <p:sldId id="542" r:id="rId15"/>
    <p:sldId id="543" r:id="rId16"/>
    <p:sldId id="545" r:id="rId17"/>
    <p:sldId id="546" r:id="rId18"/>
    <p:sldId id="547" r:id="rId19"/>
    <p:sldId id="591" r:id="rId20"/>
    <p:sldId id="447" r:id="rId21"/>
    <p:sldId id="442" r:id="rId22"/>
    <p:sldId id="552" r:id="rId23"/>
    <p:sldId id="444" r:id="rId24"/>
    <p:sldId id="446" r:id="rId25"/>
    <p:sldId id="298" r:id="rId26"/>
    <p:sldId id="299" r:id="rId27"/>
    <p:sldId id="592" r:id="rId28"/>
    <p:sldId id="301" r:id="rId29"/>
    <p:sldId id="557" r:id="rId30"/>
    <p:sldId id="558" r:id="rId31"/>
    <p:sldId id="559" r:id="rId32"/>
    <p:sldId id="560" r:id="rId33"/>
    <p:sldId id="593" r:id="rId34"/>
    <p:sldId id="440" r:id="rId35"/>
    <p:sldId id="272" r:id="rId36"/>
    <p:sldId id="583" r:id="rId37"/>
    <p:sldId id="584" r:id="rId38"/>
    <p:sldId id="585" r:id="rId39"/>
    <p:sldId id="586" r:id="rId40"/>
    <p:sldId id="587" r:id="rId41"/>
    <p:sldId id="594" r:id="rId42"/>
    <p:sldId id="588" r:id="rId43"/>
    <p:sldId id="589" r:id="rId44"/>
    <p:sldId id="597" r:id="rId45"/>
    <p:sldId id="598" r:id="rId46"/>
    <p:sldId id="30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0000"/>
    <a:srgbClr val="FF9900"/>
    <a:srgbClr val="E84845"/>
    <a:srgbClr val="FAD2D2"/>
    <a:srgbClr val="F89E4C"/>
    <a:srgbClr val="A81E24"/>
    <a:srgbClr val="FFF2CC"/>
    <a:srgbClr val="CF2F33"/>
    <a:srgbClr val="BA2532"/>
    <a:srgbClr val="E3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9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19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156716" y="1957206"/>
            <a:ext cx="6902548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RIP, OSPF &amp; BGP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48CCFB3-D493-E5A8-0C84-A66828FD1A5D}"/>
              </a:ext>
            </a:extLst>
          </p:cNvPr>
          <p:cNvSpPr/>
          <p:nvPr/>
        </p:nvSpPr>
        <p:spPr>
          <a:xfrm>
            <a:off x="7566246" y="5105525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- 22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84408"/>
            <a:ext cx="341367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116544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internet protocols and Interdomain and Intradomain Routing.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4400322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List out the few routing protocols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Describe the routing protocols OSPF and BGP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Demonstrate the OSPF routing protocol.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Demonstrate the BGP routing protocol.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160" y="860423"/>
            <a:ext cx="9045677" cy="60007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Bookman Old Style" pitchFamily="18" charset="0"/>
              </a:rPr>
              <a:t>INTERNET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4975" y="1460499"/>
            <a:ext cx="7955220" cy="39401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RIP – Routing Information Protocol</a:t>
            </a:r>
          </a:p>
          <a:p>
            <a:endParaRPr lang="en-US" sz="2200" dirty="0"/>
          </a:p>
          <a:p>
            <a:r>
              <a:rPr lang="en-US" sz="2200" dirty="0"/>
              <a:t>OSPF – Open Shortest Path First Protocol</a:t>
            </a:r>
          </a:p>
          <a:p>
            <a:endParaRPr lang="en-US" sz="2200" dirty="0"/>
          </a:p>
          <a:p>
            <a:r>
              <a:rPr lang="en-US" sz="2200" dirty="0"/>
              <a:t>BGP – Border Gateway Protocol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3</a:t>
            </a:fld>
            <a:endParaRPr lang="en-AU"/>
          </a:p>
        </p:txBody>
      </p:sp>
      <p:pic>
        <p:nvPicPr>
          <p:cNvPr id="6" name="Picture 2" descr="KL Deemed to be University Logo">
            <a:extLst>
              <a:ext uri="{FF2B5EF4-FFF2-40B4-BE49-F238E27FC236}">
                <a16:creationId xmlns:a16="http://schemas.microsoft.com/office/drawing/2014/main" id="{90D0BBC6-67BA-4D0B-B488-817729936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C6C5-3E7D-2AF7-3DD3-541857A8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Bookman Old Style" pitchFamily="18" charset="0"/>
              </a:rPr>
              <a:t>Autonomous Systems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9F607-B426-273A-FC90-B86197960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2786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sz="2900" dirty="0"/>
              <a:t>Internet is made up of a large number of </a:t>
            </a:r>
            <a:r>
              <a:rPr lang="en-US" sz="2900" dirty="0">
                <a:solidFill>
                  <a:srgbClr val="C00000"/>
                </a:solidFill>
              </a:rPr>
              <a:t>Autonomous systems (AS).</a:t>
            </a:r>
          </a:p>
          <a:p>
            <a:pPr algn="just"/>
            <a:endParaRPr lang="en-US" sz="600" dirty="0"/>
          </a:p>
          <a:p>
            <a:pPr algn="just"/>
            <a:r>
              <a:rPr lang="en-US" sz="2900" dirty="0"/>
              <a:t>An Autonomous System (AS) is a </a:t>
            </a:r>
            <a:r>
              <a:rPr lang="en-US" sz="2900" dirty="0">
                <a:solidFill>
                  <a:srgbClr val="C00000"/>
                </a:solidFill>
              </a:rPr>
              <a:t>collection of networks </a:t>
            </a:r>
            <a:r>
              <a:rPr lang="en-US" sz="2900" dirty="0"/>
              <a:t>that are all managed, controlled and supervised by a single entity or organization.</a:t>
            </a:r>
          </a:p>
          <a:p>
            <a:pPr algn="just"/>
            <a:endParaRPr lang="en-US" sz="800" dirty="0"/>
          </a:p>
          <a:p>
            <a:pPr algn="just"/>
            <a:r>
              <a:rPr lang="en-US" sz="2900" dirty="0"/>
              <a:t>Each AS is operated by a different organization and can use its own routing algorithm inside.</a:t>
            </a:r>
          </a:p>
          <a:p>
            <a:pPr algn="just"/>
            <a:endParaRPr lang="en-US" sz="1100" dirty="0"/>
          </a:p>
          <a:p>
            <a:pPr algn="just"/>
            <a:r>
              <a:rPr lang="en-US" sz="2900" dirty="0"/>
              <a:t>A routing algorithm within an AS is called an </a:t>
            </a:r>
            <a:r>
              <a:rPr lang="en-US" sz="2900" dirty="0">
                <a:solidFill>
                  <a:srgbClr val="C00000"/>
                </a:solidFill>
              </a:rPr>
              <a:t>Interior Gateway Protocol(IGP).</a:t>
            </a:r>
          </a:p>
          <a:p>
            <a:pPr marL="0" indent="0" algn="just">
              <a:buNone/>
            </a:pPr>
            <a:endParaRPr lang="en-US" sz="1000" dirty="0"/>
          </a:p>
          <a:p>
            <a:pPr algn="just"/>
            <a:r>
              <a:rPr lang="en-US" sz="2900" dirty="0"/>
              <a:t>An algorithm for routing between AS’s is called an </a:t>
            </a:r>
            <a:r>
              <a:rPr lang="en-US" sz="2900" dirty="0">
                <a:solidFill>
                  <a:srgbClr val="C00000"/>
                </a:solidFill>
              </a:rPr>
              <a:t>Exterior Gateway Protocol(BGP).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1119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7968" y="839685"/>
            <a:ext cx="9430058" cy="60007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Bookman Old Style" pitchFamily="18" charset="0"/>
              </a:rPr>
              <a:t>Autonomous Systems…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75" y="1933295"/>
            <a:ext cx="11372849" cy="5103019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/>
              <a:t>Since AS’s in the internet are large, they are divided into </a:t>
            </a:r>
            <a:r>
              <a:rPr lang="en-US" sz="2200" dirty="0">
                <a:solidFill>
                  <a:srgbClr val="C00000"/>
                </a:solidFill>
              </a:rPr>
              <a:t>Areas.</a:t>
            </a:r>
          </a:p>
          <a:p>
            <a:pPr algn="just">
              <a:lnSpc>
                <a:spcPct val="100000"/>
              </a:lnSpc>
            </a:pPr>
            <a:endParaRPr lang="en-US" sz="100" dirty="0">
              <a:solidFill>
                <a:srgbClr val="C00000"/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en-US" sz="2200" dirty="0"/>
              <a:t>The topology of the area is not visible to outside world.</a:t>
            </a:r>
          </a:p>
          <a:p>
            <a:pPr algn="just">
              <a:lnSpc>
                <a:spcPct val="100000"/>
              </a:lnSpc>
            </a:pPr>
            <a:endParaRPr lang="en-US" sz="100" dirty="0"/>
          </a:p>
          <a:p>
            <a:pPr algn="just">
              <a:lnSpc>
                <a:spcPct val="100000"/>
              </a:lnSpc>
            </a:pPr>
            <a:r>
              <a:rPr lang="en-US" sz="2200" dirty="0"/>
              <a:t>Every AS’s has a backbone area called </a:t>
            </a:r>
            <a:r>
              <a:rPr lang="en-US" sz="2200" dirty="0">
                <a:solidFill>
                  <a:srgbClr val="C00000"/>
                </a:solidFill>
              </a:rPr>
              <a:t>Area 0.</a:t>
            </a:r>
            <a:r>
              <a:rPr lang="en-US" sz="2200" dirty="0"/>
              <a:t>  All areas are connected to back bone.</a:t>
            </a:r>
          </a:p>
          <a:p>
            <a:pPr algn="just">
              <a:lnSpc>
                <a:spcPct val="100000"/>
              </a:lnSpc>
            </a:pPr>
            <a:endParaRPr lang="en-US" sz="100" dirty="0"/>
          </a:p>
          <a:p>
            <a:pPr algn="just">
              <a:lnSpc>
                <a:spcPct val="100000"/>
              </a:lnSpc>
            </a:pPr>
            <a:r>
              <a:rPr lang="en-US" sz="2200" dirty="0">
                <a:solidFill>
                  <a:srgbClr val="C00000"/>
                </a:solidFill>
              </a:rPr>
              <a:t>Area-to-Area communication </a:t>
            </a:r>
            <a:r>
              <a:rPr lang="en-US" sz="2200" dirty="0"/>
              <a:t>is done via backbone.</a:t>
            </a:r>
          </a:p>
          <a:p>
            <a:pPr algn="just">
              <a:lnSpc>
                <a:spcPct val="100000"/>
              </a:lnSpc>
            </a:pPr>
            <a:endParaRPr lang="en-US" sz="100" dirty="0"/>
          </a:p>
          <a:p>
            <a:pPr algn="just">
              <a:lnSpc>
                <a:spcPct val="100000"/>
              </a:lnSpc>
            </a:pPr>
            <a:r>
              <a:rPr lang="en-US" sz="2200" dirty="0"/>
              <a:t>Router that is connected to two or more areas is part of the back bone.</a:t>
            </a:r>
          </a:p>
          <a:p>
            <a:pPr algn="just">
              <a:lnSpc>
                <a:spcPct val="100000"/>
              </a:lnSpc>
            </a:pPr>
            <a:endParaRPr lang="en-US" sz="100" dirty="0"/>
          </a:p>
          <a:p>
            <a:pPr algn="just">
              <a:lnSpc>
                <a:spcPct val="100000"/>
              </a:lnSpc>
            </a:pPr>
            <a:r>
              <a:rPr lang="en-US" sz="2200" dirty="0"/>
              <a:t>A router that connects to two areas needs the database for both.</a:t>
            </a:r>
          </a:p>
          <a:p>
            <a:pPr algn="just">
              <a:lnSpc>
                <a:spcPct val="100000"/>
              </a:lnSpc>
            </a:pPr>
            <a:endParaRPr lang="en-US" sz="2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5</a:t>
            </a:fld>
            <a:endParaRPr lang="en-AU"/>
          </a:p>
        </p:txBody>
      </p:sp>
      <p:pic>
        <p:nvPicPr>
          <p:cNvPr id="6" name="Picture 2" descr="KL Deemed to be University Logo">
            <a:extLst>
              <a:ext uri="{FF2B5EF4-FFF2-40B4-BE49-F238E27FC236}">
                <a16:creationId xmlns:a16="http://schemas.microsoft.com/office/drawing/2014/main" id="{86832427-6042-4D90-8662-FBFD0A920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1676400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6</a:t>
            </a:fld>
            <a:endParaRPr lang="en-A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2256177-E828-4625-8692-54D88A66ECF6}"/>
              </a:ext>
            </a:extLst>
          </p:cNvPr>
          <p:cNvSpPr txBox="1">
            <a:spLocks/>
          </p:cNvSpPr>
          <p:nvPr/>
        </p:nvSpPr>
        <p:spPr>
          <a:xfrm>
            <a:off x="2181225" y="136525"/>
            <a:ext cx="7995162" cy="359324"/>
          </a:xfrm>
          <a:prstGeom prst="rect">
            <a:avLst/>
          </a:prstGeom>
          <a:solidFill>
            <a:srgbClr val="760000"/>
          </a:solidFill>
        </p:spPr>
        <p:txBody>
          <a:bodyPr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  <a:latin typeface="Bookman Old Style" pitchFamily="18" charset="0"/>
              </a:rPr>
              <a:t>Autonomous Systems (</a:t>
            </a:r>
            <a:r>
              <a:rPr lang="en-US" sz="4000" dirty="0" err="1">
                <a:solidFill>
                  <a:schemeClr val="bg1"/>
                </a:solidFill>
                <a:latin typeface="Bookman Old Style" pitchFamily="18" charset="0"/>
              </a:rPr>
              <a:t>ASes</a:t>
            </a:r>
            <a:r>
              <a:rPr lang="en-US" sz="4000" dirty="0">
                <a:solidFill>
                  <a:schemeClr val="bg1"/>
                </a:solidFill>
                <a:latin typeface="Bookman Old Style" pitchFamily="18" charset="0"/>
              </a:rPr>
              <a:t>)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4AF027-4179-31D0-E10E-FD34EE378AD4}"/>
              </a:ext>
            </a:extLst>
          </p:cNvPr>
          <p:cNvSpPr txBox="1"/>
          <p:nvPr/>
        </p:nvSpPr>
        <p:spPr>
          <a:xfrm>
            <a:off x="142875" y="1254447"/>
            <a:ext cx="61341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During normal operation, types of routes are: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00" dirty="0"/>
          </a:p>
          <a:p>
            <a:pPr marL="361950"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 err="1"/>
              <a:t>i</a:t>
            </a:r>
            <a:r>
              <a:rPr lang="en-US" sz="2000" dirty="0"/>
              <a:t>. </a:t>
            </a:r>
            <a:r>
              <a:rPr lang="en-US" sz="2000" dirty="0">
                <a:solidFill>
                  <a:srgbClr val="C00000"/>
                </a:solidFill>
              </a:rPr>
              <a:t>Internal routers </a:t>
            </a:r>
            <a:r>
              <a:rPr lang="en-US" sz="2000" dirty="0"/>
              <a:t>are wholly within one area.</a:t>
            </a:r>
          </a:p>
          <a:p>
            <a:pPr marL="361950"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/>
          </a:p>
          <a:p>
            <a:pPr marL="361950"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ii. </a:t>
            </a:r>
            <a:r>
              <a:rPr lang="en-US" sz="2000" dirty="0">
                <a:solidFill>
                  <a:srgbClr val="C00000"/>
                </a:solidFill>
              </a:rPr>
              <a:t>Backbone routers </a:t>
            </a:r>
            <a:r>
              <a:rPr lang="en-US" sz="2000" dirty="0"/>
              <a:t>are on the backbone. </a:t>
            </a:r>
          </a:p>
          <a:p>
            <a:pPr marL="361950"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/>
          </a:p>
          <a:p>
            <a:pPr marL="361950" lvl="2"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iii. </a:t>
            </a:r>
            <a:r>
              <a:rPr lang="en-US" sz="2000" dirty="0">
                <a:solidFill>
                  <a:srgbClr val="C00000"/>
                </a:solidFill>
              </a:rPr>
              <a:t>Area border routers </a:t>
            </a:r>
            <a:r>
              <a:rPr lang="en-US" sz="2000" dirty="0"/>
              <a:t>connect two or more areas.</a:t>
            </a:r>
          </a:p>
          <a:p>
            <a:pPr marL="361950"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/>
          </a:p>
          <a:p>
            <a:pPr marL="361950"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iv. </a:t>
            </a:r>
            <a:r>
              <a:rPr lang="en-US" sz="2000" dirty="0">
                <a:solidFill>
                  <a:srgbClr val="C00000"/>
                </a:solidFill>
              </a:rPr>
              <a:t>AS boundary routers </a:t>
            </a:r>
            <a:r>
              <a:rPr lang="en-US" sz="2000" dirty="0"/>
              <a:t>talk to routers in other </a:t>
            </a:r>
            <a:r>
              <a:rPr lang="en-US" sz="2000" dirty="0" err="1"/>
              <a:t>ASes</a:t>
            </a:r>
            <a:r>
              <a:rPr lang="en-US" sz="200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9BACA7-3B3C-7925-6FF6-A7828BEB7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175" y="505374"/>
            <a:ext cx="5762626" cy="55841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B3FB94-DF21-506C-8DEA-996926D2950E}"/>
              </a:ext>
            </a:extLst>
          </p:cNvPr>
          <p:cNvSpPr txBox="1"/>
          <p:nvPr/>
        </p:nvSpPr>
        <p:spPr>
          <a:xfrm>
            <a:off x="1162051" y="608745"/>
            <a:ext cx="10568622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Four types of Routers</a:t>
            </a:r>
          </a:p>
          <a:p>
            <a:endParaRPr lang="en-US" dirty="0"/>
          </a:p>
          <a:p>
            <a:r>
              <a:rPr lang="en-US" b="1" i="1" dirty="0"/>
              <a:t>Internal Router:</a:t>
            </a:r>
          </a:p>
          <a:p>
            <a:r>
              <a:rPr lang="en-US" dirty="0"/>
              <a:t>Router that has all its interfaces in the same area.  All internal routers in an area have identical Link State Databases(LSDBs).</a:t>
            </a:r>
          </a:p>
          <a:p>
            <a:endParaRPr lang="en-US" sz="1800" dirty="0"/>
          </a:p>
          <a:p>
            <a:endParaRPr lang="en-US" dirty="0"/>
          </a:p>
          <a:p>
            <a:r>
              <a:rPr lang="en-US" sz="1800" b="1" i="1" u="sng" dirty="0"/>
              <a:t>Backbone Router</a:t>
            </a:r>
            <a:r>
              <a:rPr lang="en-US" b="1" i="1" u="sng" dirty="0"/>
              <a:t>:</a:t>
            </a:r>
          </a:p>
          <a:p>
            <a:r>
              <a:rPr lang="en-US" dirty="0"/>
              <a:t>Router which resides in the backbone area. The backbone area is set to Area 0.</a:t>
            </a:r>
          </a:p>
          <a:p>
            <a:endParaRPr lang="en-US" sz="1800" dirty="0"/>
          </a:p>
          <a:p>
            <a:endParaRPr lang="en-US" dirty="0"/>
          </a:p>
          <a:p>
            <a:r>
              <a:rPr lang="en-US" sz="1800" b="1" i="1" u="sng" dirty="0"/>
              <a:t>Area Border Router(ABR): </a:t>
            </a:r>
          </a:p>
          <a:p>
            <a:r>
              <a:rPr lang="en-US" sz="1800" dirty="0"/>
              <a:t>Routers that has interfaces attached to 2 or more areas. It can route between areas.  </a:t>
            </a:r>
            <a:r>
              <a:rPr lang="en-US" dirty="0"/>
              <a:t>ABRs acts as an exit points for the area.</a:t>
            </a:r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r>
              <a:rPr lang="en-US" b="1" i="1" u="sng" dirty="0"/>
              <a:t>AS Boundary Router(ASBR): </a:t>
            </a:r>
          </a:p>
          <a:p>
            <a:r>
              <a:rPr lang="en-US" dirty="0"/>
              <a:t>Routers that has at least one interface attached to external network (other autonomous system).</a:t>
            </a:r>
          </a:p>
        </p:txBody>
      </p:sp>
    </p:spTree>
    <p:extLst>
      <p:ext uri="{BB962C8B-B14F-4D97-AF65-F5344CB8AC3E}">
        <p14:creationId xmlns:p14="http://schemas.microsoft.com/office/powerpoint/2010/main" val="534354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0EC7A2-8881-C642-ADDE-242D60E05E50}"/>
              </a:ext>
            </a:extLst>
          </p:cNvPr>
          <p:cNvSpPr txBox="1"/>
          <p:nvPr/>
        </p:nvSpPr>
        <p:spPr>
          <a:xfrm>
            <a:off x="1619250" y="2720313"/>
            <a:ext cx="91344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Bookman Old Style" pitchFamily="18" charset="0"/>
              </a:rPr>
              <a:t>ROUTING INFORMATION PROTOCOL</a:t>
            </a:r>
          </a:p>
          <a:p>
            <a:pPr algn="ctr"/>
            <a:r>
              <a:rPr lang="en-US" sz="3200" b="1" dirty="0">
                <a:latin typeface="Bookman Old Style" pitchFamily="18" charset="0"/>
              </a:rPr>
              <a:t> (RIP)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588406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C0C08-F68B-9F84-B7D4-3DD2D032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Bookman Old Style" pitchFamily="18" charset="0"/>
              </a:rPr>
              <a:t>RIP (ROUTING INFORMATION PROTOCOL)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C67D7-A112-52DD-596D-1EA9B5876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475" y="2015732"/>
            <a:ext cx="11182350" cy="403774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100" dirty="0">
                <a:solidFill>
                  <a:srgbClr val="333333"/>
                </a:solidFill>
                <a:latin typeface="+mj-lt"/>
              </a:rPr>
              <a:t>RIP is an </a:t>
            </a:r>
            <a:r>
              <a:rPr lang="en-US" sz="2100" dirty="0">
                <a:solidFill>
                  <a:srgbClr val="FF0000"/>
                </a:solidFill>
                <a:latin typeface="+mj-lt"/>
              </a:rPr>
              <a:t>intradomain routing protocol </a:t>
            </a:r>
            <a:r>
              <a:rPr lang="en-US" sz="2100" dirty="0">
                <a:solidFill>
                  <a:srgbClr val="333333"/>
                </a:solidFill>
                <a:latin typeface="+mj-lt"/>
              </a:rPr>
              <a:t>used inside an autonomous system. </a:t>
            </a:r>
          </a:p>
          <a:p>
            <a:pPr algn="just"/>
            <a:endParaRPr lang="en-US" sz="100" dirty="0">
              <a:solidFill>
                <a:srgbClr val="333333"/>
              </a:solidFill>
              <a:latin typeface="+mj-lt"/>
            </a:endParaRPr>
          </a:p>
          <a:p>
            <a:pPr algn="just"/>
            <a:r>
              <a:rPr lang="en-US" sz="2100" dirty="0">
                <a:solidFill>
                  <a:srgbClr val="333333"/>
                </a:solidFill>
                <a:latin typeface="+mj-lt"/>
              </a:rPr>
              <a:t>It is a very simple protocol based on </a:t>
            </a:r>
            <a:r>
              <a:rPr lang="en-US" sz="2100" dirty="0">
                <a:solidFill>
                  <a:srgbClr val="FF0000"/>
                </a:solidFill>
                <a:latin typeface="+mj-lt"/>
              </a:rPr>
              <a:t>Distance vector routing. </a:t>
            </a:r>
          </a:p>
          <a:p>
            <a:pPr algn="just"/>
            <a:endParaRPr lang="en-US" sz="400" dirty="0">
              <a:solidFill>
                <a:srgbClr val="FF0000"/>
              </a:solidFill>
              <a:latin typeface="+mj-lt"/>
            </a:endParaRPr>
          </a:p>
          <a:p>
            <a:pPr algn="just"/>
            <a:r>
              <a:rPr lang="en-US" sz="2000" dirty="0"/>
              <a:t>The entire structure is considered as a graph where </a:t>
            </a:r>
            <a:r>
              <a:rPr lang="en-US" sz="2000" dirty="0">
                <a:solidFill>
                  <a:srgbClr val="FF0000"/>
                </a:solidFill>
              </a:rPr>
              <a:t>nodes are the routers, and the links are the networks.</a:t>
            </a:r>
          </a:p>
          <a:p>
            <a:pPr algn="just"/>
            <a:endParaRPr lang="en-US" sz="400" dirty="0">
              <a:solidFill>
                <a:srgbClr val="FF0000"/>
              </a:solidFill>
              <a:latin typeface="+mj-lt"/>
            </a:endParaRPr>
          </a:p>
          <a:p>
            <a:pPr algn="just"/>
            <a:r>
              <a:rPr lang="en-US" sz="2100" dirty="0">
                <a:solidFill>
                  <a:srgbClr val="333333"/>
                </a:solidFill>
                <a:latin typeface="+mj-lt"/>
              </a:rPr>
              <a:t>Metric in RIP is </a:t>
            </a:r>
            <a:r>
              <a:rPr lang="en-US" sz="2100" dirty="0">
                <a:solidFill>
                  <a:srgbClr val="FF0000"/>
                </a:solidFill>
                <a:latin typeface="+mj-lt"/>
              </a:rPr>
              <a:t>Hop Count.</a:t>
            </a:r>
          </a:p>
          <a:p>
            <a:pPr algn="just"/>
            <a:endParaRPr lang="en-US" sz="800" dirty="0">
              <a:solidFill>
                <a:srgbClr val="FF0000"/>
              </a:solidFill>
              <a:latin typeface="+mj-lt"/>
            </a:endParaRPr>
          </a:p>
          <a:p>
            <a:pPr algn="just"/>
            <a:r>
              <a:rPr lang="en-US" sz="2000" dirty="0"/>
              <a:t>The hop count is the number of networks required to reach the destination.</a:t>
            </a:r>
          </a:p>
          <a:p>
            <a:pPr algn="just"/>
            <a:endParaRPr lang="en-US" sz="600" dirty="0"/>
          </a:p>
          <a:p>
            <a:pPr algn="just"/>
            <a:r>
              <a:rPr lang="en-US" sz="2100" dirty="0">
                <a:solidFill>
                  <a:srgbClr val="FF0000"/>
                </a:solidFill>
                <a:latin typeface="+mj-lt"/>
              </a:rPr>
              <a:t>Infinity = 16</a:t>
            </a:r>
            <a:r>
              <a:rPr lang="en-US" sz="2100" dirty="0">
                <a:solidFill>
                  <a:srgbClr val="333333"/>
                </a:solidFill>
                <a:latin typeface="+mj-lt"/>
              </a:rPr>
              <a:t>. RIP</a:t>
            </a:r>
            <a:r>
              <a:rPr lang="en-US" sz="2000" dirty="0"/>
              <a:t> should not have more than 15 hops and so it is used for </a:t>
            </a:r>
            <a:r>
              <a:rPr lang="en-US" sz="2000" dirty="0">
                <a:solidFill>
                  <a:srgbClr val="FF0000"/>
                </a:solidFill>
              </a:rPr>
              <a:t>smaller networks or small autonomous systems.</a:t>
            </a:r>
            <a:endParaRPr lang="en-US" sz="2100" dirty="0">
              <a:solidFill>
                <a:srgbClr val="FF0000"/>
              </a:solidFill>
              <a:latin typeface="+mj-lt"/>
            </a:endParaRPr>
          </a:p>
          <a:p>
            <a:pPr algn="just"/>
            <a:endParaRPr lang="en-US" sz="2100" dirty="0">
              <a:solidFill>
                <a:srgbClr val="33333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32518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C0C08-F68B-9F84-B7D4-3DD2D0321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154" y="204444"/>
            <a:ext cx="9603275" cy="1049235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C00000"/>
                </a:solidFill>
                <a:latin typeface="Bookman Old Style" pitchFamily="18" charset="0"/>
              </a:rPr>
              <a:t>Example of a domain using RIP</a:t>
            </a:r>
            <a:endParaRPr lang="en-IN" b="1" dirty="0">
              <a:solidFill>
                <a:srgbClr val="C00000"/>
              </a:solidFill>
              <a:latin typeface="Bookman Old Style" pitchFamily="18" charset="0"/>
            </a:endParaRP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411F9F1D-31A9-C216-DFEB-9B9A9DFC70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5" y="1253679"/>
            <a:ext cx="9854704" cy="5470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2570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1">
            <a:extLst>
              <a:ext uri="{FF2B5EF4-FFF2-40B4-BE49-F238E27FC236}">
                <a16:creationId xmlns:a16="http://schemas.microsoft.com/office/drawing/2014/main" id="{CB7467D2-C566-4A3D-96CC-E67E32DBFB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16387" name="Slide Number Placeholder 2">
            <a:extLst>
              <a:ext uri="{FF2B5EF4-FFF2-40B4-BE49-F238E27FC236}">
                <a16:creationId xmlns:a16="http://schemas.microsoft.com/office/drawing/2014/main" id="{08A1363A-7D3F-4A01-A135-5A0AEE70D5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16388" name="Text Box 2">
            <a:extLst>
              <a:ext uri="{FF2B5EF4-FFF2-40B4-BE49-F238E27FC236}">
                <a16:creationId xmlns:a16="http://schemas.microsoft.com/office/drawing/2014/main" id="{FB07C166-312A-458B-BA43-2E24F089D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Figure.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</a:rPr>
              <a:t>RIP message format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5D54186A-A853-4FDB-BC0D-85FB731CC94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6390" name="Rectangle 4">
            <a:extLst>
              <a:ext uri="{FF2B5EF4-FFF2-40B4-BE49-F238E27FC236}">
                <a16:creationId xmlns:a16="http://schemas.microsoft.com/office/drawing/2014/main" id="{FABBEC85-3566-47F9-9F45-7A34A9EF9F0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6391" name="Rectangle 5">
            <a:extLst>
              <a:ext uri="{FF2B5EF4-FFF2-40B4-BE49-F238E27FC236}">
                <a16:creationId xmlns:a16="http://schemas.microsoft.com/office/drawing/2014/main" id="{7397CB60-859E-4283-9CA4-95703651CC7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6392" name="Rectangle 6">
            <a:extLst>
              <a:ext uri="{FF2B5EF4-FFF2-40B4-BE49-F238E27FC236}">
                <a16:creationId xmlns:a16="http://schemas.microsoft.com/office/drawing/2014/main" id="{36C8D6CE-38FB-4046-B1D6-0585BEA0292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6393" name="Rectangle 7">
            <a:extLst>
              <a:ext uri="{FF2B5EF4-FFF2-40B4-BE49-F238E27FC236}">
                <a16:creationId xmlns:a16="http://schemas.microsoft.com/office/drawing/2014/main" id="{33779F19-B80C-434F-9C0B-3BF416768EB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6394" name="Rectangle 8">
            <a:extLst>
              <a:ext uri="{FF2B5EF4-FFF2-40B4-BE49-F238E27FC236}">
                <a16:creationId xmlns:a16="http://schemas.microsoft.com/office/drawing/2014/main" id="{FAA04673-AB27-4CC3-B843-9462DF515E5A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6395" name="Rectangle 9">
            <a:extLst>
              <a:ext uri="{FF2B5EF4-FFF2-40B4-BE49-F238E27FC236}">
                <a16:creationId xmlns:a16="http://schemas.microsoft.com/office/drawing/2014/main" id="{C65E80A9-5CCF-42BD-A46A-F6B11F124CD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16396" name="Picture 10">
            <a:extLst>
              <a:ext uri="{FF2B5EF4-FFF2-40B4-BE49-F238E27FC236}">
                <a16:creationId xmlns:a16="http://schemas.microsoft.com/office/drawing/2014/main" id="{0BDD1D75-C7DC-4935-90E6-B710D8760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839" y="1973264"/>
            <a:ext cx="8053387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1">
            <a:extLst>
              <a:ext uri="{FF2B5EF4-FFF2-40B4-BE49-F238E27FC236}">
                <a16:creationId xmlns:a16="http://schemas.microsoft.com/office/drawing/2014/main" id="{85D1033C-6D3B-483E-8F0F-D38AE190EA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17411" name="Slide Number Placeholder 2">
            <a:extLst>
              <a:ext uri="{FF2B5EF4-FFF2-40B4-BE49-F238E27FC236}">
                <a16:creationId xmlns:a16="http://schemas.microsoft.com/office/drawing/2014/main" id="{16085C52-2411-4F0D-87E4-ED7EEBCEEB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17412" name="Text Box 2">
            <a:extLst>
              <a:ext uri="{FF2B5EF4-FFF2-40B4-BE49-F238E27FC236}">
                <a16:creationId xmlns:a16="http://schemas.microsoft.com/office/drawing/2014/main" id="{628177C0-0628-4870-8440-7E8A13EB7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Figure.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en-US" i="1" dirty="0">
                <a:latin typeface="Times New Roman" panose="02020603050405020304" pitchFamily="18" charset="0"/>
              </a:rPr>
              <a:t>Request messages</a:t>
            </a: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46BA1384-4B0C-4A10-8D34-88C5976693F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7414" name="Rectangle 4">
            <a:extLst>
              <a:ext uri="{FF2B5EF4-FFF2-40B4-BE49-F238E27FC236}">
                <a16:creationId xmlns:a16="http://schemas.microsoft.com/office/drawing/2014/main" id="{EEBF6ECE-F0D5-4A2D-B197-A212FEE2F69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7415" name="Rectangle 5">
            <a:extLst>
              <a:ext uri="{FF2B5EF4-FFF2-40B4-BE49-F238E27FC236}">
                <a16:creationId xmlns:a16="http://schemas.microsoft.com/office/drawing/2014/main" id="{691221DE-771F-4778-9E22-09C58BC0581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7416" name="Rectangle 6">
            <a:extLst>
              <a:ext uri="{FF2B5EF4-FFF2-40B4-BE49-F238E27FC236}">
                <a16:creationId xmlns:a16="http://schemas.microsoft.com/office/drawing/2014/main" id="{2DEB43BF-981D-49C7-9CB8-C2E32A50ED8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7417" name="Rectangle 7">
            <a:extLst>
              <a:ext uri="{FF2B5EF4-FFF2-40B4-BE49-F238E27FC236}">
                <a16:creationId xmlns:a16="http://schemas.microsoft.com/office/drawing/2014/main" id="{289C862E-EC61-4EF8-982A-56A7D00BD08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7418" name="Rectangle 8">
            <a:extLst>
              <a:ext uri="{FF2B5EF4-FFF2-40B4-BE49-F238E27FC236}">
                <a16:creationId xmlns:a16="http://schemas.microsoft.com/office/drawing/2014/main" id="{1CCA39EC-25D0-4766-B25B-98C778E33BC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7419" name="Rectangle 9">
            <a:extLst>
              <a:ext uri="{FF2B5EF4-FFF2-40B4-BE49-F238E27FC236}">
                <a16:creationId xmlns:a16="http://schemas.microsoft.com/office/drawing/2014/main" id="{AB5F893D-33F1-4D0A-8470-1B538A5C888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17420" name="Picture 10">
            <a:extLst>
              <a:ext uri="{FF2B5EF4-FFF2-40B4-BE49-F238E27FC236}">
                <a16:creationId xmlns:a16="http://schemas.microsoft.com/office/drawing/2014/main" id="{75838033-FF3A-462A-A70D-16ADEB896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432050"/>
            <a:ext cx="899477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1">
            <a:extLst>
              <a:ext uri="{FF2B5EF4-FFF2-40B4-BE49-F238E27FC236}">
                <a16:creationId xmlns:a16="http://schemas.microsoft.com/office/drawing/2014/main" id="{FD95DADE-3735-43F8-B05C-620D61AB5C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20483" name="Slide Number Placeholder 2">
            <a:extLst>
              <a:ext uri="{FF2B5EF4-FFF2-40B4-BE49-F238E27FC236}">
                <a16:creationId xmlns:a16="http://schemas.microsoft.com/office/drawing/2014/main" id="{1B90500F-7E03-4069-9EAE-23954435B1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20484" name="Text Box 2">
            <a:extLst>
              <a:ext uri="{FF2B5EF4-FFF2-40B4-BE49-F238E27FC236}">
                <a16:creationId xmlns:a16="http://schemas.microsoft.com/office/drawing/2014/main" id="{FFFBA588-BFA0-4952-A299-99B98C2AB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Figure.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en-US" i="1" dirty="0">
                <a:latin typeface="Times New Roman" panose="02020603050405020304" pitchFamily="18" charset="0"/>
              </a:rPr>
              <a:t>RIP timers</a:t>
            </a:r>
          </a:p>
        </p:txBody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6DC7A5B6-3E5B-46BB-9CF4-5A739E3ADB7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0486" name="Rectangle 4">
            <a:extLst>
              <a:ext uri="{FF2B5EF4-FFF2-40B4-BE49-F238E27FC236}">
                <a16:creationId xmlns:a16="http://schemas.microsoft.com/office/drawing/2014/main" id="{325261C4-673F-4D37-97F7-4121B1828F1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0487" name="Rectangle 5">
            <a:extLst>
              <a:ext uri="{FF2B5EF4-FFF2-40B4-BE49-F238E27FC236}">
                <a16:creationId xmlns:a16="http://schemas.microsoft.com/office/drawing/2014/main" id="{91974680-5EA0-49DE-ADCF-2D3F311D140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0488" name="Rectangle 6">
            <a:extLst>
              <a:ext uri="{FF2B5EF4-FFF2-40B4-BE49-F238E27FC236}">
                <a16:creationId xmlns:a16="http://schemas.microsoft.com/office/drawing/2014/main" id="{B8CC8C55-6042-49CB-B8FF-E0DFCC7144B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0489" name="Rectangle 7">
            <a:extLst>
              <a:ext uri="{FF2B5EF4-FFF2-40B4-BE49-F238E27FC236}">
                <a16:creationId xmlns:a16="http://schemas.microsoft.com/office/drawing/2014/main" id="{B24E0EB5-7B3D-439B-95AE-E68FEA6DB4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0490" name="Rectangle 8">
            <a:extLst>
              <a:ext uri="{FF2B5EF4-FFF2-40B4-BE49-F238E27FC236}">
                <a16:creationId xmlns:a16="http://schemas.microsoft.com/office/drawing/2014/main" id="{CAD8A2BE-BD2D-4E65-9F69-7CB4D59FE55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0491" name="Rectangle 9">
            <a:extLst>
              <a:ext uri="{FF2B5EF4-FFF2-40B4-BE49-F238E27FC236}">
                <a16:creationId xmlns:a16="http://schemas.microsoft.com/office/drawing/2014/main" id="{2E8CFB3B-4DD5-40A5-9625-A5E197D4803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20492" name="Picture 10">
            <a:extLst>
              <a:ext uri="{FF2B5EF4-FFF2-40B4-BE49-F238E27FC236}">
                <a16:creationId xmlns:a16="http://schemas.microsoft.com/office/drawing/2014/main" id="{F23F3E4E-1794-457F-BCEF-CFF635128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4" y="2551114"/>
            <a:ext cx="7158037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1">
            <a:extLst>
              <a:ext uri="{FF2B5EF4-FFF2-40B4-BE49-F238E27FC236}">
                <a16:creationId xmlns:a16="http://schemas.microsoft.com/office/drawing/2014/main" id="{3F31BB9C-3ACE-4704-9D86-3DE48EECF6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22531" name="Slide Number Placeholder 2">
            <a:extLst>
              <a:ext uri="{FF2B5EF4-FFF2-40B4-BE49-F238E27FC236}">
                <a16:creationId xmlns:a16="http://schemas.microsoft.com/office/drawing/2014/main" id="{6C9EC13A-EB6B-4944-9DEC-6E61D0D90D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22532" name="Text Box 2">
            <a:extLst>
              <a:ext uri="{FF2B5EF4-FFF2-40B4-BE49-F238E27FC236}">
                <a16:creationId xmlns:a16="http://schemas.microsoft.com/office/drawing/2014/main" id="{7A797395-3B24-456F-8C7A-5E85F47C8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Figure.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 dirty="0">
                <a:latin typeface="Times New Roman" panose="02020603050405020304" pitchFamily="18" charset="0"/>
              </a:rPr>
              <a:t>RIP version 2 format</a:t>
            </a: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7B944C4E-5A45-4365-A466-71550200BEE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2534" name="Rectangle 4">
            <a:extLst>
              <a:ext uri="{FF2B5EF4-FFF2-40B4-BE49-F238E27FC236}">
                <a16:creationId xmlns:a16="http://schemas.microsoft.com/office/drawing/2014/main" id="{45C80C2E-153B-464C-A32E-507C4CFD629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2535" name="Rectangle 5">
            <a:extLst>
              <a:ext uri="{FF2B5EF4-FFF2-40B4-BE49-F238E27FC236}">
                <a16:creationId xmlns:a16="http://schemas.microsoft.com/office/drawing/2014/main" id="{28E48019-A860-4520-B05E-8402F7CE2E7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2536" name="Rectangle 6">
            <a:extLst>
              <a:ext uri="{FF2B5EF4-FFF2-40B4-BE49-F238E27FC236}">
                <a16:creationId xmlns:a16="http://schemas.microsoft.com/office/drawing/2014/main" id="{A9B03CA1-81ED-4618-883B-6CC86F8D72F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2537" name="Rectangle 7">
            <a:extLst>
              <a:ext uri="{FF2B5EF4-FFF2-40B4-BE49-F238E27FC236}">
                <a16:creationId xmlns:a16="http://schemas.microsoft.com/office/drawing/2014/main" id="{BFEB174A-BB01-464C-8B3B-3268FEA6B35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2538" name="Rectangle 8">
            <a:extLst>
              <a:ext uri="{FF2B5EF4-FFF2-40B4-BE49-F238E27FC236}">
                <a16:creationId xmlns:a16="http://schemas.microsoft.com/office/drawing/2014/main" id="{17367E12-0EA2-48E1-B4F7-6E7BF62170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2539" name="Rectangle 9">
            <a:extLst>
              <a:ext uri="{FF2B5EF4-FFF2-40B4-BE49-F238E27FC236}">
                <a16:creationId xmlns:a16="http://schemas.microsoft.com/office/drawing/2014/main" id="{C68EE6DA-4995-4FA8-938F-A636BA1F0B6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22540" name="Picture 10">
            <a:extLst>
              <a:ext uri="{FF2B5EF4-FFF2-40B4-BE49-F238E27FC236}">
                <a16:creationId xmlns:a16="http://schemas.microsoft.com/office/drawing/2014/main" id="{7C90B3F4-EEFA-407D-AFAE-556D2E2EB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73264"/>
            <a:ext cx="8936038" cy="290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1">
            <a:extLst>
              <a:ext uri="{FF2B5EF4-FFF2-40B4-BE49-F238E27FC236}">
                <a16:creationId xmlns:a16="http://schemas.microsoft.com/office/drawing/2014/main" id="{373F4FBB-B7BC-4E33-9476-81B8E9F8EF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23555" name="Slide Number Placeholder 2">
            <a:extLst>
              <a:ext uri="{FF2B5EF4-FFF2-40B4-BE49-F238E27FC236}">
                <a16:creationId xmlns:a16="http://schemas.microsoft.com/office/drawing/2014/main" id="{A99757EA-2568-4CC2-BF17-BFCFE1E3BF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23556" name="Text Box 2">
            <a:extLst>
              <a:ext uri="{FF2B5EF4-FFF2-40B4-BE49-F238E27FC236}">
                <a16:creationId xmlns:a16="http://schemas.microsoft.com/office/drawing/2014/main" id="{977340C2-14AB-461C-8E28-4950EBE08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Figure.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 dirty="0">
                <a:latin typeface="Times New Roman" panose="02020603050405020304" pitchFamily="18" charset="0"/>
              </a:rPr>
              <a:t>Authentication</a:t>
            </a: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0C0DF09E-C4CB-4AF1-A1BC-65B742A8000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3558" name="Rectangle 4">
            <a:extLst>
              <a:ext uri="{FF2B5EF4-FFF2-40B4-BE49-F238E27FC236}">
                <a16:creationId xmlns:a16="http://schemas.microsoft.com/office/drawing/2014/main" id="{6456D236-BE71-405E-95F8-8E85B244054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3559" name="Rectangle 5">
            <a:extLst>
              <a:ext uri="{FF2B5EF4-FFF2-40B4-BE49-F238E27FC236}">
                <a16:creationId xmlns:a16="http://schemas.microsoft.com/office/drawing/2014/main" id="{33076A6F-1B0D-4A39-892A-85153AC8495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3560" name="Rectangle 6">
            <a:extLst>
              <a:ext uri="{FF2B5EF4-FFF2-40B4-BE49-F238E27FC236}">
                <a16:creationId xmlns:a16="http://schemas.microsoft.com/office/drawing/2014/main" id="{73D87507-4B41-4157-89F1-DA56E1DE24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3561" name="Rectangle 7">
            <a:extLst>
              <a:ext uri="{FF2B5EF4-FFF2-40B4-BE49-F238E27FC236}">
                <a16:creationId xmlns:a16="http://schemas.microsoft.com/office/drawing/2014/main" id="{FC13ED05-7134-48EB-A902-DC1155AC1DC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3562" name="Rectangle 8">
            <a:extLst>
              <a:ext uri="{FF2B5EF4-FFF2-40B4-BE49-F238E27FC236}">
                <a16:creationId xmlns:a16="http://schemas.microsoft.com/office/drawing/2014/main" id="{425FB4D4-2401-4834-BBA1-C01614F1FED0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23563" name="Rectangle 9">
            <a:extLst>
              <a:ext uri="{FF2B5EF4-FFF2-40B4-BE49-F238E27FC236}">
                <a16:creationId xmlns:a16="http://schemas.microsoft.com/office/drawing/2014/main" id="{16DC782B-0132-41E9-BB18-6996BF29A5C4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23564" name="Picture 10">
            <a:extLst>
              <a:ext uri="{FF2B5EF4-FFF2-40B4-BE49-F238E27FC236}">
                <a16:creationId xmlns:a16="http://schemas.microsoft.com/office/drawing/2014/main" id="{B83D531B-5DE6-4328-A9DB-F5E3C094F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150" y="1346201"/>
            <a:ext cx="8013700" cy="416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1">
            <a:extLst>
              <a:ext uri="{FF2B5EF4-FFF2-40B4-BE49-F238E27FC236}">
                <a16:creationId xmlns:a16="http://schemas.microsoft.com/office/drawing/2014/main" id="{91E7EE7E-05A5-4D61-A1DB-23DE077123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24579" name="Slide Number Placeholder 2">
            <a:extLst>
              <a:ext uri="{FF2B5EF4-FFF2-40B4-BE49-F238E27FC236}">
                <a16:creationId xmlns:a16="http://schemas.microsoft.com/office/drawing/2014/main" id="{5D34981F-8529-4B9C-92CE-9EF7E7474E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01981A82-AFAD-4C02-BE5D-2D7CFE207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867026"/>
            <a:ext cx="7543800" cy="124777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ts val="1200"/>
              </a:spcBef>
              <a:spcAft>
                <a:spcPts val="1000"/>
              </a:spcAft>
            </a:pPr>
            <a:r>
              <a:rPr lang="en-US" altLang="en-US" sz="3600" i="1">
                <a:latin typeface="Times New Roman" panose="02020603050405020304" pitchFamily="18" charset="0"/>
              </a:rPr>
              <a:t>RIP uses the services of UDP on </a:t>
            </a:r>
            <a:br>
              <a:rPr lang="en-US" altLang="en-US" sz="3600" i="1">
                <a:latin typeface="Times New Roman" panose="02020603050405020304" pitchFamily="18" charset="0"/>
              </a:rPr>
            </a:br>
            <a:r>
              <a:rPr lang="en-US" altLang="en-US" sz="3600" i="1">
                <a:latin typeface="Times New Roman" panose="02020603050405020304" pitchFamily="18" charset="0"/>
              </a:rPr>
              <a:t>well-known port 520.</a:t>
            </a:r>
          </a:p>
        </p:txBody>
      </p:sp>
      <p:sp>
        <p:nvSpPr>
          <p:cNvPr id="538627" name="PubRRectCallout">
            <a:extLst>
              <a:ext uri="{FF2B5EF4-FFF2-40B4-BE49-F238E27FC236}">
                <a16:creationId xmlns:a16="http://schemas.microsoft.com/office/drawing/2014/main" id="{E0867A0A-960D-4ECE-93C4-D6C9C91869B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362200" y="1662113"/>
            <a:ext cx="2743200" cy="1143000"/>
          </a:xfrm>
          <a:custGeom>
            <a:avLst/>
            <a:gdLst>
              <a:gd name="G0" fmla="+- 0 0 0"/>
              <a:gd name="G1" fmla="+- 8607 0 0"/>
              <a:gd name="T0" fmla="*/ 10800 w 21600"/>
              <a:gd name="T1" fmla="*/ 0 h 21600"/>
              <a:gd name="T2" fmla="*/ 0 w 21600"/>
              <a:gd name="T3" fmla="*/ 8638 h 21600"/>
              <a:gd name="T4" fmla="*/ 8607 w 21600"/>
              <a:gd name="T5" fmla="*/ 21600 h 21600"/>
              <a:gd name="T6" fmla="*/ 10800 w 21600"/>
              <a:gd name="T7" fmla="*/ 17277 h 21600"/>
              <a:gd name="T8" fmla="*/ 21600 w 21600"/>
              <a:gd name="T9" fmla="*/ 8638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24582" name="Picture 4">
            <a:extLst>
              <a:ext uri="{FF2B5EF4-FFF2-40B4-BE49-F238E27FC236}">
                <a16:creationId xmlns:a16="http://schemas.microsoft.com/office/drawing/2014/main" id="{D6DCC695-895E-476A-8AF6-522C29CED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662113"/>
            <a:ext cx="7826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8629" name="Text Box 5">
            <a:extLst>
              <a:ext uri="{FF2B5EF4-FFF2-40B4-BE49-F238E27FC236}">
                <a16:creationId xmlns:a16="http://schemas.microsoft.com/office/drawing/2014/main" id="{19438A99-B02F-43D2-98C9-DDF66A4D9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14513"/>
            <a:ext cx="1200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36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Note: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0EC7A2-8881-C642-ADDE-242D60E05E50}"/>
              </a:ext>
            </a:extLst>
          </p:cNvPr>
          <p:cNvSpPr txBox="1"/>
          <p:nvPr/>
        </p:nvSpPr>
        <p:spPr>
          <a:xfrm>
            <a:off x="2532185" y="2720313"/>
            <a:ext cx="738553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Bookman Old Style" pitchFamily="18" charset="0"/>
              </a:rPr>
              <a:t>OPEN SHORTEST PATH FIRST</a:t>
            </a:r>
          </a:p>
          <a:p>
            <a:pPr algn="ctr"/>
            <a:r>
              <a:rPr lang="en-US" sz="3200" b="1" dirty="0">
                <a:latin typeface="Bookman Old Style" pitchFamily="18" charset="0"/>
              </a:rPr>
              <a:t> (OSPF)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624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C0C08-F68B-9F84-B7D4-3DD2D032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Bookman Old Style" pitchFamily="18" charset="0"/>
              </a:rPr>
              <a:t>OSPF (OPEN SHORTEST PATH FIRST)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C67D7-A112-52DD-596D-1EA9B5876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The OSPF stands for </a:t>
            </a:r>
            <a:r>
              <a:rPr lang="en-US" b="1" i="0" dirty="0">
                <a:solidFill>
                  <a:srgbClr val="C00000"/>
                </a:solidFill>
                <a:effectLst/>
                <a:latin typeface="+mj-lt"/>
              </a:rPr>
              <a:t>Open Shortest Path First</a:t>
            </a: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. </a:t>
            </a:r>
          </a:p>
          <a:p>
            <a:pPr algn="just"/>
            <a:endParaRPr lang="en-US" sz="500" b="0" i="0" dirty="0">
              <a:solidFill>
                <a:srgbClr val="333333"/>
              </a:solidFill>
              <a:effectLst/>
              <a:latin typeface="+mj-lt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It is a widely used and supported routing protocol. </a:t>
            </a:r>
          </a:p>
          <a:p>
            <a:pPr algn="just"/>
            <a:endParaRPr lang="en-US" sz="800" b="0" i="0" dirty="0">
              <a:solidFill>
                <a:srgbClr val="333333"/>
              </a:solidFill>
              <a:effectLst/>
              <a:latin typeface="+mj-lt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It is an </a:t>
            </a:r>
            <a:r>
              <a:rPr lang="en-US" b="0" i="0" dirty="0">
                <a:solidFill>
                  <a:srgbClr val="C00000"/>
                </a:solidFill>
                <a:effectLst/>
                <a:latin typeface="+mj-lt"/>
              </a:rPr>
              <a:t>intradomain protocol</a:t>
            </a: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, which means that it is used within an area or a network. </a:t>
            </a:r>
          </a:p>
          <a:p>
            <a:pPr algn="just"/>
            <a:endParaRPr lang="en-US" sz="900" b="0" i="0" dirty="0">
              <a:solidFill>
                <a:srgbClr val="333333"/>
              </a:solidFill>
              <a:effectLst/>
              <a:latin typeface="+mj-lt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It is an </a:t>
            </a:r>
            <a:r>
              <a:rPr lang="en-US" b="0" i="0" dirty="0">
                <a:solidFill>
                  <a:srgbClr val="C00000"/>
                </a:solidFill>
                <a:effectLst/>
                <a:latin typeface="+mj-lt"/>
              </a:rPr>
              <a:t>interior gateway protocol </a:t>
            </a: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that has been designed within a </a:t>
            </a:r>
            <a:r>
              <a:rPr lang="en-US" b="0" i="0" dirty="0">
                <a:solidFill>
                  <a:srgbClr val="C00000"/>
                </a:solidFill>
                <a:effectLst/>
                <a:latin typeface="+mj-lt"/>
              </a:rPr>
              <a:t>single autonomous system.</a:t>
            </a:r>
          </a:p>
          <a:p>
            <a:pPr algn="just"/>
            <a:endParaRPr lang="en-US" sz="1000" b="0" i="0" dirty="0">
              <a:solidFill>
                <a:srgbClr val="C00000"/>
              </a:solidFill>
              <a:effectLst/>
              <a:latin typeface="+mj-lt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It is based on a </a:t>
            </a:r>
            <a:r>
              <a:rPr lang="en-US" b="0" i="0" dirty="0">
                <a:solidFill>
                  <a:srgbClr val="C00000"/>
                </a:solidFill>
                <a:effectLst/>
                <a:latin typeface="+mj-lt"/>
              </a:rPr>
              <a:t>link-state routing algorithm </a:t>
            </a: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in which each router contains the information of every domain, and based on this information, it determines the shortest path.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4946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1">
            <a:extLst>
              <a:ext uri="{FF2B5EF4-FFF2-40B4-BE49-F238E27FC236}">
                <a16:creationId xmlns:a16="http://schemas.microsoft.com/office/drawing/2014/main" id="{A465F139-A33E-4954-A1B1-03CB22AFF9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32771" name="Slide Number Placeholder 2">
            <a:extLst>
              <a:ext uri="{FF2B5EF4-FFF2-40B4-BE49-F238E27FC236}">
                <a16:creationId xmlns:a16="http://schemas.microsoft.com/office/drawing/2014/main" id="{9BF3F293-873E-4537-8FBB-018CDE8EFC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32772" name="Text Box 2">
            <a:extLst>
              <a:ext uri="{FF2B5EF4-FFF2-40B4-BE49-F238E27FC236}">
                <a16:creationId xmlns:a16="http://schemas.microsoft.com/office/drawing/2014/main" id="{DC3AD27C-D88D-4984-AA75-693EB5360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Figure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</a:rPr>
              <a:t>Areas in an autonomous system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9F9D6432-8BD5-4121-842A-22D13C07B51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2774" name="Rectangle 4">
            <a:extLst>
              <a:ext uri="{FF2B5EF4-FFF2-40B4-BE49-F238E27FC236}">
                <a16:creationId xmlns:a16="http://schemas.microsoft.com/office/drawing/2014/main" id="{68E983CB-AB64-4ADA-99D9-CB38B4F27E0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2775" name="Rectangle 5">
            <a:extLst>
              <a:ext uri="{FF2B5EF4-FFF2-40B4-BE49-F238E27FC236}">
                <a16:creationId xmlns:a16="http://schemas.microsoft.com/office/drawing/2014/main" id="{1BF84A2E-175B-4EFA-A621-3A9E059D720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2776" name="Rectangle 6">
            <a:extLst>
              <a:ext uri="{FF2B5EF4-FFF2-40B4-BE49-F238E27FC236}">
                <a16:creationId xmlns:a16="http://schemas.microsoft.com/office/drawing/2014/main" id="{16000D26-6CA7-4723-984D-DD105B173D8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2777" name="Rectangle 7">
            <a:extLst>
              <a:ext uri="{FF2B5EF4-FFF2-40B4-BE49-F238E27FC236}">
                <a16:creationId xmlns:a16="http://schemas.microsoft.com/office/drawing/2014/main" id="{37994025-FCD1-4613-A471-F550E5C47B1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2778" name="Rectangle 8">
            <a:extLst>
              <a:ext uri="{FF2B5EF4-FFF2-40B4-BE49-F238E27FC236}">
                <a16:creationId xmlns:a16="http://schemas.microsoft.com/office/drawing/2014/main" id="{D6E9A894-2F2D-48BC-A7C3-B2A05D64DEB7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2779" name="Rectangle 9">
            <a:extLst>
              <a:ext uri="{FF2B5EF4-FFF2-40B4-BE49-F238E27FC236}">
                <a16:creationId xmlns:a16="http://schemas.microsoft.com/office/drawing/2014/main" id="{B72092E7-1A26-48A6-BCD8-F98A00E49FD7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32780" name="Picture 11">
            <a:extLst>
              <a:ext uri="{FF2B5EF4-FFF2-40B4-BE49-F238E27FC236}">
                <a16:creationId xmlns:a16="http://schemas.microsoft.com/office/drawing/2014/main" id="{F132DA09-5672-473F-8DCC-0FB480BDC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1" y="1962150"/>
            <a:ext cx="8894763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207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20</a:t>
            </a:fld>
            <a:endParaRPr lang="en-A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2256177-E828-4625-8692-54D88A66ECF6}"/>
              </a:ext>
            </a:extLst>
          </p:cNvPr>
          <p:cNvSpPr txBox="1">
            <a:spLocks/>
          </p:cNvSpPr>
          <p:nvPr/>
        </p:nvSpPr>
        <p:spPr>
          <a:xfrm>
            <a:off x="2181225" y="136524"/>
            <a:ext cx="7995162" cy="568325"/>
          </a:xfrm>
          <a:prstGeom prst="rect">
            <a:avLst/>
          </a:prstGeom>
          <a:solidFill>
            <a:srgbClr val="760000"/>
          </a:solidFill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  <a:latin typeface="Bookman Old Style" pitchFamily="18" charset="0"/>
              </a:rPr>
              <a:t>Routing using OSPF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8F7862-84F6-A1C0-A1C8-5EBCF104E59A}"/>
              </a:ext>
            </a:extLst>
          </p:cNvPr>
          <p:cNvSpPr txBox="1"/>
          <p:nvPr/>
        </p:nvSpPr>
        <p:spPr>
          <a:xfrm>
            <a:off x="1022631" y="937637"/>
            <a:ext cx="1043594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i="0" dirty="0">
                <a:solidFill>
                  <a:srgbClr val="333333"/>
                </a:solidFill>
                <a:effectLst/>
                <a:latin typeface="inter-bold"/>
              </a:rPr>
              <a:t>Steps involved in OSPF Routing:</a:t>
            </a:r>
          </a:p>
          <a:p>
            <a:pPr algn="just"/>
            <a:endParaRPr lang="en-US" sz="24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400" b="1" i="0" dirty="0">
                <a:solidFill>
                  <a:srgbClr val="333333"/>
                </a:solidFill>
                <a:effectLst/>
                <a:latin typeface="inter-bold"/>
              </a:rPr>
              <a:t>Step 1: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 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inter-regular"/>
              </a:rPr>
              <a:t>To become OSPF neighbors.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200" b="0" i="0" dirty="0">
                <a:solidFill>
                  <a:srgbClr val="333333"/>
                </a:solidFill>
                <a:effectLst/>
                <a:latin typeface="inter-regular"/>
              </a:rPr>
              <a:t> The two connecting routers running OSPF on the same link creates a neighbor relationship.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2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400" b="1" i="0" dirty="0">
                <a:solidFill>
                  <a:srgbClr val="333333"/>
                </a:solidFill>
                <a:effectLst/>
                <a:latin typeface="inter-bold"/>
              </a:rPr>
              <a:t>Step 2: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 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inter-regular"/>
              </a:rPr>
              <a:t>To exchange database information.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200" b="0" i="0" dirty="0">
                <a:solidFill>
                  <a:srgbClr val="333333"/>
                </a:solidFill>
                <a:effectLst/>
                <a:latin typeface="inter-regular"/>
              </a:rPr>
              <a:t> After becoming the neighbors, the two routers exchange the LSDB information with each other.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2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400" b="1" i="0" dirty="0">
                <a:solidFill>
                  <a:srgbClr val="333333"/>
                </a:solidFill>
                <a:effectLst/>
                <a:latin typeface="inter-bold"/>
              </a:rPr>
              <a:t>Step 3: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 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inter-regular"/>
              </a:rPr>
              <a:t>To choose the best route.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200" b="0" i="0" dirty="0">
                <a:solidFill>
                  <a:srgbClr val="333333"/>
                </a:solidFill>
                <a:effectLst/>
                <a:latin typeface="inter-regular"/>
              </a:rPr>
              <a:t> Once the LSDB information has been exchanged with each other, the router chooses the best route to be added to a routing table based on the calculation of SPF.</a:t>
            </a:r>
          </a:p>
        </p:txBody>
      </p:sp>
    </p:spTree>
    <p:extLst>
      <p:ext uri="{BB962C8B-B14F-4D97-AF65-F5344CB8AC3E}">
        <p14:creationId xmlns:p14="http://schemas.microsoft.com/office/powerpoint/2010/main" val="3945225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21</a:t>
            </a:fld>
            <a:endParaRPr lang="en-A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2256177-E828-4625-8692-54D88A66ECF6}"/>
              </a:ext>
            </a:extLst>
          </p:cNvPr>
          <p:cNvSpPr txBox="1">
            <a:spLocks/>
          </p:cNvSpPr>
          <p:nvPr/>
        </p:nvSpPr>
        <p:spPr>
          <a:xfrm>
            <a:off x="2181225" y="136524"/>
            <a:ext cx="7995162" cy="568325"/>
          </a:xfrm>
          <a:prstGeom prst="rect">
            <a:avLst/>
          </a:prstGeom>
          <a:solidFill>
            <a:srgbClr val="760000"/>
          </a:solidFill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  <a:latin typeface="Bookman Old Style" pitchFamily="18" charset="0"/>
              </a:rPr>
              <a:t>Routing using OSPF…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8F7862-84F6-A1C0-A1C8-5EBCF104E59A}"/>
              </a:ext>
            </a:extLst>
          </p:cNvPr>
          <p:cNvSpPr txBox="1"/>
          <p:nvPr/>
        </p:nvSpPr>
        <p:spPr>
          <a:xfrm>
            <a:off x="1022631" y="937637"/>
            <a:ext cx="10435944" cy="5032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342900" algn="just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333333"/>
                </a:solidFill>
                <a:latin typeface="inter-regular"/>
              </a:rPr>
              <a:t>When a router boots, it sends HELLO packet and multicasts.</a:t>
            </a:r>
          </a:p>
          <a:p>
            <a:pPr lvl="1" indent="-342900" algn="just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333333"/>
                </a:solidFill>
                <a:latin typeface="inter-regular"/>
              </a:rPr>
              <a:t>It starts to exchange information between adjacent routers by sending the following OSPF messages</a:t>
            </a:r>
          </a:p>
          <a:p>
            <a:pPr marL="1485900" lvl="3" indent="-457200" algn="just">
              <a:spcAft>
                <a:spcPts val="600"/>
              </a:spcAft>
              <a:buFont typeface="+mj-lt"/>
              <a:buAutoNum type="arabicPeriod"/>
            </a:pPr>
            <a:r>
              <a:rPr lang="en-US" sz="2200" b="1" dirty="0">
                <a:solidFill>
                  <a:srgbClr val="333333"/>
                </a:solidFill>
                <a:latin typeface="inter-regular"/>
              </a:rPr>
              <a:t>DESIGNATED ROUTER- </a:t>
            </a:r>
            <a:r>
              <a:rPr lang="en-US" sz="2200" dirty="0">
                <a:solidFill>
                  <a:srgbClr val="333333"/>
                </a:solidFill>
                <a:latin typeface="inter-regular"/>
              </a:rPr>
              <a:t>HELLO packet</a:t>
            </a:r>
          </a:p>
          <a:p>
            <a:pPr marL="1485900" lvl="3" indent="-457200" algn="just">
              <a:spcAft>
                <a:spcPts val="600"/>
              </a:spcAft>
              <a:buFont typeface="+mj-lt"/>
              <a:buAutoNum type="arabicPeriod"/>
            </a:pPr>
            <a:r>
              <a:rPr lang="en-US" sz="2200" b="1" dirty="0">
                <a:solidFill>
                  <a:srgbClr val="333333"/>
                </a:solidFill>
                <a:latin typeface="inter-regular"/>
              </a:rPr>
              <a:t>LINK STATE UPDATE –</a:t>
            </a:r>
            <a:r>
              <a:rPr lang="en-US" sz="2200" dirty="0">
                <a:solidFill>
                  <a:srgbClr val="333333"/>
                </a:solidFill>
                <a:latin typeface="inter-regular"/>
              </a:rPr>
              <a:t> provides sender costs to its neighbors</a:t>
            </a:r>
          </a:p>
          <a:p>
            <a:pPr marL="1485900" lvl="3" indent="-457200" algn="just">
              <a:spcAft>
                <a:spcPts val="600"/>
              </a:spcAft>
              <a:buFont typeface="+mj-lt"/>
              <a:buAutoNum type="arabicPeriod"/>
            </a:pPr>
            <a:r>
              <a:rPr lang="en-US" sz="2200" b="1" dirty="0">
                <a:solidFill>
                  <a:srgbClr val="333333"/>
                </a:solidFill>
                <a:latin typeface="inter-regular"/>
              </a:rPr>
              <a:t>LINK STATE ACK –</a:t>
            </a:r>
            <a:r>
              <a:rPr lang="en-US" sz="2200" dirty="0">
                <a:solidFill>
                  <a:srgbClr val="333333"/>
                </a:solidFill>
                <a:latin typeface="inter-regular"/>
              </a:rPr>
              <a:t> acknowledge link state update and each message has a sequence number to detect whether an incoming LINK STATE UPDATE is older or newer.</a:t>
            </a:r>
          </a:p>
          <a:p>
            <a:pPr marL="1485900" lvl="3" indent="-457200" algn="just">
              <a:spcAft>
                <a:spcPts val="600"/>
              </a:spcAft>
              <a:buFont typeface="+mj-lt"/>
              <a:buAutoNum type="arabicPeriod"/>
            </a:pPr>
            <a:r>
              <a:rPr lang="en-US" sz="2200" b="1" dirty="0">
                <a:solidFill>
                  <a:srgbClr val="333333"/>
                </a:solidFill>
                <a:latin typeface="inter-regular"/>
              </a:rPr>
              <a:t>DATABASE DESCRIPTION -</a:t>
            </a:r>
            <a:r>
              <a:rPr lang="en-US" sz="2200" dirty="0">
                <a:solidFill>
                  <a:srgbClr val="333333"/>
                </a:solidFill>
                <a:latin typeface="inter-regular"/>
              </a:rPr>
              <a:t> gives the sequence numbers of all links state entries held by sender.</a:t>
            </a:r>
          </a:p>
          <a:p>
            <a:pPr marL="1485900" lvl="3" indent="-457200" algn="just">
              <a:spcAft>
                <a:spcPts val="600"/>
              </a:spcAft>
              <a:buFont typeface="+mj-lt"/>
              <a:buAutoNum type="arabicPeriod"/>
            </a:pPr>
            <a:r>
              <a:rPr lang="en-US" sz="2200" b="1" dirty="0">
                <a:solidFill>
                  <a:srgbClr val="333333"/>
                </a:solidFill>
                <a:latin typeface="inter-regular"/>
              </a:rPr>
              <a:t>LINK STATE REQUEST – </a:t>
            </a:r>
            <a:r>
              <a:rPr lang="en-US" sz="2200" dirty="0">
                <a:solidFill>
                  <a:srgbClr val="333333"/>
                </a:solidFill>
                <a:latin typeface="inter-regular"/>
              </a:rPr>
              <a:t>request information from partner.</a:t>
            </a:r>
          </a:p>
          <a:p>
            <a:pPr marL="447675" lvl="3" indent="-3619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333333"/>
                </a:solidFill>
                <a:latin typeface="inter-regular"/>
              </a:rPr>
              <a:t>Once the Link state information is obtained from the neighbor nodes, a router will compute the shortest path. </a:t>
            </a:r>
          </a:p>
        </p:txBody>
      </p:sp>
    </p:spTree>
    <p:extLst>
      <p:ext uri="{BB962C8B-B14F-4D97-AF65-F5344CB8AC3E}">
        <p14:creationId xmlns:p14="http://schemas.microsoft.com/office/powerpoint/2010/main" val="1863532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7275" y="1268589"/>
            <a:ext cx="2937827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616321" algn="l"/>
              </a:tabLst>
            </a:pPr>
            <a:r>
              <a:rPr sz="1814" i="1" spc="-18" dirty="0">
                <a:latin typeface="Times New Roman"/>
                <a:cs typeface="Times New Roman"/>
              </a:rPr>
              <a:t>Types </a:t>
            </a:r>
            <a:r>
              <a:rPr sz="1814" i="1" spc="-5" dirty="0">
                <a:latin typeface="Times New Roman"/>
                <a:cs typeface="Times New Roman"/>
              </a:rPr>
              <a:t>of</a:t>
            </a:r>
            <a:r>
              <a:rPr sz="1814" i="1" spc="-32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links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99257" y="2520704"/>
            <a:ext cx="6506290" cy="14959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5" name="object 5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746126"/>
            <a:ext cx="3385238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616321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Point-to-point</a:t>
            </a:r>
            <a:r>
              <a:rPr sz="1814" i="1" spc="-45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link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88428" y="1206455"/>
            <a:ext cx="7946297" cy="17275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4" name="object 4"/>
          <p:cNvSpPr/>
          <p:nvPr/>
        </p:nvSpPr>
        <p:spPr>
          <a:xfrm>
            <a:off x="2546550" y="2883470"/>
            <a:ext cx="7099844" cy="1085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5" name="object 5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746126"/>
            <a:ext cx="2968921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616321" algn="l"/>
              </a:tabLst>
            </a:pPr>
            <a:r>
              <a:rPr sz="1814" i="1" spc="-9" dirty="0">
                <a:latin typeface="Times New Roman"/>
                <a:cs typeface="Times New Roman"/>
              </a:rPr>
              <a:t>Transient</a:t>
            </a:r>
            <a:r>
              <a:rPr sz="1814" i="1" spc="-77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link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88428" y="1206455"/>
            <a:ext cx="7946297" cy="17275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4" name="object 4"/>
          <p:cNvSpPr/>
          <p:nvPr/>
        </p:nvSpPr>
        <p:spPr>
          <a:xfrm>
            <a:off x="2182402" y="2510338"/>
            <a:ext cx="7783225" cy="1675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5" name="object 5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746127"/>
            <a:ext cx="2492143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616321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Stub</a:t>
            </a:r>
            <a:r>
              <a:rPr sz="1814" i="1" spc="-54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link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88428" y="1206455"/>
            <a:ext cx="7946297" cy="17275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4" name="object 4"/>
          <p:cNvSpPr/>
          <p:nvPr/>
        </p:nvSpPr>
        <p:spPr>
          <a:xfrm>
            <a:off x="2444284" y="2405310"/>
            <a:ext cx="7304375" cy="20397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5" name="object 5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632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1">
            <a:extLst>
              <a:ext uri="{FF2B5EF4-FFF2-40B4-BE49-F238E27FC236}">
                <a16:creationId xmlns:a16="http://schemas.microsoft.com/office/drawing/2014/main" id="{B1D4A1F1-AFE4-478E-9963-8924B0F3BB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37891" name="Slide Number Placeholder 2">
            <a:extLst>
              <a:ext uri="{FF2B5EF4-FFF2-40B4-BE49-F238E27FC236}">
                <a16:creationId xmlns:a16="http://schemas.microsoft.com/office/drawing/2014/main" id="{97EDB161-2AF7-490F-AC05-0CCE51B737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37892" name="Text Box 2">
            <a:extLst>
              <a:ext uri="{FF2B5EF4-FFF2-40B4-BE49-F238E27FC236}">
                <a16:creationId xmlns:a16="http://schemas.microsoft.com/office/drawing/2014/main" id="{BBCECC40-759E-4289-9742-2C3EC1076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7620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Figure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 dirty="0">
                <a:latin typeface="Times New Roman" panose="02020603050405020304" pitchFamily="18" charset="0"/>
              </a:rPr>
              <a:t>Example of an AS and its graphical representation in OSPF</a:t>
            </a:r>
          </a:p>
        </p:txBody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5D0B1AE1-A221-47F1-9D53-2098A0660F6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7894" name="Rectangle 4">
            <a:extLst>
              <a:ext uri="{FF2B5EF4-FFF2-40B4-BE49-F238E27FC236}">
                <a16:creationId xmlns:a16="http://schemas.microsoft.com/office/drawing/2014/main" id="{AD0EA09D-B640-4693-AC04-D4D18745242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7895" name="Rectangle 5">
            <a:extLst>
              <a:ext uri="{FF2B5EF4-FFF2-40B4-BE49-F238E27FC236}">
                <a16:creationId xmlns:a16="http://schemas.microsoft.com/office/drawing/2014/main" id="{2CF6EAC7-1741-42A1-A19D-4EFD45CABE9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7896" name="Rectangle 6">
            <a:extLst>
              <a:ext uri="{FF2B5EF4-FFF2-40B4-BE49-F238E27FC236}">
                <a16:creationId xmlns:a16="http://schemas.microsoft.com/office/drawing/2014/main" id="{4EB3A64B-2F90-4AE6-B701-E0AFDD92F70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7897" name="Rectangle 7">
            <a:extLst>
              <a:ext uri="{FF2B5EF4-FFF2-40B4-BE49-F238E27FC236}">
                <a16:creationId xmlns:a16="http://schemas.microsoft.com/office/drawing/2014/main" id="{72ABD91A-E3F7-4A57-9882-BC52CE91F9D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7898" name="Rectangle 8">
            <a:extLst>
              <a:ext uri="{FF2B5EF4-FFF2-40B4-BE49-F238E27FC236}">
                <a16:creationId xmlns:a16="http://schemas.microsoft.com/office/drawing/2014/main" id="{0CE5E519-2F3C-491C-A7D9-2D6625348FA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7899" name="Rectangle 9">
            <a:extLst>
              <a:ext uri="{FF2B5EF4-FFF2-40B4-BE49-F238E27FC236}">
                <a16:creationId xmlns:a16="http://schemas.microsoft.com/office/drawing/2014/main" id="{D5B8B7E3-9E3E-46B2-B060-A4F7D150759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37900" name="Picture 10">
            <a:extLst>
              <a:ext uri="{FF2B5EF4-FFF2-40B4-BE49-F238E27FC236}">
                <a16:creationId xmlns:a16="http://schemas.microsoft.com/office/drawing/2014/main" id="{DE2C71E3-064C-4855-8BA9-9385FB6EF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4" y="855664"/>
            <a:ext cx="8948737" cy="539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1">
            <a:extLst>
              <a:ext uri="{FF2B5EF4-FFF2-40B4-BE49-F238E27FC236}">
                <a16:creationId xmlns:a16="http://schemas.microsoft.com/office/drawing/2014/main" id="{D0534167-1316-4EE6-8461-865B129586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38915" name="Slide Number Placeholder 2">
            <a:extLst>
              <a:ext uri="{FF2B5EF4-FFF2-40B4-BE49-F238E27FC236}">
                <a16:creationId xmlns:a16="http://schemas.microsoft.com/office/drawing/2014/main" id="{40B60860-02A1-42BC-BDBE-6BD710DC34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38916" name="Text Box 2">
            <a:extLst>
              <a:ext uri="{FF2B5EF4-FFF2-40B4-BE49-F238E27FC236}">
                <a16:creationId xmlns:a16="http://schemas.microsoft.com/office/drawing/2014/main" id="{4B7DD967-0CAC-4165-AA4B-E7ABD6F27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Figure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 dirty="0">
                <a:latin typeface="Times New Roman" panose="02020603050405020304" pitchFamily="18" charset="0"/>
              </a:rPr>
              <a:t>Types of OSPF packets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F40BB5E3-8B6B-4CA7-8C3A-73AC3F30094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8918" name="Rectangle 4">
            <a:extLst>
              <a:ext uri="{FF2B5EF4-FFF2-40B4-BE49-F238E27FC236}">
                <a16:creationId xmlns:a16="http://schemas.microsoft.com/office/drawing/2014/main" id="{D525F43B-9D51-44CB-9426-9B1755BDE23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8919" name="Rectangle 5">
            <a:extLst>
              <a:ext uri="{FF2B5EF4-FFF2-40B4-BE49-F238E27FC236}">
                <a16:creationId xmlns:a16="http://schemas.microsoft.com/office/drawing/2014/main" id="{AD7FA48B-2C4A-4C13-B9DB-9F404258721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8920" name="Rectangle 6">
            <a:extLst>
              <a:ext uri="{FF2B5EF4-FFF2-40B4-BE49-F238E27FC236}">
                <a16:creationId xmlns:a16="http://schemas.microsoft.com/office/drawing/2014/main" id="{95F5FB36-048F-4867-B3B3-76BB3C4C250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8921" name="Rectangle 7">
            <a:extLst>
              <a:ext uri="{FF2B5EF4-FFF2-40B4-BE49-F238E27FC236}">
                <a16:creationId xmlns:a16="http://schemas.microsoft.com/office/drawing/2014/main" id="{62928FC3-EA4F-4C26-983A-E275A65E452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8922" name="Rectangle 8">
            <a:extLst>
              <a:ext uri="{FF2B5EF4-FFF2-40B4-BE49-F238E27FC236}">
                <a16:creationId xmlns:a16="http://schemas.microsoft.com/office/drawing/2014/main" id="{C9ED5EFE-6CB4-468F-8C04-E35E244BDC60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8923" name="Rectangle 9">
            <a:extLst>
              <a:ext uri="{FF2B5EF4-FFF2-40B4-BE49-F238E27FC236}">
                <a16:creationId xmlns:a16="http://schemas.microsoft.com/office/drawing/2014/main" id="{21C94E71-C4AE-48E1-8827-2937C570F2B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38924" name="Picture 11">
            <a:extLst>
              <a:ext uri="{FF2B5EF4-FFF2-40B4-BE49-F238E27FC236}">
                <a16:creationId xmlns:a16="http://schemas.microsoft.com/office/drawing/2014/main" id="{CAFDC9D7-1232-4D5C-AF05-2DDCF95B4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526" y="1854200"/>
            <a:ext cx="8931275" cy="340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1">
            <a:extLst>
              <a:ext uri="{FF2B5EF4-FFF2-40B4-BE49-F238E27FC236}">
                <a16:creationId xmlns:a16="http://schemas.microsoft.com/office/drawing/2014/main" id="{343CDF97-EC13-48A2-8F22-A66527B953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39939" name="Slide Number Placeholder 2">
            <a:extLst>
              <a:ext uri="{FF2B5EF4-FFF2-40B4-BE49-F238E27FC236}">
                <a16:creationId xmlns:a16="http://schemas.microsoft.com/office/drawing/2014/main" id="{F3941BCA-E370-45AD-9D34-1D145F7FF8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39940" name="Text Box 2">
            <a:extLst>
              <a:ext uri="{FF2B5EF4-FFF2-40B4-BE49-F238E27FC236}">
                <a16:creationId xmlns:a16="http://schemas.microsoft.com/office/drawing/2014/main" id="{9DD6402F-3B2E-442F-8E7A-4ACE5EFEA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Figure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 dirty="0">
                <a:latin typeface="Times New Roman" panose="02020603050405020304" pitchFamily="18" charset="0"/>
              </a:rPr>
              <a:t>OSPF common header</a:t>
            </a:r>
          </a:p>
        </p:txBody>
      </p:sp>
      <p:sp>
        <p:nvSpPr>
          <p:cNvPr id="39941" name="Rectangle 3">
            <a:extLst>
              <a:ext uri="{FF2B5EF4-FFF2-40B4-BE49-F238E27FC236}">
                <a16:creationId xmlns:a16="http://schemas.microsoft.com/office/drawing/2014/main" id="{59AB3674-6CF5-4E5E-BE15-FDAD6AF03DB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9942" name="Rectangle 4">
            <a:extLst>
              <a:ext uri="{FF2B5EF4-FFF2-40B4-BE49-F238E27FC236}">
                <a16:creationId xmlns:a16="http://schemas.microsoft.com/office/drawing/2014/main" id="{7D102F87-A0FA-4427-BF03-B69327F60D0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9943" name="Rectangle 5">
            <a:extLst>
              <a:ext uri="{FF2B5EF4-FFF2-40B4-BE49-F238E27FC236}">
                <a16:creationId xmlns:a16="http://schemas.microsoft.com/office/drawing/2014/main" id="{7438F787-D709-460E-9DE3-BD169905ABA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9944" name="Rectangle 6">
            <a:extLst>
              <a:ext uri="{FF2B5EF4-FFF2-40B4-BE49-F238E27FC236}">
                <a16:creationId xmlns:a16="http://schemas.microsoft.com/office/drawing/2014/main" id="{A979CE7B-F6EC-4F53-B5D2-6207389C6E9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9945" name="Rectangle 7">
            <a:extLst>
              <a:ext uri="{FF2B5EF4-FFF2-40B4-BE49-F238E27FC236}">
                <a16:creationId xmlns:a16="http://schemas.microsoft.com/office/drawing/2014/main" id="{0E25A4C7-8F14-4666-BFB9-3EFDAB1A2CB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9946" name="Rectangle 8">
            <a:extLst>
              <a:ext uri="{FF2B5EF4-FFF2-40B4-BE49-F238E27FC236}">
                <a16:creationId xmlns:a16="http://schemas.microsoft.com/office/drawing/2014/main" id="{78B48231-CE26-4DFD-B9EF-B90DB38B6B8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9947" name="Rectangle 9">
            <a:extLst>
              <a:ext uri="{FF2B5EF4-FFF2-40B4-BE49-F238E27FC236}">
                <a16:creationId xmlns:a16="http://schemas.microsoft.com/office/drawing/2014/main" id="{A6159BCE-8D1B-4EFA-AFAA-B1AC5881B53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39948" name="Picture 10">
            <a:extLst>
              <a:ext uri="{FF2B5EF4-FFF2-40B4-BE49-F238E27FC236}">
                <a16:creationId xmlns:a16="http://schemas.microsoft.com/office/drawing/2014/main" id="{A1BEBCC3-1AB6-45C7-813F-3F45D8629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150" y="1820864"/>
            <a:ext cx="8013700" cy="321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1">
            <a:extLst>
              <a:ext uri="{FF2B5EF4-FFF2-40B4-BE49-F238E27FC236}">
                <a16:creationId xmlns:a16="http://schemas.microsoft.com/office/drawing/2014/main" id="{6087B491-C1C1-4B09-9FCE-85F196E39F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40963" name="Slide Number Placeholder 2">
            <a:extLst>
              <a:ext uri="{FF2B5EF4-FFF2-40B4-BE49-F238E27FC236}">
                <a16:creationId xmlns:a16="http://schemas.microsoft.com/office/drawing/2014/main" id="{17277137-2795-42EF-B3DB-1661679BE9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40964" name="Text Box 2">
            <a:extLst>
              <a:ext uri="{FF2B5EF4-FFF2-40B4-BE49-F238E27FC236}">
                <a16:creationId xmlns:a16="http://schemas.microsoft.com/office/drawing/2014/main" id="{AF327F27-82FA-4A14-861C-3FA4BAE5D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Figure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 dirty="0">
                <a:latin typeface="Times New Roman" panose="02020603050405020304" pitchFamily="18" charset="0"/>
              </a:rPr>
              <a:t>Link state update packet</a:t>
            </a: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43182785-BB92-4184-AE7F-3DC381FF2DE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40966" name="Rectangle 4">
            <a:extLst>
              <a:ext uri="{FF2B5EF4-FFF2-40B4-BE49-F238E27FC236}">
                <a16:creationId xmlns:a16="http://schemas.microsoft.com/office/drawing/2014/main" id="{1738E758-3D79-4D95-A451-87D66AE0876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40967" name="Rectangle 5">
            <a:extLst>
              <a:ext uri="{FF2B5EF4-FFF2-40B4-BE49-F238E27FC236}">
                <a16:creationId xmlns:a16="http://schemas.microsoft.com/office/drawing/2014/main" id="{82E7D475-B39E-43AB-8D91-DF4C58EAE73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40968" name="Rectangle 6">
            <a:extLst>
              <a:ext uri="{FF2B5EF4-FFF2-40B4-BE49-F238E27FC236}">
                <a16:creationId xmlns:a16="http://schemas.microsoft.com/office/drawing/2014/main" id="{F52E6642-6740-49C6-A359-2250F621159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40969" name="Rectangle 7">
            <a:extLst>
              <a:ext uri="{FF2B5EF4-FFF2-40B4-BE49-F238E27FC236}">
                <a16:creationId xmlns:a16="http://schemas.microsoft.com/office/drawing/2014/main" id="{2846D4A9-F2AE-428D-963E-9AF37F9EA1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40970" name="Rectangle 8">
            <a:extLst>
              <a:ext uri="{FF2B5EF4-FFF2-40B4-BE49-F238E27FC236}">
                <a16:creationId xmlns:a16="http://schemas.microsoft.com/office/drawing/2014/main" id="{EC12E7AC-334F-491C-BA4A-D84B35D37EE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40971" name="Rectangle 9">
            <a:extLst>
              <a:ext uri="{FF2B5EF4-FFF2-40B4-BE49-F238E27FC236}">
                <a16:creationId xmlns:a16="http://schemas.microsoft.com/office/drawing/2014/main" id="{EB9C16E5-17FC-4BA9-B720-3D136B78FD8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40972" name="Picture 10">
            <a:extLst>
              <a:ext uri="{FF2B5EF4-FFF2-40B4-BE49-F238E27FC236}">
                <a16:creationId xmlns:a16="http://schemas.microsoft.com/office/drawing/2014/main" id="{45D1B653-E0EC-477C-9452-5AD64DF89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4" y="2393950"/>
            <a:ext cx="7824787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1">
            <a:extLst>
              <a:ext uri="{FF2B5EF4-FFF2-40B4-BE49-F238E27FC236}">
                <a16:creationId xmlns:a16="http://schemas.microsoft.com/office/drawing/2014/main" id="{4C3569F7-A617-44CD-8173-42D2E401F9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67587" name="Slide Number Placeholder 2">
            <a:extLst>
              <a:ext uri="{FF2B5EF4-FFF2-40B4-BE49-F238E27FC236}">
                <a16:creationId xmlns:a16="http://schemas.microsoft.com/office/drawing/2014/main" id="{9F7EF1E1-ABC0-4721-8B1D-1977CED5BA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67588" name="Rectangle 2">
            <a:extLst>
              <a:ext uri="{FF2B5EF4-FFF2-40B4-BE49-F238E27FC236}">
                <a16:creationId xmlns:a16="http://schemas.microsoft.com/office/drawing/2014/main" id="{AF3DEFFD-1E7E-4E3B-9E70-794CC6BD9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867026"/>
            <a:ext cx="7543800" cy="124777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ts val="1200"/>
              </a:spcBef>
              <a:spcAft>
                <a:spcPts val="1000"/>
              </a:spcAft>
            </a:pPr>
            <a:r>
              <a:rPr lang="en-US" altLang="en-US" sz="3600" i="1">
                <a:latin typeface="Times New Roman" panose="02020603050405020304" pitchFamily="18" charset="0"/>
              </a:rPr>
              <a:t>OSPF packets are encapsulated in IP datagrams.</a:t>
            </a:r>
          </a:p>
        </p:txBody>
      </p:sp>
      <p:sp>
        <p:nvSpPr>
          <p:cNvPr id="539651" name="PubRRectCallout">
            <a:extLst>
              <a:ext uri="{FF2B5EF4-FFF2-40B4-BE49-F238E27FC236}">
                <a16:creationId xmlns:a16="http://schemas.microsoft.com/office/drawing/2014/main" id="{AC5D2CA8-3091-47FA-897C-E1119B33F51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362200" y="1662113"/>
            <a:ext cx="2743200" cy="1143000"/>
          </a:xfrm>
          <a:custGeom>
            <a:avLst/>
            <a:gdLst>
              <a:gd name="G0" fmla="+- 0 0 0"/>
              <a:gd name="G1" fmla="+- 8607 0 0"/>
              <a:gd name="T0" fmla="*/ 10800 w 21600"/>
              <a:gd name="T1" fmla="*/ 0 h 21600"/>
              <a:gd name="T2" fmla="*/ 0 w 21600"/>
              <a:gd name="T3" fmla="*/ 8638 h 21600"/>
              <a:gd name="T4" fmla="*/ 8607 w 21600"/>
              <a:gd name="T5" fmla="*/ 21600 h 21600"/>
              <a:gd name="T6" fmla="*/ 10800 w 21600"/>
              <a:gd name="T7" fmla="*/ 17277 h 21600"/>
              <a:gd name="T8" fmla="*/ 21600 w 21600"/>
              <a:gd name="T9" fmla="*/ 8638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67590" name="Picture 4">
            <a:extLst>
              <a:ext uri="{FF2B5EF4-FFF2-40B4-BE49-F238E27FC236}">
                <a16:creationId xmlns:a16="http://schemas.microsoft.com/office/drawing/2014/main" id="{4DEA95B0-2177-4DC7-9939-2CAB6912F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662113"/>
            <a:ext cx="7826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9653" name="Text Box 5">
            <a:extLst>
              <a:ext uri="{FF2B5EF4-FFF2-40B4-BE49-F238E27FC236}">
                <a16:creationId xmlns:a16="http://schemas.microsoft.com/office/drawing/2014/main" id="{C698D5B4-073C-4CBA-9AE9-949FFEBF1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14513"/>
            <a:ext cx="1200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36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Note: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4413B9-AA11-A9D2-8A59-5531694A64D7}"/>
              </a:ext>
            </a:extLst>
          </p:cNvPr>
          <p:cNvSpPr txBox="1"/>
          <p:nvPr/>
        </p:nvSpPr>
        <p:spPr>
          <a:xfrm>
            <a:off x="3049172" y="2813538"/>
            <a:ext cx="73609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Bookman Old Style" pitchFamily="18" charset="0"/>
              </a:rPr>
              <a:t>BORDER GATEWAY PROTOCOL</a:t>
            </a:r>
          </a:p>
          <a:p>
            <a:pPr algn="ctr"/>
            <a:r>
              <a:rPr lang="en-US" sz="3200" b="1" dirty="0">
                <a:latin typeface="Bookman Old Style" pitchFamily="18" charset="0"/>
              </a:rPr>
              <a:t>(BGP)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410384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" y="1985606"/>
            <a:ext cx="5519040" cy="3615094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Border Gateway Protocol (BGP) is an </a:t>
            </a:r>
            <a:r>
              <a:rPr lang="en-US" dirty="0">
                <a:solidFill>
                  <a:srgbClr val="C00000"/>
                </a:solidFill>
              </a:rPr>
              <a:t>interdomain routing protocol.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Also named as </a:t>
            </a:r>
            <a:r>
              <a:rPr lang="en-US" dirty="0">
                <a:solidFill>
                  <a:srgbClr val="C00000"/>
                </a:solidFill>
              </a:rPr>
              <a:t>Exterior Gateway Protocol</a:t>
            </a:r>
            <a:r>
              <a:rPr lang="en-US" dirty="0"/>
              <a:t>(EGP).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is a gateway protocol that is used to </a:t>
            </a:r>
            <a:r>
              <a:rPr lang="en-US" dirty="0">
                <a:solidFill>
                  <a:srgbClr val="C00000"/>
                </a:solidFill>
              </a:rPr>
              <a:t>exchange routing information among the autonomous system </a:t>
            </a:r>
            <a:r>
              <a:rPr lang="en-US" dirty="0"/>
              <a:t>on the internet.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endParaRPr lang="en-US" sz="2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32</a:t>
            </a:fld>
            <a:endParaRPr lang="en-A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9D50655-3FC7-5306-DE11-9B6BB5C02AB0}"/>
              </a:ext>
            </a:extLst>
          </p:cNvPr>
          <p:cNvSpPr txBox="1">
            <a:spLocks/>
          </p:cNvSpPr>
          <p:nvPr/>
        </p:nvSpPr>
        <p:spPr>
          <a:xfrm>
            <a:off x="2098418" y="112712"/>
            <a:ext cx="7995162" cy="968143"/>
          </a:xfrm>
          <a:prstGeom prst="rect">
            <a:avLst/>
          </a:prstGeom>
          <a:solidFill>
            <a:srgbClr val="760000"/>
          </a:solidFill>
        </p:spPr>
        <p:txBody>
          <a:bodyPr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4000" dirty="0">
              <a:solidFill>
                <a:schemeClr val="bg1"/>
              </a:solidFill>
              <a:latin typeface="Bookman Old Style" pitchFamily="18" charset="0"/>
            </a:endParaRPr>
          </a:p>
          <a:p>
            <a:pPr algn="ctr"/>
            <a:r>
              <a:rPr lang="en-US" sz="4000" dirty="0">
                <a:solidFill>
                  <a:schemeClr val="bg1"/>
                </a:solidFill>
                <a:latin typeface="Bookman Old Style" pitchFamily="18" charset="0"/>
              </a:rPr>
              <a:t>BGP (BORDER GATEWAY PROTOCOL)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87A2B2-184C-FF5F-BEFA-B1F35058D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146" y="2378691"/>
            <a:ext cx="5994708" cy="282892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Footer Placeholder 1">
            <a:extLst>
              <a:ext uri="{FF2B5EF4-FFF2-40B4-BE49-F238E27FC236}">
                <a16:creationId xmlns:a16="http://schemas.microsoft.com/office/drawing/2014/main" id="{599C321B-91A5-436B-95A0-A2AA132AF7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72707" name="Slide Number Placeholder 2">
            <a:extLst>
              <a:ext uri="{FF2B5EF4-FFF2-40B4-BE49-F238E27FC236}">
                <a16:creationId xmlns:a16="http://schemas.microsoft.com/office/drawing/2014/main" id="{9F36E7C2-3F41-40E7-B12B-00F9A15ECB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72708" name="Text Box 2">
            <a:extLst>
              <a:ext uri="{FF2B5EF4-FFF2-40B4-BE49-F238E27FC236}">
                <a16:creationId xmlns:a16="http://schemas.microsoft.com/office/drawing/2014/main" id="{1C7B5E29-A92D-4E36-8C26-5A68AA6E4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Figure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en-US" i="1" dirty="0">
                <a:latin typeface="Times New Roman" panose="02020603050405020304" pitchFamily="18" charset="0"/>
              </a:rPr>
              <a:t>Internal and external BGP sessions</a:t>
            </a:r>
          </a:p>
        </p:txBody>
      </p:sp>
      <p:sp>
        <p:nvSpPr>
          <p:cNvPr id="72709" name="Rectangle 3">
            <a:extLst>
              <a:ext uri="{FF2B5EF4-FFF2-40B4-BE49-F238E27FC236}">
                <a16:creationId xmlns:a16="http://schemas.microsoft.com/office/drawing/2014/main" id="{35C37EC3-2D83-4AF2-AB0C-6E13DB3B53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2710" name="Rectangle 4">
            <a:extLst>
              <a:ext uri="{FF2B5EF4-FFF2-40B4-BE49-F238E27FC236}">
                <a16:creationId xmlns:a16="http://schemas.microsoft.com/office/drawing/2014/main" id="{F50E8E55-5259-4FB7-BCEE-837BE701694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2711" name="Rectangle 5">
            <a:extLst>
              <a:ext uri="{FF2B5EF4-FFF2-40B4-BE49-F238E27FC236}">
                <a16:creationId xmlns:a16="http://schemas.microsoft.com/office/drawing/2014/main" id="{AF0F1698-EC98-4C03-B775-F938DA4A4DA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2712" name="Rectangle 6">
            <a:extLst>
              <a:ext uri="{FF2B5EF4-FFF2-40B4-BE49-F238E27FC236}">
                <a16:creationId xmlns:a16="http://schemas.microsoft.com/office/drawing/2014/main" id="{CB7FBDC3-CD7F-45DD-87D7-D00AAEC4980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2713" name="Rectangle 7">
            <a:extLst>
              <a:ext uri="{FF2B5EF4-FFF2-40B4-BE49-F238E27FC236}">
                <a16:creationId xmlns:a16="http://schemas.microsoft.com/office/drawing/2014/main" id="{260DD12F-AEFB-4876-B4C8-A5C815E5A79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2714" name="Rectangle 8">
            <a:extLst>
              <a:ext uri="{FF2B5EF4-FFF2-40B4-BE49-F238E27FC236}">
                <a16:creationId xmlns:a16="http://schemas.microsoft.com/office/drawing/2014/main" id="{53AA3F8D-4F01-442E-80E6-8433FA84E140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2715" name="Rectangle 9">
            <a:extLst>
              <a:ext uri="{FF2B5EF4-FFF2-40B4-BE49-F238E27FC236}">
                <a16:creationId xmlns:a16="http://schemas.microsoft.com/office/drawing/2014/main" id="{73E6F97F-EF34-42B5-89C4-9E38DA64E7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72716" name="Picture 10">
            <a:extLst>
              <a:ext uri="{FF2B5EF4-FFF2-40B4-BE49-F238E27FC236}">
                <a16:creationId xmlns:a16="http://schemas.microsoft.com/office/drawing/2014/main" id="{CFE09CF2-8C4D-4C17-86ED-310212ED7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451" y="1854200"/>
            <a:ext cx="8291513" cy="314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1">
            <a:extLst>
              <a:ext uri="{FF2B5EF4-FFF2-40B4-BE49-F238E27FC236}">
                <a16:creationId xmlns:a16="http://schemas.microsoft.com/office/drawing/2014/main" id="{505D09D1-1343-4C52-836F-C583797D0B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73731" name="Slide Number Placeholder 2">
            <a:extLst>
              <a:ext uri="{FF2B5EF4-FFF2-40B4-BE49-F238E27FC236}">
                <a16:creationId xmlns:a16="http://schemas.microsoft.com/office/drawing/2014/main" id="{1EE53A56-7FD1-49B8-8D59-E0D6D7B540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73732" name="Text Box 2">
            <a:extLst>
              <a:ext uri="{FF2B5EF4-FFF2-40B4-BE49-F238E27FC236}">
                <a16:creationId xmlns:a16="http://schemas.microsoft.com/office/drawing/2014/main" id="{169AA8D9-4613-4C59-87E5-904F03BC1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Figure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en-US" i="1" dirty="0">
                <a:latin typeface="Times New Roman" panose="02020603050405020304" pitchFamily="18" charset="0"/>
              </a:rPr>
              <a:t>Types of BGP messages</a:t>
            </a:r>
          </a:p>
        </p:txBody>
      </p:sp>
      <p:sp>
        <p:nvSpPr>
          <p:cNvPr id="73733" name="Rectangle 3">
            <a:extLst>
              <a:ext uri="{FF2B5EF4-FFF2-40B4-BE49-F238E27FC236}">
                <a16:creationId xmlns:a16="http://schemas.microsoft.com/office/drawing/2014/main" id="{55A3A2DE-D397-462F-A655-FCA5B5D6BAA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3734" name="Rectangle 4">
            <a:extLst>
              <a:ext uri="{FF2B5EF4-FFF2-40B4-BE49-F238E27FC236}">
                <a16:creationId xmlns:a16="http://schemas.microsoft.com/office/drawing/2014/main" id="{936BD628-F46C-4BDC-AA18-C5225EC6643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3735" name="Rectangle 5">
            <a:extLst>
              <a:ext uri="{FF2B5EF4-FFF2-40B4-BE49-F238E27FC236}">
                <a16:creationId xmlns:a16="http://schemas.microsoft.com/office/drawing/2014/main" id="{2A6CC433-D5CD-4D11-B7E9-3D9369D6342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3736" name="Rectangle 6">
            <a:extLst>
              <a:ext uri="{FF2B5EF4-FFF2-40B4-BE49-F238E27FC236}">
                <a16:creationId xmlns:a16="http://schemas.microsoft.com/office/drawing/2014/main" id="{057F84F3-C8B4-47B8-B0F5-76B3DD0CEC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3737" name="Rectangle 7">
            <a:extLst>
              <a:ext uri="{FF2B5EF4-FFF2-40B4-BE49-F238E27FC236}">
                <a16:creationId xmlns:a16="http://schemas.microsoft.com/office/drawing/2014/main" id="{12C2A872-AB5F-4BA1-8103-C3AAFD65ADC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3738" name="Rectangle 8">
            <a:extLst>
              <a:ext uri="{FF2B5EF4-FFF2-40B4-BE49-F238E27FC236}">
                <a16:creationId xmlns:a16="http://schemas.microsoft.com/office/drawing/2014/main" id="{52E093A3-23FD-4DF6-AEF4-787480FFD7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3739" name="Rectangle 9">
            <a:extLst>
              <a:ext uri="{FF2B5EF4-FFF2-40B4-BE49-F238E27FC236}">
                <a16:creationId xmlns:a16="http://schemas.microsoft.com/office/drawing/2014/main" id="{BAF8BD42-E2E2-4217-B00C-029DF168AB2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73740" name="Picture 10">
            <a:extLst>
              <a:ext uri="{FF2B5EF4-FFF2-40B4-BE49-F238E27FC236}">
                <a16:creationId xmlns:a16="http://schemas.microsoft.com/office/drawing/2014/main" id="{177C97A9-0E78-49EB-9EC0-D09D1E702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9" y="2212976"/>
            <a:ext cx="8809037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Footer Placeholder 1">
            <a:extLst>
              <a:ext uri="{FF2B5EF4-FFF2-40B4-BE49-F238E27FC236}">
                <a16:creationId xmlns:a16="http://schemas.microsoft.com/office/drawing/2014/main" id="{211D66B3-E0D2-4D50-9D45-2876337DF4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74755" name="Slide Number Placeholder 2">
            <a:extLst>
              <a:ext uri="{FF2B5EF4-FFF2-40B4-BE49-F238E27FC236}">
                <a16:creationId xmlns:a16="http://schemas.microsoft.com/office/drawing/2014/main" id="{9B89A3EA-25A0-4A57-9174-B1F9DECD2A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74756" name="Text Box 2">
            <a:extLst>
              <a:ext uri="{FF2B5EF4-FFF2-40B4-BE49-F238E27FC236}">
                <a16:creationId xmlns:a16="http://schemas.microsoft.com/office/drawing/2014/main" id="{8DCD897F-B069-4DDB-B617-BFE849364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Figure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 dirty="0">
                <a:latin typeface="Times New Roman" panose="02020603050405020304" pitchFamily="18" charset="0"/>
              </a:rPr>
              <a:t>BGP packet header</a:t>
            </a:r>
          </a:p>
        </p:txBody>
      </p:sp>
      <p:sp>
        <p:nvSpPr>
          <p:cNvPr id="74757" name="Rectangle 3">
            <a:extLst>
              <a:ext uri="{FF2B5EF4-FFF2-40B4-BE49-F238E27FC236}">
                <a16:creationId xmlns:a16="http://schemas.microsoft.com/office/drawing/2014/main" id="{8A79DD4E-56E2-4028-A3DE-16827D72A87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4758" name="Rectangle 4">
            <a:extLst>
              <a:ext uri="{FF2B5EF4-FFF2-40B4-BE49-F238E27FC236}">
                <a16:creationId xmlns:a16="http://schemas.microsoft.com/office/drawing/2014/main" id="{EB7AF6AB-3238-4468-8B6F-2EC440F1878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4759" name="Rectangle 5">
            <a:extLst>
              <a:ext uri="{FF2B5EF4-FFF2-40B4-BE49-F238E27FC236}">
                <a16:creationId xmlns:a16="http://schemas.microsoft.com/office/drawing/2014/main" id="{A1E1DAAF-6E87-4B41-A9FA-A230DD3BD81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4760" name="Rectangle 6">
            <a:extLst>
              <a:ext uri="{FF2B5EF4-FFF2-40B4-BE49-F238E27FC236}">
                <a16:creationId xmlns:a16="http://schemas.microsoft.com/office/drawing/2014/main" id="{1E443E69-9DC0-4DBE-8F2B-5CB59F8E82E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4761" name="Rectangle 7">
            <a:extLst>
              <a:ext uri="{FF2B5EF4-FFF2-40B4-BE49-F238E27FC236}">
                <a16:creationId xmlns:a16="http://schemas.microsoft.com/office/drawing/2014/main" id="{0DBCBF6A-D713-4E1E-813B-628BB63F354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4762" name="Rectangle 8">
            <a:extLst>
              <a:ext uri="{FF2B5EF4-FFF2-40B4-BE49-F238E27FC236}">
                <a16:creationId xmlns:a16="http://schemas.microsoft.com/office/drawing/2014/main" id="{E6819C50-B718-4A77-9ABB-64E9C8C45F0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4763" name="Rectangle 9">
            <a:extLst>
              <a:ext uri="{FF2B5EF4-FFF2-40B4-BE49-F238E27FC236}">
                <a16:creationId xmlns:a16="http://schemas.microsoft.com/office/drawing/2014/main" id="{B8CF48E2-FA42-413E-9A4C-85DA1610F4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74764" name="Picture 10">
            <a:extLst>
              <a:ext uri="{FF2B5EF4-FFF2-40B4-BE49-F238E27FC236}">
                <a16:creationId xmlns:a16="http://schemas.microsoft.com/office/drawing/2014/main" id="{7EE81098-2F15-4377-A534-93873E8C8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488" y="1595438"/>
            <a:ext cx="8062912" cy="343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1">
            <a:extLst>
              <a:ext uri="{FF2B5EF4-FFF2-40B4-BE49-F238E27FC236}">
                <a16:creationId xmlns:a16="http://schemas.microsoft.com/office/drawing/2014/main" id="{526FFB15-BC2F-4EE7-941D-B5446E78B3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75779" name="Slide Number Placeholder 2">
            <a:extLst>
              <a:ext uri="{FF2B5EF4-FFF2-40B4-BE49-F238E27FC236}">
                <a16:creationId xmlns:a16="http://schemas.microsoft.com/office/drawing/2014/main" id="{7A913F5F-89D3-4E60-8822-DFC34C90B3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75780" name="Text Box 2">
            <a:extLst>
              <a:ext uri="{FF2B5EF4-FFF2-40B4-BE49-F238E27FC236}">
                <a16:creationId xmlns:a16="http://schemas.microsoft.com/office/drawing/2014/main" id="{B54D73C8-3E2E-4B7A-B903-8309BA262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Figure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 dirty="0">
                <a:latin typeface="Times New Roman" panose="02020603050405020304" pitchFamily="18" charset="0"/>
              </a:rPr>
              <a:t>Open message</a:t>
            </a:r>
          </a:p>
        </p:txBody>
      </p:sp>
      <p:sp>
        <p:nvSpPr>
          <p:cNvPr id="75781" name="Rectangle 3">
            <a:extLst>
              <a:ext uri="{FF2B5EF4-FFF2-40B4-BE49-F238E27FC236}">
                <a16:creationId xmlns:a16="http://schemas.microsoft.com/office/drawing/2014/main" id="{A8E16373-ABE3-445F-A116-BC4C1B1B594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5782" name="Rectangle 4">
            <a:extLst>
              <a:ext uri="{FF2B5EF4-FFF2-40B4-BE49-F238E27FC236}">
                <a16:creationId xmlns:a16="http://schemas.microsoft.com/office/drawing/2014/main" id="{A8C95E3F-C4CA-4059-8C73-624D618E626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5783" name="Rectangle 5">
            <a:extLst>
              <a:ext uri="{FF2B5EF4-FFF2-40B4-BE49-F238E27FC236}">
                <a16:creationId xmlns:a16="http://schemas.microsoft.com/office/drawing/2014/main" id="{07D07CE6-63AB-4164-8E24-76C4910387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5784" name="Rectangle 6">
            <a:extLst>
              <a:ext uri="{FF2B5EF4-FFF2-40B4-BE49-F238E27FC236}">
                <a16:creationId xmlns:a16="http://schemas.microsoft.com/office/drawing/2014/main" id="{EB50EDC9-2B92-4CE0-9CD8-85CFB338269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5785" name="Rectangle 7">
            <a:extLst>
              <a:ext uri="{FF2B5EF4-FFF2-40B4-BE49-F238E27FC236}">
                <a16:creationId xmlns:a16="http://schemas.microsoft.com/office/drawing/2014/main" id="{DC52204D-41C8-422D-BD82-A2D80412D82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5786" name="Rectangle 8">
            <a:extLst>
              <a:ext uri="{FF2B5EF4-FFF2-40B4-BE49-F238E27FC236}">
                <a16:creationId xmlns:a16="http://schemas.microsoft.com/office/drawing/2014/main" id="{D6EA93B8-79AE-4F2D-A7A3-FA23E994CD7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5787" name="Rectangle 9">
            <a:extLst>
              <a:ext uri="{FF2B5EF4-FFF2-40B4-BE49-F238E27FC236}">
                <a16:creationId xmlns:a16="http://schemas.microsoft.com/office/drawing/2014/main" id="{21FE376F-18B8-4549-A91C-128358FC2EA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75788" name="Picture 10">
            <a:extLst>
              <a:ext uri="{FF2B5EF4-FFF2-40B4-BE49-F238E27FC236}">
                <a16:creationId xmlns:a16="http://schemas.microsoft.com/office/drawing/2014/main" id="{D230C641-B461-4993-975A-FF7D66F0F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488" y="1524001"/>
            <a:ext cx="8062912" cy="403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oter Placeholder 1">
            <a:extLst>
              <a:ext uri="{FF2B5EF4-FFF2-40B4-BE49-F238E27FC236}">
                <a16:creationId xmlns:a16="http://schemas.microsoft.com/office/drawing/2014/main" id="{29BB603B-29D4-4DA2-B743-0CB5671D22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76803" name="Slide Number Placeholder 2">
            <a:extLst>
              <a:ext uri="{FF2B5EF4-FFF2-40B4-BE49-F238E27FC236}">
                <a16:creationId xmlns:a16="http://schemas.microsoft.com/office/drawing/2014/main" id="{3024FC15-397A-4047-8798-A29BD90269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76804" name="Text Box 2">
            <a:extLst>
              <a:ext uri="{FF2B5EF4-FFF2-40B4-BE49-F238E27FC236}">
                <a16:creationId xmlns:a16="http://schemas.microsoft.com/office/drawing/2014/main" id="{0960E2CB-61FC-4304-A6EC-69212A7C1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Figure.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 dirty="0">
                <a:latin typeface="Times New Roman" panose="02020603050405020304" pitchFamily="18" charset="0"/>
              </a:rPr>
              <a:t>Update message</a:t>
            </a:r>
          </a:p>
        </p:txBody>
      </p:sp>
      <p:sp>
        <p:nvSpPr>
          <p:cNvPr id="76805" name="Rectangle 3">
            <a:extLst>
              <a:ext uri="{FF2B5EF4-FFF2-40B4-BE49-F238E27FC236}">
                <a16:creationId xmlns:a16="http://schemas.microsoft.com/office/drawing/2014/main" id="{921871C4-2CAD-4F13-8F5C-55FF70B6EC3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6806" name="Rectangle 4">
            <a:extLst>
              <a:ext uri="{FF2B5EF4-FFF2-40B4-BE49-F238E27FC236}">
                <a16:creationId xmlns:a16="http://schemas.microsoft.com/office/drawing/2014/main" id="{D86FF068-4451-4CEB-BD01-17B27B677D9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6807" name="Rectangle 5">
            <a:extLst>
              <a:ext uri="{FF2B5EF4-FFF2-40B4-BE49-F238E27FC236}">
                <a16:creationId xmlns:a16="http://schemas.microsoft.com/office/drawing/2014/main" id="{DF7E8CFB-64F8-410E-AD72-6C57E58D510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6808" name="Rectangle 6">
            <a:extLst>
              <a:ext uri="{FF2B5EF4-FFF2-40B4-BE49-F238E27FC236}">
                <a16:creationId xmlns:a16="http://schemas.microsoft.com/office/drawing/2014/main" id="{AC2065B9-4E2C-4F7F-A863-39305860CA0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6809" name="Rectangle 7">
            <a:extLst>
              <a:ext uri="{FF2B5EF4-FFF2-40B4-BE49-F238E27FC236}">
                <a16:creationId xmlns:a16="http://schemas.microsoft.com/office/drawing/2014/main" id="{AE2DBCB8-339A-4004-AB7B-6137BD2D1EF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6810" name="Rectangle 8">
            <a:extLst>
              <a:ext uri="{FF2B5EF4-FFF2-40B4-BE49-F238E27FC236}">
                <a16:creationId xmlns:a16="http://schemas.microsoft.com/office/drawing/2014/main" id="{CCA6ED62-9D26-4768-B5D6-3EA2987C434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6811" name="Rectangle 9">
            <a:extLst>
              <a:ext uri="{FF2B5EF4-FFF2-40B4-BE49-F238E27FC236}">
                <a16:creationId xmlns:a16="http://schemas.microsoft.com/office/drawing/2014/main" id="{A9DA58CC-0025-4436-A48D-4F4430FB9E6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76812" name="Picture 10">
            <a:extLst>
              <a:ext uri="{FF2B5EF4-FFF2-40B4-BE49-F238E27FC236}">
                <a16:creationId xmlns:a16="http://schemas.microsoft.com/office/drawing/2014/main" id="{6EADF5F6-2245-4BB0-A04D-2A72EACBA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8" y="941388"/>
            <a:ext cx="6819900" cy="523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1">
            <a:extLst>
              <a:ext uri="{FF2B5EF4-FFF2-40B4-BE49-F238E27FC236}">
                <a16:creationId xmlns:a16="http://schemas.microsoft.com/office/drawing/2014/main" id="{0DEFBBAC-F71F-49BC-B952-08848FA5AB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77827" name="Slide Number Placeholder 2">
            <a:extLst>
              <a:ext uri="{FF2B5EF4-FFF2-40B4-BE49-F238E27FC236}">
                <a16:creationId xmlns:a16="http://schemas.microsoft.com/office/drawing/2014/main" id="{AF5B7316-5E7A-4002-A335-9E9B9EA663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77828" name="Rectangle 2">
            <a:extLst>
              <a:ext uri="{FF2B5EF4-FFF2-40B4-BE49-F238E27FC236}">
                <a16:creationId xmlns:a16="http://schemas.microsoft.com/office/drawing/2014/main" id="{729A3D59-9663-4A8B-AB58-9BD6844AD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019426"/>
            <a:ext cx="7543800" cy="124777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ts val="1200"/>
              </a:spcBef>
              <a:spcAft>
                <a:spcPts val="1000"/>
              </a:spcAft>
            </a:pPr>
            <a:r>
              <a:rPr lang="en-US" altLang="en-US" sz="3600" i="1">
                <a:latin typeface="Times New Roman" panose="02020603050405020304" pitchFamily="18" charset="0"/>
              </a:rPr>
              <a:t>BGP supports classless addressing and CIDR.</a:t>
            </a:r>
          </a:p>
        </p:txBody>
      </p:sp>
      <p:sp>
        <p:nvSpPr>
          <p:cNvPr id="540675" name="PubRRectCallout">
            <a:extLst>
              <a:ext uri="{FF2B5EF4-FFF2-40B4-BE49-F238E27FC236}">
                <a16:creationId xmlns:a16="http://schemas.microsoft.com/office/drawing/2014/main" id="{35FFB464-9237-4EBB-8F5A-7A4A46F0DC3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362200" y="1814513"/>
            <a:ext cx="2743200" cy="1143000"/>
          </a:xfrm>
          <a:custGeom>
            <a:avLst/>
            <a:gdLst>
              <a:gd name="G0" fmla="+- 0 0 0"/>
              <a:gd name="G1" fmla="+- 8607 0 0"/>
              <a:gd name="T0" fmla="*/ 10800 w 21600"/>
              <a:gd name="T1" fmla="*/ 0 h 21600"/>
              <a:gd name="T2" fmla="*/ 0 w 21600"/>
              <a:gd name="T3" fmla="*/ 8638 h 21600"/>
              <a:gd name="T4" fmla="*/ 8607 w 21600"/>
              <a:gd name="T5" fmla="*/ 21600 h 21600"/>
              <a:gd name="T6" fmla="*/ 10800 w 21600"/>
              <a:gd name="T7" fmla="*/ 17277 h 21600"/>
              <a:gd name="T8" fmla="*/ 21600 w 21600"/>
              <a:gd name="T9" fmla="*/ 8638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77830" name="Picture 4">
            <a:extLst>
              <a:ext uri="{FF2B5EF4-FFF2-40B4-BE49-F238E27FC236}">
                <a16:creationId xmlns:a16="http://schemas.microsoft.com/office/drawing/2014/main" id="{628A898A-17B9-4AA1-8D63-927EA2D16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814513"/>
            <a:ext cx="7826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0677" name="Text Box 5">
            <a:extLst>
              <a:ext uri="{FF2B5EF4-FFF2-40B4-BE49-F238E27FC236}">
                <a16:creationId xmlns:a16="http://schemas.microsoft.com/office/drawing/2014/main" id="{E7EB6761-7745-4762-9924-853B7B325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966913"/>
            <a:ext cx="1200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36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Note: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Footer Placeholder 1">
            <a:extLst>
              <a:ext uri="{FF2B5EF4-FFF2-40B4-BE49-F238E27FC236}">
                <a16:creationId xmlns:a16="http://schemas.microsoft.com/office/drawing/2014/main" id="{3704B7B4-C629-4D29-953D-041BECE5C0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78851" name="Slide Number Placeholder 2">
            <a:extLst>
              <a:ext uri="{FF2B5EF4-FFF2-40B4-BE49-F238E27FC236}">
                <a16:creationId xmlns:a16="http://schemas.microsoft.com/office/drawing/2014/main" id="{E869FE36-9E93-406A-8C24-C5F4989237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78852" name="Text Box 2">
            <a:extLst>
              <a:ext uri="{FF2B5EF4-FFF2-40B4-BE49-F238E27FC236}">
                <a16:creationId xmlns:a16="http://schemas.microsoft.com/office/drawing/2014/main" id="{77F3FEDD-49DB-4232-B715-A97883A5D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Figure.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 dirty="0">
                <a:latin typeface="Times New Roman" panose="02020603050405020304" pitchFamily="18" charset="0"/>
              </a:rPr>
              <a:t>Keepalive message</a:t>
            </a:r>
          </a:p>
        </p:txBody>
      </p:sp>
      <p:sp>
        <p:nvSpPr>
          <p:cNvPr id="78853" name="Rectangle 3">
            <a:extLst>
              <a:ext uri="{FF2B5EF4-FFF2-40B4-BE49-F238E27FC236}">
                <a16:creationId xmlns:a16="http://schemas.microsoft.com/office/drawing/2014/main" id="{A80422D0-F3B8-4063-8513-6A9BE2A18D2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8854" name="Rectangle 4">
            <a:extLst>
              <a:ext uri="{FF2B5EF4-FFF2-40B4-BE49-F238E27FC236}">
                <a16:creationId xmlns:a16="http://schemas.microsoft.com/office/drawing/2014/main" id="{6197B758-5D7C-4681-B7F4-5FA11F0A365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8855" name="Rectangle 5">
            <a:extLst>
              <a:ext uri="{FF2B5EF4-FFF2-40B4-BE49-F238E27FC236}">
                <a16:creationId xmlns:a16="http://schemas.microsoft.com/office/drawing/2014/main" id="{00B838CE-6B53-4D38-83BC-81293482A0C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8856" name="Rectangle 6">
            <a:extLst>
              <a:ext uri="{FF2B5EF4-FFF2-40B4-BE49-F238E27FC236}">
                <a16:creationId xmlns:a16="http://schemas.microsoft.com/office/drawing/2014/main" id="{6A81AFE6-A14C-40C6-A165-C1DC63B22D1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8857" name="Rectangle 7">
            <a:extLst>
              <a:ext uri="{FF2B5EF4-FFF2-40B4-BE49-F238E27FC236}">
                <a16:creationId xmlns:a16="http://schemas.microsoft.com/office/drawing/2014/main" id="{464F0AC4-CCB2-46E0-9149-8EF4101111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8858" name="Rectangle 8">
            <a:extLst>
              <a:ext uri="{FF2B5EF4-FFF2-40B4-BE49-F238E27FC236}">
                <a16:creationId xmlns:a16="http://schemas.microsoft.com/office/drawing/2014/main" id="{52229478-027F-4BA6-9D89-50F25946BCD1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8859" name="Rectangle 9">
            <a:extLst>
              <a:ext uri="{FF2B5EF4-FFF2-40B4-BE49-F238E27FC236}">
                <a16:creationId xmlns:a16="http://schemas.microsoft.com/office/drawing/2014/main" id="{6484D67F-219E-467B-9453-D610CBBE200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78860" name="Picture 10">
            <a:extLst>
              <a:ext uri="{FF2B5EF4-FFF2-40B4-BE49-F238E27FC236}">
                <a16:creationId xmlns:a16="http://schemas.microsoft.com/office/drawing/2014/main" id="{694DAC39-1ADD-4EA9-8699-31F15826C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2497138"/>
            <a:ext cx="8062912" cy="169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1">
            <a:extLst>
              <a:ext uri="{FF2B5EF4-FFF2-40B4-BE49-F238E27FC236}">
                <a16:creationId xmlns:a16="http://schemas.microsoft.com/office/drawing/2014/main" id="{7178D2E0-4220-41CA-AC84-846975362F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79875" name="Slide Number Placeholder 2">
            <a:extLst>
              <a:ext uri="{FF2B5EF4-FFF2-40B4-BE49-F238E27FC236}">
                <a16:creationId xmlns:a16="http://schemas.microsoft.com/office/drawing/2014/main" id="{21DDC880-FDBF-448B-AF05-6B29DD6A6A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79876" name="Text Box 2">
            <a:extLst>
              <a:ext uri="{FF2B5EF4-FFF2-40B4-BE49-F238E27FC236}">
                <a16:creationId xmlns:a16="http://schemas.microsoft.com/office/drawing/2014/main" id="{A5A2C612-0B40-42ED-A885-10AA599B4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Figure.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 dirty="0">
                <a:latin typeface="Times New Roman" panose="02020603050405020304" pitchFamily="18" charset="0"/>
              </a:rPr>
              <a:t>Notification message</a:t>
            </a:r>
          </a:p>
        </p:txBody>
      </p:sp>
      <p:sp>
        <p:nvSpPr>
          <p:cNvPr id="79877" name="Rectangle 3">
            <a:extLst>
              <a:ext uri="{FF2B5EF4-FFF2-40B4-BE49-F238E27FC236}">
                <a16:creationId xmlns:a16="http://schemas.microsoft.com/office/drawing/2014/main" id="{1B4BE122-D4C0-41BF-9D52-64A649915C1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9878" name="Rectangle 4">
            <a:extLst>
              <a:ext uri="{FF2B5EF4-FFF2-40B4-BE49-F238E27FC236}">
                <a16:creationId xmlns:a16="http://schemas.microsoft.com/office/drawing/2014/main" id="{A1F55FEC-6CEE-483A-B2EA-2621C3DA7F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9879" name="Rectangle 5">
            <a:extLst>
              <a:ext uri="{FF2B5EF4-FFF2-40B4-BE49-F238E27FC236}">
                <a16:creationId xmlns:a16="http://schemas.microsoft.com/office/drawing/2014/main" id="{1DD0FCBB-730E-437C-BFC8-BCCA9104F40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9880" name="Rectangle 6">
            <a:extLst>
              <a:ext uri="{FF2B5EF4-FFF2-40B4-BE49-F238E27FC236}">
                <a16:creationId xmlns:a16="http://schemas.microsoft.com/office/drawing/2014/main" id="{00729ED6-EE44-4161-B317-3B78380F819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9881" name="Rectangle 7">
            <a:extLst>
              <a:ext uri="{FF2B5EF4-FFF2-40B4-BE49-F238E27FC236}">
                <a16:creationId xmlns:a16="http://schemas.microsoft.com/office/drawing/2014/main" id="{46901727-6526-4727-8591-500360EC649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9882" name="Rectangle 8">
            <a:extLst>
              <a:ext uri="{FF2B5EF4-FFF2-40B4-BE49-F238E27FC236}">
                <a16:creationId xmlns:a16="http://schemas.microsoft.com/office/drawing/2014/main" id="{735777E9-550C-4589-BBE1-DA61D59CFCF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79883" name="Rectangle 9">
            <a:extLst>
              <a:ext uri="{FF2B5EF4-FFF2-40B4-BE49-F238E27FC236}">
                <a16:creationId xmlns:a16="http://schemas.microsoft.com/office/drawing/2014/main" id="{3BEB135E-D71B-4756-85A4-12B2B2CE4F8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79884" name="Picture 10">
            <a:extLst>
              <a:ext uri="{FF2B5EF4-FFF2-40B4-BE49-F238E27FC236}">
                <a16:creationId xmlns:a16="http://schemas.microsoft.com/office/drawing/2014/main" id="{EF36FAB5-8897-4399-9741-E43F33EB2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488" y="1908176"/>
            <a:ext cx="8062912" cy="334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Footer Placeholder 1">
            <a:extLst>
              <a:ext uri="{FF2B5EF4-FFF2-40B4-BE49-F238E27FC236}">
                <a16:creationId xmlns:a16="http://schemas.microsoft.com/office/drawing/2014/main" id="{65F7F423-E886-4947-A46A-94B4C20EA8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80899" name="Slide Number Placeholder 2">
            <a:extLst>
              <a:ext uri="{FF2B5EF4-FFF2-40B4-BE49-F238E27FC236}">
                <a16:creationId xmlns:a16="http://schemas.microsoft.com/office/drawing/2014/main" id="{2B61C5D1-8803-4C1A-A2A7-C2BBE60FB1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544771" name="Text Box 3">
            <a:extLst>
              <a:ext uri="{FF2B5EF4-FFF2-40B4-BE49-F238E27FC236}">
                <a16:creationId xmlns:a16="http://schemas.microsoft.com/office/drawing/2014/main" id="{CEBA7E9A-1A0B-42EC-89FE-24F003C65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725" y="152400"/>
            <a:ext cx="255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400" i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Table  </a:t>
            </a:r>
            <a:r>
              <a:rPr 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Error codes</a:t>
            </a:r>
          </a:p>
        </p:txBody>
      </p:sp>
      <p:pic>
        <p:nvPicPr>
          <p:cNvPr id="80901" name="Picture 41">
            <a:extLst>
              <a:ext uri="{FF2B5EF4-FFF2-40B4-BE49-F238E27FC236}">
                <a16:creationId xmlns:a16="http://schemas.microsoft.com/office/drawing/2014/main" id="{B82E6B23-B8CA-403E-BC5B-D596C550B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226" y="533400"/>
            <a:ext cx="8080375" cy="578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1">
            <a:extLst>
              <a:ext uri="{FF2B5EF4-FFF2-40B4-BE49-F238E27FC236}">
                <a16:creationId xmlns:a16="http://schemas.microsoft.com/office/drawing/2014/main" id="{2E718A63-8F9A-4450-9DCC-FF8EFCD38B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81923" name="Slide Number Placeholder 2">
            <a:extLst>
              <a:ext uri="{FF2B5EF4-FFF2-40B4-BE49-F238E27FC236}">
                <a16:creationId xmlns:a16="http://schemas.microsoft.com/office/drawing/2014/main" id="{3704E6FE-F30B-4DC8-AE61-E1756AE4CD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b="0"/>
          </a:p>
        </p:txBody>
      </p:sp>
      <p:sp>
        <p:nvSpPr>
          <p:cNvPr id="81924" name="Rectangle 2">
            <a:extLst>
              <a:ext uri="{FF2B5EF4-FFF2-40B4-BE49-F238E27FC236}">
                <a16:creationId xmlns:a16="http://schemas.microsoft.com/office/drawing/2014/main" id="{DB163F9C-18EB-4F61-A6A7-29E1F849D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638426"/>
            <a:ext cx="7543800" cy="124777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ts val="1200"/>
              </a:spcBef>
              <a:spcAft>
                <a:spcPts val="1000"/>
              </a:spcAft>
            </a:pPr>
            <a:r>
              <a:rPr lang="en-US" altLang="en-US" sz="3600" i="1">
                <a:latin typeface="Times New Roman" panose="02020603050405020304" pitchFamily="18" charset="0"/>
              </a:rPr>
              <a:t>BGP uses the services of TCP </a:t>
            </a:r>
            <a:br>
              <a:rPr lang="en-US" altLang="en-US" sz="3600" i="1">
                <a:latin typeface="Times New Roman" panose="02020603050405020304" pitchFamily="18" charset="0"/>
              </a:rPr>
            </a:br>
            <a:r>
              <a:rPr lang="en-US" altLang="en-US" sz="3600" i="1">
                <a:latin typeface="Times New Roman" panose="02020603050405020304" pitchFamily="18" charset="0"/>
              </a:rPr>
              <a:t>on port 179.</a:t>
            </a:r>
          </a:p>
        </p:txBody>
      </p:sp>
      <p:sp>
        <p:nvSpPr>
          <p:cNvPr id="541699" name="PubRRectCallout">
            <a:extLst>
              <a:ext uri="{FF2B5EF4-FFF2-40B4-BE49-F238E27FC236}">
                <a16:creationId xmlns:a16="http://schemas.microsoft.com/office/drawing/2014/main" id="{777AAE5C-757C-40C0-A6D3-79F5EC1CA4B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362200" y="1433513"/>
            <a:ext cx="2743200" cy="1143000"/>
          </a:xfrm>
          <a:custGeom>
            <a:avLst/>
            <a:gdLst>
              <a:gd name="G0" fmla="+- 0 0 0"/>
              <a:gd name="G1" fmla="+- 8607 0 0"/>
              <a:gd name="T0" fmla="*/ 10800 w 21600"/>
              <a:gd name="T1" fmla="*/ 0 h 21600"/>
              <a:gd name="T2" fmla="*/ 0 w 21600"/>
              <a:gd name="T3" fmla="*/ 8638 h 21600"/>
              <a:gd name="T4" fmla="*/ 8607 w 21600"/>
              <a:gd name="T5" fmla="*/ 21600 h 21600"/>
              <a:gd name="T6" fmla="*/ 10800 w 21600"/>
              <a:gd name="T7" fmla="*/ 17277 h 21600"/>
              <a:gd name="T8" fmla="*/ 21600 w 21600"/>
              <a:gd name="T9" fmla="*/ 8638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81926" name="Picture 4">
            <a:extLst>
              <a:ext uri="{FF2B5EF4-FFF2-40B4-BE49-F238E27FC236}">
                <a16:creationId xmlns:a16="http://schemas.microsoft.com/office/drawing/2014/main" id="{FB16475F-98FA-4160-93EF-C650741D7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433513"/>
            <a:ext cx="7826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1701" name="Text Box 5">
            <a:extLst>
              <a:ext uri="{FF2B5EF4-FFF2-40B4-BE49-F238E27FC236}">
                <a16:creationId xmlns:a16="http://schemas.microsoft.com/office/drawing/2014/main" id="{53C93BBF-6F81-497A-800C-CF3CBA672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585913"/>
            <a:ext cx="1200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36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Note: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–Network Protocols and Security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5_6233206605559631053</Template>
  <TotalTime>702</TotalTime>
  <Words>1181</Words>
  <Application>Microsoft Office PowerPoint</Application>
  <PresentationFormat>Widescreen</PresentationFormat>
  <Paragraphs>193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Arial</vt:lpstr>
      <vt:lpstr>BioRhyme ExtraBold</vt:lpstr>
      <vt:lpstr>Bookman Old Style</vt:lpstr>
      <vt:lpstr>Calibri</vt:lpstr>
      <vt:lpstr>Gill Sans MT</vt:lpstr>
      <vt:lpstr>inter-bold</vt:lpstr>
      <vt:lpstr>inter-regular</vt:lpstr>
      <vt:lpstr>Poppins</vt:lpstr>
      <vt:lpstr>Times New Roman</vt:lpstr>
      <vt:lpstr>Wingdings</vt:lpstr>
      <vt:lpstr>Gallery</vt:lpstr>
      <vt:lpstr>PowerPoint Presentation</vt:lpstr>
      <vt:lpstr>PowerPoint Presentation</vt:lpstr>
      <vt:lpstr>INTERNET PROTOCOLS</vt:lpstr>
      <vt:lpstr>Autonomous Systems</vt:lpstr>
      <vt:lpstr>Autonomous Systems…</vt:lpstr>
      <vt:lpstr>PowerPoint Presentation</vt:lpstr>
      <vt:lpstr>PowerPoint Presentation</vt:lpstr>
      <vt:lpstr>PowerPoint Presentation</vt:lpstr>
      <vt:lpstr>RIP (ROUTING INFORMATION PROTOCOL)</vt:lpstr>
      <vt:lpstr>Example of a domain using RIP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OSPF (OPEN SHORTEST PATH FIRST)</vt:lpstr>
      <vt:lpstr>PowerPoint Presentation</vt:lpstr>
      <vt:lpstr>PowerPoint Presentation</vt:lpstr>
      <vt:lpstr>PowerPoint Presentation</vt:lpstr>
      <vt:lpstr>Types of links</vt:lpstr>
      <vt:lpstr>Point-to-point link</vt:lpstr>
      <vt:lpstr>Transient link</vt:lpstr>
      <vt:lpstr>Stub link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GORLA VENKATA GANESH</cp:lastModifiedBy>
  <cp:revision>123</cp:revision>
  <dcterms:created xsi:type="dcterms:W3CDTF">2020-02-08T09:57:44Z</dcterms:created>
  <dcterms:modified xsi:type="dcterms:W3CDTF">2026-02-27T08:48:43Z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