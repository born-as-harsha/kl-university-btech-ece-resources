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8"/>
  </p:notesMasterIdLst>
  <p:handoutMasterIdLst>
    <p:handoutMasterId r:id="rId39"/>
  </p:handoutMasterIdLst>
  <p:sldIdLst>
    <p:sldId id="447" r:id="rId2"/>
    <p:sldId id="278" r:id="rId3"/>
    <p:sldId id="289" r:id="rId4"/>
    <p:sldId id="258" r:id="rId5"/>
    <p:sldId id="275" r:id="rId6"/>
    <p:sldId id="260" r:id="rId7"/>
    <p:sldId id="261" r:id="rId8"/>
    <p:sldId id="439" r:id="rId9"/>
    <p:sldId id="262" r:id="rId10"/>
    <p:sldId id="445" r:id="rId11"/>
    <p:sldId id="433" r:id="rId12"/>
    <p:sldId id="432" r:id="rId13"/>
    <p:sldId id="434" r:id="rId14"/>
    <p:sldId id="446" r:id="rId15"/>
    <p:sldId id="435" r:id="rId16"/>
    <p:sldId id="436" r:id="rId17"/>
    <p:sldId id="437" r:id="rId18"/>
    <p:sldId id="440" r:id="rId19"/>
    <p:sldId id="269" r:id="rId20"/>
    <p:sldId id="271" r:id="rId21"/>
    <p:sldId id="441" r:id="rId22"/>
    <p:sldId id="272" r:id="rId23"/>
    <p:sldId id="442" r:id="rId24"/>
    <p:sldId id="273" r:id="rId25"/>
    <p:sldId id="274" r:id="rId26"/>
    <p:sldId id="444" r:id="rId27"/>
    <p:sldId id="276" r:id="rId28"/>
    <p:sldId id="443" r:id="rId29"/>
    <p:sldId id="277" r:id="rId30"/>
    <p:sldId id="280" r:id="rId31"/>
    <p:sldId id="267" r:id="rId32"/>
    <p:sldId id="282" r:id="rId33"/>
    <p:sldId id="283" r:id="rId34"/>
    <p:sldId id="284" r:id="rId35"/>
    <p:sldId id="290" r:id="rId36"/>
    <p:sldId id="291"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0" d="100"/>
          <a:sy n="70" d="100"/>
        </p:scale>
        <p:origin x="536" y="4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handoutMaster" Target="handoutMasters/handout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pPr/>
              <a:t>17-12-2025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pPr/>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pPr/>
              <a:t>17-12-2025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pPr/>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pPr/>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pPr/>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pPr/>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pPr/>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pPr/>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pPr/>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190720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45719"/>
            <a:ext cx="6027459" cy="6623931"/>
          </a:xfrm>
          <a:prstGeom prst="rect">
            <a:avLst/>
          </a:prstGeom>
          <a:noFill/>
          <a:ln>
            <a:noFill/>
          </a:ln>
        </p:spPr>
      </p:pic>
      <p:sp>
        <p:nvSpPr>
          <p:cNvPr id="476" name="Google Shape;476;p16"/>
          <p:cNvSpPr txBox="1"/>
          <p:nvPr/>
        </p:nvSpPr>
        <p:spPr>
          <a:xfrm>
            <a:off x="5394455" y="1933408"/>
            <a:ext cx="6729005" cy="2800726"/>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Network protocols &amp; security</a:t>
            </a:r>
          </a:p>
          <a:p>
            <a:pPr marR="0" lvl="0" indent="0" algn="ctr">
              <a:spcBef>
                <a:spcPts val="0"/>
              </a:spcBef>
              <a:spcAft>
                <a:spcPts val="0"/>
              </a:spcAft>
              <a:buNone/>
            </a:pPr>
            <a:r>
              <a:rPr lang="en-IN" sz="3200" b="1" dirty="0">
                <a:ln/>
                <a:solidFill>
                  <a:srgbClr val="C00000"/>
                </a:solidFill>
                <a:cs typeface="Poppins" panose="00000500000000000000" pitchFamily="2" charset="0"/>
                <a:sym typeface="BioRhyme ExtraBold"/>
              </a:rPr>
              <a:t>24EC2210</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Quality of service</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18646" y="5085005"/>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- 29</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96BFE3-14AF-696C-6920-43C082DD6CE9}"/>
              </a:ext>
            </a:extLst>
          </p:cNvPr>
          <p:cNvSpPr>
            <a:spLocks noGrp="1"/>
          </p:cNvSpPr>
          <p:nvPr>
            <p:ph type="sldNum" sz="quarter" idx="12"/>
          </p:nvPr>
        </p:nvSpPr>
        <p:spPr/>
        <p:txBody>
          <a:bodyPr/>
          <a:lstStyle/>
          <a:p>
            <a:fld id="{CBABCCC1-BF11-4F37-963E-1BCD5B23FD72}" type="slidenum">
              <a:rPr lang="en-IN" smtClean="0"/>
              <a:pPr/>
              <a:t>2</a:t>
            </a:fld>
            <a:endParaRPr lang="en-IN"/>
          </a:p>
        </p:txBody>
      </p:sp>
      <p:sp>
        <p:nvSpPr>
          <p:cNvPr id="12" name="TextBox 11">
            <a:extLst>
              <a:ext uri="{FF2B5EF4-FFF2-40B4-BE49-F238E27FC236}">
                <a16:creationId xmlns:a16="http://schemas.microsoft.com/office/drawing/2014/main" id="{8B68684B-34BA-BB64-17CA-52ED57E147A8}"/>
              </a:ext>
            </a:extLst>
          </p:cNvPr>
          <p:cNvSpPr txBox="1"/>
          <p:nvPr/>
        </p:nvSpPr>
        <p:spPr>
          <a:xfrm>
            <a:off x="2084151" y="643808"/>
            <a:ext cx="8178530" cy="923330"/>
          </a:xfrm>
          <a:prstGeom prst="rect">
            <a:avLst/>
          </a:prstGeom>
          <a:noFill/>
        </p:spPr>
        <p:txBody>
          <a:bodyPr wrap="square">
            <a:spAutoFit/>
          </a:bodyPr>
          <a:lstStyle/>
          <a:p>
            <a:pPr algn="ctr"/>
            <a:r>
              <a:rPr lang="en-US" sz="1800" b="1" dirty="0">
                <a:solidFill>
                  <a:srgbClr val="C00000"/>
                </a:solidFill>
              </a:rPr>
              <a:t>AIM OF THE SESSION</a:t>
            </a:r>
          </a:p>
          <a:p>
            <a:pPr algn="ctr"/>
            <a:endParaRPr lang="en-US" sz="1800" b="1" dirty="0">
              <a:solidFill>
                <a:srgbClr val="C00000"/>
              </a:solidFill>
            </a:endParaRPr>
          </a:p>
          <a:p>
            <a:pPr algn="ctr"/>
            <a:r>
              <a:rPr lang="en-US" sz="1800" b="0" i="0" dirty="0">
                <a:effectLst/>
                <a:latin typeface="Poppins"/>
                <a:cs typeface="Poppins"/>
              </a:rPr>
              <a:t>To familiarize students with the basic concept of Quality of Service</a:t>
            </a:r>
            <a:endParaRPr lang="en-US" sz="1800" dirty="0"/>
          </a:p>
        </p:txBody>
      </p:sp>
      <p:sp>
        <p:nvSpPr>
          <p:cNvPr id="16" name="TextBox 15">
            <a:extLst>
              <a:ext uri="{FF2B5EF4-FFF2-40B4-BE49-F238E27FC236}">
                <a16:creationId xmlns:a16="http://schemas.microsoft.com/office/drawing/2014/main" id="{541394E6-0C99-8F26-C67B-D88D560EB229}"/>
              </a:ext>
            </a:extLst>
          </p:cNvPr>
          <p:cNvSpPr txBox="1"/>
          <p:nvPr/>
        </p:nvSpPr>
        <p:spPr>
          <a:xfrm>
            <a:off x="910537" y="2023744"/>
            <a:ext cx="5590972" cy="2042610"/>
          </a:xfrm>
          <a:prstGeom prst="rect">
            <a:avLst/>
          </a:prstGeom>
          <a:noFill/>
        </p:spPr>
        <p:txBody>
          <a:bodyPr wrap="square">
            <a:spAutoFit/>
          </a:bodyPr>
          <a:lstStyle/>
          <a:p>
            <a:pPr algn="ctr"/>
            <a:r>
              <a:rPr lang="en-US" sz="1800" b="1" dirty="0">
                <a:solidFill>
                  <a:srgbClr val="C00000"/>
                </a:solidFill>
              </a:rPr>
              <a:t>INSTRUCTIONAL OBJECTIVES</a:t>
            </a:r>
          </a:p>
          <a:p>
            <a:pPr>
              <a:lnSpc>
                <a:spcPct val="200000"/>
              </a:lnSpc>
            </a:pPr>
            <a:r>
              <a:rPr lang="en-US" sz="1800" dirty="0">
                <a:latin typeface="Poppins"/>
                <a:cs typeface="Poppins"/>
              </a:rPr>
              <a:t>This</a:t>
            </a:r>
            <a:r>
              <a:rPr lang="en-US" sz="1800" b="0" i="0" dirty="0">
                <a:effectLst/>
                <a:latin typeface="Poppins"/>
                <a:cs typeface="Poppins"/>
              </a:rPr>
              <a:t> </a:t>
            </a:r>
            <a:r>
              <a:rPr lang="en-US" sz="1800" dirty="0">
                <a:latin typeface="Poppins"/>
                <a:cs typeface="Poppins"/>
              </a:rPr>
              <a:t>Session</a:t>
            </a:r>
            <a:r>
              <a:rPr lang="en-US" sz="1800" b="0" i="0" dirty="0">
                <a:effectLst/>
                <a:latin typeface="Poppins"/>
                <a:cs typeface="Poppins"/>
              </a:rPr>
              <a:t> is designed to:</a:t>
            </a:r>
          </a:p>
          <a:p>
            <a:pPr marL="342900" lvl="0" indent="-342900">
              <a:lnSpc>
                <a:spcPct val="115000"/>
              </a:lnSpc>
              <a:spcAft>
                <a:spcPts val="800"/>
              </a:spcAft>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1. Introduction to Quality Of Service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800"/>
              </a:spcAft>
              <a:tabLst>
                <a:tab pos="457200" algn="l"/>
              </a:tabLst>
            </a:pPr>
            <a:r>
              <a:rPr lang="en-US" sz="1800" dirty="0">
                <a:effectLst/>
                <a:latin typeface="Times New Roman" panose="02020603050405020304" pitchFamily="18" charset="0"/>
                <a:ea typeface="Times New Roman" panose="02020603050405020304" pitchFamily="18" charset="0"/>
                <a:cs typeface="Times New Roman" panose="02020603050405020304" pitchFamily="18" charset="0"/>
              </a:rPr>
              <a:t>2. Various Techniques of QOS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ctr"/>
            <a:endParaRPr lang="en-US" sz="1800" dirty="0"/>
          </a:p>
        </p:txBody>
      </p:sp>
      <p:sp>
        <p:nvSpPr>
          <p:cNvPr id="20" name="TextBox 19">
            <a:extLst>
              <a:ext uri="{FF2B5EF4-FFF2-40B4-BE49-F238E27FC236}">
                <a16:creationId xmlns:a16="http://schemas.microsoft.com/office/drawing/2014/main" id="{8FC8B10B-453E-92C8-D716-22B450131A34}"/>
              </a:ext>
            </a:extLst>
          </p:cNvPr>
          <p:cNvSpPr txBox="1"/>
          <p:nvPr/>
        </p:nvSpPr>
        <p:spPr>
          <a:xfrm>
            <a:off x="6377290" y="2033862"/>
            <a:ext cx="5814710" cy="1837426"/>
          </a:xfrm>
          <a:prstGeom prst="rect">
            <a:avLst/>
          </a:prstGeom>
          <a:noFill/>
        </p:spPr>
        <p:txBody>
          <a:bodyPr wrap="square">
            <a:spAutoFit/>
          </a:bodyPr>
          <a:lstStyle/>
          <a:p>
            <a:pPr algn="ctr"/>
            <a:r>
              <a:rPr lang="en-US" sz="1800" b="1" dirty="0">
                <a:solidFill>
                  <a:srgbClr val="C00000"/>
                </a:solidFill>
              </a:rPr>
              <a:t>LEARNING OUTCOMES</a:t>
            </a:r>
          </a:p>
          <a:p>
            <a:pPr>
              <a:lnSpc>
                <a:spcPct val="200000"/>
              </a:lnSpc>
            </a:pPr>
            <a:r>
              <a:rPr lang="en-US" sz="1800" b="0" i="0" dirty="0">
                <a:effectLst/>
                <a:latin typeface="Arial"/>
                <a:cs typeface="Arial"/>
              </a:rPr>
              <a:t>At the end of this </a:t>
            </a:r>
            <a:r>
              <a:rPr lang="en-US" sz="1800" dirty="0">
                <a:latin typeface="Arial"/>
                <a:cs typeface="Arial"/>
              </a:rPr>
              <a:t>session</a:t>
            </a:r>
            <a:r>
              <a:rPr lang="en-US" sz="1800" b="0" i="0" dirty="0">
                <a:effectLst/>
                <a:latin typeface="Arial"/>
                <a:cs typeface="Arial"/>
              </a:rPr>
              <a:t>, you should be able to:</a:t>
            </a:r>
          </a:p>
          <a:p>
            <a:pPr marL="342900" lvl="0" indent="-342900" algn="just">
              <a:lnSpc>
                <a:spcPct val="115000"/>
              </a:lnSpc>
              <a:tabLst>
                <a:tab pos="457200" algn="l"/>
              </a:tabLst>
            </a:pPr>
            <a:r>
              <a:rPr lang="en-US" sz="1800" b="0" kern="0" dirty="0">
                <a:effectLst/>
                <a:latin typeface="Times New Roman" panose="02020603050405020304" pitchFamily="18" charset="0"/>
                <a:ea typeface="Times New Roman" panose="02020603050405020304" pitchFamily="18" charset="0"/>
              </a:rPr>
              <a:t>1. Describe the concepts of Quality Of Service</a:t>
            </a:r>
            <a:endParaRPr lang="en-IN" sz="1800" b="1" kern="0" dirty="0">
              <a:effectLst/>
              <a:latin typeface="Times New Roman" panose="02020603050405020304" pitchFamily="18" charset="0"/>
              <a:ea typeface="Times New Roman" panose="02020603050405020304" pitchFamily="18" charset="0"/>
            </a:endParaRPr>
          </a:p>
          <a:p>
            <a:pPr marL="342900" lvl="0" indent="-342900" algn="just">
              <a:lnSpc>
                <a:spcPct val="115000"/>
              </a:lnSpc>
              <a:tabLst>
                <a:tab pos="457200" algn="l"/>
              </a:tabLst>
            </a:pPr>
            <a:r>
              <a:rPr lang="en-US" sz="1800" b="0" kern="0" dirty="0">
                <a:effectLst/>
                <a:latin typeface="Times New Roman" panose="02020603050405020304" pitchFamily="18" charset="0"/>
                <a:ea typeface="Times New Roman" panose="02020603050405020304" pitchFamily="18" charset="0"/>
              </a:rPr>
              <a:t>2. List out different Techniques of QOS</a:t>
            </a:r>
            <a:endParaRPr lang="en-IN" sz="1800" b="1" kern="0" dirty="0">
              <a:effectLst/>
              <a:latin typeface="Times New Roman" panose="02020603050405020304" pitchFamily="18" charset="0"/>
              <a:ea typeface="Times New Roman" panose="02020603050405020304" pitchFamily="18" charset="0"/>
            </a:endParaRPr>
          </a:p>
          <a:p>
            <a:pPr algn="ctr"/>
            <a:endParaRPr lang="en-US" sz="1800" b="1" dirty="0">
              <a:solidFill>
                <a:srgbClr val="C00000"/>
              </a:solidFill>
            </a:endParaRPr>
          </a:p>
        </p:txBody>
      </p:sp>
    </p:spTree>
    <p:extLst>
      <p:ext uri="{BB962C8B-B14F-4D97-AF65-F5344CB8AC3E}">
        <p14:creationId xmlns:p14="http://schemas.microsoft.com/office/powerpoint/2010/main" val="38072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DF138E-C7D1-623B-2842-3F39EC816139}"/>
              </a:ext>
            </a:extLst>
          </p:cNvPr>
          <p:cNvSpPr>
            <a:spLocks noGrp="1"/>
          </p:cNvSpPr>
          <p:nvPr>
            <p:ph idx="1"/>
          </p:nvPr>
        </p:nvSpPr>
        <p:spPr>
          <a:xfrm>
            <a:off x="1434953" y="2216449"/>
            <a:ext cx="9603275" cy="3450613"/>
          </a:xfrm>
        </p:spPr>
        <p:txBody>
          <a:bodyPr>
            <a:normAutofit/>
          </a:bodyPr>
          <a:lstStyle/>
          <a:p>
            <a:pPr marL="514350" indent="-514350">
              <a:spcBef>
                <a:spcPts val="600"/>
              </a:spcBef>
              <a:spcAft>
                <a:spcPts val="600"/>
              </a:spcAft>
              <a:buFont typeface="Wingdings" panose="05000000000000000000" pitchFamily="2" charset="2"/>
              <a:buChar char="v"/>
            </a:pPr>
            <a:r>
              <a:rPr lang="en-US" sz="2400" b="1" dirty="0">
                <a:latin typeface="Times New Roman" panose="02020603050405020304" pitchFamily="18" charset="0"/>
                <a:ea typeface="+mn-lt"/>
                <a:cs typeface="Times New Roman" panose="02020603050405020304" pitchFamily="18" charset="0"/>
              </a:rPr>
              <a:t>Quality of Service​</a:t>
            </a:r>
          </a:p>
          <a:p>
            <a:pPr marL="514350" indent="-514350">
              <a:spcBef>
                <a:spcPts val="600"/>
              </a:spcBef>
              <a:spcAft>
                <a:spcPts val="600"/>
              </a:spcAft>
              <a:buFont typeface="Wingdings" panose="05000000000000000000" pitchFamily="2" charset="2"/>
              <a:buChar char="v"/>
            </a:pPr>
            <a:r>
              <a:rPr lang="en-US" sz="2400" b="1" dirty="0">
                <a:latin typeface="Times New Roman" panose="02020603050405020304" pitchFamily="18" charset="0"/>
                <a:ea typeface="+mn-lt"/>
                <a:cs typeface="Times New Roman" panose="02020603050405020304" pitchFamily="18" charset="0"/>
              </a:rPr>
              <a:t>Techniques To Improve QOS</a:t>
            </a:r>
          </a:p>
          <a:p>
            <a:pPr marL="514350" indent="-514350">
              <a:spcBef>
                <a:spcPts val="600"/>
              </a:spcBef>
              <a:spcAft>
                <a:spcPts val="600"/>
              </a:spcAft>
              <a:buFont typeface="Wingdings" panose="05000000000000000000" pitchFamily="2" charset="2"/>
              <a:buChar char="v"/>
            </a:pPr>
            <a:endParaRPr lang="en-US" sz="2400" b="1" dirty="0">
              <a:latin typeface="Times New Roman" panose="02020603050405020304" pitchFamily="18" charset="0"/>
              <a:ea typeface="+mn-lt"/>
              <a:cs typeface="Times New Roman" panose="02020603050405020304" pitchFamily="18" charset="0"/>
            </a:endParaRPr>
          </a:p>
        </p:txBody>
      </p:sp>
      <p:sp>
        <p:nvSpPr>
          <p:cNvPr id="4" name="Slide Number Placeholder 3">
            <a:extLst>
              <a:ext uri="{FF2B5EF4-FFF2-40B4-BE49-F238E27FC236}">
                <a16:creationId xmlns:a16="http://schemas.microsoft.com/office/drawing/2014/main" id="{8464C45C-D82B-56E6-54E4-3972FAEAAC0E}"/>
              </a:ext>
            </a:extLst>
          </p:cNvPr>
          <p:cNvSpPr>
            <a:spLocks noGrp="1"/>
          </p:cNvSpPr>
          <p:nvPr>
            <p:ph type="sldNum" sz="quarter" idx="12"/>
          </p:nvPr>
        </p:nvSpPr>
        <p:spPr/>
        <p:txBody>
          <a:bodyPr/>
          <a:lstStyle/>
          <a:p>
            <a:fld id="{CBABCCC1-BF11-4F37-963E-1BCD5B23FD72}" type="slidenum">
              <a:rPr lang="en-IN" smtClean="0"/>
              <a:pPr/>
              <a:t>3</a:t>
            </a:fld>
            <a:endParaRPr lang="en-IN"/>
          </a:p>
        </p:txBody>
      </p:sp>
      <p:sp>
        <p:nvSpPr>
          <p:cNvPr id="6" name="TextBox 5">
            <a:extLst>
              <a:ext uri="{FF2B5EF4-FFF2-40B4-BE49-F238E27FC236}">
                <a16:creationId xmlns:a16="http://schemas.microsoft.com/office/drawing/2014/main" id="{54B4EB8B-F374-DF0E-47FD-1702A670AF3F}"/>
              </a:ext>
            </a:extLst>
          </p:cNvPr>
          <p:cNvSpPr txBox="1"/>
          <p:nvPr/>
        </p:nvSpPr>
        <p:spPr>
          <a:xfrm>
            <a:off x="3041072" y="1190938"/>
            <a:ext cx="6109854" cy="707886"/>
          </a:xfrm>
          <a:prstGeom prst="rect">
            <a:avLst/>
          </a:prstGeom>
          <a:noFill/>
        </p:spPr>
        <p:txBody>
          <a:bodyPr wrap="square">
            <a:spAutoFit/>
          </a:bodyPr>
          <a:lstStyle/>
          <a:p>
            <a:pPr algn="ctr">
              <a:spcBef>
                <a:spcPts val="600"/>
              </a:spcBef>
              <a:spcAft>
                <a:spcPts val="600"/>
              </a:spcAft>
            </a:pPr>
            <a:r>
              <a:rPr lang="en-IN" sz="4000" b="1" dirty="0">
                <a:solidFill>
                  <a:srgbClr val="C00000"/>
                </a:solidFill>
                <a:latin typeface="Times New Roman" panose="02020603050405020304" pitchFamily="18" charset="0"/>
                <a:cs typeface="Times New Roman" panose="02020603050405020304" pitchFamily="18" charset="0"/>
              </a:rPr>
              <a:t>AGENDA</a:t>
            </a:r>
          </a:p>
        </p:txBody>
      </p:sp>
    </p:spTree>
    <p:extLst>
      <p:ext uri="{BB962C8B-B14F-4D97-AF65-F5344CB8AC3E}">
        <p14:creationId xmlns:p14="http://schemas.microsoft.com/office/powerpoint/2010/main" val="2973482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A9446-2460-239D-1D87-BCCB18E2E6E3}"/>
              </a:ext>
            </a:extLst>
          </p:cNvPr>
          <p:cNvSpPr>
            <a:spLocks noGrp="1"/>
          </p:cNvSpPr>
          <p:nvPr>
            <p:ph type="title"/>
          </p:nvPr>
        </p:nvSpPr>
        <p:spPr/>
        <p:txBody>
          <a:bodyPr/>
          <a:lstStyle/>
          <a:p>
            <a:r>
              <a:rPr lang="en-IN" dirty="0"/>
              <a:t>Quality of service</a:t>
            </a:r>
          </a:p>
        </p:txBody>
      </p:sp>
      <p:sp>
        <p:nvSpPr>
          <p:cNvPr id="3" name="Content Placeholder 2">
            <a:extLst>
              <a:ext uri="{FF2B5EF4-FFF2-40B4-BE49-F238E27FC236}">
                <a16:creationId xmlns:a16="http://schemas.microsoft.com/office/drawing/2014/main" id="{CF98AA4B-4473-CBD6-4418-5C32C310C599}"/>
              </a:ext>
            </a:extLst>
          </p:cNvPr>
          <p:cNvSpPr>
            <a:spLocks noGrp="1"/>
          </p:cNvSpPr>
          <p:nvPr>
            <p:ph idx="1"/>
          </p:nvPr>
        </p:nvSpPr>
        <p:spPr/>
        <p:txBody>
          <a:bodyPr>
            <a:normAutofit/>
          </a:bodyPr>
          <a:lstStyle/>
          <a:p>
            <a:r>
              <a:rPr lang="en-IN" dirty="0"/>
              <a:t>A stream of packets from a source to destination is called a flow.</a:t>
            </a:r>
          </a:p>
          <a:p>
            <a:r>
              <a:rPr lang="en-IN" dirty="0"/>
              <a:t>In a connection-oriented network, all the packets belonging to a flow follow the same route.</a:t>
            </a:r>
          </a:p>
          <a:p>
            <a:r>
              <a:rPr lang="en-IN" dirty="0"/>
              <a:t>In a connectionless network, they may follow different routes.</a:t>
            </a:r>
          </a:p>
          <a:p>
            <a:r>
              <a:rPr lang="en-IN" dirty="0"/>
              <a:t>The needs of each flow can be characterized by four primary parameters: reliability, delay, jitter and bandwidth.</a:t>
            </a:r>
          </a:p>
          <a:p>
            <a:r>
              <a:rPr lang="en-IN" dirty="0"/>
              <a:t>Together these determine the QOS (Quality Of Service) the flow requires. </a:t>
            </a:r>
          </a:p>
        </p:txBody>
      </p:sp>
      <p:sp>
        <p:nvSpPr>
          <p:cNvPr id="4" name="Slide Number Placeholder 3">
            <a:extLst>
              <a:ext uri="{FF2B5EF4-FFF2-40B4-BE49-F238E27FC236}">
                <a16:creationId xmlns:a16="http://schemas.microsoft.com/office/drawing/2014/main" id="{10147C42-6911-F0EE-2BD9-968B6D0EC902}"/>
              </a:ext>
            </a:extLst>
          </p:cNvPr>
          <p:cNvSpPr>
            <a:spLocks noGrp="1"/>
          </p:cNvSpPr>
          <p:nvPr>
            <p:ph type="sldNum" sz="quarter" idx="12"/>
          </p:nvPr>
        </p:nvSpPr>
        <p:spPr/>
        <p:txBody>
          <a:bodyPr/>
          <a:lstStyle/>
          <a:p>
            <a:fld id="{CBABCCC1-BF11-4F37-963E-1BCD5B23FD72}" type="slidenum">
              <a:rPr lang="en-IN" smtClean="0"/>
              <a:pPr/>
              <a:t>4</a:t>
            </a:fld>
            <a:endParaRPr lang="en-IN"/>
          </a:p>
        </p:txBody>
      </p:sp>
    </p:spTree>
    <p:extLst>
      <p:ext uri="{BB962C8B-B14F-4D97-AF65-F5344CB8AC3E}">
        <p14:creationId xmlns:p14="http://schemas.microsoft.com/office/powerpoint/2010/main" val="1563958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25A51-ECDD-F647-69C5-593A404C80C8}"/>
              </a:ext>
            </a:extLst>
          </p:cNvPr>
          <p:cNvSpPr>
            <a:spLocks noGrp="1"/>
          </p:cNvSpPr>
          <p:nvPr>
            <p:ph type="title"/>
          </p:nvPr>
        </p:nvSpPr>
        <p:spPr/>
        <p:txBody>
          <a:bodyPr/>
          <a:lstStyle/>
          <a:p>
            <a:r>
              <a:rPr lang="en-US" dirty="0"/>
              <a:t>Techniques TO IMPROVE QOS</a:t>
            </a:r>
            <a:endParaRPr lang="en-IN" dirty="0"/>
          </a:p>
        </p:txBody>
      </p:sp>
      <p:sp>
        <p:nvSpPr>
          <p:cNvPr id="3" name="Content Placeholder 2">
            <a:extLst>
              <a:ext uri="{FF2B5EF4-FFF2-40B4-BE49-F238E27FC236}">
                <a16:creationId xmlns:a16="http://schemas.microsoft.com/office/drawing/2014/main" id="{AA67F814-78E0-2CF5-B05F-5827B723CDEA}"/>
              </a:ext>
            </a:extLst>
          </p:cNvPr>
          <p:cNvSpPr>
            <a:spLocks noGrp="1"/>
          </p:cNvSpPr>
          <p:nvPr>
            <p:ph sz="half" idx="1"/>
          </p:nvPr>
        </p:nvSpPr>
        <p:spPr/>
        <p:txBody>
          <a:bodyPr/>
          <a:lstStyle/>
          <a:p>
            <a:pPr>
              <a:buNone/>
            </a:pPr>
            <a:r>
              <a:rPr lang="en-US" dirty="0"/>
              <a:t>1. Over provisioning</a:t>
            </a:r>
          </a:p>
          <a:p>
            <a:pPr>
              <a:buNone/>
            </a:pPr>
            <a:r>
              <a:rPr lang="en-US" dirty="0"/>
              <a:t>2. Buffering</a:t>
            </a:r>
          </a:p>
          <a:p>
            <a:pPr>
              <a:buNone/>
            </a:pPr>
            <a:r>
              <a:rPr lang="en-US" dirty="0"/>
              <a:t>3. Traffic shaping</a:t>
            </a:r>
          </a:p>
          <a:p>
            <a:pPr>
              <a:buNone/>
            </a:pPr>
            <a:r>
              <a:rPr lang="en-US" dirty="0"/>
              <a:t>		</a:t>
            </a:r>
            <a:r>
              <a:rPr lang="en-US" dirty="0" err="1"/>
              <a:t>i</a:t>
            </a:r>
            <a:r>
              <a:rPr lang="en-US" dirty="0"/>
              <a:t>. The leaky bucket algorithm</a:t>
            </a:r>
          </a:p>
          <a:p>
            <a:pPr>
              <a:buNone/>
            </a:pPr>
            <a:r>
              <a:rPr lang="en-US" dirty="0"/>
              <a:t>		ii. Token Bucket algorithm</a:t>
            </a:r>
          </a:p>
          <a:p>
            <a:pPr>
              <a:buNone/>
            </a:pPr>
            <a:r>
              <a:rPr lang="en-US" dirty="0"/>
              <a:t>4. Packet scheduling</a:t>
            </a:r>
          </a:p>
          <a:p>
            <a:pPr>
              <a:buNone/>
            </a:pPr>
            <a:r>
              <a:rPr lang="en-US" dirty="0"/>
              <a:t>5. Admission control</a:t>
            </a:r>
          </a:p>
          <a:p>
            <a:pPr>
              <a:buNone/>
            </a:pPr>
            <a:endParaRPr lang="en-US" dirty="0"/>
          </a:p>
          <a:p>
            <a:endParaRPr lang="en-IN" dirty="0"/>
          </a:p>
        </p:txBody>
      </p:sp>
      <p:sp>
        <p:nvSpPr>
          <p:cNvPr id="4" name="Content Placeholder 3">
            <a:extLst>
              <a:ext uri="{FF2B5EF4-FFF2-40B4-BE49-F238E27FC236}">
                <a16:creationId xmlns:a16="http://schemas.microsoft.com/office/drawing/2014/main" id="{1D2CAB3F-922A-7655-2506-DD13A71E817E}"/>
              </a:ext>
            </a:extLst>
          </p:cNvPr>
          <p:cNvSpPr>
            <a:spLocks noGrp="1"/>
          </p:cNvSpPr>
          <p:nvPr>
            <p:ph sz="half" idx="2"/>
          </p:nvPr>
        </p:nvSpPr>
        <p:spPr>
          <a:xfrm>
            <a:off x="6413770" y="2017343"/>
            <a:ext cx="5527217" cy="3441520"/>
          </a:xfrm>
        </p:spPr>
        <p:txBody>
          <a:bodyPr/>
          <a:lstStyle/>
          <a:p>
            <a:pPr>
              <a:buNone/>
            </a:pPr>
            <a:r>
              <a:rPr lang="en-US" dirty="0"/>
              <a:t>6. Integrated services</a:t>
            </a:r>
          </a:p>
          <a:p>
            <a:pPr>
              <a:buNone/>
            </a:pPr>
            <a:r>
              <a:rPr lang="en-US" dirty="0"/>
              <a:t>		</a:t>
            </a:r>
            <a:r>
              <a:rPr lang="en-US" dirty="0" err="1"/>
              <a:t>i</a:t>
            </a:r>
            <a:r>
              <a:rPr lang="en-US" dirty="0"/>
              <a:t>. RSVP – Resource Reservation Protocol</a:t>
            </a:r>
          </a:p>
          <a:p>
            <a:pPr>
              <a:buNone/>
            </a:pPr>
            <a:r>
              <a:rPr lang="en-US" dirty="0"/>
              <a:t>7. Differentiated services</a:t>
            </a:r>
          </a:p>
          <a:p>
            <a:pPr>
              <a:buNone/>
            </a:pPr>
            <a:r>
              <a:rPr lang="en-US" dirty="0"/>
              <a:t>		</a:t>
            </a:r>
            <a:r>
              <a:rPr lang="en-US" dirty="0" err="1"/>
              <a:t>i</a:t>
            </a:r>
            <a:r>
              <a:rPr lang="en-US" dirty="0"/>
              <a:t>. Expedited forwarding</a:t>
            </a:r>
          </a:p>
          <a:p>
            <a:pPr>
              <a:buNone/>
            </a:pPr>
            <a:r>
              <a:rPr lang="en-US" dirty="0"/>
              <a:t>		ii. Assured forwarding </a:t>
            </a:r>
          </a:p>
          <a:p>
            <a:endParaRPr lang="en-IN" dirty="0"/>
          </a:p>
        </p:txBody>
      </p:sp>
      <p:sp>
        <p:nvSpPr>
          <p:cNvPr id="5" name="Slide Number Placeholder 4">
            <a:extLst>
              <a:ext uri="{FF2B5EF4-FFF2-40B4-BE49-F238E27FC236}">
                <a16:creationId xmlns:a16="http://schemas.microsoft.com/office/drawing/2014/main" id="{69747AFF-B913-2427-9AA1-3B968477739F}"/>
              </a:ext>
            </a:extLst>
          </p:cNvPr>
          <p:cNvSpPr>
            <a:spLocks noGrp="1"/>
          </p:cNvSpPr>
          <p:nvPr>
            <p:ph type="sldNum" sz="quarter" idx="12"/>
          </p:nvPr>
        </p:nvSpPr>
        <p:spPr/>
        <p:txBody>
          <a:bodyPr/>
          <a:lstStyle/>
          <a:p>
            <a:fld id="{CBABCCC1-BF11-4F37-963E-1BCD5B23FD72}" type="slidenum">
              <a:rPr lang="en-IN" smtClean="0"/>
              <a:pPr/>
              <a:t>5</a:t>
            </a:fld>
            <a:endParaRPr lang="en-IN"/>
          </a:p>
        </p:txBody>
      </p:sp>
    </p:spTree>
    <p:extLst>
      <p:ext uri="{BB962C8B-B14F-4D97-AF65-F5344CB8AC3E}">
        <p14:creationId xmlns:p14="http://schemas.microsoft.com/office/powerpoint/2010/main" val="321873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DB6E1-99B9-1829-D930-BD07F0A80ADA}"/>
              </a:ext>
            </a:extLst>
          </p:cNvPr>
          <p:cNvSpPr>
            <a:spLocks noGrp="1"/>
          </p:cNvSpPr>
          <p:nvPr>
            <p:ph type="title"/>
          </p:nvPr>
        </p:nvSpPr>
        <p:spPr>
          <a:xfrm>
            <a:off x="1451579" y="804519"/>
            <a:ext cx="10462515" cy="1049235"/>
          </a:xfrm>
        </p:spPr>
        <p:txBody>
          <a:bodyPr>
            <a:normAutofit/>
          </a:bodyPr>
          <a:lstStyle/>
          <a:p>
            <a:r>
              <a:rPr lang="en-IN" dirty="0" err="1"/>
              <a:t>Qos</a:t>
            </a:r>
            <a:r>
              <a:rPr lang="en-IN" dirty="0"/>
              <a:t> TECHNIQUE – OVERPROVISIONING</a:t>
            </a:r>
          </a:p>
        </p:txBody>
      </p:sp>
      <p:sp>
        <p:nvSpPr>
          <p:cNvPr id="3" name="Content Placeholder 2">
            <a:extLst>
              <a:ext uri="{FF2B5EF4-FFF2-40B4-BE49-F238E27FC236}">
                <a16:creationId xmlns:a16="http://schemas.microsoft.com/office/drawing/2014/main" id="{6AA6B264-293B-6D54-5BAB-94019DB24B6C}"/>
              </a:ext>
            </a:extLst>
          </p:cNvPr>
          <p:cNvSpPr>
            <a:spLocks noGrp="1"/>
          </p:cNvSpPr>
          <p:nvPr>
            <p:ph idx="1"/>
          </p:nvPr>
        </p:nvSpPr>
        <p:spPr/>
        <p:txBody>
          <a:bodyPr>
            <a:normAutofit/>
          </a:bodyPr>
          <a:lstStyle/>
          <a:p>
            <a:r>
              <a:rPr lang="en-IN" b="1" dirty="0"/>
              <a:t>Overprovisioning:</a:t>
            </a:r>
          </a:p>
          <a:p>
            <a:pPr lvl="1"/>
            <a:r>
              <a:rPr lang="en-IN" dirty="0"/>
              <a:t>An easy solution is to provide so much router capacity, buffer space and bandwidth that the packets just fly through easily.</a:t>
            </a:r>
          </a:p>
          <a:p>
            <a:pPr lvl="1"/>
            <a:endParaRPr lang="en-IN" dirty="0"/>
          </a:p>
          <a:p>
            <a:pPr lvl="1"/>
            <a:r>
              <a:rPr lang="en-IN" dirty="0"/>
              <a:t>The trouble with this solution is that it is expensive.</a:t>
            </a:r>
          </a:p>
          <a:p>
            <a:endParaRPr lang="en-IN" dirty="0"/>
          </a:p>
        </p:txBody>
      </p:sp>
      <p:sp>
        <p:nvSpPr>
          <p:cNvPr id="4" name="Slide Number Placeholder 3">
            <a:extLst>
              <a:ext uri="{FF2B5EF4-FFF2-40B4-BE49-F238E27FC236}">
                <a16:creationId xmlns:a16="http://schemas.microsoft.com/office/drawing/2014/main" id="{A4AFAB88-8CFF-02BF-8C65-48232F309862}"/>
              </a:ext>
            </a:extLst>
          </p:cNvPr>
          <p:cNvSpPr>
            <a:spLocks noGrp="1"/>
          </p:cNvSpPr>
          <p:nvPr>
            <p:ph type="sldNum" sz="quarter" idx="12"/>
          </p:nvPr>
        </p:nvSpPr>
        <p:spPr/>
        <p:txBody>
          <a:bodyPr/>
          <a:lstStyle/>
          <a:p>
            <a:fld id="{CBABCCC1-BF11-4F37-963E-1BCD5B23FD72}" type="slidenum">
              <a:rPr lang="en-IN" smtClean="0"/>
              <a:pPr/>
              <a:t>6</a:t>
            </a:fld>
            <a:endParaRPr lang="en-IN"/>
          </a:p>
        </p:txBody>
      </p:sp>
      <p:pic>
        <p:nvPicPr>
          <p:cNvPr id="6" name="Picture 5">
            <a:extLst>
              <a:ext uri="{FF2B5EF4-FFF2-40B4-BE49-F238E27FC236}">
                <a16:creationId xmlns:a16="http://schemas.microsoft.com/office/drawing/2014/main" id="{D9109083-A001-F221-F5F7-2D2A200B9952}"/>
              </a:ext>
            </a:extLst>
          </p:cNvPr>
          <p:cNvPicPr>
            <a:picLocks noChangeAspect="1"/>
          </p:cNvPicPr>
          <p:nvPr/>
        </p:nvPicPr>
        <p:blipFill>
          <a:blip r:embed="rId2"/>
          <a:stretch>
            <a:fillRect/>
          </a:stretch>
        </p:blipFill>
        <p:spPr>
          <a:xfrm>
            <a:off x="6095985" y="3428996"/>
            <a:ext cx="29" cy="8"/>
          </a:xfrm>
          <a:prstGeom prst="rect">
            <a:avLst/>
          </a:prstGeom>
        </p:spPr>
      </p:pic>
      <p:pic>
        <p:nvPicPr>
          <p:cNvPr id="8" name="Picture 7">
            <a:extLst>
              <a:ext uri="{FF2B5EF4-FFF2-40B4-BE49-F238E27FC236}">
                <a16:creationId xmlns:a16="http://schemas.microsoft.com/office/drawing/2014/main" id="{FD6DD877-F500-6BFB-0A97-8AA810A88A0A}"/>
              </a:ext>
            </a:extLst>
          </p:cNvPr>
          <p:cNvPicPr>
            <a:picLocks noChangeAspect="1"/>
          </p:cNvPicPr>
          <p:nvPr/>
        </p:nvPicPr>
        <p:blipFill>
          <a:blip r:embed="rId2"/>
          <a:stretch>
            <a:fillRect/>
          </a:stretch>
        </p:blipFill>
        <p:spPr>
          <a:xfrm>
            <a:off x="6095985" y="3428996"/>
            <a:ext cx="29" cy="8"/>
          </a:xfrm>
          <a:prstGeom prst="rect">
            <a:avLst/>
          </a:prstGeom>
        </p:spPr>
      </p:pic>
    </p:spTree>
    <p:extLst>
      <p:ext uri="{BB962C8B-B14F-4D97-AF65-F5344CB8AC3E}">
        <p14:creationId xmlns:p14="http://schemas.microsoft.com/office/powerpoint/2010/main" val="389345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CC90EC-6718-A73B-C4D1-F2BE559E707B}"/>
              </a:ext>
            </a:extLst>
          </p:cNvPr>
          <p:cNvSpPr>
            <a:spLocks noGrp="1"/>
          </p:cNvSpPr>
          <p:nvPr>
            <p:ph type="title"/>
          </p:nvPr>
        </p:nvSpPr>
        <p:spPr/>
        <p:txBody>
          <a:bodyPr/>
          <a:lstStyle/>
          <a:p>
            <a:r>
              <a:rPr lang="en-IN" dirty="0" err="1"/>
              <a:t>Qos</a:t>
            </a:r>
            <a:r>
              <a:rPr lang="en-IN" dirty="0"/>
              <a:t> TECHNIQUE – BUFFERING </a:t>
            </a:r>
          </a:p>
        </p:txBody>
      </p:sp>
      <p:pic>
        <p:nvPicPr>
          <p:cNvPr id="6" name="Content Placeholder 5">
            <a:extLst>
              <a:ext uri="{FF2B5EF4-FFF2-40B4-BE49-F238E27FC236}">
                <a16:creationId xmlns:a16="http://schemas.microsoft.com/office/drawing/2014/main" id="{B9479F3E-CE62-8ED3-F85A-BE452EC5A3C7}"/>
              </a:ext>
            </a:extLst>
          </p:cNvPr>
          <p:cNvPicPr>
            <a:picLocks noGrp="1" noChangeAspect="1"/>
          </p:cNvPicPr>
          <p:nvPr>
            <p:ph idx="1"/>
          </p:nvPr>
        </p:nvPicPr>
        <p:blipFill>
          <a:blip r:embed="rId2"/>
          <a:stretch>
            <a:fillRect/>
          </a:stretch>
        </p:blipFill>
        <p:spPr>
          <a:xfrm>
            <a:off x="6253148" y="3740940"/>
            <a:ext cx="29" cy="8"/>
          </a:xfrm>
        </p:spPr>
      </p:pic>
      <p:sp>
        <p:nvSpPr>
          <p:cNvPr id="4" name="Slide Number Placeholder 3">
            <a:extLst>
              <a:ext uri="{FF2B5EF4-FFF2-40B4-BE49-F238E27FC236}">
                <a16:creationId xmlns:a16="http://schemas.microsoft.com/office/drawing/2014/main" id="{57017ABA-25E3-22C8-DC85-9AEC9AB10271}"/>
              </a:ext>
            </a:extLst>
          </p:cNvPr>
          <p:cNvSpPr>
            <a:spLocks noGrp="1"/>
          </p:cNvSpPr>
          <p:nvPr>
            <p:ph type="sldNum" sz="quarter" idx="12"/>
          </p:nvPr>
        </p:nvSpPr>
        <p:spPr/>
        <p:txBody>
          <a:bodyPr/>
          <a:lstStyle/>
          <a:p>
            <a:fld id="{CBABCCC1-BF11-4F37-963E-1BCD5B23FD72}" type="slidenum">
              <a:rPr lang="en-IN" smtClean="0"/>
              <a:pPr/>
              <a:t>7</a:t>
            </a:fld>
            <a:endParaRPr lang="en-IN"/>
          </a:p>
        </p:txBody>
      </p:sp>
      <p:pic>
        <p:nvPicPr>
          <p:cNvPr id="3" name="Picture 5" descr="5-31">
            <a:extLst>
              <a:ext uri="{FF2B5EF4-FFF2-40B4-BE49-F238E27FC236}">
                <a16:creationId xmlns:a16="http://schemas.microsoft.com/office/drawing/2014/main" id="{9E140CE9-6C46-DD48-D95C-178A1DC221F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6572" y="2686929"/>
            <a:ext cx="6980980" cy="197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378167E6-1FD5-EAD9-F161-520F6CA4BB76}"/>
              </a:ext>
            </a:extLst>
          </p:cNvPr>
          <p:cNvSpPr txBox="1"/>
          <p:nvPr/>
        </p:nvSpPr>
        <p:spPr>
          <a:xfrm>
            <a:off x="5474568" y="4753537"/>
            <a:ext cx="6105378" cy="369332"/>
          </a:xfrm>
          <a:prstGeom prst="rect">
            <a:avLst/>
          </a:prstGeom>
          <a:noFill/>
        </p:spPr>
        <p:txBody>
          <a:bodyPr wrap="square">
            <a:spAutoFit/>
          </a:bodyPr>
          <a:lstStyle/>
          <a:p>
            <a:pPr algn="ctr" eaLnBrk="1" hangingPunct="1">
              <a:buFontTx/>
              <a:buNone/>
            </a:pPr>
            <a:r>
              <a:rPr lang="en-US" altLang="en-US" dirty="0"/>
              <a:t>Smoothing the output stream by buffering packets.</a:t>
            </a:r>
          </a:p>
        </p:txBody>
      </p:sp>
      <p:sp>
        <p:nvSpPr>
          <p:cNvPr id="10" name="TextBox 9">
            <a:extLst>
              <a:ext uri="{FF2B5EF4-FFF2-40B4-BE49-F238E27FC236}">
                <a16:creationId xmlns:a16="http://schemas.microsoft.com/office/drawing/2014/main" id="{C8FF2415-F0C3-9363-1C6D-4892E8261416}"/>
              </a:ext>
            </a:extLst>
          </p:cNvPr>
          <p:cNvSpPr txBox="1"/>
          <p:nvPr/>
        </p:nvSpPr>
        <p:spPr>
          <a:xfrm>
            <a:off x="104447" y="2011104"/>
            <a:ext cx="4791109" cy="3416320"/>
          </a:xfrm>
          <a:prstGeom prst="rect">
            <a:avLst/>
          </a:prstGeom>
          <a:noFill/>
        </p:spPr>
        <p:txBody>
          <a:bodyPr wrap="square">
            <a:spAutoFit/>
          </a:bodyPr>
          <a:lstStyle/>
          <a:p>
            <a:r>
              <a:rPr lang="en-IN" b="1" dirty="0"/>
              <a:t>Buffering:</a:t>
            </a:r>
          </a:p>
          <a:p>
            <a:pPr marL="742950" lvl="1" indent="-285750" algn="just">
              <a:buFont typeface="Arial" panose="020B0604020202020204" pitchFamily="34" charset="0"/>
              <a:buChar char="•"/>
            </a:pPr>
            <a:r>
              <a:rPr lang="en-IN" dirty="0"/>
              <a:t>Flows can be buffered on the receiving side before being delivered.</a:t>
            </a:r>
          </a:p>
          <a:p>
            <a:pPr marL="742950" lvl="1" indent="-285750" algn="just">
              <a:buFont typeface="Arial" panose="020B0604020202020204" pitchFamily="34" charset="0"/>
              <a:buChar char="•"/>
            </a:pPr>
            <a:endParaRPr lang="en-IN" dirty="0"/>
          </a:p>
          <a:p>
            <a:pPr marL="742950" lvl="1" indent="-285750" algn="just">
              <a:buFont typeface="Arial" panose="020B0604020202020204" pitchFamily="34" charset="0"/>
              <a:buChar char="•"/>
            </a:pPr>
            <a:r>
              <a:rPr lang="en-IN" dirty="0"/>
              <a:t>Buffering them does not affect the reliability or bandwidth and increases the delay, but it smooths out the jitter.</a:t>
            </a:r>
          </a:p>
          <a:p>
            <a:pPr marL="742950" lvl="1" indent="-285750" algn="just">
              <a:buFont typeface="Arial" panose="020B0604020202020204" pitchFamily="34" charset="0"/>
              <a:buChar char="•"/>
            </a:pPr>
            <a:endParaRPr lang="en-IN" dirty="0"/>
          </a:p>
          <a:p>
            <a:pPr marL="742950" lvl="1" indent="-285750" algn="just">
              <a:buFont typeface="Arial" panose="020B0604020202020204" pitchFamily="34" charset="0"/>
              <a:buChar char="•"/>
            </a:pPr>
            <a:r>
              <a:rPr lang="en-IN" dirty="0"/>
              <a:t>For audio and video on demand, jitter is the main problem, so this techniques helps a lot.</a:t>
            </a:r>
          </a:p>
          <a:p>
            <a:endParaRPr lang="en-IN" dirty="0"/>
          </a:p>
        </p:txBody>
      </p:sp>
    </p:spTree>
    <p:extLst>
      <p:ext uri="{BB962C8B-B14F-4D97-AF65-F5344CB8AC3E}">
        <p14:creationId xmlns:p14="http://schemas.microsoft.com/office/powerpoint/2010/main" val="21888108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0677-549E-EC92-D813-758CEABD8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0D200C-465F-3BE7-82AA-7AA95F455FB8}"/>
              </a:ext>
            </a:extLst>
          </p:cNvPr>
          <p:cNvSpPr>
            <a:spLocks noGrp="1"/>
          </p:cNvSpPr>
          <p:nvPr>
            <p:ph idx="1"/>
          </p:nvPr>
        </p:nvSpPr>
        <p:spPr/>
        <p:txBody>
          <a:bodyPr>
            <a:normAutofit/>
          </a:bodyPr>
          <a:lstStyle/>
          <a:p>
            <a:pPr marL="0" indent="0" algn="ctr">
              <a:buNone/>
            </a:pPr>
            <a:r>
              <a:rPr lang="en-US" sz="6600" dirty="0"/>
              <a:t>Traffic Shaping</a:t>
            </a:r>
          </a:p>
        </p:txBody>
      </p:sp>
      <p:sp>
        <p:nvSpPr>
          <p:cNvPr id="4" name="Slide Number Placeholder 3">
            <a:extLst>
              <a:ext uri="{FF2B5EF4-FFF2-40B4-BE49-F238E27FC236}">
                <a16:creationId xmlns:a16="http://schemas.microsoft.com/office/drawing/2014/main" id="{236543C7-229C-8E06-34C9-81C52D5BF57A}"/>
              </a:ext>
            </a:extLst>
          </p:cNvPr>
          <p:cNvSpPr>
            <a:spLocks noGrp="1"/>
          </p:cNvSpPr>
          <p:nvPr>
            <p:ph type="sldNum" sz="quarter" idx="12"/>
          </p:nvPr>
        </p:nvSpPr>
        <p:spPr/>
        <p:txBody>
          <a:bodyPr/>
          <a:lstStyle/>
          <a:p>
            <a:fld id="{CBABCCC1-BF11-4F37-963E-1BCD5B23FD72}" type="slidenum">
              <a:rPr lang="en-IN" smtClean="0"/>
              <a:pPr/>
              <a:t>8</a:t>
            </a:fld>
            <a:endParaRPr lang="en-IN"/>
          </a:p>
        </p:txBody>
      </p:sp>
    </p:spTree>
    <p:extLst>
      <p:ext uri="{BB962C8B-B14F-4D97-AF65-F5344CB8AC3E}">
        <p14:creationId xmlns:p14="http://schemas.microsoft.com/office/powerpoint/2010/main" val="1872826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57FA1-0700-5D1B-D5A3-1ADB4E3746FF}"/>
              </a:ext>
            </a:extLst>
          </p:cNvPr>
          <p:cNvSpPr>
            <a:spLocks noGrp="1"/>
          </p:cNvSpPr>
          <p:nvPr>
            <p:ph type="title"/>
          </p:nvPr>
        </p:nvSpPr>
        <p:spPr/>
        <p:txBody>
          <a:bodyPr/>
          <a:lstStyle/>
          <a:p>
            <a:r>
              <a:rPr lang="en-IN" dirty="0" err="1"/>
              <a:t>Qos</a:t>
            </a:r>
            <a:r>
              <a:rPr lang="en-IN" dirty="0"/>
              <a:t> technique – traffic shaping</a:t>
            </a:r>
          </a:p>
        </p:txBody>
      </p:sp>
      <p:sp>
        <p:nvSpPr>
          <p:cNvPr id="3" name="Content Placeholder 2">
            <a:extLst>
              <a:ext uri="{FF2B5EF4-FFF2-40B4-BE49-F238E27FC236}">
                <a16:creationId xmlns:a16="http://schemas.microsoft.com/office/drawing/2014/main" id="{89AC22E8-3017-3FB8-2C50-295E50B02D74}"/>
              </a:ext>
            </a:extLst>
          </p:cNvPr>
          <p:cNvSpPr>
            <a:spLocks noGrp="1"/>
          </p:cNvSpPr>
          <p:nvPr>
            <p:ph idx="1"/>
          </p:nvPr>
        </p:nvSpPr>
        <p:spPr/>
        <p:txBody>
          <a:bodyPr>
            <a:normAutofit fontScale="70000" lnSpcReduction="20000"/>
          </a:bodyPr>
          <a:lstStyle/>
          <a:p>
            <a:pPr algn="just"/>
            <a:r>
              <a:rPr lang="en-US" altLang="en-US" sz="2900" b="1" dirty="0">
                <a:solidFill>
                  <a:srgbClr val="273239"/>
                </a:solidFill>
                <a:latin typeface="urw-din"/>
              </a:rPr>
              <a:t>Traffic Shaping</a:t>
            </a:r>
            <a:r>
              <a:rPr lang="en-US" altLang="en-US" sz="2900" dirty="0">
                <a:solidFill>
                  <a:srgbClr val="273239"/>
                </a:solidFill>
                <a:latin typeface="urw-din"/>
              </a:rPr>
              <a:t> is a mechanism to control the amount and the rate of the traffic sent to the network.</a:t>
            </a:r>
          </a:p>
          <a:p>
            <a:pPr algn="just"/>
            <a:r>
              <a:rPr lang="en-US" altLang="en-US" sz="2900" dirty="0">
                <a:solidFill>
                  <a:srgbClr val="273239"/>
                </a:solidFill>
                <a:latin typeface="urw-din"/>
              </a:rPr>
              <a:t>Approach of congestion management.</a:t>
            </a:r>
          </a:p>
          <a:p>
            <a:pPr algn="just"/>
            <a:r>
              <a:rPr lang="en-US" altLang="en-US" sz="2900" dirty="0">
                <a:solidFill>
                  <a:srgbClr val="273239"/>
                </a:solidFill>
                <a:latin typeface="urw-din"/>
              </a:rPr>
              <a:t>Traffic shaping helps to regulate rate of data transmission and reduces congestion.</a:t>
            </a:r>
          </a:p>
          <a:p>
            <a:pPr algn="just"/>
            <a:r>
              <a:rPr lang="en-US" altLang="en-US" sz="2900" dirty="0">
                <a:solidFill>
                  <a:srgbClr val="273239"/>
                </a:solidFill>
                <a:latin typeface="urw-din"/>
              </a:rPr>
              <a:t>There are 2 types of traffic shaping algorithms:</a:t>
            </a:r>
          </a:p>
          <a:p>
            <a:pPr lvl="1" algn="just"/>
            <a:r>
              <a:rPr lang="en-US" altLang="en-US" sz="2900" b="1" dirty="0">
                <a:solidFill>
                  <a:srgbClr val="273239"/>
                </a:solidFill>
                <a:latin typeface="urw-din"/>
              </a:rPr>
              <a:t>Leaky Bucket</a:t>
            </a:r>
          </a:p>
          <a:p>
            <a:pPr lvl="1" algn="just"/>
            <a:r>
              <a:rPr lang="en-US" altLang="en-US" sz="2900" b="1" dirty="0">
                <a:solidFill>
                  <a:srgbClr val="273239"/>
                </a:solidFill>
                <a:latin typeface="urw-din"/>
              </a:rPr>
              <a:t>Token Bucket</a:t>
            </a:r>
          </a:p>
          <a:p>
            <a:r>
              <a:rPr lang="en-IN" sz="2900" dirty="0">
                <a:solidFill>
                  <a:srgbClr val="273239"/>
                </a:solidFill>
                <a:latin typeface="urw-din"/>
              </a:rPr>
              <a:t>Monitoring a traffic flow is called </a:t>
            </a:r>
            <a:r>
              <a:rPr lang="en-IN" sz="2900" b="1" dirty="0">
                <a:solidFill>
                  <a:srgbClr val="273239"/>
                </a:solidFill>
                <a:latin typeface="urw-din"/>
              </a:rPr>
              <a:t>traffic policing.</a:t>
            </a:r>
          </a:p>
          <a:p>
            <a:pPr marL="0" indent="0">
              <a:buNone/>
            </a:pPr>
            <a:endParaRPr lang="en-IN" dirty="0"/>
          </a:p>
          <a:p>
            <a:endParaRPr lang="en-IN" dirty="0"/>
          </a:p>
        </p:txBody>
      </p:sp>
      <p:sp>
        <p:nvSpPr>
          <p:cNvPr id="4" name="Slide Number Placeholder 3">
            <a:extLst>
              <a:ext uri="{FF2B5EF4-FFF2-40B4-BE49-F238E27FC236}">
                <a16:creationId xmlns:a16="http://schemas.microsoft.com/office/drawing/2014/main" id="{47FC79AC-D6C0-735C-D8E3-D248B730BD1C}"/>
              </a:ext>
            </a:extLst>
          </p:cNvPr>
          <p:cNvSpPr>
            <a:spLocks noGrp="1"/>
          </p:cNvSpPr>
          <p:nvPr>
            <p:ph type="sldNum" sz="quarter" idx="12"/>
          </p:nvPr>
        </p:nvSpPr>
        <p:spPr/>
        <p:txBody>
          <a:bodyPr/>
          <a:lstStyle/>
          <a:p>
            <a:fld id="{CBABCCC1-BF11-4F37-963E-1BCD5B23FD72}" type="slidenum">
              <a:rPr lang="en-IN" smtClean="0"/>
              <a:pPr/>
              <a:t>9</a:t>
            </a:fld>
            <a:endParaRPr lang="en-IN"/>
          </a:p>
        </p:txBody>
      </p:sp>
    </p:spTree>
    <p:extLst>
      <p:ext uri="{BB962C8B-B14F-4D97-AF65-F5344CB8AC3E}">
        <p14:creationId xmlns:p14="http://schemas.microsoft.com/office/powerpoint/2010/main" val="42697116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2C3B6-7A22-F6B7-B746-9D04E28001A6}"/>
              </a:ext>
            </a:extLst>
          </p:cNvPr>
          <p:cNvSpPr>
            <a:spLocks noGrp="1"/>
          </p:cNvSpPr>
          <p:nvPr>
            <p:ph type="title"/>
          </p:nvPr>
        </p:nvSpPr>
        <p:spPr>
          <a:xfrm>
            <a:off x="1451579" y="804519"/>
            <a:ext cx="9603275" cy="4152963"/>
          </a:xfrm>
        </p:spPr>
        <p:txBody>
          <a:bodyPr/>
          <a:lstStyle/>
          <a:p>
            <a:pPr algn="ctr"/>
            <a:br>
              <a:rPr lang="en-IN" dirty="0">
                <a:solidFill>
                  <a:srgbClr val="C00000"/>
                </a:solidFill>
              </a:rPr>
            </a:br>
            <a:br>
              <a:rPr lang="en-IN" dirty="0">
                <a:solidFill>
                  <a:srgbClr val="C00000"/>
                </a:solidFill>
              </a:rPr>
            </a:br>
            <a:br>
              <a:rPr lang="en-IN" dirty="0">
                <a:solidFill>
                  <a:srgbClr val="C00000"/>
                </a:solidFill>
              </a:rPr>
            </a:br>
            <a:br>
              <a:rPr lang="en-IN" dirty="0">
                <a:solidFill>
                  <a:srgbClr val="C00000"/>
                </a:solidFill>
              </a:rPr>
            </a:br>
            <a:br>
              <a:rPr lang="en-IN" dirty="0">
                <a:solidFill>
                  <a:srgbClr val="C00000"/>
                </a:solidFill>
              </a:rPr>
            </a:br>
            <a:r>
              <a:rPr lang="en-IN" dirty="0">
                <a:solidFill>
                  <a:srgbClr val="C00000"/>
                </a:solidFill>
              </a:rPr>
              <a:t>LEAKY BUCKET ALGORITHM</a:t>
            </a:r>
          </a:p>
        </p:txBody>
      </p:sp>
      <p:sp>
        <p:nvSpPr>
          <p:cNvPr id="4" name="Slide Number Placeholder 3">
            <a:extLst>
              <a:ext uri="{FF2B5EF4-FFF2-40B4-BE49-F238E27FC236}">
                <a16:creationId xmlns:a16="http://schemas.microsoft.com/office/drawing/2014/main" id="{78F4D0E0-B0B3-C488-3CBD-10959781FC79}"/>
              </a:ext>
            </a:extLst>
          </p:cNvPr>
          <p:cNvSpPr>
            <a:spLocks noGrp="1"/>
          </p:cNvSpPr>
          <p:nvPr>
            <p:ph type="sldNum" sz="quarter" idx="12"/>
          </p:nvPr>
        </p:nvSpPr>
        <p:spPr/>
        <p:txBody>
          <a:bodyPr/>
          <a:lstStyle/>
          <a:p>
            <a:fld id="{CBABCCC1-BF11-4F37-963E-1BCD5B23FD72}" type="slidenum">
              <a:rPr lang="en-IN" smtClean="0"/>
              <a:pPr/>
              <a:t>10</a:t>
            </a:fld>
            <a:endParaRPr lang="en-IN"/>
          </a:p>
        </p:txBody>
      </p:sp>
    </p:spTree>
    <p:extLst>
      <p:ext uri="{BB962C8B-B14F-4D97-AF65-F5344CB8AC3E}">
        <p14:creationId xmlns:p14="http://schemas.microsoft.com/office/powerpoint/2010/main" val="2815081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5DDE65A3-5101-8D7C-357E-4E1FB34396AD}"/>
              </a:ext>
            </a:extLst>
          </p:cNvPr>
          <p:cNvSpPr>
            <a:spLocks noGrp="1"/>
          </p:cNvSpPr>
          <p:nvPr>
            <p:ph type="title"/>
          </p:nvPr>
        </p:nvSpPr>
        <p:spPr>
          <a:xfrm>
            <a:off x="1388733" y="533157"/>
            <a:ext cx="8229600" cy="692150"/>
          </a:xfrm>
        </p:spPr>
        <p:txBody>
          <a:bodyPr>
            <a:normAutofit fontScale="90000"/>
          </a:bodyPr>
          <a:lstStyle/>
          <a:p>
            <a:r>
              <a:rPr lang="en-IN" dirty="0" err="1"/>
              <a:t>Qos</a:t>
            </a:r>
            <a:r>
              <a:rPr lang="en-IN" dirty="0"/>
              <a:t> technique – traffic shaping</a:t>
            </a:r>
            <a:br>
              <a:rPr lang="en-IN" dirty="0"/>
            </a:br>
            <a:br>
              <a:rPr lang="en-IN" dirty="0"/>
            </a:br>
            <a:r>
              <a:rPr lang="en-US" altLang="en-US" dirty="0">
                <a:solidFill>
                  <a:srgbClr val="C00000"/>
                </a:solidFill>
              </a:rPr>
              <a:t>Leaky Bucket </a:t>
            </a:r>
          </a:p>
        </p:txBody>
      </p:sp>
      <p:sp>
        <p:nvSpPr>
          <p:cNvPr id="9219" name="Content Placeholder 2">
            <a:extLst>
              <a:ext uri="{FF2B5EF4-FFF2-40B4-BE49-F238E27FC236}">
                <a16:creationId xmlns:a16="http://schemas.microsoft.com/office/drawing/2014/main" id="{27036A46-F380-EAE7-E7D4-1AA6337086BD}"/>
              </a:ext>
            </a:extLst>
          </p:cNvPr>
          <p:cNvSpPr>
            <a:spLocks noGrp="1"/>
          </p:cNvSpPr>
          <p:nvPr>
            <p:ph idx="1"/>
          </p:nvPr>
        </p:nvSpPr>
        <p:spPr>
          <a:xfrm>
            <a:off x="0" y="2074570"/>
            <a:ext cx="6850966" cy="4525962"/>
          </a:xfrm>
        </p:spPr>
        <p:txBody>
          <a:bodyPr>
            <a:normAutofit/>
          </a:bodyPr>
          <a:lstStyle/>
          <a:p>
            <a:pPr algn="just"/>
            <a:r>
              <a:rPr lang="en-US" altLang="en-US" sz="1600" dirty="0">
                <a:solidFill>
                  <a:srgbClr val="273239"/>
                </a:solidFill>
                <a:latin typeface="urw-din"/>
              </a:rPr>
              <a:t>Suppose we have a bucket in which we are pouring water in a random order but we have to get water in a fixed rate, for this we will make a hole at the bottom of the bucket. </a:t>
            </a:r>
          </a:p>
          <a:p>
            <a:pPr algn="just"/>
            <a:endParaRPr lang="en-US" altLang="en-US" sz="1600" dirty="0">
              <a:solidFill>
                <a:srgbClr val="273239"/>
              </a:solidFill>
              <a:latin typeface="urw-din"/>
            </a:endParaRPr>
          </a:p>
          <a:p>
            <a:pPr algn="just"/>
            <a:r>
              <a:rPr lang="en-US" altLang="en-US" sz="1600" dirty="0">
                <a:solidFill>
                  <a:srgbClr val="273239"/>
                </a:solidFill>
                <a:latin typeface="urw-din"/>
              </a:rPr>
              <a:t>It will ensure that water coming out is in a fixed rate, and also if bucket will full we will stop pouring in it. The input rate can vary, but the output rate remains constant.</a:t>
            </a:r>
          </a:p>
          <a:p>
            <a:pPr algn="just"/>
            <a:endParaRPr lang="en-US" altLang="en-US" sz="1600" dirty="0">
              <a:solidFill>
                <a:srgbClr val="273239"/>
              </a:solidFill>
              <a:latin typeface="urw-din"/>
            </a:endParaRPr>
          </a:p>
          <a:p>
            <a:pPr algn="just"/>
            <a:r>
              <a:rPr lang="en-US" altLang="en-US" sz="1600" dirty="0">
                <a:solidFill>
                  <a:srgbClr val="273239"/>
                </a:solidFill>
                <a:latin typeface="urw-din"/>
              </a:rPr>
              <a:t>Similarly, in networking, a technique called leaky bucket can smooth out </a:t>
            </a:r>
            <a:r>
              <a:rPr lang="en-US" altLang="en-US" sz="1600" dirty="0" err="1">
                <a:solidFill>
                  <a:srgbClr val="273239"/>
                </a:solidFill>
                <a:latin typeface="urw-din"/>
              </a:rPr>
              <a:t>bursty</a:t>
            </a:r>
            <a:r>
              <a:rPr lang="en-US" altLang="en-US" sz="1600" dirty="0">
                <a:solidFill>
                  <a:srgbClr val="273239"/>
                </a:solidFill>
                <a:latin typeface="urw-din"/>
              </a:rPr>
              <a:t> traffic. </a:t>
            </a:r>
            <a:r>
              <a:rPr lang="en-US" altLang="en-US" sz="1600" dirty="0" err="1">
                <a:solidFill>
                  <a:srgbClr val="273239"/>
                </a:solidFill>
                <a:latin typeface="urw-din"/>
              </a:rPr>
              <a:t>Bursty</a:t>
            </a:r>
            <a:r>
              <a:rPr lang="en-US" altLang="en-US" sz="1600" dirty="0">
                <a:solidFill>
                  <a:srgbClr val="273239"/>
                </a:solidFill>
                <a:latin typeface="urw-din"/>
              </a:rPr>
              <a:t> chunks are stored in the bucket and sent out at an average rate.</a:t>
            </a:r>
            <a:endParaRPr lang="en-US" altLang="en-US" sz="1600" dirty="0"/>
          </a:p>
        </p:txBody>
      </p:sp>
      <p:pic>
        <p:nvPicPr>
          <p:cNvPr id="9220" name="Picture 5" descr="5-32">
            <a:extLst>
              <a:ext uri="{FF2B5EF4-FFF2-40B4-BE49-F238E27FC236}">
                <a16:creationId xmlns:a16="http://schemas.microsoft.com/office/drawing/2014/main" id="{DDE193B5-E354-5614-EA94-FA9FCC3AE3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915" y="2271247"/>
            <a:ext cx="4922837" cy="3707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D7882A9-8E1F-A7B2-B4E5-E27557EAAA39}"/>
              </a:ext>
            </a:extLst>
          </p:cNvPr>
          <p:cNvSpPr>
            <a:spLocks noGrp="1"/>
          </p:cNvSpPr>
          <p:nvPr>
            <p:ph type="title"/>
          </p:nvPr>
        </p:nvSpPr>
        <p:spPr>
          <a:xfrm>
            <a:off x="1981200" y="125412"/>
            <a:ext cx="8229600" cy="423862"/>
          </a:xfrm>
        </p:spPr>
        <p:txBody>
          <a:bodyPr>
            <a:normAutofit fontScale="90000"/>
          </a:bodyPr>
          <a:lstStyle/>
          <a:p>
            <a:r>
              <a:rPr lang="en-IN" dirty="0" err="1"/>
              <a:t>Qos</a:t>
            </a:r>
            <a:r>
              <a:rPr lang="en-IN" dirty="0"/>
              <a:t> technique – traffic shaping</a:t>
            </a:r>
            <a:br>
              <a:rPr lang="en-IN" dirty="0"/>
            </a:br>
            <a:br>
              <a:rPr lang="en-IN" dirty="0"/>
            </a:br>
            <a:r>
              <a:rPr lang="en-US" altLang="en-US" dirty="0">
                <a:solidFill>
                  <a:srgbClr val="C00000"/>
                </a:solidFill>
              </a:rPr>
              <a:t>Leaky Bucket </a:t>
            </a:r>
            <a:endParaRPr lang="en-US" altLang="en-US" dirty="0"/>
          </a:p>
        </p:txBody>
      </p:sp>
      <p:pic>
        <p:nvPicPr>
          <p:cNvPr id="3" name="Content Placeholder 2" descr="A diagram of a faucet and a data chart&#10;&#10;Description automatically generated">
            <a:extLst>
              <a:ext uri="{FF2B5EF4-FFF2-40B4-BE49-F238E27FC236}">
                <a16:creationId xmlns:a16="http://schemas.microsoft.com/office/drawing/2014/main" id="{B6EE9B64-A8AA-01CF-CB11-98FA761B589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53246" y="1837765"/>
            <a:ext cx="6176008" cy="4282422"/>
          </a:xfr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49ABEC35-650D-C380-1124-6D9C5781DDA1}"/>
              </a:ext>
            </a:extLst>
          </p:cNvPr>
          <p:cNvSpPr>
            <a:spLocks noGrp="1"/>
          </p:cNvSpPr>
          <p:nvPr>
            <p:ph type="title"/>
          </p:nvPr>
        </p:nvSpPr>
        <p:spPr>
          <a:xfrm>
            <a:off x="1461247" y="608608"/>
            <a:ext cx="10587318" cy="1143000"/>
          </a:xfrm>
        </p:spPr>
        <p:txBody>
          <a:bodyPr>
            <a:normAutofit/>
          </a:bodyPr>
          <a:lstStyle/>
          <a:p>
            <a:r>
              <a:rPr lang="en-US" altLang="en-US" dirty="0">
                <a:solidFill>
                  <a:srgbClr val="C00000"/>
                </a:solidFill>
              </a:rPr>
              <a:t>Implementation of Leaky bucket algorithm</a:t>
            </a:r>
          </a:p>
        </p:txBody>
      </p:sp>
      <p:sp>
        <p:nvSpPr>
          <p:cNvPr id="11267" name="Content Placeholder 2">
            <a:extLst>
              <a:ext uri="{FF2B5EF4-FFF2-40B4-BE49-F238E27FC236}">
                <a16:creationId xmlns:a16="http://schemas.microsoft.com/office/drawing/2014/main" id="{22487883-9658-D8E5-CDFE-0DE32DA0A619}"/>
              </a:ext>
            </a:extLst>
          </p:cNvPr>
          <p:cNvSpPr>
            <a:spLocks noGrp="1"/>
          </p:cNvSpPr>
          <p:nvPr>
            <p:ph idx="1"/>
          </p:nvPr>
        </p:nvSpPr>
        <p:spPr>
          <a:xfrm>
            <a:off x="582705" y="1868478"/>
            <a:ext cx="11394005" cy="4116127"/>
          </a:xfrm>
        </p:spPr>
        <p:txBody>
          <a:bodyPr>
            <a:normAutofit/>
          </a:bodyPr>
          <a:lstStyle/>
          <a:p>
            <a:pPr algn="just"/>
            <a:r>
              <a:rPr lang="en-US" altLang="en-US" sz="1600" dirty="0">
                <a:solidFill>
                  <a:srgbClr val="273239"/>
                </a:solidFill>
                <a:latin typeface="Calibri" panose="020F0502020204030204" pitchFamily="34" charset="0"/>
                <a:ea typeface="Calibri" panose="020F0502020204030204" pitchFamily="34" charset="0"/>
                <a:cs typeface="Calibri" panose="020F0502020204030204" pitchFamily="34" charset="0"/>
              </a:rPr>
              <a:t>A simple leaky bucket algorithm can be implemented using FIFO queue. </a:t>
            </a:r>
          </a:p>
          <a:p>
            <a:pPr algn="just"/>
            <a:r>
              <a:rPr lang="en-US" altLang="en-US" sz="1600" dirty="0">
                <a:solidFill>
                  <a:srgbClr val="273239"/>
                </a:solidFill>
                <a:latin typeface="Calibri" panose="020F0502020204030204" pitchFamily="34" charset="0"/>
                <a:ea typeface="Calibri" panose="020F0502020204030204" pitchFamily="34" charset="0"/>
                <a:cs typeface="Calibri" panose="020F0502020204030204" pitchFamily="34" charset="0"/>
              </a:rPr>
              <a:t>A FIFO queue holds the packets. </a:t>
            </a:r>
          </a:p>
          <a:p>
            <a:pPr algn="just"/>
            <a:r>
              <a:rPr lang="en-US" altLang="en-US" sz="1600" dirty="0">
                <a:solidFill>
                  <a:srgbClr val="273239"/>
                </a:solidFill>
                <a:latin typeface="Calibri" panose="020F0502020204030204" pitchFamily="34" charset="0"/>
                <a:ea typeface="Calibri" panose="020F0502020204030204" pitchFamily="34" charset="0"/>
                <a:cs typeface="Calibri" panose="020F0502020204030204" pitchFamily="34" charset="0"/>
              </a:rPr>
              <a:t>If the traffic consists of fixed-size packets, the process removes a fixed number of packets from the queue at each tick of the clock. </a:t>
            </a:r>
          </a:p>
          <a:p>
            <a:pPr algn="just"/>
            <a:r>
              <a:rPr lang="en-US" altLang="en-US" sz="1600" dirty="0">
                <a:solidFill>
                  <a:srgbClr val="273239"/>
                </a:solidFill>
                <a:latin typeface="Calibri" panose="020F0502020204030204" pitchFamily="34" charset="0"/>
                <a:ea typeface="Calibri" panose="020F0502020204030204" pitchFamily="34" charset="0"/>
                <a:cs typeface="Calibri" panose="020F0502020204030204" pitchFamily="34" charset="0"/>
              </a:rPr>
              <a:t>If the traffic consists of variable-length packets, the fixed output rate must be based on the number of bytes or bits.</a:t>
            </a:r>
            <a:endParaRPr lang="en-US" altLang="en-US" sz="1600" dirty="0">
              <a:latin typeface="Calibri" panose="020F0502020204030204" pitchFamily="34" charset="0"/>
              <a:ea typeface="Calibri" panose="020F0502020204030204" pitchFamily="34" charset="0"/>
              <a:cs typeface="Calibri" panose="020F0502020204030204" pitchFamily="34" charset="0"/>
            </a:endParaRPr>
          </a:p>
        </p:txBody>
      </p:sp>
      <p:pic>
        <p:nvPicPr>
          <p:cNvPr id="3" name="Picture 2" descr="A diagram of a process&#10;&#10;Description automatically generated">
            <a:extLst>
              <a:ext uri="{FF2B5EF4-FFF2-40B4-BE49-F238E27FC236}">
                <a16:creationId xmlns:a16="http://schemas.microsoft.com/office/drawing/2014/main" id="{93258692-3855-EBFC-61F2-F463D19F20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61128" y="3654471"/>
            <a:ext cx="6886763" cy="2163621"/>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2C3B6-7A22-F6B7-B746-9D04E28001A6}"/>
              </a:ext>
            </a:extLst>
          </p:cNvPr>
          <p:cNvSpPr>
            <a:spLocks noGrp="1"/>
          </p:cNvSpPr>
          <p:nvPr>
            <p:ph type="title"/>
          </p:nvPr>
        </p:nvSpPr>
        <p:spPr>
          <a:xfrm>
            <a:off x="1451579" y="804519"/>
            <a:ext cx="9603275" cy="4152963"/>
          </a:xfrm>
        </p:spPr>
        <p:txBody>
          <a:bodyPr/>
          <a:lstStyle/>
          <a:p>
            <a:pPr algn="ctr"/>
            <a:br>
              <a:rPr lang="en-IN" dirty="0">
                <a:solidFill>
                  <a:srgbClr val="C00000"/>
                </a:solidFill>
              </a:rPr>
            </a:br>
            <a:br>
              <a:rPr lang="en-IN" dirty="0">
                <a:solidFill>
                  <a:srgbClr val="C00000"/>
                </a:solidFill>
              </a:rPr>
            </a:br>
            <a:br>
              <a:rPr lang="en-IN" dirty="0">
                <a:solidFill>
                  <a:srgbClr val="C00000"/>
                </a:solidFill>
              </a:rPr>
            </a:br>
            <a:br>
              <a:rPr lang="en-IN" dirty="0">
                <a:solidFill>
                  <a:srgbClr val="C00000"/>
                </a:solidFill>
              </a:rPr>
            </a:br>
            <a:br>
              <a:rPr lang="en-IN">
                <a:solidFill>
                  <a:srgbClr val="C00000"/>
                </a:solidFill>
              </a:rPr>
            </a:br>
            <a:r>
              <a:rPr lang="en-IN">
                <a:solidFill>
                  <a:srgbClr val="C00000"/>
                </a:solidFill>
              </a:rPr>
              <a:t>TOKEN </a:t>
            </a:r>
            <a:r>
              <a:rPr lang="en-IN" dirty="0">
                <a:solidFill>
                  <a:srgbClr val="C00000"/>
                </a:solidFill>
              </a:rPr>
              <a:t>BUCKET ALGORITHM</a:t>
            </a:r>
          </a:p>
        </p:txBody>
      </p:sp>
      <p:sp>
        <p:nvSpPr>
          <p:cNvPr id="4" name="Slide Number Placeholder 3">
            <a:extLst>
              <a:ext uri="{FF2B5EF4-FFF2-40B4-BE49-F238E27FC236}">
                <a16:creationId xmlns:a16="http://schemas.microsoft.com/office/drawing/2014/main" id="{78F4D0E0-B0B3-C488-3CBD-10959781FC79}"/>
              </a:ext>
            </a:extLst>
          </p:cNvPr>
          <p:cNvSpPr>
            <a:spLocks noGrp="1"/>
          </p:cNvSpPr>
          <p:nvPr>
            <p:ph type="sldNum" sz="quarter" idx="12"/>
          </p:nvPr>
        </p:nvSpPr>
        <p:spPr/>
        <p:txBody>
          <a:bodyPr/>
          <a:lstStyle/>
          <a:p>
            <a:fld id="{CBABCCC1-BF11-4F37-963E-1BCD5B23FD72}" type="slidenum">
              <a:rPr lang="en-IN" smtClean="0"/>
              <a:pPr/>
              <a:t>14</a:t>
            </a:fld>
            <a:endParaRPr lang="en-IN"/>
          </a:p>
        </p:txBody>
      </p:sp>
    </p:spTree>
    <p:extLst>
      <p:ext uri="{BB962C8B-B14F-4D97-AF65-F5344CB8AC3E}">
        <p14:creationId xmlns:p14="http://schemas.microsoft.com/office/powerpoint/2010/main" val="25472459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BED531B6-ADFE-3811-170A-E429DBE7D173}"/>
              </a:ext>
            </a:extLst>
          </p:cNvPr>
          <p:cNvSpPr>
            <a:spLocks noGrp="1"/>
          </p:cNvSpPr>
          <p:nvPr>
            <p:ph type="title"/>
          </p:nvPr>
        </p:nvSpPr>
        <p:spPr>
          <a:xfrm>
            <a:off x="1518118" y="322731"/>
            <a:ext cx="8229600" cy="1156445"/>
          </a:xfrm>
        </p:spPr>
        <p:txBody>
          <a:bodyPr>
            <a:normAutofit fontScale="90000"/>
          </a:bodyPr>
          <a:lstStyle/>
          <a:p>
            <a:r>
              <a:rPr lang="en-IN" dirty="0" err="1"/>
              <a:t>Qos</a:t>
            </a:r>
            <a:r>
              <a:rPr lang="en-IN" dirty="0"/>
              <a:t> technique – traffic shaping</a:t>
            </a:r>
            <a:br>
              <a:rPr lang="en-IN" dirty="0"/>
            </a:br>
            <a:br>
              <a:rPr lang="en-IN" dirty="0"/>
            </a:br>
            <a:r>
              <a:rPr lang="en-US" dirty="0">
                <a:solidFill>
                  <a:srgbClr val="C00000"/>
                </a:solidFill>
              </a:rPr>
              <a:t>TOKEN</a:t>
            </a:r>
            <a:r>
              <a:rPr lang="en-US" altLang="en-US" dirty="0">
                <a:solidFill>
                  <a:srgbClr val="C00000"/>
                </a:solidFill>
              </a:rPr>
              <a:t> Bucket </a:t>
            </a:r>
          </a:p>
        </p:txBody>
      </p:sp>
      <p:sp>
        <p:nvSpPr>
          <p:cNvPr id="3" name="Content Placeholder 2">
            <a:extLst>
              <a:ext uri="{FF2B5EF4-FFF2-40B4-BE49-F238E27FC236}">
                <a16:creationId xmlns:a16="http://schemas.microsoft.com/office/drawing/2014/main" id="{DB573907-1EBB-77CA-8C8D-2830D9DF8E92}"/>
              </a:ext>
            </a:extLst>
          </p:cNvPr>
          <p:cNvSpPr>
            <a:spLocks noGrp="1"/>
          </p:cNvSpPr>
          <p:nvPr>
            <p:ph idx="1"/>
          </p:nvPr>
        </p:nvSpPr>
        <p:spPr>
          <a:xfrm>
            <a:off x="890954" y="1934992"/>
            <a:ext cx="10630486" cy="4525963"/>
          </a:xfrm>
        </p:spPr>
        <p:txBody>
          <a:bodyPr>
            <a:normAutofit/>
          </a:bodyPr>
          <a:lstStyle/>
          <a:p>
            <a:pPr algn="just">
              <a:defRPr/>
            </a:pPr>
            <a:r>
              <a:rPr lang="en-US" dirty="0">
                <a:solidFill>
                  <a:srgbClr val="000000"/>
                </a:solidFill>
                <a:latin typeface="Arial" panose="020B0604020202020204" pitchFamily="34" charset="0"/>
              </a:rPr>
              <a:t>The leaky bucket algorithm enforces output patterns at the average rate, no matter how busy the traffic is. </a:t>
            </a:r>
          </a:p>
          <a:p>
            <a:pPr algn="just">
              <a:defRPr/>
            </a:pPr>
            <a:r>
              <a:rPr lang="en-US" dirty="0">
                <a:solidFill>
                  <a:srgbClr val="000000"/>
                </a:solidFill>
                <a:latin typeface="Arial" panose="020B0604020202020204" pitchFamily="34" charset="0"/>
              </a:rPr>
              <a:t>So, to deal with the more traffic, we need a flexible algorithm so that the data is not lost. One such approach is the token bucket algorithm.</a:t>
            </a:r>
          </a:p>
          <a:p>
            <a:pPr algn="just">
              <a:defRPr/>
            </a:pPr>
            <a:r>
              <a:rPr lang="en-US" dirty="0">
                <a:solidFill>
                  <a:srgbClr val="000000"/>
                </a:solidFill>
                <a:latin typeface="Arial" panose="020B0604020202020204" pitchFamily="34" charset="0"/>
              </a:rPr>
              <a:t>Let us understand this algorithm step wise as given below −</a:t>
            </a:r>
          </a:p>
          <a:p>
            <a:pPr marL="688975" indent="-284163" algn="just">
              <a:buFont typeface="Wingdings" panose="05000000000000000000" pitchFamily="2" charset="2"/>
              <a:buChar char="Ø"/>
              <a:defRPr/>
            </a:pPr>
            <a:r>
              <a:rPr lang="en-US" sz="1800" b="1" dirty="0">
                <a:solidFill>
                  <a:srgbClr val="000000"/>
                </a:solidFill>
                <a:latin typeface="Arial" panose="020B0604020202020204" pitchFamily="34" charset="0"/>
              </a:rPr>
              <a:t>Step 1</a:t>
            </a:r>
            <a:r>
              <a:rPr lang="en-US" sz="1800" dirty="0">
                <a:solidFill>
                  <a:srgbClr val="000000"/>
                </a:solidFill>
                <a:latin typeface="Arial" panose="020B0604020202020204" pitchFamily="34" charset="0"/>
              </a:rPr>
              <a:t> − In regular intervals tokens are thrown into the bucket f.</a:t>
            </a:r>
          </a:p>
          <a:p>
            <a:pPr marL="688975" indent="-284163" algn="just">
              <a:buFont typeface="Wingdings" panose="05000000000000000000" pitchFamily="2" charset="2"/>
              <a:buChar char="Ø"/>
              <a:defRPr/>
            </a:pPr>
            <a:r>
              <a:rPr lang="en-US" sz="1800" b="1" dirty="0">
                <a:solidFill>
                  <a:srgbClr val="000000"/>
                </a:solidFill>
                <a:latin typeface="Arial" panose="020B0604020202020204" pitchFamily="34" charset="0"/>
              </a:rPr>
              <a:t>Step 2</a:t>
            </a:r>
            <a:r>
              <a:rPr lang="en-US" sz="1800" dirty="0">
                <a:solidFill>
                  <a:srgbClr val="000000"/>
                </a:solidFill>
                <a:latin typeface="Arial" panose="020B0604020202020204" pitchFamily="34" charset="0"/>
              </a:rPr>
              <a:t> − The bucket has a maximum capacity f.</a:t>
            </a:r>
          </a:p>
          <a:p>
            <a:pPr marL="688975" indent="-284163" algn="just">
              <a:buFont typeface="Wingdings" panose="05000000000000000000" pitchFamily="2" charset="2"/>
              <a:buChar char="Ø"/>
              <a:defRPr/>
            </a:pPr>
            <a:r>
              <a:rPr lang="en-US" sz="1800" b="1" dirty="0">
                <a:solidFill>
                  <a:srgbClr val="000000"/>
                </a:solidFill>
                <a:latin typeface="Arial" panose="020B0604020202020204" pitchFamily="34" charset="0"/>
              </a:rPr>
              <a:t>Step 3</a:t>
            </a:r>
            <a:r>
              <a:rPr lang="en-US" sz="1800" dirty="0">
                <a:solidFill>
                  <a:srgbClr val="000000"/>
                </a:solidFill>
                <a:latin typeface="Arial" panose="020B0604020202020204" pitchFamily="34" charset="0"/>
              </a:rPr>
              <a:t> − If the packet is ready, then a token is removed from the bucket, and the packet is sent.</a:t>
            </a:r>
          </a:p>
          <a:p>
            <a:pPr marL="688975" indent="-284163" algn="just">
              <a:buFont typeface="Wingdings" panose="05000000000000000000" pitchFamily="2" charset="2"/>
              <a:buChar char="Ø"/>
              <a:defRPr/>
            </a:pPr>
            <a:r>
              <a:rPr lang="en-US" sz="1800" b="1" dirty="0">
                <a:solidFill>
                  <a:srgbClr val="000000"/>
                </a:solidFill>
                <a:latin typeface="Arial" panose="020B0604020202020204" pitchFamily="34" charset="0"/>
              </a:rPr>
              <a:t>Step 4</a:t>
            </a:r>
            <a:r>
              <a:rPr lang="en-US" sz="1800" dirty="0">
                <a:solidFill>
                  <a:srgbClr val="000000"/>
                </a:solidFill>
                <a:latin typeface="Arial" panose="020B0604020202020204" pitchFamily="34" charset="0"/>
              </a:rPr>
              <a:t> − Suppose, if there is no token in the bucket, the packet cannot be sent.</a:t>
            </a:r>
          </a:p>
          <a:p>
            <a:pPr>
              <a:defRPr/>
            </a:pP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61FC03E3-C60E-105B-EB8F-B0F9A93A348C}"/>
              </a:ext>
            </a:extLst>
          </p:cNvPr>
          <p:cNvSpPr>
            <a:spLocks noGrp="1"/>
          </p:cNvSpPr>
          <p:nvPr>
            <p:ph type="title"/>
          </p:nvPr>
        </p:nvSpPr>
        <p:spPr>
          <a:xfrm>
            <a:off x="1981200" y="274638"/>
            <a:ext cx="8229600" cy="633412"/>
          </a:xfrm>
        </p:spPr>
        <p:txBody>
          <a:bodyPr/>
          <a:lstStyle/>
          <a:p>
            <a:r>
              <a:rPr lang="en-US" altLang="en-US">
                <a:solidFill>
                  <a:srgbClr val="C00000"/>
                </a:solidFill>
              </a:rPr>
              <a:t>Token Bucket</a:t>
            </a:r>
            <a:endParaRPr lang="en-US" altLang="en-US"/>
          </a:p>
        </p:txBody>
      </p:sp>
      <p:sp>
        <p:nvSpPr>
          <p:cNvPr id="14339" name="Content Placeholder 2">
            <a:extLst>
              <a:ext uri="{FF2B5EF4-FFF2-40B4-BE49-F238E27FC236}">
                <a16:creationId xmlns:a16="http://schemas.microsoft.com/office/drawing/2014/main" id="{7B1603D5-02C9-B4CD-E6A1-697DC381ADD1}"/>
              </a:ext>
            </a:extLst>
          </p:cNvPr>
          <p:cNvSpPr>
            <a:spLocks noGrp="1"/>
          </p:cNvSpPr>
          <p:nvPr>
            <p:ph idx="1"/>
          </p:nvPr>
        </p:nvSpPr>
        <p:spPr>
          <a:xfrm>
            <a:off x="1697039" y="5072063"/>
            <a:ext cx="10049484" cy="1808162"/>
          </a:xfrm>
        </p:spPr>
        <p:txBody>
          <a:bodyPr>
            <a:normAutofit/>
          </a:bodyPr>
          <a:lstStyle/>
          <a:p>
            <a:r>
              <a:rPr lang="en-US" altLang="en-US" sz="1800" dirty="0"/>
              <a:t>In figure (a) the bucket holds two tokens, and three packets are waiting to be sent out of the interface.</a:t>
            </a:r>
          </a:p>
          <a:p>
            <a:r>
              <a:rPr lang="en-US" altLang="en-US" sz="1800" dirty="0"/>
              <a:t>In Figure (b) two packets have been sent out by consuming two tokens, and 1 packet is still left.</a:t>
            </a:r>
          </a:p>
        </p:txBody>
      </p:sp>
      <p:pic>
        <p:nvPicPr>
          <p:cNvPr id="14340" name="Picture 6">
            <a:extLst>
              <a:ext uri="{FF2B5EF4-FFF2-40B4-BE49-F238E27FC236}">
                <a16:creationId xmlns:a16="http://schemas.microsoft.com/office/drawing/2014/main" id="{BA0F5629-1DAD-197B-E441-B76762CE0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0126" y="938213"/>
            <a:ext cx="7642225" cy="388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B65E807F-5353-8424-C652-303BB2C1A6A6}"/>
              </a:ext>
            </a:extLst>
          </p:cNvPr>
          <p:cNvSpPr>
            <a:spLocks noGrp="1"/>
          </p:cNvSpPr>
          <p:nvPr>
            <p:ph type="title"/>
          </p:nvPr>
        </p:nvSpPr>
        <p:spPr>
          <a:xfrm>
            <a:off x="1699846" y="506438"/>
            <a:ext cx="8229600" cy="1196975"/>
          </a:xfrm>
        </p:spPr>
        <p:txBody>
          <a:bodyPr>
            <a:normAutofit fontScale="90000"/>
          </a:bodyPr>
          <a:lstStyle/>
          <a:p>
            <a:r>
              <a:rPr lang="en-IN" dirty="0" err="1"/>
              <a:t>Qos</a:t>
            </a:r>
            <a:r>
              <a:rPr lang="en-IN" dirty="0"/>
              <a:t> technique – traffic shaping</a:t>
            </a:r>
            <a:br>
              <a:rPr lang="en-IN" dirty="0"/>
            </a:br>
            <a:br>
              <a:rPr lang="en-IN" dirty="0"/>
            </a:br>
            <a:r>
              <a:rPr lang="en-US" dirty="0">
                <a:solidFill>
                  <a:srgbClr val="C00000"/>
                </a:solidFill>
              </a:rPr>
              <a:t>TOKEN</a:t>
            </a:r>
            <a:r>
              <a:rPr lang="en-US" altLang="en-US" dirty="0">
                <a:solidFill>
                  <a:srgbClr val="C00000"/>
                </a:solidFill>
              </a:rPr>
              <a:t> Bucket Implementation</a:t>
            </a:r>
            <a:endParaRPr lang="en-US" altLang="en-US" dirty="0"/>
          </a:p>
        </p:txBody>
      </p:sp>
      <p:sp>
        <p:nvSpPr>
          <p:cNvPr id="15363" name="Content Placeholder 2">
            <a:extLst>
              <a:ext uri="{FF2B5EF4-FFF2-40B4-BE49-F238E27FC236}">
                <a16:creationId xmlns:a16="http://schemas.microsoft.com/office/drawing/2014/main" id="{811AC031-8BBE-EFD2-9718-64160CDE7A0B}"/>
              </a:ext>
            </a:extLst>
          </p:cNvPr>
          <p:cNvSpPr>
            <a:spLocks noGrp="1"/>
          </p:cNvSpPr>
          <p:nvPr>
            <p:ph idx="1"/>
          </p:nvPr>
        </p:nvSpPr>
        <p:spPr>
          <a:xfrm>
            <a:off x="926123" y="2125849"/>
            <a:ext cx="10339754" cy="4525962"/>
          </a:xfrm>
        </p:spPr>
        <p:txBody>
          <a:bodyPr>
            <a:normAutofit/>
          </a:bodyPr>
          <a:lstStyle/>
          <a:p>
            <a:pPr algn="just"/>
            <a:r>
              <a:rPr lang="en-US" altLang="en-US" sz="1800" dirty="0">
                <a:solidFill>
                  <a:srgbClr val="000000"/>
                </a:solidFill>
                <a:latin typeface="Arial" panose="020B0604020202020204" pitchFamily="34" charset="0"/>
              </a:rPr>
              <a:t>When compared to Leaky bucket the token bucket algorithm is less restrictive that means it allows more traffic. </a:t>
            </a:r>
          </a:p>
          <a:p>
            <a:pPr algn="just"/>
            <a:r>
              <a:rPr lang="en-US" altLang="en-US" sz="1800" dirty="0">
                <a:solidFill>
                  <a:srgbClr val="000000"/>
                </a:solidFill>
                <a:latin typeface="Arial" panose="020B0604020202020204" pitchFamily="34" charset="0"/>
              </a:rPr>
              <a:t>The limit of busyness is restricted by the number of tokens available in the bucket at a particular instant of time.</a:t>
            </a:r>
          </a:p>
          <a:p>
            <a:pPr algn="just"/>
            <a:endParaRPr lang="en-US" altLang="en-US" sz="1800" dirty="0">
              <a:solidFill>
                <a:srgbClr val="000000"/>
              </a:solidFill>
              <a:latin typeface="Arial" panose="020B0604020202020204" pitchFamily="34" charset="0"/>
            </a:endParaRPr>
          </a:p>
          <a:p>
            <a:pPr algn="just"/>
            <a:r>
              <a:rPr lang="en-US" altLang="en-US" sz="1800" b="1" dirty="0">
                <a:solidFill>
                  <a:srgbClr val="C00000"/>
                </a:solidFill>
                <a:latin typeface="Arial" panose="020B0604020202020204" pitchFamily="34" charset="0"/>
              </a:rPr>
              <a:t>The implementation of the token bucket algorithm is easy − </a:t>
            </a:r>
          </a:p>
          <a:p>
            <a:pPr lvl="1" algn="just">
              <a:buFont typeface="Wingdings" panose="05000000000000000000" pitchFamily="2" charset="2"/>
              <a:buChar char="Ø"/>
            </a:pPr>
            <a:r>
              <a:rPr lang="en-US" altLang="en-US" sz="1600" dirty="0">
                <a:solidFill>
                  <a:srgbClr val="000000"/>
                </a:solidFill>
                <a:latin typeface="Arial" panose="020B0604020202020204" pitchFamily="34" charset="0"/>
              </a:rPr>
              <a:t>A variable is used to count the tokens. </a:t>
            </a:r>
          </a:p>
          <a:p>
            <a:pPr lvl="1" algn="just">
              <a:buFont typeface="Wingdings" panose="05000000000000000000" pitchFamily="2" charset="2"/>
              <a:buChar char="Ø"/>
            </a:pPr>
            <a:r>
              <a:rPr lang="en-US" altLang="en-US" sz="1600" dirty="0">
                <a:solidFill>
                  <a:srgbClr val="000000"/>
                </a:solidFill>
                <a:latin typeface="Arial" panose="020B0604020202020204" pitchFamily="34" charset="0"/>
              </a:rPr>
              <a:t>For every t seconds the counter is incremented and then it is decremented whenever a packet is sent.</a:t>
            </a:r>
          </a:p>
          <a:p>
            <a:pPr lvl="1" algn="just">
              <a:buFont typeface="Wingdings" panose="05000000000000000000" pitchFamily="2" charset="2"/>
              <a:buChar char="Ø"/>
            </a:pPr>
            <a:r>
              <a:rPr lang="en-US" altLang="en-US" sz="1600" dirty="0">
                <a:solidFill>
                  <a:srgbClr val="000000"/>
                </a:solidFill>
                <a:latin typeface="Arial" panose="020B0604020202020204" pitchFamily="34" charset="0"/>
              </a:rPr>
              <a:t>When the counter reaches zero, no further packet is sent out.</a:t>
            </a:r>
          </a:p>
          <a:p>
            <a:endParaRPr lang="en-US"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0677-549E-EC92-D813-758CEABD8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0D200C-465F-3BE7-82AA-7AA95F455FB8}"/>
              </a:ext>
            </a:extLst>
          </p:cNvPr>
          <p:cNvSpPr>
            <a:spLocks noGrp="1"/>
          </p:cNvSpPr>
          <p:nvPr>
            <p:ph idx="1"/>
          </p:nvPr>
        </p:nvSpPr>
        <p:spPr>
          <a:xfrm>
            <a:off x="1472789" y="2602868"/>
            <a:ext cx="9603275" cy="3450613"/>
          </a:xfrm>
        </p:spPr>
        <p:txBody>
          <a:bodyPr>
            <a:normAutofit/>
          </a:bodyPr>
          <a:lstStyle/>
          <a:p>
            <a:pPr marL="0" indent="0" algn="ctr">
              <a:buNone/>
            </a:pPr>
            <a:r>
              <a:rPr lang="en-US" sz="6600" dirty="0"/>
              <a:t>Packet Scheduling</a:t>
            </a:r>
          </a:p>
        </p:txBody>
      </p:sp>
      <p:sp>
        <p:nvSpPr>
          <p:cNvPr id="4" name="Slide Number Placeholder 3">
            <a:extLst>
              <a:ext uri="{FF2B5EF4-FFF2-40B4-BE49-F238E27FC236}">
                <a16:creationId xmlns:a16="http://schemas.microsoft.com/office/drawing/2014/main" id="{236543C7-229C-8E06-34C9-81C52D5BF57A}"/>
              </a:ext>
            </a:extLst>
          </p:cNvPr>
          <p:cNvSpPr>
            <a:spLocks noGrp="1"/>
          </p:cNvSpPr>
          <p:nvPr>
            <p:ph type="sldNum" sz="quarter" idx="12"/>
          </p:nvPr>
        </p:nvSpPr>
        <p:spPr/>
        <p:txBody>
          <a:bodyPr/>
          <a:lstStyle/>
          <a:p>
            <a:fld id="{CBABCCC1-BF11-4F37-963E-1BCD5B23FD72}" type="slidenum">
              <a:rPr lang="en-IN" smtClean="0"/>
              <a:pPr/>
              <a:t>18</a:t>
            </a:fld>
            <a:endParaRPr lang="en-IN"/>
          </a:p>
        </p:txBody>
      </p:sp>
    </p:spTree>
    <p:extLst>
      <p:ext uri="{BB962C8B-B14F-4D97-AF65-F5344CB8AC3E}">
        <p14:creationId xmlns:p14="http://schemas.microsoft.com/office/powerpoint/2010/main" val="463301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6AE2D-D42B-FA50-3284-5F8BC8DB4ADE}"/>
              </a:ext>
            </a:extLst>
          </p:cNvPr>
          <p:cNvSpPr>
            <a:spLocks noGrp="1"/>
          </p:cNvSpPr>
          <p:nvPr>
            <p:ph type="title"/>
          </p:nvPr>
        </p:nvSpPr>
        <p:spPr/>
        <p:txBody>
          <a:bodyPr/>
          <a:lstStyle/>
          <a:p>
            <a:r>
              <a:rPr lang="en-IN" dirty="0" err="1"/>
              <a:t>Qos</a:t>
            </a:r>
            <a:r>
              <a:rPr lang="en-IN" dirty="0"/>
              <a:t> technique – packet scheduling</a:t>
            </a:r>
          </a:p>
        </p:txBody>
      </p:sp>
      <p:sp>
        <p:nvSpPr>
          <p:cNvPr id="3" name="Content Placeholder 2">
            <a:extLst>
              <a:ext uri="{FF2B5EF4-FFF2-40B4-BE49-F238E27FC236}">
                <a16:creationId xmlns:a16="http://schemas.microsoft.com/office/drawing/2014/main" id="{1683B588-F0BD-E118-589D-393A4C6C1860}"/>
              </a:ext>
            </a:extLst>
          </p:cNvPr>
          <p:cNvSpPr>
            <a:spLocks noGrp="1"/>
          </p:cNvSpPr>
          <p:nvPr>
            <p:ph idx="1"/>
          </p:nvPr>
        </p:nvSpPr>
        <p:spPr/>
        <p:txBody>
          <a:bodyPr>
            <a:normAutofit lnSpcReduction="10000"/>
          </a:bodyPr>
          <a:lstStyle/>
          <a:p>
            <a:pPr algn="just"/>
            <a:r>
              <a:rPr lang="en-IN" dirty="0"/>
              <a:t>If a router is handling multiple flows, there is a danger that one flow will take too much of its capacity and starve all the other flows.</a:t>
            </a:r>
          </a:p>
          <a:p>
            <a:pPr algn="just"/>
            <a:r>
              <a:rPr lang="en-IN" dirty="0"/>
              <a:t>Packet scheduling algorithms can be devised to minimize it.</a:t>
            </a:r>
          </a:p>
          <a:p>
            <a:pPr algn="just"/>
            <a:r>
              <a:rPr lang="en-IN" dirty="0"/>
              <a:t>One of the first ones was the fair queueing algorithm.</a:t>
            </a:r>
          </a:p>
          <a:p>
            <a:pPr algn="just"/>
            <a:r>
              <a:rPr lang="en-IN" dirty="0"/>
              <a:t>The essence of the algorithm is that routers have separate queues for each output line, one for each flow.</a:t>
            </a:r>
          </a:p>
          <a:p>
            <a:pPr algn="just"/>
            <a:r>
              <a:rPr lang="en-IN" dirty="0"/>
              <a:t>When a line becomes idle, the router scans the queues round robin, taking the first packet on the next queue.</a:t>
            </a:r>
          </a:p>
        </p:txBody>
      </p:sp>
      <p:sp>
        <p:nvSpPr>
          <p:cNvPr id="4" name="Slide Number Placeholder 3">
            <a:extLst>
              <a:ext uri="{FF2B5EF4-FFF2-40B4-BE49-F238E27FC236}">
                <a16:creationId xmlns:a16="http://schemas.microsoft.com/office/drawing/2014/main" id="{5F09E29E-1103-7F37-D3B0-C730130C8632}"/>
              </a:ext>
            </a:extLst>
          </p:cNvPr>
          <p:cNvSpPr>
            <a:spLocks noGrp="1"/>
          </p:cNvSpPr>
          <p:nvPr>
            <p:ph type="sldNum" sz="quarter" idx="12"/>
          </p:nvPr>
        </p:nvSpPr>
        <p:spPr/>
        <p:txBody>
          <a:bodyPr/>
          <a:lstStyle/>
          <a:p>
            <a:fld id="{CBABCCC1-BF11-4F37-963E-1BCD5B23FD72}" type="slidenum">
              <a:rPr lang="en-IN" smtClean="0"/>
              <a:pPr/>
              <a:t>19</a:t>
            </a:fld>
            <a:endParaRPr lang="en-IN"/>
          </a:p>
        </p:txBody>
      </p:sp>
    </p:spTree>
    <p:extLst>
      <p:ext uri="{BB962C8B-B14F-4D97-AF65-F5344CB8AC3E}">
        <p14:creationId xmlns:p14="http://schemas.microsoft.com/office/powerpoint/2010/main" val="39044448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C23413-D84B-0B17-1638-819885A55B3F}"/>
              </a:ext>
            </a:extLst>
          </p:cNvPr>
          <p:cNvSpPr>
            <a:spLocks noGrp="1"/>
          </p:cNvSpPr>
          <p:nvPr>
            <p:ph type="title"/>
          </p:nvPr>
        </p:nvSpPr>
        <p:spPr/>
        <p:txBody>
          <a:bodyPr/>
          <a:lstStyle/>
          <a:p>
            <a:r>
              <a:rPr lang="en-IN" dirty="0" err="1"/>
              <a:t>Qos</a:t>
            </a:r>
            <a:r>
              <a:rPr lang="en-IN" dirty="0"/>
              <a:t> technique – packet scheduling</a:t>
            </a:r>
          </a:p>
        </p:txBody>
      </p:sp>
      <p:pic>
        <p:nvPicPr>
          <p:cNvPr id="13" name="Content Placeholder 12">
            <a:extLst>
              <a:ext uri="{FF2B5EF4-FFF2-40B4-BE49-F238E27FC236}">
                <a16:creationId xmlns:a16="http://schemas.microsoft.com/office/drawing/2014/main" id="{B1FB796C-6F98-8E0A-651A-62FEA1900930}"/>
              </a:ext>
            </a:extLst>
          </p:cNvPr>
          <p:cNvPicPr>
            <a:picLocks noGrp="1" noChangeAspect="1"/>
          </p:cNvPicPr>
          <p:nvPr>
            <p:ph sz="half" idx="1"/>
          </p:nvPr>
        </p:nvPicPr>
        <p:blipFill>
          <a:blip r:embed="rId2"/>
          <a:stretch>
            <a:fillRect/>
          </a:stretch>
        </p:blipFill>
        <p:spPr>
          <a:xfrm>
            <a:off x="3770300" y="3735385"/>
            <a:ext cx="25" cy="6"/>
          </a:xfrm>
        </p:spPr>
      </p:pic>
      <p:pic>
        <p:nvPicPr>
          <p:cNvPr id="7" name="Content Placeholder 6">
            <a:extLst>
              <a:ext uri="{FF2B5EF4-FFF2-40B4-BE49-F238E27FC236}">
                <a16:creationId xmlns:a16="http://schemas.microsoft.com/office/drawing/2014/main" id="{6B35FB62-2D3D-14CE-357D-0D2017CA31A6}"/>
              </a:ext>
            </a:extLst>
          </p:cNvPr>
          <p:cNvPicPr>
            <a:picLocks noGrp="1" noChangeAspect="1"/>
          </p:cNvPicPr>
          <p:nvPr>
            <p:ph sz="half" idx="2"/>
          </p:nvPr>
        </p:nvPicPr>
        <p:blipFill>
          <a:blip r:embed="rId2"/>
          <a:stretch>
            <a:fillRect/>
          </a:stretch>
        </p:blipFill>
        <p:spPr>
          <a:xfrm>
            <a:off x="8736000" y="3738560"/>
            <a:ext cx="25" cy="6"/>
          </a:xfrm>
        </p:spPr>
      </p:pic>
      <p:sp>
        <p:nvSpPr>
          <p:cNvPr id="5" name="Slide Number Placeholder 4">
            <a:extLst>
              <a:ext uri="{FF2B5EF4-FFF2-40B4-BE49-F238E27FC236}">
                <a16:creationId xmlns:a16="http://schemas.microsoft.com/office/drawing/2014/main" id="{6B6A93F1-6EA5-1695-CF66-C1173CD461D8}"/>
              </a:ext>
            </a:extLst>
          </p:cNvPr>
          <p:cNvSpPr>
            <a:spLocks noGrp="1"/>
          </p:cNvSpPr>
          <p:nvPr>
            <p:ph type="sldNum" sz="quarter" idx="12"/>
          </p:nvPr>
        </p:nvSpPr>
        <p:spPr/>
        <p:txBody>
          <a:bodyPr/>
          <a:lstStyle/>
          <a:p>
            <a:fld id="{CBABCCC1-BF11-4F37-963E-1BCD5B23FD72}" type="slidenum">
              <a:rPr lang="en-IN" smtClean="0"/>
              <a:pPr/>
              <a:t>20</a:t>
            </a:fld>
            <a:endParaRPr lang="en-IN"/>
          </a:p>
        </p:txBody>
      </p:sp>
      <p:pic>
        <p:nvPicPr>
          <p:cNvPr id="9" name="Picture 8">
            <a:extLst>
              <a:ext uri="{FF2B5EF4-FFF2-40B4-BE49-F238E27FC236}">
                <a16:creationId xmlns:a16="http://schemas.microsoft.com/office/drawing/2014/main" id="{13FDD4CD-1283-D950-0426-4EA24016A072}"/>
              </a:ext>
            </a:extLst>
          </p:cNvPr>
          <p:cNvPicPr>
            <a:picLocks noChangeAspect="1"/>
          </p:cNvPicPr>
          <p:nvPr/>
        </p:nvPicPr>
        <p:blipFill>
          <a:blip r:embed="rId2"/>
          <a:stretch>
            <a:fillRect/>
          </a:stretch>
        </p:blipFill>
        <p:spPr>
          <a:xfrm>
            <a:off x="6095987" y="3428997"/>
            <a:ext cx="25" cy="6"/>
          </a:xfrm>
          <a:prstGeom prst="rect">
            <a:avLst/>
          </a:prstGeom>
        </p:spPr>
      </p:pic>
      <p:pic>
        <p:nvPicPr>
          <p:cNvPr id="11" name="Picture 10">
            <a:extLst>
              <a:ext uri="{FF2B5EF4-FFF2-40B4-BE49-F238E27FC236}">
                <a16:creationId xmlns:a16="http://schemas.microsoft.com/office/drawing/2014/main" id="{226D31F9-A0D5-18C3-2922-E336BF5D3571}"/>
              </a:ext>
            </a:extLst>
          </p:cNvPr>
          <p:cNvPicPr>
            <a:picLocks noChangeAspect="1"/>
          </p:cNvPicPr>
          <p:nvPr/>
        </p:nvPicPr>
        <p:blipFill>
          <a:blip r:embed="rId2"/>
          <a:stretch>
            <a:fillRect/>
          </a:stretch>
        </p:blipFill>
        <p:spPr>
          <a:xfrm>
            <a:off x="6095987" y="3428997"/>
            <a:ext cx="25" cy="6"/>
          </a:xfrm>
          <a:prstGeom prst="rect">
            <a:avLst/>
          </a:prstGeom>
        </p:spPr>
      </p:pic>
      <p:pic>
        <p:nvPicPr>
          <p:cNvPr id="15" name="Picture 14">
            <a:extLst>
              <a:ext uri="{FF2B5EF4-FFF2-40B4-BE49-F238E27FC236}">
                <a16:creationId xmlns:a16="http://schemas.microsoft.com/office/drawing/2014/main" id="{1C0EBEF2-7CF1-75B2-9E2B-450B802B6500}"/>
              </a:ext>
            </a:extLst>
          </p:cNvPr>
          <p:cNvPicPr>
            <a:picLocks noChangeAspect="1"/>
          </p:cNvPicPr>
          <p:nvPr/>
        </p:nvPicPr>
        <p:blipFill>
          <a:blip r:embed="rId2"/>
          <a:stretch>
            <a:fillRect/>
          </a:stretch>
        </p:blipFill>
        <p:spPr>
          <a:xfrm>
            <a:off x="6095987" y="3428997"/>
            <a:ext cx="25" cy="6"/>
          </a:xfrm>
          <a:prstGeom prst="rect">
            <a:avLst/>
          </a:prstGeom>
        </p:spPr>
      </p:pic>
      <p:sp>
        <p:nvSpPr>
          <p:cNvPr id="19" name="TextBox 18">
            <a:extLst>
              <a:ext uri="{FF2B5EF4-FFF2-40B4-BE49-F238E27FC236}">
                <a16:creationId xmlns:a16="http://schemas.microsoft.com/office/drawing/2014/main" id="{6DE427F5-4D9E-B0E7-9A5C-AD46BA5D48DF}"/>
              </a:ext>
            </a:extLst>
          </p:cNvPr>
          <p:cNvSpPr txBox="1"/>
          <p:nvPr/>
        </p:nvSpPr>
        <p:spPr>
          <a:xfrm>
            <a:off x="1210067" y="1840227"/>
            <a:ext cx="9504895" cy="646331"/>
          </a:xfrm>
          <a:prstGeom prst="rect">
            <a:avLst/>
          </a:prstGeom>
          <a:noFill/>
        </p:spPr>
        <p:txBody>
          <a:bodyPr wrap="square">
            <a:spAutoFit/>
          </a:bodyPr>
          <a:lstStyle/>
          <a:p>
            <a:pPr marL="285750" indent="-285750">
              <a:buFont typeface="Arial" panose="020B0604020202020204" pitchFamily="34" charset="0"/>
              <a:buChar char="•"/>
            </a:pPr>
            <a:r>
              <a:rPr lang="en-IN" dirty="0"/>
              <a:t>In this way, with n hosts competing for a given output line, each host gets to send one out of every n packets.</a:t>
            </a:r>
          </a:p>
        </p:txBody>
      </p:sp>
      <p:pic>
        <p:nvPicPr>
          <p:cNvPr id="3" name="Picture 5" descr="5-36">
            <a:extLst>
              <a:ext uri="{FF2B5EF4-FFF2-40B4-BE49-F238E27FC236}">
                <a16:creationId xmlns:a16="http://schemas.microsoft.com/office/drawing/2014/main" id="{48E77F92-E220-9D03-C518-491BBF7866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090" y="2500179"/>
            <a:ext cx="8243888"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84C54DD6-3964-5F9A-2816-D83F63F65633}"/>
              </a:ext>
            </a:extLst>
          </p:cNvPr>
          <p:cNvSpPr txBox="1"/>
          <p:nvPr/>
        </p:nvSpPr>
        <p:spPr>
          <a:xfrm>
            <a:off x="3448820" y="5023637"/>
            <a:ext cx="6105378" cy="867930"/>
          </a:xfrm>
          <a:prstGeom prst="rect">
            <a:avLst/>
          </a:prstGeom>
          <a:noFill/>
        </p:spPr>
        <p:txBody>
          <a:bodyPr wrap="square">
            <a:spAutoFit/>
          </a:bodyPr>
          <a:lstStyle/>
          <a:p>
            <a:pPr algn="ctr" eaLnBrk="1" hangingPunct="1">
              <a:lnSpc>
                <a:spcPct val="90000"/>
              </a:lnSpc>
              <a:buFontTx/>
              <a:buNone/>
            </a:pPr>
            <a:r>
              <a:rPr lang="en-US" altLang="en-US" sz="2400" dirty="0">
                <a:solidFill>
                  <a:schemeClr val="accent2"/>
                </a:solidFill>
              </a:rPr>
              <a:t>Figure: Fair queueing</a:t>
            </a:r>
          </a:p>
          <a:p>
            <a:pPr algn="ctr" eaLnBrk="1" hangingPunct="1">
              <a:lnSpc>
                <a:spcPct val="90000"/>
              </a:lnSpc>
              <a:buFontTx/>
              <a:buNone/>
            </a:pPr>
            <a:r>
              <a:rPr lang="en-US" altLang="en-US" sz="1600" dirty="0">
                <a:solidFill>
                  <a:schemeClr val="accent2"/>
                </a:solidFill>
              </a:rPr>
              <a:t>(a)</a:t>
            </a:r>
            <a:r>
              <a:rPr lang="en-US" altLang="en-US" sz="1600" dirty="0"/>
              <a:t> A router with five packets queued for line O.</a:t>
            </a:r>
          </a:p>
          <a:p>
            <a:pPr algn="ctr" eaLnBrk="1" hangingPunct="1">
              <a:lnSpc>
                <a:spcPct val="90000"/>
              </a:lnSpc>
              <a:buFontTx/>
              <a:buNone/>
            </a:pPr>
            <a:r>
              <a:rPr lang="en-US" altLang="en-US" sz="1600" dirty="0">
                <a:solidFill>
                  <a:schemeClr val="accent2"/>
                </a:solidFill>
              </a:rPr>
              <a:t>(b)</a:t>
            </a:r>
            <a:r>
              <a:rPr lang="en-US" altLang="en-US" sz="1600" dirty="0"/>
              <a:t> Finishing times for the five packets.</a:t>
            </a:r>
            <a:endParaRPr lang="en-US" sz="1600" dirty="0"/>
          </a:p>
        </p:txBody>
      </p:sp>
    </p:spTree>
    <p:extLst>
      <p:ext uri="{BB962C8B-B14F-4D97-AF65-F5344CB8AC3E}">
        <p14:creationId xmlns:p14="http://schemas.microsoft.com/office/powerpoint/2010/main" val="2267504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0677-549E-EC92-D813-758CEABD8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0D200C-465F-3BE7-82AA-7AA95F455FB8}"/>
              </a:ext>
            </a:extLst>
          </p:cNvPr>
          <p:cNvSpPr>
            <a:spLocks noGrp="1"/>
          </p:cNvSpPr>
          <p:nvPr>
            <p:ph idx="1"/>
          </p:nvPr>
        </p:nvSpPr>
        <p:spPr>
          <a:xfrm>
            <a:off x="1472789" y="2602868"/>
            <a:ext cx="9603275" cy="3450613"/>
          </a:xfrm>
        </p:spPr>
        <p:txBody>
          <a:bodyPr>
            <a:normAutofit/>
          </a:bodyPr>
          <a:lstStyle/>
          <a:p>
            <a:pPr marL="0" indent="0" algn="ctr">
              <a:buNone/>
            </a:pPr>
            <a:r>
              <a:rPr lang="en-US" sz="6600" dirty="0"/>
              <a:t>Admission Control</a:t>
            </a:r>
          </a:p>
        </p:txBody>
      </p:sp>
      <p:sp>
        <p:nvSpPr>
          <p:cNvPr id="4" name="Slide Number Placeholder 3">
            <a:extLst>
              <a:ext uri="{FF2B5EF4-FFF2-40B4-BE49-F238E27FC236}">
                <a16:creationId xmlns:a16="http://schemas.microsoft.com/office/drawing/2014/main" id="{236543C7-229C-8E06-34C9-81C52D5BF57A}"/>
              </a:ext>
            </a:extLst>
          </p:cNvPr>
          <p:cNvSpPr>
            <a:spLocks noGrp="1"/>
          </p:cNvSpPr>
          <p:nvPr>
            <p:ph type="sldNum" sz="quarter" idx="12"/>
          </p:nvPr>
        </p:nvSpPr>
        <p:spPr/>
        <p:txBody>
          <a:bodyPr/>
          <a:lstStyle/>
          <a:p>
            <a:fld id="{CBABCCC1-BF11-4F37-963E-1BCD5B23FD72}" type="slidenum">
              <a:rPr lang="en-IN" smtClean="0"/>
              <a:pPr/>
              <a:t>21</a:t>
            </a:fld>
            <a:endParaRPr lang="en-IN"/>
          </a:p>
        </p:txBody>
      </p:sp>
    </p:spTree>
    <p:extLst>
      <p:ext uri="{BB962C8B-B14F-4D97-AF65-F5344CB8AC3E}">
        <p14:creationId xmlns:p14="http://schemas.microsoft.com/office/powerpoint/2010/main" val="2250165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4EDA74-010B-2A0D-7F23-B17E14D95E59}"/>
              </a:ext>
            </a:extLst>
          </p:cNvPr>
          <p:cNvSpPr>
            <a:spLocks noGrp="1"/>
          </p:cNvSpPr>
          <p:nvPr>
            <p:ph type="title"/>
          </p:nvPr>
        </p:nvSpPr>
        <p:spPr/>
        <p:txBody>
          <a:bodyPr/>
          <a:lstStyle/>
          <a:p>
            <a:r>
              <a:rPr lang="en-IN" dirty="0" err="1"/>
              <a:t>Qos</a:t>
            </a:r>
            <a:r>
              <a:rPr lang="en-IN" dirty="0"/>
              <a:t> technique – admission control</a:t>
            </a:r>
          </a:p>
        </p:txBody>
      </p:sp>
      <p:sp>
        <p:nvSpPr>
          <p:cNvPr id="3" name="Content Placeholder 2">
            <a:extLst>
              <a:ext uri="{FF2B5EF4-FFF2-40B4-BE49-F238E27FC236}">
                <a16:creationId xmlns:a16="http://schemas.microsoft.com/office/drawing/2014/main" id="{3747874E-F3D6-1FDA-DC84-D1BFCBD14186}"/>
              </a:ext>
            </a:extLst>
          </p:cNvPr>
          <p:cNvSpPr>
            <a:spLocks noGrp="1"/>
          </p:cNvSpPr>
          <p:nvPr>
            <p:ph idx="1"/>
          </p:nvPr>
        </p:nvSpPr>
        <p:spPr/>
        <p:txBody>
          <a:bodyPr/>
          <a:lstStyle/>
          <a:p>
            <a:r>
              <a:rPr lang="en-IN" dirty="0"/>
              <a:t>Generally, the sender produces a flow specification proposing the parameters it would like to use.</a:t>
            </a:r>
          </a:p>
          <a:p>
            <a:r>
              <a:rPr lang="en-IN" dirty="0"/>
              <a:t>As the specification propagates along the route, each router examines it and modifies the parameters as need be.</a:t>
            </a:r>
          </a:p>
          <a:p>
            <a:r>
              <a:rPr lang="en-IN" dirty="0"/>
              <a:t>The modifications can only reduce the flow, not increase it.</a:t>
            </a:r>
          </a:p>
          <a:p>
            <a:r>
              <a:rPr lang="en-IN" dirty="0"/>
              <a:t>When it gets to the other end, the parameters can be established.</a:t>
            </a:r>
          </a:p>
          <a:p>
            <a:endParaRPr lang="en-IN" dirty="0"/>
          </a:p>
        </p:txBody>
      </p:sp>
      <p:sp>
        <p:nvSpPr>
          <p:cNvPr id="4" name="Slide Number Placeholder 3">
            <a:extLst>
              <a:ext uri="{FF2B5EF4-FFF2-40B4-BE49-F238E27FC236}">
                <a16:creationId xmlns:a16="http://schemas.microsoft.com/office/drawing/2014/main" id="{C537D9B5-E12D-67C5-2F76-3E70DD37DE61}"/>
              </a:ext>
            </a:extLst>
          </p:cNvPr>
          <p:cNvSpPr>
            <a:spLocks noGrp="1"/>
          </p:cNvSpPr>
          <p:nvPr>
            <p:ph type="sldNum" sz="quarter" idx="12"/>
          </p:nvPr>
        </p:nvSpPr>
        <p:spPr/>
        <p:txBody>
          <a:bodyPr/>
          <a:lstStyle/>
          <a:p>
            <a:fld id="{CBABCCC1-BF11-4F37-963E-1BCD5B23FD72}" type="slidenum">
              <a:rPr lang="en-IN" smtClean="0"/>
              <a:pPr/>
              <a:t>22</a:t>
            </a:fld>
            <a:endParaRPr lang="en-IN"/>
          </a:p>
        </p:txBody>
      </p:sp>
      <p:pic>
        <p:nvPicPr>
          <p:cNvPr id="5" name="Picture 5" descr="5-35">
            <a:extLst>
              <a:ext uri="{FF2B5EF4-FFF2-40B4-BE49-F238E27FC236}">
                <a16:creationId xmlns:a16="http://schemas.microsoft.com/office/drawing/2014/main" id="{AACD51A1-816F-92CA-E9E3-B46BA2D565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07027" y="3438501"/>
            <a:ext cx="3384973" cy="21898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05412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0677-549E-EC92-D813-758CEABD8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0D200C-465F-3BE7-82AA-7AA95F455FB8}"/>
              </a:ext>
            </a:extLst>
          </p:cNvPr>
          <p:cNvSpPr>
            <a:spLocks noGrp="1"/>
          </p:cNvSpPr>
          <p:nvPr>
            <p:ph idx="1"/>
          </p:nvPr>
        </p:nvSpPr>
        <p:spPr>
          <a:xfrm>
            <a:off x="1472789" y="2602868"/>
            <a:ext cx="9603275" cy="3450613"/>
          </a:xfrm>
        </p:spPr>
        <p:txBody>
          <a:bodyPr>
            <a:normAutofit/>
          </a:bodyPr>
          <a:lstStyle/>
          <a:p>
            <a:pPr marL="0" indent="0" algn="ctr">
              <a:buNone/>
            </a:pPr>
            <a:r>
              <a:rPr lang="en-US" sz="6600" dirty="0"/>
              <a:t>Integrated Services</a:t>
            </a:r>
          </a:p>
        </p:txBody>
      </p:sp>
      <p:sp>
        <p:nvSpPr>
          <p:cNvPr id="4" name="Slide Number Placeholder 3">
            <a:extLst>
              <a:ext uri="{FF2B5EF4-FFF2-40B4-BE49-F238E27FC236}">
                <a16:creationId xmlns:a16="http://schemas.microsoft.com/office/drawing/2014/main" id="{236543C7-229C-8E06-34C9-81C52D5BF57A}"/>
              </a:ext>
            </a:extLst>
          </p:cNvPr>
          <p:cNvSpPr>
            <a:spLocks noGrp="1"/>
          </p:cNvSpPr>
          <p:nvPr>
            <p:ph type="sldNum" sz="quarter" idx="12"/>
          </p:nvPr>
        </p:nvSpPr>
        <p:spPr/>
        <p:txBody>
          <a:bodyPr/>
          <a:lstStyle/>
          <a:p>
            <a:fld id="{CBABCCC1-BF11-4F37-963E-1BCD5B23FD72}" type="slidenum">
              <a:rPr lang="en-IN" smtClean="0"/>
              <a:pPr/>
              <a:t>23</a:t>
            </a:fld>
            <a:endParaRPr lang="en-IN"/>
          </a:p>
        </p:txBody>
      </p:sp>
    </p:spTree>
    <p:extLst>
      <p:ext uri="{BB962C8B-B14F-4D97-AF65-F5344CB8AC3E}">
        <p14:creationId xmlns:p14="http://schemas.microsoft.com/office/powerpoint/2010/main" val="1655632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93877-699D-5565-A491-21CB88D39364}"/>
              </a:ext>
            </a:extLst>
          </p:cNvPr>
          <p:cNvSpPr>
            <a:spLocks noGrp="1"/>
          </p:cNvSpPr>
          <p:nvPr>
            <p:ph type="title"/>
          </p:nvPr>
        </p:nvSpPr>
        <p:spPr/>
        <p:txBody>
          <a:bodyPr/>
          <a:lstStyle/>
          <a:p>
            <a:r>
              <a:rPr lang="en-IN" dirty="0" err="1"/>
              <a:t>Qos</a:t>
            </a:r>
            <a:r>
              <a:rPr lang="en-IN" dirty="0"/>
              <a:t> technique – integrated services</a:t>
            </a:r>
          </a:p>
        </p:txBody>
      </p:sp>
      <p:sp>
        <p:nvSpPr>
          <p:cNvPr id="3" name="Content Placeholder 2">
            <a:extLst>
              <a:ext uri="{FF2B5EF4-FFF2-40B4-BE49-F238E27FC236}">
                <a16:creationId xmlns:a16="http://schemas.microsoft.com/office/drawing/2014/main" id="{8C6BC095-FE9C-9787-C079-B9A242DF089A}"/>
              </a:ext>
            </a:extLst>
          </p:cNvPr>
          <p:cNvSpPr>
            <a:spLocks noGrp="1"/>
          </p:cNvSpPr>
          <p:nvPr>
            <p:ph idx="1"/>
          </p:nvPr>
        </p:nvSpPr>
        <p:spPr/>
        <p:txBody>
          <a:bodyPr>
            <a:normAutofit fontScale="92500" lnSpcReduction="20000"/>
          </a:bodyPr>
          <a:lstStyle/>
          <a:p>
            <a:pPr algn="just"/>
            <a:r>
              <a:rPr lang="en-IN" dirty="0"/>
              <a:t>Flow-based algorithms or integrated services is aimed at providing QOS both unicast and multicast applications.</a:t>
            </a:r>
          </a:p>
          <a:p>
            <a:pPr algn="just"/>
            <a:r>
              <a:rPr lang="en-IN" b="1" dirty="0"/>
              <a:t>RSVP – Resource </a:t>
            </a:r>
            <a:r>
              <a:rPr lang="en-IN" b="1" dirty="0" err="1"/>
              <a:t>reSerVation</a:t>
            </a:r>
            <a:r>
              <a:rPr lang="en-IN" b="1" dirty="0"/>
              <a:t> Protocol:</a:t>
            </a:r>
          </a:p>
          <a:p>
            <a:pPr algn="just"/>
            <a:r>
              <a:rPr lang="en-IN" dirty="0"/>
              <a:t>The main protocol for integrated services architecture is RSVP.</a:t>
            </a:r>
          </a:p>
          <a:p>
            <a:pPr algn="just"/>
            <a:r>
              <a:rPr lang="en-IN" dirty="0"/>
              <a:t>This protocol is used for making reservations.</a:t>
            </a:r>
          </a:p>
          <a:p>
            <a:pPr algn="just"/>
            <a:r>
              <a:rPr lang="en-IN" dirty="0"/>
              <a:t>RSVP allows multiple senders to transmit to multiple groups of receivers, permits individual receivers to switch channels freely and optimizes bandwidth use while at the same time eliminating congestion.</a:t>
            </a:r>
          </a:p>
          <a:p>
            <a:pPr algn="just"/>
            <a:r>
              <a:rPr lang="en-IN" dirty="0"/>
              <a:t>In its simplest form, the protocol uses multicast routing using spanning trees.</a:t>
            </a:r>
          </a:p>
          <a:p>
            <a:endParaRPr lang="en-IN" dirty="0"/>
          </a:p>
        </p:txBody>
      </p:sp>
      <p:sp>
        <p:nvSpPr>
          <p:cNvPr id="4" name="Slide Number Placeholder 3">
            <a:extLst>
              <a:ext uri="{FF2B5EF4-FFF2-40B4-BE49-F238E27FC236}">
                <a16:creationId xmlns:a16="http://schemas.microsoft.com/office/drawing/2014/main" id="{EF2CB45B-0EFA-E063-E051-AA2D05A8F472}"/>
              </a:ext>
            </a:extLst>
          </p:cNvPr>
          <p:cNvSpPr>
            <a:spLocks noGrp="1"/>
          </p:cNvSpPr>
          <p:nvPr>
            <p:ph type="sldNum" sz="quarter" idx="12"/>
          </p:nvPr>
        </p:nvSpPr>
        <p:spPr/>
        <p:txBody>
          <a:bodyPr/>
          <a:lstStyle/>
          <a:p>
            <a:fld id="{CBABCCC1-BF11-4F37-963E-1BCD5B23FD72}" type="slidenum">
              <a:rPr lang="en-IN" smtClean="0"/>
              <a:pPr/>
              <a:t>24</a:t>
            </a:fld>
            <a:endParaRPr lang="en-IN"/>
          </a:p>
        </p:txBody>
      </p:sp>
    </p:spTree>
    <p:extLst>
      <p:ext uri="{BB962C8B-B14F-4D97-AF65-F5344CB8AC3E}">
        <p14:creationId xmlns:p14="http://schemas.microsoft.com/office/powerpoint/2010/main" val="1477291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6E685-0579-E143-7690-E893E319EA6F}"/>
              </a:ext>
            </a:extLst>
          </p:cNvPr>
          <p:cNvSpPr>
            <a:spLocks noGrp="1"/>
          </p:cNvSpPr>
          <p:nvPr>
            <p:ph type="title"/>
          </p:nvPr>
        </p:nvSpPr>
        <p:spPr>
          <a:xfrm>
            <a:off x="1451579" y="363651"/>
            <a:ext cx="9603275" cy="1049235"/>
          </a:xfrm>
        </p:spPr>
        <p:txBody>
          <a:bodyPr>
            <a:normAutofit fontScale="90000"/>
          </a:bodyPr>
          <a:lstStyle/>
          <a:p>
            <a:r>
              <a:rPr lang="en-IN" dirty="0" err="1"/>
              <a:t>Qos</a:t>
            </a:r>
            <a:r>
              <a:rPr lang="en-IN" dirty="0"/>
              <a:t> technique – integrated services</a:t>
            </a:r>
            <a:br>
              <a:rPr lang="en-IN" dirty="0"/>
            </a:br>
            <a:br>
              <a:rPr lang="en-IN" dirty="0"/>
            </a:br>
            <a:r>
              <a:rPr lang="en-US" altLang="en-US" dirty="0"/>
              <a:t>RSVP-The </a:t>
            </a:r>
            <a:r>
              <a:rPr lang="en-US" altLang="en-US" dirty="0" err="1"/>
              <a:t>ReSerVation</a:t>
            </a:r>
            <a:r>
              <a:rPr lang="en-US" altLang="en-US" dirty="0"/>
              <a:t> Protocol</a:t>
            </a:r>
            <a:endParaRPr lang="en-IN" dirty="0"/>
          </a:p>
        </p:txBody>
      </p:sp>
      <p:sp>
        <p:nvSpPr>
          <p:cNvPr id="4" name="Slide Number Placeholder 3">
            <a:extLst>
              <a:ext uri="{FF2B5EF4-FFF2-40B4-BE49-F238E27FC236}">
                <a16:creationId xmlns:a16="http://schemas.microsoft.com/office/drawing/2014/main" id="{E813F944-4EA9-E20B-C585-138C4A568D98}"/>
              </a:ext>
            </a:extLst>
          </p:cNvPr>
          <p:cNvSpPr>
            <a:spLocks noGrp="1"/>
          </p:cNvSpPr>
          <p:nvPr>
            <p:ph type="sldNum" sz="quarter" idx="12"/>
          </p:nvPr>
        </p:nvSpPr>
        <p:spPr/>
        <p:txBody>
          <a:bodyPr/>
          <a:lstStyle/>
          <a:p>
            <a:fld id="{CBABCCC1-BF11-4F37-963E-1BCD5B23FD72}" type="slidenum">
              <a:rPr lang="en-IN" smtClean="0"/>
              <a:pPr/>
              <a:t>25</a:t>
            </a:fld>
            <a:endParaRPr lang="en-IN"/>
          </a:p>
        </p:txBody>
      </p:sp>
      <p:pic>
        <p:nvPicPr>
          <p:cNvPr id="3" name="Picture 6" descr="5-37">
            <a:extLst>
              <a:ext uri="{FF2B5EF4-FFF2-40B4-BE49-F238E27FC236}">
                <a16:creationId xmlns:a16="http://schemas.microsoft.com/office/drawing/2014/main" id="{DCB13F96-784F-0C2F-4736-450405BCEF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6171" y="2015731"/>
            <a:ext cx="6670675" cy="3963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Content Placeholder 5">
            <a:extLst>
              <a:ext uri="{FF2B5EF4-FFF2-40B4-BE49-F238E27FC236}">
                <a16:creationId xmlns:a16="http://schemas.microsoft.com/office/drawing/2014/main" id="{6253E5CB-AF28-2B04-C578-912EE23DF934}"/>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071602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28D6C-D656-DD69-3733-0BECC0CF012C}"/>
              </a:ext>
            </a:extLst>
          </p:cNvPr>
          <p:cNvSpPr>
            <a:spLocks noGrp="1"/>
          </p:cNvSpPr>
          <p:nvPr>
            <p:ph type="title"/>
          </p:nvPr>
        </p:nvSpPr>
        <p:spPr>
          <a:xfrm>
            <a:off x="1451578" y="413159"/>
            <a:ext cx="9603275" cy="1049235"/>
          </a:xfrm>
        </p:spPr>
        <p:txBody>
          <a:bodyPr>
            <a:normAutofit fontScale="90000"/>
          </a:bodyPr>
          <a:lstStyle/>
          <a:p>
            <a:r>
              <a:rPr lang="en-IN" dirty="0" err="1"/>
              <a:t>Qos</a:t>
            </a:r>
            <a:r>
              <a:rPr lang="en-IN" dirty="0"/>
              <a:t> technique – integrated services</a:t>
            </a:r>
            <a:br>
              <a:rPr lang="en-IN" dirty="0"/>
            </a:br>
            <a:br>
              <a:rPr lang="en-IN" dirty="0"/>
            </a:br>
            <a:r>
              <a:rPr lang="en-US" altLang="en-US" dirty="0"/>
              <a:t>RSVP-The </a:t>
            </a:r>
            <a:r>
              <a:rPr lang="en-US" altLang="en-US" dirty="0" err="1"/>
              <a:t>ReSerVation</a:t>
            </a:r>
            <a:r>
              <a:rPr lang="en-US" altLang="en-US" dirty="0"/>
              <a:t> Protocol</a:t>
            </a:r>
            <a:endParaRPr lang="en-US" dirty="0"/>
          </a:p>
        </p:txBody>
      </p:sp>
      <p:sp>
        <p:nvSpPr>
          <p:cNvPr id="3" name="Content Placeholder 2">
            <a:extLst>
              <a:ext uri="{FF2B5EF4-FFF2-40B4-BE49-F238E27FC236}">
                <a16:creationId xmlns:a16="http://schemas.microsoft.com/office/drawing/2014/main" id="{C6167A0F-A98C-D90D-11EB-122A8619556A}"/>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67ABBD29-57B0-7637-42E7-ADC94B079A74}"/>
              </a:ext>
            </a:extLst>
          </p:cNvPr>
          <p:cNvSpPr>
            <a:spLocks noGrp="1"/>
          </p:cNvSpPr>
          <p:nvPr>
            <p:ph type="sldNum" sz="quarter" idx="12"/>
          </p:nvPr>
        </p:nvSpPr>
        <p:spPr/>
        <p:txBody>
          <a:bodyPr/>
          <a:lstStyle/>
          <a:p>
            <a:fld id="{CBABCCC1-BF11-4F37-963E-1BCD5B23FD72}" type="slidenum">
              <a:rPr lang="en-IN" smtClean="0"/>
              <a:pPr/>
              <a:t>26</a:t>
            </a:fld>
            <a:endParaRPr lang="en-IN"/>
          </a:p>
        </p:txBody>
      </p:sp>
      <p:pic>
        <p:nvPicPr>
          <p:cNvPr id="5" name="Picture 6" descr="5-38">
            <a:extLst>
              <a:ext uri="{FF2B5EF4-FFF2-40B4-BE49-F238E27FC236}">
                <a16:creationId xmlns:a16="http://schemas.microsoft.com/office/drawing/2014/main" id="{0677C2FD-60A9-A171-13C2-2ACC5D239A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7515" y="1952968"/>
            <a:ext cx="7842250" cy="410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70749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1772E2-F8C4-F616-8117-EC1CB935DC25}"/>
              </a:ext>
            </a:extLst>
          </p:cNvPr>
          <p:cNvSpPr>
            <a:spLocks noGrp="1"/>
          </p:cNvSpPr>
          <p:nvPr>
            <p:ph type="title"/>
          </p:nvPr>
        </p:nvSpPr>
        <p:spPr>
          <a:xfrm>
            <a:off x="1451579" y="490755"/>
            <a:ext cx="9603275" cy="1049235"/>
          </a:xfrm>
        </p:spPr>
        <p:txBody>
          <a:bodyPr>
            <a:normAutofit fontScale="90000"/>
          </a:bodyPr>
          <a:lstStyle/>
          <a:p>
            <a:r>
              <a:rPr lang="en-IN" dirty="0" err="1"/>
              <a:t>Qos</a:t>
            </a:r>
            <a:r>
              <a:rPr lang="en-IN" dirty="0"/>
              <a:t> technique – integrated services</a:t>
            </a:r>
            <a:br>
              <a:rPr lang="en-IN" dirty="0"/>
            </a:br>
            <a:br>
              <a:rPr lang="en-IN" dirty="0"/>
            </a:br>
            <a:r>
              <a:rPr lang="en-US" altLang="en-US" dirty="0"/>
              <a:t>RSVP-The </a:t>
            </a:r>
            <a:r>
              <a:rPr lang="en-US" altLang="en-US" dirty="0" err="1"/>
              <a:t>ReSerVation</a:t>
            </a:r>
            <a:r>
              <a:rPr lang="en-US" altLang="en-US" dirty="0"/>
              <a:t> Protocol</a:t>
            </a:r>
            <a:endParaRPr lang="en-IN" dirty="0"/>
          </a:p>
        </p:txBody>
      </p:sp>
      <p:sp>
        <p:nvSpPr>
          <p:cNvPr id="3" name="Content Placeholder 2">
            <a:extLst>
              <a:ext uri="{FF2B5EF4-FFF2-40B4-BE49-F238E27FC236}">
                <a16:creationId xmlns:a16="http://schemas.microsoft.com/office/drawing/2014/main" id="{D3B0AE2E-6811-2008-F235-FF57CE1E0E7F}"/>
              </a:ext>
            </a:extLst>
          </p:cNvPr>
          <p:cNvSpPr>
            <a:spLocks noGrp="1"/>
          </p:cNvSpPr>
          <p:nvPr>
            <p:ph idx="1"/>
          </p:nvPr>
        </p:nvSpPr>
        <p:spPr/>
        <p:txBody>
          <a:bodyPr>
            <a:normAutofit lnSpcReduction="10000"/>
          </a:bodyPr>
          <a:lstStyle/>
          <a:p>
            <a:r>
              <a:rPr lang="en-IN" dirty="0"/>
              <a:t>To get better reception and eliminate congestion, any of the receivers in a group can send a reservation message up the tree to the sender.</a:t>
            </a:r>
          </a:p>
          <a:p>
            <a:r>
              <a:rPr lang="en-IN" dirty="0"/>
              <a:t>The message is propagated using the reverse path forwarding algorithm.</a:t>
            </a:r>
          </a:p>
          <a:p>
            <a:r>
              <a:rPr lang="en-IN" dirty="0"/>
              <a:t>At each hop, the router notes the reservation and reserves the necessary bandwidth.</a:t>
            </a:r>
          </a:p>
          <a:p>
            <a:r>
              <a:rPr lang="en-IN" dirty="0"/>
              <a:t>If insufficient bandwidth is available, it reports back failure.</a:t>
            </a:r>
          </a:p>
          <a:p>
            <a:r>
              <a:rPr lang="en-IN" dirty="0"/>
              <a:t>By the time the message gets back to the source, bandwidth has been reserved all the way from the sender to the receiver making the reservation request along the spanning tree.</a:t>
            </a:r>
          </a:p>
          <a:p>
            <a:endParaRPr lang="en-IN" dirty="0"/>
          </a:p>
        </p:txBody>
      </p:sp>
      <p:sp>
        <p:nvSpPr>
          <p:cNvPr id="4" name="Slide Number Placeholder 3">
            <a:extLst>
              <a:ext uri="{FF2B5EF4-FFF2-40B4-BE49-F238E27FC236}">
                <a16:creationId xmlns:a16="http://schemas.microsoft.com/office/drawing/2014/main" id="{2B53C618-D73F-0F88-0A0F-7AA66926D8CB}"/>
              </a:ext>
            </a:extLst>
          </p:cNvPr>
          <p:cNvSpPr>
            <a:spLocks noGrp="1"/>
          </p:cNvSpPr>
          <p:nvPr>
            <p:ph type="sldNum" sz="quarter" idx="12"/>
          </p:nvPr>
        </p:nvSpPr>
        <p:spPr/>
        <p:txBody>
          <a:bodyPr/>
          <a:lstStyle/>
          <a:p>
            <a:fld id="{CBABCCC1-BF11-4F37-963E-1BCD5B23FD72}" type="slidenum">
              <a:rPr lang="en-IN" smtClean="0"/>
              <a:pPr/>
              <a:t>27</a:t>
            </a:fld>
            <a:endParaRPr lang="en-IN"/>
          </a:p>
        </p:txBody>
      </p:sp>
    </p:spTree>
    <p:extLst>
      <p:ext uri="{BB962C8B-B14F-4D97-AF65-F5344CB8AC3E}">
        <p14:creationId xmlns:p14="http://schemas.microsoft.com/office/powerpoint/2010/main" val="3238714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40677-549E-EC92-D813-758CEABD839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50D200C-465F-3BE7-82AA-7AA95F455FB8}"/>
              </a:ext>
            </a:extLst>
          </p:cNvPr>
          <p:cNvSpPr>
            <a:spLocks noGrp="1"/>
          </p:cNvSpPr>
          <p:nvPr>
            <p:ph idx="1"/>
          </p:nvPr>
        </p:nvSpPr>
        <p:spPr>
          <a:xfrm>
            <a:off x="1472789" y="2602868"/>
            <a:ext cx="9603275" cy="3450613"/>
          </a:xfrm>
        </p:spPr>
        <p:txBody>
          <a:bodyPr>
            <a:normAutofit/>
          </a:bodyPr>
          <a:lstStyle/>
          <a:p>
            <a:pPr marL="0" indent="0" algn="ctr">
              <a:buNone/>
            </a:pPr>
            <a:r>
              <a:rPr lang="en-US" sz="6600" dirty="0"/>
              <a:t>Differentiated Services</a:t>
            </a:r>
          </a:p>
        </p:txBody>
      </p:sp>
      <p:sp>
        <p:nvSpPr>
          <p:cNvPr id="4" name="Slide Number Placeholder 3">
            <a:extLst>
              <a:ext uri="{FF2B5EF4-FFF2-40B4-BE49-F238E27FC236}">
                <a16:creationId xmlns:a16="http://schemas.microsoft.com/office/drawing/2014/main" id="{236543C7-229C-8E06-34C9-81C52D5BF57A}"/>
              </a:ext>
            </a:extLst>
          </p:cNvPr>
          <p:cNvSpPr>
            <a:spLocks noGrp="1"/>
          </p:cNvSpPr>
          <p:nvPr>
            <p:ph type="sldNum" sz="quarter" idx="12"/>
          </p:nvPr>
        </p:nvSpPr>
        <p:spPr/>
        <p:txBody>
          <a:bodyPr/>
          <a:lstStyle/>
          <a:p>
            <a:fld id="{CBABCCC1-BF11-4F37-963E-1BCD5B23FD72}" type="slidenum">
              <a:rPr lang="en-IN" smtClean="0"/>
              <a:pPr/>
              <a:t>28</a:t>
            </a:fld>
            <a:endParaRPr lang="en-IN"/>
          </a:p>
        </p:txBody>
      </p:sp>
    </p:spTree>
    <p:extLst>
      <p:ext uri="{BB962C8B-B14F-4D97-AF65-F5344CB8AC3E}">
        <p14:creationId xmlns:p14="http://schemas.microsoft.com/office/powerpoint/2010/main" val="22138555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6A1A-2F39-5198-AF30-4C4B113FA6B3}"/>
              </a:ext>
            </a:extLst>
          </p:cNvPr>
          <p:cNvSpPr>
            <a:spLocks noGrp="1"/>
          </p:cNvSpPr>
          <p:nvPr>
            <p:ph type="title"/>
          </p:nvPr>
        </p:nvSpPr>
        <p:spPr/>
        <p:txBody>
          <a:bodyPr/>
          <a:lstStyle/>
          <a:p>
            <a:r>
              <a:rPr lang="en-IN" dirty="0" err="1"/>
              <a:t>Qos</a:t>
            </a:r>
            <a:r>
              <a:rPr lang="en-IN" dirty="0"/>
              <a:t> technique – differentiated services</a:t>
            </a:r>
          </a:p>
        </p:txBody>
      </p:sp>
      <p:sp>
        <p:nvSpPr>
          <p:cNvPr id="3" name="Content Placeholder 2">
            <a:extLst>
              <a:ext uri="{FF2B5EF4-FFF2-40B4-BE49-F238E27FC236}">
                <a16:creationId xmlns:a16="http://schemas.microsoft.com/office/drawing/2014/main" id="{16DCC7DE-93FA-58FE-188B-A1F9C488F260}"/>
              </a:ext>
            </a:extLst>
          </p:cNvPr>
          <p:cNvSpPr>
            <a:spLocks noGrp="1"/>
          </p:cNvSpPr>
          <p:nvPr>
            <p:ph idx="1"/>
          </p:nvPr>
        </p:nvSpPr>
        <p:spPr/>
        <p:txBody>
          <a:bodyPr>
            <a:normAutofit fontScale="92500" lnSpcReduction="10000"/>
          </a:bodyPr>
          <a:lstStyle/>
          <a:p>
            <a:r>
              <a:rPr lang="en-IN" dirty="0"/>
              <a:t>Flow-based algorithms have the potential to offer good QOS to one or more flows because they reserve whatever resources are needed along the route.</a:t>
            </a:r>
          </a:p>
          <a:p>
            <a:r>
              <a:rPr lang="en-IN" dirty="0"/>
              <a:t>They require an advanced set up to establish each flow, something that does not scale well when there are thousands or millions of flows.</a:t>
            </a:r>
          </a:p>
          <a:p>
            <a:r>
              <a:rPr lang="en-IN" dirty="0"/>
              <a:t>For these reasons, a simpler approach is devised for QOS, one that can be largely implemented locally in each router without advance setup and without having the whole path involved.</a:t>
            </a:r>
          </a:p>
          <a:p>
            <a:r>
              <a:rPr lang="en-IN" dirty="0"/>
              <a:t>This approach is known as </a:t>
            </a:r>
            <a:r>
              <a:rPr lang="en-IN" b="1" dirty="0"/>
              <a:t>class-based</a:t>
            </a:r>
            <a:r>
              <a:rPr lang="en-IN" dirty="0"/>
              <a:t> QOS and the architecture is called </a:t>
            </a:r>
            <a:r>
              <a:rPr lang="en-IN" b="1" dirty="0"/>
              <a:t>differentiated services.</a:t>
            </a:r>
          </a:p>
          <a:p>
            <a:endParaRPr lang="en-IN" dirty="0"/>
          </a:p>
        </p:txBody>
      </p:sp>
      <p:sp>
        <p:nvSpPr>
          <p:cNvPr id="4" name="Slide Number Placeholder 3">
            <a:extLst>
              <a:ext uri="{FF2B5EF4-FFF2-40B4-BE49-F238E27FC236}">
                <a16:creationId xmlns:a16="http://schemas.microsoft.com/office/drawing/2014/main" id="{71FA24C4-40F3-0FB5-A27E-90F6A38F7E98}"/>
              </a:ext>
            </a:extLst>
          </p:cNvPr>
          <p:cNvSpPr>
            <a:spLocks noGrp="1"/>
          </p:cNvSpPr>
          <p:nvPr>
            <p:ph type="sldNum" sz="quarter" idx="12"/>
          </p:nvPr>
        </p:nvSpPr>
        <p:spPr/>
        <p:txBody>
          <a:bodyPr/>
          <a:lstStyle/>
          <a:p>
            <a:fld id="{CBABCCC1-BF11-4F37-963E-1BCD5B23FD72}" type="slidenum">
              <a:rPr lang="en-IN" smtClean="0"/>
              <a:pPr/>
              <a:t>29</a:t>
            </a:fld>
            <a:endParaRPr lang="en-IN"/>
          </a:p>
        </p:txBody>
      </p:sp>
    </p:spTree>
    <p:extLst>
      <p:ext uri="{BB962C8B-B14F-4D97-AF65-F5344CB8AC3E}">
        <p14:creationId xmlns:p14="http://schemas.microsoft.com/office/powerpoint/2010/main" val="105807302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930B3-C179-63C7-0826-81A84FD63680}"/>
              </a:ext>
            </a:extLst>
          </p:cNvPr>
          <p:cNvSpPr>
            <a:spLocks noGrp="1"/>
          </p:cNvSpPr>
          <p:nvPr>
            <p:ph type="title"/>
          </p:nvPr>
        </p:nvSpPr>
        <p:spPr/>
        <p:txBody>
          <a:bodyPr/>
          <a:lstStyle/>
          <a:p>
            <a:r>
              <a:rPr lang="en-IN" dirty="0" err="1"/>
              <a:t>Qos</a:t>
            </a:r>
            <a:r>
              <a:rPr lang="en-IN" dirty="0"/>
              <a:t> technique – differentiated services</a:t>
            </a:r>
          </a:p>
        </p:txBody>
      </p:sp>
      <p:sp>
        <p:nvSpPr>
          <p:cNvPr id="3" name="Content Placeholder 2">
            <a:extLst>
              <a:ext uri="{FF2B5EF4-FFF2-40B4-BE49-F238E27FC236}">
                <a16:creationId xmlns:a16="http://schemas.microsoft.com/office/drawing/2014/main" id="{F9FF0997-4E3B-D5E9-408C-FC93FF1615FC}"/>
              </a:ext>
            </a:extLst>
          </p:cNvPr>
          <p:cNvSpPr>
            <a:spLocks noGrp="1"/>
          </p:cNvSpPr>
          <p:nvPr>
            <p:ph sz="half" idx="1"/>
          </p:nvPr>
        </p:nvSpPr>
        <p:spPr>
          <a:xfrm>
            <a:off x="1447331" y="2010878"/>
            <a:ext cx="9605634" cy="2344604"/>
          </a:xfrm>
        </p:spPr>
        <p:txBody>
          <a:bodyPr>
            <a:normAutofit fontScale="77500" lnSpcReduction="20000"/>
          </a:bodyPr>
          <a:lstStyle/>
          <a:p>
            <a:r>
              <a:rPr lang="en-IN" b="1" dirty="0"/>
              <a:t>Expedited forwarding:</a:t>
            </a:r>
          </a:p>
          <a:p>
            <a:r>
              <a:rPr lang="en-IN" dirty="0"/>
              <a:t>The choice of service classes is up to each operator, but since packets are often forwarded between subnets run by different operators, IETF(Internet Engineering Task Force) is working on defining network independent service classes.</a:t>
            </a:r>
          </a:p>
          <a:p>
            <a:r>
              <a:rPr lang="en-IN" dirty="0"/>
              <a:t>The simplest class is </a:t>
            </a:r>
            <a:r>
              <a:rPr lang="en-IN" b="1" dirty="0"/>
              <a:t>expedited forwarding</a:t>
            </a:r>
            <a:r>
              <a:rPr lang="en-IN" dirty="0"/>
              <a:t>.</a:t>
            </a:r>
          </a:p>
          <a:p>
            <a:r>
              <a:rPr lang="en-IN" dirty="0"/>
              <a:t>Two classes of service are available: regular and expedited</a:t>
            </a:r>
          </a:p>
          <a:p>
            <a:r>
              <a:rPr lang="en-IN" dirty="0"/>
              <a:t>The vast majority of the traffic is expected to be regular, but a small fraction of the packets are expedited.</a:t>
            </a:r>
          </a:p>
          <a:p>
            <a:endParaRPr lang="en-IN" dirty="0"/>
          </a:p>
        </p:txBody>
      </p:sp>
      <p:sp>
        <p:nvSpPr>
          <p:cNvPr id="5" name="Slide Number Placeholder 4">
            <a:extLst>
              <a:ext uri="{FF2B5EF4-FFF2-40B4-BE49-F238E27FC236}">
                <a16:creationId xmlns:a16="http://schemas.microsoft.com/office/drawing/2014/main" id="{52556AC7-E618-D6F8-D43A-4C8500CE517B}"/>
              </a:ext>
            </a:extLst>
          </p:cNvPr>
          <p:cNvSpPr>
            <a:spLocks noGrp="1"/>
          </p:cNvSpPr>
          <p:nvPr>
            <p:ph type="sldNum" sz="quarter" idx="12"/>
          </p:nvPr>
        </p:nvSpPr>
        <p:spPr/>
        <p:txBody>
          <a:bodyPr/>
          <a:lstStyle/>
          <a:p>
            <a:fld id="{CBABCCC1-BF11-4F37-963E-1BCD5B23FD72}" type="slidenum">
              <a:rPr lang="en-IN" smtClean="0"/>
              <a:pPr/>
              <a:t>30</a:t>
            </a:fld>
            <a:endParaRPr lang="en-IN"/>
          </a:p>
        </p:txBody>
      </p:sp>
      <p:sp>
        <p:nvSpPr>
          <p:cNvPr id="9" name="Rectangle 3">
            <a:extLst>
              <a:ext uri="{FF2B5EF4-FFF2-40B4-BE49-F238E27FC236}">
                <a16:creationId xmlns:a16="http://schemas.microsoft.com/office/drawing/2014/main" id="{85478126-7F6E-944E-273D-49A17A0D371D}"/>
              </a:ext>
            </a:extLst>
          </p:cNvPr>
          <p:cNvSpPr txBox="1">
            <a:spLocks/>
          </p:cNvSpPr>
          <p:nvPr/>
        </p:nvSpPr>
        <p:spPr>
          <a:xfrm>
            <a:off x="457200" y="1639888"/>
            <a:ext cx="8229600" cy="452596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algn="ctr">
              <a:buFontTx/>
              <a:buNone/>
            </a:pPr>
            <a:endParaRPr lang="en-US" altLang="en-US" dirty="0"/>
          </a:p>
        </p:txBody>
      </p:sp>
    </p:spTree>
    <p:extLst>
      <p:ext uri="{BB962C8B-B14F-4D97-AF65-F5344CB8AC3E}">
        <p14:creationId xmlns:p14="http://schemas.microsoft.com/office/powerpoint/2010/main" val="30233433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9C9FFE9C-4CA5-B44B-E520-286C42F1EA3A}"/>
              </a:ext>
            </a:extLst>
          </p:cNvPr>
          <p:cNvSpPr>
            <a:spLocks noGrp="1"/>
          </p:cNvSpPr>
          <p:nvPr>
            <p:ph type="title"/>
          </p:nvPr>
        </p:nvSpPr>
        <p:spPr>
          <a:xfrm>
            <a:off x="1409376" y="533699"/>
            <a:ext cx="9603275" cy="1049235"/>
          </a:xfrm>
        </p:spPr>
        <p:txBody>
          <a:bodyPr>
            <a:normAutofit fontScale="90000"/>
          </a:bodyPr>
          <a:lstStyle/>
          <a:p>
            <a:pPr eaLnBrk="1" hangingPunct="1"/>
            <a:r>
              <a:rPr lang="en-IN" dirty="0" err="1"/>
              <a:t>Qos</a:t>
            </a:r>
            <a:r>
              <a:rPr lang="en-IN" dirty="0"/>
              <a:t> technique – differentiated services</a:t>
            </a:r>
            <a:br>
              <a:rPr lang="en-IN" dirty="0"/>
            </a:br>
            <a:br>
              <a:rPr lang="en-IN" dirty="0"/>
            </a:br>
            <a:r>
              <a:rPr lang="en-US" altLang="en-US" dirty="0"/>
              <a:t>Expedited Forwarding</a:t>
            </a:r>
          </a:p>
        </p:txBody>
      </p:sp>
      <p:sp>
        <p:nvSpPr>
          <p:cNvPr id="27651" name="Rectangle 3">
            <a:extLst>
              <a:ext uri="{FF2B5EF4-FFF2-40B4-BE49-F238E27FC236}">
                <a16:creationId xmlns:a16="http://schemas.microsoft.com/office/drawing/2014/main" id="{670BE288-55CE-2D93-41B5-3B46B3C9CE4C}"/>
              </a:ext>
            </a:extLst>
          </p:cNvPr>
          <p:cNvSpPr>
            <a:spLocks noGrp="1"/>
          </p:cNvSpPr>
          <p:nvPr>
            <p:ph type="body" idx="1"/>
          </p:nvPr>
        </p:nvSpPr>
        <p:spPr>
          <a:xfrm>
            <a:off x="1981200" y="2160392"/>
            <a:ext cx="8229600" cy="4525962"/>
          </a:xfrm>
        </p:spPr>
        <p:txBody>
          <a:bodyPr/>
          <a:lstStyle/>
          <a:p>
            <a:pPr algn="ctr" eaLnBrk="1" hangingPunct="1">
              <a:buFontTx/>
              <a:buNone/>
            </a:pPr>
            <a:r>
              <a:rPr lang="en-US" altLang="en-US" dirty="0"/>
              <a:t>Expedited packets experience a traffic-free network.</a:t>
            </a:r>
          </a:p>
        </p:txBody>
      </p:sp>
      <p:pic>
        <p:nvPicPr>
          <p:cNvPr id="27652" name="Picture 5" descr="5-39">
            <a:extLst>
              <a:ext uri="{FF2B5EF4-FFF2-40B4-BE49-F238E27FC236}">
                <a16:creationId xmlns:a16="http://schemas.microsoft.com/office/drawing/2014/main" id="{284B9D08-041F-CF55-1CA0-F92D233A0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889" y="2895600"/>
            <a:ext cx="7896225" cy="247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04D23-B04B-28D4-A685-AA96AB63EAD4}"/>
              </a:ext>
            </a:extLst>
          </p:cNvPr>
          <p:cNvSpPr>
            <a:spLocks noGrp="1"/>
          </p:cNvSpPr>
          <p:nvPr>
            <p:ph type="title"/>
          </p:nvPr>
        </p:nvSpPr>
        <p:spPr>
          <a:xfrm>
            <a:off x="1451578" y="526107"/>
            <a:ext cx="9603275" cy="1049235"/>
          </a:xfrm>
        </p:spPr>
        <p:txBody>
          <a:bodyPr>
            <a:normAutofit fontScale="90000"/>
          </a:bodyPr>
          <a:lstStyle/>
          <a:p>
            <a:r>
              <a:rPr lang="en-IN" dirty="0" err="1"/>
              <a:t>Qos</a:t>
            </a:r>
            <a:r>
              <a:rPr lang="en-IN" dirty="0"/>
              <a:t> technique – differentiated services</a:t>
            </a:r>
            <a:br>
              <a:rPr lang="en-IN" dirty="0"/>
            </a:br>
            <a:br>
              <a:rPr lang="en-IN" dirty="0"/>
            </a:br>
            <a:r>
              <a:rPr lang="en-IN" dirty="0"/>
              <a:t>Assured forwarding:</a:t>
            </a:r>
            <a:br>
              <a:rPr lang="en-IN" dirty="0"/>
            </a:br>
            <a:endParaRPr lang="en-IN" dirty="0"/>
          </a:p>
        </p:txBody>
      </p:sp>
      <p:sp>
        <p:nvSpPr>
          <p:cNvPr id="3" name="Content Placeholder 2">
            <a:extLst>
              <a:ext uri="{FF2B5EF4-FFF2-40B4-BE49-F238E27FC236}">
                <a16:creationId xmlns:a16="http://schemas.microsoft.com/office/drawing/2014/main" id="{4765D6E0-0EB2-DD29-E389-1DC4CD81A21F}"/>
              </a:ext>
            </a:extLst>
          </p:cNvPr>
          <p:cNvSpPr>
            <a:spLocks noGrp="1"/>
          </p:cNvSpPr>
          <p:nvPr>
            <p:ph idx="1"/>
          </p:nvPr>
        </p:nvSpPr>
        <p:spPr>
          <a:xfrm>
            <a:off x="1451579" y="1997070"/>
            <a:ext cx="9603275" cy="3450613"/>
          </a:xfrm>
        </p:spPr>
        <p:txBody>
          <a:bodyPr/>
          <a:lstStyle/>
          <a:p>
            <a:r>
              <a:rPr lang="en-IN" b="1" dirty="0"/>
              <a:t>Assured forwarding:</a:t>
            </a:r>
          </a:p>
          <a:p>
            <a:r>
              <a:rPr lang="en-IN" dirty="0"/>
              <a:t>A somewhat more elaborate scheme for managing the service classes is called assured forwarding.</a:t>
            </a:r>
          </a:p>
          <a:p>
            <a:r>
              <a:rPr lang="en-IN" dirty="0"/>
              <a:t>It specifies that there shall be four priority classes, each class having its own resources.</a:t>
            </a:r>
          </a:p>
          <a:p>
            <a:r>
              <a:rPr lang="en-IN" dirty="0"/>
              <a:t>In addition, it defines three discard probabilities for packets that are undergoing congestion: low, medium and high.</a:t>
            </a:r>
          </a:p>
          <a:p>
            <a:r>
              <a:rPr lang="en-IN" dirty="0"/>
              <a:t>Taken together, these two factors defines 12 service classes.</a:t>
            </a:r>
          </a:p>
        </p:txBody>
      </p:sp>
      <p:sp>
        <p:nvSpPr>
          <p:cNvPr id="4" name="Slide Number Placeholder 3">
            <a:extLst>
              <a:ext uri="{FF2B5EF4-FFF2-40B4-BE49-F238E27FC236}">
                <a16:creationId xmlns:a16="http://schemas.microsoft.com/office/drawing/2014/main" id="{D10F2898-6FA9-0A7A-67AA-999E18E02199}"/>
              </a:ext>
            </a:extLst>
          </p:cNvPr>
          <p:cNvSpPr>
            <a:spLocks noGrp="1"/>
          </p:cNvSpPr>
          <p:nvPr>
            <p:ph type="sldNum" sz="quarter" idx="12"/>
          </p:nvPr>
        </p:nvSpPr>
        <p:spPr/>
        <p:txBody>
          <a:bodyPr/>
          <a:lstStyle/>
          <a:p>
            <a:fld id="{CBABCCC1-BF11-4F37-963E-1BCD5B23FD72}" type="slidenum">
              <a:rPr lang="en-IN" smtClean="0"/>
              <a:pPr/>
              <a:t>32</a:t>
            </a:fld>
            <a:endParaRPr lang="en-IN"/>
          </a:p>
        </p:txBody>
      </p:sp>
    </p:spTree>
    <p:extLst>
      <p:ext uri="{BB962C8B-B14F-4D97-AF65-F5344CB8AC3E}">
        <p14:creationId xmlns:p14="http://schemas.microsoft.com/office/powerpoint/2010/main" val="9208061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9137E-777F-E1F5-2B87-6B81EB5F50F7}"/>
              </a:ext>
            </a:extLst>
          </p:cNvPr>
          <p:cNvSpPr>
            <a:spLocks noGrp="1"/>
          </p:cNvSpPr>
          <p:nvPr>
            <p:ph type="title"/>
          </p:nvPr>
        </p:nvSpPr>
        <p:spPr>
          <a:xfrm>
            <a:off x="1451578" y="491792"/>
            <a:ext cx="9603275" cy="1049235"/>
          </a:xfrm>
        </p:spPr>
        <p:txBody>
          <a:bodyPr>
            <a:normAutofit fontScale="90000"/>
          </a:bodyPr>
          <a:lstStyle/>
          <a:p>
            <a:r>
              <a:rPr lang="en-IN" dirty="0" err="1"/>
              <a:t>Qos</a:t>
            </a:r>
            <a:r>
              <a:rPr lang="en-IN" dirty="0"/>
              <a:t> technique – differentiated services</a:t>
            </a:r>
            <a:br>
              <a:rPr lang="en-IN" dirty="0"/>
            </a:br>
            <a:br>
              <a:rPr lang="en-IN" dirty="0"/>
            </a:br>
            <a:r>
              <a:rPr lang="en-IN" dirty="0"/>
              <a:t>Assured forwarding:</a:t>
            </a:r>
            <a:br>
              <a:rPr lang="en-IN" dirty="0"/>
            </a:br>
            <a:endParaRPr lang="en-IN" dirty="0"/>
          </a:p>
        </p:txBody>
      </p:sp>
      <p:sp>
        <p:nvSpPr>
          <p:cNvPr id="3" name="Content Placeholder 2">
            <a:extLst>
              <a:ext uri="{FF2B5EF4-FFF2-40B4-BE49-F238E27FC236}">
                <a16:creationId xmlns:a16="http://schemas.microsoft.com/office/drawing/2014/main" id="{FE430A2A-889B-6766-EC11-252E3C68BBCA}"/>
              </a:ext>
            </a:extLst>
          </p:cNvPr>
          <p:cNvSpPr>
            <a:spLocks noGrp="1"/>
          </p:cNvSpPr>
          <p:nvPr>
            <p:ph idx="1"/>
          </p:nvPr>
        </p:nvSpPr>
        <p:spPr/>
        <p:txBody>
          <a:bodyPr/>
          <a:lstStyle/>
          <a:p>
            <a:r>
              <a:rPr lang="en-IN" b="1" dirty="0"/>
              <a:t>Assured forwarding:</a:t>
            </a:r>
          </a:p>
          <a:p>
            <a:endParaRPr lang="en-IN" dirty="0"/>
          </a:p>
        </p:txBody>
      </p:sp>
      <p:sp>
        <p:nvSpPr>
          <p:cNvPr id="4" name="Slide Number Placeholder 3">
            <a:extLst>
              <a:ext uri="{FF2B5EF4-FFF2-40B4-BE49-F238E27FC236}">
                <a16:creationId xmlns:a16="http://schemas.microsoft.com/office/drawing/2014/main" id="{5055C334-43BC-81A4-831C-426D46E7BE4F}"/>
              </a:ext>
            </a:extLst>
          </p:cNvPr>
          <p:cNvSpPr>
            <a:spLocks noGrp="1"/>
          </p:cNvSpPr>
          <p:nvPr>
            <p:ph type="sldNum" sz="quarter" idx="12"/>
          </p:nvPr>
        </p:nvSpPr>
        <p:spPr/>
        <p:txBody>
          <a:bodyPr/>
          <a:lstStyle/>
          <a:p>
            <a:fld id="{CBABCCC1-BF11-4F37-963E-1BCD5B23FD72}" type="slidenum">
              <a:rPr lang="en-IN" smtClean="0"/>
              <a:pPr/>
              <a:t>33</a:t>
            </a:fld>
            <a:endParaRPr lang="en-IN"/>
          </a:p>
        </p:txBody>
      </p:sp>
      <p:pic>
        <p:nvPicPr>
          <p:cNvPr id="5" name="Picture 5" descr="5-40">
            <a:extLst>
              <a:ext uri="{FF2B5EF4-FFF2-40B4-BE49-F238E27FC236}">
                <a16:creationId xmlns:a16="http://schemas.microsoft.com/office/drawing/2014/main" id="{62640FCC-56C8-F5B8-0870-2BFEC7C4B5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1959" y="2678548"/>
            <a:ext cx="7866063" cy="263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D7B0A392-71D9-1092-4767-06F91896504F}"/>
              </a:ext>
            </a:extLst>
          </p:cNvPr>
          <p:cNvSpPr txBox="1"/>
          <p:nvPr/>
        </p:nvSpPr>
        <p:spPr>
          <a:xfrm>
            <a:off x="3201588" y="5407150"/>
            <a:ext cx="6103256" cy="646331"/>
          </a:xfrm>
          <a:prstGeom prst="rect">
            <a:avLst/>
          </a:prstGeom>
          <a:noFill/>
        </p:spPr>
        <p:txBody>
          <a:bodyPr wrap="square">
            <a:spAutoFit/>
          </a:bodyPr>
          <a:lstStyle/>
          <a:p>
            <a:pPr algn="ctr" eaLnBrk="1" hangingPunct="1">
              <a:buFontTx/>
              <a:buNone/>
            </a:pPr>
            <a:r>
              <a:rPr lang="en-US" altLang="en-US" dirty="0"/>
              <a:t>A possible implementation of the data flow for assured forwarding.</a:t>
            </a:r>
          </a:p>
        </p:txBody>
      </p:sp>
    </p:spTree>
    <p:extLst>
      <p:ext uri="{BB962C8B-B14F-4D97-AF65-F5344CB8AC3E}">
        <p14:creationId xmlns:p14="http://schemas.microsoft.com/office/powerpoint/2010/main" val="757188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70ED2-421C-8ABF-201A-D52E18EDD070}"/>
              </a:ext>
            </a:extLst>
          </p:cNvPr>
          <p:cNvSpPr>
            <a:spLocks noGrp="1"/>
          </p:cNvSpPr>
          <p:nvPr>
            <p:ph type="title"/>
          </p:nvPr>
        </p:nvSpPr>
        <p:spPr>
          <a:xfrm>
            <a:off x="1451578" y="604386"/>
            <a:ext cx="9603275" cy="1049235"/>
          </a:xfrm>
        </p:spPr>
        <p:txBody>
          <a:bodyPr>
            <a:normAutofit fontScale="90000"/>
          </a:bodyPr>
          <a:lstStyle/>
          <a:p>
            <a:r>
              <a:rPr lang="en-IN" dirty="0" err="1"/>
              <a:t>Qos</a:t>
            </a:r>
            <a:r>
              <a:rPr lang="en-IN" dirty="0"/>
              <a:t> technique – differentiated services</a:t>
            </a:r>
            <a:br>
              <a:rPr lang="en-IN" dirty="0"/>
            </a:br>
            <a:br>
              <a:rPr lang="en-IN" dirty="0"/>
            </a:br>
            <a:r>
              <a:rPr lang="en-IN" dirty="0"/>
              <a:t>Assured forwarding:</a:t>
            </a:r>
            <a:br>
              <a:rPr lang="en-IN" dirty="0"/>
            </a:br>
            <a:endParaRPr lang="en-IN" dirty="0"/>
          </a:p>
        </p:txBody>
      </p:sp>
      <p:sp>
        <p:nvSpPr>
          <p:cNvPr id="3" name="Content Placeholder 2">
            <a:extLst>
              <a:ext uri="{FF2B5EF4-FFF2-40B4-BE49-F238E27FC236}">
                <a16:creationId xmlns:a16="http://schemas.microsoft.com/office/drawing/2014/main" id="{D97E9367-D4E8-9ACF-80C5-343279C47D66}"/>
              </a:ext>
            </a:extLst>
          </p:cNvPr>
          <p:cNvSpPr>
            <a:spLocks noGrp="1"/>
          </p:cNvSpPr>
          <p:nvPr>
            <p:ph idx="1"/>
          </p:nvPr>
        </p:nvSpPr>
        <p:spPr>
          <a:xfrm>
            <a:off x="1451579" y="2015732"/>
            <a:ext cx="9603275" cy="3713264"/>
          </a:xfrm>
        </p:spPr>
        <p:txBody>
          <a:bodyPr>
            <a:normAutofit fontScale="92500" lnSpcReduction="20000"/>
          </a:bodyPr>
          <a:lstStyle/>
          <a:p>
            <a:r>
              <a:rPr lang="en-IN" dirty="0"/>
              <a:t>Step-1 is to classify the packets into one of the four priority classes.</a:t>
            </a:r>
          </a:p>
          <a:p>
            <a:r>
              <a:rPr lang="en-IN" dirty="0"/>
              <a:t>This step might be done on the sending host or in the ingress router.</a:t>
            </a:r>
          </a:p>
          <a:p>
            <a:r>
              <a:rPr lang="en-IN" dirty="0"/>
              <a:t>The advantage of doing classification on the sending host is that more information is available about which packets belong to which flows there.</a:t>
            </a:r>
          </a:p>
          <a:p>
            <a:r>
              <a:rPr lang="en-IN" dirty="0"/>
              <a:t>Step-2 is to mark the packets according to their class. A header field is needed for this purpose.</a:t>
            </a:r>
          </a:p>
          <a:p>
            <a:r>
              <a:rPr lang="en-IN" dirty="0"/>
              <a:t>Step-3 is to pass the packets through a shaper/dropper filter that may delay or drop some of them to shape the four streams into acceptable forms, for example, by using leaky or token buckets.</a:t>
            </a:r>
          </a:p>
          <a:p>
            <a:r>
              <a:rPr lang="en-IN" dirty="0"/>
              <a:t>If there are too many packets, some of them may be discarded here, by discard category.</a:t>
            </a:r>
          </a:p>
        </p:txBody>
      </p:sp>
      <p:sp>
        <p:nvSpPr>
          <p:cNvPr id="4" name="Slide Number Placeholder 3">
            <a:extLst>
              <a:ext uri="{FF2B5EF4-FFF2-40B4-BE49-F238E27FC236}">
                <a16:creationId xmlns:a16="http://schemas.microsoft.com/office/drawing/2014/main" id="{E9848861-E4B0-8CB1-A023-BEE1F145382E}"/>
              </a:ext>
            </a:extLst>
          </p:cNvPr>
          <p:cNvSpPr>
            <a:spLocks noGrp="1"/>
          </p:cNvSpPr>
          <p:nvPr>
            <p:ph type="sldNum" sz="quarter" idx="12"/>
          </p:nvPr>
        </p:nvSpPr>
        <p:spPr/>
        <p:txBody>
          <a:bodyPr/>
          <a:lstStyle/>
          <a:p>
            <a:fld id="{CBABCCC1-BF11-4F37-963E-1BCD5B23FD72}" type="slidenum">
              <a:rPr lang="en-IN" smtClean="0"/>
              <a:pPr/>
              <a:t>34</a:t>
            </a:fld>
            <a:endParaRPr lang="en-IN"/>
          </a:p>
        </p:txBody>
      </p:sp>
    </p:spTree>
    <p:extLst>
      <p:ext uri="{BB962C8B-B14F-4D97-AF65-F5344CB8AC3E}">
        <p14:creationId xmlns:p14="http://schemas.microsoft.com/office/powerpoint/2010/main" val="37542108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5E08B-AB6F-9949-3996-71048D030D00}"/>
              </a:ext>
            </a:extLst>
          </p:cNvPr>
          <p:cNvSpPr>
            <a:spLocks noGrp="1"/>
          </p:cNvSpPr>
          <p:nvPr>
            <p:ph type="title"/>
          </p:nvPr>
        </p:nvSpPr>
        <p:spPr/>
        <p:txBody>
          <a:bodyPr>
            <a:normAutofit/>
          </a:bodyPr>
          <a:lstStyle/>
          <a:p>
            <a:pPr algn="ctr"/>
            <a:r>
              <a:rPr lang="en-US" sz="3000" b="1" dirty="0">
                <a:solidFill>
                  <a:srgbClr val="C00000"/>
                </a:solidFill>
                <a:latin typeface="Times New Roman" panose="02020603050405020304" pitchFamily="18" charset="0"/>
                <a:ea typeface="+mn-ea"/>
                <a:cs typeface="Times New Roman" panose="02020603050405020304" pitchFamily="18" charset="0"/>
              </a:rPr>
              <a:t>REFERENCES FOR FURTHER LEARNING OF THE SESSION</a:t>
            </a:r>
            <a:endParaRPr lang="en-IN" sz="3000" b="1" dirty="0">
              <a:solidFill>
                <a:srgbClr val="C00000"/>
              </a:solidFill>
              <a:latin typeface="Times New Roman" panose="02020603050405020304" pitchFamily="18" charset="0"/>
              <a:ea typeface="+mn-ea"/>
              <a:cs typeface="Times New Roman" panose="02020603050405020304" pitchFamily="18" charset="0"/>
            </a:endParaRPr>
          </a:p>
        </p:txBody>
      </p:sp>
      <p:sp>
        <p:nvSpPr>
          <p:cNvPr id="4" name="Slide Number Placeholder 3">
            <a:extLst>
              <a:ext uri="{FF2B5EF4-FFF2-40B4-BE49-F238E27FC236}">
                <a16:creationId xmlns:a16="http://schemas.microsoft.com/office/drawing/2014/main" id="{0286811D-092E-E989-454F-68E65DF4CC39}"/>
              </a:ext>
            </a:extLst>
          </p:cNvPr>
          <p:cNvSpPr>
            <a:spLocks noGrp="1"/>
          </p:cNvSpPr>
          <p:nvPr>
            <p:ph type="sldNum" sz="quarter" idx="12"/>
          </p:nvPr>
        </p:nvSpPr>
        <p:spPr/>
        <p:txBody>
          <a:bodyPr/>
          <a:lstStyle/>
          <a:p>
            <a:fld id="{CBABCCC1-BF11-4F37-963E-1BCD5B23FD72}" type="slidenum">
              <a:rPr lang="en-IN" smtClean="0"/>
              <a:pPr/>
              <a:t>35</a:t>
            </a:fld>
            <a:endParaRPr lang="en-IN"/>
          </a:p>
        </p:txBody>
      </p:sp>
      <p:sp>
        <p:nvSpPr>
          <p:cNvPr id="5" name="TextBox 4">
            <a:extLst>
              <a:ext uri="{FF2B5EF4-FFF2-40B4-BE49-F238E27FC236}">
                <a16:creationId xmlns:a16="http://schemas.microsoft.com/office/drawing/2014/main" id="{81A0B57B-FD1F-D26E-7DDA-9CB4D0E6FF4D}"/>
              </a:ext>
            </a:extLst>
          </p:cNvPr>
          <p:cNvSpPr txBox="1"/>
          <p:nvPr/>
        </p:nvSpPr>
        <p:spPr>
          <a:xfrm>
            <a:off x="793327" y="1955558"/>
            <a:ext cx="11142511" cy="4891019"/>
          </a:xfrm>
          <a:prstGeom prst="rect">
            <a:avLst/>
          </a:prstGeom>
          <a:noFill/>
        </p:spPr>
        <p:txBody>
          <a:bodyPr wrap="square" rtlCol="0">
            <a:spAutoFit/>
          </a:bodyPr>
          <a:lstStyle/>
          <a:p>
            <a:r>
              <a:rPr lang="en-US" dirty="0"/>
              <a:t> </a:t>
            </a:r>
            <a:r>
              <a:rPr lang="en-IN" b="1" dirty="0"/>
              <a:t>TEXTBOOKS:</a:t>
            </a:r>
            <a:endParaRPr lang="en-IN" dirty="0"/>
          </a:p>
          <a:p>
            <a:r>
              <a:rPr lang="en-IN" dirty="0"/>
              <a:t> 1. Data Communications and Networking(3</a:t>
            </a:r>
            <a:r>
              <a:rPr lang="en-IN" baseline="30000" dirty="0"/>
              <a:t>rd</a:t>
            </a:r>
            <a:r>
              <a:rPr lang="en-IN" dirty="0"/>
              <a:t> Edition) – B A </a:t>
            </a:r>
            <a:r>
              <a:rPr lang="en-IN" dirty="0" err="1"/>
              <a:t>Ferouzan</a:t>
            </a:r>
            <a:r>
              <a:rPr lang="en-IN" dirty="0"/>
              <a:t> – TMH</a:t>
            </a:r>
          </a:p>
          <a:p>
            <a:r>
              <a:rPr lang="en-IN" b="1" dirty="0"/>
              <a:t> </a:t>
            </a:r>
            <a:r>
              <a:rPr lang="en-IN" dirty="0"/>
              <a:t>2. Computer Networks (4</a:t>
            </a:r>
            <a:r>
              <a:rPr lang="en-IN" baseline="30000" dirty="0"/>
              <a:t>th</a:t>
            </a:r>
            <a:r>
              <a:rPr lang="en-IN" dirty="0"/>
              <a:t> Edition) – A S Tanenbaum  - Pearson Education/PHI</a:t>
            </a:r>
            <a:endParaRPr lang="en-IN" b="1" dirty="0"/>
          </a:p>
          <a:p>
            <a:r>
              <a:rPr lang="en-IN" b="1" dirty="0"/>
              <a:t> Reference Books:</a:t>
            </a:r>
          </a:p>
          <a:p>
            <a:pPr marL="342900" indent="-342900">
              <a:buAutoNum type="arabicPeriod"/>
            </a:pPr>
            <a:r>
              <a:rPr lang="en-IN" dirty="0"/>
              <a:t>Data Communications and Networking(5</a:t>
            </a:r>
            <a:r>
              <a:rPr lang="en-IN" baseline="30000" dirty="0"/>
              <a:t>th</a:t>
            </a:r>
            <a:r>
              <a:rPr lang="en-IN" dirty="0"/>
              <a:t> Edition) – W. Stallings - Pearson Education/PHI</a:t>
            </a:r>
          </a:p>
          <a:p>
            <a:pPr marL="342900" indent="-342900">
              <a:buAutoNum type="arabicPeriod"/>
            </a:pPr>
            <a:r>
              <a:rPr lang="en-US" dirty="0"/>
              <a:t>Network for Computer Scientists &amp; Engineers, Zheng &amp; Akhtar,  OUP</a:t>
            </a:r>
            <a:endParaRPr lang="en-IN" dirty="0"/>
          </a:p>
          <a:p>
            <a:endParaRPr lang="en-IN" b="1" dirty="0"/>
          </a:p>
          <a:p>
            <a:r>
              <a:rPr lang="en-IN" b="1" dirty="0"/>
              <a:t>WEB REFERNCES/MOOCS:</a:t>
            </a:r>
            <a:endParaRPr lang="en-IN" dirty="0"/>
          </a:p>
          <a:p>
            <a:pPr marL="342900" lvl="0" indent="-342900">
              <a:buAutoNum type="arabicPeriod"/>
            </a:pPr>
            <a:r>
              <a:rPr lang="en-US" dirty="0"/>
              <a:t>Kurose and Rose – “Computer Networking -A top down approach featuring the internet”– Pearson Education</a:t>
            </a:r>
          </a:p>
          <a:p>
            <a:pPr marL="342900" lvl="0" indent="-342900">
              <a:buAutoNum type="arabicPeriod"/>
            </a:pPr>
            <a:r>
              <a:rPr lang="en-US" dirty="0"/>
              <a:t>“Communication Networks” – Leon, </a:t>
            </a:r>
            <a:r>
              <a:rPr lang="en-US" dirty="0" err="1"/>
              <a:t>Garica</a:t>
            </a:r>
            <a:r>
              <a:rPr lang="en-US" dirty="0"/>
              <a:t>, </a:t>
            </a:r>
            <a:r>
              <a:rPr lang="en-US" dirty="0" err="1"/>
              <a:t>Widjaja</a:t>
            </a:r>
            <a:r>
              <a:rPr lang="en-US" dirty="0"/>
              <a:t>  TMH</a:t>
            </a:r>
          </a:p>
          <a:p>
            <a:pPr marL="342900" lvl="0" indent="-342900">
              <a:buAutoNum type="arabicPeriod"/>
            </a:pPr>
            <a:r>
              <a:rPr lang="en-US" dirty="0"/>
              <a:t>“Internetworking with TCP/IP, Comer –  vol. 1, 2, 3(4th Ed.)” – Pearson Education/PHI</a:t>
            </a:r>
          </a:p>
          <a:p>
            <a:pPr marL="342900" lvl="0" indent="-342900">
              <a:buAutoNum type="arabicPeriod"/>
            </a:pPr>
            <a:r>
              <a:rPr lang="en-US" dirty="0"/>
              <a:t>https://www.tutorialspoint.com/what-is-closed-loop-congestion-control/</a:t>
            </a:r>
          </a:p>
          <a:p>
            <a:pPr marL="342900" lvl="0" indent="-342900">
              <a:buAutoNum type="arabicPeriod"/>
            </a:pPr>
            <a:r>
              <a:rPr lang="en-US" dirty="0"/>
              <a:t>https://www.geeksforgeeks.org/congestion-control-techniques-in-computer-networks/3.</a:t>
            </a:r>
          </a:p>
          <a:p>
            <a:pPr>
              <a:lnSpc>
                <a:spcPct val="150000"/>
              </a:lnSpc>
            </a:pPr>
            <a:endParaRPr lang="en-US" dirty="0"/>
          </a:p>
          <a:p>
            <a:pPr>
              <a:lnSpc>
                <a:spcPct val="150000"/>
              </a:lnSpc>
            </a:pPr>
            <a:endParaRPr lang="en-US" dirty="0"/>
          </a:p>
          <a:p>
            <a:pPr>
              <a:lnSpc>
                <a:spcPct val="150000"/>
              </a:lnSpc>
            </a:pPr>
            <a:endParaRPr lang="en-US" dirty="0"/>
          </a:p>
        </p:txBody>
      </p:sp>
    </p:spTree>
    <p:extLst>
      <p:ext uri="{BB962C8B-B14F-4D97-AF65-F5344CB8AC3E}">
        <p14:creationId xmlns:p14="http://schemas.microsoft.com/office/powerpoint/2010/main" val="112279311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1B95FBE-107F-8F8F-AF7F-B1B3220353E4}"/>
              </a:ext>
            </a:extLst>
          </p:cNvPr>
          <p:cNvSpPr>
            <a:spLocks noGrp="1"/>
          </p:cNvSpPr>
          <p:nvPr>
            <p:ph type="sldNum" sz="quarter" idx="12"/>
          </p:nvPr>
        </p:nvSpPr>
        <p:spPr/>
        <p:txBody>
          <a:bodyPr/>
          <a:lstStyle/>
          <a:p>
            <a:fld id="{CBABCCC1-BF11-4F37-963E-1BCD5B23FD72}" type="slidenum">
              <a:rPr lang="en-IN" smtClean="0"/>
              <a:pPr/>
              <a:t>36</a:t>
            </a:fld>
            <a:endParaRPr lang="en-IN"/>
          </a:p>
        </p:txBody>
      </p:sp>
      <p:sp>
        <p:nvSpPr>
          <p:cNvPr id="6" name="Rounded Rectangle 3">
            <a:extLst>
              <a:ext uri="{FF2B5EF4-FFF2-40B4-BE49-F238E27FC236}">
                <a16:creationId xmlns:a16="http://schemas.microsoft.com/office/drawing/2014/main" id="{03BCE887-8070-2467-1BDD-C15FC09E3567}"/>
              </a:ext>
            </a:extLst>
          </p:cNvPr>
          <p:cNvSpPr/>
          <p:nvPr/>
        </p:nvSpPr>
        <p:spPr>
          <a:xfrm>
            <a:off x="2135943" y="1987061"/>
            <a:ext cx="7920111" cy="2883877"/>
          </a:xfrm>
          <a:prstGeom prst="roundRect">
            <a:avLst/>
          </a:prstGeom>
          <a:solidFill>
            <a:srgbClr val="ED7D31"/>
          </a:solidFill>
          <a:ln w="19050" cap="flat" cmpd="sng" algn="ctr">
            <a:noFill/>
            <a:prstDash val="solid"/>
          </a:ln>
          <a:effectLst>
            <a:outerShdw blurRad="50800" dist="38100" dir="2700000" algn="tl" rotWithShape="0">
              <a:srgbClr val="BA2532">
                <a:alpha val="40000"/>
              </a:srgb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rPr>
              <a:t>THANK YOU</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dirty="0">
                <a:ln>
                  <a:noFill/>
                </a:ln>
                <a:solidFill>
                  <a:prstClr val="white"/>
                </a:solidFill>
                <a:effectLst/>
                <a:uLnTx/>
                <a:uFillTx/>
                <a:latin typeface="Poppins" pitchFamily="2" charset="77"/>
                <a:ea typeface="+mn-ea"/>
                <a:cs typeface="Poppins" pitchFamily="2" charset="77"/>
              </a:rPr>
              <a:t>Team – NETWORK PROTOCOLS AND SECURITY</a:t>
            </a: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prstClr val="white"/>
              </a:solidFill>
              <a:effectLst/>
              <a:uLnTx/>
              <a:uFillTx/>
              <a:latin typeface="Poppins" pitchFamily="2" charset="77"/>
              <a:ea typeface="+mn-ea"/>
              <a:cs typeface="Poppins" pitchFamily="2" charset="77"/>
            </a:endParaRPr>
          </a:p>
        </p:txBody>
      </p:sp>
      <p:pic>
        <p:nvPicPr>
          <p:cNvPr id="7" name="Picture 2" descr="KL Deemed to be University Logo">
            <a:extLst>
              <a:ext uri="{FF2B5EF4-FFF2-40B4-BE49-F238E27FC236}">
                <a16:creationId xmlns:a16="http://schemas.microsoft.com/office/drawing/2014/main" id="{44D922C5-3411-5618-9ACE-51841AB725EB}"/>
              </a:ext>
            </a:extLst>
          </p:cNvPr>
          <p:cNvPicPr>
            <a:picLocks noChangeAspect="1" noChangeArrowheads="1"/>
          </p:cNvPicPr>
          <p:nvPr/>
        </p:nvPicPr>
        <p:blipFill>
          <a:blip r:embed="rId2"/>
          <a:srcRect/>
          <a:stretch>
            <a:fillRect/>
          </a:stretch>
        </p:blipFill>
        <p:spPr bwMode="auto">
          <a:xfrm>
            <a:off x="4883724" y="3007793"/>
            <a:ext cx="3235570" cy="1083212"/>
          </a:xfrm>
          <a:prstGeom prst="rect">
            <a:avLst/>
          </a:prstGeom>
          <a:noFill/>
        </p:spPr>
      </p:pic>
    </p:spTree>
    <p:extLst>
      <p:ext uri="{BB962C8B-B14F-4D97-AF65-F5344CB8AC3E}">
        <p14:creationId xmlns:p14="http://schemas.microsoft.com/office/powerpoint/2010/main" val="41895938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5_6233206605559631053" id="{A3C152B6-A589-4829-97D0-204DCA587559}" vid="{63046D28-BA72-4551-80C8-165006023F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 format</Template>
  <TotalTime>423</TotalTime>
  <Words>2014</Words>
  <Application>Microsoft Office PowerPoint</Application>
  <PresentationFormat>Widescreen</PresentationFormat>
  <Paragraphs>209</Paragraphs>
  <Slides>36</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Arial</vt:lpstr>
      <vt:lpstr>BioRhyme ExtraBold</vt:lpstr>
      <vt:lpstr>Calibri</vt:lpstr>
      <vt:lpstr>Gill Sans MT</vt:lpstr>
      <vt:lpstr>Poppins</vt:lpstr>
      <vt:lpstr>Times New Roman</vt:lpstr>
      <vt:lpstr>urw-din</vt:lpstr>
      <vt:lpstr>Wingdings</vt:lpstr>
      <vt:lpstr>Gallery</vt:lpstr>
      <vt:lpstr>PowerPoint Presentation</vt:lpstr>
      <vt:lpstr>PowerPoint Presentation</vt:lpstr>
      <vt:lpstr>PowerPoint Presentation</vt:lpstr>
      <vt:lpstr>Quality of service</vt:lpstr>
      <vt:lpstr>Techniques TO IMPROVE QOS</vt:lpstr>
      <vt:lpstr>Qos TECHNIQUE – OVERPROVISIONING</vt:lpstr>
      <vt:lpstr>Qos TECHNIQUE – BUFFERING </vt:lpstr>
      <vt:lpstr>PowerPoint Presentation</vt:lpstr>
      <vt:lpstr>Qos technique – traffic shaping</vt:lpstr>
      <vt:lpstr>     LEAKY BUCKET ALGORITHM</vt:lpstr>
      <vt:lpstr>Qos technique – traffic shaping  Leaky Bucket </vt:lpstr>
      <vt:lpstr>Qos technique – traffic shaping  Leaky Bucket </vt:lpstr>
      <vt:lpstr>Implementation of Leaky bucket algorithm</vt:lpstr>
      <vt:lpstr>     TOKEN BUCKET ALGORITHM</vt:lpstr>
      <vt:lpstr>Qos technique – traffic shaping  TOKEN Bucket </vt:lpstr>
      <vt:lpstr>Token Bucket</vt:lpstr>
      <vt:lpstr>Qos technique – traffic shaping  TOKEN Bucket Implementation</vt:lpstr>
      <vt:lpstr>PowerPoint Presentation</vt:lpstr>
      <vt:lpstr>Qos technique – packet scheduling</vt:lpstr>
      <vt:lpstr>Qos technique – packet scheduling</vt:lpstr>
      <vt:lpstr>PowerPoint Presentation</vt:lpstr>
      <vt:lpstr>Qos technique – admission control</vt:lpstr>
      <vt:lpstr>PowerPoint Presentation</vt:lpstr>
      <vt:lpstr>Qos technique – integrated services</vt:lpstr>
      <vt:lpstr>Qos technique – integrated services  RSVP-The ReSerVation Protocol</vt:lpstr>
      <vt:lpstr>Qos technique – integrated services  RSVP-The ReSerVation Protocol</vt:lpstr>
      <vt:lpstr>Qos technique – integrated services  RSVP-The ReSerVation Protocol</vt:lpstr>
      <vt:lpstr>PowerPoint Presentation</vt:lpstr>
      <vt:lpstr>Qos technique – differentiated services</vt:lpstr>
      <vt:lpstr>Qos technique – differentiated services</vt:lpstr>
      <vt:lpstr>Qos technique – differentiated services  Expedited Forwarding</vt:lpstr>
      <vt:lpstr>Qos technique – differentiated services  Assured forwarding: </vt:lpstr>
      <vt:lpstr>Qos technique – differentiated services  Assured forwarding: </vt:lpstr>
      <vt:lpstr>Qos technique – differentiated services  Assured forwarding: </vt:lpstr>
      <vt:lpstr>REFERENCES FOR FURTHER LEARNING OF THE SESSION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of service</dc:title>
  <dc:creator>Kolachana swetha</dc:creator>
  <cp:lastModifiedBy>GORLA VENKATA GANESH</cp:lastModifiedBy>
  <cp:revision>59</cp:revision>
  <dcterms:created xsi:type="dcterms:W3CDTF">2023-05-08T05:32:06Z</dcterms:created>
  <dcterms:modified xsi:type="dcterms:W3CDTF">2025-12-17T06:50:18Z</dcterms:modified>
</cp:coreProperties>
</file>