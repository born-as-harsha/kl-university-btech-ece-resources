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2"/>
  </p:notesMasterIdLst>
  <p:sldIdLst>
    <p:sldId id="271" r:id="rId2"/>
    <p:sldId id="924" r:id="rId3"/>
    <p:sldId id="863" r:id="rId4"/>
    <p:sldId id="896" r:id="rId5"/>
    <p:sldId id="864" r:id="rId6"/>
    <p:sldId id="926" r:id="rId7"/>
    <p:sldId id="897" r:id="rId8"/>
    <p:sldId id="898" r:id="rId9"/>
    <p:sldId id="899" r:id="rId10"/>
    <p:sldId id="900" r:id="rId11"/>
    <p:sldId id="901" r:id="rId12"/>
    <p:sldId id="947" r:id="rId13"/>
    <p:sldId id="948" r:id="rId14"/>
    <p:sldId id="949" r:id="rId15"/>
    <p:sldId id="865" r:id="rId16"/>
    <p:sldId id="902" r:id="rId17"/>
    <p:sldId id="866" r:id="rId18"/>
    <p:sldId id="903" r:id="rId19"/>
    <p:sldId id="904" r:id="rId20"/>
    <p:sldId id="950" r:id="rId21"/>
    <p:sldId id="951" r:id="rId22"/>
    <p:sldId id="906" r:id="rId23"/>
    <p:sldId id="907" r:id="rId24"/>
    <p:sldId id="869" r:id="rId25"/>
    <p:sldId id="908" r:id="rId26"/>
    <p:sldId id="870" r:id="rId27"/>
    <p:sldId id="909" r:id="rId28"/>
    <p:sldId id="871" r:id="rId29"/>
    <p:sldId id="952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4AB80-D52C-4BC5-A318-9957F559669C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356A1-FF8F-4F33-877A-3F66CC94892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3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301C112F-9A76-314C-2E5E-63B0F7EAC5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3EF984-D2E2-43DA-9EB6-7A103EA1A84F}" type="slidenum">
              <a:rPr lang="en-US" altLang="en-US" sz="1200" b="0" baseline="0">
                <a:latin typeface="Times New Roman" panose="02020603050405020304" pitchFamily="18" charset="0"/>
              </a:rPr>
              <a:pPr/>
              <a:t>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12E4F81-4D71-7A30-5C55-2B20568B75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3C13D65-EBBC-BDB7-22DB-0D6CD505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99ABCF73-E87D-D4AD-DB7A-F85144CEFF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CBBCBB-C2E0-462B-B8D5-C88AAF73A4BC}" type="slidenum">
              <a:rPr lang="en-US" altLang="en-US" sz="1200" b="0" baseline="0">
                <a:latin typeface="Times New Roman" panose="02020603050405020304" pitchFamily="18" charset="0"/>
              </a:rPr>
              <a:pPr/>
              <a:t>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78FA42F-C123-1259-A571-032C2B9ED2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E6788FC-1B2A-6B04-0653-E5124F1EB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56F9346-17AC-454A-61C2-3305BA9C3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E50BA4-4BF9-4357-9840-985AD548C4CB}" type="slidenum">
              <a:rPr lang="en-US" altLang="en-US" sz="1200" b="0" baseline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791E8B7-17A2-5B26-0EB3-30F3DA40A5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CE9C975-8A65-8148-4D55-0E8D3D01F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353D083B-F1A9-636C-C205-CB030774C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66918F-57EE-40A1-AD20-EE05BC1C9FA2}" type="slidenum">
              <a:rPr lang="en-US" altLang="en-US" sz="1200" b="0" baseline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6E9D8AD-DC95-DEDF-6BE1-5BDB61C899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A33B72A-5321-4736-E050-44EEB7721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BD3ECC8-D67F-4B85-03B5-707ADBF4BD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E41CE0-463F-44F1-A097-A0B1A2A8BC33}" type="slidenum">
              <a:rPr lang="en-US" altLang="en-US" sz="1200" b="0" baseline="0">
                <a:latin typeface="Times New Roman" panose="02020603050405020304" pitchFamily="18" charset="0"/>
              </a:rPr>
              <a:pPr/>
              <a:t>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1758AC1-665E-C63F-9A9B-6A2EA327E4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EF8BCA0-193F-7300-C14C-83BE4C784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ECC60D0-3F7B-99EE-9D46-F2990AC75A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09971F-EB30-4EF6-9005-D82AD3C5757D}" type="slidenum">
              <a:rPr lang="en-US" altLang="en-US" sz="1200" b="0" baseline="0">
                <a:latin typeface="Times New Roman" panose="02020603050405020304" pitchFamily="18" charset="0"/>
              </a:rPr>
              <a:pPr/>
              <a:t>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0351CB6-B277-EFA0-82AA-EFA54C5F2F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4B46BEA-38F0-545E-B9C3-EB6697014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CDC212C8-C4E2-2E2C-E236-A77C46A83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50A04A-3944-41D8-9A97-A49DAF6424AD}" type="slidenum">
              <a:rPr lang="en-US" altLang="en-US" sz="1200" b="0" baseline="0">
                <a:latin typeface="Times New Roman" panose="02020603050405020304" pitchFamily="18" charset="0"/>
              </a:rPr>
              <a:pPr/>
              <a:t>10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F3673FB-098D-6D4C-2F8D-6228DA86FD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CEF6975-47E9-A169-0CDC-EC37FFCE5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39AF305-1F54-F338-5BC6-29252D0E0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F92153-1907-4C17-A4C7-2BF1057ADC27}" type="slidenum">
              <a:rPr lang="en-US" altLang="en-US" sz="1200" b="0" baseline="0">
                <a:latin typeface="Times New Roman" panose="02020603050405020304" pitchFamily="18" charset="0"/>
              </a:rPr>
              <a:pPr/>
              <a:t>11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15F3FDC-4896-7472-4869-EB1A9B2E13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112FE2A-57EC-0AA9-3B1A-53600CE27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207C1FB-6A63-521A-6D76-8EC424B54E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AFCE1F-CA5B-4AFD-A5F3-10381B0E06C8}" type="slidenum">
              <a:rPr lang="en-US" altLang="en-US" sz="1200" b="0" baseline="0">
                <a:latin typeface="Times New Roman" panose="02020603050405020304" pitchFamily="18" charset="0"/>
              </a:rPr>
              <a:pPr/>
              <a:t>15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43889CF-73D9-8696-429D-53D12956D2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B3C3B86-AEC4-AD76-30E6-CB2A83DED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DE87522D-430C-D01C-8977-AEF4A9B59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272614-A375-4E46-A428-B92CC8642F91}" type="slidenum">
              <a:rPr lang="en-US" altLang="en-US" sz="1200" b="0" baseline="0">
                <a:latin typeface="Times New Roman" panose="02020603050405020304" pitchFamily="18" charset="0"/>
              </a:rPr>
              <a:pPr/>
              <a:t>16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9B06E1F-6085-3D04-5677-EBE7C7C74D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FC476BF-1250-0F97-4109-808238D04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A51F0100-8614-E011-C5DB-537EAE38E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96A44A-7767-464B-8D0F-5434B06C54C6}" type="slidenum">
              <a:rPr lang="en-US" altLang="en-US" sz="1200" b="0" baseline="0">
                <a:latin typeface="Times New Roman" panose="02020603050405020304" pitchFamily="18" charset="0"/>
              </a:rPr>
              <a:pPr/>
              <a:t>17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A2FFDB6-F6F4-C72C-EF37-BA87705EBE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4E0788C-21C3-BA3B-7C4D-FF377063D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900DDB8-F2D2-BEA7-0CB5-55BD40F5A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07F6A6-20BF-4A3A-BB9C-E1A7B0EF58B1}" type="slidenum">
              <a:rPr lang="en-US" altLang="en-US" sz="1200" b="0" baseline="0">
                <a:latin typeface="Times New Roman" panose="02020603050405020304" pitchFamily="18" charset="0"/>
              </a:rPr>
              <a:pPr/>
              <a:t>18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0F56180-90D5-5881-CE1D-B8D6EA67D5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23FB79F-508E-BB9F-5A84-934D78754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5395299F-677A-9503-E1BA-A1F1A2A42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F68637-0F60-41E1-9A7B-B38F4C809D95}" type="slidenum">
              <a:rPr lang="en-US" altLang="en-US" sz="1200" b="0" baseline="0">
                <a:latin typeface="Times New Roman" panose="02020603050405020304" pitchFamily="18" charset="0"/>
              </a:rPr>
              <a:pPr/>
              <a:t>19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407CAA3-2900-AE2F-EA97-FB2A658414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4BF6A08-65C6-3F83-1E87-FC6E870CA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5E9BDF6-0845-2B1D-E63D-B276B89EF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62C891-6B39-44D9-9AF2-BC1A1F4864FC}" type="slidenum">
              <a:rPr lang="en-US" altLang="en-US" sz="1200" b="0" baseline="0">
                <a:latin typeface="Times New Roman" panose="02020603050405020304" pitchFamily="18" charset="0"/>
              </a:rPr>
              <a:pPr/>
              <a:t>22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40B998E-0878-83A5-91D0-B7F5A57B88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6D5EA62-2AD7-B872-E4BA-1FD7EF05C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DA8387A-58ED-1139-CC2E-4E5780937B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B80D33-C0A5-4D13-B11A-14A38CB03C19}" type="slidenum">
              <a:rPr lang="en-US" altLang="en-US" sz="1200" b="0" baseline="0">
                <a:latin typeface="Times New Roman" panose="02020603050405020304" pitchFamily="18" charset="0"/>
              </a:rPr>
              <a:pPr/>
              <a:t>23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F6FA589-75DF-ADBE-2AD8-E29BD8327B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2BCEA83-48AC-C0DB-4B8E-AE9E23933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1F11D02-67C9-CB86-0C24-9B2F9036DC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A6CC92-BF04-4F8F-8BB2-10ADB06EFF99}" type="slidenum">
              <a:rPr lang="en-US" altLang="en-US" sz="1200" b="0" baseline="0">
                <a:latin typeface="Times New Roman" panose="02020603050405020304" pitchFamily="18" charset="0"/>
              </a:rPr>
              <a:pPr/>
              <a:t>24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81E72EC-0CCD-439F-B447-F4BED5BD84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945BE99-638E-9B21-3497-E684CA33F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1B84B7F7-A9AD-4522-4628-480911F51C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3688B-519E-432D-8966-1A8ED5D0974F}" type="slidenum">
              <a:rPr lang="en-US" altLang="en-US" sz="1200" b="0" baseline="0">
                <a:latin typeface="Times New Roman" panose="02020603050405020304" pitchFamily="18" charset="0"/>
              </a:rPr>
              <a:pPr/>
              <a:t>25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9BFF9BF-74B2-7C89-5874-256C4B5EC04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24F0A153-4D7D-CA51-E0BE-A5A5C9013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E63F6D90-7482-F152-1508-CEE01DA5C5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E084B6-E9CC-4BC7-8DBB-F3DE5F1224A2}" type="slidenum">
              <a:rPr lang="en-US" altLang="en-US" sz="1200" b="0" baseline="0">
                <a:latin typeface="Times New Roman" panose="02020603050405020304" pitchFamily="18" charset="0"/>
              </a:rPr>
              <a:pPr/>
              <a:t>26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25E97DE-554D-25FA-8224-4702916BFCE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AA4B598B-E083-5DA6-3952-E2729C822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7CCF3FB9-6186-D814-7AA0-BDFD86844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4AEBA9-3E0F-4E5B-896B-8DCD2F8A2896}" type="slidenum">
              <a:rPr lang="en-US" altLang="en-US" sz="1200" b="0" baseline="0">
                <a:latin typeface="Times New Roman" panose="02020603050405020304" pitchFamily="18" charset="0"/>
              </a:rPr>
              <a:pPr/>
              <a:t>27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7C65C59-2BC9-6FBC-DDC0-0E83D367E9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2C376C3-FC14-66DA-603F-BA8D35B27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D8FE4370-2785-4D05-6ECD-E6C7737E4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86C41E-E144-4BF7-A753-C64BD2A620C8}" type="slidenum">
              <a:rPr lang="en-US" altLang="en-US" sz="1200" b="0" baseline="0">
                <a:latin typeface="Times New Roman" panose="02020603050405020304" pitchFamily="18" charset="0"/>
              </a:rPr>
              <a:pPr/>
              <a:t>28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1D9EBD7A-CC60-A08A-7FA5-9167E91A2A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078193D-CE30-E53E-299F-0E7BE8AB9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1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0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4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5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4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9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2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2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49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5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12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531534" y="2274858"/>
            <a:ext cx="6729005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STCP Protocol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78478" y="494681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7" y="505679"/>
            <a:ext cx="11058525" cy="770672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SCTP Protocol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1094133" y="2195227"/>
            <a:ext cx="102234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SCTP stands for Stream Control Transmission Protocol. 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Designed for Internet applications.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SCTP combines the best features of UDP and TCP. 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SCTP is a reliable message-oriented protocol. 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It preserves the message boundaries, and at the same time, detects lost data, duplicate data, and out-of-order data. </a:t>
            </a:r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 marL="342900" indent="-34290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It also has congestion control and flows control mechanisms.</a:t>
            </a: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762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>
            <a:extLst>
              <a:ext uri="{FF2B5EF4-FFF2-40B4-BE49-F238E27FC236}">
                <a16:creationId xmlns:a16="http://schemas.microsoft.com/office/drawing/2014/main" id="{35D8617F-8AED-88FE-2B88-45FBF9A29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56A10AA-557B-499E-A91F-B93A1CFF58A5}" type="slidenum">
              <a:rPr lang="en-US" altLang="en-US" sz="2000" baseline="0">
                <a:solidFill>
                  <a:schemeClr val="bg2"/>
                </a:solidFill>
              </a:rPr>
              <a:pPr/>
              <a:t>3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34EEE007-E13F-CB58-685F-E5EAE8565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BC3376EC-E7D3-8521-350F-85E5BEBE9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9A942F81-DCCC-D1BD-F76F-8D809587E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4500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23.27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Multiple-stream concept</a:t>
            </a: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D963038B-233F-97BA-B46A-93C51B5627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3865961F-19D7-EAFC-49BC-26953C36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64" y="1695450"/>
            <a:ext cx="7450137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>
            <a:extLst>
              <a:ext uri="{FF2B5EF4-FFF2-40B4-BE49-F238E27FC236}">
                <a16:creationId xmlns:a16="http://schemas.microsoft.com/office/drawing/2014/main" id="{0000E428-F381-9870-8D8A-F8F7F7CD3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A9A1097A-FED0-4046-B519-0DA6B96400F2}" type="slidenum">
              <a:rPr lang="en-US" altLang="en-US" sz="2000" baseline="0">
                <a:solidFill>
                  <a:schemeClr val="bg2"/>
                </a:solidFill>
              </a:rPr>
              <a:pPr/>
              <a:t>4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0AFD1F6-F0EE-1141-F63B-10C344EA0E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FAEE90C-D6A5-3DAE-1BA4-3DED86BCF1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CBC25750-EBC3-A5FA-342E-582C53B172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82C4867A-61C4-E9B8-3880-1BABEC7F4B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6804EF4F-2A8B-3634-337D-5267E90157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848C84A1-6819-9857-6210-B8DEA67796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E7C31454-F28E-E41B-524F-B223983EB0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B0DDDE4B-4D60-3954-0A02-A4E51225E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441FD6AF-FA6E-ECB8-D4B6-24D0D0318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Rectangle 11">
            <a:extLst>
              <a:ext uri="{FF2B5EF4-FFF2-40B4-BE49-F238E27FC236}">
                <a16:creationId xmlns:a16="http://schemas.microsoft.com/office/drawing/2014/main" id="{9BC34F98-80CB-2C35-956B-8FC0A2660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An association in SCTP can involve multiple streams.</a:t>
            </a:r>
          </a:p>
        </p:txBody>
      </p:sp>
      <p:grpSp>
        <p:nvGrpSpPr>
          <p:cNvPr id="12301" name="Group 12">
            <a:extLst>
              <a:ext uri="{FF2B5EF4-FFF2-40B4-BE49-F238E27FC236}">
                <a16:creationId xmlns:a16="http://schemas.microsoft.com/office/drawing/2014/main" id="{D37B0AB7-B628-8E34-6EC4-1C9195576EC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12302" name="Picture 13">
              <a:extLst>
                <a:ext uri="{FF2B5EF4-FFF2-40B4-BE49-F238E27FC236}">
                  <a16:creationId xmlns:a16="http://schemas.microsoft.com/office/drawing/2014/main" id="{842D9DCE-D991-A838-5B09-537CD6D107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303" name="Text Box 14">
              <a:extLst>
                <a:ext uri="{FF2B5EF4-FFF2-40B4-BE49-F238E27FC236}">
                  <a16:creationId xmlns:a16="http://schemas.microsoft.com/office/drawing/2014/main" id="{5C5A162D-D40C-C4CB-6E5E-F0DEDBF7D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>
            <a:extLst>
              <a:ext uri="{FF2B5EF4-FFF2-40B4-BE49-F238E27FC236}">
                <a16:creationId xmlns:a16="http://schemas.microsoft.com/office/drawing/2014/main" id="{0CF1FEF1-D0B7-7AB3-5E73-8EE118C79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7FBC566-78BB-40C3-80BB-74E63C9AC9E7}" type="slidenum">
              <a:rPr lang="en-US" altLang="en-US" sz="2000" baseline="0">
                <a:solidFill>
                  <a:schemeClr val="bg2"/>
                </a:solidFill>
              </a:rPr>
              <a:pPr/>
              <a:t>5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625BB6AD-58B1-4050-95A7-29BE34F9F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A8682CB5-A671-0D08-019C-EB302FB66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C146B085-A74F-7F5B-45F4-60E44032A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413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23.28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Multihoming concept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79DDE6D2-F557-4743-0AE7-9B8AB061F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0068A813-BC94-EB85-4F94-D40C42C8B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26" y="1905000"/>
            <a:ext cx="7851775" cy="290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06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SCTP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627408" y="1950752"/>
            <a:ext cx="11240742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en-US" sz="2000" dirty="0"/>
              <a:t>There are various features of SCTP, which are as follows −</a:t>
            </a:r>
          </a:p>
          <a:p>
            <a:pPr algn="just" eaLnBrk="1" hangingPunct="1">
              <a:defRPr/>
            </a:pPr>
            <a:endParaRPr lang="en-US" sz="2000" dirty="0"/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Transmission Sequence Number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Stream Identifier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Stream Sequence Number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Packets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Flow Control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Error Control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solidFill>
                  <a:srgbClr val="0070C0"/>
                </a:solidFill>
              </a:rPr>
              <a:t>Congestion Control</a:t>
            </a:r>
          </a:p>
          <a:p>
            <a:pPr algn="just" eaLnBrk="1" hangingPunct="1">
              <a:defRPr/>
            </a:pPr>
            <a:endParaRPr lang="en-US" sz="2000" dirty="0"/>
          </a:p>
          <a:p>
            <a:pPr algn="just" eaLnBrk="1" hangingPunct="1"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168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>
            <a:extLst>
              <a:ext uri="{FF2B5EF4-FFF2-40B4-BE49-F238E27FC236}">
                <a16:creationId xmlns:a16="http://schemas.microsoft.com/office/drawing/2014/main" id="{A330A94D-E19D-7D88-7BDD-999D593D6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E22580AE-CCD7-467A-A0B4-747EECD474C3}" type="slidenum">
              <a:rPr lang="en-US" altLang="en-US" sz="2000" baseline="0">
                <a:solidFill>
                  <a:schemeClr val="bg2"/>
                </a:solidFill>
              </a:rPr>
              <a:pPr/>
              <a:t>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E94A8B7-311F-8846-76EA-CAB2F8B51A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4F3F0FE-1365-0784-BB54-CBEBB7188C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F48EFA84-6B7C-A003-0D4F-0426DB8BBF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E8DCB136-6C72-DA0A-D3E6-0F89E20B0E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A4D0CF53-D0A2-694B-3F78-B83BE13F7A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F753F4BB-7084-5DC2-374E-F1D7FC71FC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36BEC788-A0BB-D6D6-C728-56C517D906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57A3EA96-D079-F5C1-99B1-8DDFC2A12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1719A3D0-0619-FB62-A0B8-45C7DEFE7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Rectangle 11">
            <a:extLst>
              <a:ext uri="{FF2B5EF4-FFF2-40B4-BE49-F238E27FC236}">
                <a16:creationId xmlns:a16="http://schemas.microsoft.com/office/drawing/2014/main" id="{4255EBF5-73CD-99D6-DFF2-2B7A46B8B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SCTP association allows multiple IP addresses for each end.</a:t>
            </a:r>
          </a:p>
        </p:txBody>
      </p:sp>
      <p:grpSp>
        <p:nvGrpSpPr>
          <p:cNvPr id="16397" name="Group 12">
            <a:extLst>
              <a:ext uri="{FF2B5EF4-FFF2-40B4-BE49-F238E27FC236}">
                <a16:creationId xmlns:a16="http://schemas.microsoft.com/office/drawing/2014/main" id="{1BAF2403-93F8-89DD-EDD0-AAA5EFBBD4A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16398" name="Picture 13">
              <a:extLst>
                <a:ext uri="{FF2B5EF4-FFF2-40B4-BE49-F238E27FC236}">
                  <a16:creationId xmlns:a16="http://schemas.microsoft.com/office/drawing/2014/main" id="{57D0C6AF-AB57-74DD-64A2-DB92CED360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9" name="Text Box 14">
              <a:extLst>
                <a:ext uri="{FF2B5EF4-FFF2-40B4-BE49-F238E27FC236}">
                  <a16:creationId xmlns:a16="http://schemas.microsoft.com/office/drawing/2014/main" id="{A9ADE61A-91F7-70F7-FE71-5D4F81737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>
            <a:extLst>
              <a:ext uri="{FF2B5EF4-FFF2-40B4-BE49-F238E27FC236}">
                <a16:creationId xmlns:a16="http://schemas.microsoft.com/office/drawing/2014/main" id="{0C58E9AF-F4B1-EE05-B9D8-E740F021D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DC08CF67-D815-4CE1-AC25-267822CBCFB7}" type="slidenum">
              <a:rPr lang="en-US" altLang="en-US" sz="2000" baseline="0">
                <a:solidFill>
                  <a:schemeClr val="bg2"/>
                </a:solidFill>
              </a:rPr>
              <a:pPr/>
              <a:t>8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0BE2BA9-6817-EFF1-9C62-A8B9D07459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9EF3102-B6A3-1EC2-68B7-2A1E26F607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F6914F9E-7663-07E7-3E74-CAD4E9339C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56627A66-141D-8082-FDB3-DBB8CB017B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91142C51-04B5-B672-9A10-ED4953D15B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5DC79906-A8D7-C7D1-A4ED-F922FD0072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34DC0AC3-6943-182D-75FE-8E21EE62DF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8442" name="Line 9">
            <a:extLst>
              <a:ext uri="{FF2B5EF4-FFF2-40B4-BE49-F238E27FC236}">
                <a16:creationId xmlns:a16="http://schemas.microsoft.com/office/drawing/2014/main" id="{F06EE583-AAFB-24FC-36F1-2ACBCDD98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0">
            <a:extLst>
              <a:ext uri="{FF2B5EF4-FFF2-40B4-BE49-F238E27FC236}">
                <a16:creationId xmlns:a16="http://schemas.microsoft.com/office/drawing/2014/main" id="{0606F261-B2BE-09E3-B126-B79ADD0AD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Rectangle 11">
            <a:extLst>
              <a:ext uri="{FF2B5EF4-FFF2-40B4-BE49-F238E27FC236}">
                <a16:creationId xmlns:a16="http://schemas.microsoft.com/office/drawing/2014/main" id="{7D4AA218-5726-42C2-C6E8-4EDA82C0C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In SCTP, a data chunk is numbered using a TSN.</a:t>
            </a:r>
          </a:p>
        </p:txBody>
      </p:sp>
      <p:grpSp>
        <p:nvGrpSpPr>
          <p:cNvPr id="18445" name="Group 12">
            <a:extLst>
              <a:ext uri="{FF2B5EF4-FFF2-40B4-BE49-F238E27FC236}">
                <a16:creationId xmlns:a16="http://schemas.microsoft.com/office/drawing/2014/main" id="{7A07CB83-F295-398E-3A27-D9F92AD4EEA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18446" name="Picture 13">
              <a:extLst>
                <a:ext uri="{FF2B5EF4-FFF2-40B4-BE49-F238E27FC236}">
                  <a16:creationId xmlns:a16="http://schemas.microsoft.com/office/drawing/2014/main" id="{1B359DB5-A200-0FCA-AF4F-5E24F50C1E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47" name="Text Box 14">
              <a:extLst>
                <a:ext uri="{FF2B5EF4-FFF2-40B4-BE49-F238E27FC236}">
                  <a16:creationId xmlns:a16="http://schemas.microsoft.com/office/drawing/2014/main" id="{AE79F5C5-A5A9-4F17-D153-49C0D9B9E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>
            <a:extLst>
              <a:ext uri="{FF2B5EF4-FFF2-40B4-BE49-F238E27FC236}">
                <a16:creationId xmlns:a16="http://schemas.microsoft.com/office/drawing/2014/main" id="{8B8E27B1-853D-1C44-7262-855D996F4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3AD5C650-7729-4157-8FA3-0063B2B243DB}" type="slidenum">
              <a:rPr lang="en-US" altLang="en-US" sz="2000" baseline="0">
                <a:solidFill>
                  <a:schemeClr val="bg2"/>
                </a:solidFill>
              </a:rPr>
              <a:pPr/>
              <a:t>9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412B117-1302-0B8D-69A0-D81A5664AF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3F1F32C-E90B-EAD5-B786-D2016BC09B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720E6D7E-C0A7-6E5D-6A5D-B228B657B1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0A35EA62-8066-4B2F-A4AF-3AA385C5A3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C71BE4CD-6951-5674-C6B1-7F7F146F01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A64B183A-D391-741F-2C56-327D881A65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137634BD-F323-C383-F3CF-FCDD9B00FB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22672CEE-FF8A-625A-C7F2-9323ECB8E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595C1DD2-2ECE-606B-B2B9-98CA419F3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56C8CCFA-BC6A-87A7-9176-5D2C1B927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To distinguish between different streams, SCTP uses an SI.</a:t>
            </a:r>
          </a:p>
        </p:txBody>
      </p:sp>
      <p:grpSp>
        <p:nvGrpSpPr>
          <p:cNvPr id="20493" name="Group 12">
            <a:extLst>
              <a:ext uri="{FF2B5EF4-FFF2-40B4-BE49-F238E27FC236}">
                <a16:creationId xmlns:a16="http://schemas.microsoft.com/office/drawing/2014/main" id="{A3FCEE3B-C737-F1B2-DAF7-D3025D345DA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20494" name="Picture 13">
              <a:extLst>
                <a:ext uri="{FF2B5EF4-FFF2-40B4-BE49-F238E27FC236}">
                  <a16:creationId xmlns:a16="http://schemas.microsoft.com/office/drawing/2014/main" id="{7E0B3CED-E490-6082-A9C8-4D3925075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495" name="Text Box 14">
              <a:extLst>
                <a:ext uri="{FF2B5EF4-FFF2-40B4-BE49-F238E27FC236}">
                  <a16:creationId xmlns:a16="http://schemas.microsoft.com/office/drawing/2014/main" id="{84494DB3-3597-B5E1-553D-AFA7C99D4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>
            <a:extLst>
              <a:ext uri="{FF2B5EF4-FFF2-40B4-BE49-F238E27FC236}">
                <a16:creationId xmlns:a16="http://schemas.microsoft.com/office/drawing/2014/main" id="{7C2EBB88-9A45-AC69-7DA5-C4072D0F2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83A5450D-602E-447E-BBE6-6BAB89DF2499}" type="slidenum">
              <a:rPr lang="en-US" altLang="en-US" sz="2000" baseline="0">
                <a:solidFill>
                  <a:schemeClr val="bg2"/>
                </a:solidFill>
              </a:rPr>
              <a:pPr/>
              <a:t>10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72D5CC7-15CF-C586-B5D6-C3130DB7F6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56B133E8-AA26-E0CC-C91A-458E61E526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BEA42EE8-EB7E-F423-47B2-95F573EF4B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0A2B39C0-E3EF-C659-1A2B-D1CBDA6601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1DE666DD-723A-79BF-859E-17C25BA8F1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D9C9B8FE-B9CE-404E-8E36-048B592936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EBA832E0-38A9-DD7F-8D4B-29459E96F0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8" name="Line 9">
            <a:extLst>
              <a:ext uri="{FF2B5EF4-FFF2-40B4-BE49-F238E27FC236}">
                <a16:creationId xmlns:a16="http://schemas.microsoft.com/office/drawing/2014/main" id="{D891A618-CA4D-057E-C75C-B38A1074D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0">
            <a:extLst>
              <a:ext uri="{FF2B5EF4-FFF2-40B4-BE49-F238E27FC236}">
                <a16:creationId xmlns:a16="http://schemas.microsoft.com/office/drawing/2014/main" id="{C32A7F24-9E0B-6F38-A714-209E60F5D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Rectangle 11">
            <a:extLst>
              <a:ext uri="{FF2B5EF4-FFF2-40B4-BE49-F238E27FC236}">
                <a16:creationId xmlns:a16="http://schemas.microsoft.com/office/drawing/2014/main" id="{9756015B-9CA5-7ADF-C99A-A0AF4185F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To distinguish between different data chunks belonging to the same stream, SCTP uses SSNs.</a:t>
            </a:r>
          </a:p>
        </p:txBody>
      </p:sp>
      <p:grpSp>
        <p:nvGrpSpPr>
          <p:cNvPr id="22541" name="Group 12">
            <a:extLst>
              <a:ext uri="{FF2B5EF4-FFF2-40B4-BE49-F238E27FC236}">
                <a16:creationId xmlns:a16="http://schemas.microsoft.com/office/drawing/2014/main" id="{C5DDE6A4-E230-6593-0B8D-7206F908F86C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22542" name="Picture 13">
              <a:extLst>
                <a:ext uri="{FF2B5EF4-FFF2-40B4-BE49-F238E27FC236}">
                  <a16:creationId xmlns:a16="http://schemas.microsoft.com/office/drawing/2014/main" id="{AAA1BF6F-C9CC-6826-AA12-0A3927C85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43" name="Text Box 14">
              <a:extLst>
                <a:ext uri="{FF2B5EF4-FFF2-40B4-BE49-F238E27FC236}">
                  <a16:creationId xmlns:a16="http://schemas.microsoft.com/office/drawing/2014/main" id="{31F9FFCB-E01E-A807-8ABD-8A3B17298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>
            <a:extLst>
              <a:ext uri="{FF2B5EF4-FFF2-40B4-BE49-F238E27FC236}">
                <a16:creationId xmlns:a16="http://schemas.microsoft.com/office/drawing/2014/main" id="{D07BD1C8-47E4-1F28-75D9-A8A23C780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727A4412-3AB8-476D-B740-47A07CBD0128}" type="slidenum">
              <a:rPr lang="en-US" altLang="en-US" sz="2000" baseline="0">
                <a:solidFill>
                  <a:schemeClr val="bg2"/>
                </a:solidFill>
              </a:rPr>
              <a:pPr/>
              <a:t>11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4CD921A-7A40-DF06-0FC1-A3EEBC3CC8C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18FBF5B-63B5-4FB6-D656-18F03278504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5339D829-B6F4-BE13-F0FB-0AF442C6FD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11687FA8-FB39-A1F0-A77E-BDD6759576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FAE38F9C-EEA5-2DE2-5B8C-CAF2F145B0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EE79E0EF-7721-BD7E-5EE1-0034F20E86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2269DE27-00A9-EC61-3E05-15134C40CE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6" name="Line 9">
            <a:extLst>
              <a:ext uri="{FF2B5EF4-FFF2-40B4-BE49-F238E27FC236}">
                <a16:creationId xmlns:a16="http://schemas.microsoft.com/office/drawing/2014/main" id="{23C5DA86-05CC-F5AF-3267-32F820E48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Line 10">
            <a:extLst>
              <a:ext uri="{FF2B5EF4-FFF2-40B4-BE49-F238E27FC236}">
                <a16:creationId xmlns:a16="http://schemas.microsoft.com/office/drawing/2014/main" id="{5883C9BF-910A-29A3-3253-8A91D92D7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Rectangle 11">
            <a:extLst>
              <a:ext uri="{FF2B5EF4-FFF2-40B4-BE49-F238E27FC236}">
                <a16:creationId xmlns:a16="http://schemas.microsoft.com/office/drawing/2014/main" id="{553EADBF-1094-E29F-DB79-B495D9DF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TCP has segments; SCTP has packets.</a:t>
            </a:r>
          </a:p>
        </p:txBody>
      </p:sp>
      <p:grpSp>
        <p:nvGrpSpPr>
          <p:cNvPr id="24589" name="Group 12">
            <a:extLst>
              <a:ext uri="{FF2B5EF4-FFF2-40B4-BE49-F238E27FC236}">
                <a16:creationId xmlns:a16="http://schemas.microsoft.com/office/drawing/2014/main" id="{E1DEAFC6-018D-DDFD-DE45-0A655FD5C2E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24590" name="Picture 13">
              <a:extLst>
                <a:ext uri="{FF2B5EF4-FFF2-40B4-BE49-F238E27FC236}">
                  <a16:creationId xmlns:a16="http://schemas.microsoft.com/office/drawing/2014/main" id="{EA513022-271D-DBAC-B2BB-CC890FFFF7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591" name="Text Box 14">
              <a:extLst>
                <a:ext uri="{FF2B5EF4-FFF2-40B4-BE49-F238E27FC236}">
                  <a16:creationId xmlns:a16="http://schemas.microsoft.com/office/drawing/2014/main" id="{AA6CF883-C0E0-5852-4CB1-1A8D64DF2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06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SCTP…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627408" y="1826927"/>
            <a:ext cx="112407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Transmission Sequence Number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unit of data in TCP is a byte. Data transfer in TCP is controlled by numbering bytes by using a sequence number.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On the other hand, the unit of data in SCTP is a DATA chunk that may or may not have a one-to-one relationship with the message coming from the process because of fragmentation.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data chunk is given a transmission sequence number.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r>
              <a:rPr lang="en-US" sz="2000" b="1" dirty="0"/>
              <a:t>Stream Identifier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TCP, there is only one stream in each connection.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SCTP, there may be several streams in each association.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stream in SCTP needs to be identified by using a stream identifier (SI).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data chunk must carry the SI in its header so that when it arrives at the destination, it can be properly placed in its stream.</a:t>
            </a:r>
          </a:p>
          <a:p>
            <a:pPr algn="just" eaLnBrk="1" hangingPunct="1">
              <a:defRPr/>
            </a:pPr>
            <a:endParaRPr lang="en-US" sz="2000" dirty="0"/>
          </a:p>
          <a:p>
            <a:pPr algn="just" eaLnBrk="1" hangingPunct="1">
              <a:defRPr/>
            </a:pP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539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06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SCTP…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627408" y="1826927"/>
            <a:ext cx="1090736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Stream Sequence Number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When a data chunk arrives at the destination SCTP, it is delivered to the appropriate stream and in the proper order.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This means that, in addition to an SI, each data chunk in each stream carries a stream sequence number (SSN).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algn="just"/>
            <a:r>
              <a:rPr lang="en-US" sz="2000" b="1" dirty="0"/>
              <a:t>Packets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In TCP, a segment carries data and control information.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Data is carried as a collection of bytes; control information is defined by six control flags in the header.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The design of SCTP is totally different.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In SCTP, data is carried as data chunks; control information is carried as control chunks.</a:t>
            </a:r>
          </a:p>
        </p:txBody>
      </p:sp>
    </p:spTree>
    <p:extLst>
      <p:ext uri="{BB962C8B-B14F-4D97-AF65-F5344CB8AC3E}">
        <p14:creationId xmlns:p14="http://schemas.microsoft.com/office/powerpoint/2010/main" val="253313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06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SCTP…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627408" y="1826927"/>
            <a:ext cx="109073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Flow Control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Like TCP, SCTP implements flow control to avoid overwhelming the receiver.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Error Control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Like TCP, SCTP implements error control to provide reliability.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TSN numbers and acknowledgement numbers are used for error control.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Congestion Control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Like TCP, SCTP implements congestion control to determine how many data chunks can be injected into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322746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1">
            <a:extLst>
              <a:ext uri="{FF2B5EF4-FFF2-40B4-BE49-F238E27FC236}">
                <a16:creationId xmlns:a16="http://schemas.microsoft.com/office/drawing/2014/main" id="{C74DC3FF-830E-4621-1073-7D756F528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A56B8CD6-530F-43E7-8B82-4CD8CD7F7D33}" type="slidenum">
              <a:rPr lang="en-US" altLang="en-US" sz="2000" baseline="0">
                <a:solidFill>
                  <a:schemeClr val="bg2"/>
                </a:solidFill>
              </a:rPr>
              <a:pPr/>
              <a:t>15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636F8F5D-B65D-46F3-EAB7-DBC9B42A9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1B537BC0-4812-FBAD-2CDF-D9253E302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87B3E256-7CC4-DD4E-0608-1B0834995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802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23.29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Comparison between a TCP segment and an SCTP packet</a:t>
            </a: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120B144B-E7EA-5658-4DF9-8D61CAC98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4E926BC3-5575-75E7-29F6-6603F049C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2420938"/>
            <a:ext cx="9004300" cy="253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1">
            <a:extLst>
              <a:ext uri="{FF2B5EF4-FFF2-40B4-BE49-F238E27FC236}">
                <a16:creationId xmlns:a16="http://schemas.microsoft.com/office/drawing/2014/main" id="{C5CAB7B7-2D0F-EB1F-9D36-F6643AE72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E318C69-977E-4B17-8D1D-55138E842694}" type="slidenum">
              <a:rPr lang="en-US" altLang="en-US" sz="2000" baseline="0">
                <a:solidFill>
                  <a:schemeClr val="bg2"/>
                </a:solidFill>
              </a:rPr>
              <a:pPr/>
              <a:t>16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7CED764-F570-CD8F-2308-5E142E7E62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719F003-E4B7-34DD-FE63-3F1183CF5C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6E773127-4C2E-50B6-318A-B884725F79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3A45D525-B80B-AF64-FF44-333640D501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343B2EF6-FE0A-67EA-D16B-FFF0F32626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A91F1748-B0FE-3941-D4BB-CB6A3D74D2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37D26072-C3EF-D2E7-3ECD-1D0A7F1519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8682" name="Line 9">
            <a:extLst>
              <a:ext uri="{FF2B5EF4-FFF2-40B4-BE49-F238E27FC236}">
                <a16:creationId xmlns:a16="http://schemas.microsoft.com/office/drawing/2014/main" id="{EFA9DB21-C056-6500-9C01-B881D97A5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F3008009-79B6-347D-0596-36F6DB552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Rectangle 11">
            <a:extLst>
              <a:ext uri="{FF2B5EF4-FFF2-40B4-BE49-F238E27FC236}">
                <a16:creationId xmlns:a16="http://schemas.microsoft.com/office/drawing/2014/main" id="{FB48ECDA-3C79-7E6E-C881-99B5D3A90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In SCTP, control information and data information are carried in separate chunks.</a:t>
            </a:r>
          </a:p>
        </p:txBody>
      </p:sp>
      <p:grpSp>
        <p:nvGrpSpPr>
          <p:cNvPr id="28685" name="Group 12">
            <a:extLst>
              <a:ext uri="{FF2B5EF4-FFF2-40B4-BE49-F238E27FC236}">
                <a16:creationId xmlns:a16="http://schemas.microsoft.com/office/drawing/2014/main" id="{1D51E40D-1164-17F5-4FEF-D91881831EE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28686" name="Picture 13">
              <a:extLst>
                <a:ext uri="{FF2B5EF4-FFF2-40B4-BE49-F238E27FC236}">
                  <a16:creationId xmlns:a16="http://schemas.microsoft.com/office/drawing/2014/main" id="{022C80E9-5A5C-7AD1-9E41-CCB97F6FCA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687" name="Text Box 14">
              <a:extLst>
                <a:ext uri="{FF2B5EF4-FFF2-40B4-BE49-F238E27FC236}">
                  <a16:creationId xmlns:a16="http://schemas.microsoft.com/office/drawing/2014/main" id="{AC6E6003-93CE-9E90-FC4A-770272787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1">
            <a:extLst>
              <a:ext uri="{FF2B5EF4-FFF2-40B4-BE49-F238E27FC236}">
                <a16:creationId xmlns:a16="http://schemas.microsoft.com/office/drawing/2014/main" id="{8DE79907-7277-C14D-3414-8A1649741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9E51C353-9D5C-4301-9860-B430F4A9C7D5}" type="slidenum">
              <a:rPr lang="en-US" altLang="en-US" sz="2000" baseline="0">
                <a:solidFill>
                  <a:schemeClr val="bg2"/>
                </a:solidFill>
              </a:rPr>
              <a:pPr/>
              <a:t>17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5D6F0D84-0A48-E84F-D89D-A8F13B90F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EC85ED8B-A562-F1B6-1F66-B36B76C15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E392B552-E556-8BD4-20A1-F6ADBD7EB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5456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23.30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Packet, data chunks, and streams</a:t>
            </a: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2F6157BE-18FC-AEA5-D11E-E360ECA24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18990643-9AF1-AC9F-7663-EDD03739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2141538"/>
            <a:ext cx="8894762" cy="296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>
            <a:extLst>
              <a:ext uri="{FF2B5EF4-FFF2-40B4-BE49-F238E27FC236}">
                <a16:creationId xmlns:a16="http://schemas.microsoft.com/office/drawing/2014/main" id="{137EBA64-5C2E-BC3C-E0FC-6C4C2066A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D2514B72-2D0F-4579-B5EC-9E0C86E540F5}" type="slidenum">
              <a:rPr lang="en-US" altLang="en-US" sz="2000" baseline="0">
                <a:solidFill>
                  <a:schemeClr val="bg2"/>
                </a:solidFill>
              </a:rPr>
              <a:pPr/>
              <a:t>18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61B723C-8EB9-4398-EC0E-5990F5C2C1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F62FFE4-EA3D-893E-3392-6E95E5DA04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F1AD9935-0419-888D-88E5-90B23CC0AB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B1C18A59-783B-9E51-6E61-73D8F9590F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D56B8B7F-C6C4-48AB-6B2E-A4ED9F97F5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FF75BD81-1B5A-A5F7-C24D-C40F549F73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FDE062EA-7B01-0843-50E9-073F3C0998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8" name="Line 9">
            <a:extLst>
              <a:ext uri="{FF2B5EF4-FFF2-40B4-BE49-F238E27FC236}">
                <a16:creationId xmlns:a16="http://schemas.microsoft.com/office/drawing/2014/main" id="{D923DC2E-F68A-A5B3-57F6-9715FD2C6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0">
            <a:extLst>
              <a:ext uri="{FF2B5EF4-FFF2-40B4-BE49-F238E27FC236}">
                <a16:creationId xmlns:a16="http://schemas.microsoft.com/office/drawing/2014/main" id="{D1F53321-59CA-BFBA-06DB-FE2AE7586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5105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Rectangle 11">
            <a:extLst>
              <a:ext uri="{FF2B5EF4-FFF2-40B4-BE49-F238E27FC236}">
                <a16:creationId xmlns:a16="http://schemas.microsoft.com/office/drawing/2014/main" id="{06D492EA-D13D-1D35-F07D-D09D6FDCD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454276"/>
            <a:ext cx="8077200" cy="255454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Data chunks are identified by three items: TSN, SI, and SSN.</a:t>
            </a:r>
          </a:p>
          <a:p>
            <a:pPr algn="ctr"/>
            <a:r>
              <a:rPr lang="en-US" altLang="en-US" baseline="0"/>
              <a:t>TSN is a cumulative number identifying the association; SI defines the stream; SSN defines the chunk in a stream.</a:t>
            </a:r>
          </a:p>
        </p:txBody>
      </p:sp>
      <p:grpSp>
        <p:nvGrpSpPr>
          <p:cNvPr id="32781" name="Group 12">
            <a:extLst>
              <a:ext uri="{FF2B5EF4-FFF2-40B4-BE49-F238E27FC236}">
                <a16:creationId xmlns:a16="http://schemas.microsoft.com/office/drawing/2014/main" id="{7FDCBE06-EAF7-9EA9-B286-E53A6B9AB37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76400"/>
            <a:ext cx="1143000" cy="566738"/>
            <a:chOff x="1200" y="1248"/>
            <a:chExt cx="720" cy="357"/>
          </a:xfrm>
        </p:grpSpPr>
        <p:pic>
          <p:nvPicPr>
            <p:cNvPr id="32782" name="Picture 13">
              <a:extLst>
                <a:ext uri="{FF2B5EF4-FFF2-40B4-BE49-F238E27FC236}">
                  <a16:creationId xmlns:a16="http://schemas.microsoft.com/office/drawing/2014/main" id="{E5A114CC-A3B0-5335-BA42-236D673BF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783" name="Text Box 14">
              <a:extLst>
                <a:ext uri="{FF2B5EF4-FFF2-40B4-BE49-F238E27FC236}">
                  <a16:creationId xmlns:a16="http://schemas.microsoft.com/office/drawing/2014/main" id="{E734A357-BC76-9EBD-307F-A30CF7F47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>
            <a:extLst>
              <a:ext uri="{FF2B5EF4-FFF2-40B4-BE49-F238E27FC236}">
                <a16:creationId xmlns:a16="http://schemas.microsoft.com/office/drawing/2014/main" id="{9399B58E-1FD4-9C23-196A-89F6CFE3B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63FE94F-7F18-4FBA-90E2-679A53AE304F}" type="slidenum">
              <a:rPr lang="en-US" altLang="en-US" sz="2000" baseline="0">
                <a:solidFill>
                  <a:schemeClr val="bg2"/>
                </a:solidFill>
              </a:rPr>
              <a:pPr/>
              <a:t>19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9E69D85-AB6F-049B-BCDA-B52A37C4EA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BB946AD-2C5B-E5A9-4CB3-AAEC043B87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A2089BE8-3C45-A4BE-D064-AACCC07BB2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539C533C-E838-3657-749C-DFF99171E0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1C4DFF89-3EF6-E6DE-BD57-E0149CC90E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6E1D4F82-7741-55E1-EB27-A3CEEC0170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76D3F7CB-EAF0-BDCF-0982-E713614779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6" name="Line 9">
            <a:extLst>
              <a:ext uri="{FF2B5EF4-FFF2-40B4-BE49-F238E27FC236}">
                <a16:creationId xmlns:a16="http://schemas.microsoft.com/office/drawing/2014/main" id="{D513A090-A8F9-B5A0-3BF2-DA85AB668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2C66BD41-7208-3607-48E2-F5B10B809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F67E12D9-82C0-C2CC-DD05-433F0AADC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6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In SCTP, acknowledgment numbers are used to acknowledge only data chunks;</a:t>
            </a:r>
          </a:p>
          <a:p>
            <a:pPr algn="ctr"/>
            <a:r>
              <a:rPr lang="en-US" altLang="en-US" baseline="0"/>
              <a:t>control chunks are acknowledged by other control chunks if necessary.</a:t>
            </a:r>
          </a:p>
        </p:txBody>
      </p:sp>
      <p:grpSp>
        <p:nvGrpSpPr>
          <p:cNvPr id="34829" name="Group 12">
            <a:extLst>
              <a:ext uri="{FF2B5EF4-FFF2-40B4-BE49-F238E27FC236}">
                <a16:creationId xmlns:a16="http://schemas.microsoft.com/office/drawing/2014/main" id="{CF5FDB39-4DA1-2F17-187C-1346CB7E0B4A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34830" name="Picture 13">
              <a:extLst>
                <a:ext uri="{FF2B5EF4-FFF2-40B4-BE49-F238E27FC236}">
                  <a16:creationId xmlns:a16="http://schemas.microsoft.com/office/drawing/2014/main" id="{E931655A-11F2-F50B-0404-179F80BB2D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831" name="Text Box 14">
              <a:extLst>
                <a:ext uri="{FF2B5EF4-FFF2-40B4-BE49-F238E27FC236}">
                  <a16:creationId xmlns:a16="http://schemas.microsoft.com/office/drawing/2014/main" id="{2ECB8747-0588-46AD-7930-01129A1DE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0CF9-AC89-F715-E7AD-71AA8F7D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08797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SCTP Packet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5E50-7D1F-B692-688B-1E9F79D0C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946135"/>
            <a:ext cx="7305675" cy="4397411"/>
          </a:xfrm>
        </p:spPr>
        <p:txBody>
          <a:bodyPr>
            <a:normAutofit/>
          </a:bodyPr>
          <a:lstStyle/>
          <a:p>
            <a:pPr marL="180975" indent="-180975" algn="just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SCTP protocol packet consist of two main parts </a:t>
            </a:r>
            <a:r>
              <a:rPr lang="en-US" dirty="0">
                <a:solidFill>
                  <a:srgbClr val="C00000"/>
                </a:solidFill>
                <a:effectLst/>
              </a:rPr>
              <a:t>Header and Payload</a:t>
            </a:r>
            <a:r>
              <a:rPr lang="en-US" dirty="0">
                <a:effectLst/>
              </a:rPr>
              <a:t>. </a:t>
            </a:r>
          </a:p>
          <a:p>
            <a:pPr marL="180975" indent="-180975" algn="just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Header is common, but </a:t>
            </a:r>
            <a:r>
              <a:rPr lang="en-US" dirty="0">
                <a:solidFill>
                  <a:srgbClr val="C00000"/>
                </a:solidFill>
                <a:effectLst/>
              </a:rPr>
              <a:t>Payload have variable chunks. </a:t>
            </a:r>
          </a:p>
          <a:p>
            <a:pPr marL="0" indent="0" algn="just">
              <a:buNone/>
            </a:pPr>
            <a:endParaRPr lang="en-US" dirty="0">
              <a:solidFill>
                <a:srgbClr val="C00000"/>
              </a:solidFill>
              <a:effectLst/>
            </a:endParaRPr>
          </a:p>
          <a:p>
            <a:pPr marL="180975" indent="-180975" algn="just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Common SCTP header is </a:t>
            </a:r>
            <a:r>
              <a:rPr lang="en-US" dirty="0">
                <a:solidFill>
                  <a:srgbClr val="C00000"/>
                </a:solidFill>
                <a:effectLst/>
              </a:rPr>
              <a:t>12 byte long and made of the 4 parts.</a:t>
            </a:r>
          </a:p>
          <a:p>
            <a:pPr marL="628650" indent="-266700">
              <a:buFont typeface="Wingdings" panose="05000000000000000000" pitchFamily="2" charset="2"/>
              <a:buChar char="Ø"/>
            </a:pPr>
            <a:r>
              <a:rPr lang="en-US" b="1" dirty="0"/>
              <a:t>Port Number (Source):</a:t>
            </a:r>
            <a:r>
              <a:rPr lang="en-US" dirty="0"/>
              <a:t> shows the sending port</a:t>
            </a:r>
          </a:p>
          <a:p>
            <a:pPr marL="628650" indent="-266700">
              <a:buFont typeface="Wingdings" panose="05000000000000000000" pitchFamily="2" charset="2"/>
              <a:buChar char="Ø"/>
            </a:pPr>
            <a:r>
              <a:rPr lang="en-US" b="1" dirty="0"/>
              <a:t>Port Number (Destination):</a:t>
            </a:r>
            <a:r>
              <a:rPr lang="en-US" dirty="0"/>
              <a:t> shows the receiving port</a:t>
            </a:r>
          </a:p>
          <a:p>
            <a:pPr marL="628650" indent="-266700">
              <a:buFont typeface="Wingdings" panose="05000000000000000000" pitchFamily="2" charset="2"/>
              <a:buChar char="Ø"/>
            </a:pPr>
            <a:r>
              <a:rPr lang="en-US" b="1" dirty="0"/>
              <a:t>Verification tag:</a:t>
            </a:r>
            <a:r>
              <a:rPr lang="en-US" dirty="0"/>
              <a:t> a 32-bit random value which differentiate the packets from the previous connection</a:t>
            </a:r>
          </a:p>
          <a:p>
            <a:pPr marL="628650" indent="-266700">
              <a:buFont typeface="Wingdings" panose="05000000000000000000" pitchFamily="2" charset="2"/>
              <a:buChar char="Ø"/>
            </a:pPr>
            <a:r>
              <a:rPr lang="en-US" b="1" dirty="0"/>
              <a:t>Checksum:</a:t>
            </a:r>
            <a:r>
              <a:rPr lang="en-US" dirty="0"/>
              <a:t> a CRC32 algorithm for detection of error.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36849-6CDD-0072-000A-2FF4176C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776" y="1845733"/>
            <a:ext cx="4302589" cy="42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81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0CF9-AC89-F715-E7AD-71AA8F7D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8017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SCTP Packet…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4E316B-E93D-38AF-6A73-B2869B96B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39" y="876301"/>
            <a:ext cx="8799031" cy="5457302"/>
          </a:xfrm>
        </p:spPr>
      </p:pic>
    </p:spTree>
    <p:extLst>
      <p:ext uri="{BB962C8B-B14F-4D97-AF65-F5344CB8AC3E}">
        <p14:creationId xmlns:p14="http://schemas.microsoft.com/office/powerpoint/2010/main" val="810940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>
            <a:extLst>
              <a:ext uri="{FF2B5EF4-FFF2-40B4-BE49-F238E27FC236}">
                <a16:creationId xmlns:a16="http://schemas.microsoft.com/office/drawing/2014/main" id="{8D6E2FCB-0484-4984-D374-6ED9DCB7D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F3159399-AC3F-4BC6-8227-E7298258A7B8}" type="slidenum">
              <a:rPr lang="en-US" altLang="en-US" sz="2000" baseline="0">
                <a:solidFill>
                  <a:schemeClr val="bg2"/>
                </a:solidFill>
              </a:rPr>
              <a:pPr/>
              <a:t>22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7A2AC57-BEDB-2C65-73F7-3C44534DDF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C567BFC-E669-17F3-C0BF-A3102CBF75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5BAD2929-2033-8554-A3E1-049E4D6560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4D9474CE-F56D-25D3-4A66-4ECE18B909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31F15920-E23A-19DE-D775-9E52C32DBC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4D5449E5-2B0E-80AB-078F-A9268E57F4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35AEBF18-9D22-722F-A0B7-4346AC218B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7CBF7ACC-445D-B746-F32A-78B1257F0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4D040B70-2155-D8CA-1E2D-CA1C004C0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Rectangle 11">
            <a:extLst>
              <a:ext uri="{FF2B5EF4-FFF2-40B4-BE49-F238E27FC236}">
                <a16:creationId xmlns:a16="http://schemas.microsoft.com/office/drawing/2014/main" id="{E1DC55A8-B479-8B2F-80DA-340BC6504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A connection in SCTP is called an association.</a:t>
            </a:r>
          </a:p>
        </p:txBody>
      </p:sp>
      <p:grpSp>
        <p:nvGrpSpPr>
          <p:cNvPr id="45069" name="Group 12">
            <a:extLst>
              <a:ext uri="{FF2B5EF4-FFF2-40B4-BE49-F238E27FC236}">
                <a16:creationId xmlns:a16="http://schemas.microsoft.com/office/drawing/2014/main" id="{323CB5F5-1856-B53B-6E1A-58E10A221B8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45070" name="Picture 13">
              <a:extLst>
                <a:ext uri="{FF2B5EF4-FFF2-40B4-BE49-F238E27FC236}">
                  <a16:creationId xmlns:a16="http://schemas.microsoft.com/office/drawing/2014/main" id="{6F4BFD86-5AB2-8716-6A08-5E6DF4834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5071" name="Text Box 14">
              <a:extLst>
                <a:ext uri="{FF2B5EF4-FFF2-40B4-BE49-F238E27FC236}">
                  <a16:creationId xmlns:a16="http://schemas.microsoft.com/office/drawing/2014/main" id="{3A4A1752-EC22-1431-E23E-8571DFE95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1">
            <a:extLst>
              <a:ext uri="{FF2B5EF4-FFF2-40B4-BE49-F238E27FC236}">
                <a16:creationId xmlns:a16="http://schemas.microsoft.com/office/drawing/2014/main" id="{212AC0CD-5A58-66A6-038E-5C8492EC6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B1D50D18-6751-4E86-AE27-0E138127194A}" type="slidenum">
              <a:rPr lang="en-US" altLang="en-US" sz="2000" baseline="0">
                <a:solidFill>
                  <a:schemeClr val="bg2"/>
                </a:solidFill>
              </a:rPr>
              <a:pPr/>
              <a:t>23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77AB53C-5D0D-AD38-6F65-59D7D54E0CF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C1232DD0-F2C8-9813-1B6F-0B32E0882D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A8899854-869F-253E-CDD6-D2D0FA65FE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F3175043-E1FE-4734-078A-808AC8D526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3A64E227-5F35-3868-EFD6-C1F9F2A88F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12" name="Rectangle 7">
            <a:extLst>
              <a:ext uri="{FF2B5EF4-FFF2-40B4-BE49-F238E27FC236}">
                <a16:creationId xmlns:a16="http://schemas.microsoft.com/office/drawing/2014/main" id="{2A70D1BB-886D-9374-4D7B-4F04C8D961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13" name="Rectangle 8">
            <a:extLst>
              <a:ext uri="{FF2B5EF4-FFF2-40B4-BE49-F238E27FC236}">
                <a16:creationId xmlns:a16="http://schemas.microsoft.com/office/drawing/2014/main" id="{55DB8D0A-C98A-3183-CC2E-F16B6C3DD7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7114" name="Line 9">
            <a:extLst>
              <a:ext uri="{FF2B5EF4-FFF2-40B4-BE49-F238E27FC236}">
                <a16:creationId xmlns:a16="http://schemas.microsoft.com/office/drawing/2014/main" id="{DCA7F822-0DD4-23D3-6B3C-1EF5B24C6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Line 10">
            <a:extLst>
              <a:ext uri="{FF2B5EF4-FFF2-40B4-BE49-F238E27FC236}">
                <a16:creationId xmlns:a16="http://schemas.microsoft.com/office/drawing/2014/main" id="{9C0FC2CC-D1D2-0E0F-06CD-B617CFE04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Rectangle 11">
            <a:extLst>
              <a:ext uri="{FF2B5EF4-FFF2-40B4-BE49-F238E27FC236}">
                <a16:creationId xmlns:a16="http://schemas.microsoft.com/office/drawing/2014/main" id="{3027554F-FE5F-D370-6210-6AA25F6F5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6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No other chunk is allowed in a packet carrying an INIT or INIT ACK chunk.</a:t>
            </a:r>
          </a:p>
          <a:p>
            <a:pPr algn="ctr"/>
            <a:r>
              <a:rPr lang="en-US" altLang="en-US" baseline="0"/>
              <a:t>A COOKIE ECHO or a COOKIE ACK chunk can carry data chunks.</a:t>
            </a:r>
          </a:p>
        </p:txBody>
      </p:sp>
      <p:grpSp>
        <p:nvGrpSpPr>
          <p:cNvPr id="47117" name="Group 12">
            <a:extLst>
              <a:ext uri="{FF2B5EF4-FFF2-40B4-BE49-F238E27FC236}">
                <a16:creationId xmlns:a16="http://schemas.microsoft.com/office/drawing/2014/main" id="{CA8EB9B7-3BF7-7038-FCD5-28AFA095F4C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47118" name="Picture 13">
              <a:extLst>
                <a:ext uri="{FF2B5EF4-FFF2-40B4-BE49-F238E27FC236}">
                  <a16:creationId xmlns:a16="http://schemas.microsoft.com/office/drawing/2014/main" id="{DB73B60F-0E71-E982-7F90-6DE6D4C44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119" name="Text Box 14">
              <a:extLst>
                <a:ext uri="{FF2B5EF4-FFF2-40B4-BE49-F238E27FC236}">
                  <a16:creationId xmlns:a16="http://schemas.microsoft.com/office/drawing/2014/main" id="{D9A25313-195E-C2E4-A06A-E32E49704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1">
            <a:extLst>
              <a:ext uri="{FF2B5EF4-FFF2-40B4-BE49-F238E27FC236}">
                <a16:creationId xmlns:a16="http://schemas.microsoft.com/office/drawing/2014/main" id="{11C78FDA-0327-50EB-4E7E-70890E9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3496DAE8-880E-489E-83DB-6785F1F15CD7}" type="slidenum">
              <a:rPr lang="en-US" altLang="en-US" sz="2000" baseline="0">
                <a:solidFill>
                  <a:schemeClr val="bg2"/>
                </a:solidFill>
              </a:rPr>
              <a:pPr/>
              <a:t>24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9155" name="Line 2">
            <a:extLst>
              <a:ext uri="{FF2B5EF4-FFF2-40B4-BE49-F238E27FC236}">
                <a16:creationId xmlns:a16="http://schemas.microsoft.com/office/drawing/2014/main" id="{6DCDB73E-AC28-2A09-ED2A-4719BEF5B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0BC458E4-0B50-10AE-EFC4-3592806D3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1EF5E62-D68F-3286-75AD-ECCD0B4F1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442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23.33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Four-way handshaking</a:t>
            </a:r>
          </a:p>
        </p:txBody>
      </p:sp>
      <p:sp>
        <p:nvSpPr>
          <p:cNvPr id="49158" name="Line 5">
            <a:extLst>
              <a:ext uri="{FF2B5EF4-FFF2-40B4-BE49-F238E27FC236}">
                <a16:creationId xmlns:a16="http://schemas.microsoft.com/office/drawing/2014/main" id="{F34D859B-A272-8D2D-79F0-55DAF711F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9159" name="Picture 6">
            <a:extLst>
              <a:ext uri="{FF2B5EF4-FFF2-40B4-BE49-F238E27FC236}">
                <a16:creationId xmlns:a16="http://schemas.microsoft.com/office/drawing/2014/main" id="{5B043D2B-DBC0-16D3-95FB-122511E74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4" y="1447800"/>
            <a:ext cx="7056437" cy="416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1">
            <a:extLst>
              <a:ext uri="{FF2B5EF4-FFF2-40B4-BE49-F238E27FC236}">
                <a16:creationId xmlns:a16="http://schemas.microsoft.com/office/drawing/2014/main" id="{571F5087-5680-F309-C9EF-DBF88FFFA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DB7F8089-F199-4289-A6AC-8217A299E1DF}" type="slidenum">
              <a:rPr lang="en-US" altLang="en-US" sz="2000" baseline="0">
                <a:solidFill>
                  <a:schemeClr val="bg2"/>
                </a:solidFill>
              </a:rPr>
              <a:pPr/>
              <a:t>25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E5FBFD8-FC9A-1C27-6D89-2D436BBE4D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75E0D4EA-1CB8-50F2-8439-E2842C3924C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5" name="Rectangle 4">
            <a:extLst>
              <a:ext uri="{FF2B5EF4-FFF2-40B4-BE49-F238E27FC236}">
                <a16:creationId xmlns:a16="http://schemas.microsoft.com/office/drawing/2014/main" id="{3163771C-A0A8-7B0E-D393-FA95AE81AF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60D8DEBB-A68A-2D97-0F8C-A441327FDC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BB2750E2-F5E2-9D3C-8E50-6C76C7E4CFD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8" name="Rectangle 7">
            <a:extLst>
              <a:ext uri="{FF2B5EF4-FFF2-40B4-BE49-F238E27FC236}">
                <a16:creationId xmlns:a16="http://schemas.microsoft.com/office/drawing/2014/main" id="{98F7A872-73F5-8EB6-BCEF-34A5112EE4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09" name="Rectangle 8">
            <a:extLst>
              <a:ext uri="{FF2B5EF4-FFF2-40B4-BE49-F238E27FC236}">
                <a16:creationId xmlns:a16="http://schemas.microsoft.com/office/drawing/2014/main" id="{B3821035-547A-E7CF-611C-5F09005B48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1210" name="Line 9">
            <a:extLst>
              <a:ext uri="{FF2B5EF4-FFF2-40B4-BE49-F238E27FC236}">
                <a16:creationId xmlns:a16="http://schemas.microsoft.com/office/drawing/2014/main" id="{6D88DCF7-8005-A863-C894-7D9D5EA91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Line 10">
            <a:extLst>
              <a:ext uri="{FF2B5EF4-FFF2-40B4-BE49-F238E27FC236}">
                <a16:creationId xmlns:a16="http://schemas.microsoft.com/office/drawing/2014/main" id="{658FBEE3-399E-8D76-8BD1-4396C694D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2" name="Rectangle 11">
            <a:extLst>
              <a:ext uri="{FF2B5EF4-FFF2-40B4-BE49-F238E27FC236}">
                <a16:creationId xmlns:a16="http://schemas.microsoft.com/office/drawing/2014/main" id="{D133DB62-DA10-81FD-A0B6-E28DDE326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6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In SCTP, only DATA chunks </a:t>
            </a:r>
            <a:br>
              <a:rPr lang="en-US" altLang="en-US" baseline="0"/>
            </a:br>
            <a:r>
              <a:rPr lang="en-US" altLang="en-US" baseline="0"/>
              <a:t>consume TSNs;</a:t>
            </a:r>
          </a:p>
          <a:p>
            <a:pPr algn="ctr"/>
            <a:r>
              <a:rPr lang="en-US" altLang="en-US" baseline="0"/>
              <a:t>DATA chunks are the only chunks </a:t>
            </a:r>
            <a:br>
              <a:rPr lang="en-US" altLang="en-US" baseline="0"/>
            </a:br>
            <a:r>
              <a:rPr lang="en-US" altLang="en-US" baseline="0"/>
              <a:t>that are acknowledged.</a:t>
            </a:r>
          </a:p>
        </p:txBody>
      </p:sp>
      <p:grpSp>
        <p:nvGrpSpPr>
          <p:cNvPr id="51213" name="Group 12">
            <a:extLst>
              <a:ext uri="{FF2B5EF4-FFF2-40B4-BE49-F238E27FC236}">
                <a16:creationId xmlns:a16="http://schemas.microsoft.com/office/drawing/2014/main" id="{2DDE5C7D-013D-7CFE-BEE9-21CD48C2668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51214" name="Picture 13">
              <a:extLst>
                <a:ext uri="{FF2B5EF4-FFF2-40B4-BE49-F238E27FC236}">
                  <a16:creationId xmlns:a16="http://schemas.microsoft.com/office/drawing/2014/main" id="{1D97AE43-FFBE-88A8-8AEC-6DD89BD9B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15" name="Text Box 14">
              <a:extLst>
                <a:ext uri="{FF2B5EF4-FFF2-40B4-BE49-F238E27FC236}">
                  <a16:creationId xmlns:a16="http://schemas.microsoft.com/office/drawing/2014/main" id="{E02EE619-5258-C019-5B66-2E1A67770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>
            <a:extLst>
              <a:ext uri="{FF2B5EF4-FFF2-40B4-BE49-F238E27FC236}">
                <a16:creationId xmlns:a16="http://schemas.microsoft.com/office/drawing/2014/main" id="{EF3FB655-8DDC-86C2-ECD4-D69ACDBC1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4EC89D20-AF61-4748-BCB9-F89D33CD13CB}" type="slidenum">
              <a:rPr lang="en-US" altLang="en-US" sz="2000" baseline="0">
                <a:solidFill>
                  <a:schemeClr val="bg2"/>
                </a:solidFill>
              </a:rPr>
              <a:pPr/>
              <a:t>26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53251" name="Line 2">
            <a:extLst>
              <a:ext uri="{FF2B5EF4-FFF2-40B4-BE49-F238E27FC236}">
                <a16:creationId xmlns:a16="http://schemas.microsoft.com/office/drawing/2014/main" id="{16A6C2E1-B4CE-8999-933B-492E3D385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01B080A3-26AB-B7A5-8B27-3294BDD03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A846484F-1439-B5BA-2E0E-25820C4B4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228600"/>
            <a:ext cx="408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23.34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Simple data transfer</a:t>
            </a:r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37566579-45A1-4265-F16C-75262E4A1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3255" name="Picture 6">
            <a:extLst>
              <a:ext uri="{FF2B5EF4-FFF2-40B4-BE49-F238E27FC236}">
                <a16:creationId xmlns:a16="http://schemas.microsoft.com/office/drawing/2014/main" id="{4DDF5102-5512-6642-DD93-1C9E5DAC1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1006476"/>
            <a:ext cx="5776912" cy="524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1">
            <a:extLst>
              <a:ext uri="{FF2B5EF4-FFF2-40B4-BE49-F238E27FC236}">
                <a16:creationId xmlns:a16="http://schemas.microsoft.com/office/drawing/2014/main" id="{223B2126-1C34-A3E3-93DA-8FDB0106E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C602AAE6-973B-43EF-914E-AD8ECE526F88}" type="slidenum">
              <a:rPr lang="en-US" altLang="en-US" sz="2000" baseline="0">
                <a:solidFill>
                  <a:schemeClr val="bg2"/>
                </a:solidFill>
              </a:rPr>
              <a:pPr/>
              <a:t>27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1F35B07-9BB4-2F90-18C8-C953D31931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FCA04C8-BCFC-69F1-EBC7-801080C3D9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1" name="Rectangle 4">
            <a:extLst>
              <a:ext uri="{FF2B5EF4-FFF2-40B4-BE49-F238E27FC236}">
                <a16:creationId xmlns:a16="http://schemas.microsoft.com/office/drawing/2014/main" id="{8AE8F271-5C60-4A5F-9738-506AD84AC0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2" name="Rectangle 5">
            <a:extLst>
              <a:ext uri="{FF2B5EF4-FFF2-40B4-BE49-F238E27FC236}">
                <a16:creationId xmlns:a16="http://schemas.microsoft.com/office/drawing/2014/main" id="{A43A3DF0-338A-FD46-0F05-8F4AD5DD3E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80034B36-BF89-6854-E0C4-429239D4F2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4" name="Rectangle 7">
            <a:extLst>
              <a:ext uri="{FF2B5EF4-FFF2-40B4-BE49-F238E27FC236}">
                <a16:creationId xmlns:a16="http://schemas.microsoft.com/office/drawing/2014/main" id="{A353150D-330F-5C53-89C6-159ED71D2A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5" name="Rectangle 8">
            <a:extLst>
              <a:ext uri="{FF2B5EF4-FFF2-40B4-BE49-F238E27FC236}">
                <a16:creationId xmlns:a16="http://schemas.microsoft.com/office/drawing/2014/main" id="{24FD36D6-472B-EB0B-2E3A-EC442B6852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6" name="Line 9">
            <a:extLst>
              <a:ext uri="{FF2B5EF4-FFF2-40B4-BE49-F238E27FC236}">
                <a16:creationId xmlns:a16="http://schemas.microsoft.com/office/drawing/2014/main" id="{A75214BF-DDFB-6900-C932-952D6192A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Line 10">
            <a:extLst>
              <a:ext uri="{FF2B5EF4-FFF2-40B4-BE49-F238E27FC236}">
                <a16:creationId xmlns:a16="http://schemas.microsoft.com/office/drawing/2014/main" id="{C1BD68F7-2BDD-25C7-902C-1F5F50039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8" name="Rectangle 11">
            <a:extLst>
              <a:ext uri="{FF2B5EF4-FFF2-40B4-BE49-F238E27FC236}">
                <a16:creationId xmlns:a16="http://schemas.microsoft.com/office/drawing/2014/main" id="{F8C119A9-4C45-BB7F-99F8-9EC8C1E4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acknowledgment in SCTP defines the cumulative TSN, the TSN of the last data chunk received in order.</a:t>
            </a:r>
          </a:p>
        </p:txBody>
      </p:sp>
      <p:grpSp>
        <p:nvGrpSpPr>
          <p:cNvPr id="55309" name="Group 12">
            <a:extLst>
              <a:ext uri="{FF2B5EF4-FFF2-40B4-BE49-F238E27FC236}">
                <a16:creationId xmlns:a16="http://schemas.microsoft.com/office/drawing/2014/main" id="{CD06BD63-4E59-944D-AA0F-0095696B71A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55310" name="Picture 13">
              <a:extLst>
                <a:ext uri="{FF2B5EF4-FFF2-40B4-BE49-F238E27FC236}">
                  <a16:creationId xmlns:a16="http://schemas.microsoft.com/office/drawing/2014/main" id="{6DF612DA-45F3-036A-3973-907A94A48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311" name="Text Box 14">
              <a:extLst>
                <a:ext uri="{FF2B5EF4-FFF2-40B4-BE49-F238E27FC236}">
                  <a16:creationId xmlns:a16="http://schemas.microsoft.com/office/drawing/2014/main" id="{CA326421-CFFF-058F-34B5-CFABB5B18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>
            <a:extLst>
              <a:ext uri="{FF2B5EF4-FFF2-40B4-BE49-F238E27FC236}">
                <a16:creationId xmlns:a16="http://schemas.microsoft.com/office/drawing/2014/main" id="{B4DE7482-DEF9-E4FD-97F9-31C438851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7A7FC77C-FDD8-4FDA-A140-0AFB09ECC471}" type="slidenum">
              <a:rPr lang="en-US" altLang="en-US" sz="2000" baseline="0">
                <a:solidFill>
                  <a:schemeClr val="bg2"/>
                </a:solidFill>
              </a:rPr>
              <a:pPr/>
              <a:t>28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57347" name="Line 2">
            <a:extLst>
              <a:ext uri="{FF2B5EF4-FFF2-40B4-BE49-F238E27FC236}">
                <a16:creationId xmlns:a16="http://schemas.microsoft.com/office/drawing/2014/main" id="{58819E51-280E-5A66-6561-5F8F28849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8" name="Line 3">
            <a:extLst>
              <a:ext uri="{FF2B5EF4-FFF2-40B4-BE49-F238E27FC236}">
                <a16:creationId xmlns:a16="http://schemas.microsoft.com/office/drawing/2014/main" id="{B517F682-B57E-0E00-4FF6-25CBCE840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13B34D27-73AF-6DCD-F287-E392AF223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445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23.35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Association termination</a:t>
            </a:r>
          </a:p>
        </p:txBody>
      </p:sp>
      <p:sp>
        <p:nvSpPr>
          <p:cNvPr id="57350" name="Line 5">
            <a:extLst>
              <a:ext uri="{FF2B5EF4-FFF2-40B4-BE49-F238E27FC236}">
                <a16:creationId xmlns:a16="http://schemas.microsoft.com/office/drawing/2014/main" id="{3CA924DE-EA45-4FAF-F0F0-103983211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351" name="Picture 6">
            <a:extLst>
              <a:ext uri="{FF2B5EF4-FFF2-40B4-BE49-F238E27FC236}">
                <a16:creationId xmlns:a16="http://schemas.microsoft.com/office/drawing/2014/main" id="{9D6996C7-CA31-67FB-DD8F-E14E65D6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6" y="1593850"/>
            <a:ext cx="7788275" cy="412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510E-0852-278F-7130-D929B82C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/>
          </a:bodyPr>
          <a:lstStyle/>
          <a:p>
            <a:pPr algn="ctr"/>
            <a:r>
              <a:rPr lang="en-IN" sz="4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TCP, UDP and SCTP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B14110-F6A9-7846-A432-851A4140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3758AC-032E-B8D0-E938-4E4C98CDE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52525"/>
            <a:ext cx="10125052" cy="50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64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–Network Protocols and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852</Words>
  <Application>Microsoft Office PowerPoint</Application>
  <PresentationFormat>Widescreen</PresentationFormat>
  <Paragraphs>163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Arial</vt:lpstr>
      <vt:lpstr>BioRhyme ExtraBold</vt:lpstr>
      <vt:lpstr>Calibri</vt:lpstr>
      <vt:lpstr>Calibri Light</vt:lpstr>
      <vt:lpstr>Poppins</vt:lpstr>
      <vt:lpstr>Tahoma</vt:lpstr>
      <vt:lpstr>Times New Roman</vt:lpstr>
      <vt:lpstr>Wingdings</vt:lpstr>
      <vt:lpstr>Retrospect</vt:lpstr>
      <vt:lpstr>PowerPoint Presentation</vt:lpstr>
      <vt:lpstr>SCTP Protocol</vt:lpstr>
      <vt:lpstr>PowerPoint Presentation</vt:lpstr>
      <vt:lpstr>PowerPoint Presentation</vt:lpstr>
      <vt:lpstr>PowerPoint Presentation</vt:lpstr>
      <vt:lpstr>Features of SCTP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Features of SCTP…</vt:lpstr>
      <vt:lpstr>Features of SCTP…</vt:lpstr>
      <vt:lpstr>Features of SCTP…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SCTP Packet</vt:lpstr>
      <vt:lpstr>SCTP Packet…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of TCP, UDP and SCTP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NAT implementation</dc:title>
  <dc:creator>preetham chiramana</dc:creator>
  <cp:lastModifiedBy>GORLA VENKATA GANESH</cp:lastModifiedBy>
  <cp:revision>73</cp:revision>
  <dcterms:created xsi:type="dcterms:W3CDTF">2020-11-27T17:03:30Z</dcterms:created>
  <dcterms:modified xsi:type="dcterms:W3CDTF">2026-02-27T09:03:38Z</dcterms:modified>
</cp:coreProperties>
</file>