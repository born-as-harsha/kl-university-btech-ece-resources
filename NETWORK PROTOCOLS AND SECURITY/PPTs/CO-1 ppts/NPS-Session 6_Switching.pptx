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71" r:id="rId5"/>
    <p:sldId id="300" r:id="rId6"/>
    <p:sldId id="276" r:id="rId7"/>
    <p:sldId id="333" r:id="rId8"/>
    <p:sldId id="334" r:id="rId9"/>
    <p:sldId id="335" r:id="rId10"/>
    <p:sldId id="336" r:id="rId11"/>
    <p:sldId id="337" r:id="rId12"/>
    <p:sldId id="311" r:id="rId13"/>
    <p:sldId id="338" r:id="rId14"/>
    <p:sldId id="287" r:id="rId15"/>
    <p:sldId id="303" r:id="rId16"/>
    <p:sldId id="30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2532"/>
    <a:srgbClr val="FF3399"/>
    <a:srgbClr val="CF2F33"/>
    <a:srgbClr val="FF9900"/>
    <a:srgbClr val="E84845"/>
    <a:srgbClr val="FAD2D2"/>
    <a:srgbClr val="F89E4C"/>
    <a:srgbClr val="A81E24"/>
    <a:srgbClr val="FFF2CC"/>
    <a:srgbClr val="E3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54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56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99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54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51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data_communication_computer_network/computer_network_topologies.htm" TargetMode="External"/><Relationship Id="rId2" Type="http://schemas.openxmlformats.org/officeDocument/2006/relationships/hyperlink" Target="https://www.geeksforgeeks.org/types-of-transmission-technology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javatpoint.com/computer-network-transmission-modes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Switching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28171" y="5086527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- 6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</a:t>
            </a:r>
            <a:r>
              <a:rPr lang="en-US" sz="1600" dirty="0">
                <a:latin typeface="Poppins"/>
                <a:cs typeface="Poppins"/>
              </a:rPr>
              <a:t>different switching techniques in Computer networks.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</a:t>
            </a:r>
            <a:r>
              <a:rPr lang="en-US" sz="1600" dirty="0">
                <a:latin typeface="Arial" panose="020B0604020202020204" pitchFamily="34" charset="0"/>
              </a:rPr>
              <a:t>need for switching in computer networks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. 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 different switching techniques.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9157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180507" y="4781915"/>
            <a:ext cx="10199071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Understand the importance of Switching.</a:t>
            </a:r>
            <a:endParaRPr lang="en-IN" sz="1600" dirty="0">
              <a:latin typeface="Arial" panose="020B0604020202020204" pitchFamily="34" charset="0"/>
            </a:endParaRPr>
          </a:p>
          <a:p>
            <a:pPr marL="342900" lvl="0" indent="-342900" fontAlgn="base">
              <a:buFont typeface="Wingdings" pitchFamily="2" charset="2"/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Categorize different switching techniques.</a:t>
            </a:r>
            <a:endParaRPr lang="en-IN" sz="1600" dirty="0">
              <a:latin typeface="Arial" panose="020B0604020202020204" pitchFamily="34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8" y="1257300"/>
            <a:ext cx="11464292" cy="484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42925" indent="-3619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Switching is the technique of transferring the information from one computer network to another network.</a:t>
            </a:r>
          </a:p>
          <a:p>
            <a:pPr marL="542925" indent="-3619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Switching in a computer network is achieved by using switches. </a:t>
            </a:r>
          </a:p>
          <a:p>
            <a:pPr marL="542925" indent="-3619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Network switches operate at layer 2 (Data link layer) in the OSI model.</a:t>
            </a:r>
          </a:p>
          <a:p>
            <a:pPr marL="542925" indent="-3619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Network switches operate at Layer 2 of the OSI model, facilitating more efficient and selective data transmission. </a:t>
            </a:r>
          </a:p>
          <a:p>
            <a:pPr marL="542925" indent="-3619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Switches are used to forward the packets based on MAC addresses.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SWITCHING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487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8" y="1257300"/>
            <a:ext cx="11464292" cy="484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80975" algn="just"/>
            <a:r>
              <a:rPr lang="en-US" sz="2400" b="1" dirty="0">
                <a:solidFill>
                  <a:srgbClr val="BA2532"/>
                </a:solidFill>
                <a:latin typeface="Goudy Old Style" panose="02020502050305020303" pitchFamily="18" charset="0"/>
              </a:rPr>
              <a:t>Circuit Switching: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When two nodes communicate with each other over a dedicated communication path, it is called circuit switching.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In circuit switching, to transfer the data, circuit must be established so that the data transfer can take place.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Circuits can be permanent or temporary. 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Applications which use circuit switching may have to go through three phases:</a:t>
            </a: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70C0"/>
                </a:solidFill>
                <a:latin typeface="Goudy Old Style" panose="02020502050305020303" pitchFamily="18" charset="0"/>
              </a:rPr>
              <a:t>Establish a circuit</a:t>
            </a: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70C0"/>
                </a:solidFill>
                <a:latin typeface="Goudy Old Style" panose="02020502050305020303" pitchFamily="18" charset="0"/>
              </a:rPr>
              <a:t>Transfer the data</a:t>
            </a: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0070C0"/>
                </a:solidFill>
                <a:latin typeface="Goudy Old Style" panose="02020502050305020303" pitchFamily="18" charset="0"/>
              </a:rPr>
              <a:t>Disconnect the circuit</a:t>
            </a:r>
          </a:p>
          <a:p>
            <a:pPr marL="180975" algn="just"/>
            <a:endParaRPr lang="en-US" sz="2200" dirty="0">
              <a:solidFill>
                <a:srgbClr val="0070C0"/>
              </a:solidFill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SWITCHING: Circuit Switching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635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8" y="1257300"/>
            <a:ext cx="5587367" cy="484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80975" algn="just"/>
            <a:r>
              <a:rPr lang="en-US" sz="2400" b="1" dirty="0">
                <a:solidFill>
                  <a:srgbClr val="BA2532"/>
                </a:solidFill>
                <a:latin typeface="Goudy Old Style" panose="02020502050305020303" pitchFamily="18" charset="0"/>
              </a:rPr>
              <a:t>Circuit Switching:</a:t>
            </a:r>
          </a:p>
          <a:p>
            <a:pPr marL="180975" algn="just"/>
            <a:endParaRPr lang="en-US" sz="2400" b="1" dirty="0">
              <a:solidFill>
                <a:srgbClr val="BA2532"/>
              </a:solidFill>
              <a:latin typeface="Goudy Old Style" panose="02020502050305020303" pitchFamily="18" charset="0"/>
            </a:endParaRP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Circuit switching was designed for voice applications. 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Telephone is the best suitable example of circuit switching. 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Before a user can make a call, a virtual path between caller and callee is established over the network.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SWITCHING: Circuit Switching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3441BA-156A-1B3D-0C0F-1FE2EE3F4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57300"/>
            <a:ext cx="5897851" cy="414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9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8" y="1257300"/>
            <a:ext cx="11464292" cy="484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80975" algn="just"/>
            <a:r>
              <a:rPr lang="en-US" sz="2400" b="1" dirty="0">
                <a:solidFill>
                  <a:srgbClr val="BA2532"/>
                </a:solidFill>
                <a:latin typeface="Goudy Old Style" panose="02020502050305020303" pitchFamily="18" charset="0"/>
              </a:rPr>
              <a:t>Message Switching:</a:t>
            </a:r>
          </a:p>
          <a:p>
            <a:pPr marL="180975" algn="just"/>
            <a:endParaRPr lang="en-US" sz="2400" b="1" dirty="0">
              <a:solidFill>
                <a:srgbClr val="BA2532"/>
              </a:solidFill>
              <a:latin typeface="Goudy Old Style" panose="02020502050305020303" pitchFamily="18" charset="0"/>
            </a:endParaRP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Message switching is in middle of circuit switching and packet switching. 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In message switching, the whole message is treated as a data unit and is transferred entirely.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A switch working on message switching, first receives the whole message and buffers it until there are resources available to transfer it to the next hop (next switch). 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If the next hop is not having enough resource to accommodate large size message, the message is stored and switch waits.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SWITCHING: Message Switching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8604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7" y="1257300"/>
            <a:ext cx="11378567" cy="5391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80975" algn="just"/>
            <a:endParaRPr lang="en-US" sz="2400" b="1" dirty="0">
              <a:solidFill>
                <a:srgbClr val="BA2532"/>
              </a:solidFill>
              <a:latin typeface="Goudy Old Style" panose="02020502050305020303" pitchFamily="18" charset="0"/>
            </a:endParaRPr>
          </a:p>
          <a:p>
            <a:pPr marL="180975" algn="just"/>
            <a:endParaRPr lang="en-US" sz="2400" b="1" dirty="0">
              <a:solidFill>
                <a:srgbClr val="BA2532"/>
              </a:solidFill>
              <a:latin typeface="Goudy Old Style" panose="02020502050305020303" pitchFamily="18" charset="0"/>
            </a:endParaRPr>
          </a:p>
          <a:p>
            <a:pPr marL="180975" algn="just"/>
            <a:endParaRPr lang="en-US" sz="2400" b="1" dirty="0">
              <a:solidFill>
                <a:srgbClr val="BA2532"/>
              </a:solidFill>
              <a:latin typeface="Goudy Old Style" panose="02020502050305020303" pitchFamily="18" charset="0"/>
            </a:endParaRPr>
          </a:p>
          <a:p>
            <a:pPr marL="180975" algn="just"/>
            <a:endParaRPr lang="en-US" sz="2400" b="1" dirty="0">
              <a:solidFill>
                <a:srgbClr val="BA2532"/>
              </a:solidFill>
              <a:latin typeface="Goudy Old Style" panose="02020502050305020303" pitchFamily="18" charset="0"/>
            </a:endParaRPr>
          </a:p>
          <a:p>
            <a:pPr marL="180975" algn="just"/>
            <a:endParaRPr lang="en-US" sz="2400" b="1" dirty="0">
              <a:solidFill>
                <a:srgbClr val="BA2532"/>
              </a:solidFill>
              <a:latin typeface="Goudy Old Style" panose="02020502050305020303" pitchFamily="18" charset="0"/>
            </a:endParaRPr>
          </a:p>
          <a:p>
            <a:pPr marL="180975" algn="just"/>
            <a:endParaRPr lang="en-US" sz="2400" b="1" dirty="0">
              <a:solidFill>
                <a:srgbClr val="BA2532"/>
              </a:solidFill>
              <a:latin typeface="Goudy Old Style" panose="02020502050305020303" pitchFamily="18" charset="0"/>
            </a:endParaRPr>
          </a:p>
          <a:p>
            <a:pPr marL="180975" algn="just"/>
            <a:endParaRPr lang="en-US" sz="2400" b="1" dirty="0">
              <a:solidFill>
                <a:srgbClr val="BA2532"/>
              </a:solidFill>
              <a:latin typeface="Goudy Old Style" panose="02020502050305020303" pitchFamily="18" charset="0"/>
            </a:endParaRPr>
          </a:p>
          <a:p>
            <a:pPr marL="180975" algn="just"/>
            <a:endParaRPr lang="en-US" sz="2400" b="1" dirty="0">
              <a:solidFill>
                <a:srgbClr val="BA2532"/>
              </a:solidFill>
              <a:latin typeface="Goudy Old Style" panose="02020502050305020303" pitchFamily="18" charset="0"/>
            </a:endParaRPr>
          </a:p>
          <a:p>
            <a:pPr marL="180975" algn="just"/>
            <a:endParaRPr lang="en-US" sz="2400" b="1" dirty="0">
              <a:solidFill>
                <a:srgbClr val="BA2532"/>
              </a:solidFill>
              <a:latin typeface="Goudy Old Style" panose="02020502050305020303" pitchFamily="18" charset="0"/>
            </a:endParaRPr>
          </a:p>
          <a:p>
            <a:pPr marL="180975" algn="just"/>
            <a:endParaRPr lang="en-US" sz="2400" b="1" dirty="0">
              <a:solidFill>
                <a:srgbClr val="BA2532"/>
              </a:solidFill>
              <a:latin typeface="Goudy Old Style" panose="02020502050305020303" pitchFamily="18" charset="0"/>
            </a:endParaRPr>
          </a:p>
          <a:p>
            <a:pPr marL="180975" algn="just"/>
            <a:r>
              <a:rPr lang="en-US" sz="2400" b="1" dirty="0">
                <a:solidFill>
                  <a:srgbClr val="BA2532"/>
                </a:solidFill>
                <a:latin typeface="Goudy Old Style" panose="02020502050305020303" pitchFamily="18" charset="0"/>
              </a:rPr>
              <a:t>Drawbacks of Message Switching: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Every switch in transit path needs enough storage to accommodate entire message.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Because of store-and-forward technique, message switching is very slow.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Message switching is not suitable for streaming media and real-time applications.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23875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oudy Old Style" panose="02020502050305020303" pitchFamily="18" charset="0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SWITCHING: Message Switching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27A1E1-4668-345B-2999-1C4FF5AD2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459" y="993438"/>
            <a:ext cx="7871081" cy="375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13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56B8BB-1532-4824-8B5B-019099A7B60F}"/>
              </a:ext>
            </a:extLst>
          </p:cNvPr>
          <p:cNvSpPr txBox="1"/>
          <p:nvPr/>
        </p:nvSpPr>
        <p:spPr>
          <a:xfrm>
            <a:off x="137158" y="933451"/>
            <a:ext cx="6082667" cy="57340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180975" algn="just"/>
            <a:r>
              <a:rPr lang="en-US" sz="2400" b="1" dirty="0">
                <a:solidFill>
                  <a:srgbClr val="BA2532"/>
                </a:solidFill>
                <a:latin typeface="Goudy Old Style" panose="02020502050305020303" pitchFamily="18" charset="0"/>
              </a:rPr>
              <a:t>Packet Switching: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Shortcomings of message switching gave birth to an idea of packet switching. 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The entire message is broken down into smaller chunks called packets. 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The switching information is added in the header of each packet and transmitted independently.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23875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Goudy Old Style" panose="02020502050305020303" pitchFamily="18" charset="0"/>
              </a:rPr>
              <a:t>The internet uses packet switching technique. </a:t>
            </a:r>
          </a:p>
          <a:p>
            <a:pPr marL="523875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523875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Goudy Old Style" panose="02020502050305020303" pitchFamily="18" charset="0"/>
            </a:endParaRPr>
          </a:p>
          <a:p>
            <a:pPr marL="180975" algn="just"/>
            <a:r>
              <a:rPr lang="en-US" sz="2200" b="1" dirty="0">
                <a:solidFill>
                  <a:srgbClr val="0070C0"/>
                </a:solidFill>
                <a:latin typeface="Goudy Old Style" panose="02020502050305020303" pitchFamily="18" charset="0"/>
              </a:rPr>
              <a:t>Advantage of Packet Switching:</a:t>
            </a:r>
          </a:p>
          <a:p>
            <a:pPr marL="523875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Goudy Old Style" panose="02020502050305020303" pitchFamily="18" charset="0"/>
              </a:rPr>
              <a:t>It is easier for intermediate networking devices to store small size packets.</a:t>
            </a:r>
          </a:p>
          <a:p>
            <a:pPr marL="180975" algn="just"/>
            <a:endParaRPr lang="en-US" sz="2200" dirty="0">
              <a:latin typeface="Goudy Old Style" panose="02020502050305020303" pitchFamily="18" charset="0"/>
            </a:endParaRPr>
          </a:p>
          <a:p>
            <a:pPr marL="523875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Goudy Old Style" panose="02020502050305020303" pitchFamily="18" charset="0"/>
              </a:rPr>
              <a:t>They do not take much resources either on carrier path or in the internal memory of switches.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D322F8D7-E1EC-E563-DE64-173292379795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SWITCHING: Packet Switching </a:t>
            </a:r>
          </a:p>
        </p:txBody>
      </p:sp>
      <p:pic>
        <p:nvPicPr>
          <p:cNvPr id="7" name="Picture 2" descr="KL Deemed to be University Logo">
            <a:extLst>
              <a:ext uri="{FF2B5EF4-FFF2-40B4-BE49-F238E27FC236}">
                <a16:creationId xmlns:a16="http://schemas.microsoft.com/office/drawing/2014/main" id="{2A1F94C5-8622-E9FC-31BB-8A5FCDBF7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F678FB-C1AE-CE9A-B34F-F56C35B9E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583" y="1257300"/>
            <a:ext cx="5705259" cy="484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0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In which of the following switching methods, the message is divided into small packets?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17914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Circuit Switching</a:t>
            </a:r>
            <a:endParaRPr lang="en-US" dirty="0"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dirty="0"/>
              <a:t>Message Switching</a:t>
            </a:r>
          </a:p>
          <a:p>
            <a:pPr marL="342900" indent="-342900">
              <a:buAutoNum type="alphaLcParenBoth"/>
            </a:pPr>
            <a:r>
              <a:rPr lang="en-US" dirty="0"/>
              <a:t>Packet Switching</a:t>
            </a:r>
          </a:p>
          <a:p>
            <a:pPr marL="342900" indent="-342900">
              <a:buFontTx/>
              <a:buAutoNum type="alphaLcParenBoth"/>
            </a:pPr>
            <a:r>
              <a:rPr lang="en-US" dirty="0"/>
              <a:t>Virtual Switching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2872640"/>
            <a:ext cx="10172210" cy="711585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Which of the following switch methods creates a point-to-point physical connection between two or more computers?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52512" y="3736283"/>
            <a:ext cx="2901705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Circuit Switching</a:t>
            </a:r>
            <a:endParaRPr lang="en-US" dirty="0"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dirty="0"/>
              <a:t>Message Switching</a:t>
            </a:r>
          </a:p>
          <a:p>
            <a:pPr marL="342900" indent="-342900">
              <a:buAutoNum type="alphaLcParenBoth"/>
            </a:pPr>
            <a:r>
              <a:rPr lang="en-US" dirty="0"/>
              <a:t>Packet Switching</a:t>
            </a:r>
          </a:p>
          <a:p>
            <a:pPr marL="342900" indent="-342900">
              <a:buFontTx/>
              <a:buAutoNum type="alphaLcParenBoth"/>
            </a:pPr>
            <a:r>
              <a:rPr lang="en-US" dirty="0"/>
              <a:t>Virtual Switching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1009895" y="5003206"/>
            <a:ext cx="10172210" cy="364796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 A local telephone network is an example of a _______ network.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3162713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Circuit Switching</a:t>
            </a:r>
            <a:endParaRPr lang="en-US" dirty="0"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dirty="0"/>
              <a:t>Message Switching</a:t>
            </a:r>
          </a:p>
          <a:p>
            <a:pPr marL="342900" indent="-342900">
              <a:buAutoNum type="alphaLcParenBoth"/>
            </a:pPr>
            <a:r>
              <a:rPr lang="en-US" dirty="0"/>
              <a:t>Packet Switching</a:t>
            </a:r>
          </a:p>
          <a:p>
            <a:pPr marL="342900" indent="-342900">
              <a:buFontTx/>
              <a:buAutoNum type="alphaLcParenBoth"/>
            </a:pPr>
            <a:r>
              <a:rPr lang="en-US" dirty="0"/>
              <a:t>Virtual Switching</a:t>
            </a:r>
          </a:p>
        </p:txBody>
      </p:sp>
    </p:spTree>
    <p:extLst>
      <p:ext uri="{BB962C8B-B14F-4D97-AF65-F5344CB8AC3E}">
        <p14:creationId xmlns:p14="http://schemas.microsoft.com/office/powerpoint/2010/main" val="10543486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In which of the following switching methods, the message is divided into small packets?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17914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Circuit Switching</a:t>
            </a:r>
            <a:endParaRPr lang="en-US" dirty="0"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dirty="0"/>
              <a:t>Message Switching</a:t>
            </a:r>
          </a:p>
          <a:p>
            <a:pPr marL="342900" indent="-342900">
              <a:buAutoNum type="alphaLcParenBoth"/>
            </a:pPr>
            <a:r>
              <a:rPr lang="en-US" b="1" dirty="0">
                <a:solidFill>
                  <a:schemeClr val="tx1"/>
                </a:solidFill>
              </a:rPr>
              <a:t>Packet Switching</a:t>
            </a:r>
          </a:p>
          <a:p>
            <a:pPr marL="342900" indent="-342900">
              <a:buFontTx/>
              <a:buAutoNum type="alphaLcParenBoth"/>
            </a:pPr>
            <a:r>
              <a:rPr lang="en-US" dirty="0"/>
              <a:t>Virtual Switching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2872640"/>
            <a:ext cx="10172210" cy="711585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Which of the following switch methods creates a point-to-point physical connection between two or more computers?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52512" y="3736283"/>
            <a:ext cx="2901705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b="1" dirty="0">
                <a:solidFill>
                  <a:schemeClr val="tx1"/>
                </a:solidFill>
              </a:rPr>
              <a:t>Circuit Switching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dirty="0"/>
              <a:t>Message Switching</a:t>
            </a:r>
          </a:p>
          <a:p>
            <a:pPr marL="342900" indent="-342900">
              <a:buAutoNum type="alphaLcParenBoth"/>
            </a:pPr>
            <a:r>
              <a:rPr lang="en-US" dirty="0"/>
              <a:t>Packet Switching</a:t>
            </a:r>
          </a:p>
          <a:p>
            <a:pPr marL="342900" indent="-342900">
              <a:buFontTx/>
              <a:buAutoNum type="alphaLcParenBoth"/>
            </a:pPr>
            <a:r>
              <a:rPr lang="en-US" dirty="0"/>
              <a:t>Virtual Switching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1009895" y="5003206"/>
            <a:ext cx="10172210" cy="364796"/>
          </a:xfrm>
          <a:prstGeom prst="roundRect">
            <a:avLst>
              <a:gd name="adj" fmla="val 35613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 A local telephone network is an example of a _______ network.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3162713" cy="1114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b="1" dirty="0">
                <a:solidFill>
                  <a:schemeClr val="tx1"/>
                </a:solidFill>
              </a:rPr>
              <a:t>Circuit Switching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AutoNum type="alphaLcParenBoth"/>
            </a:pPr>
            <a:r>
              <a:rPr lang="en-US" dirty="0"/>
              <a:t>Message Switching</a:t>
            </a:r>
          </a:p>
          <a:p>
            <a:pPr marL="342900" indent="-342900">
              <a:buAutoNum type="alphaLcParenBoth"/>
            </a:pPr>
            <a:r>
              <a:rPr lang="en-US" dirty="0"/>
              <a:t>Packet Switching</a:t>
            </a:r>
          </a:p>
          <a:p>
            <a:pPr marL="342900" indent="-342900">
              <a:buFontTx/>
              <a:buAutoNum type="alphaLcParenBoth"/>
            </a:pPr>
            <a:r>
              <a:rPr lang="en-US" dirty="0"/>
              <a:t>Virtual Switching</a:t>
            </a:r>
          </a:p>
        </p:txBody>
      </p:sp>
    </p:spTree>
    <p:extLst>
      <p:ext uri="{BB962C8B-B14F-4D97-AF65-F5344CB8AC3E}">
        <p14:creationId xmlns:p14="http://schemas.microsoft.com/office/powerpoint/2010/main" val="10399275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751" y="1379529"/>
            <a:ext cx="5761220" cy="4792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Goudy Old Style" panose="02020502050305020303" pitchFamily="18" charset="0"/>
              </a:rPr>
              <a:t>Switching Techniques</a:t>
            </a:r>
            <a:endParaRPr lang="en-US" dirty="0">
              <a:latin typeface="Goudy Old Style" panose="02020502050305020303" pitchFamily="18" charset="0"/>
            </a:endParaRPr>
          </a:p>
          <a:p>
            <a:pPr marL="2171700" lvl="4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Switching</a:t>
            </a:r>
          </a:p>
          <a:p>
            <a:pPr marL="2171700" lvl="4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Switching</a:t>
            </a:r>
          </a:p>
          <a:p>
            <a:pPr marL="2171700" lvl="4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 Switching</a:t>
            </a:r>
            <a:endParaRPr lang="en-US" sz="2000" dirty="0">
              <a:latin typeface="Goudy Old Style" panose="020205020503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42B019-8014-2532-89D1-4683F4DDF817}"/>
              </a:ext>
            </a:extLst>
          </p:cNvPr>
          <p:cNvSpPr txBox="1"/>
          <p:nvPr/>
        </p:nvSpPr>
        <p:spPr>
          <a:xfrm>
            <a:off x="5733798" y="300038"/>
            <a:ext cx="48205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Topic Summary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A1791C71-108A-8B8A-15C6-BBE56E183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6297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A.S. Tanenbaum, David J. </a:t>
            </a:r>
            <a:r>
              <a:rPr lang="en-US" dirty="0" err="1"/>
              <a:t>Wetheral</a:t>
            </a:r>
            <a:r>
              <a:rPr lang="en-US" dirty="0"/>
              <a:t> “Computer Networks” Pearson, 5th Edition.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Kurose, J and Ross, K Computer Networking: A Top-Down Approach Addison-Wesley- 6th edition.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2"/>
              </a:rPr>
              <a:t>https://www.geeksforgeeks.org/types-of-transmission-technology/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3"/>
              </a:rPr>
              <a:t>https://www.tutorialspoint.com/data_communication_computer_network/computer_network_topologies.htm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3. </a:t>
            </a:r>
            <a:r>
              <a:rPr lang="en-US" dirty="0">
                <a:hlinkClick r:id="rId4"/>
              </a:rPr>
              <a:t>https://www.javatpoint.com/computer-network-transmission-modes</a:t>
            </a: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Network Protocols &amp; Security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op 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1757</TotalTime>
  <Words>762</Words>
  <Application>Microsoft Office PowerPoint</Application>
  <PresentationFormat>Widescreen</PresentationFormat>
  <Paragraphs>142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BioRhyme ExtraBold</vt:lpstr>
      <vt:lpstr>Calibri</vt:lpstr>
      <vt:lpstr>Goudy Old Style</vt:lpstr>
      <vt:lpstr>Poppins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GORLA VENKATA GANESH</cp:lastModifiedBy>
  <cp:revision>109</cp:revision>
  <dcterms:created xsi:type="dcterms:W3CDTF">2020-02-08T09:57:44Z</dcterms:created>
  <dcterms:modified xsi:type="dcterms:W3CDTF">2025-12-17T06:30:23Z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