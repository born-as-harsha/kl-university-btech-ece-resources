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71" r:id="rId5"/>
    <p:sldId id="300" r:id="rId6"/>
    <p:sldId id="276" r:id="rId7"/>
    <p:sldId id="277" r:id="rId8"/>
    <p:sldId id="316" r:id="rId9"/>
    <p:sldId id="278" r:id="rId10"/>
    <p:sldId id="317" r:id="rId11"/>
    <p:sldId id="279" r:id="rId12"/>
    <p:sldId id="318" r:id="rId13"/>
    <p:sldId id="280" r:id="rId14"/>
    <p:sldId id="281" r:id="rId15"/>
    <p:sldId id="282" r:id="rId16"/>
    <p:sldId id="311" r:id="rId17"/>
    <p:sldId id="313" r:id="rId18"/>
    <p:sldId id="287" r:id="rId19"/>
    <p:sldId id="283" r:id="rId20"/>
    <p:sldId id="284" r:id="rId21"/>
    <p:sldId id="285" r:id="rId22"/>
    <p:sldId id="286" r:id="rId23"/>
    <p:sldId id="297" r:id="rId24"/>
    <p:sldId id="298" r:id="rId25"/>
    <p:sldId id="288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F33"/>
    <a:srgbClr val="BA2532"/>
    <a:srgbClr val="FF9900"/>
    <a:srgbClr val="E84845"/>
    <a:srgbClr val="FAD2D2"/>
    <a:srgbClr val="F89E4C"/>
    <a:srgbClr val="A81E24"/>
    <a:srgbClr val="FFF2CC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Network hardware: Topologies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network topologies and different types of computer networks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network topologies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modes of data transmission.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53557" y="4772230"/>
            <a:ext cx="10199071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topology and describe the way how </a:t>
            </a:r>
            <a:r>
              <a:rPr lang="en-US" sz="1600" dirty="0">
                <a:latin typeface="Arial" panose="020B0604020202020204" pitchFamily="34" charset="0"/>
              </a:rPr>
              <a:t>systems are connected using different topologies.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modes of data transmission. 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9" y="2799470"/>
            <a:ext cx="4477043" cy="3303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Topology defines the structure of the network of how all the components are interconnected to each other.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353DF-9351-4B83-9784-B2D4EBAA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18" y="1097051"/>
            <a:ext cx="7092335" cy="4494280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NETWORK TOPOLOGY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944" y="280636"/>
            <a:ext cx="6119447" cy="1046010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5" y="1834234"/>
            <a:ext cx="6252177" cy="444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Bus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 bus topology is designed in such a way that all the stations are connected through a single cable known as a backbone cable. The backbone cable is considered as a "single lane" through which the message is broadcast to all the stations.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When a node wants to send a message over the network, it puts a message over the network. All the stations available in the network will receive the message whether it has been addressed or not.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98222-A70B-416A-9C07-B08E52ECF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721" y="2411009"/>
            <a:ext cx="5130204" cy="2630757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D5C45069-446A-EB8F-8E8C-C0F966CC1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908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920A-709D-D0F5-FBF7-B6AB40EC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2ABA3D-3FFA-FDCE-4138-6819592C70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1883" y="822642"/>
            <a:ext cx="6594294" cy="194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3539B-BEC2-C64F-38BB-E3B98F817C88}"/>
              </a:ext>
            </a:extLst>
          </p:cNvPr>
          <p:cNvSpPr txBox="1"/>
          <p:nvPr/>
        </p:nvSpPr>
        <p:spPr>
          <a:xfrm>
            <a:off x="245824" y="1080778"/>
            <a:ext cx="48607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Nodes are connected to the bus cable by drop lines and taps.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 drop line is a connection running between the device and the main cable.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 tap is a connector that splices into (attached to) the main cable.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85" y="3224200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704" y="325496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5160556"/>
            <a:ext cx="4185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Installation is easy.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A bus uses less cabling than mesh or star topologies.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5722769" y="5015547"/>
            <a:ext cx="5854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If the backbone cable fails, the entire system fails.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There is a limit on the number of taps a bus can support and on the distance between those taps.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More taps will generate more heat which degrades the quality of signal.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0" y="3249637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5598942" y="3249637"/>
            <a:ext cx="0" cy="3570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48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952" y="77071"/>
            <a:ext cx="6092950" cy="1046010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491592"/>
            <a:ext cx="6547599" cy="49241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Ring Topology: 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Ring topology is like a bus topology, but with connected ends.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In a ring topology, each device has a dedicated point-to-point connection with only the two devices on either side of it.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node that receives the message from the previous computer will retransmit to the next node.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 signal is passed along the ring in one direction(clockwise) from device to device, until it reaches its destination. </a:t>
            </a:r>
            <a:br>
              <a:rPr lang="en-US" sz="2000" dirty="0">
                <a:latin typeface="Goudy Old Style" panose="02020502050305020303" pitchFamily="18" charset="0"/>
              </a:rPr>
            </a:b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EC429-A1B5-4831-8EB7-5722713D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93" y="1896501"/>
            <a:ext cx="4515168" cy="3515163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5876058-DDAC-2388-4E21-E2BEAABB5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222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53539B-BEC2-C64F-38BB-E3B98F817C88}"/>
              </a:ext>
            </a:extLst>
          </p:cNvPr>
          <p:cNvSpPr txBox="1"/>
          <p:nvPr/>
        </p:nvSpPr>
        <p:spPr>
          <a:xfrm>
            <a:off x="255890" y="891722"/>
            <a:ext cx="5109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Each device in the ring incorporates a repeater.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 When a device receives a signal intended for another device, its repeater regenerates the bits and passes them along.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185" y="3224200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704" y="325496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5160556"/>
            <a:ext cx="5119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Easy to install and reconfigure.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 add or delete a device requires changing only two connection.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5832490" y="5182073"/>
            <a:ext cx="5672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Unidirectional traffic can be a disadvantage.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break in the ring (disabled station) can disable the entire network. </a:t>
            </a:r>
            <a:br>
              <a:rPr lang="en-US" dirty="0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0" y="3249637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5598942" y="3249637"/>
            <a:ext cx="0" cy="3570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B3989BA9-93AF-6CAA-4E8C-CEF970AE4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84985" y="224676"/>
            <a:ext cx="5840110" cy="2739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932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703" y="67457"/>
            <a:ext cx="6092950" cy="74950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46" y="1225174"/>
            <a:ext cx="6280313" cy="40674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Star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Star topology is the most popular topology in network implementation.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devices are not directly linked to one another.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Star topology is an arrangement of the network in which each device has a dedicated point-to-point link only to a central controller called a Hub or Switch.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0E13E-E214-4BC9-A1D9-25D8513B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580" y="1026843"/>
            <a:ext cx="5130204" cy="4464070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00CB6C1-095C-E57A-CFD6-FBB35311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857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51" y="3074435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981" y="307443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4940590"/>
            <a:ext cx="51195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Easy to install and reconfigure.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Less cabling is required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Star topology is robust, If one link fails, only that link is affected. All other links remain active. 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6425348" y="5230109"/>
            <a:ext cx="5520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If hub fails, entire processing will be stopped working.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12277" y="3086376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6096000" y="3073914"/>
            <a:ext cx="0" cy="3733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74CBE134-1E63-35C9-5B86-1C000284E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5348" y="260298"/>
            <a:ext cx="5510762" cy="243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8829FA-11A2-0718-031C-E8FA5EC1A2DE}"/>
              </a:ext>
            </a:extLst>
          </p:cNvPr>
          <p:cNvSpPr txBox="1"/>
          <p:nvPr/>
        </p:nvSpPr>
        <p:spPr>
          <a:xfrm>
            <a:off x="495355" y="772754"/>
            <a:ext cx="5600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star topology does not allow direct traffic between devices.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central controller acts as an exchange.</a:t>
            </a:r>
          </a:p>
        </p:txBody>
      </p:sp>
    </p:spTree>
    <p:extLst>
      <p:ext uri="{BB962C8B-B14F-4D97-AF65-F5344CB8AC3E}">
        <p14:creationId xmlns:p14="http://schemas.microsoft.com/office/powerpoint/2010/main" val="35327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723" y="67457"/>
            <a:ext cx="6092950" cy="74950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1" y="884420"/>
            <a:ext cx="6632005" cy="5531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Tree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Tree topology combines the characteristics of bus topology and star topology.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All the computers are connected with each other in hierarchical fashion.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The top-most node in tree topology is known as a root node, and all other nodes are the descendants of the root node.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There is only one path exists between two nodes for the data transmission. Thus, it forms a parent-child hierarchy.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000" b="1" u="sng" dirty="0">
                <a:latin typeface="Goudy Old Style" panose="02020502050305020303" pitchFamily="18" charset="0"/>
              </a:rPr>
              <a:t>Drawback: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Goudy Old Style" panose="02020502050305020303" pitchFamily="18" charset="0"/>
              </a:rPr>
              <a:t>Failure:</a:t>
            </a:r>
            <a:r>
              <a:rPr lang="en-US" sz="1800" dirty="0">
                <a:latin typeface="Goudy Old Style" panose="02020502050305020303" pitchFamily="18" charset="0"/>
              </a:rPr>
              <a:t> A tree topology mainly relies on main bus cable and failure in main bus cable will damage the overall network.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Goudy Old Style" panose="02020502050305020303" pitchFamily="18" charset="0"/>
              </a:rPr>
              <a:t>Reconfiguration difficult: </a:t>
            </a:r>
            <a:r>
              <a:rPr lang="en-US" sz="1800" dirty="0">
                <a:latin typeface="Goudy Old Style" panose="02020502050305020303" pitchFamily="18" charset="0"/>
              </a:rPr>
              <a:t>If new devices are added, then it becomes difficult to reconfigure.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347AB-759B-4E24-94F7-1496C0FC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465" y="1456465"/>
            <a:ext cx="5138183" cy="3385358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249241B-8C69-7C5D-2C06-38233252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889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370" y="73571"/>
            <a:ext cx="6092950" cy="70453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94" y="915553"/>
            <a:ext cx="7236916" cy="61534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Mesh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In a mesh topology, every device has a dedicated Point-to-Point link to every other device. (i.e.) for each node there is a link to all other nodes.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It does not contain the switch, hub or any central computer which acts as a central point of communication.</a:t>
            </a: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Mesh topology is mainly used for wireless networks and Internet is an example of the mesh topology.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Mesh topology is mainly used for WAN implementations where communication failures are a critical concern.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Mesh topology can be formed by using the formula:</a:t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Number of cables = (n*(n-1))/2.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000" b="1" u="sng" dirty="0">
                <a:latin typeface="Goudy Old Style" panose="02020502050305020303" pitchFamily="18" charset="0"/>
              </a:rPr>
              <a:t>Types: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Goudy Old Style" panose="02020502050305020303" pitchFamily="18" charset="0"/>
              </a:rPr>
              <a:t>Full Mesh Topology</a:t>
            </a:r>
            <a:endParaRPr lang="en-US" sz="1600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Goudy Old Style" panose="02020502050305020303" pitchFamily="18" charset="0"/>
              </a:rPr>
              <a:t>Partial Mesh Topology</a:t>
            </a:r>
            <a:endParaRPr lang="en-US" sz="1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24151-6595-4C8A-9FF7-48AEF3B7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25" y="3824024"/>
            <a:ext cx="3176874" cy="2639609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2C2FC75-F44F-0F82-54F2-3162B863D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59758FC-87FB-9CD4-C1DB-4C5577F61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66018" y="915553"/>
            <a:ext cx="3176874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767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380" y="22719"/>
            <a:ext cx="6092950" cy="70453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4438"/>
            <a:ext cx="6738425" cy="60035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Hybrid Topology:</a:t>
            </a:r>
          </a:p>
          <a:p>
            <a:pPr marL="0" indent="0" algn="just">
              <a:buNone/>
            </a:pPr>
            <a:endParaRPr lang="en-US" sz="1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combination of various topologies is known as Hybrid topology.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When two or more different topologies are combined together is termed as Hybrid topology and if similar topologies are connected with each other will not result in Hybrid topology. 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Example: if there exist a ring topology in one branch of ICICI bank and bus topology in another branch of ICICI bank, connecting these two topologies will result in Hybrid topology.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400" b="1" u="sng" dirty="0">
                <a:latin typeface="Goudy Old Style" panose="02020502050305020303" pitchFamily="18" charset="0"/>
              </a:rPr>
              <a:t>Drawbacks: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Complex Design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Costly Hub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Costly Infrastructure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2C129-83B5-4954-9AF9-9DCF870C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228" y="1181507"/>
            <a:ext cx="5130204" cy="3933825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324BD4C-2183-558B-48F7-9B9762D83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618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Physical or logical arrangement of network is __________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Topology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Routing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Networking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Control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8138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network topology requires a central controller or hub?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Star</a:t>
            </a:r>
          </a:p>
          <a:p>
            <a:pPr marL="342900" indent="-342900">
              <a:buAutoNum type="alphaLcParenBoth"/>
            </a:pPr>
            <a:r>
              <a:rPr lang="en-US" dirty="0"/>
              <a:t>Mesh</a:t>
            </a:r>
          </a:p>
          <a:p>
            <a:pPr marL="342900" indent="-342900">
              <a:buAutoNum type="alphaLcParenBoth"/>
            </a:pPr>
            <a:r>
              <a:rPr lang="en-US" dirty="0"/>
              <a:t>Ring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Mesh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A network comprising of multiple topologies is?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Complex</a:t>
            </a:r>
          </a:p>
          <a:p>
            <a:pPr marL="342900" indent="-342900">
              <a:buAutoNum type="alphaLcParenBoth"/>
            </a:pPr>
            <a:r>
              <a:rPr lang="en-US" dirty="0"/>
              <a:t>Hybrid</a:t>
            </a:r>
          </a:p>
          <a:p>
            <a:pPr marL="342900" indent="-342900">
              <a:buAutoNum type="alphaLcParenBoth"/>
            </a:pPr>
            <a:r>
              <a:rPr lang="en-US" dirty="0"/>
              <a:t>Bus</a:t>
            </a:r>
          </a:p>
          <a:p>
            <a:pPr marL="342900" indent="-342900">
              <a:buAutoNum type="alphaLcParenBoth"/>
            </a:pPr>
            <a:r>
              <a:rPr lang="en-US" sz="1600" dirty="0"/>
              <a:t>Star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 - Answers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Physical or logical arrangement of network is __________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Topology</a:t>
            </a:r>
            <a:endParaRPr lang="en-US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Routing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Networking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Control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8138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network topology requires a central controller or hub?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Star</a:t>
            </a:r>
          </a:p>
          <a:p>
            <a:pPr marL="342900" indent="-342900">
              <a:buAutoNum type="alphaLcParenBoth"/>
            </a:pPr>
            <a:r>
              <a:rPr lang="en-US" dirty="0"/>
              <a:t>Mesh</a:t>
            </a:r>
          </a:p>
          <a:p>
            <a:pPr marL="342900" indent="-342900">
              <a:buAutoNum type="alphaLcParenBoth"/>
            </a:pPr>
            <a:r>
              <a:rPr lang="en-US" dirty="0"/>
              <a:t>Ring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Mesh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A network comprising o multiple topologies is?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Complex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Hybrid</a:t>
            </a:r>
          </a:p>
          <a:p>
            <a:pPr marL="342900" indent="-342900">
              <a:buAutoNum type="alphaLcParenBoth"/>
            </a:pPr>
            <a:r>
              <a:rPr lang="en-US" dirty="0"/>
              <a:t>Bus</a:t>
            </a:r>
          </a:p>
          <a:p>
            <a:pPr marL="342900" indent="-342900">
              <a:buAutoNum type="alphaLcParenBoth"/>
            </a:pPr>
            <a:r>
              <a:rPr lang="en-US" sz="1600" dirty="0"/>
              <a:t>Star</a:t>
            </a:r>
          </a:p>
        </p:txBody>
      </p:sp>
    </p:spTree>
    <p:extLst>
      <p:ext uri="{BB962C8B-B14F-4D97-AF65-F5344CB8AC3E}">
        <p14:creationId xmlns:p14="http://schemas.microsoft.com/office/powerpoint/2010/main" val="62421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96085"/>
            <a:ext cx="5761220" cy="3800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Network Topologies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Bus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Star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Tree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Mesh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Hybrid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44308" y="717452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3267" y="1917655"/>
            <a:ext cx="5660475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The way in which data is transmitted from one device to another device is known as </a:t>
            </a:r>
            <a:r>
              <a:rPr lang="en-US" sz="2400" b="1" i="1" dirty="0">
                <a:latin typeface="Goudy Old Style" panose="02020502050305020303" pitchFamily="18" charset="0"/>
              </a:rPr>
              <a:t>Transmission mode</a:t>
            </a:r>
            <a:r>
              <a:rPr lang="en-US" sz="2400" i="1" dirty="0">
                <a:latin typeface="Goudy Old Style" panose="02020502050305020303" pitchFamily="18" charset="0"/>
              </a:rPr>
              <a:t>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Also called as Communication mode/Direction mode.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Transmission mode is defined in physical layer.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3252B-F7C6-48E9-8661-60FC9F6E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258" y="1917655"/>
            <a:ext cx="5903742" cy="3072798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2D33D7D-3DD1-F993-5F93-5D18E2C59A42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MODES</a:t>
            </a:r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D4E9B5F3-28D1-3E67-048F-24B973F17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24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15580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Simplex Mode</a:t>
            </a: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747" y="2278504"/>
            <a:ext cx="7257630" cy="4107305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endParaRPr lang="en-US" sz="29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Simplex mode, the communication is unidirectional, i.e., the data flow in one direction.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A device can only send the data but cannot receive it or it can receive the data but cannot send the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Keyboard and Monitor are the examples of the simplex mode.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B57E9-390A-4A52-A8AD-4AF4696B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819" y="640080"/>
            <a:ext cx="6894236" cy="150651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30E6306B-1F19-5EFD-2BFC-AD9B70AFA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090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61323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Half-Duplex Mode</a:t>
            </a: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896" y="2278504"/>
            <a:ext cx="8330184" cy="457949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9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a Half-duplex channel, direction can be reversed, i.e., the station can transmit and receive the data as well.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Messages flow in both the directions, but not at the same time.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A </a:t>
            </a:r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Walkie-talkie</a:t>
            </a: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 is an example of the Half-duplex mode. In Walkie-talkie, one party speaks, and another party listens. After a pause, the other speaks and first party listens. Speaking simultaneously will create the distorted sound which cannot be understood.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58025-25BF-4E5C-8040-B7B83326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931" y="322522"/>
            <a:ext cx="6730584" cy="1685925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04B7F10-A4A4-F2DB-6F12-140F195F1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336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61323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Full-Duplex Mode</a:t>
            </a:r>
            <a:b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66" y="2630658"/>
            <a:ext cx="7884825" cy="4227342"/>
          </a:xfrm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Full duplex mode, the communication is bi-directional, i.e., the data flow in both the directions.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Both the stations can send and receive the message simultaneously.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Full-duplex mode has two simplex channels. One channel has traffic moving in one direction, and another channel has traffic flowing in the opposite direction.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The Full-duplex mode is the fastest mode of communication between devices.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0C087-2BCB-4C0E-B2AC-BB926546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471" y="181286"/>
            <a:ext cx="6702994" cy="185850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EA47079-4765-C1B0-CA2A-D2B2ADD27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393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B1DE-DA1C-6B7B-4FED-848E371B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52" y="371061"/>
            <a:ext cx="7397848" cy="7156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Test your knowledge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FD90A37-B914-40B5-5C53-82EEAD761D60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153171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7624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6897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WAN stands for __________</a:t>
                      </a:r>
                      <a:br>
                        <a:rPr lang="en-US" dirty="0"/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World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Wide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Web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Web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0AD6F-EDFD-610D-9200-7C3A3E0FC2E6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313859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1408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3113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Which topology uses a single cable which connects all the including nodes?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FE2A96-FCF8-0FBC-7256-3A36297789CC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4745471"/>
          <a:ext cx="93168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2010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4820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A term that defines the direction of flow of information between devices.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interconnectivity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intra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transmission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06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0649"/>
                  </a:ext>
                </a:extLst>
              </a:tr>
            </a:tbl>
          </a:graphicData>
        </a:graphic>
      </p:graphicFrame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C4F0488B-8E7E-11E0-2265-235E13F66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859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B1DE-DA1C-6B7B-4FED-848E371B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990" y="371061"/>
            <a:ext cx="7327509" cy="7156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Test your knowledge…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FD90A37-B914-40B5-5C53-82EEAD761D60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153171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7624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6897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WAN stands for __________</a:t>
                      </a:r>
                      <a:br>
                        <a:rPr lang="en-US" dirty="0"/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World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b. Wide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Web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Web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0AD6F-EDFD-610D-9200-7C3A3E0FC2E6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313859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1408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3113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Which topology uses a single cable that connects all the including nodes?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Hybrid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d.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FE2A96-FCF8-0FBC-7256-3A36297789CC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4745471"/>
          <a:ext cx="93168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2010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4820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A term that defines the direction of flow of information between devices is?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interconnectivity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intra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c. transmission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06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0649"/>
                  </a:ext>
                </a:extLst>
              </a:tr>
            </a:tbl>
          </a:graphicData>
        </a:graphic>
      </p:graphicFrame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91FF8727-F012-F510-783A-C57A0E00C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032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608" y="1792303"/>
            <a:ext cx="6905392" cy="3273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Network Hardware Concepts</a:t>
            </a:r>
          </a:p>
          <a:p>
            <a:pPr marL="0" indent="0">
              <a:buNone/>
            </a:pPr>
            <a:endParaRPr lang="en-US" b="1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Network Topologies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Transmission modes</a:t>
            </a: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0653CB40-95CB-8221-DD7E-290820A60020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02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Illustrate different types of network topologies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2. Summarize the modes of data transmission.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240573" y="18188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1062</TotalTime>
  <Words>1591</Words>
  <Application>Microsoft Office PowerPoint</Application>
  <PresentationFormat>Widescreen</PresentationFormat>
  <Paragraphs>230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BioRhyme ExtraBold</vt:lpstr>
      <vt:lpstr>Calibri</vt:lpstr>
      <vt:lpstr>Goudy Old Style</vt:lpstr>
      <vt:lpstr>Poppins</vt:lpstr>
      <vt:lpstr>Wingdings</vt:lpstr>
      <vt:lpstr>1_Office Theme</vt:lpstr>
      <vt:lpstr>PowerPoint Presentation</vt:lpstr>
      <vt:lpstr>PowerPoint Presentation</vt:lpstr>
      <vt:lpstr>PowerPoint Presentation</vt:lpstr>
      <vt:lpstr>Network Topology..</vt:lpstr>
      <vt:lpstr>PowerPoint Presentation</vt:lpstr>
      <vt:lpstr>Network Topology..</vt:lpstr>
      <vt:lpstr>PowerPoint Presentation</vt:lpstr>
      <vt:lpstr>Network Topology..</vt:lpstr>
      <vt:lpstr>PowerPoint Presentation</vt:lpstr>
      <vt:lpstr>Network Topology..</vt:lpstr>
      <vt:lpstr>Network Topology..</vt:lpstr>
      <vt:lpstr>Network Topology..</vt:lpstr>
      <vt:lpstr>PowerPoint Presentation</vt:lpstr>
      <vt:lpstr>PowerPoint Presentation</vt:lpstr>
      <vt:lpstr>PowerPoint Presentation</vt:lpstr>
      <vt:lpstr>PowerPoint Presentation</vt:lpstr>
      <vt:lpstr>Transmission Modes..    Simplex Mode    </vt:lpstr>
      <vt:lpstr>Transmission Modes..    Half-Duplex Mode    </vt:lpstr>
      <vt:lpstr>Transmission Modes..    Full-Duplex Mode    </vt:lpstr>
      <vt:lpstr>Test your knowledge</vt:lpstr>
      <vt:lpstr>Test your knowledge…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GORLA VENKATA GANESH</cp:lastModifiedBy>
  <cp:revision>50</cp:revision>
  <dcterms:created xsi:type="dcterms:W3CDTF">2020-02-08T09:57:44Z</dcterms:created>
  <dcterms:modified xsi:type="dcterms:W3CDTF">2025-12-17T06:29:39Z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