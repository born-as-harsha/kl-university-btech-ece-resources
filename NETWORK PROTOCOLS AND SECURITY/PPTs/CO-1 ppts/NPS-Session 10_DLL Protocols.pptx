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9"/>
  </p:notesMasterIdLst>
  <p:sldIdLst>
    <p:sldId id="271" r:id="rId5"/>
    <p:sldId id="300" r:id="rId6"/>
    <p:sldId id="258" r:id="rId7"/>
    <p:sldId id="306" r:id="rId8"/>
    <p:sldId id="309" r:id="rId9"/>
    <p:sldId id="402" r:id="rId10"/>
    <p:sldId id="403" r:id="rId11"/>
    <p:sldId id="404" r:id="rId12"/>
    <p:sldId id="407" r:id="rId13"/>
    <p:sldId id="408" r:id="rId14"/>
    <p:sldId id="420" r:id="rId15"/>
    <p:sldId id="411" r:id="rId16"/>
    <p:sldId id="410" r:id="rId17"/>
    <p:sldId id="412" r:id="rId18"/>
    <p:sldId id="413" r:id="rId19"/>
    <p:sldId id="421" r:id="rId20"/>
    <p:sldId id="415" r:id="rId21"/>
    <p:sldId id="416" r:id="rId22"/>
    <p:sldId id="417" r:id="rId23"/>
    <p:sldId id="419" r:id="rId24"/>
    <p:sldId id="274" r:id="rId25"/>
    <p:sldId id="302" r:id="rId26"/>
    <p:sldId id="303" r:id="rId27"/>
    <p:sldId id="304"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A2532"/>
    <a:srgbClr val="FF9900"/>
    <a:srgbClr val="E84845"/>
    <a:srgbClr val="FAD2D2"/>
    <a:srgbClr val="F89E4C"/>
    <a:srgbClr val="A81E24"/>
    <a:srgbClr val="FFF2CC"/>
    <a:srgbClr val="CF2F33"/>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89"/>
  </p:normalViewPr>
  <p:slideViewPr>
    <p:cSldViewPr snapToGrid="0">
      <p:cViewPr varScale="1">
        <p:scale>
          <a:sx n="65" d="100"/>
          <a:sy n="65" d="100"/>
        </p:scale>
        <p:origin x="700"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12/17/2025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p14="http://schemas.microsoft.com/office/powerpoint/2010/main" val="3228435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73E8ED-B079-404A-A6D8-44E2258769B5}" type="slidenum">
              <a:rPr lang="en-US" smtClean="0"/>
              <a:pPr/>
              <a:t>14</a:t>
            </a:fld>
            <a:endParaRPr lang="en-US"/>
          </a:p>
        </p:txBody>
      </p:sp>
    </p:spTree>
    <p:extLst>
      <p:ext uri="{BB962C8B-B14F-4D97-AF65-F5344CB8AC3E}">
        <p14:creationId xmlns:p14="http://schemas.microsoft.com/office/powerpoint/2010/main" val="895931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73E8ED-B079-404A-A6D8-44E2258769B5}" type="slidenum">
              <a:rPr lang="en-US" smtClean="0"/>
              <a:pPr/>
              <a:t>20</a:t>
            </a:fld>
            <a:endParaRPr lang="en-US"/>
          </a:p>
        </p:txBody>
      </p:sp>
    </p:spTree>
    <p:extLst>
      <p:ext uri="{BB962C8B-B14F-4D97-AF65-F5344CB8AC3E}">
        <p14:creationId xmlns:p14="http://schemas.microsoft.com/office/powerpoint/2010/main" val="27417864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12/17/2025</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2308284"/>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NETWORK PROTOCOLS &amp; security</a:t>
            </a:r>
          </a:p>
          <a:p>
            <a:pPr marR="0" lvl="0" indent="0" algn="ctr">
              <a:spcBef>
                <a:spcPts val="0"/>
              </a:spcBef>
              <a:spcAft>
                <a:spcPts val="0"/>
              </a:spcAft>
              <a:buNone/>
            </a:pPr>
            <a:r>
              <a:rPr lang="en-US" sz="3200" b="1" cap="all">
                <a:ln/>
                <a:solidFill>
                  <a:srgbClr val="C00000"/>
                </a:solidFill>
                <a:cs typeface="Poppins" panose="00000500000000000000" pitchFamily="2" charset="0"/>
                <a:sym typeface="BioRhyme ExtraBold"/>
              </a:rPr>
              <a:t>24EC2210</a:t>
            </a: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b="1" cap="all" dirty="0">
                <a:ln/>
                <a:solidFill>
                  <a:srgbClr val="C00000"/>
                </a:solidFill>
                <a:cs typeface="Poppins" panose="00000500000000000000" pitchFamily="2" charset="0"/>
              </a:rPr>
              <a:t>DATALINK LAYER PROTOCOLS</a:t>
            </a:r>
            <a:endParaRPr lang="en-US" sz="4000" b="1" dirty="0">
              <a:solidFill>
                <a:srgbClr val="C00000"/>
              </a:solidFill>
              <a:effectLst/>
              <a:cs typeface="Poppins" panose="00000500000000000000" pitchFamily="2" charset="0"/>
            </a:endParaRPr>
          </a:p>
        </p:txBody>
      </p:sp>
      <p:sp>
        <p:nvSpPr>
          <p:cNvPr id="8" name="Google Shape;502;p17">
            <a:extLst>
              <a:ext uri="{FF2B5EF4-FFF2-40B4-BE49-F238E27FC236}">
                <a16:creationId xmlns:a16="http://schemas.microsoft.com/office/drawing/2014/main" id="{7153E61F-4441-DBE3-3DFF-6E9EF6C48D23}"/>
              </a:ext>
            </a:extLst>
          </p:cNvPr>
          <p:cNvSpPr/>
          <p:nvPr/>
        </p:nvSpPr>
        <p:spPr>
          <a:xfrm>
            <a:off x="7623168" y="4758078"/>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10</a:t>
            </a: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914400" y="684469"/>
            <a:ext cx="10731286" cy="796115"/>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basic </a:t>
            </a:r>
            <a:r>
              <a:rPr lang="en-US" sz="1600" dirty="0">
                <a:latin typeface="Poppins"/>
                <a:cs typeface="Poppins"/>
              </a:rPr>
              <a:t>idea</a:t>
            </a:r>
            <a:r>
              <a:rPr lang="en-US" sz="1600" b="0" i="0" dirty="0">
                <a:effectLst/>
                <a:latin typeface="Poppins"/>
                <a:cs typeface="Poppins"/>
              </a:rPr>
              <a:t> of Datalink layer protocols</a:t>
            </a:r>
          </a:p>
          <a:p>
            <a:pPr>
              <a:lnSpc>
                <a:spcPct val="150000"/>
              </a:lnSpc>
            </a:pPr>
            <a:endParaRPr lang="en-US" sz="1600" b="0" i="0" dirty="0">
              <a:effectLst/>
              <a:latin typeface="Poppins"/>
              <a:cs typeface="Poppins"/>
            </a:endParaRP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p>
          <a:p>
            <a:pPr marL="342900" indent="-342900">
              <a:buAutoNum type="arabicPeriod"/>
            </a:pPr>
            <a:r>
              <a:rPr lang="en-US" sz="1600" b="0" i="0" dirty="0">
                <a:effectLst/>
                <a:latin typeface="Arial" panose="020B0604020202020204" pitchFamily="34" charset="0"/>
              </a:rPr>
              <a:t>Demonstrate the need for datalink layer protocols</a:t>
            </a:r>
          </a:p>
          <a:p>
            <a:pPr marL="342900" indent="-342900">
              <a:buAutoNum type="arabicPeriod"/>
            </a:pPr>
            <a:r>
              <a:rPr lang="en-US" sz="1600" b="0" i="0" dirty="0">
                <a:effectLst/>
                <a:latin typeface="Arial" panose="020B0604020202020204" pitchFamily="34" charset="0"/>
              </a:rPr>
              <a:t>Describe the datalink control protocols for noiseless channels</a:t>
            </a:r>
          </a:p>
          <a:p>
            <a:pPr marL="342900" indent="-342900">
              <a:buAutoNum type="arabicPeriod"/>
            </a:pPr>
            <a:r>
              <a:rPr lang="en-US" sz="1600" b="0" i="0" dirty="0">
                <a:effectLst/>
                <a:latin typeface="Arial"/>
                <a:cs typeface="Arial"/>
              </a:rPr>
              <a:t>Describe the datalink control protocols for noisy channels.</a:t>
            </a:r>
            <a:endParaRPr lang="en-US" sz="1600" dirty="0">
              <a:latin typeface="Arial"/>
              <a:cs typeface="Arial"/>
            </a:endParaRP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52600" y="4772230"/>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p>
          <a:p>
            <a:pPr marL="342900" indent="-342900">
              <a:buAutoNum type="arabicPeriod"/>
            </a:pPr>
            <a:r>
              <a:rPr lang="en-US" sz="1600" b="0" i="0" dirty="0">
                <a:effectLst/>
                <a:latin typeface="Arial" panose="020B0604020202020204" pitchFamily="34" charset="0"/>
              </a:rPr>
              <a:t>Illustrate the need for datalink control protocols</a:t>
            </a:r>
          </a:p>
          <a:p>
            <a:pPr marL="342900" indent="-342900">
              <a:buAutoNum type="arabicPeriod"/>
            </a:pPr>
            <a:r>
              <a:rPr lang="en-US" sz="1600" b="0" i="0" dirty="0">
                <a:effectLst/>
                <a:latin typeface="Arial" panose="020B0604020202020204" pitchFamily="34" charset="0"/>
              </a:rPr>
              <a:t>Understand the working of datalink protocols for noiseless channels</a:t>
            </a:r>
          </a:p>
          <a:p>
            <a:pPr marL="342900" indent="-342900">
              <a:buAutoNum type="arabicPeriod"/>
            </a:pPr>
            <a:r>
              <a:rPr lang="en-US" sz="1600" dirty="0">
                <a:latin typeface="Arial" panose="020B0604020202020204" pitchFamily="34" charset="0"/>
              </a:rPr>
              <a:t>Understand the working of datalink protocols for noisy channels</a:t>
            </a: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2" name="Content Placeholder 2">
            <a:extLst>
              <a:ext uri="{FF2B5EF4-FFF2-40B4-BE49-F238E27FC236}">
                <a16:creationId xmlns:a16="http://schemas.microsoft.com/office/drawing/2014/main" id="{12AB537D-1F06-ED24-7B76-3E4905C39539}"/>
              </a:ext>
            </a:extLst>
          </p:cNvPr>
          <p:cNvSpPr>
            <a:spLocks noGrp="1"/>
          </p:cNvSpPr>
          <p:nvPr>
            <p:ph idx="1"/>
          </p:nvPr>
        </p:nvSpPr>
        <p:spPr>
          <a:xfrm>
            <a:off x="246184" y="1851962"/>
            <a:ext cx="10923564" cy="4890694"/>
          </a:xfrm>
        </p:spPr>
        <p:txBody>
          <a:bodyPr>
            <a:normAutofit/>
          </a:bodyPr>
          <a:lstStyle/>
          <a:p>
            <a:pPr algn="just"/>
            <a:r>
              <a:rPr lang="en-US" sz="2000" i="1" dirty="0">
                <a:latin typeface="Times New Roman" pitchFamily="18" charset="0"/>
              </a:rPr>
              <a:t>The most important responsibilities of the data link layer are </a:t>
            </a:r>
            <a:r>
              <a:rPr lang="en-US" sz="2000" i="1" dirty="0">
                <a:solidFill>
                  <a:schemeClr val="hlink"/>
                </a:solidFill>
                <a:latin typeface="Times New Roman" pitchFamily="18" charset="0"/>
              </a:rPr>
              <a:t>flow control</a:t>
            </a:r>
            <a:r>
              <a:rPr lang="en-US" sz="2000" i="1" dirty="0">
                <a:latin typeface="Times New Roman" pitchFamily="18" charset="0"/>
              </a:rPr>
              <a:t> and </a:t>
            </a:r>
            <a:r>
              <a:rPr lang="en-US" sz="2000" i="1" dirty="0">
                <a:solidFill>
                  <a:schemeClr val="hlink"/>
                </a:solidFill>
                <a:latin typeface="Times New Roman" pitchFamily="18" charset="0"/>
              </a:rPr>
              <a:t>error control</a:t>
            </a:r>
            <a:r>
              <a:rPr lang="en-US" sz="2000" i="1" dirty="0">
                <a:latin typeface="Times New Roman" pitchFamily="18" charset="0"/>
              </a:rPr>
              <a:t>. Collectively, these functions are known as </a:t>
            </a:r>
            <a:r>
              <a:rPr lang="en-US" sz="2000" i="1" dirty="0">
                <a:solidFill>
                  <a:schemeClr val="hlink"/>
                </a:solidFill>
                <a:latin typeface="Times New Roman" pitchFamily="18" charset="0"/>
              </a:rPr>
              <a:t>data link control</a:t>
            </a:r>
            <a:r>
              <a:rPr lang="en-US" sz="2000" i="1" dirty="0">
                <a:latin typeface="Times New Roman" pitchFamily="18" charset="0"/>
              </a:rPr>
              <a:t>.</a:t>
            </a:r>
          </a:p>
          <a:p>
            <a:pPr marL="0" indent="0" algn="just">
              <a:buNone/>
            </a:pPr>
            <a:endParaRPr lang="en-US" sz="2000" i="1" dirty="0">
              <a:latin typeface="Times New Roman" pitchFamily="18" charset="0"/>
            </a:endParaRPr>
          </a:p>
          <a:p>
            <a:pPr algn="just"/>
            <a:r>
              <a:rPr lang="en-US" sz="2000" b="1" i="1" dirty="0">
                <a:solidFill>
                  <a:schemeClr val="accent1"/>
                </a:solidFill>
                <a:latin typeface="Times New Roman" pitchFamily="18" charset="0"/>
              </a:rPr>
              <a:t>Flow control </a:t>
            </a:r>
            <a:r>
              <a:rPr lang="en-US" sz="2000" i="1" dirty="0">
                <a:latin typeface="Times New Roman" pitchFamily="18" charset="0"/>
              </a:rPr>
              <a:t>refers to a set of procedures used to restrict  the amount of data that the sender can send  before waiting for acknowledgment.</a:t>
            </a:r>
          </a:p>
          <a:p>
            <a:pPr marL="0" indent="0" algn="just">
              <a:buNone/>
            </a:pPr>
            <a:endParaRPr lang="en-US" sz="2000" i="1" dirty="0">
              <a:latin typeface="Times New Roman" pitchFamily="18" charset="0"/>
            </a:endParaRPr>
          </a:p>
          <a:p>
            <a:pPr algn="just"/>
            <a:r>
              <a:rPr lang="en-US" sz="2000" b="1" i="1" dirty="0">
                <a:solidFill>
                  <a:schemeClr val="accent1"/>
                </a:solidFill>
                <a:latin typeface="Times New Roman" pitchFamily="18" charset="0"/>
              </a:rPr>
              <a:t>Error control </a:t>
            </a:r>
            <a:r>
              <a:rPr lang="en-US" sz="2000" i="1" dirty="0">
                <a:latin typeface="Times New Roman" pitchFamily="18" charset="0"/>
              </a:rPr>
              <a:t>in the data link layer is based on automatic repeat request, which is the retransmission of data.</a:t>
            </a:r>
          </a:p>
          <a:p>
            <a:pPr marL="0" indent="0" algn="l">
              <a:buNone/>
            </a:pPr>
            <a:endParaRPr lang="en-US" dirty="0"/>
          </a:p>
        </p:txBody>
      </p:sp>
    </p:spTree>
    <p:extLst>
      <p:ext uri="{BB962C8B-B14F-4D97-AF65-F5344CB8AC3E}">
        <p14:creationId xmlns:p14="http://schemas.microsoft.com/office/powerpoint/2010/main" val="40690523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 calcmode="lin" valueType="num">
                                      <p:cBhvr additive="base">
                                        <p:cTn id="19"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66DD149-99C5-4735-9493-91E7309D2588}"/>
              </a:ext>
            </a:extLst>
          </p:cNvPr>
          <p:cNvSpPr txBox="1"/>
          <p:nvPr/>
        </p:nvSpPr>
        <p:spPr>
          <a:xfrm>
            <a:off x="419686" y="1111348"/>
            <a:ext cx="11352627" cy="5352757"/>
          </a:xfrm>
          <a:prstGeom prst="rect">
            <a:avLst/>
          </a:prstGeom>
        </p:spPr>
        <p:txBody>
          <a:bodyPr vert="horz" lIns="91440" tIns="45720" rIns="91440" bIns="45720" rtlCol="0">
            <a:normAutofit/>
          </a:bodyPr>
          <a:lstStyle/>
          <a:p>
            <a:pPr algn="just">
              <a:defRPr/>
            </a:pPr>
            <a:r>
              <a:rPr lang="en-US" sz="2400" i="1" dirty="0">
                <a:latin typeface="Times New Roman" pitchFamily="18" charset="0"/>
              </a:rPr>
              <a:t>The data link layer can combine framing, flow control, and error control to achieve the delivery of data from one node to another. </a:t>
            </a:r>
          </a:p>
          <a:p>
            <a:pPr algn="just">
              <a:defRPr/>
            </a:pPr>
            <a:endParaRPr lang="en-US" sz="2400" i="1" dirty="0">
              <a:latin typeface="Times New Roman" pitchFamily="18" charset="0"/>
            </a:endParaRPr>
          </a:p>
          <a:p>
            <a:pPr algn="just">
              <a:defRPr/>
            </a:pPr>
            <a:r>
              <a:rPr lang="en-US" sz="2400" i="1" dirty="0">
                <a:latin typeface="Times New Roman" pitchFamily="18" charset="0"/>
              </a:rPr>
              <a:t>The protocols are normally implemented in software by using one of the common programming languages. </a:t>
            </a:r>
          </a:p>
          <a:p>
            <a:pPr>
              <a:lnSpc>
                <a:spcPct val="90000"/>
              </a:lnSpc>
              <a:spcAft>
                <a:spcPts val="600"/>
              </a:spcAft>
              <a:buSzPct val="70000"/>
            </a:pPr>
            <a:br>
              <a:rPr lang="en-US" sz="1300" dirty="0">
                <a:solidFill>
                  <a:schemeClr val="tx2"/>
                </a:solidFill>
                <a:latin typeface="+mj-lt"/>
              </a:rPr>
            </a:br>
            <a:endParaRPr lang="en-US" sz="1300" dirty="0">
              <a:solidFill>
                <a:schemeClr val="tx2"/>
              </a:solidFill>
              <a:latin typeface="+mj-lt"/>
            </a:endParaRPr>
          </a:p>
        </p:txBody>
      </p:sp>
      <p:pic>
        <p:nvPicPr>
          <p:cNvPr id="3" name="Picture 2" descr="KL Deemed to be University Logo">
            <a:extLst>
              <a:ext uri="{FF2B5EF4-FFF2-40B4-BE49-F238E27FC236}">
                <a16:creationId xmlns:a16="http://schemas.microsoft.com/office/drawing/2014/main" id="{FC7BEC07-A14F-AA28-C7D4-4F30DF38A231}"/>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5" name="Rounded Rectangle 17">
            <a:extLst>
              <a:ext uri="{FF2B5EF4-FFF2-40B4-BE49-F238E27FC236}">
                <a16:creationId xmlns:a16="http://schemas.microsoft.com/office/drawing/2014/main" id="{06C2286A-7F48-9BFD-C2CA-DFEF63D37E42}"/>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DATA LINK LAYER PROTOCOLS</a:t>
            </a:r>
          </a:p>
        </p:txBody>
      </p:sp>
      <p:pic>
        <p:nvPicPr>
          <p:cNvPr id="2" name="Picture 6">
            <a:extLst>
              <a:ext uri="{FF2B5EF4-FFF2-40B4-BE49-F238E27FC236}">
                <a16:creationId xmlns:a16="http://schemas.microsoft.com/office/drawing/2014/main" id="{A282C468-BFE0-3533-7119-CA0A5E14BAA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71362" y="3175448"/>
            <a:ext cx="7848112" cy="3346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443039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66DD149-99C5-4735-9493-91E7309D2588}"/>
              </a:ext>
            </a:extLst>
          </p:cNvPr>
          <p:cNvSpPr txBox="1"/>
          <p:nvPr/>
        </p:nvSpPr>
        <p:spPr>
          <a:xfrm>
            <a:off x="419686" y="1111348"/>
            <a:ext cx="11352627" cy="5352757"/>
          </a:xfrm>
          <a:prstGeom prst="rect">
            <a:avLst/>
          </a:prstGeom>
        </p:spPr>
        <p:txBody>
          <a:bodyPr vert="horz" lIns="91440" tIns="45720" rIns="91440" bIns="45720" rtlCol="0">
            <a:normAutofit/>
          </a:bodyPr>
          <a:lstStyle/>
          <a:p>
            <a:pPr marL="457200" indent="-457200" algn="just">
              <a:buFont typeface="Arial" panose="020B0604020202020204" pitchFamily="34" charset="0"/>
              <a:buChar char="•"/>
            </a:pPr>
            <a:r>
              <a:rPr lang="en-US" sz="2800" i="1" dirty="0">
                <a:latin typeface="Times New Roman" pitchFamily="18" charset="0"/>
              </a:rPr>
              <a:t>Noiseless channel is an ideal channel in which no frames are lost, duplicated, or corrupted. </a:t>
            </a:r>
          </a:p>
          <a:p>
            <a:pPr marL="457200" indent="-457200" algn="just">
              <a:buFont typeface="Arial" panose="020B0604020202020204" pitchFamily="34" charset="0"/>
              <a:buChar char="•"/>
            </a:pPr>
            <a:endParaRPr lang="en-US" sz="2800" i="1" dirty="0">
              <a:latin typeface="Times New Roman" pitchFamily="18" charset="0"/>
            </a:endParaRPr>
          </a:p>
          <a:p>
            <a:pPr marL="457200" indent="-457200" algn="just">
              <a:buFont typeface="Arial" panose="020B0604020202020204" pitchFamily="34" charset="0"/>
              <a:buChar char="•"/>
            </a:pPr>
            <a:r>
              <a:rPr lang="en-US" sz="2800" i="1" dirty="0">
                <a:latin typeface="Times New Roman" pitchFamily="18" charset="0"/>
              </a:rPr>
              <a:t>Two protocols for this type of channel.</a:t>
            </a:r>
          </a:p>
          <a:p>
            <a:pPr marL="0" indent="0" algn="just">
              <a:buNone/>
            </a:pPr>
            <a:endParaRPr lang="en-US" sz="3600" i="1" dirty="0">
              <a:latin typeface="Times New Roman" pitchFamily="18" charset="0"/>
            </a:endParaRPr>
          </a:p>
          <a:p>
            <a:pPr marL="749300" indent="44450" algn="just">
              <a:buFont typeface="Wingdings" panose="05000000000000000000" pitchFamily="2" charset="2"/>
              <a:buChar char="Ø"/>
            </a:pPr>
            <a:r>
              <a:rPr lang="en-US" sz="3200" i="1" dirty="0">
                <a:solidFill>
                  <a:srgbClr val="0033CC"/>
                </a:solidFill>
                <a:latin typeface="Times New Roman" pitchFamily="18" charset="0"/>
              </a:rPr>
              <a:t> </a:t>
            </a:r>
            <a:r>
              <a:rPr lang="en-US" sz="3200" dirty="0">
                <a:solidFill>
                  <a:srgbClr val="0033CC"/>
                </a:solidFill>
                <a:latin typeface="Times New Roman" panose="02020603050405020304" pitchFamily="18" charset="0"/>
              </a:rPr>
              <a:t>Simplest Protocol</a:t>
            </a:r>
          </a:p>
          <a:p>
            <a:pPr marL="749300" indent="44450" algn="just">
              <a:buFont typeface="Wingdings" panose="05000000000000000000" pitchFamily="2" charset="2"/>
              <a:buChar char="Ø"/>
            </a:pPr>
            <a:r>
              <a:rPr lang="en-US" sz="3200" dirty="0">
                <a:solidFill>
                  <a:srgbClr val="0033CC"/>
                </a:solidFill>
                <a:latin typeface="Times New Roman" panose="02020603050405020304" pitchFamily="18" charset="0"/>
              </a:rPr>
              <a:t> </a:t>
            </a:r>
            <a:r>
              <a:rPr lang="fr-FR" sz="3200" dirty="0">
                <a:solidFill>
                  <a:srgbClr val="0033CC"/>
                </a:solidFill>
                <a:latin typeface="Times New Roman" panose="02020603050405020304" pitchFamily="18" charset="0"/>
              </a:rPr>
              <a:t>Stop-and-</a:t>
            </a:r>
            <a:r>
              <a:rPr lang="fr-FR" sz="3200" dirty="0" err="1">
                <a:solidFill>
                  <a:srgbClr val="0033CC"/>
                </a:solidFill>
                <a:latin typeface="Times New Roman" panose="02020603050405020304" pitchFamily="18" charset="0"/>
              </a:rPr>
              <a:t>wait</a:t>
            </a:r>
            <a:r>
              <a:rPr lang="fr-FR" sz="3200" dirty="0">
                <a:solidFill>
                  <a:srgbClr val="0033CC"/>
                </a:solidFill>
                <a:latin typeface="Times New Roman" panose="02020603050405020304" pitchFamily="18" charset="0"/>
              </a:rPr>
              <a:t> Protocol</a:t>
            </a:r>
            <a:endParaRPr lang="en-US" sz="3200" dirty="0">
              <a:solidFill>
                <a:srgbClr val="0033CC"/>
              </a:solidFill>
              <a:latin typeface="Times New Roman" panose="02020603050405020304" pitchFamily="18" charset="0"/>
            </a:endParaRPr>
          </a:p>
          <a:p>
            <a:pPr>
              <a:lnSpc>
                <a:spcPct val="90000"/>
              </a:lnSpc>
              <a:spcAft>
                <a:spcPts val="600"/>
              </a:spcAft>
              <a:buSzPct val="70000"/>
            </a:pPr>
            <a:endParaRPr lang="en-US" sz="1300" dirty="0">
              <a:solidFill>
                <a:schemeClr val="tx2"/>
              </a:solidFill>
              <a:latin typeface="+mj-lt"/>
            </a:endParaRPr>
          </a:p>
        </p:txBody>
      </p:sp>
      <p:pic>
        <p:nvPicPr>
          <p:cNvPr id="3" name="Picture 2" descr="KL Deemed to be University Logo">
            <a:extLst>
              <a:ext uri="{FF2B5EF4-FFF2-40B4-BE49-F238E27FC236}">
                <a16:creationId xmlns:a16="http://schemas.microsoft.com/office/drawing/2014/main" id="{FC7BEC07-A14F-AA28-C7D4-4F30DF38A231}"/>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5" name="Rounded Rectangle 17">
            <a:extLst>
              <a:ext uri="{FF2B5EF4-FFF2-40B4-BE49-F238E27FC236}">
                <a16:creationId xmlns:a16="http://schemas.microsoft.com/office/drawing/2014/main" id="{06C2286A-7F48-9BFD-C2CA-DFEF63D37E42}"/>
              </a:ext>
            </a:extLst>
          </p:cNvPr>
          <p:cNvSpPr/>
          <p:nvPr/>
        </p:nvSpPr>
        <p:spPr>
          <a:xfrm>
            <a:off x="3221501" y="96596"/>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DLL PROTOCOLS FOR NOISELESS CHANNELS</a:t>
            </a:r>
          </a:p>
        </p:txBody>
      </p:sp>
    </p:spTree>
    <p:extLst>
      <p:ext uri="{BB962C8B-B14F-4D97-AF65-F5344CB8AC3E}">
        <p14:creationId xmlns:p14="http://schemas.microsoft.com/office/powerpoint/2010/main" val="38473919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C496B-E67D-48F0-BB59-E2128A69C6AF}"/>
              </a:ext>
            </a:extLst>
          </p:cNvPr>
          <p:cNvSpPr>
            <a:spLocks noGrp="1"/>
          </p:cNvSpPr>
          <p:nvPr>
            <p:ph type="title"/>
          </p:nvPr>
        </p:nvSpPr>
        <p:spPr>
          <a:xfrm>
            <a:off x="343524" y="156381"/>
            <a:ext cx="10515600" cy="817980"/>
          </a:xfrm>
        </p:spPr>
        <p:txBody>
          <a:bodyPr/>
          <a:lstStyle/>
          <a:p>
            <a:r>
              <a:rPr lang="en-US" dirty="0">
                <a:effectLst>
                  <a:outerShdw blurRad="38100" dist="38100" dir="2700000" algn="tl">
                    <a:srgbClr val="C0C0C0"/>
                  </a:outerShdw>
                </a:effectLst>
                <a:latin typeface="Times" pitchFamily="18" charset="0"/>
              </a:rPr>
              <a:t>Simplest Protocol</a:t>
            </a:r>
          </a:p>
        </p:txBody>
      </p:sp>
      <p:sp>
        <p:nvSpPr>
          <p:cNvPr id="3" name="Content Placeholder 2">
            <a:extLst>
              <a:ext uri="{FF2B5EF4-FFF2-40B4-BE49-F238E27FC236}">
                <a16:creationId xmlns:a16="http://schemas.microsoft.com/office/drawing/2014/main" id="{DF660862-B538-47AA-82A2-BBF4FDB8BB0B}"/>
              </a:ext>
            </a:extLst>
          </p:cNvPr>
          <p:cNvSpPr>
            <a:spLocks noGrp="1"/>
          </p:cNvSpPr>
          <p:nvPr>
            <p:ph idx="1"/>
          </p:nvPr>
        </p:nvSpPr>
        <p:spPr>
          <a:xfrm>
            <a:off x="209862" y="2025746"/>
            <a:ext cx="5679812" cy="3883929"/>
          </a:xfrm>
        </p:spPr>
        <p:txBody>
          <a:bodyPr/>
          <a:lstStyle/>
          <a:p>
            <a:pPr algn="just"/>
            <a:r>
              <a:rPr lang="en-US" sz="2400" i="1" dirty="0">
                <a:latin typeface="Times New Roman" panose="02020603050405020304" pitchFamily="18" charset="0"/>
              </a:rPr>
              <a:t>Protocol with no flow or error control.</a:t>
            </a:r>
          </a:p>
          <a:p>
            <a:pPr algn="just"/>
            <a:endParaRPr lang="en-US" sz="2400" i="1" dirty="0">
              <a:latin typeface="Times New Roman" panose="02020603050405020304" pitchFamily="18" charset="0"/>
            </a:endParaRPr>
          </a:p>
          <a:p>
            <a:pPr algn="just"/>
            <a:r>
              <a:rPr lang="en-US" sz="2400" i="1" dirty="0">
                <a:latin typeface="Times New Roman" panose="02020603050405020304" pitchFamily="18" charset="0"/>
              </a:rPr>
              <a:t>It is very simple.</a:t>
            </a:r>
          </a:p>
          <a:p>
            <a:pPr marL="0" indent="0" algn="just">
              <a:buNone/>
            </a:pPr>
            <a:endParaRPr lang="en-US" sz="2400" i="1" dirty="0">
              <a:latin typeface="Times New Roman" panose="02020603050405020304" pitchFamily="18" charset="0"/>
            </a:endParaRPr>
          </a:p>
          <a:p>
            <a:pPr algn="just"/>
            <a:r>
              <a:rPr lang="en-US" sz="2400" i="1" dirty="0">
                <a:latin typeface="Times New Roman" panose="02020603050405020304" pitchFamily="18" charset="0"/>
              </a:rPr>
              <a:t>The sender sends a sequence of frames without even thinking about the receiver.</a:t>
            </a:r>
            <a:endParaRPr lang="en-US" sz="2400" dirty="0"/>
          </a:p>
          <a:p>
            <a:endParaRPr lang="en-US" dirty="0"/>
          </a:p>
          <a:p>
            <a:endParaRPr lang="en-US" dirty="0"/>
          </a:p>
        </p:txBody>
      </p:sp>
      <p:pic>
        <p:nvPicPr>
          <p:cNvPr id="1028" name="Picture 4">
            <a:extLst>
              <a:ext uri="{FF2B5EF4-FFF2-40B4-BE49-F238E27FC236}">
                <a16:creationId xmlns:a16="http://schemas.microsoft.com/office/drawing/2014/main" id="{A2562AF7-C987-4662-B5F0-99125B09FA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2326" y="849436"/>
            <a:ext cx="5679812" cy="51591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13500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C496B-E67D-48F0-BB59-E2128A69C6AF}"/>
              </a:ext>
            </a:extLst>
          </p:cNvPr>
          <p:cNvSpPr>
            <a:spLocks noGrp="1"/>
          </p:cNvSpPr>
          <p:nvPr>
            <p:ph type="title"/>
          </p:nvPr>
        </p:nvSpPr>
        <p:spPr>
          <a:xfrm>
            <a:off x="343524" y="156381"/>
            <a:ext cx="10515600" cy="817980"/>
          </a:xfrm>
        </p:spPr>
        <p:txBody>
          <a:bodyPr/>
          <a:lstStyle/>
          <a:p>
            <a:r>
              <a:rPr lang="en-US" dirty="0">
                <a:effectLst>
                  <a:outerShdw blurRad="38100" dist="38100" dir="2700000" algn="tl">
                    <a:srgbClr val="C0C0C0"/>
                  </a:outerShdw>
                </a:effectLst>
                <a:latin typeface="Times" pitchFamily="18" charset="0"/>
              </a:rPr>
              <a:t>Stop-and-wait Protocol</a:t>
            </a:r>
          </a:p>
        </p:txBody>
      </p:sp>
      <p:sp>
        <p:nvSpPr>
          <p:cNvPr id="3" name="Content Placeholder 2">
            <a:extLst>
              <a:ext uri="{FF2B5EF4-FFF2-40B4-BE49-F238E27FC236}">
                <a16:creationId xmlns:a16="http://schemas.microsoft.com/office/drawing/2014/main" id="{DF660862-B538-47AA-82A2-BBF4FDB8BB0B}"/>
              </a:ext>
            </a:extLst>
          </p:cNvPr>
          <p:cNvSpPr>
            <a:spLocks noGrp="1"/>
          </p:cNvSpPr>
          <p:nvPr>
            <p:ph idx="1"/>
          </p:nvPr>
        </p:nvSpPr>
        <p:spPr>
          <a:xfrm>
            <a:off x="209862" y="1825625"/>
            <a:ext cx="4811843" cy="4351338"/>
          </a:xfrm>
        </p:spPr>
        <p:txBody>
          <a:bodyPr>
            <a:normAutofit/>
          </a:bodyPr>
          <a:lstStyle/>
          <a:p>
            <a:pPr algn="just"/>
            <a:r>
              <a:rPr lang="en-US" i="1" dirty="0">
                <a:latin typeface="Times New Roman" panose="02020603050405020304" pitchFamily="18" charset="0"/>
              </a:rPr>
              <a:t>Protocol with flow control.</a:t>
            </a:r>
          </a:p>
          <a:p>
            <a:pPr algn="just"/>
            <a:endParaRPr lang="en-US" i="1" dirty="0">
              <a:latin typeface="Times New Roman" panose="02020603050405020304" pitchFamily="18" charset="0"/>
            </a:endParaRPr>
          </a:p>
          <a:p>
            <a:pPr algn="just"/>
            <a:r>
              <a:rPr lang="en-US" i="1" dirty="0">
                <a:latin typeface="Times New Roman" panose="02020603050405020304" pitchFamily="18" charset="0"/>
              </a:rPr>
              <a:t>The sender will not transmit the next frame until it receives the acknowledgement of the last transmitted frame.</a:t>
            </a:r>
            <a:br>
              <a:rPr lang="en-US" i="1" dirty="0">
                <a:latin typeface="Times New Roman" panose="02020603050405020304" pitchFamily="18" charset="0"/>
              </a:rPr>
            </a:br>
            <a:endParaRPr lang="en-US" i="1" dirty="0">
              <a:latin typeface="Times New Roman" panose="02020603050405020304" pitchFamily="18" charset="0"/>
            </a:endParaRPr>
          </a:p>
          <a:p>
            <a:endParaRPr lang="en-US" dirty="0"/>
          </a:p>
        </p:txBody>
      </p:sp>
      <p:pic>
        <p:nvPicPr>
          <p:cNvPr id="2050" name="Picture 2">
            <a:extLst>
              <a:ext uri="{FF2B5EF4-FFF2-40B4-BE49-F238E27FC236}">
                <a16:creationId xmlns:a16="http://schemas.microsoft.com/office/drawing/2014/main" id="{D387712A-386C-4DAA-B98D-8ECC62EDEE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01324" y="1267761"/>
            <a:ext cx="6450768" cy="51319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95178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66DD149-99C5-4735-9493-91E7309D2588}"/>
              </a:ext>
            </a:extLst>
          </p:cNvPr>
          <p:cNvSpPr txBox="1"/>
          <p:nvPr/>
        </p:nvSpPr>
        <p:spPr>
          <a:xfrm>
            <a:off x="419686" y="1111348"/>
            <a:ext cx="6121791" cy="5352757"/>
          </a:xfrm>
          <a:prstGeom prst="rect">
            <a:avLst/>
          </a:prstGeom>
        </p:spPr>
        <p:txBody>
          <a:bodyPr vert="horz" lIns="91440" tIns="45720" rIns="91440" bIns="45720" rtlCol="0">
            <a:normAutofit/>
          </a:bodyPr>
          <a:lstStyle/>
          <a:p>
            <a:pPr marL="457200" indent="-457200" algn="just">
              <a:buFont typeface="Arial" panose="020B0604020202020204" pitchFamily="34" charset="0"/>
              <a:buChar char="•"/>
            </a:pPr>
            <a:r>
              <a:rPr lang="en-US" sz="2600" i="1" dirty="0">
                <a:latin typeface="Times New Roman" pitchFamily="18" charset="0"/>
              </a:rPr>
              <a:t>Although the Stop-and-Wait Protocol gives us an idea of how to add flow control, noiseless channels are nonexistent. </a:t>
            </a:r>
          </a:p>
          <a:p>
            <a:pPr marL="457200" indent="-457200" algn="just">
              <a:buFont typeface="Arial" panose="020B0604020202020204" pitchFamily="34" charset="0"/>
              <a:buChar char="•"/>
            </a:pPr>
            <a:endParaRPr lang="en-IN" sz="2600" dirty="0"/>
          </a:p>
          <a:p>
            <a:pPr marL="457200" indent="-457200" algn="just">
              <a:buFont typeface="Arial" panose="020B0604020202020204" pitchFamily="34" charset="0"/>
              <a:buChar char="•"/>
            </a:pPr>
            <a:r>
              <a:rPr lang="en-US" sz="2600" i="1" dirty="0">
                <a:latin typeface="Times New Roman" pitchFamily="18" charset="0"/>
              </a:rPr>
              <a:t>Uses Sliding window protocols.</a:t>
            </a:r>
          </a:p>
          <a:p>
            <a:pPr marL="457200" indent="-457200" algn="just">
              <a:buFont typeface="Arial" panose="020B0604020202020204" pitchFamily="34" charset="0"/>
              <a:buChar char="•"/>
            </a:pPr>
            <a:endParaRPr lang="en-US" sz="2600" i="1" dirty="0">
              <a:latin typeface="Times New Roman" pitchFamily="18" charset="0"/>
            </a:endParaRPr>
          </a:p>
          <a:p>
            <a:pPr marL="457200" indent="-457200" algn="just">
              <a:buFont typeface="Arial" panose="020B0604020202020204" pitchFamily="34" charset="0"/>
              <a:buChar char="•"/>
            </a:pPr>
            <a:r>
              <a:rPr lang="en-US" sz="2600" i="1" dirty="0">
                <a:latin typeface="Times New Roman" pitchFamily="18" charset="0"/>
              </a:rPr>
              <a:t>Follows Automatic Repeat Request (ARQ).</a:t>
            </a:r>
          </a:p>
          <a:p>
            <a:pPr marL="457200" indent="-457200" algn="just">
              <a:buFont typeface="Arial" panose="020B0604020202020204" pitchFamily="34" charset="0"/>
              <a:buChar char="•"/>
            </a:pPr>
            <a:endParaRPr lang="en-US" sz="2600" i="1" dirty="0">
              <a:latin typeface="Times New Roman" pitchFamily="18" charset="0"/>
            </a:endParaRPr>
          </a:p>
          <a:p>
            <a:pPr marL="457200" indent="-457200" algn="just">
              <a:buFont typeface="Arial" panose="020B0604020202020204" pitchFamily="34" charset="0"/>
              <a:buChar char="•"/>
            </a:pPr>
            <a:r>
              <a:rPr lang="en-US" sz="2600" i="1" dirty="0">
                <a:latin typeface="Times New Roman" pitchFamily="18" charset="0"/>
              </a:rPr>
              <a:t>Adds Flow control and Error Control.</a:t>
            </a:r>
          </a:p>
          <a:p>
            <a:pPr marL="0" indent="0" algn="just">
              <a:buNone/>
            </a:pPr>
            <a:endParaRPr lang="en-US" sz="3600" i="1" dirty="0">
              <a:latin typeface="Times New Roman" pitchFamily="18" charset="0"/>
            </a:endParaRPr>
          </a:p>
          <a:p>
            <a:pPr>
              <a:lnSpc>
                <a:spcPct val="90000"/>
              </a:lnSpc>
              <a:spcAft>
                <a:spcPts val="600"/>
              </a:spcAft>
              <a:buSzPct val="70000"/>
            </a:pPr>
            <a:endParaRPr lang="en-US" sz="1200" dirty="0">
              <a:solidFill>
                <a:schemeClr val="tx2"/>
              </a:solidFill>
              <a:latin typeface="+mj-lt"/>
            </a:endParaRPr>
          </a:p>
        </p:txBody>
      </p:sp>
      <p:pic>
        <p:nvPicPr>
          <p:cNvPr id="3" name="Picture 2" descr="KL Deemed to be University Logo">
            <a:extLst>
              <a:ext uri="{FF2B5EF4-FFF2-40B4-BE49-F238E27FC236}">
                <a16:creationId xmlns:a16="http://schemas.microsoft.com/office/drawing/2014/main" id="{FC7BEC07-A14F-AA28-C7D4-4F30DF38A231}"/>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5" name="Rounded Rectangle 17">
            <a:extLst>
              <a:ext uri="{FF2B5EF4-FFF2-40B4-BE49-F238E27FC236}">
                <a16:creationId xmlns:a16="http://schemas.microsoft.com/office/drawing/2014/main" id="{06C2286A-7F48-9BFD-C2CA-DFEF63D37E42}"/>
              </a:ext>
            </a:extLst>
          </p:cNvPr>
          <p:cNvSpPr/>
          <p:nvPr/>
        </p:nvSpPr>
        <p:spPr>
          <a:xfrm>
            <a:off x="3221501" y="96596"/>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DLL PROTOCOLS FOR NOISY CHANNELS</a:t>
            </a:r>
          </a:p>
        </p:txBody>
      </p:sp>
      <p:pic>
        <p:nvPicPr>
          <p:cNvPr id="2" name="Picture 2">
            <a:extLst>
              <a:ext uri="{FF2B5EF4-FFF2-40B4-BE49-F238E27FC236}">
                <a16:creationId xmlns:a16="http://schemas.microsoft.com/office/drawing/2014/main" id="{8DA5962B-8C45-B4A9-F5FC-E35B11235E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77576" y="1352862"/>
            <a:ext cx="4966693" cy="415227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25028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0B477-ABB4-42BB-BD8C-11170AA8912D}"/>
              </a:ext>
            </a:extLst>
          </p:cNvPr>
          <p:cNvSpPr>
            <a:spLocks noGrp="1"/>
          </p:cNvSpPr>
          <p:nvPr>
            <p:ph type="title"/>
          </p:nvPr>
        </p:nvSpPr>
        <p:spPr>
          <a:xfrm>
            <a:off x="358515" y="440075"/>
            <a:ext cx="10515600" cy="714167"/>
          </a:xfrm>
        </p:spPr>
        <p:txBody>
          <a:bodyPr/>
          <a:lstStyle/>
          <a:p>
            <a:r>
              <a:rPr lang="en-US" dirty="0">
                <a:effectLst>
                  <a:outerShdw blurRad="38100" dist="38100" dir="2700000" algn="tl">
                    <a:srgbClr val="C0C0C0"/>
                  </a:outerShdw>
                </a:effectLst>
                <a:latin typeface="Times" pitchFamily="18" charset="0"/>
              </a:rPr>
              <a:t>1. Stop-and-wait ARQ</a:t>
            </a:r>
          </a:p>
        </p:txBody>
      </p:sp>
      <p:sp>
        <p:nvSpPr>
          <p:cNvPr id="3" name="Content Placeholder 2">
            <a:extLst>
              <a:ext uri="{FF2B5EF4-FFF2-40B4-BE49-F238E27FC236}">
                <a16:creationId xmlns:a16="http://schemas.microsoft.com/office/drawing/2014/main" id="{0C4C02AA-5C10-4A76-AB74-B748FC621141}"/>
              </a:ext>
            </a:extLst>
          </p:cNvPr>
          <p:cNvSpPr>
            <a:spLocks noGrp="1"/>
          </p:cNvSpPr>
          <p:nvPr>
            <p:ph idx="1"/>
          </p:nvPr>
        </p:nvSpPr>
        <p:spPr>
          <a:xfrm>
            <a:off x="134912" y="1841747"/>
            <a:ext cx="6385810" cy="4905961"/>
          </a:xfrm>
        </p:spPr>
        <p:txBody>
          <a:bodyPr/>
          <a:lstStyle/>
          <a:p>
            <a:pPr algn="just"/>
            <a:r>
              <a:rPr lang="en-US" b="0" i="0" dirty="0">
                <a:solidFill>
                  <a:srgbClr val="333333"/>
                </a:solidFill>
                <a:effectLst/>
                <a:latin typeface="Goudy Old Style" panose="02020502050305020303" pitchFamily="18" charset="0"/>
              </a:rPr>
              <a:t>Stop-and-wait ARQ is a technique used to retransmit the data in case of damaged or lost frames.</a:t>
            </a:r>
          </a:p>
          <a:p>
            <a:pPr marL="0" indent="0" algn="just">
              <a:buNone/>
            </a:pPr>
            <a:endParaRPr lang="en-US" b="0" i="0" dirty="0">
              <a:solidFill>
                <a:srgbClr val="333333"/>
              </a:solidFill>
              <a:effectLst/>
              <a:latin typeface="Goudy Old Style" panose="02020502050305020303" pitchFamily="18" charset="0"/>
            </a:endParaRPr>
          </a:p>
          <a:p>
            <a:pPr algn="just"/>
            <a:r>
              <a:rPr lang="en-US" b="0" i="0" dirty="0">
                <a:solidFill>
                  <a:srgbClr val="333333"/>
                </a:solidFill>
                <a:effectLst/>
                <a:latin typeface="Goudy Old Style" panose="02020502050305020303" pitchFamily="18" charset="0"/>
              </a:rPr>
              <a:t>This technique works on the principle that the sender will not transmit the next frame until it receives the acknowledgement of the last transmitted frame.</a:t>
            </a:r>
            <a:endParaRPr lang="en-US" dirty="0">
              <a:latin typeface="Goudy Old Style" panose="02020502050305020303" pitchFamily="18" charset="0"/>
            </a:endParaRPr>
          </a:p>
        </p:txBody>
      </p:sp>
      <p:pic>
        <p:nvPicPr>
          <p:cNvPr id="5124" name="Picture 4">
            <a:extLst>
              <a:ext uri="{FF2B5EF4-FFF2-40B4-BE49-F238E27FC236}">
                <a16:creationId xmlns:a16="http://schemas.microsoft.com/office/drawing/2014/main" id="{D7155C5A-4301-4A60-85DA-485EBC88AE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25454" y="1714226"/>
            <a:ext cx="5120313" cy="39477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70171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83419-65BC-4BB2-A83C-A1D1EBDAA09A}"/>
              </a:ext>
            </a:extLst>
          </p:cNvPr>
          <p:cNvSpPr>
            <a:spLocks noGrp="1"/>
          </p:cNvSpPr>
          <p:nvPr>
            <p:ph type="title"/>
          </p:nvPr>
        </p:nvSpPr>
        <p:spPr>
          <a:xfrm>
            <a:off x="838200" y="365126"/>
            <a:ext cx="10515600" cy="609236"/>
          </a:xfrm>
        </p:spPr>
        <p:txBody>
          <a:bodyPr>
            <a:normAutofit fontScale="90000"/>
          </a:bodyPr>
          <a:lstStyle/>
          <a:p>
            <a:r>
              <a:rPr lang="en-US" dirty="0">
                <a:effectLst>
                  <a:outerShdw blurRad="38100" dist="38100" dir="2700000" algn="tl">
                    <a:srgbClr val="C0C0C0"/>
                  </a:outerShdw>
                </a:effectLst>
                <a:latin typeface="Times" pitchFamily="18" charset="0"/>
              </a:rPr>
              <a:t>1. Stop-and-wait ARQ…</a:t>
            </a:r>
            <a:endParaRPr lang="en-US" dirty="0"/>
          </a:p>
        </p:txBody>
      </p:sp>
      <p:sp>
        <p:nvSpPr>
          <p:cNvPr id="3" name="Content Placeholder 2">
            <a:extLst>
              <a:ext uri="{FF2B5EF4-FFF2-40B4-BE49-F238E27FC236}">
                <a16:creationId xmlns:a16="http://schemas.microsoft.com/office/drawing/2014/main" id="{5D4B1805-6694-4167-A67F-72AC497D8798}"/>
              </a:ext>
            </a:extLst>
          </p:cNvPr>
          <p:cNvSpPr>
            <a:spLocks noGrp="1"/>
          </p:cNvSpPr>
          <p:nvPr>
            <p:ph idx="1"/>
          </p:nvPr>
        </p:nvSpPr>
        <p:spPr>
          <a:xfrm>
            <a:off x="838200" y="1319134"/>
            <a:ext cx="11049000" cy="5173740"/>
          </a:xfrm>
        </p:spPr>
        <p:txBody>
          <a:bodyPr>
            <a:normAutofit fontScale="85000" lnSpcReduction="20000"/>
          </a:bodyPr>
          <a:lstStyle/>
          <a:p>
            <a:pPr marL="0" indent="0" algn="just">
              <a:buNone/>
            </a:pPr>
            <a:r>
              <a:rPr lang="en-US" sz="3000" b="1" i="0" dirty="0">
                <a:solidFill>
                  <a:srgbClr val="C00000"/>
                </a:solidFill>
                <a:effectLst/>
                <a:latin typeface="Goudy Old Style" panose="02020502050305020303" pitchFamily="18" charset="0"/>
              </a:rPr>
              <a:t>Four features are required for the retransmission:</a:t>
            </a:r>
            <a:endParaRPr lang="en-US" sz="3000" b="0" i="0" dirty="0">
              <a:solidFill>
                <a:srgbClr val="C00000"/>
              </a:solidFill>
              <a:effectLst/>
              <a:latin typeface="Goudy Old Style" panose="02020502050305020303" pitchFamily="18" charset="0"/>
            </a:endParaRPr>
          </a:p>
          <a:p>
            <a:pPr algn="just">
              <a:buFont typeface="Wingdings" panose="05000000000000000000" pitchFamily="2" charset="2"/>
              <a:buChar char="Ø"/>
            </a:pPr>
            <a:r>
              <a:rPr lang="en-US" b="0" i="0" dirty="0">
                <a:solidFill>
                  <a:srgbClr val="000000"/>
                </a:solidFill>
                <a:effectLst/>
                <a:latin typeface="Goudy Old Style" panose="02020502050305020303" pitchFamily="18" charset="0"/>
              </a:rPr>
              <a:t>The sending device keeps a copy of the last transmitted frame until the acknowledgement is received. Keeping the copy allows the sender to retransmit the data if the frame is not received correctly.</a:t>
            </a:r>
          </a:p>
          <a:p>
            <a:pPr algn="just">
              <a:buFont typeface="Wingdings" panose="05000000000000000000" pitchFamily="2" charset="2"/>
              <a:buChar char="Ø"/>
            </a:pPr>
            <a:endParaRPr lang="en-US" b="0" i="0" dirty="0">
              <a:solidFill>
                <a:srgbClr val="000000"/>
              </a:solidFill>
              <a:effectLst/>
              <a:latin typeface="Goudy Old Style" panose="02020502050305020303" pitchFamily="18" charset="0"/>
            </a:endParaRPr>
          </a:p>
          <a:p>
            <a:pPr algn="just">
              <a:buFont typeface="Wingdings" panose="05000000000000000000" pitchFamily="2" charset="2"/>
              <a:buChar char="Ø"/>
            </a:pPr>
            <a:r>
              <a:rPr lang="en-US" b="0" i="0" dirty="0">
                <a:solidFill>
                  <a:srgbClr val="000000"/>
                </a:solidFill>
                <a:effectLst/>
                <a:latin typeface="Goudy Old Style" panose="02020502050305020303" pitchFamily="18" charset="0"/>
              </a:rPr>
              <a:t>Both the data frames and the ACK frames are numbered alternately 0 and 1 so that they can be identified individually. Suppose data 1 frame acknowledges the data 0 frame means that the data 0 frame has been arrived correctly and expects to receive data 1 frame.</a:t>
            </a:r>
          </a:p>
          <a:p>
            <a:pPr algn="just">
              <a:buFont typeface="Wingdings" panose="05000000000000000000" pitchFamily="2" charset="2"/>
              <a:buChar char="Ø"/>
            </a:pPr>
            <a:endParaRPr lang="en-US" b="0" i="0" dirty="0">
              <a:solidFill>
                <a:srgbClr val="000000"/>
              </a:solidFill>
              <a:effectLst/>
              <a:latin typeface="Goudy Old Style" panose="02020502050305020303" pitchFamily="18" charset="0"/>
            </a:endParaRPr>
          </a:p>
          <a:p>
            <a:pPr algn="just">
              <a:buFont typeface="Wingdings" panose="05000000000000000000" pitchFamily="2" charset="2"/>
              <a:buChar char="Ø"/>
            </a:pPr>
            <a:r>
              <a:rPr lang="en-US" b="0" i="0" dirty="0">
                <a:solidFill>
                  <a:srgbClr val="000000"/>
                </a:solidFill>
                <a:effectLst/>
                <a:latin typeface="Goudy Old Style" panose="02020502050305020303" pitchFamily="18" charset="0"/>
              </a:rPr>
              <a:t>If an error occurs in the last transmitted frame, then the receiver sends the NAK frame which is not numbered. On receiving the NAK frame, sender retransmits the data.</a:t>
            </a:r>
          </a:p>
          <a:p>
            <a:pPr algn="just">
              <a:buFont typeface="Wingdings" panose="05000000000000000000" pitchFamily="2" charset="2"/>
              <a:buChar char="Ø"/>
            </a:pPr>
            <a:endParaRPr lang="en-US" b="0" i="0" dirty="0">
              <a:solidFill>
                <a:srgbClr val="000000"/>
              </a:solidFill>
              <a:effectLst/>
              <a:latin typeface="Goudy Old Style" panose="02020502050305020303" pitchFamily="18" charset="0"/>
            </a:endParaRPr>
          </a:p>
          <a:p>
            <a:pPr algn="just">
              <a:buFont typeface="Wingdings" panose="05000000000000000000" pitchFamily="2" charset="2"/>
              <a:buChar char="Ø"/>
            </a:pPr>
            <a:r>
              <a:rPr lang="en-US" b="0" i="0" dirty="0">
                <a:solidFill>
                  <a:srgbClr val="000000"/>
                </a:solidFill>
                <a:effectLst/>
                <a:latin typeface="Goudy Old Style" panose="02020502050305020303" pitchFamily="18" charset="0"/>
              </a:rPr>
              <a:t>It works with the timer. If the acknowledgement is not received within the allotted time, then the sender assumes that the frame is lost during the transmission, so it will retransmit the frame.</a:t>
            </a:r>
          </a:p>
          <a:p>
            <a:endParaRPr lang="en-US" dirty="0"/>
          </a:p>
        </p:txBody>
      </p:sp>
    </p:spTree>
    <p:extLst>
      <p:ext uri="{BB962C8B-B14F-4D97-AF65-F5344CB8AC3E}">
        <p14:creationId xmlns:p14="http://schemas.microsoft.com/office/powerpoint/2010/main" val="18075789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68187FF5-4BF9-4B21-B0D2-9B7FF2B27D7F}" type="slidenum">
              <a:rPr lang="en-AU" smtClean="0"/>
              <a:pPr/>
              <a:t>11</a:t>
            </a:fld>
            <a:endParaRPr lang="en-AU"/>
          </a:p>
        </p:txBody>
      </p:sp>
      <p:pic>
        <p:nvPicPr>
          <p:cNvPr id="4" name="Picture 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04714" y="136525"/>
            <a:ext cx="7762754" cy="6689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a:extLst>
              <a:ext uri="{FF2B5EF4-FFF2-40B4-BE49-F238E27FC236}">
                <a16:creationId xmlns:a16="http://schemas.microsoft.com/office/drawing/2014/main" id="{BA0F40A8-0A42-42C1-8112-9C7B34868319}"/>
              </a:ext>
            </a:extLst>
          </p:cNvPr>
          <p:cNvSpPr txBox="1">
            <a:spLocks/>
          </p:cNvSpPr>
          <p:nvPr/>
        </p:nvSpPr>
        <p:spPr>
          <a:xfrm>
            <a:off x="0" y="31595"/>
            <a:ext cx="10515600" cy="609236"/>
          </a:xfrm>
          <a:prstGeom prst="rect">
            <a:avLst/>
          </a:prstGeom>
        </p:spPr>
        <p:txBody>
          <a:bodyP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effectLst>
                  <a:outerShdw blurRad="38100" dist="38100" dir="2700000" algn="tl">
                    <a:srgbClr val="C0C0C0"/>
                  </a:outerShdw>
                </a:effectLst>
                <a:latin typeface="Times" pitchFamily="18" charset="0"/>
              </a:rPr>
              <a:t>1. Stop-and-wait ARQ…</a:t>
            </a:r>
            <a:endParaRPr lang="en-US" dirty="0"/>
          </a:p>
        </p:txBody>
      </p:sp>
      <p:sp>
        <p:nvSpPr>
          <p:cNvPr id="5" name="TextBox 4">
            <a:extLst>
              <a:ext uri="{FF2B5EF4-FFF2-40B4-BE49-F238E27FC236}">
                <a16:creationId xmlns:a16="http://schemas.microsoft.com/office/drawing/2014/main" id="{55DF7598-862C-4E76-6705-990FEF2C83C1}"/>
              </a:ext>
            </a:extLst>
          </p:cNvPr>
          <p:cNvSpPr txBox="1"/>
          <p:nvPr/>
        </p:nvSpPr>
        <p:spPr>
          <a:xfrm>
            <a:off x="124532" y="2836871"/>
            <a:ext cx="3898828" cy="1323439"/>
          </a:xfrm>
          <a:prstGeom prst="rect">
            <a:avLst/>
          </a:prstGeom>
          <a:noFill/>
        </p:spPr>
        <p:txBody>
          <a:bodyPr wrap="square">
            <a:spAutoFit/>
          </a:bodyPr>
          <a:lstStyle/>
          <a:p>
            <a:pPr marL="0" indent="0" algn="just">
              <a:buNone/>
            </a:pPr>
            <a:r>
              <a:rPr lang="en-US" sz="2000" b="1" dirty="0">
                <a:latin typeface="Goudy Old Style" panose="02020502050305020303" pitchFamily="18" charset="0"/>
              </a:rPr>
              <a:t>Po</a:t>
            </a:r>
            <a:r>
              <a:rPr lang="en-US" sz="2000" b="1" i="0" dirty="0">
                <a:effectLst/>
                <a:latin typeface="Goudy Old Style" panose="02020502050305020303" pitchFamily="18" charset="0"/>
              </a:rPr>
              <a:t>ssibilities of the retransmission:</a:t>
            </a:r>
          </a:p>
          <a:p>
            <a:pPr marL="742950" lvl="1" indent="-285750" algn="just">
              <a:buFont typeface="Wingdings" panose="05000000000000000000" pitchFamily="2" charset="2"/>
              <a:buChar char="Ø"/>
            </a:pPr>
            <a:r>
              <a:rPr lang="en-US" sz="2000" b="1" dirty="0">
                <a:latin typeface="Goudy Old Style" panose="02020502050305020303" pitchFamily="18" charset="0"/>
              </a:rPr>
              <a:t>Lost frame</a:t>
            </a:r>
          </a:p>
          <a:p>
            <a:pPr marL="742950" lvl="1" indent="-285750" algn="just">
              <a:buFont typeface="Wingdings" panose="05000000000000000000" pitchFamily="2" charset="2"/>
              <a:buChar char="Ø"/>
            </a:pPr>
            <a:r>
              <a:rPr lang="en-US" sz="2000" b="1" dirty="0">
                <a:latin typeface="Goudy Old Style" panose="02020502050305020303" pitchFamily="18" charset="0"/>
              </a:rPr>
              <a:t>Damaged Frame</a:t>
            </a:r>
          </a:p>
          <a:p>
            <a:pPr marL="742950" lvl="1" indent="-285750" algn="just">
              <a:buFont typeface="Wingdings" panose="05000000000000000000" pitchFamily="2" charset="2"/>
              <a:buChar char="Ø"/>
            </a:pPr>
            <a:r>
              <a:rPr lang="en-US" sz="2000" b="1" i="0" dirty="0">
                <a:effectLst/>
                <a:latin typeface="Goudy Old Style" panose="02020502050305020303" pitchFamily="18" charset="0"/>
              </a:rPr>
              <a:t>Lost </a:t>
            </a:r>
            <a:r>
              <a:rPr lang="en-US" sz="2000" b="1" dirty="0">
                <a:latin typeface="Goudy Old Style" panose="02020502050305020303" pitchFamily="18" charset="0"/>
              </a:rPr>
              <a:t>ACK</a:t>
            </a:r>
            <a:endParaRPr lang="en-US" sz="2000" b="0" i="0" dirty="0">
              <a:effectLst/>
              <a:latin typeface="Goudy Old Style" panose="02020502050305020303"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46958-56F2-4A1F-B1F1-11E1584DC8F0}"/>
              </a:ext>
            </a:extLst>
          </p:cNvPr>
          <p:cNvSpPr>
            <a:spLocks noGrp="1"/>
          </p:cNvSpPr>
          <p:nvPr>
            <p:ph type="title"/>
          </p:nvPr>
        </p:nvSpPr>
        <p:spPr>
          <a:xfrm>
            <a:off x="838200" y="365125"/>
            <a:ext cx="10515600" cy="729157"/>
          </a:xfrm>
        </p:spPr>
        <p:txBody>
          <a:bodyPr/>
          <a:lstStyle/>
          <a:p>
            <a:r>
              <a:rPr lang="en-US" dirty="0">
                <a:effectLst>
                  <a:outerShdw blurRad="38100" dist="38100" dir="2700000" algn="tl">
                    <a:srgbClr val="C0C0C0"/>
                  </a:outerShdw>
                </a:effectLst>
                <a:latin typeface="Times" pitchFamily="18" charset="0"/>
              </a:rPr>
              <a:t>1. Stop-and-wait ARQ…</a:t>
            </a:r>
            <a:endParaRPr lang="en-US" dirty="0"/>
          </a:p>
        </p:txBody>
      </p:sp>
      <p:sp>
        <p:nvSpPr>
          <p:cNvPr id="3" name="Content Placeholder 2">
            <a:extLst>
              <a:ext uri="{FF2B5EF4-FFF2-40B4-BE49-F238E27FC236}">
                <a16:creationId xmlns:a16="http://schemas.microsoft.com/office/drawing/2014/main" id="{BC3EB318-5FDB-4FAA-8BD0-B0C006F96E5E}"/>
              </a:ext>
            </a:extLst>
          </p:cNvPr>
          <p:cNvSpPr>
            <a:spLocks noGrp="1"/>
          </p:cNvSpPr>
          <p:nvPr>
            <p:ph idx="1"/>
          </p:nvPr>
        </p:nvSpPr>
        <p:spPr>
          <a:xfrm>
            <a:off x="631460" y="1741045"/>
            <a:ext cx="10929079" cy="5116955"/>
          </a:xfrm>
        </p:spPr>
        <p:txBody>
          <a:bodyPr>
            <a:normAutofit/>
          </a:bodyPr>
          <a:lstStyle/>
          <a:p>
            <a:pPr marL="0" indent="0" algn="just">
              <a:buNone/>
            </a:pPr>
            <a:r>
              <a:rPr lang="en-US" b="1" dirty="0">
                <a:solidFill>
                  <a:srgbClr val="C00000"/>
                </a:solidFill>
                <a:latin typeface="Goudy Old Style" panose="02020502050305020303" pitchFamily="18" charset="0"/>
              </a:rPr>
              <a:t>Advantage of Stop-and-wait:</a:t>
            </a:r>
          </a:p>
          <a:p>
            <a:pPr algn="just"/>
            <a:r>
              <a:rPr lang="en-US" sz="2400" dirty="0">
                <a:solidFill>
                  <a:srgbClr val="000000"/>
                </a:solidFill>
                <a:latin typeface="Goudy Old Style" panose="02020502050305020303" pitchFamily="18" charset="0"/>
              </a:rPr>
              <a:t>The Stop-and-wait method is simple as each frame is checked and acknowledged before the next frame is sent.</a:t>
            </a:r>
          </a:p>
          <a:p>
            <a:pPr marL="0" indent="0" algn="just">
              <a:buNone/>
            </a:pPr>
            <a:endParaRPr lang="en-US" sz="2400" dirty="0">
              <a:solidFill>
                <a:srgbClr val="000000"/>
              </a:solidFill>
              <a:latin typeface="Goudy Old Style" panose="02020502050305020303" pitchFamily="18" charset="0"/>
            </a:endParaRPr>
          </a:p>
          <a:p>
            <a:pPr marL="0" indent="0" algn="just">
              <a:buNone/>
            </a:pPr>
            <a:r>
              <a:rPr lang="en-US" b="1" dirty="0">
                <a:solidFill>
                  <a:srgbClr val="C00000"/>
                </a:solidFill>
                <a:latin typeface="Goudy Old Style" panose="02020502050305020303" pitchFamily="18" charset="0"/>
              </a:rPr>
              <a:t>Disadvantage of Stop-and-wait:</a:t>
            </a:r>
          </a:p>
          <a:p>
            <a:pPr algn="just">
              <a:buFont typeface="Arial" panose="020B0604020202020204" pitchFamily="34" charset="0"/>
              <a:buChar char="•"/>
            </a:pPr>
            <a:r>
              <a:rPr lang="en-US" sz="2400" dirty="0">
                <a:solidFill>
                  <a:srgbClr val="000000"/>
                </a:solidFill>
                <a:latin typeface="Goudy Old Style" panose="02020502050305020303" pitchFamily="18" charset="0"/>
              </a:rPr>
              <a:t>Stop-and-wait technique is inefficient to use as each frame must travel across all the way to the receiver, and an acknowledgement travels all the way before the next frame is sent. Each frame sent and received uses the entire time needed to traverse the link.</a:t>
            </a:r>
          </a:p>
        </p:txBody>
      </p:sp>
    </p:spTree>
    <p:extLst>
      <p:ext uri="{BB962C8B-B14F-4D97-AF65-F5344CB8AC3E}">
        <p14:creationId xmlns:p14="http://schemas.microsoft.com/office/powerpoint/2010/main" val="7905959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CC70BD-3209-4D96-BA6E-7F1649ACB0D1}"/>
              </a:ext>
            </a:extLst>
          </p:cNvPr>
          <p:cNvSpPr>
            <a:spLocks noGrp="1"/>
          </p:cNvSpPr>
          <p:nvPr>
            <p:ph idx="1"/>
          </p:nvPr>
        </p:nvSpPr>
        <p:spPr>
          <a:xfrm>
            <a:off x="329784" y="854439"/>
            <a:ext cx="11662347" cy="5816184"/>
          </a:xfrm>
        </p:spPr>
        <p:txBody>
          <a:bodyPr>
            <a:normAutofit fontScale="47500" lnSpcReduction="20000"/>
          </a:bodyPr>
          <a:lstStyle/>
          <a:p>
            <a:pPr algn="just">
              <a:buFont typeface="Arial" panose="020B0604020202020204" pitchFamily="34" charset="0"/>
              <a:buChar char="•"/>
            </a:pPr>
            <a:r>
              <a:rPr lang="en-US" sz="4000" b="0" i="0" dirty="0">
                <a:solidFill>
                  <a:srgbClr val="000000"/>
                </a:solidFill>
                <a:effectLst/>
                <a:latin typeface="Goudy Old Style" panose="02020502050305020303" pitchFamily="18" charset="0"/>
              </a:rPr>
              <a:t>The Sliding Window is a method of flow control in which a sender can transmit the several frames before getting an acknowledgement.</a:t>
            </a:r>
          </a:p>
          <a:p>
            <a:pPr algn="just">
              <a:buFont typeface="Arial" panose="020B0604020202020204" pitchFamily="34" charset="0"/>
              <a:buChar char="•"/>
            </a:pPr>
            <a:endParaRPr lang="en-US" sz="4000" b="0" i="0" dirty="0">
              <a:solidFill>
                <a:srgbClr val="000000"/>
              </a:solidFill>
              <a:effectLst/>
              <a:latin typeface="Goudy Old Style" panose="02020502050305020303" pitchFamily="18" charset="0"/>
            </a:endParaRPr>
          </a:p>
          <a:p>
            <a:pPr algn="just">
              <a:buFont typeface="Arial" panose="020B0604020202020204" pitchFamily="34" charset="0"/>
              <a:buChar char="•"/>
            </a:pPr>
            <a:r>
              <a:rPr lang="en-US" sz="4000" dirty="0">
                <a:solidFill>
                  <a:srgbClr val="000000"/>
                </a:solidFill>
                <a:latin typeface="Goudy Old Style" panose="02020502050305020303" pitchFamily="18" charset="0"/>
              </a:rPr>
              <a:t>M</a:t>
            </a:r>
            <a:r>
              <a:rPr lang="en-US" sz="4000" b="0" i="0" dirty="0">
                <a:solidFill>
                  <a:srgbClr val="000000"/>
                </a:solidFill>
                <a:effectLst/>
                <a:latin typeface="Goudy Old Style" panose="02020502050305020303" pitchFamily="18" charset="0"/>
              </a:rPr>
              <a:t>ultiple frames can be sent one after the another due to which capacity of the communication channel can be utilized efficiently.</a:t>
            </a:r>
          </a:p>
          <a:p>
            <a:pPr algn="just">
              <a:buFont typeface="Arial" panose="020B0604020202020204" pitchFamily="34" charset="0"/>
              <a:buChar char="•"/>
            </a:pPr>
            <a:endParaRPr lang="en-US" sz="4000" b="0" i="0" dirty="0">
              <a:solidFill>
                <a:srgbClr val="000000"/>
              </a:solidFill>
              <a:effectLst/>
              <a:latin typeface="Goudy Old Style" panose="02020502050305020303" pitchFamily="18" charset="0"/>
            </a:endParaRPr>
          </a:p>
          <a:p>
            <a:pPr algn="just">
              <a:buFont typeface="Arial" panose="020B0604020202020204" pitchFamily="34" charset="0"/>
              <a:buChar char="•"/>
            </a:pPr>
            <a:r>
              <a:rPr lang="en-US" sz="4000" b="0" i="0" dirty="0">
                <a:solidFill>
                  <a:srgbClr val="000000"/>
                </a:solidFill>
                <a:effectLst/>
                <a:latin typeface="Goudy Old Style" panose="02020502050305020303" pitchFamily="18" charset="0"/>
              </a:rPr>
              <a:t>A single ACK acknowledge multiple frames.</a:t>
            </a:r>
          </a:p>
          <a:p>
            <a:pPr algn="just">
              <a:buFont typeface="Arial" panose="020B0604020202020204" pitchFamily="34" charset="0"/>
              <a:buChar char="•"/>
            </a:pPr>
            <a:endParaRPr lang="en-US" sz="4000" b="0" i="0" dirty="0">
              <a:solidFill>
                <a:srgbClr val="000000"/>
              </a:solidFill>
              <a:effectLst/>
              <a:latin typeface="Goudy Old Style" panose="02020502050305020303" pitchFamily="18" charset="0"/>
            </a:endParaRPr>
          </a:p>
          <a:p>
            <a:pPr algn="just">
              <a:buFont typeface="Arial" panose="020B0604020202020204" pitchFamily="34" charset="0"/>
              <a:buChar char="•"/>
            </a:pPr>
            <a:r>
              <a:rPr lang="en-US" sz="4000" b="0" i="0" dirty="0">
                <a:solidFill>
                  <a:srgbClr val="000000"/>
                </a:solidFill>
                <a:effectLst/>
                <a:latin typeface="Goudy Old Style" panose="02020502050305020303" pitchFamily="18" charset="0"/>
              </a:rPr>
              <a:t>Sliding Window refers to imaginary boxes at both the sender and receiver end.</a:t>
            </a:r>
          </a:p>
          <a:p>
            <a:pPr algn="just">
              <a:buFont typeface="Arial" panose="020B0604020202020204" pitchFamily="34" charset="0"/>
              <a:buChar char="•"/>
            </a:pPr>
            <a:endParaRPr lang="en-US" sz="4000" b="0" i="0" dirty="0">
              <a:solidFill>
                <a:srgbClr val="000000"/>
              </a:solidFill>
              <a:effectLst/>
              <a:latin typeface="Goudy Old Style" panose="02020502050305020303" pitchFamily="18" charset="0"/>
            </a:endParaRPr>
          </a:p>
          <a:p>
            <a:pPr algn="just">
              <a:buFont typeface="Arial" panose="020B0604020202020204" pitchFamily="34" charset="0"/>
              <a:buChar char="•"/>
            </a:pPr>
            <a:r>
              <a:rPr lang="en-US" sz="4000" b="0" i="0" dirty="0">
                <a:solidFill>
                  <a:srgbClr val="000000"/>
                </a:solidFill>
                <a:effectLst/>
                <a:latin typeface="Goudy Old Style" panose="02020502050305020303" pitchFamily="18" charset="0"/>
              </a:rPr>
              <a:t>The window can hold the frames at either end, and it provides the upper limit on the number of frames that can be transmitted before the acknowledgement.</a:t>
            </a:r>
          </a:p>
          <a:p>
            <a:pPr algn="just">
              <a:buFont typeface="Arial" panose="020B0604020202020204" pitchFamily="34" charset="0"/>
              <a:buChar char="•"/>
            </a:pPr>
            <a:endParaRPr lang="en-US" sz="4000" b="0" i="0" dirty="0">
              <a:solidFill>
                <a:srgbClr val="000000"/>
              </a:solidFill>
              <a:effectLst/>
              <a:latin typeface="Goudy Old Style" panose="02020502050305020303" pitchFamily="18" charset="0"/>
            </a:endParaRPr>
          </a:p>
          <a:p>
            <a:pPr algn="just">
              <a:buFont typeface="Arial" panose="020B0604020202020204" pitchFamily="34" charset="0"/>
              <a:buChar char="•"/>
            </a:pPr>
            <a:r>
              <a:rPr lang="en-US" sz="4000" b="0" i="0" dirty="0">
                <a:solidFill>
                  <a:srgbClr val="000000"/>
                </a:solidFill>
                <a:effectLst/>
                <a:latin typeface="Goudy Old Style" panose="02020502050305020303" pitchFamily="18" charset="0"/>
              </a:rPr>
              <a:t>The window has a specific size in which they are numbered as modulo-n means that they are numbered from 0 to n-1. For example, if n = 8, the frames are numbered from 0,1,2,3,4,5,6,7,0,1,2,3,4,5,6,7,0,1........</a:t>
            </a:r>
          </a:p>
          <a:p>
            <a:pPr algn="just">
              <a:buFont typeface="Arial" panose="020B0604020202020204" pitchFamily="34" charset="0"/>
              <a:buChar char="•"/>
            </a:pPr>
            <a:endParaRPr lang="en-US" sz="4000" b="0" i="0" dirty="0">
              <a:solidFill>
                <a:srgbClr val="000000"/>
              </a:solidFill>
              <a:effectLst/>
              <a:latin typeface="Goudy Old Style" panose="02020502050305020303" pitchFamily="18" charset="0"/>
            </a:endParaRPr>
          </a:p>
          <a:p>
            <a:pPr algn="just">
              <a:buFont typeface="Arial" panose="020B0604020202020204" pitchFamily="34" charset="0"/>
              <a:buChar char="•"/>
            </a:pPr>
            <a:r>
              <a:rPr lang="en-US" sz="4000" b="0" i="0" dirty="0">
                <a:solidFill>
                  <a:srgbClr val="000000"/>
                </a:solidFill>
                <a:effectLst/>
                <a:latin typeface="Goudy Old Style" panose="02020502050305020303" pitchFamily="18" charset="0"/>
              </a:rPr>
              <a:t>When the receiver sends the ACK, it includes the number of the next frame that it wants to receive. For example, to acknowledge the string of frames ending with frame number 4, the receiver will send the ACK containing the number 5. When the sender sees the ACK with the number 5, it got to know that the frames from 0 through 4 have been received.</a:t>
            </a:r>
          </a:p>
          <a:p>
            <a:endParaRPr lang="en-US" dirty="0"/>
          </a:p>
        </p:txBody>
      </p:sp>
      <p:sp>
        <p:nvSpPr>
          <p:cNvPr id="4" name="Rounded Rectangle 17">
            <a:extLst>
              <a:ext uri="{FF2B5EF4-FFF2-40B4-BE49-F238E27FC236}">
                <a16:creationId xmlns:a16="http://schemas.microsoft.com/office/drawing/2014/main" id="{B197938E-0891-7632-0A4B-C2573D452068}"/>
              </a:ext>
            </a:extLst>
          </p:cNvPr>
          <p:cNvSpPr/>
          <p:nvPr/>
        </p:nvSpPr>
        <p:spPr>
          <a:xfrm>
            <a:off x="3010485" y="95580"/>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SLIDING WINDOW</a:t>
            </a:r>
          </a:p>
        </p:txBody>
      </p:sp>
    </p:spTree>
    <p:extLst>
      <p:ext uri="{BB962C8B-B14F-4D97-AF65-F5344CB8AC3E}">
        <p14:creationId xmlns:p14="http://schemas.microsoft.com/office/powerpoint/2010/main" val="4207513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30295-A97D-4E40-BE8D-735CA22DD436}"/>
              </a:ext>
            </a:extLst>
          </p:cNvPr>
          <p:cNvSpPr>
            <a:spLocks noGrp="1"/>
          </p:cNvSpPr>
          <p:nvPr>
            <p:ph type="title"/>
          </p:nvPr>
        </p:nvSpPr>
        <p:spPr>
          <a:xfrm>
            <a:off x="329784" y="0"/>
            <a:ext cx="10515600" cy="669197"/>
          </a:xfrm>
        </p:spPr>
        <p:txBody>
          <a:bodyPr>
            <a:normAutofit fontScale="90000"/>
          </a:bodyPr>
          <a:lstStyle/>
          <a:p>
            <a:r>
              <a:rPr lang="en-US" dirty="0">
                <a:effectLst>
                  <a:outerShdw blurRad="38100" dist="38100" dir="2700000" algn="tl">
                    <a:srgbClr val="C0C0C0"/>
                  </a:outerShdw>
                </a:effectLst>
                <a:latin typeface="Times" pitchFamily="18" charset="0"/>
              </a:rPr>
              <a:t>Sliding Window…</a:t>
            </a:r>
          </a:p>
        </p:txBody>
      </p:sp>
      <p:sp>
        <p:nvSpPr>
          <p:cNvPr id="3" name="Content Placeholder 2">
            <a:extLst>
              <a:ext uri="{FF2B5EF4-FFF2-40B4-BE49-F238E27FC236}">
                <a16:creationId xmlns:a16="http://schemas.microsoft.com/office/drawing/2014/main" id="{98CC70BD-3209-4D96-BA6E-7F1649ACB0D1}"/>
              </a:ext>
            </a:extLst>
          </p:cNvPr>
          <p:cNvSpPr>
            <a:spLocks noGrp="1"/>
          </p:cNvSpPr>
          <p:nvPr>
            <p:ph idx="1"/>
          </p:nvPr>
        </p:nvSpPr>
        <p:spPr>
          <a:xfrm>
            <a:off x="329784" y="854439"/>
            <a:ext cx="11662347" cy="5816184"/>
          </a:xfrm>
        </p:spPr>
        <p:txBody>
          <a:bodyPr>
            <a:normAutofit/>
          </a:bodyPr>
          <a:lstStyle/>
          <a:p>
            <a:endParaRPr lang="en-US" dirty="0"/>
          </a:p>
        </p:txBody>
      </p:sp>
      <p:pic>
        <p:nvPicPr>
          <p:cNvPr id="5" name="Picture 4">
            <a:extLst>
              <a:ext uri="{FF2B5EF4-FFF2-40B4-BE49-F238E27FC236}">
                <a16:creationId xmlns:a16="http://schemas.microsoft.com/office/drawing/2014/main" id="{32A155D6-37A7-4EAE-A45C-23494F73DE6E}"/>
              </a:ext>
            </a:extLst>
          </p:cNvPr>
          <p:cNvPicPr>
            <a:picLocks noChangeAspect="1"/>
          </p:cNvPicPr>
          <p:nvPr/>
        </p:nvPicPr>
        <p:blipFill>
          <a:blip r:embed="rId3"/>
          <a:stretch>
            <a:fillRect/>
          </a:stretch>
        </p:blipFill>
        <p:spPr>
          <a:xfrm>
            <a:off x="5558850" y="449705"/>
            <a:ext cx="6433282" cy="2794053"/>
          </a:xfrm>
          <a:prstGeom prst="rect">
            <a:avLst/>
          </a:prstGeom>
        </p:spPr>
      </p:pic>
      <p:pic>
        <p:nvPicPr>
          <p:cNvPr id="7" name="Picture 6">
            <a:extLst>
              <a:ext uri="{FF2B5EF4-FFF2-40B4-BE49-F238E27FC236}">
                <a16:creationId xmlns:a16="http://schemas.microsoft.com/office/drawing/2014/main" id="{59E3D9F3-1B20-4A7B-8D34-EB82BFFE610D}"/>
              </a:ext>
            </a:extLst>
          </p:cNvPr>
          <p:cNvPicPr>
            <a:picLocks noChangeAspect="1"/>
          </p:cNvPicPr>
          <p:nvPr/>
        </p:nvPicPr>
        <p:blipFill>
          <a:blip r:embed="rId4"/>
          <a:stretch>
            <a:fillRect/>
          </a:stretch>
        </p:blipFill>
        <p:spPr>
          <a:xfrm>
            <a:off x="199869" y="3614242"/>
            <a:ext cx="6191250" cy="2943225"/>
          </a:xfrm>
          <a:prstGeom prst="rect">
            <a:avLst/>
          </a:prstGeom>
        </p:spPr>
      </p:pic>
    </p:spTree>
    <p:extLst>
      <p:ext uri="{BB962C8B-B14F-4D97-AF65-F5344CB8AC3E}">
        <p14:creationId xmlns:p14="http://schemas.microsoft.com/office/powerpoint/2010/main" val="41073587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6F411-5067-4AD4-B100-C91AF02E6E6B}"/>
              </a:ext>
            </a:extLst>
          </p:cNvPr>
          <p:cNvSpPr>
            <a:spLocks noGrp="1"/>
          </p:cNvSpPr>
          <p:nvPr>
            <p:ph type="title"/>
          </p:nvPr>
        </p:nvSpPr>
        <p:spPr>
          <a:xfrm>
            <a:off x="492251" y="250031"/>
            <a:ext cx="10515600" cy="1325563"/>
          </a:xfrm>
        </p:spPr>
        <p:txBody>
          <a:bodyPr/>
          <a:lstStyle/>
          <a:p>
            <a:r>
              <a:rPr lang="en-US" dirty="0">
                <a:effectLst>
                  <a:outerShdw blurRad="38100" dist="38100" dir="2700000" algn="tl">
                    <a:srgbClr val="C0C0C0"/>
                  </a:outerShdw>
                </a:effectLst>
                <a:latin typeface="Times" pitchFamily="18" charset="0"/>
              </a:rPr>
              <a:t>Sliding Window…</a:t>
            </a:r>
            <a:endParaRPr lang="en-US" dirty="0"/>
          </a:p>
        </p:txBody>
      </p:sp>
      <p:sp>
        <p:nvSpPr>
          <p:cNvPr id="3" name="Content Placeholder 2">
            <a:extLst>
              <a:ext uri="{FF2B5EF4-FFF2-40B4-BE49-F238E27FC236}">
                <a16:creationId xmlns:a16="http://schemas.microsoft.com/office/drawing/2014/main" id="{05FACF3A-7ACE-4BAA-BB59-07ED74B1B265}"/>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71678DB7-A865-42D8-9201-CB86E213D708}"/>
              </a:ext>
            </a:extLst>
          </p:cNvPr>
          <p:cNvPicPr>
            <a:picLocks noChangeAspect="1"/>
          </p:cNvPicPr>
          <p:nvPr/>
        </p:nvPicPr>
        <p:blipFill>
          <a:blip r:embed="rId2"/>
          <a:stretch>
            <a:fillRect/>
          </a:stretch>
        </p:blipFill>
        <p:spPr>
          <a:xfrm>
            <a:off x="5750051" y="0"/>
            <a:ext cx="6344901" cy="6858000"/>
          </a:xfrm>
          <a:prstGeom prst="rect">
            <a:avLst/>
          </a:prstGeom>
        </p:spPr>
      </p:pic>
    </p:spTree>
    <p:extLst>
      <p:ext uri="{BB962C8B-B14F-4D97-AF65-F5344CB8AC3E}">
        <p14:creationId xmlns:p14="http://schemas.microsoft.com/office/powerpoint/2010/main" val="13816835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CC70BD-3209-4D96-BA6E-7F1649ACB0D1}"/>
              </a:ext>
            </a:extLst>
          </p:cNvPr>
          <p:cNvSpPr>
            <a:spLocks noGrp="1"/>
          </p:cNvSpPr>
          <p:nvPr>
            <p:ph idx="1"/>
          </p:nvPr>
        </p:nvSpPr>
        <p:spPr>
          <a:xfrm>
            <a:off x="329784" y="854439"/>
            <a:ext cx="11662347" cy="5816184"/>
          </a:xfrm>
        </p:spPr>
        <p:txBody>
          <a:bodyPr>
            <a:normAutofit/>
          </a:bodyPr>
          <a:lstStyle/>
          <a:p>
            <a:r>
              <a:rPr lang="en-US" sz="2400" b="0" i="0" dirty="0">
                <a:solidFill>
                  <a:srgbClr val="333333"/>
                </a:solidFill>
                <a:effectLst/>
                <a:latin typeface="Goudy Old Style" panose="02020502050305020303" pitchFamily="18" charset="0"/>
              </a:rPr>
              <a:t>Sliding Window ARQ is a technique used for continuous transmission error control.</a:t>
            </a:r>
          </a:p>
          <a:p>
            <a:endParaRPr lang="en-US" sz="2400" b="0" i="0" dirty="0">
              <a:solidFill>
                <a:srgbClr val="333333"/>
              </a:solidFill>
              <a:effectLst/>
              <a:latin typeface="Goudy Old Style" panose="02020502050305020303" pitchFamily="18" charset="0"/>
            </a:endParaRPr>
          </a:p>
          <a:p>
            <a:r>
              <a:rPr lang="en-US" sz="2400" dirty="0">
                <a:solidFill>
                  <a:srgbClr val="333333"/>
                </a:solidFill>
                <a:latin typeface="Goudy Old Style" panose="02020502050305020303" pitchFamily="18" charset="0"/>
              </a:rPr>
              <a:t>Two protocols used in sliding window ARQ.</a:t>
            </a:r>
          </a:p>
          <a:p>
            <a:endParaRPr lang="en-US" dirty="0"/>
          </a:p>
        </p:txBody>
      </p:sp>
      <p:sp>
        <p:nvSpPr>
          <p:cNvPr id="4" name="Rounded Rectangle 17">
            <a:extLst>
              <a:ext uri="{FF2B5EF4-FFF2-40B4-BE49-F238E27FC236}">
                <a16:creationId xmlns:a16="http://schemas.microsoft.com/office/drawing/2014/main" id="{B197938E-0891-7632-0A4B-C2573D452068}"/>
              </a:ext>
            </a:extLst>
          </p:cNvPr>
          <p:cNvSpPr/>
          <p:nvPr/>
        </p:nvSpPr>
        <p:spPr>
          <a:xfrm>
            <a:off x="3010485" y="95580"/>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SLIDING WINDOW PROTOCOLS</a:t>
            </a:r>
          </a:p>
        </p:txBody>
      </p:sp>
      <p:pic>
        <p:nvPicPr>
          <p:cNvPr id="2" name="Picture 1">
            <a:extLst>
              <a:ext uri="{FF2B5EF4-FFF2-40B4-BE49-F238E27FC236}">
                <a16:creationId xmlns:a16="http://schemas.microsoft.com/office/drawing/2014/main" id="{F035AE5E-1D9B-A5B7-6F51-FDB9159758FC}"/>
              </a:ext>
            </a:extLst>
          </p:cNvPr>
          <p:cNvPicPr>
            <a:picLocks noChangeAspect="1"/>
          </p:cNvPicPr>
          <p:nvPr/>
        </p:nvPicPr>
        <p:blipFill>
          <a:blip r:embed="rId2"/>
          <a:stretch>
            <a:fillRect/>
          </a:stretch>
        </p:blipFill>
        <p:spPr>
          <a:xfrm>
            <a:off x="2194402" y="2854611"/>
            <a:ext cx="8272116" cy="3148950"/>
          </a:xfrm>
          <a:prstGeom prst="rect">
            <a:avLst/>
          </a:prstGeom>
        </p:spPr>
      </p:pic>
    </p:spTree>
    <p:extLst>
      <p:ext uri="{BB962C8B-B14F-4D97-AF65-F5344CB8AC3E}">
        <p14:creationId xmlns:p14="http://schemas.microsoft.com/office/powerpoint/2010/main" val="3425508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CE4FE-84F2-4669-A837-858F91770BC2}"/>
              </a:ext>
            </a:extLst>
          </p:cNvPr>
          <p:cNvSpPr>
            <a:spLocks noGrp="1"/>
          </p:cNvSpPr>
          <p:nvPr>
            <p:ph type="title"/>
          </p:nvPr>
        </p:nvSpPr>
        <p:spPr>
          <a:xfrm>
            <a:off x="553387" y="18255"/>
            <a:ext cx="10515600" cy="1325563"/>
          </a:xfrm>
        </p:spPr>
        <p:txBody>
          <a:bodyPr/>
          <a:lstStyle/>
          <a:p>
            <a:r>
              <a:rPr lang="en-US" dirty="0">
                <a:effectLst>
                  <a:outerShdw blurRad="38100" dist="38100" dir="2700000" algn="tl">
                    <a:srgbClr val="C0C0C0"/>
                  </a:outerShdw>
                </a:effectLst>
                <a:latin typeface="Times" pitchFamily="18" charset="0"/>
              </a:rPr>
              <a:t>Sliding Window Protocols…</a:t>
            </a:r>
            <a:endParaRPr lang="en-US" dirty="0"/>
          </a:p>
        </p:txBody>
      </p:sp>
      <p:sp>
        <p:nvSpPr>
          <p:cNvPr id="3" name="Content Placeholder 2">
            <a:extLst>
              <a:ext uri="{FF2B5EF4-FFF2-40B4-BE49-F238E27FC236}">
                <a16:creationId xmlns:a16="http://schemas.microsoft.com/office/drawing/2014/main" id="{40A34E36-5F66-44BA-B727-06EB08260B9D}"/>
              </a:ext>
            </a:extLst>
          </p:cNvPr>
          <p:cNvSpPr>
            <a:spLocks noGrp="1"/>
          </p:cNvSpPr>
          <p:nvPr>
            <p:ph idx="1"/>
          </p:nvPr>
        </p:nvSpPr>
        <p:spPr>
          <a:xfrm>
            <a:off x="553387" y="1343818"/>
            <a:ext cx="11085226" cy="5206884"/>
          </a:xfrm>
        </p:spPr>
        <p:txBody>
          <a:bodyPr>
            <a:normAutofit fontScale="77500" lnSpcReduction="20000"/>
          </a:bodyPr>
          <a:lstStyle/>
          <a:p>
            <a:pPr marL="0" indent="0" algn="just">
              <a:buNone/>
            </a:pPr>
            <a:r>
              <a:rPr lang="en-US" b="1" i="0" dirty="0">
                <a:solidFill>
                  <a:srgbClr val="C00000"/>
                </a:solidFill>
                <a:effectLst/>
                <a:latin typeface="Goudy Old Style" panose="02020502050305020303" pitchFamily="18" charset="0"/>
              </a:rPr>
              <a:t>Three Features used for retransmission:</a:t>
            </a:r>
            <a:endParaRPr lang="en-US" b="0" i="0" dirty="0">
              <a:solidFill>
                <a:srgbClr val="C00000"/>
              </a:solidFill>
              <a:effectLst/>
              <a:latin typeface="Goudy Old Style" panose="02020502050305020303" pitchFamily="18" charset="0"/>
            </a:endParaRPr>
          </a:p>
          <a:p>
            <a:pPr algn="just">
              <a:buFont typeface="Arial" panose="020B0604020202020204" pitchFamily="34" charset="0"/>
              <a:buChar char="•"/>
            </a:pPr>
            <a:r>
              <a:rPr lang="en-US" b="0" i="0" dirty="0">
                <a:solidFill>
                  <a:srgbClr val="000000"/>
                </a:solidFill>
                <a:effectLst/>
                <a:latin typeface="Goudy Old Style" panose="02020502050305020303" pitchFamily="18" charset="0"/>
              </a:rPr>
              <a:t>In this case, the sender keeps the copies of all the transmitted frames until they have been acknowledged. Suppose the frames from 0 through 4 have been transmitted, and the last acknowledgement was for frame 2, the sender has to keep the copies of frames 3 and 4 until they receive correctly.</a:t>
            </a:r>
          </a:p>
          <a:p>
            <a:pPr algn="just">
              <a:buFont typeface="Arial" panose="020B0604020202020204" pitchFamily="34" charset="0"/>
              <a:buChar char="•"/>
            </a:pPr>
            <a:endParaRPr lang="en-US" b="0" i="0" dirty="0">
              <a:solidFill>
                <a:srgbClr val="000000"/>
              </a:solidFill>
              <a:effectLst/>
              <a:latin typeface="Goudy Old Style" panose="02020502050305020303" pitchFamily="18" charset="0"/>
            </a:endParaRPr>
          </a:p>
          <a:p>
            <a:pPr algn="just">
              <a:buFont typeface="Arial" panose="020B0604020202020204" pitchFamily="34" charset="0"/>
              <a:buChar char="•"/>
            </a:pPr>
            <a:r>
              <a:rPr lang="en-US" b="0" i="0" dirty="0">
                <a:solidFill>
                  <a:srgbClr val="000000"/>
                </a:solidFill>
                <a:effectLst/>
                <a:latin typeface="Goudy Old Style" panose="02020502050305020303" pitchFamily="18" charset="0"/>
              </a:rPr>
              <a:t>The receiver can send either NAK or ACK depending on the conditions. The NAK frame tells the sender that the data have been received damaged. Since the sliding window is a continuous transmission mechanism, both ACK and NAK must be numbered for the identification of a frame. The ACK frame consists of a number that represents the next frame which the receiver expects to receive. The NAK frame consists of a number that represents the damaged frame.</a:t>
            </a:r>
          </a:p>
          <a:p>
            <a:pPr algn="just">
              <a:buFont typeface="Arial" panose="020B0604020202020204" pitchFamily="34" charset="0"/>
              <a:buChar char="•"/>
            </a:pPr>
            <a:endParaRPr lang="en-US" b="0" i="0" dirty="0">
              <a:solidFill>
                <a:srgbClr val="000000"/>
              </a:solidFill>
              <a:effectLst/>
              <a:latin typeface="Goudy Old Style" panose="02020502050305020303" pitchFamily="18" charset="0"/>
            </a:endParaRPr>
          </a:p>
          <a:p>
            <a:pPr algn="just">
              <a:buFont typeface="Arial" panose="020B0604020202020204" pitchFamily="34" charset="0"/>
              <a:buChar char="•"/>
            </a:pPr>
            <a:r>
              <a:rPr lang="en-US" b="0" i="0" dirty="0">
                <a:solidFill>
                  <a:srgbClr val="000000"/>
                </a:solidFill>
                <a:effectLst/>
                <a:latin typeface="Goudy Old Style" panose="02020502050305020303" pitchFamily="18" charset="0"/>
              </a:rPr>
              <a:t>The sliding window ARQ is equipped with the timer to handle the lost acknowledgements. Suppose then n-1 frames have been sent before receiving any acknowledgement. The sender waits for the acknowledgement, so it starts the timer and waits before sending any more. If the allotted time runs out, the sender retransmits one or all the frames depending upon the protocol used.</a:t>
            </a:r>
          </a:p>
          <a:p>
            <a:endParaRPr lang="en-US" dirty="0"/>
          </a:p>
        </p:txBody>
      </p:sp>
    </p:spTree>
    <p:extLst>
      <p:ext uri="{BB962C8B-B14F-4D97-AF65-F5344CB8AC3E}">
        <p14:creationId xmlns:p14="http://schemas.microsoft.com/office/powerpoint/2010/main" val="34834346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0B477-ABB4-42BB-BD8C-11170AA8912D}"/>
              </a:ext>
            </a:extLst>
          </p:cNvPr>
          <p:cNvSpPr>
            <a:spLocks noGrp="1"/>
          </p:cNvSpPr>
          <p:nvPr>
            <p:ph type="title"/>
          </p:nvPr>
        </p:nvSpPr>
        <p:spPr>
          <a:xfrm>
            <a:off x="358515" y="440075"/>
            <a:ext cx="10515600" cy="714167"/>
          </a:xfrm>
        </p:spPr>
        <p:txBody>
          <a:bodyPr/>
          <a:lstStyle/>
          <a:p>
            <a:r>
              <a:rPr lang="en-US" dirty="0">
                <a:effectLst>
                  <a:outerShdw blurRad="38100" dist="38100" dir="2700000" algn="tl">
                    <a:srgbClr val="C0C0C0"/>
                  </a:outerShdw>
                </a:effectLst>
                <a:latin typeface="Times" pitchFamily="18" charset="0"/>
              </a:rPr>
              <a:t>2. Go-Back-N ARQ</a:t>
            </a:r>
          </a:p>
        </p:txBody>
      </p:sp>
      <p:sp>
        <p:nvSpPr>
          <p:cNvPr id="3" name="Content Placeholder 2">
            <a:extLst>
              <a:ext uri="{FF2B5EF4-FFF2-40B4-BE49-F238E27FC236}">
                <a16:creationId xmlns:a16="http://schemas.microsoft.com/office/drawing/2014/main" id="{0C4C02AA-5C10-4A76-AB74-B748FC621141}"/>
              </a:ext>
            </a:extLst>
          </p:cNvPr>
          <p:cNvSpPr>
            <a:spLocks noGrp="1"/>
          </p:cNvSpPr>
          <p:nvPr>
            <p:ph idx="1"/>
          </p:nvPr>
        </p:nvSpPr>
        <p:spPr>
          <a:xfrm>
            <a:off x="134912" y="1841747"/>
            <a:ext cx="5961088" cy="4905961"/>
          </a:xfrm>
        </p:spPr>
        <p:txBody>
          <a:bodyPr>
            <a:normAutofit/>
          </a:bodyPr>
          <a:lstStyle/>
          <a:p>
            <a:pPr algn="just"/>
            <a:endParaRPr lang="en-US" dirty="0">
              <a:solidFill>
                <a:srgbClr val="333333"/>
              </a:solidFill>
              <a:latin typeface="Goudy Old Style" panose="02020502050305020303" pitchFamily="18" charset="0"/>
            </a:endParaRPr>
          </a:p>
          <a:p>
            <a:pPr algn="just"/>
            <a:r>
              <a:rPr lang="en-US" dirty="0">
                <a:solidFill>
                  <a:srgbClr val="333333"/>
                </a:solidFill>
                <a:latin typeface="Goudy Old Style" panose="02020502050305020303" pitchFamily="18" charset="0"/>
              </a:rPr>
              <a:t>In Go-Back-N ARQ protocol, if one frame is lost or damaged, then it retransmits all the frames after which it does not receive the positive ACK.</a:t>
            </a:r>
          </a:p>
        </p:txBody>
      </p:sp>
      <p:pic>
        <p:nvPicPr>
          <p:cNvPr id="5" name="Picture 4">
            <a:extLst>
              <a:ext uri="{FF2B5EF4-FFF2-40B4-BE49-F238E27FC236}">
                <a16:creationId xmlns:a16="http://schemas.microsoft.com/office/drawing/2014/main" id="{D6F469AD-B501-479F-898B-B263B6720B9E}"/>
              </a:ext>
            </a:extLst>
          </p:cNvPr>
          <p:cNvPicPr>
            <a:picLocks noChangeAspect="1"/>
          </p:cNvPicPr>
          <p:nvPr/>
        </p:nvPicPr>
        <p:blipFill>
          <a:blip r:embed="rId2"/>
          <a:stretch>
            <a:fillRect/>
          </a:stretch>
        </p:blipFill>
        <p:spPr>
          <a:xfrm>
            <a:off x="6096000" y="110292"/>
            <a:ext cx="6112153" cy="6747708"/>
          </a:xfrm>
          <a:prstGeom prst="rect">
            <a:avLst/>
          </a:prstGeom>
        </p:spPr>
      </p:pic>
    </p:spTree>
    <p:extLst>
      <p:ext uri="{BB962C8B-B14F-4D97-AF65-F5344CB8AC3E}">
        <p14:creationId xmlns:p14="http://schemas.microsoft.com/office/powerpoint/2010/main" val="16704881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854ED-70C0-4F15-85A3-478B01BB9BA4}"/>
              </a:ext>
            </a:extLst>
          </p:cNvPr>
          <p:cNvSpPr>
            <a:spLocks noGrp="1"/>
          </p:cNvSpPr>
          <p:nvPr>
            <p:ph type="title"/>
          </p:nvPr>
        </p:nvSpPr>
        <p:spPr>
          <a:xfrm>
            <a:off x="178633" y="224853"/>
            <a:ext cx="10515600" cy="614596"/>
          </a:xfrm>
        </p:spPr>
        <p:txBody>
          <a:bodyPr>
            <a:normAutofit fontScale="90000"/>
          </a:bodyPr>
          <a:lstStyle/>
          <a:p>
            <a:r>
              <a:rPr lang="en-US" dirty="0">
                <a:effectLst>
                  <a:outerShdw blurRad="38100" dist="38100" dir="2700000" algn="tl">
                    <a:srgbClr val="C0C0C0"/>
                  </a:outerShdw>
                </a:effectLst>
                <a:latin typeface="Times" pitchFamily="18" charset="0"/>
              </a:rPr>
              <a:t>2. Go-Back-N ARQ…</a:t>
            </a:r>
            <a:endParaRPr lang="en-US" dirty="0"/>
          </a:p>
        </p:txBody>
      </p:sp>
      <p:sp>
        <p:nvSpPr>
          <p:cNvPr id="3" name="Content Placeholder 2">
            <a:extLst>
              <a:ext uri="{FF2B5EF4-FFF2-40B4-BE49-F238E27FC236}">
                <a16:creationId xmlns:a16="http://schemas.microsoft.com/office/drawing/2014/main" id="{16C05120-EA2F-48D0-9EEE-03C5328B9EBA}"/>
              </a:ext>
            </a:extLst>
          </p:cNvPr>
          <p:cNvSpPr>
            <a:spLocks noGrp="1"/>
          </p:cNvSpPr>
          <p:nvPr>
            <p:ph idx="1"/>
          </p:nvPr>
        </p:nvSpPr>
        <p:spPr>
          <a:xfrm>
            <a:off x="314793" y="1094282"/>
            <a:ext cx="11632368" cy="5082681"/>
          </a:xfrm>
        </p:spPr>
        <p:txBody>
          <a:bodyPr>
            <a:normAutofit fontScale="85000" lnSpcReduction="20000"/>
          </a:bodyPr>
          <a:lstStyle/>
          <a:p>
            <a:pPr marL="0" indent="0" algn="just">
              <a:buNone/>
            </a:pPr>
            <a:r>
              <a:rPr lang="en-US" b="1" i="0" dirty="0">
                <a:solidFill>
                  <a:srgbClr val="C00000"/>
                </a:solidFill>
                <a:effectLst/>
                <a:latin typeface="Goudy Old Style" panose="02020502050305020303" pitchFamily="18" charset="0"/>
              </a:rPr>
              <a:t>Three possibilities can occur for retransmission:</a:t>
            </a:r>
          </a:p>
          <a:p>
            <a:pPr algn="just">
              <a:buFont typeface="Arial" panose="020B0604020202020204" pitchFamily="34" charset="0"/>
              <a:buChar char="•"/>
            </a:pPr>
            <a:r>
              <a:rPr lang="en-US" b="1" i="0" dirty="0">
                <a:solidFill>
                  <a:srgbClr val="000000"/>
                </a:solidFill>
                <a:effectLst/>
                <a:latin typeface="Goudy Old Style" panose="02020502050305020303" pitchFamily="18" charset="0"/>
              </a:rPr>
              <a:t>Damaged Frame:</a:t>
            </a:r>
            <a:r>
              <a:rPr lang="en-US" b="0" i="0" dirty="0">
                <a:solidFill>
                  <a:srgbClr val="000000"/>
                </a:solidFill>
                <a:effectLst/>
                <a:latin typeface="Goudy Old Style" panose="02020502050305020303" pitchFamily="18" charset="0"/>
              </a:rPr>
              <a:t> When the frame is damaged, then the receiver sends a NAK frame. Then sender retransmits all the frames from the damaged frame.</a:t>
            </a:r>
          </a:p>
          <a:p>
            <a:pPr algn="just">
              <a:buFont typeface="Arial" panose="020B0604020202020204" pitchFamily="34" charset="0"/>
              <a:buChar char="•"/>
            </a:pPr>
            <a:endParaRPr lang="en-US" b="0" i="0" dirty="0">
              <a:solidFill>
                <a:srgbClr val="000000"/>
              </a:solidFill>
              <a:effectLst/>
              <a:latin typeface="Goudy Old Style" panose="02020502050305020303" pitchFamily="18" charset="0"/>
            </a:endParaRPr>
          </a:p>
          <a:p>
            <a:pPr algn="just"/>
            <a:r>
              <a:rPr lang="en-US" b="1" i="0" dirty="0">
                <a:solidFill>
                  <a:srgbClr val="000000"/>
                </a:solidFill>
                <a:effectLst/>
                <a:latin typeface="Goudy Old Style" panose="02020502050305020303" pitchFamily="18" charset="0"/>
              </a:rPr>
              <a:t>Lost Data Frame:</a:t>
            </a:r>
            <a:r>
              <a:rPr lang="en-US" b="0" i="0" dirty="0">
                <a:solidFill>
                  <a:srgbClr val="000000"/>
                </a:solidFill>
                <a:effectLst/>
                <a:latin typeface="Goudy Old Style" panose="02020502050305020303" pitchFamily="18" charset="0"/>
              </a:rPr>
              <a:t> In Sliding window protocols, data frames are sent sequentially. If any of the frames is lost, then the next frame arrive at the receiver is out of sequence. The receiver checks the sequence number of each of the frame, discovers the frame that has been skipped, and returns the NAK for the missing frame. The sending device retransmits the frame indicated by NAK as well as the frames transmitted after the lost frame.</a:t>
            </a:r>
          </a:p>
          <a:p>
            <a:pPr algn="just"/>
            <a:endParaRPr lang="en-US" b="0" i="0" dirty="0">
              <a:solidFill>
                <a:srgbClr val="000000"/>
              </a:solidFill>
              <a:effectLst/>
              <a:latin typeface="Goudy Old Style" panose="02020502050305020303" pitchFamily="18" charset="0"/>
            </a:endParaRPr>
          </a:p>
          <a:p>
            <a:pPr algn="just"/>
            <a:r>
              <a:rPr lang="en-US" b="1" i="0" dirty="0">
                <a:solidFill>
                  <a:srgbClr val="000000"/>
                </a:solidFill>
                <a:effectLst/>
                <a:latin typeface="Goudy Old Style" panose="02020502050305020303" pitchFamily="18" charset="0"/>
              </a:rPr>
              <a:t>Lost Acknowledgement:</a:t>
            </a:r>
            <a:r>
              <a:rPr lang="en-US" b="0" i="0" dirty="0">
                <a:solidFill>
                  <a:srgbClr val="000000"/>
                </a:solidFill>
                <a:effectLst/>
                <a:latin typeface="Goudy Old Style" panose="02020502050305020303" pitchFamily="18" charset="0"/>
              </a:rPr>
              <a:t> The sender can send as many frames as the windows allow before waiting for any acknowledgement. Once the limit of the window is reached, the sender has no more frames to send; it must wait for the acknowledgement. If the acknowledgement is lost, then the sender could wait forever. To avoid such situation, the sender is equipped with the timer that starts counting whenever the window capacity is reached. If the acknowledgement has not been received within the time limit, then the sender retransmits the frame since the last ACK.</a:t>
            </a:r>
          </a:p>
          <a:p>
            <a:pPr algn="just">
              <a:buFont typeface="Arial" panose="020B0604020202020204" pitchFamily="34" charset="0"/>
              <a:buChar char="•"/>
            </a:pPr>
            <a:endParaRPr lang="en-US" b="0" i="0" dirty="0">
              <a:solidFill>
                <a:srgbClr val="000000"/>
              </a:solidFill>
              <a:effectLst/>
              <a:latin typeface="Goudy Old Style" panose="02020502050305020303" pitchFamily="18" charset="0"/>
            </a:endParaRPr>
          </a:p>
          <a:p>
            <a:endParaRPr lang="en-US" dirty="0"/>
          </a:p>
        </p:txBody>
      </p:sp>
    </p:spTree>
    <p:extLst>
      <p:ext uri="{BB962C8B-B14F-4D97-AF65-F5344CB8AC3E}">
        <p14:creationId xmlns:p14="http://schemas.microsoft.com/office/powerpoint/2010/main" val="34013535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0B477-ABB4-42BB-BD8C-11170AA8912D}"/>
              </a:ext>
            </a:extLst>
          </p:cNvPr>
          <p:cNvSpPr>
            <a:spLocks noGrp="1"/>
          </p:cNvSpPr>
          <p:nvPr>
            <p:ph type="title"/>
          </p:nvPr>
        </p:nvSpPr>
        <p:spPr>
          <a:xfrm>
            <a:off x="0" y="155262"/>
            <a:ext cx="10515600" cy="714167"/>
          </a:xfrm>
        </p:spPr>
        <p:txBody>
          <a:bodyPr/>
          <a:lstStyle/>
          <a:p>
            <a:r>
              <a:rPr lang="en-US" dirty="0">
                <a:effectLst>
                  <a:outerShdw blurRad="38100" dist="38100" dir="2700000" algn="tl">
                    <a:srgbClr val="C0C0C0"/>
                  </a:outerShdw>
                </a:effectLst>
                <a:latin typeface="Times" pitchFamily="18" charset="0"/>
              </a:rPr>
              <a:t>3. Selective Repeat ARQ</a:t>
            </a:r>
          </a:p>
        </p:txBody>
      </p:sp>
      <p:sp>
        <p:nvSpPr>
          <p:cNvPr id="3" name="Content Placeholder 2">
            <a:extLst>
              <a:ext uri="{FF2B5EF4-FFF2-40B4-BE49-F238E27FC236}">
                <a16:creationId xmlns:a16="http://schemas.microsoft.com/office/drawing/2014/main" id="{0C4C02AA-5C10-4A76-AB74-B748FC621141}"/>
              </a:ext>
            </a:extLst>
          </p:cNvPr>
          <p:cNvSpPr>
            <a:spLocks noGrp="1"/>
          </p:cNvSpPr>
          <p:nvPr>
            <p:ph idx="1"/>
          </p:nvPr>
        </p:nvSpPr>
        <p:spPr>
          <a:xfrm>
            <a:off x="0" y="1100755"/>
            <a:ext cx="6068598" cy="5525919"/>
          </a:xfrm>
        </p:spPr>
        <p:txBody>
          <a:bodyPr>
            <a:normAutofit fontScale="77500" lnSpcReduction="20000"/>
          </a:bodyPr>
          <a:lstStyle/>
          <a:p>
            <a:pPr algn="just"/>
            <a:endParaRPr lang="en-US" dirty="0">
              <a:solidFill>
                <a:srgbClr val="333333"/>
              </a:solidFill>
              <a:latin typeface="Goudy Old Style" panose="02020502050305020303" pitchFamily="18" charset="0"/>
            </a:endParaRPr>
          </a:p>
          <a:p>
            <a:pPr algn="just">
              <a:buFont typeface="Arial" panose="020B0604020202020204" pitchFamily="34" charset="0"/>
              <a:buChar char="•"/>
            </a:pPr>
            <a:r>
              <a:rPr lang="en-US" b="0" i="0" dirty="0">
                <a:solidFill>
                  <a:srgbClr val="000000"/>
                </a:solidFill>
                <a:effectLst/>
                <a:latin typeface="Goudy Old Style" panose="02020502050305020303" pitchFamily="18" charset="0"/>
              </a:rPr>
              <a:t>Selective-Reject ARQ technique is more efficient than Go-Back-n ARQ.</a:t>
            </a:r>
          </a:p>
          <a:p>
            <a:pPr algn="just">
              <a:buFont typeface="Arial" panose="020B0604020202020204" pitchFamily="34" charset="0"/>
              <a:buChar char="•"/>
            </a:pPr>
            <a:endParaRPr lang="en-US" b="0" i="0" dirty="0">
              <a:solidFill>
                <a:srgbClr val="000000"/>
              </a:solidFill>
              <a:effectLst/>
              <a:latin typeface="Goudy Old Style" panose="02020502050305020303" pitchFamily="18" charset="0"/>
            </a:endParaRPr>
          </a:p>
          <a:p>
            <a:pPr algn="just">
              <a:buFont typeface="Arial" panose="020B0604020202020204" pitchFamily="34" charset="0"/>
              <a:buChar char="•"/>
            </a:pPr>
            <a:r>
              <a:rPr lang="en-US" b="0" i="0" dirty="0">
                <a:solidFill>
                  <a:srgbClr val="000000"/>
                </a:solidFill>
                <a:effectLst/>
                <a:latin typeface="Goudy Old Style" panose="02020502050305020303" pitchFamily="18" charset="0"/>
              </a:rPr>
              <a:t>In this technique, only those frames are retransmitted for which negative acknowledgement (NAK) has been received.</a:t>
            </a:r>
          </a:p>
          <a:p>
            <a:pPr algn="just">
              <a:buFont typeface="Arial" panose="020B0604020202020204" pitchFamily="34" charset="0"/>
              <a:buChar char="•"/>
            </a:pPr>
            <a:endParaRPr lang="en-US" b="0" i="0" dirty="0">
              <a:solidFill>
                <a:srgbClr val="000000"/>
              </a:solidFill>
              <a:effectLst/>
              <a:latin typeface="Goudy Old Style" panose="02020502050305020303" pitchFamily="18" charset="0"/>
            </a:endParaRPr>
          </a:p>
          <a:p>
            <a:pPr algn="just">
              <a:buFont typeface="Arial" panose="020B0604020202020204" pitchFamily="34" charset="0"/>
              <a:buChar char="•"/>
            </a:pPr>
            <a:r>
              <a:rPr lang="en-US" b="0" i="0" dirty="0">
                <a:solidFill>
                  <a:srgbClr val="000000"/>
                </a:solidFill>
                <a:effectLst/>
                <a:latin typeface="Goudy Old Style" panose="02020502050305020303" pitchFamily="18" charset="0"/>
              </a:rPr>
              <a:t>The receiver storage buffer keeps all the damaged frames on hold until the frame in error is correctly received.</a:t>
            </a:r>
          </a:p>
          <a:p>
            <a:pPr algn="just">
              <a:buFont typeface="Arial" panose="020B0604020202020204" pitchFamily="34" charset="0"/>
              <a:buChar char="•"/>
            </a:pPr>
            <a:endParaRPr lang="en-US" b="0" i="0" dirty="0">
              <a:solidFill>
                <a:srgbClr val="000000"/>
              </a:solidFill>
              <a:effectLst/>
              <a:latin typeface="Goudy Old Style" panose="02020502050305020303" pitchFamily="18" charset="0"/>
            </a:endParaRPr>
          </a:p>
          <a:p>
            <a:pPr algn="just">
              <a:buFont typeface="Arial" panose="020B0604020202020204" pitchFamily="34" charset="0"/>
              <a:buChar char="•"/>
            </a:pPr>
            <a:r>
              <a:rPr lang="en-US" b="0" i="0" dirty="0">
                <a:solidFill>
                  <a:srgbClr val="000000"/>
                </a:solidFill>
                <a:effectLst/>
                <a:latin typeface="Goudy Old Style" panose="02020502050305020303" pitchFamily="18" charset="0"/>
              </a:rPr>
              <a:t>The receiver must have an appropriate logic for reinserting the frames in a correct order.</a:t>
            </a:r>
          </a:p>
          <a:p>
            <a:pPr algn="just">
              <a:buFont typeface="Arial" panose="020B0604020202020204" pitchFamily="34" charset="0"/>
              <a:buChar char="•"/>
            </a:pPr>
            <a:endParaRPr lang="en-US" b="0" i="0" dirty="0">
              <a:solidFill>
                <a:srgbClr val="000000"/>
              </a:solidFill>
              <a:effectLst/>
              <a:latin typeface="Goudy Old Style" panose="02020502050305020303" pitchFamily="18" charset="0"/>
            </a:endParaRPr>
          </a:p>
          <a:p>
            <a:pPr algn="just">
              <a:buFont typeface="Arial" panose="020B0604020202020204" pitchFamily="34" charset="0"/>
              <a:buChar char="•"/>
            </a:pPr>
            <a:r>
              <a:rPr lang="en-US" b="0" i="0" dirty="0">
                <a:solidFill>
                  <a:srgbClr val="000000"/>
                </a:solidFill>
                <a:effectLst/>
                <a:latin typeface="Goudy Old Style" panose="02020502050305020303" pitchFamily="18" charset="0"/>
              </a:rPr>
              <a:t>The sender must consist of a searching mechanism that selects only the requested frame for retransmission.</a:t>
            </a:r>
          </a:p>
        </p:txBody>
      </p:sp>
      <p:pic>
        <p:nvPicPr>
          <p:cNvPr id="6" name="Picture 5">
            <a:extLst>
              <a:ext uri="{FF2B5EF4-FFF2-40B4-BE49-F238E27FC236}">
                <a16:creationId xmlns:a16="http://schemas.microsoft.com/office/drawing/2014/main" id="{9E4DAE1B-6BD1-474B-BD49-D01AAE78BA6E}"/>
              </a:ext>
            </a:extLst>
          </p:cNvPr>
          <p:cNvPicPr>
            <a:picLocks noChangeAspect="1"/>
          </p:cNvPicPr>
          <p:nvPr/>
        </p:nvPicPr>
        <p:blipFill>
          <a:blip r:embed="rId3"/>
          <a:stretch>
            <a:fillRect/>
          </a:stretch>
        </p:blipFill>
        <p:spPr>
          <a:xfrm>
            <a:off x="6123403" y="376488"/>
            <a:ext cx="6068597" cy="6481512"/>
          </a:xfrm>
          <a:prstGeom prst="rect">
            <a:avLst/>
          </a:prstGeom>
        </p:spPr>
      </p:pic>
    </p:spTree>
    <p:extLst>
      <p:ext uri="{BB962C8B-B14F-4D97-AF65-F5344CB8AC3E}">
        <p14:creationId xmlns:p14="http://schemas.microsoft.com/office/powerpoint/2010/main" val="7650670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00BC72CD-0E64-4837-A23F-71719B051DF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0487" y="1379529"/>
            <a:ext cx="4098941" cy="409894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51E0631B-1888-44A3-956F-2018E4A03155}"/>
              </a:ext>
            </a:extLst>
          </p:cNvPr>
          <p:cNvSpPr>
            <a:spLocks noGrp="1"/>
          </p:cNvSpPr>
          <p:nvPr>
            <p:ph idx="1"/>
          </p:nvPr>
        </p:nvSpPr>
        <p:spPr>
          <a:xfrm>
            <a:off x="6096002" y="1584960"/>
            <a:ext cx="5426844" cy="4731434"/>
          </a:xfrm>
        </p:spPr>
        <p:txBody>
          <a:bodyPr>
            <a:normAutofit fontScale="92500" lnSpcReduction="10000"/>
          </a:bodyPr>
          <a:lstStyle/>
          <a:p>
            <a:r>
              <a:rPr lang="en-US" dirty="0"/>
              <a:t>Datalink Layer Protocols</a:t>
            </a:r>
          </a:p>
          <a:p>
            <a:pPr lvl="1">
              <a:buFont typeface="Wingdings" panose="05000000000000000000" pitchFamily="2" charset="2"/>
              <a:buChar char="Ø"/>
            </a:pPr>
            <a:r>
              <a:rPr lang="en-US" dirty="0"/>
              <a:t>DLL Protocols for Noiseless Channels</a:t>
            </a:r>
          </a:p>
          <a:p>
            <a:pPr lvl="1">
              <a:buFont typeface="Wingdings" panose="05000000000000000000" pitchFamily="2" charset="2"/>
              <a:buChar char="Ø"/>
            </a:pPr>
            <a:r>
              <a:rPr lang="en-US" dirty="0"/>
              <a:t>DLL Protocols for Noisy Channel</a:t>
            </a:r>
          </a:p>
          <a:p>
            <a:endParaRPr lang="en-US" dirty="0"/>
          </a:p>
          <a:p>
            <a:r>
              <a:rPr lang="en-US" dirty="0"/>
              <a:t>DLL Protocols for Noiseless Channels</a:t>
            </a:r>
          </a:p>
          <a:p>
            <a:pPr lvl="1">
              <a:buFont typeface="Wingdings" panose="05000000000000000000" pitchFamily="2" charset="2"/>
              <a:buChar char="Ø"/>
            </a:pPr>
            <a:r>
              <a:rPr lang="en-US" dirty="0"/>
              <a:t>Simplest</a:t>
            </a:r>
          </a:p>
          <a:p>
            <a:pPr lvl="1">
              <a:buFont typeface="Wingdings" panose="05000000000000000000" pitchFamily="2" charset="2"/>
              <a:buChar char="Ø"/>
            </a:pPr>
            <a:r>
              <a:rPr lang="en-US" dirty="0"/>
              <a:t>Stop-and-wait </a:t>
            </a:r>
          </a:p>
          <a:p>
            <a:pPr>
              <a:buFont typeface="Wingdings" panose="05000000000000000000" pitchFamily="2" charset="2"/>
              <a:buChar char="Ø"/>
            </a:pPr>
            <a:endParaRPr lang="en-US" dirty="0"/>
          </a:p>
          <a:p>
            <a:r>
              <a:rPr lang="en-US" dirty="0"/>
              <a:t>DLL Protocols for Noisy Channels</a:t>
            </a:r>
          </a:p>
          <a:p>
            <a:pPr lvl="1">
              <a:buFont typeface="Wingdings" panose="05000000000000000000" pitchFamily="2" charset="2"/>
              <a:buChar char="Ø"/>
            </a:pPr>
            <a:r>
              <a:rPr lang="en-US" dirty="0"/>
              <a:t>Stop-and-wait ARQ</a:t>
            </a:r>
          </a:p>
          <a:p>
            <a:pPr lvl="1">
              <a:buFont typeface="Wingdings" panose="05000000000000000000" pitchFamily="2" charset="2"/>
              <a:buChar char="Ø"/>
            </a:pPr>
            <a:r>
              <a:rPr lang="en-US" dirty="0"/>
              <a:t>Go-back-N ARQ</a:t>
            </a:r>
          </a:p>
          <a:p>
            <a:pPr lvl="1">
              <a:buFont typeface="Wingdings" panose="05000000000000000000" pitchFamily="2" charset="2"/>
              <a:buChar char="Ø"/>
            </a:pPr>
            <a:r>
              <a:rPr lang="en-US" dirty="0"/>
              <a:t>Selective Repeat ARQ</a:t>
            </a:r>
          </a:p>
        </p:txBody>
      </p:sp>
      <p:pic>
        <p:nvPicPr>
          <p:cNvPr id="2" name="Picture 2" descr="KL Deemed to be University Logo">
            <a:extLst>
              <a:ext uri="{FF2B5EF4-FFF2-40B4-BE49-F238E27FC236}">
                <a16:creationId xmlns:a16="http://schemas.microsoft.com/office/drawing/2014/main" id="{1A6E623D-BF52-6CE8-7DF9-98E41C00CDDC}"/>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4" name="Rounded Rectangle 17">
            <a:extLst>
              <a:ext uri="{FF2B5EF4-FFF2-40B4-BE49-F238E27FC236}">
                <a16:creationId xmlns:a16="http://schemas.microsoft.com/office/drawing/2014/main" id="{BF5AC92A-328E-35D9-8A83-66295DF01654}"/>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spTree>
    <p:extLst>
      <p:ext uri="{BB962C8B-B14F-4D97-AF65-F5344CB8AC3E}">
        <p14:creationId xmlns:p14="http://schemas.microsoft.com/office/powerpoint/2010/main" val="1752832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10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10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10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10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 calcmode="lin" valueType="num">
                                      <p:cBhvr additive="base">
                                        <p:cTn id="49"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0" dur="10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10" end="10"/>
                                            </p:txEl>
                                          </p:spTgt>
                                        </p:tgtEl>
                                        <p:attrNameLst>
                                          <p:attrName>style.visibility</p:attrName>
                                        </p:attrNameLst>
                                      </p:cBhvr>
                                      <p:to>
                                        <p:strVal val="visible"/>
                                      </p:to>
                                    </p:set>
                                    <p:anim calcmode="lin" valueType="num">
                                      <p:cBhvr additive="base">
                                        <p:cTn id="55"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6" dur="10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11" end="11"/>
                                            </p:txEl>
                                          </p:spTgt>
                                        </p:tgtEl>
                                        <p:attrNameLst>
                                          <p:attrName>style.visibility</p:attrName>
                                        </p:attrNameLst>
                                      </p:cBhvr>
                                      <p:to>
                                        <p:strVal val="visible"/>
                                      </p:to>
                                    </p:set>
                                    <p:anim calcmode="lin" valueType="num">
                                      <p:cBhvr additive="base">
                                        <p:cTn id="61"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62" dur="10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4"/>
                                        </p:tgtEl>
                                        <p:attrNameLst>
                                          <p:attrName>style.visibility</p:attrName>
                                        </p:attrNameLst>
                                      </p:cBhvr>
                                      <p:to>
                                        <p:strVal val="visible"/>
                                      </p:to>
                                    </p:set>
                                    <p:animEffect transition="in" filter="fade">
                                      <p:cBhvr>
                                        <p:cTn id="6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858129" y="2194816"/>
            <a:ext cx="10255348" cy="1237262"/>
          </a:xfrm>
          <a:prstGeom prst="rect">
            <a:avLst/>
          </a:prstGeom>
          <a:noFill/>
        </p:spPr>
        <p:txBody>
          <a:bodyPr wrap="square" rtlCol="0">
            <a:spAutoFit/>
          </a:bodyPr>
          <a:lstStyle/>
          <a:p>
            <a:pPr>
              <a:lnSpc>
                <a:spcPct val="200000"/>
              </a:lnSpc>
            </a:pPr>
            <a:r>
              <a:rPr lang="en-US" b="1" dirty="0"/>
              <a:t>1. </a:t>
            </a:r>
            <a:r>
              <a:rPr lang="en-US" sz="2000" dirty="0"/>
              <a:t>Describe the DLL protocols for Noiseless Channels.</a:t>
            </a:r>
          </a:p>
          <a:p>
            <a:pPr>
              <a:lnSpc>
                <a:spcPct val="200000"/>
              </a:lnSpc>
            </a:pPr>
            <a:r>
              <a:rPr lang="en-US" sz="2000" dirty="0"/>
              <a:t>2. Describe the DLL protocols for Noisy Channels</a:t>
            </a:r>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900332" y="1167618"/>
            <a:ext cx="9608234" cy="1711366"/>
          </a:xfrm>
          <a:prstGeom prst="rect">
            <a:avLst/>
          </a:prstGeom>
          <a:noFill/>
        </p:spPr>
        <p:txBody>
          <a:bodyPr wrap="square" rtlCol="0">
            <a:spAutoFit/>
          </a:bodyPr>
          <a:lstStyle/>
          <a:p>
            <a:pPr>
              <a:lnSpc>
                <a:spcPct val="150000"/>
              </a:lnSpc>
            </a:pPr>
            <a:r>
              <a:rPr lang="en-US" b="1" dirty="0"/>
              <a:t>Reference Books:</a:t>
            </a:r>
            <a:endParaRPr lang="en-US" dirty="0"/>
          </a:p>
          <a:p>
            <a:pPr marL="342900" indent="-342900">
              <a:lnSpc>
                <a:spcPct val="150000"/>
              </a:lnSpc>
              <a:buAutoNum type="arabicPeriod"/>
            </a:pPr>
            <a:r>
              <a:rPr lang="en-US" dirty="0"/>
              <a:t>Behrouz A. </a:t>
            </a:r>
            <a:r>
              <a:rPr lang="en-US" dirty="0" err="1"/>
              <a:t>Forouzan</a:t>
            </a:r>
            <a:r>
              <a:rPr lang="en-US" dirty="0"/>
              <a:t> , “Data Communication and Networking”, TMH, 5th Edition, 2012.</a:t>
            </a:r>
          </a:p>
          <a:p>
            <a:pPr marL="342900" indent="-342900">
              <a:lnSpc>
                <a:spcPct val="150000"/>
              </a:lnSpc>
              <a:buAutoNum type="arabicPeriod"/>
            </a:pPr>
            <a:r>
              <a:rPr lang="en-US" dirty="0"/>
              <a:t>A.S. Tanenbaum, David J. </a:t>
            </a:r>
            <a:r>
              <a:rPr lang="en-US" dirty="0" err="1"/>
              <a:t>Wetheral</a:t>
            </a:r>
            <a:r>
              <a:rPr lang="en-US" dirty="0"/>
              <a:t> “Computer Networks” Pearson, 5th Edition.</a:t>
            </a:r>
          </a:p>
          <a:p>
            <a:pPr>
              <a:lnSpc>
                <a:spcPct val="150000"/>
              </a:lnSpc>
            </a:pPr>
            <a:endParaRPr lang="en-US" dirty="0"/>
          </a:p>
        </p:txBody>
      </p:sp>
      <p:pic>
        <p:nvPicPr>
          <p:cNvPr id="5"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19929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Network Protocols &amp; Security</a:t>
            </a: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49049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89A6ECA-0C1B-4F00-836D-A696F073E5C2}">
  <ds:schemaRefs>
    <ds:schemaRef ds:uri="0125a647-8023-46ae-ae6e-85cf36d841bd"/>
    <ds:schemaRef ds:uri="d43ee83c-3e71-4748-8ebc-8eaadf7934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BBD0A98-E68B-4DAA-8964-2F739D6D4075}">
  <ds:schemaRefs>
    <ds:schemaRef ds:uri="0125a647-8023-46ae-ae6e-85cf36d841bd"/>
    <ds:schemaRef ds:uri="d43ee83c-3e71-4748-8ebc-8eaadf79342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3DA00F5F-5366-4B1C-9406-30DECA796AB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306</TotalTime>
  <Words>1587</Words>
  <Application>Microsoft Office PowerPoint</Application>
  <PresentationFormat>Widescreen</PresentationFormat>
  <Paragraphs>173</Paragraphs>
  <Slides>24</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Arial</vt:lpstr>
      <vt:lpstr>BioRhyme ExtraBold</vt:lpstr>
      <vt:lpstr>Calibri</vt:lpstr>
      <vt:lpstr>Goudy Old Style</vt:lpstr>
      <vt:lpstr>Poppins</vt:lpstr>
      <vt:lpstr>Times</vt:lpstr>
      <vt:lpstr>Times New Roman</vt:lpstr>
      <vt:lpstr>Wingdings</vt:lpstr>
      <vt:lpstr>1_Office Theme</vt:lpstr>
      <vt:lpstr>PowerPoint Presentation</vt:lpstr>
      <vt:lpstr>PowerPoint Presentation</vt:lpstr>
      <vt:lpstr>PowerPoint Presentation</vt:lpstr>
      <vt:lpstr>PowerPoint Presentation</vt:lpstr>
      <vt:lpstr>PowerPoint Presentation</vt:lpstr>
      <vt:lpstr>Simplest Protocol</vt:lpstr>
      <vt:lpstr>Stop-and-wait Protocol</vt:lpstr>
      <vt:lpstr>PowerPoint Presentation</vt:lpstr>
      <vt:lpstr>1. Stop-and-wait ARQ</vt:lpstr>
      <vt:lpstr>1. Stop-and-wait ARQ…</vt:lpstr>
      <vt:lpstr>PowerPoint Presentation</vt:lpstr>
      <vt:lpstr>1. Stop-and-wait ARQ…</vt:lpstr>
      <vt:lpstr>PowerPoint Presentation</vt:lpstr>
      <vt:lpstr>Sliding Window…</vt:lpstr>
      <vt:lpstr>Sliding Window…</vt:lpstr>
      <vt:lpstr>PowerPoint Presentation</vt:lpstr>
      <vt:lpstr>Sliding Window Protocols…</vt:lpstr>
      <vt:lpstr>2. Go-Back-N ARQ</vt:lpstr>
      <vt:lpstr>2. Go-Back-N ARQ…</vt:lpstr>
      <vt:lpstr>3. Selective Repeat ARQ</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GORLA VENKATA GANESH</cp:lastModifiedBy>
  <cp:revision>26</cp:revision>
  <dcterms:created xsi:type="dcterms:W3CDTF">2020-02-08T09:57:44Z</dcterms:created>
  <dcterms:modified xsi:type="dcterms:W3CDTF">2025-12-17T06:31:23Z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