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7"/>
  </p:notesMasterIdLst>
  <p:sldIdLst>
    <p:sldId id="271" r:id="rId2"/>
    <p:sldId id="300" r:id="rId3"/>
    <p:sldId id="535" r:id="rId4"/>
    <p:sldId id="629" r:id="rId5"/>
    <p:sldId id="631" r:id="rId6"/>
    <p:sldId id="630" r:id="rId7"/>
    <p:sldId id="633" r:id="rId8"/>
    <p:sldId id="632" r:id="rId9"/>
    <p:sldId id="635" r:id="rId10"/>
    <p:sldId id="636" r:id="rId11"/>
    <p:sldId id="637" r:id="rId12"/>
    <p:sldId id="638" r:id="rId13"/>
    <p:sldId id="640" r:id="rId14"/>
    <p:sldId id="642" r:id="rId15"/>
    <p:sldId id="643" r:id="rId16"/>
    <p:sldId id="644" r:id="rId17"/>
    <p:sldId id="646" r:id="rId18"/>
    <p:sldId id="648" r:id="rId19"/>
    <p:sldId id="649" r:id="rId20"/>
    <p:sldId id="650" r:id="rId21"/>
    <p:sldId id="651" r:id="rId22"/>
    <p:sldId id="652" r:id="rId23"/>
    <p:sldId id="653" r:id="rId24"/>
    <p:sldId id="659" r:id="rId25"/>
    <p:sldId id="654" r:id="rId26"/>
    <p:sldId id="655" r:id="rId27"/>
    <p:sldId id="656" r:id="rId28"/>
    <p:sldId id="657" r:id="rId29"/>
    <p:sldId id="660" r:id="rId30"/>
    <p:sldId id="658" r:id="rId31"/>
    <p:sldId id="661" r:id="rId32"/>
    <p:sldId id="274" r:id="rId33"/>
    <p:sldId id="302" r:id="rId34"/>
    <p:sldId id="303" r:id="rId35"/>
    <p:sldId id="304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03D952-5F24-4E80-9BD5-E969FD03A848}" v="638" dt="2022-11-25T11:08:03.9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7EE5D1-879B-4429-BDC4-73CA8EC5C60D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BBA3EA-FD2D-4030-8049-F6E900B5404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43592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44303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52D089EC-4507-D9B0-0A1F-C23F6908E0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FFDD60A-0BF6-4826-B47E-9F381525BEB8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688130" name="Rectangle 2">
            <a:extLst>
              <a:ext uri="{FF2B5EF4-FFF2-40B4-BE49-F238E27FC236}">
                <a16:creationId xmlns:a16="http://schemas.microsoft.com/office/drawing/2014/main" id="{556BE50F-E962-A924-7B64-2F2F1EFF18C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8131" name="Rectangle 3">
            <a:extLst>
              <a:ext uri="{FF2B5EF4-FFF2-40B4-BE49-F238E27FC236}">
                <a16:creationId xmlns:a16="http://schemas.microsoft.com/office/drawing/2014/main" id="{51BFEAFC-3C0C-7F48-0B21-5DA8C6367D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AF9E7F87-7CA5-344D-E596-381BC1F5A0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F380AFF-D258-4408-A096-6317F39A5F13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690178" name="Rectangle 2">
            <a:extLst>
              <a:ext uri="{FF2B5EF4-FFF2-40B4-BE49-F238E27FC236}">
                <a16:creationId xmlns:a16="http://schemas.microsoft.com/office/drawing/2014/main" id="{B4A1B0E7-0920-0604-36A8-DFBC6C67BBA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0179" name="Rectangle 3">
            <a:extLst>
              <a:ext uri="{FF2B5EF4-FFF2-40B4-BE49-F238E27FC236}">
                <a16:creationId xmlns:a16="http://schemas.microsoft.com/office/drawing/2014/main" id="{40616D20-1E41-9ACD-725F-66B3350641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5951406-C365-403F-B65D-C55645F6977E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643354-8834-42CC-9D18-52A8E71F10F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6197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5951406-C365-403F-B65D-C55645F6977E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643354-8834-42CC-9D18-52A8E71F10F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0916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5951406-C365-403F-B65D-C55645F6977E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643354-8834-42CC-9D18-52A8E71F10F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0136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5951406-C365-403F-B65D-C55645F6977E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643354-8834-42CC-9D18-52A8E71F10F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4528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5951406-C365-403F-B65D-C55645F6977E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643354-8834-42CC-9D18-52A8E71F10F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3143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5951406-C365-403F-B65D-C55645F6977E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643354-8834-42CC-9D18-52A8E71F10F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8870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5951406-C365-403F-B65D-C55645F6977E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643354-8834-42CC-9D18-52A8E71F10F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5932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5951406-C365-403F-B65D-C55645F6977E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643354-8834-42CC-9D18-52A8E71F10F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3035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5951406-C365-403F-B65D-C55645F6977E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643354-8834-42CC-9D18-52A8E71F10F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9969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5951406-C365-403F-B65D-C55645F6977E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643354-8834-42CC-9D18-52A8E71F10F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1234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35364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2074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Background pattern&#10;&#10;Description automatically generated">
            <a:extLst>
              <a:ext uri="{FF2B5EF4-FFF2-40B4-BE49-F238E27FC236}">
                <a16:creationId xmlns:a16="http://schemas.microsoft.com/office/drawing/2014/main" id="{2F4508AD-1BA8-6D49-AD89-BB8C58C99DDF}"/>
              </a:ext>
            </a:extLst>
          </p:cNvPr>
          <p:cNvPicPr>
            <a:picLocks noChangeAspect="1"/>
          </p:cNvPicPr>
          <p:nvPr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03452" cy="300345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CAD2B12-09F5-6D4A-9C1D-AFF6A38F62BF}"/>
              </a:ext>
            </a:extLst>
          </p:cNvPr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72F43C-0ACD-CF48-BDDC-4CA06CD195D7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Background pattern&#10;&#10;Description automatically generated">
            <a:extLst>
              <a:ext uri="{FF2B5EF4-FFF2-40B4-BE49-F238E27FC236}">
                <a16:creationId xmlns:a16="http://schemas.microsoft.com/office/drawing/2014/main" id="{D4A3453C-FFE4-E949-B42B-748B5090DD36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721" b="8103"/>
          <a:stretch/>
        </p:blipFill>
        <p:spPr>
          <a:xfrm>
            <a:off x="8376334" y="4104641"/>
            <a:ext cx="3815666" cy="27076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1A8F9C9-F65C-BB4A-BF8E-4636F166836D}"/>
              </a:ext>
            </a:extLst>
          </p:cNvPr>
          <p:cNvSpPr txBox="1"/>
          <p:nvPr/>
        </p:nvSpPr>
        <p:spPr>
          <a:xfrm>
            <a:off x="1" y="6602979"/>
            <a:ext cx="21320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>
                    <a:lumMod val="95000"/>
                  </a:schemeClr>
                </a:solidFill>
              </a:rPr>
              <a:t>CREATED BY K. VICTOR BABU</a:t>
            </a:r>
          </a:p>
        </p:txBody>
      </p:sp>
    </p:spTree>
    <p:extLst>
      <p:ext uri="{BB962C8B-B14F-4D97-AF65-F5344CB8AC3E}">
        <p14:creationId xmlns:p14="http://schemas.microsoft.com/office/powerpoint/2010/main" val="2882992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www.geeksforgeeks.org/layers-of-osi-model/" TargetMode="Externa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398423B-5803-30F8-31C4-BF716BD7197E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4" name="Google Shape;464;p16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41" y="45719"/>
            <a:ext cx="6027459" cy="6623931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6"/>
          <p:cNvSpPr txBox="1"/>
          <p:nvPr/>
        </p:nvSpPr>
        <p:spPr>
          <a:xfrm>
            <a:off x="5025141" y="1947162"/>
            <a:ext cx="6902548" cy="3539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Network protocols &amp; security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24EC2210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ea typeface="BioRhyme ExtraBold"/>
                <a:cs typeface="Poppins" panose="00000500000000000000" pitchFamily="2" charset="0"/>
                <a:sym typeface="BioRhyme ExtraBold"/>
              </a:rPr>
              <a:t>Topic: </a:t>
            </a:r>
          </a:p>
          <a:p>
            <a:pPr algn="ctr"/>
            <a:r>
              <a:rPr lang="en-IN" sz="4000" b="1" dirty="0">
                <a:solidFill>
                  <a:srgbClr val="FF0000"/>
                </a:solidFill>
              </a:rPr>
              <a:t>OSI REFERENCE MODEL</a:t>
            </a:r>
          </a:p>
          <a:p>
            <a:pPr algn="ctr"/>
            <a:r>
              <a:rPr lang="en-IN" sz="4000" b="1" dirty="0">
                <a:solidFill>
                  <a:srgbClr val="FF0000"/>
                </a:solidFill>
              </a:rPr>
              <a:t>&amp;</a:t>
            </a:r>
          </a:p>
          <a:p>
            <a:pPr algn="ctr"/>
            <a:r>
              <a:rPr lang="en-IN" sz="4000" b="1" dirty="0">
                <a:solidFill>
                  <a:srgbClr val="FF0000"/>
                </a:solidFill>
              </a:rPr>
              <a:t>TCP/IP REFERENCE MODEL</a:t>
            </a:r>
          </a:p>
        </p:txBody>
      </p:sp>
      <p:sp>
        <p:nvSpPr>
          <p:cNvPr id="8" name="Google Shape;502;p17">
            <a:extLst>
              <a:ext uri="{FF2B5EF4-FFF2-40B4-BE49-F238E27FC236}">
                <a16:creationId xmlns:a16="http://schemas.microsoft.com/office/drawing/2014/main" id="{7153E61F-4441-DBE3-3DFF-6E9EF6C48D23}"/>
              </a:ext>
            </a:extLst>
          </p:cNvPr>
          <p:cNvSpPr/>
          <p:nvPr/>
        </p:nvSpPr>
        <p:spPr>
          <a:xfrm>
            <a:off x="7710632" y="5887231"/>
            <a:ext cx="2235116" cy="453054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ea typeface="Calibri"/>
                <a:cs typeface="Poppins" panose="00000500000000000000" pitchFamily="2" charset="0"/>
                <a:sym typeface="Calibri"/>
              </a:rPr>
              <a:t>Session – 4</a:t>
            </a:r>
            <a:endParaRPr sz="2400" dirty="0">
              <a:solidFill>
                <a:schemeClr val="lt1"/>
              </a:solidFill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2BDCC77-0491-FC57-401C-380586D8ED1D}"/>
              </a:ext>
            </a:extLst>
          </p:cNvPr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8D9C68F-2EE2-5410-B640-4F43BF92A6C1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2703" y="81945"/>
            <a:ext cx="2509863" cy="1061599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D530E72E-233E-E443-1A84-D3CD02ECB889}"/>
              </a:ext>
            </a:extLst>
          </p:cNvPr>
          <p:cNvSpPr/>
          <p:nvPr/>
        </p:nvSpPr>
        <p:spPr>
          <a:xfrm>
            <a:off x="4471372" y="84408"/>
            <a:ext cx="3011576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AIM OF THE SESSION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C61438-200D-827A-D4DD-5B5127AFA187}"/>
              </a:ext>
            </a:extLst>
          </p:cNvPr>
          <p:cNvSpPr txBox="1"/>
          <p:nvPr/>
        </p:nvSpPr>
        <p:spPr>
          <a:xfrm>
            <a:off x="914400" y="684469"/>
            <a:ext cx="10731286" cy="79611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0" i="0" dirty="0">
                <a:effectLst/>
                <a:latin typeface="Poppins"/>
                <a:cs typeface="Poppins"/>
              </a:rPr>
              <a:t>To make the students understand the Data Transmission process using Reference Models.</a:t>
            </a:r>
          </a:p>
          <a:p>
            <a:pPr>
              <a:lnSpc>
                <a:spcPct val="150000"/>
              </a:lnSpc>
            </a:pPr>
            <a:endParaRPr lang="en-US" sz="1600" b="0" i="0" dirty="0">
              <a:effectLst/>
              <a:latin typeface="Poppins"/>
              <a:cs typeface="Poppins"/>
            </a:endParaRPr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7F3AABB0-F8BA-C900-B6BF-45F4B58E9490}"/>
              </a:ext>
            </a:extLst>
          </p:cNvPr>
          <p:cNvSpPr/>
          <p:nvPr/>
        </p:nvSpPr>
        <p:spPr>
          <a:xfrm>
            <a:off x="4160582" y="1807062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INSTRUCTIONAL OBJECTIVES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5EAD4E-C007-9DE7-A40A-12802D3C9611}"/>
              </a:ext>
            </a:extLst>
          </p:cNvPr>
          <p:cNvSpPr txBox="1"/>
          <p:nvPr/>
        </p:nvSpPr>
        <p:spPr>
          <a:xfrm>
            <a:off x="1752600" y="2438605"/>
            <a:ext cx="8791575" cy="132343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dirty="0">
                <a:latin typeface="Poppins"/>
                <a:cs typeface="Poppins"/>
              </a:rPr>
              <a:t>This</a:t>
            </a:r>
            <a:r>
              <a:rPr lang="en-US" sz="1600" b="0" i="0" dirty="0">
                <a:effectLst/>
                <a:latin typeface="Poppins"/>
                <a:cs typeface="Poppins"/>
              </a:rPr>
              <a:t> </a:t>
            </a:r>
            <a:r>
              <a:rPr lang="en-US" sz="1600" dirty="0">
                <a:latin typeface="Poppins"/>
                <a:cs typeface="Poppins"/>
              </a:rPr>
              <a:t>Session</a:t>
            </a:r>
            <a:r>
              <a:rPr lang="en-US" sz="1600" b="0" i="0" dirty="0">
                <a:effectLst/>
                <a:latin typeface="Poppins"/>
                <a:cs typeface="Poppins"/>
              </a:rPr>
              <a:t> is designed to:</a:t>
            </a:r>
            <a:endParaRPr lang="en-US" sz="1600" b="0" i="0" dirty="0">
              <a:effectLst/>
              <a:latin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Describe how OSI reference model and TCP/IP protocol suite enables data communication.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Arial" panose="020B0604020202020204" pitchFamily="34" charset="0"/>
              </a:rPr>
              <a:t>Learn the responsibilities of each layer and the working.</a:t>
            </a:r>
            <a:endParaRPr lang="en-US" sz="1600" b="0" i="0" dirty="0">
              <a:effectLst/>
              <a:latin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/>
                <a:cs typeface="Arial"/>
              </a:rPr>
              <a:t>Infer the difference between the network models.</a:t>
            </a:r>
            <a:endParaRPr lang="en-US" sz="1600" dirty="0">
              <a:latin typeface="Arial"/>
              <a:cs typeface="Arial"/>
            </a:endParaRPr>
          </a:p>
        </p:txBody>
      </p:sp>
      <p:pic>
        <p:nvPicPr>
          <p:cNvPr id="11" name="Graphic 10" descr="Bullseye outline">
            <a:extLst>
              <a:ext uri="{FF2B5EF4-FFF2-40B4-BE49-F238E27FC236}">
                <a16:creationId xmlns:a16="http://schemas.microsoft.com/office/drawing/2014/main" id="{AB75B03E-9C0C-0AF7-2A76-D8618F8F99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2532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>
            <a:extLst>
              <a:ext uri="{FF2B5EF4-FFF2-40B4-BE49-F238E27FC236}">
                <a16:creationId xmlns:a16="http://schemas.microsoft.com/office/drawing/2014/main" id="{1E9F25CA-EF99-00B6-5FFA-810D1F1806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" y="2438605"/>
            <a:ext cx="914400" cy="914400"/>
          </a:xfrm>
          <a:prstGeom prst="rect">
            <a:avLst/>
          </a:prstGeom>
        </p:spPr>
      </p:pic>
      <p:sp>
        <p:nvSpPr>
          <p:cNvPr id="29" name="Rounded Rectangle 17">
            <a:extLst>
              <a:ext uri="{FF2B5EF4-FFF2-40B4-BE49-F238E27FC236}">
                <a16:creationId xmlns:a16="http://schemas.microsoft.com/office/drawing/2014/main" id="{6652A33D-9A9E-3EAC-0CAE-113901ECA179}"/>
              </a:ext>
            </a:extLst>
          </p:cNvPr>
          <p:cNvSpPr/>
          <p:nvPr/>
        </p:nvSpPr>
        <p:spPr>
          <a:xfrm>
            <a:off x="4212971" y="4249110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LEARNING OUTCOMES</a:t>
            </a:r>
          </a:p>
        </p:txBody>
      </p:sp>
      <p:pic>
        <p:nvPicPr>
          <p:cNvPr id="31" name="Graphic 30" descr="Idea outline">
            <a:extLst>
              <a:ext uri="{FF2B5EF4-FFF2-40B4-BE49-F238E27FC236}">
                <a16:creationId xmlns:a16="http://schemas.microsoft.com/office/drawing/2014/main" id="{5F765FC3-60CF-297F-C1BD-F5A7B8B943A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4400" y="4765771"/>
            <a:ext cx="914400" cy="9144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B0BB8E68-8B73-12DE-615E-1091F19A9A9A}"/>
              </a:ext>
            </a:extLst>
          </p:cNvPr>
          <p:cNvSpPr txBox="1"/>
          <p:nvPr/>
        </p:nvSpPr>
        <p:spPr>
          <a:xfrm>
            <a:off x="1752600" y="4772230"/>
            <a:ext cx="8791575" cy="132343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b="0" i="0" dirty="0">
                <a:effectLst/>
                <a:latin typeface="Arial"/>
                <a:cs typeface="Arial"/>
              </a:rPr>
              <a:t>At the end of this </a:t>
            </a:r>
            <a:r>
              <a:rPr lang="en-US" sz="1600" dirty="0">
                <a:latin typeface="Arial"/>
                <a:cs typeface="Arial"/>
              </a:rPr>
              <a:t>session</a:t>
            </a:r>
            <a:r>
              <a:rPr lang="en-US" sz="1600" b="0" i="0" dirty="0">
                <a:effectLst/>
                <a:latin typeface="Arial"/>
                <a:cs typeface="Arial"/>
              </a:rPr>
              <a:t>, you should be able to: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Arial" panose="020B0604020202020204" pitchFamily="34" charset="0"/>
              </a:rPr>
              <a:t>List out the process of Network communication.</a:t>
            </a:r>
            <a:endParaRPr lang="en-US" sz="1600" b="0" i="0" dirty="0">
              <a:effectLst/>
              <a:latin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Identify the difference between the Networking models.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Arial" panose="020B0604020202020204" pitchFamily="34" charset="0"/>
              </a:rPr>
              <a:t>Summarize advantages and disadvantages of the networking models.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886079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29" grpId="0" animBg="1"/>
      <p:bldP spid="3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251" name="Text Box 3">
            <a:extLst>
              <a:ext uri="{FF2B5EF4-FFF2-40B4-BE49-F238E27FC236}">
                <a16:creationId xmlns:a16="http://schemas.microsoft.com/office/drawing/2014/main" id="{4BAEE691-D670-1274-61EB-67055C8400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4806" y="352360"/>
            <a:ext cx="476016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panose="02020603050405020304" pitchFamily="18" charset="0"/>
              </a:rPr>
              <a:t>LAYERED TASKS</a:t>
            </a:r>
          </a:p>
        </p:txBody>
      </p:sp>
      <p:sp>
        <p:nvSpPr>
          <p:cNvPr id="565252" name="Text Box 4">
            <a:extLst>
              <a:ext uri="{FF2B5EF4-FFF2-40B4-BE49-F238E27FC236}">
                <a16:creationId xmlns:a16="http://schemas.microsoft.com/office/drawing/2014/main" id="{A2E13753-2469-E961-4D9E-8E72DFDA8D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53600" y="6400801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 altLang="en-US"/>
          </a:p>
        </p:txBody>
      </p:sp>
      <p:sp>
        <p:nvSpPr>
          <p:cNvPr id="565277" name="Rectangle 29">
            <a:extLst>
              <a:ext uri="{FF2B5EF4-FFF2-40B4-BE49-F238E27FC236}">
                <a16:creationId xmlns:a16="http://schemas.microsoft.com/office/drawing/2014/main" id="{EC0B2CCD-9224-6B7B-5F66-2C5233EA05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893" y="1102068"/>
            <a:ext cx="1070221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marL="457200" indent="-457200" algn="just" eaLnBrk="1" hangingPunct="1">
              <a:buFont typeface="Arial" panose="020B0604020202020204" pitchFamily="34" charset="0"/>
              <a:buChar char="•"/>
            </a:pPr>
            <a:r>
              <a:rPr lang="en-US" altLang="en-US" sz="2800" dirty="0"/>
              <a:t>Layers concept in daily life, Example: Sending a letter to friend.</a:t>
            </a:r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7840B6F7-6665-5D40-4ACE-5D02B0990A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7700" y="1940767"/>
            <a:ext cx="5575300" cy="40774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873"/>
    </mc:Choice>
    <mc:Fallback xmlns="">
      <p:transition spd="slow" advTm="7873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891" name="Text Box 3">
            <a:extLst>
              <a:ext uri="{FF2B5EF4-FFF2-40B4-BE49-F238E27FC236}">
                <a16:creationId xmlns:a16="http://schemas.microsoft.com/office/drawing/2014/main" id="{71A2852D-E35B-7B9D-816C-0B16AA05A8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2806" y="626708"/>
            <a:ext cx="330571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panose="02020603050405020304" pitchFamily="18" charset="0"/>
              </a:rPr>
              <a:t>THE OSI MODEL</a:t>
            </a:r>
          </a:p>
        </p:txBody>
      </p:sp>
      <p:sp>
        <p:nvSpPr>
          <p:cNvPr id="677892" name="Text Box 4">
            <a:extLst>
              <a:ext uri="{FF2B5EF4-FFF2-40B4-BE49-F238E27FC236}">
                <a16:creationId xmlns:a16="http://schemas.microsoft.com/office/drawing/2014/main" id="{2FA00CEA-9D78-852D-EEB5-C14829A17C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53600" y="6400801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 altLang="en-US"/>
          </a:p>
        </p:txBody>
      </p:sp>
      <p:sp>
        <p:nvSpPr>
          <p:cNvPr id="677893" name="Rectangle 5">
            <a:extLst>
              <a:ext uri="{FF2B5EF4-FFF2-40B4-BE49-F238E27FC236}">
                <a16:creationId xmlns:a16="http://schemas.microsoft.com/office/drawing/2014/main" id="{773012B1-D946-E3A8-482F-15D15531CE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019" y="1782395"/>
            <a:ext cx="10870164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marL="457200" indent="-457200" algn="just" eaLnBrk="1" hangingPunct="1">
              <a:buFont typeface="Arial" panose="020B0604020202020204" pitchFamily="34" charset="0"/>
              <a:buChar char="•"/>
            </a:pPr>
            <a:r>
              <a:rPr lang="en-US" altLang="en-US" sz="2000" dirty="0"/>
              <a:t>Established in 1947, the </a:t>
            </a:r>
            <a:r>
              <a:rPr lang="en-US" altLang="en-US" sz="2000" b="1" dirty="0"/>
              <a:t>International Standards Organization (ISO) </a:t>
            </a:r>
            <a:r>
              <a:rPr lang="en-US" altLang="en-US" sz="2000" dirty="0"/>
              <a:t>is a multinational body dedicated to worldwide agreement on international standards. </a:t>
            </a:r>
          </a:p>
          <a:p>
            <a:pPr marL="457200" indent="-457200" algn="just" eaLnBrk="1" hangingPunct="1"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marL="457200" indent="-457200" algn="just" eaLnBrk="1" hangingPunct="1">
              <a:buFont typeface="Arial" panose="020B0604020202020204" pitchFamily="34" charset="0"/>
              <a:buChar char="•"/>
            </a:pPr>
            <a:r>
              <a:rPr lang="en-US" altLang="en-US" sz="2000" dirty="0"/>
              <a:t>An ISO standard that covers all aspects of network communications is the </a:t>
            </a:r>
            <a:r>
              <a:rPr lang="en-US" altLang="en-US" sz="2000" b="1" dirty="0"/>
              <a:t>Open Systems Interconnection (OSI) </a:t>
            </a:r>
            <a:r>
              <a:rPr lang="en-US" altLang="en-US" sz="2000" dirty="0"/>
              <a:t>model. It was first introduced in the late 1970s. </a:t>
            </a:r>
          </a:p>
          <a:p>
            <a:pPr marL="457200" indent="-457200" algn="just" eaLnBrk="1" hangingPunct="1">
              <a:buFont typeface="Arial" panose="020B0604020202020204" pitchFamily="34" charset="0"/>
              <a:buChar char="•"/>
            </a:pP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000" dirty="0"/>
              <a:t>The OSI model shows how to facilitate communication between different systems without requiring changes to the logic of the underlying hardware and software.</a:t>
            </a:r>
            <a:endParaRPr lang="en-IN" sz="2000" dirty="0"/>
          </a:p>
          <a:p>
            <a:pPr marL="457200" indent="-457200" algn="just" eaLnBrk="1" hangingPunct="1">
              <a:buFont typeface="Arial" panose="020B0604020202020204" pitchFamily="34" charset="0"/>
              <a:buChar char="•"/>
            </a:pP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 eaLnBrk="1" hangingPunct="1">
              <a:buFont typeface="Arial" panose="020B0604020202020204" pitchFamily="34" charset="0"/>
              <a:buChar char="•"/>
            </a:pPr>
            <a:endParaRPr lang="en-US" alt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1387C-65F3-B99D-D192-E90C0C9EB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/>
              <a:t>Seven Layers in OSI model</a:t>
            </a:r>
          </a:p>
        </p:txBody>
      </p:sp>
      <p:pic>
        <p:nvPicPr>
          <p:cNvPr id="3" name="Picture 2" descr="Graphical user interface&#10;&#10;Description automatically generated with medium confidence">
            <a:extLst>
              <a:ext uri="{FF2B5EF4-FFF2-40B4-BE49-F238E27FC236}">
                <a16:creationId xmlns:a16="http://schemas.microsoft.com/office/drawing/2014/main" id="{B50F13C7-2F79-B787-9BC4-10956D2A8B3B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1565" y="1073425"/>
            <a:ext cx="8083825" cy="5419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2690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74A343CE-4796-71DA-B4A5-CFF3846E59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3025" y="1318726"/>
            <a:ext cx="6965950" cy="5160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 Box 4">
            <a:extLst>
              <a:ext uri="{FF2B5EF4-FFF2-40B4-BE49-F238E27FC236}">
                <a16:creationId xmlns:a16="http://schemas.microsoft.com/office/drawing/2014/main" id="{D3BA155B-9919-EBE7-C8F6-624FA87A98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4279" y="378311"/>
            <a:ext cx="718344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800" dirty="0"/>
              <a:t>The interaction between layers in the OSI model</a:t>
            </a:r>
          </a:p>
        </p:txBody>
      </p:sp>
    </p:spTree>
    <p:extLst>
      <p:ext uri="{BB962C8B-B14F-4D97-AF65-F5344CB8AC3E}">
        <p14:creationId xmlns:p14="http://schemas.microsoft.com/office/powerpoint/2010/main" val="20807839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813F1-7822-C4F1-3381-998CD709D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0573"/>
          </a:xfrm>
        </p:spPr>
        <p:txBody>
          <a:bodyPr>
            <a:normAutofit/>
          </a:bodyPr>
          <a:lstStyle/>
          <a:p>
            <a:r>
              <a:rPr lang="en-IN" sz="3200" b="1" dirty="0"/>
              <a:t>Peer to Peer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389693-718E-A750-9221-B95F0F1E54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5698"/>
            <a:ext cx="10515600" cy="5141265"/>
          </a:xfrm>
        </p:spPr>
        <p:txBody>
          <a:bodyPr/>
          <a:lstStyle/>
          <a:p>
            <a:pPr algn="just"/>
            <a:r>
              <a:rPr lang="en-US" sz="2400" dirty="0"/>
              <a:t>There is an interface between each pair of adjacent layers. This interface defines what information and services a layer must provide for the layer above it.</a:t>
            </a:r>
            <a:endParaRPr lang="en-IN" sz="2400" dirty="0"/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Layer 3, for example, uses the services provided by layer 2 and provides services for layer 4. 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 Between machines, layer x on one machine communicates with layer x on another machine, by using a protocol (this is Peer-to-Peer Process). 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Communication between machines is therefore a peer-to-peer process using protocols appropriate to a given layer.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7136714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778B4-0F55-2B0C-FCD3-77EB176CA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2581"/>
          </a:xfrm>
        </p:spPr>
        <p:txBody>
          <a:bodyPr>
            <a:normAutofit/>
          </a:bodyPr>
          <a:lstStyle/>
          <a:p>
            <a:pPr algn="ctr"/>
            <a:r>
              <a:rPr lang="en-US" altLang="en-US" sz="3200" b="1" dirty="0"/>
              <a:t>An exchange using the OSI model</a:t>
            </a:r>
            <a:endParaRPr lang="en-IN" sz="3200" b="1" dirty="0"/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22604113-C750-F96B-F5BF-3D848D1450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9107" y="1483568"/>
            <a:ext cx="8851219" cy="462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860229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EEAD3-0B7B-924F-C452-C4AF0B0E8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39770"/>
            <a:ext cx="10515600" cy="633251"/>
          </a:xfrm>
        </p:spPr>
        <p:txBody>
          <a:bodyPr>
            <a:normAutofit/>
          </a:bodyPr>
          <a:lstStyle/>
          <a:p>
            <a:r>
              <a:rPr lang="en-IN" sz="3200" b="1" dirty="0"/>
              <a:t>1. Physical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568C79-694D-9BDE-6248-7CEDC23CD4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287624"/>
            <a:ext cx="10972800" cy="4889339"/>
          </a:xfrm>
        </p:spPr>
        <p:txBody>
          <a:bodyPr/>
          <a:lstStyle/>
          <a:p>
            <a:r>
              <a:rPr lang="en-US" dirty="0"/>
              <a:t>The physical layer is responsible for transmitting individual bits from one node to the next.</a:t>
            </a:r>
          </a:p>
          <a:p>
            <a:endParaRPr lang="en-US" dirty="0"/>
          </a:p>
          <a:p>
            <a:endParaRPr lang="en-IN" dirty="0"/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E2662B1A-5145-3218-E345-9DA4C1D14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661" y="2983982"/>
            <a:ext cx="8629650" cy="275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508181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9B5A6-A446-191F-0021-F8BF7B88F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967" y="387738"/>
            <a:ext cx="10515600" cy="586597"/>
          </a:xfrm>
        </p:spPr>
        <p:txBody>
          <a:bodyPr>
            <a:normAutofit/>
          </a:bodyPr>
          <a:lstStyle/>
          <a:p>
            <a:r>
              <a:rPr lang="en-IN" sz="3200" b="1" dirty="0"/>
              <a:t>Responsibilities of Physical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85DFF-AF22-010E-7B68-C295853D5F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4359"/>
            <a:ext cx="10515600" cy="5122604"/>
          </a:xfrm>
        </p:spPr>
        <p:txBody>
          <a:bodyPr/>
          <a:lstStyle/>
          <a:p>
            <a:pPr algn="just"/>
            <a:r>
              <a:rPr lang="en-US" sz="2000" b="1" dirty="0"/>
              <a:t>Physical characteristics of interfaces and media: </a:t>
            </a:r>
            <a:r>
              <a:rPr lang="en-US" sz="2000" dirty="0"/>
              <a:t>It define the type of transmission media. 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b="1" dirty="0"/>
              <a:t>Representation of the bits: </a:t>
            </a:r>
            <a:r>
              <a:rPr lang="en-US" sz="2000" dirty="0"/>
              <a:t>the physical layer data consist of a stream of bits(0,1). The transmitted bits must be encoded into signals – electrical or optical. The physical layer defines the type of encoding.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b="1" dirty="0"/>
              <a:t>Data rate: </a:t>
            </a:r>
            <a:r>
              <a:rPr lang="en-US" sz="2000" dirty="0"/>
              <a:t>The physical layer defines the transmission rate, the number of bits sent each second.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b="1" dirty="0"/>
              <a:t>Line configuration:</a:t>
            </a:r>
            <a:r>
              <a:rPr lang="en-US" sz="2000" dirty="0"/>
              <a:t> Connection of devices to the medium (point-to-point and multipoint configuration)</a:t>
            </a:r>
            <a:endParaRPr lang="en-IN" sz="2000" dirty="0"/>
          </a:p>
          <a:p>
            <a:pPr marL="0" indent="0" algn="just">
              <a:buNone/>
            </a:pPr>
            <a:endParaRPr lang="en-US" sz="2000" dirty="0"/>
          </a:p>
          <a:p>
            <a:pPr algn="just"/>
            <a:r>
              <a:rPr lang="en-US" sz="2000" b="1" dirty="0"/>
              <a:t>Physical topology: </a:t>
            </a:r>
            <a:r>
              <a:rPr lang="en-US" sz="2000" dirty="0"/>
              <a:t>Mesh, Bus, Star, Ring and Hybrid Topology.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b="1" dirty="0"/>
              <a:t>Transmission Mode: </a:t>
            </a:r>
            <a:r>
              <a:rPr lang="en-US" sz="2000" dirty="0"/>
              <a:t>Simplex, Half duplex Full Duplex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3777096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FB68B-C006-671F-5AC8-2249447B8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4589"/>
          </a:xfrm>
        </p:spPr>
        <p:txBody>
          <a:bodyPr>
            <a:normAutofit/>
          </a:bodyPr>
          <a:lstStyle/>
          <a:p>
            <a:r>
              <a:rPr lang="en-US" altLang="en-US" sz="3200" b="1" dirty="0"/>
              <a:t>Data link layer</a:t>
            </a:r>
            <a:endParaRPr lang="en-IN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A7D54-B766-2C75-8C4A-35793BF15E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9004"/>
            <a:ext cx="10515600" cy="5047959"/>
          </a:xfrm>
        </p:spPr>
        <p:txBody>
          <a:bodyPr/>
          <a:lstStyle/>
          <a:p>
            <a:r>
              <a:rPr lang="en-US" sz="2000" dirty="0"/>
              <a:t>It is responsible for node-to-node delivery of data.</a:t>
            </a:r>
          </a:p>
          <a:p>
            <a:r>
              <a:rPr lang="en-US" altLang="en-US" sz="2000" dirty="0"/>
              <a:t>The data link layer is responsible for moving frames from one hop (node) to the next.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64E2C587-AD38-B0A3-64B6-7128E46430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6744" y="2691882"/>
            <a:ext cx="8418512" cy="2795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888573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4599B-075B-7359-5209-90C16857E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456"/>
            <a:ext cx="10515600" cy="642581"/>
          </a:xfrm>
        </p:spPr>
        <p:txBody>
          <a:bodyPr>
            <a:normAutofit/>
          </a:bodyPr>
          <a:lstStyle/>
          <a:p>
            <a:r>
              <a:rPr lang="en-IN" sz="3200" b="1" dirty="0"/>
              <a:t>Responsibilities of Data link layer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346771-F1DC-66B6-DA26-9D7B37CCEB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07030"/>
            <a:ext cx="10515600" cy="5038628"/>
          </a:xfrm>
        </p:spPr>
        <p:txBody>
          <a:bodyPr/>
          <a:lstStyle/>
          <a:p>
            <a:pPr algn="just"/>
            <a:r>
              <a:rPr lang="en-US" sz="2000" b="1" dirty="0"/>
              <a:t>Framing:</a:t>
            </a:r>
            <a:r>
              <a:rPr lang="en-US" sz="2000" dirty="0"/>
              <a:t> The data link layer divides the stream of bits received from the network layer into data units called frames. 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b="1" dirty="0"/>
              <a:t>Physical addressing:</a:t>
            </a:r>
            <a:r>
              <a:rPr lang="en-US" sz="2000" dirty="0"/>
              <a:t> If frames are to be distributed to different systems on the network, the data link layer adds a header to the frame to define the physical address of the sender (source address) and/or receiver (destination address) of the frame. 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b="1" dirty="0"/>
              <a:t>Flow Control: </a:t>
            </a:r>
            <a:r>
              <a:rPr lang="en-US" sz="2000" dirty="0"/>
              <a:t>If the rate at which the data are absorbed by the receiver is less than the rate produced in the sender, the data link layer imposes a flow control mechanism to prevent overwhelming the receiver. 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b="1" dirty="0"/>
              <a:t>Error control. </a:t>
            </a:r>
            <a:r>
              <a:rPr lang="en-US" sz="2000" dirty="0"/>
              <a:t>The data link layer adds reliability to the physical layer by adding mechanisms to detect and retransmit damaged or lost frames. Error control is normally achieved through a trailer to the end of the frame. 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b="1" dirty="0"/>
              <a:t>Access Control. </a:t>
            </a:r>
            <a:r>
              <a:rPr lang="en-US" sz="2000" dirty="0"/>
              <a:t>When two or more devices are connected to the same link, data link layer protocols are necessary to determine which device has control over the link at any time.</a:t>
            </a:r>
            <a:endParaRPr lang="en-IN" sz="2000" dirty="0"/>
          </a:p>
          <a:p>
            <a:pPr algn="just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4573142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0E896-32F9-1D80-C217-F29184DF6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1195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Network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113603-2F78-7D65-22F4-C93678BF0A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2172"/>
            <a:ext cx="10515600" cy="5299885"/>
          </a:xfrm>
        </p:spPr>
        <p:txBody>
          <a:bodyPr/>
          <a:lstStyle/>
          <a:p>
            <a:pPr algn="just"/>
            <a:r>
              <a:rPr lang="en-US" sz="2400" dirty="0"/>
              <a:t>The network layer is responsible for the delivery of individual packets from the source host to the destination host.</a:t>
            </a:r>
            <a:endParaRPr lang="en-IN" sz="2400" dirty="0"/>
          </a:p>
          <a:p>
            <a:pPr algn="just"/>
            <a:endParaRPr lang="en-US" dirty="0"/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B732E7E1-D78D-F5CA-5C93-1C30C4EEFE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4393" y="2745049"/>
            <a:ext cx="10515600" cy="35310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485168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E16A1-C28A-0F28-08BB-43EDA1A04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39944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/>
              <a:t>Source to Destination Delivery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9EFC61B2-3AD7-D7E8-028B-DB144F57A6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3282" y="1298024"/>
            <a:ext cx="7137918" cy="4824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228328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75748-54DF-3C16-E943-89230E2F2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11953"/>
          </a:xfrm>
        </p:spPr>
        <p:txBody>
          <a:bodyPr>
            <a:noAutofit/>
          </a:bodyPr>
          <a:lstStyle/>
          <a:p>
            <a:r>
              <a:rPr lang="en-IN" sz="3200" b="1" dirty="0"/>
              <a:t>Responsibilities of Network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2F6F2E-BE30-D734-1E4C-CE144B93E1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3610"/>
            <a:ext cx="10515600" cy="4351338"/>
          </a:xfrm>
        </p:spPr>
        <p:txBody>
          <a:bodyPr/>
          <a:lstStyle/>
          <a:p>
            <a:pPr algn="just"/>
            <a:r>
              <a:rPr lang="en-US" sz="2400" b="1" dirty="0"/>
              <a:t>Logical addressing: </a:t>
            </a:r>
            <a:r>
              <a:rPr lang="en-US" sz="2400" dirty="0"/>
              <a:t>Physical addressing (May change) handle addressing problem locally. </a:t>
            </a:r>
          </a:p>
          <a:p>
            <a:pPr marL="0" indent="0" algn="just">
              <a:buNone/>
            </a:pPr>
            <a:r>
              <a:rPr lang="en-US" sz="2400" dirty="0"/>
              <a:t>	If packet pass the network boundary, we need another addressing called 	logical addressing (Never change) .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b="1" dirty="0"/>
              <a:t>Routing:</a:t>
            </a:r>
            <a:r>
              <a:rPr lang="en-US" sz="2400" dirty="0"/>
              <a:t> Route the packet to final destination.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5457650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4A15D-1121-8FDA-A3D8-FEE274A6A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Transport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2683A-A3DA-31C1-CE20-9A689E6347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7665"/>
            <a:ext cx="10515600" cy="4590759"/>
          </a:xfrm>
        </p:spPr>
        <p:txBody>
          <a:bodyPr/>
          <a:lstStyle/>
          <a:p>
            <a:pPr algn="just"/>
            <a:r>
              <a:rPr lang="en-US" sz="2000" dirty="0"/>
              <a:t>The transport layer is responsible for process-to-process or end-end delivery of the entire message. </a:t>
            </a:r>
          </a:p>
          <a:p>
            <a:pPr algn="just"/>
            <a:r>
              <a:rPr lang="en-US" sz="2000" dirty="0"/>
              <a:t> The transport layer ensures that the whole message arrives intact and in order, overseeing both error control and flow control at the process-to-process level.</a:t>
            </a:r>
            <a:endParaRPr lang="en-IN" sz="2000" dirty="0"/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616CD940-2F5B-A3FE-1194-05D5E13100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3985" y="3467100"/>
            <a:ext cx="8693150" cy="3025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275453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0D85E-ED5A-9CC9-4F80-D18316334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9084"/>
            <a:ext cx="10515600" cy="511953"/>
          </a:xfrm>
        </p:spPr>
        <p:txBody>
          <a:bodyPr>
            <a:noAutofit/>
          </a:bodyPr>
          <a:lstStyle/>
          <a:p>
            <a:r>
              <a:rPr lang="en-IN" sz="3200" b="1" dirty="0"/>
              <a:t>Responsibilities of Transport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95938F-18BD-FC4B-9173-F2279C9AB6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5619" y="867698"/>
            <a:ext cx="11224590" cy="5122604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000" b="1" dirty="0"/>
              <a:t>Service point addressing: </a:t>
            </a:r>
            <a:r>
              <a:rPr lang="en-US" sz="2000" dirty="0"/>
              <a:t>Computer often run several processes (running programs) at the same time. Process-to-process delivery means delivery from a specific process on one computer to a specific process on the other. </a:t>
            </a:r>
          </a:p>
          <a:p>
            <a:pPr algn="just"/>
            <a:r>
              <a:rPr lang="en-US" sz="2000" dirty="0"/>
              <a:t>The transport layer header include a type of address called </a:t>
            </a:r>
            <a:r>
              <a:rPr lang="en-US" sz="2000" b="1" dirty="0"/>
              <a:t>port address. </a:t>
            </a:r>
          </a:p>
          <a:p>
            <a:pPr algn="just"/>
            <a:r>
              <a:rPr lang="en-US" sz="2000" dirty="0"/>
              <a:t>The network layer gets each packet to the correct computer; the transport layer gets the entire message to the correct process on that computer. </a:t>
            </a:r>
          </a:p>
          <a:p>
            <a:pPr algn="just"/>
            <a:endParaRPr lang="en-US" sz="2000" dirty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000" b="1" dirty="0"/>
              <a:t>Segmentation and reassembly: </a:t>
            </a:r>
            <a:r>
              <a:rPr lang="en-US" sz="2000" dirty="0"/>
              <a:t>a message is divided into transmittable segments, each having a sequence number. These numbers enable the transport layer to reassemble the message correctly upon arrival at the destination. 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000" dirty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000" b="1" dirty="0"/>
              <a:t>Connection control: </a:t>
            </a:r>
            <a:r>
              <a:rPr lang="en-US" sz="2000" dirty="0"/>
              <a:t>The transport layer can be either connectionless or connection-oriented. 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000" dirty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000" b="1" dirty="0"/>
              <a:t>Flow control 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IN" sz="2000" b="1" dirty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000" b="1" dirty="0"/>
              <a:t>Error control</a:t>
            </a:r>
            <a:endParaRPr lang="en-IN" sz="2000" b="1" dirty="0"/>
          </a:p>
          <a:p>
            <a:pPr algn="just"/>
            <a:endParaRPr lang="en-US" sz="2400" dirty="0"/>
          </a:p>
          <a:p>
            <a:pPr algn="just"/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2368266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B8DC0-7A83-6FBB-9CCA-6EE2DBD6C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599" cy="502622"/>
          </a:xfrm>
        </p:spPr>
        <p:txBody>
          <a:bodyPr>
            <a:noAutofit/>
          </a:bodyPr>
          <a:lstStyle/>
          <a:p>
            <a:r>
              <a:rPr lang="en-IN" sz="3200" b="1" dirty="0"/>
              <a:t>Session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75C0D2-8184-E189-F6B0-7C91314885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539" y="1101012"/>
            <a:ext cx="10915261" cy="5075951"/>
          </a:xfrm>
        </p:spPr>
        <p:txBody>
          <a:bodyPr/>
          <a:lstStyle/>
          <a:p>
            <a:r>
              <a:rPr lang="en-US" altLang="en-US" sz="2800" dirty="0"/>
              <a:t>The session layer is responsible for dialog control and synchronization.</a:t>
            </a:r>
          </a:p>
          <a:p>
            <a:endParaRPr lang="en-IN" dirty="0"/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4BD8704C-E4C5-CFBE-7A37-C9937627AB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7856" y="1870562"/>
            <a:ext cx="8556625" cy="3973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676450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3DEC3-5D4F-A8D5-4806-0DCF2A06E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0573"/>
          </a:xfrm>
        </p:spPr>
        <p:txBody>
          <a:bodyPr>
            <a:normAutofit/>
          </a:bodyPr>
          <a:lstStyle/>
          <a:p>
            <a:r>
              <a:rPr lang="en-IN" sz="3200" b="1" dirty="0"/>
              <a:t>Responsibilities of Session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76D8ED-9580-C2F4-C1C5-E7FF1D2290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9005"/>
            <a:ext cx="10515600" cy="5047958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sz="2400" b="1" dirty="0"/>
              <a:t>Dialog Control: </a:t>
            </a:r>
            <a:r>
              <a:rPr lang="en-US" sz="2400" dirty="0"/>
              <a:t>Who’s turn is next?  </a:t>
            </a:r>
            <a:r>
              <a:rPr lang="en-US" sz="2400" dirty="0">
                <a:sym typeface="Wingdings" panose="05000000000000000000" pitchFamily="2" charset="2"/>
              </a:rPr>
              <a:t> </a:t>
            </a:r>
            <a:r>
              <a:rPr lang="en-US" sz="2400" dirty="0"/>
              <a:t>Half duplex, Full Duplex </a:t>
            </a:r>
          </a:p>
          <a:p>
            <a:pPr algn="just">
              <a:lnSpc>
                <a:spcPct val="150000"/>
              </a:lnSpc>
            </a:pPr>
            <a:r>
              <a:rPr lang="en-US" sz="2400" b="1" dirty="0"/>
              <a:t>Synchronization:</a:t>
            </a:r>
            <a:r>
              <a:rPr lang="en-US" sz="2400" dirty="0"/>
              <a:t> Adding checkpoints to stream data.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dirty="0"/>
              <a:t> Ex: System sending 2000 pages. Add check point after each 100th page. So, in case of failure no need to sent whole page.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1862341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77192-668F-45CF-4804-84D928437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58606"/>
          </a:xfrm>
        </p:spPr>
        <p:txBody>
          <a:bodyPr>
            <a:normAutofit/>
          </a:bodyPr>
          <a:lstStyle/>
          <a:p>
            <a:r>
              <a:rPr lang="en-IN" sz="3200" b="1" dirty="0"/>
              <a:t>Presentation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252A34-677D-E16A-8E0E-765E1BE92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682"/>
            <a:ext cx="10515600" cy="5085281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800" dirty="0"/>
              <a:t>The presentation layer is responsible for translation, compression, and encryption.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92BFA372-9A4E-8630-4C1D-7330A22B1F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8684" y="2350440"/>
            <a:ext cx="8418512" cy="286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810958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86066-9AE1-8B12-A0B0-551CEAEBC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75846"/>
          </a:xfrm>
        </p:spPr>
        <p:txBody>
          <a:bodyPr>
            <a:normAutofit/>
          </a:bodyPr>
          <a:lstStyle/>
          <a:p>
            <a:r>
              <a:rPr lang="en-IN" sz="3200" b="1" dirty="0"/>
              <a:t>Responsibilities of Presentation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6B6E3C-B507-1760-541A-41B4B9ED9A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0931"/>
            <a:ext cx="10515600" cy="479603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b="1" dirty="0"/>
              <a:t>Translation: </a:t>
            </a:r>
            <a:r>
              <a:rPr lang="en-US" dirty="0"/>
              <a:t>Interoperability b/w different encoding formats.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Encryption: </a:t>
            </a:r>
            <a:r>
              <a:rPr lang="en-US" dirty="0"/>
              <a:t>Converting plain to cipher text and vice versa.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Compression: </a:t>
            </a:r>
            <a:r>
              <a:rPr lang="en-US" dirty="0"/>
              <a:t>Reducing number of bits in multimedia data when transmitting.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99976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54F4A-1521-3DE9-414E-A63BAC68C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1912"/>
          </a:xfrm>
        </p:spPr>
        <p:txBody>
          <a:bodyPr>
            <a:normAutofit/>
          </a:bodyPr>
          <a:lstStyle/>
          <a:p>
            <a:r>
              <a:rPr lang="en-IN" sz="3200" b="1" dirty="0"/>
              <a:t>Application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0FF139-4F42-C538-F716-E0C9C8045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8335"/>
            <a:ext cx="10515600" cy="5038628"/>
          </a:xfrm>
        </p:spPr>
        <p:txBody>
          <a:bodyPr/>
          <a:lstStyle/>
          <a:p>
            <a:r>
              <a:rPr lang="en-US" altLang="en-US" sz="2800" dirty="0"/>
              <a:t>The application layer is responsible for providing services to the user.</a:t>
            </a:r>
          </a:p>
          <a:p>
            <a:endParaRPr lang="en-IN" dirty="0"/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BFC41FA7-34A6-7362-8437-0537BE6A96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5816" y="1679511"/>
            <a:ext cx="8455025" cy="427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875274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DA680-C9AB-8900-4EA6-14AB690C8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34467"/>
          </a:xfrm>
        </p:spPr>
        <p:txBody>
          <a:bodyPr>
            <a:noAutofit/>
          </a:bodyPr>
          <a:lstStyle/>
          <a:p>
            <a:r>
              <a:rPr lang="en-IN" sz="3200" b="1" dirty="0"/>
              <a:t>Responsibilities of Application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622F4-00E9-84BE-DB17-65D77978B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8881"/>
            <a:ext cx="10515600" cy="4628081"/>
          </a:xfrm>
        </p:spPr>
        <p:txBody>
          <a:bodyPr/>
          <a:lstStyle/>
          <a:p>
            <a:r>
              <a:rPr lang="en-US" dirty="0"/>
              <a:t>It provides user access to network. </a:t>
            </a:r>
          </a:p>
          <a:p>
            <a:r>
              <a:rPr lang="en-US" dirty="0"/>
              <a:t>X.500-Directory service. </a:t>
            </a:r>
          </a:p>
          <a:p>
            <a:r>
              <a:rPr lang="en-US" dirty="0"/>
              <a:t> X.400-Message handling service. </a:t>
            </a:r>
          </a:p>
          <a:p>
            <a:r>
              <a:rPr lang="en-US" dirty="0"/>
              <a:t>FTAM- File Transfer management.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13201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560F60-2F9A-0085-D3B4-371052E739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4586"/>
            <a:ext cx="10515600" cy="838965"/>
          </a:xfrm>
        </p:spPr>
        <p:txBody>
          <a:bodyPr/>
          <a:lstStyle/>
          <a:p>
            <a:pPr marL="0" indent="0" algn="ctr">
              <a:buNone/>
            </a:pPr>
            <a:r>
              <a:rPr lang="en-US" sz="6000" dirty="0"/>
              <a:t>TCP/IP Reference Model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E2BAD9-60E3-D514-D317-88C3FF1CA5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0712" y="1828539"/>
            <a:ext cx="8410575" cy="471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7048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4D8BF-F1ED-E456-99B3-BCCBA41DA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77267"/>
          </a:xfrm>
        </p:spPr>
        <p:txBody>
          <a:bodyPr>
            <a:normAutofit/>
          </a:bodyPr>
          <a:lstStyle/>
          <a:p>
            <a:r>
              <a:rPr lang="en-IN" sz="3200" b="1" dirty="0"/>
              <a:t>TCP/IP PROTOCOL SUITE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625B9-B3B8-AE26-BCAB-8C7C9DCBE3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42392"/>
            <a:ext cx="10515600" cy="5234571"/>
          </a:xfrm>
        </p:spPr>
        <p:txBody>
          <a:bodyPr/>
          <a:lstStyle/>
          <a:p>
            <a:r>
              <a:rPr lang="en-US" altLang="en-US" sz="2800" dirty="0"/>
              <a:t>The layers in the TCP/IP protocol suite do not exactly match those in the OSI model. </a:t>
            </a:r>
          </a:p>
          <a:p>
            <a:endParaRPr lang="en-US" altLang="en-US" sz="2800" dirty="0"/>
          </a:p>
          <a:p>
            <a:r>
              <a:rPr lang="en-US" altLang="en-US" sz="2800" dirty="0"/>
              <a:t>The original TCP/IP protocol suite was defined as having four layers: host-to-network, internet, transport, and application.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54112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2DABD-4530-ADC8-C95E-BF88C6016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21283"/>
          </a:xfrm>
        </p:spPr>
        <p:txBody>
          <a:bodyPr>
            <a:noAutofit/>
          </a:bodyPr>
          <a:lstStyle/>
          <a:p>
            <a:r>
              <a:rPr lang="en-IN" sz="3200" b="1" dirty="0"/>
              <a:t>TCP/IP Protocol Suite</a:t>
            </a:r>
          </a:p>
        </p:txBody>
      </p:sp>
      <p:pic>
        <p:nvPicPr>
          <p:cNvPr id="4" name="Picture 7">
            <a:extLst>
              <a:ext uri="{FF2B5EF4-FFF2-40B4-BE49-F238E27FC236}">
                <a16:creationId xmlns:a16="http://schemas.microsoft.com/office/drawing/2014/main" id="{F6B5F37C-339A-61F7-EE20-604A5261E35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1565" y="885825"/>
            <a:ext cx="7968869" cy="5291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714087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09063-6259-5362-BD70-319040340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/>
          </a:bodyPr>
          <a:lstStyle/>
          <a:p>
            <a:pPr algn="r"/>
            <a:r>
              <a:rPr lang="en-IN" sz="1400" dirty="0"/>
              <a:t>CONTD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E845C4-5323-E564-EEDD-64D704C11D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8416"/>
            <a:ext cx="10515600" cy="5318547"/>
          </a:xfrm>
        </p:spPr>
        <p:txBody>
          <a:bodyPr/>
          <a:lstStyle/>
          <a:p>
            <a:r>
              <a:rPr lang="en-US" altLang="en-US" sz="2800" dirty="0"/>
              <a:t>Four levels of addresses are used in an internet employing the TCP/IP protocols: physical, logical, port, and specific.</a:t>
            </a:r>
          </a:p>
          <a:p>
            <a:endParaRPr lang="en-IN" dirty="0"/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3355D95F-5585-D4E1-9868-A1ACF03A85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8844" y="2430462"/>
            <a:ext cx="7834312" cy="1997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09432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55C7B-4070-6B6E-C876-8D46E8851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4204"/>
          </a:xfrm>
        </p:spPr>
        <p:txBody>
          <a:bodyPr/>
          <a:lstStyle/>
          <a:p>
            <a:r>
              <a:rPr lang="en-IN" dirty="0"/>
              <a:t>Test Your Understanding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D28416-ED57-5983-32C0-E116E2A47F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89330"/>
            <a:ext cx="10515600" cy="5557960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US" sz="2400" b="0" i="0" dirty="0">
                <a:solidFill>
                  <a:srgbClr val="212529"/>
                </a:solidFill>
                <a:effectLst/>
                <a:latin typeface="system-ui"/>
              </a:rPr>
              <a:t>How many layers are there present in TCP/IP protocol?</a:t>
            </a:r>
          </a:p>
          <a:p>
            <a:pPr marL="514350" indent="-514350">
              <a:buAutoNum type="alphaLcPeriod"/>
            </a:pPr>
            <a:r>
              <a:rPr lang="en-US" sz="2400" dirty="0">
                <a:latin typeface="system-ui"/>
              </a:rPr>
              <a:t>4	</a:t>
            </a:r>
            <a:r>
              <a:rPr lang="en-US" sz="2400" dirty="0">
                <a:solidFill>
                  <a:srgbClr val="212529"/>
                </a:solidFill>
                <a:latin typeface="system-ui"/>
              </a:rPr>
              <a:t>	  b.5		      c.6			d.7</a:t>
            </a:r>
          </a:p>
          <a:p>
            <a:pPr marL="0" indent="0">
              <a:buNone/>
            </a:pPr>
            <a:endParaRPr lang="en-US" sz="2400" dirty="0">
              <a:solidFill>
                <a:srgbClr val="212529"/>
              </a:solidFill>
              <a:latin typeface="system-ui"/>
            </a:endParaRPr>
          </a:p>
          <a:p>
            <a:pPr marL="0" indent="0">
              <a:buNone/>
            </a:pPr>
            <a:r>
              <a:rPr lang="en-US" sz="2400" b="0" i="0" dirty="0">
                <a:solidFill>
                  <a:srgbClr val="212529"/>
                </a:solidFill>
                <a:effectLst/>
                <a:latin typeface="system-ui"/>
              </a:rPr>
              <a:t>2.     How many layers are there present in OSI Reference protocol?</a:t>
            </a:r>
          </a:p>
          <a:p>
            <a:pPr marL="514350" indent="-514350">
              <a:buAutoNum type="alphaLcPeriod"/>
            </a:pPr>
            <a:r>
              <a:rPr lang="en-US" sz="2400" dirty="0">
                <a:solidFill>
                  <a:srgbClr val="212529"/>
                </a:solidFill>
                <a:latin typeface="system-ui"/>
              </a:rPr>
              <a:t>4		  b.5		      c.6			</a:t>
            </a:r>
            <a:r>
              <a:rPr lang="en-US" sz="2400" dirty="0">
                <a:latin typeface="system-ui"/>
              </a:rPr>
              <a:t>d.7</a:t>
            </a:r>
          </a:p>
          <a:p>
            <a:pPr marL="514350" indent="-514350">
              <a:buAutoNum type="alphaLcPeriod"/>
            </a:pPr>
            <a:endParaRPr lang="en-US" sz="2400" dirty="0">
              <a:solidFill>
                <a:srgbClr val="00B0F0"/>
              </a:solidFill>
              <a:latin typeface="system-ui"/>
            </a:endParaRPr>
          </a:p>
          <a:p>
            <a:pPr marL="0" indent="0">
              <a:buNone/>
            </a:pPr>
            <a:r>
              <a:rPr lang="en-US" sz="2400" b="0" i="0" dirty="0">
                <a:solidFill>
                  <a:srgbClr val="212529"/>
                </a:solidFill>
                <a:effectLst/>
                <a:latin typeface="system-ui"/>
              </a:rPr>
              <a:t>3. The application layer provides network services to __________.</a:t>
            </a:r>
            <a:endParaRPr lang="en-US" sz="2400" dirty="0">
              <a:solidFill>
                <a:srgbClr val="00B0F0"/>
              </a:solidFill>
              <a:latin typeface="system-ui"/>
            </a:endParaRPr>
          </a:p>
          <a:p>
            <a:pPr marL="0" indent="0">
              <a:buNone/>
            </a:pPr>
            <a:r>
              <a:rPr lang="en-US" sz="2400" dirty="0">
                <a:latin typeface="system-ui"/>
              </a:rPr>
              <a:t>A. End-user</a:t>
            </a:r>
          </a:p>
          <a:p>
            <a:pPr marL="0" indent="0">
              <a:buNone/>
            </a:pPr>
            <a:r>
              <a:rPr lang="en-US" sz="2400" dirty="0">
                <a:latin typeface="system-ui"/>
              </a:rPr>
              <a:t>B. Ethernet</a:t>
            </a:r>
          </a:p>
          <a:p>
            <a:pPr marL="0" indent="0">
              <a:buNone/>
            </a:pPr>
            <a:r>
              <a:rPr lang="en-US" sz="2400" dirty="0">
                <a:latin typeface="system-ui"/>
              </a:rPr>
              <a:t>C. Packet transport</a:t>
            </a:r>
          </a:p>
          <a:p>
            <a:pPr marL="0" indent="0">
              <a:buNone/>
            </a:pPr>
            <a:r>
              <a:rPr lang="en-US" sz="2400" dirty="0">
                <a:latin typeface="system-ui"/>
              </a:rPr>
              <a:t>D. All of the above</a:t>
            </a:r>
          </a:p>
          <a:p>
            <a:pPr marL="0" indent="0">
              <a:buNone/>
            </a:pPr>
            <a:endParaRPr lang="en-US" dirty="0">
              <a:solidFill>
                <a:srgbClr val="00B0F0"/>
              </a:solidFill>
              <a:latin typeface="system-ui"/>
            </a:endParaRPr>
          </a:p>
          <a:p>
            <a:pPr marL="514350" indent="-514350">
              <a:buAutoNum type="alphaLcPeriod"/>
            </a:pPr>
            <a:endParaRPr lang="en-US" dirty="0">
              <a:solidFill>
                <a:srgbClr val="00B0F0"/>
              </a:solidFill>
              <a:latin typeface="system-ui"/>
            </a:endParaRPr>
          </a:p>
          <a:p>
            <a:pPr marL="0" indent="0">
              <a:buNone/>
            </a:pPr>
            <a:endParaRPr lang="en-US" dirty="0">
              <a:solidFill>
                <a:srgbClr val="00B0F0"/>
              </a:solidFill>
              <a:latin typeface="system-ui"/>
            </a:endParaRPr>
          </a:p>
          <a:p>
            <a:pPr marL="0" indent="0">
              <a:buNone/>
            </a:pPr>
            <a:endParaRPr lang="en-US" dirty="0">
              <a:solidFill>
                <a:srgbClr val="212529"/>
              </a:solidFill>
              <a:latin typeface="system-ui"/>
            </a:endParaRPr>
          </a:p>
          <a:p>
            <a:pPr marL="0" indent="0">
              <a:buNone/>
            </a:pPr>
            <a:endParaRPr lang="en-IN" dirty="0">
              <a:solidFill>
                <a:srgbClr val="212529"/>
              </a:solidFill>
              <a:latin typeface="system-ui"/>
            </a:endParaRPr>
          </a:p>
          <a:p>
            <a:pPr marL="0" indent="0">
              <a:buNone/>
            </a:pPr>
            <a:endParaRPr lang="en-US" dirty="0">
              <a:solidFill>
                <a:srgbClr val="212529"/>
              </a:solidFill>
              <a:latin typeface="system-ui"/>
            </a:endParaRPr>
          </a:p>
        </p:txBody>
      </p:sp>
    </p:spTree>
    <p:extLst>
      <p:ext uri="{BB962C8B-B14F-4D97-AF65-F5344CB8AC3E}">
        <p14:creationId xmlns:p14="http://schemas.microsoft.com/office/powerpoint/2010/main" val="8025963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55C7B-4070-6B6E-C876-8D46E8851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4204"/>
          </a:xfrm>
        </p:spPr>
        <p:txBody>
          <a:bodyPr/>
          <a:lstStyle/>
          <a:p>
            <a:r>
              <a:rPr lang="en-IN" dirty="0"/>
              <a:t>Test Your Understanding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D28416-ED57-5983-32C0-E116E2A47F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89330"/>
            <a:ext cx="10515600" cy="5557960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US" sz="2400" b="0" i="0" dirty="0">
                <a:solidFill>
                  <a:srgbClr val="212529"/>
                </a:solidFill>
                <a:effectLst/>
                <a:latin typeface="system-ui"/>
              </a:rPr>
              <a:t>How many layers are there present in TCP/IP protocol?</a:t>
            </a:r>
          </a:p>
          <a:p>
            <a:pPr marL="514350" indent="-514350">
              <a:buAutoNum type="alphaLcPeriod"/>
            </a:pPr>
            <a:r>
              <a:rPr lang="en-US" sz="2400" dirty="0">
                <a:solidFill>
                  <a:srgbClr val="00B0F0"/>
                </a:solidFill>
                <a:latin typeface="system-ui"/>
              </a:rPr>
              <a:t>4</a:t>
            </a:r>
            <a:r>
              <a:rPr lang="en-US" sz="2400" dirty="0">
                <a:solidFill>
                  <a:srgbClr val="212529"/>
                </a:solidFill>
                <a:latin typeface="system-ui"/>
              </a:rPr>
              <a:t>		  b.5		      c.6			d.7</a:t>
            </a:r>
          </a:p>
          <a:p>
            <a:pPr marL="0" indent="0">
              <a:buNone/>
            </a:pPr>
            <a:endParaRPr lang="en-US" sz="2400" dirty="0">
              <a:solidFill>
                <a:srgbClr val="212529"/>
              </a:solidFill>
              <a:latin typeface="system-ui"/>
            </a:endParaRPr>
          </a:p>
          <a:p>
            <a:pPr marL="0" indent="0">
              <a:buNone/>
            </a:pPr>
            <a:r>
              <a:rPr lang="en-US" sz="2400" b="0" i="0" dirty="0">
                <a:solidFill>
                  <a:srgbClr val="212529"/>
                </a:solidFill>
                <a:effectLst/>
                <a:latin typeface="system-ui"/>
              </a:rPr>
              <a:t>2.     How many layers are there present in OSI Reference protocol?</a:t>
            </a:r>
          </a:p>
          <a:p>
            <a:pPr marL="514350" indent="-514350">
              <a:buAutoNum type="alphaLcPeriod"/>
            </a:pPr>
            <a:r>
              <a:rPr lang="en-US" sz="2400" dirty="0">
                <a:solidFill>
                  <a:srgbClr val="212529"/>
                </a:solidFill>
                <a:latin typeface="system-ui"/>
              </a:rPr>
              <a:t>4		  b.5		      c.6			</a:t>
            </a:r>
            <a:r>
              <a:rPr lang="en-US" sz="2400" dirty="0">
                <a:solidFill>
                  <a:srgbClr val="00B0F0"/>
                </a:solidFill>
                <a:latin typeface="system-ui"/>
              </a:rPr>
              <a:t>d.7</a:t>
            </a:r>
          </a:p>
          <a:p>
            <a:pPr marL="514350" indent="-514350">
              <a:buAutoNum type="alphaLcPeriod"/>
            </a:pPr>
            <a:endParaRPr lang="en-US" sz="2400" dirty="0">
              <a:solidFill>
                <a:srgbClr val="00B0F0"/>
              </a:solidFill>
              <a:latin typeface="system-ui"/>
            </a:endParaRPr>
          </a:p>
          <a:p>
            <a:pPr marL="0" indent="0">
              <a:buNone/>
            </a:pPr>
            <a:r>
              <a:rPr lang="en-US" sz="2400" b="0" i="0" dirty="0">
                <a:solidFill>
                  <a:srgbClr val="212529"/>
                </a:solidFill>
                <a:effectLst/>
                <a:latin typeface="system-ui"/>
              </a:rPr>
              <a:t>3. The application layer provides network services to __________.</a:t>
            </a:r>
            <a:endParaRPr lang="en-US" sz="2400" dirty="0">
              <a:solidFill>
                <a:srgbClr val="00B0F0"/>
              </a:solidFill>
              <a:latin typeface="system-ui"/>
            </a:endParaRPr>
          </a:p>
          <a:p>
            <a:pPr marL="0" indent="0">
              <a:buNone/>
            </a:pPr>
            <a:r>
              <a:rPr lang="en-US" sz="2400" dirty="0">
                <a:latin typeface="system-ui"/>
              </a:rPr>
              <a:t>A. End-user</a:t>
            </a:r>
          </a:p>
          <a:p>
            <a:pPr marL="0" indent="0">
              <a:buNone/>
            </a:pPr>
            <a:r>
              <a:rPr lang="en-US" sz="2400" dirty="0">
                <a:latin typeface="system-ui"/>
              </a:rPr>
              <a:t>B. Ethernet</a:t>
            </a:r>
          </a:p>
          <a:p>
            <a:pPr marL="0" indent="0">
              <a:buNone/>
            </a:pPr>
            <a:r>
              <a:rPr lang="en-US" sz="2400" dirty="0">
                <a:latin typeface="system-ui"/>
              </a:rPr>
              <a:t>C. Packet transport</a:t>
            </a:r>
          </a:p>
          <a:p>
            <a:pPr marL="0" indent="0">
              <a:buNone/>
            </a:pPr>
            <a:r>
              <a:rPr lang="en-US" sz="2400" dirty="0">
                <a:latin typeface="system-ui"/>
              </a:rPr>
              <a:t>D. </a:t>
            </a:r>
            <a:r>
              <a:rPr lang="en-US" sz="2400" dirty="0">
                <a:solidFill>
                  <a:srgbClr val="00B0F0"/>
                </a:solidFill>
                <a:latin typeface="system-ui"/>
              </a:rPr>
              <a:t>All of the above</a:t>
            </a:r>
          </a:p>
          <a:p>
            <a:pPr marL="0" indent="0">
              <a:buNone/>
            </a:pPr>
            <a:endParaRPr lang="en-US" dirty="0">
              <a:solidFill>
                <a:srgbClr val="00B0F0"/>
              </a:solidFill>
              <a:latin typeface="system-ui"/>
            </a:endParaRPr>
          </a:p>
          <a:p>
            <a:pPr marL="514350" indent="-514350">
              <a:buAutoNum type="alphaLcPeriod"/>
            </a:pPr>
            <a:endParaRPr lang="en-US" dirty="0">
              <a:solidFill>
                <a:srgbClr val="00B0F0"/>
              </a:solidFill>
              <a:latin typeface="system-ui"/>
            </a:endParaRPr>
          </a:p>
          <a:p>
            <a:pPr marL="0" indent="0">
              <a:buNone/>
            </a:pPr>
            <a:endParaRPr lang="en-US" dirty="0">
              <a:solidFill>
                <a:srgbClr val="00B0F0"/>
              </a:solidFill>
              <a:latin typeface="system-ui"/>
            </a:endParaRPr>
          </a:p>
          <a:p>
            <a:pPr marL="0" indent="0">
              <a:buNone/>
            </a:pPr>
            <a:endParaRPr lang="en-US" dirty="0">
              <a:solidFill>
                <a:srgbClr val="212529"/>
              </a:solidFill>
              <a:latin typeface="system-ui"/>
            </a:endParaRPr>
          </a:p>
          <a:p>
            <a:pPr marL="0" indent="0">
              <a:buNone/>
            </a:pPr>
            <a:endParaRPr lang="en-IN" dirty="0">
              <a:solidFill>
                <a:srgbClr val="212529"/>
              </a:solidFill>
              <a:latin typeface="system-ui"/>
            </a:endParaRPr>
          </a:p>
          <a:p>
            <a:pPr marL="0" indent="0">
              <a:buNone/>
            </a:pPr>
            <a:endParaRPr lang="en-US" dirty="0">
              <a:solidFill>
                <a:srgbClr val="212529"/>
              </a:solidFill>
              <a:latin typeface="system-ui"/>
            </a:endParaRPr>
          </a:p>
        </p:txBody>
      </p:sp>
    </p:spTree>
    <p:extLst>
      <p:ext uri="{BB962C8B-B14F-4D97-AF65-F5344CB8AC3E}">
        <p14:creationId xmlns:p14="http://schemas.microsoft.com/office/powerpoint/2010/main" val="6084317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3208B-851B-C8D7-0E4D-6A8A555C1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25647" y="365125"/>
            <a:ext cx="628153" cy="315912"/>
          </a:xfrm>
        </p:spPr>
        <p:txBody>
          <a:bodyPr/>
          <a:lstStyle/>
          <a:p>
            <a:r>
              <a:rPr lang="en-IN" sz="800" dirty="0"/>
              <a:t>CONTD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6F74A-14E0-715D-6DAB-3CEFE9B0C5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942" y="365125"/>
            <a:ext cx="10515600" cy="5891917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4.The network layer is used to __________.</a:t>
            </a:r>
          </a:p>
          <a:p>
            <a:pPr marL="0" indent="0">
              <a:buNone/>
            </a:pPr>
            <a:r>
              <a:rPr lang="en-US" sz="2400" dirty="0"/>
              <a:t>A. Transfer packet from source to destination</a:t>
            </a:r>
          </a:p>
          <a:p>
            <a:pPr marL="0" indent="0">
              <a:buNone/>
            </a:pPr>
            <a:r>
              <a:rPr lang="en-US" sz="2400" dirty="0"/>
              <a:t>B. Delimit and synchronize data</a:t>
            </a:r>
          </a:p>
          <a:p>
            <a:pPr marL="0" indent="0">
              <a:buNone/>
            </a:pPr>
            <a:r>
              <a:rPr lang="en-US" sz="2400" dirty="0"/>
              <a:t>C. Transfer data frames</a:t>
            </a:r>
          </a:p>
          <a:p>
            <a:pPr marL="0" indent="0">
              <a:buNone/>
            </a:pPr>
            <a:r>
              <a:rPr lang="en-US" sz="2400" dirty="0"/>
              <a:t>D. All of the above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5. Which of the following layers is used to track the location of the device on the network?</a:t>
            </a:r>
          </a:p>
          <a:p>
            <a:pPr marL="0" indent="0">
              <a:buNone/>
            </a:pPr>
            <a:r>
              <a:rPr lang="en-US" sz="2400" dirty="0"/>
              <a:t>A. Session layer</a:t>
            </a:r>
          </a:p>
          <a:p>
            <a:pPr marL="0" indent="0">
              <a:buNone/>
            </a:pPr>
            <a:r>
              <a:rPr lang="en-US" sz="2400" dirty="0"/>
              <a:t>B. Transport layer</a:t>
            </a:r>
          </a:p>
          <a:p>
            <a:pPr marL="0" indent="0">
              <a:buNone/>
            </a:pPr>
            <a:r>
              <a:rPr lang="en-US" sz="2400" dirty="0"/>
              <a:t>C. Network Layer</a:t>
            </a:r>
          </a:p>
          <a:p>
            <a:pPr marL="0" indent="0">
              <a:buNone/>
            </a:pPr>
            <a:r>
              <a:rPr lang="en-US" sz="2400" dirty="0"/>
              <a:t>D. Datalink layer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8870313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3208B-851B-C8D7-0E4D-6A8A555C1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25647" y="365125"/>
            <a:ext cx="628153" cy="315912"/>
          </a:xfrm>
        </p:spPr>
        <p:txBody>
          <a:bodyPr/>
          <a:lstStyle/>
          <a:p>
            <a:r>
              <a:rPr lang="en-IN" sz="800" dirty="0"/>
              <a:t>CONTD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6F74A-14E0-715D-6DAB-3CEFE9B0C5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976" y="365125"/>
            <a:ext cx="10515600" cy="5891917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4.The network layer is used to __________.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B0F0"/>
                </a:solidFill>
              </a:rPr>
              <a:t>A. Transfer packet from source to destination</a:t>
            </a:r>
          </a:p>
          <a:p>
            <a:pPr marL="0" indent="0">
              <a:buNone/>
            </a:pPr>
            <a:r>
              <a:rPr lang="en-US" sz="2400" dirty="0"/>
              <a:t>B. Delimit and synchronize data</a:t>
            </a:r>
          </a:p>
          <a:p>
            <a:pPr marL="0" indent="0">
              <a:buNone/>
            </a:pPr>
            <a:r>
              <a:rPr lang="en-US" sz="2400" dirty="0"/>
              <a:t>C. Transfer data frames</a:t>
            </a:r>
          </a:p>
          <a:p>
            <a:pPr marL="0" indent="0">
              <a:buNone/>
            </a:pPr>
            <a:r>
              <a:rPr lang="en-US" sz="2400" dirty="0"/>
              <a:t>D. All of the above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5. Which of the following layers is used to track the location of the device on the network?</a:t>
            </a:r>
          </a:p>
          <a:p>
            <a:pPr marL="0" indent="0">
              <a:buNone/>
            </a:pPr>
            <a:r>
              <a:rPr lang="en-US" sz="2400" dirty="0"/>
              <a:t>A. Session layer</a:t>
            </a:r>
          </a:p>
          <a:p>
            <a:pPr marL="0" indent="0">
              <a:buNone/>
            </a:pPr>
            <a:r>
              <a:rPr lang="en-US" sz="2400" dirty="0"/>
              <a:t>B. </a:t>
            </a:r>
            <a:r>
              <a:rPr lang="en-US" sz="2400" dirty="0">
                <a:solidFill>
                  <a:srgbClr val="00B0F0"/>
                </a:solidFill>
              </a:rPr>
              <a:t>Transport layer</a:t>
            </a:r>
          </a:p>
          <a:p>
            <a:pPr marL="0" indent="0">
              <a:buNone/>
            </a:pPr>
            <a:r>
              <a:rPr lang="en-US" sz="2400" dirty="0"/>
              <a:t>C. Application Layer</a:t>
            </a:r>
          </a:p>
          <a:p>
            <a:pPr marL="0" indent="0">
              <a:buNone/>
            </a:pPr>
            <a:r>
              <a:rPr lang="en-US" sz="2400" dirty="0"/>
              <a:t>D. Datalink layer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2471607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00BC72CD-0E64-4837-A23F-71719B051D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0487" y="1379529"/>
            <a:ext cx="4098941" cy="4098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E0631B-1888-44A3-956F-2018E4A031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126566"/>
            <a:ext cx="5426844" cy="473143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Layered Architecture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OSI Reference Model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TCP/IP Reference Model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" name="Picture 2" descr="KL Deemed to be University Logo">
            <a:extLst>
              <a:ext uri="{FF2B5EF4-FFF2-40B4-BE49-F238E27FC236}">
                <a16:creationId xmlns:a16="http://schemas.microsoft.com/office/drawing/2014/main" id="{1A6E623D-BF52-6CE8-7DF9-98E41C00CD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BF5AC92A-328E-35D9-8A83-66295DF01654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1752832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45E056E-10BD-0B9E-4ACE-A3F54C31FD9F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TERMINAL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8129" y="2194816"/>
            <a:ext cx="10255348" cy="24683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b="1" dirty="0"/>
              <a:t>1. </a:t>
            </a:r>
            <a:r>
              <a:rPr lang="en-US" sz="2000" dirty="0"/>
              <a:t>Describe the need for Layered Architecture.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2. Describe in detail the functionalities of each layer in OSI Reference model.</a:t>
            </a:r>
          </a:p>
          <a:p>
            <a:pPr marL="342900" indent="-342900">
              <a:lnSpc>
                <a:spcPct val="200000"/>
              </a:lnSpc>
            </a:pPr>
            <a:r>
              <a:rPr lang="en-US" sz="2000" dirty="0"/>
              <a:t>3. Illustrate TCP/IP Reference Model.</a:t>
            </a:r>
          </a:p>
          <a:p>
            <a:pPr marL="342900" indent="-342900">
              <a:lnSpc>
                <a:spcPct val="200000"/>
              </a:lnSpc>
            </a:pPr>
            <a:r>
              <a:rPr lang="en-US" sz="2000" dirty="0"/>
              <a:t>4. Differentiate OSI and TCP/IP models.</a:t>
            </a:r>
          </a:p>
        </p:txBody>
      </p:sp>
      <p:pic>
        <p:nvPicPr>
          <p:cNvPr id="10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020737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45E056E-10BD-0B9E-4ACE-A3F54C31FD9F}"/>
              </a:ext>
            </a:extLst>
          </p:cNvPr>
          <p:cNvSpPr/>
          <p:nvPr/>
        </p:nvSpPr>
        <p:spPr>
          <a:xfrm>
            <a:off x="2161309" y="93891"/>
            <a:ext cx="7105194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REFERENCES FOR FURTHER LEARNING OF THE SESSION</a:t>
            </a:r>
            <a:endParaRPr lang="en-US" sz="24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00332" y="1167618"/>
            <a:ext cx="9608234" cy="2542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Reference Books:</a:t>
            </a:r>
            <a:endParaRPr lang="en-US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/>
              <a:t>A.S. Tanenbaum, David J. </a:t>
            </a:r>
            <a:r>
              <a:rPr lang="en-US" dirty="0" err="1"/>
              <a:t>Wetheral</a:t>
            </a:r>
            <a:r>
              <a:rPr lang="en-US" dirty="0"/>
              <a:t> “Computer Networks” Pearson, 5th Edition.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/>
              <a:t>Kurose, J and Ross, K Computer Networking: A Top-Down Approach Addison-Wesley- 6th edition.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b="1" dirty="0"/>
              <a:t>Sites and Web links: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>
                <a:hlinkClick r:id="rId2"/>
              </a:rPr>
              <a:t>https://www.geeksforgeeks.org/layers-of-osi-model/</a:t>
            </a:r>
            <a:endParaRPr lang="en-US" dirty="0"/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2217677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792BE84-3448-2348-B352-CD5BC083E5FD}"/>
              </a:ext>
            </a:extLst>
          </p:cNvPr>
          <p:cNvSpPr/>
          <p:nvPr/>
        </p:nvSpPr>
        <p:spPr>
          <a:xfrm>
            <a:off x="2602523" y="1856934"/>
            <a:ext cx="7920111" cy="2883877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THANK YOU</a:t>
            </a: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Team – Network Protocols &amp; Security</a:t>
            </a:r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14534" y="2560321"/>
            <a:ext cx="3235570" cy="108321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xtreme Shadow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Sample Sessionwise PPT</Template>
  <TotalTime>204</TotalTime>
  <Words>1632</Words>
  <Application>Microsoft Office PowerPoint</Application>
  <PresentationFormat>Widescreen</PresentationFormat>
  <Paragraphs>201</Paragraphs>
  <Slides>35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3" baseType="lpstr">
      <vt:lpstr>Arial</vt:lpstr>
      <vt:lpstr>BioRhyme ExtraBold</vt:lpstr>
      <vt:lpstr>Calibri</vt:lpstr>
      <vt:lpstr>Poppins</vt:lpstr>
      <vt:lpstr>system-ui</vt:lpstr>
      <vt:lpstr>Times</vt:lpstr>
      <vt:lpstr>Wingdings</vt:lpstr>
      <vt:lpstr>1_Office Theme</vt:lpstr>
      <vt:lpstr>PowerPoint Presentation</vt:lpstr>
      <vt:lpstr>PowerPoint Presentation</vt:lpstr>
      <vt:lpstr>PowerPoint Presentation</vt:lpstr>
      <vt:lpstr>PowerPoint Presentation</vt:lpstr>
      <vt:lpstr>Seven Layers in OSI model</vt:lpstr>
      <vt:lpstr>PowerPoint Presentation</vt:lpstr>
      <vt:lpstr>Peer to Peer Process</vt:lpstr>
      <vt:lpstr>An exchange using the OSI model</vt:lpstr>
      <vt:lpstr>1. Physical Layer</vt:lpstr>
      <vt:lpstr>Responsibilities of Physical Layer</vt:lpstr>
      <vt:lpstr>Data link layer</vt:lpstr>
      <vt:lpstr>Responsibilities of Data link layer</vt:lpstr>
      <vt:lpstr>Network Layer</vt:lpstr>
      <vt:lpstr>Source to Destination Delivery</vt:lpstr>
      <vt:lpstr>Responsibilities of Network Layer</vt:lpstr>
      <vt:lpstr>Transport Layer</vt:lpstr>
      <vt:lpstr>Responsibilities of Transport Layer</vt:lpstr>
      <vt:lpstr>Session layer</vt:lpstr>
      <vt:lpstr>Responsibilities of Session Layer</vt:lpstr>
      <vt:lpstr>Presentation Layer</vt:lpstr>
      <vt:lpstr>Responsibilities of Presentation Layer</vt:lpstr>
      <vt:lpstr>Application Layer</vt:lpstr>
      <vt:lpstr>Responsibilities of Application Layer</vt:lpstr>
      <vt:lpstr>PowerPoint Presentation</vt:lpstr>
      <vt:lpstr>TCP/IP PROTOCOL SUITE</vt:lpstr>
      <vt:lpstr>TCP/IP Protocol Suite</vt:lpstr>
      <vt:lpstr>CONTD</vt:lpstr>
      <vt:lpstr>Test Your Understanding</vt:lpstr>
      <vt:lpstr>Test Your Understanding</vt:lpstr>
      <vt:lpstr>CONTD</vt:lpstr>
      <vt:lpstr>CONTD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roshini arumugham</dc:creator>
  <cp:lastModifiedBy>GORLA VENKATA GANESH</cp:lastModifiedBy>
  <cp:revision>19</cp:revision>
  <dcterms:created xsi:type="dcterms:W3CDTF">2022-11-11T09:05:33Z</dcterms:created>
  <dcterms:modified xsi:type="dcterms:W3CDTF">2025-12-17T06:29:55Z</dcterms:modified>
</cp:coreProperties>
</file>