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71" r:id="rId5"/>
    <p:sldId id="300" r:id="rId6"/>
    <p:sldId id="258" r:id="rId7"/>
    <p:sldId id="309" r:id="rId8"/>
    <p:sldId id="261" r:id="rId9"/>
    <p:sldId id="262" r:id="rId10"/>
    <p:sldId id="263" r:id="rId11"/>
    <p:sldId id="264" r:id="rId12"/>
    <p:sldId id="265" r:id="rId13"/>
    <p:sldId id="260" r:id="rId14"/>
    <p:sldId id="267" r:id="rId15"/>
    <p:sldId id="269" r:id="rId16"/>
    <p:sldId id="268" r:id="rId17"/>
    <p:sldId id="270" r:id="rId18"/>
    <p:sldId id="259" r:id="rId19"/>
    <p:sldId id="314" r:id="rId20"/>
    <p:sldId id="315" r:id="rId21"/>
    <p:sldId id="310" r:id="rId22"/>
    <p:sldId id="302" r:id="rId23"/>
    <p:sldId id="303" r:id="rId24"/>
    <p:sldId id="30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2F33"/>
    <a:srgbClr val="BA2532"/>
    <a:srgbClr val="FF9900"/>
    <a:srgbClr val="E84845"/>
    <a:srgbClr val="FAD2D2"/>
    <a:srgbClr val="F89E4C"/>
    <a:srgbClr val="A81E24"/>
    <a:srgbClr val="FFF2CC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A67A5-E756-442F-9DCC-6A22BB1350E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8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63076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Network hardware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network hardware concepts.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network transmission technologies.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different types of networks based on geographical area or scale.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153557" y="4772230"/>
            <a:ext cx="10199071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Illustrate different types of networks based on transmission technology.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Categorize networks based on geographical area.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</a:rPr>
              <a:t> 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AB537D-1F06-ED24-7B76-3E4905C39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116" y="1636084"/>
            <a:ext cx="6063175" cy="44172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>
                <a:latin typeface="Goudy Old Style" panose="02020502050305020303" pitchFamily="18" charset="0"/>
              </a:rPr>
              <a:t>Network Hardware:</a:t>
            </a:r>
          </a:p>
          <a:p>
            <a:pPr algn="just"/>
            <a:r>
              <a:rPr lang="en-US" sz="2400" dirty="0">
                <a:latin typeface="Goudy Old Style" panose="02020502050305020303" pitchFamily="18" charset="0"/>
              </a:rPr>
              <a:t>Deals with technical issues involved in network design.</a:t>
            </a:r>
          </a:p>
          <a:p>
            <a:pPr marL="0" indent="0" algn="just">
              <a:buNone/>
            </a:pPr>
            <a:endParaRPr lang="en-US" sz="2400" dirty="0">
              <a:latin typeface="Goudy Old Style" panose="02020502050305020303" pitchFamily="18" charset="0"/>
            </a:endParaRPr>
          </a:p>
          <a:p>
            <a:pPr algn="just"/>
            <a:r>
              <a:rPr lang="en-US" sz="2400" dirty="0">
                <a:latin typeface="Goudy Old Style" panose="02020502050305020303" pitchFamily="18" charset="0"/>
              </a:rPr>
              <a:t>Two dimensions: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Transmission technology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Goudy Old Style" panose="02020502050305020303" pitchFamily="18" charset="0"/>
              </a:rPr>
              <a:t>Scale.</a:t>
            </a: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03CC2-0362-9E34-4ACF-2B8C99CD5355}"/>
              </a:ext>
            </a:extLst>
          </p:cNvPr>
          <p:cNvSpPr txBox="1"/>
          <p:nvPr/>
        </p:nvSpPr>
        <p:spPr>
          <a:xfrm>
            <a:off x="7146387" y="1989919"/>
            <a:ext cx="4353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A Computer Network consists of a collection of computers, printers and other equipment that is connected together so that they can communicate with </a:t>
            </a:r>
          </a:p>
          <a:p>
            <a:pPr algn="ctr"/>
            <a:r>
              <a:rPr lang="en-US" sz="2400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each other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F05FC-A1FD-DD98-07CD-34AC48218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579" y="1539860"/>
            <a:ext cx="5439237" cy="422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16" y="2122118"/>
            <a:ext cx="7026813" cy="31511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n-US" sz="2400" dirty="0">
                <a:latin typeface="Goudy Old Style" panose="02020502050305020303" pitchFamily="18" charset="0"/>
              </a:rPr>
              <a:t>Transmission is actually the process of sending and propagating signals of digital information.</a:t>
            </a:r>
            <a:br>
              <a:rPr lang="en-US" sz="2400" dirty="0">
                <a:latin typeface="Goudy Old Style" panose="02020502050305020303" pitchFamily="18" charset="0"/>
              </a:rPr>
            </a:br>
            <a:br>
              <a:rPr lang="en-US" sz="2400" dirty="0">
                <a:latin typeface="Goudy Old Style" panose="02020502050305020303" pitchFamily="18" charset="0"/>
              </a:rPr>
            </a:br>
            <a:br>
              <a:rPr lang="en-US" sz="2400" dirty="0">
                <a:latin typeface="Goudy Old Style" panose="02020502050305020303" pitchFamily="18" charset="0"/>
              </a:rPr>
            </a:br>
            <a:r>
              <a:rPr lang="en-US" sz="2400" dirty="0">
                <a:latin typeface="Goudy Old Style" panose="02020502050305020303" pitchFamily="18" charset="0"/>
              </a:rPr>
              <a:t>Transmission technology generally refers to physical layer protocol duties like modulation, demodulation, line coding, etc. 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84E3CE04-983F-4AEB-A87D-FF76DEBB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636" y="1336431"/>
            <a:ext cx="4370363" cy="4722538"/>
          </a:xfrm>
          <a:prstGeom prst="rect">
            <a:avLst/>
          </a:prstGeom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AD162FBC-4C3E-52AC-FCBE-C611DE513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87830F5-3D90-9CEA-7D4C-624A51B01DE9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TRANSMISSION TECHNOLOGY </a:t>
            </a:r>
          </a:p>
        </p:txBody>
      </p:sp>
    </p:spTree>
    <p:extLst>
      <p:ext uri="{BB962C8B-B14F-4D97-AF65-F5344CB8AC3E}">
        <p14:creationId xmlns:p14="http://schemas.microsoft.com/office/powerpoint/2010/main" val="160386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15" y="389745"/>
            <a:ext cx="7575240" cy="884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41614-E4AB-4CC0-8DB0-8B3F61AA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79" y="1809750"/>
            <a:ext cx="7374487" cy="4953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300" b="1" i="0" u="none" strike="noStrike" baseline="0" dirty="0">
                <a:latin typeface="Goudy Old Style" panose="02020502050305020303" pitchFamily="18" charset="0"/>
              </a:rPr>
              <a:t>Broadcast Networks:</a:t>
            </a:r>
          </a:p>
          <a:p>
            <a:pPr marL="0" indent="0">
              <a:buNone/>
            </a:pPr>
            <a:endParaRPr lang="en-US" sz="2200" b="1" i="0" u="none" strike="noStrike" baseline="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Have single communication channel that is shared by all the machines on the network.</a:t>
            </a:r>
          </a:p>
          <a:p>
            <a:pPr marL="0" indent="0" algn="just">
              <a:buNone/>
            </a:pPr>
            <a:endParaRPr lang="en-US" sz="2200" b="0" i="0" u="none" strike="noStrike" baseline="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Goudy Old Style" panose="02020502050305020303" pitchFamily="18" charset="0"/>
              </a:rPr>
              <a:t>Data is sent to all the nodes/stations in the network domain.</a:t>
            </a:r>
          </a:p>
          <a:p>
            <a:pPr marL="0" indent="0" algn="just">
              <a:buNone/>
            </a:pPr>
            <a:endParaRPr lang="en-US" sz="22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Goudy Old Style" panose="02020502050305020303" pitchFamily="18" charset="0"/>
              </a:rPr>
              <a:t>Short messages(Packets) sent by any machine are received by all the others. </a:t>
            </a:r>
          </a:p>
          <a:p>
            <a:pPr marL="0" indent="0" algn="just">
              <a:buNone/>
            </a:pPr>
            <a:endParaRPr lang="en-US" sz="22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Goudy Old Style" panose="02020502050305020303" pitchFamily="18" charset="0"/>
              </a:rPr>
              <a:t>A special broadcast address exist for every network which is used to receive a broadcasted message.</a:t>
            </a:r>
          </a:p>
          <a:p>
            <a:pPr marL="0" indent="0" algn="just">
              <a:buNone/>
            </a:pPr>
            <a:endParaRPr lang="en-US" sz="22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Goudy Old Style" panose="02020502050305020303" pitchFamily="18" charset="0"/>
              </a:rPr>
              <a:t>Example</a:t>
            </a:r>
            <a:r>
              <a:rPr lang="en-US" sz="2200" dirty="0">
                <a:latin typeface="Goudy Old Style" panose="02020502050305020303" pitchFamily="18" charset="0"/>
              </a:rPr>
              <a:t>: Address Resolution Protocol (ARP) requests</a:t>
            </a:r>
            <a:r>
              <a:rPr lang="en-US" sz="1400" dirty="0"/>
              <a:t>.</a:t>
            </a:r>
            <a:endParaRPr lang="en-US" sz="2200" dirty="0">
              <a:latin typeface="Goudy Old Style" panose="02020502050305020303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8775578-585E-4534-9B98-B8AEED7E9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09767" y="2198362"/>
            <a:ext cx="4482232" cy="352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C52B8C7D-43D7-7740-371D-CE3893EE7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284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757" y="389745"/>
            <a:ext cx="7462698" cy="884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41614-E4AB-4CC0-8DB0-8B3F61AA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30" y="1672090"/>
            <a:ext cx="5394960" cy="47961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Multicast Networks:</a:t>
            </a:r>
          </a:p>
          <a:p>
            <a:pPr marL="0" indent="0">
              <a:buNone/>
            </a:pPr>
            <a:endParaRPr lang="en-US" sz="2200" b="1" i="0" u="none" strike="noStrike" baseline="0" dirty="0">
              <a:latin typeface="Goudy Old Style" panose="02020502050305020303" pitchFamily="18" charset="0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Goudy Old Style" panose="02020502050305020303" pitchFamily="18" charset="0"/>
              </a:rPr>
              <a:t>Some broadcast systems also support transmission to a subset of the machines, known as </a:t>
            </a:r>
            <a:r>
              <a:rPr lang="en-US" sz="2100" b="1" dirty="0">
                <a:latin typeface="Goudy Old Style" panose="02020502050305020303" pitchFamily="18" charset="0"/>
              </a:rPr>
              <a:t>multicasting.</a:t>
            </a:r>
            <a:r>
              <a:rPr lang="en-US" sz="2100" dirty="0">
                <a:latin typeface="Goudy Old Style" panose="02020502050305020303" pitchFamily="18" charset="0"/>
              </a:rPr>
              <a:t> 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sz="2100" dirty="0">
              <a:latin typeface="Goudy Old Style" panose="02020502050305020303" pitchFamily="18" charset="0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Goudy Old Style" panose="02020502050305020303" pitchFamily="18" charset="0"/>
              </a:rPr>
              <a:t>One possible scheme is to reserve one bit to indicate multicasting. The remaining n</a:t>
            </a:r>
            <a:r>
              <a:rPr lang="en-US" sz="2100" dirty="0"/>
              <a:t>-</a:t>
            </a:r>
            <a:r>
              <a:rPr lang="en-US" sz="2100" dirty="0">
                <a:latin typeface="Goudy Old Style" panose="02020502050305020303" pitchFamily="18" charset="0"/>
              </a:rPr>
              <a:t>1 address bits can hold a group number. 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sz="2100" dirty="0">
              <a:latin typeface="Goudy Old Style" panose="02020502050305020303" pitchFamily="18" charset="0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latin typeface="Goudy Old Style" panose="02020502050305020303" pitchFamily="18" charset="0"/>
              </a:rPr>
              <a:t>When a packet is sent to a certain group, it is delivered to all machines subscribing to that group.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sz="2100" dirty="0">
              <a:latin typeface="Goudy Old Style" panose="02020502050305020303" pitchFamily="18" charset="0"/>
            </a:endParaRP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2100" b="1" dirty="0">
                <a:latin typeface="Goudy Old Style" panose="02020502050305020303" pitchFamily="18" charset="0"/>
              </a:rPr>
              <a:t>Example: </a:t>
            </a:r>
            <a:r>
              <a:rPr lang="en-US" sz="2100" dirty="0">
                <a:latin typeface="Goudy Old Style" panose="02020502050305020303" pitchFamily="18" charset="0"/>
              </a:rPr>
              <a:t>1. Video conferencing, </a:t>
            </a: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2100" dirty="0">
                <a:latin typeface="Goudy Old Style" panose="02020502050305020303" pitchFamily="18" charset="0"/>
              </a:rPr>
              <a:t>	     2. Sending a message targeting number of 	         people at </a:t>
            </a:r>
            <a:r>
              <a:rPr lang="en-US" sz="2100" dirty="0" err="1">
                <a:latin typeface="Goudy Old Style" panose="02020502050305020303" pitchFamily="18" charset="0"/>
              </a:rPr>
              <a:t>at</a:t>
            </a:r>
            <a:r>
              <a:rPr lang="en-US" sz="2100" dirty="0">
                <a:latin typeface="Goudy Old Style" panose="02020502050305020303" pitchFamily="18" charset="0"/>
              </a:rPr>
              <a:t> a time.</a:t>
            </a:r>
          </a:p>
          <a:p>
            <a:pPr marL="0" indent="0">
              <a:buNone/>
            </a:pPr>
            <a:endParaRPr lang="en-US" sz="2200" b="0" i="0" u="none" strike="noStrike" baseline="0" dirty="0">
              <a:latin typeface="Arial" panose="020B0604020202020204" pitchFamily="34" charset="0"/>
            </a:endParaRPr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D2619-39B2-4EB4-80BB-F40F86F09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350" y="1663909"/>
            <a:ext cx="6101106" cy="4804345"/>
          </a:xfrm>
          <a:prstGeom prst="rect">
            <a:avLst/>
          </a:prstGeom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89B9A5AC-FC2C-4C81-574F-D0DEF346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416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163" y="389745"/>
            <a:ext cx="7378292" cy="884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41614-E4AB-4CC0-8DB0-8B3F61AA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2451581"/>
            <a:ext cx="11430896" cy="37578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Point-to-Point Networks:</a:t>
            </a:r>
          </a:p>
          <a:p>
            <a:pPr marL="0" indent="0">
              <a:buNone/>
            </a:pPr>
            <a:endParaRPr lang="en-US" sz="2200" b="1" i="0" u="none" strike="noStrike" baseline="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Point-to-point networks consist of many connections between individual pairs of machines. </a:t>
            </a:r>
          </a:p>
          <a:p>
            <a:pPr algn="just"/>
            <a:endParaRPr lang="en-US" sz="260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Often multiple routes, of different lengths, are possible, so finding good ones is important in point-to-point networks. </a:t>
            </a:r>
          </a:p>
          <a:p>
            <a:pPr algn="just"/>
            <a:endParaRPr lang="en-US" sz="260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Usually, smaller geographically localized networks tend to use broadcasting, whereas larger networks usually are point-to-point. </a:t>
            </a:r>
          </a:p>
          <a:p>
            <a:pPr algn="just"/>
            <a:endParaRPr lang="en-US" sz="260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dirty="0">
                <a:latin typeface="Goudy Old Style" panose="02020502050305020303" pitchFamily="18" charset="0"/>
              </a:rPr>
              <a:t>Point-to-point transmission with one sender and one receiver is sometimes called </a:t>
            </a:r>
            <a:r>
              <a:rPr lang="en-US" sz="2600" b="1" u="sng" dirty="0">
                <a:latin typeface="Goudy Old Style" panose="02020502050305020303" pitchFamily="18" charset="0"/>
              </a:rPr>
              <a:t>Unicasting.</a:t>
            </a:r>
          </a:p>
          <a:p>
            <a:pPr algn="just"/>
            <a:endParaRPr lang="en-US" sz="2600" b="1" i="0" u="sng" strike="noStrike" baseline="0" dirty="0">
              <a:latin typeface="Goudy Old Style" panose="02020502050305020303" pitchFamily="18" charset="0"/>
            </a:endParaRPr>
          </a:p>
          <a:p>
            <a:pPr algn="just"/>
            <a:r>
              <a:rPr lang="en-US" sz="2600" b="1" u="sng" dirty="0">
                <a:latin typeface="Goudy Old Style" panose="02020502050305020303" pitchFamily="18" charset="0"/>
              </a:rPr>
              <a:t>Example: </a:t>
            </a:r>
            <a:r>
              <a:rPr lang="en-IN" sz="2600" dirty="0">
                <a:latin typeface="Goudy Old Style" panose="02020502050305020303" pitchFamily="18" charset="0"/>
              </a:rPr>
              <a:t>Cell phone conversation.</a:t>
            </a:r>
            <a:endParaRPr lang="en-US" sz="2600" dirty="0">
              <a:latin typeface="Goudy Old Style" panose="02020502050305020303" pitchFamily="18" charset="0"/>
            </a:endParaRPr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B4E8-6A65-4EE0-87D9-082D26B52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088" y="1774814"/>
            <a:ext cx="6311517" cy="1048622"/>
          </a:xfrm>
          <a:prstGeom prst="rect">
            <a:avLst/>
          </a:prstGeom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5C1D28E3-CA7C-680B-DB2C-9EF089A10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210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16F4-6E74-4287-A465-D64E84F6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554" y="389745"/>
            <a:ext cx="7504901" cy="884420"/>
          </a:xfrm>
        </p:spPr>
        <p:txBody>
          <a:bodyPr>
            <a:normAutofit/>
          </a:bodyPr>
          <a:lstStyle/>
          <a:p>
            <a:r>
              <a:rPr lang="en-US" b="1" dirty="0">
                <a:latin typeface="Goudy Old Style" panose="02020502050305020303" pitchFamily="18" charset="0"/>
              </a:rPr>
              <a:t>Transmission Technology…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8255E-A4E7-48E3-B4DB-5C79C0E7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8610852-BEAD-443E-82C6-026EFE988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910" y="2451581"/>
            <a:ext cx="8779546" cy="318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E4630E67-8E96-86D2-6291-5C6B985E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136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9" y="2194102"/>
            <a:ext cx="444983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Goudy Old Style" panose="02020502050305020303" pitchFamily="18" charset="0"/>
              </a:rPr>
              <a:t>A computer network can be categorized by their size.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Goudy Old Style" panose="02020502050305020303" pitchFamily="18" charset="0"/>
              </a:rPr>
              <a:t>Four types</a:t>
            </a:r>
            <a:r>
              <a:rPr lang="en-US" sz="2400" b="0" i="0" dirty="0">
                <a:effectLst/>
                <a:latin typeface="Goudy Old Style" panose="02020502050305020303" pitchFamily="18" charset="0"/>
              </a:rPr>
              <a:t>: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PAN(Personal Area Network)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Goudy Old Style" panose="02020502050305020303" pitchFamily="18" charset="0"/>
              </a:rPr>
              <a:t>LAN(Local Area Network)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Goudy Old Style" panose="02020502050305020303" pitchFamily="18" charset="0"/>
              </a:rPr>
              <a:t>MAN(Metropolitan Area Network)</a:t>
            </a:r>
          </a:p>
          <a:p>
            <a:pPr marL="571500" lvl="1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Goudy Old Style" panose="02020502050305020303" pitchFamily="18" charset="0"/>
              </a:rPr>
              <a:t>WAN(Wide Area Network)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3B874-CAAF-44B7-BDF8-FB63EAB98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853861"/>
            <a:ext cx="6155141" cy="3174018"/>
          </a:xfrm>
          <a:prstGeom prst="rect">
            <a:avLst/>
          </a:prstGeom>
        </p:spPr>
      </p:pic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19D3ECCC-0D65-2522-2F61-78C8B0FC580B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COMPUTER NETWORKS BASED ON SCALE</a:t>
            </a:r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6586AE2-5E2F-EB4A-E961-3953BD43E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216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394" y="149087"/>
            <a:ext cx="6092950" cy="796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PAN (Personal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94" y="1291254"/>
            <a:ext cx="5827363" cy="482804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Personal Area Network is a network arranged within an individual person, typically within a range of 1 to 10 meters.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PAN is used for connecting the computer devices of personal use.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Personal computer devices that are used to develop the personal area network are the laptop, mobile phones, media player and play stations.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There are two types of Personal Area Network:</a:t>
            </a:r>
          </a:p>
          <a:p>
            <a:pPr lvl="1"/>
            <a:r>
              <a:rPr lang="en-US" sz="1600" b="1" dirty="0">
                <a:latin typeface="Goudy Old Style" panose="02020502050305020303" pitchFamily="18" charset="0"/>
              </a:rPr>
              <a:t>Wired Personal Area Network (USB)</a:t>
            </a:r>
          </a:p>
          <a:p>
            <a:pPr lvl="1"/>
            <a:r>
              <a:rPr lang="en-US" sz="1600" b="1" dirty="0">
                <a:latin typeface="Goudy Old Style" panose="02020502050305020303" pitchFamily="18" charset="0"/>
              </a:rPr>
              <a:t>Wireless Personal Area Network (</a:t>
            </a:r>
            <a:r>
              <a:rPr lang="en-US" sz="1600" b="1" dirty="0" err="1">
                <a:latin typeface="Goudy Old Style" panose="02020502050305020303" pitchFamily="18" charset="0"/>
              </a:rPr>
              <a:t>Wifi</a:t>
            </a:r>
            <a:r>
              <a:rPr lang="en-US" sz="1600" b="1" dirty="0">
                <a:latin typeface="Goudy Old Style" panose="02020502050305020303" pitchFamily="18" charset="0"/>
              </a:rPr>
              <a:t>, Bluetooth, </a:t>
            </a:r>
            <a:r>
              <a:rPr lang="en-US" sz="1600" b="1" dirty="0" err="1">
                <a:latin typeface="Goudy Old Style" panose="02020502050305020303" pitchFamily="18" charset="0"/>
              </a:rPr>
              <a:t>etc</a:t>
            </a:r>
            <a:r>
              <a:rPr lang="en-US" sz="1600" b="1" dirty="0">
                <a:latin typeface="Goudy Old Style" panose="02020502050305020303" pitchFamily="18" charset="0"/>
              </a:rPr>
              <a:t>)</a:t>
            </a:r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EEA27E-236E-4CA8-8FF1-E48FED5EE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709" y="1782619"/>
            <a:ext cx="4475531" cy="3289515"/>
          </a:xfrm>
          <a:prstGeom prst="rect">
            <a:avLst/>
          </a:prstGeom>
          <a:effectLst/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353B278A-F2B0-F712-6BFA-DC62EAF72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28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896" y="106848"/>
            <a:ext cx="6092950" cy="796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LAN (Local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206776"/>
            <a:ext cx="5827363" cy="44412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Local Area Network is a group of computers connected to each other in a small area such as building, office.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LAN is used for connecting two or more personal computers through a communication medium such as twisted pair, coaxial cable, etc.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It is less costly as it is built with inexpensive hardware such as hubs, network adapters, and ethernet cables.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The data is transferred at an extremely faster rate in Local Area Network.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Local Area Network provides higher security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3A0F7-5313-4BDF-B468-458D73EE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316" y="384446"/>
            <a:ext cx="2853497" cy="251832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1A02FB8E-89C1-C2EA-C87D-EAF5AAE81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0DFA353-DB23-D650-3CFE-63C7F4759F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31256" y="3483652"/>
            <a:ext cx="6092950" cy="3200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921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19" y="229700"/>
            <a:ext cx="6092950" cy="70502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MAN (Metropolitan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76" y="1013758"/>
            <a:ext cx="5940638" cy="388987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A metropolitan area network is a network that covers a larger geographic area by interconnecting different LANs to form a larger network.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9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In MAN, various LANs are connected to each other through a telephone exchange line.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9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Government agencies use MAN to connect to the citizens and private industries.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9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Goudy Old Style" panose="02020502050305020303" pitchFamily="18" charset="0"/>
              </a:rPr>
              <a:t>It has a higher range than Local Area Network(LAN).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E3112-1117-4738-A917-5C28DE160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274" y="759657"/>
            <a:ext cx="5485701" cy="2669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E2BE80-5A0B-4CA1-B66D-1C8F6673F78F}"/>
              </a:ext>
            </a:extLst>
          </p:cNvPr>
          <p:cNvSpPr txBox="1"/>
          <p:nvPr/>
        </p:nvSpPr>
        <p:spPr>
          <a:xfrm>
            <a:off x="152312" y="4903636"/>
            <a:ext cx="59406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latin typeface="Goudy Old Style" panose="02020502050305020303" pitchFamily="18" charset="0"/>
              </a:rPr>
              <a:t>Uses of MAN: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Used in communication between the banks in a city.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It can be used in an Airline Reservation.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It can be used in a college within a city.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Goudy Old Style" panose="02020502050305020303" pitchFamily="18" charset="0"/>
              </a:rPr>
              <a:t> It can also be used for communication in the military.</a:t>
            </a:r>
            <a:endParaRPr lang="en-US" sz="2000" dirty="0">
              <a:latin typeface="Goudy Old Style" panose="02020502050305020303" pitchFamily="18" charset="0"/>
            </a:endParaRPr>
          </a:p>
        </p:txBody>
      </p:sp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A5CF906B-DFF7-7B57-382B-77D7F522A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36E0D7-CA2A-D04F-0019-0BFA30C14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74" y="3815861"/>
            <a:ext cx="5485700" cy="29241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01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841" y="96772"/>
            <a:ext cx="6092950" cy="104601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WAN (Wide Area Network)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776403"/>
            <a:ext cx="5843753" cy="44412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A Wide Area Network is a network that extends over a large geographical area such as states or countries.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A Wide Area Network is quite bigger network than the LAN and MAN.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WAN is not limited to a single location, but it spans over a large geographical area through a telephone line, </a:t>
            </a:r>
            <a:r>
              <a:rPr lang="en-US" sz="2000" dirty="0" err="1">
                <a:latin typeface="Goudy Old Style" panose="02020502050305020303" pitchFamily="18" charset="0"/>
              </a:rPr>
              <a:t>fibre</a:t>
            </a:r>
            <a:r>
              <a:rPr lang="en-US" sz="2000" dirty="0">
                <a:latin typeface="Goudy Old Style" panose="02020502050305020303" pitchFamily="18" charset="0"/>
              </a:rPr>
              <a:t> optic cable or satellite links.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Goudy Old Style" panose="02020502050305020303" pitchFamily="18" charset="0"/>
              </a:rPr>
              <a:t>WAN is widely used in the field of Business, government, and education.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65E810-47A5-4132-86FB-58C1463AB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245" y="114473"/>
            <a:ext cx="5289755" cy="42318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A252CD12-8B0E-7782-2522-8201E3306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EB0613C-6C7B-B559-A9E8-474486DF5D0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7027" y="4558377"/>
            <a:ext cx="5407029" cy="22373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319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03D3-8C16-4513-A299-7DAEE62C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894" y="184109"/>
            <a:ext cx="5693790" cy="64039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Internetwork / Internet</a:t>
            </a:r>
            <a:endParaRPr lang="en-US" sz="3200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D65D-9B38-436E-B980-9BADEC18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2" y="1746414"/>
            <a:ext cx="5843753" cy="5673709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Goudy Old Style" panose="02020502050305020303" pitchFamily="18" charset="0"/>
              </a:rPr>
              <a:t>LANs and WANs may be interconnected into an internetwork – a global mesh of interconnected computer networks. 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An interconnection between public, private, commercial, industrial, or government computer networks can also be defined as internetworking.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An internetworking uses the internet protocol.</a:t>
            </a:r>
          </a:p>
          <a:p>
            <a:pPr algn="just"/>
            <a:endParaRPr lang="en-US" sz="2000" dirty="0">
              <a:latin typeface="Goudy Old Style" panose="02020502050305020303" pitchFamily="18" charset="0"/>
            </a:endParaRPr>
          </a:p>
          <a:p>
            <a:pPr algn="just"/>
            <a:r>
              <a:rPr lang="en-US" sz="2000" dirty="0">
                <a:latin typeface="Goudy Old Style" panose="02020502050305020303" pitchFamily="18" charset="0"/>
              </a:rPr>
              <a:t>The reference model used for internetworking is Open System Interconnection(OSI).</a:t>
            </a:r>
          </a:p>
          <a:p>
            <a:pPr marL="0" indent="0" algn="just">
              <a:buNone/>
            </a:pPr>
            <a:endParaRPr lang="en-US" sz="2000" dirty="0">
              <a:latin typeface="Goudy Old Style" panose="02020502050305020303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B3296-79E1-4125-8ABB-345E96C0B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582" y="1397675"/>
            <a:ext cx="5130204" cy="4133694"/>
          </a:xfrm>
          <a:prstGeom prst="rect">
            <a:avLst/>
          </a:prstGeom>
        </p:spPr>
      </p:pic>
      <p:pic>
        <p:nvPicPr>
          <p:cNvPr id="4" name="Picture 3" descr="KL Deemed to be University Logo">
            <a:extLst>
              <a:ext uri="{FF2B5EF4-FFF2-40B4-BE49-F238E27FC236}">
                <a16:creationId xmlns:a16="http://schemas.microsoft.com/office/drawing/2014/main" id="{756DA4E8-D00C-2805-A543-7E7291082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943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640FB8-13F6-406A-9F9F-6D82581C5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930" y="928468"/>
            <a:ext cx="7557208" cy="5258019"/>
          </a:xfrm>
          <a:prstGeom prst="rect">
            <a:avLst/>
          </a:prstGeom>
        </p:spPr>
      </p:pic>
      <p:pic>
        <p:nvPicPr>
          <p:cNvPr id="5" name="Picture 4" descr="KL Deemed to be University Logo">
            <a:extLst>
              <a:ext uri="{FF2B5EF4-FFF2-40B4-BE49-F238E27FC236}">
                <a16:creationId xmlns:a16="http://schemas.microsoft.com/office/drawing/2014/main" id="{A01D927E-FD3F-D124-E228-EBFB61C80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163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675250" y="929962"/>
            <a:ext cx="11408898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1. Two or more computers connected close together in a local area e.g. building or office is called?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PAN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sz="1600" dirty="0"/>
              <a:t>LAN</a:t>
            </a:r>
          </a:p>
          <a:p>
            <a:pPr marL="342900" indent="-342900">
              <a:buAutoNum type="alphaLcParenBoth"/>
            </a:pPr>
            <a:r>
              <a:rPr lang="en-US" sz="1600" dirty="0"/>
              <a:t>MAN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WAN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675250" y="2872641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2. Which of the following shows the correct arrangement of networks from the smallest to the largest network?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WAN, LAN, MAN</a:t>
            </a:r>
          </a:p>
          <a:p>
            <a:pPr marL="342900" indent="-342900">
              <a:buAutoNum type="alphaLcParenBoth"/>
            </a:pPr>
            <a:r>
              <a:rPr lang="en-US" dirty="0"/>
              <a:t>LAN, MAN, WAN</a:t>
            </a:r>
          </a:p>
          <a:p>
            <a:pPr marL="342900" indent="-342900">
              <a:buAutoNum type="alphaLcParenBoth"/>
            </a:pPr>
            <a:r>
              <a:rPr lang="en-US" dirty="0"/>
              <a:t>WAN, MAN, LAN</a:t>
            </a:r>
          </a:p>
          <a:p>
            <a:pPr marL="342900" indent="-342900">
              <a:buAutoNum type="alphaLcParenBoth"/>
            </a:pPr>
            <a:r>
              <a:rPr lang="en-US" dirty="0"/>
              <a:t>LAN, WAN, MAN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675250" y="5003206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What is the purpose of a WAN?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5086106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To allow computers to communicate with each other in the same area</a:t>
            </a:r>
          </a:p>
          <a:p>
            <a:pPr marL="342900" indent="-342900">
              <a:buAutoNum type="alphaLcParenBoth"/>
            </a:pPr>
            <a:r>
              <a:rPr lang="en-US" dirty="0"/>
              <a:t>To allow computers to communicate with each other - anywhere in the world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50143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QUESTIONS: Answers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675250" y="929962"/>
            <a:ext cx="11408898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1. Two or more computers connected close together in a local area e.g. building or office is called?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PAN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MAN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LAN</a:t>
            </a:r>
            <a:endParaRPr lang="en-US" sz="1600" dirty="0"/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WAN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675250" y="2872641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2. Which of the following shows the correct arrangement of networks from the smallest to the largest network?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WAN, LAN, MAN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LAN, MAN, WAN</a:t>
            </a:r>
          </a:p>
          <a:p>
            <a:pPr marL="342900" indent="-342900">
              <a:buAutoNum type="alphaLcParenBoth"/>
            </a:pPr>
            <a:r>
              <a:rPr lang="en-US" sz="1600" dirty="0"/>
              <a:t>WAN, MAN, LAN</a:t>
            </a:r>
          </a:p>
          <a:p>
            <a:pPr marL="342900" indent="-342900">
              <a:buAutoNum type="alphaLcParenBoth"/>
            </a:pPr>
            <a:r>
              <a:rPr lang="en-US" sz="1600" dirty="0"/>
              <a:t>LAN, WAN, MAN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675250" y="5003206"/>
            <a:ext cx="11408898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What is the purpose of a WAN?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5086106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To allow computers to communicate with each other in the same area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To allow computers to communicate with each other - anywhere in the world</a:t>
            </a:r>
            <a:endParaRPr lang="en-US" sz="1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428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623277"/>
            <a:ext cx="5761220" cy="32733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Network types based on Technology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Network types based on Geographical Scale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B924FF-6533-FF88-AA71-2E5ECFCA3731}"/>
              </a:ext>
            </a:extLst>
          </p:cNvPr>
          <p:cNvSpPr txBox="1"/>
          <p:nvPr/>
        </p:nvSpPr>
        <p:spPr>
          <a:xfrm>
            <a:off x="6096000" y="633046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E236D47D-7683-1FE4-FA88-116740584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867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255348" cy="123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</a:t>
            </a:r>
            <a:r>
              <a:rPr lang="en-US" sz="2000" dirty="0"/>
              <a:t>Describe the network types based on transmission technology.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Describe the network types based on their scale. 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1021</TotalTime>
  <Words>1264</Words>
  <Application>Microsoft Office PowerPoint</Application>
  <PresentationFormat>Widescreen</PresentationFormat>
  <Paragraphs>190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BioRhyme ExtraBold</vt:lpstr>
      <vt:lpstr>Bookman Old Style</vt:lpstr>
      <vt:lpstr>Calibri</vt:lpstr>
      <vt:lpstr>Goudy Old Style</vt:lpstr>
      <vt:lpstr>Poppins</vt:lpstr>
      <vt:lpstr>Wingdings</vt:lpstr>
      <vt:lpstr>1_Office Theme</vt:lpstr>
      <vt:lpstr>PowerPoint Presentation</vt:lpstr>
      <vt:lpstr>PowerPoint Presentation</vt:lpstr>
      <vt:lpstr>PowerPoint Presentation</vt:lpstr>
      <vt:lpstr>Transmission is actually the process of sending and propagating signals of digital information.   Transmission technology generally refers to physical layer protocol duties like modulation, demodulation, line coding, etc. </vt:lpstr>
      <vt:lpstr>Transmission Technology…</vt:lpstr>
      <vt:lpstr>Transmission Technology…</vt:lpstr>
      <vt:lpstr>Transmission Technology…</vt:lpstr>
      <vt:lpstr>Transmission Technology…</vt:lpstr>
      <vt:lpstr>PowerPoint Presentation</vt:lpstr>
      <vt:lpstr>PAN (Personal Area Network)</vt:lpstr>
      <vt:lpstr>LAN (Local Area Network)</vt:lpstr>
      <vt:lpstr>MAN (Metropolitan Area Network)</vt:lpstr>
      <vt:lpstr>WAN (Wide Area Network)</vt:lpstr>
      <vt:lpstr>Internetwork / Internet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GORLA VENKATA GANESH</cp:lastModifiedBy>
  <cp:revision>50</cp:revision>
  <dcterms:created xsi:type="dcterms:W3CDTF">2020-02-08T09:57:44Z</dcterms:created>
  <dcterms:modified xsi:type="dcterms:W3CDTF">2025-12-17T06:29:26Z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