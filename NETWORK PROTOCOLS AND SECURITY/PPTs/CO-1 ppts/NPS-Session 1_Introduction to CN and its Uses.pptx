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1"/>
  </p:notesMasterIdLst>
  <p:sldIdLst>
    <p:sldId id="271" r:id="rId5"/>
    <p:sldId id="300" r:id="rId6"/>
    <p:sldId id="258" r:id="rId7"/>
    <p:sldId id="306" r:id="rId8"/>
    <p:sldId id="260" r:id="rId9"/>
    <p:sldId id="261" r:id="rId10"/>
    <p:sldId id="262" r:id="rId11"/>
    <p:sldId id="263" r:id="rId12"/>
    <p:sldId id="264" r:id="rId13"/>
    <p:sldId id="265" r:id="rId14"/>
    <p:sldId id="266" r:id="rId15"/>
    <p:sldId id="269" r:id="rId16"/>
    <p:sldId id="268" r:id="rId17"/>
    <p:sldId id="267" r:id="rId18"/>
    <p:sldId id="259" r:id="rId19"/>
    <p:sldId id="270" r:id="rId20"/>
    <p:sldId id="307" r:id="rId21"/>
    <p:sldId id="309" r:id="rId22"/>
    <p:sldId id="272" r:id="rId23"/>
    <p:sldId id="273" r:id="rId24"/>
    <p:sldId id="301" r:id="rId25"/>
    <p:sldId id="308" r:id="rId26"/>
    <p:sldId id="274" r:id="rId27"/>
    <p:sldId id="302" r:id="rId28"/>
    <p:sldId id="303" r:id="rId29"/>
    <p:sldId id="304"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A2532"/>
    <a:srgbClr val="FF9900"/>
    <a:srgbClr val="E84845"/>
    <a:srgbClr val="FAD2D2"/>
    <a:srgbClr val="F89E4C"/>
    <a:srgbClr val="A81E24"/>
    <a:srgbClr val="FFF2CC"/>
    <a:srgbClr val="CF2F33"/>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CFDFFE-ECD9-4AD0-BBF1-EB9C42B8909D}" v="1" dt="2026-02-01T17:16:49.916"/>
  </p1510:revLst>
</p1510:revInfo>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89"/>
  </p:normalViewPr>
  <p:slideViewPr>
    <p:cSldViewPr snapToGrid="0">
      <p:cViewPr varScale="1">
        <p:scale>
          <a:sx n="78" d="100"/>
          <a:sy n="78" d="100"/>
        </p:scale>
        <p:origin x="850"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sha Abhi" userId="f8e599a9041de5bd" providerId="LiveId" clId="{9D37986F-7FA2-4F02-BE92-E904027728D3}"/>
    <pc:docChg chg="custSel addSld modSld">
      <pc:chgData name="Harsha Abhi" userId="f8e599a9041de5bd" providerId="LiveId" clId="{9D37986F-7FA2-4F02-BE92-E904027728D3}" dt="2026-02-01T17:17:27.841" v="14" actId="14100"/>
      <pc:docMkLst>
        <pc:docMk/>
      </pc:docMkLst>
      <pc:sldChg chg="delSp modSp mod delAnim">
        <pc:chgData name="Harsha Abhi" userId="f8e599a9041de5bd" providerId="LiveId" clId="{9D37986F-7FA2-4F02-BE92-E904027728D3}" dt="2026-02-01T17:17:27.841" v="14" actId="14100"/>
        <pc:sldMkLst>
          <pc:docMk/>
          <pc:sldMk cId="838369978" sldId="307"/>
        </pc:sldMkLst>
        <pc:picChg chg="mod">
          <ac:chgData name="Harsha Abhi" userId="f8e599a9041de5bd" providerId="LiveId" clId="{9D37986F-7FA2-4F02-BE92-E904027728D3}" dt="2026-02-01T17:17:27.841" v="14" actId="14100"/>
          <ac:picMkLst>
            <pc:docMk/>
            <pc:sldMk cId="838369978" sldId="307"/>
            <ac:picMk id="5" creationId="{5CBD2E4D-861A-4898-9029-56AF3E2E4575}"/>
          </ac:picMkLst>
        </pc:picChg>
        <pc:picChg chg="del mod">
          <ac:chgData name="Harsha Abhi" userId="f8e599a9041de5bd" providerId="LiveId" clId="{9D37986F-7FA2-4F02-BE92-E904027728D3}" dt="2026-02-01T17:16:46.819" v="6" actId="21"/>
          <ac:picMkLst>
            <pc:docMk/>
            <pc:sldMk cId="838369978" sldId="307"/>
            <ac:picMk id="7" creationId="{468A4CBA-4F5F-471C-BCE3-83F8BF15A6AF}"/>
          </ac:picMkLst>
        </pc:picChg>
      </pc:sldChg>
      <pc:sldChg chg="addSp delSp modSp new mod modAnim">
        <pc:chgData name="Harsha Abhi" userId="f8e599a9041de5bd" providerId="LiveId" clId="{9D37986F-7FA2-4F02-BE92-E904027728D3}" dt="2026-02-01T17:17:02.872" v="11" actId="14100"/>
        <pc:sldMkLst>
          <pc:docMk/>
          <pc:sldMk cId="1586010445" sldId="309"/>
        </pc:sldMkLst>
        <pc:spChg chg="del">
          <ac:chgData name="Harsha Abhi" userId="f8e599a9041de5bd" providerId="LiveId" clId="{9D37986F-7FA2-4F02-BE92-E904027728D3}" dt="2026-02-01T17:16:49.916" v="7"/>
          <ac:spMkLst>
            <pc:docMk/>
            <pc:sldMk cId="1586010445" sldId="309"/>
            <ac:spMk id="3" creationId="{4BFB8A41-B0DE-90BA-8D6B-7BB0C90B4698}"/>
          </ac:spMkLst>
        </pc:spChg>
        <pc:picChg chg="add mod">
          <ac:chgData name="Harsha Abhi" userId="f8e599a9041de5bd" providerId="LiveId" clId="{9D37986F-7FA2-4F02-BE92-E904027728D3}" dt="2026-02-01T17:17:02.872" v="11" actId="14100"/>
          <ac:picMkLst>
            <pc:docMk/>
            <pc:sldMk cId="1586010445" sldId="309"/>
            <ac:picMk id="7" creationId="{468A4CBA-4F5F-471C-BCE3-83F8BF15A6AF}"/>
          </ac:picMkLst>
        </pc:pic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s>
</file>

<file path=ppt/diagrams/_rels/drawing1.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B2443E5-BE03-4EC8-9684-C10F4F7406DC}"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3E2F3340-3F94-4D2E-B6E6-C83F8C7A669D}">
      <dgm:prSet/>
      <dgm:spPr/>
      <dgm:t>
        <a:bodyPr/>
        <a:lstStyle/>
        <a:p>
          <a:pPr>
            <a:lnSpc>
              <a:spcPct val="100000"/>
            </a:lnSpc>
          </a:pPr>
          <a:r>
            <a:rPr lang="en-US" dirty="0"/>
            <a:t>Business Applications</a:t>
          </a:r>
        </a:p>
      </dgm:t>
    </dgm:pt>
    <dgm:pt modelId="{EC63C06A-3033-4E27-857F-0F59D9EC4CA9}" type="parTrans" cxnId="{361BF315-CC59-4618-A2B3-76DF78A523E1}">
      <dgm:prSet/>
      <dgm:spPr/>
      <dgm:t>
        <a:bodyPr/>
        <a:lstStyle/>
        <a:p>
          <a:endParaRPr lang="en-US"/>
        </a:p>
      </dgm:t>
    </dgm:pt>
    <dgm:pt modelId="{EF216556-88CD-4D6B-98BE-799EE8A8C613}" type="sibTrans" cxnId="{361BF315-CC59-4618-A2B3-76DF78A523E1}">
      <dgm:prSet/>
      <dgm:spPr/>
      <dgm:t>
        <a:bodyPr/>
        <a:lstStyle/>
        <a:p>
          <a:pPr>
            <a:lnSpc>
              <a:spcPct val="100000"/>
            </a:lnSpc>
          </a:pPr>
          <a:endParaRPr lang="en-US"/>
        </a:p>
      </dgm:t>
    </dgm:pt>
    <dgm:pt modelId="{F3DE35D2-8338-4333-AF44-F180C94976AF}">
      <dgm:prSet/>
      <dgm:spPr/>
      <dgm:t>
        <a:bodyPr/>
        <a:lstStyle/>
        <a:p>
          <a:pPr>
            <a:lnSpc>
              <a:spcPct val="100000"/>
            </a:lnSpc>
          </a:pPr>
          <a:r>
            <a:rPr lang="en-US"/>
            <a:t>Home Applications</a:t>
          </a:r>
        </a:p>
      </dgm:t>
    </dgm:pt>
    <dgm:pt modelId="{E03BF08B-C749-4596-A97B-8018CF367DB8}" type="parTrans" cxnId="{02773B4D-DA7B-4046-823A-0B764AA4CCB7}">
      <dgm:prSet/>
      <dgm:spPr/>
      <dgm:t>
        <a:bodyPr/>
        <a:lstStyle/>
        <a:p>
          <a:endParaRPr lang="en-US"/>
        </a:p>
      </dgm:t>
    </dgm:pt>
    <dgm:pt modelId="{FE1D6559-473D-4023-9B6C-8F616D61596B}" type="sibTrans" cxnId="{02773B4D-DA7B-4046-823A-0B764AA4CCB7}">
      <dgm:prSet/>
      <dgm:spPr/>
      <dgm:t>
        <a:bodyPr/>
        <a:lstStyle/>
        <a:p>
          <a:pPr>
            <a:lnSpc>
              <a:spcPct val="100000"/>
            </a:lnSpc>
          </a:pPr>
          <a:endParaRPr lang="en-US"/>
        </a:p>
      </dgm:t>
    </dgm:pt>
    <dgm:pt modelId="{8377F9FB-4CE2-49D8-9742-B3E8380C5C82}">
      <dgm:prSet/>
      <dgm:spPr/>
      <dgm:t>
        <a:bodyPr/>
        <a:lstStyle/>
        <a:p>
          <a:pPr>
            <a:lnSpc>
              <a:spcPct val="100000"/>
            </a:lnSpc>
          </a:pPr>
          <a:r>
            <a:rPr lang="en-US"/>
            <a:t>Mobile Users</a:t>
          </a:r>
        </a:p>
      </dgm:t>
    </dgm:pt>
    <dgm:pt modelId="{4466A543-9CFC-4B39-A731-6BBC3D3D95C4}" type="parTrans" cxnId="{56613E68-D3D4-4E90-9888-4CEF1CB22869}">
      <dgm:prSet/>
      <dgm:spPr/>
      <dgm:t>
        <a:bodyPr/>
        <a:lstStyle/>
        <a:p>
          <a:endParaRPr lang="en-US"/>
        </a:p>
      </dgm:t>
    </dgm:pt>
    <dgm:pt modelId="{AE88CEC1-5BFC-4DA3-8EF4-97AABB9D9150}" type="sibTrans" cxnId="{56613E68-D3D4-4E90-9888-4CEF1CB22869}">
      <dgm:prSet/>
      <dgm:spPr/>
      <dgm:t>
        <a:bodyPr/>
        <a:lstStyle/>
        <a:p>
          <a:pPr>
            <a:lnSpc>
              <a:spcPct val="100000"/>
            </a:lnSpc>
          </a:pPr>
          <a:endParaRPr lang="en-US"/>
        </a:p>
      </dgm:t>
    </dgm:pt>
    <dgm:pt modelId="{A10F3A40-8562-498E-8856-F1CFD9BD48E3}">
      <dgm:prSet/>
      <dgm:spPr/>
      <dgm:t>
        <a:bodyPr/>
        <a:lstStyle/>
        <a:p>
          <a:pPr>
            <a:lnSpc>
              <a:spcPct val="100000"/>
            </a:lnSpc>
          </a:pPr>
          <a:r>
            <a:rPr lang="en-US"/>
            <a:t>Social Issues</a:t>
          </a:r>
        </a:p>
      </dgm:t>
    </dgm:pt>
    <dgm:pt modelId="{0177F9B7-1C3B-4837-B77D-016705A8D33C}" type="parTrans" cxnId="{375A19C4-7DEF-482A-9A1F-BED7AE41EFFA}">
      <dgm:prSet/>
      <dgm:spPr/>
      <dgm:t>
        <a:bodyPr/>
        <a:lstStyle/>
        <a:p>
          <a:endParaRPr lang="en-US"/>
        </a:p>
      </dgm:t>
    </dgm:pt>
    <dgm:pt modelId="{45558DEC-9EB6-413C-97CC-550B0D779B66}" type="sibTrans" cxnId="{375A19C4-7DEF-482A-9A1F-BED7AE41EFFA}">
      <dgm:prSet/>
      <dgm:spPr/>
      <dgm:t>
        <a:bodyPr/>
        <a:lstStyle/>
        <a:p>
          <a:endParaRPr lang="en-US"/>
        </a:p>
      </dgm:t>
    </dgm:pt>
    <dgm:pt modelId="{D4705824-D43A-40B5-8C19-E56F278ED72C}" type="pres">
      <dgm:prSet presAssocID="{DB2443E5-BE03-4EC8-9684-C10F4F7406DC}" presName="root" presStyleCnt="0">
        <dgm:presLayoutVars>
          <dgm:dir/>
          <dgm:resizeHandles val="exact"/>
        </dgm:presLayoutVars>
      </dgm:prSet>
      <dgm:spPr/>
    </dgm:pt>
    <dgm:pt modelId="{876AE036-2E67-4E22-9CA8-04AFAA14A4FD}" type="pres">
      <dgm:prSet presAssocID="{DB2443E5-BE03-4EC8-9684-C10F4F7406DC}" presName="container" presStyleCnt="0">
        <dgm:presLayoutVars>
          <dgm:dir/>
          <dgm:resizeHandles val="exact"/>
        </dgm:presLayoutVars>
      </dgm:prSet>
      <dgm:spPr/>
    </dgm:pt>
    <dgm:pt modelId="{A90E4EEE-9998-4E06-8C9B-D83035675B50}" type="pres">
      <dgm:prSet presAssocID="{3E2F3340-3F94-4D2E-B6E6-C83F8C7A669D}" presName="compNode" presStyleCnt="0"/>
      <dgm:spPr/>
    </dgm:pt>
    <dgm:pt modelId="{136167AD-AC4E-4606-897F-CC158F92C8E6}" type="pres">
      <dgm:prSet presAssocID="{3E2F3340-3F94-4D2E-B6E6-C83F8C7A669D}" presName="iconBgRect" presStyleLbl="bgShp" presStyleIdx="0" presStyleCnt="4"/>
      <dgm:spPr/>
    </dgm:pt>
    <dgm:pt modelId="{C2EB35AF-794E-4DE7-BEC4-7977E37E2D2F}" type="pres">
      <dgm:prSet presAssocID="{3E2F3340-3F94-4D2E-B6E6-C83F8C7A669D}"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ity"/>
        </a:ext>
      </dgm:extLst>
    </dgm:pt>
    <dgm:pt modelId="{0F18D018-C6E5-44AC-8522-8410B652945D}" type="pres">
      <dgm:prSet presAssocID="{3E2F3340-3F94-4D2E-B6E6-C83F8C7A669D}" presName="spaceRect" presStyleCnt="0"/>
      <dgm:spPr/>
    </dgm:pt>
    <dgm:pt modelId="{6530FCE3-C290-496B-A22A-D654CDF8B7D3}" type="pres">
      <dgm:prSet presAssocID="{3E2F3340-3F94-4D2E-B6E6-C83F8C7A669D}" presName="textRect" presStyleLbl="revTx" presStyleIdx="0" presStyleCnt="4">
        <dgm:presLayoutVars>
          <dgm:chMax val="1"/>
          <dgm:chPref val="1"/>
        </dgm:presLayoutVars>
      </dgm:prSet>
      <dgm:spPr/>
    </dgm:pt>
    <dgm:pt modelId="{FD5552A3-95C3-446E-A40E-E332261ADAFD}" type="pres">
      <dgm:prSet presAssocID="{EF216556-88CD-4D6B-98BE-799EE8A8C613}" presName="sibTrans" presStyleLbl="sibTrans2D1" presStyleIdx="0" presStyleCnt="0"/>
      <dgm:spPr/>
    </dgm:pt>
    <dgm:pt modelId="{DD611BC4-3D0A-42C9-8CDD-63760B344712}" type="pres">
      <dgm:prSet presAssocID="{F3DE35D2-8338-4333-AF44-F180C94976AF}" presName="compNode" presStyleCnt="0"/>
      <dgm:spPr/>
    </dgm:pt>
    <dgm:pt modelId="{47649ABF-38C9-4586-950B-73833543F37E}" type="pres">
      <dgm:prSet presAssocID="{F3DE35D2-8338-4333-AF44-F180C94976AF}" presName="iconBgRect" presStyleLbl="bgShp" presStyleIdx="1" presStyleCnt="4"/>
      <dgm:spPr/>
    </dgm:pt>
    <dgm:pt modelId="{1A3F140C-068D-478D-A831-1AAECBE9304A}" type="pres">
      <dgm:prSet presAssocID="{F3DE35D2-8338-4333-AF44-F180C94976AF}"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ouse"/>
        </a:ext>
      </dgm:extLst>
    </dgm:pt>
    <dgm:pt modelId="{3ED937BD-5C07-499D-A573-92E7717A32FC}" type="pres">
      <dgm:prSet presAssocID="{F3DE35D2-8338-4333-AF44-F180C94976AF}" presName="spaceRect" presStyleCnt="0"/>
      <dgm:spPr/>
    </dgm:pt>
    <dgm:pt modelId="{D52F0FC4-C17A-4717-A4B7-22F97443C806}" type="pres">
      <dgm:prSet presAssocID="{F3DE35D2-8338-4333-AF44-F180C94976AF}" presName="textRect" presStyleLbl="revTx" presStyleIdx="1" presStyleCnt="4">
        <dgm:presLayoutVars>
          <dgm:chMax val="1"/>
          <dgm:chPref val="1"/>
        </dgm:presLayoutVars>
      </dgm:prSet>
      <dgm:spPr/>
    </dgm:pt>
    <dgm:pt modelId="{9463A89B-1822-45CF-A527-3E3016CBE545}" type="pres">
      <dgm:prSet presAssocID="{FE1D6559-473D-4023-9B6C-8F616D61596B}" presName="sibTrans" presStyleLbl="sibTrans2D1" presStyleIdx="0" presStyleCnt="0"/>
      <dgm:spPr/>
    </dgm:pt>
    <dgm:pt modelId="{A09F3C21-097E-4EBD-8559-CAFC7BB362AA}" type="pres">
      <dgm:prSet presAssocID="{8377F9FB-4CE2-49D8-9742-B3E8380C5C82}" presName="compNode" presStyleCnt="0"/>
      <dgm:spPr/>
    </dgm:pt>
    <dgm:pt modelId="{A21C0643-C6CA-477E-983F-6F61B92F5E6E}" type="pres">
      <dgm:prSet presAssocID="{8377F9FB-4CE2-49D8-9742-B3E8380C5C82}" presName="iconBgRect" presStyleLbl="bgShp" presStyleIdx="2" presStyleCnt="4"/>
      <dgm:spPr/>
    </dgm:pt>
    <dgm:pt modelId="{41A2230F-3643-414A-B647-B3B15F2894BD}" type="pres">
      <dgm:prSet presAssocID="{8377F9FB-4CE2-49D8-9742-B3E8380C5C82}"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mart Phone"/>
        </a:ext>
      </dgm:extLst>
    </dgm:pt>
    <dgm:pt modelId="{56DA5083-60C1-43C4-8209-2D8D2C6623B0}" type="pres">
      <dgm:prSet presAssocID="{8377F9FB-4CE2-49D8-9742-B3E8380C5C82}" presName="spaceRect" presStyleCnt="0"/>
      <dgm:spPr/>
    </dgm:pt>
    <dgm:pt modelId="{4436F0B2-0A3D-40EF-9B0F-F723035C056C}" type="pres">
      <dgm:prSet presAssocID="{8377F9FB-4CE2-49D8-9742-B3E8380C5C82}" presName="textRect" presStyleLbl="revTx" presStyleIdx="2" presStyleCnt="4">
        <dgm:presLayoutVars>
          <dgm:chMax val="1"/>
          <dgm:chPref val="1"/>
        </dgm:presLayoutVars>
      </dgm:prSet>
      <dgm:spPr/>
    </dgm:pt>
    <dgm:pt modelId="{9E344BF6-13C5-4726-AF1D-C96DF4F24854}" type="pres">
      <dgm:prSet presAssocID="{AE88CEC1-5BFC-4DA3-8EF4-97AABB9D9150}" presName="sibTrans" presStyleLbl="sibTrans2D1" presStyleIdx="0" presStyleCnt="0"/>
      <dgm:spPr/>
    </dgm:pt>
    <dgm:pt modelId="{CDAD3DD3-1AEB-4B3C-B8F9-49E15BCB67EA}" type="pres">
      <dgm:prSet presAssocID="{A10F3A40-8562-498E-8856-F1CFD9BD48E3}" presName="compNode" presStyleCnt="0"/>
      <dgm:spPr/>
    </dgm:pt>
    <dgm:pt modelId="{8994D994-BAD6-4EF4-90B5-8FAFC86DE361}" type="pres">
      <dgm:prSet presAssocID="{A10F3A40-8562-498E-8856-F1CFD9BD48E3}" presName="iconBgRect" presStyleLbl="bgShp" presStyleIdx="3" presStyleCnt="4"/>
      <dgm:spPr/>
    </dgm:pt>
    <dgm:pt modelId="{E0F8BB2B-7993-4BBC-9D4F-4B2D3EBFFF1F}" type="pres">
      <dgm:prSet presAssocID="{A10F3A40-8562-498E-8856-F1CFD9BD48E3}"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Group"/>
        </a:ext>
      </dgm:extLst>
    </dgm:pt>
    <dgm:pt modelId="{8F31891E-368D-47B8-A24A-EE7AE5A4AF53}" type="pres">
      <dgm:prSet presAssocID="{A10F3A40-8562-498E-8856-F1CFD9BD48E3}" presName="spaceRect" presStyleCnt="0"/>
      <dgm:spPr/>
    </dgm:pt>
    <dgm:pt modelId="{E90BF43C-FA3D-4D30-A9F4-961BFBCDB0DA}" type="pres">
      <dgm:prSet presAssocID="{A10F3A40-8562-498E-8856-F1CFD9BD48E3}" presName="textRect" presStyleLbl="revTx" presStyleIdx="3" presStyleCnt="4">
        <dgm:presLayoutVars>
          <dgm:chMax val="1"/>
          <dgm:chPref val="1"/>
        </dgm:presLayoutVars>
      </dgm:prSet>
      <dgm:spPr/>
    </dgm:pt>
  </dgm:ptLst>
  <dgm:cxnLst>
    <dgm:cxn modelId="{CC709D05-B376-4FAE-AD1C-8469290AD730}" type="presOf" srcId="{DB2443E5-BE03-4EC8-9684-C10F4F7406DC}" destId="{D4705824-D43A-40B5-8C19-E56F278ED72C}" srcOrd="0" destOrd="0" presId="urn:microsoft.com/office/officeart/2018/2/layout/IconCircleList"/>
    <dgm:cxn modelId="{4E26D30C-5582-4E3C-96DC-BC1692F6A23F}" type="presOf" srcId="{8377F9FB-4CE2-49D8-9742-B3E8380C5C82}" destId="{4436F0B2-0A3D-40EF-9B0F-F723035C056C}" srcOrd="0" destOrd="0" presId="urn:microsoft.com/office/officeart/2018/2/layout/IconCircleList"/>
    <dgm:cxn modelId="{361BF315-CC59-4618-A2B3-76DF78A523E1}" srcId="{DB2443E5-BE03-4EC8-9684-C10F4F7406DC}" destId="{3E2F3340-3F94-4D2E-B6E6-C83F8C7A669D}" srcOrd="0" destOrd="0" parTransId="{EC63C06A-3033-4E27-857F-0F59D9EC4CA9}" sibTransId="{EF216556-88CD-4D6B-98BE-799EE8A8C613}"/>
    <dgm:cxn modelId="{9ECA8A34-9CE5-4F07-BEE9-8E056B411D86}" type="presOf" srcId="{AE88CEC1-5BFC-4DA3-8EF4-97AABB9D9150}" destId="{9E344BF6-13C5-4726-AF1D-C96DF4F24854}" srcOrd="0" destOrd="0" presId="urn:microsoft.com/office/officeart/2018/2/layout/IconCircleList"/>
    <dgm:cxn modelId="{56613E68-D3D4-4E90-9888-4CEF1CB22869}" srcId="{DB2443E5-BE03-4EC8-9684-C10F4F7406DC}" destId="{8377F9FB-4CE2-49D8-9742-B3E8380C5C82}" srcOrd="2" destOrd="0" parTransId="{4466A543-9CFC-4B39-A731-6BBC3D3D95C4}" sibTransId="{AE88CEC1-5BFC-4DA3-8EF4-97AABB9D9150}"/>
    <dgm:cxn modelId="{02773B4D-DA7B-4046-823A-0B764AA4CCB7}" srcId="{DB2443E5-BE03-4EC8-9684-C10F4F7406DC}" destId="{F3DE35D2-8338-4333-AF44-F180C94976AF}" srcOrd="1" destOrd="0" parTransId="{E03BF08B-C749-4596-A97B-8018CF367DB8}" sibTransId="{FE1D6559-473D-4023-9B6C-8F616D61596B}"/>
    <dgm:cxn modelId="{5DD4B551-42B3-487A-A596-B14C6B5A83B4}" type="presOf" srcId="{3E2F3340-3F94-4D2E-B6E6-C83F8C7A669D}" destId="{6530FCE3-C290-496B-A22A-D654CDF8B7D3}" srcOrd="0" destOrd="0" presId="urn:microsoft.com/office/officeart/2018/2/layout/IconCircleList"/>
    <dgm:cxn modelId="{43F47D5A-49C3-49FA-86BD-CD5BC4A53DF2}" type="presOf" srcId="{FE1D6559-473D-4023-9B6C-8F616D61596B}" destId="{9463A89B-1822-45CF-A527-3E3016CBE545}" srcOrd="0" destOrd="0" presId="urn:microsoft.com/office/officeart/2018/2/layout/IconCircleList"/>
    <dgm:cxn modelId="{6652AF84-A787-4119-A75E-A83F84CF5B6E}" type="presOf" srcId="{EF216556-88CD-4D6B-98BE-799EE8A8C613}" destId="{FD5552A3-95C3-446E-A40E-E332261ADAFD}" srcOrd="0" destOrd="0" presId="urn:microsoft.com/office/officeart/2018/2/layout/IconCircleList"/>
    <dgm:cxn modelId="{797A23BD-9491-4269-A482-845090222E3A}" type="presOf" srcId="{A10F3A40-8562-498E-8856-F1CFD9BD48E3}" destId="{E90BF43C-FA3D-4D30-A9F4-961BFBCDB0DA}" srcOrd="0" destOrd="0" presId="urn:microsoft.com/office/officeart/2018/2/layout/IconCircleList"/>
    <dgm:cxn modelId="{375A19C4-7DEF-482A-9A1F-BED7AE41EFFA}" srcId="{DB2443E5-BE03-4EC8-9684-C10F4F7406DC}" destId="{A10F3A40-8562-498E-8856-F1CFD9BD48E3}" srcOrd="3" destOrd="0" parTransId="{0177F9B7-1C3B-4837-B77D-016705A8D33C}" sibTransId="{45558DEC-9EB6-413C-97CC-550B0D779B66}"/>
    <dgm:cxn modelId="{D63EF4F3-4647-4C13-8B2C-E71009B172E9}" type="presOf" srcId="{F3DE35D2-8338-4333-AF44-F180C94976AF}" destId="{D52F0FC4-C17A-4717-A4B7-22F97443C806}" srcOrd="0" destOrd="0" presId="urn:microsoft.com/office/officeart/2018/2/layout/IconCircleList"/>
    <dgm:cxn modelId="{04820432-FF38-4823-A826-4ABE646B16E4}" type="presParOf" srcId="{D4705824-D43A-40B5-8C19-E56F278ED72C}" destId="{876AE036-2E67-4E22-9CA8-04AFAA14A4FD}" srcOrd="0" destOrd="0" presId="urn:microsoft.com/office/officeart/2018/2/layout/IconCircleList"/>
    <dgm:cxn modelId="{07FFF4A2-B977-4317-B87A-CBFFCA6D0133}" type="presParOf" srcId="{876AE036-2E67-4E22-9CA8-04AFAA14A4FD}" destId="{A90E4EEE-9998-4E06-8C9B-D83035675B50}" srcOrd="0" destOrd="0" presId="urn:microsoft.com/office/officeart/2018/2/layout/IconCircleList"/>
    <dgm:cxn modelId="{DB7B6D40-A56B-4045-A39E-ECCCF960DCEA}" type="presParOf" srcId="{A90E4EEE-9998-4E06-8C9B-D83035675B50}" destId="{136167AD-AC4E-4606-897F-CC158F92C8E6}" srcOrd="0" destOrd="0" presId="urn:microsoft.com/office/officeart/2018/2/layout/IconCircleList"/>
    <dgm:cxn modelId="{2A614A71-5A1B-45A6-898C-ED3B36EF808A}" type="presParOf" srcId="{A90E4EEE-9998-4E06-8C9B-D83035675B50}" destId="{C2EB35AF-794E-4DE7-BEC4-7977E37E2D2F}" srcOrd="1" destOrd="0" presId="urn:microsoft.com/office/officeart/2018/2/layout/IconCircleList"/>
    <dgm:cxn modelId="{2DAC44B5-1EA4-45C0-9C89-DB8516842557}" type="presParOf" srcId="{A90E4EEE-9998-4E06-8C9B-D83035675B50}" destId="{0F18D018-C6E5-44AC-8522-8410B652945D}" srcOrd="2" destOrd="0" presId="urn:microsoft.com/office/officeart/2018/2/layout/IconCircleList"/>
    <dgm:cxn modelId="{FEF6625F-FFC5-4EE9-A63D-D3AC7C1637CC}" type="presParOf" srcId="{A90E4EEE-9998-4E06-8C9B-D83035675B50}" destId="{6530FCE3-C290-496B-A22A-D654CDF8B7D3}" srcOrd="3" destOrd="0" presId="urn:microsoft.com/office/officeart/2018/2/layout/IconCircleList"/>
    <dgm:cxn modelId="{38F50007-2872-412B-80D0-E81CCD238BAC}" type="presParOf" srcId="{876AE036-2E67-4E22-9CA8-04AFAA14A4FD}" destId="{FD5552A3-95C3-446E-A40E-E332261ADAFD}" srcOrd="1" destOrd="0" presId="urn:microsoft.com/office/officeart/2018/2/layout/IconCircleList"/>
    <dgm:cxn modelId="{AE422454-8E95-4B32-8029-74DED52033AE}" type="presParOf" srcId="{876AE036-2E67-4E22-9CA8-04AFAA14A4FD}" destId="{DD611BC4-3D0A-42C9-8CDD-63760B344712}" srcOrd="2" destOrd="0" presId="urn:microsoft.com/office/officeart/2018/2/layout/IconCircleList"/>
    <dgm:cxn modelId="{96CD8A17-5984-4F67-91E4-5DDAA503BE21}" type="presParOf" srcId="{DD611BC4-3D0A-42C9-8CDD-63760B344712}" destId="{47649ABF-38C9-4586-950B-73833543F37E}" srcOrd="0" destOrd="0" presId="urn:microsoft.com/office/officeart/2018/2/layout/IconCircleList"/>
    <dgm:cxn modelId="{BE3B33B2-AA2D-48CA-A546-EDDFD83ECD5E}" type="presParOf" srcId="{DD611BC4-3D0A-42C9-8CDD-63760B344712}" destId="{1A3F140C-068D-478D-A831-1AAECBE9304A}" srcOrd="1" destOrd="0" presId="urn:microsoft.com/office/officeart/2018/2/layout/IconCircleList"/>
    <dgm:cxn modelId="{BB426FBD-A026-4FD6-A82B-AF5B01051873}" type="presParOf" srcId="{DD611BC4-3D0A-42C9-8CDD-63760B344712}" destId="{3ED937BD-5C07-499D-A573-92E7717A32FC}" srcOrd="2" destOrd="0" presId="urn:microsoft.com/office/officeart/2018/2/layout/IconCircleList"/>
    <dgm:cxn modelId="{C9864301-0985-4CCC-806A-308D71A4F72B}" type="presParOf" srcId="{DD611BC4-3D0A-42C9-8CDD-63760B344712}" destId="{D52F0FC4-C17A-4717-A4B7-22F97443C806}" srcOrd="3" destOrd="0" presId="urn:microsoft.com/office/officeart/2018/2/layout/IconCircleList"/>
    <dgm:cxn modelId="{C8C8EA9C-C7A8-4B9F-82F8-B392C3E06454}" type="presParOf" srcId="{876AE036-2E67-4E22-9CA8-04AFAA14A4FD}" destId="{9463A89B-1822-45CF-A527-3E3016CBE545}" srcOrd="3" destOrd="0" presId="urn:microsoft.com/office/officeart/2018/2/layout/IconCircleList"/>
    <dgm:cxn modelId="{DA0743F9-2A81-4482-B005-6FFC879D227B}" type="presParOf" srcId="{876AE036-2E67-4E22-9CA8-04AFAA14A4FD}" destId="{A09F3C21-097E-4EBD-8559-CAFC7BB362AA}" srcOrd="4" destOrd="0" presId="urn:microsoft.com/office/officeart/2018/2/layout/IconCircleList"/>
    <dgm:cxn modelId="{7DBC2DC8-ACF3-40DC-AAD6-5CEF9309A736}" type="presParOf" srcId="{A09F3C21-097E-4EBD-8559-CAFC7BB362AA}" destId="{A21C0643-C6CA-477E-983F-6F61B92F5E6E}" srcOrd="0" destOrd="0" presId="urn:microsoft.com/office/officeart/2018/2/layout/IconCircleList"/>
    <dgm:cxn modelId="{A897A8CC-A9C3-4754-A781-FDCD3D074E98}" type="presParOf" srcId="{A09F3C21-097E-4EBD-8559-CAFC7BB362AA}" destId="{41A2230F-3643-414A-B647-B3B15F2894BD}" srcOrd="1" destOrd="0" presId="urn:microsoft.com/office/officeart/2018/2/layout/IconCircleList"/>
    <dgm:cxn modelId="{B1A47203-D3B2-4D80-9926-079425B90998}" type="presParOf" srcId="{A09F3C21-097E-4EBD-8559-CAFC7BB362AA}" destId="{56DA5083-60C1-43C4-8209-2D8D2C6623B0}" srcOrd="2" destOrd="0" presId="urn:microsoft.com/office/officeart/2018/2/layout/IconCircleList"/>
    <dgm:cxn modelId="{D0BF95A3-34A8-4073-BC8D-2AD9AA0CA35A}" type="presParOf" srcId="{A09F3C21-097E-4EBD-8559-CAFC7BB362AA}" destId="{4436F0B2-0A3D-40EF-9B0F-F723035C056C}" srcOrd="3" destOrd="0" presId="urn:microsoft.com/office/officeart/2018/2/layout/IconCircleList"/>
    <dgm:cxn modelId="{B8EE2D19-8519-4FB4-941A-10A2B58A570E}" type="presParOf" srcId="{876AE036-2E67-4E22-9CA8-04AFAA14A4FD}" destId="{9E344BF6-13C5-4726-AF1D-C96DF4F24854}" srcOrd="5" destOrd="0" presId="urn:microsoft.com/office/officeart/2018/2/layout/IconCircleList"/>
    <dgm:cxn modelId="{68729BE2-0788-4B7C-8907-6BABEBA33693}" type="presParOf" srcId="{876AE036-2E67-4E22-9CA8-04AFAA14A4FD}" destId="{CDAD3DD3-1AEB-4B3C-B8F9-49E15BCB67EA}" srcOrd="6" destOrd="0" presId="urn:microsoft.com/office/officeart/2018/2/layout/IconCircleList"/>
    <dgm:cxn modelId="{5F632A34-DE1C-4479-B02B-7E8FB215CC87}" type="presParOf" srcId="{CDAD3DD3-1AEB-4B3C-B8F9-49E15BCB67EA}" destId="{8994D994-BAD6-4EF4-90B5-8FAFC86DE361}" srcOrd="0" destOrd="0" presId="urn:microsoft.com/office/officeart/2018/2/layout/IconCircleList"/>
    <dgm:cxn modelId="{93B01631-F754-44FE-A4E3-C1020DA516F5}" type="presParOf" srcId="{CDAD3DD3-1AEB-4B3C-B8F9-49E15BCB67EA}" destId="{E0F8BB2B-7993-4BBC-9D4F-4B2D3EBFFF1F}" srcOrd="1" destOrd="0" presId="urn:microsoft.com/office/officeart/2018/2/layout/IconCircleList"/>
    <dgm:cxn modelId="{FA1DDAD2-5435-4897-A205-84FEC633932C}" type="presParOf" srcId="{CDAD3DD3-1AEB-4B3C-B8F9-49E15BCB67EA}" destId="{8F31891E-368D-47B8-A24A-EE7AE5A4AF53}" srcOrd="2" destOrd="0" presId="urn:microsoft.com/office/officeart/2018/2/layout/IconCircleList"/>
    <dgm:cxn modelId="{5A618226-2905-40AF-B827-600C41F17C5F}" type="presParOf" srcId="{CDAD3DD3-1AEB-4B3C-B8F9-49E15BCB67EA}" destId="{E90BF43C-FA3D-4D30-A9F4-961BFBCDB0DA}"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6167AD-AC4E-4606-897F-CC158F92C8E6}">
      <dsp:nvSpPr>
        <dsp:cNvPr id="0" name=""/>
        <dsp:cNvSpPr/>
      </dsp:nvSpPr>
      <dsp:spPr>
        <a:xfrm>
          <a:off x="264008" y="79910"/>
          <a:ext cx="1362585" cy="136258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2EB35AF-794E-4DE7-BEC4-7977E37E2D2F}">
      <dsp:nvSpPr>
        <dsp:cNvPr id="0" name=""/>
        <dsp:cNvSpPr/>
      </dsp:nvSpPr>
      <dsp:spPr>
        <a:xfrm>
          <a:off x="550151" y="366053"/>
          <a:ext cx="790299" cy="79029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530FCE3-C290-496B-A22A-D654CDF8B7D3}">
      <dsp:nvSpPr>
        <dsp:cNvPr id="0" name=""/>
        <dsp:cNvSpPr/>
      </dsp:nvSpPr>
      <dsp:spPr>
        <a:xfrm>
          <a:off x="1918575" y="79910"/>
          <a:ext cx="3211807" cy="1362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dirty="0"/>
            <a:t>Business Applications</a:t>
          </a:r>
        </a:p>
      </dsp:txBody>
      <dsp:txXfrm>
        <a:off x="1918575" y="79910"/>
        <a:ext cx="3211807" cy="1362585"/>
      </dsp:txXfrm>
    </dsp:sp>
    <dsp:sp modelId="{47649ABF-38C9-4586-950B-73833543F37E}">
      <dsp:nvSpPr>
        <dsp:cNvPr id="0" name=""/>
        <dsp:cNvSpPr/>
      </dsp:nvSpPr>
      <dsp:spPr>
        <a:xfrm>
          <a:off x="5690016" y="79910"/>
          <a:ext cx="1362585" cy="136258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A3F140C-068D-478D-A831-1AAECBE9304A}">
      <dsp:nvSpPr>
        <dsp:cNvPr id="0" name=""/>
        <dsp:cNvSpPr/>
      </dsp:nvSpPr>
      <dsp:spPr>
        <a:xfrm>
          <a:off x="5976159" y="366053"/>
          <a:ext cx="790299" cy="79029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52F0FC4-C17A-4717-A4B7-22F97443C806}">
      <dsp:nvSpPr>
        <dsp:cNvPr id="0" name=""/>
        <dsp:cNvSpPr/>
      </dsp:nvSpPr>
      <dsp:spPr>
        <a:xfrm>
          <a:off x="7344584" y="79910"/>
          <a:ext cx="3211807" cy="1362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a:t>Home Applications</a:t>
          </a:r>
        </a:p>
      </dsp:txBody>
      <dsp:txXfrm>
        <a:off x="7344584" y="79910"/>
        <a:ext cx="3211807" cy="1362585"/>
      </dsp:txXfrm>
    </dsp:sp>
    <dsp:sp modelId="{A21C0643-C6CA-477E-983F-6F61B92F5E6E}">
      <dsp:nvSpPr>
        <dsp:cNvPr id="0" name=""/>
        <dsp:cNvSpPr/>
      </dsp:nvSpPr>
      <dsp:spPr>
        <a:xfrm>
          <a:off x="264008" y="2033396"/>
          <a:ext cx="1362585" cy="136258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A2230F-3643-414A-B647-B3B15F2894BD}">
      <dsp:nvSpPr>
        <dsp:cNvPr id="0" name=""/>
        <dsp:cNvSpPr/>
      </dsp:nvSpPr>
      <dsp:spPr>
        <a:xfrm>
          <a:off x="550151" y="2319539"/>
          <a:ext cx="790299" cy="79029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436F0B2-0A3D-40EF-9B0F-F723035C056C}">
      <dsp:nvSpPr>
        <dsp:cNvPr id="0" name=""/>
        <dsp:cNvSpPr/>
      </dsp:nvSpPr>
      <dsp:spPr>
        <a:xfrm>
          <a:off x="1918575" y="2033396"/>
          <a:ext cx="3211807" cy="1362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a:t>Mobile Users</a:t>
          </a:r>
        </a:p>
      </dsp:txBody>
      <dsp:txXfrm>
        <a:off x="1918575" y="2033396"/>
        <a:ext cx="3211807" cy="1362585"/>
      </dsp:txXfrm>
    </dsp:sp>
    <dsp:sp modelId="{8994D994-BAD6-4EF4-90B5-8FAFC86DE361}">
      <dsp:nvSpPr>
        <dsp:cNvPr id="0" name=""/>
        <dsp:cNvSpPr/>
      </dsp:nvSpPr>
      <dsp:spPr>
        <a:xfrm>
          <a:off x="5690016" y="2033396"/>
          <a:ext cx="1362585" cy="1362585"/>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0F8BB2B-7993-4BBC-9D4F-4B2D3EBFFF1F}">
      <dsp:nvSpPr>
        <dsp:cNvPr id="0" name=""/>
        <dsp:cNvSpPr/>
      </dsp:nvSpPr>
      <dsp:spPr>
        <a:xfrm>
          <a:off x="5976159" y="2319539"/>
          <a:ext cx="790299" cy="79029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90BF43C-FA3D-4D30-A9F4-961BFBCDB0DA}">
      <dsp:nvSpPr>
        <dsp:cNvPr id="0" name=""/>
        <dsp:cNvSpPr/>
      </dsp:nvSpPr>
      <dsp:spPr>
        <a:xfrm>
          <a:off x="7344584" y="2033396"/>
          <a:ext cx="3211807" cy="1362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a:t>Social Issues</a:t>
          </a:r>
        </a:p>
      </dsp:txBody>
      <dsp:txXfrm>
        <a:off x="7344584" y="2033396"/>
        <a:ext cx="3211807" cy="1362585"/>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01-Feb-26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a:p>
        </p:txBody>
      </p:sp>
    </p:spTree>
    <p:extLst>
      <p:ext uri="{BB962C8B-B14F-4D97-AF65-F5344CB8AC3E}">
        <p14:creationId xmlns:p14="http://schemas.microsoft.com/office/powerpoint/2010/main" val="3228435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01-Feb-26</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01-Feb-26</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01-Feb-26</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01-Feb-26</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01-Feb-26</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01-Feb-26</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01-Feb-26</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01-Feb-26</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01-Feb-26</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01-Feb-26</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4.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emf"/><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1" y="117034"/>
            <a:ext cx="6027459" cy="6623931"/>
          </a:xfrm>
          <a:prstGeom prst="rect">
            <a:avLst/>
          </a:prstGeom>
          <a:noFill/>
          <a:ln>
            <a:noFill/>
          </a:ln>
        </p:spPr>
      </p:pic>
      <p:sp>
        <p:nvSpPr>
          <p:cNvPr id="476" name="Google Shape;476;p16"/>
          <p:cNvSpPr txBox="1"/>
          <p:nvPr/>
        </p:nvSpPr>
        <p:spPr>
          <a:xfrm>
            <a:off x="5170168" y="1933408"/>
            <a:ext cx="6902548" cy="2923837"/>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Network protocols &amp; security</a:t>
            </a:r>
          </a:p>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24EC2210</a:t>
            </a: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4000" b="1" cap="all" dirty="0">
                <a:ln/>
                <a:solidFill>
                  <a:srgbClr val="C00000"/>
                </a:solidFill>
                <a:effectLst/>
                <a:cs typeface="Poppins" panose="00000500000000000000" pitchFamily="2" charset="0"/>
              </a:rPr>
              <a:t>Introduction to Computer networks</a:t>
            </a:r>
            <a:endParaRPr lang="en-US" sz="4000" b="1" dirty="0">
              <a:solidFill>
                <a:srgbClr val="C00000"/>
              </a:solidFill>
              <a:effectLst/>
              <a:cs typeface="Poppins" panose="00000500000000000000" pitchFamily="2" charset="0"/>
            </a:endParaRPr>
          </a:p>
        </p:txBody>
      </p:sp>
      <p:sp>
        <p:nvSpPr>
          <p:cNvPr id="8" name="Google Shape;502;p17">
            <a:extLst>
              <a:ext uri="{FF2B5EF4-FFF2-40B4-BE49-F238E27FC236}">
                <a16:creationId xmlns:a16="http://schemas.microsoft.com/office/drawing/2014/main" id="{7153E61F-4441-DBE3-3DFF-6E9EF6C48D23}"/>
              </a:ext>
            </a:extLst>
          </p:cNvPr>
          <p:cNvSpPr/>
          <p:nvPr/>
        </p:nvSpPr>
        <p:spPr>
          <a:xfrm>
            <a:off x="7623168" y="4758078"/>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- 1</a:t>
            </a:r>
            <a:endParaRPr sz="240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914400" y="684469"/>
            <a:ext cx="10731286" cy="796115"/>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basic </a:t>
            </a:r>
            <a:r>
              <a:rPr lang="en-US" sz="1600" dirty="0">
                <a:latin typeface="Poppins"/>
                <a:cs typeface="Poppins"/>
              </a:rPr>
              <a:t>idea</a:t>
            </a:r>
            <a:r>
              <a:rPr lang="en-US" sz="1600" b="0" i="0" dirty="0">
                <a:effectLst/>
                <a:latin typeface="Poppins"/>
                <a:cs typeface="Poppins"/>
              </a:rPr>
              <a:t> of Computer networks and its uses</a:t>
            </a:r>
          </a:p>
          <a:p>
            <a:pPr>
              <a:lnSpc>
                <a:spcPct val="150000"/>
              </a:lnSpc>
            </a:pPr>
            <a:endParaRPr lang="en-US" sz="1600" b="0" i="0" dirty="0">
              <a:effectLst/>
              <a:latin typeface="Poppins"/>
              <a:cs typeface="Poppins"/>
            </a:endParaRPr>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p>
          <a:p>
            <a:pPr marL="342900" indent="-342900">
              <a:buAutoNum type="arabicPeriod"/>
            </a:pPr>
            <a:r>
              <a:rPr lang="en-US" sz="1600" b="0" i="0" dirty="0">
                <a:effectLst/>
                <a:latin typeface="Arial" panose="020B0604020202020204" pitchFamily="34" charset="0"/>
              </a:rPr>
              <a:t>Demonstrate the need for computer networks in daily lives</a:t>
            </a:r>
          </a:p>
          <a:p>
            <a:pPr marL="342900" indent="-342900">
              <a:buAutoNum type="arabicPeriod"/>
            </a:pPr>
            <a:r>
              <a:rPr lang="en-US" sz="1600" b="0" i="0" dirty="0">
                <a:effectLst/>
                <a:latin typeface="Arial" panose="020B0604020202020204" pitchFamily="34" charset="0"/>
              </a:rPr>
              <a:t>Describe the components of computer networks</a:t>
            </a:r>
          </a:p>
          <a:p>
            <a:pPr marL="342900" indent="-342900">
              <a:buAutoNum type="arabicPeriod"/>
            </a:pPr>
            <a:r>
              <a:rPr lang="en-US" sz="1600" b="0" i="0" dirty="0">
                <a:effectLst/>
                <a:latin typeface="Arial"/>
                <a:cs typeface="Arial"/>
              </a:rPr>
              <a:t>Describe the architectures of a computer network.</a:t>
            </a:r>
            <a:endParaRPr lang="en-US" sz="1600" dirty="0">
              <a:latin typeface="Arial"/>
              <a:cs typeface="Arial"/>
            </a:endParaRP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52600" y="4772230"/>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p>
          <a:p>
            <a:pPr marL="342900" indent="-342900">
              <a:buAutoNum type="arabicPeriod"/>
            </a:pPr>
            <a:r>
              <a:rPr lang="en-US" sz="1600" b="0" i="0" dirty="0">
                <a:effectLst/>
                <a:latin typeface="Arial" panose="020B0604020202020204" pitchFamily="34" charset="0"/>
              </a:rPr>
              <a:t>Define Computer network</a:t>
            </a:r>
          </a:p>
          <a:p>
            <a:pPr marL="342900" indent="-342900">
              <a:buAutoNum type="arabicPeriod"/>
            </a:pPr>
            <a:r>
              <a:rPr lang="en-US" sz="1600" b="0" i="0" dirty="0">
                <a:effectLst/>
                <a:latin typeface="Arial" panose="020B0604020202020204" pitchFamily="34" charset="0"/>
              </a:rPr>
              <a:t>Describe the components </a:t>
            </a:r>
            <a:r>
              <a:rPr lang="en-US" sz="1600" dirty="0">
                <a:latin typeface="Arial" panose="020B0604020202020204" pitchFamily="34" charset="0"/>
              </a:rPr>
              <a:t>that are used in construction of </a:t>
            </a:r>
            <a:r>
              <a:rPr lang="en-US" sz="1600" b="0" i="0" dirty="0">
                <a:effectLst/>
                <a:latin typeface="Arial" panose="020B0604020202020204" pitchFamily="34" charset="0"/>
              </a:rPr>
              <a:t>computer networks</a:t>
            </a:r>
          </a:p>
          <a:p>
            <a:pPr marL="342900" indent="-342900">
              <a:buAutoNum type="arabicPeriod"/>
            </a:pPr>
            <a:r>
              <a:rPr lang="en-US" sz="1600" dirty="0">
                <a:latin typeface="Arial" panose="020B0604020202020204" pitchFamily="34" charset="0"/>
              </a:rPr>
              <a:t>Summarize the uses of computer networks </a:t>
            </a:r>
            <a:endParaRPr lang="en-US" sz="1600" dirty="0">
              <a:latin typeface="Poppins" panose="00000500000000000000" pitchFamily="2" charset="0"/>
              <a:cs typeface="Poppins" panose="00000500000000000000" pitchFamily="2" charset="0"/>
            </a:endParaRP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INTRODUCTION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2" name="Content Placeholder 2">
            <a:extLst>
              <a:ext uri="{FF2B5EF4-FFF2-40B4-BE49-F238E27FC236}">
                <a16:creationId xmlns:a16="http://schemas.microsoft.com/office/drawing/2014/main" id="{12AB537D-1F06-ED24-7B76-3E4905C39539}"/>
              </a:ext>
            </a:extLst>
          </p:cNvPr>
          <p:cNvSpPr>
            <a:spLocks noGrp="1"/>
          </p:cNvSpPr>
          <p:nvPr>
            <p:ph idx="1"/>
          </p:nvPr>
        </p:nvSpPr>
        <p:spPr>
          <a:xfrm>
            <a:off x="246184" y="1692986"/>
            <a:ext cx="6063175" cy="4890694"/>
          </a:xfrm>
        </p:spPr>
        <p:txBody>
          <a:bodyPr>
            <a:normAutofit/>
          </a:bodyPr>
          <a:lstStyle/>
          <a:p>
            <a:pPr algn="just"/>
            <a:r>
              <a:rPr lang="en-US" sz="1900" b="1" dirty="0">
                <a:solidFill>
                  <a:srgbClr val="000000"/>
                </a:solidFill>
                <a:latin typeface="Bookman Old Style" panose="02050604050505020204" pitchFamily="18" charset="0"/>
              </a:rPr>
              <a:t>Computer Network:</a:t>
            </a:r>
            <a:r>
              <a:rPr lang="en-US" sz="1900" dirty="0">
                <a:solidFill>
                  <a:srgbClr val="000000"/>
                </a:solidFill>
                <a:latin typeface="Bookman Old Style" panose="02050604050505020204" pitchFamily="18" charset="0"/>
              </a:rPr>
              <a:t> A collection of autonomous computers interconnected by a single technology. </a:t>
            </a:r>
          </a:p>
          <a:p>
            <a:pPr algn="just"/>
            <a:endParaRPr lang="en-US" sz="1900" dirty="0">
              <a:solidFill>
                <a:srgbClr val="000000"/>
              </a:solidFill>
              <a:latin typeface="Bookman Old Style" panose="02050604050505020204" pitchFamily="18" charset="0"/>
            </a:endParaRPr>
          </a:p>
          <a:p>
            <a:pPr algn="just"/>
            <a:r>
              <a:rPr lang="en-US" sz="1900" dirty="0">
                <a:solidFill>
                  <a:srgbClr val="000000"/>
                </a:solidFill>
                <a:latin typeface="Bookman Old Style" panose="02050604050505020204" pitchFamily="18" charset="0"/>
              </a:rPr>
              <a:t>Two computers are said to be interconnected if they are able to exchange information. </a:t>
            </a:r>
          </a:p>
          <a:p>
            <a:pPr algn="just"/>
            <a:endParaRPr lang="en-US" sz="1900" dirty="0">
              <a:solidFill>
                <a:srgbClr val="000000"/>
              </a:solidFill>
              <a:latin typeface="Bookman Old Style" panose="02050604050505020204" pitchFamily="18" charset="0"/>
            </a:endParaRPr>
          </a:p>
          <a:p>
            <a:pPr algn="just">
              <a:buFont typeface="Arial" panose="020B0604020202020204" pitchFamily="34" charset="0"/>
              <a:buChar char="•"/>
            </a:pPr>
            <a:r>
              <a:rPr lang="en-US" sz="1900" b="0" i="0" dirty="0">
                <a:solidFill>
                  <a:srgbClr val="000000"/>
                </a:solidFill>
                <a:effectLst/>
                <a:latin typeface="Bookman Old Style" panose="02050604050505020204" pitchFamily="18" charset="0"/>
              </a:rPr>
              <a:t>The aim of the computer network is the sharing of resources among various devices.</a:t>
            </a:r>
          </a:p>
          <a:p>
            <a:pPr algn="just">
              <a:buFont typeface="Arial" panose="020B0604020202020204" pitchFamily="34" charset="0"/>
              <a:buChar char="•"/>
            </a:pPr>
            <a:endParaRPr lang="en-US" sz="1900" b="0" i="0" dirty="0">
              <a:solidFill>
                <a:srgbClr val="000000"/>
              </a:solidFill>
              <a:effectLst/>
              <a:latin typeface="Bookman Old Style" panose="02050604050505020204" pitchFamily="18" charset="0"/>
            </a:endParaRPr>
          </a:p>
          <a:p>
            <a:pPr algn="just">
              <a:buFont typeface="Arial" panose="020B0604020202020204" pitchFamily="34" charset="0"/>
              <a:buChar char="•"/>
            </a:pPr>
            <a:r>
              <a:rPr lang="en-US" sz="1900" b="0" i="0" dirty="0">
                <a:solidFill>
                  <a:srgbClr val="000000"/>
                </a:solidFill>
                <a:effectLst/>
                <a:latin typeface="Bookman Old Style" panose="02050604050505020204" pitchFamily="18" charset="0"/>
              </a:rPr>
              <a:t>In the case of computer network technology, there are several types of networks that vary from simple to complex level.</a:t>
            </a:r>
          </a:p>
          <a:p>
            <a:pPr algn="l"/>
            <a:endParaRPr lang="en-US" dirty="0"/>
          </a:p>
        </p:txBody>
      </p:sp>
      <p:sp>
        <p:nvSpPr>
          <p:cNvPr id="4" name="Cloud 3">
            <a:extLst>
              <a:ext uri="{FF2B5EF4-FFF2-40B4-BE49-F238E27FC236}">
                <a16:creationId xmlns:a16="http://schemas.microsoft.com/office/drawing/2014/main" id="{C4207616-D29D-F7B0-E063-17D0CBE2CB13}"/>
              </a:ext>
            </a:extLst>
          </p:cNvPr>
          <p:cNvSpPr/>
          <p:nvPr/>
        </p:nvSpPr>
        <p:spPr>
          <a:xfrm>
            <a:off x="6639950" y="1463040"/>
            <a:ext cx="5552049" cy="3657600"/>
          </a:xfrm>
          <a:prstGeom prst="cloud">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2800" b="0" i="0" dirty="0">
              <a:solidFill>
                <a:srgbClr val="000000"/>
              </a:solidFill>
              <a:effectLst/>
              <a:latin typeface="inter-regular"/>
            </a:endParaRPr>
          </a:p>
        </p:txBody>
      </p:sp>
      <p:sp>
        <p:nvSpPr>
          <p:cNvPr id="5" name="TextBox 4">
            <a:extLst>
              <a:ext uri="{FF2B5EF4-FFF2-40B4-BE49-F238E27FC236}">
                <a16:creationId xmlns:a16="http://schemas.microsoft.com/office/drawing/2014/main" id="{6E903CC2-0362-9E34-4ACF-2B8C99CD5355}"/>
              </a:ext>
            </a:extLst>
          </p:cNvPr>
          <p:cNvSpPr txBox="1"/>
          <p:nvPr/>
        </p:nvSpPr>
        <p:spPr>
          <a:xfrm>
            <a:off x="7146387" y="1989919"/>
            <a:ext cx="4353952" cy="2677656"/>
          </a:xfrm>
          <a:prstGeom prst="rect">
            <a:avLst/>
          </a:prstGeom>
          <a:noFill/>
        </p:spPr>
        <p:txBody>
          <a:bodyPr wrap="square" rtlCol="0">
            <a:spAutoFit/>
          </a:bodyPr>
          <a:lstStyle/>
          <a:p>
            <a:pPr algn="ctr"/>
            <a:r>
              <a:rPr lang="en-US" sz="2400" i="1" dirty="0">
                <a:solidFill>
                  <a:schemeClr val="bg1"/>
                </a:solidFill>
                <a:latin typeface="Bookman Old Style" panose="02050604050505020204" pitchFamily="18" charset="0"/>
              </a:rPr>
              <a:t>A Computer Network consists of a collection of computers, printers and other equipment that is connected together so that they can communicate with </a:t>
            </a:r>
          </a:p>
          <a:p>
            <a:pPr algn="ctr"/>
            <a:r>
              <a:rPr lang="en-US" sz="2400" i="1" dirty="0">
                <a:solidFill>
                  <a:schemeClr val="bg1"/>
                </a:solidFill>
                <a:latin typeface="Bookman Old Style" panose="02050604050505020204" pitchFamily="18" charset="0"/>
              </a:rPr>
              <a:t>each other</a:t>
            </a:r>
          </a:p>
        </p:txBody>
      </p:sp>
    </p:spTree>
    <p:extLst>
      <p:ext uri="{BB962C8B-B14F-4D97-AF65-F5344CB8AC3E}">
        <p14:creationId xmlns:p14="http://schemas.microsoft.com/office/powerpoint/2010/main" val="40690523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10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 calcmode="lin" valueType="num">
                                      <p:cBhvr additive="base">
                                        <p:cTn id="19"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anim calcmode="lin" valueType="num">
                                      <p:cBhvr additive="base">
                                        <p:cTn id="25"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26" dur="10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250"/>
                                  </p:stCondLst>
                                  <p:childTnLst>
                                    <p:set>
                                      <p:cBhvr>
                                        <p:cTn id="30" dur="1" fill="hold">
                                          <p:stCondLst>
                                            <p:cond delay="0"/>
                                          </p:stCondLst>
                                        </p:cTn>
                                        <p:tgtEl>
                                          <p:spTgt spid="5"/>
                                        </p:tgtEl>
                                        <p:attrNameLst>
                                          <p:attrName>style.visibility</p:attrName>
                                        </p:attrNameLst>
                                      </p:cBhvr>
                                      <p:to>
                                        <p:strVal val="visible"/>
                                      </p:to>
                                    </p:set>
                                    <p:anim calcmode="lin" valueType="num">
                                      <p:cBhvr>
                                        <p:cTn id="31" dur="1000" fill="hold"/>
                                        <p:tgtEl>
                                          <p:spTgt spid="5"/>
                                        </p:tgtEl>
                                        <p:attrNameLst>
                                          <p:attrName>ppt_w</p:attrName>
                                        </p:attrNameLst>
                                      </p:cBhvr>
                                      <p:tavLst>
                                        <p:tav tm="0">
                                          <p:val>
                                            <p:fltVal val="0"/>
                                          </p:val>
                                        </p:tav>
                                        <p:tav tm="100000">
                                          <p:val>
                                            <p:strVal val="#ppt_w"/>
                                          </p:val>
                                        </p:tav>
                                      </p:tavLst>
                                    </p:anim>
                                    <p:anim calcmode="lin" valueType="num">
                                      <p:cBhvr>
                                        <p:cTn id="32" dur="1000" fill="hold"/>
                                        <p:tgtEl>
                                          <p:spTgt spid="5"/>
                                        </p:tgtEl>
                                        <p:attrNameLst>
                                          <p:attrName>ppt_h</p:attrName>
                                        </p:attrNameLst>
                                      </p:cBhvr>
                                      <p:tavLst>
                                        <p:tav tm="0">
                                          <p:val>
                                            <p:fltVal val="0"/>
                                          </p:val>
                                        </p:tav>
                                        <p:tav tm="100000">
                                          <p:val>
                                            <p:strVal val="#ppt_h"/>
                                          </p:val>
                                        </p:tav>
                                      </p:tavLst>
                                    </p:anim>
                                    <p:animEffect transition="in" filter="fade">
                                      <p:cBhvr>
                                        <p:cTn id="33" dur="1000"/>
                                        <p:tgtEl>
                                          <p:spTgt spid="5"/>
                                        </p:tgtEl>
                                      </p:cBhvr>
                                    </p:animEffect>
                                  </p:childTnLst>
                                </p:cTn>
                              </p:par>
                              <p:par>
                                <p:cTn id="34" presetID="53" presetClass="entr" presetSubtype="16" fill="hold" grpId="0" nodeType="withEffect">
                                  <p:stCondLst>
                                    <p:cond delay="250"/>
                                  </p:stCondLst>
                                  <p:childTnLst>
                                    <p:set>
                                      <p:cBhvr>
                                        <p:cTn id="35" dur="1" fill="hold">
                                          <p:stCondLst>
                                            <p:cond delay="0"/>
                                          </p:stCondLst>
                                        </p:cTn>
                                        <p:tgtEl>
                                          <p:spTgt spid="4"/>
                                        </p:tgtEl>
                                        <p:attrNameLst>
                                          <p:attrName>style.visibility</p:attrName>
                                        </p:attrNameLst>
                                      </p:cBhvr>
                                      <p:to>
                                        <p:strVal val="visible"/>
                                      </p:to>
                                    </p:set>
                                    <p:anim calcmode="lin" valueType="num">
                                      <p:cBhvr>
                                        <p:cTn id="36" dur="1000" fill="hold"/>
                                        <p:tgtEl>
                                          <p:spTgt spid="4"/>
                                        </p:tgtEl>
                                        <p:attrNameLst>
                                          <p:attrName>ppt_w</p:attrName>
                                        </p:attrNameLst>
                                      </p:cBhvr>
                                      <p:tavLst>
                                        <p:tav tm="0">
                                          <p:val>
                                            <p:fltVal val="0"/>
                                          </p:val>
                                        </p:tav>
                                        <p:tav tm="100000">
                                          <p:val>
                                            <p:strVal val="#ppt_w"/>
                                          </p:val>
                                        </p:tav>
                                      </p:tavLst>
                                    </p:anim>
                                    <p:anim calcmode="lin" valueType="num">
                                      <p:cBhvr>
                                        <p:cTn id="37" dur="1000" fill="hold"/>
                                        <p:tgtEl>
                                          <p:spTgt spid="4"/>
                                        </p:tgtEl>
                                        <p:attrNameLst>
                                          <p:attrName>ppt_h</p:attrName>
                                        </p:attrNameLst>
                                      </p:cBhvr>
                                      <p:tavLst>
                                        <p:tav tm="0">
                                          <p:val>
                                            <p:fltVal val="0"/>
                                          </p:val>
                                        </p:tav>
                                        <p:tav tm="100000">
                                          <p:val>
                                            <p:strVal val="#ppt_h"/>
                                          </p:val>
                                        </p:tav>
                                      </p:tavLst>
                                    </p:anim>
                                    <p:animEffect transition="in" filter="fade">
                                      <p:cBhvr>
                                        <p:cTn id="38"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66DD149-99C5-4735-9493-91E7309D2588}"/>
              </a:ext>
            </a:extLst>
          </p:cNvPr>
          <p:cNvSpPr txBox="1"/>
          <p:nvPr/>
        </p:nvSpPr>
        <p:spPr>
          <a:xfrm>
            <a:off x="5332793" y="1505243"/>
            <a:ext cx="6441865" cy="5352757"/>
          </a:xfrm>
          <a:prstGeom prst="rect">
            <a:avLst/>
          </a:prstGeom>
        </p:spPr>
        <p:txBody>
          <a:bodyPr vert="horz" lIns="91440" tIns="45720" rIns="91440" bIns="45720" rtlCol="0">
            <a:normAutofit fontScale="70000" lnSpcReduction="20000"/>
          </a:bodyPr>
          <a:lstStyle/>
          <a:p>
            <a:pPr>
              <a:lnSpc>
                <a:spcPct val="90000"/>
              </a:lnSpc>
              <a:spcAft>
                <a:spcPts val="600"/>
              </a:spcAft>
              <a:buSzPct val="70000"/>
            </a:pPr>
            <a:r>
              <a:rPr lang="en-US" sz="3100" b="1" dirty="0">
                <a:solidFill>
                  <a:schemeClr val="tx2"/>
                </a:solidFill>
                <a:latin typeface="+mj-lt"/>
              </a:rPr>
              <a:t>A computer network comprises the following components: </a:t>
            </a:r>
          </a:p>
          <a:p>
            <a:pPr indent="-228600">
              <a:lnSpc>
                <a:spcPct val="90000"/>
              </a:lnSpc>
              <a:spcAft>
                <a:spcPts val="600"/>
              </a:spcAft>
              <a:buSzPct val="70000"/>
              <a:buFont typeface="Arial" panose="020B0604020202020204" pitchFamily="34" charset="0"/>
              <a:buChar char="•"/>
            </a:pPr>
            <a:endParaRPr lang="en-US" sz="1600" b="1" dirty="0">
              <a:solidFill>
                <a:schemeClr val="tx2"/>
              </a:solidFill>
              <a:latin typeface="+mj-lt"/>
            </a:endParaRPr>
          </a:p>
          <a:p>
            <a:pPr marL="400050" indent="-342900" algn="just">
              <a:lnSpc>
                <a:spcPct val="90000"/>
              </a:lnSpc>
              <a:spcAft>
                <a:spcPts val="600"/>
              </a:spcAft>
              <a:buSzPct val="70000"/>
              <a:buFont typeface="Wingdings" panose="05000000000000000000" pitchFamily="2" charset="2"/>
              <a:buChar char="Ø"/>
            </a:pPr>
            <a:r>
              <a:rPr lang="en-US" sz="2300" dirty="0">
                <a:solidFill>
                  <a:srgbClr val="000000"/>
                </a:solidFill>
                <a:latin typeface="Bookman Old Style" panose="02050604050505020204" pitchFamily="18" charset="0"/>
              </a:rPr>
              <a:t>A minimum of at least 2 computers.</a:t>
            </a:r>
          </a:p>
          <a:p>
            <a:pPr algn="just">
              <a:lnSpc>
                <a:spcPct val="90000"/>
              </a:lnSpc>
              <a:spcAft>
                <a:spcPts val="600"/>
              </a:spcAft>
              <a:buSzPct val="70000"/>
            </a:pPr>
            <a:endParaRPr lang="en-US" sz="2300" b="1" dirty="0">
              <a:solidFill>
                <a:srgbClr val="000000"/>
              </a:solidFill>
              <a:latin typeface="Bookman Old Style" panose="02050604050505020204" pitchFamily="18" charset="0"/>
            </a:endParaRPr>
          </a:p>
          <a:p>
            <a:pPr marL="342900" indent="-285750" algn="just">
              <a:lnSpc>
                <a:spcPct val="90000"/>
              </a:lnSpc>
              <a:spcAft>
                <a:spcPts val="600"/>
              </a:spcAft>
              <a:buSzPct val="70000"/>
              <a:buFont typeface="Wingdings" panose="05000000000000000000" pitchFamily="2" charset="2"/>
              <a:buChar char="Ø"/>
            </a:pPr>
            <a:r>
              <a:rPr lang="en-US" sz="2300" b="1" dirty="0">
                <a:solidFill>
                  <a:srgbClr val="000000"/>
                </a:solidFill>
                <a:latin typeface="Bookman Old Style" panose="02050604050505020204" pitchFamily="18" charset="0"/>
              </a:rPr>
              <a:t>Cables</a:t>
            </a:r>
            <a:r>
              <a:rPr lang="en-US" sz="2300" dirty="0">
                <a:solidFill>
                  <a:srgbClr val="000000"/>
                </a:solidFill>
                <a:latin typeface="Bookman Old Style" panose="02050604050505020204" pitchFamily="18" charset="0"/>
              </a:rPr>
              <a:t> that connect the computers to each other, although wireless communication is becoming more common.</a:t>
            </a:r>
          </a:p>
          <a:p>
            <a:pPr marL="342900" indent="-285750" algn="just">
              <a:lnSpc>
                <a:spcPct val="90000"/>
              </a:lnSpc>
              <a:spcAft>
                <a:spcPts val="600"/>
              </a:spcAft>
              <a:buSzPct val="70000"/>
              <a:buFont typeface="Wingdings" panose="05000000000000000000" pitchFamily="2" charset="2"/>
              <a:buChar char="Ø"/>
            </a:pPr>
            <a:endParaRPr lang="en-US" sz="2300" dirty="0">
              <a:solidFill>
                <a:srgbClr val="000000"/>
              </a:solidFill>
              <a:latin typeface="Bookman Old Style" panose="02050604050505020204" pitchFamily="18" charset="0"/>
            </a:endParaRPr>
          </a:p>
          <a:p>
            <a:pPr marL="342900" indent="-285750" algn="just">
              <a:lnSpc>
                <a:spcPct val="90000"/>
              </a:lnSpc>
              <a:spcAft>
                <a:spcPts val="600"/>
              </a:spcAft>
              <a:buSzPct val="70000"/>
              <a:buFont typeface="Wingdings" panose="05000000000000000000" pitchFamily="2" charset="2"/>
              <a:buChar char="Ø"/>
            </a:pPr>
            <a:r>
              <a:rPr lang="en-US" sz="2300" dirty="0">
                <a:solidFill>
                  <a:srgbClr val="000000"/>
                </a:solidFill>
                <a:latin typeface="Bookman Old Style" panose="02050604050505020204" pitchFamily="18" charset="0"/>
              </a:rPr>
              <a:t>A network interface device on each computer (this is called a </a:t>
            </a:r>
            <a:r>
              <a:rPr lang="en-US" sz="2300" b="1" dirty="0">
                <a:solidFill>
                  <a:srgbClr val="000000"/>
                </a:solidFill>
                <a:latin typeface="Bookman Old Style" panose="02050604050505020204" pitchFamily="18" charset="0"/>
              </a:rPr>
              <a:t>network interface card or NIC</a:t>
            </a:r>
            <a:r>
              <a:rPr lang="en-US" sz="2300" dirty="0">
                <a:solidFill>
                  <a:srgbClr val="000000"/>
                </a:solidFill>
                <a:latin typeface="Bookman Old Style" panose="02050604050505020204" pitchFamily="18" charset="0"/>
              </a:rPr>
              <a:t>).</a:t>
            </a:r>
          </a:p>
          <a:p>
            <a:pPr marL="342900" indent="-285750" algn="just">
              <a:lnSpc>
                <a:spcPct val="90000"/>
              </a:lnSpc>
              <a:spcAft>
                <a:spcPts val="600"/>
              </a:spcAft>
              <a:buSzPct val="70000"/>
              <a:buFont typeface="Wingdings" panose="05000000000000000000" pitchFamily="2" charset="2"/>
              <a:buChar char="Ø"/>
            </a:pPr>
            <a:endParaRPr lang="en-US" sz="2300" dirty="0">
              <a:solidFill>
                <a:srgbClr val="000000"/>
              </a:solidFill>
              <a:latin typeface="Bookman Old Style" panose="02050604050505020204" pitchFamily="18" charset="0"/>
            </a:endParaRPr>
          </a:p>
          <a:p>
            <a:pPr marL="342900" indent="-285750" algn="just">
              <a:lnSpc>
                <a:spcPct val="90000"/>
              </a:lnSpc>
              <a:spcAft>
                <a:spcPts val="600"/>
              </a:spcAft>
              <a:buSzPct val="70000"/>
              <a:buFont typeface="Wingdings" panose="05000000000000000000" pitchFamily="2" charset="2"/>
              <a:buChar char="Ø"/>
            </a:pPr>
            <a:r>
              <a:rPr lang="en-US" sz="2300" dirty="0">
                <a:solidFill>
                  <a:srgbClr val="000000"/>
                </a:solidFill>
                <a:latin typeface="Bookman Old Style" panose="02050604050505020204" pitchFamily="18" charset="0"/>
              </a:rPr>
              <a:t>A </a:t>
            </a:r>
            <a:r>
              <a:rPr lang="en-US" sz="2300" b="1" dirty="0">
                <a:solidFill>
                  <a:srgbClr val="000000"/>
                </a:solidFill>
                <a:latin typeface="Bookman Old Style" panose="02050604050505020204" pitchFamily="18" charset="0"/>
              </a:rPr>
              <a:t>switch</a:t>
            </a:r>
            <a:r>
              <a:rPr lang="en-US" sz="2300" dirty="0">
                <a:solidFill>
                  <a:srgbClr val="000000"/>
                </a:solidFill>
                <a:latin typeface="Bookman Old Style" panose="02050604050505020204" pitchFamily="18" charset="0"/>
              </a:rPr>
              <a:t> used to switch the data from one point to another. </a:t>
            </a:r>
            <a:r>
              <a:rPr lang="en-US" sz="2300" b="1" dirty="0">
                <a:solidFill>
                  <a:srgbClr val="000000"/>
                </a:solidFill>
                <a:latin typeface="Bookman Old Style" panose="02050604050505020204" pitchFamily="18" charset="0"/>
              </a:rPr>
              <a:t>Hubs</a:t>
            </a:r>
            <a:r>
              <a:rPr lang="en-US" sz="2300" dirty="0">
                <a:solidFill>
                  <a:srgbClr val="000000"/>
                </a:solidFill>
                <a:latin typeface="Bookman Old Style" panose="02050604050505020204" pitchFamily="18" charset="0"/>
              </a:rPr>
              <a:t> are outdated and are little used for new installations. </a:t>
            </a:r>
          </a:p>
          <a:p>
            <a:pPr marL="342900" indent="-285750" algn="just">
              <a:lnSpc>
                <a:spcPct val="90000"/>
              </a:lnSpc>
              <a:spcAft>
                <a:spcPts val="600"/>
              </a:spcAft>
              <a:buSzPct val="70000"/>
              <a:buFont typeface="Wingdings" panose="05000000000000000000" pitchFamily="2" charset="2"/>
              <a:buChar char="Ø"/>
            </a:pPr>
            <a:endParaRPr lang="en-US" sz="2300" dirty="0">
              <a:solidFill>
                <a:srgbClr val="000000"/>
              </a:solidFill>
              <a:latin typeface="Bookman Old Style" panose="02050604050505020204" pitchFamily="18" charset="0"/>
            </a:endParaRPr>
          </a:p>
          <a:p>
            <a:pPr marL="342900" indent="-285750" algn="just">
              <a:lnSpc>
                <a:spcPct val="90000"/>
              </a:lnSpc>
              <a:spcAft>
                <a:spcPts val="600"/>
              </a:spcAft>
              <a:buSzPct val="70000"/>
              <a:buFont typeface="Wingdings" panose="05000000000000000000" pitchFamily="2" charset="2"/>
              <a:buChar char="Ø"/>
            </a:pPr>
            <a:r>
              <a:rPr lang="en-US" sz="2300" dirty="0">
                <a:solidFill>
                  <a:srgbClr val="000000"/>
                </a:solidFill>
                <a:latin typeface="Bookman Old Style" panose="02050604050505020204" pitchFamily="18" charset="0"/>
              </a:rPr>
              <a:t>A </a:t>
            </a:r>
            <a:r>
              <a:rPr lang="en-US" sz="2300" b="1" dirty="0">
                <a:solidFill>
                  <a:srgbClr val="000000"/>
                </a:solidFill>
                <a:latin typeface="Bookman Old Style" panose="02050604050505020204" pitchFamily="18" charset="0"/>
              </a:rPr>
              <a:t>router</a:t>
            </a:r>
            <a:r>
              <a:rPr lang="en-US" sz="2300" dirty="0">
                <a:solidFill>
                  <a:srgbClr val="000000"/>
                </a:solidFill>
                <a:latin typeface="Bookman Old Style" panose="02050604050505020204" pitchFamily="18" charset="0"/>
              </a:rPr>
              <a:t> that connects two or more networks or subnetworks. </a:t>
            </a:r>
          </a:p>
          <a:p>
            <a:pPr marL="342900" indent="-285750" algn="just">
              <a:lnSpc>
                <a:spcPct val="90000"/>
              </a:lnSpc>
              <a:spcAft>
                <a:spcPts val="600"/>
              </a:spcAft>
              <a:buSzPct val="70000"/>
              <a:buFont typeface="Wingdings" panose="05000000000000000000" pitchFamily="2" charset="2"/>
              <a:buChar char="Ø"/>
            </a:pPr>
            <a:endParaRPr lang="en-US" sz="2300" dirty="0">
              <a:solidFill>
                <a:srgbClr val="000000"/>
              </a:solidFill>
              <a:latin typeface="Bookman Old Style" panose="02050604050505020204" pitchFamily="18" charset="0"/>
            </a:endParaRPr>
          </a:p>
          <a:p>
            <a:pPr marL="342900" indent="-285750" algn="just">
              <a:lnSpc>
                <a:spcPct val="90000"/>
              </a:lnSpc>
              <a:spcAft>
                <a:spcPts val="600"/>
              </a:spcAft>
              <a:buSzPct val="70000"/>
              <a:buFont typeface="Wingdings" panose="05000000000000000000" pitchFamily="2" charset="2"/>
              <a:buChar char="Ø"/>
            </a:pPr>
            <a:r>
              <a:rPr lang="en-US" sz="2300" dirty="0">
                <a:solidFill>
                  <a:srgbClr val="000000"/>
                </a:solidFill>
                <a:latin typeface="Bookman Old Style" panose="02050604050505020204" pitchFamily="18" charset="0"/>
              </a:rPr>
              <a:t>A </a:t>
            </a:r>
            <a:r>
              <a:rPr lang="en-US" sz="2300" b="1" dirty="0">
                <a:solidFill>
                  <a:srgbClr val="000000"/>
                </a:solidFill>
                <a:latin typeface="Bookman Old Style" panose="02050604050505020204" pitchFamily="18" charset="0"/>
              </a:rPr>
              <a:t>modem</a:t>
            </a:r>
            <a:r>
              <a:rPr lang="en-US" sz="2300" dirty="0">
                <a:solidFill>
                  <a:srgbClr val="000000"/>
                </a:solidFill>
                <a:latin typeface="Bookman Old Style" panose="02050604050505020204" pitchFamily="18" charset="0"/>
              </a:rPr>
              <a:t> that is used especially to transmit and receive information between computers via landlines</a:t>
            </a:r>
          </a:p>
          <a:p>
            <a:pPr>
              <a:lnSpc>
                <a:spcPct val="90000"/>
              </a:lnSpc>
              <a:spcAft>
                <a:spcPts val="600"/>
              </a:spcAft>
              <a:buSzPct val="70000"/>
            </a:pPr>
            <a:br>
              <a:rPr lang="en-US" sz="1300" dirty="0">
                <a:solidFill>
                  <a:schemeClr val="tx2"/>
                </a:solidFill>
                <a:latin typeface="+mj-lt"/>
              </a:rPr>
            </a:br>
            <a:endParaRPr lang="en-US" sz="1300" dirty="0">
              <a:solidFill>
                <a:schemeClr val="tx2"/>
              </a:solidFill>
              <a:latin typeface="+mj-lt"/>
            </a:endParaRPr>
          </a:p>
        </p:txBody>
      </p:sp>
      <p:pic>
        <p:nvPicPr>
          <p:cNvPr id="8" name="Picture 7">
            <a:extLst>
              <a:ext uri="{FF2B5EF4-FFF2-40B4-BE49-F238E27FC236}">
                <a16:creationId xmlns:a16="http://schemas.microsoft.com/office/drawing/2014/main" id="{8BD0B4FE-6833-42F6-92A3-458E63281125}"/>
              </a:ext>
            </a:extLst>
          </p:cNvPr>
          <p:cNvPicPr>
            <a:picLocks noChangeAspect="1"/>
          </p:cNvPicPr>
          <p:nvPr/>
        </p:nvPicPr>
        <p:blipFill>
          <a:blip r:embed="rId2"/>
          <a:stretch>
            <a:fillRect/>
          </a:stretch>
        </p:blipFill>
        <p:spPr>
          <a:xfrm>
            <a:off x="113093" y="1371599"/>
            <a:ext cx="5219700" cy="4267201"/>
          </a:xfrm>
          <a:prstGeom prst="rect">
            <a:avLst/>
          </a:prstGeom>
        </p:spPr>
      </p:pic>
      <p:pic>
        <p:nvPicPr>
          <p:cNvPr id="3" name="Picture 2" descr="KL Deemed to be University Logo">
            <a:extLst>
              <a:ext uri="{FF2B5EF4-FFF2-40B4-BE49-F238E27FC236}">
                <a16:creationId xmlns:a16="http://schemas.microsoft.com/office/drawing/2014/main" id="{FC7BEC07-A14F-AA28-C7D4-4F30DF38A231}"/>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 name="Rounded Rectangle 17">
            <a:extLst>
              <a:ext uri="{FF2B5EF4-FFF2-40B4-BE49-F238E27FC236}">
                <a16:creationId xmlns:a16="http://schemas.microsoft.com/office/drawing/2014/main" id="{06C2286A-7F48-9BFD-C2CA-DFEF63D37E42}"/>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COMPONENTS OF COMPUTER NETWORKS </a:t>
            </a:r>
          </a:p>
        </p:txBody>
      </p:sp>
    </p:spTree>
    <p:extLst>
      <p:ext uri="{BB962C8B-B14F-4D97-AF65-F5344CB8AC3E}">
        <p14:creationId xmlns:p14="http://schemas.microsoft.com/office/powerpoint/2010/main" val="3844303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Effect transition="in" filter="fade">
                                      <p:cBhvr>
                                        <p:cTn id="9" dur="10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6">
                                            <p:txEl>
                                              <p:pRg st="0" end="0"/>
                                            </p:txEl>
                                          </p:spTgt>
                                        </p:tgtEl>
                                        <p:attrNameLst>
                                          <p:attrName>style.visibility</p:attrName>
                                        </p:attrNameLst>
                                      </p:cBhvr>
                                      <p:to>
                                        <p:strVal val="visible"/>
                                      </p:to>
                                    </p:set>
                                    <p:animEffect transition="in" filter="fade">
                                      <p:cBhvr>
                                        <p:cTn id="14" dur="1000"/>
                                        <p:tgtEl>
                                          <p:spTgt spid="6">
                                            <p:txEl>
                                              <p:pRg st="0" end="0"/>
                                            </p:txEl>
                                          </p:spTgt>
                                        </p:tgtEl>
                                      </p:cBhvr>
                                    </p:animEffect>
                                    <p:anim calcmode="lin" valueType="num">
                                      <p:cBhvr>
                                        <p:cTn id="15"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nodeType="click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anim calcmode="lin" valueType="num">
                                      <p:cBhvr additive="base">
                                        <p:cTn id="21" dur="1000" fill="hold"/>
                                        <p:tgtEl>
                                          <p:spTgt spid="6">
                                            <p:txEl>
                                              <p:pRg st="2" end="2"/>
                                            </p:txEl>
                                          </p:spTgt>
                                        </p:tgtEl>
                                        <p:attrNameLst>
                                          <p:attrName>ppt_x</p:attrName>
                                        </p:attrNameLst>
                                      </p:cBhvr>
                                      <p:tavLst>
                                        <p:tav tm="0">
                                          <p:val>
                                            <p:strVal val="0-#ppt_w/2"/>
                                          </p:val>
                                        </p:tav>
                                        <p:tav tm="100000">
                                          <p:val>
                                            <p:strVal val="#ppt_x"/>
                                          </p:val>
                                        </p:tav>
                                      </p:tavLst>
                                    </p:anim>
                                    <p:anim calcmode="lin" valueType="num">
                                      <p:cBhvr additive="base">
                                        <p:cTn id="22" dur="1000" fill="hold"/>
                                        <p:tgtEl>
                                          <p:spTgt spid="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 calcmode="lin" valueType="num">
                                      <p:cBhvr additive="base">
                                        <p:cTn id="27" dur="1000" fill="hold"/>
                                        <p:tgtEl>
                                          <p:spTgt spid="6">
                                            <p:txEl>
                                              <p:pRg st="4" end="4"/>
                                            </p:txEl>
                                          </p:spTgt>
                                        </p:tgtEl>
                                        <p:attrNameLst>
                                          <p:attrName>ppt_x</p:attrName>
                                        </p:attrNameLst>
                                      </p:cBhvr>
                                      <p:tavLst>
                                        <p:tav tm="0">
                                          <p:val>
                                            <p:strVal val="0-#ppt_w/2"/>
                                          </p:val>
                                        </p:tav>
                                        <p:tav tm="100000">
                                          <p:val>
                                            <p:strVal val="#ppt_x"/>
                                          </p:val>
                                        </p:tav>
                                      </p:tavLst>
                                    </p:anim>
                                    <p:anim calcmode="lin" valueType="num">
                                      <p:cBhvr additive="base">
                                        <p:cTn id="28" dur="1000" fill="hold"/>
                                        <p:tgtEl>
                                          <p:spTgt spid="6">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nodeType="clickEffect">
                                  <p:stCondLst>
                                    <p:cond delay="0"/>
                                  </p:stCondLst>
                                  <p:childTnLst>
                                    <p:set>
                                      <p:cBhvr>
                                        <p:cTn id="32" dur="1" fill="hold">
                                          <p:stCondLst>
                                            <p:cond delay="0"/>
                                          </p:stCondLst>
                                        </p:cTn>
                                        <p:tgtEl>
                                          <p:spTgt spid="6">
                                            <p:txEl>
                                              <p:pRg st="6" end="6"/>
                                            </p:txEl>
                                          </p:spTgt>
                                        </p:tgtEl>
                                        <p:attrNameLst>
                                          <p:attrName>style.visibility</p:attrName>
                                        </p:attrNameLst>
                                      </p:cBhvr>
                                      <p:to>
                                        <p:strVal val="visible"/>
                                      </p:to>
                                    </p:set>
                                    <p:anim calcmode="lin" valueType="num">
                                      <p:cBhvr additive="base">
                                        <p:cTn id="33" dur="1000" fill="hold"/>
                                        <p:tgtEl>
                                          <p:spTgt spid="6">
                                            <p:txEl>
                                              <p:pRg st="6" end="6"/>
                                            </p:txEl>
                                          </p:spTgt>
                                        </p:tgtEl>
                                        <p:attrNameLst>
                                          <p:attrName>ppt_x</p:attrName>
                                        </p:attrNameLst>
                                      </p:cBhvr>
                                      <p:tavLst>
                                        <p:tav tm="0">
                                          <p:val>
                                            <p:strVal val="0-#ppt_w/2"/>
                                          </p:val>
                                        </p:tav>
                                        <p:tav tm="100000">
                                          <p:val>
                                            <p:strVal val="#ppt_x"/>
                                          </p:val>
                                        </p:tav>
                                      </p:tavLst>
                                    </p:anim>
                                    <p:anim calcmode="lin" valueType="num">
                                      <p:cBhvr additive="base">
                                        <p:cTn id="34" dur="1000" fill="hold"/>
                                        <p:tgtEl>
                                          <p:spTgt spid="6">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nodeType="clickEffect">
                                  <p:stCondLst>
                                    <p:cond delay="0"/>
                                  </p:stCondLst>
                                  <p:childTnLst>
                                    <p:set>
                                      <p:cBhvr>
                                        <p:cTn id="38" dur="1" fill="hold">
                                          <p:stCondLst>
                                            <p:cond delay="0"/>
                                          </p:stCondLst>
                                        </p:cTn>
                                        <p:tgtEl>
                                          <p:spTgt spid="6">
                                            <p:txEl>
                                              <p:pRg st="8" end="8"/>
                                            </p:txEl>
                                          </p:spTgt>
                                        </p:tgtEl>
                                        <p:attrNameLst>
                                          <p:attrName>style.visibility</p:attrName>
                                        </p:attrNameLst>
                                      </p:cBhvr>
                                      <p:to>
                                        <p:strVal val="visible"/>
                                      </p:to>
                                    </p:set>
                                    <p:anim calcmode="lin" valueType="num">
                                      <p:cBhvr additive="base">
                                        <p:cTn id="39" dur="1000" fill="hold"/>
                                        <p:tgtEl>
                                          <p:spTgt spid="6">
                                            <p:txEl>
                                              <p:pRg st="8" end="8"/>
                                            </p:txEl>
                                          </p:spTgt>
                                        </p:tgtEl>
                                        <p:attrNameLst>
                                          <p:attrName>ppt_x</p:attrName>
                                        </p:attrNameLst>
                                      </p:cBhvr>
                                      <p:tavLst>
                                        <p:tav tm="0">
                                          <p:val>
                                            <p:strVal val="0-#ppt_w/2"/>
                                          </p:val>
                                        </p:tav>
                                        <p:tav tm="100000">
                                          <p:val>
                                            <p:strVal val="#ppt_x"/>
                                          </p:val>
                                        </p:tav>
                                      </p:tavLst>
                                    </p:anim>
                                    <p:anim calcmode="lin" valueType="num">
                                      <p:cBhvr additive="base">
                                        <p:cTn id="40" dur="1000" fill="hold"/>
                                        <p:tgtEl>
                                          <p:spTgt spid="6">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8" fill="hold" nodeType="clickEffect">
                                  <p:stCondLst>
                                    <p:cond delay="0"/>
                                  </p:stCondLst>
                                  <p:childTnLst>
                                    <p:set>
                                      <p:cBhvr>
                                        <p:cTn id="44" dur="1" fill="hold">
                                          <p:stCondLst>
                                            <p:cond delay="0"/>
                                          </p:stCondLst>
                                        </p:cTn>
                                        <p:tgtEl>
                                          <p:spTgt spid="6">
                                            <p:txEl>
                                              <p:pRg st="10" end="10"/>
                                            </p:txEl>
                                          </p:spTgt>
                                        </p:tgtEl>
                                        <p:attrNameLst>
                                          <p:attrName>style.visibility</p:attrName>
                                        </p:attrNameLst>
                                      </p:cBhvr>
                                      <p:to>
                                        <p:strVal val="visible"/>
                                      </p:to>
                                    </p:set>
                                    <p:anim calcmode="lin" valueType="num">
                                      <p:cBhvr additive="base">
                                        <p:cTn id="45" dur="1000" fill="hold"/>
                                        <p:tgtEl>
                                          <p:spTgt spid="6">
                                            <p:txEl>
                                              <p:pRg st="10" end="10"/>
                                            </p:txEl>
                                          </p:spTgt>
                                        </p:tgtEl>
                                        <p:attrNameLst>
                                          <p:attrName>ppt_x</p:attrName>
                                        </p:attrNameLst>
                                      </p:cBhvr>
                                      <p:tavLst>
                                        <p:tav tm="0">
                                          <p:val>
                                            <p:strVal val="0-#ppt_w/2"/>
                                          </p:val>
                                        </p:tav>
                                        <p:tav tm="100000">
                                          <p:val>
                                            <p:strVal val="#ppt_x"/>
                                          </p:val>
                                        </p:tav>
                                      </p:tavLst>
                                    </p:anim>
                                    <p:anim calcmode="lin" valueType="num">
                                      <p:cBhvr additive="base">
                                        <p:cTn id="46" dur="1000" fill="hold"/>
                                        <p:tgtEl>
                                          <p:spTgt spid="6">
                                            <p:txEl>
                                              <p:pRg st="10" end="10"/>
                                            </p:txEl>
                                          </p:spTgt>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8" fill="hold" nodeType="clickEffect">
                                  <p:stCondLst>
                                    <p:cond delay="0"/>
                                  </p:stCondLst>
                                  <p:childTnLst>
                                    <p:set>
                                      <p:cBhvr>
                                        <p:cTn id="50" dur="1" fill="hold">
                                          <p:stCondLst>
                                            <p:cond delay="0"/>
                                          </p:stCondLst>
                                        </p:cTn>
                                        <p:tgtEl>
                                          <p:spTgt spid="6">
                                            <p:txEl>
                                              <p:pRg st="12" end="12"/>
                                            </p:txEl>
                                          </p:spTgt>
                                        </p:tgtEl>
                                        <p:attrNameLst>
                                          <p:attrName>style.visibility</p:attrName>
                                        </p:attrNameLst>
                                      </p:cBhvr>
                                      <p:to>
                                        <p:strVal val="visible"/>
                                      </p:to>
                                    </p:set>
                                    <p:anim calcmode="lin" valueType="num">
                                      <p:cBhvr additive="base">
                                        <p:cTn id="51" dur="1000" fill="hold"/>
                                        <p:tgtEl>
                                          <p:spTgt spid="6">
                                            <p:txEl>
                                              <p:pRg st="12" end="12"/>
                                            </p:txEl>
                                          </p:spTgt>
                                        </p:tgtEl>
                                        <p:attrNameLst>
                                          <p:attrName>ppt_x</p:attrName>
                                        </p:attrNameLst>
                                      </p:cBhvr>
                                      <p:tavLst>
                                        <p:tav tm="0">
                                          <p:val>
                                            <p:strVal val="0-#ppt_w/2"/>
                                          </p:val>
                                        </p:tav>
                                        <p:tav tm="100000">
                                          <p:val>
                                            <p:strVal val="#ppt_x"/>
                                          </p:val>
                                        </p:tav>
                                      </p:tavLst>
                                    </p:anim>
                                    <p:anim calcmode="lin" valueType="num">
                                      <p:cBhvr additive="base">
                                        <p:cTn id="52" dur="1000" fill="hold"/>
                                        <p:tgtEl>
                                          <p:spTgt spid="6">
                                            <p:txEl>
                                              <p:pRg st="12" end="1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2BCF8-72DE-4656-A013-46F31D7F645E}"/>
              </a:ext>
            </a:extLst>
          </p:cNvPr>
          <p:cNvSpPr>
            <a:spLocks noGrp="1"/>
          </p:cNvSpPr>
          <p:nvPr>
            <p:ph type="title"/>
          </p:nvPr>
        </p:nvSpPr>
        <p:spPr>
          <a:xfrm>
            <a:off x="2208627" y="38682"/>
            <a:ext cx="8776631" cy="576943"/>
          </a:xfrm>
        </p:spPr>
        <p:txBody>
          <a:bodyPr>
            <a:normAutofit fontScale="90000"/>
          </a:bodyPr>
          <a:lstStyle/>
          <a:p>
            <a:r>
              <a:rPr lang="en-US" b="1" dirty="0">
                <a:solidFill>
                  <a:srgbClr val="C00000"/>
                </a:solidFill>
              </a:rPr>
              <a:t>Components of computer networks…</a:t>
            </a:r>
            <a:endParaRPr lang="en-US" dirty="0"/>
          </a:p>
        </p:txBody>
      </p:sp>
      <p:sp>
        <p:nvSpPr>
          <p:cNvPr id="6" name="TextBox 5">
            <a:extLst>
              <a:ext uri="{FF2B5EF4-FFF2-40B4-BE49-F238E27FC236}">
                <a16:creationId xmlns:a16="http://schemas.microsoft.com/office/drawing/2014/main" id="{E66DD149-99C5-4735-9493-91E7309D2588}"/>
              </a:ext>
            </a:extLst>
          </p:cNvPr>
          <p:cNvSpPr txBox="1"/>
          <p:nvPr/>
        </p:nvSpPr>
        <p:spPr>
          <a:xfrm>
            <a:off x="448559" y="943877"/>
            <a:ext cx="5176910" cy="3508653"/>
          </a:xfrm>
          <a:prstGeom prst="rect">
            <a:avLst/>
          </a:prstGeom>
          <a:noFill/>
          <a:ln>
            <a:solidFill>
              <a:schemeClr val="tx1"/>
            </a:solidFill>
          </a:ln>
        </p:spPr>
        <p:txBody>
          <a:bodyPr wrap="square" rtlCol="0">
            <a:spAutoFit/>
          </a:bodyPr>
          <a:lstStyle/>
          <a:p>
            <a:pPr algn="ctr"/>
            <a:r>
              <a:rPr lang="en-US" sz="2400" b="1" dirty="0">
                <a:solidFill>
                  <a:srgbClr val="0070C0"/>
                </a:solidFill>
              </a:rPr>
              <a:t>NIC(National interface card)</a:t>
            </a:r>
          </a:p>
          <a:p>
            <a:endParaRPr lang="en-US" b="1" dirty="0"/>
          </a:p>
          <a:p>
            <a:pPr algn="just"/>
            <a:r>
              <a:rPr lang="en-US" sz="2000" dirty="0"/>
              <a:t>NIC is a device that helps the computer to communicate with another device. </a:t>
            </a:r>
          </a:p>
          <a:p>
            <a:pPr algn="just"/>
            <a:endParaRPr lang="en-US" sz="2000" dirty="0"/>
          </a:p>
          <a:p>
            <a:pPr algn="just"/>
            <a:r>
              <a:rPr lang="en-US" sz="2000" dirty="0"/>
              <a:t>The network interface card contains the hardware addresses</a:t>
            </a:r>
          </a:p>
          <a:p>
            <a:pPr algn="just"/>
            <a:endParaRPr lang="en-US" sz="2000" dirty="0"/>
          </a:p>
          <a:p>
            <a:pPr algn="just"/>
            <a:r>
              <a:rPr lang="en-US" sz="2000" dirty="0"/>
              <a:t>The data-link layer protocol use this address to identify the system on the network so that it transfers the data to the correct destination.</a:t>
            </a:r>
          </a:p>
        </p:txBody>
      </p:sp>
      <p:sp>
        <p:nvSpPr>
          <p:cNvPr id="3" name="TextBox 2">
            <a:extLst>
              <a:ext uri="{FF2B5EF4-FFF2-40B4-BE49-F238E27FC236}">
                <a16:creationId xmlns:a16="http://schemas.microsoft.com/office/drawing/2014/main" id="{2A9788DA-DD6A-4B85-93BD-FDCEEFA87750}"/>
              </a:ext>
            </a:extLst>
          </p:cNvPr>
          <p:cNvSpPr txBox="1"/>
          <p:nvPr/>
        </p:nvSpPr>
        <p:spPr>
          <a:xfrm>
            <a:off x="6159309" y="3310665"/>
            <a:ext cx="5584131" cy="3508653"/>
          </a:xfrm>
          <a:prstGeom prst="rect">
            <a:avLst/>
          </a:prstGeom>
          <a:noFill/>
          <a:ln>
            <a:solidFill>
              <a:schemeClr val="tx1"/>
            </a:solidFill>
          </a:ln>
        </p:spPr>
        <p:txBody>
          <a:bodyPr wrap="square" rtlCol="0">
            <a:spAutoFit/>
          </a:bodyPr>
          <a:lstStyle/>
          <a:p>
            <a:pPr algn="ctr"/>
            <a:r>
              <a:rPr lang="en-US" sz="2400" b="1" dirty="0">
                <a:solidFill>
                  <a:srgbClr val="0070C0"/>
                </a:solidFill>
              </a:rPr>
              <a:t>Types of NIC</a:t>
            </a:r>
          </a:p>
          <a:p>
            <a:endParaRPr lang="en-US" sz="1800" b="1" dirty="0"/>
          </a:p>
          <a:p>
            <a:pPr algn="just"/>
            <a:r>
              <a:rPr lang="en-US" sz="2000" b="1" dirty="0"/>
              <a:t>Wireless NIC:</a:t>
            </a:r>
            <a:r>
              <a:rPr lang="en-US" sz="2000" dirty="0"/>
              <a:t> </a:t>
            </a:r>
          </a:p>
          <a:p>
            <a:pPr algn="just"/>
            <a:r>
              <a:rPr lang="en-US" sz="2000" dirty="0"/>
              <a:t>	All the modern laptops use the wireless NIC. In Wireless NIC, a connection is made using the antenna that employs the </a:t>
            </a:r>
            <a:r>
              <a:rPr lang="en-US" sz="2000" b="1" dirty="0"/>
              <a:t>radio wave technology</a:t>
            </a:r>
            <a:r>
              <a:rPr lang="en-US" sz="2000" dirty="0"/>
              <a:t>.</a:t>
            </a:r>
          </a:p>
          <a:p>
            <a:pPr algn="just"/>
            <a:endParaRPr lang="en-US" sz="2000" dirty="0"/>
          </a:p>
          <a:p>
            <a:pPr algn="just"/>
            <a:r>
              <a:rPr lang="en-US" sz="2000" b="1" dirty="0"/>
              <a:t>Wired NIC:</a:t>
            </a:r>
            <a:r>
              <a:rPr lang="en-US" sz="2000" dirty="0"/>
              <a:t> </a:t>
            </a:r>
          </a:p>
          <a:p>
            <a:pPr algn="just"/>
            <a:r>
              <a:rPr lang="en-US" sz="2000" dirty="0"/>
              <a:t>	Cables use the </a:t>
            </a:r>
            <a:r>
              <a:rPr lang="en-US" sz="2000" b="1" dirty="0"/>
              <a:t>wired NIC</a:t>
            </a:r>
            <a:r>
              <a:rPr lang="en-US" sz="2000" dirty="0"/>
              <a:t> to transfer the data over the medium.</a:t>
            </a:r>
          </a:p>
        </p:txBody>
      </p:sp>
      <p:pic>
        <p:nvPicPr>
          <p:cNvPr id="9" name="Picture 8">
            <a:extLst>
              <a:ext uri="{FF2B5EF4-FFF2-40B4-BE49-F238E27FC236}">
                <a16:creationId xmlns:a16="http://schemas.microsoft.com/office/drawing/2014/main" id="{D2965B51-0E84-4A1C-AA67-5F700915CAD5}"/>
              </a:ext>
            </a:extLst>
          </p:cNvPr>
          <p:cNvPicPr>
            <a:picLocks noChangeAspect="1"/>
          </p:cNvPicPr>
          <p:nvPr/>
        </p:nvPicPr>
        <p:blipFill>
          <a:blip r:embed="rId2"/>
          <a:stretch>
            <a:fillRect/>
          </a:stretch>
        </p:blipFill>
        <p:spPr>
          <a:xfrm>
            <a:off x="6890093" y="737348"/>
            <a:ext cx="4853348" cy="2562145"/>
          </a:xfrm>
          <a:prstGeom prst="rect">
            <a:avLst/>
          </a:prstGeom>
        </p:spPr>
      </p:pic>
      <p:pic>
        <p:nvPicPr>
          <p:cNvPr id="4" name="Picture 3" descr="KL Deemed to be University Logo">
            <a:extLst>
              <a:ext uri="{FF2B5EF4-FFF2-40B4-BE49-F238E27FC236}">
                <a16:creationId xmlns:a16="http://schemas.microsoft.com/office/drawing/2014/main" id="{EA7B5AA1-10EF-4DC4-C3E8-7E32C5758FB4}"/>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038315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fltVal val="0"/>
                                          </p:val>
                                        </p:tav>
                                        <p:tav tm="100000">
                                          <p:val>
                                            <p:strVal val="#ppt_w"/>
                                          </p:val>
                                        </p:tav>
                                      </p:tavLst>
                                    </p:anim>
                                    <p:anim calcmode="lin" valueType="num">
                                      <p:cBhvr>
                                        <p:cTn id="8" dur="1000" fill="hold"/>
                                        <p:tgtEl>
                                          <p:spTgt spid="9"/>
                                        </p:tgtEl>
                                        <p:attrNameLst>
                                          <p:attrName>ppt_h</p:attrName>
                                        </p:attrNameLst>
                                      </p:cBhvr>
                                      <p:tavLst>
                                        <p:tav tm="0">
                                          <p:val>
                                            <p:fltVal val="0"/>
                                          </p:val>
                                        </p:tav>
                                        <p:tav tm="100000">
                                          <p:val>
                                            <p:strVal val="#ppt_h"/>
                                          </p:val>
                                        </p:tav>
                                      </p:tavLst>
                                    </p:anim>
                                    <p:animEffect transition="in" filter="fade">
                                      <p:cBhvr>
                                        <p:cTn id="9" dur="10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8"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1000" fill="hold"/>
                                        <p:tgtEl>
                                          <p:spTgt spid="6"/>
                                        </p:tgtEl>
                                        <p:attrNameLst>
                                          <p:attrName>ppt_x</p:attrName>
                                        </p:attrNameLst>
                                      </p:cBhvr>
                                      <p:tavLst>
                                        <p:tav tm="0">
                                          <p:val>
                                            <p:strVal val="0-#ppt_w/2"/>
                                          </p:val>
                                        </p:tav>
                                        <p:tav tm="100000">
                                          <p:val>
                                            <p:strVal val="#ppt_x"/>
                                          </p:val>
                                        </p:tav>
                                      </p:tavLst>
                                    </p:anim>
                                    <p:anim calcmode="lin" valueType="num">
                                      <p:cBhvr additive="base">
                                        <p:cTn id="15" dur="10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2"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additive="base">
                                        <p:cTn id="20" dur="1000" fill="hold"/>
                                        <p:tgtEl>
                                          <p:spTgt spid="3"/>
                                        </p:tgtEl>
                                        <p:attrNameLst>
                                          <p:attrName>ppt_x</p:attrName>
                                        </p:attrNameLst>
                                      </p:cBhvr>
                                      <p:tavLst>
                                        <p:tav tm="0">
                                          <p:val>
                                            <p:strVal val="1+#ppt_w/2"/>
                                          </p:val>
                                        </p:tav>
                                        <p:tav tm="100000">
                                          <p:val>
                                            <p:strVal val="#ppt_x"/>
                                          </p:val>
                                        </p:tav>
                                      </p:tavLst>
                                    </p:anim>
                                    <p:anim calcmode="lin" valueType="num">
                                      <p:cBhvr additive="base">
                                        <p:cTn id="21" dur="10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2BCF8-72DE-4656-A013-46F31D7F645E}"/>
              </a:ext>
            </a:extLst>
          </p:cNvPr>
          <p:cNvSpPr>
            <a:spLocks noGrp="1"/>
          </p:cNvSpPr>
          <p:nvPr>
            <p:ph type="title"/>
          </p:nvPr>
        </p:nvSpPr>
        <p:spPr>
          <a:xfrm>
            <a:off x="2249222" y="0"/>
            <a:ext cx="8512564" cy="576943"/>
          </a:xfrm>
        </p:spPr>
        <p:txBody>
          <a:bodyPr>
            <a:normAutofit fontScale="90000"/>
          </a:bodyPr>
          <a:lstStyle/>
          <a:p>
            <a:r>
              <a:rPr lang="en-US" b="1" dirty="0">
                <a:solidFill>
                  <a:srgbClr val="C00000"/>
                </a:solidFill>
              </a:rPr>
              <a:t>Components of computer networks…</a:t>
            </a:r>
            <a:endParaRPr lang="en-US" dirty="0"/>
          </a:p>
        </p:txBody>
      </p:sp>
      <p:sp>
        <p:nvSpPr>
          <p:cNvPr id="6" name="TextBox 5">
            <a:extLst>
              <a:ext uri="{FF2B5EF4-FFF2-40B4-BE49-F238E27FC236}">
                <a16:creationId xmlns:a16="http://schemas.microsoft.com/office/drawing/2014/main" id="{E66DD149-99C5-4735-9493-91E7309D2588}"/>
              </a:ext>
            </a:extLst>
          </p:cNvPr>
          <p:cNvSpPr txBox="1"/>
          <p:nvPr/>
        </p:nvSpPr>
        <p:spPr>
          <a:xfrm>
            <a:off x="448559" y="943877"/>
            <a:ext cx="5176910" cy="3231654"/>
          </a:xfrm>
          <a:prstGeom prst="rect">
            <a:avLst/>
          </a:prstGeom>
          <a:noFill/>
          <a:ln>
            <a:solidFill>
              <a:schemeClr val="tx1"/>
            </a:solidFill>
          </a:ln>
        </p:spPr>
        <p:txBody>
          <a:bodyPr wrap="square" rtlCol="0">
            <a:spAutoFit/>
          </a:bodyPr>
          <a:lstStyle/>
          <a:p>
            <a:pPr algn="ctr"/>
            <a:r>
              <a:rPr lang="en-US" sz="2400" b="1" dirty="0">
                <a:solidFill>
                  <a:srgbClr val="0070C0"/>
                </a:solidFill>
              </a:rPr>
              <a:t>Hub</a:t>
            </a:r>
          </a:p>
          <a:p>
            <a:endParaRPr lang="en-US" b="1" dirty="0"/>
          </a:p>
          <a:p>
            <a:pPr marL="285750" indent="-285750" algn="just">
              <a:buFont typeface="Wingdings" panose="05000000000000000000" pitchFamily="2" charset="2"/>
              <a:buChar char="Ø"/>
            </a:pPr>
            <a:r>
              <a:rPr lang="en-US" dirty="0"/>
              <a:t>Hub is a central device that splits the network connection into multiple devices. </a:t>
            </a:r>
          </a:p>
          <a:p>
            <a:pPr marL="285750" indent="-285750" algn="just">
              <a:buFont typeface="Wingdings" panose="05000000000000000000" pitchFamily="2" charset="2"/>
              <a:buChar char="Ø"/>
            </a:pPr>
            <a:endParaRPr lang="en-US" dirty="0"/>
          </a:p>
          <a:p>
            <a:pPr marL="285750" indent="-285750" algn="just">
              <a:buFont typeface="Wingdings" panose="05000000000000000000" pitchFamily="2" charset="2"/>
              <a:buChar char="Ø"/>
            </a:pPr>
            <a:r>
              <a:rPr lang="en-US" dirty="0"/>
              <a:t>When computer requests for information from another computer, it sends the request to the Hub. </a:t>
            </a:r>
          </a:p>
          <a:p>
            <a:pPr marL="285750" indent="-285750" algn="just">
              <a:buFont typeface="Wingdings" panose="05000000000000000000" pitchFamily="2" charset="2"/>
              <a:buChar char="Ø"/>
            </a:pPr>
            <a:endParaRPr lang="en-US" dirty="0"/>
          </a:p>
          <a:p>
            <a:pPr marL="285750" indent="-285750" algn="just">
              <a:buFont typeface="Wingdings" panose="05000000000000000000" pitchFamily="2" charset="2"/>
              <a:buChar char="Ø"/>
            </a:pPr>
            <a:r>
              <a:rPr lang="en-US" dirty="0"/>
              <a:t>Hub distributes this request to all the interconnected computers.</a:t>
            </a:r>
            <a:endParaRPr lang="en-US" sz="2000" dirty="0"/>
          </a:p>
        </p:txBody>
      </p:sp>
      <p:sp>
        <p:nvSpPr>
          <p:cNvPr id="3" name="TextBox 2">
            <a:extLst>
              <a:ext uri="{FF2B5EF4-FFF2-40B4-BE49-F238E27FC236}">
                <a16:creationId xmlns:a16="http://schemas.microsoft.com/office/drawing/2014/main" id="{2A9788DA-DD6A-4B85-93BD-FDCEEFA87750}"/>
              </a:ext>
            </a:extLst>
          </p:cNvPr>
          <p:cNvSpPr txBox="1"/>
          <p:nvPr/>
        </p:nvSpPr>
        <p:spPr>
          <a:xfrm>
            <a:off x="6159309" y="3310665"/>
            <a:ext cx="5584131" cy="3508653"/>
          </a:xfrm>
          <a:prstGeom prst="rect">
            <a:avLst/>
          </a:prstGeom>
          <a:noFill/>
          <a:ln>
            <a:solidFill>
              <a:schemeClr val="tx1"/>
            </a:solidFill>
          </a:ln>
        </p:spPr>
        <p:txBody>
          <a:bodyPr wrap="square" rtlCol="0">
            <a:spAutoFit/>
          </a:bodyPr>
          <a:lstStyle/>
          <a:p>
            <a:pPr algn="ctr"/>
            <a:r>
              <a:rPr lang="en-US" sz="2400" b="1" dirty="0">
                <a:solidFill>
                  <a:srgbClr val="0070C0"/>
                </a:solidFill>
              </a:rPr>
              <a:t>Switch</a:t>
            </a:r>
          </a:p>
          <a:p>
            <a:endParaRPr lang="en-US" sz="1800" b="1" dirty="0"/>
          </a:p>
          <a:p>
            <a:pPr marL="285750" indent="-285750" algn="just">
              <a:buFont typeface="Wingdings" panose="05000000000000000000" pitchFamily="2" charset="2"/>
              <a:buChar char="Ø"/>
            </a:pPr>
            <a:r>
              <a:rPr lang="en-US" dirty="0"/>
              <a:t>Switch is a networking device that groups all the devices over the network to transfer the data to another device.</a:t>
            </a:r>
          </a:p>
          <a:p>
            <a:pPr marL="285750" indent="-285750" algn="just">
              <a:buFont typeface="Wingdings" panose="05000000000000000000" pitchFamily="2" charset="2"/>
              <a:buChar char="Ø"/>
            </a:pPr>
            <a:endParaRPr lang="en-US" dirty="0"/>
          </a:p>
          <a:p>
            <a:pPr marL="285750" indent="-285750" algn="just">
              <a:buFont typeface="Wingdings" panose="05000000000000000000" pitchFamily="2" charset="2"/>
              <a:buChar char="Ø"/>
            </a:pPr>
            <a:r>
              <a:rPr lang="en-US" dirty="0"/>
              <a:t> A switch is better than Hub as it does not broadcast the message over the network, i.e., it sends the message to the device for which it belongs to. </a:t>
            </a:r>
          </a:p>
          <a:p>
            <a:pPr marL="285750" indent="-285750" algn="just">
              <a:buFont typeface="Wingdings" panose="05000000000000000000" pitchFamily="2" charset="2"/>
              <a:buChar char="Ø"/>
            </a:pPr>
            <a:endParaRPr lang="en-US" dirty="0"/>
          </a:p>
          <a:p>
            <a:pPr marL="285750" indent="-285750" algn="just">
              <a:buFont typeface="Wingdings" panose="05000000000000000000" pitchFamily="2" charset="2"/>
              <a:buChar char="Ø"/>
            </a:pPr>
            <a:r>
              <a:rPr lang="en-US" dirty="0"/>
              <a:t>Therefore, we can say that switch sends the message directly from source to the destination.</a:t>
            </a:r>
            <a:endParaRPr lang="en-US" sz="2000" dirty="0"/>
          </a:p>
        </p:txBody>
      </p:sp>
      <p:pic>
        <p:nvPicPr>
          <p:cNvPr id="3074" name="Picture 2">
            <a:extLst>
              <a:ext uri="{FF2B5EF4-FFF2-40B4-BE49-F238E27FC236}">
                <a16:creationId xmlns:a16="http://schemas.microsoft.com/office/drawing/2014/main" id="{E368DEED-B98A-44DF-B533-33EB201C72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464" y="4431250"/>
            <a:ext cx="5753100" cy="1990725"/>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ECB29FF9-401F-4053-B945-181527AFC9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32692" y="715882"/>
            <a:ext cx="5715000" cy="253851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KL Deemed to be University Logo">
            <a:extLst>
              <a:ext uri="{FF2B5EF4-FFF2-40B4-BE49-F238E27FC236}">
                <a16:creationId xmlns:a16="http://schemas.microsoft.com/office/drawing/2014/main" id="{90C21792-4527-D267-1AF7-5F82F782B83C}"/>
              </a:ext>
            </a:extLst>
          </p:cNvPr>
          <p:cNvPicPr>
            <a:picLocks noChangeAspect="1" noChangeArrowheads="1"/>
          </p:cNvPicPr>
          <p:nvPr/>
        </p:nvPicPr>
        <p:blipFill>
          <a:blip r:embed="rId4"/>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451211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078"/>
                                        </p:tgtEl>
                                        <p:attrNameLst>
                                          <p:attrName>style.visibility</p:attrName>
                                        </p:attrNameLst>
                                      </p:cBhvr>
                                      <p:to>
                                        <p:strVal val="visible"/>
                                      </p:to>
                                    </p:set>
                                    <p:anim calcmode="lin" valueType="num">
                                      <p:cBhvr>
                                        <p:cTn id="7" dur="1000" fill="hold"/>
                                        <p:tgtEl>
                                          <p:spTgt spid="3078"/>
                                        </p:tgtEl>
                                        <p:attrNameLst>
                                          <p:attrName>ppt_w</p:attrName>
                                        </p:attrNameLst>
                                      </p:cBhvr>
                                      <p:tavLst>
                                        <p:tav tm="0">
                                          <p:val>
                                            <p:fltVal val="0"/>
                                          </p:val>
                                        </p:tav>
                                        <p:tav tm="100000">
                                          <p:val>
                                            <p:strVal val="#ppt_w"/>
                                          </p:val>
                                        </p:tav>
                                      </p:tavLst>
                                    </p:anim>
                                    <p:anim calcmode="lin" valueType="num">
                                      <p:cBhvr>
                                        <p:cTn id="8" dur="1000" fill="hold"/>
                                        <p:tgtEl>
                                          <p:spTgt spid="3078"/>
                                        </p:tgtEl>
                                        <p:attrNameLst>
                                          <p:attrName>ppt_h</p:attrName>
                                        </p:attrNameLst>
                                      </p:cBhvr>
                                      <p:tavLst>
                                        <p:tav tm="0">
                                          <p:val>
                                            <p:fltVal val="0"/>
                                          </p:val>
                                        </p:tav>
                                        <p:tav tm="100000">
                                          <p:val>
                                            <p:strVal val="#ppt_h"/>
                                          </p:val>
                                        </p:tav>
                                      </p:tavLst>
                                    </p:anim>
                                    <p:animEffect transition="in" filter="fade">
                                      <p:cBhvr>
                                        <p:cTn id="9" dur="1000"/>
                                        <p:tgtEl>
                                          <p:spTgt spid="3078"/>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8"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1000" fill="hold"/>
                                        <p:tgtEl>
                                          <p:spTgt spid="6"/>
                                        </p:tgtEl>
                                        <p:attrNameLst>
                                          <p:attrName>ppt_x</p:attrName>
                                        </p:attrNameLst>
                                      </p:cBhvr>
                                      <p:tavLst>
                                        <p:tav tm="0">
                                          <p:val>
                                            <p:strVal val="0-#ppt_w/2"/>
                                          </p:val>
                                        </p:tav>
                                        <p:tav tm="100000">
                                          <p:val>
                                            <p:strVal val="#ppt_x"/>
                                          </p:val>
                                        </p:tav>
                                      </p:tavLst>
                                    </p:anim>
                                    <p:anim calcmode="lin" valueType="num">
                                      <p:cBhvr additive="base">
                                        <p:cTn id="15" dur="10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2"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additive="base">
                                        <p:cTn id="20" dur="1000" fill="hold"/>
                                        <p:tgtEl>
                                          <p:spTgt spid="3"/>
                                        </p:tgtEl>
                                        <p:attrNameLst>
                                          <p:attrName>ppt_x</p:attrName>
                                        </p:attrNameLst>
                                      </p:cBhvr>
                                      <p:tavLst>
                                        <p:tav tm="0">
                                          <p:val>
                                            <p:strVal val="1+#ppt_w/2"/>
                                          </p:val>
                                        </p:tav>
                                        <p:tav tm="100000">
                                          <p:val>
                                            <p:strVal val="#ppt_x"/>
                                          </p:val>
                                        </p:tav>
                                      </p:tavLst>
                                    </p:anim>
                                    <p:anim calcmode="lin" valueType="num">
                                      <p:cBhvr additive="base">
                                        <p:cTn id="21" dur="10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nodeType="clickEffect">
                                  <p:stCondLst>
                                    <p:cond delay="0"/>
                                  </p:stCondLst>
                                  <p:childTnLst>
                                    <p:set>
                                      <p:cBhvr>
                                        <p:cTn id="25" dur="1" fill="hold">
                                          <p:stCondLst>
                                            <p:cond delay="0"/>
                                          </p:stCondLst>
                                        </p:cTn>
                                        <p:tgtEl>
                                          <p:spTgt spid="3074"/>
                                        </p:tgtEl>
                                        <p:attrNameLst>
                                          <p:attrName>style.visibility</p:attrName>
                                        </p:attrNameLst>
                                      </p:cBhvr>
                                      <p:to>
                                        <p:strVal val="visible"/>
                                      </p:to>
                                    </p:set>
                                    <p:anim calcmode="lin" valueType="num">
                                      <p:cBhvr>
                                        <p:cTn id="26" dur="1000" fill="hold"/>
                                        <p:tgtEl>
                                          <p:spTgt spid="3074"/>
                                        </p:tgtEl>
                                        <p:attrNameLst>
                                          <p:attrName>ppt_w</p:attrName>
                                        </p:attrNameLst>
                                      </p:cBhvr>
                                      <p:tavLst>
                                        <p:tav tm="0">
                                          <p:val>
                                            <p:fltVal val="0"/>
                                          </p:val>
                                        </p:tav>
                                        <p:tav tm="100000">
                                          <p:val>
                                            <p:strVal val="#ppt_w"/>
                                          </p:val>
                                        </p:tav>
                                      </p:tavLst>
                                    </p:anim>
                                    <p:anim calcmode="lin" valueType="num">
                                      <p:cBhvr>
                                        <p:cTn id="27" dur="1000" fill="hold"/>
                                        <p:tgtEl>
                                          <p:spTgt spid="3074"/>
                                        </p:tgtEl>
                                        <p:attrNameLst>
                                          <p:attrName>ppt_h</p:attrName>
                                        </p:attrNameLst>
                                      </p:cBhvr>
                                      <p:tavLst>
                                        <p:tav tm="0">
                                          <p:val>
                                            <p:fltVal val="0"/>
                                          </p:val>
                                        </p:tav>
                                        <p:tav tm="100000">
                                          <p:val>
                                            <p:strVal val="#ppt_h"/>
                                          </p:val>
                                        </p:tav>
                                      </p:tavLst>
                                    </p:anim>
                                    <p:animEffect transition="in" filter="fade">
                                      <p:cBhvr>
                                        <p:cTn id="28" dur="10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2BCF8-72DE-4656-A013-46F31D7F645E}"/>
              </a:ext>
            </a:extLst>
          </p:cNvPr>
          <p:cNvSpPr>
            <a:spLocks noGrp="1"/>
          </p:cNvSpPr>
          <p:nvPr>
            <p:ph type="title"/>
          </p:nvPr>
        </p:nvSpPr>
        <p:spPr>
          <a:xfrm>
            <a:off x="2685320" y="3842"/>
            <a:ext cx="8327635" cy="596234"/>
          </a:xfrm>
        </p:spPr>
        <p:txBody>
          <a:bodyPr>
            <a:normAutofit fontScale="90000"/>
          </a:bodyPr>
          <a:lstStyle/>
          <a:p>
            <a:r>
              <a:rPr lang="en-US" b="1" dirty="0">
                <a:solidFill>
                  <a:srgbClr val="C00000"/>
                </a:solidFill>
              </a:rPr>
              <a:t>Components of computer networks…</a:t>
            </a:r>
            <a:endParaRPr lang="en-US" dirty="0"/>
          </a:p>
        </p:txBody>
      </p:sp>
      <p:sp>
        <p:nvSpPr>
          <p:cNvPr id="6" name="TextBox 5">
            <a:extLst>
              <a:ext uri="{FF2B5EF4-FFF2-40B4-BE49-F238E27FC236}">
                <a16:creationId xmlns:a16="http://schemas.microsoft.com/office/drawing/2014/main" id="{E66DD149-99C5-4735-9493-91E7309D2588}"/>
              </a:ext>
            </a:extLst>
          </p:cNvPr>
          <p:cNvSpPr txBox="1"/>
          <p:nvPr/>
        </p:nvSpPr>
        <p:spPr>
          <a:xfrm>
            <a:off x="448558" y="943877"/>
            <a:ext cx="5714999" cy="5632311"/>
          </a:xfrm>
          <a:prstGeom prst="rect">
            <a:avLst/>
          </a:prstGeom>
          <a:noFill/>
          <a:ln>
            <a:solidFill>
              <a:schemeClr val="tx1"/>
            </a:solidFill>
          </a:ln>
        </p:spPr>
        <p:txBody>
          <a:bodyPr wrap="square" rtlCol="0">
            <a:spAutoFit/>
          </a:bodyPr>
          <a:lstStyle/>
          <a:p>
            <a:pPr algn="ctr"/>
            <a:r>
              <a:rPr lang="en-US" sz="2400" b="1" dirty="0">
                <a:solidFill>
                  <a:srgbClr val="0070C0"/>
                </a:solidFill>
              </a:rPr>
              <a:t>Cables and connectors</a:t>
            </a:r>
          </a:p>
          <a:p>
            <a:endParaRPr lang="en-US" b="1" dirty="0"/>
          </a:p>
          <a:p>
            <a:r>
              <a:rPr lang="en-US" sz="2400" dirty="0"/>
              <a:t>Cable is a transmission media that transmits the communication signals. </a:t>
            </a:r>
          </a:p>
          <a:p>
            <a:endParaRPr lang="en-US" b="1" dirty="0"/>
          </a:p>
          <a:p>
            <a:r>
              <a:rPr lang="en-US" b="1" u="sng" dirty="0"/>
              <a:t>Three types of Cables:</a:t>
            </a:r>
          </a:p>
          <a:p>
            <a:endParaRPr lang="en-US" dirty="0"/>
          </a:p>
          <a:p>
            <a:pPr marL="285750" indent="-285750" algn="just">
              <a:buFont typeface="Wingdings" panose="05000000000000000000" pitchFamily="2" charset="2"/>
              <a:buChar char="Ø"/>
            </a:pPr>
            <a:r>
              <a:rPr lang="en-US" b="1" dirty="0"/>
              <a:t>Twisted pair cable:</a:t>
            </a:r>
            <a:r>
              <a:rPr lang="en-US" dirty="0"/>
              <a:t> High-speed cable that transmits the data over 1Gbps or more.</a:t>
            </a:r>
          </a:p>
          <a:p>
            <a:pPr marL="285750" indent="-285750" algn="just">
              <a:buFont typeface="Wingdings" panose="05000000000000000000" pitchFamily="2" charset="2"/>
              <a:buChar char="Ø"/>
            </a:pPr>
            <a:endParaRPr lang="en-US" dirty="0"/>
          </a:p>
          <a:p>
            <a:pPr marL="285750" indent="-285750" algn="just">
              <a:buFont typeface="Wingdings" panose="05000000000000000000" pitchFamily="2" charset="2"/>
              <a:buChar char="Ø"/>
            </a:pPr>
            <a:r>
              <a:rPr lang="en-US" b="1" dirty="0"/>
              <a:t>Coaxial cable:</a:t>
            </a:r>
            <a:r>
              <a:rPr lang="en-US" dirty="0"/>
              <a:t> Resembles like a TV installation cable. Coaxial cable is more expensive than twisted pair cable, but it provides the high data transmission speed.</a:t>
            </a:r>
          </a:p>
          <a:p>
            <a:pPr marL="285750" indent="-285750" algn="just">
              <a:buFont typeface="Wingdings" panose="05000000000000000000" pitchFamily="2" charset="2"/>
              <a:buChar char="Ø"/>
            </a:pPr>
            <a:endParaRPr lang="en-US" dirty="0"/>
          </a:p>
          <a:p>
            <a:pPr marL="285750" indent="-285750" algn="just">
              <a:buFont typeface="Wingdings" panose="05000000000000000000" pitchFamily="2" charset="2"/>
              <a:buChar char="Ø"/>
            </a:pPr>
            <a:r>
              <a:rPr lang="en-US" b="1" dirty="0" err="1"/>
              <a:t>Fibre</a:t>
            </a:r>
            <a:r>
              <a:rPr lang="en-US" b="1" dirty="0"/>
              <a:t> optic cable:</a:t>
            </a:r>
            <a:r>
              <a:rPr lang="en-US" dirty="0"/>
              <a:t> High-speed cable that transmits the data using light beams. It provides high data transmission speed as compared to other cables. It is more expensive as compared to other cables, so it is installed at the government level.</a:t>
            </a:r>
          </a:p>
        </p:txBody>
      </p:sp>
      <p:pic>
        <p:nvPicPr>
          <p:cNvPr id="5" name="Picture 4">
            <a:extLst>
              <a:ext uri="{FF2B5EF4-FFF2-40B4-BE49-F238E27FC236}">
                <a16:creationId xmlns:a16="http://schemas.microsoft.com/office/drawing/2014/main" id="{7B4EC77A-520B-4B43-81A4-49173EB897DB}"/>
              </a:ext>
            </a:extLst>
          </p:cNvPr>
          <p:cNvPicPr>
            <a:picLocks noChangeAspect="1"/>
          </p:cNvPicPr>
          <p:nvPr/>
        </p:nvPicPr>
        <p:blipFill>
          <a:blip r:embed="rId2"/>
          <a:stretch>
            <a:fillRect/>
          </a:stretch>
        </p:blipFill>
        <p:spPr>
          <a:xfrm>
            <a:off x="6423076" y="1069145"/>
            <a:ext cx="5714999" cy="5322377"/>
          </a:xfrm>
          <a:prstGeom prst="rect">
            <a:avLst/>
          </a:prstGeom>
        </p:spPr>
      </p:pic>
      <p:pic>
        <p:nvPicPr>
          <p:cNvPr id="3" name="Picture 2" descr="KL Deemed to be University Logo">
            <a:extLst>
              <a:ext uri="{FF2B5EF4-FFF2-40B4-BE49-F238E27FC236}">
                <a16:creationId xmlns:a16="http://schemas.microsoft.com/office/drawing/2014/main" id="{7999B40B-24FF-E6CA-A55A-A79920C7B1C6}"/>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501010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6">
                                            <p:txEl>
                                              <p:pRg st="2" end="2"/>
                                            </p:txEl>
                                          </p:spTgt>
                                        </p:tgtEl>
                                        <p:attrNameLst>
                                          <p:attrName>style.visibility</p:attrName>
                                        </p:attrNameLst>
                                      </p:cBhvr>
                                      <p:to>
                                        <p:strVal val="visible"/>
                                      </p:to>
                                    </p:set>
                                    <p:anim calcmode="lin" valueType="num">
                                      <p:cBhvr>
                                        <p:cTn id="14" dur="1000" fill="hold"/>
                                        <p:tgtEl>
                                          <p:spTgt spid="6">
                                            <p:txEl>
                                              <p:pRg st="2" end="2"/>
                                            </p:txEl>
                                          </p:spTgt>
                                        </p:tgtEl>
                                        <p:attrNameLst>
                                          <p:attrName>ppt_w</p:attrName>
                                        </p:attrNameLst>
                                      </p:cBhvr>
                                      <p:tavLst>
                                        <p:tav tm="0">
                                          <p:val>
                                            <p:fltVal val="0"/>
                                          </p:val>
                                        </p:tav>
                                        <p:tav tm="100000">
                                          <p:val>
                                            <p:strVal val="#ppt_w"/>
                                          </p:val>
                                        </p:tav>
                                      </p:tavLst>
                                    </p:anim>
                                    <p:anim calcmode="lin" valueType="num">
                                      <p:cBhvr>
                                        <p:cTn id="15" dur="1000" fill="hold"/>
                                        <p:tgtEl>
                                          <p:spTgt spid="6">
                                            <p:txEl>
                                              <p:pRg st="2" end="2"/>
                                            </p:txEl>
                                          </p:spTgt>
                                        </p:tgtEl>
                                        <p:attrNameLst>
                                          <p:attrName>ppt_h</p:attrName>
                                        </p:attrNameLst>
                                      </p:cBhvr>
                                      <p:tavLst>
                                        <p:tav tm="0">
                                          <p:val>
                                            <p:fltVal val="0"/>
                                          </p:val>
                                        </p:tav>
                                        <p:tav tm="100000">
                                          <p:val>
                                            <p:strVal val="#ppt_h"/>
                                          </p:val>
                                        </p:tav>
                                      </p:tavLst>
                                    </p:anim>
                                    <p:animEffect transition="in" filter="fade">
                                      <p:cBhvr>
                                        <p:cTn id="16" dur="1000"/>
                                        <p:tgtEl>
                                          <p:spTgt spid="6">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anim calcmode="lin" valueType="num">
                                      <p:cBhvr additive="base">
                                        <p:cTn id="21"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22" dur="10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anim calcmode="lin" valueType="num">
                                      <p:cBhvr additive="base">
                                        <p:cTn id="27"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28" dur="1000" fill="hold"/>
                                        <p:tgtEl>
                                          <p:spTgt spid="6">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6">
                                            <p:txEl>
                                              <p:pRg st="8" end="8"/>
                                            </p:txEl>
                                          </p:spTgt>
                                        </p:tgtEl>
                                        <p:attrNameLst>
                                          <p:attrName>style.visibility</p:attrName>
                                        </p:attrNameLst>
                                      </p:cBhvr>
                                      <p:to>
                                        <p:strVal val="visible"/>
                                      </p:to>
                                    </p:set>
                                    <p:anim calcmode="lin" valueType="num">
                                      <p:cBhvr additive="base">
                                        <p:cTn id="31"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additive="base">
                                        <p:cTn id="32" dur="1000" fill="hold"/>
                                        <p:tgtEl>
                                          <p:spTgt spid="6">
                                            <p:txEl>
                                              <p:pRg st="8" end="8"/>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6">
                                            <p:txEl>
                                              <p:pRg st="10" end="10"/>
                                            </p:txEl>
                                          </p:spTgt>
                                        </p:tgtEl>
                                        <p:attrNameLst>
                                          <p:attrName>style.visibility</p:attrName>
                                        </p:attrNameLst>
                                      </p:cBhvr>
                                      <p:to>
                                        <p:strVal val="visible"/>
                                      </p:to>
                                    </p:set>
                                    <p:anim calcmode="lin" valueType="num">
                                      <p:cBhvr additive="base">
                                        <p:cTn id="35" dur="1000" fill="hold"/>
                                        <p:tgtEl>
                                          <p:spTgt spid="6">
                                            <p:txEl>
                                              <p:pRg st="10" end="10"/>
                                            </p:txEl>
                                          </p:spTgt>
                                        </p:tgtEl>
                                        <p:attrNameLst>
                                          <p:attrName>ppt_x</p:attrName>
                                        </p:attrNameLst>
                                      </p:cBhvr>
                                      <p:tavLst>
                                        <p:tav tm="0">
                                          <p:val>
                                            <p:strVal val="#ppt_x"/>
                                          </p:val>
                                        </p:tav>
                                        <p:tav tm="100000">
                                          <p:val>
                                            <p:strVal val="#ppt_x"/>
                                          </p:val>
                                        </p:tav>
                                      </p:tavLst>
                                    </p:anim>
                                    <p:anim calcmode="lin" valueType="num">
                                      <p:cBhvr additive="base">
                                        <p:cTn id="36" dur="1000" fill="hold"/>
                                        <p:tgtEl>
                                          <p:spTgt spid="6">
                                            <p:txEl>
                                              <p:pRg st="10" end="10"/>
                                            </p:txEl>
                                          </p:spTgt>
                                        </p:tgtEl>
                                        <p:attrNameLst>
                                          <p:attrName>ppt_y</p:attrName>
                                        </p:attrNameLst>
                                      </p:cBhvr>
                                      <p:tavLst>
                                        <p:tav tm="0">
                                          <p:val>
                                            <p:strVal val="1+#ppt_h/2"/>
                                          </p:val>
                                        </p:tav>
                                        <p:tav tm="100000">
                                          <p:val>
                                            <p:strVal val="#ppt_y"/>
                                          </p:val>
                                        </p:tav>
                                      </p:tavLst>
                                    </p:anim>
                                  </p:childTnLst>
                                </p:cTn>
                              </p:par>
                              <p:par>
                                <p:cTn id="37" presetID="2" presetClass="entr" presetSubtype="2" fill="hold" nodeType="withEffect">
                                  <p:stCondLst>
                                    <p:cond delay="0"/>
                                  </p:stCondLst>
                                  <p:childTnLst>
                                    <p:set>
                                      <p:cBhvr>
                                        <p:cTn id="38" dur="1" fill="hold">
                                          <p:stCondLst>
                                            <p:cond delay="0"/>
                                          </p:stCondLst>
                                        </p:cTn>
                                        <p:tgtEl>
                                          <p:spTgt spid="5"/>
                                        </p:tgtEl>
                                        <p:attrNameLst>
                                          <p:attrName>style.visibility</p:attrName>
                                        </p:attrNameLst>
                                      </p:cBhvr>
                                      <p:to>
                                        <p:strVal val="visible"/>
                                      </p:to>
                                    </p:set>
                                    <p:anim calcmode="lin" valueType="num">
                                      <p:cBhvr additive="base">
                                        <p:cTn id="39" dur="1000" fill="hold"/>
                                        <p:tgtEl>
                                          <p:spTgt spid="5"/>
                                        </p:tgtEl>
                                        <p:attrNameLst>
                                          <p:attrName>ppt_x</p:attrName>
                                        </p:attrNameLst>
                                      </p:cBhvr>
                                      <p:tavLst>
                                        <p:tav tm="0">
                                          <p:val>
                                            <p:strVal val="1+#ppt_w/2"/>
                                          </p:val>
                                        </p:tav>
                                        <p:tav tm="100000">
                                          <p:val>
                                            <p:strVal val="#ppt_x"/>
                                          </p:val>
                                        </p:tav>
                                      </p:tavLst>
                                    </p:anim>
                                    <p:anim calcmode="lin" valueType="num">
                                      <p:cBhvr additive="base">
                                        <p:cTn id="40" dur="10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2BCF8-72DE-4656-A013-46F31D7F645E}"/>
              </a:ext>
            </a:extLst>
          </p:cNvPr>
          <p:cNvSpPr>
            <a:spLocks noGrp="1"/>
          </p:cNvSpPr>
          <p:nvPr>
            <p:ph type="title"/>
          </p:nvPr>
        </p:nvSpPr>
        <p:spPr>
          <a:xfrm>
            <a:off x="2614982" y="54637"/>
            <a:ext cx="8878323" cy="576943"/>
          </a:xfrm>
        </p:spPr>
        <p:txBody>
          <a:bodyPr>
            <a:normAutofit fontScale="90000"/>
          </a:bodyPr>
          <a:lstStyle/>
          <a:p>
            <a:r>
              <a:rPr lang="en-US" b="1" dirty="0">
                <a:solidFill>
                  <a:srgbClr val="C00000"/>
                </a:solidFill>
              </a:rPr>
              <a:t>Components of computer networks…</a:t>
            </a:r>
            <a:endParaRPr lang="en-US" dirty="0"/>
          </a:p>
        </p:txBody>
      </p:sp>
      <p:sp>
        <p:nvSpPr>
          <p:cNvPr id="6" name="TextBox 5">
            <a:extLst>
              <a:ext uri="{FF2B5EF4-FFF2-40B4-BE49-F238E27FC236}">
                <a16:creationId xmlns:a16="http://schemas.microsoft.com/office/drawing/2014/main" id="{E66DD149-99C5-4735-9493-91E7309D2588}"/>
              </a:ext>
            </a:extLst>
          </p:cNvPr>
          <p:cNvSpPr txBox="1"/>
          <p:nvPr/>
        </p:nvSpPr>
        <p:spPr>
          <a:xfrm>
            <a:off x="125000" y="4084151"/>
            <a:ext cx="4431760" cy="2400657"/>
          </a:xfrm>
          <a:prstGeom prst="rect">
            <a:avLst/>
          </a:prstGeom>
          <a:noFill/>
          <a:ln>
            <a:solidFill>
              <a:schemeClr val="tx1"/>
            </a:solidFill>
          </a:ln>
        </p:spPr>
        <p:txBody>
          <a:bodyPr wrap="square" rtlCol="0">
            <a:spAutoFit/>
          </a:bodyPr>
          <a:lstStyle/>
          <a:p>
            <a:pPr algn="ctr"/>
            <a:r>
              <a:rPr lang="en-US" sz="2400" b="1" dirty="0">
                <a:solidFill>
                  <a:srgbClr val="0070C0"/>
                </a:solidFill>
              </a:rPr>
              <a:t>Router</a:t>
            </a:r>
          </a:p>
          <a:p>
            <a:endParaRPr lang="en-US" b="1" dirty="0"/>
          </a:p>
          <a:p>
            <a:pPr marL="285750" indent="-285750" algn="just">
              <a:buFont typeface="Wingdings" panose="05000000000000000000" pitchFamily="2" charset="2"/>
              <a:buChar char="Ø"/>
            </a:pPr>
            <a:r>
              <a:rPr lang="en-US" dirty="0"/>
              <a:t>Router is a device that connects the LAN to the internet. </a:t>
            </a:r>
          </a:p>
          <a:p>
            <a:pPr marL="285750" indent="-285750" algn="just">
              <a:buFont typeface="Wingdings" panose="05000000000000000000" pitchFamily="2" charset="2"/>
              <a:buChar char="Ø"/>
            </a:pPr>
            <a:endParaRPr lang="en-US" dirty="0"/>
          </a:p>
          <a:p>
            <a:pPr marL="285750" indent="-285750" algn="just">
              <a:buFont typeface="Wingdings" panose="05000000000000000000" pitchFamily="2" charset="2"/>
              <a:buChar char="Ø"/>
            </a:pPr>
            <a:r>
              <a:rPr lang="en-US" dirty="0"/>
              <a:t>The router is mainly used to connect the distinct networks or connect the internet to multiple computers.</a:t>
            </a:r>
            <a:endParaRPr lang="en-US" sz="2000" dirty="0"/>
          </a:p>
        </p:txBody>
      </p:sp>
      <p:sp>
        <p:nvSpPr>
          <p:cNvPr id="3" name="TextBox 2">
            <a:extLst>
              <a:ext uri="{FF2B5EF4-FFF2-40B4-BE49-F238E27FC236}">
                <a16:creationId xmlns:a16="http://schemas.microsoft.com/office/drawing/2014/main" id="{2A9788DA-DD6A-4B85-93BD-FDCEEFA87750}"/>
              </a:ext>
            </a:extLst>
          </p:cNvPr>
          <p:cNvSpPr txBox="1"/>
          <p:nvPr/>
        </p:nvSpPr>
        <p:spPr>
          <a:xfrm>
            <a:off x="4811890" y="695345"/>
            <a:ext cx="6983870" cy="2677656"/>
          </a:xfrm>
          <a:prstGeom prst="rect">
            <a:avLst/>
          </a:prstGeom>
          <a:noFill/>
          <a:ln>
            <a:solidFill>
              <a:schemeClr val="tx1"/>
            </a:solidFill>
          </a:ln>
        </p:spPr>
        <p:txBody>
          <a:bodyPr wrap="square" rtlCol="0">
            <a:spAutoFit/>
          </a:bodyPr>
          <a:lstStyle/>
          <a:p>
            <a:pPr algn="ctr"/>
            <a:r>
              <a:rPr lang="en-US" sz="2400" b="1" dirty="0">
                <a:solidFill>
                  <a:srgbClr val="0070C0"/>
                </a:solidFill>
              </a:rPr>
              <a:t>Modem</a:t>
            </a:r>
          </a:p>
          <a:p>
            <a:endParaRPr lang="en-US" sz="1800" b="1" dirty="0"/>
          </a:p>
          <a:p>
            <a:pPr marL="285750" indent="-285750" algn="just">
              <a:buFont typeface="Wingdings" panose="05000000000000000000" pitchFamily="2" charset="2"/>
              <a:buChar char="Ø"/>
            </a:pPr>
            <a:r>
              <a:rPr lang="en-US" dirty="0"/>
              <a:t>Modem connects the computer to the internet over the existing telephone line. </a:t>
            </a:r>
          </a:p>
          <a:p>
            <a:pPr marL="285750" indent="-285750" algn="just">
              <a:buFont typeface="Wingdings" panose="05000000000000000000" pitchFamily="2" charset="2"/>
              <a:buChar char="Ø"/>
            </a:pPr>
            <a:endParaRPr lang="en-US" dirty="0"/>
          </a:p>
          <a:p>
            <a:pPr marL="285750" indent="-285750" algn="just">
              <a:buFont typeface="Wingdings" panose="05000000000000000000" pitchFamily="2" charset="2"/>
              <a:buChar char="Ø"/>
            </a:pPr>
            <a:r>
              <a:rPr lang="en-US" dirty="0"/>
              <a:t>A modem is not integrated with the computer motherboard. </a:t>
            </a:r>
          </a:p>
          <a:p>
            <a:pPr marL="285750" indent="-285750" algn="just">
              <a:buFont typeface="Wingdings" panose="05000000000000000000" pitchFamily="2" charset="2"/>
              <a:buChar char="Ø"/>
            </a:pPr>
            <a:endParaRPr lang="en-US" dirty="0"/>
          </a:p>
          <a:p>
            <a:pPr marL="285750" indent="-285750" algn="just">
              <a:buFont typeface="Wingdings" panose="05000000000000000000" pitchFamily="2" charset="2"/>
              <a:buChar char="Ø"/>
            </a:pPr>
            <a:r>
              <a:rPr lang="en-US" dirty="0"/>
              <a:t>A modem is a separate part on the PC slot found on the motherboard.</a:t>
            </a:r>
            <a:endParaRPr lang="en-US" sz="2000" dirty="0"/>
          </a:p>
        </p:txBody>
      </p:sp>
      <p:pic>
        <p:nvPicPr>
          <p:cNvPr id="5" name="Picture 4">
            <a:extLst>
              <a:ext uri="{FF2B5EF4-FFF2-40B4-BE49-F238E27FC236}">
                <a16:creationId xmlns:a16="http://schemas.microsoft.com/office/drawing/2014/main" id="{080728E6-6C13-428C-B7A5-8533134E9F5C}"/>
              </a:ext>
            </a:extLst>
          </p:cNvPr>
          <p:cNvPicPr>
            <a:picLocks noChangeAspect="1"/>
          </p:cNvPicPr>
          <p:nvPr/>
        </p:nvPicPr>
        <p:blipFill>
          <a:blip r:embed="rId2"/>
          <a:stretch>
            <a:fillRect/>
          </a:stretch>
        </p:blipFill>
        <p:spPr>
          <a:xfrm>
            <a:off x="125001" y="756305"/>
            <a:ext cx="4294599" cy="2914650"/>
          </a:xfrm>
          <a:prstGeom prst="rect">
            <a:avLst/>
          </a:prstGeom>
        </p:spPr>
      </p:pic>
      <p:pic>
        <p:nvPicPr>
          <p:cNvPr id="5126" name="Picture 6">
            <a:extLst>
              <a:ext uri="{FF2B5EF4-FFF2-40B4-BE49-F238E27FC236}">
                <a16:creationId xmlns:a16="http://schemas.microsoft.com/office/drawing/2014/main" id="{DEE9059D-0217-4734-9699-A2A9322C57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1890" y="3429000"/>
            <a:ext cx="7255109" cy="34290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KL Deemed to be University Logo">
            <a:extLst>
              <a:ext uri="{FF2B5EF4-FFF2-40B4-BE49-F238E27FC236}">
                <a16:creationId xmlns:a16="http://schemas.microsoft.com/office/drawing/2014/main" id="{06F31C00-02D1-2862-88AF-84C3A49F6131}"/>
              </a:ext>
            </a:extLst>
          </p:cNvPr>
          <p:cNvPicPr>
            <a:picLocks noChangeAspect="1" noChangeArrowheads="1"/>
          </p:cNvPicPr>
          <p:nvPr/>
        </p:nvPicPr>
        <p:blipFill>
          <a:blip r:embed="rId4"/>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981828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2"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additive="base">
                                        <p:cTn id="14" dur="1000" fill="hold"/>
                                        <p:tgtEl>
                                          <p:spTgt spid="3"/>
                                        </p:tgtEl>
                                        <p:attrNameLst>
                                          <p:attrName>ppt_x</p:attrName>
                                        </p:attrNameLst>
                                      </p:cBhvr>
                                      <p:tavLst>
                                        <p:tav tm="0">
                                          <p:val>
                                            <p:strVal val="1+#ppt_w/2"/>
                                          </p:val>
                                        </p:tav>
                                        <p:tav tm="100000">
                                          <p:val>
                                            <p:strVal val="#ppt_x"/>
                                          </p:val>
                                        </p:tav>
                                      </p:tavLst>
                                    </p:anim>
                                    <p:anim calcmode="lin" valueType="num">
                                      <p:cBhvr additive="base">
                                        <p:cTn id="15" dur="10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8"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additive="base">
                                        <p:cTn id="20" dur="1000" fill="hold"/>
                                        <p:tgtEl>
                                          <p:spTgt spid="6"/>
                                        </p:tgtEl>
                                        <p:attrNameLst>
                                          <p:attrName>ppt_x</p:attrName>
                                        </p:attrNameLst>
                                      </p:cBhvr>
                                      <p:tavLst>
                                        <p:tav tm="0">
                                          <p:val>
                                            <p:strVal val="0-#ppt_w/2"/>
                                          </p:val>
                                        </p:tav>
                                        <p:tav tm="100000">
                                          <p:val>
                                            <p:strVal val="#ppt_x"/>
                                          </p:val>
                                        </p:tav>
                                      </p:tavLst>
                                    </p:anim>
                                    <p:anim calcmode="lin" valueType="num">
                                      <p:cBhvr additive="base">
                                        <p:cTn id="21" dur="10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nodeType="clickEffect">
                                  <p:stCondLst>
                                    <p:cond delay="0"/>
                                  </p:stCondLst>
                                  <p:childTnLst>
                                    <p:set>
                                      <p:cBhvr>
                                        <p:cTn id="25" dur="1" fill="hold">
                                          <p:stCondLst>
                                            <p:cond delay="0"/>
                                          </p:stCondLst>
                                        </p:cTn>
                                        <p:tgtEl>
                                          <p:spTgt spid="5126"/>
                                        </p:tgtEl>
                                        <p:attrNameLst>
                                          <p:attrName>style.visibility</p:attrName>
                                        </p:attrNameLst>
                                      </p:cBhvr>
                                      <p:to>
                                        <p:strVal val="visible"/>
                                      </p:to>
                                    </p:set>
                                    <p:anim calcmode="lin" valueType="num">
                                      <p:cBhvr>
                                        <p:cTn id="26" dur="1000" fill="hold"/>
                                        <p:tgtEl>
                                          <p:spTgt spid="5126"/>
                                        </p:tgtEl>
                                        <p:attrNameLst>
                                          <p:attrName>ppt_w</p:attrName>
                                        </p:attrNameLst>
                                      </p:cBhvr>
                                      <p:tavLst>
                                        <p:tav tm="0">
                                          <p:val>
                                            <p:fltVal val="0"/>
                                          </p:val>
                                        </p:tav>
                                        <p:tav tm="100000">
                                          <p:val>
                                            <p:strVal val="#ppt_w"/>
                                          </p:val>
                                        </p:tav>
                                      </p:tavLst>
                                    </p:anim>
                                    <p:anim calcmode="lin" valueType="num">
                                      <p:cBhvr>
                                        <p:cTn id="27" dur="1000" fill="hold"/>
                                        <p:tgtEl>
                                          <p:spTgt spid="5126"/>
                                        </p:tgtEl>
                                        <p:attrNameLst>
                                          <p:attrName>ppt_h</p:attrName>
                                        </p:attrNameLst>
                                      </p:cBhvr>
                                      <p:tavLst>
                                        <p:tav tm="0">
                                          <p:val>
                                            <p:fltVal val="0"/>
                                          </p:val>
                                        </p:tav>
                                        <p:tav tm="100000">
                                          <p:val>
                                            <p:strVal val="#ppt_h"/>
                                          </p:val>
                                        </p:tav>
                                      </p:tavLst>
                                    </p:anim>
                                    <p:animEffect transition="in" filter="fade">
                                      <p:cBhvr>
                                        <p:cTn id="28" dur="1000"/>
                                        <p:tgtEl>
                                          <p:spTgt spid="51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BFE7F-FCA2-457E-BC25-137968FD97BA}"/>
              </a:ext>
            </a:extLst>
          </p:cNvPr>
          <p:cNvSpPr>
            <a:spLocks noGrp="1"/>
          </p:cNvSpPr>
          <p:nvPr>
            <p:ph type="title"/>
          </p:nvPr>
        </p:nvSpPr>
        <p:spPr>
          <a:xfrm>
            <a:off x="4220308" y="15901"/>
            <a:ext cx="4740812" cy="622496"/>
          </a:xfrm>
        </p:spPr>
        <p:txBody>
          <a:bodyPr/>
          <a:lstStyle/>
          <a:p>
            <a:r>
              <a:rPr lang="en-US" b="1" dirty="0">
                <a:solidFill>
                  <a:srgbClr val="C00000"/>
                </a:solidFill>
              </a:rPr>
              <a:t>Sample Network</a:t>
            </a:r>
            <a:endParaRPr lang="en-US" dirty="0"/>
          </a:p>
        </p:txBody>
      </p:sp>
      <p:pic>
        <p:nvPicPr>
          <p:cNvPr id="4" name="Picture 4">
            <a:extLst>
              <a:ext uri="{FF2B5EF4-FFF2-40B4-BE49-F238E27FC236}">
                <a16:creationId xmlns:a16="http://schemas.microsoft.com/office/drawing/2014/main" id="{F98DBF23-8785-4153-A496-821AFBACD0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6880" y="902166"/>
            <a:ext cx="9151620" cy="578518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KL Deemed to be University Logo">
            <a:extLst>
              <a:ext uri="{FF2B5EF4-FFF2-40B4-BE49-F238E27FC236}">
                <a16:creationId xmlns:a16="http://schemas.microsoft.com/office/drawing/2014/main" id="{817B595E-EEBD-B101-03E0-DAE533CF9988}"/>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147285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500" fill="hold"/>
                                        <p:tgtEl>
                                          <p:spTgt spid="4"/>
                                        </p:tgtEl>
                                        <p:attrNameLst>
                                          <p:attrName>ppt_w</p:attrName>
                                        </p:attrNameLst>
                                      </p:cBhvr>
                                      <p:tavLst>
                                        <p:tav tm="0">
                                          <p:val>
                                            <p:fltVal val="0"/>
                                          </p:val>
                                        </p:tav>
                                        <p:tav tm="100000">
                                          <p:val>
                                            <p:strVal val="#ppt_w"/>
                                          </p:val>
                                        </p:tav>
                                      </p:tavLst>
                                    </p:anim>
                                    <p:anim calcmode="lin" valueType="num">
                                      <p:cBhvr>
                                        <p:cTn id="8" dur="1500" fill="hold"/>
                                        <p:tgtEl>
                                          <p:spTgt spid="4"/>
                                        </p:tgtEl>
                                        <p:attrNameLst>
                                          <p:attrName>ppt_h</p:attrName>
                                        </p:attrNameLst>
                                      </p:cBhvr>
                                      <p:tavLst>
                                        <p:tav tm="0">
                                          <p:val>
                                            <p:fltVal val="0"/>
                                          </p:val>
                                        </p:tav>
                                        <p:tav tm="100000">
                                          <p:val>
                                            <p:strVal val="#ppt_h"/>
                                          </p:val>
                                        </p:tav>
                                      </p:tavLst>
                                    </p:anim>
                                    <p:animEffect transition="in" filter="fade">
                                      <p:cBhvr>
                                        <p:cTn id="9" dur="1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E7E46F1D-3C03-4642-8024-93DA3192B328}"/>
              </a:ext>
            </a:extLst>
          </p:cNvPr>
          <p:cNvSpPr>
            <a:spLocks noGrp="1"/>
          </p:cNvSpPr>
          <p:nvPr>
            <p:ph idx="1"/>
          </p:nvPr>
        </p:nvSpPr>
        <p:spPr>
          <a:xfrm>
            <a:off x="84405" y="1730326"/>
            <a:ext cx="6499274" cy="3995224"/>
          </a:xfrm>
        </p:spPr>
        <p:txBody>
          <a:bodyPr>
            <a:normAutofit/>
          </a:bodyPr>
          <a:lstStyle/>
          <a:p>
            <a:pPr algn="just">
              <a:buFont typeface="Wingdings" panose="05000000000000000000" pitchFamily="2" charset="2"/>
              <a:buChar char="Ø"/>
            </a:pPr>
            <a:r>
              <a:rPr lang="en-US" sz="2400" b="1" i="0" dirty="0">
                <a:effectLst/>
                <a:latin typeface="+mn-lt"/>
              </a:rPr>
              <a:t>Computer Network Architecture </a:t>
            </a:r>
            <a:r>
              <a:rPr lang="en-US" sz="2400" i="0" dirty="0">
                <a:effectLst/>
                <a:latin typeface="+mn-lt"/>
              </a:rPr>
              <a:t>is defined as the physical and logical design of the software, hardware, protocols, and media of the transmission of data. </a:t>
            </a:r>
          </a:p>
          <a:p>
            <a:pPr algn="just">
              <a:buFont typeface="Wingdings" panose="05000000000000000000" pitchFamily="2" charset="2"/>
              <a:buChar char="Ø"/>
            </a:pPr>
            <a:endParaRPr lang="en-US" sz="2400" i="0" dirty="0">
              <a:effectLst/>
              <a:latin typeface="+mn-lt"/>
            </a:endParaRPr>
          </a:p>
          <a:p>
            <a:pPr algn="just">
              <a:buFont typeface="Wingdings" panose="05000000000000000000" pitchFamily="2" charset="2"/>
              <a:buChar char="Ø"/>
            </a:pPr>
            <a:r>
              <a:rPr lang="en-US" sz="2400" i="0" dirty="0">
                <a:effectLst/>
                <a:latin typeface="+mn-lt"/>
              </a:rPr>
              <a:t>Simply we can say that how computers are organized and how tasks are allocated to the computer.</a:t>
            </a:r>
            <a:endParaRPr lang="en-US" sz="2400" dirty="0">
              <a:latin typeface="+mn-lt"/>
            </a:endParaRPr>
          </a:p>
        </p:txBody>
      </p:sp>
      <p:pic>
        <p:nvPicPr>
          <p:cNvPr id="7" name="Picture 6">
            <a:extLst>
              <a:ext uri="{FF2B5EF4-FFF2-40B4-BE49-F238E27FC236}">
                <a16:creationId xmlns:a16="http://schemas.microsoft.com/office/drawing/2014/main" id="{027D448C-9220-4C85-803B-FA2330E0F4D1}"/>
              </a:ext>
            </a:extLst>
          </p:cNvPr>
          <p:cNvPicPr>
            <a:picLocks noChangeAspect="1"/>
          </p:cNvPicPr>
          <p:nvPr/>
        </p:nvPicPr>
        <p:blipFill>
          <a:blip r:embed="rId2"/>
          <a:stretch>
            <a:fillRect/>
          </a:stretch>
        </p:blipFill>
        <p:spPr>
          <a:xfrm>
            <a:off x="6922477" y="1862137"/>
            <a:ext cx="4953000" cy="3133725"/>
          </a:xfrm>
          <a:prstGeom prst="rect">
            <a:avLst/>
          </a:prstGeom>
        </p:spPr>
      </p:pic>
      <p:pic>
        <p:nvPicPr>
          <p:cNvPr id="3" name="Picture 2" descr="KL Deemed to be University Logo">
            <a:extLst>
              <a:ext uri="{FF2B5EF4-FFF2-40B4-BE49-F238E27FC236}">
                <a16:creationId xmlns:a16="http://schemas.microsoft.com/office/drawing/2014/main" id="{3A6440B5-C55F-4DD4-1C18-AC525CF805CE}"/>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 name="Rounded Rectangle 17">
            <a:extLst>
              <a:ext uri="{FF2B5EF4-FFF2-40B4-BE49-F238E27FC236}">
                <a16:creationId xmlns:a16="http://schemas.microsoft.com/office/drawing/2014/main" id="{B5190B53-E317-DDCB-A62B-4C7D3F43A1B3}"/>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COMPUTER NETWORK ARCHITECTURE </a:t>
            </a:r>
          </a:p>
        </p:txBody>
      </p:sp>
    </p:spTree>
    <p:extLst>
      <p:ext uri="{BB962C8B-B14F-4D97-AF65-F5344CB8AC3E}">
        <p14:creationId xmlns:p14="http://schemas.microsoft.com/office/powerpoint/2010/main" val="669074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 calcmode="lin" valueType="num">
                                      <p:cBhvr additive="base">
                                        <p:cTn id="13"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4" dur="10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1000" fill="hold"/>
                                        <p:tgtEl>
                                          <p:spTgt spid="7"/>
                                        </p:tgtEl>
                                        <p:attrNameLst>
                                          <p:attrName>ppt_w</p:attrName>
                                        </p:attrNameLst>
                                      </p:cBhvr>
                                      <p:tavLst>
                                        <p:tav tm="0">
                                          <p:val>
                                            <p:fltVal val="0"/>
                                          </p:val>
                                        </p:tav>
                                        <p:tav tm="100000">
                                          <p:val>
                                            <p:strVal val="#ppt_w"/>
                                          </p:val>
                                        </p:tav>
                                      </p:tavLst>
                                    </p:anim>
                                    <p:anim calcmode="lin" valueType="num">
                                      <p:cBhvr>
                                        <p:cTn id="20" dur="1000" fill="hold"/>
                                        <p:tgtEl>
                                          <p:spTgt spid="7"/>
                                        </p:tgtEl>
                                        <p:attrNameLst>
                                          <p:attrName>ppt_h</p:attrName>
                                        </p:attrNameLst>
                                      </p:cBhvr>
                                      <p:tavLst>
                                        <p:tav tm="0">
                                          <p:val>
                                            <p:fltVal val="0"/>
                                          </p:val>
                                        </p:tav>
                                        <p:tav tm="100000">
                                          <p:val>
                                            <p:strVal val="#ppt_h"/>
                                          </p:val>
                                        </p:tav>
                                      </p:tavLst>
                                    </p:anim>
                                    <p:animEffect transition="in" filter="fade">
                                      <p:cBhvr>
                                        <p:cTn id="21"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2BCF8-72DE-4656-A013-46F31D7F645E}"/>
              </a:ext>
            </a:extLst>
          </p:cNvPr>
          <p:cNvSpPr>
            <a:spLocks noGrp="1"/>
          </p:cNvSpPr>
          <p:nvPr>
            <p:ph type="title"/>
          </p:nvPr>
        </p:nvSpPr>
        <p:spPr>
          <a:xfrm>
            <a:off x="6108727" y="98475"/>
            <a:ext cx="5567457" cy="492368"/>
          </a:xfrm>
        </p:spPr>
        <p:txBody>
          <a:bodyPr>
            <a:normAutofit/>
          </a:bodyPr>
          <a:lstStyle/>
          <a:p>
            <a:pPr algn="ctr"/>
            <a:r>
              <a:rPr lang="en-US" sz="2700" b="1" dirty="0">
                <a:solidFill>
                  <a:srgbClr val="C00000"/>
                </a:solidFill>
              </a:rPr>
              <a:t>Client/server network</a:t>
            </a:r>
            <a:endParaRPr lang="en-US" sz="2700" dirty="0"/>
          </a:p>
        </p:txBody>
      </p:sp>
      <p:sp>
        <p:nvSpPr>
          <p:cNvPr id="4" name="Content Placeholder 3">
            <a:extLst>
              <a:ext uri="{FF2B5EF4-FFF2-40B4-BE49-F238E27FC236}">
                <a16:creationId xmlns:a16="http://schemas.microsoft.com/office/drawing/2014/main" id="{E7E46F1D-3C03-4642-8024-93DA3192B328}"/>
              </a:ext>
            </a:extLst>
          </p:cNvPr>
          <p:cNvSpPr>
            <a:spLocks noGrp="1"/>
          </p:cNvSpPr>
          <p:nvPr>
            <p:ph idx="1"/>
          </p:nvPr>
        </p:nvSpPr>
        <p:spPr>
          <a:xfrm>
            <a:off x="5447668" y="893296"/>
            <a:ext cx="6744332" cy="5704452"/>
          </a:xfrm>
        </p:spPr>
        <p:txBody>
          <a:bodyPr>
            <a:noAutofit/>
          </a:bodyPr>
          <a:lstStyle/>
          <a:p>
            <a:pPr algn="just"/>
            <a:r>
              <a:rPr lang="en-US" sz="2000" dirty="0"/>
              <a:t>Is a network model designed for the end users called clients, to access the resources such as data, songs, video, etc. from a central computer known as Server.</a:t>
            </a:r>
          </a:p>
          <a:p>
            <a:pPr algn="just"/>
            <a:endParaRPr lang="en-US" sz="600" dirty="0"/>
          </a:p>
          <a:p>
            <a:pPr algn="just"/>
            <a:r>
              <a:rPr lang="en-US" sz="2000" dirty="0"/>
              <a:t>The central controller is known as a </a:t>
            </a:r>
            <a:r>
              <a:rPr lang="en-US" sz="2000" b="1" dirty="0"/>
              <a:t>server</a:t>
            </a:r>
            <a:r>
              <a:rPr lang="en-US" sz="2000" dirty="0"/>
              <a:t> while all other computers in the network are called </a:t>
            </a:r>
            <a:r>
              <a:rPr lang="en-US" sz="2000" b="1" dirty="0"/>
              <a:t>clients</a:t>
            </a:r>
            <a:r>
              <a:rPr lang="en-US" sz="2000" dirty="0"/>
              <a:t>.</a:t>
            </a:r>
          </a:p>
          <a:p>
            <a:pPr algn="just"/>
            <a:endParaRPr lang="en-US" sz="400" dirty="0"/>
          </a:p>
          <a:p>
            <a:pPr algn="just"/>
            <a:r>
              <a:rPr lang="en-US" sz="2000" dirty="0"/>
              <a:t>A server performs all the major operations such as security and network management.</a:t>
            </a:r>
          </a:p>
          <a:p>
            <a:pPr algn="just"/>
            <a:endParaRPr lang="en-US" sz="300" dirty="0"/>
          </a:p>
          <a:p>
            <a:pPr algn="just"/>
            <a:r>
              <a:rPr lang="en-US" sz="2000" dirty="0"/>
              <a:t>A server is responsible for managing all the resources such as files, directories, printer, etc.</a:t>
            </a:r>
          </a:p>
          <a:p>
            <a:pPr algn="just"/>
            <a:endParaRPr lang="en-US" sz="400" dirty="0"/>
          </a:p>
          <a:p>
            <a:pPr algn="just"/>
            <a:r>
              <a:rPr lang="en-US" sz="2000" dirty="0"/>
              <a:t>All the clients communicate with each other through a server. For example, if client1 wants to send some data to client 2, then it first sends the request to the server for the permission. The server sends the response to the client 1 to initiate its communication with the client 2.</a:t>
            </a:r>
          </a:p>
          <a:p>
            <a:pPr marL="0" indent="0">
              <a:buNone/>
            </a:pPr>
            <a:br>
              <a:rPr lang="en-US" sz="2000" dirty="0"/>
            </a:br>
            <a:endParaRPr lang="en-US" sz="2200" dirty="0"/>
          </a:p>
        </p:txBody>
      </p:sp>
      <p:pic>
        <p:nvPicPr>
          <p:cNvPr id="8" name="Picture 7">
            <a:extLst>
              <a:ext uri="{FF2B5EF4-FFF2-40B4-BE49-F238E27FC236}">
                <a16:creationId xmlns:a16="http://schemas.microsoft.com/office/drawing/2014/main" id="{F6A01E3E-F932-45C0-955E-97122F7127E6}"/>
              </a:ext>
            </a:extLst>
          </p:cNvPr>
          <p:cNvPicPr>
            <a:picLocks noChangeAspect="1"/>
          </p:cNvPicPr>
          <p:nvPr/>
        </p:nvPicPr>
        <p:blipFill>
          <a:blip r:embed="rId2"/>
          <a:stretch>
            <a:fillRect/>
          </a:stretch>
        </p:blipFill>
        <p:spPr>
          <a:xfrm>
            <a:off x="186690" y="1570672"/>
            <a:ext cx="5074288" cy="3458528"/>
          </a:xfrm>
          <a:prstGeom prst="rect">
            <a:avLst/>
          </a:prstGeom>
        </p:spPr>
      </p:pic>
      <p:pic>
        <p:nvPicPr>
          <p:cNvPr id="3" name="Picture 2" descr="KL Deemed to be University Logo">
            <a:extLst>
              <a:ext uri="{FF2B5EF4-FFF2-40B4-BE49-F238E27FC236}">
                <a16:creationId xmlns:a16="http://schemas.microsoft.com/office/drawing/2014/main" id="{656F20F9-BD54-22EC-DA2E-05A17EA51BB3}"/>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972922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Effect transition="in" filter="fade">
                                      <p:cBhvr>
                                        <p:cTn id="9" dur="1000"/>
                                        <p:tgtEl>
                                          <p:spTgt spid="2"/>
                                        </p:tgtEl>
                                      </p:cBhvr>
                                    </p:animEffect>
                                  </p:childTnLst>
                                </p:cTn>
                              </p:par>
                              <p:par>
                                <p:cTn id="10" presetID="53" presetClass="entr" presetSubtype="16"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1000" fill="hold"/>
                                        <p:tgtEl>
                                          <p:spTgt spid="8"/>
                                        </p:tgtEl>
                                        <p:attrNameLst>
                                          <p:attrName>ppt_w</p:attrName>
                                        </p:attrNameLst>
                                      </p:cBhvr>
                                      <p:tavLst>
                                        <p:tav tm="0">
                                          <p:val>
                                            <p:fltVal val="0"/>
                                          </p:val>
                                        </p:tav>
                                        <p:tav tm="100000">
                                          <p:val>
                                            <p:strVal val="#ppt_w"/>
                                          </p:val>
                                        </p:tav>
                                      </p:tavLst>
                                    </p:anim>
                                    <p:anim calcmode="lin" valueType="num">
                                      <p:cBhvr>
                                        <p:cTn id="13" dur="1000" fill="hold"/>
                                        <p:tgtEl>
                                          <p:spTgt spid="8"/>
                                        </p:tgtEl>
                                        <p:attrNameLst>
                                          <p:attrName>ppt_h</p:attrName>
                                        </p:attrNameLst>
                                      </p:cBhvr>
                                      <p:tavLst>
                                        <p:tav tm="0">
                                          <p:val>
                                            <p:fltVal val="0"/>
                                          </p:val>
                                        </p:tav>
                                        <p:tav tm="100000">
                                          <p:val>
                                            <p:strVal val="#ppt_h"/>
                                          </p:val>
                                        </p:tav>
                                      </p:tavLst>
                                    </p:anim>
                                    <p:animEffect transition="in" filter="fade">
                                      <p:cBhvr>
                                        <p:cTn id="14" dur="10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anim calcmode="lin" valueType="num">
                                      <p:cBhvr additive="base">
                                        <p:cTn id="19"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anim calcmode="lin" valueType="num">
                                      <p:cBhvr additive="base">
                                        <p:cTn id="25"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6" dur="10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anim calcmode="lin" valueType="num">
                                      <p:cBhvr additive="base">
                                        <p:cTn id="31"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2" dur="10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 calcmode="lin" valueType="num">
                                      <p:cBhvr additive="base">
                                        <p:cTn id="37"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8" dur="10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
                                            <p:txEl>
                                              <p:pRg st="8" end="8"/>
                                            </p:txEl>
                                          </p:spTgt>
                                        </p:tgtEl>
                                        <p:attrNameLst>
                                          <p:attrName>style.visibility</p:attrName>
                                        </p:attrNameLst>
                                      </p:cBhvr>
                                      <p:to>
                                        <p:strVal val="visible"/>
                                      </p:to>
                                    </p:set>
                                    <p:anim calcmode="lin" valueType="num">
                                      <p:cBhvr additive="base">
                                        <p:cTn id="43"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44" dur="10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2BCF8-72DE-4656-A013-46F31D7F645E}"/>
              </a:ext>
            </a:extLst>
          </p:cNvPr>
          <p:cNvSpPr>
            <a:spLocks noGrp="1"/>
          </p:cNvSpPr>
          <p:nvPr>
            <p:ph type="title"/>
          </p:nvPr>
        </p:nvSpPr>
        <p:spPr>
          <a:xfrm>
            <a:off x="3484100" y="171926"/>
            <a:ext cx="5659900" cy="548640"/>
          </a:xfrm>
        </p:spPr>
        <p:txBody>
          <a:bodyPr>
            <a:normAutofit/>
          </a:bodyPr>
          <a:lstStyle/>
          <a:p>
            <a:pPr algn="ctr"/>
            <a:r>
              <a:rPr lang="en-US" sz="2700" b="1" dirty="0">
                <a:solidFill>
                  <a:srgbClr val="C00000"/>
                </a:solidFill>
              </a:rPr>
              <a:t>Client/server network</a:t>
            </a:r>
            <a:endParaRPr lang="en-US" sz="2700" dirty="0"/>
          </a:p>
        </p:txBody>
      </p:sp>
      <p:sp>
        <p:nvSpPr>
          <p:cNvPr id="4" name="Content Placeholder 3">
            <a:extLst>
              <a:ext uri="{FF2B5EF4-FFF2-40B4-BE49-F238E27FC236}">
                <a16:creationId xmlns:a16="http://schemas.microsoft.com/office/drawing/2014/main" id="{E7E46F1D-3C03-4642-8024-93DA3192B328}"/>
              </a:ext>
            </a:extLst>
          </p:cNvPr>
          <p:cNvSpPr>
            <a:spLocks noGrp="1"/>
          </p:cNvSpPr>
          <p:nvPr>
            <p:ph idx="1"/>
          </p:nvPr>
        </p:nvSpPr>
        <p:spPr>
          <a:xfrm>
            <a:off x="208671" y="2911165"/>
            <a:ext cx="5887329" cy="3644380"/>
          </a:xfrm>
        </p:spPr>
        <p:txBody>
          <a:bodyPr>
            <a:noAutofit/>
          </a:bodyPr>
          <a:lstStyle/>
          <a:p>
            <a:pPr algn="just"/>
            <a:r>
              <a:rPr lang="en-US" sz="2200" dirty="0"/>
              <a:t>Contains the centralized system. Therefore, we can back up the data easily.</a:t>
            </a:r>
          </a:p>
          <a:p>
            <a:pPr algn="just"/>
            <a:endParaRPr lang="en-US" sz="1100" dirty="0">
              <a:ln>
                <a:solidFill>
                  <a:schemeClr val="tx1"/>
                </a:solidFill>
              </a:ln>
            </a:endParaRPr>
          </a:p>
          <a:p>
            <a:pPr algn="just"/>
            <a:r>
              <a:rPr lang="en-US" sz="2200" dirty="0"/>
              <a:t>Has a dedicated server that improves the overall performance of the whole system.</a:t>
            </a:r>
          </a:p>
          <a:p>
            <a:pPr algn="just"/>
            <a:endParaRPr lang="en-US" sz="1200" dirty="0"/>
          </a:p>
          <a:p>
            <a:pPr algn="just"/>
            <a:r>
              <a:rPr lang="en-US" sz="2200" dirty="0"/>
              <a:t>Security is better as a single server administers the shared resources.</a:t>
            </a:r>
          </a:p>
          <a:p>
            <a:pPr algn="just"/>
            <a:endParaRPr lang="en-US" sz="800" dirty="0"/>
          </a:p>
          <a:p>
            <a:pPr algn="just"/>
            <a:r>
              <a:rPr lang="en-US" sz="2200" dirty="0"/>
              <a:t>It also increases the speed of the sharing resources.</a:t>
            </a:r>
          </a:p>
        </p:txBody>
      </p:sp>
      <p:pic>
        <p:nvPicPr>
          <p:cNvPr id="8" name="Picture 7">
            <a:extLst>
              <a:ext uri="{FF2B5EF4-FFF2-40B4-BE49-F238E27FC236}">
                <a16:creationId xmlns:a16="http://schemas.microsoft.com/office/drawing/2014/main" id="{4E1BAB50-E86D-48F1-9918-0D2F66195B82}"/>
              </a:ext>
            </a:extLst>
          </p:cNvPr>
          <p:cNvPicPr>
            <a:picLocks noChangeAspect="1"/>
          </p:cNvPicPr>
          <p:nvPr/>
        </p:nvPicPr>
        <p:blipFill>
          <a:blip r:embed="rId2"/>
          <a:stretch>
            <a:fillRect/>
          </a:stretch>
        </p:blipFill>
        <p:spPr>
          <a:xfrm>
            <a:off x="2541125" y="721314"/>
            <a:ext cx="1885950" cy="1990725"/>
          </a:xfrm>
          <a:prstGeom prst="rect">
            <a:avLst/>
          </a:prstGeom>
        </p:spPr>
      </p:pic>
      <p:sp>
        <p:nvSpPr>
          <p:cNvPr id="9" name="TextBox 8">
            <a:extLst>
              <a:ext uri="{FF2B5EF4-FFF2-40B4-BE49-F238E27FC236}">
                <a16:creationId xmlns:a16="http://schemas.microsoft.com/office/drawing/2014/main" id="{BE4E0454-4539-40C5-BEA4-F24BD720A168}"/>
              </a:ext>
            </a:extLst>
          </p:cNvPr>
          <p:cNvSpPr txBox="1"/>
          <p:nvPr/>
        </p:nvSpPr>
        <p:spPr>
          <a:xfrm>
            <a:off x="6377358" y="3123028"/>
            <a:ext cx="5659898" cy="3139321"/>
          </a:xfrm>
          <a:prstGeom prst="rect">
            <a:avLst/>
          </a:prstGeom>
          <a:noFill/>
        </p:spPr>
        <p:txBody>
          <a:bodyPr wrap="square" rtlCol="0">
            <a:spAutoFit/>
          </a:bodyPr>
          <a:lstStyle/>
          <a:p>
            <a:pPr marL="342900" indent="-342900" algn="just">
              <a:buFont typeface="Arial" panose="020B0604020202020204" pitchFamily="34" charset="0"/>
              <a:buChar char="•"/>
            </a:pPr>
            <a:r>
              <a:rPr lang="en-US" sz="2200" dirty="0">
                <a:solidFill>
                  <a:srgbClr val="BA2532"/>
                </a:solidFill>
              </a:rPr>
              <a:t>Client/Server network is expensive as it requires the server with large memory.</a:t>
            </a:r>
          </a:p>
          <a:p>
            <a:pPr marL="342900" indent="-342900" algn="just">
              <a:buFont typeface="Arial" panose="020B0604020202020204" pitchFamily="34" charset="0"/>
              <a:buChar char="•"/>
            </a:pPr>
            <a:endParaRPr lang="en-US" sz="2200" dirty="0">
              <a:solidFill>
                <a:srgbClr val="BA2532"/>
              </a:solidFill>
            </a:endParaRPr>
          </a:p>
          <a:p>
            <a:pPr marL="342900" indent="-342900" algn="just">
              <a:buFont typeface="Arial" panose="020B0604020202020204" pitchFamily="34" charset="0"/>
              <a:buChar char="•"/>
            </a:pPr>
            <a:r>
              <a:rPr lang="en-US" sz="2200" dirty="0">
                <a:solidFill>
                  <a:srgbClr val="BA2532"/>
                </a:solidFill>
              </a:rPr>
              <a:t>A server has a Network Operating System(NOS) to provide the resources to the clients, but the cost of NOS is very high.</a:t>
            </a:r>
          </a:p>
          <a:p>
            <a:pPr marL="342900" indent="-342900" algn="just">
              <a:buFont typeface="Arial" panose="020B0604020202020204" pitchFamily="34" charset="0"/>
              <a:buChar char="•"/>
            </a:pPr>
            <a:endParaRPr lang="en-US" sz="2200" dirty="0">
              <a:solidFill>
                <a:srgbClr val="BA2532"/>
              </a:solidFill>
            </a:endParaRPr>
          </a:p>
          <a:p>
            <a:pPr marL="342900" indent="-342900" algn="just">
              <a:buFont typeface="Arial" panose="020B0604020202020204" pitchFamily="34" charset="0"/>
              <a:buChar char="•"/>
            </a:pPr>
            <a:r>
              <a:rPr lang="en-US" sz="2200" dirty="0">
                <a:solidFill>
                  <a:srgbClr val="BA2532"/>
                </a:solidFill>
              </a:rPr>
              <a:t>It requires a dedicated network administrator to manage all the resources.</a:t>
            </a:r>
          </a:p>
        </p:txBody>
      </p:sp>
      <p:pic>
        <p:nvPicPr>
          <p:cNvPr id="12" name="Picture 11">
            <a:extLst>
              <a:ext uri="{FF2B5EF4-FFF2-40B4-BE49-F238E27FC236}">
                <a16:creationId xmlns:a16="http://schemas.microsoft.com/office/drawing/2014/main" id="{D9F56563-7F0C-43CF-853E-F5DFAC8B6F64}"/>
              </a:ext>
            </a:extLst>
          </p:cNvPr>
          <p:cNvPicPr>
            <a:picLocks noChangeAspect="1"/>
          </p:cNvPicPr>
          <p:nvPr/>
        </p:nvPicPr>
        <p:blipFill>
          <a:blip r:embed="rId3"/>
          <a:stretch>
            <a:fillRect/>
          </a:stretch>
        </p:blipFill>
        <p:spPr>
          <a:xfrm>
            <a:off x="7979385" y="720566"/>
            <a:ext cx="1876425" cy="1990725"/>
          </a:xfrm>
          <a:prstGeom prst="rect">
            <a:avLst/>
          </a:prstGeom>
        </p:spPr>
      </p:pic>
      <p:pic>
        <p:nvPicPr>
          <p:cNvPr id="3" name="Picture 2" descr="KL Deemed to be University Logo">
            <a:extLst>
              <a:ext uri="{FF2B5EF4-FFF2-40B4-BE49-F238E27FC236}">
                <a16:creationId xmlns:a16="http://schemas.microsoft.com/office/drawing/2014/main" id="{2EA321FA-B557-3BA8-4303-B266731C600E}"/>
              </a:ext>
            </a:extLst>
          </p:cNvPr>
          <p:cNvPicPr>
            <a:picLocks noChangeAspect="1" noChangeArrowheads="1"/>
          </p:cNvPicPr>
          <p:nvPr/>
        </p:nvPicPr>
        <p:blipFill>
          <a:blip r:embed="rId4"/>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131606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Effect transition="in" filter="fade">
                                      <p:cBhvr>
                                        <p:cTn id="9" dur="10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 calcmode="lin" valueType="num">
                                      <p:cBhvr additive="base">
                                        <p:cTn id="14"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5" dur="1000" fill="hold"/>
                                        <p:tgtEl>
                                          <p:spTgt spid="4">
                                            <p:txEl>
                                              <p:pRg st="0" end="0"/>
                                            </p:txEl>
                                          </p:spTgt>
                                        </p:tgtEl>
                                        <p:attrNameLst>
                                          <p:attrName>ppt_y</p:attrName>
                                        </p:attrNameLst>
                                      </p:cBhvr>
                                      <p:tavLst>
                                        <p:tav tm="0">
                                          <p:val>
                                            <p:strVal val="1+#ppt_h/2"/>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4">
                                            <p:txEl>
                                              <p:pRg st="2" end="2"/>
                                            </p:txEl>
                                          </p:spTgt>
                                        </p:tgtEl>
                                        <p:attrNameLst>
                                          <p:attrName>style.visibility</p:attrName>
                                        </p:attrNameLst>
                                      </p:cBhvr>
                                      <p:to>
                                        <p:strVal val="visible"/>
                                      </p:to>
                                    </p:set>
                                    <p:anim calcmode="lin" valueType="num">
                                      <p:cBhvr additive="base">
                                        <p:cTn id="1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9" dur="1000" fill="hold"/>
                                        <p:tgtEl>
                                          <p:spTgt spid="4">
                                            <p:txEl>
                                              <p:pRg st="2" end="2"/>
                                            </p:txEl>
                                          </p:spTgt>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 calcmode="lin" valueType="num">
                                      <p:cBhvr additive="base">
                                        <p:cTn id="22"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3" dur="1000" fill="hold"/>
                                        <p:tgtEl>
                                          <p:spTgt spid="4">
                                            <p:txEl>
                                              <p:pRg st="4" end="4"/>
                                            </p:txEl>
                                          </p:spTgt>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4">
                                            <p:txEl>
                                              <p:pRg st="6" end="6"/>
                                            </p:txEl>
                                          </p:spTgt>
                                        </p:tgtEl>
                                        <p:attrNameLst>
                                          <p:attrName>style.visibility</p:attrName>
                                        </p:attrNameLst>
                                      </p:cBhvr>
                                      <p:to>
                                        <p:strVal val="visible"/>
                                      </p:to>
                                    </p:set>
                                    <p:anim calcmode="lin" valueType="num">
                                      <p:cBhvr additive="base">
                                        <p:cTn id="26"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27" dur="10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 calcmode="lin" valueType="num">
                                      <p:cBhvr>
                                        <p:cTn id="32" dur="1000" fill="hold"/>
                                        <p:tgtEl>
                                          <p:spTgt spid="12"/>
                                        </p:tgtEl>
                                        <p:attrNameLst>
                                          <p:attrName>ppt_w</p:attrName>
                                        </p:attrNameLst>
                                      </p:cBhvr>
                                      <p:tavLst>
                                        <p:tav tm="0">
                                          <p:val>
                                            <p:fltVal val="0"/>
                                          </p:val>
                                        </p:tav>
                                        <p:tav tm="100000">
                                          <p:val>
                                            <p:strVal val="#ppt_w"/>
                                          </p:val>
                                        </p:tav>
                                      </p:tavLst>
                                    </p:anim>
                                    <p:anim calcmode="lin" valueType="num">
                                      <p:cBhvr>
                                        <p:cTn id="33" dur="1000" fill="hold"/>
                                        <p:tgtEl>
                                          <p:spTgt spid="12"/>
                                        </p:tgtEl>
                                        <p:attrNameLst>
                                          <p:attrName>ppt_h</p:attrName>
                                        </p:attrNameLst>
                                      </p:cBhvr>
                                      <p:tavLst>
                                        <p:tav tm="0">
                                          <p:val>
                                            <p:fltVal val="0"/>
                                          </p:val>
                                        </p:tav>
                                        <p:tav tm="100000">
                                          <p:val>
                                            <p:strVal val="#ppt_h"/>
                                          </p:val>
                                        </p:tav>
                                      </p:tavLst>
                                    </p:anim>
                                    <p:animEffect transition="in" filter="fade">
                                      <p:cBhvr>
                                        <p:cTn id="34" dur="100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9">
                                            <p:txEl>
                                              <p:pRg st="0" end="0"/>
                                            </p:txEl>
                                          </p:spTgt>
                                        </p:tgtEl>
                                        <p:attrNameLst>
                                          <p:attrName>style.visibility</p:attrName>
                                        </p:attrNameLst>
                                      </p:cBhvr>
                                      <p:to>
                                        <p:strVal val="visible"/>
                                      </p:to>
                                    </p:set>
                                    <p:anim calcmode="lin" valueType="num">
                                      <p:cBhvr additive="base">
                                        <p:cTn id="39"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40" dur="1000" fill="hold"/>
                                        <p:tgtEl>
                                          <p:spTgt spid="9">
                                            <p:txEl>
                                              <p:pRg st="0" end="0"/>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9">
                                            <p:txEl>
                                              <p:pRg st="2" end="2"/>
                                            </p:txEl>
                                          </p:spTgt>
                                        </p:tgtEl>
                                        <p:attrNameLst>
                                          <p:attrName>style.visibility</p:attrName>
                                        </p:attrNameLst>
                                      </p:cBhvr>
                                      <p:to>
                                        <p:strVal val="visible"/>
                                      </p:to>
                                    </p:set>
                                    <p:anim calcmode="lin" valueType="num">
                                      <p:cBhvr additive="base">
                                        <p:cTn id="43"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44" dur="1000" fill="hold"/>
                                        <p:tgtEl>
                                          <p:spTgt spid="9">
                                            <p:txEl>
                                              <p:pRg st="2" end="2"/>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9">
                                            <p:txEl>
                                              <p:pRg st="4" end="4"/>
                                            </p:txEl>
                                          </p:spTgt>
                                        </p:tgtEl>
                                        <p:attrNameLst>
                                          <p:attrName>style.visibility</p:attrName>
                                        </p:attrNameLst>
                                      </p:cBhvr>
                                      <p:to>
                                        <p:strVal val="visible"/>
                                      </p:to>
                                    </p:set>
                                    <p:anim calcmode="lin" valueType="num">
                                      <p:cBhvr additive="base">
                                        <p:cTn id="47"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48" dur="1000" fill="hold"/>
                                        <p:tgtEl>
                                          <p:spTgt spid="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2BCF8-72DE-4656-A013-46F31D7F645E}"/>
              </a:ext>
            </a:extLst>
          </p:cNvPr>
          <p:cNvSpPr>
            <a:spLocks noGrp="1"/>
          </p:cNvSpPr>
          <p:nvPr>
            <p:ph type="title"/>
          </p:nvPr>
        </p:nvSpPr>
        <p:spPr>
          <a:xfrm>
            <a:off x="6108728" y="339864"/>
            <a:ext cx="5397472" cy="1202891"/>
          </a:xfrm>
        </p:spPr>
        <p:txBody>
          <a:bodyPr>
            <a:normAutofit/>
          </a:bodyPr>
          <a:lstStyle/>
          <a:p>
            <a:pPr algn="ctr"/>
            <a:r>
              <a:rPr lang="en-US" sz="2700" b="1" dirty="0">
                <a:solidFill>
                  <a:srgbClr val="C00000"/>
                </a:solidFill>
              </a:rPr>
              <a:t>Peer-To-Peer network</a:t>
            </a:r>
            <a:br>
              <a:rPr lang="en-US" sz="2700" dirty="0"/>
            </a:br>
            <a:endParaRPr lang="en-US" sz="2700" dirty="0"/>
          </a:p>
        </p:txBody>
      </p:sp>
      <p:pic>
        <p:nvPicPr>
          <p:cNvPr id="5" name="Picture 4" descr="Diagram&#10;&#10;Description automatically generated">
            <a:extLst>
              <a:ext uri="{FF2B5EF4-FFF2-40B4-BE49-F238E27FC236}">
                <a16:creationId xmlns:a16="http://schemas.microsoft.com/office/drawing/2014/main" id="{14EC07A3-D79F-431D-B37A-F275F2D2A6D0}"/>
              </a:ext>
            </a:extLst>
          </p:cNvPr>
          <p:cNvPicPr>
            <a:picLocks noChangeAspect="1"/>
          </p:cNvPicPr>
          <p:nvPr/>
        </p:nvPicPr>
        <p:blipFill>
          <a:blip r:embed="rId2"/>
          <a:stretch>
            <a:fillRect/>
          </a:stretch>
        </p:blipFill>
        <p:spPr>
          <a:xfrm>
            <a:off x="67549" y="1406768"/>
            <a:ext cx="5150226" cy="3882683"/>
          </a:xfrm>
          <a:prstGeom prst="rect">
            <a:avLst/>
          </a:prstGeom>
        </p:spPr>
      </p:pic>
      <p:sp>
        <p:nvSpPr>
          <p:cNvPr id="4" name="Content Placeholder 3">
            <a:extLst>
              <a:ext uri="{FF2B5EF4-FFF2-40B4-BE49-F238E27FC236}">
                <a16:creationId xmlns:a16="http://schemas.microsoft.com/office/drawing/2014/main" id="{E7E46F1D-3C03-4642-8024-93DA3192B328}"/>
              </a:ext>
            </a:extLst>
          </p:cNvPr>
          <p:cNvSpPr>
            <a:spLocks noGrp="1"/>
          </p:cNvSpPr>
          <p:nvPr>
            <p:ph idx="1"/>
          </p:nvPr>
        </p:nvSpPr>
        <p:spPr>
          <a:xfrm>
            <a:off x="5642233" y="1406768"/>
            <a:ext cx="6330462" cy="4501662"/>
          </a:xfrm>
        </p:spPr>
        <p:txBody>
          <a:bodyPr>
            <a:noAutofit/>
          </a:bodyPr>
          <a:lstStyle/>
          <a:p>
            <a:pPr algn="just">
              <a:lnSpc>
                <a:spcPct val="90000"/>
              </a:lnSpc>
              <a:buFont typeface="Wingdings" panose="05000000000000000000" pitchFamily="2" charset="2"/>
              <a:buChar char="Ø"/>
            </a:pPr>
            <a:r>
              <a:rPr lang="en-US" sz="2200" dirty="0"/>
              <a:t>Is a network in which all the computers are linked together with equal privilege and responsibilities for processing the data.</a:t>
            </a:r>
          </a:p>
          <a:p>
            <a:pPr algn="just">
              <a:lnSpc>
                <a:spcPct val="90000"/>
              </a:lnSpc>
              <a:buFont typeface="Wingdings" panose="05000000000000000000" pitchFamily="2" charset="2"/>
              <a:buChar char="Ø"/>
            </a:pPr>
            <a:endParaRPr lang="en-US" sz="2200" dirty="0"/>
          </a:p>
          <a:p>
            <a:pPr algn="just">
              <a:lnSpc>
                <a:spcPct val="90000"/>
              </a:lnSpc>
              <a:buFont typeface="Wingdings" panose="05000000000000000000" pitchFamily="2" charset="2"/>
              <a:buChar char="Ø"/>
            </a:pPr>
            <a:r>
              <a:rPr lang="en-US" sz="2200" dirty="0"/>
              <a:t>Useful for small environments, usually up to 10 computers.</a:t>
            </a:r>
          </a:p>
          <a:p>
            <a:pPr algn="just">
              <a:lnSpc>
                <a:spcPct val="90000"/>
              </a:lnSpc>
              <a:buFont typeface="Wingdings" panose="05000000000000000000" pitchFamily="2" charset="2"/>
              <a:buChar char="Ø"/>
            </a:pPr>
            <a:endParaRPr lang="en-US" sz="2200" dirty="0"/>
          </a:p>
          <a:p>
            <a:pPr algn="just">
              <a:lnSpc>
                <a:spcPct val="90000"/>
              </a:lnSpc>
              <a:buFont typeface="Wingdings" panose="05000000000000000000" pitchFamily="2" charset="2"/>
              <a:buChar char="Ø"/>
            </a:pPr>
            <a:r>
              <a:rPr lang="en-US" sz="2200" dirty="0"/>
              <a:t>Has no dedicated server.</a:t>
            </a:r>
          </a:p>
          <a:p>
            <a:pPr algn="just">
              <a:lnSpc>
                <a:spcPct val="90000"/>
              </a:lnSpc>
              <a:buFont typeface="Wingdings" panose="05000000000000000000" pitchFamily="2" charset="2"/>
              <a:buChar char="Ø"/>
            </a:pPr>
            <a:endParaRPr lang="en-US" sz="2200" dirty="0"/>
          </a:p>
          <a:p>
            <a:pPr algn="just">
              <a:lnSpc>
                <a:spcPct val="90000"/>
              </a:lnSpc>
              <a:buFont typeface="Wingdings" panose="05000000000000000000" pitchFamily="2" charset="2"/>
              <a:buChar char="Ø"/>
            </a:pPr>
            <a:r>
              <a:rPr lang="en-US" sz="2200" dirty="0"/>
              <a:t>Special permissions are assigned to each computer for sharing the resources, but this can lead to a problem if the computer with the resource is down.</a:t>
            </a:r>
          </a:p>
        </p:txBody>
      </p:sp>
      <p:pic>
        <p:nvPicPr>
          <p:cNvPr id="3" name="Picture 2" descr="KL Deemed to be University Logo">
            <a:extLst>
              <a:ext uri="{FF2B5EF4-FFF2-40B4-BE49-F238E27FC236}">
                <a16:creationId xmlns:a16="http://schemas.microsoft.com/office/drawing/2014/main" id="{D1F05AD3-C6E7-40ED-D572-B7FE508F9F8B}"/>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553333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Effect transition="in" filter="fade">
                                      <p:cBhvr>
                                        <p:cTn id="9" dur="1000"/>
                                        <p:tgtEl>
                                          <p:spTgt spid="2"/>
                                        </p:tgtEl>
                                      </p:cBhvr>
                                    </p:animEffect>
                                  </p:childTnLst>
                                </p:cTn>
                              </p:par>
                              <p:par>
                                <p:cTn id="10" presetID="53" presetClass="entr" presetSubtype="16"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1000" fill="hold"/>
                                        <p:tgtEl>
                                          <p:spTgt spid="5"/>
                                        </p:tgtEl>
                                        <p:attrNameLst>
                                          <p:attrName>ppt_w</p:attrName>
                                        </p:attrNameLst>
                                      </p:cBhvr>
                                      <p:tavLst>
                                        <p:tav tm="0">
                                          <p:val>
                                            <p:fltVal val="0"/>
                                          </p:val>
                                        </p:tav>
                                        <p:tav tm="100000">
                                          <p:val>
                                            <p:strVal val="#ppt_w"/>
                                          </p:val>
                                        </p:tav>
                                      </p:tavLst>
                                    </p:anim>
                                    <p:anim calcmode="lin" valueType="num">
                                      <p:cBhvr>
                                        <p:cTn id="13" dur="1000" fill="hold"/>
                                        <p:tgtEl>
                                          <p:spTgt spid="5"/>
                                        </p:tgtEl>
                                        <p:attrNameLst>
                                          <p:attrName>ppt_h</p:attrName>
                                        </p:attrNameLst>
                                      </p:cBhvr>
                                      <p:tavLst>
                                        <p:tav tm="0">
                                          <p:val>
                                            <p:fltVal val="0"/>
                                          </p:val>
                                        </p:tav>
                                        <p:tav tm="100000">
                                          <p:val>
                                            <p:strVal val="#ppt_h"/>
                                          </p:val>
                                        </p:tav>
                                      </p:tavLst>
                                    </p:anim>
                                    <p:animEffect transition="in" filter="fade">
                                      <p:cBhvr>
                                        <p:cTn id="14" dur="10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anim calcmode="lin" valueType="num">
                                      <p:cBhvr additive="base">
                                        <p:cTn id="19"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anim calcmode="lin" valueType="num">
                                      <p:cBhvr additive="base">
                                        <p:cTn id="25"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6" dur="10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anim calcmode="lin" valueType="num">
                                      <p:cBhvr additive="base">
                                        <p:cTn id="31"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2" dur="10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 calcmode="lin" valueType="num">
                                      <p:cBhvr additive="base">
                                        <p:cTn id="37"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8" dur="10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2BCF8-72DE-4656-A013-46F31D7F645E}"/>
              </a:ext>
            </a:extLst>
          </p:cNvPr>
          <p:cNvSpPr>
            <a:spLocks noGrp="1"/>
          </p:cNvSpPr>
          <p:nvPr>
            <p:ph type="title"/>
          </p:nvPr>
        </p:nvSpPr>
        <p:spPr>
          <a:xfrm>
            <a:off x="3225604" y="139890"/>
            <a:ext cx="5527431" cy="548640"/>
          </a:xfrm>
        </p:spPr>
        <p:txBody>
          <a:bodyPr>
            <a:normAutofit/>
          </a:bodyPr>
          <a:lstStyle/>
          <a:p>
            <a:pPr algn="ctr"/>
            <a:r>
              <a:rPr lang="en-US" sz="2700" b="1" dirty="0">
                <a:solidFill>
                  <a:srgbClr val="C00000"/>
                </a:solidFill>
              </a:rPr>
              <a:t>Peer-To-Peer network</a:t>
            </a:r>
            <a:endParaRPr lang="en-US" sz="2700" dirty="0"/>
          </a:p>
        </p:txBody>
      </p:sp>
      <p:sp>
        <p:nvSpPr>
          <p:cNvPr id="4" name="Content Placeholder 3">
            <a:extLst>
              <a:ext uri="{FF2B5EF4-FFF2-40B4-BE49-F238E27FC236}">
                <a16:creationId xmlns:a16="http://schemas.microsoft.com/office/drawing/2014/main" id="{E7E46F1D-3C03-4642-8024-93DA3192B328}"/>
              </a:ext>
            </a:extLst>
          </p:cNvPr>
          <p:cNvSpPr>
            <a:spLocks noGrp="1"/>
          </p:cNvSpPr>
          <p:nvPr>
            <p:ph idx="1"/>
          </p:nvPr>
        </p:nvSpPr>
        <p:spPr>
          <a:xfrm>
            <a:off x="403274" y="3144916"/>
            <a:ext cx="5269523" cy="3024554"/>
          </a:xfrm>
        </p:spPr>
        <p:txBody>
          <a:bodyPr>
            <a:noAutofit/>
          </a:bodyPr>
          <a:lstStyle/>
          <a:p>
            <a:pPr algn="just"/>
            <a:endParaRPr lang="en-US" dirty="0"/>
          </a:p>
          <a:p>
            <a:pPr algn="just"/>
            <a:r>
              <a:rPr lang="en-US" sz="2400" dirty="0"/>
              <a:t>It is less costly as it does not contain any dedicated server.</a:t>
            </a:r>
          </a:p>
          <a:p>
            <a:pPr algn="just"/>
            <a:r>
              <a:rPr lang="en-US" sz="2400" dirty="0"/>
              <a:t>If one computer stops working, other computers will not stop working.</a:t>
            </a:r>
          </a:p>
          <a:p>
            <a:pPr algn="just"/>
            <a:r>
              <a:rPr lang="en-US" sz="2400" dirty="0"/>
              <a:t>It is easy to set up and maintain as each computer manages itself.</a:t>
            </a:r>
          </a:p>
        </p:txBody>
      </p:sp>
      <p:pic>
        <p:nvPicPr>
          <p:cNvPr id="8" name="Picture 7">
            <a:extLst>
              <a:ext uri="{FF2B5EF4-FFF2-40B4-BE49-F238E27FC236}">
                <a16:creationId xmlns:a16="http://schemas.microsoft.com/office/drawing/2014/main" id="{4E1BAB50-E86D-48F1-9918-0D2F66195B82}"/>
              </a:ext>
            </a:extLst>
          </p:cNvPr>
          <p:cNvPicPr>
            <a:picLocks noChangeAspect="1"/>
          </p:cNvPicPr>
          <p:nvPr/>
        </p:nvPicPr>
        <p:blipFill>
          <a:blip r:embed="rId2"/>
          <a:stretch>
            <a:fillRect/>
          </a:stretch>
        </p:blipFill>
        <p:spPr>
          <a:xfrm>
            <a:off x="1762125" y="1196926"/>
            <a:ext cx="1885950" cy="1990725"/>
          </a:xfrm>
          <a:prstGeom prst="rect">
            <a:avLst/>
          </a:prstGeom>
        </p:spPr>
      </p:pic>
      <p:sp>
        <p:nvSpPr>
          <p:cNvPr id="9" name="TextBox 8">
            <a:extLst>
              <a:ext uri="{FF2B5EF4-FFF2-40B4-BE49-F238E27FC236}">
                <a16:creationId xmlns:a16="http://schemas.microsoft.com/office/drawing/2014/main" id="{BE4E0454-4539-40C5-BEA4-F24BD720A168}"/>
              </a:ext>
            </a:extLst>
          </p:cNvPr>
          <p:cNvSpPr txBox="1"/>
          <p:nvPr/>
        </p:nvSpPr>
        <p:spPr>
          <a:xfrm>
            <a:off x="5989320" y="3491814"/>
            <a:ext cx="5799406" cy="2677656"/>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solidFill>
                  <a:srgbClr val="BA2532"/>
                </a:solidFill>
              </a:rPr>
              <a:t>In the case of Peer-To-Peer network, it does not contain the centralized system. Therefore, it cannot back up the data as the data is different in different locations.</a:t>
            </a:r>
          </a:p>
          <a:p>
            <a:pPr marL="342900" indent="-342900" algn="just">
              <a:buFont typeface="Arial" panose="020B0604020202020204" pitchFamily="34" charset="0"/>
              <a:buChar char="•"/>
            </a:pPr>
            <a:endParaRPr lang="en-US" sz="2400" dirty="0">
              <a:solidFill>
                <a:srgbClr val="BA2532"/>
              </a:solidFill>
            </a:endParaRPr>
          </a:p>
          <a:p>
            <a:pPr marL="342900" indent="-342900" algn="just">
              <a:buFont typeface="Arial" panose="020B0604020202020204" pitchFamily="34" charset="0"/>
              <a:buChar char="•"/>
            </a:pPr>
            <a:r>
              <a:rPr lang="en-US" sz="2400" dirty="0">
                <a:solidFill>
                  <a:srgbClr val="BA2532"/>
                </a:solidFill>
              </a:rPr>
              <a:t>It has a security issue as the device is managed itself.</a:t>
            </a:r>
          </a:p>
        </p:txBody>
      </p:sp>
      <p:pic>
        <p:nvPicPr>
          <p:cNvPr id="12" name="Picture 11">
            <a:extLst>
              <a:ext uri="{FF2B5EF4-FFF2-40B4-BE49-F238E27FC236}">
                <a16:creationId xmlns:a16="http://schemas.microsoft.com/office/drawing/2014/main" id="{D9F56563-7F0C-43CF-853E-F5DFAC8B6F64}"/>
              </a:ext>
            </a:extLst>
          </p:cNvPr>
          <p:cNvPicPr>
            <a:picLocks noChangeAspect="1"/>
          </p:cNvPicPr>
          <p:nvPr/>
        </p:nvPicPr>
        <p:blipFill>
          <a:blip r:embed="rId3"/>
          <a:stretch>
            <a:fillRect/>
          </a:stretch>
        </p:blipFill>
        <p:spPr>
          <a:xfrm>
            <a:off x="7979385" y="1199947"/>
            <a:ext cx="1876425" cy="1990725"/>
          </a:xfrm>
          <a:prstGeom prst="rect">
            <a:avLst/>
          </a:prstGeom>
        </p:spPr>
      </p:pic>
      <p:pic>
        <p:nvPicPr>
          <p:cNvPr id="3" name="Picture 2" descr="KL Deemed to be University Logo">
            <a:extLst>
              <a:ext uri="{FF2B5EF4-FFF2-40B4-BE49-F238E27FC236}">
                <a16:creationId xmlns:a16="http://schemas.microsoft.com/office/drawing/2014/main" id="{39587EB0-A66D-B3CA-C97F-BC32722F0AC4}"/>
              </a:ext>
            </a:extLst>
          </p:cNvPr>
          <p:cNvPicPr>
            <a:picLocks noChangeAspect="1" noChangeArrowheads="1"/>
          </p:cNvPicPr>
          <p:nvPr/>
        </p:nvPicPr>
        <p:blipFill>
          <a:blip r:embed="rId4"/>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791507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Effect transition="in" filter="fade">
                                      <p:cBhvr>
                                        <p:cTn id="9" dur="10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 calcmode="lin" valueType="num">
                                      <p:cBhvr additive="base">
                                        <p:cTn id="14"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5" dur="1000" fill="hold"/>
                                        <p:tgtEl>
                                          <p:spTgt spid="4">
                                            <p:txEl>
                                              <p:pRg st="1" end="1"/>
                                            </p:txEl>
                                          </p:spTgt>
                                        </p:tgtEl>
                                        <p:attrNameLst>
                                          <p:attrName>ppt_y</p:attrName>
                                        </p:attrNameLst>
                                      </p:cBhvr>
                                      <p:tavLst>
                                        <p:tav tm="0">
                                          <p:val>
                                            <p:strVal val="1+#ppt_h/2"/>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4">
                                            <p:txEl>
                                              <p:pRg st="2" end="2"/>
                                            </p:txEl>
                                          </p:spTgt>
                                        </p:tgtEl>
                                        <p:attrNameLst>
                                          <p:attrName>style.visibility</p:attrName>
                                        </p:attrNameLst>
                                      </p:cBhvr>
                                      <p:to>
                                        <p:strVal val="visible"/>
                                      </p:to>
                                    </p:set>
                                    <p:anim calcmode="lin" valueType="num">
                                      <p:cBhvr additive="base">
                                        <p:cTn id="1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9" dur="1000" fill="hold"/>
                                        <p:tgtEl>
                                          <p:spTgt spid="4">
                                            <p:txEl>
                                              <p:pRg st="2" end="2"/>
                                            </p:txEl>
                                          </p:spTgt>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 calcmode="lin" valueType="num">
                                      <p:cBhvr additive="base">
                                        <p:cTn id="22"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3" dur="10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12"/>
                                        </p:tgtEl>
                                        <p:attrNameLst>
                                          <p:attrName>style.visibility</p:attrName>
                                        </p:attrNameLst>
                                      </p:cBhvr>
                                      <p:to>
                                        <p:strVal val="visible"/>
                                      </p:to>
                                    </p:set>
                                    <p:anim calcmode="lin" valueType="num">
                                      <p:cBhvr>
                                        <p:cTn id="28" dur="1000" fill="hold"/>
                                        <p:tgtEl>
                                          <p:spTgt spid="12"/>
                                        </p:tgtEl>
                                        <p:attrNameLst>
                                          <p:attrName>ppt_w</p:attrName>
                                        </p:attrNameLst>
                                      </p:cBhvr>
                                      <p:tavLst>
                                        <p:tav tm="0">
                                          <p:val>
                                            <p:fltVal val="0"/>
                                          </p:val>
                                        </p:tav>
                                        <p:tav tm="100000">
                                          <p:val>
                                            <p:strVal val="#ppt_w"/>
                                          </p:val>
                                        </p:tav>
                                      </p:tavLst>
                                    </p:anim>
                                    <p:anim calcmode="lin" valueType="num">
                                      <p:cBhvr>
                                        <p:cTn id="29" dur="1000" fill="hold"/>
                                        <p:tgtEl>
                                          <p:spTgt spid="12"/>
                                        </p:tgtEl>
                                        <p:attrNameLst>
                                          <p:attrName>ppt_h</p:attrName>
                                        </p:attrNameLst>
                                      </p:cBhvr>
                                      <p:tavLst>
                                        <p:tav tm="0">
                                          <p:val>
                                            <p:fltVal val="0"/>
                                          </p:val>
                                        </p:tav>
                                        <p:tav tm="100000">
                                          <p:val>
                                            <p:strVal val="#ppt_h"/>
                                          </p:val>
                                        </p:tav>
                                      </p:tavLst>
                                    </p:anim>
                                    <p:animEffect transition="in" filter="fade">
                                      <p:cBhvr>
                                        <p:cTn id="30" dur="10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9">
                                            <p:txEl>
                                              <p:pRg st="0" end="0"/>
                                            </p:txEl>
                                          </p:spTgt>
                                        </p:tgtEl>
                                        <p:attrNameLst>
                                          <p:attrName>style.visibility</p:attrName>
                                        </p:attrNameLst>
                                      </p:cBhvr>
                                      <p:to>
                                        <p:strVal val="visible"/>
                                      </p:to>
                                    </p:set>
                                    <p:anim calcmode="lin" valueType="num">
                                      <p:cBhvr additive="base">
                                        <p:cTn id="35"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36" dur="1000" fill="hold"/>
                                        <p:tgtEl>
                                          <p:spTgt spid="9">
                                            <p:txEl>
                                              <p:pRg st="0" end="0"/>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9">
                                            <p:txEl>
                                              <p:pRg st="2" end="2"/>
                                            </p:txEl>
                                          </p:spTgt>
                                        </p:tgtEl>
                                        <p:attrNameLst>
                                          <p:attrName>style.visibility</p:attrName>
                                        </p:attrNameLst>
                                      </p:cBhvr>
                                      <p:to>
                                        <p:strVal val="visible"/>
                                      </p:to>
                                    </p:set>
                                    <p:anim calcmode="lin" valueType="num">
                                      <p:cBhvr additive="base">
                                        <p:cTn id="39"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40" dur="1000" fill="hold"/>
                                        <p:tgtEl>
                                          <p:spTgt spid="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3">
            <a:extLst>
              <a:ext uri="{FF2B5EF4-FFF2-40B4-BE49-F238E27FC236}">
                <a16:creationId xmlns:a16="http://schemas.microsoft.com/office/drawing/2014/main" id="{EE8D0844-8C79-477B-A578-4DEA1E8E8B1C}"/>
              </a:ext>
            </a:extLst>
          </p:cNvPr>
          <p:cNvGraphicFramePr>
            <a:graphicFrameLocks noGrp="1"/>
          </p:cNvGraphicFramePr>
          <p:nvPr>
            <p:ph idx="1"/>
            <p:extLst>
              <p:ext uri="{D42A27DB-BD31-4B8C-83A1-F6EECF244321}">
                <p14:modId xmlns:p14="http://schemas.microsoft.com/office/powerpoint/2010/main" val="3337230205"/>
              </p:ext>
            </p:extLst>
          </p:nvPr>
        </p:nvGraphicFramePr>
        <p:xfrm>
          <a:off x="838200" y="2055813"/>
          <a:ext cx="10820400" cy="34758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Picture 2" descr="KL Deemed to be University Logo">
            <a:extLst>
              <a:ext uri="{FF2B5EF4-FFF2-40B4-BE49-F238E27FC236}">
                <a16:creationId xmlns:a16="http://schemas.microsoft.com/office/drawing/2014/main" id="{D6A32132-1DBC-1F41-F905-56B519001D8A}"/>
              </a:ext>
            </a:extLst>
          </p:cNvPr>
          <p:cNvPicPr>
            <a:picLocks noChangeAspect="1" noChangeArrowheads="1"/>
          </p:cNvPicPr>
          <p:nvPr/>
        </p:nvPicPr>
        <p:blipFill>
          <a:blip r:embed="rId7"/>
          <a:srcRect/>
          <a:stretch>
            <a:fillRect/>
          </a:stretch>
        </p:blipFill>
        <p:spPr bwMode="auto">
          <a:xfrm>
            <a:off x="0" y="0"/>
            <a:ext cx="1990725" cy="600076"/>
          </a:xfrm>
          <a:prstGeom prst="rect">
            <a:avLst/>
          </a:prstGeom>
          <a:noFill/>
        </p:spPr>
      </p:pic>
      <p:sp>
        <p:nvSpPr>
          <p:cNvPr id="4" name="Rounded Rectangle 17">
            <a:extLst>
              <a:ext uri="{FF2B5EF4-FFF2-40B4-BE49-F238E27FC236}">
                <a16:creationId xmlns:a16="http://schemas.microsoft.com/office/drawing/2014/main" id="{283CB402-0C0A-DF7E-83F7-8908FD83DADC}"/>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USES OF COMPUTER NETWORKS </a:t>
            </a:r>
          </a:p>
        </p:txBody>
      </p:sp>
    </p:spTree>
    <p:extLst>
      <p:ext uri="{BB962C8B-B14F-4D97-AF65-F5344CB8AC3E}">
        <p14:creationId xmlns:p14="http://schemas.microsoft.com/office/powerpoint/2010/main" val="3996403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Effect transition="in" filter="fade">
                                      <p:cBhvr>
                                        <p:cTn id="9"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2BCF8-72DE-4656-A013-46F31D7F645E}"/>
              </a:ext>
            </a:extLst>
          </p:cNvPr>
          <p:cNvSpPr>
            <a:spLocks noGrp="1"/>
          </p:cNvSpPr>
          <p:nvPr>
            <p:ph type="title"/>
          </p:nvPr>
        </p:nvSpPr>
        <p:spPr>
          <a:xfrm>
            <a:off x="3745158" y="101991"/>
            <a:ext cx="4377165" cy="604910"/>
          </a:xfrm>
        </p:spPr>
        <p:txBody>
          <a:bodyPr>
            <a:normAutofit/>
          </a:bodyPr>
          <a:lstStyle/>
          <a:p>
            <a:r>
              <a:rPr lang="en-US" sz="3200" b="1" dirty="0">
                <a:solidFill>
                  <a:srgbClr val="C00000"/>
                </a:solidFill>
                <a:latin typeface="+mj-lt"/>
              </a:rPr>
              <a:t>Business Applications</a:t>
            </a:r>
            <a:endParaRPr lang="en-US" b="1" dirty="0">
              <a:solidFill>
                <a:srgbClr val="C00000"/>
              </a:solidFill>
            </a:endParaRPr>
          </a:p>
        </p:txBody>
      </p:sp>
      <p:sp>
        <p:nvSpPr>
          <p:cNvPr id="4" name="Content Placeholder 3">
            <a:extLst>
              <a:ext uri="{FF2B5EF4-FFF2-40B4-BE49-F238E27FC236}">
                <a16:creationId xmlns:a16="http://schemas.microsoft.com/office/drawing/2014/main" id="{E7E46F1D-3C03-4642-8024-93DA3192B328}"/>
              </a:ext>
            </a:extLst>
          </p:cNvPr>
          <p:cNvSpPr>
            <a:spLocks noGrp="1"/>
          </p:cNvSpPr>
          <p:nvPr>
            <p:ph idx="1"/>
          </p:nvPr>
        </p:nvSpPr>
        <p:spPr>
          <a:xfrm>
            <a:off x="295423" y="1195754"/>
            <a:ext cx="10563078" cy="5465298"/>
          </a:xfrm>
        </p:spPr>
        <p:txBody>
          <a:bodyPr>
            <a:normAutofit/>
          </a:bodyPr>
          <a:lstStyle/>
          <a:p>
            <a:pPr marL="457200" indent="-457200" algn="just">
              <a:buAutoNum type="arabicPeriod"/>
            </a:pPr>
            <a:r>
              <a:rPr lang="en-US" sz="2400" b="1" i="0" u="none" strike="noStrike" baseline="0" dirty="0"/>
              <a:t>Resources and data sharing </a:t>
            </a:r>
            <a:r>
              <a:rPr lang="en-US" sz="2400" b="0" i="0" u="none" strike="noStrike" baseline="0" dirty="0"/>
              <a:t>(Client/Server Model)</a:t>
            </a:r>
          </a:p>
          <a:p>
            <a:pPr marL="457200" indent="-457200" algn="just">
              <a:buAutoNum type="arabicPeriod"/>
            </a:pPr>
            <a:endParaRPr lang="en-US" sz="2400" b="0" i="0" u="none" strike="noStrike" baseline="0" dirty="0"/>
          </a:p>
          <a:p>
            <a:pPr marL="457200" indent="-457200" algn="just">
              <a:buAutoNum type="arabicPeriod"/>
            </a:pPr>
            <a:r>
              <a:rPr lang="en-US" sz="2400" b="0" i="0" u="none" strike="noStrike" baseline="0" dirty="0"/>
              <a:t>A computer network can provide a </a:t>
            </a:r>
            <a:r>
              <a:rPr lang="en-US" sz="2400" b="1" i="0" u="none" strike="noStrike" baseline="0" dirty="0"/>
              <a:t>powerful communication medium among employees</a:t>
            </a:r>
            <a:r>
              <a:rPr lang="en-US" sz="2400" b="0" i="0" u="none" strike="noStrike" baseline="0" dirty="0"/>
              <a:t>(e-mail, online reports, video conferencing, etc.)</a:t>
            </a:r>
          </a:p>
          <a:p>
            <a:pPr marL="457200" indent="-457200" algn="just">
              <a:buFont typeface="+mj-lt"/>
              <a:buAutoNum type="arabicPeriod"/>
            </a:pPr>
            <a:endParaRPr lang="en-US" sz="2400" dirty="0"/>
          </a:p>
          <a:p>
            <a:pPr marL="457200" indent="-457200" algn="just">
              <a:buFont typeface="+mj-lt"/>
              <a:buAutoNum type="arabicPeriod"/>
            </a:pPr>
            <a:r>
              <a:rPr lang="en-US" sz="2400" b="0" i="0" u="none" strike="noStrike" baseline="0" dirty="0"/>
              <a:t>Doing business electronically with other </a:t>
            </a:r>
            <a:r>
              <a:rPr lang="en-US" sz="2400" i="0" u="none" strike="noStrike" baseline="0" dirty="0"/>
              <a:t>companies, especially </a:t>
            </a:r>
            <a:r>
              <a:rPr lang="en-US" sz="2400" b="1" i="0" u="none" strike="noStrike" baseline="0" dirty="0"/>
              <a:t>suppliers and customers.</a:t>
            </a:r>
            <a:r>
              <a:rPr lang="en-US" sz="2400" b="0" i="0" u="none" strike="noStrike" baseline="0" dirty="0"/>
              <a:t> For example, manufacturers of automobiles, aircraft, computers, etc. buy subsystems from a variety of suppliers and then assemble the parts. Using computer networks, manufacturers can place orders electronically as needed.</a:t>
            </a:r>
          </a:p>
          <a:p>
            <a:pPr marL="457200" indent="-457200" algn="just">
              <a:buFont typeface="+mj-lt"/>
              <a:buAutoNum type="arabicPeriod"/>
            </a:pPr>
            <a:endParaRPr lang="en-US" sz="2400" dirty="0"/>
          </a:p>
          <a:p>
            <a:pPr marL="457200" indent="-457200" algn="just">
              <a:buFont typeface="+mj-lt"/>
              <a:buAutoNum type="arabicPeriod"/>
            </a:pPr>
            <a:r>
              <a:rPr lang="en-US" sz="2400" b="0" i="0" u="none" strike="noStrike" baseline="0" dirty="0"/>
              <a:t>Doing business with consumers over the Internet. </a:t>
            </a:r>
            <a:r>
              <a:rPr lang="en-US" sz="2400" b="1" i="0" u="none" strike="noStrike" baseline="0" dirty="0"/>
              <a:t>E-commerce: </a:t>
            </a:r>
            <a:r>
              <a:rPr lang="en-US" sz="2400" b="0" i="0" u="none" strike="noStrike" baseline="0" dirty="0"/>
              <a:t>Many companies provide catalogs of their goods and services online and take orders on-line.</a:t>
            </a:r>
          </a:p>
        </p:txBody>
      </p:sp>
      <p:pic>
        <p:nvPicPr>
          <p:cNvPr id="5" name="Picture 4">
            <a:extLst>
              <a:ext uri="{FF2B5EF4-FFF2-40B4-BE49-F238E27FC236}">
                <a16:creationId xmlns:a16="http://schemas.microsoft.com/office/drawing/2014/main" id="{C470E7D0-F35B-4CF0-8EDC-9DDD57E36869}"/>
              </a:ext>
            </a:extLst>
          </p:cNvPr>
          <p:cNvPicPr>
            <a:picLocks noChangeAspect="1"/>
          </p:cNvPicPr>
          <p:nvPr/>
        </p:nvPicPr>
        <p:blipFill>
          <a:blip r:embed="rId2"/>
          <a:stretch>
            <a:fillRect/>
          </a:stretch>
        </p:blipFill>
        <p:spPr>
          <a:xfrm>
            <a:off x="3303795" y="2403608"/>
            <a:ext cx="5259893" cy="2560737"/>
          </a:xfrm>
          <a:prstGeom prst="rect">
            <a:avLst/>
          </a:prstGeom>
        </p:spPr>
      </p:pic>
      <p:pic>
        <p:nvPicPr>
          <p:cNvPr id="7" name="Picture 6">
            <a:extLst>
              <a:ext uri="{FF2B5EF4-FFF2-40B4-BE49-F238E27FC236}">
                <a16:creationId xmlns:a16="http://schemas.microsoft.com/office/drawing/2014/main" id="{D0E77473-0159-4089-8734-DA41FE2E3A8C}"/>
              </a:ext>
            </a:extLst>
          </p:cNvPr>
          <p:cNvPicPr>
            <a:picLocks noChangeAspect="1"/>
          </p:cNvPicPr>
          <p:nvPr/>
        </p:nvPicPr>
        <p:blipFill>
          <a:blip r:embed="rId3"/>
          <a:stretch>
            <a:fillRect/>
          </a:stretch>
        </p:blipFill>
        <p:spPr>
          <a:xfrm>
            <a:off x="1241180" y="2403608"/>
            <a:ext cx="9670938" cy="2347992"/>
          </a:xfrm>
          <a:prstGeom prst="rect">
            <a:avLst/>
          </a:prstGeom>
        </p:spPr>
      </p:pic>
      <p:pic>
        <p:nvPicPr>
          <p:cNvPr id="3" name="Picture 2" descr="KL Deemed to be University Logo">
            <a:extLst>
              <a:ext uri="{FF2B5EF4-FFF2-40B4-BE49-F238E27FC236}">
                <a16:creationId xmlns:a16="http://schemas.microsoft.com/office/drawing/2014/main" id="{09A93CCC-80BF-A73E-14BD-3B52779F8829}"/>
              </a:ext>
            </a:extLst>
          </p:cNvPr>
          <p:cNvPicPr>
            <a:picLocks noChangeAspect="1" noChangeArrowheads="1"/>
          </p:cNvPicPr>
          <p:nvPr/>
        </p:nvPicPr>
        <p:blipFill>
          <a:blip r:embed="rId4"/>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969709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1000" fill="hold"/>
                                        <p:tgtEl>
                                          <p:spTgt spid="5"/>
                                        </p:tgtEl>
                                        <p:attrNameLst>
                                          <p:attrName>ppt_w</p:attrName>
                                        </p:attrNameLst>
                                      </p:cBhvr>
                                      <p:tavLst>
                                        <p:tav tm="0">
                                          <p:val>
                                            <p:fltVal val="0"/>
                                          </p:val>
                                        </p:tav>
                                        <p:tav tm="100000">
                                          <p:val>
                                            <p:strVal val="#ppt_w"/>
                                          </p:val>
                                        </p:tav>
                                      </p:tavLst>
                                    </p:anim>
                                    <p:anim calcmode="lin" valueType="num">
                                      <p:cBhvr>
                                        <p:cTn id="14" dur="1000" fill="hold"/>
                                        <p:tgtEl>
                                          <p:spTgt spid="5"/>
                                        </p:tgtEl>
                                        <p:attrNameLst>
                                          <p:attrName>ppt_h</p:attrName>
                                        </p:attrNameLst>
                                      </p:cBhvr>
                                      <p:tavLst>
                                        <p:tav tm="0">
                                          <p:val>
                                            <p:fltVal val="0"/>
                                          </p:val>
                                        </p:tav>
                                        <p:tav tm="100000">
                                          <p:val>
                                            <p:strVal val="#ppt_h"/>
                                          </p:val>
                                        </p:tav>
                                      </p:tavLst>
                                    </p:anim>
                                    <p:animEffect transition="in" filter="fade">
                                      <p:cBhvr>
                                        <p:cTn id="15" dur="10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16" fill="hold">
                      <p:stCondLst>
                        <p:cond delay="indefinite"/>
                      </p:stCondLst>
                      <p:childTnLst>
                        <p:par>
                          <p:cTn id="17" fill="hold">
                            <p:stCondLst>
                              <p:cond delay="0"/>
                            </p:stCondLst>
                            <p:childTnLst>
                              <p:par>
                                <p:cTn id="18" presetID="53" presetClass="entr" presetSubtype="16"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p:cTn id="20" dur="1000" fill="hold"/>
                                        <p:tgtEl>
                                          <p:spTgt spid="7"/>
                                        </p:tgtEl>
                                        <p:attrNameLst>
                                          <p:attrName>ppt_w</p:attrName>
                                        </p:attrNameLst>
                                      </p:cBhvr>
                                      <p:tavLst>
                                        <p:tav tm="0">
                                          <p:val>
                                            <p:fltVal val="0"/>
                                          </p:val>
                                        </p:tav>
                                        <p:tav tm="100000">
                                          <p:val>
                                            <p:strVal val="#ppt_w"/>
                                          </p:val>
                                        </p:tav>
                                      </p:tavLst>
                                    </p:anim>
                                    <p:anim calcmode="lin" valueType="num">
                                      <p:cBhvr>
                                        <p:cTn id="21" dur="1000" fill="hold"/>
                                        <p:tgtEl>
                                          <p:spTgt spid="7"/>
                                        </p:tgtEl>
                                        <p:attrNameLst>
                                          <p:attrName>ppt_h</p:attrName>
                                        </p:attrNameLst>
                                      </p:cBhvr>
                                      <p:tavLst>
                                        <p:tav tm="0">
                                          <p:val>
                                            <p:fltVal val="0"/>
                                          </p:val>
                                        </p:tav>
                                        <p:tav tm="100000">
                                          <p:val>
                                            <p:strVal val="#ppt_h"/>
                                          </p:val>
                                        </p:tav>
                                      </p:tavLst>
                                    </p:anim>
                                    <p:animEffect transition="in" filter="fade">
                                      <p:cBhvr>
                                        <p:cTn id="22" dur="10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anim calcmode="lin" valueType="num">
                                      <p:cBhvr additive="base">
                                        <p:cTn id="27"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8" dur="10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4">
                                            <p:txEl>
                                              <p:pRg st="4" end="4"/>
                                            </p:txEl>
                                          </p:spTgt>
                                        </p:tgtEl>
                                        <p:attrNameLst>
                                          <p:attrName>style.visibility</p:attrName>
                                        </p:attrNameLst>
                                      </p:cBhvr>
                                      <p:to>
                                        <p:strVal val="visible"/>
                                      </p:to>
                                    </p:set>
                                    <p:anim calcmode="lin" valueType="num">
                                      <p:cBhvr additive="base">
                                        <p:cTn id="33"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4" dur="10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anim calcmode="lin" valueType="num">
                                      <p:cBhvr additive="base">
                                        <p:cTn id="39"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40" dur="10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0E5AC-6955-44BA-881C-4D5E2A334871}"/>
              </a:ext>
            </a:extLst>
          </p:cNvPr>
          <p:cNvSpPr>
            <a:spLocks noGrp="1"/>
          </p:cNvSpPr>
          <p:nvPr>
            <p:ph type="title"/>
          </p:nvPr>
        </p:nvSpPr>
        <p:spPr>
          <a:xfrm>
            <a:off x="4543864" y="140678"/>
            <a:ext cx="6314635" cy="545122"/>
          </a:xfrm>
        </p:spPr>
        <p:txBody>
          <a:bodyPr/>
          <a:lstStyle/>
          <a:p>
            <a:r>
              <a:rPr lang="en-US" sz="3200" b="1" dirty="0">
                <a:solidFill>
                  <a:srgbClr val="C00000"/>
                </a:solidFill>
              </a:rPr>
              <a:t>H</a:t>
            </a:r>
            <a:r>
              <a:rPr lang="en-US" sz="3200" b="1" dirty="0">
                <a:solidFill>
                  <a:srgbClr val="C00000"/>
                </a:solidFill>
                <a:latin typeface="+mj-lt"/>
              </a:rPr>
              <a:t>ome Applications</a:t>
            </a:r>
            <a:endParaRPr lang="en-US" dirty="0"/>
          </a:p>
        </p:txBody>
      </p:sp>
      <p:sp>
        <p:nvSpPr>
          <p:cNvPr id="3" name="Content Placeholder 2">
            <a:extLst>
              <a:ext uri="{FF2B5EF4-FFF2-40B4-BE49-F238E27FC236}">
                <a16:creationId xmlns:a16="http://schemas.microsoft.com/office/drawing/2014/main" id="{31B73D16-0E26-474E-8EF6-F1B6E8F14959}"/>
              </a:ext>
            </a:extLst>
          </p:cNvPr>
          <p:cNvSpPr>
            <a:spLocks noGrp="1"/>
          </p:cNvSpPr>
          <p:nvPr>
            <p:ph idx="1"/>
          </p:nvPr>
        </p:nvSpPr>
        <p:spPr>
          <a:xfrm>
            <a:off x="548641" y="1237957"/>
            <a:ext cx="10309860" cy="4934244"/>
          </a:xfrm>
        </p:spPr>
        <p:txBody>
          <a:bodyPr>
            <a:normAutofit fontScale="92500" lnSpcReduction="10000"/>
          </a:bodyPr>
          <a:lstStyle/>
          <a:p>
            <a:pPr marL="457200" indent="-457200" algn="l" eaLnBrk="1" hangingPunct="1">
              <a:buFont typeface="+mj-lt"/>
              <a:buAutoNum type="arabicPeriod"/>
            </a:pPr>
            <a:r>
              <a:rPr lang="en-US" altLang="en-US" sz="2400" b="1" dirty="0"/>
              <a:t>Access to remote information</a:t>
            </a:r>
          </a:p>
          <a:p>
            <a:pPr lvl="1" algn="just">
              <a:buFont typeface="Wingdings" panose="05000000000000000000" pitchFamily="2" charset="2"/>
              <a:buChar char="Ø"/>
            </a:pPr>
            <a:r>
              <a:rPr lang="en-US" dirty="0"/>
              <a:t>Surfing the World Wide Web for information or just for fun.</a:t>
            </a:r>
          </a:p>
          <a:p>
            <a:pPr lvl="1" algn="just">
              <a:buFont typeface="Wingdings" panose="05000000000000000000" pitchFamily="2" charset="2"/>
              <a:buChar char="Ø"/>
            </a:pPr>
            <a:r>
              <a:rPr lang="en-US" dirty="0"/>
              <a:t>Information available includes the arts, business, cooking, government, health, history, hobbies, recreation, science, sports, travel, and many others.</a:t>
            </a:r>
            <a:endParaRPr lang="en-US" altLang="en-US" dirty="0"/>
          </a:p>
          <a:p>
            <a:pPr marL="457200" indent="-457200" algn="l" eaLnBrk="1" hangingPunct="1">
              <a:buFont typeface="+mj-lt"/>
              <a:buAutoNum type="arabicPeriod"/>
            </a:pPr>
            <a:endParaRPr lang="en-US" altLang="en-US" sz="2400" b="1" dirty="0"/>
          </a:p>
          <a:p>
            <a:pPr marL="457200" indent="-457200" algn="l" eaLnBrk="1" hangingPunct="1">
              <a:buFont typeface="+mj-lt"/>
              <a:buAutoNum type="arabicPeriod"/>
            </a:pPr>
            <a:r>
              <a:rPr lang="en-US" altLang="en-US" sz="2400" b="1" dirty="0"/>
              <a:t>Person-to-person communication</a:t>
            </a:r>
          </a:p>
          <a:p>
            <a:pPr lvl="1">
              <a:buFont typeface="Wingdings" panose="05000000000000000000" pitchFamily="2" charset="2"/>
              <a:buChar char="Ø"/>
            </a:pPr>
            <a:r>
              <a:rPr lang="en-US" dirty="0"/>
              <a:t>Peer-to-Peer communication</a:t>
            </a:r>
            <a:endParaRPr lang="en-US" altLang="en-US" dirty="0"/>
          </a:p>
          <a:p>
            <a:pPr marL="457200" indent="-457200" algn="l" eaLnBrk="1" hangingPunct="1">
              <a:buFont typeface="+mj-lt"/>
              <a:buAutoNum type="arabicPeriod"/>
            </a:pPr>
            <a:endParaRPr lang="en-US" altLang="en-US" sz="2400" b="1" dirty="0"/>
          </a:p>
          <a:p>
            <a:pPr marL="457200" indent="-457200" algn="l" eaLnBrk="1" hangingPunct="1">
              <a:buFont typeface="+mj-lt"/>
              <a:buAutoNum type="arabicPeriod"/>
            </a:pPr>
            <a:r>
              <a:rPr lang="en-US" altLang="en-US" sz="2400" b="1" dirty="0"/>
              <a:t>Interactive entertainment</a:t>
            </a:r>
          </a:p>
          <a:p>
            <a:pPr lvl="1">
              <a:buFont typeface="Wingdings" panose="05000000000000000000" pitchFamily="2" charset="2"/>
              <a:buChar char="Ø"/>
            </a:pPr>
            <a:r>
              <a:rPr lang="en-US" altLang="en-US" dirty="0"/>
              <a:t>Movies, Online video gaming, Online interactive quizzes, etc.</a:t>
            </a:r>
          </a:p>
          <a:p>
            <a:pPr marL="457200" indent="-457200" algn="l" eaLnBrk="1" hangingPunct="1">
              <a:buFont typeface="+mj-lt"/>
              <a:buAutoNum type="arabicPeriod"/>
            </a:pPr>
            <a:endParaRPr lang="en-US" altLang="en-US" sz="2400" b="1" dirty="0"/>
          </a:p>
          <a:p>
            <a:pPr marL="457200" indent="-457200" algn="l" eaLnBrk="1" hangingPunct="1">
              <a:buFont typeface="+mj-lt"/>
              <a:buAutoNum type="arabicPeriod"/>
            </a:pPr>
            <a:r>
              <a:rPr lang="en-US" altLang="en-US" sz="2400" b="1" dirty="0"/>
              <a:t>Electronic business</a:t>
            </a:r>
          </a:p>
          <a:p>
            <a:pPr lvl="1">
              <a:buFont typeface="Wingdings" panose="05000000000000000000" pitchFamily="2" charset="2"/>
              <a:buChar char="Ø"/>
            </a:pPr>
            <a:r>
              <a:rPr lang="en-US" altLang="en-US" dirty="0"/>
              <a:t>Home shopping, Online banking, Online payments, </a:t>
            </a:r>
            <a:r>
              <a:rPr lang="en-US" altLang="en-US" dirty="0" err="1"/>
              <a:t>etc</a:t>
            </a:r>
            <a:endParaRPr lang="en-US" altLang="en-US" dirty="0"/>
          </a:p>
          <a:p>
            <a:endParaRPr lang="en-US" dirty="0"/>
          </a:p>
        </p:txBody>
      </p:sp>
      <p:pic>
        <p:nvPicPr>
          <p:cNvPr id="5" name="Picture 4">
            <a:extLst>
              <a:ext uri="{FF2B5EF4-FFF2-40B4-BE49-F238E27FC236}">
                <a16:creationId xmlns:a16="http://schemas.microsoft.com/office/drawing/2014/main" id="{5CBD2E4D-861A-4898-9029-56AF3E2E4575}"/>
              </a:ext>
            </a:extLst>
          </p:cNvPr>
          <p:cNvPicPr>
            <a:picLocks noChangeAspect="1"/>
          </p:cNvPicPr>
          <p:nvPr/>
        </p:nvPicPr>
        <p:blipFill>
          <a:blip r:embed="rId2"/>
          <a:stretch>
            <a:fillRect/>
          </a:stretch>
        </p:blipFill>
        <p:spPr>
          <a:xfrm>
            <a:off x="6200775" y="2635045"/>
            <a:ext cx="5991225" cy="1779640"/>
          </a:xfrm>
          <a:prstGeom prst="rect">
            <a:avLst/>
          </a:prstGeom>
        </p:spPr>
      </p:pic>
      <p:pic>
        <p:nvPicPr>
          <p:cNvPr id="4" name="Picture 3" descr="KL Deemed to be University Logo">
            <a:extLst>
              <a:ext uri="{FF2B5EF4-FFF2-40B4-BE49-F238E27FC236}">
                <a16:creationId xmlns:a16="http://schemas.microsoft.com/office/drawing/2014/main" id="{06CDDE84-272E-2EA0-E88F-A79F49A4FEB1}"/>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838369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10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3">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8"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10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18" dur="10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10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1000" fill="hold"/>
                                        <p:tgtEl>
                                          <p:spTgt spid="3">
                                            <p:txEl>
                                              <p:pRg st="5" end="5"/>
                                            </p:txEl>
                                          </p:spTgt>
                                        </p:tgtEl>
                                        <p:attrNameLst>
                                          <p:attrName>ppt_x</p:attrName>
                                        </p:attrNameLst>
                                      </p:cBhvr>
                                      <p:tavLst>
                                        <p:tav tm="0">
                                          <p:val>
                                            <p:strVal val="0-#ppt_w/2"/>
                                          </p:val>
                                        </p:tav>
                                        <p:tav tm="100000">
                                          <p:val>
                                            <p:strVal val="#ppt_x"/>
                                          </p:val>
                                        </p:tav>
                                      </p:tavLst>
                                    </p:anim>
                                    <p:anim calcmode="lin" valueType="num">
                                      <p:cBhvr additive="base">
                                        <p:cTn id="30" dur="1000" fill="hold"/>
                                        <p:tgtEl>
                                          <p:spTgt spid="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anim calcmode="lin" valueType="num">
                                      <p:cBhvr>
                                        <p:cTn id="35" dur="1000" fill="hold"/>
                                        <p:tgtEl>
                                          <p:spTgt spid="5"/>
                                        </p:tgtEl>
                                        <p:attrNameLst>
                                          <p:attrName>ppt_w</p:attrName>
                                        </p:attrNameLst>
                                      </p:cBhvr>
                                      <p:tavLst>
                                        <p:tav tm="0">
                                          <p:val>
                                            <p:fltVal val="0"/>
                                          </p:val>
                                        </p:tav>
                                        <p:tav tm="100000">
                                          <p:val>
                                            <p:strVal val="#ppt_w"/>
                                          </p:val>
                                        </p:tav>
                                      </p:tavLst>
                                    </p:anim>
                                    <p:anim calcmode="lin" valueType="num">
                                      <p:cBhvr>
                                        <p:cTn id="36" dur="1000" fill="hold"/>
                                        <p:tgtEl>
                                          <p:spTgt spid="5"/>
                                        </p:tgtEl>
                                        <p:attrNameLst>
                                          <p:attrName>ppt_h</p:attrName>
                                        </p:attrNameLst>
                                      </p:cBhvr>
                                      <p:tavLst>
                                        <p:tav tm="0">
                                          <p:val>
                                            <p:fltVal val="0"/>
                                          </p:val>
                                        </p:tav>
                                        <p:tav tm="100000">
                                          <p:val>
                                            <p:strVal val="#ppt_h"/>
                                          </p:val>
                                        </p:tav>
                                      </p:tavLst>
                                    </p:anim>
                                    <p:animEffect transition="in" filter="fade">
                                      <p:cBhvr>
                                        <p:cTn id="37" dur="10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 calcmode="lin" valueType="num">
                                      <p:cBhvr additive="base">
                                        <p:cTn id="42"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3" dur="10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8" fill="hold" nodeType="clickEffect">
                                  <p:stCondLst>
                                    <p:cond delay="0"/>
                                  </p:stCondLst>
                                  <p:childTnLst>
                                    <p:set>
                                      <p:cBhvr>
                                        <p:cTn id="47" dur="1" fill="hold">
                                          <p:stCondLst>
                                            <p:cond delay="0"/>
                                          </p:stCondLst>
                                        </p:cTn>
                                        <p:tgtEl>
                                          <p:spTgt spid="3">
                                            <p:txEl>
                                              <p:pRg st="8" end="8"/>
                                            </p:txEl>
                                          </p:spTgt>
                                        </p:tgtEl>
                                        <p:attrNameLst>
                                          <p:attrName>style.visibility</p:attrName>
                                        </p:attrNameLst>
                                      </p:cBhvr>
                                      <p:to>
                                        <p:strVal val="visible"/>
                                      </p:to>
                                    </p:set>
                                    <p:anim calcmode="lin" valueType="num">
                                      <p:cBhvr additive="base">
                                        <p:cTn id="48" dur="1000" fill="hold"/>
                                        <p:tgtEl>
                                          <p:spTgt spid="3">
                                            <p:txEl>
                                              <p:pRg st="8" end="8"/>
                                            </p:txEl>
                                          </p:spTgt>
                                        </p:tgtEl>
                                        <p:attrNameLst>
                                          <p:attrName>ppt_x</p:attrName>
                                        </p:attrNameLst>
                                      </p:cBhvr>
                                      <p:tavLst>
                                        <p:tav tm="0">
                                          <p:val>
                                            <p:strVal val="0-#ppt_w/2"/>
                                          </p:val>
                                        </p:tav>
                                        <p:tav tm="100000">
                                          <p:val>
                                            <p:strVal val="#ppt_x"/>
                                          </p:val>
                                        </p:tav>
                                      </p:tavLst>
                                    </p:anim>
                                    <p:anim calcmode="lin" valueType="num">
                                      <p:cBhvr additive="base">
                                        <p:cTn id="49" dur="1000" fill="hold"/>
                                        <p:tgtEl>
                                          <p:spTgt spid="3">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nodeType="clickEffect">
                                  <p:stCondLst>
                                    <p:cond delay="0"/>
                                  </p:stCondLst>
                                  <p:childTnLst>
                                    <p:set>
                                      <p:cBhvr>
                                        <p:cTn id="53" dur="1" fill="hold">
                                          <p:stCondLst>
                                            <p:cond delay="0"/>
                                          </p:stCondLst>
                                        </p:cTn>
                                        <p:tgtEl>
                                          <p:spTgt spid="3">
                                            <p:txEl>
                                              <p:pRg st="10" end="10"/>
                                            </p:txEl>
                                          </p:spTgt>
                                        </p:tgtEl>
                                        <p:attrNameLst>
                                          <p:attrName>style.visibility</p:attrName>
                                        </p:attrNameLst>
                                      </p:cBhvr>
                                      <p:to>
                                        <p:strVal val="visible"/>
                                      </p:to>
                                    </p:set>
                                    <p:anim calcmode="lin" valueType="num">
                                      <p:cBhvr additive="base">
                                        <p:cTn id="54"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5" dur="10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8" fill="hold" nodeType="clickEffect">
                                  <p:stCondLst>
                                    <p:cond delay="0"/>
                                  </p:stCondLst>
                                  <p:childTnLst>
                                    <p:set>
                                      <p:cBhvr>
                                        <p:cTn id="59" dur="1" fill="hold">
                                          <p:stCondLst>
                                            <p:cond delay="0"/>
                                          </p:stCondLst>
                                        </p:cTn>
                                        <p:tgtEl>
                                          <p:spTgt spid="3">
                                            <p:txEl>
                                              <p:pRg st="11" end="11"/>
                                            </p:txEl>
                                          </p:spTgt>
                                        </p:tgtEl>
                                        <p:attrNameLst>
                                          <p:attrName>style.visibility</p:attrName>
                                        </p:attrNameLst>
                                      </p:cBhvr>
                                      <p:to>
                                        <p:strVal val="visible"/>
                                      </p:to>
                                    </p:set>
                                    <p:anim calcmode="lin" valueType="num">
                                      <p:cBhvr additive="base">
                                        <p:cTn id="60" dur="1000" fill="hold"/>
                                        <p:tgtEl>
                                          <p:spTgt spid="3">
                                            <p:txEl>
                                              <p:pRg st="11" end="11"/>
                                            </p:txEl>
                                          </p:spTgt>
                                        </p:tgtEl>
                                        <p:attrNameLst>
                                          <p:attrName>ppt_x</p:attrName>
                                        </p:attrNameLst>
                                      </p:cBhvr>
                                      <p:tavLst>
                                        <p:tav tm="0">
                                          <p:val>
                                            <p:strVal val="0-#ppt_w/2"/>
                                          </p:val>
                                        </p:tav>
                                        <p:tav tm="100000">
                                          <p:val>
                                            <p:strVal val="#ppt_x"/>
                                          </p:val>
                                        </p:tav>
                                      </p:tavLst>
                                    </p:anim>
                                    <p:anim calcmode="lin" valueType="num">
                                      <p:cBhvr additive="base">
                                        <p:cTn id="61" dur="1000" fill="hold"/>
                                        <p:tgtEl>
                                          <p:spTgt spid="3">
                                            <p:txEl>
                                              <p:pRg st="11" end="1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5B3D4-536C-9916-B984-40F253CEF6AB}"/>
              </a:ext>
            </a:extLst>
          </p:cNvPr>
          <p:cNvSpPr>
            <a:spLocks noGrp="1"/>
          </p:cNvSpPr>
          <p:nvPr>
            <p:ph type="title"/>
          </p:nvPr>
        </p:nvSpPr>
        <p:spPr/>
        <p:txBody>
          <a:bodyPr/>
          <a:lstStyle/>
          <a:p>
            <a:endParaRPr lang="en-US"/>
          </a:p>
        </p:txBody>
      </p:sp>
      <p:pic>
        <p:nvPicPr>
          <p:cNvPr id="7" name="Content Placeholder 6">
            <a:extLst>
              <a:ext uri="{FF2B5EF4-FFF2-40B4-BE49-F238E27FC236}">
                <a16:creationId xmlns:a16="http://schemas.microsoft.com/office/drawing/2014/main" id="{468A4CBA-4F5F-471C-BCE3-83F8BF15A6AF}"/>
              </a:ext>
            </a:extLst>
          </p:cNvPr>
          <p:cNvPicPr>
            <a:picLocks noGrp="1" noChangeAspect="1"/>
          </p:cNvPicPr>
          <p:nvPr>
            <p:ph idx="1"/>
          </p:nvPr>
        </p:nvPicPr>
        <p:blipFill>
          <a:blip r:embed="rId2"/>
          <a:stretch>
            <a:fillRect/>
          </a:stretch>
        </p:blipFill>
        <p:spPr>
          <a:xfrm>
            <a:off x="1258530" y="2241755"/>
            <a:ext cx="8799870" cy="3323303"/>
          </a:xfrm>
          <a:prstGeom prst="rect">
            <a:avLst/>
          </a:prstGeom>
        </p:spPr>
      </p:pic>
    </p:spTree>
    <p:extLst>
      <p:ext uri="{BB962C8B-B14F-4D97-AF65-F5344CB8AC3E}">
        <p14:creationId xmlns:p14="http://schemas.microsoft.com/office/powerpoint/2010/main" val="1586010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Effect transition="in" filter="fade">
                                      <p:cBhvr>
                                        <p:cTn id="9" dur="10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A1371-5CC3-42D2-92D5-3C727E902A27}"/>
              </a:ext>
            </a:extLst>
          </p:cNvPr>
          <p:cNvSpPr>
            <a:spLocks noGrp="1"/>
          </p:cNvSpPr>
          <p:nvPr>
            <p:ph type="title"/>
          </p:nvPr>
        </p:nvSpPr>
        <p:spPr>
          <a:xfrm>
            <a:off x="4417256" y="258395"/>
            <a:ext cx="5808198" cy="566225"/>
          </a:xfrm>
        </p:spPr>
        <p:txBody>
          <a:bodyPr/>
          <a:lstStyle/>
          <a:p>
            <a:r>
              <a:rPr lang="en-US" sz="3200" b="1" dirty="0">
                <a:solidFill>
                  <a:srgbClr val="C00000"/>
                </a:solidFill>
                <a:latin typeface="+mj-lt"/>
              </a:rPr>
              <a:t>Mobile users</a:t>
            </a:r>
            <a:endParaRPr lang="en-US" dirty="0"/>
          </a:p>
        </p:txBody>
      </p:sp>
      <p:sp>
        <p:nvSpPr>
          <p:cNvPr id="3" name="Content Placeholder 2">
            <a:extLst>
              <a:ext uri="{FF2B5EF4-FFF2-40B4-BE49-F238E27FC236}">
                <a16:creationId xmlns:a16="http://schemas.microsoft.com/office/drawing/2014/main" id="{91A5DBF4-DECC-4895-8281-EC119CF8E93D}"/>
              </a:ext>
            </a:extLst>
          </p:cNvPr>
          <p:cNvSpPr>
            <a:spLocks noGrp="1"/>
          </p:cNvSpPr>
          <p:nvPr>
            <p:ph idx="1"/>
          </p:nvPr>
        </p:nvSpPr>
        <p:spPr/>
        <p:txBody>
          <a:bodyPr/>
          <a:lstStyle/>
          <a:p>
            <a:r>
              <a:rPr lang="en-US" altLang="en-US" dirty="0"/>
              <a:t>Combination of wireless networks and mobile computing.</a:t>
            </a:r>
          </a:p>
          <a:p>
            <a:endParaRPr lang="en-US" altLang="en-US" dirty="0"/>
          </a:p>
          <a:p>
            <a:endParaRPr lang="en-US" dirty="0"/>
          </a:p>
        </p:txBody>
      </p:sp>
      <p:pic>
        <p:nvPicPr>
          <p:cNvPr id="4" name="Picture 4" descr="1-5">
            <a:extLst>
              <a:ext uri="{FF2B5EF4-FFF2-40B4-BE49-F238E27FC236}">
                <a16:creationId xmlns:a16="http://schemas.microsoft.com/office/drawing/2014/main" id="{01CF5BF5-546D-4871-BEF3-8FE734977F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0353" y="3244850"/>
            <a:ext cx="8523287" cy="239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descr="KL Deemed to be University Logo">
            <a:extLst>
              <a:ext uri="{FF2B5EF4-FFF2-40B4-BE49-F238E27FC236}">
                <a16:creationId xmlns:a16="http://schemas.microsoft.com/office/drawing/2014/main" id="{8C089AAF-1B51-E7EA-3996-F01120FD9701}"/>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49181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1000" fill="hold"/>
                                        <p:tgtEl>
                                          <p:spTgt spid="4"/>
                                        </p:tgtEl>
                                        <p:attrNameLst>
                                          <p:attrName>ppt_w</p:attrName>
                                        </p:attrNameLst>
                                      </p:cBhvr>
                                      <p:tavLst>
                                        <p:tav tm="0">
                                          <p:val>
                                            <p:fltVal val="0"/>
                                          </p:val>
                                        </p:tav>
                                        <p:tav tm="100000">
                                          <p:val>
                                            <p:strVal val="#ppt_w"/>
                                          </p:val>
                                        </p:tav>
                                      </p:tavLst>
                                    </p:anim>
                                    <p:anim calcmode="lin" valueType="num">
                                      <p:cBhvr>
                                        <p:cTn id="14" dur="1000" fill="hold"/>
                                        <p:tgtEl>
                                          <p:spTgt spid="4"/>
                                        </p:tgtEl>
                                        <p:attrNameLst>
                                          <p:attrName>ppt_h</p:attrName>
                                        </p:attrNameLst>
                                      </p:cBhvr>
                                      <p:tavLst>
                                        <p:tav tm="0">
                                          <p:val>
                                            <p:fltVal val="0"/>
                                          </p:val>
                                        </p:tav>
                                        <p:tav tm="100000">
                                          <p:val>
                                            <p:strVal val="#ppt_h"/>
                                          </p:val>
                                        </p:tav>
                                      </p:tavLst>
                                    </p:anim>
                                    <p:animEffect transition="in" filter="fade">
                                      <p:cBhvr>
                                        <p:cTn id="15"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A1371-5CC3-42D2-92D5-3C727E902A27}"/>
              </a:ext>
            </a:extLst>
          </p:cNvPr>
          <p:cNvSpPr>
            <a:spLocks noGrp="1"/>
          </p:cNvSpPr>
          <p:nvPr>
            <p:ph type="title"/>
          </p:nvPr>
        </p:nvSpPr>
        <p:spPr>
          <a:xfrm>
            <a:off x="4534485" y="319893"/>
            <a:ext cx="3123029" cy="566225"/>
          </a:xfrm>
        </p:spPr>
        <p:txBody>
          <a:bodyPr/>
          <a:lstStyle/>
          <a:p>
            <a:r>
              <a:rPr lang="en-US" b="1" dirty="0">
                <a:solidFill>
                  <a:srgbClr val="C00000"/>
                </a:solidFill>
              </a:rPr>
              <a:t>Social issues</a:t>
            </a:r>
            <a:endParaRPr lang="en-US" dirty="0"/>
          </a:p>
        </p:txBody>
      </p:sp>
      <p:sp>
        <p:nvSpPr>
          <p:cNvPr id="3" name="Content Placeholder 2">
            <a:extLst>
              <a:ext uri="{FF2B5EF4-FFF2-40B4-BE49-F238E27FC236}">
                <a16:creationId xmlns:a16="http://schemas.microsoft.com/office/drawing/2014/main" id="{91A5DBF4-DECC-4895-8281-EC119CF8E93D}"/>
              </a:ext>
            </a:extLst>
          </p:cNvPr>
          <p:cNvSpPr>
            <a:spLocks noGrp="1"/>
          </p:cNvSpPr>
          <p:nvPr>
            <p:ph idx="1"/>
          </p:nvPr>
        </p:nvSpPr>
        <p:spPr/>
        <p:txBody>
          <a:bodyPr/>
          <a:lstStyle/>
          <a:p>
            <a:r>
              <a:rPr lang="en-US" dirty="0"/>
              <a:t>Topics that people actually care about, like </a:t>
            </a:r>
          </a:p>
          <a:p>
            <a:pPr lvl="1">
              <a:buFont typeface="Wingdings" panose="05000000000000000000" pitchFamily="2" charset="2"/>
              <a:buChar char="Ø"/>
            </a:pPr>
            <a:r>
              <a:rPr lang="en-US" dirty="0"/>
              <a:t>Politics</a:t>
            </a:r>
          </a:p>
          <a:p>
            <a:pPr lvl="1">
              <a:buFont typeface="Wingdings" panose="05000000000000000000" pitchFamily="2" charset="2"/>
              <a:buChar char="Ø"/>
            </a:pPr>
            <a:r>
              <a:rPr lang="en-US" dirty="0"/>
              <a:t>Religion</a:t>
            </a:r>
          </a:p>
          <a:p>
            <a:pPr lvl="1">
              <a:buFont typeface="Wingdings" panose="05000000000000000000" pitchFamily="2" charset="2"/>
              <a:buChar char="Ø"/>
            </a:pPr>
            <a:r>
              <a:rPr lang="en-US" dirty="0"/>
              <a:t>Societal issues, etc.</a:t>
            </a:r>
          </a:p>
        </p:txBody>
      </p:sp>
      <p:pic>
        <p:nvPicPr>
          <p:cNvPr id="4" name="Picture 3" descr="KL Deemed to be University Logo">
            <a:extLst>
              <a:ext uri="{FF2B5EF4-FFF2-40B4-BE49-F238E27FC236}">
                <a16:creationId xmlns:a16="http://schemas.microsoft.com/office/drawing/2014/main" id="{FDD36320-6517-F2DC-A491-89425758B667}"/>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3745598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10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10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946069" y="929962"/>
            <a:ext cx="10172210" cy="412293"/>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indent="-342900">
              <a:buFont typeface="+mj-lt"/>
              <a:buAutoNum type="arabicPeriod"/>
            </a:pPr>
            <a:r>
              <a:rPr lang="en-US" sz="1600" dirty="0">
                <a:solidFill>
                  <a:schemeClr val="bg1"/>
                </a:solidFill>
                <a:latin typeface="Poppins" panose="00000500000000000000" pitchFamily="2" charset="0"/>
                <a:ea typeface="Calibri"/>
                <a:cs typeface="Poppins" panose="00000500000000000000" pitchFamily="2" charset="0"/>
              </a:rPr>
              <a:t>Which among the following represents the characteristics of a computer network?</a:t>
            </a:r>
          </a:p>
        </p:txBody>
      </p:sp>
      <p:sp>
        <p:nvSpPr>
          <p:cNvPr id="11" name="Rounded Rectangle 17">
            <a:extLst>
              <a:ext uri="{FF2B5EF4-FFF2-40B4-BE49-F238E27FC236}">
                <a16:creationId xmlns:a16="http://schemas.microsoft.com/office/drawing/2014/main" id="{5D8B791C-9B35-CF16-C192-D202E0DB9A60}"/>
              </a:ext>
            </a:extLst>
          </p:cNvPr>
          <p:cNvSpPr/>
          <p:nvPr/>
        </p:nvSpPr>
        <p:spPr>
          <a:xfrm>
            <a:off x="1009895" y="1501442"/>
            <a:ext cx="2901705" cy="1038604"/>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AutoNum type="alphaLcParenBoth"/>
            </a:pPr>
            <a:r>
              <a:rPr lang="en-US" sz="1600" dirty="0"/>
              <a:t>Information Sharing</a:t>
            </a:r>
            <a:endParaRPr lang="en-US" sz="1600" dirty="0">
              <a:latin typeface="Arial" panose="020B0604020202020204" pitchFamily="34" charset="0"/>
            </a:endParaRPr>
          </a:p>
          <a:p>
            <a:pPr marL="342900" indent="-342900">
              <a:buAutoNum type="alphaLcParenBoth"/>
            </a:pPr>
            <a:r>
              <a:rPr lang="en-US" sz="1600" dirty="0"/>
              <a:t>Resource Sharing</a:t>
            </a:r>
          </a:p>
          <a:p>
            <a:pPr marL="342900" indent="-342900">
              <a:buAutoNum type="alphaLcParenBoth"/>
            </a:pPr>
            <a:r>
              <a:rPr lang="en-US" sz="1600" dirty="0"/>
              <a:t>Both</a:t>
            </a:r>
          </a:p>
          <a:p>
            <a:pPr marL="342900" indent="-342900">
              <a:buFontTx/>
              <a:buAutoNum type="alphaLcParenBoth"/>
            </a:pPr>
            <a:r>
              <a:rPr lang="en-US" sz="1600" dirty="0"/>
              <a:t>d. Neither a or b</a:t>
            </a:r>
          </a:p>
        </p:txBody>
      </p:sp>
      <p:sp>
        <p:nvSpPr>
          <p:cNvPr id="13" name="Google Shape;502;p17">
            <a:extLst>
              <a:ext uri="{FF2B5EF4-FFF2-40B4-BE49-F238E27FC236}">
                <a16:creationId xmlns:a16="http://schemas.microsoft.com/office/drawing/2014/main" id="{BB41B87C-BE5F-4BF2-531D-57DC21D1A451}"/>
              </a:ext>
            </a:extLst>
          </p:cNvPr>
          <p:cNvSpPr/>
          <p:nvPr/>
        </p:nvSpPr>
        <p:spPr>
          <a:xfrm>
            <a:off x="981385" y="2872641"/>
            <a:ext cx="10172210" cy="364796"/>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indent="-342900">
              <a:buFont typeface="+mj-lt"/>
              <a:buAutoNum type="arabicPeriod" startAt="2"/>
            </a:pPr>
            <a:r>
              <a:rPr lang="en-US" sz="1600" dirty="0">
                <a:solidFill>
                  <a:schemeClr val="bg1"/>
                </a:solidFill>
                <a:latin typeface="Poppins" panose="00000500000000000000" pitchFamily="2" charset="0"/>
                <a:ea typeface="Calibri"/>
                <a:cs typeface="Poppins" panose="00000500000000000000" pitchFamily="2" charset="0"/>
              </a:rPr>
              <a:t>Broadcasting is done through which computer network device?</a:t>
            </a:r>
          </a:p>
        </p:txBody>
      </p:sp>
      <p:sp>
        <p:nvSpPr>
          <p:cNvPr id="14" name="Rounded Rectangle 17">
            <a:extLst>
              <a:ext uri="{FF2B5EF4-FFF2-40B4-BE49-F238E27FC236}">
                <a16:creationId xmlns:a16="http://schemas.microsoft.com/office/drawing/2014/main" id="{7E00138C-2256-5D01-E821-A57ADA3BBCB0}"/>
              </a:ext>
            </a:extLst>
          </p:cNvPr>
          <p:cNvSpPr/>
          <p:nvPr/>
        </p:nvSpPr>
        <p:spPr>
          <a:xfrm>
            <a:off x="995362" y="3401007"/>
            <a:ext cx="2901705" cy="1114865"/>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AutoNum type="alphaLcParenBoth"/>
            </a:pPr>
            <a:r>
              <a:rPr lang="en-US" dirty="0"/>
              <a:t>Hub</a:t>
            </a:r>
          </a:p>
          <a:p>
            <a:pPr marL="342900" indent="-342900">
              <a:buAutoNum type="alphaLcParenBoth"/>
            </a:pPr>
            <a:r>
              <a:rPr lang="en-US" dirty="0"/>
              <a:t>Switch</a:t>
            </a:r>
          </a:p>
          <a:p>
            <a:pPr marL="342900" indent="-342900">
              <a:buAutoNum type="alphaLcParenBoth"/>
            </a:pPr>
            <a:r>
              <a:rPr lang="en-US" dirty="0"/>
              <a:t>Both a &amp; b</a:t>
            </a:r>
          </a:p>
          <a:p>
            <a:pPr marL="342900" indent="-342900">
              <a:buAutoNum type="alphaLcParenBoth"/>
            </a:pPr>
            <a:r>
              <a:rPr lang="en-US" sz="1600" dirty="0"/>
              <a:t>Neither a nor b</a:t>
            </a: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Google Shape;502;p17">
            <a:extLst>
              <a:ext uri="{FF2B5EF4-FFF2-40B4-BE49-F238E27FC236}">
                <a16:creationId xmlns:a16="http://schemas.microsoft.com/office/drawing/2014/main" id="{232690F5-0E57-FFD3-E4AD-4B85BD78484B}"/>
              </a:ext>
            </a:extLst>
          </p:cNvPr>
          <p:cNvSpPr/>
          <p:nvPr/>
        </p:nvSpPr>
        <p:spPr>
          <a:xfrm>
            <a:off x="1009895" y="5003206"/>
            <a:ext cx="10172210" cy="364796"/>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r>
              <a:rPr lang="en-US" sz="1600" dirty="0">
                <a:solidFill>
                  <a:schemeClr val="bg1"/>
                </a:solidFill>
                <a:latin typeface="Poppins" panose="00000500000000000000" pitchFamily="2" charset="0"/>
                <a:ea typeface="Calibri"/>
                <a:cs typeface="Poppins" panose="00000500000000000000" pitchFamily="2" charset="0"/>
              </a:rPr>
              <a:t>3. The device that processes request is called _____?</a:t>
            </a:r>
          </a:p>
        </p:txBody>
      </p:sp>
      <p:sp>
        <p:nvSpPr>
          <p:cNvPr id="3" name="Rounded Rectangle 17">
            <a:extLst>
              <a:ext uri="{FF2B5EF4-FFF2-40B4-BE49-F238E27FC236}">
                <a16:creationId xmlns:a16="http://schemas.microsoft.com/office/drawing/2014/main" id="{C0F3606B-7E0B-2822-3C70-DBFF563062C3}"/>
              </a:ext>
            </a:extLst>
          </p:cNvPr>
          <p:cNvSpPr/>
          <p:nvPr/>
        </p:nvSpPr>
        <p:spPr>
          <a:xfrm>
            <a:off x="1009894" y="5560052"/>
            <a:ext cx="2901705" cy="1114865"/>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AutoNum type="alphaLcParenBoth"/>
            </a:pPr>
            <a:r>
              <a:rPr lang="en-US" dirty="0"/>
              <a:t>Client</a:t>
            </a:r>
          </a:p>
          <a:p>
            <a:pPr marL="342900" indent="-342900">
              <a:buAutoNum type="alphaLcParenBoth"/>
            </a:pPr>
            <a:r>
              <a:rPr lang="en-US" dirty="0"/>
              <a:t>Server</a:t>
            </a:r>
          </a:p>
          <a:p>
            <a:pPr marL="342900" indent="-342900">
              <a:buAutoNum type="alphaLcParenBoth"/>
            </a:pPr>
            <a:r>
              <a:rPr lang="en-US" dirty="0"/>
              <a:t>Process</a:t>
            </a:r>
          </a:p>
          <a:p>
            <a:pPr marL="342900" indent="-342900">
              <a:buAutoNum type="alphaLcParenBoth"/>
            </a:pPr>
            <a:r>
              <a:rPr lang="en-US" sz="1600" dirty="0"/>
              <a:t>None</a:t>
            </a:r>
          </a:p>
        </p:txBody>
      </p:sp>
    </p:spTree>
    <p:extLst>
      <p:ext uri="{BB962C8B-B14F-4D97-AF65-F5344CB8AC3E}">
        <p14:creationId xmlns:p14="http://schemas.microsoft.com/office/powerpoint/2010/main" val="41927661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up)">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up)">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fade">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up)">
                                      <p:cBhvr>
                                        <p:cTn id="3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P spid="2" grpId="0" animBg="1"/>
      <p:bldP spid="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 Answers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946069" y="929962"/>
            <a:ext cx="10172210" cy="412293"/>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indent="-342900">
              <a:buFont typeface="+mj-lt"/>
              <a:buAutoNum type="arabicPeriod"/>
            </a:pPr>
            <a:r>
              <a:rPr lang="en-US" sz="1600" dirty="0">
                <a:solidFill>
                  <a:schemeClr val="bg1"/>
                </a:solidFill>
                <a:latin typeface="Poppins" panose="00000500000000000000" pitchFamily="2" charset="0"/>
                <a:ea typeface="Calibri"/>
                <a:cs typeface="Poppins" panose="00000500000000000000" pitchFamily="2" charset="0"/>
              </a:rPr>
              <a:t>Which among the following represents the characteristics of a computer network?</a:t>
            </a:r>
          </a:p>
        </p:txBody>
      </p:sp>
      <p:sp>
        <p:nvSpPr>
          <p:cNvPr id="11" name="Rounded Rectangle 17">
            <a:extLst>
              <a:ext uri="{FF2B5EF4-FFF2-40B4-BE49-F238E27FC236}">
                <a16:creationId xmlns:a16="http://schemas.microsoft.com/office/drawing/2014/main" id="{5D8B791C-9B35-CF16-C192-D202E0DB9A60}"/>
              </a:ext>
            </a:extLst>
          </p:cNvPr>
          <p:cNvSpPr/>
          <p:nvPr/>
        </p:nvSpPr>
        <p:spPr>
          <a:xfrm>
            <a:off x="1009895" y="1501442"/>
            <a:ext cx="2901705" cy="1038604"/>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AutoNum type="alphaLcParenBoth"/>
            </a:pPr>
            <a:r>
              <a:rPr lang="en-US" sz="1600" dirty="0"/>
              <a:t>Information Sharing</a:t>
            </a:r>
            <a:endParaRPr lang="en-US" sz="1600" dirty="0">
              <a:latin typeface="Arial" panose="020B0604020202020204" pitchFamily="34" charset="0"/>
            </a:endParaRPr>
          </a:p>
          <a:p>
            <a:pPr marL="342900" indent="-342900">
              <a:buAutoNum type="alphaLcParenBoth"/>
            </a:pPr>
            <a:r>
              <a:rPr lang="en-US" sz="1600" dirty="0"/>
              <a:t>Resource Sharing</a:t>
            </a:r>
          </a:p>
          <a:p>
            <a:pPr marL="342900" indent="-342900">
              <a:buAutoNum type="alphaLcParenBoth"/>
            </a:pPr>
            <a:r>
              <a:rPr lang="en-US" sz="1600" b="1" dirty="0">
                <a:solidFill>
                  <a:srgbClr val="FFFF00"/>
                </a:solidFill>
              </a:rPr>
              <a:t>Both a &amp; b   </a:t>
            </a:r>
          </a:p>
          <a:p>
            <a:pPr marL="342900" indent="-342900">
              <a:buFontTx/>
              <a:buAutoNum type="alphaLcParenBoth"/>
            </a:pPr>
            <a:r>
              <a:rPr lang="en-US" sz="1600" dirty="0"/>
              <a:t>Neither a or b</a:t>
            </a:r>
          </a:p>
        </p:txBody>
      </p:sp>
      <p:sp>
        <p:nvSpPr>
          <p:cNvPr id="13" name="Google Shape;502;p17">
            <a:extLst>
              <a:ext uri="{FF2B5EF4-FFF2-40B4-BE49-F238E27FC236}">
                <a16:creationId xmlns:a16="http://schemas.microsoft.com/office/drawing/2014/main" id="{BB41B87C-BE5F-4BF2-531D-57DC21D1A451}"/>
              </a:ext>
            </a:extLst>
          </p:cNvPr>
          <p:cNvSpPr/>
          <p:nvPr/>
        </p:nvSpPr>
        <p:spPr>
          <a:xfrm>
            <a:off x="981385" y="2872641"/>
            <a:ext cx="10172210" cy="364796"/>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indent="-342900">
              <a:buFont typeface="+mj-lt"/>
              <a:buAutoNum type="arabicPeriod" startAt="2"/>
            </a:pPr>
            <a:r>
              <a:rPr lang="en-US" sz="1600" dirty="0">
                <a:solidFill>
                  <a:schemeClr val="bg1"/>
                </a:solidFill>
                <a:latin typeface="Poppins" panose="00000500000000000000" pitchFamily="2" charset="0"/>
                <a:ea typeface="Calibri"/>
                <a:cs typeface="Poppins" panose="00000500000000000000" pitchFamily="2" charset="0"/>
              </a:rPr>
              <a:t>Broadcasting is done through which computer network device?</a:t>
            </a:r>
          </a:p>
        </p:txBody>
      </p:sp>
      <p:sp>
        <p:nvSpPr>
          <p:cNvPr id="14" name="Rounded Rectangle 17">
            <a:extLst>
              <a:ext uri="{FF2B5EF4-FFF2-40B4-BE49-F238E27FC236}">
                <a16:creationId xmlns:a16="http://schemas.microsoft.com/office/drawing/2014/main" id="{7E00138C-2256-5D01-E821-A57ADA3BBCB0}"/>
              </a:ext>
            </a:extLst>
          </p:cNvPr>
          <p:cNvSpPr/>
          <p:nvPr/>
        </p:nvSpPr>
        <p:spPr>
          <a:xfrm>
            <a:off x="995362" y="3401007"/>
            <a:ext cx="2901705" cy="1114865"/>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AutoNum type="alphaLcParenBoth"/>
            </a:pPr>
            <a:r>
              <a:rPr lang="en-US" b="1" dirty="0">
                <a:solidFill>
                  <a:srgbClr val="FFFF00"/>
                </a:solidFill>
              </a:rPr>
              <a:t>Hub</a:t>
            </a:r>
          </a:p>
          <a:p>
            <a:pPr marL="342900" indent="-342900">
              <a:buAutoNum type="alphaLcParenBoth"/>
            </a:pPr>
            <a:r>
              <a:rPr lang="en-US" dirty="0"/>
              <a:t>Switch</a:t>
            </a:r>
          </a:p>
          <a:p>
            <a:pPr marL="342900" indent="-342900">
              <a:buAutoNum type="alphaLcParenBoth"/>
            </a:pPr>
            <a:r>
              <a:rPr lang="en-US" dirty="0"/>
              <a:t>Both a &amp; b</a:t>
            </a:r>
          </a:p>
          <a:p>
            <a:pPr marL="342900" indent="-342900">
              <a:buAutoNum type="alphaLcParenBoth"/>
            </a:pPr>
            <a:r>
              <a:rPr lang="en-US" sz="1600" dirty="0"/>
              <a:t>Neither a nor b</a:t>
            </a: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Google Shape;502;p17">
            <a:extLst>
              <a:ext uri="{FF2B5EF4-FFF2-40B4-BE49-F238E27FC236}">
                <a16:creationId xmlns:a16="http://schemas.microsoft.com/office/drawing/2014/main" id="{232690F5-0E57-FFD3-E4AD-4B85BD78484B}"/>
              </a:ext>
            </a:extLst>
          </p:cNvPr>
          <p:cNvSpPr/>
          <p:nvPr/>
        </p:nvSpPr>
        <p:spPr>
          <a:xfrm>
            <a:off x="1009895" y="5003206"/>
            <a:ext cx="10172210" cy="364796"/>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r>
              <a:rPr lang="en-US" sz="1600" dirty="0">
                <a:solidFill>
                  <a:schemeClr val="bg1"/>
                </a:solidFill>
                <a:latin typeface="Poppins" panose="00000500000000000000" pitchFamily="2" charset="0"/>
                <a:ea typeface="Calibri"/>
                <a:cs typeface="Poppins" panose="00000500000000000000" pitchFamily="2" charset="0"/>
              </a:rPr>
              <a:t>3. The device that processes request is called _____?</a:t>
            </a:r>
          </a:p>
        </p:txBody>
      </p:sp>
      <p:sp>
        <p:nvSpPr>
          <p:cNvPr id="3" name="Rounded Rectangle 17">
            <a:extLst>
              <a:ext uri="{FF2B5EF4-FFF2-40B4-BE49-F238E27FC236}">
                <a16:creationId xmlns:a16="http://schemas.microsoft.com/office/drawing/2014/main" id="{C0F3606B-7E0B-2822-3C70-DBFF563062C3}"/>
              </a:ext>
            </a:extLst>
          </p:cNvPr>
          <p:cNvSpPr/>
          <p:nvPr/>
        </p:nvSpPr>
        <p:spPr>
          <a:xfrm>
            <a:off x="1009894" y="5560052"/>
            <a:ext cx="2901705" cy="1114865"/>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AutoNum type="alphaLcParenBoth"/>
            </a:pPr>
            <a:r>
              <a:rPr lang="en-US" dirty="0"/>
              <a:t>Client</a:t>
            </a:r>
          </a:p>
          <a:p>
            <a:pPr marL="342900" indent="-342900">
              <a:buAutoNum type="alphaLcParenBoth"/>
            </a:pPr>
            <a:r>
              <a:rPr lang="en-US" b="1" dirty="0">
                <a:solidFill>
                  <a:srgbClr val="FFFF00"/>
                </a:solidFill>
              </a:rPr>
              <a:t>Server</a:t>
            </a:r>
          </a:p>
          <a:p>
            <a:pPr marL="342900" indent="-342900">
              <a:buAutoNum type="alphaLcParenBoth"/>
            </a:pPr>
            <a:r>
              <a:rPr lang="en-US" dirty="0"/>
              <a:t>Process</a:t>
            </a:r>
          </a:p>
          <a:p>
            <a:pPr marL="342900" indent="-342900">
              <a:buAutoNum type="alphaLcParenBoth"/>
            </a:pPr>
            <a:r>
              <a:rPr lang="en-US" sz="1600" dirty="0"/>
              <a:t>None</a:t>
            </a:r>
          </a:p>
        </p:txBody>
      </p:sp>
    </p:spTree>
    <p:extLst>
      <p:ext uri="{BB962C8B-B14F-4D97-AF65-F5344CB8AC3E}">
        <p14:creationId xmlns:p14="http://schemas.microsoft.com/office/powerpoint/2010/main" val="366368875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up)">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up)">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fade">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up)">
                                      <p:cBhvr>
                                        <p:cTn id="3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P spid="2" grpId="0" animBg="1"/>
      <p:bldP spid="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00BC72CD-0E64-4837-A23F-71719B051DF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00487" y="1379529"/>
            <a:ext cx="4098941" cy="4098941"/>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51E0631B-1888-44A3-956F-2018E4A03155}"/>
              </a:ext>
            </a:extLst>
          </p:cNvPr>
          <p:cNvSpPr>
            <a:spLocks noGrp="1"/>
          </p:cNvSpPr>
          <p:nvPr>
            <p:ph idx="1"/>
          </p:nvPr>
        </p:nvSpPr>
        <p:spPr>
          <a:xfrm>
            <a:off x="6096002" y="1584960"/>
            <a:ext cx="5426844" cy="4731434"/>
          </a:xfrm>
        </p:spPr>
        <p:txBody>
          <a:bodyPr>
            <a:normAutofit/>
          </a:bodyPr>
          <a:lstStyle/>
          <a:p>
            <a:pPr>
              <a:buFont typeface="Wingdings" panose="05000000000000000000" pitchFamily="2" charset="2"/>
              <a:buChar char="Ø"/>
            </a:pPr>
            <a:r>
              <a:rPr lang="en-US" dirty="0"/>
              <a:t>Definition of Computer Network</a:t>
            </a:r>
          </a:p>
          <a:p>
            <a:pPr>
              <a:buFont typeface="Wingdings" panose="05000000000000000000" pitchFamily="2" charset="2"/>
              <a:buChar char="Ø"/>
            </a:pPr>
            <a:endParaRPr lang="en-US" dirty="0"/>
          </a:p>
          <a:p>
            <a:pPr>
              <a:buFont typeface="Wingdings" panose="05000000000000000000" pitchFamily="2" charset="2"/>
              <a:buChar char="Ø"/>
            </a:pPr>
            <a:r>
              <a:rPr lang="en-US" dirty="0"/>
              <a:t>Components of Computer Network</a:t>
            </a:r>
          </a:p>
          <a:p>
            <a:pPr>
              <a:buFont typeface="Wingdings" panose="05000000000000000000" pitchFamily="2" charset="2"/>
              <a:buChar char="Ø"/>
            </a:pPr>
            <a:endParaRPr lang="en-US" dirty="0"/>
          </a:p>
          <a:p>
            <a:pPr>
              <a:buFont typeface="Wingdings" panose="05000000000000000000" pitchFamily="2" charset="2"/>
              <a:buChar char="Ø"/>
            </a:pPr>
            <a:r>
              <a:rPr lang="en-US" dirty="0"/>
              <a:t>Computer Network Architecture</a:t>
            </a:r>
          </a:p>
          <a:p>
            <a:pPr>
              <a:buFont typeface="Wingdings" panose="05000000000000000000" pitchFamily="2" charset="2"/>
              <a:buChar char="Ø"/>
            </a:pPr>
            <a:endParaRPr lang="en-US" dirty="0"/>
          </a:p>
          <a:p>
            <a:pPr>
              <a:buFont typeface="Wingdings" panose="05000000000000000000" pitchFamily="2" charset="2"/>
              <a:buChar char="Ø"/>
            </a:pPr>
            <a:r>
              <a:rPr lang="en-US" dirty="0"/>
              <a:t>Uses of Computer Networks</a:t>
            </a:r>
          </a:p>
        </p:txBody>
      </p:sp>
      <p:pic>
        <p:nvPicPr>
          <p:cNvPr id="2" name="Picture 2" descr="KL Deemed to be University Logo">
            <a:extLst>
              <a:ext uri="{FF2B5EF4-FFF2-40B4-BE49-F238E27FC236}">
                <a16:creationId xmlns:a16="http://schemas.microsoft.com/office/drawing/2014/main" id="{1A6E623D-BF52-6CE8-7DF9-98E41C00CDDC}"/>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4" name="Rounded Rectangle 17">
            <a:extLst>
              <a:ext uri="{FF2B5EF4-FFF2-40B4-BE49-F238E27FC236}">
                <a16:creationId xmlns:a16="http://schemas.microsoft.com/office/drawing/2014/main" id="{BF5AC92A-328E-35D9-8A83-66295DF01654}"/>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spTree>
    <p:extLst>
      <p:ext uri="{BB962C8B-B14F-4D97-AF65-F5344CB8AC3E}">
        <p14:creationId xmlns:p14="http://schemas.microsoft.com/office/powerpoint/2010/main" val="1752832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10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10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858129" y="2194816"/>
            <a:ext cx="10255348" cy="2468368"/>
          </a:xfrm>
          <a:prstGeom prst="rect">
            <a:avLst/>
          </a:prstGeom>
          <a:noFill/>
        </p:spPr>
        <p:txBody>
          <a:bodyPr wrap="square" rtlCol="0">
            <a:spAutoFit/>
          </a:bodyPr>
          <a:lstStyle/>
          <a:p>
            <a:pPr>
              <a:lnSpc>
                <a:spcPct val="200000"/>
              </a:lnSpc>
            </a:pPr>
            <a:r>
              <a:rPr lang="en-US" b="1" dirty="0"/>
              <a:t>1. </a:t>
            </a:r>
            <a:r>
              <a:rPr lang="en-US" sz="2000" dirty="0"/>
              <a:t>Describe the term Computer network.</a:t>
            </a:r>
          </a:p>
          <a:p>
            <a:pPr>
              <a:lnSpc>
                <a:spcPct val="200000"/>
              </a:lnSpc>
            </a:pPr>
            <a:r>
              <a:rPr lang="en-US" sz="2000" dirty="0"/>
              <a:t>2. List out the components of computer networks.</a:t>
            </a:r>
          </a:p>
          <a:p>
            <a:pPr marL="342900" indent="-342900">
              <a:lnSpc>
                <a:spcPct val="200000"/>
              </a:lnSpc>
            </a:pPr>
            <a:r>
              <a:rPr lang="en-US" sz="2000" dirty="0"/>
              <a:t>3. Analyze Client-server and Peer-to-peer network architectures.</a:t>
            </a:r>
          </a:p>
          <a:p>
            <a:pPr marL="342900" indent="-342900">
              <a:lnSpc>
                <a:spcPct val="200000"/>
              </a:lnSpc>
            </a:pPr>
            <a:r>
              <a:rPr lang="en-US" sz="2000" dirty="0"/>
              <a:t>4. Summarize the uses of computer networks in our daily lives.</a:t>
            </a:r>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900332" y="1167618"/>
            <a:ext cx="9608234" cy="3373359"/>
          </a:xfrm>
          <a:prstGeom prst="rect">
            <a:avLst/>
          </a:prstGeom>
          <a:noFill/>
        </p:spPr>
        <p:txBody>
          <a:bodyPr wrap="square" rtlCol="0">
            <a:spAutoFit/>
          </a:bodyPr>
          <a:lstStyle/>
          <a:p>
            <a:pPr>
              <a:lnSpc>
                <a:spcPct val="150000"/>
              </a:lnSpc>
            </a:pPr>
            <a:r>
              <a:rPr lang="en-US" b="1" dirty="0"/>
              <a:t>Reference Books:</a:t>
            </a:r>
            <a:endParaRPr lang="en-US" dirty="0"/>
          </a:p>
          <a:p>
            <a:pPr marL="342900" indent="-342900">
              <a:lnSpc>
                <a:spcPct val="150000"/>
              </a:lnSpc>
              <a:buAutoNum type="arabicPeriod"/>
            </a:pPr>
            <a:r>
              <a:rPr lang="en-US" dirty="0"/>
              <a:t>A.S. Tanenbaum, David J. </a:t>
            </a:r>
            <a:r>
              <a:rPr lang="en-US" dirty="0" err="1"/>
              <a:t>Wetheral</a:t>
            </a:r>
            <a:r>
              <a:rPr lang="en-US" dirty="0"/>
              <a:t> “Computer Networks” Pearson, 5th Edition.</a:t>
            </a:r>
          </a:p>
          <a:p>
            <a:pPr marL="342900" indent="-342900">
              <a:lnSpc>
                <a:spcPct val="150000"/>
              </a:lnSpc>
              <a:buAutoNum type="arabicPeriod"/>
            </a:pPr>
            <a:r>
              <a:rPr lang="en-US" dirty="0"/>
              <a:t>Kurose, J and Ross, K Computer Networking: A Top-Down Approach Addison-Wesley- 6th edition.</a:t>
            </a:r>
          </a:p>
          <a:p>
            <a:pPr>
              <a:lnSpc>
                <a:spcPct val="150000"/>
              </a:lnSpc>
            </a:pPr>
            <a:endParaRPr lang="en-US" dirty="0"/>
          </a:p>
          <a:p>
            <a:pPr>
              <a:lnSpc>
                <a:spcPct val="150000"/>
              </a:lnSpc>
            </a:pPr>
            <a:r>
              <a:rPr lang="en-US" b="1" dirty="0"/>
              <a:t>Sites and Web links:</a:t>
            </a:r>
          </a:p>
          <a:p>
            <a:pPr>
              <a:lnSpc>
                <a:spcPct val="150000"/>
              </a:lnSpc>
            </a:pPr>
            <a:r>
              <a:rPr lang="en-US" dirty="0"/>
              <a:t>1. https://www.javatpoint.com/computer-network-components</a:t>
            </a:r>
          </a:p>
          <a:p>
            <a:pPr>
              <a:lnSpc>
                <a:spcPct val="150000"/>
              </a:lnSpc>
            </a:pPr>
            <a:r>
              <a:rPr lang="en-US" dirty="0"/>
              <a:t>2. https://www.javatpoint.com/computer-network-architecture</a:t>
            </a:r>
          </a:p>
          <a:p>
            <a:pPr>
              <a:lnSpc>
                <a:spcPct val="150000"/>
              </a:lnSpc>
            </a:pPr>
            <a:endParaRPr lang="en-US" dirty="0"/>
          </a:p>
        </p:txBody>
      </p:sp>
      <p:pic>
        <p:nvPicPr>
          <p:cNvPr id="5"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Network Protocols &amp; Security</a:t>
            </a: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89A6ECA-0C1B-4F00-836D-A696F073E5C2}">
  <ds:schemaRefs>
    <ds:schemaRef ds:uri="0125a647-8023-46ae-ae6e-85cf36d841bd"/>
    <ds:schemaRef ds:uri="d43ee83c-3e71-4748-8ebc-8eaadf79342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3.xml><?xml version="1.0" encoding="utf-8"?>
<ds:datastoreItem xmlns:ds="http://schemas.openxmlformats.org/officeDocument/2006/customXml" ds:itemID="{EBBD0A98-E68B-4DAA-8964-2F739D6D4075}">
  <ds:schemaRefs>
    <ds:schemaRef ds:uri="0125a647-8023-46ae-ae6e-85cf36d841bd"/>
    <ds:schemaRef ds:uri="d43ee83c-3e71-4748-8ebc-8eaadf79342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433</TotalTime>
  <Words>1660</Words>
  <Application>Microsoft Office PowerPoint</Application>
  <PresentationFormat>Widescreen</PresentationFormat>
  <Paragraphs>253</Paragraphs>
  <Slides>26</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Arial</vt:lpstr>
      <vt:lpstr>BioRhyme ExtraBold</vt:lpstr>
      <vt:lpstr>Bookman Old Style</vt:lpstr>
      <vt:lpstr>Calibri</vt:lpstr>
      <vt:lpstr>inter-regular</vt:lpstr>
      <vt:lpstr>Poppins</vt:lpstr>
      <vt:lpstr>Wingdings</vt:lpstr>
      <vt:lpstr>1_Office Theme</vt:lpstr>
      <vt:lpstr>PowerPoint Presentation</vt:lpstr>
      <vt:lpstr>PowerPoint Presentation</vt:lpstr>
      <vt:lpstr>PowerPoint Presentation</vt:lpstr>
      <vt:lpstr>PowerPoint Presentation</vt:lpstr>
      <vt:lpstr>Components of computer networks…</vt:lpstr>
      <vt:lpstr>Components of computer networks…</vt:lpstr>
      <vt:lpstr>Components of computer networks…</vt:lpstr>
      <vt:lpstr>Components of computer networks…</vt:lpstr>
      <vt:lpstr>Sample Network</vt:lpstr>
      <vt:lpstr>PowerPoint Presentation</vt:lpstr>
      <vt:lpstr>Client/server network</vt:lpstr>
      <vt:lpstr>Client/server network</vt:lpstr>
      <vt:lpstr>Peer-To-Peer network </vt:lpstr>
      <vt:lpstr>Peer-To-Peer network</vt:lpstr>
      <vt:lpstr>PowerPoint Presentation</vt:lpstr>
      <vt:lpstr>Business Applications</vt:lpstr>
      <vt:lpstr>Home Applications</vt:lpstr>
      <vt:lpstr>PowerPoint Presentation</vt:lpstr>
      <vt:lpstr>Mobile users</vt:lpstr>
      <vt:lpstr>Social issues</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Harsha Abhi</cp:lastModifiedBy>
  <cp:revision>27</cp:revision>
  <dcterms:created xsi:type="dcterms:W3CDTF">2020-02-08T09:57:44Z</dcterms:created>
  <dcterms:modified xsi:type="dcterms:W3CDTF">2026-02-01T17:17:29Z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