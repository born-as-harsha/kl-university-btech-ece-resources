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sldIdLst>
    <p:sldId id="271" r:id="rId5"/>
    <p:sldId id="300" r:id="rId6"/>
    <p:sldId id="276" r:id="rId7"/>
    <p:sldId id="314" r:id="rId8"/>
    <p:sldId id="315" r:id="rId9"/>
    <p:sldId id="316" r:id="rId10"/>
    <p:sldId id="325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6" r:id="rId20"/>
    <p:sldId id="327" r:id="rId21"/>
    <p:sldId id="328" r:id="rId22"/>
    <p:sldId id="329" r:id="rId23"/>
    <p:sldId id="330" r:id="rId24"/>
    <p:sldId id="331" r:id="rId25"/>
    <p:sldId id="311" r:id="rId26"/>
    <p:sldId id="332" r:id="rId27"/>
    <p:sldId id="287" r:id="rId28"/>
    <p:sldId id="303" r:id="rId29"/>
    <p:sldId id="30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CF2F33"/>
    <a:srgbClr val="BA2532"/>
    <a:srgbClr val="FF9900"/>
    <a:srgbClr val="E84845"/>
    <a:srgbClr val="FAD2D2"/>
    <a:srgbClr val="F89E4C"/>
    <a:srgbClr val="A81E24"/>
    <a:srgbClr val="FFF2CC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77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3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0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26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5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40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38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09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85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14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53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14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communication_computer_network/computer_network_topologies.htm" TargetMode="External"/><Relationship Id="rId2" Type="http://schemas.openxmlformats.org/officeDocument/2006/relationships/hyperlink" Target="https://www.geeksforgeeks.org/types-of-transmission-technolog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javatpoint.com/computer-network-transmission-mode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184475" y="1933408"/>
            <a:ext cx="711252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Guided and unguided media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28171" y="5086527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- 5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</a:t>
            </a:r>
            <a:r>
              <a:rPr lang="en-US" sz="1600" dirty="0">
                <a:latin typeface="Poppins"/>
                <a:cs typeface="Poppins"/>
              </a:rPr>
              <a:t>different transmission media in Computer networks.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different guided transmission media.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different unguided transmission media.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157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180507" y="4781915"/>
            <a:ext cx="10199071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</a:t>
            </a:r>
            <a:r>
              <a:rPr lang="en-IN" sz="1600" dirty="0">
                <a:latin typeface="Arial" panose="020B0604020202020204" pitchFamily="34" charset="0"/>
              </a:rPr>
              <a:t>guided and unguided transmission media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  <a:endParaRPr lang="en-IN" sz="1600" dirty="0">
              <a:latin typeface="Arial" panose="020B0604020202020204" pitchFamily="34" charset="0"/>
            </a:endParaRPr>
          </a:p>
          <a:p>
            <a:pPr marL="342900" lvl="0" indent="-342900" fontAlgn="base">
              <a:buFont typeface="Wingdings" pitchFamily="2" charset="2"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Understand the characteristics of twisted, untwisted, coaxial cable and fiber optic cables.</a:t>
            </a:r>
            <a:endParaRPr lang="en-IN" sz="1600" dirty="0">
              <a:latin typeface="Arial" panose="020B0604020202020204" pitchFamily="34" charset="0"/>
            </a:endParaRPr>
          </a:p>
          <a:p>
            <a:pPr marL="342900" lvl="0" indent="-342900" fontAlgn="base">
              <a:buFont typeface="Wingdings" pitchFamily="2" charset="2"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Understand characteristics of radio, microwave and infrared waves and explain how they transmit data.</a:t>
            </a:r>
            <a:endParaRPr lang="en-IN" sz="1600" dirty="0"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11464292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42925" indent="-3619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Transmission media are located below the physical layer and are directly controlled by the physical layer. 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latin typeface="Goudy Old Style" panose="02020502050305020303" pitchFamily="18" charset="0"/>
              </a:rPr>
              <a:t>Its main functionality is to carry information from the sender to the receiver in the form of bits (Either as   Electrical signals or Light pulses). </a:t>
            </a: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C19EFD-B84B-3D3D-AAB0-AAE72A67C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1250" y="4080893"/>
            <a:ext cx="7876084" cy="1801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2487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11464292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80975" algn="just"/>
            <a:r>
              <a:rPr lang="en-US" sz="2200" b="1" u="sng" dirty="0">
                <a:solidFill>
                  <a:srgbClr val="C00000"/>
                </a:solidFill>
                <a:latin typeface="Goudy Old Style" panose="02020502050305020303" pitchFamily="18" charset="0"/>
              </a:rPr>
              <a:t>Factors for designing the Transmission Media:</a:t>
            </a:r>
          </a:p>
          <a:p>
            <a:pPr marL="180975" algn="just"/>
            <a:endParaRPr lang="en-US" sz="22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Greater the bandwidth of a medium, higher the data transmission rate of a signal.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impairment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quality of the signals will get destroyed due to transmission impairment which means that the received signal is not identical to the transmitted one.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process of disrupting a signal when it travels over a communication medium due to the addition of some unwanted signal.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0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033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787358"/>
            <a:ext cx="5520692" cy="53153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IN" sz="2200" b="1" u="sng" dirty="0">
                <a:solidFill>
                  <a:srgbClr val="C00000"/>
                </a:solidFill>
                <a:latin typeface="Goudy Old Style" panose="02020502050305020303" pitchFamily="18" charset="0"/>
              </a:rPr>
              <a:t>Causes of Transmission Impairment</a:t>
            </a:r>
            <a:r>
              <a:rPr lang="en-US" sz="2200" b="1" u="sng" dirty="0">
                <a:solidFill>
                  <a:srgbClr val="C00000"/>
                </a:solidFill>
                <a:latin typeface="Goudy Old Style" panose="02020502050305020303" pitchFamily="18" charset="0"/>
              </a:rPr>
              <a:t>:</a:t>
            </a:r>
          </a:p>
          <a:p>
            <a:endParaRPr lang="en-US" sz="2200" b="1" u="sng" dirty="0">
              <a:solidFill>
                <a:srgbClr val="C00000"/>
              </a:solidFill>
              <a:latin typeface="Goudy Old Style" panose="02020502050305020303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Attenuation means the loss of energy, i.e., the strength of the signal decreases with increasing the distance which causes the loss of energy.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 occurs when there is a change in the shape of the signal.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data is travelled over a transmission medium, some unwanted signal is added to it which creates the noise.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647250-1D0B-62BA-A636-424409F60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00076"/>
            <a:ext cx="4630882" cy="17587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270BE3-431E-B887-9118-53AC2B328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10066"/>
            <a:ext cx="6072557" cy="19302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D0C9E5-DAF4-AF7D-E89A-4C4399F45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879844"/>
            <a:ext cx="4396742" cy="18833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522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085835" y="268688"/>
            <a:ext cx="6210565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CLASSIFICATION OF TRANSMISSION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AF0692-1830-6AF2-80FD-C74D713D1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0725" y="1481524"/>
            <a:ext cx="8577398" cy="417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110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D99B80-3BAB-770C-AB56-6DBBF9C92432}"/>
              </a:ext>
            </a:extLst>
          </p:cNvPr>
          <p:cNvSpPr txBox="1"/>
          <p:nvPr/>
        </p:nvSpPr>
        <p:spPr>
          <a:xfrm>
            <a:off x="3114675" y="2529959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rgbClr val="C00000"/>
                </a:solidFill>
              </a:rPr>
              <a:t>GUIDED MEDIA </a:t>
            </a:r>
          </a:p>
        </p:txBody>
      </p:sp>
    </p:spTree>
    <p:extLst>
      <p:ext uri="{BB962C8B-B14F-4D97-AF65-F5344CB8AC3E}">
        <p14:creationId xmlns:p14="http://schemas.microsoft.com/office/powerpoint/2010/main" val="412251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11464292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Media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as the physical medium through which the signals are transmitted.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</a:t>
            </a:r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Bounded media.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Guided media: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 pair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Fiber-Optic Cable </a:t>
            </a:r>
          </a:p>
          <a:p>
            <a:pPr marL="180975" algn="just"/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450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94308" y="752475"/>
            <a:ext cx="11464292" cy="507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 Pair:</a:t>
            </a: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Twisted pair is a physical media made up of a pair of cables twisted with each other.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 as compared to other transmission media.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is easy, and it is a lightweight cable.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range for twisted pair cable is from 0 to 3.5KHz.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twisted pair consists of two insulated copper wires arranged in a regular spiral pattern.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number of turns per foot decreases noise interference.</a:t>
            </a:r>
          </a:p>
          <a:p>
            <a:pPr marL="180975" algn="just"/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Twisted Pair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0A0CB6-5E48-3EC4-83FE-50CF47FD9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6029" y="5267325"/>
            <a:ext cx="6800849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148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94307" y="1133475"/>
            <a:ext cx="6673217" cy="5319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Twisted Pairs:</a:t>
            </a: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Unshielded Twisted Pair: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unshielded twisted pair is widely used in telecommunication. 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algn="just"/>
            <a:endParaRPr lang="en-US" sz="2400" dirty="0">
              <a:latin typeface="Goudy Old Style" panose="020205020503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Shielded Twisted Pair: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shielded twisted pair is a cable that contains the mesh surrounding the wire that allows the higher transmission rate.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Twisted Pair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7DF64-4888-0DA6-3F53-D5E3D4573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215" y="853093"/>
            <a:ext cx="3485913" cy="25759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20D322-D9A8-B1EB-0A53-ED5750FB4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067" y="3957961"/>
            <a:ext cx="3696089" cy="249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4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Twisted Pair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5B57FC-B288-BD83-6223-023CFBEEF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26349"/>
              </p:ext>
            </p:extLst>
          </p:nvPr>
        </p:nvGraphicFramePr>
        <p:xfrm>
          <a:off x="459264" y="713783"/>
          <a:ext cx="10827861" cy="55009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74761">
                  <a:extLst>
                    <a:ext uri="{9D8B030D-6E8A-4147-A177-3AD203B41FA5}">
                      <a16:colId xmlns:a16="http://schemas.microsoft.com/office/drawing/2014/main" val="2665107341"/>
                    </a:ext>
                  </a:extLst>
                </a:gridCol>
                <a:gridCol w="5753100">
                  <a:extLst>
                    <a:ext uri="{9D8B030D-6E8A-4147-A177-3AD203B41FA5}">
                      <a16:colId xmlns:a16="http://schemas.microsoft.com/office/drawing/2014/main" val="2585483710"/>
                    </a:ext>
                  </a:extLst>
                </a:gridCol>
              </a:tblGrid>
              <a:tr h="49589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277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362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is cheap.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Installation of the unshielded twisted pair is easy.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can be used for high-speed LAN.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An installation of STP is easy. 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has higher capacity as compared to unshielded twisted pair cable. 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has a higher attenuation. 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is shielded that provides the higher data transmission rate.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897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Disadvantages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/>
                        <a:t>Disadvantages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234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This cable can only be used for shorter distances because of attenuation.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is more expensive as compared to UTP and coaxial cable.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It has a higher attenuation rate.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645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74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16252" y="839306"/>
            <a:ext cx="11047097" cy="4399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 is very commonly used transmission media, for example, TV wire is usually a coaxial cable.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higher frequency as compared to Twisted pair cable.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two conductors parallel to each other.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inner conductor of the coaxial cable is made up of copper, and the outer conductor is made up of copper mesh.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core is made up of non-conductive cover that separates the inner conductor from the outer conductor.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core is responsible for the data transferring whereas the copper mesh prevents from the EMI (Electromagnetic interference).</a:t>
            </a:r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Coaxial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D72DAC-8C99-B98D-9B79-6F73E8963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463" y="3905250"/>
            <a:ext cx="64130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0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681037" y="931200"/>
            <a:ext cx="11047097" cy="4399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 Types: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Baseband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defined as the process of transmitting a single signal at high speed.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Broadband transmission: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defined as the process of transmitting multiple signals simultaneously.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Coaxial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CE813C-BB1D-FD85-29FA-81E2EF64A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110216"/>
              </p:ext>
            </p:extLst>
          </p:nvPr>
        </p:nvGraphicFramePr>
        <p:xfrm>
          <a:off x="1097756" y="2845172"/>
          <a:ext cx="9996488" cy="37994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86338">
                  <a:extLst>
                    <a:ext uri="{9D8B030D-6E8A-4147-A177-3AD203B41FA5}">
                      <a16:colId xmlns:a16="http://schemas.microsoft.com/office/drawing/2014/main" val="3722747107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3529146929"/>
                    </a:ext>
                  </a:extLst>
                </a:gridCol>
              </a:tblGrid>
              <a:tr h="66002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Advantages of Coaxial 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Disadvantages of Coaxial 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684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The data can be transmitted at high speed.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sz="20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It has better shielding as compared to twisted pair cable.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sz="20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It provides higher bandwidth.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It is more expensive as compared to twisted pair cable.</a:t>
                      </a:r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sz="20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2000" dirty="0"/>
                        <a:t>If any fault occurs in the cable causes the failure in the entire network.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988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90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72451" y="901218"/>
            <a:ext cx="11381424" cy="4399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Optic: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uses electrical signals for communication.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holds the optical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coated in plastic that are used to send the data by pulses of light.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plastic coating protects the optical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heat, cold, electromagnetic interference from other types of wiring.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optics provide faster data transmission than copper wires.</a:t>
            </a: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</a:t>
            </a:r>
            <a:r>
              <a:rPr lang="en-US" sz="2400" dirty="0" err="1"/>
              <a:t>Fibre</a:t>
            </a:r>
            <a:r>
              <a:rPr lang="en-US" sz="2400" dirty="0"/>
              <a:t> Optic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5" descr="A diagram of a cylindrical object&#10;&#10;Description automatically generated">
            <a:extLst>
              <a:ext uri="{FF2B5EF4-FFF2-40B4-BE49-F238E27FC236}">
                <a16:creationId xmlns:a16="http://schemas.microsoft.com/office/drawing/2014/main" id="{E7195EE7-9B1A-CB9E-82B4-9531F2DFA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6" y="3663940"/>
            <a:ext cx="5191332" cy="24118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EB8A66-AA91-C83F-D3BC-E7D3F83605D5}"/>
              </a:ext>
            </a:extLst>
          </p:cNvPr>
          <p:cNvSpPr txBox="1"/>
          <p:nvPr/>
        </p:nvSpPr>
        <p:spPr>
          <a:xfrm>
            <a:off x="5430201" y="3282940"/>
            <a:ext cx="6704647" cy="337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Strand of glass or plastic through which the light waves are transmitted. The more the area of the core, the more light will be transmitted into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Cladding: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concentric layer of glass that is used to cause the reflection within the core so that the light waves are transmitted through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Jacket: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protective coating that is used to preserve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strength, absorb shock and extra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protection.</a:t>
            </a:r>
          </a:p>
        </p:txBody>
      </p:sp>
    </p:spTree>
    <p:extLst>
      <p:ext uri="{BB962C8B-B14F-4D97-AF65-F5344CB8AC3E}">
        <p14:creationId xmlns:p14="http://schemas.microsoft.com/office/powerpoint/2010/main" val="374173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72451" y="901218"/>
            <a:ext cx="11381424" cy="5385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</a:t>
            </a:r>
            <a:r>
              <a:rPr lang="en-US" sz="21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Optic:</a:t>
            </a:r>
          </a:p>
          <a:p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Bandwidth: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provides more bandwidth and therefore it carries more data as compared to copper cable.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speed: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carries the data in the form of light and thus it carries the signals at a higher speed.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distances: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carries the data at a longer distance as compared to copper cable.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reliability: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is more reliable than the copper cable as it is immune to any temperature changes.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Thinner and Sturdier: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 is thinner and lighter in weight.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GUIDED MEDIA : </a:t>
            </a:r>
            <a:r>
              <a:rPr lang="en-US" sz="2400" dirty="0" err="1"/>
              <a:t>Fibre</a:t>
            </a:r>
            <a:r>
              <a:rPr lang="en-US" sz="2400" dirty="0"/>
              <a:t> Optic Cable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453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D99B80-3BAB-770C-AB56-6DBBF9C92432}"/>
              </a:ext>
            </a:extLst>
          </p:cNvPr>
          <p:cNvSpPr txBox="1"/>
          <p:nvPr/>
        </p:nvSpPr>
        <p:spPr>
          <a:xfrm>
            <a:off x="2628900" y="2529959"/>
            <a:ext cx="71246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rgbClr val="C00000"/>
                </a:solidFill>
              </a:rPr>
              <a:t>UNGUIDED MEDIA </a:t>
            </a:r>
          </a:p>
        </p:txBody>
      </p:sp>
    </p:spTree>
    <p:extLst>
      <p:ext uri="{BB962C8B-B14F-4D97-AF65-F5344CB8AC3E}">
        <p14:creationId xmlns:p14="http://schemas.microsoft.com/office/powerpoint/2010/main" val="4031922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572451" y="901218"/>
            <a:ext cx="11381424" cy="5385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unguided transmission transmits the electromagnetic waves without using any physical medium. 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wireless transmission. 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unguided media, air is the media through which the electromagnetic energy can flow easily.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Unguided Media:</a:t>
            </a:r>
          </a:p>
          <a:p>
            <a:pPr marL="800100" lvl="2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Waves</a:t>
            </a:r>
          </a:p>
          <a:p>
            <a:pPr marL="800100" lvl="2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Waves</a:t>
            </a:r>
          </a:p>
          <a:p>
            <a:pPr marL="800100" lvl="2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49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242371" y="901218"/>
            <a:ext cx="6048260" cy="5385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Waves:</a:t>
            </a:r>
          </a:p>
          <a:p>
            <a:pPr algn="just"/>
            <a:endParaRPr lang="en-US" sz="2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waves are the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waves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transmitted in all the directions of free space.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waves are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the signals are propagated in all the directions.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in frequencies of radio waves is from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3Khz to 1Ghz.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sending and receiving antenna are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aligned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the wave sent by the sending antenna can be received by any receiving antenna.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the radio wave is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 radio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Radio Waves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 descr="A cartoon of a planet earth&#10;&#10;Description automatically generated">
            <a:extLst>
              <a:ext uri="{FF2B5EF4-FFF2-40B4-BE49-F238E27FC236}">
                <a16:creationId xmlns:a16="http://schemas.microsoft.com/office/drawing/2014/main" id="{BA7FC343-EA04-2783-5028-778016676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455" y="1870842"/>
            <a:ext cx="5486400" cy="36891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7028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830949" y="1576551"/>
            <a:ext cx="10709409" cy="5071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Radio waves: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Radio wave is useful for multicasting when there is one sender and many receivers.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Radio Waves: FM radio, Television, Cordless phones.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Radio transmission: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transmission is mainly used for wide area networks and mobile cellular phones.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waves cover a large area.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transmission provides a higher transmission rate.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Radio Waves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957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610232" y="1187669"/>
            <a:ext cx="11371561" cy="5459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Waves: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waves having frequencies between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and 300 GHz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called microwaves.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are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sending and receiving antennas need to be aligned.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pair of antennas can be aligned without interfering with another pair of aligned antennas.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Microwaves: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Terrestrial Microwave: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that transmits the beam of a radio signal from one ground-based antenna to another ground-based antenna.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Microwave: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that transmits data (in form of radio signals) between a ground-based station and an orbiting satellite.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Micro Waves 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747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610232" y="1187669"/>
            <a:ext cx="11371561" cy="5459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infrared transmission is a wireless technology used for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over short ranges.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range of the infrared is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 GHz to 400 THz.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short-range communication such as data transfer between two cell phones, TV remote operation, data transfer between a computer and cell phone resides in the same closed area.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Characteristics Of Infrared:</a:t>
            </a:r>
            <a:endParaRPr lang="en-US" sz="2000" dirty="0">
              <a:solidFill>
                <a:srgbClr val="0070C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high bandwidth, and hence the data rate will be very high.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 cannot penetrate the walls. Therefore, the infrared communication in one room cannot be interrupted by the nearby rooms.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infrared communication provides better security with minimum interference.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UNGUIDED MEDIA : Infrared Waves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685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of this is not a guided media?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Fiber Optic Cable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Coaxial Cable</a:t>
            </a:r>
          </a:p>
          <a:p>
            <a:pPr marL="342900" indent="-342900">
              <a:buAutoNum type="alphaLcParenBoth"/>
            </a:pPr>
            <a:r>
              <a:rPr lang="en-US" sz="1600" dirty="0"/>
              <a:t>Wireless LAN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Twisted Pair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Coaxial cable consists of _______ concentric copper conductors.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1</a:t>
            </a:r>
          </a:p>
          <a:p>
            <a:pPr marL="342900" indent="-342900">
              <a:buAutoNum type="alphaLcParenBoth"/>
            </a:pPr>
            <a:r>
              <a:rPr lang="en-US" dirty="0"/>
              <a:t>2</a:t>
            </a:r>
          </a:p>
          <a:p>
            <a:pPr marL="342900" indent="-342900">
              <a:buAutoNum type="alphaLcParenBoth"/>
            </a:pPr>
            <a:r>
              <a:rPr lang="en-US" dirty="0"/>
              <a:t>3</a:t>
            </a:r>
          </a:p>
          <a:p>
            <a:pPr marL="342900" indent="-342900">
              <a:buAutoNum type="alphaLcParenBoth"/>
            </a:pPr>
            <a:r>
              <a:rPr lang="en-US" sz="1600" dirty="0"/>
              <a:t>4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 _____ cable can carry signals of higher frequency ranges than _____ cable.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3162713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Fiber Optic; Coaxial Cable</a:t>
            </a:r>
          </a:p>
          <a:p>
            <a:pPr marL="342900" indent="-342900">
              <a:buAutoNum type="alphaLcParenBoth"/>
            </a:pPr>
            <a:r>
              <a:rPr lang="en-US" sz="16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10543486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of this is not a guided media?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Fiber Optic Cable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Coaxial Cable</a:t>
            </a:r>
          </a:p>
          <a:p>
            <a:pPr marL="342900" indent="-342900">
              <a:buAutoNum type="alphaLcParenBoth"/>
            </a:pPr>
            <a:r>
              <a:rPr lang="en-US" sz="1600" b="1" dirty="0">
                <a:solidFill>
                  <a:schemeClr val="tx1"/>
                </a:solidFill>
              </a:rPr>
              <a:t>Wireless LAN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Twisted Pair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Coaxial cable consists of _______ concentric copper conductors.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1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chemeClr val="tx1"/>
                </a:solidFill>
              </a:rPr>
              <a:t>2</a:t>
            </a:r>
          </a:p>
          <a:p>
            <a:pPr marL="342900" indent="-342900">
              <a:buAutoNum type="alphaLcParenBoth"/>
            </a:pPr>
            <a:r>
              <a:rPr lang="en-US" dirty="0"/>
              <a:t>3</a:t>
            </a:r>
          </a:p>
          <a:p>
            <a:pPr marL="342900" indent="-342900">
              <a:buAutoNum type="alphaLcParenBoth"/>
            </a:pPr>
            <a:r>
              <a:rPr lang="en-US" sz="1600" dirty="0"/>
              <a:t>4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 _____ cable can carry signals of higher frequency ranges than _____ cable.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3162713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AutoNum type="alphaLcParenBoth"/>
            </a:pPr>
            <a:r>
              <a:rPr lang="en-US" dirty="0"/>
              <a:t>Twisted pair; Fiber Optic</a:t>
            </a:r>
          </a:p>
          <a:p>
            <a:pPr marL="342900" indent="-342900">
              <a:buFontTx/>
              <a:buAutoNum type="alphaLcParenBoth"/>
            </a:pPr>
            <a:r>
              <a:rPr lang="en-US" b="1" dirty="0">
                <a:solidFill>
                  <a:schemeClr val="tx1"/>
                </a:solidFill>
              </a:rPr>
              <a:t>Fiber Optic; Coaxial Cable</a:t>
            </a:r>
          </a:p>
          <a:p>
            <a:pPr marL="342900" indent="-342900">
              <a:buAutoNum type="alphaLcParenBoth"/>
            </a:pPr>
            <a:r>
              <a:rPr lang="en-US" sz="16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297542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751" y="1379529"/>
            <a:ext cx="5761220" cy="47927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Transmission Media</a:t>
            </a:r>
          </a:p>
          <a:p>
            <a:pPr marL="0" indent="0">
              <a:buNone/>
            </a:pPr>
            <a:endParaRPr lang="en-US" b="1" dirty="0">
              <a:latin typeface="Goudy Old Style" panose="02020502050305020303" pitchFamily="18" charset="0"/>
            </a:endParaRPr>
          </a:p>
          <a:p>
            <a:pPr lvl="1"/>
            <a:r>
              <a:rPr lang="en-US" dirty="0">
                <a:latin typeface="Goudy Old Style" panose="02020502050305020303" pitchFamily="18" charset="0"/>
              </a:rPr>
              <a:t>Guided Media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 pair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Fiber-Optic Cable </a:t>
            </a: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n-US" dirty="0">
              <a:latin typeface="Goudy Old Style" panose="02020502050305020303" pitchFamily="18" charset="0"/>
            </a:endParaRPr>
          </a:p>
          <a:p>
            <a:pPr lvl="1"/>
            <a:r>
              <a:rPr lang="en-US" dirty="0">
                <a:latin typeface="Goudy Old Style" panose="02020502050305020303" pitchFamily="18" charset="0"/>
              </a:rPr>
              <a:t>Unguided Media </a:t>
            </a:r>
          </a:p>
          <a:p>
            <a:pPr marL="2171700" lvl="5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Waves</a:t>
            </a:r>
          </a:p>
          <a:p>
            <a:pPr marL="2171700" lvl="5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Waves</a:t>
            </a:r>
          </a:p>
          <a:p>
            <a:pPr marL="2171700" lvl="5" indent="-34290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Infrared Waves</a:t>
            </a: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marL="457200" lvl="1" indent="0">
              <a:buNone/>
            </a:pPr>
            <a:endParaRPr lang="en-US" dirty="0">
              <a:latin typeface="Goudy Old Style" panose="020205020503050203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2B019-8014-2532-89D1-4683F4DDF817}"/>
              </a:ext>
            </a:extLst>
          </p:cNvPr>
          <p:cNvSpPr txBox="1"/>
          <p:nvPr/>
        </p:nvSpPr>
        <p:spPr>
          <a:xfrm>
            <a:off x="5733798" y="300038"/>
            <a:ext cx="4820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Topic Summary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1791C71-108A-8B8A-15C6-BBE56E18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297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https://www.geeksforgeeks.org/types-of-transmission-technology/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3"/>
              </a:rPr>
              <a:t>https://www.tutorialspoint.com/data_communication_computer_network/computer_network_topologies.htm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>
                <a:hlinkClick r:id="rId4"/>
              </a:rPr>
              <a:t>https://www.javatpoint.com/computer-network-transmission-modes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478698" y="17807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Network Protocols &amp;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1671</TotalTime>
  <Words>1758</Words>
  <Application>Microsoft Office PowerPoint</Application>
  <PresentationFormat>Widescreen</PresentationFormat>
  <Paragraphs>300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BioRhyme ExtraBold</vt:lpstr>
      <vt:lpstr>Calibri</vt:lpstr>
      <vt:lpstr>Goudy Old Style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GORLA VENKATA GANESH</cp:lastModifiedBy>
  <cp:revision>92</cp:revision>
  <dcterms:created xsi:type="dcterms:W3CDTF">2020-02-08T09:57:44Z</dcterms:created>
  <dcterms:modified xsi:type="dcterms:W3CDTF">2025-12-17T06:30:07Z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