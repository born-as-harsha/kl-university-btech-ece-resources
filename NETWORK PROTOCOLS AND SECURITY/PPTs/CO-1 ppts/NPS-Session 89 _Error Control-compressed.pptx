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433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2F2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2F2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26476" y="37894"/>
            <a:ext cx="927284" cy="93787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4286" y="35179"/>
            <a:ext cx="9392513" cy="933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1076071"/>
            <a:ext cx="10363199" cy="4609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2F2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70590" y="6464680"/>
            <a:ext cx="2444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51.png"/><Relationship Id="rId39" Type="http://schemas.openxmlformats.org/officeDocument/2006/relationships/image" Target="../media/image64.png"/><Relationship Id="rId21" Type="http://schemas.openxmlformats.org/officeDocument/2006/relationships/image" Target="../media/image46.png"/><Relationship Id="rId34" Type="http://schemas.openxmlformats.org/officeDocument/2006/relationships/image" Target="../media/image59.png"/><Relationship Id="rId42" Type="http://schemas.openxmlformats.org/officeDocument/2006/relationships/image" Target="../media/image67.png"/><Relationship Id="rId47" Type="http://schemas.openxmlformats.org/officeDocument/2006/relationships/image" Target="../media/image19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32" Type="http://schemas.openxmlformats.org/officeDocument/2006/relationships/image" Target="../media/image57.png"/><Relationship Id="rId37" Type="http://schemas.openxmlformats.org/officeDocument/2006/relationships/image" Target="../media/image62.png"/><Relationship Id="rId40" Type="http://schemas.openxmlformats.org/officeDocument/2006/relationships/image" Target="../media/image65.png"/><Relationship Id="rId45" Type="http://schemas.openxmlformats.org/officeDocument/2006/relationships/image" Target="../media/image70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28" Type="http://schemas.openxmlformats.org/officeDocument/2006/relationships/image" Target="../media/image53.png"/><Relationship Id="rId36" Type="http://schemas.openxmlformats.org/officeDocument/2006/relationships/image" Target="../media/image61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31" Type="http://schemas.openxmlformats.org/officeDocument/2006/relationships/image" Target="../media/image56.png"/><Relationship Id="rId44" Type="http://schemas.openxmlformats.org/officeDocument/2006/relationships/image" Target="../media/image69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Relationship Id="rId27" Type="http://schemas.openxmlformats.org/officeDocument/2006/relationships/image" Target="../media/image52.png"/><Relationship Id="rId30" Type="http://schemas.openxmlformats.org/officeDocument/2006/relationships/image" Target="../media/image55.png"/><Relationship Id="rId35" Type="http://schemas.openxmlformats.org/officeDocument/2006/relationships/image" Target="../media/image60.png"/><Relationship Id="rId43" Type="http://schemas.openxmlformats.org/officeDocument/2006/relationships/image" Target="../media/image68.png"/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33" Type="http://schemas.openxmlformats.org/officeDocument/2006/relationships/image" Target="../media/image58.png"/><Relationship Id="rId38" Type="http://schemas.openxmlformats.org/officeDocument/2006/relationships/image" Target="../media/image63.png"/><Relationship Id="rId46" Type="http://schemas.openxmlformats.org/officeDocument/2006/relationships/image" Target="../media/image71.png"/><Relationship Id="rId20" Type="http://schemas.openxmlformats.org/officeDocument/2006/relationships/image" Target="../media/image45.png"/><Relationship Id="rId41" Type="http://schemas.openxmlformats.org/officeDocument/2006/relationships/image" Target="../media/image6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2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19.png"/><Relationship Id="rId2" Type="http://schemas.openxmlformats.org/officeDocument/2006/relationships/image" Target="../media/image92.png"/><Relationship Id="rId16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04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2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19.png"/><Relationship Id="rId2" Type="http://schemas.openxmlformats.org/officeDocument/2006/relationships/image" Target="../media/image92.png"/><Relationship Id="rId16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08.png"/><Relationship Id="rId10" Type="http://schemas.openxmlformats.org/officeDocument/2006/relationships/image" Target="../media/image107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0.png"/><Relationship Id="rId4" Type="http://schemas.openxmlformats.org/officeDocument/2006/relationships/image" Target="../media/image9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hyperlink" Target="https://www.tutorialspoint.com/data_communication_computer_network/error_detection_and_correction.htm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80" y="266283"/>
            <a:ext cx="5831528" cy="629038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3058" y="2000240"/>
            <a:ext cx="6572296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59914" marR="5080" indent="-1847850" algn="ctr">
              <a:spcBef>
                <a:spcPts val="105"/>
              </a:spcBef>
            </a:pPr>
            <a:r>
              <a:rPr sz="2800" b="1" dirty="0">
                <a:solidFill>
                  <a:srgbClr val="C00000"/>
                </a:solidFill>
                <a:latin typeface="Carlito"/>
                <a:cs typeface="Carlito"/>
              </a:rPr>
              <a:t>NETWORK</a:t>
            </a:r>
            <a:r>
              <a:rPr sz="2800" b="1" spc="-6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b="1" spc="-20" dirty="0">
                <a:solidFill>
                  <a:srgbClr val="C00000"/>
                </a:solidFill>
                <a:latin typeface="Carlito"/>
                <a:cs typeface="Carlito"/>
              </a:rPr>
              <a:t>PROTOCOLS</a:t>
            </a:r>
            <a:r>
              <a:rPr sz="2800" b="1" spc="-5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rlito"/>
                <a:cs typeface="Carlito"/>
              </a:rPr>
              <a:t>&amp;</a:t>
            </a:r>
            <a:r>
              <a:rPr lang="en-US" sz="2800" b="1" spc="-45" dirty="0">
                <a:solidFill>
                  <a:srgbClr val="C00000"/>
                </a:solidFill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rlito"/>
                <a:cs typeface="Carlito"/>
              </a:rPr>
              <a:t>SECURITY </a:t>
            </a:r>
            <a:br>
              <a:rPr lang="en-US" sz="2800" b="1" spc="-10" dirty="0">
                <a:solidFill>
                  <a:srgbClr val="C00000"/>
                </a:solidFill>
                <a:latin typeface="Carlito"/>
                <a:cs typeface="Carlito"/>
              </a:rPr>
            </a:br>
            <a:r>
              <a:rPr lang="en-US" sz="28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  <a:br>
              <a:rPr lang="en-US" sz="28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</a:br>
            <a:endParaRPr sz="28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67438" y="3571876"/>
            <a:ext cx="5214974" cy="924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ts val="2335"/>
              </a:lnSpc>
              <a:spcBef>
                <a:spcPts val="105"/>
              </a:spcBef>
            </a:pPr>
            <a:r>
              <a:rPr sz="2000" b="1" spc="-10" dirty="0">
                <a:solidFill>
                  <a:srgbClr val="7E7E7E"/>
                </a:solidFill>
                <a:latin typeface="Carlito"/>
                <a:cs typeface="Carlito"/>
              </a:rPr>
              <a:t>Topic:</a:t>
            </a:r>
            <a:endParaRPr sz="2000">
              <a:latin typeface="Carlito"/>
              <a:cs typeface="Carlito"/>
            </a:endParaRPr>
          </a:p>
          <a:p>
            <a:pPr algn="ctr">
              <a:lnSpc>
                <a:spcPts val="4735"/>
              </a:lnSpc>
            </a:pPr>
            <a:r>
              <a:rPr sz="4000" b="1" dirty="0">
                <a:solidFill>
                  <a:srgbClr val="C00000"/>
                </a:solidFill>
                <a:latin typeface="Carlito"/>
                <a:cs typeface="Carlito"/>
              </a:rPr>
              <a:t>ERROR</a:t>
            </a:r>
            <a:r>
              <a:rPr sz="4000" b="1" spc="-11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4000" b="1" spc="-10" dirty="0">
                <a:solidFill>
                  <a:srgbClr val="C00000"/>
                </a:solidFill>
                <a:latin typeface="Carlito"/>
                <a:cs typeface="Carlito"/>
              </a:rPr>
              <a:t>CONTROL</a:t>
            </a:r>
            <a:endParaRPr sz="40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462839" y="4615071"/>
            <a:ext cx="2542540" cy="725170"/>
            <a:chOff x="7462839" y="4615071"/>
            <a:chExt cx="2542540" cy="72517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62839" y="4615071"/>
              <a:ext cx="2542409" cy="72480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623048" y="4757927"/>
              <a:ext cx="2235835" cy="452755"/>
            </a:xfrm>
            <a:custGeom>
              <a:avLst/>
              <a:gdLst/>
              <a:ahLst/>
              <a:cxnLst/>
              <a:rect l="l" t="t" r="r" b="b"/>
              <a:pathLst>
                <a:path w="2235834" h="452754">
                  <a:moveTo>
                    <a:pt x="2074545" y="0"/>
                  </a:moveTo>
                  <a:lnTo>
                    <a:pt x="161162" y="0"/>
                  </a:lnTo>
                  <a:lnTo>
                    <a:pt x="118312" y="5755"/>
                  </a:lnTo>
                  <a:lnTo>
                    <a:pt x="79812" y="21999"/>
                  </a:lnTo>
                  <a:lnTo>
                    <a:pt x="47196" y="47196"/>
                  </a:lnTo>
                  <a:lnTo>
                    <a:pt x="21999" y="79812"/>
                  </a:lnTo>
                  <a:lnTo>
                    <a:pt x="5755" y="118312"/>
                  </a:lnTo>
                  <a:lnTo>
                    <a:pt x="0" y="161163"/>
                  </a:lnTo>
                  <a:lnTo>
                    <a:pt x="0" y="291465"/>
                  </a:lnTo>
                  <a:lnTo>
                    <a:pt x="5755" y="334315"/>
                  </a:lnTo>
                  <a:lnTo>
                    <a:pt x="21999" y="372815"/>
                  </a:lnTo>
                  <a:lnTo>
                    <a:pt x="47196" y="405431"/>
                  </a:lnTo>
                  <a:lnTo>
                    <a:pt x="79812" y="430628"/>
                  </a:lnTo>
                  <a:lnTo>
                    <a:pt x="118312" y="446872"/>
                  </a:lnTo>
                  <a:lnTo>
                    <a:pt x="161162" y="452628"/>
                  </a:lnTo>
                  <a:lnTo>
                    <a:pt x="2074545" y="452628"/>
                  </a:lnTo>
                  <a:lnTo>
                    <a:pt x="2117395" y="446872"/>
                  </a:lnTo>
                  <a:lnTo>
                    <a:pt x="2155895" y="430628"/>
                  </a:lnTo>
                  <a:lnTo>
                    <a:pt x="2188511" y="405431"/>
                  </a:lnTo>
                  <a:lnTo>
                    <a:pt x="2213708" y="372815"/>
                  </a:lnTo>
                  <a:lnTo>
                    <a:pt x="2229952" y="334315"/>
                  </a:lnTo>
                  <a:lnTo>
                    <a:pt x="2235707" y="291465"/>
                  </a:lnTo>
                  <a:lnTo>
                    <a:pt x="2235707" y="161163"/>
                  </a:lnTo>
                  <a:lnTo>
                    <a:pt x="2229952" y="118312"/>
                  </a:lnTo>
                  <a:lnTo>
                    <a:pt x="2213708" y="79812"/>
                  </a:lnTo>
                  <a:lnTo>
                    <a:pt x="2188511" y="47196"/>
                  </a:lnTo>
                  <a:lnTo>
                    <a:pt x="2155895" y="21999"/>
                  </a:lnTo>
                  <a:lnTo>
                    <a:pt x="2117395" y="5755"/>
                  </a:lnTo>
                  <a:lnTo>
                    <a:pt x="207454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667636" y="4770246"/>
            <a:ext cx="214314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FFFF"/>
                </a:solidFill>
                <a:latin typeface="Carlito"/>
                <a:cs typeface="Carlito"/>
              </a:rPr>
              <a:t>Session</a:t>
            </a:r>
            <a:r>
              <a:rPr sz="2400" spc="-6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spc="300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lang="en-US" sz="2400" spc="300" dirty="0">
                <a:solidFill>
                  <a:srgbClr val="FFFFFF"/>
                </a:solidFill>
                <a:latin typeface="Trebuchet MS"/>
                <a:cs typeface="Trebuchet MS"/>
              </a:rPr>
              <a:t>8 &amp;9</a:t>
            </a:r>
            <a:r>
              <a:rPr sz="2400" spc="-1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rlito"/>
                <a:cs typeface="Carlito"/>
              </a:rPr>
              <a:t>8&amp;9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6812279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19"/>
                </a:lnTo>
                <a:lnTo>
                  <a:pt x="12192000" y="4571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0" y="0"/>
            <a:ext cx="12192000" cy="1143000"/>
            <a:chOff x="0" y="0"/>
            <a:chExt cx="12192000" cy="1143000"/>
          </a:xfrm>
        </p:grpSpPr>
        <p:sp>
          <p:nvSpPr>
            <p:cNvPr id="11" name="object 11"/>
            <p:cNvSpPr/>
            <p:nvPr/>
          </p:nvSpPr>
          <p:spPr>
            <a:xfrm>
              <a:off x="0" y="0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20">
                  <a:moveTo>
                    <a:pt x="12192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2192000" y="4572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2504" y="82296"/>
              <a:ext cx="2510028" cy="10607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54638" y="0"/>
            <a:ext cx="3095625" cy="721360"/>
            <a:chOff x="4454638" y="0"/>
            <a:chExt cx="3095625" cy="7213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54638" y="66852"/>
              <a:ext cx="3095270" cy="47585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2939" y="0"/>
              <a:ext cx="3057143" cy="7208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471415" y="83819"/>
              <a:ext cx="3011805" cy="391795"/>
            </a:xfrm>
            <a:custGeom>
              <a:avLst/>
              <a:gdLst/>
              <a:ahLst/>
              <a:cxnLst/>
              <a:rect l="l" t="t" r="r" b="b"/>
              <a:pathLst>
                <a:path w="3011804" h="391795">
                  <a:moveTo>
                    <a:pt x="2946145" y="0"/>
                  </a:moveTo>
                  <a:lnTo>
                    <a:pt x="65278" y="0"/>
                  </a:lnTo>
                  <a:lnTo>
                    <a:pt x="39862" y="5127"/>
                  </a:lnTo>
                  <a:lnTo>
                    <a:pt x="19113" y="19113"/>
                  </a:lnTo>
                  <a:lnTo>
                    <a:pt x="5127" y="39862"/>
                  </a:lnTo>
                  <a:lnTo>
                    <a:pt x="0" y="65277"/>
                  </a:lnTo>
                  <a:lnTo>
                    <a:pt x="0" y="326389"/>
                  </a:lnTo>
                  <a:lnTo>
                    <a:pt x="5127" y="351805"/>
                  </a:lnTo>
                  <a:lnTo>
                    <a:pt x="19113" y="372554"/>
                  </a:lnTo>
                  <a:lnTo>
                    <a:pt x="39862" y="386540"/>
                  </a:lnTo>
                  <a:lnTo>
                    <a:pt x="65278" y="391667"/>
                  </a:lnTo>
                  <a:lnTo>
                    <a:pt x="2946145" y="391667"/>
                  </a:lnTo>
                  <a:lnTo>
                    <a:pt x="2971561" y="386540"/>
                  </a:lnTo>
                  <a:lnTo>
                    <a:pt x="2992310" y="372554"/>
                  </a:lnTo>
                  <a:lnTo>
                    <a:pt x="3006296" y="351805"/>
                  </a:lnTo>
                  <a:lnTo>
                    <a:pt x="3011424" y="326389"/>
                  </a:lnTo>
                  <a:lnTo>
                    <a:pt x="3011424" y="65277"/>
                  </a:lnTo>
                  <a:lnTo>
                    <a:pt x="3006296" y="39862"/>
                  </a:lnTo>
                  <a:lnTo>
                    <a:pt x="2992310" y="19113"/>
                  </a:lnTo>
                  <a:lnTo>
                    <a:pt x="2971561" y="5127"/>
                  </a:lnTo>
                  <a:lnTo>
                    <a:pt x="2946145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9663" y="64389"/>
            <a:ext cx="2616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AIM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THE</a:t>
            </a:r>
            <a:r>
              <a:rPr spc="-10" dirty="0"/>
              <a:t> SESSION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684276"/>
            <a:ext cx="10732008" cy="79705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14400" y="684276"/>
            <a:ext cx="10732135" cy="797560"/>
          </a:xfrm>
          <a:prstGeom prst="rect">
            <a:avLst/>
          </a:prstGeom>
          <a:ln w="9525">
            <a:solidFill>
              <a:srgbClr val="DEEBF7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9"/>
              </a:spcBef>
            </a:pPr>
            <a:r>
              <a:rPr sz="1600" spc="-55" dirty="0">
                <a:latin typeface="Carlito"/>
                <a:cs typeface="Carlito"/>
              </a:rPr>
              <a:t>To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familiarize</a:t>
            </a:r>
            <a:r>
              <a:rPr sz="1600" spc="-5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students</a:t>
            </a:r>
            <a:r>
              <a:rPr sz="1600" spc="-4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with</a:t>
            </a:r>
            <a:r>
              <a:rPr sz="1600" spc="-3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the</a:t>
            </a:r>
            <a:r>
              <a:rPr sz="1600" spc="-3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basic</a:t>
            </a:r>
            <a:r>
              <a:rPr sz="1600" spc="-7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idea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Error</a:t>
            </a:r>
            <a:r>
              <a:rPr sz="1600" spc="1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Control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in</a:t>
            </a:r>
            <a:r>
              <a:rPr sz="1600" spc="-4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Data</a:t>
            </a:r>
            <a:r>
              <a:rPr sz="1600" spc="-4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link</a:t>
            </a:r>
            <a:r>
              <a:rPr sz="1600" spc="-4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layer.</a:t>
            </a:r>
            <a:endParaRPr sz="160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16323" y="1702295"/>
            <a:ext cx="4006850" cy="742315"/>
            <a:chOff x="4116323" y="1702295"/>
            <a:chExt cx="4006850" cy="74231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43745" y="1790696"/>
              <a:ext cx="3954801" cy="4739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16323" y="1702295"/>
              <a:ext cx="4006596" cy="7422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160519" y="1807464"/>
              <a:ext cx="3870960" cy="390525"/>
            </a:xfrm>
            <a:custGeom>
              <a:avLst/>
              <a:gdLst/>
              <a:ahLst/>
              <a:cxnLst/>
              <a:rect l="l" t="t" r="r" b="b"/>
              <a:pathLst>
                <a:path w="3870959" h="390525">
                  <a:moveTo>
                    <a:pt x="3805935" y="0"/>
                  </a:moveTo>
                  <a:lnTo>
                    <a:pt x="65024" y="0"/>
                  </a:lnTo>
                  <a:lnTo>
                    <a:pt x="39701" y="5105"/>
                  </a:lnTo>
                  <a:lnTo>
                    <a:pt x="19034" y="19034"/>
                  </a:lnTo>
                  <a:lnTo>
                    <a:pt x="5105" y="39701"/>
                  </a:lnTo>
                  <a:lnTo>
                    <a:pt x="0" y="65024"/>
                  </a:lnTo>
                  <a:lnTo>
                    <a:pt x="0" y="325120"/>
                  </a:lnTo>
                  <a:lnTo>
                    <a:pt x="5105" y="350442"/>
                  </a:lnTo>
                  <a:lnTo>
                    <a:pt x="19034" y="371109"/>
                  </a:lnTo>
                  <a:lnTo>
                    <a:pt x="39701" y="385038"/>
                  </a:lnTo>
                  <a:lnTo>
                    <a:pt x="65024" y="390144"/>
                  </a:lnTo>
                  <a:lnTo>
                    <a:pt x="3805935" y="390144"/>
                  </a:lnTo>
                  <a:lnTo>
                    <a:pt x="3831258" y="385038"/>
                  </a:lnTo>
                  <a:lnTo>
                    <a:pt x="3851925" y="371109"/>
                  </a:lnTo>
                  <a:lnTo>
                    <a:pt x="3865854" y="350442"/>
                  </a:lnTo>
                  <a:lnTo>
                    <a:pt x="3870959" y="325120"/>
                  </a:lnTo>
                  <a:lnTo>
                    <a:pt x="3870959" y="65024"/>
                  </a:lnTo>
                  <a:lnTo>
                    <a:pt x="3865854" y="39701"/>
                  </a:lnTo>
                  <a:lnTo>
                    <a:pt x="3851925" y="19034"/>
                  </a:lnTo>
                  <a:lnTo>
                    <a:pt x="3831258" y="5105"/>
                  </a:lnTo>
                  <a:lnTo>
                    <a:pt x="3805935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13935" y="1787397"/>
            <a:ext cx="3562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INSTRUCTIONAL</a:t>
            </a:r>
            <a:r>
              <a:rPr sz="2400" spc="-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OBJECTIVES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706879" y="2380488"/>
            <a:ext cx="8929370" cy="1493520"/>
            <a:chOff x="1706879" y="2380488"/>
            <a:chExt cx="8929370" cy="149352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32787" y="2380488"/>
              <a:ext cx="8903208" cy="143560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06879" y="2545080"/>
              <a:ext cx="5558028" cy="13289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52599" y="2438400"/>
              <a:ext cx="8791956" cy="132435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752600" y="2438400"/>
            <a:ext cx="8792210" cy="1324610"/>
          </a:xfrm>
          <a:prstGeom prst="rect">
            <a:avLst/>
          </a:prstGeom>
          <a:ln w="9525">
            <a:solidFill>
              <a:srgbClr val="DEEBF7"/>
            </a:solidFill>
          </a:ln>
        </p:spPr>
        <p:txBody>
          <a:bodyPr vert="horz" wrap="square" lIns="0" tIns="2089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45"/>
              </a:spcBef>
            </a:pPr>
            <a:r>
              <a:rPr sz="1600" dirty="0">
                <a:latin typeface="Carlito"/>
                <a:cs typeface="Carlito"/>
              </a:rPr>
              <a:t>This</a:t>
            </a:r>
            <a:r>
              <a:rPr sz="1600" spc="-5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Session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is</a:t>
            </a:r>
            <a:r>
              <a:rPr sz="1600" spc="-4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designed</a:t>
            </a:r>
            <a:r>
              <a:rPr sz="1600" spc="-50" dirty="0">
                <a:latin typeface="Carlito"/>
                <a:cs typeface="Carlito"/>
              </a:rPr>
              <a:t> </a:t>
            </a:r>
            <a:r>
              <a:rPr sz="1600" spc="-25" dirty="0">
                <a:latin typeface="Carlito"/>
                <a:cs typeface="Carlito"/>
              </a:rPr>
              <a:t>to:</a:t>
            </a:r>
            <a:endParaRPr sz="1600">
              <a:latin typeface="Carlito"/>
              <a:cs typeface="Carlito"/>
            </a:endParaRPr>
          </a:p>
          <a:p>
            <a:pPr marL="43434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34340" algn="l"/>
              </a:tabLst>
            </a:pPr>
            <a:r>
              <a:rPr sz="1600" dirty="0">
                <a:latin typeface="Arial"/>
                <a:cs typeface="Arial"/>
              </a:rPr>
              <a:t>Describe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different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errors.</a:t>
            </a:r>
            <a:endParaRPr sz="1600">
              <a:latin typeface="Arial"/>
              <a:cs typeface="Arial"/>
            </a:endParaRPr>
          </a:p>
          <a:p>
            <a:pPr marL="434340" indent="-342900">
              <a:lnSpc>
                <a:spcPct val="100000"/>
              </a:lnSpc>
              <a:buAutoNum type="arabicPeriod"/>
              <a:tabLst>
                <a:tab pos="434340" algn="l"/>
              </a:tabLst>
            </a:pPr>
            <a:r>
              <a:rPr sz="1600" dirty="0">
                <a:latin typeface="Arial"/>
                <a:cs typeface="Arial"/>
              </a:rPr>
              <a:t>Understand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different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error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detection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methods.</a:t>
            </a:r>
            <a:endParaRPr sz="1600">
              <a:latin typeface="Arial"/>
              <a:cs typeface="Arial"/>
            </a:endParaRPr>
          </a:p>
          <a:p>
            <a:pPr marL="434340" indent="-342900">
              <a:lnSpc>
                <a:spcPct val="100000"/>
              </a:lnSpc>
              <a:buAutoNum type="arabicPeriod"/>
              <a:tabLst>
                <a:tab pos="434340" algn="l"/>
              </a:tabLst>
            </a:pPr>
            <a:r>
              <a:rPr sz="1600" dirty="0">
                <a:latin typeface="Arial"/>
                <a:cs typeface="Arial"/>
              </a:rPr>
              <a:t>Understand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error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correction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mechanism.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9982" y="706911"/>
            <a:ext cx="736600" cy="735965"/>
            <a:chOff x="99982" y="706911"/>
            <a:chExt cx="736600" cy="735965"/>
          </a:xfrm>
        </p:grpSpPr>
        <p:sp>
          <p:nvSpPr>
            <p:cNvPr id="20" name="object 20"/>
            <p:cNvSpPr/>
            <p:nvPr/>
          </p:nvSpPr>
          <p:spPr>
            <a:xfrm>
              <a:off x="99974" y="753986"/>
              <a:ext cx="688340" cy="688975"/>
            </a:xfrm>
            <a:custGeom>
              <a:avLst/>
              <a:gdLst/>
              <a:ahLst/>
              <a:cxnLst/>
              <a:rect l="l" t="t" r="r" b="b"/>
              <a:pathLst>
                <a:path w="688340" h="688975">
                  <a:moveTo>
                    <a:pt x="565912" y="344322"/>
                  </a:moveTo>
                  <a:lnTo>
                    <a:pt x="561403" y="299783"/>
                  </a:lnTo>
                  <a:lnTo>
                    <a:pt x="547878" y="256679"/>
                  </a:lnTo>
                  <a:lnTo>
                    <a:pt x="525348" y="216433"/>
                  </a:lnTo>
                  <a:lnTo>
                    <a:pt x="511822" y="229958"/>
                  </a:lnTo>
                  <a:lnTo>
                    <a:pt x="533590" y="271411"/>
                  </a:lnTo>
                  <a:lnTo>
                    <a:pt x="545045" y="315290"/>
                  </a:lnTo>
                  <a:lnTo>
                    <a:pt x="546481" y="359905"/>
                  </a:lnTo>
                  <a:lnTo>
                    <a:pt x="538226" y="403567"/>
                  </a:lnTo>
                  <a:lnTo>
                    <a:pt x="520611" y="444576"/>
                  </a:lnTo>
                  <a:lnTo>
                    <a:pt x="493941" y="481253"/>
                  </a:lnTo>
                  <a:lnTo>
                    <a:pt x="458546" y="511886"/>
                  </a:lnTo>
                  <a:lnTo>
                    <a:pt x="417118" y="533666"/>
                  </a:lnTo>
                  <a:lnTo>
                    <a:pt x="373265" y="545122"/>
                  </a:lnTo>
                  <a:lnTo>
                    <a:pt x="328676" y="546557"/>
                  </a:lnTo>
                  <a:lnTo>
                    <a:pt x="285038" y="538302"/>
                  </a:lnTo>
                  <a:lnTo>
                    <a:pt x="244043" y="520674"/>
                  </a:lnTo>
                  <a:lnTo>
                    <a:pt x="207391" y="494004"/>
                  </a:lnTo>
                  <a:lnTo>
                    <a:pt x="176771" y="458584"/>
                  </a:lnTo>
                  <a:lnTo>
                    <a:pt x="155003" y="417131"/>
                  </a:lnTo>
                  <a:lnTo>
                    <a:pt x="143560" y="373253"/>
                  </a:lnTo>
                  <a:lnTo>
                    <a:pt x="142125" y="328637"/>
                  </a:lnTo>
                  <a:lnTo>
                    <a:pt x="150368" y="284975"/>
                  </a:lnTo>
                  <a:lnTo>
                    <a:pt x="167982" y="243967"/>
                  </a:lnTo>
                  <a:lnTo>
                    <a:pt x="194652" y="207289"/>
                  </a:lnTo>
                  <a:lnTo>
                    <a:pt x="230047" y="176657"/>
                  </a:lnTo>
                  <a:lnTo>
                    <a:pt x="273659" y="154076"/>
                  </a:lnTo>
                  <a:lnTo>
                    <a:pt x="320408" y="142798"/>
                  </a:lnTo>
                  <a:lnTo>
                    <a:pt x="368185" y="142798"/>
                  </a:lnTo>
                  <a:lnTo>
                    <a:pt x="414934" y="154076"/>
                  </a:lnTo>
                  <a:lnTo>
                    <a:pt x="458546" y="176657"/>
                  </a:lnTo>
                  <a:lnTo>
                    <a:pt x="472059" y="163118"/>
                  </a:lnTo>
                  <a:lnTo>
                    <a:pt x="432968" y="141033"/>
                  </a:lnTo>
                  <a:lnTo>
                    <a:pt x="391528" y="127584"/>
                  </a:lnTo>
                  <a:lnTo>
                    <a:pt x="348983" y="122567"/>
                  </a:lnTo>
                  <a:lnTo>
                    <a:pt x="306578" y="125768"/>
                  </a:lnTo>
                  <a:lnTo>
                    <a:pt x="265544" y="136969"/>
                  </a:lnTo>
                  <a:lnTo>
                    <a:pt x="227139" y="155956"/>
                  </a:lnTo>
                  <a:lnTo>
                    <a:pt x="192595" y="182511"/>
                  </a:lnTo>
                  <a:lnTo>
                    <a:pt x="163156" y="216433"/>
                  </a:lnTo>
                  <a:lnTo>
                    <a:pt x="141071" y="255549"/>
                  </a:lnTo>
                  <a:lnTo>
                    <a:pt x="127635" y="297014"/>
                  </a:lnTo>
                  <a:lnTo>
                    <a:pt x="122618" y="339585"/>
                  </a:lnTo>
                  <a:lnTo>
                    <a:pt x="125818" y="382016"/>
                  </a:lnTo>
                  <a:lnTo>
                    <a:pt x="137020" y="423075"/>
                  </a:lnTo>
                  <a:lnTo>
                    <a:pt x="155994" y="461492"/>
                  </a:lnTo>
                  <a:lnTo>
                    <a:pt x="182537" y="496062"/>
                  </a:lnTo>
                  <a:lnTo>
                    <a:pt x="216433" y="525513"/>
                  </a:lnTo>
                  <a:lnTo>
                    <a:pt x="255536" y="547598"/>
                  </a:lnTo>
                  <a:lnTo>
                    <a:pt x="296976" y="561047"/>
                  </a:lnTo>
                  <a:lnTo>
                    <a:pt x="339521" y="566064"/>
                  </a:lnTo>
                  <a:lnTo>
                    <a:pt x="381927" y="562864"/>
                  </a:lnTo>
                  <a:lnTo>
                    <a:pt x="422960" y="551662"/>
                  </a:lnTo>
                  <a:lnTo>
                    <a:pt x="461365" y="532676"/>
                  </a:lnTo>
                  <a:lnTo>
                    <a:pt x="495909" y="506120"/>
                  </a:lnTo>
                  <a:lnTo>
                    <a:pt x="525348" y="472198"/>
                  </a:lnTo>
                  <a:lnTo>
                    <a:pt x="547878" y="431965"/>
                  </a:lnTo>
                  <a:lnTo>
                    <a:pt x="561403" y="388861"/>
                  </a:lnTo>
                  <a:lnTo>
                    <a:pt x="565912" y="344322"/>
                  </a:lnTo>
                  <a:close/>
                </a:path>
                <a:path w="688340" h="688975">
                  <a:moveTo>
                    <a:pt x="688327" y="344373"/>
                  </a:moveTo>
                  <a:lnTo>
                    <a:pt x="685355" y="299173"/>
                  </a:lnTo>
                  <a:lnTo>
                    <a:pt x="676427" y="254584"/>
                  </a:lnTo>
                  <a:lnTo>
                    <a:pt x="661555" y="211201"/>
                  </a:lnTo>
                  <a:lnTo>
                    <a:pt x="640740" y="169646"/>
                  </a:lnTo>
                  <a:lnTo>
                    <a:pt x="618642" y="169646"/>
                  </a:lnTo>
                  <a:lnTo>
                    <a:pt x="641477" y="212128"/>
                  </a:lnTo>
                  <a:lnTo>
                    <a:pt x="657466" y="256374"/>
                  </a:lnTo>
                  <a:lnTo>
                    <a:pt x="666762" y="301688"/>
                  </a:lnTo>
                  <a:lnTo>
                    <a:pt x="669531" y="347357"/>
                  </a:lnTo>
                  <a:lnTo>
                    <a:pt x="665911" y="392722"/>
                  </a:lnTo>
                  <a:lnTo>
                    <a:pt x="656056" y="437045"/>
                  </a:lnTo>
                  <a:lnTo>
                    <a:pt x="640143" y="479666"/>
                  </a:lnTo>
                  <a:lnTo>
                    <a:pt x="618312" y="519874"/>
                  </a:lnTo>
                  <a:lnTo>
                    <a:pt x="590702" y="556983"/>
                  </a:lnTo>
                  <a:lnTo>
                    <a:pt x="557491" y="590283"/>
                  </a:lnTo>
                  <a:lnTo>
                    <a:pt x="518820" y="619086"/>
                  </a:lnTo>
                  <a:lnTo>
                    <a:pt x="476364" y="641934"/>
                  </a:lnTo>
                  <a:lnTo>
                    <a:pt x="432142" y="657936"/>
                  </a:lnTo>
                  <a:lnTo>
                    <a:pt x="386867" y="667232"/>
                  </a:lnTo>
                  <a:lnTo>
                    <a:pt x="341210" y="670001"/>
                  </a:lnTo>
                  <a:lnTo>
                    <a:pt x="295884" y="666381"/>
                  </a:lnTo>
                  <a:lnTo>
                    <a:pt x="251574" y="656526"/>
                  </a:lnTo>
                  <a:lnTo>
                    <a:pt x="208978" y="640600"/>
                  </a:lnTo>
                  <a:lnTo>
                    <a:pt x="168783" y="618744"/>
                  </a:lnTo>
                  <a:lnTo>
                    <a:pt x="131711" y="591134"/>
                  </a:lnTo>
                  <a:lnTo>
                    <a:pt x="98425" y="557898"/>
                  </a:lnTo>
                  <a:lnTo>
                    <a:pt x="69634" y="519201"/>
                  </a:lnTo>
                  <a:lnTo>
                    <a:pt x="46799" y="476719"/>
                  </a:lnTo>
                  <a:lnTo>
                    <a:pt x="30810" y="432485"/>
                  </a:lnTo>
                  <a:lnTo>
                    <a:pt x="21501" y="387172"/>
                  </a:lnTo>
                  <a:lnTo>
                    <a:pt x="18745" y="341490"/>
                  </a:lnTo>
                  <a:lnTo>
                    <a:pt x="22364" y="296138"/>
                  </a:lnTo>
                  <a:lnTo>
                    <a:pt x="32207" y="251802"/>
                  </a:lnTo>
                  <a:lnTo>
                    <a:pt x="48133" y="209194"/>
                  </a:lnTo>
                  <a:lnTo>
                    <a:pt x="69964" y="168986"/>
                  </a:lnTo>
                  <a:lnTo>
                    <a:pt x="97574" y="131876"/>
                  </a:lnTo>
                  <a:lnTo>
                    <a:pt x="130784" y="98577"/>
                  </a:lnTo>
                  <a:lnTo>
                    <a:pt x="169456" y="69773"/>
                  </a:lnTo>
                  <a:lnTo>
                    <a:pt x="210705" y="47510"/>
                  </a:lnTo>
                  <a:lnTo>
                    <a:pt x="254025" y="31597"/>
                  </a:lnTo>
                  <a:lnTo>
                    <a:pt x="298729" y="22059"/>
                  </a:lnTo>
                  <a:lnTo>
                    <a:pt x="344144" y="18872"/>
                  </a:lnTo>
                  <a:lnTo>
                    <a:pt x="389547" y="22059"/>
                  </a:lnTo>
                  <a:lnTo>
                    <a:pt x="434251" y="31597"/>
                  </a:lnTo>
                  <a:lnTo>
                    <a:pt x="477583" y="47510"/>
                  </a:lnTo>
                  <a:lnTo>
                    <a:pt x="518820" y="69773"/>
                  </a:lnTo>
                  <a:lnTo>
                    <a:pt x="518820" y="47663"/>
                  </a:lnTo>
                  <a:lnTo>
                    <a:pt x="476986" y="26670"/>
                  </a:lnTo>
                  <a:lnTo>
                    <a:pt x="433755" y="11823"/>
                  </a:lnTo>
                  <a:lnTo>
                    <a:pt x="389674" y="2984"/>
                  </a:lnTo>
                  <a:lnTo>
                    <a:pt x="345313" y="0"/>
                  </a:lnTo>
                  <a:lnTo>
                    <a:pt x="301231" y="2730"/>
                  </a:lnTo>
                  <a:lnTo>
                    <a:pt x="257987" y="11036"/>
                  </a:lnTo>
                  <a:lnTo>
                    <a:pt x="216154" y="24752"/>
                  </a:lnTo>
                  <a:lnTo>
                    <a:pt x="176276" y="43764"/>
                  </a:lnTo>
                  <a:lnTo>
                    <a:pt x="138925" y="67894"/>
                  </a:lnTo>
                  <a:lnTo>
                    <a:pt x="104673" y="97015"/>
                  </a:lnTo>
                  <a:lnTo>
                    <a:pt x="74053" y="130987"/>
                  </a:lnTo>
                  <a:lnTo>
                    <a:pt x="47650" y="169646"/>
                  </a:lnTo>
                  <a:lnTo>
                    <a:pt x="26670" y="211505"/>
                  </a:lnTo>
                  <a:lnTo>
                    <a:pt x="11823" y="254774"/>
                  </a:lnTo>
                  <a:lnTo>
                    <a:pt x="2984" y="298869"/>
                  </a:lnTo>
                  <a:lnTo>
                    <a:pt x="0" y="343255"/>
                  </a:lnTo>
                  <a:lnTo>
                    <a:pt x="2730" y="387362"/>
                  </a:lnTo>
                  <a:lnTo>
                    <a:pt x="11023" y="430631"/>
                  </a:lnTo>
                  <a:lnTo>
                    <a:pt x="24739" y="472490"/>
                  </a:lnTo>
                  <a:lnTo>
                    <a:pt x="43738" y="512381"/>
                  </a:lnTo>
                  <a:lnTo>
                    <a:pt x="67868" y="549757"/>
                  </a:lnTo>
                  <a:lnTo>
                    <a:pt x="96977" y="584034"/>
                  </a:lnTo>
                  <a:lnTo>
                    <a:pt x="130924" y="614667"/>
                  </a:lnTo>
                  <a:lnTo>
                    <a:pt x="169570" y="641083"/>
                  </a:lnTo>
                  <a:lnTo>
                    <a:pt x="211404" y="662076"/>
                  </a:lnTo>
                  <a:lnTo>
                    <a:pt x="254635" y="676935"/>
                  </a:lnTo>
                  <a:lnTo>
                    <a:pt x="298716" y="685774"/>
                  </a:lnTo>
                  <a:lnTo>
                    <a:pt x="343077" y="688759"/>
                  </a:lnTo>
                  <a:lnTo>
                    <a:pt x="387159" y="686028"/>
                  </a:lnTo>
                  <a:lnTo>
                    <a:pt x="430403" y="677722"/>
                  </a:lnTo>
                  <a:lnTo>
                    <a:pt x="472236" y="663994"/>
                  </a:lnTo>
                  <a:lnTo>
                    <a:pt x="512114" y="644994"/>
                  </a:lnTo>
                  <a:lnTo>
                    <a:pt x="549465" y="620852"/>
                  </a:lnTo>
                  <a:lnTo>
                    <a:pt x="583717" y="591731"/>
                  </a:lnTo>
                  <a:lnTo>
                    <a:pt x="614337" y="557758"/>
                  </a:lnTo>
                  <a:lnTo>
                    <a:pt x="640740" y="519099"/>
                  </a:lnTo>
                  <a:lnTo>
                    <a:pt x="661555" y="477545"/>
                  </a:lnTo>
                  <a:lnTo>
                    <a:pt x="676427" y="434174"/>
                  </a:lnTo>
                  <a:lnTo>
                    <a:pt x="685355" y="389572"/>
                  </a:lnTo>
                  <a:lnTo>
                    <a:pt x="688327" y="3443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5484" y="998987"/>
              <a:ext cx="197979" cy="19811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34079" y="706911"/>
              <a:ext cx="402590" cy="401955"/>
            </a:xfrm>
            <a:custGeom>
              <a:avLst/>
              <a:gdLst/>
              <a:ahLst/>
              <a:cxnLst/>
              <a:rect l="l" t="t" r="r" b="b"/>
              <a:pathLst>
                <a:path w="402590" h="401955">
                  <a:moveTo>
                    <a:pt x="312351" y="0"/>
                  </a:moveTo>
                  <a:lnTo>
                    <a:pt x="213971" y="89333"/>
                  </a:lnTo>
                  <a:lnTo>
                    <a:pt x="212974" y="91728"/>
                  </a:lnTo>
                  <a:lnTo>
                    <a:pt x="212974" y="175126"/>
                  </a:lnTo>
                  <a:lnTo>
                    <a:pt x="3845" y="384378"/>
                  </a:lnTo>
                  <a:lnTo>
                    <a:pt x="102" y="387990"/>
                  </a:lnTo>
                  <a:lnTo>
                    <a:pt x="0" y="393958"/>
                  </a:lnTo>
                  <a:lnTo>
                    <a:pt x="7227" y="401441"/>
                  </a:lnTo>
                  <a:lnTo>
                    <a:pt x="13184" y="401543"/>
                  </a:lnTo>
                  <a:lnTo>
                    <a:pt x="17155" y="397695"/>
                  </a:lnTo>
                  <a:lnTo>
                    <a:pt x="226292" y="188451"/>
                  </a:lnTo>
                  <a:lnTo>
                    <a:pt x="309644" y="188451"/>
                  </a:lnTo>
                  <a:lnTo>
                    <a:pt x="312037" y="187462"/>
                  </a:lnTo>
                  <a:lnTo>
                    <a:pt x="329885" y="169606"/>
                  </a:lnTo>
                  <a:lnTo>
                    <a:pt x="245127" y="169606"/>
                  </a:lnTo>
                  <a:lnTo>
                    <a:pt x="258445" y="156281"/>
                  </a:lnTo>
                  <a:lnTo>
                    <a:pt x="231809" y="156281"/>
                  </a:lnTo>
                  <a:lnTo>
                    <a:pt x="231809" y="98128"/>
                  </a:lnTo>
                  <a:lnTo>
                    <a:pt x="297652" y="32272"/>
                  </a:lnTo>
                  <a:lnTo>
                    <a:pt x="316566" y="32272"/>
                  </a:lnTo>
                  <a:lnTo>
                    <a:pt x="316566" y="4240"/>
                  </a:lnTo>
                  <a:lnTo>
                    <a:pt x="312351" y="0"/>
                  </a:lnTo>
                  <a:close/>
                </a:path>
                <a:path w="402590" h="401955">
                  <a:moveTo>
                    <a:pt x="395813" y="103648"/>
                  </a:moveTo>
                  <a:lnTo>
                    <a:pt x="369068" y="103648"/>
                  </a:lnTo>
                  <a:lnTo>
                    <a:pt x="303248" y="169606"/>
                  </a:lnTo>
                  <a:lnTo>
                    <a:pt x="329885" y="169606"/>
                  </a:lnTo>
                  <a:lnTo>
                    <a:pt x="395813" y="103648"/>
                  </a:lnTo>
                  <a:close/>
                </a:path>
                <a:path w="402590" h="401955">
                  <a:moveTo>
                    <a:pt x="316566" y="32272"/>
                  </a:moveTo>
                  <a:lnTo>
                    <a:pt x="297731" y="32272"/>
                  </a:lnTo>
                  <a:lnTo>
                    <a:pt x="297731" y="90323"/>
                  </a:lnTo>
                  <a:lnTo>
                    <a:pt x="231809" y="156281"/>
                  </a:lnTo>
                  <a:lnTo>
                    <a:pt x="258445" y="156281"/>
                  </a:lnTo>
                  <a:lnTo>
                    <a:pt x="311049" y="103648"/>
                  </a:lnTo>
                  <a:lnTo>
                    <a:pt x="395813" y="103648"/>
                  </a:lnTo>
                  <a:lnTo>
                    <a:pt x="401244" y="98191"/>
                  </a:lnTo>
                  <a:lnTo>
                    <a:pt x="402029" y="94139"/>
                  </a:lnTo>
                  <a:lnTo>
                    <a:pt x="400493" y="90323"/>
                  </a:lnTo>
                  <a:lnTo>
                    <a:pt x="399125" y="87096"/>
                  </a:lnTo>
                  <a:lnTo>
                    <a:pt x="395750" y="84803"/>
                  </a:lnTo>
                  <a:lnTo>
                    <a:pt x="316566" y="84803"/>
                  </a:lnTo>
                  <a:lnTo>
                    <a:pt x="316566" y="32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948462" y="2558162"/>
            <a:ext cx="697230" cy="688340"/>
            <a:chOff x="948462" y="2558162"/>
            <a:chExt cx="697230" cy="688340"/>
          </a:xfrm>
        </p:grpSpPr>
        <p:sp>
          <p:nvSpPr>
            <p:cNvPr id="24" name="object 24"/>
            <p:cNvSpPr/>
            <p:nvPr/>
          </p:nvSpPr>
          <p:spPr>
            <a:xfrm>
              <a:off x="948461" y="2558173"/>
              <a:ext cx="697230" cy="688340"/>
            </a:xfrm>
            <a:custGeom>
              <a:avLst/>
              <a:gdLst/>
              <a:ahLst/>
              <a:cxnLst/>
              <a:rect l="l" t="t" r="r" b="b"/>
              <a:pathLst>
                <a:path w="697230" h="688339">
                  <a:moveTo>
                    <a:pt x="339026" y="310934"/>
                  </a:moveTo>
                  <a:lnTo>
                    <a:pt x="178930" y="310934"/>
                  </a:lnTo>
                  <a:lnTo>
                    <a:pt x="178930" y="329780"/>
                  </a:lnTo>
                  <a:lnTo>
                    <a:pt x="339026" y="329780"/>
                  </a:lnTo>
                  <a:lnTo>
                    <a:pt x="339026" y="310934"/>
                  </a:lnTo>
                  <a:close/>
                </a:path>
                <a:path w="697230" h="688339">
                  <a:moveTo>
                    <a:pt x="339026" y="188442"/>
                  </a:moveTo>
                  <a:lnTo>
                    <a:pt x="178930" y="188442"/>
                  </a:lnTo>
                  <a:lnTo>
                    <a:pt x="178930" y="207289"/>
                  </a:lnTo>
                  <a:lnTo>
                    <a:pt x="339026" y="207289"/>
                  </a:lnTo>
                  <a:lnTo>
                    <a:pt x="339026" y="188442"/>
                  </a:lnTo>
                  <a:close/>
                </a:path>
                <a:path w="697230" h="688339">
                  <a:moveTo>
                    <a:pt x="696887" y="51320"/>
                  </a:moveTo>
                  <a:lnTo>
                    <a:pt x="692645" y="47104"/>
                  </a:lnTo>
                  <a:lnTo>
                    <a:pt x="357860" y="47104"/>
                  </a:lnTo>
                  <a:lnTo>
                    <a:pt x="357860" y="4229"/>
                  </a:lnTo>
                  <a:lnTo>
                    <a:pt x="353644" y="0"/>
                  </a:lnTo>
                  <a:lnTo>
                    <a:pt x="343230" y="0"/>
                  </a:lnTo>
                  <a:lnTo>
                    <a:pt x="339026" y="4229"/>
                  </a:lnTo>
                  <a:lnTo>
                    <a:pt x="339026" y="47104"/>
                  </a:lnTo>
                  <a:lnTo>
                    <a:pt x="4203" y="47104"/>
                  </a:lnTo>
                  <a:lnTo>
                    <a:pt x="0" y="51320"/>
                  </a:lnTo>
                  <a:lnTo>
                    <a:pt x="0" y="61734"/>
                  </a:lnTo>
                  <a:lnTo>
                    <a:pt x="4203" y="65951"/>
                  </a:lnTo>
                  <a:lnTo>
                    <a:pt x="47078" y="65951"/>
                  </a:lnTo>
                  <a:lnTo>
                    <a:pt x="47078" y="452272"/>
                  </a:lnTo>
                  <a:lnTo>
                    <a:pt x="65913" y="452272"/>
                  </a:lnTo>
                  <a:lnTo>
                    <a:pt x="65913" y="65951"/>
                  </a:lnTo>
                  <a:lnTo>
                    <a:pt x="630961" y="65951"/>
                  </a:lnTo>
                  <a:lnTo>
                    <a:pt x="630961" y="452285"/>
                  </a:lnTo>
                  <a:lnTo>
                    <a:pt x="4203" y="452272"/>
                  </a:lnTo>
                  <a:lnTo>
                    <a:pt x="0" y="456501"/>
                  </a:lnTo>
                  <a:lnTo>
                    <a:pt x="0" y="466902"/>
                  </a:lnTo>
                  <a:lnTo>
                    <a:pt x="4203" y="471119"/>
                  </a:lnTo>
                  <a:lnTo>
                    <a:pt x="325704" y="471119"/>
                  </a:lnTo>
                  <a:lnTo>
                    <a:pt x="158140" y="638784"/>
                  </a:lnTo>
                  <a:lnTo>
                    <a:pt x="154406" y="642391"/>
                  </a:lnTo>
                  <a:lnTo>
                    <a:pt x="154292" y="648360"/>
                  </a:lnTo>
                  <a:lnTo>
                    <a:pt x="161531" y="655840"/>
                  </a:lnTo>
                  <a:lnTo>
                    <a:pt x="167487" y="655942"/>
                  </a:lnTo>
                  <a:lnTo>
                    <a:pt x="171450" y="652094"/>
                  </a:lnTo>
                  <a:lnTo>
                    <a:pt x="338899" y="484568"/>
                  </a:lnTo>
                  <a:lnTo>
                    <a:pt x="339026" y="683628"/>
                  </a:lnTo>
                  <a:lnTo>
                    <a:pt x="343230" y="687844"/>
                  </a:lnTo>
                  <a:lnTo>
                    <a:pt x="353644" y="687844"/>
                  </a:lnTo>
                  <a:lnTo>
                    <a:pt x="357860" y="683628"/>
                  </a:lnTo>
                  <a:lnTo>
                    <a:pt x="357898" y="484581"/>
                  </a:lnTo>
                  <a:lnTo>
                    <a:pt x="525424" y="652106"/>
                  </a:lnTo>
                  <a:lnTo>
                    <a:pt x="529158" y="655726"/>
                  </a:lnTo>
                  <a:lnTo>
                    <a:pt x="535127" y="655612"/>
                  </a:lnTo>
                  <a:lnTo>
                    <a:pt x="542264" y="648220"/>
                  </a:lnTo>
                  <a:lnTo>
                    <a:pt x="542226" y="642391"/>
                  </a:lnTo>
                  <a:lnTo>
                    <a:pt x="538734" y="638784"/>
                  </a:lnTo>
                  <a:lnTo>
                    <a:pt x="384619" y="484581"/>
                  </a:lnTo>
                  <a:lnTo>
                    <a:pt x="371170" y="471119"/>
                  </a:lnTo>
                  <a:lnTo>
                    <a:pt x="692645" y="471119"/>
                  </a:lnTo>
                  <a:lnTo>
                    <a:pt x="696887" y="466902"/>
                  </a:lnTo>
                  <a:lnTo>
                    <a:pt x="696887" y="456501"/>
                  </a:lnTo>
                  <a:lnTo>
                    <a:pt x="692645" y="452285"/>
                  </a:lnTo>
                  <a:lnTo>
                    <a:pt x="649795" y="452285"/>
                  </a:lnTo>
                  <a:lnTo>
                    <a:pt x="649795" y="65951"/>
                  </a:lnTo>
                  <a:lnTo>
                    <a:pt x="692645" y="65951"/>
                  </a:lnTo>
                  <a:lnTo>
                    <a:pt x="696887" y="61734"/>
                  </a:lnTo>
                  <a:lnTo>
                    <a:pt x="696887" y="51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46755" y="2711687"/>
              <a:ext cx="126318" cy="9536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46755" y="2834181"/>
              <a:ext cx="126318" cy="95364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4195561" y="4143743"/>
            <a:ext cx="3955415" cy="742315"/>
            <a:chOff x="4195561" y="4143743"/>
            <a:chExt cx="3955415" cy="742315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5561" y="4232144"/>
              <a:ext cx="3954801" cy="47399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43043" y="4143743"/>
              <a:ext cx="3259836" cy="7422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212335" y="4248911"/>
              <a:ext cx="3870960" cy="390525"/>
            </a:xfrm>
            <a:custGeom>
              <a:avLst/>
              <a:gdLst/>
              <a:ahLst/>
              <a:cxnLst/>
              <a:rect l="l" t="t" r="r" b="b"/>
              <a:pathLst>
                <a:path w="3870959" h="390525">
                  <a:moveTo>
                    <a:pt x="3805936" y="0"/>
                  </a:moveTo>
                  <a:lnTo>
                    <a:pt x="65024" y="0"/>
                  </a:lnTo>
                  <a:lnTo>
                    <a:pt x="39701" y="5105"/>
                  </a:lnTo>
                  <a:lnTo>
                    <a:pt x="19034" y="19034"/>
                  </a:lnTo>
                  <a:lnTo>
                    <a:pt x="5105" y="39701"/>
                  </a:lnTo>
                  <a:lnTo>
                    <a:pt x="0" y="65024"/>
                  </a:lnTo>
                  <a:lnTo>
                    <a:pt x="0" y="325119"/>
                  </a:lnTo>
                  <a:lnTo>
                    <a:pt x="5105" y="350442"/>
                  </a:lnTo>
                  <a:lnTo>
                    <a:pt x="19034" y="371109"/>
                  </a:lnTo>
                  <a:lnTo>
                    <a:pt x="39701" y="385038"/>
                  </a:lnTo>
                  <a:lnTo>
                    <a:pt x="65024" y="390144"/>
                  </a:lnTo>
                  <a:lnTo>
                    <a:pt x="3805936" y="390144"/>
                  </a:lnTo>
                  <a:lnTo>
                    <a:pt x="3831258" y="385038"/>
                  </a:lnTo>
                  <a:lnTo>
                    <a:pt x="3851925" y="371109"/>
                  </a:lnTo>
                  <a:lnTo>
                    <a:pt x="3865854" y="350442"/>
                  </a:lnTo>
                  <a:lnTo>
                    <a:pt x="3870960" y="325119"/>
                  </a:lnTo>
                  <a:lnTo>
                    <a:pt x="3870960" y="65024"/>
                  </a:lnTo>
                  <a:lnTo>
                    <a:pt x="3865854" y="39701"/>
                  </a:lnTo>
                  <a:lnTo>
                    <a:pt x="3851925" y="19034"/>
                  </a:lnTo>
                  <a:lnTo>
                    <a:pt x="3831258" y="5105"/>
                  </a:lnTo>
                  <a:lnTo>
                    <a:pt x="3805936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739766" y="4230116"/>
            <a:ext cx="2817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LEARNING</a:t>
            </a:r>
            <a:r>
              <a:rPr sz="2400" spc="-8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OUTCOMES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52914" y="4713744"/>
            <a:ext cx="9583420" cy="1487805"/>
            <a:chOff x="1052914" y="4713744"/>
            <a:chExt cx="9583420" cy="1487805"/>
          </a:xfrm>
        </p:grpSpPr>
        <p:sp>
          <p:nvSpPr>
            <p:cNvPr id="33" name="object 33"/>
            <p:cNvSpPr/>
            <p:nvPr/>
          </p:nvSpPr>
          <p:spPr>
            <a:xfrm>
              <a:off x="1052906" y="4825009"/>
              <a:ext cx="640715" cy="760730"/>
            </a:xfrm>
            <a:custGeom>
              <a:avLst/>
              <a:gdLst/>
              <a:ahLst/>
              <a:cxnLst/>
              <a:rect l="l" t="t" r="r" b="b"/>
              <a:pathLst>
                <a:path w="640714" h="760729">
                  <a:moveTo>
                    <a:pt x="301358" y="442861"/>
                  </a:moveTo>
                  <a:lnTo>
                    <a:pt x="241084" y="442861"/>
                  </a:lnTo>
                  <a:lnTo>
                    <a:pt x="243941" y="454037"/>
                  </a:lnTo>
                  <a:lnTo>
                    <a:pt x="250507" y="463003"/>
                  </a:lnTo>
                  <a:lnTo>
                    <a:pt x="259892" y="468972"/>
                  </a:lnTo>
                  <a:lnTo>
                    <a:pt x="271221" y="471131"/>
                  </a:lnTo>
                  <a:lnTo>
                    <a:pt x="282549" y="468972"/>
                  </a:lnTo>
                  <a:lnTo>
                    <a:pt x="291947" y="463003"/>
                  </a:lnTo>
                  <a:lnTo>
                    <a:pt x="298500" y="454037"/>
                  </a:lnTo>
                  <a:lnTo>
                    <a:pt x="301358" y="442861"/>
                  </a:lnTo>
                  <a:close/>
                </a:path>
                <a:path w="640714" h="760729">
                  <a:moveTo>
                    <a:pt x="640270" y="436384"/>
                  </a:moveTo>
                  <a:lnTo>
                    <a:pt x="630974" y="411772"/>
                  </a:lnTo>
                  <a:lnTo>
                    <a:pt x="621436" y="395185"/>
                  </a:lnTo>
                  <a:lnTo>
                    <a:pt x="621436" y="442264"/>
                  </a:lnTo>
                  <a:lnTo>
                    <a:pt x="619671" y="449465"/>
                  </a:lnTo>
                  <a:lnTo>
                    <a:pt x="616839" y="455117"/>
                  </a:lnTo>
                  <a:lnTo>
                    <a:pt x="612127" y="457936"/>
                  </a:lnTo>
                  <a:lnTo>
                    <a:pt x="606488" y="459828"/>
                  </a:lnTo>
                  <a:lnTo>
                    <a:pt x="547154" y="459828"/>
                  </a:lnTo>
                  <a:lnTo>
                    <a:pt x="547154" y="537095"/>
                  </a:lnTo>
                  <a:lnTo>
                    <a:pt x="539889" y="572985"/>
                  </a:lnTo>
                  <a:lnTo>
                    <a:pt x="520077" y="602335"/>
                  </a:lnTo>
                  <a:lnTo>
                    <a:pt x="490740" y="622160"/>
                  </a:lnTo>
                  <a:lnTo>
                    <a:pt x="454863" y="629424"/>
                  </a:lnTo>
                  <a:lnTo>
                    <a:pt x="389877" y="629424"/>
                  </a:lnTo>
                  <a:lnTo>
                    <a:pt x="389877" y="742505"/>
                  </a:lnTo>
                  <a:lnTo>
                    <a:pt x="129959" y="742505"/>
                  </a:lnTo>
                  <a:lnTo>
                    <a:pt x="129959" y="512584"/>
                  </a:lnTo>
                  <a:lnTo>
                    <a:pt x="122428" y="506933"/>
                  </a:lnTo>
                  <a:lnTo>
                    <a:pt x="86334" y="473214"/>
                  </a:lnTo>
                  <a:lnTo>
                    <a:pt x="57480" y="433882"/>
                  </a:lnTo>
                  <a:lnTo>
                    <a:pt x="36309" y="390118"/>
                  </a:lnTo>
                  <a:lnTo>
                    <a:pt x="23279" y="343090"/>
                  </a:lnTo>
                  <a:lnTo>
                    <a:pt x="18834" y="293992"/>
                  </a:lnTo>
                  <a:lnTo>
                    <a:pt x="18834" y="275145"/>
                  </a:lnTo>
                  <a:lnTo>
                    <a:pt x="24434" y="228625"/>
                  </a:lnTo>
                  <a:lnTo>
                    <a:pt x="37630" y="185039"/>
                  </a:lnTo>
                  <a:lnTo>
                    <a:pt x="57696" y="145034"/>
                  </a:lnTo>
                  <a:lnTo>
                    <a:pt x="83921" y="109321"/>
                  </a:lnTo>
                  <a:lnTo>
                    <a:pt x="115595" y="78574"/>
                  </a:lnTo>
                  <a:lnTo>
                    <a:pt x="152006" y="53467"/>
                  </a:lnTo>
                  <a:lnTo>
                    <a:pt x="192443" y="34683"/>
                  </a:lnTo>
                  <a:lnTo>
                    <a:pt x="236181" y="22923"/>
                  </a:lnTo>
                  <a:lnTo>
                    <a:pt x="282524" y="18846"/>
                  </a:lnTo>
                  <a:lnTo>
                    <a:pt x="291947" y="18846"/>
                  </a:lnTo>
                  <a:lnTo>
                    <a:pt x="339293" y="24930"/>
                  </a:lnTo>
                  <a:lnTo>
                    <a:pt x="383552" y="38900"/>
                  </a:lnTo>
                  <a:lnTo>
                    <a:pt x="423989" y="59994"/>
                  </a:lnTo>
                  <a:lnTo>
                    <a:pt x="459905" y="87439"/>
                  </a:lnTo>
                  <a:lnTo>
                    <a:pt x="490562" y="120459"/>
                  </a:lnTo>
                  <a:lnTo>
                    <a:pt x="515239" y="158305"/>
                  </a:lnTo>
                  <a:lnTo>
                    <a:pt x="533222" y="200190"/>
                  </a:lnTo>
                  <a:lnTo>
                    <a:pt x="543788" y="245364"/>
                  </a:lnTo>
                  <a:lnTo>
                    <a:pt x="546214" y="293039"/>
                  </a:lnTo>
                  <a:lnTo>
                    <a:pt x="546214" y="303415"/>
                  </a:lnTo>
                  <a:lnTo>
                    <a:pt x="549033" y="308114"/>
                  </a:lnTo>
                  <a:lnTo>
                    <a:pt x="614019" y="421195"/>
                  </a:lnTo>
                  <a:lnTo>
                    <a:pt x="618604" y="427863"/>
                  </a:lnTo>
                  <a:lnTo>
                    <a:pt x="621080" y="434975"/>
                  </a:lnTo>
                  <a:lnTo>
                    <a:pt x="621436" y="442264"/>
                  </a:lnTo>
                  <a:lnTo>
                    <a:pt x="621436" y="395185"/>
                  </a:lnTo>
                  <a:lnTo>
                    <a:pt x="565988" y="298704"/>
                  </a:lnTo>
                  <a:lnTo>
                    <a:pt x="565950" y="293039"/>
                  </a:lnTo>
                  <a:lnTo>
                    <a:pt x="563930" y="247929"/>
                  </a:lnTo>
                  <a:lnTo>
                    <a:pt x="554761" y="203987"/>
                  </a:lnTo>
                  <a:lnTo>
                    <a:pt x="539038" y="162750"/>
                  </a:lnTo>
                  <a:lnTo>
                    <a:pt x="517321" y="124828"/>
                  </a:lnTo>
                  <a:lnTo>
                    <a:pt x="490181" y="90817"/>
                  </a:lnTo>
                  <a:lnTo>
                    <a:pt x="458177" y="61290"/>
                  </a:lnTo>
                  <a:lnTo>
                    <a:pt x="421881" y="36855"/>
                  </a:lnTo>
                  <a:lnTo>
                    <a:pt x="383463" y="18846"/>
                  </a:lnTo>
                  <a:lnTo>
                    <a:pt x="338670" y="5613"/>
                  </a:lnTo>
                  <a:lnTo>
                    <a:pt x="292887" y="0"/>
                  </a:lnTo>
                  <a:lnTo>
                    <a:pt x="282524" y="0"/>
                  </a:lnTo>
                  <a:lnTo>
                    <a:pt x="232841" y="4343"/>
                  </a:lnTo>
                  <a:lnTo>
                    <a:pt x="185991" y="16903"/>
                  </a:lnTo>
                  <a:lnTo>
                    <a:pt x="142722" y="36918"/>
                  </a:lnTo>
                  <a:lnTo>
                    <a:pt x="103784" y="63703"/>
                  </a:lnTo>
                  <a:lnTo>
                    <a:pt x="69913" y="96494"/>
                  </a:lnTo>
                  <a:lnTo>
                    <a:pt x="41859" y="134569"/>
                  </a:lnTo>
                  <a:lnTo>
                    <a:pt x="20358" y="177215"/>
                  </a:lnTo>
                  <a:lnTo>
                    <a:pt x="6159" y="223685"/>
                  </a:lnTo>
                  <a:lnTo>
                    <a:pt x="0" y="273253"/>
                  </a:lnTo>
                  <a:lnTo>
                    <a:pt x="0" y="293992"/>
                  </a:lnTo>
                  <a:lnTo>
                    <a:pt x="4775" y="346824"/>
                  </a:lnTo>
                  <a:lnTo>
                    <a:pt x="18770" y="397179"/>
                  </a:lnTo>
                  <a:lnTo>
                    <a:pt x="41503" y="443915"/>
                  </a:lnTo>
                  <a:lnTo>
                    <a:pt x="72453" y="485902"/>
                  </a:lnTo>
                  <a:lnTo>
                    <a:pt x="111125" y="522008"/>
                  </a:lnTo>
                  <a:lnTo>
                    <a:pt x="111125" y="760399"/>
                  </a:lnTo>
                  <a:lnTo>
                    <a:pt x="408711" y="760399"/>
                  </a:lnTo>
                  <a:lnTo>
                    <a:pt x="408711" y="742505"/>
                  </a:lnTo>
                  <a:lnTo>
                    <a:pt x="408711" y="647331"/>
                  </a:lnTo>
                  <a:lnTo>
                    <a:pt x="454863" y="647331"/>
                  </a:lnTo>
                  <a:lnTo>
                    <a:pt x="498055" y="638568"/>
                  </a:lnTo>
                  <a:lnTo>
                    <a:pt x="533374" y="614705"/>
                  </a:lnTo>
                  <a:lnTo>
                    <a:pt x="557237" y="579361"/>
                  </a:lnTo>
                  <a:lnTo>
                    <a:pt x="565988" y="536143"/>
                  </a:lnTo>
                  <a:lnTo>
                    <a:pt x="565988" y="477723"/>
                  </a:lnTo>
                  <a:lnTo>
                    <a:pt x="607428" y="477723"/>
                  </a:lnTo>
                  <a:lnTo>
                    <a:pt x="624611" y="471131"/>
                  </a:lnTo>
                  <a:lnTo>
                    <a:pt x="636854" y="456768"/>
                  </a:lnTo>
                  <a:lnTo>
                    <a:pt x="640270" y="4363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03592" y="4951268"/>
              <a:ext cx="241085" cy="24969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270456" y="5225465"/>
              <a:ext cx="109855" cy="19050"/>
            </a:xfrm>
            <a:custGeom>
              <a:avLst/>
              <a:gdLst/>
              <a:ahLst/>
              <a:cxnLst/>
              <a:rect l="l" t="t" r="r" b="b"/>
              <a:pathLst>
                <a:path w="109855" h="19050">
                  <a:moveTo>
                    <a:pt x="104533" y="0"/>
                  </a:moveTo>
                  <a:lnTo>
                    <a:pt x="99824" y="0"/>
                  </a:lnTo>
                  <a:lnTo>
                    <a:pt x="3766" y="0"/>
                  </a:lnTo>
                  <a:lnTo>
                    <a:pt x="0" y="3769"/>
                  </a:lnTo>
                  <a:lnTo>
                    <a:pt x="0" y="15076"/>
                  </a:lnTo>
                  <a:lnTo>
                    <a:pt x="3766" y="18845"/>
                  </a:lnTo>
                  <a:lnTo>
                    <a:pt x="105474" y="18845"/>
                  </a:lnTo>
                  <a:lnTo>
                    <a:pt x="109241" y="15076"/>
                  </a:lnTo>
                  <a:lnTo>
                    <a:pt x="109241" y="3769"/>
                  </a:lnTo>
                  <a:lnTo>
                    <a:pt x="1045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32788" y="4713744"/>
              <a:ext cx="8903208" cy="143560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06880" y="4870704"/>
              <a:ext cx="6444996" cy="133045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52600" y="4771644"/>
              <a:ext cx="8791956" cy="1324356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752600" y="4771644"/>
            <a:ext cx="8792210" cy="1324610"/>
          </a:xfrm>
          <a:prstGeom prst="rect">
            <a:avLst/>
          </a:prstGeom>
          <a:ln w="9525">
            <a:solidFill>
              <a:srgbClr val="DEEBF7"/>
            </a:solidFill>
          </a:ln>
        </p:spPr>
        <p:txBody>
          <a:bodyPr vert="horz" wrap="square" lIns="0" tIns="2095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50"/>
              </a:spcBef>
            </a:pPr>
            <a:r>
              <a:rPr sz="1600" dirty="0">
                <a:latin typeface="Arial"/>
                <a:cs typeface="Arial"/>
              </a:rPr>
              <a:t>At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end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this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session,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you should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able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to:</a:t>
            </a:r>
            <a:endParaRPr sz="1600">
              <a:latin typeface="Arial"/>
              <a:cs typeface="Arial"/>
            </a:endParaRPr>
          </a:p>
          <a:p>
            <a:pPr marL="43434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34340" algn="l"/>
              </a:tabLst>
            </a:pPr>
            <a:r>
              <a:rPr sz="1600" dirty="0">
                <a:latin typeface="Arial"/>
                <a:cs typeface="Arial"/>
              </a:rPr>
              <a:t>Identify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types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errors.</a:t>
            </a:r>
            <a:endParaRPr sz="1600">
              <a:latin typeface="Arial"/>
              <a:cs typeface="Arial"/>
            </a:endParaRPr>
          </a:p>
          <a:p>
            <a:pPr marL="434340" indent="-342900">
              <a:lnSpc>
                <a:spcPts val="1895"/>
              </a:lnSpc>
              <a:spcBef>
                <a:spcPts val="5"/>
              </a:spcBef>
              <a:buAutoNum type="arabicPeriod"/>
              <a:tabLst>
                <a:tab pos="434340" algn="l"/>
              </a:tabLst>
            </a:pPr>
            <a:r>
              <a:rPr sz="1600" dirty="0">
                <a:latin typeface="Arial"/>
                <a:cs typeface="Arial"/>
              </a:rPr>
              <a:t>Apply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different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error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detection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techniques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identify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error.</a:t>
            </a:r>
            <a:endParaRPr sz="1600">
              <a:latin typeface="Arial"/>
              <a:cs typeface="Arial"/>
            </a:endParaRPr>
          </a:p>
          <a:p>
            <a:pPr marL="434340" indent="-342900">
              <a:lnSpc>
                <a:spcPts val="1895"/>
              </a:lnSpc>
              <a:buAutoNum type="arabicPeriod"/>
              <a:tabLst>
                <a:tab pos="434340" algn="l"/>
              </a:tabLst>
            </a:pPr>
            <a:r>
              <a:rPr sz="1600" dirty="0">
                <a:latin typeface="Arial"/>
                <a:cs typeface="Arial"/>
              </a:rPr>
              <a:t>Apply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hamming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code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detect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correct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error in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data.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2373" y="498892"/>
            <a:ext cx="6136773" cy="39185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622" rIns="0" bIns="0" rtlCol="0">
            <a:spAutoFit/>
          </a:bodyPr>
          <a:lstStyle/>
          <a:p>
            <a:pPr marL="2444750">
              <a:lnSpc>
                <a:spcPct val="100000"/>
              </a:lnSpc>
              <a:spcBef>
                <a:spcPts val="95"/>
              </a:spcBef>
            </a:pPr>
            <a:r>
              <a:rPr sz="4000" spc="-210" dirty="0">
                <a:solidFill>
                  <a:srgbClr val="C00000"/>
                </a:solidFill>
                <a:latin typeface="Trebuchet MS"/>
                <a:cs typeface="Trebuchet MS"/>
              </a:rPr>
              <a:t>Error</a:t>
            </a:r>
            <a:r>
              <a:rPr sz="4000" spc="-34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235" dirty="0">
                <a:solidFill>
                  <a:srgbClr val="C00000"/>
                </a:solidFill>
                <a:latin typeface="Trebuchet MS"/>
                <a:cs typeface="Trebuchet MS"/>
              </a:rPr>
              <a:t>Detection</a:t>
            </a:r>
            <a:r>
              <a:rPr sz="4000" spc="-34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195" dirty="0">
                <a:solidFill>
                  <a:srgbClr val="C00000"/>
                </a:solidFill>
                <a:latin typeface="Trebuchet MS"/>
                <a:cs typeface="Trebuchet MS"/>
              </a:rPr>
              <a:t>and</a:t>
            </a:r>
            <a:r>
              <a:rPr sz="4000" spc="-3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185" dirty="0">
                <a:solidFill>
                  <a:srgbClr val="C00000"/>
                </a:solidFill>
                <a:latin typeface="Trebuchet MS"/>
                <a:cs typeface="Trebuchet MS"/>
              </a:rPr>
              <a:t>Correction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1313815"/>
            <a:ext cx="2581275" cy="19869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Carlito"/>
                <a:cs typeface="Carlito"/>
              </a:rPr>
              <a:t>Types</a:t>
            </a:r>
            <a:r>
              <a:rPr sz="2800" spc="-6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of</a:t>
            </a:r>
            <a:r>
              <a:rPr sz="2800" spc="-8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Errors</a:t>
            </a:r>
            <a:endParaRPr sz="2800">
              <a:latin typeface="Carlito"/>
              <a:cs typeface="Carlito"/>
            </a:endParaRPr>
          </a:p>
          <a:p>
            <a:pPr marL="240665" indent="-227965">
              <a:lnSpc>
                <a:spcPct val="100000"/>
              </a:lnSpc>
              <a:spcBef>
                <a:spcPts val="2680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Carlito"/>
                <a:cs typeface="Carlito"/>
              </a:rPr>
              <a:t>Detection</a:t>
            </a:r>
            <a:endParaRPr sz="2800">
              <a:latin typeface="Carlito"/>
              <a:cs typeface="Carlito"/>
            </a:endParaRPr>
          </a:p>
          <a:p>
            <a:pPr marL="240665" indent="-227965">
              <a:lnSpc>
                <a:spcPct val="100000"/>
              </a:lnSpc>
              <a:spcBef>
                <a:spcPts val="268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rlito"/>
                <a:cs typeface="Carlito"/>
              </a:rPr>
              <a:t>Error</a:t>
            </a:r>
            <a:r>
              <a:rPr sz="2800" spc="-7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Correction</a:t>
            </a:r>
            <a:endParaRPr sz="2800">
              <a:latin typeface="Carlito"/>
              <a:cs typeface="Carlito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0260" y="494335"/>
            <a:ext cx="2457950" cy="3964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622" rIns="0" bIns="0" rtlCol="0">
            <a:spAutoFit/>
          </a:bodyPr>
          <a:lstStyle/>
          <a:p>
            <a:pPr marL="4287520">
              <a:lnSpc>
                <a:spcPct val="100000"/>
              </a:lnSpc>
              <a:spcBef>
                <a:spcPts val="95"/>
              </a:spcBef>
            </a:pPr>
            <a:r>
              <a:rPr sz="4000" spc="-204" dirty="0">
                <a:solidFill>
                  <a:srgbClr val="C00000"/>
                </a:solidFill>
                <a:latin typeface="Trebuchet MS"/>
                <a:cs typeface="Trebuchet MS"/>
              </a:rPr>
              <a:t>Introduction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1635379"/>
            <a:ext cx="8198484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  <a:tab pos="1301750" algn="l"/>
                <a:tab pos="2196465" algn="l"/>
                <a:tab pos="2949575" algn="l"/>
                <a:tab pos="4775200" algn="l"/>
                <a:tab pos="6099810" algn="l"/>
              </a:tabLst>
            </a:pPr>
            <a:r>
              <a:rPr sz="2800" spc="-20" dirty="0">
                <a:latin typeface="Carlito"/>
                <a:cs typeface="Carlito"/>
              </a:rPr>
              <a:t>Data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25" dirty="0">
                <a:latin typeface="Carlito"/>
                <a:cs typeface="Carlito"/>
              </a:rPr>
              <a:t>can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25" dirty="0">
                <a:latin typeface="Carlito"/>
                <a:cs typeface="Carlito"/>
              </a:rPr>
              <a:t>be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10" dirty="0">
                <a:latin typeface="Carlito"/>
                <a:cs typeface="Carlito"/>
              </a:rPr>
              <a:t>corrupted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10" dirty="0">
                <a:latin typeface="Carlito"/>
                <a:cs typeface="Carlito"/>
              </a:rPr>
              <a:t>during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10" dirty="0">
                <a:latin typeface="Carlito"/>
                <a:cs typeface="Carlito"/>
              </a:rPr>
              <a:t>transmission. 	communication,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error</a:t>
            </a:r>
            <a:r>
              <a:rPr sz="2800" spc="-8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must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be</a:t>
            </a:r>
            <a:r>
              <a:rPr sz="2800" spc="-6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detected</a:t>
            </a:r>
            <a:r>
              <a:rPr sz="2800" spc="-8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and</a:t>
            </a:r>
            <a:r>
              <a:rPr sz="2800" spc="-7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corrected.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16973" y="1635379"/>
            <a:ext cx="1960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3125" algn="l"/>
              </a:tabLst>
            </a:pPr>
            <a:r>
              <a:rPr sz="2800" spc="-25" dirty="0">
                <a:latin typeface="Carlito"/>
                <a:cs typeface="Carlito"/>
              </a:rPr>
              <a:t>For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10" dirty="0">
                <a:latin typeface="Carlito"/>
                <a:cs typeface="Carlito"/>
              </a:rPr>
              <a:t>reliable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3040761"/>
            <a:ext cx="1035939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  <a:tab pos="1103630" algn="l"/>
                <a:tab pos="2651125" algn="l"/>
                <a:tab pos="3333750" algn="l"/>
                <a:tab pos="4992370" algn="l"/>
                <a:tab pos="5595620" algn="l"/>
                <a:tab pos="7662545" algn="l"/>
                <a:tab pos="8663940" algn="l"/>
                <a:tab pos="9087485" algn="l"/>
                <a:tab pos="9707880" algn="l"/>
              </a:tabLst>
            </a:pPr>
            <a:r>
              <a:rPr sz="2800" spc="-10" dirty="0">
                <a:latin typeface="Carlito"/>
                <a:cs typeface="Carlito"/>
              </a:rPr>
              <a:t>Error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10" dirty="0">
                <a:latin typeface="Carlito"/>
                <a:cs typeface="Carlito"/>
              </a:rPr>
              <a:t>Detection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25" dirty="0">
                <a:latin typeface="Carlito"/>
                <a:cs typeface="Carlito"/>
              </a:rPr>
              <a:t>and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10" dirty="0">
                <a:latin typeface="Carlito"/>
                <a:cs typeface="Carlito"/>
              </a:rPr>
              <a:t>Correction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25" dirty="0">
                <a:latin typeface="Carlito"/>
                <a:cs typeface="Carlito"/>
              </a:rPr>
              <a:t>are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10" dirty="0">
                <a:latin typeface="Carlito"/>
                <a:cs typeface="Carlito"/>
              </a:rPr>
              <a:t>implemented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10" dirty="0">
                <a:latin typeface="Carlito"/>
                <a:cs typeface="Carlito"/>
              </a:rPr>
              <a:t>either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25" dirty="0">
                <a:latin typeface="Carlito"/>
                <a:cs typeface="Carlito"/>
              </a:rPr>
              <a:t>at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25" dirty="0">
                <a:latin typeface="Carlito"/>
                <a:cs typeface="Carlito"/>
              </a:rPr>
              <a:t>the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30" dirty="0">
                <a:latin typeface="Carlito"/>
                <a:cs typeface="Carlito"/>
              </a:rPr>
              <a:t>data 	</a:t>
            </a:r>
            <a:r>
              <a:rPr sz="2800" dirty="0">
                <a:latin typeface="Carlito"/>
                <a:cs typeface="Carlito"/>
              </a:rPr>
              <a:t>link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layer</a:t>
            </a:r>
            <a:r>
              <a:rPr sz="2800" spc="-6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or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the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transport</a:t>
            </a:r>
            <a:r>
              <a:rPr sz="2800" spc="-1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layer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of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the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OSI</a:t>
            </a:r>
            <a:r>
              <a:rPr sz="2800" spc="-6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model.</a:t>
            </a:r>
            <a:endParaRPr sz="2800">
              <a:latin typeface="Carlito"/>
              <a:cs typeface="Carlito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622" rIns="0" bIns="0" rtlCol="0">
            <a:spAutoFit/>
          </a:bodyPr>
          <a:lstStyle/>
          <a:p>
            <a:pPr marL="4147185">
              <a:lnSpc>
                <a:spcPct val="100000"/>
              </a:lnSpc>
              <a:spcBef>
                <a:spcPts val="95"/>
              </a:spcBef>
            </a:pPr>
            <a:r>
              <a:rPr sz="4000" spc="-325" dirty="0">
                <a:solidFill>
                  <a:srgbClr val="C00000"/>
                </a:solidFill>
                <a:latin typeface="Trebuchet MS"/>
                <a:cs typeface="Trebuchet MS"/>
              </a:rPr>
              <a:t>Type</a:t>
            </a:r>
            <a:r>
              <a:rPr sz="4000" spc="-38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204" dirty="0">
                <a:solidFill>
                  <a:srgbClr val="C00000"/>
                </a:solidFill>
                <a:latin typeface="Trebuchet MS"/>
                <a:cs typeface="Trebuchet MS"/>
              </a:rPr>
              <a:t>of</a:t>
            </a:r>
            <a:r>
              <a:rPr sz="4000" spc="-34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175" dirty="0">
                <a:solidFill>
                  <a:srgbClr val="C00000"/>
                </a:solidFill>
                <a:latin typeface="Trebuchet MS"/>
                <a:cs typeface="Trebuchet MS"/>
              </a:rPr>
              <a:t>Errors</a:t>
            </a:r>
            <a:endParaRPr sz="40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583179"/>
            <a:ext cx="10972800" cy="25603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622" rIns="0" bIns="0" rtlCol="0">
            <a:spAutoFit/>
          </a:bodyPr>
          <a:lstStyle/>
          <a:p>
            <a:pPr marL="3373120">
              <a:lnSpc>
                <a:spcPct val="100000"/>
              </a:lnSpc>
              <a:spcBef>
                <a:spcPts val="95"/>
              </a:spcBef>
            </a:pPr>
            <a:r>
              <a:rPr sz="4000" spc="-325" dirty="0">
                <a:solidFill>
                  <a:srgbClr val="C00000"/>
                </a:solidFill>
                <a:latin typeface="Trebuchet MS"/>
                <a:cs typeface="Trebuchet MS"/>
              </a:rPr>
              <a:t>Type</a:t>
            </a:r>
            <a:r>
              <a:rPr sz="4000" spc="-38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204" dirty="0">
                <a:solidFill>
                  <a:srgbClr val="C00000"/>
                </a:solidFill>
                <a:latin typeface="Trebuchet MS"/>
                <a:cs typeface="Trebuchet MS"/>
              </a:rPr>
              <a:t>of</a:t>
            </a:r>
            <a:r>
              <a:rPr sz="4000" spc="-34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229" dirty="0">
                <a:solidFill>
                  <a:srgbClr val="C00000"/>
                </a:solidFill>
                <a:latin typeface="Trebuchet MS"/>
                <a:cs typeface="Trebuchet MS"/>
              </a:rPr>
              <a:t>Er</a:t>
            </a:r>
            <a:r>
              <a:rPr sz="4000" spc="-310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4000" spc="-240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4000" spc="-325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4000" spc="-229" dirty="0">
                <a:solidFill>
                  <a:srgbClr val="C00000"/>
                </a:solidFill>
                <a:latin typeface="Trebuchet MS"/>
                <a:cs typeface="Trebuchet MS"/>
              </a:rPr>
              <a:t>s</a:t>
            </a:r>
            <a:r>
              <a:rPr sz="4000" spc="-225" dirty="0">
                <a:solidFill>
                  <a:srgbClr val="C00000"/>
                </a:solidFill>
                <a:latin typeface="Trebuchet MS"/>
                <a:cs typeface="Trebuchet MS"/>
              </a:rPr>
              <a:t>(</a:t>
            </a:r>
            <a:r>
              <a:rPr sz="4000" spc="-285" dirty="0">
                <a:solidFill>
                  <a:srgbClr val="C00000"/>
                </a:solidFill>
                <a:latin typeface="Trebuchet MS"/>
                <a:cs typeface="Trebuchet MS"/>
              </a:rPr>
              <a:t>c</a:t>
            </a:r>
            <a:r>
              <a:rPr sz="4000" spc="-240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4000" spc="-280" dirty="0">
                <a:solidFill>
                  <a:srgbClr val="C00000"/>
                </a:solidFill>
                <a:latin typeface="Trebuchet MS"/>
                <a:cs typeface="Trebuchet MS"/>
              </a:rPr>
              <a:t>n</a:t>
            </a:r>
            <a:r>
              <a:rPr sz="4000" spc="-80" dirty="0">
                <a:solidFill>
                  <a:srgbClr val="C00000"/>
                </a:solidFill>
                <a:latin typeface="Trebuchet MS"/>
                <a:cs typeface="Trebuchet MS"/>
              </a:rPr>
              <a:t>t</a:t>
            </a:r>
            <a:r>
              <a:rPr sz="4000" spc="-670" dirty="0">
                <a:solidFill>
                  <a:srgbClr val="C00000"/>
                </a:solidFill>
                <a:latin typeface="Trebuchet MS"/>
                <a:cs typeface="Trebuchet MS"/>
              </a:rPr>
              <a:t>’</a:t>
            </a:r>
            <a:r>
              <a:rPr sz="4000" spc="-260" dirty="0">
                <a:solidFill>
                  <a:srgbClr val="C00000"/>
                </a:solidFill>
                <a:latin typeface="Trebuchet MS"/>
                <a:cs typeface="Trebuchet MS"/>
              </a:rPr>
              <a:t>d</a:t>
            </a:r>
            <a:r>
              <a:rPr sz="4000" spc="-200" dirty="0">
                <a:solidFill>
                  <a:srgbClr val="C00000"/>
                </a:solidFill>
                <a:latin typeface="Trebuchet MS"/>
                <a:cs typeface="Trebuchet MS"/>
              </a:rPr>
              <a:t>)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0395" y="1551813"/>
            <a:ext cx="4599940" cy="230886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0029" marR="5080" indent="-227329">
              <a:lnSpc>
                <a:spcPct val="70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20" dirty="0">
                <a:latin typeface="Carlito"/>
                <a:cs typeface="Carlito"/>
              </a:rPr>
              <a:t>Single-</a:t>
            </a:r>
            <a:r>
              <a:rPr sz="2400" b="1" dirty="0">
                <a:latin typeface="Carlito"/>
                <a:cs typeface="Carlito"/>
              </a:rPr>
              <a:t>Bit</a:t>
            </a:r>
            <a:r>
              <a:rPr sz="2400" b="1" spc="-30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Error</a:t>
            </a:r>
            <a:r>
              <a:rPr sz="2400" dirty="0">
                <a:latin typeface="Carlito"/>
                <a:cs typeface="Carlito"/>
              </a:rPr>
              <a:t>: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Only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one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bit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the 	</a:t>
            </a:r>
            <a:r>
              <a:rPr sz="2400" dirty="0">
                <a:latin typeface="Carlito"/>
                <a:cs typeface="Carlito"/>
              </a:rPr>
              <a:t>data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unit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has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changed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170"/>
              </a:spcBef>
              <a:buFont typeface="Arial"/>
              <a:buChar char="•"/>
            </a:pPr>
            <a:endParaRPr sz="2400">
              <a:latin typeface="Carlito"/>
              <a:cs typeface="Carlito"/>
            </a:endParaRPr>
          </a:p>
          <a:p>
            <a:pPr marL="240029" marR="400050" indent="-227329" algn="just">
              <a:lnSpc>
                <a:spcPct val="70100"/>
              </a:lnSpc>
              <a:buFont typeface="Arial"/>
              <a:buChar char="•"/>
              <a:tabLst>
                <a:tab pos="241300" algn="l"/>
              </a:tabLst>
            </a:pPr>
            <a:r>
              <a:rPr sz="2400" b="1" spc="-10" dirty="0">
                <a:latin typeface="Carlito"/>
                <a:cs typeface="Carlito"/>
              </a:rPr>
              <a:t>Multiple-</a:t>
            </a:r>
            <a:r>
              <a:rPr sz="2400" b="1" dirty="0">
                <a:latin typeface="Carlito"/>
                <a:cs typeface="Carlito"/>
              </a:rPr>
              <a:t>Bit</a:t>
            </a:r>
            <a:r>
              <a:rPr sz="2400" b="1" spc="-15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Error:</a:t>
            </a:r>
            <a:r>
              <a:rPr sz="2400" b="1" spc="-5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Two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or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more 	</a:t>
            </a:r>
            <a:r>
              <a:rPr sz="2400" spc="-10" dirty="0">
                <a:latin typeface="Carlito"/>
                <a:cs typeface="Carlito"/>
              </a:rPr>
              <a:t>nonconsecutive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bits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20" dirty="0">
                <a:latin typeface="Carlito"/>
                <a:cs typeface="Carlito"/>
              </a:rPr>
              <a:t> data 	</a:t>
            </a:r>
            <a:r>
              <a:rPr sz="2400" dirty="0">
                <a:latin typeface="Carlito"/>
                <a:cs typeface="Carlito"/>
              </a:rPr>
              <a:t>unit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have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changed.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0395" y="5001259"/>
            <a:ext cx="4197350" cy="90360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0029" marR="5080" indent="-227329">
              <a:lnSpc>
                <a:spcPct val="70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dirty="0">
                <a:latin typeface="Carlito"/>
                <a:cs typeface="Carlito"/>
              </a:rPr>
              <a:t>Burst</a:t>
            </a:r>
            <a:r>
              <a:rPr sz="2400" b="1" spc="-70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Error:</a:t>
            </a:r>
            <a:r>
              <a:rPr sz="2400" b="1" spc="-9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Two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or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more 	</a:t>
            </a:r>
            <a:r>
              <a:rPr sz="2400" spc="-10" dirty="0">
                <a:latin typeface="Carlito"/>
                <a:cs typeface="Carlito"/>
              </a:rPr>
              <a:t>consecutive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bits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data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unit 	</a:t>
            </a:r>
            <a:r>
              <a:rPr sz="2400" dirty="0">
                <a:latin typeface="Carlito"/>
                <a:cs typeface="Carlito"/>
              </a:rPr>
              <a:t>have</a:t>
            </a:r>
            <a:r>
              <a:rPr sz="2400" spc="-114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changed</a:t>
            </a:r>
            <a:endParaRPr sz="2400">
              <a:latin typeface="Carlito"/>
              <a:cs typeface="Carli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73012" y="1061005"/>
            <a:ext cx="6529806" cy="107953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52971" y="2600581"/>
            <a:ext cx="5226013" cy="125413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34407" y="4470914"/>
            <a:ext cx="6599096" cy="16171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17299" y="47625"/>
            <a:ext cx="926921" cy="9429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622" rIns="0" bIns="0" rtlCol="0">
            <a:spAutoFit/>
          </a:bodyPr>
          <a:lstStyle/>
          <a:p>
            <a:pPr marL="3373120">
              <a:lnSpc>
                <a:spcPct val="100000"/>
              </a:lnSpc>
              <a:spcBef>
                <a:spcPts val="95"/>
              </a:spcBef>
            </a:pPr>
            <a:r>
              <a:rPr sz="4000" spc="-325" dirty="0">
                <a:solidFill>
                  <a:srgbClr val="C00000"/>
                </a:solidFill>
                <a:latin typeface="Trebuchet MS"/>
                <a:cs typeface="Trebuchet MS"/>
              </a:rPr>
              <a:t>Type</a:t>
            </a:r>
            <a:r>
              <a:rPr sz="4000" spc="-38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204" dirty="0">
                <a:solidFill>
                  <a:srgbClr val="C00000"/>
                </a:solidFill>
                <a:latin typeface="Trebuchet MS"/>
                <a:cs typeface="Trebuchet MS"/>
              </a:rPr>
              <a:t>of</a:t>
            </a:r>
            <a:r>
              <a:rPr sz="4000" spc="-34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229" dirty="0">
                <a:solidFill>
                  <a:srgbClr val="C00000"/>
                </a:solidFill>
                <a:latin typeface="Trebuchet MS"/>
                <a:cs typeface="Trebuchet MS"/>
              </a:rPr>
              <a:t>Er</a:t>
            </a:r>
            <a:r>
              <a:rPr sz="4000" spc="-310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4000" spc="-240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4000" spc="-325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4000" spc="-229" dirty="0">
                <a:solidFill>
                  <a:srgbClr val="C00000"/>
                </a:solidFill>
                <a:latin typeface="Trebuchet MS"/>
                <a:cs typeface="Trebuchet MS"/>
              </a:rPr>
              <a:t>s</a:t>
            </a:r>
            <a:r>
              <a:rPr sz="4000" spc="-225" dirty="0">
                <a:solidFill>
                  <a:srgbClr val="C00000"/>
                </a:solidFill>
                <a:latin typeface="Trebuchet MS"/>
                <a:cs typeface="Trebuchet MS"/>
              </a:rPr>
              <a:t>(</a:t>
            </a:r>
            <a:r>
              <a:rPr sz="4000" spc="-285" dirty="0">
                <a:solidFill>
                  <a:srgbClr val="C00000"/>
                </a:solidFill>
                <a:latin typeface="Trebuchet MS"/>
                <a:cs typeface="Trebuchet MS"/>
              </a:rPr>
              <a:t>c</a:t>
            </a:r>
            <a:r>
              <a:rPr sz="4000" spc="-240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4000" spc="-280" dirty="0">
                <a:solidFill>
                  <a:srgbClr val="C00000"/>
                </a:solidFill>
                <a:latin typeface="Trebuchet MS"/>
                <a:cs typeface="Trebuchet MS"/>
              </a:rPr>
              <a:t>n</a:t>
            </a:r>
            <a:r>
              <a:rPr sz="4000" spc="-80" dirty="0">
                <a:solidFill>
                  <a:srgbClr val="C00000"/>
                </a:solidFill>
                <a:latin typeface="Trebuchet MS"/>
                <a:cs typeface="Trebuchet MS"/>
              </a:rPr>
              <a:t>t</a:t>
            </a:r>
            <a:r>
              <a:rPr sz="4000" spc="-670" dirty="0">
                <a:solidFill>
                  <a:srgbClr val="C00000"/>
                </a:solidFill>
                <a:latin typeface="Trebuchet MS"/>
                <a:cs typeface="Trebuchet MS"/>
              </a:rPr>
              <a:t>’</a:t>
            </a:r>
            <a:r>
              <a:rPr sz="4000" spc="-260" dirty="0">
                <a:solidFill>
                  <a:srgbClr val="C00000"/>
                </a:solidFill>
                <a:latin typeface="Trebuchet MS"/>
                <a:cs typeface="Trebuchet MS"/>
              </a:rPr>
              <a:t>d</a:t>
            </a:r>
            <a:r>
              <a:rPr sz="4000" spc="-200" dirty="0">
                <a:solidFill>
                  <a:srgbClr val="C00000"/>
                </a:solidFill>
                <a:latin typeface="Trebuchet MS"/>
                <a:cs typeface="Trebuchet MS"/>
              </a:rPr>
              <a:t>)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1754504"/>
            <a:ext cx="989076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25" dirty="0">
                <a:latin typeface="Carlito"/>
                <a:cs typeface="Carlito"/>
              </a:rPr>
              <a:t>Multiple-</a:t>
            </a:r>
            <a:r>
              <a:rPr sz="2800" b="1" dirty="0">
                <a:latin typeface="Carlito"/>
                <a:cs typeface="Carlito"/>
              </a:rPr>
              <a:t>Bit</a:t>
            </a:r>
            <a:r>
              <a:rPr sz="2800" b="1" spc="-5" dirty="0">
                <a:latin typeface="Carlito"/>
                <a:cs typeface="Carlito"/>
              </a:rPr>
              <a:t> </a:t>
            </a:r>
            <a:r>
              <a:rPr sz="2800" b="1" dirty="0">
                <a:latin typeface="Carlito"/>
                <a:cs typeface="Carlito"/>
              </a:rPr>
              <a:t>Error:</a:t>
            </a:r>
            <a:r>
              <a:rPr sz="2800" b="1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is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when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two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or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more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nonconsecutive</a:t>
            </a:r>
            <a:r>
              <a:rPr sz="2800" spc="-1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bits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in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the 	</a:t>
            </a:r>
            <a:r>
              <a:rPr sz="2800" dirty="0">
                <a:latin typeface="Carlito"/>
                <a:cs typeface="Carlito"/>
              </a:rPr>
              <a:t>data</a:t>
            </a:r>
            <a:r>
              <a:rPr sz="2800" spc="-9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unit</a:t>
            </a:r>
            <a:r>
              <a:rPr sz="2800" spc="-7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have</a:t>
            </a:r>
            <a:r>
              <a:rPr sz="2800" spc="-9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changed.</a:t>
            </a:r>
            <a:endParaRPr sz="2800">
              <a:latin typeface="Carlito"/>
              <a:cs typeface="Carlito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0096" y="3880387"/>
            <a:ext cx="6428620" cy="154291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8919" rIns="0" bIns="0" rtlCol="0">
            <a:spAutoFit/>
          </a:bodyPr>
          <a:lstStyle/>
          <a:p>
            <a:pPr marL="3373120">
              <a:lnSpc>
                <a:spcPct val="100000"/>
              </a:lnSpc>
              <a:spcBef>
                <a:spcPts val="95"/>
              </a:spcBef>
            </a:pPr>
            <a:r>
              <a:rPr sz="4000" spc="-325" dirty="0">
                <a:solidFill>
                  <a:srgbClr val="C00000"/>
                </a:solidFill>
                <a:latin typeface="Trebuchet MS"/>
                <a:cs typeface="Trebuchet MS"/>
              </a:rPr>
              <a:t>Type</a:t>
            </a:r>
            <a:r>
              <a:rPr sz="4000" spc="-38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210" dirty="0">
                <a:solidFill>
                  <a:srgbClr val="C00000"/>
                </a:solidFill>
                <a:latin typeface="Trebuchet MS"/>
                <a:cs typeface="Trebuchet MS"/>
              </a:rPr>
              <a:t>of</a:t>
            </a:r>
            <a:r>
              <a:rPr sz="4000" spc="-3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235" dirty="0">
                <a:solidFill>
                  <a:srgbClr val="C00000"/>
                </a:solidFill>
                <a:latin typeface="Trebuchet MS"/>
                <a:cs typeface="Trebuchet MS"/>
              </a:rPr>
              <a:t>Er</a:t>
            </a:r>
            <a:r>
              <a:rPr sz="4000" spc="-315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4000" spc="-240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4000" spc="-330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4000" spc="-235" dirty="0">
                <a:solidFill>
                  <a:srgbClr val="C00000"/>
                </a:solidFill>
                <a:latin typeface="Trebuchet MS"/>
                <a:cs typeface="Trebuchet MS"/>
              </a:rPr>
              <a:t>s</a:t>
            </a:r>
            <a:r>
              <a:rPr sz="4000" spc="-229" dirty="0">
                <a:solidFill>
                  <a:srgbClr val="C00000"/>
                </a:solidFill>
                <a:latin typeface="Trebuchet MS"/>
                <a:cs typeface="Trebuchet MS"/>
              </a:rPr>
              <a:t>(</a:t>
            </a:r>
            <a:r>
              <a:rPr sz="4000" spc="-290" dirty="0">
                <a:solidFill>
                  <a:srgbClr val="C00000"/>
                </a:solidFill>
                <a:latin typeface="Trebuchet MS"/>
                <a:cs typeface="Trebuchet MS"/>
              </a:rPr>
              <a:t>c</a:t>
            </a:r>
            <a:r>
              <a:rPr sz="4000" spc="-240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4000" spc="-285" dirty="0">
                <a:solidFill>
                  <a:srgbClr val="C00000"/>
                </a:solidFill>
                <a:latin typeface="Trebuchet MS"/>
                <a:cs typeface="Trebuchet MS"/>
              </a:rPr>
              <a:t>n</a:t>
            </a:r>
            <a:r>
              <a:rPr sz="4000" spc="-85" dirty="0">
                <a:solidFill>
                  <a:srgbClr val="C00000"/>
                </a:solidFill>
                <a:latin typeface="Trebuchet MS"/>
                <a:cs typeface="Trebuchet MS"/>
              </a:rPr>
              <a:t>t</a:t>
            </a:r>
            <a:r>
              <a:rPr sz="4000" spc="-675" dirty="0">
                <a:solidFill>
                  <a:srgbClr val="C00000"/>
                </a:solidFill>
                <a:latin typeface="Trebuchet MS"/>
                <a:cs typeface="Trebuchet MS"/>
              </a:rPr>
              <a:t>’</a:t>
            </a:r>
            <a:r>
              <a:rPr sz="4000" spc="-260" dirty="0">
                <a:solidFill>
                  <a:srgbClr val="C00000"/>
                </a:solidFill>
                <a:latin typeface="Trebuchet MS"/>
                <a:cs typeface="Trebuchet MS"/>
              </a:rPr>
              <a:t>d</a:t>
            </a:r>
            <a:r>
              <a:rPr sz="4000" spc="-204" dirty="0">
                <a:solidFill>
                  <a:srgbClr val="C00000"/>
                </a:solidFill>
                <a:latin typeface="Trebuchet MS"/>
                <a:cs typeface="Trebuchet MS"/>
              </a:rPr>
              <a:t>)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599692"/>
            <a:ext cx="974661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rlito"/>
                <a:cs typeface="Carlito"/>
              </a:rPr>
              <a:t>Burst</a:t>
            </a:r>
            <a:r>
              <a:rPr sz="2800" b="1" spc="-70" dirty="0">
                <a:latin typeface="Carlito"/>
                <a:cs typeface="Carlito"/>
              </a:rPr>
              <a:t> </a:t>
            </a:r>
            <a:r>
              <a:rPr sz="2800" b="1" dirty="0">
                <a:latin typeface="Carlito"/>
                <a:cs typeface="Carlito"/>
              </a:rPr>
              <a:t>Error</a:t>
            </a:r>
            <a:r>
              <a:rPr sz="2800" b="1" spc="-5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means</a:t>
            </a:r>
            <a:r>
              <a:rPr sz="2800" spc="-7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that</a:t>
            </a:r>
            <a:r>
              <a:rPr sz="2800" spc="-6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2</a:t>
            </a:r>
            <a:r>
              <a:rPr sz="2800" spc="-7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or</a:t>
            </a:r>
            <a:r>
              <a:rPr sz="2800" spc="-8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more</a:t>
            </a:r>
            <a:r>
              <a:rPr sz="2800" spc="-7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consecutive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bits</a:t>
            </a:r>
            <a:r>
              <a:rPr sz="2800" spc="-6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in</a:t>
            </a:r>
            <a:r>
              <a:rPr sz="2800" spc="-7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the</a:t>
            </a:r>
            <a:r>
              <a:rPr sz="2800" spc="-7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data</a:t>
            </a:r>
            <a:r>
              <a:rPr sz="2800" spc="-7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unit 	</a:t>
            </a:r>
            <a:r>
              <a:rPr sz="2800" dirty="0">
                <a:latin typeface="Carlito"/>
                <a:cs typeface="Carlito"/>
              </a:rPr>
              <a:t>have</a:t>
            </a:r>
            <a:r>
              <a:rPr sz="2800" spc="-114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changed</a:t>
            </a:r>
            <a:endParaRPr sz="280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9796" y="3023166"/>
            <a:ext cx="8846471" cy="21674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4265" y="2468321"/>
            <a:ext cx="465836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310" dirty="0">
                <a:solidFill>
                  <a:srgbClr val="C00000"/>
                </a:solidFill>
                <a:latin typeface="Trebuchet MS"/>
                <a:cs typeface="Trebuchet MS"/>
              </a:rPr>
              <a:t>Error</a:t>
            </a:r>
            <a:r>
              <a:rPr sz="6000" spc="-5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6000" spc="-350" dirty="0">
                <a:solidFill>
                  <a:srgbClr val="C00000"/>
                </a:solidFill>
                <a:latin typeface="Trebuchet MS"/>
                <a:cs typeface="Trebuchet MS"/>
              </a:rPr>
              <a:t>Detection</a:t>
            </a:r>
            <a:endParaRPr sz="6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3714" y="6426504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rlito"/>
                <a:cs typeface="Carlito"/>
              </a:rPr>
              <a:t>9</a:t>
            </a:r>
            <a:endParaRPr sz="120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7544" y="517118"/>
            <a:ext cx="3046421" cy="3736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622" rIns="0" bIns="0" rtlCol="0">
            <a:spAutoFit/>
          </a:bodyPr>
          <a:lstStyle/>
          <a:p>
            <a:pPr marL="3990340">
              <a:lnSpc>
                <a:spcPct val="100000"/>
              </a:lnSpc>
              <a:spcBef>
                <a:spcPts val="95"/>
              </a:spcBef>
            </a:pPr>
            <a:r>
              <a:rPr sz="4000" spc="-210" dirty="0">
                <a:solidFill>
                  <a:srgbClr val="C00000"/>
                </a:solidFill>
                <a:latin typeface="Trebuchet MS"/>
                <a:cs typeface="Trebuchet MS"/>
              </a:rPr>
              <a:t>Error</a:t>
            </a:r>
            <a:r>
              <a:rPr sz="4000" spc="-3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210" dirty="0">
                <a:solidFill>
                  <a:srgbClr val="C00000"/>
                </a:solidFill>
                <a:latin typeface="Trebuchet MS"/>
                <a:cs typeface="Trebuchet MS"/>
              </a:rPr>
              <a:t>Detection</a:t>
            </a:r>
            <a:endParaRPr sz="40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37260" y="3122676"/>
            <a:ext cx="10536555" cy="2273300"/>
            <a:chOff x="937260" y="3122676"/>
            <a:chExt cx="10536555" cy="22733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463" y="3408392"/>
              <a:ext cx="122942" cy="1230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7260" y="3122676"/>
              <a:ext cx="1747265" cy="7871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08860" y="3122676"/>
              <a:ext cx="1925574" cy="7871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67327" y="3122676"/>
              <a:ext cx="585977" cy="7871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7008" y="3636264"/>
              <a:ext cx="566166" cy="64389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24940" y="3592068"/>
              <a:ext cx="657606" cy="67741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15084" y="3592068"/>
              <a:ext cx="1061466" cy="67741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09088" y="3592068"/>
              <a:ext cx="1308353" cy="67741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49980" y="3592068"/>
              <a:ext cx="739901" cy="67741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2420" y="3592068"/>
              <a:ext cx="1146810" cy="67741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01768" y="3592068"/>
              <a:ext cx="826769" cy="67741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61075" y="3592068"/>
              <a:ext cx="1434846" cy="67741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28460" y="3592068"/>
              <a:ext cx="877061" cy="67741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36536" y="3592068"/>
              <a:ext cx="1258062" cy="67741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327136" y="3592068"/>
              <a:ext cx="976122" cy="67741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035795" y="3592068"/>
              <a:ext cx="640842" cy="67741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407652" y="3592068"/>
              <a:ext cx="538721" cy="67741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678924" y="3592068"/>
              <a:ext cx="916685" cy="67741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328148" y="3592068"/>
              <a:ext cx="1145286" cy="67741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24940" y="3921252"/>
              <a:ext cx="1680210" cy="67741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702052" y="3921252"/>
              <a:ext cx="479285" cy="67741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7008" y="4358640"/>
              <a:ext cx="566166" cy="64389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24940" y="4314444"/>
              <a:ext cx="765810" cy="67741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862327" y="4314444"/>
              <a:ext cx="860298" cy="67741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395727" y="4314444"/>
              <a:ext cx="521982" cy="67741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590800" y="4314444"/>
              <a:ext cx="1646681" cy="67741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907536" y="4314444"/>
              <a:ext cx="845058" cy="67741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424172" y="4314444"/>
              <a:ext cx="640841" cy="67741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736592" y="4314444"/>
              <a:ext cx="979169" cy="67741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387339" y="4314444"/>
              <a:ext cx="1064514" cy="67741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123431" y="4314444"/>
              <a:ext cx="640841" cy="67741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435851" y="4314444"/>
              <a:ext cx="1046226" cy="67741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155180" y="4314444"/>
              <a:ext cx="776477" cy="67741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601712" y="4314444"/>
              <a:ext cx="1166622" cy="67741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438388" y="4314444"/>
              <a:ext cx="555498" cy="67741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666988" y="4314444"/>
              <a:ext cx="608838" cy="67741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950452" y="4314444"/>
              <a:ext cx="538721" cy="67741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160764" y="4314444"/>
              <a:ext cx="608837" cy="67741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444228" y="4314444"/>
              <a:ext cx="488429" cy="67741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529572" y="4314444"/>
              <a:ext cx="479285" cy="67741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7008" y="4751832"/>
              <a:ext cx="566166" cy="64389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424940" y="4707636"/>
              <a:ext cx="860297" cy="67741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958340" y="4707636"/>
              <a:ext cx="1479041" cy="67741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105911" y="4707636"/>
              <a:ext cx="555498" cy="67741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258311" y="4707636"/>
              <a:ext cx="505206" cy="677417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360420" y="4707636"/>
              <a:ext cx="726186" cy="67741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756660" y="4707636"/>
              <a:ext cx="1183386" cy="67741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611624" y="4707636"/>
              <a:ext cx="799338" cy="67741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082539" y="4707636"/>
              <a:ext cx="1149858" cy="677417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900927" y="4707636"/>
              <a:ext cx="1713737" cy="67741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211568" y="4707636"/>
              <a:ext cx="479285" cy="677417"/>
            </a:xfrm>
            <a:prstGeom prst="rect">
              <a:avLst/>
            </a:prstGeom>
          </p:spPr>
        </p:pic>
      </p:grpSp>
      <p:sp>
        <p:nvSpPr>
          <p:cNvPr id="56" name="object 5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80491" rIns="0" bIns="0" rtlCol="0">
            <a:spAutoFit/>
          </a:bodyPr>
          <a:lstStyle/>
          <a:p>
            <a:pPr marL="241300" marR="6985" indent="-227329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3840" algn="l"/>
              </a:tabLst>
            </a:pPr>
            <a:r>
              <a:rPr sz="2800" dirty="0">
                <a:solidFill>
                  <a:srgbClr val="000000"/>
                </a:solidFill>
                <a:latin typeface="Carlito"/>
                <a:cs typeface="Carlito"/>
              </a:rPr>
              <a:t>Error</a:t>
            </a:r>
            <a:r>
              <a:rPr sz="2800" spc="3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000000"/>
                </a:solidFill>
                <a:latin typeface="Carlito"/>
                <a:cs typeface="Carlito"/>
              </a:rPr>
              <a:t>detection</a:t>
            </a:r>
            <a:r>
              <a:rPr sz="2800" spc="4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000000"/>
                </a:solidFill>
                <a:latin typeface="Carlito"/>
                <a:cs typeface="Carlito"/>
              </a:rPr>
              <a:t>uses</a:t>
            </a:r>
            <a:r>
              <a:rPr sz="2800" spc="50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000000"/>
                </a:solidFill>
                <a:latin typeface="Carlito"/>
                <a:cs typeface="Carlito"/>
              </a:rPr>
              <a:t>the</a:t>
            </a:r>
            <a:r>
              <a:rPr sz="2800" spc="30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000000"/>
                </a:solidFill>
                <a:latin typeface="Carlito"/>
                <a:cs typeface="Carlito"/>
              </a:rPr>
              <a:t>concept</a:t>
            </a:r>
            <a:r>
              <a:rPr sz="2800" spc="40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000000"/>
                </a:solidFill>
                <a:latin typeface="Carlito"/>
                <a:cs typeface="Carlito"/>
              </a:rPr>
              <a:t>of</a:t>
            </a:r>
            <a:r>
              <a:rPr sz="2800" spc="3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spc="-20" dirty="0">
                <a:solidFill>
                  <a:srgbClr val="000000"/>
                </a:solidFill>
                <a:latin typeface="Carlito"/>
                <a:cs typeface="Carlito"/>
              </a:rPr>
              <a:t>redundancy,</a:t>
            </a:r>
            <a:r>
              <a:rPr sz="2800" spc="4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000000"/>
                </a:solidFill>
                <a:latin typeface="Carlito"/>
                <a:cs typeface="Carlito"/>
              </a:rPr>
              <a:t>which</a:t>
            </a:r>
            <a:r>
              <a:rPr sz="2800" spc="40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000000"/>
                </a:solidFill>
                <a:latin typeface="Carlito"/>
                <a:cs typeface="Carlito"/>
              </a:rPr>
              <a:t>means</a:t>
            </a:r>
            <a:r>
              <a:rPr sz="2800" spc="4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rlito"/>
                <a:cs typeface="Carlito"/>
              </a:rPr>
              <a:t>adding 	</a:t>
            </a:r>
            <a:r>
              <a:rPr sz="2800" dirty="0">
                <a:solidFill>
                  <a:srgbClr val="000000"/>
                </a:solidFill>
                <a:latin typeface="Carlito"/>
                <a:cs typeface="Carlito"/>
              </a:rPr>
              <a:t>extra</a:t>
            </a:r>
            <a:r>
              <a:rPr sz="2800" spc="-7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000000"/>
                </a:solidFill>
                <a:latin typeface="Carlito"/>
                <a:cs typeface="Carlito"/>
              </a:rPr>
              <a:t>bits</a:t>
            </a:r>
            <a:r>
              <a:rPr sz="2800" spc="-60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000000"/>
                </a:solidFill>
                <a:latin typeface="Carlito"/>
                <a:cs typeface="Carlito"/>
              </a:rPr>
              <a:t>for</a:t>
            </a:r>
            <a:r>
              <a:rPr sz="2800" spc="-80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rlito"/>
                <a:cs typeface="Carlito"/>
              </a:rPr>
              <a:t>detecting</a:t>
            </a:r>
            <a:r>
              <a:rPr sz="2800" spc="-80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000000"/>
                </a:solidFill>
                <a:latin typeface="Carlito"/>
                <a:cs typeface="Carlito"/>
              </a:rPr>
              <a:t>errors</a:t>
            </a:r>
            <a:r>
              <a:rPr sz="2800" spc="-60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000000"/>
                </a:solidFill>
                <a:latin typeface="Carlito"/>
                <a:cs typeface="Carlito"/>
              </a:rPr>
              <a:t>at</a:t>
            </a:r>
            <a:r>
              <a:rPr sz="2800" spc="-8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000000"/>
                </a:solidFill>
                <a:latin typeface="Carlito"/>
                <a:cs typeface="Carlito"/>
              </a:rPr>
              <a:t>the</a:t>
            </a:r>
            <a:r>
              <a:rPr sz="2800" spc="-7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rlito"/>
                <a:cs typeface="Carlito"/>
              </a:rPr>
              <a:t>destination.</a:t>
            </a:r>
            <a:endParaRPr sz="2800">
              <a:latin typeface="Carlito"/>
              <a:cs typeface="Carlito"/>
            </a:endParaRPr>
          </a:p>
          <a:p>
            <a:pPr marL="1905">
              <a:lnSpc>
                <a:spcPct val="100000"/>
              </a:lnSpc>
              <a:spcBef>
                <a:spcPts val="1305"/>
              </a:spcBef>
              <a:buFont typeface="Arial"/>
              <a:buChar char="•"/>
            </a:pPr>
            <a:endParaRPr sz="2800">
              <a:latin typeface="Carlito"/>
              <a:cs typeface="Carlito"/>
            </a:endParaRPr>
          </a:p>
          <a:p>
            <a:pPr marL="241935" indent="-227329">
              <a:lnSpc>
                <a:spcPct val="100000"/>
              </a:lnSpc>
              <a:buFont typeface="Arial"/>
              <a:buChar char="•"/>
              <a:tabLst>
                <a:tab pos="242570" algn="l"/>
              </a:tabLst>
            </a:pP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BLOCK</a:t>
            </a:r>
            <a:r>
              <a:rPr sz="2800" b="1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CODING:</a:t>
            </a:r>
            <a:endParaRPr sz="2800">
              <a:latin typeface="Times New Roman"/>
              <a:cs typeface="Times New Roman"/>
            </a:endParaRPr>
          </a:p>
          <a:p>
            <a:pPr marL="699135" marR="5080" lvl="1" indent="-227329">
              <a:lnSpc>
                <a:spcPts val="2590"/>
              </a:lnSpc>
              <a:spcBef>
                <a:spcPts val="550"/>
              </a:spcBef>
              <a:buFont typeface="Courier New"/>
              <a:buChar char="o"/>
              <a:tabLst>
                <a:tab pos="701040" algn="l"/>
                <a:tab pos="1090930" algn="l"/>
                <a:tab pos="1885314" algn="l"/>
                <a:tab pos="2926080" algn="l"/>
                <a:tab pos="3398520" algn="l"/>
                <a:tab pos="4277995" algn="l"/>
                <a:tab pos="4837430" algn="l"/>
                <a:tab pos="6005195" algn="l"/>
                <a:tab pos="6612890" algn="l"/>
                <a:tab pos="7604125" algn="l"/>
                <a:tab pos="8312784" algn="l"/>
                <a:tab pos="8684895" algn="l"/>
                <a:tab pos="8956040" algn="l"/>
                <a:tab pos="9605010" algn="l"/>
              </a:tabLst>
            </a:pPr>
            <a:r>
              <a:rPr sz="2400" i="1" spc="-25" dirty="0">
                <a:latin typeface="Times New Roman"/>
                <a:cs typeface="Times New Roman"/>
              </a:rPr>
              <a:t>In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i="1" spc="-10" dirty="0">
                <a:latin typeface="Times New Roman"/>
                <a:cs typeface="Times New Roman"/>
              </a:rPr>
              <a:t>block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i="1" spc="-10" dirty="0">
                <a:latin typeface="Times New Roman"/>
                <a:cs typeface="Times New Roman"/>
              </a:rPr>
              <a:t>coding,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we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i="1" spc="-10" dirty="0">
                <a:latin typeface="Times New Roman"/>
                <a:cs typeface="Times New Roman"/>
              </a:rPr>
              <a:t>divide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our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i="1" spc="-10" dirty="0">
                <a:latin typeface="Times New Roman"/>
                <a:cs typeface="Times New Roman"/>
              </a:rPr>
              <a:t>message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i="1" spc="-20" dirty="0">
                <a:latin typeface="Times New Roman"/>
                <a:cs typeface="Times New Roman"/>
              </a:rPr>
              <a:t>into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i="1" spc="-10" dirty="0">
                <a:latin typeface="Times New Roman"/>
                <a:cs typeface="Times New Roman"/>
              </a:rPr>
              <a:t>blocks,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i="1" spc="-20" dirty="0">
                <a:latin typeface="Times New Roman"/>
                <a:cs typeface="Times New Roman"/>
              </a:rPr>
              <a:t>each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of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i="1" spc="-50" dirty="0">
                <a:latin typeface="Times New Roman"/>
                <a:cs typeface="Times New Roman"/>
              </a:rPr>
              <a:t>k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i="1" spc="-10" dirty="0">
                <a:latin typeface="Times New Roman"/>
                <a:cs typeface="Times New Roman"/>
              </a:rPr>
              <a:t>bits,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i="1" spc="-10" dirty="0">
                <a:latin typeface="Times New Roman"/>
                <a:cs typeface="Times New Roman"/>
              </a:rPr>
              <a:t>called 	</a:t>
            </a:r>
            <a:r>
              <a:rPr sz="2400" i="1" spc="-10" dirty="0">
                <a:solidFill>
                  <a:srgbClr val="0562C1"/>
                </a:solidFill>
                <a:latin typeface="Times New Roman"/>
                <a:cs typeface="Times New Roman"/>
              </a:rPr>
              <a:t>datawords</a:t>
            </a:r>
            <a:r>
              <a:rPr sz="2400" i="1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699135" lvl="1" indent="-227329">
              <a:lnSpc>
                <a:spcPct val="100000"/>
              </a:lnSpc>
              <a:spcBef>
                <a:spcPts val="180"/>
              </a:spcBef>
              <a:buFont typeface="Courier New"/>
              <a:buChar char="o"/>
              <a:tabLst>
                <a:tab pos="699770" algn="l"/>
              </a:tabLst>
            </a:pPr>
            <a:r>
              <a:rPr sz="2400" i="1" spc="-75" dirty="0">
                <a:latin typeface="Times New Roman"/>
                <a:cs typeface="Times New Roman"/>
              </a:rPr>
              <a:t>We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add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r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redundant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bits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to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each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block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to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make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the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length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=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+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r.</a:t>
            </a:r>
            <a:endParaRPr sz="2400">
              <a:latin typeface="Times New Roman"/>
              <a:cs typeface="Times New Roman"/>
            </a:endParaRPr>
          </a:p>
          <a:p>
            <a:pPr marL="699135" lvl="1" indent="-227329">
              <a:lnSpc>
                <a:spcPct val="100000"/>
              </a:lnSpc>
              <a:spcBef>
                <a:spcPts val="219"/>
              </a:spcBef>
              <a:buFont typeface="Courier New"/>
              <a:buChar char="o"/>
              <a:tabLst>
                <a:tab pos="699770" algn="l"/>
              </a:tabLst>
            </a:pPr>
            <a:r>
              <a:rPr sz="2400" i="1" dirty="0">
                <a:latin typeface="Times New Roman"/>
                <a:cs typeface="Times New Roman"/>
              </a:rPr>
              <a:t>The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resulting</a:t>
            </a:r>
            <a:r>
              <a:rPr sz="2400" i="1" spc="-6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n-</a:t>
            </a:r>
            <a:r>
              <a:rPr sz="2400" i="1" dirty="0">
                <a:latin typeface="Times New Roman"/>
                <a:cs typeface="Times New Roman"/>
              </a:rPr>
              <a:t>bit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blocks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are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called</a:t>
            </a:r>
            <a:r>
              <a:rPr sz="2400" i="1" spc="-6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solidFill>
                  <a:srgbClr val="0562C1"/>
                </a:solidFill>
                <a:latin typeface="Times New Roman"/>
                <a:cs typeface="Times New Roman"/>
              </a:rPr>
              <a:t>codewords</a:t>
            </a:r>
            <a:r>
              <a:rPr sz="2400" i="1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7" name="object 5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7670" rIns="0" bIns="0" rtlCol="0">
            <a:spAutoFit/>
          </a:bodyPr>
          <a:lstStyle/>
          <a:p>
            <a:pPr marL="1706880">
              <a:lnSpc>
                <a:spcPct val="100000"/>
              </a:lnSpc>
              <a:spcBef>
                <a:spcPts val="95"/>
              </a:spcBef>
            </a:pPr>
            <a:r>
              <a:rPr sz="4000" i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4000" i="1" spc="-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i="1" spc="-10" dirty="0">
                <a:solidFill>
                  <a:srgbClr val="C00000"/>
                </a:solidFill>
                <a:latin typeface="Times New Roman"/>
                <a:cs typeface="Times New Roman"/>
              </a:rPr>
              <a:t>structure</a:t>
            </a:r>
            <a:r>
              <a:rPr sz="4000" i="1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i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4000" i="1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i="1" dirty="0">
                <a:solidFill>
                  <a:srgbClr val="C00000"/>
                </a:solidFill>
                <a:latin typeface="Times New Roman"/>
                <a:cs typeface="Times New Roman"/>
              </a:rPr>
              <a:t>encoder</a:t>
            </a:r>
            <a:r>
              <a:rPr sz="4000" i="1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i="1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4000" i="1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i="1" spc="-10" dirty="0">
                <a:solidFill>
                  <a:srgbClr val="C00000"/>
                </a:solidFill>
                <a:latin typeface="Times New Roman"/>
                <a:cs typeface="Times New Roman"/>
              </a:rPr>
              <a:t>decoder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5990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888888"/>
                </a:solidFill>
                <a:latin typeface="Carlito"/>
                <a:cs typeface="Carlito"/>
              </a:rPr>
              <a:t>11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5890" y="5667247"/>
            <a:ext cx="61417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0" dirty="0">
                <a:latin typeface="Carlito"/>
                <a:cs typeface="Carlito"/>
              </a:rPr>
              <a:t>To</a:t>
            </a:r>
            <a:r>
              <a:rPr sz="2000" spc="-2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detect</a:t>
            </a:r>
            <a:r>
              <a:rPr sz="2000" spc="-6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or</a:t>
            </a:r>
            <a:r>
              <a:rPr sz="2000" spc="-5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correct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errors,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we</a:t>
            </a:r>
            <a:r>
              <a:rPr sz="2000" spc="-5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need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to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send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redundant</a:t>
            </a:r>
            <a:r>
              <a:rPr sz="2000" spc="-60" dirty="0">
                <a:latin typeface="Carlito"/>
                <a:cs typeface="Carlito"/>
              </a:rPr>
              <a:t> </a:t>
            </a:r>
            <a:r>
              <a:rPr sz="2000" spc="-20" dirty="0">
                <a:latin typeface="Carlito"/>
                <a:cs typeface="Carlito"/>
              </a:rPr>
              <a:t>bits</a:t>
            </a:r>
            <a:endParaRPr sz="2000">
              <a:latin typeface="Carlito"/>
              <a:cs typeface="Carli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6316" y="1571259"/>
            <a:ext cx="8611736" cy="3658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6863" y="6426504"/>
            <a:ext cx="87141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©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2016</a:t>
            </a:r>
            <a:r>
              <a:rPr sz="1200" spc="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KL University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155" dirty="0">
                <a:solidFill>
                  <a:srgbClr val="888888"/>
                </a:solidFill>
                <a:latin typeface="Trebuchet MS"/>
                <a:cs typeface="Trebuchet MS"/>
              </a:rPr>
              <a:t>–</a:t>
            </a:r>
            <a:r>
              <a:rPr sz="1200" spc="-85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The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contents</a:t>
            </a:r>
            <a:r>
              <a:rPr sz="1200" spc="-3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this</a:t>
            </a:r>
            <a:r>
              <a:rPr sz="1200" spc="-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presentation</a:t>
            </a:r>
            <a:r>
              <a:rPr sz="1200" spc="-4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are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an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intellectual</a:t>
            </a:r>
            <a:r>
              <a:rPr sz="1200" spc="-4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and</a:t>
            </a:r>
            <a:r>
              <a:rPr sz="1200" spc="-2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copyrighted</a:t>
            </a:r>
            <a:r>
              <a:rPr sz="1200" spc="-4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property</a:t>
            </a:r>
            <a:r>
              <a:rPr sz="1200" spc="-4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KL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University.</a:t>
            </a:r>
            <a:r>
              <a:rPr sz="1200" spc="-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ALL</a:t>
            </a:r>
            <a:r>
              <a:rPr sz="1200" spc="-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RIGHTS</a:t>
            </a:r>
            <a:r>
              <a:rPr sz="1200" spc="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RESERVED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5990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888888"/>
                </a:solidFill>
                <a:latin typeface="Carlito"/>
                <a:cs typeface="Carlito"/>
              </a:rPr>
              <a:t>12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64484" y="2757297"/>
            <a:ext cx="57892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C00000"/>
                </a:solidFill>
                <a:latin typeface="Carlito"/>
                <a:cs typeface="Carlito"/>
              </a:rPr>
              <a:t>Error</a:t>
            </a:r>
            <a:r>
              <a:rPr sz="4400" b="1" spc="-9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4400" b="1" dirty="0">
                <a:solidFill>
                  <a:srgbClr val="C00000"/>
                </a:solidFill>
                <a:latin typeface="Carlito"/>
                <a:cs typeface="Carlito"/>
              </a:rPr>
              <a:t>Detection</a:t>
            </a:r>
            <a:r>
              <a:rPr sz="4400" b="1" spc="-11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4400" b="1" spc="-10" dirty="0">
                <a:solidFill>
                  <a:srgbClr val="C00000"/>
                </a:solidFill>
                <a:latin typeface="Carlito"/>
                <a:cs typeface="Carlito"/>
              </a:rPr>
              <a:t>Methods</a:t>
            </a:r>
            <a:endParaRPr sz="4400">
              <a:latin typeface="Carlito"/>
              <a:cs typeface="Carli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2119" y="494335"/>
            <a:ext cx="4975553" cy="3964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622" rIns="0" bIns="0" rtlCol="0">
            <a:spAutoFit/>
          </a:bodyPr>
          <a:lstStyle/>
          <a:p>
            <a:pPr marL="3034665">
              <a:lnSpc>
                <a:spcPct val="100000"/>
              </a:lnSpc>
              <a:spcBef>
                <a:spcPts val="95"/>
              </a:spcBef>
            </a:pPr>
            <a:r>
              <a:rPr sz="4000" spc="-210" dirty="0">
                <a:solidFill>
                  <a:srgbClr val="C00000"/>
                </a:solidFill>
                <a:latin typeface="Trebuchet MS"/>
                <a:cs typeface="Trebuchet MS"/>
              </a:rPr>
              <a:t>Error</a:t>
            </a:r>
            <a:r>
              <a:rPr sz="4000" spc="-3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240" dirty="0">
                <a:solidFill>
                  <a:srgbClr val="C00000"/>
                </a:solidFill>
                <a:latin typeface="Trebuchet MS"/>
                <a:cs typeface="Trebuchet MS"/>
              </a:rPr>
              <a:t>Detection</a:t>
            </a:r>
            <a:r>
              <a:rPr sz="4000" spc="-34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55" dirty="0">
                <a:solidFill>
                  <a:srgbClr val="C00000"/>
                </a:solidFill>
                <a:latin typeface="Trebuchet MS"/>
                <a:cs typeface="Trebuchet MS"/>
              </a:rPr>
              <a:t>Methods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1123315"/>
            <a:ext cx="3021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Carlito"/>
                <a:cs typeface="Carlito"/>
              </a:rPr>
              <a:t>Detection</a:t>
            </a:r>
            <a:r>
              <a:rPr sz="2800" spc="-9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methods</a:t>
            </a:r>
            <a:endParaRPr sz="2800">
              <a:latin typeface="Carlito"/>
              <a:cs typeface="Carlito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3756" y="2781300"/>
            <a:ext cx="11617452" cy="20589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5853" y="2944444"/>
            <a:ext cx="38620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C00000"/>
                </a:solidFill>
                <a:latin typeface="Times New Roman"/>
                <a:cs typeface="Times New Roman"/>
              </a:rPr>
              <a:t>1.</a:t>
            </a:r>
            <a:r>
              <a:rPr sz="44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400" b="1" spc="-180" dirty="0">
                <a:solidFill>
                  <a:srgbClr val="C00000"/>
                </a:solidFill>
                <a:latin typeface="Times New Roman"/>
                <a:cs typeface="Times New Roman"/>
              </a:rPr>
              <a:t>Parity</a:t>
            </a:r>
            <a:r>
              <a:rPr sz="44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Method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5990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888888"/>
                </a:solidFill>
                <a:latin typeface="Carlito"/>
                <a:cs typeface="Carlito"/>
              </a:rPr>
              <a:t>14</a:t>
            </a:r>
            <a:endParaRPr sz="120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1480" y="494335"/>
            <a:ext cx="4312668" cy="48298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622" rIns="0" bIns="0" rtlCol="0">
            <a:spAutoFit/>
          </a:bodyPr>
          <a:lstStyle/>
          <a:p>
            <a:pPr marL="3371850">
              <a:lnSpc>
                <a:spcPct val="100000"/>
              </a:lnSpc>
              <a:spcBef>
                <a:spcPts val="95"/>
              </a:spcBef>
            </a:pPr>
            <a:r>
              <a:rPr sz="4000" spc="-240" dirty="0">
                <a:solidFill>
                  <a:srgbClr val="C00000"/>
                </a:solidFill>
                <a:latin typeface="Trebuchet MS"/>
                <a:cs typeface="Trebuchet MS"/>
              </a:rPr>
              <a:t>Simple</a:t>
            </a:r>
            <a:r>
              <a:rPr sz="4000" spc="-36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265" dirty="0">
                <a:solidFill>
                  <a:srgbClr val="C00000"/>
                </a:solidFill>
                <a:latin typeface="Trebuchet MS"/>
                <a:cs typeface="Trebuchet MS"/>
              </a:rPr>
              <a:t>Parity</a:t>
            </a:r>
            <a:r>
              <a:rPr sz="4000" spc="-35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55" dirty="0">
                <a:solidFill>
                  <a:srgbClr val="C00000"/>
                </a:solidFill>
                <a:latin typeface="Trebuchet MS"/>
                <a:cs typeface="Trebuchet MS"/>
              </a:rPr>
              <a:t>Method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1088655"/>
            <a:ext cx="10293985" cy="17272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445"/>
              </a:spcBef>
              <a:buAutoNum type="arabicPeriod"/>
              <a:tabLst>
                <a:tab pos="314325" algn="l"/>
              </a:tabLst>
            </a:pPr>
            <a:r>
              <a:rPr sz="2400" b="1" dirty="0">
                <a:latin typeface="Carlito"/>
                <a:cs typeface="Carlito"/>
              </a:rPr>
              <a:t>Parity</a:t>
            </a:r>
            <a:r>
              <a:rPr sz="2400" b="1" spc="-110" dirty="0">
                <a:latin typeface="Carlito"/>
                <a:cs typeface="Carlito"/>
              </a:rPr>
              <a:t> </a:t>
            </a:r>
            <a:r>
              <a:rPr sz="2400" b="1" spc="-10" dirty="0">
                <a:latin typeface="Carlito"/>
                <a:cs typeface="Carlito"/>
              </a:rPr>
              <a:t>Check:</a:t>
            </a:r>
            <a:endParaRPr sz="2400">
              <a:latin typeface="Carlito"/>
              <a:cs typeface="Carlito"/>
            </a:endParaRPr>
          </a:p>
          <a:p>
            <a:pPr marL="698500" marR="5080" lvl="1" indent="-228600">
              <a:lnSpc>
                <a:spcPts val="2160"/>
              </a:lnSpc>
              <a:spcBef>
                <a:spcPts val="560"/>
              </a:spcBef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latin typeface="Carlito"/>
                <a:cs typeface="Carlito"/>
              </a:rPr>
              <a:t>A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parity</a:t>
            </a:r>
            <a:r>
              <a:rPr sz="2000" spc="-2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bit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is</a:t>
            </a:r>
            <a:r>
              <a:rPr sz="2000" spc="-3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added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to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every</a:t>
            </a:r>
            <a:r>
              <a:rPr sz="2000" spc="-2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data</a:t>
            </a:r>
            <a:r>
              <a:rPr sz="2000" spc="-3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unit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so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that</a:t>
            </a:r>
            <a:r>
              <a:rPr sz="2000" spc="-3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the</a:t>
            </a:r>
            <a:r>
              <a:rPr sz="2000" spc="-3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total</a:t>
            </a:r>
            <a:r>
              <a:rPr sz="2000" spc="-3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number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of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1s(including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the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parity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spc="-20" dirty="0">
                <a:latin typeface="Carlito"/>
                <a:cs typeface="Carlito"/>
              </a:rPr>
              <a:t>bit) </a:t>
            </a:r>
            <a:r>
              <a:rPr sz="2000" dirty="0">
                <a:latin typeface="Carlito"/>
                <a:cs typeface="Carlito"/>
              </a:rPr>
              <a:t>becomes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even</a:t>
            </a:r>
            <a:r>
              <a:rPr sz="2000" spc="-3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for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spc="-20" dirty="0">
                <a:latin typeface="Carlito"/>
                <a:cs typeface="Carlito"/>
              </a:rPr>
              <a:t>even-</a:t>
            </a:r>
            <a:r>
              <a:rPr sz="2000" dirty="0">
                <a:latin typeface="Carlito"/>
                <a:cs typeface="Carlito"/>
              </a:rPr>
              <a:t>parity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check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or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odd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for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odd-</a:t>
            </a:r>
            <a:r>
              <a:rPr sz="2000" dirty="0">
                <a:latin typeface="Carlito"/>
                <a:cs typeface="Carlito"/>
              </a:rPr>
              <a:t>parity</a:t>
            </a:r>
            <a:r>
              <a:rPr sz="2000" spc="-5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check.</a:t>
            </a:r>
            <a:endParaRPr sz="2000">
              <a:latin typeface="Carlito"/>
              <a:cs typeface="Carlito"/>
            </a:endParaRPr>
          </a:p>
          <a:p>
            <a:pPr lvl="1">
              <a:lnSpc>
                <a:spcPct val="100000"/>
              </a:lnSpc>
              <a:spcBef>
                <a:spcPts val="445"/>
              </a:spcBef>
              <a:buFont typeface="Arial"/>
              <a:buChar char="•"/>
            </a:pPr>
            <a:endParaRPr sz="2000">
              <a:latin typeface="Carlito"/>
              <a:cs typeface="Carlito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•"/>
              <a:tabLst>
                <a:tab pos="755015" algn="l"/>
              </a:tabLst>
            </a:pPr>
            <a:r>
              <a:rPr sz="2000" b="1" dirty="0">
                <a:latin typeface="Carlito"/>
                <a:cs typeface="Carlito"/>
              </a:rPr>
              <a:t>Simple</a:t>
            </a:r>
            <a:r>
              <a:rPr sz="2000" b="1" spc="-25" dirty="0">
                <a:latin typeface="Carlito"/>
                <a:cs typeface="Carlito"/>
              </a:rPr>
              <a:t> </a:t>
            </a:r>
            <a:r>
              <a:rPr sz="2000" b="1" dirty="0">
                <a:latin typeface="Carlito"/>
                <a:cs typeface="Carlito"/>
              </a:rPr>
              <a:t>parity</a:t>
            </a:r>
            <a:r>
              <a:rPr sz="2000" b="1" spc="-30" dirty="0">
                <a:latin typeface="Carlito"/>
                <a:cs typeface="Carlito"/>
              </a:rPr>
              <a:t> </a:t>
            </a:r>
            <a:r>
              <a:rPr sz="2000" b="1" spc="-10" dirty="0">
                <a:latin typeface="Carlito"/>
                <a:cs typeface="Carlito"/>
              </a:rPr>
              <a:t>check</a:t>
            </a:r>
            <a:endParaRPr sz="2000">
              <a:latin typeface="Carlito"/>
              <a:cs typeface="Carlito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4872" y="3100103"/>
            <a:ext cx="7586472" cy="35536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2887" y="494335"/>
            <a:ext cx="4810972" cy="48298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622" rIns="0" bIns="0" rtlCol="0">
            <a:spAutoFit/>
          </a:bodyPr>
          <a:lstStyle/>
          <a:p>
            <a:pPr marL="3120390">
              <a:lnSpc>
                <a:spcPct val="100000"/>
              </a:lnSpc>
              <a:spcBef>
                <a:spcPts val="95"/>
              </a:spcBef>
            </a:pPr>
            <a:r>
              <a:rPr sz="4000" spc="-265" dirty="0">
                <a:solidFill>
                  <a:srgbClr val="000000"/>
                </a:solidFill>
                <a:latin typeface="Trebuchet MS"/>
                <a:cs typeface="Trebuchet MS"/>
              </a:rPr>
              <a:t>Parity</a:t>
            </a:r>
            <a:r>
              <a:rPr sz="4000" spc="-3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4000" spc="-215" dirty="0">
                <a:solidFill>
                  <a:srgbClr val="000000"/>
                </a:solidFill>
                <a:latin typeface="Trebuchet MS"/>
                <a:cs typeface="Trebuchet MS"/>
              </a:rPr>
              <a:t>method</a:t>
            </a:r>
            <a:r>
              <a:rPr sz="4000" spc="-3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4000" spc="-275" dirty="0">
                <a:solidFill>
                  <a:srgbClr val="000000"/>
                </a:solidFill>
                <a:latin typeface="Trebuchet MS"/>
                <a:cs typeface="Trebuchet MS"/>
              </a:rPr>
              <a:t>examples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8008" y="1406540"/>
            <a:ext cx="7480934" cy="1819275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800" b="1" i="1" dirty="0">
                <a:latin typeface="Times New Roman"/>
                <a:cs typeface="Times New Roman"/>
              </a:rPr>
              <a:t>Example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0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40000"/>
              </a:lnSpc>
            </a:pPr>
            <a:r>
              <a:rPr sz="2800" dirty="0">
                <a:latin typeface="Times New Roman"/>
                <a:cs typeface="Times New Roman"/>
              </a:rPr>
              <a:t>Suppose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sender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wants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“</a:t>
            </a:r>
            <a:r>
              <a:rPr sz="2800" b="1" i="1" spc="-10" dirty="0">
                <a:latin typeface="Times New Roman"/>
                <a:cs typeface="Times New Roman"/>
              </a:rPr>
              <a:t>world”</a:t>
            </a:r>
            <a:r>
              <a:rPr sz="2800" spc="-10" dirty="0">
                <a:latin typeface="Times New Roman"/>
                <a:cs typeface="Times New Roman"/>
              </a:rPr>
              <a:t>. In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ASCII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five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characters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coded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2251" y="5626608"/>
            <a:ext cx="1424940" cy="462280"/>
          </a:xfrm>
          <a:custGeom>
            <a:avLst/>
            <a:gdLst/>
            <a:ahLst/>
            <a:cxnLst/>
            <a:rect l="l" t="t" r="r" b="b"/>
            <a:pathLst>
              <a:path w="1424939" h="462279">
                <a:moveTo>
                  <a:pt x="0" y="461772"/>
                </a:moveTo>
                <a:lnTo>
                  <a:pt x="1424940" y="461772"/>
                </a:lnTo>
                <a:lnTo>
                  <a:pt x="1424940" y="0"/>
                </a:lnTo>
                <a:lnTo>
                  <a:pt x="0" y="0"/>
                </a:lnTo>
                <a:lnTo>
                  <a:pt x="0" y="46177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43571" y="5626608"/>
            <a:ext cx="1506220" cy="462280"/>
          </a:xfrm>
          <a:custGeom>
            <a:avLst/>
            <a:gdLst/>
            <a:ahLst/>
            <a:cxnLst/>
            <a:rect l="l" t="t" r="r" b="b"/>
            <a:pathLst>
              <a:path w="1506220" h="462279">
                <a:moveTo>
                  <a:pt x="0" y="461772"/>
                </a:moveTo>
                <a:lnTo>
                  <a:pt x="1505712" y="461772"/>
                </a:lnTo>
                <a:lnTo>
                  <a:pt x="1505712" y="0"/>
                </a:lnTo>
                <a:lnTo>
                  <a:pt x="0" y="0"/>
                </a:lnTo>
                <a:lnTo>
                  <a:pt x="0" y="46177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98958" y="3422308"/>
          <a:ext cx="8449942" cy="2665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7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4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4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5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76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94385">
                <a:tc>
                  <a:txBody>
                    <a:bodyPr/>
                    <a:lstStyle/>
                    <a:p>
                      <a:pPr marR="55880" algn="r">
                        <a:lnSpc>
                          <a:spcPts val="3055"/>
                        </a:lnSpc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1110111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ts val="3055"/>
                        </a:lnSpc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1101111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ts val="3055"/>
                        </a:lnSpc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1110010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055"/>
                        </a:lnSpc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1101100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3055"/>
                        </a:lnSpc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1100100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9700"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28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Sent</a:t>
                      </a:r>
                      <a:r>
                        <a:rPr sz="2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20" dirty="0">
                          <a:latin typeface="Times New Roman"/>
                          <a:cs typeface="Times New Roman"/>
                        </a:rPr>
                        <a:t>data: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13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1110111</a:t>
                      </a:r>
                      <a:r>
                        <a:rPr sz="2400" b="1" u="sng" spc="-1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1101111</a:t>
                      </a:r>
                      <a:r>
                        <a:rPr sz="2400" b="1" u="sng" spc="-1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1110010</a:t>
                      </a:r>
                      <a:r>
                        <a:rPr sz="2400" b="1" u="sng" spc="-1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1101100</a:t>
                      </a:r>
                      <a:r>
                        <a:rPr sz="2400" b="1" u="sng" spc="-1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1100100</a:t>
                      </a:r>
                      <a:r>
                        <a:rPr sz="2400" b="1" u="sng" spc="-1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1285" y="327736"/>
            <a:ext cx="53295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15" dirty="0">
                <a:solidFill>
                  <a:srgbClr val="C00000"/>
                </a:solidFill>
                <a:latin typeface="Trebuchet MS"/>
                <a:cs typeface="Trebuchet MS"/>
              </a:rPr>
              <a:t>Drawback</a:t>
            </a:r>
            <a:r>
              <a:rPr sz="4000" spc="-27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190" dirty="0">
                <a:solidFill>
                  <a:srgbClr val="C00000"/>
                </a:solidFill>
                <a:latin typeface="Trebuchet MS"/>
                <a:cs typeface="Trebuchet MS"/>
              </a:rPr>
              <a:t>of</a:t>
            </a:r>
            <a:r>
              <a:rPr sz="4000" spc="-26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210" dirty="0">
                <a:solidFill>
                  <a:srgbClr val="C00000"/>
                </a:solidFill>
                <a:latin typeface="Trebuchet MS"/>
                <a:cs typeface="Trebuchet MS"/>
              </a:rPr>
              <a:t>Simple</a:t>
            </a:r>
            <a:r>
              <a:rPr sz="4000" spc="-26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204" dirty="0">
                <a:solidFill>
                  <a:srgbClr val="C00000"/>
                </a:solidFill>
                <a:latin typeface="Trebuchet MS"/>
                <a:cs typeface="Trebuchet MS"/>
              </a:rPr>
              <a:t>Parity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037361"/>
            <a:ext cx="3279140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rlito"/>
                <a:cs typeface="Carlito"/>
              </a:rPr>
              <a:t>M</a:t>
            </a:r>
            <a:r>
              <a:rPr sz="2800" spc="-1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=</a:t>
            </a:r>
            <a:r>
              <a:rPr sz="2800" spc="-10" dirty="0">
                <a:latin typeface="Carlito"/>
                <a:cs typeface="Carlito"/>
              </a:rPr>
              <a:t> 1100101</a:t>
            </a:r>
            <a:endParaRPr sz="2800">
              <a:latin typeface="Carlito"/>
              <a:cs typeface="Carlito"/>
            </a:endParaRP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rlito"/>
                <a:cs typeface="Carlito"/>
              </a:rPr>
              <a:t>Parity</a:t>
            </a:r>
            <a:r>
              <a:rPr sz="2800" spc="-9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followed:</a:t>
            </a:r>
            <a:r>
              <a:rPr sz="2800" spc="-8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Even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6863" y="6426504"/>
            <a:ext cx="87141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©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2016</a:t>
            </a:r>
            <a:r>
              <a:rPr sz="1200" spc="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KL University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155" dirty="0">
                <a:solidFill>
                  <a:srgbClr val="888888"/>
                </a:solidFill>
                <a:latin typeface="Trebuchet MS"/>
                <a:cs typeface="Trebuchet MS"/>
              </a:rPr>
              <a:t>–</a:t>
            </a:r>
            <a:r>
              <a:rPr sz="1200" spc="-85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The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contents</a:t>
            </a:r>
            <a:r>
              <a:rPr sz="1200" spc="-3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this</a:t>
            </a:r>
            <a:r>
              <a:rPr sz="1200" spc="-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presentation</a:t>
            </a:r>
            <a:r>
              <a:rPr sz="1200" spc="-4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are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an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intellectual</a:t>
            </a:r>
            <a:r>
              <a:rPr sz="1200" spc="-4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and</a:t>
            </a:r>
            <a:r>
              <a:rPr sz="1200" spc="-2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copyrighted</a:t>
            </a:r>
            <a:r>
              <a:rPr sz="1200" spc="-4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property</a:t>
            </a:r>
            <a:r>
              <a:rPr sz="1200" spc="-4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KL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University.</a:t>
            </a:r>
            <a:r>
              <a:rPr sz="1200" spc="-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ALL</a:t>
            </a:r>
            <a:r>
              <a:rPr sz="1200" spc="-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RIGHTS</a:t>
            </a:r>
            <a:r>
              <a:rPr sz="1200" spc="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RESERVED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95990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888888"/>
                </a:solidFill>
                <a:latin typeface="Carlito"/>
                <a:cs typeface="Carlito"/>
              </a:rPr>
              <a:t>17</a:t>
            </a:r>
            <a:endParaRPr sz="1200">
              <a:latin typeface="Carlito"/>
              <a:cs typeface="Carlit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122804" y="2430907"/>
          <a:ext cx="7933689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7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Sent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Message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Received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Message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Parity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Message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Status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rlito"/>
                          <a:cs typeface="Carlito"/>
                        </a:rPr>
                        <a:t>11001010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rlito"/>
                          <a:cs typeface="Carlito"/>
                        </a:rPr>
                        <a:t>11001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1</a:t>
                      </a:r>
                      <a:r>
                        <a:rPr sz="2000" spc="-10" dirty="0">
                          <a:latin typeface="Carlito"/>
                          <a:cs typeface="Carlito"/>
                        </a:rPr>
                        <a:t>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25" dirty="0">
                          <a:latin typeface="Carlito"/>
                          <a:cs typeface="Carlito"/>
                        </a:rPr>
                        <a:t>Odd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Discard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rlito"/>
                          <a:cs typeface="Carlito"/>
                        </a:rPr>
                        <a:t>11001010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rlito"/>
                          <a:cs typeface="Carlito"/>
                        </a:rPr>
                        <a:t>11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1</a:t>
                      </a:r>
                      <a:r>
                        <a:rPr sz="2000" spc="-10" dirty="0">
                          <a:latin typeface="Carlito"/>
                          <a:cs typeface="Carlito"/>
                        </a:rPr>
                        <a:t>01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1</a:t>
                      </a:r>
                      <a:r>
                        <a:rPr sz="2000" spc="-10" dirty="0">
                          <a:latin typeface="Carlito"/>
                          <a:cs typeface="Carlito"/>
                        </a:rPr>
                        <a:t>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rlito"/>
                          <a:cs typeface="Carlito"/>
                        </a:rPr>
                        <a:t>Even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Accept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rlito"/>
                          <a:cs typeface="Carlito"/>
                        </a:rPr>
                        <a:t>11001010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rlito"/>
                          <a:cs typeface="Carlito"/>
                        </a:rPr>
                        <a:t>11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1</a:t>
                      </a:r>
                      <a:r>
                        <a:rPr sz="2000" spc="-10" dirty="0">
                          <a:latin typeface="Carlito"/>
                          <a:cs typeface="Carlito"/>
                        </a:rPr>
                        <a:t>01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10</a:t>
                      </a:r>
                      <a:r>
                        <a:rPr sz="2000" spc="-10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rlito"/>
                          <a:cs typeface="Carlito"/>
                        </a:rPr>
                        <a:t>Odd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Discard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rlito"/>
                          <a:cs typeface="Carlito"/>
                        </a:rPr>
                        <a:t>11001010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rlito"/>
                          <a:cs typeface="Carlito"/>
                        </a:rPr>
                        <a:t>1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01</a:t>
                      </a:r>
                      <a:r>
                        <a:rPr sz="2000" spc="-10" dirty="0">
                          <a:latin typeface="Carlito"/>
                          <a:cs typeface="Carlito"/>
                        </a:rPr>
                        <a:t>01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10</a:t>
                      </a:r>
                      <a:r>
                        <a:rPr sz="2000" spc="-10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20" dirty="0">
                          <a:latin typeface="Carlito"/>
                          <a:cs typeface="Carlito"/>
                        </a:rPr>
                        <a:t>Even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Accept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762125" y="4895469"/>
            <a:ext cx="81762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Disadvantage: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With</a:t>
            </a:r>
            <a:r>
              <a:rPr sz="1800" spc="-2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Simple</a:t>
            </a:r>
            <a:r>
              <a:rPr sz="1800" spc="-4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parity</a:t>
            </a:r>
            <a:r>
              <a:rPr sz="1800" spc="-3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method,</a:t>
            </a:r>
            <a:r>
              <a:rPr sz="1800" spc="-3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only</a:t>
            </a:r>
            <a:r>
              <a:rPr sz="1800" spc="-4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the</a:t>
            </a:r>
            <a:r>
              <a:rPr sz="1800" spc="-2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odd</a:t>
            </a:r>
            <a:r>
              <a:rPr sz="1800" spc="-3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number</a:t>
            </a:r>
            <a:r>
              <a:rPr sz="1800" spc="-4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errors</a:t>
            </a:r>
            <a:r>
              <a:rPr sz="1800" spc="-4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can</a:t>
            </a:r>
            <a:r>
              <a:rPr sz="1800" spc="-3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be</a:t>
            </a:r>
            <a:r>
              <a:rPr sz="1800" spc="-2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rlito"/>
                <a:cs typeface="Carlito"/>
              </a:rPr>
              <a:t>detected.</a:t>
            </a:r>
            <a:endParaRPr sz="1800">
              <a:latin typeface="Carlito"/>
              <a:cs typeface="Carlito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79881" y="211836"/>
            <a:ext cx="6775450" cy="1116330"/>
            <a:chOff x="2879881" y="211836"/>
            <a:chExt cx="6775450" cy="11163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9881" y="517118"/>
              <a:ext cx="849083" cy="3736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93948" y="211836"/>
              <a:ext cx="811529" cy="111633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46348" y="211836"/>
              <a:ext cx="6108954" cy="111633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622" rIns="0" bIns="0" rtlCol="0">
            <a:spAutoFit/>
          </a:bodyPr>
          <a:lstStyle/>
          <a:p>
            <a:pPr marL="2318385">
              <a:lnSpc>
                <a:spcPct val="100000"/>
              </a:lnSpc>
              <a:spcBef>
                <a:spcPts val="95"/>
              </a:spcBef>
            </a:pPr>
            <a:r>
              <a:rPr sz="4000" spc="-330" dirty="0">
                <a:solidFill>
                  <a:srgbClr val="C00000"/>
                </a:solidFill>
                <a:latin typeface="Trebuchet MS"/>
                <a:cs typeface="Trebuchet MS"/>
              </a:rPr>
              <a:t>Two-</a:t>
            </a:r>
            <a:r>
              <a:rPr sz="4000" spc="-215" dirty="0">
                <a:solidFill>
                  <a:srgbClr val="C00000"/>
                </a:solidFill>
                <a:latin typeface="Trebuchet MS"/>
                <a:cs typeface="Trebuchet MS"/>
              </a:rPr>
              <a:t>Dimensional</a:t>
            </a:r>
            <a:r>
              <a:rPr sz="4000" spc="-31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265" dirty="0">
                <a:solidFill>
                  <a:srgbClr val="C00000"/>
                </a:solidFill>
                <a:latin typeface="Trebuchet MS"/>
                <a:cs typeface="Trebuchet MS"/>
              </a:rPr>
              <a:t>Parity</a:t>
            </a:r>
            <a:r>
              <a:rPr sz="4000" spc="-3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35" dirty="0">
                <a:solidFill>
                  <a:srgbClr val="C00000"/>
                </a:solidFill>
                <a:latin typeface="Trebuchet MS"/>
                <a:cs typeface="Trebuchet MS"/>
              </a:rPr>
              <a:t>Method</a:t>
            </a:r>
            <a:endParaRPr sz="40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7304" y="1641264"/>
            <a:ext cx="11137392" cy="47976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7670" rIns="0" bIns="0" rtlCol="0">
            <a:spAutoFit/>
          </a:bodyPr>
          <a:lstStyle/>
          <a:p>
            <a:pPr marL="1908175">
              <a:lnSpc>
                <a:spcPct val="100000"/>
              </a:lnSpc>
              <a:spcBef>
                <a:spcPts val="95"/>
              </a:spcBef>
            </a:pPr>
            <a:r>
              <a:rPr sz="4000" i="1" spc="-90" dirty="0">
                <a:solidFill>
                  <a:srgbClr val="C00000"/>
                </a:solidFill>
                <a:latin typeface="Times New Roman"/>
                <a:cs typeface="Times New Roman"/>
              </a:rPr>
              <a:t>Two-</a:t>
            </a:r>
            <a:r>
              <a:rPr sz="4000" i="1" dirty="0">
                <a:solidFill>
                  <a:srgbClr val="C00000"/>
                </a:solidFill>
                <a:latin typeface="Times New Roman"/>
                <a:cs typeface="Times New Roman"/>
              </a:rPr>
              <a:t>dimensional</a:t>
            </a:r>
            <a:r>
              <a:rPr sz="4000" i="1" spc="-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i="1" spc="-20" dirty="0">
                <a:solidFill>
                  <a:srgbClr val="C00000"/>
                </a:solidFill>
                <a:latin typeface="Times New Roman"/>
                <a:cs typeface="Times New Roman"/>
              </a:rPr>
              <a:t>parity-</a:t>
            </a:r>
            <a:r>
              <a:rPr sz="4000" i="1" dirty="0">
                <a:solidFill>
                  <a:srgbClr val="C00000"/>
                </a:solidFill>
                <a:latin typeface="Times New Roman"/>
                <a:cs typeface="Times New Roman"/>
              </a:rPr>
              <a:t>check</a:t>
            </a:r>
            <a:r>
              <a:rPr sz="4000" i="1" spc="-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i="1" spc="-20" dirty="0">
                <a:solidFill>
                  <a:srgbClr val="C00000"/>
                </a:solidFill>
                <a:latin typeface="Times New Roman"/>
                <a:cs typeface="Times New Roman"/>
              </a:rPr>
              <a:t>code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2035" y="1918716"/>
            <a:ext cx="7092696" cy="34808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7670" rIns="0" bIns="0" rtlCol="0">
            <a:spAutoFit/>
          </a:bodyPr>
          <a:lstStyle/>
          <a:p>
            <a:pPr marL="1682750">
              <a:lnSpc>
                <a:spcPct val="100000"/>
              </a:lnSpc>
              <a:spcBef>
                <a:spcPts val="95"/>
              </a:spcBef>
            </a:pPr>
            <a:r>
              <a:rPr sz="4000" i="1" spc="-95" dirty="0">
                <a:solidFill>
                  <a:srgbClr val="C00000"/>
                </a:solidFill>
                <a:latin typeface="Times New Roman"/>
                <a:cs typeface="Times New Roman"/>
              </a:rPr>
              <a:t>Two-</a:t>
            </a:r>
            <a:r>
              <a:rPr sz="4000" i="1" dirty="0">
                <a:solidFill>
                  <a:srgbClr val="C00000"/>
                </a:solidFill>
                <a:latin typeface="Times New Roman"/>
                <a:cs typeface="Times New Roman"/>
              </a:rPr>
              <a:t>dimensional</a:t>
            </a:r>
            <a:r>
              <a:rPr sz="4000" i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parity-</a:t>
            </a:r>
            <a:r>
              <a:rPr sz="4000" i="1" dirty="0">
                <a:solidFill>
                  <a:srgbClr val="C00000"/>
                </a:solidFill>
                <a:latin typeface="Times New Roman"/>
                <a:cs typeface="Times New Roman"/>
              </a:rPr>
              <a:t>check</a:t>
            </a:r>
            <a:r>
              <a:rPr sz="4000" i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i="1" spc="-10" dirty="0">
                <a:solidFill>
                  <a:srgbClr val="C00000"/>
                </a:solidFill>
                <a:latin typeface="Times New Roman"/>
                <a:cs typeface="Times New Roman"/>
              </a:rPr>
              <a:t>code…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1095" y="1918716"/>
            <a:ext cx="8180832" cy="34808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5601" y="2944444"/>
            <a:ext cx="81172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C00000"/>
                </a:solidFill>
                <a:latin typeface="Times New Roman"/>
                <a:cs typeface="Times New Roman"/>
              </a:rPr>
              <a:t>2.</a:t>
            </a:r>
            <a:r>
              <a:rPr sz="44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400" b="1" spc="-150" dirty="0">
                <a:solidFill>
                  <a:srgbClr val="C00000"/>
                </a:solidFill>
                <a:latin typeface="Times New Roman"/>
                <a:cs typeface="Times New Roman"/>
              </a:rPr>
              <a:t>Cyclic</a:t>
            </a:r>
            <a:r>
              <a:rPr sz="44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400" b="1" spc="-114" dirty="0">
                <a:solidFill>
                  <a:srgbClr val="C00000"/>
                </a:solidFill>
                <a:latin typeface="Times New Roman"/>
                <a:cs typeface="Times New Roman"/>
              </a:rPr>
              <a:t>Redundancy</a:t>
            </a:r>
            <a:r>
              <a:rPr sz="4400" b="1" spc="-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400" b="1" spc="-120" dirty="0">
                <a:solidFill>
                  <a:srgbClr val="C00000"/>
                </a:solidFill>
                <a:latin typeface="Times New Roman"/>
                <a:cs typeface="Times New Roman"/>
              </a:rPr>
              <a:t>Check</a:t>
            </a:r>
            <a:r>
              <a:rPr sz="44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400" b="1" spc="-180" dirty="0">
                <a:solidFill>
                  <a:srgbClr val="C00000"/>
                </a:solidFill>
                <a:latin typeface="Times New Roman"/>
                <a:cs typeface="Times New Roman"/>
              </a:rPr>
              <a:t>(CRC)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8654" y="35179"/>
            <a:ext cx="75082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2.</a:t>
            </a:r>
            <a:r>
              <a:rPr sz="40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140" dirty="0">
                <a:solidFill>
                  <a:srgbClr val="C00000"/>
                </a:solidFill>
                <a:latin typeface="Times New Roman"/>
                <a:cs typeface="Times New Roman"/>
              </a:rPr>
              <a:t>Cyclic</a:t>
            </a:r>
            <a:r>
              <a:rPr sz="40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110" dirty="0">
                <a:solidFill>
                  <a:srgbClr val="C00000"/>
                </a:solidFill>
                <a:latin typeface="Times New Roman"/>
                <a:cs typeface="Times New Roman"/>
              </a:rPr>
              <a:t>Redundancy</a:t>
            </a:r>
            <a:r>
              <a:rPr sz="4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140" dirty="0">
                <a:solidFill>
                  <a:srgbClr val="C00000"/>
                </a:solidFill>
                <a:latin typeface="Times New Roman"/>
                <a:cs typeface="Times New Roman"/>
              </a:rPr>
              <a:t>Check</a:t>
            </a:r>
            <a:r>
              <a:rPr sz="40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170" dirty="0">
                <a:solidFill>
                  <a:srgbClr val="C00000"/>
                </a:solidFill>
                <a:latin typeface="Times New Roman"/>
                <a:cs typeface="Times New Roman"/>
              </a:rPr>
              <a:t>(CRC):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1431" y="830097"/>
            <a:ext cx="8232775" cy="216852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30"/>
              </a:spcBef>
              <a:buFont typeface="Arial"/>
              <a:buChar char="•"/>
              <a:tabLst>
                <a:tab pos="241300" algn="l"/>
              </a:tabLst>
            </a:pPr>
            <a:r>
              <a:rPr sz="2200" spc="-80" dirty="0">
                <a:solidFill>
                  <a:srgbClr val="2F2F2F"/>
                </a:solidFill>
                <a:latin typeface="Times New Roman"/>
                <a:cs typeface="Times New Roman"/>
              </a:rPr>
              <a:t>Cyclic</a:t>
            </a:r>
            <a:r>
              <a:rPr sz="2200" spc="-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Times New Roman"/>
                <a:cs typeface="Times New Roman"/>
              </a:rPr>
              <a:t>Redundancy</a:t>
            </a:r>
            <a:r>
              <a:rPr sz="22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Check</a:t>
            </a:r>
            <a:r>
              <a:rPr sz="2200" spc="-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F2F2F"/>
                </a:solidFill>
                <a:latin typeface="Times New Roman"/>
                <a:cs typeface="Times New Roman"/>
              </a:rPr>
              <a:t>(CRC)</a:t>
            </a:r>
            <a:r>
              <a:rPr sz="2200" spc="-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200" spc="-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an</a:t>
            </a:r>
            <a:r>
              <a:rPr sz="22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error</a:t>
            </a:r>
            <a:r>
              <a:rPr sz="22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detection</a:t>
            </a:r>
            <a:r>
              <a:rPr sz="22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Times New Roman"/>
                <a:cs typeface="Times New Roman"/>
              </a:rPr>
              <a:t>method.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35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It</a:t>
            </a:r>
            <a:r>
              <a:rPr sz="2200" spc="-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200" spc="-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F2F2F"/>
                </a:solidFill>
                <a:latin typeface="Times New Roman"/>
                <a:cs typeface="Times New Roman"/>
              </a:rPr>
              <a:t>based</a:t>
            </a:r>
            <a:r>
              <a:rPr sz="22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50" dirty="0">
                <a:solidFill>
                  <a:srgbClr val="2F2F2F"/>
                </a:solidFill>
                <a:latin typeface="Times New Roman"/>
                <a:cs typeface="Times New Roman"/>
              </a:rPr>
              <a:t>on</a:t>
            </a:r>
            <a:r>
              <a:rPr sz="2200" spc="-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binary</a:t>
            </a:r>
            <a:r>
              <a:rPr sz="22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Times New Roman"/>
                <a:cs typeface="Times New Roman"/>
              </a:rPr>
              <a:t>division.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200" b="1" u="sng" spc="-114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CRC</a:t>
            </a:r>
            <a:r>
              <a:rPr sz="2200" b="1" u="sng" spc="-2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sng" spc="-1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Generator-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35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CRC</a:t>
            </a:r>
            <a:r>
              <a:rPr sz="2200" spc="-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Times New Roman"/>
                <a:cs typeface="Times New Roman"/>
              </a:rPr>
              <a:t>generator</a:t>
            </a:r>
            <a:r>
              <a:rPr sz="22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2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an</a:t>
            </a:r>
            <a:r>
              <a:rPr sz="22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2F2F2F"/>
                </a:solidFill>
                <a:latin typeface="Times New Roman"/>
                <a:cs typeface="Times New Roman"/>
              </a:rPr>
              <a:t>algebraic</a:t>
            </a:r>
            <a:r>
              <a:rPr sz="22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F2F2F"/>
                </a:solidFill>
                <a:latin typeface="Times New Roman"/>
                <a:cs typeface="Times New Roman"/>
              </a:rPr>
              <a:t>polynomial </a:t>
            </a:r>
            <a:r>
              <a:rPr sz="2200" spc="-10" dirty="0">
                <a:solidFill>
                  <a:srgbClr val="2F2F2F"/>
                </a:solidFill>
                <a:latin typeface="Times New Roman"/>
                <a:cs typeface="Times New Roman"/>
              </a:rPr>
              <a:t>represented</a:t>
            </a:r>
            <a:r>
              <a:rPr sz="22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35" dirty="0">
                <a:solidFill>
                  <a:srgbClr val="2F2F2F"/>
                </a:solidFill>
                <a:latin typeface="Times New Roman"/>
                <a:cs typeface="Times New Roman"/>
              </a:rPr>
              <a:t>as</a:t>
            </a:r>
            <a:r>
              <a:rPr sz="22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a</a:t>
            </a:r>
            <a:r>
              <a:rPr sz="22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bit</a:t>
            </a:r>
            <a:r>
              <a:rPr sz="22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Times New Roman"/>
                <a:cs typeface="Times New Roman"/>
              </a:rPr>
              <a:t>pattern.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35"/>
              </a:spcBef>
              <a:buFont typeface="Arial"/>
              <a:buChar char="•"/>
              <a:tabLst>
                <a:tab pos="241300" algn="l"/>
              </a:tabLst>
            </a:pPr>
            <a:r>
              <a:rPr sz="2200" spc="-20" dirty="0">
                <a:solidFill>
                  <a:srgbClr val="2F2F2F"/>
                </a:solidFill>
                <a:latin typeface="Times New Roman"/>
                <a:cs typeface="Times New Roman"/>
              </a:rPr>
              <a:t>Bit</a:t>
            </a:r>
            <a:r>
              <a:rPr sz="22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pattern </a:t>
            </a:r>
            <a:r>
              <a:rPr sz="2200" spc="-3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2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obtained</a:t>
            </a:r>
            <a:r>
              <a:rPr sz="2200" spc="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from</a:t>
            </a:r>
            <a:r>
              <a:rPr sz="22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CRC</a:t>
            </a:r>
            <a:r>
              <a:rPr sz="22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Times New Roman"/>
                <a:cs typeface="Times New Roman"/>
              </a:rPr>
              <a:t>generator</a:t>
            </a:r>
            <a:r>
              <a:rPr sz="22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F2F2F"/>
                </a:solidFill>
                <a:latin typeface="Times New Roman"/>
                <a:cs typeface="Times New Roman"/>
              </a:rPr>
              <a:t>using</a:t>
            </a:r>
            <a:r>
              <a:rPr sz="22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55" dirty="0">
                <a:solidFill>
                  <a:srgbClr val="2F2F2F"/>
                </a:solidFill>
                <a:latin typeface="Times New Roman"/>
                <a:cs typeface="Times New Roman"/>
              </a:rPr>
              <a:t>following</a:t>
            </a:r>
            <a:r>
              <a:rPr sz="2200" spc="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Times New Roman"/>
                <a:cs typeface="Times New Roman"/>
              </a:rPr>
              <a:t>rule-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6031" y="3833012"/>
            <a:ext cx="11468735" cy="118364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30"/>
              </a:spcBef>
            </a:pPr>
            <a:r>
              <a:rPr sz="2200" b="1" u="sng" spc="-1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Example-</a:t>
            </a:r>
            <a:endParaRPr sz="2200">
              <a:latin typeface="Times New Roman"/>
              <a:cs typeface="Times New Roman"/>
            </a:endParaRPr>
          </a:p>
          <a:p>
            <a:pPr marL="266700" marR="30480" indent="-229235">
              <a:lnSpc>
                <a:spcPts val="2380"/>
              </a:lnSpc>
              <a:spcBef>
                <a:spcPts val="1030"/>
              </a:spcBef>
              <a:buFont typeface="Arial"/>
              <a:buChar char="•"/>
              <a:tabLst>
                <a:tab pos="266700" algn="l"/>
              </a:tabLst>
            </a:pP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Consider</a:t>
            </a:r>
            <a:r>
              <a:rPr sz="2200" spc="-1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200" spc="-1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CRC</a:t>
            </a:r>
            <a:r>
              <a:rPr sz="2200" spc="-8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Times New Roman"/>
                <a:cs typeface="Times New Roman"/>
              </a:rPr>
              <a:t>generator</a:t>
            </a:r>
            <a:r>
              <a:rPr sz="22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2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x</a:t>
            </a:r>
            <a:r>
              <a:rPr sz="2175" baseline="24904" dirty="0">
                <a:solidFill>
                  <a:srgbClr val="2F2F2F"/>
                </a:solidFill>
                <a:latin typeface="Times New Roman"/>
                <a:cs typeface="Times New Roman"/>
              </a:rPr>
              <a:t>7</a:t>
            </a:r>
            <a:r>
              <a:rPr sz="2175" spc="232" baseline="2490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55" dirty="0">
                <a:solidFill>
                  <a:srgbClr val="2F2F2F"/>
                </a:solidFill>
                <a:latin typeface="Times New Roman"/>
                <a:cs typeface="Times New Roman"/>
              </a:rPr>
              <a:t>+</a:t>
            </a:r>
            <a:r>
              <a:rPr sz="22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x</a:t>
            </a:r>
            <a:r>
              <a:rPr sz="2175" baseline="24904" dirty="0">
                <a:solidFill>
                  <a:srgbClr val="2F2F2F"/>
                </a:solidFill>
                <a:latin typeface="Times New Roman"/>
                <a:cs typeface="Times New Roman"/>
              </a:rPr>
              <a:t>6</a:t>
            </a:r>
            <a:r>
              <a:rPr sz="2175" spc="232" baseline="2490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55" dirty="0">
                <a:solidFill>
                  <a:srgbClr val="2F2F2F"/>
                </a:solidFill>
                <a:latin typeface="Times New Roman"/>
                <a:cs typeface="Times New Roman"/>
              </a:rPr>
              <a:t>+</a:t>
            </a:r>
            <a:r>
              <a:rPr sz="22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x</a:t>
            </a:r>
            <a:r>
              <a:rPr sz="2175" baseline="24904" dirty="0">
                <a:solidFill>
                  <a:srgbClr val="2F2F2F"/>
                </a:solidFill>
                <a:latin typeface="Times New Roman"/>
                <a:cs typeface="Times New Roman"/>
              </a:rPr>
              <a:t>4</a:t>
            </a:r>
            <a:r>
              <a:rPr sz="2175" spc="232" baseline="2490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55" dirty="0">
                <a:solidFill>
                  <a:srgbClr val="2F2F2F"/>
                </a:solidFill>
                <a:latin typeface="Times New Roman"/>
                <a:cs typeface="Times New Roman"/>
              </a:rPr>
              <a:t>+</a:t>
            </a:r>
            <a:r>
              <a:rPr sz="22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x</a:t>
            </a:r>
            <a:r>
              <a:rPr sz="2175" baseline="24904" dirty="0">
                <a:solidFill>
                  <a:srgbClr val="2F2F2F"/>
                </a:solidFill>
                <a:latin typeface="Times New Roman"/>
                <a:cs typeface="Times New Roman"/>
              </a:rPr>
              <a:t>3</a:t>
            </a:r>
            <a:r>
              <a:rPr sz="2175" spc="232" baseline="2490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55" dirty="0">
                <a:solidFill>
                  <a:srgbClr val="2F2F2F"/>
                </a:solidFill>
                <a:latin typeface="Times New Roman"/>
                <a:cs typeface="Times New Roman"/>
              </a:rPr>
              <a:t>+</a:t>
            </a:r>
            <a:r>
              <a:rPr sz="22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50" dirty="0">
                <a:solidFill>
                  <a:srgbClr val="2F2F2F"/>
                </a:solidFill>
                <a:latin typeface="Times New Roman"/>
                <a:cs typeface="Times New Roman"/>
              </a:rPr>
              <a:t>x</a:t>
            </a:r>
            <a:r>
              <a:rPr sz="22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50" dirty="0">
                <a:solidFill>
                  <a:srgbClr val="2F2F2F"/>
                </a:solidFill>
                <a:latin typeface="Times New Roman"/>
                <a:cs typeface="Times New Roman"/>
              </a:rPr>
              <a:t>+</a:t>
            </a:r>
            <a:r>
              <a:rPr sz="2200" spc="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1.</a:t>
            </a:r>
            <a:r>
              <a:rPr sz="22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Times New Roman"/>
                <a:cs typeface="Times New Roman"/>
              </a:rPr>
              <a:t>corresponding</a:t>
            </a:r>
            <a:r>
              <a:rPr sz="22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binary</a:t>
            </a:r>
            <a:r>
              <a:rPr sz="22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pattern</a:t>
            </a:r>
            <a:r>
              <a:rPr sz="22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2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Times New Roman"/>
                <a:cs typeface="Times New Roman"/>
              </a:rPr>
              <a:t>obtained </a:t>
            </a:r>
            <a:r>
              <a:rPr sz="2200" spc="-25" dirty="0">
                <a:solidFill>
                  <a:srgbClr val="2F2F2F"/>
                </a:solidFill>
                <a:latin typeface="Times New Roman"/>
                <a:cs typeface="Times New Roman"/>
              </a:rPr>
              <a:t>as-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340" y="3275076"/>
            <a:ext cx="11323320" cy="429895"/>
          </a:xfrm>
          <a:prstGeom prst="rect">
            <a:avLst/>
          </a:prstGeom>
          <a:solidFill>
            <a:srgbClr val="BEBEBE"/>
          </a:solidFill>
          <a:ln w="9525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50"/>
              </a:spcBef>
            </a:pPr>
            <a:r>
              <a:rPr sz="2300" b="1" i="1" spc="-2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300" b="1" i="1" spc="-1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spc="-70" dirty="0">
                <a:solidFill>
                  <a:srgbClr val="2F2F2F"/>
                </a:solidFill>
                <a:latin typeface="Times New Roman"/>
                <a:cs typeface="Times New Roman"/>
              </a:rPr>
              <a:t>power</a:t>
            </a:r>
            <a:r>
              <a:rPr sz="2300" b="1" i="1" spc="-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spc="-3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2300" b="1" i="1" spc="-11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spc="-145" dirty="0">
                <a:solidFill>
                  <a:srgbClr val="2F2F2F"/>
                </a:solidFill>
                <a:latin typeface="Times New Roman"/>
                <a:cs typeface="Times New Roman"/>
              </a:rPr>
              <a:t>each</a:t>
            </a:r>
            <a:r>
              <a:rPr sz="2300" b="1" i="1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dirty="0">
                <a:solidFill>
                  <a:srgbClr val="2F2F2F"/>
                </a:solidFill>
                <a:latin typeface="Times New Roman"/>
                <a:cs typeface="Times New Roman"/>
              </a:rPr>
              <a:t>term</a:t>
            </a:r>
            <a:r>
              <a:rPr sz="2300" b="1" i="1" spc="-1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spc="-130" dirty="0">
                <a:solidFill>
                  <a:srgbClr val="2F2F2F"/>
                </a:solidFill>
                <a:latin typeface="Times New Roman"/>
                <a:cs typeface="Times New Roman"/>
              </a:rPr>
              <a:t>gives</a:t>
            </a:r>
            <a:r>
              <a:rPr sz="2300" b="1" i="1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300" b="1" i="1" spc="-1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spc="-30" dirty="0">
                <a:solidFill>
                  <a:srgbClr val="2F2F2F"/>
                </a:solidFill>
                <a:latin typeface="Times New Roman"/>
                <a:cs typeface="Times New Roman"/>
              </a:rPr>
              <a:t>position</a:t>
            </a:r>
            <a:r>
              <a:rPr sz="2300" b="1" i="1" spc="-8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spc="-2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2300" b="1" i="1" spc="-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300" b="1" i="1" spc="-8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dirty="0">
                <a:solidFill>
                  <a:srgbClr val="2F2F2F"/>
                </a:solidFill>
                <a:latin typeface="Times New Roman"/>
                <a:cs typeface="Times New Roman"/>
              </a:rPr>
              <a:t>bit</a:t>
            </a:r>
            <a:r>
              <a:rPr sz="2300" b="1" i="1" spc="-8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spc="-75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2300" b="1" i="1" spc="-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300" b="1" i="1" spc="-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spc="-60" dirty="0">
                <a:solidFill>
                  <a:srgbClr val="2F2F2F"/>
                </a:solidFill>
                <a:latin typeface="Times New Roman"/>
                <a:cs typeface="Times New Roman"/>
              </a:rPr>
              <a:t>coefficient</a:t>
            </a:r>
            <a:r>
              <a:rPr sz="2300" b="1" i="1" spc="-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spc="-130" dirty="0">
                <a:solidFill>
                  <a:srgbClr val="2F2F2F"/>
                </a:solidFill>
                <a:latin typeface="Times New Roman"/>
                <a:cs typeface="Times New Roman"/>
              </a:rPr>
              <a:t>gives</a:t>
            </a:r>
            <a:r>
              <a:rPr sz="2300" b="1" i="1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300" b="1" i="1" spc="-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spc="-105" dirty="0">
                <a:solidFill>
                  <a:srgbClr val="2F2F2F"/>
                </a:solidFill>
                <a:latin typeface="Times New Roman"/>
                <a:cs typeface="Times New Roman"/>
              </a:rPr>
              <a:t>value</a:t>
            </a:r>
            <a:r>
              <a:rPr sz="2300" b="1" i="1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spc="-3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2300" b="1" i="1" spc="-8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300" b="1" i="1" spc="-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300" b="1" i="1" spc="-20" dirty="0">
                <a:solidFill>
                  <a:srgbClr val="2F2F2F"/>
                </a:solidFill>
                <a:latin typeface="Times New Roman"/>
                <a:cs typeface="Times New Roman"/>
              </a:rPr>
              <a:t>bit.</a:t>
            </a:r>
            <a:endParaRPr sz="23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4651" y="5129878"/>
            <a:ext cx="4634330" cy="1555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990343" cy="6004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0073" y="35179"/>
            <a:ext cx="54229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45" dirty="0">
                <a:solidFill>
                  <a:srgbClr val="C00000"/>
                </a:solidFill>
                <a:latin typeface="Times New Roman"/>
                <a:cs typeface="Times New Roman"/>
              </a:rPr>
              <a:t>Steps</a:t>
            </a:r>
            <a:r>
              <a:rPr sz="4000" b="1" spc="-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in</a:t>
            </a:r>
            <a:r>
              <a:rPr sz="40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Computing</a:t>
            </a:r>
            <a:r>
              <a:rPr sz="40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180" dirty="0">
                <a:solidFill>
                  <a:srgbClr val="C00000"/>
                </a:solidFill>
                <a:latin typeface="Times New Roman"/>
                <a:cs typeface="Times New Roman"/>
              </a:rPr>
              <a:t>CRC: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1431" y="835888"/>
            <a:ext cx="8961120" cy="558927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2000" b="1" u="sng" spc="-12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Step-</a:t>
            </a:r>
            <a:r>
              <a:rPr sz="2000" b="1" u="sng" spc="-65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01:</a:t>
            </a:r>
            <a:r>
              <a:rPr sz="2000" b="1" u="sng" spc="-6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5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Calculation</a:t>
            </a:r>
            <a:r>
              <a:rPr sz="2000" b="1" u="sng" spc="-7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2000" b="1" u="sng" spc="-45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2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CRC</a:t>
            </a:r>
            <a:r>
              <a:rPr sz="2000" b="1" u="sng" spc="-5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At</a:t>
            </a:r>
            <a:r>
              <a:rPr sz="2000" b="1" u="sng" spc="-4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65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Sender</a:t>
            </a:r>
            <a:r>
              <a:rPr sz="2000" b="1" u="sng" spc="-45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Side-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At</a:t>
            </a:r>
            <a:r>
              <a:rPr sz="2000" spc="-8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sender</a:t>
            </a:r>
            <a:r>
              <a:rPr sz="2000" spc="-9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side,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string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of </a:t>
            </a:r>
            <a:r>
              <a:rPr sz="2000" spc="100" dirty="0">
                <a:solidFill>
                  <a:srgbClr val="2F2F2F"/>
                </a:solidFill>
                <a:latin typeface="Times New Roman"/>
                <a:cs typeface="Times New Roman"/>
              </a:rPr>
              <a:t>n</a:t>
            </a:r>
            <a:r>
              <a:rPr sz="2000" spc="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0" dirty="0">
                <a:solidFill>
                  <a:srgbClr val="2F2F2F"/>
                </a:solidFill>
                <a:latin typeface="Times New Roman"/>
                <a:cs typeface="Times New Roman"/>
              </a:rPr>
              <a:t>0’s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is</a:t>
            </a:r>
            <a:r>
              <a:rPr sz="20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appended</a:t>
            </a:r>
            <a:r>
              <a:rPr sz="20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000" spc="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 data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unit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to be</a:t>
            </a:r>
            <a:r>
              <a:rPr sz="20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transmitted.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Here,</a:t>
            </a:r>
            <a:r>
              <a:rPr sz="20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100" dirty="0">
                <a:solidFill>
                  <a:srgbClr val="2F2F2F"/>
                </a:solidFill>
                <a:latin typeface="Times New Roman"/>
                <a:cs typeface="Times New Roman"/>
              </a:rPr>
              <a:t>n</a:t>
            </a:r>
            <a:r>
              <a:rPr sz="2000" spc="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000" spc="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one</a:t>
            </a:r>
            <a:r>
              <a:rPr sz="2000" spc="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65" dirty="0">
                <a:solidFill>
                  <a:srgbClr val="2F2F2F"/>
                </a:solidFill>
                <a:latin typeface="Times New Roman"/>
                <a:cs typeface="Times New Roman"/>
              </a:rPr>
              <a:t>less</a:t>
            </a:r>
            <a:r>
              <a:rPr sz="2000" spc="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than</a:t>
            </a:r>
            <a:r>
              <a:rPr sz="2000" spc="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number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2000" spc="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bits</a:t>
            </a:r>
            <a:r>
              <a:rPr sz="2000" spc="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in</a:t>
            </a:r>
            <a:r>
              <a:rPr sz="2000" spc="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CRC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generator.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241300" algn="l"/>
              </a:tabLst>
            </a:pP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Binary</a:t>
            </a: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division</a:t>
            </a:r>
            <a:r>
              <a:rPr sz="20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performed</a:t>
            </a: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resultant</a:t>
            </a:r>
            <a:r>
              <a:rPr sz="20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string</a:t>
            </a: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with</a:t>
            </a: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CRC</a:t>
            </a: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generator.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241300" algn="l"/>
              </a:tabLst>
            </a:pP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After</a:t>
            </a:r>
            <a:r>
              <a:rPr sz="20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division,</a:t>
            </a:r>
            <a:r>
              <a:rPr sz="2000" spc="-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remainder</a:t>
            </a:r>
            <a:r>
              <a:rPr sz="2000" spc="-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so</a:t>
            </a:r>
            <a:r>
              <a:rPr sz="20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obtained</a:t>
            </a:r>
            <a:r>
              <a:rPr sz="2000" spc="-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0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called</a:t>
            </a:r>
            <a:r>
              <a:rPr sz="20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as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2F2F2F"/>
                </a:solidFill>
                <a:latin typeface="Times New Roman"/>
                <a:cs typeface="Times New Roman"/>
              </a:rPr>
              <a:t>CRC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It</a:t>
            </a:r>
            <a:r>
              <a:rPr sz="20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85" dirty="0">
                <a:solidFill>
                  <a:srgbClr val="2F2F2F"/>
                </a:solidFill>
                <a:latin typeface="Times New Roman"/>
                <a:cs typeface="Times New Roman"/>
              </a:rPr>
              <a:t>may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 be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noted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that</a:t>
            </a:r>
            <a:r>
              <a:rPr sz="20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CRC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also</a:t>
            </a:r>
            <a:r>
              <a:rPr sz="20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consists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20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100" dirty="0">
                <a:solidFill>
                  <a:srgbClr val="2F2F2F"/>
                </a:solidFill>
                <a:latin typeface="Times New Roman"/>
                <a:cs typeface="Times New Roman"/>
              </a:rPr>
              <a:t>n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bits.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5"/>
              </a:spcBef>
              <a:buClr>
                <a:srgbClr val="2F2F2F"/>
              </a:buClr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u="sng" spc="-12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Step-</a:t>
            </a:r>
            <a:r>
              <a:rPr sz="2000" b="1" u="sng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02:</a:t>
            </a:r>
            <a:r>
              <a:rPr sz="2000" b="1" u="sng" spc="-9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35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Appending</a:t>
            </a:r>
            <a:r>
              <a:rPr sz="2000" b="1" u="sng" spc="-45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25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CRC</a:t>
            </a:r>
            <a:r>
              <a:rPr sz="2000" b="1" u="sng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85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2000" b="1" u="sng" spc="-4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5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Data</a:t>
            </a:r>
            <a:r>
              <a:rPr sz="2000" b="1" u="sng" spc="-65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Unit-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At</a:t>
            </a:r>
            <a:r>
              <a:rPr sz="2000" spc="-8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sender</a:t>
            </a:r>
            <a:r>
              <a:rPr sz="2000" spc="-9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side,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CRC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obtained</a:t>
            </a:r>
            <a:r>
              <a:rPr sz="20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after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binary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division.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string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2000" spc="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100" dirty="0">
                <a:solidFill>
                  <a:srgbClr val="2F2F2F"/>
                </a:solidFill>
                <a:latin typeface="Times New Roman"/>
                <a:cs typeface="Times New Roman"/>
              </a:rPr>
              <a:t>n</a:t>
            </a:r>
            <a:r>
              <a:rPr sz="2000" spc="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0" dirty="0">
                <a:solidFill>
                  <a:srgbClr val="2F2F2F"/>
                </a:solidFill>
                <a:latin typeface="Times New Roman"/>
                <a:cs typeface="Times New Roman"/>
              </a:rPr>
              <a:t>0’s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appended to</a:t>
            </a:r>
            <a:r>
              <a:rPr sz="2000" spc="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2000" spc="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unit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earlier</a:t>
            </a:r>
            <a:r>
              <a:rPr sz="20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000" spc="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replaced</a:t>
            </a:r>
            <a:r>
              <a:rPr sz="2000" spc="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25" dirty="0">
                <a:solidFill>
                  <a:srgbClr val="2F2F2F"/>
                </a:solidFill>
                <a:latin typeface="Times New Roman"/>
                <a:cs typeface="Times New Roman"/>
              </a:rPr>
              <a:t>by</a:t>
            </a:r>
            <a:r>
              <a:rPr sz="2000" spc="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CRC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remainder.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30"/>
              </a:spcBef>
              <a:buClr>
                <a:srgbClr val="2F2F2F"/>
              </a:buClr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u="sng" spc="-12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Step-</a:t>
            </a:r>
            <a:r>
              <a:rPr sz="2000" b="1" u="sng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03:</a:t>
            </a:r>
            <a:r>
              <a:rPr sz="2000" b="1" u="sng" spc="-8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6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Transmission</a:t>
            </a:r>
            <a:r>
              <a:rPr sz="2000" b="1" u="sng" spc="-65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75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2000" b="1" u="sng" spc="-5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Receiver-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80" dirty="0">
                <a:solidFill>
                  <a:srgbClr val="2F2F2F"/>
                </a:solidFill>
                <a:latin typeface="Times New Roman"/>
                <a:cs typeface="Times New Roman"/>
              </a:rPr>
              <a:t>newly</a:t>
            </a: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formed</a:t>
            </a: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code</a:t>
            </a:r>
            <a:r>
              <a:rPr sz="2000" spc="-35" dirty="0">
                <a:solidFill>
                  <a:srgbClr val="2F2F2F"/>
                </a:solidFill>
                <a:latin typeface="Times New Roman"/>
                <a:cs typeface="Times New Roman"/>
              </a:rPr>
              <a:t> word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(Original</a:t>
            </a:r>
            <a:r>
              <a:rPr sz="20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20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+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CRC)</a:t>
            </a:r>
            <a:r>
              <a:rPr sz="20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transmitted</a:t>
            </a:r>
            <a:r>
              <a:rPr sz="20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receiver.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6375" y="35179"/>
            <a:ext cx="56921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45" dirty="0">
                <a:solidFill>
                  <a:srgbClr val="C00000"/>
                </a:solidFill>
                <a:latin typeface="Times New Roman"/>
                <a:cs typeface="Times New Roman"/>
              </a:rPr>
              <a:t>Steps</a:t>
            </a:r>
            <a:r>
              <a:rPr sz="4000" b="1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in</a:t>
            </a:r>
            <a:r>
              <a:rPr sz="40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Computing</a:t>
            </a:r>
            <a:r>
              <a:rPr sz="40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395" dirty="0">
                <a:solidFill>
                  <a:srgbClr val="C00000"/>
                </a:solidFill>
                <a:latin typeface="Times New Roman"/>
                <a:cs typeface="Times New Roman"/>
              </a:rPr>
              <a:t>CRC…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1431" y="836193"/>
            <a:ext cx="7770495" cy="538670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900" b="1" u="sng" spc="-12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Step-</a:t>
            </a:r>
            <a:r>
              <a:rPr sz="1900" b="1" u="sng" spc="-1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04:</a:t>
            </a:r>
            <a:r>
              <a:rPr sz="1900" b="1" u="sng" spc="-55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900" b="1" u="sng" spc="-6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Checking</a:t>
            </a:r>
            <a:r>
              <a:rPr sz="1900" b="1" u="sng" spc="-2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900" b="1" u="sng" spc="-65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at</a:t>
            </a:r>
            <a:r>
              <a:rPr sz="1900" b="1" u="sng" spc="-55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900" b="1" u="sng" spc="-6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Receiver</a:t>
            </a:r>
            <a:r>
              <a:rPr sz="1900" b="1" u="sng" spc="-4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900" b="1" u="sng" spc="-10" dirty="0">
                <a:solidFill>
                  <a:srgbClr val="2F2F2F"/>
                </a:solidFill>
                <a:uFill>
                  <a:solidFill>
                    <a:srgbClr val="2F2F2F"/>
                  </a:solidFill>
                </a:uFill>
                <a:latin typeface="Times New Roman"/>
                <a:cs typeface="Times New Roman"/>
              </a:rPr>
              <a:t>Side-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At</a:t>
            </a:r>
            <a:r>
              <a:rPr sz="1900" spc="-8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45" dirty="0">
                <a:solidFill>
                  <a:srgbClr val="2F2F2F"/>
                </a:solidFill>
                <a:latin typeface="Times New Roman"/>
                <a:cs typeface="Times New Roman"/>
              </a:rPr>
              <a:t>receiver</a:t>
            </a:r>
            <a:r>
              <a:rPr sz="19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2F2F2F"/>
                </a:solidFill>
                <a:latin typeface="Times New Roman"/>
                <a:cs typeface="Times New Roman"/>
              </a:rPr>
              <a:t>side,</a:t>
            </a:r>
            <a:endParaRPr sz="19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50"/>
              </a:spcBef>
              <a:buFont typeface="Arial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900" spc="-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transmitted</a:t>
            </a:r>
            <a:r>
              <a:rPr sz="1900" spc="-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code</a:t>
            </a:r>
            <a:r>
              <a:rPr sz="19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2F2F2F"/>
                </a:solidFill>
                <a:latin typeface="Times New Roman"/>
                <a:cs typeface="Times New Roman"/>
              </a:rPr>
              <a:t>word</a:t>
            </a:r>
            <a:r>
              <a:rPr sz="1900" spc="-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1900" spc="-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2F2F2F"/>
                </a:solidFill>
                <a:latin typeface="Times New Roman"/>
                <a:cs typeface="Times New Roman"/>
              </a:rPr>
              <a:t>received.</a:t>
            </a:r>
            <a:endParaRPr sz="19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40"/>
              </a:spcBef>
              <a:buFont typeface="Arial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9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45" dirty="0">
                <a:solidFill>
                  <a:srgbClr val="2F2F2F"/>
                </a:solidFill>
                <a:latin typeface="Times New Roman"/>
                <a:cs typeface="Times New Roman"/>
              </a:rPr>
              <a:t>received</a:t>
            </a:r>
            <a:r>
              <a:rPr sz="19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code</a:t>
            </a:r>
            <a:r>
              <a:rPr sz="19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2F2F2F"/>
                </a:solidFill>
                <a:latin typeface="Times New Roman"/>
                <a:cs typeface="Times New Roman"/>
              </a:rPr>
              <a:t>word</a:t>
            </a:r>
            <a:r>
              <a:rPr sz="19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19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2F2F2F"/>
                </a:solidFill>
                <a:latin typeface="Times New Roman"/>
                <a:cs typeface="Times New Roman"/>
              </a:rPr>
              <a:t>divided</a:t>
            </a:r>
            <a:r>
              <a:rPr sz="19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with</a:t>
            </a:r>
            <a:r>
              <a:rPr sz="1900" spc="-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9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40" dirty="0">
                <a:solidFill>
                  <a:srgbClr val="2F2F2F"/>
                </a:solidFill>
                <a:latin typeface="Times New Roman"/>
                <a:cs typeface="Times New Roman"/>
              </a:rPr>
              <a:t>same</a:t>
            </a:r>
            <a:r>
              <a:rPr sz="19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CRC</a:t>
            </a:r>
            <a:r>
              <a:rPr sz="19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2F2F2F"/>
                </a:solidFill>
                <a:latin typeface="Times New Roman"/>
                <a:cs typeface="Times New Roman"/>
              </a:rPr>
              <a:t>generator.</a:t>
            </a:r>
            <a:endParaRPr sz="19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45"/>
              </a:spcBef>
              <a:buFont typeface="Arial"/>
              <a:buChar char="•"/>
              <a:tabLst>
                <a:tab pos="241300" algn="l"/>
              </a:tabLst>
            </a:pPr>
            <a:r>
              <a:rPr sz="1900" spc="90" dirty="0">
                <a:solidFill>
                  <a:srgbClr val="2F2F2F"/>
                </a:solidFill>
                <a:latin typeface="Times New Roman"/>
                <a:cs typeface="Times New Roman"/>
              </a:rPr>
              <a:t>On</a:t>
            </a:r>
            <a:r>
              <a:rPr sz="19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2F2F2F"/>
                </a:solidFill>
                <a:latin typeface="Times New Roman"/>
                <a:cs typeface="Times New Roman"/>
              </a:rPr>
              <a:t>division,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9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remainder</a:t>
            </a:r>
            <a:r>
              <a:rPr sz="19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so</a:t>
            </a:r>
            <a:r>
              <a:rPr sz="19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obtained</a:t>
            </a:r>
            <a:r>
              <a:rPr sz="19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2F2F2F"/>
                </a:solidFill>
                <a:latin typeface="Times New Roman"/>
                <a:cs typeface="Times New Roman"/>
              </a:rPr>
              <a:t>is </a:t>
            </a:r>
            <a:r>
              <a:rPr sz="1900" spc="-10" dirty="0">
                <a:solidFill>
                  <a:srgbClr val="2F2F2F"/>
                </a:solidFill>
                <a:latin typeface="Times New Roman"/>
                <a:cs typeface="Times New Roman"/>
              </a:rPr>
              <a:t>checked.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2F2F2F"/>
              </a:buClr>
              <a:buFont typeface="Arial"/>
              <a:buChar char="•"/>
            </a:pPr>
            <a:endParaRPr sz="1900">
              <a:latin typeface="Times New Roman"/>
              <a:cs typeface="Times New Roman"/>
            </a:endParaRPr>
          </a:p>
          <a:p>
            <a:pPr marL="12700" marR="4215130">
              <a:lnSpc>
                <a:spcPct val="123700"/>
              </a:lnSpc>
            </a:pPr>
            <a:r>
              <a:rPr sz="1900" b="1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900" b="1" spc="-10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b="1" spc="-40" dirty="0">
                <a:solidFill>
                  <a:srgbClr val="2F2F2F"/>
                </a:solidFill>
                <a:latin typeface="Times New Roman"/>
                <a:cs typeface="Times New Roman"/>
              </a:rPr>
              <a:t>following</a:t>
            </a:r>
            <a:r>
              <a:rPr sz="1900" b="1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b="1" spc="-45" dirty="0">
                <a:solidFill>
                  <a:srgbClr val="2F2F2F"/>
                </a:solidFill>
                <a:latin typeface="Times New Roman"/>
                <a:cs typeface="Times New Roman"/>
              </a:rPr>
              <a:t>two</a:t>
            </a:r>
            <a:r>
              <a:rPr sz="1900" b="1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b="1" spc="-90" dirty="0">
                <a:solidFill>
                  <a:srgbClr val="2F2F2F"/>
                </a:solidFill>
                <a:latin typeface="Times New Roman"/>
                <a:cs typeface="Times New Roman"/>
              </a:rPr>
              <a:t>cases</a:t>
            </a:r>
            <a:r>
              <a:rPr sz="1900" b="1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b="1" spc="-100" dirty="0">
                <a:solidFill>
                  <a:srgbClr val="2F2F2F"/>
                </a:solidFill>
                <a:latin typeface="Times New Roman"/>
                <a:cs typeface="Times New Roman"/>
              </a:rPr>
              <a:t>are</a:t>
            </a:r>
            <a:r>
              <a:rPr sz="1900" b="1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b="1" spc="-65" dirty="0">
                <a:solidFill>
                  <a:srgbClr val="2F2F2F"/>
                </a:solidFill>
                <a:latin typeface="Times New Roman"/>
                <a:cs typeface="Times New Roman"/>
              </a:rPr>
              <a:t>possible- </a:t>
            </a:r>
            <a:r>
              <a:rPr sz="1900" b="1" spc="-145" dirty="0">
                <a:solidFill>
                  <a:srgbClr val="2F2F2F"/>
                </a:solidFill>
                <a:latin typeface="Times New Roman"/>
                <a:cs typeface="Times New Roman"/>
              </a:rPr>
              <a:t>Case-</a:t>
            </a:r>
            <a:r>
              <a:rPr sz="1900" b="1" spc="-70" dirty="0">
                <a:solidFill>
                  <a:srgbClr val="2F2F2F"/>
                </a:solidFill>
                <a:latin typeface="Times New Roman"/>
                <a:cs typeface="Times New Roman"/>
              </a:rPr>
              <a:t>01:</a:t>
            </a:r>
            <a:r>
              <a:rPr sz="1900" b="1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b="1" spc="-55" dirty="0">
                <a:solidFill>
                  <a:srgbClr val="2F2F2F"/>
                </a:solidFill>
                <a:latin typeface="Times New Roman"/>
                <a:cs typeface="Times New Roman"/>
              </a:rPr>
              <a:t>Remainder</a:t>
            </a:r>
            <a:r>
              <a:rPr sz="1900" b="1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b="1" spc="-15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900" b="1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b="1" spc="-50" dirty="0">
                <a:solidFill>
                  <a:srgbClr val="2F2F2F"/>
                </a:solidFill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50"/>
              </a:spcBef>
              <a:buFont typeface="Arial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If</a:t>
            </a:r>
            <a:r>
              <a:rPr sz="19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9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remainder</a:t>
            </a:r>
            <a:r>
              <a:rPr sz="19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19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2F2F2F"/>
                </a:solidFill>
                <a:latin typeface="Times New Roman"/>
                <a:cs typeface="Times New Roman"/>
              </a:rPr>
              <a:t>zero,</a:t>
            </a:r>
            <a:endParaRPr sz="19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45"/>
              </a:spcBef>
              <a:buFont typeface="Arial"/>
              <a:buChar char="•"/>
              <a:tabLst>
                <a:tab pos="241300" algn="l"/>
              </a:tabLst>
            </a:pPr>
            <a:r>
              <a:rPr sz="1900" spc="-50" dirty="0">
                <a:solidFill>
                  <a:srgbClr val="2F2F2F"/>
                </a:solidFill>
                <a:latin typeface="Times New Roman"/>
                <a:cs typeface="Times New Roman"/>
              </a:rPr>
              <a:t>Receiver</a:t>
            </a:r>
            <a:r>
              <a:rPr sz="1900" spc="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40" dirty="0">
                <a:solidFill>
                  <a:srgbClr val="2F2F2F"/>
                </a:solidFill>
                <a:latin typeface="Times New Roman"/>
                <a:cs typeface="Times New Roman"/>
              </a:rPr>
              <a:t>assumes</a:t>
            </a:r>
            <a:r>
              <a:rPr sz="1900" spc="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that</a:t>
            </a:r>
            <a:r>
              <a:rPr sz="1900" spc="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no</a:t>
            </a:r>
            <a:r>
              <a:rPr sz="1900" spc="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error</a:t>
            </a:r>
            <a:r>
              <a:rPr sz="1900" spc="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2F2F2F"/>
                </a:solidFill>
                <a:latin typeface="Times New Roman"/>
                <a:cs typeface="Times New Roman"/>
              </a:rPr>
              <a:t>occurred</a:t>
            </a:r>
            <a:r>
              <a:rPr sz="1900" spc="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in</a:t>
            </a:r>
            <a:r>
              <a:rPr sz="1900" spc="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900" spc="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data during</a:t>
            </a:r>
            <a:r>
              <a:rPr sz="1900" spc="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9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2F2F2F"/>
                </a:solidFill>
                <a:latin typeface="Times New Roman"/>
                <a:cs typeface="Times New Roman"/>
              </a:rPr>
              <a:t>transmission.</a:t>
            </a:r>
            <a:endParaRPr sz="19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40"/>
              </a:spcBef>
              <a:buFont typeface="Arial"/>
              <a:buChar char="•"/>
              <a:tabLst>
                <a:tab pos="241300" algn="l"/>
              </a:tabLst>
            </a:pPr>
            <a:r>
              <a:rPr sz="1900" spc="-50" dirty="0">
                <a:solidFill>
                  <a:srgbClr val="2F2F2F"/>
                </a:solidFill>
                <a:latin typeface="Times New Roman"/>
                <a:cs typeface="Times New Roman"/>
              </a:rPr>
              <a:t>Receiver</a:t>
            </a:r>
            <a:r>
              <a:rPr sz="19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35" dirty="0">
                <a:solidFill>
                  <a:srgbClr val="2F2F2F"/>
                </a:solidFill>
                <a:latin typeface="Times New Roman"/>
                <a:cs typeface="Times New Roman"/>
              </a:rPr>
              <a:t>accepts</a:t>
            </a:r>
            <a:r>
              <a:rPr sz="19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9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2F2F2F"/>
                </a:solidFill>
                <a:latin typeface="Times New Roman"/>
                <a:cs typeface="Times New Roman"/>
              </a:rPr>
              <a:t>data.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5"/>
              </a:spcBef>
              <a:buClr>
                <a:srgbClr val="2F2F2F"/>
              </a:buClr>
              <a:buFont typeface="Arial"/>
              <a:buChar char="•"/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b="1" spc="-145" dirty="0">
                <a:solidFill>
                  <a:srgbClr val="2F2F2F"/>
                </a:solidFill>
                <a:latin typeface="Times New Roman"/>
                <a:cs typeface="Times New Roman"/>
              </a:rPr>
              <a:t>Case-</a:t>
            </a:r>
            <a:r>
              <a:rPr sz="1900" b="1" spc="-20" dirty="0">
                <a:solidFill>
                  <a:srgbClr val="2F2F2F"/>
                </a:solidFill>
                <a:latin typeface="Times New Roman"/>
                <a:cs typeface="Times New Roman"/>
              </a:rPr>
              <a:t>02:</a:t>
            </a:r>
            <a:r>
              <a:rPr sz="1900" b="1" spc="-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b="1" spc="-50" dirty="0">
                <a:solidFill>
                  <a:srgbClr val="2F2F2F"/>
                </a:solidFill>
                <a:latin typeface="Times New Roman"/>
                <a:cs typeface="Times New Roman"/>
              </a:rPr>
              <a:t>Remainder</a:t>
            </a:r>
            <a:r>
              <a:rPr sz="1900" b="1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2F2F2F"/>
                </a:solidFill>
                <a:latin typeface="Times New Roman"/>
                <a:cs typeface="Times New Roman"/>
              </a:rPr>
              <a:t>≠</a:t>
            </a:r>
            <a:r>
              <a:rPr sz="1900" b="1" spc="-8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b="1" spc="-50" dirty="0">
                <a:solidFill>
                  <a:srgbClr val="2F2F2F"/>
                </a:solidFill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If</a:t>
            </a:r>
            <a:r>
              <a:rPr sz="19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9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remainder</a:t>
            </a:r>
            <a:r>
              <a:rPr sz="19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19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35" dirty="0">
                <a:solidFill>
                  <a:srgbClr val="2F2F2F"/>
                </a:solidFill>
                <a:latin typeface="Times New Roman"/>
                <a:cs typeface="Times New Roman"/>
              </a:rPr>
              <a:t>non-</a:t>
            </a:r>
            <a:r>
              <a:rPr sz="1900" spc="-20" dirty="0">
                <a:solidFill>
                  <a:srgbClr val="2F2F2F"/>
                </a:solidFill>
                <a:latin typeface="Times New Roman"/>
                <a:cs typeface="Times New Roman"/>
              </a:rPr>
              <a:t>zero,</a:t>
            </a:r>
            <a:endParaRPr sz="19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1900" spc="-50" dirty="0">
                <a:solidFill>
                  <a:srgbClr val="2F2F2F"/>
                </a:solidFill>
                <a:latin typeface="Times New Roman"/>
                <a:cs typeface="Times New Roman"/>
              </a:rPr>
              <a:t>Receiver</a:t>
            </a:r>
            <a:r>
              <a:rPr sz="1900" spc="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40" dirty="0">
                <a:solidFill>
                  <a:srgbClr val="2F2F2F"/>
                </a:solidFill>
                <a:latin typeface="Times New Roman"/>
                <a:cs typeface="Times New Roman"/>
              </a:rPr>
              <a:t>assumes</a:t>
            </a:r>
            <a:r>
              <a:rPr sz="19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that</a:t>
            </a:r>
            <a:r>
              <a:rPr sz="1900" spc="-10" dirty="0">
                <a:solidFill>
                  <a:srgbClr val="2F2F2F"/>
                </a:solidFill>
                <a:latin typeface="Times New Roman"/>
                <a:cs typeface="Times New Roman"/>
              </a:rPr>
              <a:t> some</a:t>
            </a:r>
            <a:r>
              <a:rPr sz="1900" spc="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error</a:t>
            </a:r>
            <a:r>
              <a:rPr sz="1900" spc="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2F2F2F"/>
                </a:solidFill>
                <a:latin typeface="Times New Roman"/>
                <a:cs typeface="Times New Roman"/>
              </a:rPr>
              <a:t>occurred</a:t>
            </a:r>
            <a:r>
              <a:rPr sz="1900" spc="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in</a:t>
            </a:r>
            <a:r>
              <a:rPr sz="19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9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19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during</a:t>
            </a:r>
            <a:r>
              <a:rPr sz="1900" spc="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900" spc="-10" dirty="0">
                <a:solidFill>
                  <a:srgbClr val="2F2F2F"/>
                </a:solidFill>
                <a:latin typeface="Times New Roman"/>
                <a:cs typeface="Times New Roman"/>
              </a:rPr>
              <a:t> transmission.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1431" y="6295135"/>
            <a:ext cx="628967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1900" spc="-50" dirty="0">
                <a:solidFill>
                  <a:srgbClr val="2F2F2F"/>
                </a:solidFill>
                <a:latin typeface="Times New Roman"/>
                <a:cs typeface="Times New Roman"/>
              </a:rPr>
              <a:t>Receiver</a:t>
            </a:r>
            <a:r>
              <a:rPr sz="19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30" dirty="0">
                <a:solidFill>
                  <a:srgbClr val="2F2F2F"/>
                </a:solidFill>
                <a:latin typeface="Times New Roman"/>
                <a:cs typeface="Times New Roman"/>
              </a:rPr>
              <a:t>rejects</a:t>
            </a:r>
            <a:r>
              <a:rPr sz="1900" spc="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9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19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19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65" dirty="0">
                <a:solidFill>
                  <a:srgbClr val="2F2F2F"/>
                </a:solidFill>
                <a:latin typeface="Times New Roman"/>
                <a:cs typeface="Times New Roman"/>
              </a:rPr>
              <a:t>asks</a:t>
            </a:r>
            <a:r>
              <a:rPr sz="19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9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sender</a:t>
            </a:r>
            <a:r>
              <a:rPr sz="19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for</a:t>
            </a:r>
            <a:r>
              <a:rPr sz="19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2F2F2F"/>
                </a:solidFill>
                <a:latin typeface="Times New Roman"/>
                <a:cs typeface="Times New Roman"/>
              </a:rPr>
              <a:t>retransmission.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95990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888888"/>
                </a:solidFill>
                <a:latin typeface="Carlito"/>
                <a:cs typeface="Carlito"/>
              </a:rPr>
              <a:t>24</a:t>
            </a:r>
            <a:endParaRPr sz="1200">
              <a:latin typeface="Carlito"/>
              <a:cs typeface="Carlito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410" y="649966"/>
            <a:ext cx="10693892" cy="950234"/>
          </a:xfrm>
        </p:spPr>
        <p:txBody>
          <a:bodyPr>
            <a:normAutofit/>
          </a:bodyPr>
          <a:lstStyle/>
          <a:p>
            <a:pPr algn="ctr"/>
            <a:r>
              <a:rPr lang="en-IN" sz="3600" b="1" spc="-200" dirty="0">
                <a:solidFill>
                  <a:srgbClr val="C00000"/>
                </a:solidFill>
                <a:latin typeface="Times New Roman"/>
                <a:cs typeface="Times New Roman"/>
              </a:rPr>
              <a:t>CRC</a:t>
            </a:r>
            <a:r>
              <a:rPr lang="en-IN" sz="3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3600" b="1" spc="-155" dirty="0">
                <a:solidFill>
                  <a:srgbClr val="C00000"/>
                </a:solidFill>
                <a:latin typeface="Times New Roman"/>
                <a:cs typeface="Times New Roman"/>
              </a:rPr>
              <a:t>Example</a:t>
            </a:r>
            <a:endParaRPr lang="en-US" sz="3600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151" y="2057400"/>
            <a:ext cx="11676184" cy="5321067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n-US" b="0" i="0" dirty="0">
                <a:solidFill>
                  <a:srgbClr val="303030"/>
                </a:solidFill>
                <a:effectLst/>
                <a:latin typeface="Goudy Old Style" panose="02020502050305020303" pitchFamily="18" charset="0"/>
              </a:rPr>
              <a:t>A bit stream 11101101 is to be transmitted using the standard CRC method. The generator polynomial given is x</a:t>
            </a:r>
            <a:r>
              <a:rPr lang="en-US" b="0" i="0" baseline="30000" dirty="0">
                <a:solidFill>
                  <a:srgbClr val="303030"/>
                </a:solidFill>
                <a:effectLst/>
                <a:latin typeface="Goudy Old Style" panose="02020502050305020303" pitchFamily="18" charset="0"/>
              </a:rPr>
              <a:t>3</a:t>
            </a:r>
            <a:r>
              <a:rPr lang="en-US" b="0" i="0" dirty="0">
                <a:solidFill>
                  <a:srgbClr val="303030"/>
                </a:solidFill>
                <a:effectLst/>
                <a:latin typeface="Goudy Old Style" panose="02020502050305020303" pitchFamily="18" charset="0"/>
              </a:rPr>
              <a:t>+1.</a:t>
            </a:r>
          </a:p>
          <a:p>
            <a:pPr marL="0" indent="0" algn="just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Goudy Old Style" panose="02020502050305020303" pitchFamily="18" charset="0"/>
            </a:endParaRPr>
          </a:p>
          <a:p>
            <a:pPr algn="just" fontAlgn="base">
              <a:buFont typeface="+mj-lt"/>
              <a:buAutoNum type="arabicPeriod"/>
            </a:pPr>
            <a:r>
              <a:rPr lang="en-US" b="0" i="0" dirty="0">
                <a:solidFill>
                  <a:srgbClr val="303030"/>
                </a:solidFill>
                <a:effectLst/>
                <a:latin typeface="Goudy Old Style" panose="02020502050305020303" pitchFamily="18" charset="0"/>
              </a:rPr>
              <a:t> What is the actual bit string transmitted?</a:t>
            </a:r>
          </a:p>
          <a:p>
            <a:pPr algn="just" fontAlgn="base">
              <a:buFont typeface="+mj-lt"/>
              <a:buAutoNum type="arabicPeriod"/>
            </a:pPr>
            <a:endParaRPr lang="en-US" dirty="0">
              <a:solidFill>
                <a:srgbClr val="303030"/>
              </a:solidFill>
              <a:latin typeface="Goudy Old Style" panose="02020502050305020303" pitchFamily="18" charset="0"/>
            </a:endParaRPr>
          </a:p>
          <a:p>
            <a:pPr algn="just" fontAlgn="base">
              <a:buFont typeface="+mj-lt"/>
              <a:buAutoNum type="arabicPeriod"/>
            </a:pPr>
            <a:r>
              <a:rPr lang="en-US" b="0" i="0" dirty="0">
                <a:solidFill>
                  <a:srgbClr val="303030"/>
                </a:solidFill>
                <a:effectLst/>
                <a:latin typeface="Goudy Old Style" panose="02020502050305020303" pitchFamily="18" charset="0"/>
              </a:rPr>
              <a:t> Suppose the third bit from the left is inverted during transmission. How will receiver detect this error?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187FF5-4BF9-4B21-B0D2-9B7FF2B27D7F}" type="slidenum">
              <a:rPr lang="en-AU" smtClean="0"/>
              <a:pPr/>
              <a:t>25</a:t>
            </a:fld>
            <a:endParaRPr lang="en-AU"/>
          </a:p>
        </p:txBody>
      </p:sp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061ED07F-1876-FDA7-2068-4C54FA50B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0668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368" y="1086992"/>
            <a:ext cx="51187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00" dirty="0">
                <a:solidFill>
                  <a:srgbClr val="C00000"/>
                </a:solidFill>
                <a:latin typeface="Times New Roman"/>
                <a:cs typeface="Times New Roman"/>
              </a:rPr>
              <a:t>CRC</a:t>
            </a:r>
            <a:r>
              <a:rPr sz="40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155" dirty="0">
                <a:solidFill>
                  <a:srgbClr val="C00000"/>
                </a:solidFill>
                <a:latin typeface="Times New Roman"/>
                <a:cs typeface="Times New Roman"/>
              </a:rPr>
              <a:t>Example</a:t>
            </a:r>
            <a:r>
              <a:rPr sz="40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285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Solution</a:t>
            </a:r>
            <a:endParaRPr sz="4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0532" y="0"/>
            <a:ext cx="4913375" cy="685799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368" y="1086992"/>
            <a:ext cx="51187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00" dirty="0">
                <a:solidFill>
                  <a:srgbClr val="C00000"/>
                </a:solidFill>
                <a:latin typeface="Times New Roman"/>
                <a:cs typeface="Times New Roman"/>
              </a:rPr>
              <a:t>CRC</a:t>
            </a:r>
            <a:r>
              <a:rPr sz="40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155" dirty="0">
                <a:solidFill>
                  <a:srgbClr val="C00000"/>
                </a:solidFill>
                <a:latin typeface="Times New Roman"/>
                <a:cs typeface="Times New Roman"/>
              </a:rPr>
              <a:t>Example</a:t>
            </a:r>
            <a:r>
              <a:rPr sz="40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285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Solution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34455" y="0"/>
            <a:ext cx="4533900" cy="685799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1365" y="2798140"/>
            <a:ext cx="40506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solidFill>
                  <a:srgbClr val="C00000"/>
                </a:solidFill>
                <a:latin typeface="Times New Roman"/>
                <a:cs typeface="Times New Roman"/>
              </a:rPr>
              <a:t>3.</a:t>
            </a:r>
            <a:r>
              <a:rPr sz="6000" b="1" spc="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6000" b="1" spc="-175" dirty="0">
                <a:solidFill>
                  <a:srgbClr val="C00000"/>
                </a:solidFill>
                <a:latin typeface="Times New Roman"/>
                <a:cs typeface="Times New Roman"/>
              </a:rPr>
              <a:t>Checksum</a:t>
            </a:r>
            <a:endParaRPr sz="6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9234" y="329260"/>
            <a:ext cx="3113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3.</a:t>
            </a:r>
            <a:r>
              <a:rPr sz="4000" b="1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195" dirty="0">
                <a:solidFill>
                  <a:srgbClr val="C00000"/>
                </a:solidFill>
                <a:latin typeface="Times New Roman"/>
                <a:cs typeface="Times New Roman"/>
              </a:rPr>
              <a:t>Checksum…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935" marR="6350" indent="-227965">
              <a:lnSpc>
                <a:spcPct val="70000"/>
              </a:lnSpc>
              <a:spcBef>
                <a:spcPts val="960"/>
              </a:spcBef>
              <a:buFont typeface="Arial"/>
              <a:buChar char="•"/>
              <a:tabLst>
                <a:tab pos="243840" algn="l"/>
                <a:tab pos="1689735" algn="l"/>
                <a:tab pos="2020570" algn="l"/>
                <a:tab pos="2550795" algn="l"/>
                <a:tab pos="3295015" algn="l"/>
                <a:tab pos="4561840" algn="l"/>
                <a:tab pos="5642610" algn="l"/>
                <a:tab pos="6340475" algn="l"/>
                <a:tab pos="6756400" algn="l"/>
                <a:tab pos="7607300" algn="l"/>
                <a:tab pos="8305165" algn="l"/>
                <a:tab pos="9562465" algn="l"/>
                <a:tab pos="10164445" algn="l"/>
              </a:tabLst>
            </a:pPr>
            <a:r>
              <a:rPr b="1" spc="-10" dirty="0">
                <a:latin typeface="Times New Roman"/>
                <a:cs typeface="Times New Roman"/>
              </a:rPr>
              <a:t>Checksum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20" dirty="0"/>
              <a:t>error</a:t>
            </a:r>
            <a:r>
              <a:rPr dirty="0"/>
              <a:t>	</a:t>
            </a:r>
            <a:r>
              <a:rPr spc="-10" dirty="0"/>
              <a:t>detection</a:t>
            </a:r>
            <a:r>
              <a:rPr dirty="0"/>
              <a:t>	</a:t>
            </a:r>
            <a:r>
              <a:rPr spc="-10" dirty="0"/>
              <a:t>method</a:t>
            </a:r>
            <a:r>
              <a:rPr dirty="0"/>
              <a:t>	</a:t>
            </a:r>
            <a:r>
              <a:rPr spc="-20" dirty="0"/>
              <a:t>used</a:t>
            </a:r>
            <a:r>
              <a:rPr dirty="0"/>
              <a:t>	</a:t>
            </a:r>
            <a:r>
              <a:rPr spc="-25" dirty="0"/>
              <a:t>by</a:t>
            </a:r>
            <a:r>
              <a:rPr dirty="0"/>
              <a:t>	</a:t>
            </a:r>
            <a:r>
              <a:rPr spc="-10" dirty="0"/>
              <a:t>upper</a:t>
            </a:r>
            <a:r>
              <a:rPr dirty="0"/>
              <a:t>	</a:t>
            </a:r>
            <a:r>
              <a:rPr spc="-10" dirty="0"/>
              <a:t>layer</a:t>
            </a:r>
            <a:r>
              <a:rPr dirty="0"/>
              <a:t>	</a:t>
            </a:r>
            <a:r>
              <a:rPr spc="-10" dirty="0"/>
              <a:t>protocols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100" dirty="0"/>
              <a:t>is 	</a:t>
            </a:r>
            <a:r>
              <a:rPr spc="-10" dirty="0"/>
              <a:t>considered</a:t>
            </a:r>
            <a:r>
              <a:rPr spc="-2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b="1" spc="-50" dirty="0">
                <a:latin typeface="Times New Roman"/>
                <a:cs typeface="Times New Roman"/>
              </a:rPr>
              <a:t>more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spc="-65" dirty="0">
                <a:latin typeface="Times New Roman"/>
                <a:cs typeface="Times New Roman"/>
              </a:rPr>
              <a:t>reliable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spc="50" dirty="0"/>
              <a:t>than</a:t>
            </a:r>
            <a:r>
              <a:rPr spc="-35" dirty="0"/>
              <a:t> </a:t>
            </a:r>
            <a:r>
              <a:rPr spc="-65" dirty="0"/>
              <a:t>Parity</a:t>
            </a:r>
            <a:r>
              <a:rPr spc="-2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20" dirty="0"/>
              <a:t>CRC.</a:t>
            </a:r>
          </a:p>
          <a:p>
            <a:pPr marL="1905">
              <a:lnSpc>
                <a:spcPct val="100000"/>
              </a:lnSpc>
              <a:spcBef>
                <a:spcPts val="400"/>
              </a:spcBef>
              <a:buClr>
                <a:srgbClr val="2F2F2F"/>
              </a:buClr>
              <a:buFont typeface="Arial"/>
              <a:buChar char="•"/>
            </a:pPr>
            <a:endParaRPr spc="-20" dirty="0"/>
          </a:p>
          <a:p>
            <a:pPr marL="241935" indent="-227329">
              <a:lnSpc>
                <a:spcPts val="2450"/>
              </a:lnSpc>
              <a:buFont typeface="Arial"/>
              <a:buChar char="•"/>
              <a:tabLst>
                <a:tab pos="242570" algn="l"/>
                <a:tab pos="819785" algn="l"/>
                <a:tab pos="1597025" algn="l"/>
                <a:tab pos="2894330" algn="l"/>
                <a:tab pos="3333115" algn="l"/>
                <a:tab pos="4878705" algn="l"/>
                <a:tab pos="5551170" algn="l"/>
                <a:tab pos="5886450" algn="l"/>
                <a:tab pos="6950075" algn="l"/>
                <a:tab pos="7607300" algn="l"/>
                <a:tab pos="8362950" algn="l"/>
                <a:tab pos="9102090" algn="l"/>
                <a:tab pos="10076180" algn="l"/>
              </a:tabLst>
            </a:pPr>
            <a:r>
              <a:rPr b="1" spc="-25" dirty="0">
                <a:latin typeface="Times New Roman"/>
                <a:cs typeface="Times New Roman"/>
              </a:rPr>
              <a:t>For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20" dirty="0">
                <a:latin typeface="Times New Roman"/>
                <a:cs typeface="Times New Roman"/>
              </a:rPr>
              <a:t>error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10" dirty="0">
                <a:latin typeface="Times New Roman"/>
                <a:cs typeface="Times New Roman"/>
              </a:rPr>
              <a:t>detection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25" dirty="0">
                <a:latin typeface="Times New Roman"/>
                <a:cs typeface="Times New Roman"/>
              </a:rPr>
              <a:t>by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10" dirty="0">
                <a:latin typeface="Times New Roman"/>
                <a:cs typeface="Times New Roman"/>
              </a:rPr>
              <a:t>checksums,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20" dirty="0">
                <a:latin typeface="Times New Roman"/>
                <a:cs typeface="Times New Roman"/>
              </a:rPr>
              <a:t>data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25" dirty="0">
                <a:latin typeface="Times New Roman"/>
                <a:cs typeface="Times New Roman"/>
              </a:rPr>
              <a:t>is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10" dirty="0">
                <a:latin typeface="Times New Roman"/>
                <a:cs typeface="Times New Roman"/>
              </a:rPr>
              <a:t>divided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20" dirty="0">
                <a:latin typeface="Times New Roman"/>
                <a:cs typeface="Times New Roman"/>
              </a:rPr>
              <a:t>into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10" dirty="0">
                <a:latin typeface="Times New Roman"/>
                <a:cs typeface="Times New Roman"/>
              </a:rPr>
              <a:t>fixed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10" dirty="0">
                <a:latin typeface="Times New Roman"/>
                <a:cs typeface="Times New Roman"/>
              </a:rPr>
              <a:t>sized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10" dirty="0">
                <a:latin typeface="Times New Roman"/>
                <a:cs typeface="Times New Roman"/>
              </a:rPr>
              <a:t>frames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35" dirty="0">
                <a:latin typeface="Times New Roman"/>
                <a:cs typeface="Times New Roman"/>
              </a:rPr>
              <a:t>or</a:t>
            </a:r>
          </a:p>
          <a:p>
            <a:pPr marL="243204">
              <a:lnSpc>
                <a:spcPts val="2450"/>
              </a:lnSpc>
            </a:pPr>
            <a:r>
              <a:rPr b="1" spc="-10" dirty="0">
                <a:latin typeface="Times New Roman"/>
                <a:cs typeface="Times New Roman"/>
              </a:rPr>
              <a:t>segments.</a:t>
            </a:r>
          </a:p>
          <a:p>
            <a:pPr marL="1905">
              <a:lnSpc>
                <a:spcPct val="100000"/>
              </a:lnSpc>
              <a:spcBef>
                <a:spcPts val="380"/>
              </a:spcBef>
            </a:pPr>
            <a:endParaRPr b="1" spc="-10" dirty="0">
              <a:latin typeface="Times New Roman"/>
              <a:cs typeface="Times New Roman"/>
            </a:endParaRPr>
          </a:p>
          <a:p>
            <a:pPr marL="256540" indent="-244475">
              <a:lnSpc>
                <a:spcPts val="2450"/>
              </a:lnSpc>
              <a:spcBef>
                <a:spcPts val="5"/>
              </a:spcBef>
              <a:buSzPct val="95833"/>
              <a:buFont typeface="Wingdings"/>
              <a:buChar char=""/>
              <a:tabLst>
                <a:tab pos="257175" algn="l"/>
              </a:tabLst>
            </a:pPr>
            <a:r>
              <a:rPr b="1" spc="-80" dirty="0">
                <a:latin typeface="Times New Roman"/>
                <a:cs typeface="Times New Roman"/>
              </a:rPr>
              <a:t>Sender’s</a:t>
            </a:r>
            <a:r>
              <a:rPr b="1" spc="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End</a:t>
            </a:r>
            <a:r>
              <a:rPr b="1" spc="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−</a:t>
            </a:r>
            <a:r>
              <a:rPr b="1" spc="25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sender</a:t>
            </a:r>
            <a:r>
              <a:rPr spc="25" dirty="0"/>
              <a:t> </a:t>
            </a:r>
            <a:r>
              <a:rPr dirty="0"/>
              <a:t>adds</a:t>
            </a:r>
            <a:r>
              <a:rPr spc="25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spc="-30" dirty="0"/>
              <a:t>segments</a:t>
            </a:r>
            <a:r>
              <a:rPr spc="25" dirty="0"/>
              <a:t> </a:t>
            </a:r>
            <a:r>
              <a:rPr dirty="0"/>
              <a:t>using</a:t>
            </a:r>
            <a:r>
              <a:rPr spc="30" dirty="0"/>
              <a:t> </a:t>
            </a:r>
            <a:r>
              <a:rPr spc="-45" dirty="0"/>
              <a:t>1’s</a:t>
            </a:r>
            <a:r>
              <a:rPr spc="30" dirty="0"/>
              <a:t> </a:t>
            </a:r>
            <a:r>
              <a:rPr dirty="0"/>
              <a:t>complement</a:t>
            </a:r>
            <a:r>
              <a:rPr spc="15" dirty="0"/>
              <a:t> </a:t>
            </a:r>
            <a:r>
              <a:rPr dirty="0"/>
              <a:t>arithmetic</a:t>
            </a:r>
            <a:r>
              <a:rPr spc="45" dirty="0"/>
              <a:t> </a:t>
            </a:r>
            <a:r>
              <a:rPr spc="-25" dirty="0"/>
              <a:t>to</a:t>
            </a:r>
          </a:p>
          <a:p>
            <a:pPr marL="243204" marR="5080">
              <a:lnSpc>
                <a:spcPct val="70000"/>
              </a:lnSpc>
              <a:spcBef>
                <a:spcPts val="430"/>
              </a:spcBef>
            </a:pPr>
            <a:r>
              <a:rPr dirty="0"/>
              <a:t>get</a:t>
            </a:r>
            <a:r>
              <a:rPr spc="120" dirty="0"/>
              <a:t> </a:t>
            </a:r>
            <a:r>
              <a:rPr dirty="0"/>
              <a:t>the</a:t>
            </a:r>
            <a:r>
              <a:rPr spc="130" dirty="0"/>
              <a:t> </a:t>
            </a:r>
            <a:r>
              <a:rPr dirty="0"/>
              <a:t>sum.</a:t>
            </a:r>
            <a:r>
              <a:rPr spc="145" dirty="0"/>
              <a:t> </a:t>
            </a:r>
            <a:r>
              <a:rPr dirty="0"/>
              <a:t>It</a:t>
            </a:r>
            <a:r>
              <a:rPr spc="125" dirty="0"/>
              <a:t> </a:t>
            </a:r>
            <a:r>
              <a:rPr dirty="0"/>
              <a:t>then</a:t>
            </a:r>
            <a:r>
              <a:rPr spc="125" dirty="0"/>
              <a:t> </a:t>
            </a:r>
            <a:r>
              <a:rPr dirty="0"/>
              <a:t>complements</a:t>
            </a:r>
            <a:r>
              <a:rPr spc="125" dirty="0"/>
              <a:t> </a:t>
            </a:r>
            <a:r>
              <a:rPr dirty="0"/>
              <a:t>the</a:t>
            </a:r>
            <a:r>
              <a:rPr spc="135" dirty="0"/>
              <a:t> </a:t>
            </a:r>
            <a:r>
              <a:rPr dirty="0"/>
              <a:t>sum</a:t>
            </a:r>
            <a:r>
              <a:rPr spc="120" dirty="0"/>
              <a:t> </a:t>
            </a:r>
            <a:r>
              <a:rPr dirty="0"/>
              <a:t>to</a:t>
            </a:r>
            <a:r>
              <a:rPr spc="125" dirty="0"/>
              <a:t> </a:t>
            </a:r>
            <a:r>
              <a:rPr dirty="0"/>
              <a:t>get</a:t>
            </a:r>
            <a:r>
              <a:rPr spc="125" dirty="0"/>
              <a:t> </a:t>
            </a:r>
            <a:r>
              <a:rPr dirty="0"/>
              <a:t>the</a:t>
            </a:r>
            <a:r>
              <a:rPr spc="130" dirty="0"/>
              <a:t> </a:t>
            </a:r>
            <a:r>
              <a:rPr spc="-10" dirty="0"/>
              <a:t>checksum</a:t>
            </a:r>
            <a:r>
              <a:rPr spc="130" dirty="0"/>
              <a:t> </a:t>
            </a:r>
            <a:r>
              <a:rPr dirty="0"/>
              <a:t>and</a:t>
            </a:r>
            <a:r>
              <a:rPr spc="125" dirty="0"/>
              <a:t> </a:t>
            </a:r>
            <a:r>
              <a:rPr dirty="0"/>
              <a:t>sends</a:t>
            </a:r>
            <a:r>
              <a:rPr spc="125" dirty="0"/>
              <a:t> </a:t>
            </a:r>
            <a:r>
              <a:rPr dirty="0"/>
              <a:t>it</a:t>
            </a:r>
            <a:r>
              <a:rPr spc="130" dirty="0"/>
              <a:t> </a:t>
            </a:r>
            <a:r>
              <a:rPr spc="-10" dirty="0"/>
              <a:t>along </a:t>
            </a:r>
            <a:r>
              <a:rPr dirty="0"/>
              <a:t>with the</a:t>
            </a:r>
            <a:r>
              <a:rPr spc="20" dirty="0"/>
              <a:t> </a:t>
            </a:r>
            <a:r>
              <a:rPr dirty="0"/>
              <a:t>data</a:t>
            </a:r>
            <a:r>
              <a:rPr spc="5" dirty="0"/>
              <a:t> </a:t>
            </a:r>
            <a:r>
              <a:rPr spc="-10" dirty="0"/>
              <a:t>frames.</a:t>
            </a:r>
          </a:p>
          <a:p>
            <a:pPr marL="1905">
              <a:lnSpc>
                <a:spcPct val="100000"/>
              </a:lnSpc>
              <a:spcBef>
                <a:spcPts val="400"/>
              </a:spcBef>
            </a:pPr>
            <a:endParaRPr spc="-10" dirty="0"/>
          </a:p>
          <a:p>
            <a:pPr marL="256540" indent="-244475">
              <a:lnSpc>
                <a:spcPts val="2450"/>
              </a:lnSpc>
              <a:buSzPct val="95833"/>
              <a:buFont typeface="Wingdings"/>
              <a:buChar char=""/>
              <a:tabLst>
                <a:tab pos="257175" algn="l"/>
                <a:tab pos="1673225" algn="l"/>
                <a:tab pos="2371090" algn="l"/>
                <a:tab pos="2729865" algn="l"/>
                <a:tab pos="3394075" algn="l"/>
                <a:tab pos="4497705" algn="l"/>
                <a:tab pos="5232400" algn="l"/>
                <a:tab pos="5802630" algn="l"/>
                <a:tab pos="7128509" algn="l"/>
                <a:tab pos="8402955" algn="l"/>
                <a:tab pos="9243695" algn="l"/>
                <a:tab pos="9958705" algn="l"/>
              </a:tabLst>
            </a:pPr>
            <a:r>
              <a:rPr b="1" spc="-10" dirty="0">
                <a:latin typeface="Times New Roman"/>
                <a:cs typeface="Times New Roman"/>
              </a:rPr>
              <a:t>Receiver’s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25" dirty="0">
                <a:latin typeface="Times New Roman"/>
                <a:cs typeface="Times New Roman"/>
              </a:rPr>
              <a:t>End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50" dirty="0">
                <a:latin typeface="Times New Roman"/>
                <a:cs typeface="Times New Roman"/>
              </a:rPr>
              <a:t>−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receiver</a:t>
            </a:r>
            <a:r>
              <a:rPr dirty="0"/>
              <a:t>	</a:t>
            </a:r>
            <a:r>
              <a:rPr spc="-20" dirty="0"/>
              <a:t>adds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incoming</a:t>
            </a:r>
            <a:r>
              <a:rPr dirty="0"/>
              <a:t>	</a:t>
            </a:r>
            <a:r>
              <a:rPr spc="-10" dirty="0"/>
              <a:t>segments</a:t>
            </a:r>
            <a:r>
              <a:rPr dirty="0"/>
              <a:t>	</a:t>
            </a:r>
            <a:r>
              <a:rPr spc="-10" dirty="0"/>
              <a:t>along</a:t>
            </a:r>
            <a:r>
              <a:rPr dirty="0"/>
              <a:t>	</a:t>
            </a:r>
            <a:r>
              <a:rPr spc="-20" dirty="0"/>
              <a:t>with</a:t>
            </a:r>
            <a:r>
              <a:rPr dirty="0"/>
              <a:t>	</a:t>
            </a:r>
            <a:r>
              <a:rPr spc="-25" dirty="0"/>
              <a:t>the</a:t>
            </a:r>
          </a:p>
          <a:p>
            <a:pPr marL="243204" marR="8255">
              <a:lnSpc>
                <a:spcPct val="70000"/>
              </a:lnSpc>
              <a:spcBef>
                <a:spcPts val="430"/>
              </a:spcBef>
            </a:pPr>
            <a:r>
              <a:rPr spc="-10" dirty="0"/>
              <a:t>checksum</a:t>
            </a:r>
            <a:r>
              <a:rPr spc="130" dirty="0"/>
              <a:t> </a:t>
            </a:r>
            <a:r>
              <a:rPr dirty="0"/>
              <a:t>using</a:t>
            </a:r>
            <a:r>
              <a:rPr spc="150" dirty="0"/>
              <a:t> </a:t>
            </a:r>
            <a:r>
              <a:rPr spc="-35" dirty="0"/>
              <a:t>1’s</a:t>
            </a:r>
            <a:r>
              <a:rPr spc="150" dirty="0"/>
              <a:t> </a:t>
            </a:r>
            <a:r>
              <a:rPr dirty="0"/>
              <a:t>complement</a:t>
            </a:r>
            <a:r>
              <a:rPr spc="140" dirty="0"/>
              <a:t> </a:t>
            </a:r>
            <a:r>
              <a:rPr dirty="0"/>
              <a:t>arithmetic</a:t>
            </a:r>
            <a:r>
              <a:rPr spc="155" dirty="0"/>
              <a:t> </a:t>
            </a:r>
            <a:r>
              <a:rPr dirty="0"/>
              <a:t>to</a:t>
            </a:r>
            <a:r>
              <a:rPr spc="140" dirty="0"/>
              <a:t> </a:t>
            </a:r>
            <a:r>
              <a:rPr dirty="0"/>
              <a:t>get</a:t>
            </a:r>
            <a:r>
              <a:rPr spc="140" dirty="0"/>
              <a:t> </a:t>
            </a:r>
            <a:r>
              <a:rPr dirty="0"/>
              <a:t>the</a:t>
            </a:r>
            <a:r>
              <a:rPr spc="150" dirty="0"/>
              <a:t> </a:t>
            </a:r>
            <a:r>
              <a:rPr dirty="0"/>
              <a:t>sum</a:t>
            </a:r>
            <a:r>
              <a:rPr spc="145" dirty="0"/>
              <a:t> </a:t>
            </a:r>
            <a:r>
              <a:rPr dirty="0"/>
              <a:t>and</a:t>
            </a:r>
            <a:r>
              <a:rPr spc="140" dirty="0"/>
              <a:t> </a:t>
            </a:r>
            <a:r>
              <a:rPr dirty="0"/>
              <a:t>then</a:t>
            </a:r>
            <a:r>
              <a:rPr spc="150" dirty="0"/>
              <a:t> </a:t>
            </a:r>
            <a:r>
              <a:rPr spc="-10" dirty="0"/>
              <a:t>complements </a:t>
            </a:r>
            <a:r>
              <a:rPr spc="-25" dirty="0"/>
              <a:t>it.</a:t>
            </a:r>
          </a:p>
          <a:p>
            <a:pPr marL="243204">
              <a:lnSpc>
                <a:spcPct val="100000"/>
              </a:lnSpc>
              <a:spcBef>
                <a:spcPts val="135"/>
              </a:spcBef>
            </a:pPr>
            <a:r>
              <a:rPr dirty="0"/>
              <a:t>If</a:t>
            </a:r>
            <a:r>
              <a:rPr spc="-9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result</a:t>
            </a:r>
            <a:r>
              <a:rPr spc="-90" dirty="0"/>
              <a:t> </a:t>
            </a:r>
            <a:r>
              <a:rPr spc="-10" dirty="0"/>
              <a:t>is</a:t>
            </a:r>
            <a:r>
              <a:rPr spc="-85" dirty="0"/>
              <a:t> </a:t>
            </a:r>
            <a:r>
              <a:rPr spc="-45" dirty="0"/>
              <a:t>zero,</a:t>
            </a:r>
            <a:r>
              <a:rPr spc="-7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spc="-55" dirty="0"/>
              <a:t>received</a:t>
            </a:r>
            <a:r>
              <a:rPr spc="-70" dirty="0"/>
              <a:t> </a:t>
            </a:r>
            <a:r>
              <a:rPr spc="-30" dirty="0"/>
              <a:t>frames</a:t>
            </a:r>
            <a:r>
              <a:rPr spc="-70" dirty="0"/>
              <a:t> </a:t>
            </a:r>
            <a:r>
              <a:rPr dirty="0"/>
              <a:t>are</a:t>
            </a:r>
            <a:r>
              <a:rPr spc="-95" dirty="0"/>
              <a:t> </a:t>
            </a:r>
            <a:r>
              <a:rPr spc="-35" dirty="0"/>
              <a:t>accepted;</a:t>
            </a:r>
            <a:r>
              <a:rPr spc="-75" dirty="0"/>
              <a:t> </a:t>
            </a:r>
            <a:r>
              <a:rPr spc="-20" dirty="0"/>
              <a:t>otherwise</a:t>
            </a:r>
            <a:r>
              <a:rPr spc="-60" dirty="0"/>
              <a:t> </a:t>
            </a:r>
            <a:r>
              <a:rPr spc="-20" dirty="0"/>
              <a:t>they</a:t>
            </a:r>
            <a:r>
              <a:rPr spc="-90" dirty="0"/>
              <a:t> </a:t>
            </a:r>
            <a:r>
              <a:rPr dirty="0"/>
              <a:t>are</a:t>
            </a:r>
            <a:r>
              <a:rPr spc="-95" dirty="0"/>
              <a:t> </a:t>
            </a:r>
            <a:r>
              <a:rPr spc="-10" dirty="0"/>
              <a:t>discarded.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9234" y="329260"/>
            <a:ext cx="3113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3.</a:t>
            </a:r>
            <a:r>
              <a:rPr sz="4000" b="1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195" dirty="0">
                <a:solidFill>
                  <a:srgbClr val="C00000"/>
                </a:solidFill>
                <a:latin typeface="Times New Roman"/>
                <a:cs typeface="Times New Roman"/>
              </a:rPr>
              <a:t>Checksum…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095882"/>
            <a:ext cx="10359390" cy="29070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6985">
              <a:lnSpc>
                <a:spcPts val="2500"/>
              </a:lnSpc>
              <a:spcBef>
                <a:spcPts val="705"/>
              </a:spcBef>
            </a:pPr>
            <a:r>
              <a:rPr sz="2600" b="1" spc="-105" dirty="0">
                <a:latin typeface="Times New Roman"/>
                <a:cs typeface="Times New Roman"/>
              </a:rPr>
              <a:t>Example: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Suppose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sender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wants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send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4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frames </a:t>
            </a:r>
            <a:r>
              <a:rPr sz="2600" dirty="0">
                <a:latin typeface="Times New Roman"/>
                <a:cs typeface="Times New Roman"/>
              </a:rPr>
              <a:t>each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8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bits,</a:t>
            </a:r>
            <a:r>
              <a:rPr sz="2600" spc="-10" dirty="0">
                <a:latin typeface="Times New Roman"/>
                <a:cs typeface="Times New Roman"/>
              </a:rPr>
              <a:t> where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frames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 </a:t>
            </a:r>
            <a:r>
              <a:rPr sz="2600" spc="-90" dirty="0">
                <a:latin typeface="Times New Roman"/>
                <a:cs typeface="Times New Roman"/>
              </a:rPr>
              <a:t>11001100,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10101010,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11110000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10" dirty="0">
                <a:latin typeface="Times New Roman"/>
                <a:cs typeface="Times New Roman"/>
              </a:rPr>
              <a:t> 11000011.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2600">
              <a:latin typeface="Times New Roman"/>
              <a:cs typeface="Times New Roman"/>
            </a:endParaRPr>
          </a:p>
          <a:p>
            <a:pPr marL="240029" marR="5715" indent="-227965">
              <a:lnSpc>
                <a:spcPct val="80000"/>
              </a:lnSpc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sender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bits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complement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arithmetic.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two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using 	</a:t>
            </a:r>
            <a:r>
              <a:rPr sz="2200" dirty="0">
                <a:latin typeface="Times New Roman"/>
                <a:cs typeface="Times New Roman"/>
              </a:rPr>
              <a:t>1s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complement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arithmetic,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carry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over,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sum.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240665" indent="-227965">
              <a:lnSpc>
                <a:spcPts val="2375"/>
              </a:lnSpc>
              <a:spcBef>
                <a:spcPts val="5"/>
              </a:spcBef>
              <a:buSzPct val="95454"/>
              <a:buFont typeface="Wingdings"/>
              <a:buChar char=""/>
              <a:tabLst>
                <a:tab pos="240665" algn="l"/>
                <a:tab pos="942340" algn="l"/>
                <a:tab pos="1829435" algn="l"/>
                <a:tab pos="2220595" algn="l"/>
                <a:tab pos="2704465" algn="l"/>
                <a:tab pos="2975610" algn="l"/>
                <a:tab pos="3902075" algn="l"/>
                <a:tab pos="4385310" algn="l"/>
                <a:tab pos="5240655" algn="l"/>
                <a:tab pos="6840855" algn="l"/>
                <a:tab pos="7324090" algn="l"/>
                <a:tab pos="7915275" algn="l"/>
                <a:tab pos="8268970" algn="l"/>
                <a:tab pos="8715375" algn="l"/>
                <a:tab pos="9200515" algn="l"/>
              </a:tabLst>
            </a:pPr>
            <a:r>
              <a:rPr sz="2200" spc="-10" dirty="0">
                <a:latin typeface="Times New Roman"/>
                <a:cs typeface="Times New Roman"/>
              </a:rPr>
              <a:t>After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adding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all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4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frames,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sender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complements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sum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get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35" dirty="0">
                <a:latin typeface="Times New Roman"/>
                <a:cs typeface="Times New Roman"/>
              </a:rPr>
              <a:t>checksum,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ts val="2375"/>
              </a:lnSpc>
            </a:pPr>
            <a:r>
              <a:rPr sz="2200" spc="-110" dirty="0">
                <a:latin typeface="Times New Roman"/>
                <a:cs typeface="Times New Roman"/>
              </a:rPr>
              <a:t>11010011,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sends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along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frames.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4828794"/>
            <a:ext cx="10358755" cy="89725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40029" marR="5080" indent="-227965" algn="just">
              <a:lnSpc>
                <a:spcPts val="2110"/>
              </a:lnSpc>
              <a:spcBef>
                <a:spcPts val="60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4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receiver</a:t>
            </a:r>
            <a:r>
              <a:rPr sz="2200" spc="4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performs</a:t>
            </a:r>
            <a:r>
              <a:rPr sz="2200" spc="4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1s</a:t>
            </a:r>
            <a:r>
              <a:rPr sz="2200" spc="3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complement</a:t>
            </a:r>
            <a:r>
              <a:rPr sz="2200" spc="40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arithmetic</a:t>
            </a:r>
            <a:r>
              <a:rPr sz="2200" spc="3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sum</a:t>
            </a:r>
            <a:r>
              <a:rPr sz="2200" spc="4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3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3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40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frames</a:t>
            </a:r>
            <a:r>
              <a:rPr sz="2200" spc="3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including</a:t>
            </a:r>
            <a:r>
              <a:rPr sz="2200" spc="409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	</a:t>
            </a:r>
            <a:r>
              <a:rPr sz="2200" spc="-30" dirty="0">
                <a:latin typeface="Times New Roman"/>
                <a:cs typeface="Times New Roman"/>
              </a:rPr>
              <a:t>checksum.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result 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complemented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 found 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0.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Hence,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65" dirty="0">
                <a:latin typeface="Times New Roman"/>
                <a:cs typeface="Times New Roman"/>
              </a:rPr>
              <a:t>receiver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assumes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that 	</a:t>
            </a:r>
            <a:r>
              <a:rPr sz="2200" spc="55" dirty="0">
                <a:latin typeface="Times New Roman"/>
                <a:cs typeface="Times New Roman"/>
              </a:rPr>
              <a:t>no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error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occurred.</a:t>
            </a:r>
            <a:endParaRPr sz="22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250694" y="4189348"/>
          <a:ext cx="8216900" cy="517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11001100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10101010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11110000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11000011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11010011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3723" y="65532"/>
            <a:ext cx="7197852" cy="67924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622" rIns="0" bIns="0" rtlCol="0">
            <a:spAutoFit/>
          </a:bodyPr>
          <a:lstStyle/>
          <a:p>
            <a:pPr marL="3639820">
              <a:lnSpc>
                <a:spcPct val="100000"/>
              </a:lnSpc>
              <a:spcBef>
                <a:spcPts val="95"/>
              </a:spcBef>
            </a:pPr>
            <a:r>
              <a:rPr sz="4000" spc="-260" dirty="0">
                <a:solidFill>
                  <a:srgbClr val="C00000"/>
                </a:solidFill>
                <a:latin typeface="Trebuchet MS"/>
                <a:cs typeface="Trebuchet MS"/>
              </a:rPr>
              <a:t>Practice</a:t>
            </a:r>
            <a:r>
              <a:rPr sz="4000" spc="-29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130" dirty="0">
                <a:solidFill>
                  <a:srgbClr val="C00000"/>
                </a:solidFill>
                <a:latin typeface="Trebuchet MS"/>
                <a:cs typeface="Trebuchet MS"/>
              </a:rPr>
              <a:t>Questions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173607"/>
            <a:ext cx="10358120" cy="3549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9235" algn="just">
              <a:lnSpc>
                <a:spcPct val="91000"/>
              </a:lnSpc>
              <a:buClr>
                <a:srgbClr val="000000"/>
              </a:buClr>
              <a:buSzPct val="116666"/>
              <a:buFont typeface="Carlito"/>
              <a:buAutoNum type="arabicPeriod"/>
              <a:tabLst>
                <a:tab pos="241300" algn="l"/>
                <a:tab pos="416559" algn="l"/>
              </a:tabLst>
            </a:pP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400" spc="4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message</a:t>
            </a:r>
            <a:r>
              <a:rPr sz="2400" spc="4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2F2F2F"/>
                </a:solidFill>
                <a:latin typeface="Times New Roman"/>
                <a:cs typeface="Times New Roman"/>
              </a:rPr>
              <a:t>1101011011</a:t>
            </a:r>
            <a:r>
              <a:rPr sz="2400" spc="4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400" spc="4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400" spc="4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be</a:t>
            </a:r>
            <a:r>
              <a:rPr sz="2400" spc="4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transmitted</a:t>
            </a:r>
            <a:r>
              <a:rPr sz="2400" spc="4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using</a:t>
            </a:r>
            <a:r>
              <a:rPr sz="2400" spc="4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400" spc="4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generator</a:t>
            </a:r>
            <a:r>
              <a:rPr sz="2400" spc="4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F2F2F"/>
                </a:solidFill>
                <a:latin typeface="Times New Roman"/>
                <a:cs typeface="Times New Roman"/>
              </a:rPr>
              <a:t>polynomial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x4+x+1</a:t>
            </a:r>
            <a:r>
              <a:rPr sz="2400" spc="1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400" spc="20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protect</a:t>
            </a:r>
            <a:r>
              <a:rPr sz="2400" spc="1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it</a:t>
            </a:r>
            <a:r>
              <a:rPr sz="2400" spc="1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from</a:t>
            </a:r>
            <a:r>
              <a:rPr sz="2400" spc="1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errors.</a:t>
            </a:r>
            <a:r>
              <a:rPr sz="2400" spc="20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Find</a:t>
            </a:r>
            <a:r>
              <a:rPr sz="2400" spc="1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400" spc="1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final</a:t>
            </a:r>
            <a:r>
              <a:rPr sz="2400" spc="1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2400" spc="1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400" spc="1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be</a:t>
            </a:r>
            <a:r>
              <a:rPr sz="2400" spc="1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transmitted</a:t>
            </a:r>
            <a:r>
              <a:rPr sz="2400" spc="1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2400" spc="-10" dirty="0">
                <a:solidFill>
                  <a:srgbClr val="2F2F2F"/>
                </a:solidFill>
                <a:latin typeface="Times New Roman"/>
                <a:cs typeface="Times New Roman"/>
              </a:rPr>
              <a:t>after performing</a:t>
            </a:r>
            <a:r>
              <a:rPr sz="2400" spc="-8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2F2F2F"/>
                </a:solidFill>
                <a:latin typeface="Times New Roman"/>
                <a:cs typeface="Times New Roman"/>
              </a:rPr>
              <a:t>CRC.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64"/>
              </a:spcBef>
              <a:buAutoNum type="arabicPeriod"/>
            </a:pPr>
            <a:endParaRPr sz="2400">
              <a:latin typeface="Times New Roman"/>
              <a:cs typeface="Times New Roman"/>
            </a:endParaRPr>
          </a:p>
          <a:p>
            <a:pPr marL="241300" marR="5080" indent="-229235" algn="just">
              <a:lnSpc>
                <a:spcPts val="2590"/>
              </a:lnSpc>
              <a:buAutoNum type="arabicPeriod"/>
              <a:tabLst>
                <a:tab pos="241300" algn="l"/>
                <a:tab pos="369570" algn="l"/>
              </a:tabLst>
            </a:pP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	Original</a:t>
            </a:r>
            <a:r>
              <a:rPr sz="2400" spc="1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2400" spc="1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400" spc="1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2F2F2F"/>
                </a:solidFill>
                <a:latin typeface="Times New Roman"/>
                <a:cs typeface="Times New Roman"/>
              </a:rPr>
              <a:t>10110011</a:t>
            </a:r>
            <a:r>
              <a:rPr sz="2400" spc="1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F2F2F"/>
                </a:solidFill>
                <a:latin typeface="Times New Roman"/>
                <a:cs typeface="Times New Roman"/>
              </a:rPr>
              <a:t>10101011</a:t>
            </a:r>
            <a:r>
              <a:rPr sz="2400" spc="1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F2F2F"/>
                </a:solidFill>
                <a:latin typeface="Times New Roman"/>
                <a:cs typeface="Times New Roman"/>
              </a:rPr>
              <a:t>01011010</a:t>
            </a:r>
            <a:r>
              <a:rPr sz="2400" spc="1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spc="-60" dirty="0">
                <a:solidFill>
                  <a:srgbClr val="2F2F2F"/>
                </a:solidFill>
                <a:latin typeface="Times New Roman"/>
                <a:cs typeface="Times New Roman"/>
              </a:rPr>
              <a:t>11010101.</a:t>
            </a:r>
            <a:r>
              <a:rPr sz="2400" spc="1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Perform</a:t>
            </a:r>
            <a:r>
              <a:rPr sz="2400" spc="1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2D</a:t>
            </a:r>
            <a:r>
              <a:rPr sz="2400" spc="1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parity</a:t>
            </a:r>
            <a:r>
              <a:rPr sz="2400" spc="1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F2F2F"/>
                </a:solidFill>
                <a:latin typeface="Times New Roman"/>
                <a:cs typeface="Times New Roman"/>
              </a:rPr>
              <a:t>and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compute</a:t>
            </a:r>
            <a:r>
              <a:rPr sz="2400" spc="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the </a:t>
            </a:r>
            <a:r>
              <a:rPr sz="2400" spc="-10" dirty="0">
                <a:solidFill>
                  <a:srgbClr val="2F2F2F"/>
                </a:solidFill>
                <a:latin typeface="Times New Roman"/>
                <a:cs typeface="Times New Roman"/>
              </a:rPr>
              <a:t>codeword.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45"/>
              </a:spcBef>
              <a:buAutoNum type="arabicPeriod"/>
            </a:pPr>
            <a:endParaRPr sz="2400">
              <a:latin typeface="Times New Roman"/>
              <a:cs typeface="Times New Roman"/>
            </a:endParaRPr>
          </a:p>
          <a:p>
            <a:pPr marL="241300" marR="6985" indent="-229235" algn="just">
              <a:lnSpc>
                <a:spcPts val="2590"/>
              </a:lnSpc>
              <a:buAutoNum type="arabicPeriod"/>
              <a:tabLst>
                <a:tab pos="241300" algn="l"/>
                <a:tab pos="333375" algn="l"/>
              </a:tabLst>
            </a:pP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	Original</a:t>
            </a:r>
            <a:r>
              <a:rPr sz="2400" spc="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2400" spc="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400" spc="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spc="-90" dirty="0">
                <a:solidFill>
                  <a:srgbClr val="2F2F2F"/>
                </a:solidFill>
                <a:latin typeface="Times New Roman"/>
                <a:cs typeface="Times New Roman"/>
              </a:rPr>
              <a:t>10110011</a:t>
            </a:r>
            <a:r>
              <a:rPr sz="2400" spc="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spc="-100" dirty="0">
                <a:solidFill>
                  <a:srgbClr val="2F2F2F"/>
                </a:solidFill>
                <a:latin typeface="Times New Roman"/>
                <a:cs typeface="Times New Roman"/>
              </a:rPr>
              <a:t>10101011</a:t>
            </a:r>
            <a:r>
              <a:rPr sz="2400" spc="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spc="-100" dirty="0">
                <a:solidFill>
                  <a:srgbClr val="2F2F2F"/>
                </a:solidFill>
                <a:latin typeface="Times New Roman"/>
                <a:cs typeface="Times New Roman"/>
              </a:rPr>
              <a:t>01011010</a:t>
            </a:r>
            <a:r>
              <a:rPr sz="2400" spc="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spc="-100" dirty="0">
                <a:solidFill>
                  <a:srgbClr val="2F2F2F"/>
                </a:solidFill>
                <a:latin typeface="Times New Roman"/>
                <a:cs typeface="Times New Roman"/>
              </a:rPr>
              <a:t>11010101.</a:t>
            </a:r>
            <a:r>
              <a:rPr sz="2400" spc="8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Find</a:t>
            </a:r>
            <a:r>
              <a:rPr sz="2400" spc="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out</a:t>
            </a:r>
            <a:r>
              <a:rPr sz="2400" spc="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400" spc="8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F2F2F"/>
                </a:solidFill>
                <a:latin typeface="Times New Roman"/>
                <a:cs typeface="Times New Roman"/>
              </a:rPr>
              <a:t>checksum</a:t>
            </a:r>
            <a:r>
              <a:rPr sz="2400" spc="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F2F2F"/>
                </a:solidFill>
                <a:latin typeface="Times New Roman"/>
                <a:cs typeface="Times New Roman"/>
              </a:rPr>
              <a:t>to </a:t>
            </a:r>
            <a:r>
              <a:rPr sz="2400" dirty="0">
                <a:solidFill>
                  <a:srgbClr val="2F2F2F"/>
                </a:solidFill>
                <a:latin typeface="Times New Roman"/>
                <a:cs typeface="Times New Roman"/>
              </a:rPr>
              <a:t>detect</a:t>
            </a:r>
            <a:r>
              <a:rPr sz="2400" spc="-10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F2F2F"/>
                </a:solidFill>
                <a:latin typeface="Times New Roman"/>
                <a:cs typeface="Times New Roman"/>
              </a:rPr>
              <a:t>error.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6916" y="2468321"/>
            <a:ext cx="489331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310" dirty="0">
                <a:solidFill>
                  <a:srgbClr val="C00000"/>
                </a:solidFill>
                <a:latin typeface="Trebuchet MS"/>
                <a:cs typeface="Trebuchet MS"/>
              </a:rPr>
              <a:t>Error</a:t>
            </a:r>
            <a:r>
              <a:rPr sz="6000" spc="-5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6000" spc="-350" dirty="0">
                <a:solidFill>
                  <a:srgbClr val="C00000"/>
                </a:solidFill>
                <a:latin typeface="Trebuchet MS"/>
                <a:cs typeface="Trebuchet MS"/>
              </a:rPr>
              <a:t>Correction</a:t>
            </a:r>
            <a:endParaRPr sz="60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9193" rIns="0" bIns="0" rtlCol="0">
            <a:spAutoFit/>
          </a:bodyPr>
          <a:lstStyle/>
          <a:p>
            <a:pPr marL="3776979">
              <a:lnSpc>
                <a:spcPct val="100000"/>
              </a:lnSpc>
              <a:spcBef>
                <a:spcPts val="95"/>
              </a:spcBef>
            </a:pPr>
            <a:r>
              <a:rPr sz="4000" b="1" spc="-229" dirty="0">
                <a:solidFill>
                  <a:srgbClr val="C00000"/>
                </a:solidFill>
                <a:latin typeface="Times New Roman"/>
                <a:cs typeface="Times New Roman"/>
              </a:rPr>
              <a:t>Error</a:t>
            </a:r>
            <a:r>
              <a:rPr sz="40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90" dirty="0">
                <a:solidFill>
                  <a:srgbClr val="C00000"/>
                </a:solidFill>
                <a:latin typeface="Times New Roman"/>
                <a:cs typeface="Times New Roman"/>
              </a:rPr>
              <a:t>Correction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462278"/>
            <a:ext cx="10357485" cy="30111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715" indent="-227965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90" dirty="0">
                <a:latin typeface="Times New Roman"/>
                <a:cs typeface="Times New Roman"/>
              </a:rPr>
              <a:t>Error-</a:t>
            </a:r>
            <a:r>
              <a:rPr sz="2800" dirty="0">
                <a:latin typeface="Times New Roman"/>
                <a:cs typeface="Times New Roman"/>
              </a:rPr>
              <a:t>correcting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codes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(ECC)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sequence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numbers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generated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by 	</a:t>
            </a:r>
            <a:r>
              <a:rPr sz="2800" spc="-20" dirty="0">
                <a:latin typeface="Times New Roman"/>
                <a:cs typeface="Times New Roman"/>
              </a:rPr>
              <a:t>specific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algorithms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detecting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removing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errors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has 	</a:t>
            </a:r>
            <a:r>
              <a:rPr sz="2800" dirty="0">
                <a:latin typeface="Times New Roman"/>
                <a:cs typeface="Times New Roman"/>
              </a:rPr>
              <a:t>been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transmitted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over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noisy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channels.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20"/>
              </a:spcBef>
              <a:buFont typeface="Arial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240029" marR="5080" indent="-227965" algn="just">
              <a:lnSpc>
                <a:spcPts val="3020"/>
              </a:lnSpc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Hamming</a:t>
            </a:r>
            <a:r>
              <a:rPr sz="2800" b="1" spc="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Code</a:t>
            </a:r>
            <a:r>
              <a:rPr sz="2800" b="1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block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code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capable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detecting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two 	</a:t>
            </a:r>
            <a:r>
              <a:rPr sz="2800" dirty="0">
                <a:latin typeface="Times New Roman"/>
                <a:cs typeface="Times New Roman"/>
              </a:rPr>
              <a:t>simultaneous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correcting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single-</a:t>
            </a:r>
            <a:r>
              <a:rPr sz="2800" dirty="0">
                <a:latin typeface="Times New Roman"/>
                <a:cs typeface="Times New Roman"/>
              </a:rPr>
              <a:t>bit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errors.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was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developed 	</a:t>
            </a:r>
            <a:r>
              <a:rPr sz="2800" spc="-165" dirty="0">
                <a:latin typeface="Times New Roman"/>
                <a:cs typeface="Times New Roman"/>
              </a:rPr>
              <a:t>by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R.W.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Hamming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correction.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3721" y="105232"/>
            <a:ext cx="3338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Hamming</a:t>
            </a:r>
            <a:r>
              <a:rPr sz="4000" b="1" spc="-1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Code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370" y="1044676"/>
            <a:ext cx="11600815" cy="473392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80"/>
              </a:spcBef>
            </a:pPr>
            <a:r>
              <a:rPr sz="2600" b="1" spc="-60" dirty="0">
                <a:latin typeface="Times New Roman"/>
                <a:cs typeface="Times New Roman"/>
              </a:rPr>
              <a:t>Encoding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spc="-195" dirty="0">
                <a:latin typeface="Times New Roman"/>
                <a:cs typeface="Times New Roman"/>
              </a:rPr>
              <a:t>a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-114" dirty="0">
                <a:latin typeface="Times New Roman"/>
                <a:cs typeface="Times New Roman"/>
              </a:rPr>
              <a:t>message</a:t>
            </a:r>
            <a:r>
              <a:rPr sz="2600" b="1" spc="-50" dirty="0">
                <a:latin typeface="Times New Roman"/>
                <a:cs typeface="Times New Roman"/>
              </a:rPr>
              <a:t> </a:t>
            </a:r>
            <a:r>
              <a:rPr sz="2600" b="1" spc="-165" dirty="0">
                <a:latin typeface="Times New Roman"/>
                <a:cs typeface="Times New Roman"/>
              </a:rPr>
              <a:t>by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-50" dirty="0">
                <a:latin typeface="Times New Roman"/>
                <a:cs typeface="Times New Roman"/>
              </a:rPr>
              <a:t>Hamming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Code:</a:t>
            </a:r>
            <a:endParaRPr sz="2600">
              <a:latin typeface="Times New Roman"/>
              <a:cs typeface="Times New Roman"/>
            </a:endParaRPr>
          </a:p>
          <a:p>
            <a:pPr marL="253365" marR="17780" indent="-228600">
              <a:lnSpc>
                <a:spcPts val="2820"/>
              </a:lnSpc>
              <a:spcBef>
                <a:spcPts val="1030"/>
              </a:spcBef>
              <a:buFont typeface="Arial"/>
              <a:buChar char="•"/>
              <a:tabLst>
                <a:tab pos="253365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20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procedure</a:t>
            </a:r>
            <a:r>
              <a:rPr sz="2600" spc="20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used</a:t>
            </a:r>
            <a:r>
              <a:rPr sz="2600" spc="2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by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2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sender</a:t>
            </a:r>
            <a:r>
              <a:rPr sz="2600" spc="1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20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encode</a:t>
            </a:r>
            <a:r>
              <a:rPr sz="2600" spc="1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21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message</a:t>
            </a:r>
            <a:r>
              <a:rPr sz="2600" spc="21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encompasses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21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following </a:t>
            </a:r>
            <a:r>
              <a:rPr sz="2600" spc="-40" dirty="0">
                <a:latin typeface="Times New Roman"/>
                <a:cs typeface="Times New Roman"/>
              </a:rPr>
              <a:t>steps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−</a:t>
            </a:r>
            <a:endParaRPr sz="2600">
              <a:latin typeface="Times New Roman"/>
              <a:cs typeface="Times New Roman"/>
            </a:endParaRPr>
          </a:p>
          <a:p>
            <a:pPr marL="1936750" marR="3738879" indent="-1169035">
              <a:lnSpc>
                <a:spcPts val="3800"/>
              </a:lnSpc>
              <a:spcBef>
                <a:spcPts val="200"/>
              </a:spcBef>
            </a:pPr>
            <a:r>
              <a:rPr sz="2600" b="1" spc="-75" dirty="0">
                <a:latin typeface="Times New Roman"/>
                <a:cs typeface="Times New Roman"/>
              </a:rPr>
              <a:t>Step</a:t>
            </a:r>
            <a:r>
              <a:rPr sz="2600" b="1" dirty="0">
                <a:latin typeface="Times New Roman"/>
                <a:cs typeface="Times New Roman"/>
              </a:rPr>
              <a:t> 1 </a:t>
            </a:r>
            <a:r>
              <a:rPr sz="2600" dirty="0">
                <a:latin typeface="Times New Roman"/>
                <a:cs typeface="Times New Roman"/>
              </a:rPr>
              <a:t>− Calculation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number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redundant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bits.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550" baseline="26143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550" spc="209" baseline="2614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≥</a:t>
            </a:r>
            <a:r>
              <a:rPr sz="26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45" dirty="0">
                <a:solidFill>
                  <a:srgbClr val="FF0000"/>
                </a:solidFill>
                <a:latin typeface="Times New Roman"/>
                <a:cs typeface="Times New Roman"/>
              </a:rPr>
              <a:t>m+r+1</a:t>
            </a:r>
            <a:r>
              <a:rPr sz="26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5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767715">
              <a:lnSpc>
                <a:spcPct val="100000"/>
              </a:lnSpc>
              <a:spcBef>
                <a:spcPts val="459"/>
              </a:spcBef>
            </a:pPr>
            <a:r>
              <a:rPr sz="2600" b="1" spc="-75" dirty="0">
                <a:latin typeface="Times New Roman"/>
                <a:cs typeface="Times New Roman"/>
              </a:rPr>
              <a:t>Step</a:t>
            </a:r>
            <a:r>
              <a:rPr sz="2600" b="1" spc="2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2</a:t>
            </a:r>
            <a:r>
              <a:rPr sz="2600" b="1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−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Positioning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redundant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bits.</a:t>
            </a:r>
            <a:endParaRPr sz="2600">
              <a:latin typeface="Times New Roman"/>
              <a:cs typeface="Times New Roman"/>
            </a:endParaRPr>
          </a:p>
          <a:p>
            <a:pPr marL="1936750">
              <a:lnSpc>
                <a:spcPct val="100000"/>
              </a:lnSpc>
              <a:spcBef>
                <a:spcPts val="700"/>
              </a:spcBef>
            </a:pPr>
            <a:r>
              <a:rPr sz="2600" spc="-12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i="1" spc="-12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600" i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redundant</a:t>
            </a:r>
            <a:r>
              <a:rPr sz="26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bits</a:t>
            </a:r>
            <a:r>
              <a:rPr sz="2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FF0000"/>
                </a:solidFill>
                <a:latin typeface="Times New Roman"/>
                <a:cs typeface="Times New Roman"/>
              </a:rPr>
              <a:t>placed</a:t>
            </a:r>
            <a:r>
              <a:rPr sz="26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at</a:t>
            </a:r>
            <a:r>
              <a:rPr sz="2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bit</a:t>
            </a:r>
            <a:r>
              <a:rPr sz="2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positions</a:t>
            </a:r>
            <a:r>
              <a:rPr sz="2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70" dirty="0">
                <a:solidFill>
                  <a:srgbClr val="FF0000"/>
                </a:solidFill>
                <a:latin typeface="Times New Roman"/>
                <a:cs typeface="Times New Roman"/>
              </a:rPr>
              <a:t>powers</a:t>
            </a:r>
            <a:r>
              <a:rPr sz="2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FF0000"/>
                </a:solidFill>
                <a:latin typeface="Times New Roman"/>
                <a:cs typeface="Times New Roman"/>
              </a:rPr>
              <a:t>2)</a:t>
            </a:r>
            <a:endParaRPr sz="2600">
              <a:latin typeface="Times New Roman"/>
              <a:cs typeface="Times New Roman"/>
            </a:endParaRPr>
          </a:p>
          <a:p>
            <a:pPr marL="767715">
              <a:lnSpc>
                <a:spcPct val="100000"/>
              </a:lnSpc>
              <a:spcBef>
                <a:spcPts val="685"/>
              </a:spcBef>
            </a:pPr>
            <a:r>
              <a:rPr sz="2600" b="1" spc="-75" dirty="0">
                <a:latin typeface="Times New Roman"/>
                <a:cs typeface="Times New Roman"/>
              </a:rPr>
              <a:t>Step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3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−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Calculating</a:t>
            </a:r>
            <a:r>
              <a:rPr sz="2600" dirty="0">
                <a:latin typeface="Times New Roman"/>
                <a:cs typeface="Times New Roman"/>
              </a:rPr>
              <a:t> the </a:t>
            </a:r>
            <a:r>
              <a:rPr sz="2600" spc="-70" dirty="0">
                <a:latin typeface="Times New Roman"/>
                <a:cs typeface="Times New Roman"/>
              </a:rPr>
              <a:t>values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each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redundant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bit.</a:t>
            </a:r>
            <a:endParaRPr sz="2600">
              <a:latin typeface="Times New Roman"/>
              <a:cs typeface="Times New Roman"/>
            </a:endParaRPr>
          </a:p>
          <a:p>
            <a:pPr marL="1936750">
              <a:lnSpc>
                <a:spcPct val="100000"/>
              </a:lnSpc>
              <a:spcBef>
                <a:spcPts val="670"/>
              </a:spcBef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(bit</a:t>
            </a:r>
            <a:r>
              <a:rPr sz="2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positions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55" dirty="0">
                <a:solidFill>
                  <a:srgbClr val="FF0000"/>
                </a:solidFill>
                <a:latin typeface="Times New Roman"/>
                <a:cs typeface="Times New Roman"/>
              </a:rPr>
              <a:t>whose</a:t>
            </a:r>
            <a:r>
              <a:rPr sz="26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binary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representation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includes</a:t>
            </a:r>
            <a:r>
              <a:rPr sz="26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6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6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6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550" baseline="26143" dirty="0">
                <a:solidFill>
                  <a:srgbClr val="FF0000"/>
                </a:solidFill>
                <a:latin typeface="Times New Roman"/>
                <a:cs typeface="Times New Roman"/>
              </a:rPr>
              <a:t>th</a:t>
            </a:r>
            <a:r>
              <a:rPr sz="2550" spc="307" baseline="2614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position)</a:t>
            </a:r>
            <a:endParaRPr sz="2600">
              <a:latin typeface="Times New Roman"/>
              <a:cs typeface="Times New Roman"/>
            </a:endParaRPr>
          </a:p>
          <a:p>
            <a:pPr marL="254000" indent="-228600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254000" algn="l"/>
              </a:tabLst>
            </a:pPr>
            <a:r>
              <a:rPr sz="2600" dirty="0">
                <a:latin typeface="Times New Roman"/>
                <a:cs typeface="Times New Roman"/>
              </a:rPr>
              <a:t>Once the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redundant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bits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embedded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within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message,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is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sent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user.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2117" rIns="0" bIns="0" rtlCol="0">
            <a:spAutoFit/>
          </a:bodyPr>
          <a:lstStyle/>
          <a:p>
            <a:pPr marL="3108960">
              <a:lnSpc>
                <a:spcPct val="100000"/>
              </a:lnSpc>
              <a:spcBef>
                <a:spcPts val="95"/>
              </a:spcBef>
            </a:pPr>
            <a:r>
              <a:rPr sz="40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Hamming</a:t>
            </a:r>
            <a:r>
              <a:rPr sz="4000" b="1" spc="-1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275" dirty="0">
                <a:solidFill>
                  <a:srgbClr val="C00000"/>
                </a:solidFill>
                <a:latin typeface="Times New Roman"/>
                <a:cs typeface="Times New Roman"/>
              </a:rPr>
              <a:t>Code…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0070" y="1043457"/>
            <a:ext cx="11577320" cy="482282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60"/>
              </a:spcBef>
            </a:pPr>
            <a:r>
              <a:rPr sz="2800" b="1" spc="-25" dirty="0">
                <a:latin typeface="Times New Roman"/>
                <a:cs typeface="Times New Roman"/>
              </a:rPr>
              <a:t>Decoding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spc="-210" dirty="0">
                <a:latin typeface="Times New Roman"/>
                <a:cs typeface="Times New Roman"/>
              </a:rPr>
              <a:t>a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spc="-120" dirty="0">
                <a:latin typeface="Times New Roman"/>
                <a:cs typeface="Times New Roman"/>
              </a:rPr>
              <a:t>message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-55" dirty="0">
                <a:latin typeface="Times New Roman"/>
                <a:cs typeface="Times New Roman"/>
              </a:rPr>
              <a:t>Hamming </a:t>
            </a:r>
            <a:r>
              <a:rPr sz="2800" b="1" spc="-10" dirty="0">
                <a:latin typeface="Times New Roman"/>
                <a:cs typeface="Times New Roman"/>
              </a:rPr>
              <a:t>Code:</a:t>
            </a:r>
            <a:endParaRPr sz="280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Once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imes New Roman"/>
                <a:cs typeface="Times New Roman"/>
              </a:rPr>
              <a:t>receiver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gets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incoming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90" dirty="0">
                <a:latin typeface="Times New Roman"/>
                <a:cs typeface="Times New Roman"/>
              </a:rPr>
              <a:t>message,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0" dirty="0">
                <a:latin typeface="Times New Roman"/>
                <a:cs typeface="Times New Roman"/>
              </a:rPr>
              <a:t> performs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parity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checking.</a:t>
            </a:r>
            <a:endParaRPr sz="2800">
              <a:latin typeface="Times New Roman"/>
              <a:cs typeface="Times New Roman"/>
            </a:endParaRPr>
          </a:p>
          <a:p>
            <a:pPr marL="239395" marR="5080" indent="-227329" algn="just">
              <a:lnSpc>
                <a:spcPts val="3130"/>
              </a:lnSpc>
              <a:spcBef>
                <a:spcPts val="1040"/>
              </a:spcBef>
              <a:buFont typeface="Arial"/>
              <a:buChar char="•"/>
              <a:tabLst>
                <a:tab pos="240665" algn="l"/>
              </a:tabLst>
            </a:pPr>
            <a:r>
              <a:rPr sz="2900" dirty="0">
                <a:latin typeface="Times New Roman"/>
                <a:cs typeface="Times New Roman"/>
              </a:rPr>
              <a:t>Parity</a:t>
            </a:r>
            <a:r>
              <a:rPr sz="2900" spc="4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bits</a:t>
            </a:r>
            <a:r>
              <a:rPr sz="2900" spc="4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are</a:t>
            </a:r>
            <a:r>
              <a:rPr sz="2900" spc="4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calculated</a:t>
            </a:r>
            <a:r>
              <a:rPr sz="2900" spc="4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based</a:t>
            </a:r>
            <a:r>
              <a:rPr sz="2900" spc="425" dirty="0">
                <a:latin typeface="Times New Roman"/>
                <a:cs typeface="Times New Roman"/>
              </a:rPr>
              <a:t> </a:t>
            </a:r>
            <a:r>
              <a:rPr sz="2900" spc="50" dirty="0">
                <a:latin typeface="Times New Roman"/>
                <a:cs typeface="Times New Roman"/>
              </a:rPr>
              <a:t>upon</a:t>
            </a:r>
            <a:r>
              <a:rPr sz="2900" spc="4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4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data</a:t>
            </a:r>
            <a:r>
              <a:rPr sz="2900" spc="4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bits</a:t>
            </a:r>
            <a:r>
              <a:rPr sz="2900" spc="4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and</a:t>
            </a:r>
            <a:r>
              <a:rPr sz="2900" spc="4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4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redundant</a:t>
            </a:r>
            <a:r>
              <a:rPr sz="2900" spc="415" dirty="0">
                <a:latin typeface="Times New Roman"/>
                <a:cs typeface="Times New Roman"/>
              </a:rPr>
              <a:t> </a:t>
            </a:r>
            <a:r>
              <a:rPr sz="2900" spc="-20" dirty="0">
                <a:latin typeface="Times New Roman"/>
                <a:cs typeface="Times New Roman"/>
              </a:rPr>
              <a:t>bits 	</a:t>
            </a:r>
            <a:r>
              <a:rPr sz="2900" spc="-10" dirty="0">
                <a:latin typeface="Times New Roman"/>
                <a:cs typeface="Times New Roman"/>
              </a:rPr>
              <a:t>using</a:t>
            </a:r>
            <a:r>
              <a:rPr sz="2900" spc="-10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95" dirty="0">
                <a:latin typeface="Times New Roman"/>
                <a:cs typeface="Times New Roman"/>
              </a:rPr>
              <a:t> </a:t>
            </a:r>
            <a:r>
              <a:rPr sz="2900" spc="-55" dirty="0">
                <a:latin typeface="Times New Roman"/>
                <a:cs typeface="Times New Roman"/>
              </a:rPr>
              <a:t>same</a:t>
            </a:r>
            <a:r>
              <a:rPr sz="2900" spc="-10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rule</a:t>
            </a:r>
            <a:r>
              <a:rPr sz="2900" spc="-95" dirty="0">
                <a:latin typeface="Times New Roman"/>
                <a:cs typeface="Times New Roman"/>
              </a:rPr>
              <a:t> </a:t>
            </a:r>
            <a:r>
              <a:rPr sz="2900" spc="-50" dirty="0">
                <a:latin typeface="Times New Roman"/>
                <a:cs typeface="Times New Roman"/>
              </a:rPr>
              <a:t>as</a:t>
            </a:r>
            <a:r>
              <a:rPr sz="2900" spc="-9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during</a:t>
            </a:r>
            <a:r>
              <a:rPr sz="2900" spc="-10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generation</a:t>
            </a:r>
            <a:r>
              <a:rPr sz="2900" spc="-1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of</a:t>
            </a:r>
            <a:r>
              <a:rPr sz="2900" spc="-95" dirty="0">
                <a:latin typeface="Times New Roman"/>
                <a:cs typeface="Times New Roman"/>
              </a:rPr>
              <a:t> </a:t>
            </a:r>
            <a:r>
              <a:rPr sz="2900" spc="-65" dirty="0">
                <a:latin typeface="Times New Roman"/>
                <a:cs typeface="Times New Roman"/>
              </a:rPr>
              <a:t>c1,c2</a:t>
            </a:r>
            <a:r>
              <a:rPr sz="2900" spc="-10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,c3</a:t>
            </a:r>
            <a:r>
              <a:rPr sz="2900" spc="-10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,c4</a:t>
            </a:r>
            <a:r>
              <a:rPr sz="2900" spc="-95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etc.</a:t>
            </a:r>
            <a:r>
              <a:rPr sz="2900" spc="-114" dirty="0">
                <a:latin typeface="Times New Roman"/>
                <a:cs typeface="Times New Roman"/>
              </a:rPr>
              <a:t> </a:t>
            </a:r>
            <a:r>
              <a:rPr sz="2900" spc="-20" dirty="0">
                <a:latin typeface="Times New Roman"/>
                <a:cs typeface="Times New Roman"/>
              </a:rPr>
              <a:t>Thus</a:t>
            </a:r>
            <a:endParaRPr sz="2900">
              <a:latin typeface="Times New Roman"/>
              <a:cs typeface="Times New Roman"/>
            </a:endParaRPr>
          </a:p>
          <a:p>
            <a:pPr marL="927100" algn="just">
              <a:lnSpc>
                <a:spcPct val="100000"/>
              </a:lnSpc>
              <a:spcBef>
                <a:spcPts val="605"/>
              </a:spcBef>
            </a:pPr>
            <a:r>
              <a:rPr sz="2900" dirty="0">
                <a:latin typeface="Times New Roman"/>
                <a:cs typeface="Times New Roman"/>
              </a:rPr>
              <a:t>c1</a:t>
            </a:r>
            <a:r>
              <a:rPr sz="2900" spc="-95" dirty="0">
                <a:latin typeface="Times New Roman"/>
                <a:cs typeface="Times New Roman"/>
              </a:rPr>
              <a:t> </a:t>
            </a:r>
            <a:r>
              <a:rPr sz="2900" spc="-204" dirty="0">
                <a:latin typeface="Times New Roman"/>
                <a:cs typeface="Times New Roman"/>
              </a:rPr>
              <a:t>=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-65" dirty="0">
                <a:latin typeface="Times New Roman"/>
                <a:cs typeface="Times New Roman"/>
              </a:rPr>
              <a:t>parity(1,</a:t>
            </a:r>
            <a:r>
              <a:rPr sz="2900" spc="-6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3,</a:t>
            </a:r>
            <a:r>
              <a:rPr sz="2900" spc="-6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5,</a:t>
            </a:r>
            <a:r>
              <a:rPr sz="2900" spc="-5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7,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9,</a:t>
            </a:r>
            <a:r>
              <a:rPr sz="2900" spc="-65" dirty="0">
                <a:latin typeface="Times New Roman"/>
                <a:cs typeface="Times New Roman"/>
              </a:rPr>
              <a:t> </a:t>
            </a:r>
            <a:r>
              <a:rPr sz="2900" spc="-30" dirty="0">
                <a:latin typeface="Times New Roman"/>
                <a:cs typeface="Times New Roman"/>
              </a:rPr>
              <a:t>11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and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so</a:t>
            </a:r>
            <a:r>
              <a:rPr sz="2900" spc="-60" dirty="0">
                <a:latin typeface="Times New Roman"/>
                <a:cs typeface="Times New Roman"/>
              </a:rPr>
              <a:t> </a:t>
            </a:r>
            <a:r>
              <a:rPr sz="2900" spc="-25" dirty="0">
                <a:latin typeface="Times New Roman"/>
                <a:cs typeface="Times New Roman"/>
              </a:rPr>
              <a:t>on)</a:t>
            </a:r>
            <a:endParaRPr sz="2900">
              <a:latin typeface="Times New Roman"/>
              <a:cs typeface="Times New Roman"/>
            </a:endParaRPr>
          </a:p>
          <a:p>
            <a:pPr marL="927100" marR="4987925" algn="just">
              <a:lnSpc>
                <a:spcPts val="4140"/>
              </a:lnSpc>
              <a:spcBef>
                <a:spcPts val="235"/>
              </a:spcBef>
            </a:pPr>
            <a:r>
              <a:rPr sz="2900" spc="-65" dirty="0">
                <a:latin typeface="Times New Roman"/>
                <a:cs typeface="Times New Roman"/>
              </a:rPr>
              <a:t>c2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spc="-200" dirty="0">
                <a:latin typeface="Times New Roman"/>
                <a:cs typeface="Times New Roman"/>
              </a:rPr>
              <a:t>=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spc="-60" dirty="0">
                <a:latin typeface="Times New Roman"/>
                <a:cs typeface="Times New Roman"/>
              </a:rPr>
              <a:t>parity(2,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-15" dirty="0">
                <a:latin typeface="Times New Roman"/>
                <a:cs typeface="Times New Roman"/>
              </a:rPr>
              <a:t>3,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-15" dirty="0">
                <a:latin typeface="Times New Roman"/>
                <a:cs typeface="Times New Roman"/>
              </a:rPr>
              <a:t>6,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-15" dirty="0">
                <a:latin typeface="Times New Roman"/>
                <a:cs typeface="Times New Roman"/>
              </a:rPr>
              <a:t>7,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-60" dirty="0">
                <a:latin typeface="Times New Roman"/>
                <a:cs typeface="Times New Roman"/>
              </a:rPr>
              <a:t>10,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-204" dirty="0">
                <a:latin typeface="Times New Roman"/>
                <a:cs typeface="Times New Roman"/>
              </a:rPr>
              <a:t>1</a:t>
            </a:r>
            <a:r>
              <a:rPr sz="2900" dirty="0">
                <a:latin typeface="Times New Roman"/>
                <a:cs typeface="Times New Roman"/>
              </a:rPr>
              <a:t>1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spc="35" dirty="0">
                <a:latin typeface="Times New Roman"/>
                <a:cs typeface="Times New Roman"/>
              </a:rPr>
              <a:t>and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-65" dirty="0">
                <a:latin typeface="Times New Roman"/>
                <a:cs typeface="Times New Roman"/>
              </a:rPr>
              <a:t>so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on) </a:t>
            </a:r>
            <a:r>
              <a:rPr sz="2900" spc="-70" dirty="0">
                <a:latin typeface="Times New Roman"/>
                <a:cs typeface="Times New Roman"/>
              </a:rPr>
              <a:t>c3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-200" dirty="0">
                <a:latin typeface="Times New Roman"/>
                <a:cs typeface="Times New Roman"/>
              </a:rPr>
              <a:t>=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-100" dirty="0">
                <a:latin typeface="Times New Roman"/>
                <a:cs typeface="Times New Roman"/>
              </a:rPr>
              <a:t>parity(4-</a:t>
            </a:r>
            <a:r>
              <a:rPr sz="2900" spc="-15" dirty="0">
                <a:latin typeface="Times New Roman"/>
                <a:cs typeface="Times New Roman"/>
              </a:rPr>
              <a:t>7,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-170" dirty="0">
                <a:latin typeface="Times New Roman"/>
                <a:cs typeface="Times New Roman"/>
              </a:rPr>
              <a:t>12-</a:t>
            </a:r>
            <a:r>
              <a:rPr sz="2900" spc="-25" dirty="0">
                <a:latin typeface="Times New Roman"/>
                <a:cs typeface="Times New Roman"/>
              </a:rPr>
              <a:t>15,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spc="-135" dirty="0">
                <a:latin typeface="Times New Roman"/>
                <a:cs typeface="Times New Roman"/>
              </a:rPr>
              <a:t>20-</a:t>
            </a:r>
            <a:r>
              <a:rPr sz="2900" dirty="0">
                <a:latin typeface="Times New Roman"/>
                <a:cs typeface="Times New Roman"/>
              </a:rPr>
              <a:t>23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35" dirty="0">
                <a:latin typeface="Times New Roman"/>
                <a:cs typeface="Times New Roman"/>
              </a:rPr>
              <a:t>and</a:t>
            </a:r>
            <a:r>
              <a:rPr sz="2900" dirty="0">
                <a:latin typeface="Times New Roman"/>
                <a:cs typeface="Times New Roman"/>
              </a:rPr>
              <a:t> </a:t>
            </a:r>
            <a:r>
              <a:rPr sz="2900" spc="-80" dirty="0">
                <a:latin typeface="Times New Roman"/>
                <a:cs typeface="Times New Roman"/>
              </a:rPr>
              <a:t>so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on)</a:t>
            </a:r>
            <a:endParaRPr sz="2900">
              <a:latin typeface="Times New Roman"/>
              <a:cs typeface="Times New Roman"/>
            </a:endParaRPr>
          </a:p>
          <a:p>
            <a:pPr marL="239395" marR="5080" indent="-227329" algn="just">
              <a:lnSpc>
                <a:spcPct val="9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decimal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equivalent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parity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bits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binary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values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calculated.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0, 	</a:t>
            </a:r>
            <a:r>
              <a:rPr sz="2800" dirty="0">
                <a:latin typeface="Times New Roman"/>
                <a:cs typeface="Times New Roman"/>
              </a:rPr>
              <a:t>there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spc="65" dirty="0">
                <a:latin typeface="Times New Roman"/>
                <a:cs typeface="Times New Roman"/>
              </a:rPr>
              <a:t>no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error.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Otherwise,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decimal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value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imes New Roman"/>
                <a:cs typeface="Times New Roman"/>
              </a:rPr>
              <a:t>gives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position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has 	</a:t>
            </a:r>
            <a:r>
              <a:rPr sz="2800" spc="-10" dirty="0">
                <a:latin typeface="Times New Roman"/>
                <a:cs typeface="Times New Roman"/>
              </a:rPr>
              <a:t>error.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6863" y="6426504"/>
            <a:ext cx="87141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©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2016</a:t>
            </a:r>
            <a:r>
              <a:rPr sz="1200" spc="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KL University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155" dirty="0">
                <a:solidFill>
                  <a:srgbClr val="888888"/>
                </a:solidFill>
                <a:latin typeface="Trebuchet MS"/>
                <a:cs typeface="Trebuchet MS"/>
              </a:rPr>
              <a:t>–</a:t>
            </a:r>
            <a:r>
              <a:rPr sz="1200" spc="-85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The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contents</a:t>
            </a:r>
            <a:r>
              <a:rPr sz="1200" spc="-3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this</a:t>
            </a:r>
            <a:r>
              <a:rPr sz="1200" spc="-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presentation</a:t>
            </a:r>
            <a:r>
              <a:rPr sz="1200" spc="-4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are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an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intellectual</a:t>
            </a:r>
            <a:r>
              <a:rPr sz="1200" spc="-4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and</a:t>
            </a:r>
            <a:r>
              <a:rPr sz="1200" spc="-2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copyrighted</a:t>
            </a:r>
            <a:r>
              <a:rPr sz="1200" spc="-4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property</a:t>
            </a:r>
            <a:r>
              <a:rPr sz="1200" spc="-4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KL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University.</a:t>
            </a:r>
            <a:r>
              <a:rPr sz="1200" spc="-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ALL</a:t>
            </a:r>
            <a:r>
              <a:rPr sz="1200" spc="-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RIGHTS</a:t>
            </a:r>
            <a:r>
              <a:rPr sz="1200" spc="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RESERVED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95990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888888"/>
                </a:solidFill>
                <a:latin typeface="Carlito"/>
                <a:cs typeface="Carlito"/>
              </a:rPr>
              <a:t>35</a:t>
            </a:r>
            <a:endParaRPr sz="1200">
              <a:latin typeface="Carlito"/>
              <a:cs typeface="Carlito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0717" rIns="0" bIns="0" rtlCol="0">
            <a:spAutoFit/>
          </a:bodyPr>
          <a:lstStyle/>
          <a:p>
            <a:pPr marL="2920365">
              <a:lnSpc>
                <a:spcPct val="100000"/>
              </a:lnSpc>
              <a:spcBef>
                <a:spcPts val="95"/>
              </a:spcBef>
            </a:pPr>
            <a:r>
              <a:rPr sz="40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Hamming</a:t>
            </a:r>
            <a:r>
              <a:rPr sz="4000" b="1" spc="-1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Code</a:t>
            </a:r>
            <a:r>
              <a:rPr sz="4000" b="1" spc="-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125" dirty="0">
                <a:solidFill>
                  <a:srgbClr val="C00000"/>
                </a:solidFill>
                <a:latin typeface="Times New Roman"/>
                <a:cs typeface="Times New Roman"/>
              </a:rPr>
              <a:t>Example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671066"/>
            <a:ext cx="10358755" cy="41605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527685" marR="5080" indent="-515620" algn="just">
              <a:lnSpc>
                <a:spcPts val="3020"/>
              </a:lnSpc>
              <a:spcBef>
                <a:spcPts val="480"/>
              </a:spcBef>
            </a:pPr>
            <a:r>
              <a:rPr sz="2800" dirty="0">
                <a:latin typeface="Times New Roman"/>
                <a:cs typeface="Times New Roman"/>
              </a:rPr>
              <a:t>1.</a:t>
            </a:r>
            <a:r>
              <a:rPr sz="2800" spc="2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a)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Shradha</a:t>
            </a:r>
            <a:r>
              <a:rPr sz="2800" spc="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9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transmitting</a:t>
            </a:r>
            <a:r>
              <a:rPr sz="2800" spc="80" dirty="0">
                <a:latin typeface="Times New Roman"/>
                <a:cs typeface="Times New Roman"/>
              </a:rPr>
              <a:t>  </a:t>
            </a:r>
            <a:r>
              <a:rPr sz="2800" spc="-75" dirty="0">
                <a:latin typeface="Times New Roman"/>
                <a:cs typeface="Times New Roman"/>
              </a:rPr>
              <a:t>data-</a:t>
            </a:r>
            <a:r>
              <a:rPr sz="2800" dirty="0">
                <a:latin typeface="Times New Roman"/>
                <a:cs typeface="Times New Roman"/>
              </a:rPr>
              <a:t>1101</a:t>
            </a:r>
            <a:r>
              <a:rPr sz="2800" spc="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her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friend.</a:t>
            </a:r>
            <a:r>
              <a:rPr sz="2800" spc="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security reasons,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Shradha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imes New Roman"/>
                <a:cs typeface="Times New Roman"/>
              </a:rPr>
              <a:t>wishes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send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by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implementing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Hamming </a:t>
            </a:r>
            <a:r>
              <a:rPr sz="2800" dirty="0">
                <a:latin typeface="Times New Roman"/>
                <a:cs typeface="Times New Roman"/>
              </a:rPr>
              <a:t>Code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technique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make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sure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control.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Help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Shradha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in </a:t>
            </a:r>
            <a:r>
              <a:rPr sz="2800" spc="-10" dirty="0">
                <a:latin typeface="Times New Roman"/>
                <a:cs typeface="Times New Roman"/>
              </a:rPr>
              <a:t>performing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imes New Roman"/>
                <a:cs typeface="Times New Roman"/>
              </a:rPr>
              <a:t>above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(Assume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Even </a:t>
            </a:r>
            <a:r>
              <a:rPr sz="2800" spc="-10" dirty="0">
                <a:latin typeface="Times New Roman"/>
                <a:cs typeface="Times New Roman"/>
              </a:rPr>
              <a:t>parity).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2800">
              <a:latin typeface="Times New Roman"/>
              <a:cs typeface="Times New Roman"/>
            </a:endParaRPr>
          </a:p>
          <a:p>
            <a:pPr marL="901065" marR="86995" indent="-355600">
              <a:lnSpc>
                <a:spcPct val="119600"/>
              </a:lnSpc>
            </a:pPr>
            <a:r>
              <a:rPr sz="2800" dirty="0">
                <a:latin typeface="Times New Roman"/>
                <a:cs typeface="Times New Roman"/>
              </a:rPr>
              <a:t>b)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imes New Roman"/>
                <a:cs typeface="Times New Roman"/>
              </a:rPr>
              <a:t>Also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show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process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done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by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Shradha’s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friend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for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following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cases.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675"/>
              </a:spcBef>
            </a:pPr>
            <a:r>
              <a:rPr sz="2800" spc="-25" dirty="0">
                <a:latin typeface="Times New Roman"/>
                <a:cs typeface="Times New Roman"/>
              </a:rPr>
              <a:t>Case1: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Received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is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correct.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660"/>
              </a:spcBef>
            </a:pPr>
            <a:r>
              <a:rPr sz="2800" spc="-25" dirty="0">
                <a:latin typeface="Times New Roman"/>
                <a:cs typeface="Times New Roman"/>
              </a:rPr>
              <a:t>Case2: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Second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left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changed.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632" y="2403094"/>
            <a:ext cx="4953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Hamming</a:t>
            </a:r>
            <a:r>
              <a:rPr sz="3600" b="1" spc="-1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6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Code</a:t>
            </a:r>
            <a:r>
              <a:rPr sz="3600" b="1" spc="-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600" b="1" spc="-254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36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Solution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0784" y="0"/>
            <a:ext cx="5593079" cy="68579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286" y="38227"/>
            <a:ext cx="4953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Hamming</a:t>
            </a:r>
            <a:r>
              <a:rPr sz="3600" b="1" spc="-1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6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Code</a:t>
            </a:r>
            <a:r>
              <a:rPr sz="3600" b="1" spc="-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600" b="1" spc="-254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36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Solution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" y="1158239"/>
            <a:ext cx="6143244" cy="46466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74891" y="1158239"/>
            <a:ext cx="5734811" cy="46466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74133" y="0"/>
            <a:ext cx="5494020" cy="742315"/>
            <a:chOff x="3374133" y="0"/>
            <a:chExt cx="5494020" cy="7423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4133" y="86641"/>
              <a:ext cx="5494025" cy="4880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3736" y="0"/>
              <a:ext cx="4271771" cy="7421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90900" y="94488"/>
              <a:ext cx="5410200" cy="413384"/>
            </a:xfrm>
            <a:custGeom>
              <a:avLst/>
              <a:gdLst/>
              <a:ahLst/>
              <a:cxnLst/>
              <a:rect l="l" t="t" r="r" b="b"/>
              <a:pathLst>
                <a:path w="5410200" h="413384">
                  <a:moveTo>
                    <a:pt x="534136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3"/>
                  </a:lnTo>
                  <a:lnTo>
                    <a:pt x="5341366" y="413003"/>
                  </a:lnTo>
                  <a:lnTo>
                    <a:pt x="5368141" y="407588"/>
                  </a:lnTo>
                  <a:lnTo>
                    <a:pt x="5390022" y="392826"/>
                  </a:lnTo>
                  <a:lnTo>
                    <a:pt x="5404784" y="370945"/>
                  </a:lnTo>
                  <a:lnTo>
                    <a:pt x="5410200" y="344169"/>
                  </a:lnTo>
                  <a:lnTo>
                    <a:pt x="5410200" y="68833"/>
                  </a:lnTo>
                  <a:lnTo>
                    <a:pt x="5404784" y="42058"/>
                  </a:lnTo>
                  <a:lnTo>
                    <a:pt x="5390022" y="20177"/>
                  </a:lnTo>
                  <a:lnTo>
                    <a:pt x="5368141" y="5415"/>
                  </a:lnTo>
                  <a:lnTo>
                    <a:pt x="5341366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245" rIns="0" bIns="0" rtlCol="0">
            <a:spAutoFit/>
          </a:bodyPr>
          <a:lstStyle/>
          <a:p>
            <a:pPr marL="362902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SELF-</a:t>
            </a:r>
            <a:r>
              <a:rPr dirty="0"/>
              <a:t>ASSESSMENT</a:t>
            </a:r>
            <a:r>
              <a:rPr spc="-65" dirty="0"/>
              <a:t> </a:t>
            </a:r>
            <a:r>
              <a:rPr spc="-10" dirty="0"/>
              <a:t>QUESTIONS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52272" y="733107"/>
            <a:ext cx="10746105" cy="792480"/>
            <a:chOff x="652272" y="733107"/>
            <a:chExt cx="10746105" cy="79248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2272" y="733107"/>
              <a:ext cx="10745724" cy="79228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46404" y="929639"/>
              <a:ext cx="10171430" cy="413384"/>
            </a:xfrm>
            <a:custGeom>
              <a:avLst/>
              <a:gdLst/>
              <a:ahLst/>
              <a:cxnLst/>
              <a:rect l="l" t="t" r="r" b="b"/>
              <a:pathLst>
                <a:path w="10171430" h="413384">
                  <a:moveTo>
                    <a:pt x="10024110" y="0"/>
                  </a:moveTo>
                  <a:lnTo>
                    <a:pt x="147078" y="0"/>
                  </a:lnTo>
                  <a:lnTo>
                    <a:pt x="100590" y="7504"/>
                  </a:lnTo>
                  <a:lnTo>
                    <a:pt x="60215" y="28395"/>
                  </a:lnTo>
                  <a:lnTo>
                    <a:pt x="28377" y="60240"/>
                  </a:lnTo>
                  <a:lnTo>
                    <a:pt x="7498" y="100608"/>
                  </a:lnTo>
                  <a:lnTo>
                    <a:pt x="0" y="147065"/>
                  </a:lnTo>
                  <a:lnTo>
                    <a:pt x="0" y="265938"/>
                  </a:lnTo>
                  <a:lnTo>
                    <a:pt x="7498" y="312395"/>
                  </a:lnTo>
                  <a:lnTo>
                    <a:pt x="28377" y="352763"/>
                  </a:lnTo>
                  <a:lnTo>
                    <a:pt x="60215" y="384608"/>
                  </a:lnTo>
                  <a:lnTo>
                    <a:pt x="100590" y="405499"/>
                  </a:lnTo>
                  <a:lnTo>
                    <a:pt x="147078" y="413004"/>
                  </a:lnTo>
                  <a:lnTo>
                    <a:pt x="10024110" y="413004"/>
                  </a:lnTo>
                  <a:lnTo>
                    <a:pt x="10070567" y="405499"/>
                  </a:lnTo>
                  <a:lnTo>
                    <a:pt x="10110935" y="384608"/>
                  </a:lnTo>
                  <a:lnTo>
                    <a:pt x="10142780" y="352763"/>
                  </a:lnTo>
                  <a:lnTo>
                    <a:pt x="10163671" y="312395"/>
                  </a:lnTo>
                  <a:lnTo>
                    <a:pt x="10171176" y="265938"/>
                  </a:lnTo>
                  <a:lnTo>
                    <a:pt x="10171176" y="147065"/>
                  </a:lnTo>
                  <a:lnTo>
                    <a:pt x="10163671" y="100608"/>
                  </a:lnTo>
                  <a:lnTo>
                    <a:pt x="10142780" y="60240"/>
                  </a:lnTo>
                  <a:lnTo>
                    <a:pt x="10110935" y="28395"/>
                  </a:lnTo>
                  <a:lnTo>
                    <a:pt x="10070567" y="7504"/>
                  </a:lnTo>
                  <a:lnTo>
                    <a:pt x="10024110" y="0"/>
                  </a:lnTo>
                  <a:close/>
                </a:path>
              </a:pathLst>
            </a:custGeom>
            <a:solidFill>
              <a:srgbClr val="E84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67816" y="989456"/>
            <a:ext cx="62661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5600" algn="l"/>
              </a:tabLst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1.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	What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is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codeword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 for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dataword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1011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when</a:t>
            </a:r>
            <a:r>
              <a:rPr sz="16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even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parity</a:t>
            </a:r>
            <a:r>
              <a:rPr sz="16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is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used?</a:t>
            </a:r>
            <a:endParaRPr sz="16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7323" y="1443227"/>
            <a:ext cx="10747375" cy="1975485"/>
            <a:chOff x="687323" y="1443227"/>
            <a:chExt cx="10747375" cy="197548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4503" y="1475244"/>
              <a:ext cx="3703320" cy="11414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1267" y="1443227"/>
              <a:ext cx="1202436" cy="12664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0411" y="1501139"/>
              <a:ext cx="3601212" cy="103936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7323" y="2677680"/>
              <a:ext cx="10747248" cy="7409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81455" y="2872739"/>
              <a:ext cx="10172700" cy="364490"/>
            </a:xfrm>
            <a:custGeom>
              <a:avLst/>
              <a:gdLst/>
              <a:ahLst/>
              <a:cxnLst/>
              <a:rect l="l" t="t" r="r" b="b"/>
              <a:pathLst>
                <a:path w="10172700" h="364489">
                  <a:moveTo>
                    <a:pt x="10043033" y="0"/>
                  </a:moveTo>
                  <a:lnTo>
                    <a:pt x="129717" y="0"/>
                  </a:lnTo>
                  <a:lnTo>
                    <a:pt x="79225" y="10187"/>
                  </a:lnTo>
                  <a:lnTo>
                    <a:pt x="37993" y="37973"/>
                  </a:lnTo>
                  <a:lnTo>
                    <a:pt x="10193" y="79188"/>
                  </a:lnTo>
                  <a:lnTo>
                    <a:pt x="0" y="129667"/>
                  </a:lnTo>
                  <a:lnTo>
                    <a:pt x="0" y="234569"/>
                  </a:lnTo>
                  <a:lnTo>
                    <a:pt x="10193" y="285047"/>
                  </a:lnTo>
                  <a:lnTo>
                    <a:pt x="37993" y="326263"/>
                  </a:lnTo>
                  <a:lnTo>
                    <a:pt x="79225" y="354048"/>
                  </a:lnTo>
                  <a:lnTo>
                    <a:pt x="129717" y="364236"/>
                  </a:lnTo>
                  <a:lnTo>
                    <a:pt x="10043033" y="364236"/>
                  </a:lnTo>
                  <a:lnTo>
                    <a:pt x="10093511" y="354048"/>
                  </a:lnTo>
                  <a:lnTo>
                    <a:pt x="10134727" y="326263"/>
                  </a:lnTo>
                  <a:lnTo>
                    <a:pt x="10162512" y="285047"/>
                  </a:lnTo>
                  <a:lnTo>
                    <a:pt x="10172700" y="234569"/>
                  </a:lnTo>
                  <a:lnTo>
                    <a:pt x="10172700" y="129667"/>
                  </a:lnTo>
                  <a:lnTo>
                    <a:pt x="10162512" y="79188"/>
                  </a:lnTo>
                  <a:lnTo>
                    <a:pt x="10134727" y="37973"/>
                  </a:lnTo>
                  <a:lnTo>
                    <a:pt x="10093511" y="10187"/>
                  </a:lnTo>
                  <a:lnTo>
                    <a:pt x="10043033" y="0"/>
                  </a:lnTo>
                  <a:close/>
                </a:path>
              </a:pathLst>
            </a:custGeom>
            <a:solidFill>
              <a:srgbClr val="E84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079246" y="1573402"/>
          <a:ext cx="4387215" cy="1600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marR="37465" algn="r">
                        <a:lnSpc>
                          <a:spcPts val="1515"/>
                        </a:lnSpc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(a)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515"/>
                        </a:lnSpc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10110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marR="28575" algn="r">
                        <a:lnSpc>
                          <a:spcPts val="1675"/>
                        </a:lnSpc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(b)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675"/>
                        </a:lnSpc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10111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R="50165" algn="r">
                        <a:lnSpc>
                          <a:spcPts val="1680"/>
                        </a:lnSpc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(c)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680"/>
                        </a:lnSpc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10011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930">
                <a:tc>
                  <a:txBody>
                    <a:bodyPr/>
                    <a:lstStyle/>
                    <a:p>
                      <a:pPr marR="28575" algn="r">
                        <a:lnSpc>
                          <a:spcPts val="1680"/>
                        </a:lnSpc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(d)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680"/>
                        </a:lnSpc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10010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609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1430"/>
                        </a:spcBef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2.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181610" marB="0"/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900"/>
                        </a:lnSpc>
                        <a:spcBef>
                          <a:spcPts val="143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What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is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the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drawback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of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simple</a:t>
                      </a:r>
                      <a:r>
                        <a:rPr sz="1600" spc="-4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parity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method?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18161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0" y="19062"/>
            <a:ext cx="4688205" cy="4674870"/>
            <a:chOff x="0" y="19062"/>
            <a:chExt cx="4688205" cy="4674870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9263" y="3375647"/>
              <a:ext cx="3718560" cy="121616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75360" y="3323844"/>
              <a:ext cx="3578352" cy="13700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5171" y="3401568"/>
              <a:ext cx="3616452" cy="11140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9062"/>
              <a:ext cx="1399906" cy="581393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771105" y="4861154"/>
            <a:ext cx="10636250" cy="635635"/>
            <a:chOff x="771105" y="4861154"/>
            <a:chExt cx="10636250" cy="635635"/>
          </a:xfrm>
        </p:grpSpPr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1105" y="4861154"/>
              <a:ext cx="10636073" cy="63506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010411" y="5003291"/>
              <a:ext cx="10171430" cy="364490"/>
            </a:xfrm>
            <a:custGeom>
              <a:avLst/>
              <a:gdLst/>
              <a:ahLst/>
              <a:cxnLst/>
              <a:rect l="l" t="t" r="r" b="b"/>
              <a:pathLst>
                <a:path w="10171430" h="364489">
                  <a:moveTo>
                    <a:pt x="10041509" y="0"/>
                  </a:moveTo>
                  <a:lnTo>
                    <a:pt x="129705" y="0"/>
                  </a:lnTo>
                  <a:lnTo>
                    <a:pt x="79220" y="10187"/>
                  </a:lnTo>
                  <a:lnTo>
                    <a:pt x="37992" y="37972"/>
                  </a:lnTo>
                  <a:lnTo>
                    <a:pt x="10193" y="79188"/>
                  </a:lnTo>
                  <a:lnTo>
                    <a:pt x="0" y="129666"/>
                  </a:lnTo>
                  <a:lnTo>
                    <a:pt x="0" y="234568"/>
                  </a:lnTo>
                  <a:lnTo>
                    <a:pt x="10193" y="285047"/>
                  </a:lnTo>
                  <a:lnTo>
                    <a:pt x="37992" y="326262"/>
                  </a:lnTo>
                  <a:lnTo>
                    <a:pt x="79220" y="354048"/>
                  </a:lnTo>
                  <a:lnTo>
                    <a:pt x="129705" y="364235"/>
                  </a:lnTo>
                  <a:lnTo>
                    <a:pt x="10041509" y="364235"/>
                  </a:lnTo>
                  <a:lnTo>
                    <a:pt x="10091987" y="354048"/>
                  </a:lnTo>
                  <a:lnTo>
                    <a:pt x="10133202" y="326262"/>
                  </a:lnTo>
                  <a:lnTo>
                    <a:pt x="10160988" y="285047"/>
                  </a:lnTo>
                  <a:lnTo>
                    <a:pt x="10171176" y="234568"/>
                  </a:lnTo>
                  <a:lnTo>
                    <a:pt x="10171176" y="129666"/>
                  </a:lnTo>
                  <a:lnTo>
                    <a:pt x="10160988" y="79188"/>
                  </a:lnTo>
                  <a:lnTo>
                    <a:pt x="10133203" y="37972"/>
                  </a:lnTo>
                  <a:lnTo>
                    <a:pt x="10091987" y="10187"/>
                  </a:lnTo>
                  <a:lnTo>
                    <a:pt x="10041509" y="0"/>
                  </a:lnTo>
                  <a:close/>
                </a:path>
              </a:pathLst>
            </a:custGeom>
            <a:solidFill>
              <a:srgbClr val="E84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126947" y="3397453"/>
            <a:ext cx="3225165" cy="191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2900">
              <a:lnSpc>
                <a:spcPct val="100000"/>
              </a:lnSpc>
              <a:spcBef>
                <a:spcPts val="100"/>
              </a:spcBef>
              <a:buAutoNum type="alphaLcParenBoth"/>
              <a:tabLst>
                <a:tab pos="356870" algn="l"/>
              </a:tabLst>
            </a:pP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Detects</a:t>
            </a: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only</a:t>
            </a:r>
            <a:r>
              <a:rPr sz="18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odd</a:t>
            </a:r>
            <a:r>
              <a:rPr sz="1800" spc="-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no.</a:t>
            </a:r>
            <a:r>
              <a:rPr sz="18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errors</a:t>
            </a:r>
            <a:endParaRPr sz="1800">
              <a:latin typeface="Carlito"/>
              <a:cs typeface="Carlito"/>
            </a:endParaRPr>
          </a:p>
          <a:p>
            <a:pPr marL="356870" indent="-342900">
              <a:lnSpc>
                <a:spcPct val="100000"/>
              </a:lnSpc>
              <a:spcBef>
                <a:spcPts val="5"/>
              </a:spcBef>
              <a:buAutoNum type="alphaLcParenBoth"/>
              <a:tabLst>
                <a:tab pos="356870" algn="l"/>
              </a:tabLst>
            </a:pP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Detects</a:t>
            </a: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only</a:t>
            </a:r>
            <a:r>
              <a:rPr sz="18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even</a:t>
            </a:r>
            <a:r>
              <a:rPr sz="18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no.</a:t>
            </a:r>
            <a:r>
              <a:rPr sz="18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8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errors</a:t>
            </a:r>
            <a:endParaRPr sz="1800">
              <a:latin typeface="Carlito"/>
              <a:cs typeface="Carlito"/>
            </a:endParaRPr>
          </a:p>
          <a:p>
            <a:pPr marL="356235" indent="-342265">
              <a:lnSpc>
                <a:spcPct val="100000"/>
              </a:lnSpc>
              <a:buAutoNum type="alphaLcParenBoth"/>
              <a:tabLst>
                <a:tab pos="356235" algn="l"/>
              </a:tabLst>
            </a:pP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Both</a:t>
            </a:r>
            <a:r>
              <a:rPr sz="18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&amp; </a:t>
            </a:r>
            <a:r>
              <a:rPr sz="1800" spc="-50" dirty="0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endParaRPr sz="1800">
              <a:latin typeface="Carlito"/>
              <a:cs typeface="Carlito"/>
            </a:endParaRPr>
          </a:p>
          <a:p>
            <a:pPr marL="355600" indent="-341630">
              <a:lnSpc>
                <a:spcPct val="100000"/>
              </a:lnSpc>
              <a:spcBef>
                <a:spcPts val="20"/>
              </a:spcBef>
              <a:buAutoNum type="alphaLcParenBoth"/>
              <a:tabLst>
                <a:tab pos="355600" algn="l"/>
              </a:tabLst>
            </a:pP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Neither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6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nor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endParaRPr sz="16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16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3.</a:t>
            </a:r>
            <a:r>
              <a:rPr sz="16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Codeword</a:t>
            </a:r>
            <a:r>
              <a:rPr sz="16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means?</a:t>
            </a:r>
            <a:endParaRPr sz="16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90600" y="5483345"/>
            <a:ext cx="3688715" cy="1369060"/>
            <a:chOff x="990600" y="5483345"/>
            <a:chExt cx="3688715" cy="1369060"/>
          </a:xfrm>
        </p:grpSpPr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93625" y="5551815"/>
              <a:ext cx="3685077" cy="119042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0600" y="5483345"/>
              <a:ext cx="3261360" cy="136855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0411" y="5559551"/>
              <a:ext cx="3601212" cy="111556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143101" y="5614365"/>
            <a:ext cx="285750" cy="1048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(a)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(b)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(c)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(d)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86280" y="5614365"/>
            <a:ext cx="2565400" cy="1048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Dataword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Redundant</a:t>
            </a:r>
            <a:r>
              <a:rPr sz="18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rlito"/>
                <a:cs typeface="Carlito"/>
              </a:rPr>
              <a:t>bits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Dataword</a:t>
            </a:r>
            <a:r>
              <a:rPr sz="1800" spc="-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+</a:t>
            </a:r>
            <a:r>
              <a:rPr sz="18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Redundant</a:t>
            </a: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rlito"/>
                <a:cs typeface="Carlito"/>
              </a:rPr>
              <a:t>bits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None</a:t>
            </a:r>
            <a:endParaRPr sz="1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74133" y="0"/>
            <a:ext cx="5494020" cy="742315"/>
            <a:chOff x="3374133" y="0"/>
            <a:chExt cx="5494020" cy="7423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4133" y="86641"/>
              <a:ext cx="5494025" cy="4880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3736" y="0"/>
              <a:ext cx="4271771" cy="7421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90900" y="94488"/>
              <a:ext cx="5410200" cy="413384"/>
            </a:xfrm>
            <a:custGeom>
              <a:avLst/>
              <a:gdLst/>
              <a:ahLst/>
              <a:cxnLst/>
              <a:rect l="l" t="t" r="r" b="b"/>
              <a:pathLst>
                <a:path w="5410200" h="413384">
                  <a:moveTo>
                    <a:pt x="534136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3"/>
                  </a:lnTo>
                  <a:lnTo>
                    <a:pt x="5341366" y="413003"/>
                  </a:lnTo>
                  <a:lnTo>
                    <a:pt x="5368141" y="407588"/>
                  </a:lnTo>
                  <a:lnTo>
                    <a:pt x="5390022" y="392826"/>
                  </a:lnTo>
                  <a:lnTo>
                    <a:pt x="5404784" y="370945"/>
                  </a:lnTo>
                  <a:lnTo>
                    <a:pt x="5410200" y="344169"/>
                  </a:lnTo>
                  <a:lnTo>
                    <a:pt x="5410200" y="68833"/>
                  </a:lnTo>
                  <a:lnTo>
                    <a:pt x="5404784" y="42058"/>
                  </a:lnTo>
                  <a:lnTo>
                    <a:pt x="5390022" y="20177"/>
                  </a:lnTo>
                  <a:lnTo>
                    <a:pt x="5368141" y="5415"/>
                  </a:lnTo>
                  <a:lnTo>
                    <a:pt x="5341366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245" rIns="0" bIns="0" rtlCol="0">
            <a:spAutoFit/>
          </a:bodyPr>
          <a:lstStyle/>
          <a:p>
            <a:pPr marL="362902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SELF-</a:t>
            </a:r>
            <a:r>
              <a:rPr dirty="0"/>
              <a:t>ASSESSMENT</a:t>
            </a:r>
            <a:r>
              <a:rPr spc="-65" dirty="0"/>
              <a:t> </a:t>
            </a:r>
            <a:r>
              <a:rPr spc="-10" dirty="0"/>
              <a:t>QUESTIONS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52272" y="733107"/>
            <a:ext cx="10746105" cy="792480"/>
            <a:chOff x="652272" y="733107"/>
            <a:chExt cx="10746105" cy="79248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2272" y="733107"/>
              <a:ext cx="10745724" cy="79228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46404" y="929639"/>
              <a:ext cx="10171430" cy="413384"/>
            </a:xfrm>
            <a:custGeom>
              <a:avLst/>
              <a:gdLst/>
              <a:ahLst/>
              <a:cxnLst/>
              <a:rect l="l" t="t" r="r" b="b"/>
              <a:pathLst>
                <a:path w="10171430" h="413384">
                  <a:moveTo>
                    <a:pt x="10024110" y="0"/>
                  </a:moveTo>
                  <a:lnTo>
                    <a:pt x="147078" y="0"/>
                  </a:lnTo>
                  <a:lnTo>
                    <a:pt x="100590" y="7504"/>
                  </a:lnTo>
                  <a:lnTo>
                    <a:pt x="60215" y="28395"/>
                  </a:lnTo>
                  <a:lnTo>
                    <a:pt x="28377" y="60240"/>
                  </a:lnTo>
                  <a:lnTo>
                    <a:pt x="7498" y="100608"/>
                  </a:lnTo>
                  <a:lnTo>
                    <a:pt x="0" y="147065"/>
                  </a:lnTo>
                  <a:lnTo>
                    <a:pt x="0" y="265938"/>
                  </a:lnTo>
                  <a:lnTo>
                    <a:pt x="7498" y="312395"/>
                  </a:lnTo>
                  <a:lnTo>
                    <a:pt x="28377" y="352763"/>
                  </a:lnTo>
                  <a:lnTo>
                    <a:pt x="60215" y="384608"/>
                  </a:lnTo>
                  <a:lnTo>
                    <a:pt x="100590" y="405499"/>
                  </a:lnTo>
                  <a:lnTo>
                    <a:pt x="147078" y="413004"/>
                  </a:lnTo>
                  <a:lnTo>
                    <a:pt x="10024110" y="413004"/>
                  </a:lnTo>
                  <a:lnTo>
                    <a:pt x="10070567" y="405499"/>
                  </a:lnTo>
                  <a:lnTo>
                    <a:pt x="10110935" y="384608"/>
                  </a:lnTo>
                  <a:lnTo>
                    <a:pt x="10142780" y="352763"/>
                  </a:lnTo>
                  <a:lnTo>
                    <a:pt x="10163671" y="312395"/>
                  </a:lnTo>
                  <a:lnTo>
                    <a:pt x="10171176" y="265938"/>
                  </a:lnTo>
                  <a:lnTo>
                    <a:pt x="10171176" y="147065"/>
                  </a:lnTo>
                  <a:lnTo>
                    <a:pt x="10163671" y="100608"/>
                  </a:lnTo>
                  <a:lnTo>
                    <a:pt x="10142780" y="60240"/>
                  </a:lnTo>
                  <a:lnTo>
                    <a:pt x="10110935" y="28395"/>
                  </a:lnTo>
                  <a:lnTo>
                    <a:pt x="10070567" y="7504"/>
                  </a:lnTo>
                  <a:lnTo>
                    <a:pt x="10024110" y="0"/>
                  </a:lnTo>
                  <a:close/>
                </a:path>
              </a:pathLst>
            </a:custGeom>
            <a:solidFill>
              <a:srgbClr val="E84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67816" y="989456"/>
            <a:ext cx="62661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5600" algn="l"/>
              </a:tabLst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1.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	What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is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codeword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 for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dataword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1011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when</a:t>
            </a:r>
            <a:r>
              <a:rPr sz="16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even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parity</a:t>
            </a:r>
            <a:r>
              <a:rPr sz="16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is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used?</a:t>
            </a:r>
            <a:endParaRPr sz="16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7323" y="1443227"/>
            <a:ext cx="10747375" cy="1975485"/>
            <a:chOff x="687323" y="1443227"/>
            <a:chExt cx="10747375" cy="197548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4503" y="1475244"/>
              <a:ext cx="3703320" cy="11414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1267" y="1443227"/>
              <a:ext cx="1202436" cy="12664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0411" y="1501139"/>
              <a:ext cx="3601212" cy="103936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7323" y="2677680"/>
              <a:ext cx="10747248" cy="7409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81455" y="2872739"/>
              <a:ext cx="10172700" cy="364490"/>
            </a:xfrm>
            <a:custGeom>
              <a:avLst/>
              <a:gdLst/>
              <a:ahLst/>
              <a:cxnLst/>
              <a:rect l="l" t="t" r="r" b="b"/>
              <a:pathLst>
                <a:path w="10172700" h="364489">
                  <a:moveTo>
                    <a:pt x="10043033" y="0"/>
                  </a:moveTo>
                  <a:lnTo>
                    <a:pt x="129717" y="0"/>
                  </a:lnTo>
                  <a:lnTo>
                    <a:pt x="79225" y="10187"/>
                  </a:lnTo>
                  <a:lnTo>
                    <a:pt x="37993" y="37973"/>
                  </a:lnTo>
                  <a:lnTo>
                    <a:pt x="10193" y="79188"/>
                  </a:lnTo>
                  <a:lnTo>
                    <a:pt x="0" y="129667"/>
                  </a:lnTo>
                  <a:lnTo>
                    <a:pt x="0" y="234569"/>
                  </a:lnTo>
                  <a:lnTo>
                    <a:pt x="10193" y="285047"/>
                  </a:lnTo>
                  <a:lnTo>
                    <a:pt x="37993" y="326263"/>
                  </a:lnTo>
                  <a:lnTo>
                    <a:pt x="79225" y="354048"/>
                  </a:lnTo>
                  <a:lnTo>
                    <a:pt x="129717" y="364236"/>
                  </a:lnTo>
                  <a:lnTo>
                    <a:pt x="10043033" y="364236"/>
                  </a:lnTo>
                  <a:lnTo>
                    <a:pt x="10093511" y="354048"/>
                  </a:lnTo>
                  <a:lnTo>
                    <a:pt x="10134727" y="326263"/>
                  </a:lnTo>
                  <a:lnTo>
                    <a:pt x="10162512" y="285047"/>
                  </a:lnTo>
                  <a:lnTo>
                    <a:pt x="10172700" y="234569"/>
                  </a:lnTo>
                  <a:lnTo>
                    <a:pt x="10172700" y="129667"/>
                  </a:lnTo>
                  <a:lnTo>
                    <a:pt x="10162512" y="79188"/>
                  </a:lnTo>
                  <a:lnTo>
                    <a:pt x="10134727" y="37973"/>
                  </a:lnTo>
                  <a:lnTo>
                    <a:pt x="10093511" y="10187"/>
                  </a:lnTo>
                  <a:lnTo>
                    <a:pt x="10043033" y="0"/>
                  </a:lnTo>
                  <a:close/>
                </a:path>
              </a:pathLst>
            </a:custGeom>
            <a:solidFill>
              <a:srgbClr val="E84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079246" y="1573402"/>
          <a:ext cx="4387215" cy="1600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1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9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marR="40640" algn="r">
                        <a:lnSpc>
                          <a:spcPts val="1515"/>
                        </a:lnSpc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(a)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515"/>
                        </a:lnSpc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10110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marR="25400" algn="r">
                        <a:lnSpc>
                          <a:spcPts val="1675"/>
                        </a:lnSpc>
                      </a:pPr>
                      <a:r>
                        <a:rPr sz="1600" b="1" spc="-25" dirty="0">
                          <a:solidFill>
                            <a:srgbClr val="FFFF00"/>
                          </a:solidFill>
                          <a:latin typeface="Carlito"/>
                          <a:cs typeface="Carlito"/>
                        </a:rPr>
                        <a:t>(b)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675"/>
                        </a:lnSpc>
                      </a:pPr>
                      <a:r>
                        <a:rPr sz="1600" b="1" spc="-10" dirty="0">
                          <a:solidFill>
                            <a:srgbClr val="FFFF00"/>
                          </a:solidFill>
                          <a:latin typeface="Carlito"/>
                          <a:cs typeface="Carlito"/>
                        </a:rPr>
                        <a:t>10111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R="53340" algn="r">
                        <a:lnSpc>
                          <a:spcPts val="1680"/>
                        </a:lnSpc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(c)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680"/>
                        </a:lnSpc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10011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930">
                <a:tc>
                  <a:txBody>
                    <a:bodyPr/>
                    <a:lstStyle/>
                    <a:p>
                      <a:pPr marR="31115" algn="r">
                        <a:lnSpc>
                          <a:spcPts val="1680"/>
                        </a:lnSpc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(d)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680"/>
                        </a:lnSpc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10010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609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1430"/>
                        </a:spcBef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2.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18161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900"/>
                        </a:lnSpc>
                        <a:spcBef>
                          <a:spcPts val="143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What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is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the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drawback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of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simple</a:t>
                      </a:r>
                      <a:r>
                        <a:rPr sz="1600" spc="-4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parity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method?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18161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0" y="19062"/>
            <a:ext cx="4688205" cy="4674870"/>
            <a:chOff x="0" y="19062"/>
            <a:chExt cx="4688205" cy="4674870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9263" y="3375647"/>
              <a:ext cx="3718560" cy="121616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75360" y="3323844"/>
              <a:ext cx="3578352" cy="13700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5171" y="3401568"/>
              <a:ext cx="3616452" cy="11140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9062"/>
              <a:ext cx="1399906" cy="581393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771105" y="4861154"/>
            <a:ext cx="10636250" cy="635635"/>
            <a:chOff x="771105" y="4861154"/>
            <a:chExt cx="10636250" cy="635635"/>
          </a:xfrm>
        </p:grpSpPr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1105" y="4861154"/>
              <a:ext cx="10636073" cy="63506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010411" y="5003291"/>
              <a:ext cx="10171430" cy="364490"/>
            </a:xfrm>
            <a:custGeom>
              <a:avLst/>
              <a:gdLst/>
              <a:ahLst/>
              <a:cxnLst/>
              <a:rect l="l" t="t" r="r" b="b"/>
              <a:pathLst>
                <a:path w="10171430" h="364489">
                  <a:moveTo>
                    <a:pt x="10041509" y="0"/>
                  </a:moveTo>
                  <a:lnTo>
                    <a:pt x="129705" y="0"/>
                  </a:lnTo>
                  <a:lnTo>
                    <a:pt x="79220" y="10187"/>
                  </a:lnTo>
                  <a:lnTo>
                    <a:pt x="37992" y="37972"/>
                  </a:lnTo>
                  <a:lnTo>
                    <a:pt x="10193" y="79188"/>
                  </a:lnTo>
                  <a:lnTo>
                    <a:pt x="0" y="129666"/>
                  </a:lnTo>
                  <a:lnTo>
                    <a:pt x="0" y="234568"/>
                  </a:lnTo>
                  <a:lnTo>
                    <a:pt x="10193" y="285047"/>
                  </a:lnTo>
                  <a:lnTo>
                    <a:pt x="37992" y="326262"/>
                  </a:lnTo>
                  <a:lnTo>
                    <a:pt x="79220" y="354048"/>
                  </a:lnTo>
                  <a:lnTo>
                    <a:pt x="129705" y="364235"/>
                  </a:lnTo>
                  <a:lnTo>
                    <a:pt x="10041509" y="364235"/>
                  </a:lnTo>
                  <a:lnTo>
                    <a:pt x="10091987" y="354048"/>
                  </a:lnTo>
                  <a:lnTo>
                    <a:pt x="10133202" y="326262"/>
                  </a:lnTo>
                  <a:lnTo>
                    <a:pt x="10160988" y="285047"/>
                  </a:lnTo>
                  <a:lnTo>
                    <a:pt x="10171176" y="234568"/>
                  </a:lnTo>
                  <a:lnTo>
                    <a:pt x="10171176" y="129666"/>
                  </a:lnTo>
                  <a:lnTo>
                    <a:pt x="10160988" y="79188"/>
                  </a:lnTo>
                  <a:lnTo>
                    <a:pt x="10133203" y="37972"/>
                  </a:lnTo>
                  <a:lnTo>
                    <a:pt x="10091987" y="10187"/>
                  </a:lnTo>
                  <a:lnTo>
                    <a:pt x="10041509" y="0"/>
                  </a:lnTo>
                  <a:close/>
                </a:path>
              </a:pathLst>
            </a:custGeom>
            <a:solidFill>
              <a:srgbClr val="E84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126947" y="3397453"/>
            <a:ext cx="3225165" cy="191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7505" indent="-343535">
              <a:lnSpc>
                <a:spcPct val="100000"/>
              </a:lnSpc>
              <a:spcBef>
                <a:spcPts val="100"/>
              </a:spcBef>
              <a:buAutoNum type="alphaLcParenBoth"/>
              <a:tabLst>
                <a:tab pos="357505" algn="l"/>
              </a:tabLst>
            </a:pPr>
            <a:r>
              <a:rPr sz="1800" b="1" dirty="0">
                <a:solidFill>
                  <a:srgbClr val="FFFF00"/>
                </a:solidFill>
                <a:latin typeface="Carlito"/>
                <a:cs typeface="Carlito"/>
              </a:rPr>
              <a:t>Detects</a:t>
            </a:r>
            <a:r>
              <a:rPr sz="1800" b="1" spc="-45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FFFF00"/>
                </a:solidFill>
                <a:latin typeface="Carlito"/>
                <a:cs typeface="Carlito"/>
              </a:rPr>
              <a:t>only</a:t>
            </a:r>
            <a:r>
              <a:rPr sz="1800" b="1" spc="-30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FFFF00"/>
                </a:solidFill>
                <a:latin typeface="Carlito"/>
                <a:cs typeface="Carlito"/>
              </a:rPr>
              <a:t>odd</a:t>
            </a:r>
            <a:r>
              <a:rPr sz="1800" b="1" spc="-25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FFFF00"/>
                </a:solidFill>
                <a:latin typeface="Carlito"/>
                <a:cs typeface="Carlito"/>
              </a:rPr>
              <a:t>no.</a:t>
            </a:r>
            <a:r>
              <a:rPr sz="1800" b="1" spc="-20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FFFF00"/>
                </a:solidFill>
                <a:latin typeface="Carlito"/>
                <a:cs typeface="Carlito"/>
              </a:rPr>
              <a:t>of</a:t>
            </a:r>
            <a:r>
              <a:rPr sz="1800" b="1" spc="-10" dirty="0">
                <a:solidFill>
                  <a:srgbClr val="FFFF00"/>
                </a:solidFill>
                <a:latin typeface="Carlito"/>
                <a:cs typeface="Carlito"/>
              </a:rPr>
              <a:t> errors</a:t>
            </a:r>
            <a:endParaRPr sz="1800">
              <a:latin typeface="Carlito"/>
              <a:cs typeface="Carlito"/>
            </a:endParaRPr>
          </a:p>
          <a:p>
            <a:pPr marL="356870" indent="-342900">
              <a:lnSpc>
                <a:spcPct val="100000"/>
              </a:lnSpc>
              <a:spcBef>
                <a:spcPts val="5"/>
              </a:spcBef>
              <a:buAutoNum type="alphaLcParenBoth"/>
              <a:tabLst>
                <a:tab pos="356870" algn="l"/>
              </a:tabLst>
            </a:pP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Detects</a:t>
            </a: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only</a:t>
            </a:r>
            <a:r>
              <a:rPr sz="18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even</a:t>
            </a:r>
            <a:r>
              <a:rPr sz="18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no.</a:t>
            </a:r>
            <a:r>
              <a:rPr sz="18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8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errors</a:t>
            </a:r>
            <a:endParaRPr sz="1800">
              <a:latin typeface="Carlito"/>
              <a:cs typeface="Carlito"/>
            </a:endParaRPr>
          </a:p>
          <a:p>
            <a:pPr marL="356235" indent="-342265">
              <a:lnSpc>
                <a:spcPct val="100000"/>
              </a:lnSpc>
              <a:buAutoNum type="alphaLcParenBoth"/>
              <a:tabLst>
                <a:tab pos="356235" algn="l"/>
              </a:tabLst>
            </a:pP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Both</a:t>
            </a:r>
            <a:r>
              <a:rPr sz="18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&amp; </a:t>
            </a:r>
            <a:r>
              <a:rPr sz="1800" spc="-50" dirty="0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endParaRPr sz="1800">
              <a:latin typeface="Carlito"/>
              <a:cs typeface="Carlito"/>
            </a:endParaRPr>
          </a:p>
          <a:p>
            <a:pPr marL="355600" indent="-341630">
              <a:lnSpc>
                <a:spcPct val="100000"/>
              </a:lnSpc>
              <a:spcBef>
                <a:spcPts val="20"/>
              </a:spcBef>
              <a:buAutoNum type="alphaLcParenBoth"/>
              <a:tabLst>
                <a:tab pos="355600" algn="l"/>
              </a:tabLst>
            </a:pP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Neither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6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nor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endParaRPr sz="16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16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3.</a:t>
            </a:r>
            <a:r>
              <a:rPr sz="16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Codeword</a:t>
            </a:r>
            <a:r>
              <a:rPr sz="16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means?</a:t>
            </a:r>
            <a:endParaRPr sz="16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90600" y="5483345"/>
            <a:ext cx="3688715" cy="1369060"/>
            <a:chOff x="990600" y="5483345"/>
            <a:chExt cx="3688715" cy="1369060"/>
          </a:xfrm>
        </p:grpSpPr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93625" y="5551815"/>
              <a:ext cx="3685077" cy="119042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0600" y="5483345"/>
              <a:ext cx="3317748" cy="136855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0411" y="5559551"/>
              <a:ext cx="3601212" cy="111556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143101" y="5614365"/>
            <a:ext cx="285750" cy="1048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(a)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(b)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(c)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(d)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86280" y="5614365"/>
            <a:ext cx="2565400" cy="1048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Dataword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Redundant</a:t>
            </a:r>
            <a:r>
              <a:rPr sz="18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rlito"/>
                <a:cs typeface="Carlito"/>
              </a:rPr>
              <a:t>bits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Dataword</a:t>
            </a:r>
            <a:r>
              <a:rPr sz="1800" spc="-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+</a:t>
            </a:r>
            <a:r>
              <a:rPr sz="18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Redundant</a:t>
            </a: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rlito"/>
                <a:cs typeface="Carlito"/>
              </a:rPr>
              <a:t>bits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None</a:t>
            </a:r>
            <a:endParaRPr sz="1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" y="1584197"/>
            <a:ext cx="4098036" cy="389458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75628" y="2228849"/>
            <a:ext cx="4011295" cy="2497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005" indent="-2857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4005" algn="l"/>
              </a:tabLst>
            </a:pPr>
            <a:r>
              <a:rPr sz="2800" spc="-20" dirty="0">
                <a:latin typeface="Carlito"/>
                <a:cs typeface="Carlito"/>
              </a:rPr>
              <a:t>Types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of</a:t>
            </a:r>
            <a:r>
              <a:rPr sz="2800" spc="-6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Errors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Wingdings"/>
              <a:buChar char=""/>
            </a:pPr>
            <a:endParaRPr sz="2800">
              <a:latin typeface="Carlito"/>
              <a:cs typeface="Carlito"/>
            </a:endParaRPr>
          </a:p>
          <a:p>
            <a:pPr marL="29400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4005" algn="l"/>
              </a:tabLst>
            </a:pPr>
            <a:r>
              <a:rPr sz="2800" dirty="0">
                <a:latin typeface="Carlito"/>
                <a:cs typeface="Carlito"/>
              </a:rPr>
              <a:t>Error</a:t>
            </a:r>
            <a:r>
              <a:rPr sz="2800" spc="-8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Detection</a:t>
            </a:r>
            <a:r>
              <a:rPr sz="2800" spc="-9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Methods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Wingdings"/>
              <a:buChar char=""/>
            </a:pPr>
            <a:endParaRPr sz="2800">
              <a:latin typeface="Carlito"/>
              <a:cs typeface="Carlito"/>
            </a:endParaRPr>
          </a:p>
          <a:p>
            <a:pPr marL="29400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4005" algn="l"/>
              </a:tabLst>
            </a:pPr>
            <a:r>
              <a:rPr sz="2800" dirty="0">
                <a:latin typeface="Carlito"/>
                <a:cs typeface="Carlito"/>
              </a:rPr>
              <a:t>Error</a:t>
            </a:r>
            <a:r>
              <a:rPr sz="2800" spc="-7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Correction</a:t>
            </a:r>
            <a:r>
              <a:rPr sz="2800" spc="-6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Methods</a:t>
            </a:r>
            <a:endParaRPr sz="280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374133" y="0"/>
            <a:ext cx="5494020" cy="742315"/>
            <a:chOff x="3374133" y="0"/>
            <a:chExt cx="5494020" cy="74231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74133" y="86641"/>
              <a:ext cx="5494025" cy="4880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15128" y="0"/>
              <a:ext cx="1810512" cy="742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90900" y="94488"/>
              <a:ext cx="5410200" cy="413384"/>
            </a:xfrm>
            <a:custGeom>
              <a:avLst/>
              <a:gdLst/>
              <a:ahLst/>
              <a:cxnLst/>
              <a:rect l="l" t="t" r="r" b="b"/>
              <a:pathLst>
                <a:path w="5410200" h="413384">
                  <a:moveTo>
                    <a:pt x="534136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3"/>
                  </a:lnTo>
                  <a:lnTo>
                    <a:pt x="5341366" y="413003"/>
                  </a:lnTo>
                  <a:lnTo>
                    <a:pt x="5368141" y="407588"/>
                  </a:lnTo>
                  <a:lnTo>
                    <a:pt x="5390022" y="392826"/>
                  </a:lnTo>
                  <a:lnTo>
                    <a:pt x="5404784" y="370945"/>
                  </a:lnTo>
                  <a:lnTo>
                    <a:pt x="5410200" y="344169"/>
                  </a:lnTo>
                  <a:lnTo>
                    <a:pt x="5410200" y="68833"/>
                  </a:lnTo>
                  <a:lnTo>
                    <a:pt x="5404784" y="42058"/>
                  </a:lnTo>
                  <a:lnTo>
                    <a:pt x="5390022" y="20177"/>
                  </a:lnTo>
                  <a:lnTo>
                    <a:pt x="5368141" y="5415"/>
                  </a:lnTo>
                  <a:lnTo>
                    <a:pt x="5341366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412740" y="85725"/>
            <a:ext cx="1369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SUMMARY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74133" y="0"/>
            <a:ext cx="5494020" cy="742315"/>
            <a:chOff x="3374133" y="0"/>
            <a:chExt cx="5494020" cy="7423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4133" y="86641"/>
              <a:ext cx="5494025" cy="4880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7512" y="0"/>
              <a:ext cx="3285743" cy="7421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90900" y="94488"/>
              <a:ext cx="5410200" cy="413384"/>
            </a:xfrm>
            <a:custGeom>
              <a:avLst/>
              <a:gdLst/>
              <a:ahLst/>
              <a:cxnLst/>
              <a:rect l="l" t="t" r="r" b="b"/>
              <a:pathLst>
                <a:path w="5410200" h="413384">
                  <a:moveTo>
                    <a:pt x="534136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3"/>
                  </a:lnTo>
                  <a:lnTo>
                    <a:pt x="5341366" y="413003"/>
                  </a:lnTo>
                  <a:lnTo>
                    <a:pt x="5368141" y="407588"/>
                  </a:lnTo>
                  <a:lnTo>
                    <a:pt x="5390022" y="392826"/>
                  </a:lnTo>
                  <a:lnTo>
                    <a:pt x="5404784" y="370945"/>
                  </a:lnTo>
                  <a:lnTo>
                    <a:pt x="5410200" y="344169"/>
                  </a:lnTo>
                  <a:lnTo>
                    <a:pt x="5410200" y="68833"/>
                  </a:lnTo>
                  <a:lnTo>
                    <a:pt x="5404784" y="42058"/>
                  </a:lnTo>
                  <a:lnTo>
                    <a:pt x="5390022" y="20177"/>
                  </a:lnTo>
                  <a:lnTo>
                    <a:pt x="5368141" y="5415"/>
                  </a:lnTo>
                  <a:lnTo>
                    <a:pt x="5341366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245" rIns="0" bIns="0" rtlCol="0">
            <a:spAutoFit/>
          </a:bodyPr>
          <a:lstStyle/>
          <a:p>
            <a:pPr marL="412305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TERMINAL</a:t>
            </a:r>
            <a:r>
              <a:rPr spc="-65" dirty="0"/>
              <a:t> </a:t>
            </a:r>
            <a:r>
              <a:rPr spc="-10" dirty="0"/>
              <a:t>QUESTIONS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7056" y="2212670"/>
            <a:ext cx="1009967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8920" indent="-23622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SzPct val="90000"/>
              <a:buFont typeface="Carlito"/>
              <a:buAutoNum type="arabicPeriod"/>
              <a:tabLst>
                <a:tab pos="24892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60" dirty="0">
                <a:solidFill>
                  <a:srgbClr val="2F2F2F"/>
                </a:solidFill>
                <a:latin typeface="Times New Roman"/>
                <a:cs typeface="Times New Roman"/>
              </a:rPr>
              <a:t>message</a:t>
            </a:r>
            <a:r>
              <a:rPr sz="2000" spc="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5" dirty="0">
                <a:solidFill>
                  <a:srgbClr val="2F2F2F"/>
                </a:solidFill>
                <a:latin typeface="Times New Roman"/>
                <a:cs typeface="Times New Roman"/>
              </a:rPr>
              <a:t>1101011011</a:t>
            </a:r>
            <a:r>
              <a:rPr sz="2000" spc="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000" spc="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000" spc="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be</a:t>
            </a:r>
            <a:r>
              <a:rPr sz="2000" spc="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transmitted</a:t>
            </a:r>
            <a:r>
              <a:rPr sz="2000" spc="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using</a:t>
            </a:r>
            <a:r>
              <a:rPr sz="2000" spc="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generator</a:t>
            </a:r>
            <a:r>
              <a:rPr sz="2000" spc="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polynomial</a:t>
            </a:r>
            <a:r>
              <a:rPr sz="2000" spc="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70" dirty="0">
                <a:solidFill>
                  <a:srgbClr val="2F2F2F"/>
                </a:solidFill>
                <a:latin typeface="Times New Roman"/>
                <a:cs typeface="Times New Roman"/>
              </a:rPr>
              <a:t>x4+x+1</a:t>
            </a:r>
            <a:r>
              <a:rPr sz="2000" spc="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000" spc="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protect</a:t>
            </a:r>
            <a:r>
              <a:rPr sz="2000" spc="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it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from</a:t>
            </a:r>
            <a:r>
              <a:rPr sz="20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errors.</a:t>
            </a:r>
            <a:r>
              <a:rPr sz="20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Find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final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be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transmitted</a:t>
            </a: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after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performing</a:t>
            </a:r>
            <a:r>
              <a:rPr sz="20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CRC.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7620" indent="300990">
              <a:lnSpc>
                <a:spcPct val="100000"/>
              </a:lnSpc>
              <a:buAutoNum type="arabicPeriod" startAt="2"/>
              <a:tabLst>
                <a:tab pos="31369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Original</a:t>
            </a:r>
            <a:r>
              <a:rPr sz="2000" spc="2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2000" spc="2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000" spc="2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60" dirty="0">
                <a:solidFill>
                  <a:srgbClr val="2F2F2F"/>
                </a:solidFill>
                <a:latin typeface="Times New Roman"/>
                <a:cs typeface="Times New Roman"/>
              </a:rPr>
              <a:t>10110011</a:t>
            </a:r>
            <a:r>
              <a:rPr sz="2000" spc="2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70" dirty="0">
                <a:solidFill>
                  <a:srgbClr val="2F2F2F"/>
                </a:solidFill>
                <a:latin typeface="Times New Roman"/>
                <a:cs typeface="Times New Roman"/>
              </a:rPr>
              <a:t>10101011</a:t>
            </a:r>
            <a:r>
              <a:rPr sz="2000" spc="25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70" dirty="0">
                <a:solidFill>
                  <a:srgbClr val="2F2F2F"/>
                </a:solidFill>
                <a:latin typeface="Times New Roman"/>
                <a:cs typeface="Times New Roman"/>
              </a:rPr>
              <a:t>01011010</a:t>
            </a:r>
            <a:r>
              <a:rPr sz="2000" spc="25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75" dirty="0">
                <a:solidFill>
                  <a:srgbClr val="2F2F2F"/>
                </a:solidFill>
                <a:latin typeface="Times New Roman"/>
                <a:cs typeface="Times New Roman"/>
              </a:rPr>
              <a:t>11010101.</a:t>
            </a:r>
            <a:r>
              <a:rPr sz="2000" spc="25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Perform</a:t>
            </a:r>
            <a:r>
              <a:rPr sz="2000" spc="2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2D</a:t>
            </a:r>
            <a:r>
              <a:rPr sz="2000" spc="2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parity</a:t>
            </a:r>
            <a:r>
              <a:rPr sz="2000" spc="2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2000" spc="25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compute</a:t>
            </a:r>
            <a:r>
              <a:rPr sz="2000" spc="2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the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codeword.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AutoNum type="arabicPeriod" startAt="2"/>
            </a:pPr>
            <a:endParaRPr sz="2000">
              <a:latin typeface="Times New Roman"/>
              <a:cs typeface="Times New Roman"/>
            </a:endParaRPr>
          </a:p>
          <a:p>
            <a:pPr marL="264795" indent="-252095">
              <a:lnSpc>
                <a:spcPct val="100000"/>
              </a:lnSpc>
              <a:buAutoNum type="arabicPeriod" startAt="2"/>
              <a:tabLst>
                <a:tab pos="264795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Original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20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95" dirty="0">
                <a:solidFill>
                  <a:srgbClr val="2F2F2F"/>
                </a:solidFill>
                <a:latin typeface="Times New Roman"/>
                <a:cs typeface="Times New Roman"/>
              </a:rPr>
              <a:t>10110011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5" dirty="0">
                <a:solidFill>
                  <a:srgbClr val="2F2F2F"/>
                </a:solidFill>
                <a:latin typeface="Times New Roman"/>
                <a:cs typeface="Times New Roman"/>
              </a:rPr>
              <a:t>10101011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5" dirty="0">
                <a:solidFill>
                  <a:srgbClr val="2F2F2F"/>
                </a:solidFill>
                <a:latin typeface="Times New Roman"/>
                <a:cs typeface="Times New Roman"/>
              </a:rPr>
              <a:t>01011010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5" dirty="0">
                <a:solidFill>
                  <a:srgbClr val="2F2F2F"/>
                </a:solidFill>
                <a:latin typeface="Times New Roman"/>
                <a:cs typeface="Times New Roman"/>
              </a:rPr>
              <a:t>11010101.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Find</a:t>
            </a:r>
            <a:r>
              <a:rPr sz="20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out</a:t>
            </a:r>
            <a:r>
              <a:rPr sz="20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checksum</a:t>
            </a:r>
            <a:r>
              <a:rPr sz="20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000" spc="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detect</a:t>
            </a:r>
            <a:r>
              <a:rPr sz="20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error.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AutoNum type="arabicPeriod" startAt="2"/>
            </a:pPr>
            <a:endParaRPr sz="2000">
              <a:latin typeface="Times New Roman"/>
              <a:cs typeface="Times New Roman"/>
            </a:endParaRPr>
          </a:p>
          <a:p>
            <a:pPr marL="12700" marR="5080" indent="287020">
              <a:lnSpc>
                <a:spcPct val="100000"/>
              </a:lnSpc>
              <a:buAutoNum type="arabicPeriod" startAt="2"/>
              <a:tabLst>
                <a:tab pos="299720" algn="l"/>
              </a:tabLst>
            </a:pP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Similarly,</a:t>
            </a:r>
            <a:r>
              <a:rPr sz="2000" spc="1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if</a:t>
            </a:r>
            <a:r>
              <a:rPr sz="2000" spc="1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Shradha</a:t>
            </a:r>
            <a:r>
              <a:rPr sz="2000" spc="1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000" spc="1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receiving</a:t>
            </a:r>
            <a:r>
              <a:rPr sz="2000" spc="1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</a:t>
            </a:r>
            <a:r>
              <a:rPr sz="2000" spc="1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45" dirty="0">
                <a:solidFill>
                  <a:srgbClr val="2F2F2F"/>
                </a:solidFill>
                <a:latin typeface="Times New Roman"/>
                <a:cs typeface="Times New Roman"/>
              </a:rPr>
              <a:t>7-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bit</a:t>
            </a:r>
            <a:r>
              <a:rPr sz="2000" spc="1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hamming</a:t>
            </a:r>
            <a:r>
              <a:rPr sz="2000" spc="1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code</a:t>
            </a:r>
            <a:r>
              <a:rPr sz="2000" spc="1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75" dirty="0">
                <a:solidFill>
                  <a:srgbClr val="2F2F2F"/>
                </a:solidFill>
                <a:latin typeface="Times New Roman"/>
                <a:cs typeface="Times New Roman"/>
              </a:rPr>
              <a:t>1011101,</a:t>
            </a:r>
            <a:r>
              <a:rPr sz="2000" spc="1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assume</a:t>
            </a:r>
            <a:r>
              <a:rPr sz="2000" spc="1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Even</a:t>
            </a:r>
            <a:r>
              <a:rPr sz="2000" spc="1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parity</a:t>
            </a:r>
            <a:r>
              <a:rPr sz="2000" spc="1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2000" spc="1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state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whether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2F2F2F"/>
                </a:solidFill>
                <a:latin typeface="Times New Roman"/>
                <a:cs typeface="Times New Roman"/>
              </a:rPr>
              <a:t>received</a:t>
            </a:r>
            <a:r>
              <a:rPr sz="20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correct</a:t>
            </a:r>
            <a:r>
              <a:rPr sz="20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or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not.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If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not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locate</a:t>
            </a:r>
            <a:r>
              <a:rPr sz="20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error</a:t>
            </a: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bit?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16835" y="0"/>
            <a:ext cx="7244080" cy="742315"/>
            <a:chOff x="2116835" y="0"/>
            <a:chExt cx="7244080" cy="7423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4258" y="86576"/>
              <a:ext cx="7188727" cy="48658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6835" y="0"/>
              <a:ext cx="7243571" cy="7421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61031" y="94488"/>
              <a:ext cx="7105015" cy="411480"/>
            </a:xfrm>
            <a:custGeom>
              <a:avLst/>
              <a:gdLst/>
              <a:ahLst/>
              <a:cxnLst/>
              <a:rect l="l" t="t" r="r" b="b"/>
              <a:pathLst>
                <a:path w="7105015" h="411480">
                  <a:moveTo>
                    <a:pt x="7036308" y="0"/>
                  </a:moveTo>
                  <a:lnTo>
                    <a:pt x="68580" y="0"/>
                  </a:lnTo>
                  <a:lnTo>
                    <a:pt x="41898" y="5393"/>
                  </a:lnTo>
                  <a:lnTo>
                    <a:pt x="20097" y="20097"/>
                  </a:lnTo>
                  <a:lnTo>
                    <a:pt x="5393" y="41898"/>
                  </a:lnTo>
                  <a:lnTo>
                    <a:pt x="0" y="68579"/>
                  </a:lnTo>
                  <a:lnTo>
                    <a:pt x="0" y="342899"/>
                  </a:lnTo>
                  <a:lnTo>
                    <a:pt x="5393" y="369581"/>
                  </a:lnTo>
                  <a:lnTo>
                    <a:pt x="20097" y="391382"/>
                  </a:lnTo>
                  <a:lnTo>
                    <a:pt x="41898" y="406086"/>
                  </a:lnTo>
                  <a:lnTo>
                    <a:pt x="68580" y="411479"/>
                  </a:lnTo>
                  <a:lnTo>
                    <a:pt x="7036308" y="411479"/>
                  </a:lnTo>
                  <a:lnTo>
                    <a:pt x="7062989" y="406086"/>
                  </a:lnTo>
                  <a:lnTo>
                    <a:pt x="7084790" y="391382"/>
                  </a:lnTo>
                  <a:lnTo>
                    <a:pt x="7099494" y="369581"/>
                  </a:lnTo>
                  <a:lnTo>
                    <a:pt x="7104888" y="342899"/>
                  </a:lnTo>
                  <a:lnTo>
                    <a:pt x="7104888" y="68579"/>
                  </a:lnTo>
                  <a:lnTo>
                    <a:pt x="7099494" y="41898"/>
                  </a:lnTo>
                  <a:lnTo>
                    <a:pt x="7084790" y="20097"/>
                  </a:lnTo>
                  <a:lnTo>
                    <a:pt x="7062989" y="5393"/>
                  </a:lnTo>
                  <a:lnTo>
                    <a:pt x="7036308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356" rIns="0" bIns="0" rtlCol="0">
            <a:spAutoFit/>
          </a:bodyPr>
          <a:lstStyle/>
          <a:p>
            <a:pPr marL="1762125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  <a:r>
              <a:rPr spc="-8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dirty="0"/>
              <a:t>FURTHER</a:t>
            </a:r>
            <a:r>
              <a:rPr spc="-55" dirty="0"/>
              <a:t> </a:t>
            </a:r>
            <a:r>
              <a:rPr dirty="0"/>
              <a:t>LEARNING</a:t>
            </a:r>
            <a:r>
              <a:rPr spc="-4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SESSION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79119" y="1144650"/>
            <a:ext cx="9447530" cy="290639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spc="-10" dirty="0">
                <a:latin typeface="Carlito"/>
                <a:cs typeface="Carlito"/>
              </a:rPr>
              <a:t>Reference</a:t>
            </a:r>
            <a:r>
              <a:rPr sz="1800" b="1" spc="-70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Books:</a:t>
            </a:r>
            <a:endParaRPr sz="18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A.S.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Tanenbaum,</a:t>
            </a:r>
            <a:r>
              <a:rPr sz="1800" spc="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David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J.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Wetheral</a:t>
            </a:r>
            <a:r>
              <a:rPr sz="1800" spc="10" dirty="0">
                <a:latin typeface="Carlito"/>
                <a:cs typeface="Carlito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“Computer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Networks”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Pearson,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5th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Edition.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Kurose,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J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and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Ross,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K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Computer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Networking: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spc="-60" dirty="0">
                <a:latin typeface="Carlito"/>
                <a:cs typeface="Carlito"/>
              </a:rPr>
              <a:t>Top-</a:t>
            </a:r>
            <a:r>
              <a:rPr sz="1800" dirty="0">
                <a:latin typeface="Carlito"/>
                <a:cs typeface="Carlito"/>
              </a:rPr>
              <a:t>Down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Approach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Addison-</a:t>
            </a:r>
            <a:r>
              <a:rPr sz="1800" dirty="0">
                <a:latin typeface="Carlito"/>
                <a:cs typeface="Carlito"/>
              </a:rPr>
              <a:t>Wesley-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6th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edition.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120"/>
              </a:spcBef>
              <a:buFont typeface="Carlito"/>
              <a:buAutoNum type="arabicPeriod"/>
            </a:pP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Carlito"/>
                <a:cs typeface="Carlito"/>
              </a:rPr>
              <a:t>Sites</a:t>
            </a:r>
            <a:r>
              <a:rPr sz="1800" b="1" spc="-6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and</a:t>
            </a:r>
            <a:r>
              <a:rPr sz="1800" b="1" spc="-4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Web</a:t>
            </a:r>
            <a:r>
              <a:rPr sz="1800" b="1" spc="-45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links:</a:t>
            </a:r>
            <a:endParaRPr sz="1800">
              <a:latin typeface="Carlito"/>
              <a:cs typeface="Carlito"/>
            </a:endParaRPr>
          </a:p>
          <a:p>
            <a:pPr marL="355600" marR="5080" lvl="1" indent="-343535">
              <a:lnSpc>
                <a:spcPct val="150000"/>
              </a:lnSpc>
              <a:buClr>
                <a:srgbClr val="000000"/>
              </a:buClr>
              <a:buAutoNum type="arabicPeriod"/>
              <a:tabLst>
                <a:tab pos="355600" algn="l"/>
              </a:tabLst>
            </a:pPr>
            <a:r>
              <a:rPr sz="18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  <a:hlinkClick r:id="rId4"/>
              </a:rPr>
              <a:t>https://www.tutorialspoint.com/data_communication_computer_network/error_detection_and_</a:t>
            </a:r>
            <a:r>
              <a:rPr sz="1800" u="none" spc="-10" dirty="0">
                <a:solidFill>
                  <a:srgbClr val="0562C1"/>
                </a:solidFill>
                <a:latin typeface="Carlito"/>
                <a:cs typeface="Carlito"/>
              </a:rPr>
              <a:t> </a:t>
            </a:r>
            <a:r>
              <a:rPr sz="18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  <a:hlinkClick r:id="rId4"/>
              </a:rPr>
              <a:t>correction.htm</a:t>
            </a:r>
            <a:endParaRPr sz="1800">
              <a:latin typeface="Carlito"/>
              <a:cs typeface="Carlito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40051" y="1776983"/>
            <a:ext cx="8022590" cy="2985770"/>
            <a:chOff x="1940051" y="1776983"/>
            <a:chExt cx="8022590" cy="29857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3831" y="2594718"/>
              <a:ext cx="2276724" cy="104916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0051" y="1776983"/>
              <a:ext cx="8022335" cy="29855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71087" y="2029967"/>
              <a:ext cx="5158740" cy="257098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65959" y="1802891"/>
              <a:ext cx="7920355" cy="2883535"/>
            </a:xfrm>
            <a:custGeom>
              <a:avLst/>
              <a:gdLst/>
              <a:ahLst/>
              <a:cxnLst/>
              <a:rect l="l" t="t" r="r" b="b"/>
              <a:pathLst>
                <a:path w="7920355" h="2883535">
                  <a:moveTo>
                    <a:pt x="7439659" y="0"/>
                  </a:moveTo>
                  <a:lnTo>
                    <a:pt x="480567" y="0"/>
                  </a:lnTo>
                  <a:lnTo>
                    <a:pt x="431429" y="2480"/>
                  </a:lnTo>
                  <a:lnTo>
                    <a:pt x="383711" y="9762"/>
                  </a:lnTo>
                  <a:lnTo>
                    <a:pt x="337654" y="21603"/>
                  </a:lnTo>
                  <a:lnTo>
                    <a:pt x="293500" y="37762"/>
                  </a:lnTo>
                  <a:lnTo>
                    <a:pt x="251492" y="57998"/>
                  </a:lnTo>
                  <a:lnTo>
                    <a:pt x="211869" y="82068"/>
                  </a:lnTo>
                  <a:lnTo>
                    <a:pt x="174873" y="109732"/>
                  </a:lnTo>
                  <a:lnTo>
                    <a:pt x="140747" y="140747"/>
                  </a:lnTo>
                  <a:lnTo>
                    <a:pt x="109732" y="174873"/>
                  </a:lnTo>
                  <a:lnTo>
                    <a:pt x="82068" y="211869"/>
                  </a:lnTo>
                  <a:lnTo>
                    <a:pt x="57998" y="251492"/>
                  </a:lnTo>
                  <a:lnTo>
                    <a:pt x="37762" y="293500"/>
                  </a:lnTo>
                  <a:lnTo>
                    <a:pt x="21603" y="337654"/>
                  </a:lnTo>
                  <a:lnTo>
                    <a:pt x="9762" y="383711"/>
                  </a:lnTo>
                  <a:lnTo>
                    <a:pt x="2480" y="431429"/>
                  </a:lnTo>
                  <a:lnTo>
                    <a:pt x="0" y="480568"/>
                  </a:lnTo>
                  <a:lnTo>
                    <a:pt x="0" y="2402840"/>
                  </a:lnTo>
                  <a:lnTo>
                    <a:pt x="2480" y="2451978"/>
                  </a:lnTo>
                  <a:lnTo>
                    <a:pt x="9762" y="2499696"/>
                  </a:lnTo>
                  <a:lnTo>
                    <a:pt x="21603" y="2545753"/>
                  </a:lnTo>
                  <a:lnTo>
                    <a:pt x="37762" y="2589907"/>
                  </a:lnTo>
                  <a:lnTo>
                    <a:pt x="57998" y="2631915"/>
                  </a:lnTo>
                  <a:lnTo>
                    <a:pt x="82068" y="2671538"/>
                  </a:lnTo>
                  <a:lnTo>
                    <a:pt x="109732" y="2708534"/>
                  </a:lnTo>
                  <a:lnTo>
                    <a:pt x="140747" y="2742660"/>
                  </a:lnTo>
                  <a:lnTo>
                    <a:pt x="174873" y="2773675"/>
                  </a:lnTo>
                  <a:lnTo>
                    <a:pt x="211869" y="2801339"/>
                  </a:lnTo>
                  <a:lnTo>
                    <a:pt x="251492" y="2825409"/>
                  </a:lnTo>
                  <a:lnTo>
                    <a:pt x="293500" y="2845645"/>
                  </a:lnTo>
                  <a:lnTo>
                    <a:pt x="337654" y="2861804"/>
                  </a:lnTo>
                  <a:lnTo>
                    <a:pt x="383711" y="2873645"/>
                  </a:lnTo>
                  <a:lnTo>
                    <a:pt x="431429" y="2880927"/>
                  </a:lnTo>
                  <a:lnTo>
                    <a:pt x="480567" y="2883408"/>
                  </a:lnTo>
                  <a:lnTo>
                    <a:pt x="7439659" y="2883408"/>
                  </a:lnTo>
                  <a:lnTo>
                    <a:pt x="7488798" y="2880927"/>
                  </a:lnTo>
                  <a:lnTo>
                    <a:pt x="7536516" y="2873645"/>
                  </a:lnTo>
                  <a:lnTo>
                    <a:pt x="7582573" y="2861804"/>
                  </a:lnTo>
                  <a:lnTo>
                    <a:pt x="7626727" y="2845645"/>
                  </a:lnTo>
                  <a:lnTo>
                    <a:pt x="7668735" y="2825409"/>
                  </a:lnTo>
                  <a:lnTo>
                    <a:pt x="7708358" y="2801339"/>
                  </a:lnTo>
                  <a:lnTo>
                    <a:pt x="7745354" y="2773675"/>
                  </a:lnTo>
                  <a:lnTo>
                    <a:pt x="7779480" y="2742660"/>
                  </a:lnTo>
                  <a:lnTo>
                    <a:pt x="7810495" y="2708534"/>
                  </a:lnTo>
                  <a:lnTo>
                    <a:pt x="7838159" y="2671538"/>
                  </a:lnTo>
                  <a:lnTo>
                    <a:pt x="7862229" y="2631915"/>
                  </a:lnTo>
                  <a:lnTo>
                    <a:pt x="7882465" y="2589907"/>
                  </a:lnTo>
                  <a:lnTo>
                    <a:pt x="7898624" y="2545753"/>
                  </a:lnTo>
                  <a:lnTo>
                    <a:pt x="7910465" y="2499696"/>
                  </a:lnTo>
                  <a:lnTo>
                    <a:pt x="7917747" y="2451978"/>
                  </a:lnTo>
                  <a:lnTo>
                    <a:pt x="7920228" y="2402840"/>
                  </a:lnTo>
                  <a:lnTo>
                    <a:pt x="7920228" y="480568"/>
                  </a:lnTo>
                  <a:lnTo>
                    <a:pt x="7917747" y="431429"/>
                  </a:lnTo>
                  <a:lnTo>
                    <a:pt x="7910465" y="383711"/>
                  </a:lnTo>
                  <a:lnTo>
                    <a:pt x="7898624" y="337654"/>
                  </a:lnTo>
                  <a:lnTo>
                    <a:pt x="7882465" y="293500"/>
                  </a:lnTo>
                  <a:lnTo>
                    <a:pt x="7862229" y="251492"/>
                  </a:lnTo>
                  <a:lnTo>
                    <a:pt x="7838159" y="211869"/>
                  </a:lnTo>
                  <a:lnTo>
                    <a:pt x="7810495" y="174873"/>
                  </a:lnTo>
                  <a:lnTo>
                    <a:pt x="7779480" y="140747"/>
                  </a:lnTo>
                  <a:lnTo>
                    <a:pt x="7745354" y="109732"/>
                  </a:lnTo>
                  <a:lnTo>
                    <a:pt x="7708358" y="82068"/>
                  </a:lnTo>
                  <a:lnTo>
                    <a:pt x="7668735" y="57998"/>
                  </a:lnTo>
                  <a:lnTo>
                    <a:pt x="7626727" y="37762"/>
                  </a:lnTo>
                  <a:lnTo>
                    <a:pt x="7582573" y="21603"/>
                  </a:lnTo>
                  <a:lnTo>
                    <a:pt x="7536516" y="9762"/>
                  </a:lnTo>
                  <a:lnTo>
                    <a:pt x="7488798" y="2480"/>
                  </a:lnTo>
                  <a:lnTo>
                    <a:pt x="743965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156961" y="2115692"/>
            <a:ext cx="1540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rlito"/>
                <a:cs typeface="Carlito"/>
              </a:rPr>
              <a:t>THANK</a:t>
            </a:r>
            <a:r>
              <a:rPr b="1" spc="-25" dirty="0">
                <a:latin typeface="Carlito"/>
                <a:cs typeface="Carlito"/>
              </a:rPr>
              <a:t> YOU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568700" y="3944569"/>
            <a:ext cx="4716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Carlito"/>
                <a:cs typeface="Carlito"/>
              </a:rPr>
              <a:t>Team</a:t>
            </a:r>
            <a:r>
              <a:rPr sz="2400" b="1" spc="-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spc="-125" dirty="0">
                <a:solidFill>
                  <a:srgbClr val="FFFFFF"/>
                </a:solidFill>
                <a:latin typeface="Noto Sans Mono CJK HK"/>
                <a:cs typeface="Noto Sans Mono CJK HK"/>
              </a:rPr>
              <a:t>–</a:t>
            </a:r>
            <a:r>
              <a:rPr sz="2400" b="1" spc="-660" dirty="0">
                <a:solidFill>
                  <a:srgbClr val="FFFFFF"/>
                </a:solidFill>
                <a:latin typeface="Noto Sans Mono CJK HK"/>
                <a:cs typeface="Noto Sans Mono CJK HK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Network</a:t>
            </a:r>
            <a:r>
              <a:rPr sz="2400" b="1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rlito"/>
                <a:cs typeface="Carlito"/>
              </a:rPr>
              <a:t>Protocols</a:t>
            </a:r>
            <a:r>
              <a:rPr sz="2400" b="1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&amp;</a:t>
            </a:r>
            <a:r>
              <a:rPr sz="2400" b="1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rlito"/>
                <a:cs typeface="Carlito"/>
              </a:rPr>
              <a:t>Security</a:t>
            </a:r>
            <a:endParaRPr sz="2400">
              <a:latin typeface="Carlito"/>
              <a:cs typeface="Carlito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21579" y="2560320"/>
            <a:ext cx="3235452" cy="10835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2221</Words>
  <Application>Microsoft Office PowerPoint</Application>
  <PresentationFormat>Widescreen</PresentationFormat>
  <Paragraphs>311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Arial</vt:lpstr>
      <vt:lpstr>Carlito</vt:lpstr>
      <vt:lpstr>Courier New</vt:lpstr>
      <vt:lpstr>Goudy Old Style</vt:lpstr>
      <vt:lpstr>Noto Sans Mono CJK HK</vt:lpstr>
      <vt:lpstr>Poppins</vt:lpstr>
      <vt:lpstr>Times New Roman</vt:lpstr>
      <vt:lpstr>Trebuchet MS</vt:lpstr>
      <vt:lpstr>Wingdings</vt:lpstr>
      <vt:lpstr>Office Theme</vt:lpstr>
      <vt:lpstr>NETWORK PROTOCOLS &amp; SECURITY  24EC2210 </vt:lpstr>
      <vt:lpstr>AIM OF THE SESSION</vt:lpstr>
      <vt:lpstr>Error Detection and Correction</vt:lpstr>
      <vt:lpstr>Introduction</vt:lpstr>
      <vt:lpstr>Type of Errors</vt:lpstr>
      <vt:lpstr>Type of Errors(cont’d)</vt:lpstr>
      <vt:lpstr>Type of Errors(cont’d)</vt:lpstr>
      <vt:lpstr>Type of Errors(cont’d)</vt:lpstr>
      <vt:lpstr>Error Detection</vt:lpstr>
      <vt:lpstr>Error Detection</vt:lpstr>
      <vt:lpstr>The structure of encoder and decoder</vt:lpstr>
      <vt:lpstr>Error Detection Methods</vt:lpstr>
      <vt:lpstr>Error Detection Methods</vt:lpstr>
      <vt:lpstr>1. Parity Method</vt:lpstr>
      <vt:lpstr>Simple Parity Method</vt:lpstr>
      <vt:lpstr>Parity method examples</vt:lpstr>
      <vt:lpstr>Drawback of Simple Parity</vt:lpstr>
      <vt:lpstr>Two-Dimensional Parity Method</vt:lpstr>
      <vt:lpstr>Two-dimensional parity-check code</vt:lpstr>
      <vt:lpstr>Two-dimensional parity-check code…</vt:lpstr>
      <vt:lpstr>2. Cyclic Redundancy Check (CRC)</vt:lpstr>
      <vt:lpstr>2. Cyclic Redundancy Check (CRC):</vt:lpstr>
      <vt:lpstr>Steps in Computing CRC:</vt:lpstr>
      <vt:lpstr>Steps in Computing CRC…</vt:lpstr>
      <vt:lpstr>CRC Example</vt:lpstr>
      <vt:lpstr>CRC Example : Solution</vt:lpstr>
      <vt:lpstr>CRC Example : Solution</vt:lpstr>
      <vt:lpstr>3. Checksum</vt:lpstr>
      <vt:lpstr>3. Checksum…</vt:lpstr>
      <vt:lpstr>3. Checksum…</vt:lpstr>
      <vt:lpstr>PowerPoint Presentation</vt:lpstr>
      <vt:lpstr>Practice Questions</vt:lpstr>
      <vt:lpstr>Error Correction</vt:lpstr>
      <vt:lpstr>Error Correction</vt:lpstr>
      <vt:lpstr>Hamming Code</vt:lpstr>
      <vt:lpstr>Hamming Code…</vt:lpstr>
      <vt:lpstr>Hamming Code Example</vt:lpstr>
      <vt:lpstr>Hamming Code : Solution</vt:lpstr>
      <vt:lpstr>Hamming Code : Solution</vt:lpstr>
      <vt:lpstr>SELF-ASSESSMENT QUESTIONS</vt:lpstr>
      <vt:lpstr>SELF-ASSESSMENT QUESTIONS</vt:lpstr>
      <vt:lpstr>PowerPoint Presentation</vt:lpstr>
      <vt:lpstr>TERMINAL QUESTIONS</vt:lpstr>
      <vt:lpstr>REFERENCES FOR FURTHER LEARNING OF THE SESSION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PROTOCOLS &amp; SECURITY  23EC2210 R/A/E </dc:title>
  <cp:lastModifiedBy>GORLA VENKATA GANESH</cp:lastModifiedBy>
  <cp:revision>5</cp:revision>
  <dcterms:created xsi:type="dcterms:W3CDTF">2024-07-24T02:49:03Z</dcterms:created>
  <dcterms:modified xsi:type="dcterms:W3CDTF">2025-12-17T06:30:55Z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2024-07-24T00:00:00Z</vt:filetime>
  </property>
  <property fmtid="{D5CDD505-2E9C-101B-9397-08002B2CF9AE}" pid="3" name="Producer">
    <vt:lpwstr>3-Heights(TM) PDF Security Shell 4.8.25.2 (http://www.pdf-tools.com)</vt:lpwstr>
  </property>
</Properties>
</file>