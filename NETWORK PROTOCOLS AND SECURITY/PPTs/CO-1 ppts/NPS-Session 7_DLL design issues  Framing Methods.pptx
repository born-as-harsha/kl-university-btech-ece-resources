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71" r:id="rId2"/>
    <p:sldId id="300" r:id="rId3"/>
    <p:sldId id="294" r:id="rId4"/>
    <p:sldId id="295" r:id="rId5"/>
    <p:sldId id="296" r:id="rId6"/>
    <p:sldId id="305" r:id="rId7"/>
    <p:sldId id="297" r:id="rId8"/>
    <p:sldId id="298" r:id="rId9"/>
    <p:sldId id="302" r:id="rId10"/>
    <p:sldId id="306" r:id="rId11"/>
    <p:sldId id="299" r:id="rId12"/>
    <p:sldId id="303" r:id="rId13"/>
    <p:sldId id="307" r:id="rId14"/>
    <p:sldId id="301" r:id="rId15"/>
    <p:sldId id="304" r:id="rId16"/>
    <p:sldId id="308" r:id="rId17"/>
    <p:sldId id="315" r:id="rId18"/>
    <p:sldId id="316" r:id="rId19"/>
    <p:sldId id="310" r:id="rId20"/>
    <p:sldId id="311" r:id="rId21"/>
    <p:sldId id="275" r:id="rId22"/>
    <p:sldId id="312" r:id="rId23"/>
    <p:sldId id="313" r:id="rId24"/>
    <p:sldId id="276" r:id="rId25"/>
    <p:sldId id="31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0000"/>
    <a:srgbClr val="A4088E"/>
    <a:srgbClr val="FF0066"/>
    <a:srgbClr val="760000"/>
    <a:srgbClr val="500445"/>
    <a:srgbClr val="700661"/>
    <a:srgbClr val="FF5D5D"/>
    <a:srgbClr val="00FF00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FC7D5F-1927-4CA2-9E0B-8AE9700A5541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46CEC0-58C8-46F0-918D-FA68B9F9022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329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EBDB3-411B-424B-8F21-327AFE5F0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B6A6B3-4551-4A64-B042-2615788C6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CF5B1-E26D-440B-BF9F-A4391D8E7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C070A-C594-4022-BE63-D77BC704A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F1248-B201-484C-A256-52CB7B244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9034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1ED3B-3A4B-4B2F-96CE-224AE5000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A6EDB-FC85-4DE0-B255-BAF0F0EB1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07E4D-E208-4F18-A325-0046F90C6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8288D-4D65-4E1F-99DB-4CFDA978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003AC-4B0C-4AB6-8D94-278FFC0F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072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D5E73-8B09-4F82-9823-5E9D38A93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CBDCA3-935F-41D8-A964-D74D9DF36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11E68-3F7D-40A4-A64B-580953A83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17469-561A-4E58-9A7C-E163683C5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CBF18-9642-4A69-9E18-599343A9A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8859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16207-650B-4768-94E9-FBB9FCE17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A1EED-A3B0-4533-9B41-E67C65A541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89B0B-6214-419E-A1AE-0D1AFA4CC1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C947C-69D0-4554-AEBB-5789807A0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C2AE8-3204-4299-A049-7790E071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600D6-060E-4D9E-B636-D0EBAC88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067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1867-8CE9-4CB1-803D-C2F2FDC88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ABECE-E9A1-4BB9-884C-02314AE0E2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C9DD78-0BBC-4A11-B140-5A578E1444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47D19-7E80-4F0A-8740-DA1B3C74A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0C0B5-7A67-4ED9-9972-2ECD7F7651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AFB81-E9E7-4BAD-9C0C-7CF1B1D37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1AEA8A-AFB7-4C6D-B171-26375E0A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1A0C2A-75B1-4481-86F8-D95AD6755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8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DD417-7684-4B83-85C4-F52DC7460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69D31B-71F4-4F5D-B95B-996C7AC95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11D2-D0DC-4550-997B-7D87430CD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9CF427-CFE1-4298-B161-190303B08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3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4CBD0C-B561-477C-A95A-FCF36FE49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6DF8D9-320B-4D17-9AE4-EE5C68341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E013E-E2DF-4029-9A6F-867F4D6D6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7144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0A323-A971-47A0-9393-4394F91E1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93B33-773B-4722-80F2-AB06071D5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B0AC2-A3BB-4291-A1EF-F4D8FD3452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1E8EE-53A7-4054-9FD5-B93BDB22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1F8B4-6C3E-4315-AD37-8EB27351A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7B45D-B689-4425-ADF1-AEC5F1223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28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851B8-57CA-4638-8D73-3A8343830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7139C6-E11D-4B00-B6FE-9A049CE054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273010-7C47-40FC-9889-E788AAB6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70F3CF-C307-41EA-981B-5BC944481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D4B05-ECF3-488A-8517-9498AEBB1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E8DAB0-FCB9-4623-AC9B-F6C8E2309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15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1D1F1-0656-4CD3-8929-A979378AD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73A506-CEA4-47E6-9D63-6093D17FC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868C7-AAEF-4F68-8E1A-6765015A7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0D9A1-285B-4986-9FBC-BA995AF94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B265B-5412-4AE5-8FC0-CC169106A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288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21FECD-4B0E-4D7C-B207-E901F4685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DA511-F0E7-4104-8FE2-1F41241B9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61A42-6695-4F01-B865-0674A529F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1F45E-E8AD-465C-9B1F-0B808005F3EE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9BE0-6652-4F28-98E3-D14F8939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Radhika Rani Chintala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C3E57-A49A-4FB4-A270-CE517DAE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980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205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C48399-0EAB-4A89-935B-44397CE21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09EF6B-85B4-43FF-BEC5-16010E8C4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7F7FC-0140-47E7-A890-EEEF08B3F3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1F45E-E8AD-465C-9B1F-0B808005F3EE}" type="datetimeFigureOut">
              <a:rPr lang="en-US" smtClean="0"/>
              <a:pPr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68FAF-A787-4ECE-A745-66A40562B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D6308-3922-4E3E-BAA7-CC5BF456E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D70129-6E56-4824-9FC4-FFE42D23BD5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444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geeksforgeeks.org/various-kind-of-framing-in-data-link-layer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034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902548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Data link layer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effectLst/>
                <a:cs typeface="Poppins" panose="00000500000000000000" pitchFamily="2" charset="0"/>
              </a:rPr>
              <a:t>design issues and framing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659027" y="5119524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- 7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D530E72E-233E-E443-1A84-D3CD02ECB889}"/>
              </a:ext>
            </a:extLst>
          </p:cNvPr>
          <p:cNvSpPr/>
          <p:nvPr/>
        </p:nvSpPr>
        <p:spPr>
          <a:xfrm>
            <a:off x="4471372" y="84408"/>
            <a:ext cx="3011576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AIM OF THE SESSION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C61438-200D-827A-D4DD-5B5127AFA187}"/>
              </a:ext>
            </a:extLst>
          </p:cNvPr>
          <p:cNvSpPr txBox="1"/>
          <p:nvPr/>
        </p:nvSpPr>
        <p:spPr>
          <a:xfrm>
            <a:off x="914400" y="684469"/>
            <a:ext cx="10731286" cy="79611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 cap="rnd">
            <a:solidFill>
              <a:schemeClr val="accent1">
                <a:lumMod val="20000"/>
                <a:lumOff val="80000"/>
              </a:schemeClr>
            </a:solidFill>
            <a:round/>
          </a:ln>
          <a:effectLst>
            <a:outerShdw blurRad="50800" dist="38100" algn="l" rotWithShape="0">
              <a:schemeClr val="accent1">
                <a:lumMod val="40000"/>
                <a:lumOff val="60000"/>
                <a:alpha val="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Poppins"/>
                <a:cs typeface="Poppins"/>
              </a:rPr>
              <a:t>To familiarize students with the design issues of Data link layer and framing methods</a:t>
            </a:r>
          </a:p>
          <a:p>
            <a:pPr>
              <a:lnSpc>
                <a:spcPct val="150000"/>
              </a:lnSpc>
            </a:pPr>
            <a:endParaRPr lang="en-US" sz="1600" b="0" i="0" dirty="0">
              <a:effectLst/>
              <a:latin typeface="Poppins"/>
              <a:cs typeface="Poppins"/>
            </a:endParaRPr>
          </a:p>
        </p:txBody>
      </p:sp>
      <p:sp>
        <p:nvSpPr>
          <p:cNvPr id="7" name="Rounded Rectangle 17">
            <a:extLst>
              <a:ext uri="{FF2B5EF4-FFF2-40B4-BE49-F238E27FC236}">
                <a16:creationId xmlns:a16="http://schemas.microsoft.com/office/drawing/2014/main" id="{7F3AABB0-F8BA-C900-B6BF-45F4B58E9490}"/>
              </a:ext>
            </a:extLst>
          </p:cNvPr>
          <p:cNvSpPr/>
          <p:nvPr/>
        </p:nvSpPr>
        <p:spPr>
          <a:xfrm>
            <a:off x="4160582" y="1807062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INSTRUCTIONAL OBJECTIVES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5EAD4E-C007-9DE7-A40A-12802D3C9611}"/>
              </a:ext>
            </a:extLst>
          </p:cNvPr>
          <p:cNvSpPr txBox="1"/>
          <p:nvPr/>
        </p:nvSpPr>
        <p:spPr>
          <a:xfrm>
            <a:off x="1752600" y="2438605"/>
            <a:ext cx="8791575" cy="1077218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Poppins"/>
                <a:cs typeface="Poppins"/>
              </a:rPr>
              <a:t>This</a:t>
            </a:r>
            <a:r>
              <a:rPr lang="en-US" sz="1600" b="0" i="0" dirty="0">
                <a:effectLst/>
                <a:latin typeface="Poppins"/>
                <a:cs typeface="Poppins"/>
              </a:rPr>
              <a:t> </a:t>
            </a:r>
            <a:r>
              <a:rPr lang="en-US" sz="1600" dirty="0">
                <a:latin typeface="Poppins"/>
                <a:cs typeface="Poppins"/>
              </a:rPr>
              <a:t>Session</a:t>
            </a:r>
            <a:r>
              <a:rPr lang="en-US" sz="1600" b="0" i="0" dirty="0">
                <a:effectLst/>
                <a:latin typeface="Poppins"/>
                <a:cs typeface="Poppins"/>
              </a:rPr>
              <a:t> is designed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Demonstrate the design issues of data link layer.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Describe </a:t>
            </a:r>
            <a:r>
              <a:rPr lang="en-US" sz="1600" dirty="0">
                <a:latin typeface="Arial" panose="020B0604020202020204" pitchFamily="34" charset="0"/>
              </a:rPr>
              <a:t>different framing methods.</a:t>
            </a:r>
            <a:endParaRPr lang="en-US" sz="1600" dirty="0">
              <a:latin typeface="Arial"/>
              <a:cs typeface="Arial"/>
            </a:endParaRPr>
          </a:p>
        </p:txBody>
      </p:sp>
      <p:pic>
        <p:nvPicPr>
          <p:cNvPr id="11" name="Graphic 10" descr="Bullseye outline">
            <a:extLst>
              <a:ext uri="{FF2B5EF4-FFF2-40B4-BE49-F238E27FC236}">
                <a16:creationId xmlns:a16="http://schemas.microsoft.com/office/drawing/2014/main" id="{AB75B03E-9C0C-0AF7-2A76-D8618F8F99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625326"/>
            <a:ext cx="914400" cy="914400"/>
          </a:xfrm>
          <a:prstGeom prst="rect">
            <a:avLst/>
          </a:prstGeom>
        </p:spPr>
      </p:pic>
      <p:pic>
        <p:nvPicPr>
          <p:cNvPr id="27" name="Graphic 26" descr="Presentation with checklist outline">
            <a:extLst>
              <a:ext uri="{FF2B5EF4-FFF2-40B4-BE49-F238E27FC236}">
                <a16:creationId xmlns:a16="http://schemas.microsoft.com/office/drawing/2014/main" id="{1E9F25CA-EF99-00B6-5FFA-810D1F1806C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2438605"/>
            <a:ext cx="914400" cy="914400"/>
          </a:xfrm>
          <a:prstGeom prst="rect">
            <a:avLst/>
          </a:prstGeom>
        </p:spPr>
      </p:pic>
      <p:sp>
        <p:nvSpPr>
          <p:cNvPr id="29" name="Rounded Rectangle 17">
            <a:extLst>
              <a:ext uri="{FF2B5EF4-FFF2-40B4-BE49-F238E27FC236}">
                <a16:creationId xmlns:a16="http://schemas.microsoft.com/office/drawing/2014/main" id="{6652A33D-9A9E-3EAC-0CAE-113901ECA179}"/>
              </a:ext>
            </a:extLst>
          </p:cNvPr>
          <p:cNvSpPr/>
          <p:nvPr/>
        </p:nvSpPr>
        <p:spPr>
          <a:xfrm>
            <a:off x="4212971" y="4249110"/>
            <a:ext cx="3870831" cy="390698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LEARNING OUTCOMES</a:t>
            </a:r>
          </a:p>
        </p:txBody>
      </p:sp>
      <p:pic>
        <p:nvPicPr>
          <p:cNvPr id="31" name="Graphic 30" descr="Idea outline">
            <a:extLst>
              <a:ext uri="{FF2B5EF4-FFF2-40B4-BE49-F238E27FC236}">
                <a16:creationId xmlns:a16="http://schemas.microsoft.com/office/drawing/2014/main" id="{5F765FC3-60CF-297F-C1BD-F5A7B8B943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4400" y="4765771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0BB8E68-8B73-12DE-615E-1091F19A9A9A}"/>
              </a:ext>
            </a:extLst>
          </p:cNvPr>
          <p:cNvSpPr txBox="1"/>
          <p:nvPr/>
        </p:nvSpPr>
        <p:spPr>
          <a:xfrm>
            <a:off x="1752600" y="4772230"/>
            <a:ext cx="8791575" cy="132343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accent1">
                <a:lumMod val="20000"/>
                <a:lumOff val="80000"/>
              </a:schemeClr>
            </a:solidFill>
          </a:ln>
          <a:effectLst>
            <a:outerShdw blurRad="50800" dist="38100" algn="l" rotWithShape="0">
              <a:schemeClr val="accent1">
                <a:lumMod val="40000"/>
                <a:lumOff val="60000"/>
                <a:alpha val="40000"/>
              </a:schemeClr>
            </a:outerShdw>
          </a:effectLst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b="0" i="0" dirty="0">
                <a:effectLst/>
                <a:latin typeface="Arial"/>
                <a:cs typeface="Arial"/>
              </a:rPr>
              <a:t>At the end of this </a:t>
            </a:r>
            <a:r>
              <a:rPr lang="en-US" sz="1600" dirty="0">
                <a:latin typeface="Arial"/>
                <a:cs typeface="Arial"/>
              </a:rPr>
              <a:t>session</a:t>
            </a:r>
            <a:r>
              <a:rPr lang="en-US" sz="1600" b="0" i="0" dirty="0">
                <a:effectLst/>
                <a:latin typeface="Arial"/>
                <a:cs typeface="Arial"/>
              </a:rPr>
              <a:t>, you should be able to:</a:t>
            </a: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Define the </a:t>
            </a:r>
            <a:r>
              <a:rPr lang="en-US" sz="1600" dirty="0">
                <a:latin typeface="Arial" panose="020B0604020202020204" pitchFamily="34" charset="0"/>
              </a:rPr>
              <a:t>responsibilities of datalink layer.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b="0" i="0" dirty="0">
                <a:effectLst/>
                <a:latin typeface="Arial" panose="020B0604020202020204" pitchFamily="34" charset="0"/>
              </a:rPr>
              <a:t>Apply different framing methods to </a:t>
            </a:r>
            <a:r>
              <a:rPr lang="en-US" sz="1600" dirty="0">
                <a:latin typeface="Arial" panose="020B0604020202020204" pitchFamily="34" charset="0"/>
              </a:rPr>
              <a:t>form the packets into frames.</a:t>
            </a:r>
            <a:endParaRPr lang="en-US" sz="1600" b="0" i="0" dirty="0">
              <a:effectLst/>
              <a:latin typeface="Arial" panose="020B0604020202020204" pitchFamily="34" charset="0"/>
            </a:endParaRPr>
          </a:p>
          <a:p>
            <a:pPr marL="342900" indent="-342900">
              <a:buAutoNum type="arabicPeriod"/>
            </a:pPr>
            <a:r>
              <a:rPr lang="en-US" sz="1600" dirty="0">
                <a:latin typeface="Arial" panose="020B0604020202020204" pitchFamily="34" charset="0"/>
              </a:rPr>
              <a:t>Discuss the pros and cons of framing methods.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2" descr="KL Deemed to be University Logo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8607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 animBg="1"/>
      <p:bldP spid="29" grpId="0" animBg="1"/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5061" y="384630"/>
            <a:ext cx="8785380" cy="951802"/>
          </a:xfrm>
        </p:spPr>
        <p:txBody>
          <a:bodyPr>
            <a:normAutofit/>
          </a:bodyPr>
          <a:lstStyle/>
          <a:p>
            <a:pPr algn="ctr"/>
            <a:r>
              <a:rPr lang="en-US" b="1" i="0" u="none" strike="noStrike" baseline="0" dirty="0">
                <a:solidFill>
                  <a:srgbClr val="C00000"/>
                </a:solidFill>
                <a:latin typeface="Goudy Old Style" panose="02020502050305020303" pitchFamily="18" charset="0"/>
              </a:rPr>
              <a:t>Design </a:t>
            </a:r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issues of Data Link </a:t>
            </a:r>
            <a:r>
              <a:rPr lang="en-US" b="1" i="0" u="none" strike="noStrike" baseline="0" dirty="0">
                <a:solidFill>
                  <a:srgbClr val="C00000"/>
                </a:solidFill>
                <a:latin typeface="Goudy Old Style" panose="02020502050305020303" pitchFamily="18" charset="0"/>
              </a:rPr>
              <a:t>Layer</a:t>
            </a:r>
            <a:endParaRPr lang="en-US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588" y="2295241"/>
            <a:ext cx="10604584" cy="4178130"/>
          </a:xfrm>
        </p:spPr>
        <p:txBody>
          <a:bodyPr anchor="ctr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The data link layer uses the services of the physical layer to send and receive bits over communication channels.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Provides a well-defined service interface to the network layer.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The responsibilities of Datalink layer include: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Framing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Addressing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Flow Control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Error Control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800" b="0" i="0" u="none" strike="noStrike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Media Access Control</a:t>
            </a:r>
          </a:p>
          <a:p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16D728C0-1C9B-BD99-3BFE-986A0C34F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52246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B566528-1B12-4246-9431-5C2D7D081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05154"/>
            <a:ext cx="10673890" cy="785989"/>
          </a:xfrm>
        </p:spPr>
        <p:txBody>
          <a:bodyPr>
            <a:normAutofit/>
          </a:bodyPr>
          <a:lstStyle/>
          <a:p>
            <a:pPr algn="ctr"/>
            <a:r>
              <a:rPr lang="en-US" sz="3600" b="1" i="0" u="none" strike="noStrike" baseline="0" dirty="0">
                <a:solidFill>
                  <a:srgbClr val="C00000"/>
                </a:solidFill>
                <a:latin typeface="Goudy Old Style" panose="02020502050305020303" pitchFamily="18" charset="0"/>
              </a:rPr>
              <a:t>Design </a:t>
            </a:r>
            <a:r>
              <a:rPr lang="en-US" sz="36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issues of Data Link </a:t>
            </a:r>
            <a:r>
              <a:rPr lang="en-US" sz="3600" b="1" i="0" u="none" strike="noStrike" baseline="0" dirty="0">
                <a:solidFill>
                  <a:srgbClr val="C00000"/>
                </a:solidFill>
                <a:latin typeface="Goudy Old Style" panose="02020502050305020303" pitchFamily="18" charset="0"/>
              </a:rPr>
              <a:t>Layer…</a:t>
            </a:r>
            <a:endParaRPr lang="en-US" sz="3600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1" y="1164004"/>
            <a:ext cx="6226629" cy="2606138"/>
          </a:xfrm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Framing:</a:t>
            </a:r>
            <a:r>
              <a:rPr lang="en-US" sz="1800" b="1" dirty="0">
                <a:latin typeface="Goudy Old Style" panose="02020502050305020303" pitchFamily="18" charset="0"/>
              </a:rPr>
              <a:t> </a:t>
            </a:r>
            <a:r>
              <a:rPr lang="en-US" sz="1800" dirty="0">
                <a:latin typeface="Goudy Old Style" panose="02020502050305020303" pitchFamily="18" charset="0"/>
              </a:rPr>
              <a:t>The data link layer divides the stream of bits received from network layer into manageable data units called Frames.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8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Addressing:</a:t>
            </a:r>
            <a:r>
              <a:rPr lang="en-US" sz="1800" dirty="0">
                <a:latin typeface="Goudy Old Style" panose="02020502050305020303" pitchFamily="18" charset="0"/>
              </a:rPr>
              <a:t> The data link layer adds a header to the frame to define the addresses of the sender and receiver of the frame.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8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Flow Control:</a:t>
            </a:r>
            <a:r>
              <a:rPr lang="en-US" sz="1800" dirty="0">
                <a:solidFill>
                  <a:srgbClr val="C00000"/>
                </a:solidFill>
                <a:latin typeface="Goudy Old Style" panose="02020502050305020303" pitchFamily="18" charset="0"/>
              </a:rPr>
              <a:t> </a:t>
            </a:r>
            <a:r>
              <a:rPr lang="en-US" sz="1800" dirty="0">
                <a:latin typeface="Goudy Old Style" panose="02020502050305020303" pitchFamily="18" charset="0"/>
              </a:rPr>
              <a:t>Regulating the flow of data so that slow receivers are not swamped by fast senders. </a:t>
            </a: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D3F51FEB-38FB-4F6C-9F7B-2F2AFAB65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501760" y="5103257"/>
            <a:ext cx="2017580" cy="1014060"/>
          </a:xfrm>
          <a:prstGeom prst="triangle">
            <a:avLst>
              <a:gd name="adj" fmla="val 50000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547BA6-BAE0-43BB-A7CA-60F69CE25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427916" y="5728708"/>
            <a:ext cx="485578" cy="48557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7D9D1-B333-4063-93A9-B2A5520726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971" y="960695"/>
            <a:ext cx="5551882" cy="3020688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15CBE6EC-46EF-45D9-8E16-DCDC5917C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094720" y="0"/>
            <a:ext cx="1097280" cy="1097280"/>
            <a:chOff x="11094720" y="0"/>
            <a:chExt cx="1097280" cy="1097280"/>
          </a:xfrm>
        </p:grpSpPr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DEEDCD65-9740-4F34-BDF1-9C068E0532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1094720" y="0"/>
              <a:ext cx="1097280" cy="1097280"/>
            </a:xfrm>
            <a:prstGeom prst="triangle">
              <a:avLst>
                <a:gd name="adj" fmla="val 100000"/>
              </a:avLst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B3DA7FD-5CC0-46D1-9DFB-5BAF6BE249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11189552" y="127618"/>
              <a:ext cx="457894" cy="457894"/>
            </a:xfrm>
            <a:prstGeom prst="rect">
              <a:avLst/>
            </a:prstGeom>
            <a:solidFill>
              <a:schemeClr val="accent4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1D7F39A-BF30-4D65-B557-C6877A5ED222}"/>
              </a:ext>
            </a:extLst>
          </p:cNvPr>
          <p:cNvSpPr txBox="1">
            <a:spLocks/>
          </p:cNvSpPr>
          <p:nvPr/>
        </p:nvSpPr>
        <p:spPr>
          <a:xfrm>
            <a:off x="5500468" y="4220307"/>
            <a:ext cx="6364183" cy="239876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Ø"/>
            </a:pPr>
            <a:endParaRPr lang="en-US" sz="900" b="1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Error Control: </a:t>
            </a:r>
            <a:r>
              <a:rPr lang="en-US" sz="1700" dirty="0">
                <a:latin typeface="Goudy Old Style" panose="02020502050305020303" pitchFamily="18" charset="0"/>
              </a:rPr>
              <a:t>The data link layer also adds reliability to the physical layer by adding mechanisms to detect, retransmit damaged, duplicated or lost frames.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1700" dirty="0"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7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Media Access Control: </a:t>
            </a:r>
            <a:r>
              <a:rPr lang="en-US" sz="1700" dirty="0">
                <a:latin typeface="Goudy Old Style" panose="02020502050305020303" pitchFamily="18" charset="0"/>
              </a:rPr>
              <a:t>When two or more devices are connected to the same link, data link layer protocols are necessary to determine which device has control over the link at any given time.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2E39475E-BCBE-867D-23A7-58C9F785E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3580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312" y="103275"/>
            <a:ext cx="11523888" cy="951802"/>
          </a:xfrm>
        </p:spPr>
        <p:txBody>
          <a:bodyPr>
            <a:normAutofit/>
          </a:bodyPr>
          <a:lstStyle/>
          <a:p>
            <a:pPr algn="ctr"/>
            <a:r>
              <a:rPr lang="en-US" b="1" i="0" u="none" strike="noStrike" baseline="0" dirty="0">
                <a:solidFill>
                  <a:srgbClr val="C00000"/>
                </a:solidFill>
                <a:latin typeface="Goudy Old Style" panose="02020502050305020303" pitchFamily="18" charset="0"/>
              </a:rPr>
              <a:t>Services provided to Network Layer</a:t>
            </a:r>
            <a:endParaRPr lang="en-US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71" y="2415939"/>
            <a:ext cx="6591257" cy="4057432"/>
          </a:xfrm>
        </p:spPr>
        <p:txBody>
          <a:bodyPr anchor="ctr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The function of the data link layer is to provide services to the network layer.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The principal service is transferring data from the network layer on the source machine to the network layer on the destination machine.</a:t>
            </a:r>
          </a:p>
          <a:p>
            <a:pPr marL="0" indent="0" algn="just">
              <a:buNone/>
            </a:pP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	</a:t>
            </a: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1. Unacknowledged connectionless service.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	2. Acknowledged connectionless service.</a:t>
            </a:r>
          </a:p>
          <a:p>
            <a:pPr marL="0" indent="0">
              <a:buNone/>
            </a:pP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	3. Acknowledged connection-oriented service.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b="1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0D4B52-4815-47E1-AA34-1B308DE8E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921" y="1678249"/>
            <a:ext cx="5303080" cy="4171950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CCA0A8E1-A82C-0D78-1808-5DBCBAF37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91835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CF7DC-E548-B117-F56C-3E37EFCD0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57751"/>
            <a:ext cx="10515600" cy="1325563"/>
          </a:xfrm>
        </p:spPr>
        <p:txBody>
          <a:bodyPr/>
          <a:lstStyle/>
          <a:p>
            <a:pPr algn="ctr"/>
            <a:r>
              <a:rPr lang="en-US" sz="5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Framing</a:t>
            </a:r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 Methods</a:t>
            </a:r>
          </a:p>
        </p:txBody>
      </p:sp>
    </p:spTree>
    <p:extLst>
      <p:ext uri="{BB962C8B-B14F-4D97-AF65-F5344CB8AC3E}">
        <p14:creationId xmlns:p14="http://schemas.microsoft.com/office/powerpoint/2010/main" val="3832824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887" y="103275"/>
            <a:ext cx="7547830" cy="951802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Framing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71" y="2415939"/>
            <a:ext cx="9763346" cy="4057432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 Breaking up the bit stream into portions is called Framing.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Each frame contains HEADER and TRAILER.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 A good design must make it easy for a receiver to find the start of new frames.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 </a:t>
            </a:r>
            <a:r>
              <a:rPr lang="en-US" sz="2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Framing Methods: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	1. Byte count /Character count.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	2. Flag bytes with Byte stuffing.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	3. Flag bits with Bit stuffing.</a:t>
            </a:r>
          </a:p>
          <a:p>
            <a:pPr marL="0" indent="0">
              <a:buNone/>
            </a:pP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01788A-E637-46FF-B4AB-E4EA50DD7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4433" y="2398513"/>
            <a:ext cx="3731309" cy="768211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D3700E2D-045C-4018-4666-89CEF61FF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65244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8974" y="103275"/>
            <a:ext cx="7017743" cy="951802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Byte count / Character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371" y="2415939"/>
            <a:ext cx="5415600" cy="4057432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Uses a field in the header to specify the number of bytes in the frame.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When the data link layer at the destination sees the byte count, it knows how many bytes follow and hence where the end of the frame is.</a:t>
            </a:r>
          </a:p>
          <a:p>
            <a:pPr algn="just"/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5C1724-A491-45BA-8BE6-3DE0FE2EA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1175" y="1983545"/>
            <a:ext cx="6601729" cy="4220307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16781273-70DF-AE1B-ECD8-8FB399582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43905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930A4-FCC6-40F4-88A0-CCCE73BA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Example-1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D77AC-C43B-4E3B-9008-A1E3DC78C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Given Message P = 1 2 3 4 5 6 7 8 9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Payload size of frames: F1 =3, F2 = 2, F3 = 4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Perform byte count method and write the final byte sequence.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F1 =  ?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F2 =  ?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F3 =  ?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Final Byte Sequence = ?</a:t>
            </a:r>
            <a:endParaRPr lang="en-US" sz="22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1F449DC3-5327-0B13-B18D-1581BBCA4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8163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930A4-FCC6-40F4-88A0-CCCE73BAE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Solution-1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D77AC-C43B-4E3B-9008-A1E3DC78C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Given Message P = 1 2 3 4 5 6 7 8 9</a:t>
            </a:r>
          </a:p>
          <a:p>
            <a:pPr marL="0" indent="0"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Payload size of frames: F1 =3, F2 = 2, F3 = 4</a:t>
            </a:r>
          </a:p>
          <a:p>
            <a:pPr marL="0" indent="0">
              <a:buNone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Goudy Old Style" panose="02020502050305020303" pitchFamily="18" charset="0"/>
              </a:rPr>
              <a:t>Sol: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Goudy Old Style" panose="02020502050305020303" pitchFamily="18" charset="0"/>
              </a:rPr>
              <a:t>F1 = 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Goudy Old Style" panose="02020502050305020303" pitchFamily="18" charset="0"/>
              </a:rPr>
              <a:t>F2 =  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Goudy Old Style" panose="02020502050305020303" pitchFamily="18" charset="0"/>
              </a:rPr>
              <a:t>F3 =   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Goudy Old Style" panose="02020502050305020303" pitchFamily="18" charset="0"/>
              </a:rPr>
              <a:t>Final Byte Sequence =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42D1842-F438-1885-EA9B-0F6FA6858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830864"/>
              </p:ext>
            </p:extLst>
          </p:nvPr>
        </p:nvGraphicFramePr>
        <p:xfrm>
          <a:off x="1766957" y="3896139"/>
          <a:ext cx="232796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991">
                  <a:extLst>
                    <a:ext uri="{9D8B030D-6E8A-4147-A177-3AD203B41FA5}">
                      <a16:colId xmlns:a16="http://schemas.microsoft.com/office/drawing/2014/main" val="1728225255"/>
                    </a:ext>
                  </a:extLst>
                </a:gridCol>
                <a:gridCol w="581991">
                  <a:extLst>
                    <a:ext uri="{9D8B030D-6E8A-4147-A177-3AD203B41FA5}">
                      <a16:colId xmlns:a16="http://schemas.microsoft.com/office/drawing/2014/main" val="3232739642"/>
                    </a:ext>
                  </a:extLst>
                </a:gridCol>
                <a:gridCol w="581991">
                  <a:extLst>
                    <a:ext uri="{9D8B030D-6E8A-4147-A177-3AD203B41FA5}">
                      <a16:colId xmlns:a16="http://schemas.microsoft.com/office/drawing/2014/main" val="1817849130"/>
                    </a:ext>
                  </a:extLst>
                </a:gridCol>
                <a:gridCol w="581991">
                  <a:extLst>
                    <a:ext uri="{9D8B030D-6E8A-4147-A177-3AD203B41FA5}">
                      <a16:colId xmlns:a16="http://schemas.microsoft.com/office/drawing/2014/main" val="3316623810"/>
                    </a:ext>
                  </a:extLst>
                </a:gridCol>
              </a:tblGrid>
              <a:tr h="3691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232071"/>
                  </a:ext>
                </a:extLst>
              </a:tr>
            </a:tbl>
          </a:graphicData>
        </a:graphic>
      </p:graphicFrame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BC0B6274-36DF-8863-07D2-F5C0EF922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193440"/>
              </p:ext>
            </p:extLst>
          </p:nvPr>
        </p:nvGraphicFramePr>
        <p:xfrm>
          <a:off x="1766956" y="4958493"/>
          <a:ext cx="2871305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991">
                  <a:extLst>
                    <a:ext uri="{9D8B030D-6E8A-4147-A177-3AD203B41FA5}">
                      <a16:colId xmlns:a16="http://schemas.microsoft.com/office/drawing/2014/main" val="1728225255"/>
                    </a:ext>
                  </a:extLst>
                </a:gridCol>
                <a:gridCol w="581991">
                  <a:extLst>
                    <a:ext uri="{9D8B030D-6E8A-4147-A177-3AD203B41FA5}">
                      <a16:colId xmlns:a16="http://schemas.microsoft.com/office/drawing/2014/main" val="3232739642"/>
                    </a:ext>
                  </a:extLst>
                </a:gridCol>
                <a:gridCol w="581991">
                  <a:extLst>
                    <a:ext uri="{9D8B030D-6E8A-4147-A177-3AD203B41FA5}">
                      <a16:colId xmlns:a16="http://schemas.microsoft.com/office/drawing/2014/main" val="1817849130"/>
                    </a:ext>
                  </a:extLst>
                </a:gridCol>
                <a:gridCol w="568741">
                  <a:extLst>
                    <a:ext uri="{9D8B030D-6E8A-4147-A177-3AD203B41FA5}">
                      <a16:colId xmlns:a16="http://schemas.microsoft.com/office/drawing/2014/main" val="3316623810"/>
                    </a:ext>
                  </a:extLst>
                </a:gridCol>
                <a:gridCol w="556591">
                  <a:extLst>
                    <a:ext uri="{9D8B030D-6E8A-4147-A177-3AD203B41FA5}">
                      <a16:colId xmlns:a16="http://schemas.microsoft.com/office/drawing/2014/main" val="4148207991"/>
                    </a:ext>
                  </a:extLst>
                </a:gridCol>
              </a:tblGrid>
              <a:tr h="369128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232071"/>
                  </a:ext>
                </a:extLst>
              </a:tr>
            </a:tbl>
          </a:graphicData>
        </a:graphic>
      </p:graphicFrame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959FD0CA-E393-D65F-7CC0-FB25E19A6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455022"/>
              </p:ext>
            </p:extLst>
          </p:nvPr>
        </p:nvGraphicFramePr>
        <p:xfrm>
          <a:off x="1766957" y="4416962"/>
          <a:ext cx="1758123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041">
                  <a:extLst>
                    <a:ext uri="{9D8B030D-6E8A-4147-A177-3AD203B41FA5}">
                      <a16:colId xmlns:a16="http://schemas.microsoft.com/office/drawing/2014/main" val="1576112072"/>
                    </a:ext>
                  </a:extLst>
                </a:gridCol>
                <a:gridCol w="586041">
                  <a:extLst>
                    <a:ext uri="{9D8B030D-6E8A-4147-A177-3AD203B41FA5}">
                      <a16:colId xmlns:a16="http://schemas.microsoft.com/office/drawing/2014/main" val="4198169570"/>
                    </a:ext>
                  </a:extLst>
                </a:gridCol>
                <a:gridCol w="586041">
                  <a:extLst>
                    <a:ext uri="{9D8B030D-6E8A-4147-A177-3AD203B41FA5}">
                      <a16:colId xmlns:a16="http://schemas.microsoft.com/office/drawing/2014/main" val="3116228672"/>
                    </a:ext>
                  </a:extLst>
                </a:gridCol>
              </a:tblGrid>
              <a:tr h="35540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731590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40C52CBD-E918-A036-33C4-CF778FF61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942155"/>
              </p:ext>
            </p:extLst>
          </p:nvPr>
        </p:nvGraphicFramePr>
        <p:xfrm>
          <a:off x="4262482" y="5928743"/>
          <a:ext cx="7250344" cy="39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8979">
                  <a:extLst>
                    <a:ext uri="{9D8B030D-6E8A-4147-A177-3AD203B41FA5}">
                      <a16:colId xmlns:a16="http://schemas.microsoft.com/office/drawing/2014/main" val="4218784339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val="3556820721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val="4107199269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val="3830419310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val="2296081230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val="3708000372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val="3036896508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val="1626044852"/>
                    </a:ext>
                  </a:extLst>
                </a:gridCol>
                <a:gridCol w="598979">
                  <a:extLst>
                    <a:ext uri="{9D8B030D-6E8A-4147-A177-3AD203B41FA5}">
                      <a16:colId xmlns:a16="http://schemas.microsoft.com/office/drawing/2014/main" val="534469248"/>
                    </a:ext>
                  </a:extLst>
                </a:gridCol>
                <a:gridCol w="615483">
                  <a:extLst>
                    <a:ext uri="{9D8B030D-6E8A-4147-A177-3AD203B41FA5}">
                      <a16:colId xmlns:a16="http://schemas.microsoft.com/office/drawing/2014/main" val="1108454943"/>
                    </a:ext>
                  </a:extLst>
                </a:gridCol>
                <a:gridCol w="639497">
                  <a:extLst>
                    <a:ext uri="{9D8B030D-6E8A-4147-A177-3AD203B41FA5}">
                      <a16:colId xmlns:a16="http://schemas.microsoft.com/office/drawing/2014/main" val="2453380991"/>
                    </a:ext>
                  </a:extLst>
                </a:gridCol>
                <a:gridCol w="604553">
                  <a:extLst>
                    <a:ext uri="{9D8B030D-6E8A-4147-A177-3AD203B41FA5}">
                      <a16:colId xmlns:a16="http://schemas.microsoft.com/office/drawing/2014/main" val="4126551147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344769"/>
                  </a:ext>
                </a:extLst>
              </a:tr>
            </a:tbl>
          </a:graphicData>
        </a:graphic>
      </p:graphicFrame>
      <p:pic>
        <p:nvPicPr>
          <p:cNvPr id="5" name="Picture 2" descr="KL Deemed to be University Logo">
            <a:extLst>
              <a:ext uri="{FF2B5EF4-FFF2-40B4-BE49-F238E27FC236}">
                <a16:creationId xmlns:a16="http://schemas.microsoft.com/office/drawing/2014/main" id="{FE1863C8-C221-1EC5-7288-965BA52C5F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54011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7183" y="103275"/>
            <a:ext cx="7269534" cy="951802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Byte Stuffing / Character Stuffing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2078311"/>
            <a:ext cx="5558973" cy="4057432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Same byte, called a </a:t>
            </a:r>
            <a:r>
              <a:rPr lang="en-US" sz="21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flag byte</a:t>
            </a: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, is used as both the starting and ending delimiter.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1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Two consecutive flag bytes indicate the end of one frame and the start of the next. 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1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Thus, if the receiver ever loses synchronization it can just search for two flag bytes to find the end of the current frame and the start of the next frame.</a:t>
            </a:r>
          </a:p>
          <a:p>
            <a:pPr algn="just"/>
            <a:endParaRPr lang="en-US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1DD3F0-608F-4999-8E66-FEC7BEF01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447" y="1512252"/>
            <a:ext cx="6489658" cy="4844552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4FC86CAB-3959-825E-0CCB-B35E3199A9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26199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3EEBD-6654-4714-A445-C668F496F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Example-2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F8372-FE57-4662-A10A-A4F85FF70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Given FLAG = @, ESC = $, Frame format= FLAG DATA FLAG             	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942E92D-801C-B21D-60BF-5344C4A4B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8292796"/>
              </p:ext>
            </p:extLst>
          </p:nvPr>
        </p:nvGraphicFramePr>
        <p:xfrm>
          <a:off x="1236870" y="3012292"/>
          <a:ext cx="812799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6680594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7367812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15841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Original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Stuffed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Destuffed Data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506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D1 = ABC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F1 = @ABC@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R1 = ABC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513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D2 = P@QR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F2 = 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R2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347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D3 = P@QR$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F3 = 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R3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288910"/>
                  </a:ext>
                </a:extLst>
              </a:tr>
            </a:tbl>
          </a:graphicData>
        </a:graphic>
      </p:graphicFrame>
      <p:pic>
        <p:nvPicPr>
          <p:cNvPr id="5" name="Picture 2" descr="KL Deemed to be University Logo">
            <a:extLst>
              <a:ext uri="{FF2B5EF4-FFF2-40B4-BE49-F238E27FC236}">
                <a16:creationId xmlns:a16="http://schemas.microsoft.com/office/drawing/2014/main" id="{FFAE91B2-740F-7458-7595-6A0CD8B09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30600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3EEBD-6654-4714-A445-C668F496F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Solution-2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F8372-FE57-4662-A10A-A4F85FF70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Given FLAG = @, ESC = $, Frame format= FLAG DATA FLAG             	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942E92D-801C-B21D-60BF-5344C4A4B6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0150035"/>
              </p:ext>
            </p:extLst>
          </p:nvPr>
        </p:nvGraphicFramePr>
        <p:xfrm>
          <a:off x="1276626" y="3086894"/>
          <a:ext cx="880827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66805944"/>
                    </a:ext>
                  </a:extLst>
                </a:gridCol>
                <a:gridCol w="3209971">
                  <a:extLst>
                    <a:ext uri="{9D8B030D-6E8A-4147-A177-3AD203B41FA5}">
                      <a16:colId xmlns:a16="http://schemas.microsoft.com/office/drawing/2014/main" val="273678126"/>
                    </a:ext>
                  </a:extLst>
                </a:gridCol>
                <a:gridCol w="2888974">
                  <a:extLst>
                    <a:ext uri="{9D8B030D-6E8A-4147-A177-3AD203B41FA5}">
                      <a16:colId xmlns:a16="http://schemas.microsoft.com/office/drawing/2014/main" val="11158411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Original Data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Stuffed Data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Destuffed Data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1506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D1 = ABC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F1 = @ABC@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R1 = ABC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3513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D2 = P@QR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F2 =  @P$@QR@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R2 = P@QR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3347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D3 = P@QR$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F3 =  @P$@QR$$@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rgbClr val="0070C0"/>
                          </a:solidFill>
                        </a:rPr>
                        <a:t>R3 = P@QR$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288910"/>
                  </a:ext>
                </a:extLst>
              </a:tr>
            </a:tbl>
          </a:graphicData>
        </a:graphic>
      </p:graphicFrame>
      <p:pic>
        <p:nvPicPr>
          <p:cNvPr id="5" name="Picture 2" descr="KL Deemed to be University Logo">
            <a:extLst>
              <a:ext uri="{FF2B5EF4-FFF2-40B4-BE49-F238E27FC236}">
                <a16:creationId xmlns:a16="http://schemas.microsoft.com/office/drawing/2014/main" id="{FCBE5DB1-5863-B000-E511-AB0426661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53722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93A69A-F0D3-4EA3-846D-6EE6F43D1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4586" y="103275"/>
            <a:ext cx="7682131" cy="951802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</a:br>
            <a:r>
              <a:rPr lang="en-US" b="1" dirty="0">
                <a:solidFill>
                  <a:srgbClr val="C00000"/>
                </a:solidFill>
                <a:latin typeface="Goudy Old Style" panose="02020502050305020303" pitchFamily="18" charset="0"/>
              </a:rPr>
              <a:t>Bit Stuffing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41828-7DA4-490A-829B-B07235BAD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2078311"/>
            <a:ext cx="5558973" cy="4057432"/>
          </a:xfrm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pPr algn="just"/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Framing can be also be done at the bit level, so frames can contain an arbitrary number of bits made up of units of any size.</a:t>
            </a:r>
          </a:p>
          <a:p>
            <a:pPr marL="0" indent="0" algn="just">
              <a:buNone/>
            </a:pPr>
            <a:endParaRPr lang="en-US" sz="21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algn="just"/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Flag byte: </a:t>
            </a:r>
            <a:r>
              <a:rPr lang="en-US" sz="21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01111110</a:t>
            </a: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 or </a:t>
            </a:r>
            <a:r>
              <a:rPr lang="en-US" sz="2100" b="1" dirty="0">
                <a:solidFill>
                  <a:srgbClr val="0070C0"/>
                </a:solidFill>
                <a:latin typeface="Goudy Old Style" panose="02020502050305020303" pitchFamily="18" charset="0"/>
              </a:rPr>
              <a:t>0x7E</a:t>
            </a: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 in hexadecimal</a:t>
            </a:r>
          </a:p>
          <a:p>
            <a:pPr marL="0" indent="0" algn="just">
              <a:buNone/>
            </a:pPr>
            <a:endParaRPr lang="en-US" sz="21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algn="just"/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Whenever the sender’s data link layer encounters five consecutive 1s in the data, it automatically stuffs a 0 bit into the outgoing bit stream.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282994-7F81-4216-AC0F-8B711A18C3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395" y="2398513"/>
            <a:ext cx="6316181" cy="3030718"/>
          </a:xfrm>
          <a:prstGeom prst="rect">
            <a:avLst/>
          </a:prstGeom>
        </p:spPr>
      </p:pic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7B23D243-2D6F-D437-277F-1F898198A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28889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6B6B-0D99-446B-B41F-AA750A430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09" y="256795"/>
            <a:ext cx="10515600" cy="1002162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Example-3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88D86-14CC-460E-A1AF-859E6A012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930" y="1717157"/>
            <a:ext cx="11022496" cy="5372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FLAG = 01111110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M1 = 1010100001110010111101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F1= ?</a:t>
            </a:r>
          </a:p>
          <a:p>
            <a:pPr marL="0" indent="0">
              <a:buNone/>
            </a:pPr>
            <a:endParaRPr lang="en-US" sz="21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Flag = 01111110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M2 = 1010111111011011111100000110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F2 = ?</a:t>
            </a:r>
          </a:p>
          <a:p>
            <a:pPr marL="0" indent="0">
              <a:buNone/>
            </a:pPr>
            <a:endParaRPr lang="en-US" sz="21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FLAG = 011110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M3 = 11001011110101110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F3 = ?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6CD23319-A774-7DB3-6444-80443F374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25903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F6B6B-0D99-446B-B41F-AA750A430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09" y="256795"/>
            <a:ext cx="10515600" cy="1002162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Solution-3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88D86-14CC-460E-A1AF-859E6A012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930" y="1717157"/>
            <a:ext cx="11022496" cy="5372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FLAG = 01111110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M1 = 1010100001110010111101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F1= </a:t>
            </a:r>
            <a:r>
              <a:rPr lang="en-US" sz="2100" dirty="0">
                <a:solidFill>
                  <a:srgbClr val="0070C0"/>
                </a:solidFill>
                <a:latin typeface="Goudy Old Style" panose="02020502050305020303" pitchFamily="18" charset="0"/>
              </a:rPr>
              <a:t>01111110 1010100001110010111101 01111110</a:t>
            </a:r>
          </a:p>
          <a:p>
            <a:pPr marL="0" indent="0">
              <a:buNone/>
            </a:pPr>
            <a:endParaRPr lang="en-US" sz="21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Flag = 01111110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M2 = 1010111111011011111100000110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F2 = </a:t>
            </a:r>
            <a:r>
              <a:rPr lang="en-US" sz="2100" dirty="0">
                <a:solidFill>
                  <a:srgbClr val="0070C0"/>
                </a:solidFill>
                <a:latin typeface="Goudy Old Style" panose="02020502050305020303" pitchFamily="18" charset="0"/>
              </a:rPr>
              <a:t>01111110 101011111</a:t>
            </a:r>
            <a:r>
              <a:rPr lang="en-US" sz="2100" dirty="0">
                <a:solidFill>
                  <a:srgbClr val="FF0000"/>
                </a:solidFill>
                <a:latin typeface="Goudy Old Style" panose="02020502050305020303" pitchFamily="18" charset="0"/>
              </a:rPr>
              <a:t>0</a:t>
            </a:r>
            <a:r>
              <a:rPr lang="en-US" sz="2100" dirty="0">
                <a:solidFill>
                  <a:srgbClr val="0070C0"/>
                </a:solidFill>
                <a:latin typeface="Goudy Old Style" panose="02020502050305020303" pitchFamily="18" charset="0"/>
              </a:rPr>
              <a:t>1011011111</a:t>
            </a:r>
            <a:r>
              <a:rPr lang="en-US" sz="2100" dirty="0">
                <a:solidFill>
                  <a:srgbClr val="FF0000"/>
                </a:solidFill>
                <a:latin typeface="Goudy Old Style" panose="02020502050305020303" pitchFamily="18" charset="0"/>
              </a:rPr>
              <a:t>0</a:t>
            </a:r>
            <a:r>
              <a:rPr lang="en-US" sz="2100" dirty="0">
                <a:solidFill>
                  <a:srgbClr val="0070C0"/>
                </a:solidFill>
                <a:latin typeface="Goudy Old Style" panose="02020502050305020303" pitchFamily="18" charset="0"/>
              </a:rPr>
              <a:t>100000110 01111110</a:t>
            </a:r>
          </a:p>
          <a:p>
            <a:pPr marL="0" indent="0">
              <a:buNone/>
            </a:pPr>
            <a:endParaRPr lang="en-US" sz="21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FLAG = 011110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M3 = 11001011110101110</a:t>
            </a:r>
          </a:p>
          <a:p>
            <a:pPr marL="0" indent="0">
              <a:buNone/>
            </a:pPr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F3 = </a:t>
            </a:r>
            <a:r>
              <a:rPr lang="en-US" sz="2100" dirty="0">
                <a:solidFill>
                  <a:srgbClr val="0070C0"/>
                </a:solidFill>
                <a:latin typeface="Goudy Old Style" panose="02020502050305020303" pitchFamily="18" charset="0"/>
              </a:rPr>
              <a:t>011110 110010111</a:t>
            </a:r>
            <a:r>
              <a:rPr lang="en-US" sz="2100" dirty="0">
                <a:solidFill>
                  <a:srgbClr val="FF0000"/>
                </a:solidFill>
                <a:latin typeface="Goudy Old Style" panose="02020502050305020303" pitchFamily="18" charset="0"/>
              </a:rPr>
              <a:t>0</a:t>
            </a:r>
            <a:r>
              <a:rPr lang="en-US" sz="2100" dirty="0">
                <a:solidFill>
                  <a:srgbClr val="0070C0"/>
                </a:solidFill>
                <a:latin typeface="Goudy Old Style" panose="02020502050305020303" pitchFamily="18" charset="0"/>
              </a:rPr>
              <a:t>1010111</a:t>
            </a:r>
            <a:r>
              <a:rPr lang="en-US" sz="2100" dirty="0">
                <a:solidFill>
                  <a:srgbClr val="FF0000"/>
                </a:solidFill>
                <a:latin typeface="Goudy Old Style" panose="02020502050305020303" pitchFamily="18" charset="0"/>
              </a:rPr>
              <a:t>0</a:t>
            </a:r>
            <a:r>
              <a:rPr lang="en-US" sz="2100" dirty="0">
                <a:solidFill>
                  <a:srgbClr val="0070C0"/>
                </a:solidFill>
                <a:latin typeface="Goudy Old Style" panose="02020502050305020303" pitchFamily="18" charset="0"/>
              </a:rPr>
              <a:t>0 011110</a:t>
            </a:r>
          </a:p>
        </p:txBody>
      </p:sp>
      <p:pic>
        <p:nvPicPr>
          <p:cNvPr id="4" name="Picture 2" descr="KL Deemed to be University Logo">
            <a:extLst>
              <a:ext uri="{FF2B5EF4-FFF2-40B4-BE49-F238E27FC236}">
                <a16:creationId xmlns:a16="http://schemas.microsoft.com/office/drawing/2014/main" id="{75416791-6FE2-1380-ED92-5C4457A87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47532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D464A-9091-5422-DC51-926AB6C0F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Example-4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442533-290A-C820-36F6-54E021345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8824"/>
            <a:ext cx="10515600" cy="4608139"/>
          </a:xfrm>
        </p:spPr>
        <p:txBody>
          <a:bodyPr>
            <a:normAutofit lnSpcReduction="10000"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The following character encoding is used in a data link protocol: </a:t>
            </a:r>
            <a:endParaRPr lang="en-IN" sz="2800" kern="12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  <a:ea typeface="+mn-ea"/>
              <a:cs typeface="+mn-cs"/>
            </a:endParaRP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A: 01000111; B: 11100011; FLAG: 01111110; ESC: 11100000; Show the bit sequence transmitted (in binary) for the four-character frame </a:t>
            </a: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</a:rPr>
              <a:t>	</a:t>
            </a:r>
            <a:r>
              <a:rPr lang="en-US" sz="2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“A FLAG B ESC” </a:t>
            </a: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when each of the following framing methods is used: 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AutoNum type="alphaLcParenBoth"/>
            </a:pPr>
            <a:r>
              <a:rPr lang="en-US" sz="2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Byte count. 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AutoNum type="alphaLcParenBoth"/>
            </a:pPr>
            <a:r>
              <a:rPr lang="en-US" sz="2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Flag bytes with byte stuffing. 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AutoNum type="alphaLcParenBoth"/>
            </a:pPr>
            <a:r>
              <a:rPr lang="en-US" sz="2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Starting and ending flag bytes with bit stuffing.</a:t>
            </a:r>
            <a:endParaRPr lang="en-IN" sz="2800" kern="1200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  <a:ea typeface="+mn-ea"/>
              <a:cs typeface="+mn-c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2112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D464A-9091-5422-DC51-926AB6C0F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1527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Solution-4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B442533-290A-C820-36F6-54E021345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49" y="708352"/>
            <a:ext cx="10515600" cy="5190845"/>
          </a:xfrm>
        </p:spPr>
        <p:txBody>
          <a:bodyPr>
            <a:normAutofit/>
          </a:bodyPr>
          <a:lstStyle/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000" b="1" kern="1200" dirty="0">
                <a:solidFill>
                  <a:srgbClr val="0070C0"/>
                </a:solidFill>
                <a:latin typeface="Goudy Old Style" panose="02020502050305020303" pitchFamily="18" charset="0"/>
                <a:ea typeface="+mn-ea"/>
                <a:cs typeface="+mn-cs"/>
              </a:rPr>
              <a:t>Given Data: </a:t>
            </a:r>
            <a:r>
              <a:rPr 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A= 01000111; B= 11100011; FLAG= 01111110; ESC= 11100000; </a:t>
            </a: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en-US" sz="2000" b="1" kern="1200" dirty="0">
                <a:solidFill>
                  <a:srgbClr val="0070C0"/>
                </a:solidFill>
                <a:latin typeface="Goudy Old Style" panose="02020502050305020303" pitchFamily="18" charset="0"/>
                <a:ea typeface="+mn-ea"/>
                <a:cs typeface="+mn-cs"/>
              </a:rPr>
              <a:t>Byte Seq: </a:t>
            </a:r>
            <a:r>
              <a:rPr 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Goudy Old Style" panose="02020502050305020303" pitchFamily="18" charset="0"/>
                <a:ea typeface="+mn-ea"/>
                <a:cs typeface="+mn-cs"/>
              </a:rPr>
              <a:t>A FLAG B ESC 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lphaLcParenR"/>
            </a:pPr>
            <a:r>
              <a:rPr lang="en-US" sz="2400" b="1" kern="1200" dirty="0">
                <a:solidFill>
                  <a:srgbClr val="C00000"/>
                </a:solidFill>
                <a:latin typeface="Goudy Old Style" panose="02020502050305020303" pitchFamily="18" charset="0"/>
                <a:ea typeface="+mn-ea"/>
                <a:cs typeface="+mn-cs"/>
              </a:rPr>
              <a:t>Byte count</a:t>
            </a:r>
            <a:r>
              <a:rPr lang="en-US" sz="2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: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lphaLcParenR"/>
            </a:pPr>
            <a:endParaRPr lang="en-US" sz="2400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lphaLcParenR" startAt="2"/>
            </a:pPr>
            <a:r>
              <a:rPr lang="en-US" sz="2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Byte stuffing: </a:t>
            </a: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lphaLcParenR" startAt="2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514350" indent="-5143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+mj-lt"/>
              <a:buAutoNum type="alphaLcParenR" startAt="2"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Goudy Old Style" panose="02020502050305020303" pitchFamily="18" charset="0"/>
            </a:endParaRPr>
          </a:p>
          <a:p>
            <a:pPr marL="514350" indent="-514350">
              <a:spcAft>
                <a:spcPts val="800"/>
              </a:spcAft>
              <a:buFont typeface="+mj-lt"/>
              <a:buAutoNum type="alphaLcParenR" startAt="2"/>
            </a:pPr>
            <a:r>
              <a:rPr lang="en-US" sz="2400" b="1" dirty="0">
                <a:solidFill>
                  <a:srgbClr val="C00000"/>
                </a:solidFill>
                <a:latin typeface="Goudy Old Style" panose="02020502050305020303" pitchFamily="18" charset="0"/>
              </a:rPr>
              <a:t>Bit stuffing: F A F B E F</a:t>
            </a:r>
          </a:p>
          <a:p>
            <a:pPr marL="514350" indent="-514350">
              <a:spcAft>
                <a:spcPts val="800"/>
              </a:spcAft>
              <a:buFont typeface="+mj-lt"/>
              <a:buAutoNum type="alphaLcParenR" startAt="2"/>
            </a:pPr>
            <a:endParaRPr lang="en-US" sz="2400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  <a:p>
            <a:pPr marL="514350" indent="-514350">
              <a:spcAft>
                <a:spcPts val="800"/>
              </a:spcAft>
              <a:buFont typeface="+mj-lt"/>
              <a:buAutoNum type="alphaLcParenR" startAt="2"/>
            </a:pPr>
            <a:endParaRPr lang="en-IN" sz="2400" b="1" dirty="0">
              <a:solidFill>
                <a:srgbClr val="C00000"/>
              </a:solidFill>
              <a:latin typeface="Goudy Old Style" panose="02020502050305020303" pitchFamily="18" charset="0"/>
            </a:endParaRP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0ED8F79-01F4-ABF9-4E32-AC03AE4FE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982264"/>
              </p:ext>
            </p:extLst>
          </p:nvPr>
        </p:nvGraphicFramePr>
        <p:xfrm>
          <a:off x="1084730" y="2182009"/>
          <a:ext cx="7876584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3249">
                  <a:extLst>
                    <a:ext uri="{9D8B030D-6E8A-4147-A177-3AD203B41FA5}">
                      <a16:colId xmlns:a16="http://schemas.microsoft.com/office/drawing/2014/main" val="155477097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2298726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5269567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0764915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92028411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9475670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Byte </a:t>
                      </a:r>
                      <a:r>
                        <a:rPr lang="en-IN" b="1" dirty="0" err="1">
                          <a:solidFill>
                            <a:schemeClr val="tx1"/>
                          </a:solidFill>
                        </a:rPr>
                        <a:t>Seq</a:t>
                      </a: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A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FLAG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B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</a:rPr>
                        <a:t>ESC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31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b="1" dirty="0"/>
                        <a:t>Bit </a:t>
                      </a:r>
                      <a:r>
                        <a:rPr lang="en-IN" b="1" dirty="0" err="1"/>
                        <a:t>Seq</a:t>
                      </a:r>
                      <a:r>
                        <a:rPr lang="en-IN" b="1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00000101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01000111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01111110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11100000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488196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6D6840-3B24-9766-23E3-A19347FA23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900310"/>
              </p:ext>
            </p:extLst>
          </p:nvPr>
        </p:nvGraphicFramePr>
        <p:xfrm>
          <a:off x="1084730" y="3855183"/>
          <a:ext cx="1024218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2658">
                  <a:extLst>
                    <a:ext uri="{9D8B030D-6E8A-4147-A177-3AD203B41FA5}">
                      <a16:colId xmlns:a16="http://schemas.microsoft.com/office/drawing/2014/main" val="3358107804"/>
                    </a:ext>
                  </a:extLst>
                </a:gridCol>
                <a:gridCol w="1173382">
                  <a:extLst>
                    <a:ext uri="{9D8B030D-6E8A-4147-A177-3AD203B41FA5}">
                      <a16:colId xmlns:a16="http://schemas.microsoft.com/office/drawing/2014/main" val="2800770987"/>
                    </a:ext>
                  </a:extLst>
                </a:gridCol>
                <a:gridCol w="1138020">
                  <a:extLst>
                    <a:ext uri="{9D8B030D-6E8A-4147-A177-3AD203B41FA5}">
                      <a16:colId xmlns:a16="http://schemas.microsoft.com/office/drawing/2014/main" val="2377664565"/>
                    </a:ext>
                  </a:extLst>
                </a:gridCol>
                <a:gridCol w="1138020">
                  <a:extLst>
                    <a:ext uri="{9D8B030D-6E8A-4147-A177-3AD203B41FA5}">
                      <a16:colId xmlns:a16="http://schemas.microsoft.com/office/drawing/2014/main" val="1788334031"/>
                    </a:ext>
                  </a:extLst>
                </a:gridCol>
                <a:gridCol w="1138020">
                  <a:extLst>
                    <a:ext uri="{9D8B030D-6E8A-4147-A177-3AD203B41FA5}">
                      <a16:colId xmlns:a16="http://schemas.microsoft.com/office/drawing/2014/main" val="2249973636"/>
                    </a:ext>
                  </a:extLst>
                </a:gridCol>
                <a:gridCol w="1138020">
                  <a:extLst>
                    <a:ext uri="{9D8B030D-6E8A-4147-A177-3AD203B41FA5}">
                      <a16:colId xmlns:a16="http://schemas.microsoft.com/office/drawing/2014/main" val="1116879666"/>
                    </a:ext>
                  </a:extLst>
                </a:gridCol>
                <a:gridCol w="1138020">
                  <a:extLst>
                    <a:ext uri="{9D8B030D-6E8A-4147-A177-3AD203B41FA5}">
                      <a16:colId xmlns:a16="http://schemas.microsoft.com/office/drawing/2014/main" val="586956946"/>
                    </a:ext>
                  </a:extLst>
                </a:gridCol>
                <a:gridCol w="1138020">
                  <a:extLst>
                    <a:ext uri="{9D8B030D-6E8A-4147-A177-3AD203B41FA5}">
                      <a16:colId xmlns:a16="http://schemas.microsoft.com/office/drawing/2014/main" val="3363826246"/>
                    </a:ext>
                  </a:extLst>
                </a:gridCol>
                <a:gridCol w="1138020">
                  <a:extLst>
                    <a:ext uri="{9D8B030D-6E8A-4147-A177-3AD203B41FA5}">
                      <a16:colId xmlns:a16="http://schemas.microsoft.com/office/drawing/2014/main" val="1896532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Byte </a:t>
                      </a:r>
                      <a:r>
                        <a:rPr lang="en-IN" b="1" dirty="0" err="1">
                          <a:solidFill>
                            <a:schemeClr val="tx1"/>
                          </a:solidFill>
                        </a:rPr>
                        <a:t>Seq</a:t>
                      </a:r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FLAG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491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b="1" dirty="0"/>
                        <a:t>Bit </a:t>
                      </a:r>
                      <a:r>
                        <a:rPr lang="en-IN" b="1" dirty="0" err="1"/>
                        <a:t>Seq</a:t>
                      </a:r>
                      <a:r>
                        <a:rPr lang="en-IN" b="1" dirty="0"/>
                        <a:t>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01111110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01000111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11100000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01111110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11100011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11100000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11100000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01111110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775275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4E26AE-993F-FBA2-8846-0711BCA2F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3429356"/>
              </p:ext>
            </p:extLst>
          </p:nvPr>
        </p:nvGraphicFramePr>
        <p:xfrm>
          <a:off x="1084730" y="5700119"/>
          <a:ext cx="9152965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52594">
                  <a:extLst>
                    <a:ext uri="{9D8B030D-6E8A-4147-A177-3AD203B41FA5}">
                      <a16:colId xmlns:a16="http://schemas.microsoft.com/office/drawing/2014/main" val="2085102243"/>
                    </a:ext>
                  </a:extLst>
                </a:gridCol>
                <a:gridCol w="1169147">
                  <a:extLst>
                    <a:ext uri="{9D8B030D-6E8A-4147-A177-3AD203B41FA5}">
                      <a16:colId xmlns:a16="http://schemas.microsoft.com/office/drawing/2014/main" val="1273856364"/>
                    </a:ext>
                  </a:extLst>
                </a:gridCol>
                <a:gridCol w="4410636">
                  <a:extLst>
                    <a:ext uri="{9D8B030D-6E8A-4147-A177-3AD203B41FA5}">
                      <a16:colId xmlns:a16="http://schemas.microsoft.com/office/drawing/2014/main" val="2270685151"/>
                    </a:ext>
                  </a:extLst>
                </a:gridCol>
                <a:gridCol w="1120588">
                  <a:extLst>
                    <a:ext uri="{9D8B030D-6E8A-4147-A177-3AD203B41FA5}">
                      <a16:colId xmlns:a16="http://schemas.microsoft.com/office/drawing/2014/main" val="25289487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b="1" dirty="0">
                          <a:solidFill>
                            <a:schemeClr val="tx1"/>
                          </a:solidFill>
                        </a:rPr>
                        <a:t>Bit Seq. before Stuffing: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01000111  01111110  11100011  11100000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788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IN" b="1" dirty="0"/>
                        <a:t>Bit </a:t>
                      </a:r>
                      <a:r>
                        <a:rPr lang="en-IN" b="1" dirty="0" err="1"/>
                        <a:t>Seq</a:t>
                      </a:r>
                      <a:r>
                        <a:rPr lang="en-IN" b="1" dirty="0"/>
                        <a:t> after Stuffing: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01111110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01000111 011111</a:t>
                      </a:r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0</a:t>
                      </a:r>
                      <a:r>
                        <a:rPr lang="en-IN" dirty="0"/>
                        <a:t>10 11100011 111</a:t>
                      </a:r>
                      <a:r>
                        <a:rPr lang="en-IN" dirty="0">
                          <a:solidFill>
                            <a:srgbClr val="C00000"/>
                          </a:solidFill>
                        </a:rPr>
                        <a:t>0</a:t>
                      </a:r>
                      <a:r>
                        <a:rPr lang="en-IN" dirty="0"/>
                        <a:t>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01111110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9056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5882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among the following represents the objectives/requirements of Data Link Layer??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Frame Synchronization</a:t>
            </a:r>
          </a:p>
          <a:p>
            <a:pPr marL="342900" indent="-342900">
              <a:buAutoNum type="alphaLcParenBoth"/>
            </a:pPr>
            <a:r>
              <a:rPr lang="en-US" sz="1600" dirty="0"/>
              <a:t>Error &amp; Flow Control</a:t>
            </a:r>
          </a:p>
          <a:p>
            <a:pPr marL="342900" indent="-342900">
              <a:buAutoNum type="alphaLcParenBoth"/>
            </a:pPr>
            <a:r>
              <a:rPr lang="en-US" sz="1600" dirty="0"/>
              <a:t>Both a &amp; b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Neither a or b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728870" y="2872641"/>
            <a:ext cx="11092069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The data link layer takes the packets from _____ and encapsulates them into frames for transmission. 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application layer </a:t>
            </a:r>
          </a:p>
          <a:p>
            <a:pPr marL="342900" indent="-342900">
              <a:buAutoNum type="alphaLcParenBoth"/>
            </a:pPr>
            <a:r>
              <a:rPr lang="en-US" dirty="0"/>
              <a:t>transport layer </a:t>
            </a:r>
          </a:p>
          <a:p>
            <a:pPr marL="342900" indent="-342900">
              <a:buAutoNum type="alphaLcParenBoth"/>
            </a:pPr>
            <a:r>
              <a:rPr lang="en-US" dirty="0"/>
              <a:t>network layer </a:t>
            </a:r>
          </a:p>
          <a:p>
            <a:pPr marL="342900" indent="-342900">
              <a:buAutoNum type="alphaLcParenBoth"/>
            </a:pPr>
            <a:r>
              <a:rPr lang="en-US" sz="1600" dirty="0"/>
              <a:t>physical layer 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728870" y="5003206"/>
            <a:ext cx="11092069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In bit stuffing framing method if the flag is 0111110, then after how many 1’s the 0 must be stuffed in data?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After every six 1’s</a:t>
            </a:r>
          </a:p>
          <a:p>
            <a:pPr marL="342900" indent="-342900">
              <a:buAutoNum type="alphaLcParenBoth"/>
            </a:pPr>
            <a:r>
              <a:rPr lang="en-US" dirty="0"/>
              <a:t>After every five 1’s</a:t>
            </a:r>
          </a:p>
          <a:p>
            <a:pPr marL="342900" indent="-342900">
              <a:buAutoNum type="alphaLcParenBoth"/>
            </a:pPr>
            <a:r>
              <a:rPr lang="en-US" dirty="0"/>
              <a:t>After every four 1’s</a:t>
            </a:r>
          </a:p>
          <a:p>
            <a:pPr marL="342900" indent="-342900">
              <a:buAutoNum type="alphaLcParenBoth"/>
            </a:pPr>
            <a:r>
              <a:rPr lang="en-US" sz="1600" dirty="0"/>
              <a:t>After every three 1’s</a:t>
            </a:r>
          </a:p>
        </p:txBody>
      </p:sp>
    </p:spTree>
    <p:extLst>
      <p:ext uri="{BB962C8B-B14F-4D97-AF65-F5344CB8AC3E}">
        <p14:creationId xmlns:p14="http://schemas.microsoft.com/office/powerpoint/2010/main" val="4192766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ED7FD29D-BBDE-078E-D487-E57247CDB50D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SELF-ASSESSMENT QUESTIONS</a:t>
            </a:r>
          </a:p>
        </p:txBody>
      </p:sp>
      <p:sp>
        <p:nvSpPr>
          <p:cNvPr id="7" name="Google Shape;502;p17">
            <a:extLst>
              <a:ext uri="{FF2B5EF4-FFF2-40B4-BE49-F238E27FC236}">
                <a16:creationId xmlns:a16="http://schemas.microsoft.com/office/drawing/2014/main" id="{AE3D0AA7-0A5F-7BD6-7BC7-1D38F326B8B4}"/>
              </a:ext>
            </a:extLst>
          </p:cNvPr>
          <p:cNvSpPr/>
          <p:nvPr/>
        </p:nvSpPr>
        <p:spPr>
          <a:xfrm>
            <a:off x="946069" y="929962"/>
            <a:ext cx="10172210" cy="412293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Which among the following represents the objectives/requirements of Data Link Layer??</a:t>
            </a:r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5D8B791C-9B35-CF16-C192-D202E0DB9A60}"/>
              </a:ext>
            </a:extLst>
          </p:cNvPr>
          <p:cNvSpPr/>
          <p:nvPr/>
        </p:nvSpPr>
        <p:spPr>
          <a:xfrm>
            <a:off x="1009895" y="1501442"/>
            <a:ext cx="2901705" cy="103860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sz="1600" dirty="0"/>
              <a:t>Frame Synchronization</a:t>
            </a:r>
          </a:p>
          <a:p>
            <a:pPr marL="342900" indent="-342900">
              <a:buAutoNum type="alphaLcParenBoth"/>
            </a:pPr>
            <a:r>
              <a:rPr lang="en-US" sz="1600" dirty="0"/>
              <a:t>Error &amp; Flow Control</a:t>
            </a:r>
          </a:p>
          <a:p>
            <a:pPr marL="342900" indent="-342900">
              <a:buAutoNum type="alphaLcParenBoth"/>
            </a:pPr>
            <a:r>
              <a:rPr lang="en-US" sz="1600" b="1" dirty="0">
                <a:solidFill>
                  <a:srgbClr val="FFFF00"/>
                </a:solidFill>
              </a:rPr>
              <a:t>Both a &amp; b</a:t>
            </a:r>
          </a:p>
          <a:p>
            <a:pPr marL="342900" indent="-342900">
              <a:buFontTx/>
              <a:buAutoNum type="alphaLcParenBoth"/>
            </a:pPr>
            <a:r>
              <a:rPr lang="en-US" sz="1600" dirty="0"/>
              <a:t>Neither a or b</a:t>
            </a:r>
          </a:p>
        </p:txBody>
      </p:sp>
      <p:sp>
        <p:nvSpPr>
          <p:cNvPr id="13" name="Google Shape;502;p17">
            <a:extLst>
              <a:ext uri="{FF2B5EF4-FFF2-40B4-BE49-F238E27FC236}">
                <a16:creationId xmlns:a16="http://schemas.microsoft.com/office/drawing/2014/main" id="{BB41B87C-BE5F-4BF2-531D-57DC21D1A451}"/>
              </a:ext>
            </a:extLst>
          </p:cNvPr>
          <p:cNvSpPr/>
          <p:nvPr/>
        </p:nvSpPr>
        <p:spPr>
          <a:xfrm>
            <a:off x="728870" y="2872641"/>
            <a:ext cx="11092069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The data link layer takes the packets from _____ and encapsulates them into frames for transmission. </a:t>
            </a:r>
          </a:p>
        </p:txBody>
      </p:sp>
      <p:sp>
        <p:nvSpPr>
          <p:cNvPr id="14" name="Rounded Rectangle 17">
            <a:extLst>
              <a:ext uri="{FF2B5EF4-FFF2-40B4-BE49-F238E27FC236}">
                <a16:creationId xmlns:a16="http://schemas.microsoft.com/office/drawing/2014/main" id="{7E00138C-2256-5D01-E821-A57ADA3BBCB0}"/>
              </a:ext>
            </a:extLst>
          </p:cNvPr>
          <p:cNvSpPr/>
          <p:nvPr/>
        </p:nvSpPr>
        <p:spPr>
          <a:xfrm>
            <a:off x="995362" y="3401007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application layer </a:t>
            </a:r>
          </a:p>
          <a:p>
            <a:pPr marL="342900" indent="-342900">
              <a:buAutoNum type="alphaLcParenBoth"/>
            </a:pPr>
            <a:r>
              <a:rPr lang="en-US" dirty="0"/>
              <a:t>transport layer </a:t>
            </a:r>
          </a:p>
          <a:p>
            <a:pPr marL="342900" indent="-342900">
              <a:buAutoNum type="alphaLcParenBoth"/>
            </a:pPr>
            <a:r>
              <a:rPr lang="en-US" b="1" dirty="0">
                <a:solidFill>
                  <a:srgbClr val="FFFF00"/>
                </a:solidFill>
              </a:rPr>
              <a:t>network layer </a:t>
            </a:r>
          </a:p>
          <a:p>
            <a:pPr marL="342900" indent="-342900">
              <a:buAutoNum type="alphaLcParenBoth"/>
            </a:pPr>
            <a:r>
              <a:rPr lang="en-US" sz="1600" dirty="0"/>
              <a:t>physical layer </a:t>
            </a:r>
          </a:p>
        </p:txBody>
      </p:sp>
      <p:pic>
        <p:nvPicPr>
          <p:cNvPr id="8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  <p:sp>
        <p:nvSpPr>
          <p:cNvPr id="2" name="Google Shape;502;p17">
            <a:extLst>
              <a:ext uri="{FF2B5EF4-FFF2-40B4-BE49-F238E27FC236}">
                <a16:creationId xmlns:a16="http://schemas.microsoft.com/office/drawing/2014/main" id="{232690F5-0E57-FFD3-E4AD-4B85BD78484B}"/>
              </a:ext>
            </a:extLst>
          </p:cNvPr>
          <p:cNvSpPr/>
          <p:nvPr/>
        </p:nvSpPr>
        <p:spPr>
          <a:xfrm>
            <a:off x="728870" y="5003206"/>
            <a:ext cx="11092069" cy="364796"/>
          </a:xfrm>
          <a:prstGeom prst="roundRect">
            <a:avLst>
              <a:gd name="adj" fmla="val 35613"/>
            </a:avLst>
          </a:prstGeom>
          <a:solidFill>
            <a:srgbClr val="E84845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Poppins" panose="00000500000000000000" pitchFamily="2" charset="0"/>
                <a:ea typeface="Calibri"/>
                <a:cs typeface="Poppins" panose="00000500000000000000" pitchFamily="2" charset="0"/>
              </a:rPr>
              <a:t>3. In bit stuffing framing method if the flag is 0111110, then after how many 1’s the 0 must be stuffed in data?</a:t>
            </a:r>
          </a:p>
        </p:txBody>
      </p:sp>
      <p:sp>
        <p:nvSpPr>
          <p:cNvPr id="3" name="Rounded Rectangle 17">
            <a:extLst>
              <a:ext uri="{FF2B5EF4-FFF2-40B4-BE49-F238E27FC236}">
                <a16:creationId xmlns:a16="http://schemas.microsoft.com/office/drawing/2014/main" id="{C0F3606B-7E0B-2822-3C70-DBFF563062C3}"/>
              </a:ext>
            </a:extLst>
          </p:cNvPr>
          <p:cNvSpPr/>
          <p:nvPr/>
        </p:nvSpPr>
        <p:spPr>
          <a:xfrm>
            <a:off x="1009894" y="5560052"/>
            <a:ext cx="2901705" cy="1114865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89000"/>
                </a:schemeClr>
              </a:gs>
              <a:gs pos="23000">
                <a:schemeClr val="accent5">
                  <a:lumMod val="89000"/>
                </a:schemeClr>
              </a:gs>
              <a:gs pos="69000">
                <a:schemeClr val="accent5">
                  <a:lumMod val="75000"/>
                </a:schemeClr>
              </a:gs>
              <a:gs pos="97000">
                <a:schemeClr val="accent5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lphaLcParenBoth"/>
            </a:pPr>
            <a:r>
              <a:rPr lang="en-US" dirty="0"/>
              <a:t>After every six 1’s</a:t>
            </a:r>
          </a:p>
          <a:p>
            <a:pPr marL="342900" indent="-342900">
              <a:buAutoNum type="alphaLcParenBoth"/>
            </a:pPr>
            <a:r>
              <a:rPr lang="en-US" dirty="0"/>
              <a:t>After every five 1’s</a:t>
            </a:r>
          </a:p>
          <a:p>
            <a:pPr marL="342900" indent="-342900">
              <a:buAutoNum type="alphaLcParenBoth"/>
            </a:pPr>
            <a:r>
              <a:rPr lang="en-US" b="1" dirty="0">
                <a:solidFill>
                  <a:srgbClr val="FFFF00"/>
                </a:solidFill>
              </a:rPr>
              <a:t>After every four 1’s</a:t>
            </a:r>
          </a:p>
          <a:p>
            <a:pPr marL="342900" indent="-342900">
              <a:buAutoNum type="alphaLcParenBoth"/>
            </a:pPr>
            <a:r>
              <a:rPr lang="en-US" sz="1600" dirty="0"/>
              <a:t>After every three 1’s</a:t>
            </a:r>
          </a:p>
        </p:txBody>
      </p:sp>
    </p:spTree>
    <p:extLst>
      <p:ext uri="{BB962C8B-B14F-4D97-AF65-F5344CB8AC3E}">
        <p14:creationId xmlns:p14="http://schemas.microsoft.com/office/powerpoint/2010/main" val="41965992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 animBg="1"/>
      <p:bldP spid="13" grpId="0" animBg="1"/>
      <p:bldP spid="14" grpId="0" animBg="1"/>
      <p:bldP spid="2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00BC72CD-0E64-4837-A23F-71719B051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0487" y="1379529"/>
            <a:ext cx="4098941" cy="409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0631B-1888-44A3-956F-2018E4A031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2829" y="1152123"/>
            <a:ext cx="6372665" cy="541606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Goudy Old Style" panose="020205020503050203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Goudy Old Style" panose="02020502050305020303" pitchFamily="18" charset="0"/>
              </a:rPr>
              <a:t> Responsibilities of Datalink layer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Goudy Old Style" panose="020205020503050203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Goudy Old Style" panose="02020502050305020303" pitchFamily="18" charset="0"/>
              </a:rPr>
              <a:t> Framing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Goudy Old Style" panose="02020502050305020303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Goudy Old Style" panose="02020502050305020303" pitchFamily="18" charset="0"/>
              </a:rPr>
              <a:t> Framing Methods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Goudy Old Style" panose="02020502050305020303" pitchFamily="18" charset="0"/>
              </a:rPr>
              <a:t>Byte Count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Goudy Old Style" panose="02020502050305020303" pitchFamily="18" charset="0"/>
              </a:rPr>
              <a:t>Byte Stuffing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>
                <a:latin typeface="Goudy Old Style" panose="02020502050305020303" pitchFamily="18" charset="0"/>
              </a:rPr>
              <a:t>Bit Stuffing</a:t>
            </a:r>
          </a:p>
        </p:txBody>
      </p:sp>
    </p:spTree>
    <p:extLst>
      <p:ext uri="{BB962C8B-B14F-4D97-AF65-F5344CB8AC3E}">
        <p14:creationId xmlns:p14="http://schemas.microsoft.com/office/powerpoint/2010/main" val="918565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3390636" y="94783"/>
            <a:ext cx="5410728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TERMINAL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129" y="2194816"/>
            <a:ext cx="10255348" cy="185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1. </a:t>
            </a:r>
            <a:r>
              <a:rPr lang="en-US" sz="2000" dirty="0"/>
              <a:t>Describe the design issues of data link layer.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2. Illustrate different framing methods with examples.</a:t>
            </a:r>
          </a:p>
          <a:p>
            <a:pPr marL="342900" indent="-342900">
              <a:lnSpc>
                <a:spcPct val="200000"/>
              </a:lnSpc>
            </a:pPr>
            <a:r>
              <a:rPr lang="en-US" sz="2000" dirty="0"/>
              <a:t>3. Analyze the pros and cons of each of the framing methods.</a:t>
            </a:r>
          </a:p>
        </p:txBody>
      </p:sp>
      <p:pic>
        <p:nvPicPr>
          <p:cNvPr id="10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020737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7">
            <a:extLst>
              <a:ext uri="{FF2B5EF4-FFF2-40B4-BE49-F238E27FC236}">
                <a16:creationId xmlns:a16="http://schemas.microsoft.com/office/drawing/2014/main" id="{045E056E-10BD-0B9E-4ACE-A3F54C31FD9F}"/>
              </a:ext>
            </a:extLst>
          </p:cNvPr>
          <p:cNvSpPr/>
          <p:nvPr/>
        </p:nvSpPr>
        <p:spPr>
          <a:xfrm>
            <a:off x="2161309" y="93891"/>
            <a:ext cx="7105194" cy="412293"/>
          </a:xfrm>
          <a:prstGeom prst="roundRect">
            <a:avLst/>
          </a:prstGeom>
          <a:solidFill>
            <a:srgbClr val="BA253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REFERENCES FOR FURTHER LEARNING OF THE SESSION</a:t>
            </a:r>
            <a:endParaRPr lang="en-US" sz="2400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0332" y="1167618"/>
            <a:ext cx="9608234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Reference Books:</a:t>
            </a:r>
            <a:endParaRPr lang="en-US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A.S. Tanenbaum, David J. </a:t>
            </a:r>
            <a:r>
              <a:rPr lang="en-US" dirty="0" err="1"/>
              <a:t>Wetheral</a:t>
            </a:r>
            <a:r>
              <a:rPr lang="en-US" dirty="0"/>
              <a:t> “Computer Networks” Pearson, 5th Edition.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/>
              <a:t>Kurose, J and Ross, K Computer Networking: A Top-Down Approach Addison-Wesley- 6th edition.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Sites and Web links: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dirty="0">
                <a:hlinkClick r:id="rId2"/>
              </a:rPr>
              <a:t>https://www.geeksforgeeks.org/various-kind-of-framing-in-data-link-layer/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5" name="Picture 2" descr="KL Deemed to be University 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1990725" cy="6000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9409133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>
            <a:extLst>
              <a:ext uri="{FF2B5EF4-FFF2-40B4-BE49-F238E27FC236}">
                <a16:creationId xmlns:a16="http://schemas.microsoft.com/office/drawing/2014/main" id="{E91CAAAD-CFB4-45FE-A178-E0C2DBC66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6763" y="1355380"/>
            <a:ext cx="8552279" cy="4595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0242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 Network Protocols &amp; Security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1830</TotalTime>
  <Words>1414</Words>
  <Application>Microsoft Office PowerPoint</Application>
  <PresentationFormat>Widescreen</PresentationFormat>
  <Paragraphs>280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Arial</vt:lpstr>
      <vt:lpstr>BioRhyme ExtraBold</vt:lpstr>
      <vt:lpstr>Calibri</vt:lpstr>
      <vt:lpstr>Calibri Light</vt:lpstr>
      <vt:lpstr>Courier New</vt:lpstr>
      <vt:lpstr>Goudy Old Style</vt:lpstr>
      <vt:lpstr>Poppins</vt:lpstr>
      <vt:lpstr>Wingdings</vt:lpstr>
      <vt:lpstr>Office Theme</vt:lpstr>
      <vt:lpstr>PowerPoint Presentation</vt:lpstr>
      <vt:lpstr>PowerPoint Presentation</vt:lpstr>
      <vt:lpstr>Design issues of Data Link Layer</vt:lpstr>
      <vt:lpstr>Design issues of Data Link Layer…</vt:lpstr>
      <vt:lpstr>Services provided to Network Layer</vt:lpstr>
      <vt:lpstr>Framing Methods</vt:lpstr>
      <vt:lpstr> Framing</vt:lpstr>
      <vt:lpstr> Byte count / Character count</vt:lpstr>
      <vt:lpstr>Example-1</vt:lpstr>
      <vt:lpstr>Solution-1</vt:lpstr>
      <vt:lpstr> Byte Stuffing / Character Stuffing</vt:lpstr>
      <vt:lpstr>Example-2</vt:lpstr>
      <vt:lpstr>Solution-2</vt:lpstr>
      <vt:lpstr> Bit Stuffing</vt:lpstr>
      <vt:lpstr>Example-3</vt:lpstr>
      <vt:lpstr>Solution-3</vt:lpstr>
      <vt:lpstr>Example-4</vt:lpstr>
      <vt:lpstr>Solution-4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S. Venkateswarlu</dc:creator>
  <cp:lastModifiedBy>GORLA VENKATA GANESH</cp:lastModifiedBy>
  <cp:revision>106</cp:revision>
  <dcterms:created xsi:type="dcterms:W3CDTF">2021-08-13T05:56:40Z</dcterms:created>
  <dcterms:modified xsi:type="dcterms:W3CDTF">2025-12-17T06:30:34Z</dcterms:modified>
</cp:coreProperties>
</file>