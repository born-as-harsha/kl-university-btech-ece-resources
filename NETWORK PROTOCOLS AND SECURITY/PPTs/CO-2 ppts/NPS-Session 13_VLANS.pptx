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85" r:id="rId2"/>
    <p:sldMasterId id="2147483697" r:id="rId3"/>
  </p:sldMasterIdLst>
  <p:notesMasterIdLst>
    <p:notesMasterId r:id="rId21"/>
  </p:notesMasterIdLst>
  <p:sldIdLst>
    <p:sldId id="271" r:id="rId4"/>
    <p:sldId id="314" r:id="rId5"/>
    <p:sldId id="307" r:id="rId6"/>
    <p:sldId id="257" r:id="rId7"/>
    <p:sldId id="312" r:id="rId8"/>
    <p:sldId id="311" r:id="rId9"/>
    <p:sldId id="293" r:id="rId10"/>
    <p:sldId id="261" r:id="rId11"/>
    <p:sldId id="305" r:id="rId12"/>
    <p:sldId id="263" r:id="rId13"/>
    <p:sldId id="264" r:id="rId14"/>
    <p:sldId id="294" r:id="rId15"/>
    <p:sldId id="313" r:id="rId16"/>
    <p:sldId id="267" r:id="rId17"/>
    <p:sldId id="308" r:id="rId18"/>
    <p:sldId id="309" r:id="rId19"/>
    <p:sldId id="300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5" d="100"/>
          <a:sy n="65" d="100"/>
        </p:scale>
        <p:origin x="700" y="6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3" Type="http://schemas.openxmlformats.org/officeDocument/2006/relationships/slideMaster" Target="slideMasters/slideMaster3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theme" Target="theme/theme1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viewProps" Target="viewProps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55EE1E7-C94F-4036-9719-11571AF9125A}" type="datetimeFigureOut">
              <a:rPr lang="en-IN" smtClean="0"/>
              <a:pPr/>
              <a:t>17-12-2025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358A834-D47A-4538-80B1-2F33CE273B74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326572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2" name="Google Shape;462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4244303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E14DB6-6761-437F-B95E-3033844DC3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ECE015F-7129-4784-AE3E-2C2725E4EC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E66F83-C630-4352-A337-6958435051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15E10E-A097-4834-80C5-A2C1D646F8B9}" type="datetimeFigureOut">
              <a:rPr lang="en-IN" smtClean="0"/>
              <a:pPr/>
              <a:t>17-12-2025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147517-E525-4912-A43E-5AF556D780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C69AF5-8030-4A6D-9C9F-660FAF75AD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EAE7FC-C46B-42A3-8E15-9BB501A8C155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611747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6C34DA-CF80-4098-8032-66B9C76782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DBBD4A-F574-40DA-A4A9-4C60335805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B5F068-E82C-4BDA-8B27-A057172E6F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15E10E-A097-4834-80C5-A2C1D646F8B9}" type="datetimeFigureOut">
              <a:rPr lang="en-IN" smtClean="0"/>
              <a:pPr/>
              <a:t>17-12-2025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36CDD7-36BE-428E-9143-D0E3B638E1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08C47E-C57D-48ED-9ACC-F06A887BF5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EAE7FC-C46B-42A3-8E15-9BB501A8C155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938897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78FB6A-49B8-40BE-AFB5-D1439981A1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E8B54F-FFF6-4DB6-B061-27CFA7DBA6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137F1C-7A83-45ED-ADF4-C57454825F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15E10E-A097-4834-80C5-A2C1D646F8B9}" type="datetimeFigureOut">
              <a:rPr lang="en-IN" smtClean="0"/>
              <a:pPr/>
              <a:t>17-12-2025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6D6F42-B533-4DC6-820C-854FB9C192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EF1956-F8A0-4378-98DF-EF2707FF5A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EAE7FC-C46B-42A3-8E15-9BB501A8C155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260042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B6E11-B93D-4F0B-B90A-3C74540435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2AB8E7-62D8-4876-97A1-599F779AD70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6953DD0-09E4-47FE-A563-CFA033B506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095A888-7BD8-4CD2-82EC-0DB6D0B319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15E10E-A097-4834-80C5-A2C1D646F8B9}" type="datetimeFigureOut">
              <a:rPr lang="en-IN" smtClean="0"/>
              <a:pPr/>
              <a:t>17-12-2025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7BF1EF-DDE2-4965-9B34-D3AD065E15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5EA9EAD-F8CC-4481-9125-E39BA85A51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EAE7FC-C46B-42A3-8E15-9BB501A8C155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733385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33A411-E29A-4F55-A591-F0F198B358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FD6120-8B1A-4E13-A339-94B0180B08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02FDDFA-3ED9-4F29-8D98-6AA79E21D2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F9AD302-7A28-40C5-A49B-517E72D858C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C2B195A-E823-4E77-97BD-BDD009B14DF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5B1E756-45FD-4315-8E4D-7EF8AAD414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15E10E-A097-4834-80C5-A2C1D646F8B9}" type="datetimeFigureOut">
              <a:rPr lang="en-IN" smtClean="0"/>
              <a:pPr/>
              <a:t>17-12-2025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ED107C5-FD00-4959-B547-4676B7D967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48B722F-FD80-48CD-BE30-6ECC6D1FFD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EAE7FC-C46B-42A3-8E15-9BB501A8C155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253895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8CEC06-1148-4F5E-B74D-756E565E8D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99413FA-5354-4A74-9464-8AE0B45595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15E10E-A097-4834-80C5-A2C1D646F8B9}" type="datetimeFigureOut">
              <a:rPr lang="en-IN" smtClean="0"/>
              <a:pPr/>
              <a:t>17-12-2025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33AD2E3-65B8-4082-AEDD-B39071FCEC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A97EE3-7013-4FB2-93B8-385C1388B8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EAE7FC-C46B-42A3-8E15-9BB501A8C155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050105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929CE45-E766-4B11-8B5E-B31088AF03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15E10E-A097-4834-80C5-A2C1D646F8B9}" type="datetimeFigureOut">
              <a:rPr lang="en-IN" smtClean="0"/>
              <a:pPr/>
              <a:t>17-12-2025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033EE6B-8FF9-447B-AF81-2BB11EF688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9CE41A-4BB0-4205-8B1F-3D944C2F98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EAE7FC-C46B-42A3-8E15-9BB501A8C155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507972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C0F668-F57B-4683-AD1E-C574F88064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789D4C-C546-434E-9C7E-D4A59EBFE7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A5243C9-36B2-4931-ACD1-F079B102ED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1B54C5D-2B32-4BF3-B9C4-E94002B456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15E10E-A097-4834-80C5-A2C1D646F8B9}" type="datetimeFigureOut">
              <a:rPr lang="en-IN" smtClean="0"/>
              <a:pPr/>
              <a:t>17-12-2025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DBCC8B5-631F-4F76-B6F0-9CC738D95E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9FC4EF-5C1C-4E1A-AF20-0519CA9EAE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EAE7FC-C46B-42A3-8E15-9BB501A8C155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290254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46D122-E7E5-4367-AEA1-19CA8D877B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7FBB05E-73C0-48EC-A09F-564A1B0A6DB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D38C03-3BE1-456E-87F5-ADA7AEBDC20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D78AD5-AC0F-458D-9B68-D92E5BD13F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15E10E-A097-4834-80C5-A2C1D646F8B9}" type="datetimeFigureOut">
              <a:rPr lang="en-IN" smtClean="0"/>
              <a:pPr/>
              <a:t>17-12-2025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0D8AB4-5808-4149-A1CE-636EE0E17C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748D49-7538-40E6-B050-BD6D4D6D3A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EAE7FC-C46B-42A3-8E15-9BB501A8C155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462251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9ADF8D-2F27-40EE-AD13-38CFC99913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9364A6D-A2BD-4882-BC4A-D596170D3E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251286-1C19-4FEF-ABEF-96D7F205AF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15E10E-A097-4834-80C5-A2C1D646F8B9}" type="datetimeFigureOut">
              <a:rPr lang="en-IN" smtClean="0"/>
              <a:pPr/>
              <a:t>17-12-2025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5C89C8-BED1-4C3D-B648-24CD159A2E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B65E69-7640-4C45-94A0-50E8D9946C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EAE7FC-C46B-42A3-8E15-9BB501A8C155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010641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035EFCE-E769-47FE-8ED1-81A38219889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67AEF29-1321-419D-8003-FBEF9EB7171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8F4BF0-2B41-4EF2-AAED-539DDCD03D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15E10E-A097-4834-80C5-A2C1D646F8B9}" type="datetimeFigureOut">
              <a:rPr lang="en-IN" smtClean="0"/>
              <a:pPr/>
              <a:t>17-12-2025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B5D27F-31DA-4BCB-AD4E-C0D75E8097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B9A3BA-5BDE-4AD2-A6D2-B4CA617444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EAE7FC-C46B-42A3-8E15-9BB501A8C155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3770162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814FC-E926-4084-8429-4372D9FF5F08}" type="datetimeFigureOut">
              <a:rPr lang="en-IN" smtClean="0"/>
              <a:pPr/>
              <a:t>17-12-2025</a:t>
            </a:fld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411B506F-014D-4AEE-AB19-7CED1B81311E}" type="slidenum">
              <a:rPr lang="en-IN" smtClean="0"/>
              <a:pPr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8398286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814FC-E926-4084-8429-4372D9FF5F08}" type="datetimeFigureOut">
              <a:rPr lang="en-IN" smtClean="0"/>
              <a:pPr/>
              <a:t>17-12-2025</a:t>
            </a:fld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1B506F-014D-4AEE-AB19-7CED1B81311E}" type="slidenum">
              <a:rPr lang="en-IN" smtClean="0"/>
              <a:pPr/>
              <a:t>‹#›</a:t>
            </a:fld>
            <a:endParaRPr lang="en-IN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5752113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814FC-E926-4084-8429-4372D9FF5F08}" type="datetimeFigureOut">
              <a:rPr lang="en-IN" smtClean="0"/>
              <a:pPr/>
              <a:t>17-12-2025</a:t>
            </a:fld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1B506F-014D-4AEE-AB19-7CED1B81311E}" type="slidenum">
              <a:rPr lang="en-IN" smtClean="0"/>
              <a:pPr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9094892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814FC-E926-4084-8429-4372D9FF5F08}" type="datetimeFigureOut">
              <a:rPr lang="en-IN" smtClean="0"/>
              <a:pPr/>
              <a:t>17-12-2025</a:t>
            </a:fld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1B506F-014D-4AEE-AB19-7CED1B81311E}" type="slidenum">
              <a:rPr lang="en-IN" smtClean="0"/>
              <a:pPr/>
              <a:t>‹#›</a:t>
            </a:fld>
            <a:endParaRPr lang="en-IN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5228615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814FC-E926-4084-8429-4372D9FF5F08}" type="datetimeFigureOut">
              <a:rPr lang="en-IN" smtClean="0"/>
              <a:pPr/>
              <a:t>17-12-2025</a:t>
            </a:fld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1B506F-014D-4AEE-AB19-7CED1B81311E}" type="slidenum">
              <a:rPr lang="en-IN" smtClean="0"/>
              <a:pPr/>
              <a:t>‹#›</a:t>
            </a:fld>
            <a:endParaRPr lang="en-IN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3837270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814FC-E926-4084-8429-4372D9FF5F08}" type="datetimeFigureOut">
              <a:rPr lang="en-IN" smtClean="0"/>
              <a:pPr/>
              <a:t>17-12-2025</a:t>
            </a:fld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1B506F-014D-4AEE-AB19-7CED1B81311E}" type="slidenum">
              <a:rPr lang="en-IN" smtClean="0"/>
              <a:pPr/>
              <a:t>‹#›</a:t>
            </a:fld>
            <a:endParaRPr lang="en-IN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0746669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814FC-E926-4084-8429-4372D9FF5F08}" type="datetimeFigureOut">
              <a:rPr lang="en-IN" smtClean="0"/>
              <a:pPr/>
              <a:t>17-12-2025</a:t>
            </a:fld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1B506F-014D-4AEE-AB19-7CED1B81311E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9458717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814FC-E926-4084-8429-4372D9FF5F08}" type="datetimeFigureOut">
              <a:rPr lang="en-IN" smtClean="0"/>
              <a:pPr/>
              <a:t>17-12-2025</a:t>
            </a:fld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1B506F-014D-4AEE-AB19-7CED1B81311E}" type="slidenum">
              <a:rPr lang="en-IN" smtClean="0"/>
              <a:pPr/>
              <a:t>‹#›</a:t>
            </a:fld>
            <a:endParaRPr lang="en-IN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3203743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F4D814FC-E926-4084-8429-4372D9FF5F08}" type="datetimeFigureOut">
              <a:rPr lang="en-IN" smtClean="0"/>
              <a:pPr/>
              <a:t>17-12-2025</a:t>
            </a:fld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1B506F-014D-4AEE-AB19-7CED1B81311E}" type="slidenum">
              <a:rPr lang="en-IN" smtClean="0"/>
              <a:pPr/>
              <a:t>‹#›</a:t>
            </a:fld>
            <a:endParaRPr lang="en-IN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0077693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814FC-E926-4084-8429-4372D9FF5F08}" type="datetimeFigureOut">
              <a:rPr lang="en-IN" smtClean="0"/>
              <a:pPr/>
              <a:t>17-12-2025</a:t>
            </a:fld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1B506F-014D-4AEE-AB19-7CED1B81311E}" type="slidenum">
              <a:rPr lang="en-IN" smtClean="0"/>
              <a:pPr/>
              <a:t>‹#›</a:t>
            </a:fld>
            <a:endParaRPr lang="en-IN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3126745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814FC-E926-4084-8429-4372D9FF5F08}" type="datetimeFigureOut">
              <a:rPr lang="en-IN" smtClean="0"/>
              <a:pPr/>
              <a:t>17-12-2025</a:t>
            </a:fld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1B506F-014D-4AEE-AB19-7CED1B81311E}" type="slidenum">
              <a:rPr lang="en-IN" smtClean="0"/>
              <a:pPr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5364021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FD3F6B-7404-4646-84C0-AC5BDFFC8711}" type="datetimeFigureOut">
              <a:rPr lang="en-IN" smtClean="0"/>
              <a:pPr/>
              <a:t>17-12-2025</a:t>
            </a:fld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5E6B12C2-C7BD-4B18-8E75-AF701D5C39C4}" type="slidenum">
              <a:rPr lang="en-IN" smtClean="0"/>
              <a:pPr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8398286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FD3F6B-7404-4646-84C0-AC5BDFFC8711}" type="datetimeFigureOut">
              <a:rPr lang="en-IN" smtClean="0"/>
              <a:pPr/>
              <a:t>17-12-2025</a:t>
            </a:fld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6B12C2-C7BD-4B18-8E75-AF701D5C39C4}" type="slidenum">
              <a:rPr lang="en-IN" smtClean="0"/>
              <a:pPr/>
              <a:t>‹#›</a:t>
            </a:fld>
            <a:endParaRPr lang="en-IN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5752113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FD3F6B-7404-4646-84C0-AC5BDFFC8711}" type="datetimeFigureOut">
              <a:rPr lang="en-IN" smtClean="0"/>
              <a:pPr/>
              <a:t>17-12-2025</a:t>
            </a:fld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6B12C2-C7BD-4B18-8E75-AF701D5C39C4}" type="slidenum">
              <a:rPr lang="en-IN" smtClean="0"/>
              <a:pPr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9094892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FD3F6B-7404-4646-84C0-AC5BDFFC8711}" type="datetimeFigureOut">
              <a:rPr lang="en-IN" smtClean="0"/>
              <a:pPr/>
              <a:t>17-12-2025</a:t>
            </a:fld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6B12C2-C7BD-4B18-8E75-AF701D5C39C4}" type="slidenum">
              <a:rPr lang="en-IN" smtClean="0"/>
              <a:pPr/>
              <a:t>‹#›</a:t>
            </a:fld>
            <a:endParaRPr lang="en-IN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5228615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FD3F6B-7404-4646-84C0-AC5BDFFC8711}" type="datetimeFigureOut">
              <a:rPr lang="en-IN" smtClean="0"/>
              <a:pPr/>
              <a:t>17-12-2025</a:t>
            </a:fld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6B12C2-C7BD-4B18-8E75-AF701D5C39C4}" type="slidenum">
              <a:rPr lang="en-IN" smtClean="0"/>
              <a:pPr/>
              <a:t>‹#›</a:t>
            </a:fld>
            <a:endParaRPr lang="en-IN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38372704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FD3F6B-7404-4646-84C0-AC5BDFFC8711}" type="datetimeFigureOut">
              <a:rPr lang="en-IN" smtClean="0"/>
              <a:pPr/>
              <a:t>17-12-2025</a:t>
            </a:fld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6B12C2-C7BD-4B18-8E75-AF701D5C39C4}" type="slidenum">
              <a:rPr lang="en-IN" smtClean="0"/>
              <a:pPr/>
              <a:t>‹#›</a:t>
            </a:fld>
            <a:endParaRPr lang="en-IN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07466690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FD3F6B-7404-4646-84C0-AC5BDFFC8711}" type="datetimeFigureOut">
              <a:rPr lang="en-IN" smtClean="0"/>
              <a:pPr/>
              <a:t>17-12-2025</a:t>
            </a:fld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6B12C2-C7BD-4B18-8E75-AF701D5C39C4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94587177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FD3F6B-7404-4646-84C0-AC5BDFFC8711}" type="datetimeFigureOut">
              <a:rPr lang="en-IN" smtClean="0"/>
              <a:pPr/>
              <a:t>17-12-2025</a:t>
            </a:fld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6B12C2-C7BD-4B18-8E75-AF701D5C39C4}" type="slidenum">
              <a:rPr lang="en-IN" smtClean="0"/>
              <a:pPr/>
              <a:t>‹#›</a:t>
            </a:fld>
            <a:endParaRPr lang="en-IN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32037436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22FD3F6B-7404-4646-84C0-AC5BDFFC8711}" type="datetimeFigureOut">
              <a:rPr lang="en-IN" smtClean="0"/>
              <a:pPr/>
              <a:t>17-12-2025</a:t>
            </a:fld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6B12C2-C7BD-4B18-8E75-AF701D5C39C4}" type="slidenum">
              <a:rPr lang="en-IN" smtClean="0"/>
              <a:pPr/>
              <a:t>‹#›</a:t>
            </a:fld>
            <a:endParaRPr lang="en-IN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00776933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FD3F6B-7404-4646-84C0-AC5BDFFC8711}" type="datetimeFigureOut">
              <a:rPr lang="en-IN" smtClean="0"/>
              <a:pPr/>
              <a:t>17-12-2025</a:t>
            </a:fld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6B12C2-C7BD-4B18-8E75-AF701D5C39C4}" type="slidenum">
              <a:rPr lang="en-IN" smtClean="0"/>
              <a:pPr/>
              <a:t>‹#›</a:t>
            </a:fld>
            <a:endParaRPr lang="en-IN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31267457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FD3F6B-7404-4646-84C0-AC5BDFFC8711}" type="datetimeFigureOut">
              <a:rPr lang="en-IN" smtClean="0"/>
              <a:pPr/>
              <a:t>17-12-2025</a:t>
            </a:fld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6B12C2-C7BD-4B18-8E75-AF701D5C39C4}" type="slidenum">
              <a:rPr lang="en-IN" smtClean="0"/>
              <a:pPr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53640212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1_Title and Content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47"/>
          <p:cNvSpPr>
            <a:spLocks noGrp="1"/>
          </p:cNvSpPr>
          <p:nvPr>
            <p:ph type="pic" idx="2"/>
          </p:nvPr>
        </p:nvSpPr>
        <p:spPr>
          <a:xfrm>
            <a:off x="0" y="0"/>
            <a:ext cx="5467350" cy="59879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718862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image" Target="../media/image2.pn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slideLayout" Target="../slideLayouts/slideLayout34.xml"/><Relationship Id="rId2" Type="http://schemas.openxmlformats.org/officeDocument/2006/relationships/slideLayout" Target="../slideLayouts/slideLayout24.xml"/><Relationship Id="rId16" Type="http://schemas.openxmlformats.org/officeDocument/2006/relationships/image" Target="../media/image3.png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C41AEED-4BCF-4979-81D9-0166B93617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2EBA93-F619-46C6-96C8-422CFE077F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A4F536-3BEE-43C0-AF40-426278572C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15E10E-A097-4834-80C5-A2C1D646F8B9}" type="datetimeFigureOut">
              <a:rPr lang="en-IN" smtClean="0"/>
              <a:pPr/>
              <a:t>17-12-2025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5F20A7-5A09-42EC-894A-B8B76E35ED5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40339D-DDC1-40BE-8A48-192D4B275E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EAE7FC-C46B-42A3-8E15-9BB501A8C155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84832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9" y="379083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15E10E-A097-4834-80C5-A2C1D646F8B9}" type="datetimeFigureOut">
              <a:rPr lang="en-IN" smtClean="0"/>
              <a:pPr/>
              <a:t>17-12-2025</a:t>
            </a:fld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690490" y="6291139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ctr">
              <a:defRPr sz="2200">
                <a:solidFill>
                  <a:schemeClr val="accent1"/>
                </a:solidFill>
              </a:defRPr>
            </a:lvl1pPr>
          </a:lstStyle>
          <a:p>
            <a:fld id="{F3EAE7FC-C46B-42A3-8E15-9BB501A8C155}" type="slidenum">
              <a:rPr lang="en-IN" smtClean="0"/>
              <a:pPr/>
              <a:t>‹#›</a:t>
            </a:fld>
            <a:endParaRPr lang="en-IN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 descr="Icon&#10;&#10;Description automatically generated with medium confidence">
            <a:extLst>
              <a:ext uri="{FF2B5EF4-FFF2-40B4-BE49-F238E27FC236}">
                <a16:creationId xmlns:a16="http://schemas.microsoft.com/office/drawing/2014/main" id="{D33DD7EC-6054-A5D7-0F93-3916702EC90E}"/>
              </a:ext>
            </a:extLst>
          </p:cNvPr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444" y="32699"/>
            <a:ext cx="1218935" cy="50098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DB6D7A70-9470-38A5-6785-933F5C089234}"/>
              </a:ext>
            </a:extLst>
          </p:cNvPr>
          <p:cNvPicPr>
            <a:picLocks noChangeAspect="1"/>
          </p:cNvPicPr>
          <p:nvPr/>
        </p:nvPicPr>
        <p:blipFill rotWithShape="1"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60" t="18054" b="50110"/>
          <a:stretch/>
        </p:blipFill>
        <p:spPr>
          <a:xfrm>
            <a:off x="1451579" y="6373097"/>
            <a:ext cx="2912198" cy="351077"/>
          </a:xfrm>
          <a:prstGeom prst="rect">
            <a:avLst/>
          </a:prstGeom>
        </p:spPr>
      </p:pic>
      <p:pic>
        <p:nvPicPr>
          <p:cNvPr id="14" name="Picture 13" descr="Text&#10;&#10;Description automatically generated with medium confidence">
            <a:extLst>
              <a:ext uri="{FF2B5EF4-FFF2-40B4-BE49-F238E27FC236}">
                <a16:creationId xmlns:a16="http://schemas.microsoft.com/office/drawing/2014/main" id="{A51BE3ED-273E-B0A1-FC3A-EE01E1A92D27}"/>
              </a:ext>
            </a:extLst>
          </p:cNvPr>
          <p:cNvPicPr>
            <a:picLocks noChangeAspect="1"/>
          </p:cNvPicPr>
          <p:nvPr/>
        </p:nvPicPr>
        <p:blipFill rotWithShape="1"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3957" r="20929" b="13232"/>
          <a:stretch/>
        </p:blipFill>
        <p:spPr>
          <a:xfrm>
            <a:off x="8825503" y="6373097"/>
            <a:ext cx="2229351" cy="3350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83802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87" r:id="rId2"/>
    <p:sldLayoutId id="2147483688" r:id="rId3"/>
    <p:sldLayoutId id="2147483689" r:id="rId4"/>
    <p:sldLayoutId id="2147483690" r:id="rId5"/>
    <p:sldLayoutId id="2147483691" r:id="rId6"/>
    <p:sldLayoutId id="2147483692" r:id="rId7"/>
    <p:sldLayoutId id="2147483693" r:id="rId8"/>
    <p:sldLayoutId id="2147483694" r:id="rId9"/>
    <p:sldLayoutId id="2147483695" r:id="rId10"/>
    <p:sldLayoutId id="2147483696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9" y="379083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15E10E-A097-4834-80C5-A2C1D646F8B9}" type="datetimeFigureOut">
              <a:rPr lang="en-IN" smtClean="0"/>
              <a:pPr/>
              <a:t>17-12-2025</a:t>
            </a:fld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690490" y="6291139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ctr">
              <a:defRPr sz="2200">
                <a:solidFill>
                  <a:schemeClr val="accent1"/>
                </a:solidFill>
              </a:defRPr>
            </a:lvl1pPr>
          </a:lstStyle>
          <a:p>
            <a:fld id="{F3EAE7FC-C46B-42A3-8E15-9BB501A8C155}" type="slidenum">
              <a:rPr lang="en-IN" smtClean="0"/>
              <a:pPr/>
              <a:t>‹#›</a:t>
            </a:fld>
            <a:endParaRPr lang="en-IN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 descr="Icon&#10;&#10;Description automatically generated with medium confidence">
            <a:extLst>
              <a:ext uri="{FF2B5EF4-FFF2-40B4-BE49-F238E27FC236}">
                <a16:creationId xmlns:a16="http://schemas.microsoft.com/office/drawing/2014/main" id="{D33DD7EC-6054-A5D7-0F93-3916702EC90E}"/>
              </a:ext>
            </a:extLst>
          </p:cNvPr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444" y="32699"/>
            <a:ext cx="1218935" cy="50098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DB6D7A70-9470-38A5-6785-933F5C089234}"/>
              </a:ext>
            </a:extLst>
          </p:cNvPr>
          <p:cNvPicPr>
            <a:picLocks noChangeAspect="1"/>
          </p:cNvPicPr>
          <p:nvPr/>
        </p:nvPicPr>
        <p:blipFill rotWithShape="1"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60" t="18054" b="50110"/>
          <a:stretch/>
        </p:blipFill>
        <p:spPr>
          <a:xfrm>
            <a:off x="1451579" y="6373097"/>
            <a:ext cx="2912198" cy="351077"/>
          </a:xfrm>
          <a:prstGeom prst="rect">
            <a:avLst/>
          </a:prstGeom>
        </p:spPr>
      </p:pic>
      <p:pic>
        <p:nvPicPr>
          <p:cNvPr id="14" name="Picture 13" descr="Text&#10;&#10;Description automatically generated with medium confidence">
            <a:extLst>
              <a:ext uri="{FF2B5EF4-FFF2-40B4-BE49-F238E27FC236}">
                <a16:creationId xmlns:a16="http://schemas.microsoft.com/office/drawing/2014/main" id="{A51BE3ED-273E-B0A1-FC3A-EE01E1A92D27}"/>
              </a:ext>
            </a:extLst>
          </p:cNvPr>
          <p:cNvPicPr>
            <a:picLocks noChangeAspect="1"/>
          </p:cNvPicPr>
          <p:nvPr/>
        </p:nvPicPr>
        <p:blipFill rotWithShape="1"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3957" r="20929" b="13232"/>
          <a:stretch/>
        </p:blipFill>
        <p:spPr>
          <a:xfrm>
            <a:off x="8825503" y="6373097"/>
            <a:ext cx="2229351" cy="3350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83802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8" r:id="rId1"/>
    <p:sldLayoutId id="2147483699" r:id="rId2"/>
    <p:sldLayoutId id="2147483700" r:id="rId3"/>
    <p:sldLayoutId id="2147483701" r:id="rId4"/>
    <p:sldLayoutId id="2147483702" r:id="rId5"/>
    <p:sldLayoutId id="2147483703" r:id="rId6"/>
    <p:sldLayoutId id="2147483704" r:id="rId7"/>
    <p:sldLayoutId id="2147483705" r:id="rId8"/>
    <p:sldLayoutId id="2147483706" r:id="rId9"/>
    <p:sldLayoutId id="2147483707" r:id="rId10"/>
    <p:sldLayoutId id="2147483708" r:id="rId11"/>
    <p:sldLayoutId id="2147483709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4.xml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7.svg"/><Relationship Id="rId7" Type="http://schemas.openxmlformats.org/officeDocument/2006/relationships/image" Target="../media/image11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4.xml"/><Relationship Id="rId6" Type="http://schemas.openxmlformats.org/officeDocument/2006/relationships/image" Target="../media/image10.png"/><Relationship Id="rId5" Type="http://schemas.openxmlformats.org/officeDocument/2006/relationships/image" Target="../media/image9.svg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398423B-5803-30F8-31C4-BF716BD7197E}"/>
              </a:ext>
            </a:extLst>
          </p:cNvPr>
          <p:cNvSpPr/>
          <p:nvPr/>
        </p:nvSpPr>
        <p:spPr>
          <a:xfrm>
            <a:off x="-1" y="0"/>
            <a:ext cx="12192000" cy="6858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64" name="Google Shape;464;p16"/>
          <p:cNvPicPr preferRelativeResize="0"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7034"/>
            <a:ext cx="6027459" cy="6623931"/>
          </a:xfrm>
          <a:prstGeom prst="rect">
            <a:avLst/>
          </a:prstGeom>
          <a:noFill/>
          <a:ln>
            <a:noFill/>
          </a:ln>
        </p:spPr>
      </p:pic>
      <p:sp>
        <p:nvSpPr>
          <p:cNvPr id="476" name="Google Shape;476;p16"/>
          <p:cNvSpPr txBox="1"/>
          <p:nvPr/>
        </p:nvSpPr>
        <p:spPr>
          <a:xfrm>
            <a:off x="5394455" y="1933408"/>
            <a:ext cx="6902548" cy="26776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cap="all" dirty="0">
                <a:ln/>
                <a:solidFill>
                  <a:srgbClr val="C00000"/>
                </a:solidFill>
                <a:cs typeface="Poppins" panose="00000500000000000000" pitchFamily="2" charset="0"/>
                <a:sym typeface="BioRhyme ExtraBold"/>
              </a:rPr>
              <a:t>Network protocols &amp; security</a:t>
            </a:r>
          </a:p>
          <a:p>
            <a:pPr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cap="all" dirty="0">
                <a:ln/>
                <a:solidFill>
                  <a:srgbClr val="C00000"/>
                </a:solidFill>
                <a:cs typeface="Poppins" panose="00000500000000000000" pitchFamily="2" charset="0"/>
                <a:sym typeface="BioRhyme ExtraBold"/>
              </a:rPr>
              <a:t>24EC2210</a:t>
            </a:r>
          </a:p>
          <a:p>
            <a:pPr marR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 lang="en-US" sz="2000" b="1" dirty="0">
              <a:solidFill>
                <a:schemeClr val="bg1">
                  <a:lumMod val="50000"/>
                </a:schemeClr>
              </a:solidFill>
              <a:ea typeface="BioRhyme ExtraBold"/>
              <a:cs typeface="Poppins" panose="00000500000000000000" pitchFamily="2" charset="0"/>
              <a:sym typeface="BioRhyme ExtraBold"/>
            </a:endParaRPr>
          </a:p>
          <a:p>
            <a:pPr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chemeClr val="bg1">
                    <a:lumMod val="50000"/>
                  </a:schemeClr>
                </a:solidFill>
                <a:ea typeface="BioRhyme ExtraBold"/>
                <a:cs typeface="Poppins" panose="00000500000000000000" pitchFamily="2" charset="0"/>
                <a:sym typeface="BioRhyme ExtraBold"/>
              </a:rPr>
              <a:t>Topic: </a:t>
            </a:r>
          </a:p>
          <a:p>
            <a:pPr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cap="all" dirty="0" err="1">
                <a:ln/>
                <a:solidFill>
                  <a:srgbClr val="C00000"/>
                </a:solidFill>
                <a:cs typeface="Poppins" panose="00000500000000000000" pitchFamily="2" charset="0"/>
              </a:rPr>
              <a:t>vlans</a:t>
            </a:r>
            <a:endParaRPr lang="en-US" sz="3200" b="1" dirty="0">
              <a:solidFill>
                <a:srgbClr val="C00000"/>
              </a:solidFill>
              <a:effectLst/>
              <a:cs typeface="Poppins" panose="00000500000000000000" pitchFamily="2" charset="0"/>
            </a:endParaRPr>
          </a:p>
        </p:txBody>
      </p:sp>
      <p:sp>
        <p:nvSpPr>
          <p:cNvPr id="8" name="Google Shape;502;p17">
            <a:extLst>
              <a:ext uri="{FF2B5EF4-FFF2-40B4-BE49-F238E27FC236}">
                <a16:creationId xmlns:a16="http://schemas.microsoft.com/office/drawing/2014/main" id="{7153E61F-4441-DBE3-3DFF-6E9EF6C48D23}"/>
              </a:ext>
            </a:extLst>
          </p:cNvPr>
          <p:cNvSpPr/>
          <p:nvPr/>
        </p:nvSpPr>
        <p:spPr>
          <a:xfrm>
            <a:off x="7804143" y="5025565"/>
            <a:ext cx="2235116" cy="453054"/>
          </a:xfrm>
          <a:prstGeom prst="roundRect">
            <a:avLst>
              <a:gd name="adj" fmla="val 35613"/>
            </a:avLst>
          </a:prstGeom>
          <a:solidFill>
            <a:srgbClr val="C00000"/>
          </a:solidFill>
          <a:ln>
            <a:noFill/>
          </a:ln>
          <a:effectLst>
            <a:outerShdw blurRad="190500" sx="102000" sy="102000" algn="ctr" rotWithShape="0">
              <a:srgbClr val="000000">
                <a:alpha val="2470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chemeClr val="lt1"/>
                </a:solidFill>
                <a:ea typeface="Calibri"/>
                <a:cs typeface="Poppins" panose="00000500000000000000" pitchFamily="2" charset="0"/>
                <a:sym typeface="Calibri"/>
              </a:rPr>
              <a:t>Session – 13</a:t>
            </a:r>
            <a:endParaRPr sz="2400" dirty="0">
              <a:solidFill>
                <a:schemeClr val="lt1"/>
              </a:solidFill>
              <a:ea typeface="Calibri"/>
              <a:cs typeface="Poppins" panose="00000500000000000000" pitchFamily="2" charset="0"/>
              <a:sym typeface="Calibri"/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A2BDCC77-0491-FC57-401C-380586D8ED1D}"/>
              </a:ext>
            </a:extLst>
          </p:cNvPr>
          <p:cNvSpPr/>
          <p:nvPr/>
        </p:nvSpPr>
        <p:spPr>
          <a:xfrm>
            <a:off x="0" y="6812281"/>
            <a:ext cx="12192000" cy="45719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38D9C68F-2EE2-5410-B640-4F43BF92A6C1}"/>
              </a:ext>
            </a:extLst>
          </p:cNvPr>
          <p:cNvSpPr/>
          <p:nvPr/>
        </p:nvSpPr>
        <p:spPr>
          <a:xfrm>
            <a:off x="0" y="0"/>
            <a:ext cx="12192000" cy="45719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2" descr="KL Deemed to be University Logo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22703" y="81945"/>
            <a:ext cx="2509863" cy="1061599"/>
          </a:xfrm>
          <a:prstGeom prst="rect">
            <a:avLst/>
          </a:prstGeom>
          <a:noFill/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>
            <a:extLst>
              <a:ext uri="{FF2B5EF4-FFF2-40B4-BE49-F238E27FC236}">
                <a16:creationId xmlns:a16="http://schemas.microsoft.com/office/drawing/2014/main" id="{D530E72E-233E-E443-1A84-D3CD02ECB889}"/>
              </a:ext>
            </a:extLst>
          </p:cNvPr>
          <p:cNvSpPr/>
          <p:nvPr/>
        </p:nvSpPr>
        <p:spPr>
          <a:xfrm>
            <a:off x="4471372" y="84408"/>
            <a:ext cx="3011576" cy="390698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AIM OF THE SESSION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7C61438-200D-827A-D4DD-5B5127AFA187}"/>
              </a:ext>
            </a:extLst>
          </p:cNvPr>
          <p:cNvSpPr txBox="1"/>
          <p:nvPr/>
        </p:nvSpPr>
        <p:spPr>
          <a:xfrm>
            <a:off x="914400" y="684469"/>
            <a:ext cx="10731286" cy="796115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 cap="rnd">
            <a:solidFill>
              <a:schemeClr val="accent1">
                <a:lumMod val="20000"/>
                <a:lumOff val="80000"/>
              </a:schemeClr>
            </a:solidFill>
            <a:round/>
          </a:ln>
          <a:effectLst>
            <a:outerShdw blurRad="50800" dist="38100" algn="l" rotWithShape="0">
              <a:schemeClr val="accent1">
                <a:lumMod val="40000"/>
                <a:lumOff val="60000"/>
                <a:alpha val="0"/>
              </a:schemeClr>
            </a:outerShdw>
          </a:effectLst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 b="0" i="0" dirty="0">
                <a:effectLst/>
                <a:latin typeface="Poppins"/>
                <a:cs typeface="Poppins"/>
              </a:rPr>
              <a:t>To familiarize students with the different networking and internetworking devices </a:t>
            </a:r>
          </a:p>
          <a:p>
            <a:pPr>
              <a:lnSpc>
                <a:spcPct val="150000"/>
              </a:lnSpc>
            </a:pPr>
            <a:endParaRPr lang="en-US" sz="1600" b="0" i="0" dirty="0">
              <a:effectLst/>
              <a:latin typeface="Poppins"/>
              <a:cs typeface="Poppins"/>
            </a:endParaRPr>
          </a:p>
        </p:txBody>
      </p:sp>
      <p:sp>
        <p:nvSpPr>
          <p:cNvPr id="7" name="Rounded Rectangle 17">
            <a:extLst>
              <a:ext uri="{FF2B5EF4-FFF2-40B4-BE49-F238E27FC236}">
                <a16:creationId xmlns:a16="http://schemas.microsoft.com/office/drawing/2014/main" id="{7F3AABB0-F8BA-C900-B6BF-45F4B58E9490}"/>
              </a:ext>
            </a:extLst>
          </p:cNvPr>
          <p:cNvSpPr/>
          <p:nvPr/>
        </p:nvSpPr>
        <p:spPr>
          <a:xfrm>
            <a:off x="4160582" y="1807062"/>
            <a:ext cx="3870831" cy="390698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INSTRUCTIONAL OBJECTIVES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B5EAD4E-C007-9DE7-A40A-12802D3C9611}"/>
              </a:ext>
            </a:extLst>
          </p:cNvPr>
          <p:cNvSpPr txBox="1"/>
          <p:nvPr/>
        </p:nvSpPr>
        <p:spPr>
          <a:xfrm>
            <a:off x="1752600" y="2438605"/>
            <a:ext cx="9334500" cy="1077218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accent1">
                <a:lumMod val="20000"/>
                <a:lumOff val="80000"/>
              </a:schemeClr>
            </a:solidFill>
          </a:ln>
          <a:effectLst>
            <a:outerShdw blurRad="50800" dist="38100" algn="l" rotWithShape="0">
              <a:schemeClr val="accent1">
                <a:lumMod val="40000"/>
                <a:lumOff val="60000"/>
                <a:alpha val="40000"/>
              </a:schemeClr>
            </a:outerShdw>
          </a:effectLst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200000"/>
              </a:lnSpc>
            </a:pPr>
            <a:r>
              <a:rPr lang="en-US" sz="1600" dirty="0">
                <a:latin typeface="Poppins"/>
                <a:cs typeface="Poppins"/>
              </a:rPr>
              <a:t>This</a:t>
            </a:r>
            <a:r>
              <a:rPr lang="en-US" sz="1600" b="0" i="0" dirty="0">
                <a:effectLst/>
                <a:latin typeface="Poppins"/>
                <a:cs typeface="Poppins"/>
              </a:rPr>
              <a:t> </a:t>
            </a:r>
            <a:r>
              <a:rPr lang="en-US" sz="1600" dirty="0">
                <a:latin typeface="Poppins"/>
                <a:cs typeface="Poppins"/>
              </a:rPr>
              <a:t>Session</a:t>
            </a:r>
            <a:r>
              <a:rPr lang="en-US" sz="1600" b="0" i="0" dirty="0">
                <a:effectLst/>
                <a:latin typeface="Poppins"/>
                <a:cs typeface="Poppins"/>
              </a:rPr>
              <a:t> is designed to:</a:t>
            </a:r>
          </a:p>
          <a:p>
            <a:pPr marL="342900" indent="-342900">
              <a:buFontTx/>
              <a:buAutoNum type="arabicPeriod"/>
            </a:pPr>
            <a:r>
              <a:rPr lang="en-US" sz="1600" dirty="0">
                <a:latin typeface="Arial" panose="020B0604020202020204" pitchFamily="34" charset="0"/>
              </a:rPr>
              <a:t>Explain the </a:t>
            </a:r>
            <a:r>
              <a:rPr lang="en-IN" sz="1600" dirty="0">
                <a:latin typeface="Arial" panose="020B0604020202020204" pitchFamily="34" charset="0"/>
              </a:rPr>
              <a:t>concept and purpose of Virtual Local Area Networks (VLANs) in network architecture.</a:t>
            </a:r>
          </a:p>
          <a:p>
            <a:pPr marL="342900" indent="-342900">
              <a:buFontTx/>
              <a:buAutoNum type="arabicPeriod"/>
            </a:pPr>
            <a:r>
              <a:rPr lang="en-IN" sz="1600" dirty="0">
                <a:latin typeface="Arial" panose="020B0604020202020204" pitchFamily="34" charset="0"/>
              </a:rPr>
              <a:t>Demonstrate VLAN configuration and implementation on network devices.</a:t>
            </a:r>
          </a:p>
        </p:txBody>
      </p:sp>
      <p:pic>
        <p:nvPicPr>
          <p:cNvPr id="11" name="Graphic 10" descr="Bullseye outline">
            <a:extLst>
              <a:ext uri="{FF2B5EF4-FFF2-40B4-BE49-F238E27FC236}">
                <a16:creationId xmlns:a16="http://schemas.microsoft.com/office/drawing/2014/main" id="{AB75B03E-9C0C-0AF7-2A76-D8618F8F999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625326"/>
            <a:ext cx="914400" cy="914400"/>
          </a:xfrm>
          <a:prstGeom prst="rect">
            <a:avLst/>
          </a:prstGeom>
        </p:spPr>
      </p:pic>
      <p:pic>
        <p:nvPicPr>
          <p:cNvPr id="27" name="Graphic 26" descr="Presentation with checklist outline">
            <a:extLst>
              <a:ext uri="{FF2B5EF4-FFF2-40B4-BE49-F238E27FC236}">
                <a16:creationId xmlns:a16="http://schemas.microsoft.com/office/drawing/2014/main" id="{1E9F25CA-EF99-00B6-5FFA-810D1F1806C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38200" y="2438605"/>
            <a:ext cx="914400" cy="914400"/>
          </a:xfrm>
          <a:prstGeom prst="rect">
            <a:avLst/>
          </a:prstGeom>
        </p:spPr>
      </p:pic>
      <p:sp>
        <p:nvSpPr>
          <p:cNvPr id="29" name="Rounded Rectangle 17">
            <a:extLst>
              <a:ext uri="{FF2B5EF4-FFF2-40B4-BE49-F238E27FC236}">
                <a16:creationId xmlns:a16="http://schemas.microsoft.com/office/drawing/2014/main" id="{6652A33D-9A9E-3EAC-0CAE-113901ECA179}"/>
              </a:ext>
            </a:extLst>
          </p:cNvPr>
          <p:cNvSpPr/>
          <p:nvPr/>
        </p:nvSpPr>
        <p:spPr>
          <a:xfrm>
            <a:off x="4212971" y="4249110"/>
            <a:ext cx="3870831" cy="390698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LEARNING OUTCOMES</a:t>
            </a:r>
          </a:p>
        </p:txBody>
      </p:sp>
      <p:pic>
        <p:nvPicPr>
          <p:cNvPr id="31" name="Graphic 30" descr="Idea outline">
            <a:extLst>
              <a:ext uri="{FF2B5EF4-FFF2-40B4-BE49-F238E27FC236}">
                <a16:creationId xmlns:a16="http://schemas.microsoft.com/office/drawing/2014/main" id="{5F765FC3-60CF-297F-C1BD-F5A7B8B943AF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14400" y="4765771"/>
            <a:ext cx="914400" cy="914400"/>
          </a:xfrm>
          <a:prstGeom prst="rect">
            <a:avLst/>
          </a:prstGeom>
        </p:spPr>
      </p:pic>
      <p:sp>
        <p:nvSpPr>
          <p:cNvPr id="37" name="TextBox 36">
            <a:extLst>
              <a:ext uri="{FF2B5EF4-FFF2-40B4-BE49-F238E27FC236}">
                <a16:creationId xmlns:a16="http://schemas.microsoft.com/office/drawing/2014/main" id="{B0BB8E68-8B73-12DE-615E-1091F19A9A9A}"/>
              </a:ext>
            </a:extLst>
          </p:cNvPr>
          <p:cNvSpPr txBox="1"/>
          <p:nvPr/>
        </p:nvSpPr>
        <p:spPr>
          <a:xfrm>
            <a:off x="1752600" y="4772230"/>
            <a:ext cx="8791575" cy="1323439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accent1">
                <a:lumMod val="20000"/>
                <a:lumOff val="80000"/>
              </a:schemeClr>
            </a:solidFill>
          </a:ln>
          <a:effectLst>
            <a:outerShdw blurRad="50800" dist="38100" algn="l" rotWithShape="0">
              <a:schemeClr val="accent1">
                <a:lumMod val="40000"/>
                <a:lumOff val="60000"/>
                <a:alpha val="40000"/>
              </a:schemeClr>
            </a:outerShdw>
          </a:effectLst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200000"/>
              </a:lnSpc>
            </a:pPr>
            <a:r>
              <a:rPr lang="en-US" sz="1600" b="0" i="0" dirty="0">
                <a:effectLst/>
                <a:latin typeface="Arial"/>
                <a:cs typeface="Arial"/>
              </a:rPr>
              <a:t>At the end of this </a:t>
            </a:r>
            <a:r>
              <a:rPr lang="en-US" sz="1600" dirty="0">
                <a:latin typeface="Arial"/>
                <a:cs typeface="Arial"/>
              </a:rPr>
              <a:t>session</a:t>
            </a:r>
            <a:r>
              <a:rPr lang="en-US" sz="1600" b="0" i="0" dirty="0">
                <a:effectLst/>
                <a:latin typeface="Arial"/>
                <a:cs typeface="Arial"/>
              </a:rPr>
              <a:t>, you should be able to:</a:t>
            </a:r>
          </a:p>
          <a:p>
            <a:pPr marL="342900" indent="-342900">
              <a:buAutoNum type="arabicPeriod"/>
            </a:pPr>
            <a:r>
              <a:rPr lang="en-IN" sz="1600" dirty="0">
                <a:latin typeface="Arial" panose="020B0604020202020204" pitchFamily="34" charset="0"/>
              </a:rPr>
              <a:t>Explain the concept and significance of VLANs in network architecture.</a:t>
            </a:r>
          </a:p>
          <a:p>
            <a:pPr marL="342900" indent="-342900">
              <a:buAutoNum type="arabicPeriod"/>
            </a:pPr>
            <a:r>
              <a:rPr lang="en-IN" sz="1600" dirty="0">
                <a:latin typeface="Arial" panose="020B0604020202020204" pitchFamily="34" charset="0"/>
              </a:rPr>
              <a:t>Create and configure VLANs on network devices using appropriate methodologies.</a:t>
            </a:r>
          </a:p>
          <a:p>
            <a:pPr marL="342900" indent="-342900">
              <a:buAutoNum type="arabicPeriod"/>
            </a:pPr>
            <a:r>
              <a:rPr lang="en-IN" sz="1600" dirty="0">
                <a:latin typeface="Arial" panose="020B0604020202020204" pitchFamily="34" charset="0"/>
              </a:rPr>
              <a:t>Understand the role of VLAN trunking protocols in interconnecting VLANs.</a:t>
            </a:r>
          </a:p>
        </p:txBody>
      </p:sp>
      <p:pic>
        <p:nvPicPr>
          <p:cNvPr id="12" name="Picture 2" descr="KL Deemed to be University Logo"/>
          <p:cNvPicPr>
            <a:picLocks noChangeAspect="1" noChangeArrowheads="1"/>
          </p:cNvPicPr>
          <p:nvPr/>
        </p:nvPicPr>
        <p:blipFill>
          <a:blip r:embed="rId8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38860798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7" grpId="0" animBg="1"/>
      <p:bldP spid="9" grpId="0" animBg="1"/>
      <p:bldP spid="29" grpId="0" animBg="1"/>
      <p:bldP spid="37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DF138E-C7D1-623B-2842-3F39EC8161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34953" y="2019497"/>
            <a:ext cx="9603275" cy="4029611"/>
          </a:xfrm>
        </p:spPr>
        <p:txBody>
          <a:bodyPr>
            <a:noAutofit/>
          </a:bodyPr>
          <a:lstStyle/>
          <a:p>
            <a:pPr>
              <a:buFont typeface="Wingdings" pitchFamily="2" charset="2"/>
              <a:buChar char="v"/>
            </a:pPr>
            <a:r>
              <a:rPr lang="en-IN" sz="2400" dirty="0"/>
              <a:t>Virtual Local Area Network (VLAN)</a:t>
            </a:r>
          </a:p>
          <a:p>
            <a:pPr>
              <a:buFont typeface="Wingdings" pitchFamily="2" charset="2"/>
              <a:buChar char="v"/>
            </a:pPr>
            <a:r>
              <a:rPr lang="en-IN" sz="2400" dirty="0"/>
              <a:t>Benefits of Switched Network</a:t>
            </a:r>
          </a:p>
          <a:p>
            <a:pPr>
              <a:buFont typeface="Wingdings" pitchFamily="2" charset="2"/>
              <a:buChar char="v"/>
            </a:pPr>
            <a:r>
              <a:rPr lang="en-IN" sz="2400" dirty="0"/>
              <a:t>Benefits of VLAN</a:t>
            </a:r>
          </a:p>
          <a:p>
            <a:pPr>
              <a:buFont typeface="Wingdings" pitchFamily="2" charset="2"/>
              <a:buChar char="v"/>
            </a:pPr>
            <a:r>
              <a:rPr lang="en-IN" sz="2400" dirty="0"/>
              <a:t>Types of Ports in VLAN</a:t>
            </a:r>
          </a:p>
          <a:p>
            <a:pPr>
              <a:buFont typeface="Wingdings" pitchFamily="2" charset="2"/>
              <a:buChar char="v"/>
            </a:pPr>
            <a:r>
              <a:rPr lang="en-IN" sz="2400" dirty="0"/>
              <a:t>Frame Tagging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64C45C-D82B-56E6-54E4-3972FAEAAC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pPr/>
              <a:t>3</a:t>
            </a:fld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4B4EB8B-F374-DF0E-47FD-1702A670AF3F}"/>
              </a:ext>
            </a:extLst>
          </p:cNvPr>
          <p:cNvSpPr txBox="1"/>
          <p:nvPr/>
        </p:nvSpPr>
        <p:spPr>
          <a:xfrm>
            <a:off x="3041072" y="1190938"/>
            <a:ext cx="610985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lang="en-IN" sz="4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AGENDA</a:t>
            </a:r>
          </a:p>
        </p:txBody>
      </p:sp>
    </p:spTree>
    <p:extLst>
      <p:ext uri="{BB962C8B-B14F-4D97-AF65-F5344CB8AC3E}">
        <p14:creationId xmlns:p14="http://schemas.microsoft.com/office/powerpoint/2010/main" val="1003917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439057" y="995703"/>
            <a:ext cx="8802963" cy="503490"/>
          </a:xfrm>
          <a:prstGeom prst="rect">
            <a:avLst/>
          </a:prstGeom>
        </p:spPr>
        <p:txBody>
          <a:bodyPr vert="horz" wrap="square" lIns="0" tIns="10941" rIns="0" bIns="0" rtlCol="0" anchor="ctr">
            <a:spAutoFit/>
          </a:bodyPr>
          <a:lstStyle/>
          <a:p>
            <a:pPr marL="284454">
              <a:lnSpc>
                <a:spcPct val="100000"/>
              </a:lnSpc>
              <a:spcBef>
                <a:spcPts val="86"/>
              </a:spcBef>
              <a:tabLst>
                <a:tab pos="1235130" algn="l"/>
              </a:tabLst>
            </a:pPr>
            <a:r>
              <a:rPr lang="en-IN" spc="-5" dirty="0"/>
              <a:t>Virtual local area network (VLAN)</a:t>
            </a:r>
            <a:endParaRPr spc="-5" dirty="0"/>
          </a:p>
        </p:txBody>
      </p:sp>
      <p:sp>
        <p:nvSpPr>
          <p:cNvPr id="11" name="object 11"/>
          <p:cNvSpPr txBox="1"/>
          <p:nvPr/>
        </p:nvSpPr>
        <p:spPr>
          <a:xfrm>
            <a:off x="379828" y="1897615"/>
            <a:ext cx="6271696" cy="3702382"/>
          </a:xfrm>
          <a:prstGeom prst="rect">
            <a:avLst/>
          </a:prstGeom>
        </p:spPr>
        <p:txBody>
          <a:bodyPr vert="horz" wrap="square" lIns="0" tIns="11516" rIns="0" bIns="0" rtlCol="0">
            <a:spAutoFit/>
          </a:bodyPr>
          <a:lstStyle/>
          <a:p>
            <a:pPr marL="354416" marR="4607" lvl="0" indent="-342900" algn="just" defTabSz="457200">
              <a:spcBef>
                <a:spcPts val="91"/>
              </a:spcBef>
              <a:buFont typeface="Wingdings" pitchFamily="2" charset="2"/>
              <a:buChar char="Ø"/>
              <a:defRPr/>
            </a:pPr>
            <a:r>
              <a:rPr lang="en-US" dirty="0"/>
              <a:t>A </a:t>
            </a:r>
            <a:r>
              <a:rPr lang="en-US" b="1" dirty="0"/>
              <a:t>LAN</a:t>
            </a:r>
            <a:r>
              <a:rPr lang="en-US" dirty="0"/>
              <a:t> is a group of devices connected to a single Ethernet network. </a:t>
            </a:r>
          </a:p>
          <a:p>
            <a:pPr marL="11516" marR="4607" lvl="0" algn="just" defTabSz="457200">
              <a:spcBef>
                <a:spcPts val="91"/>
              </a:spcBef>
              <a:defRPr/>
            </a:pPr>
            <a:endParaRPr lang="en-US" dirty="0"/>
          </a:p>
          <a:p>
            <a:pPr marL="354416" marR="4607" lvl="0" indent="-342900" algn="just" defTabSz="457200">
              <a:spcBef>
                <a:spcPts val="91"/>
              </a:spcBef>
              <a:buFont typeface="Wingdings" pitchFamily="2" charset="2"/>
              <a:buChar char="Ø"/>
              <a:defRPr/>
            </a:pPr>
            <a:r>
              <a:rPr lang="en-US" dirty="0"/>
              <a:t>A </a:t>
            </a:r>
            <a:r>
              <a:rPr lang="en-US" b="1" dirty="0"/>
              <a:t>broadcast message</a:t>
            </a:r>
            <a:r>
              <a:rPr lang="en-US" dirty="0"/>
              <a:t> is a message that reaches all devices in the network. </a:t>
            </a:r>
          </a:p>
          <a:p>
            <a:pPr marL="354416" marR="4607" lvl="0" indent="-342900" algn="just" defTabSz="457200">
              <a:spcBef>
                <a:spcPts val="91"/>
              </a:spcBef>
              <a:buFont typeface="Wingdings" pitchFamily="2" charset="2"/>
              <a:buChar char="Ø"/>
              <a:defRPr/>
            </a:pPr>
            <a:endParaRPr lang="en-US" dirty="0"/>
          </a:p>
          <a:p>
            <a:pPr marL="354416" marR="4607" lvl="0" indent="-342900" algn="just" defTabSz="457200">
              <a:spcBef>
                <a:spcPts val="91"/>
              </a:spcBef>
              <a:buFont typeface="Wingdings" pitchFamily="2" charset="2"/>
              <a:buChar char="Ø"/>
              <a:defRPr/>
            </a:pPr>
            <a:r>
              <a:rPr lang="en-US" dirty="0"/>
              <a:t>Devices use broadcast messages to perform many essential tasks. </a:t>
            </a:r>
          </a:p>
          <a:p>
            <a:pPr marL="354416" marR="4607" lvl="0" indent="-342900" algn="just" defTabSz="457200">
              <a:spcBef>
                <a:spcPts val="91"/>
              </a:spcBef>
              <a:buFont typeface="Wingdings" pitchFamily="2" charset="2"/>
              <a:buChar char="Ø"/>
              <a:defRPr/>
            </a:pPr>
            <a:endParaRPr lang="en-US" dirty="0"/>
          </a:p>
          <a:p>
            <a:pPr marL="354416" marR="4607" lvl="0" indent="-342900" algn="just" defTabSz="457200">
              <a:spcBef>
                <a:spcPts val="91"/>
              </a:spcBef>
              <a:buFont typeface="Wingdings" pitchFamily="2" charset="2"/>
              <a:buChar char="Ø"/>
              <a:defRPr/>
            </a:pPr>
            <a:r>
              <a:rPr lang="en-US" dirty="0"/>
              <a:t>The more devices you add to a network, the more broadcast messages it will have which in turn </a:t>
            </a:r>
            <a:r>
              <a:rPr lang="en-US" b="1" dirty="0"/>
              <a:t>reduce network performance</a:t>
            </a:r>
            <a:r>
              <a:rPr lang="en-US" dirty="0"/>
              <a:t>.</a:t>
            </a:r>
          </a:p>
          <a:p>
            <a:pPr marL="354416" marR="4607" lvl="0" indent="-342900" algn="just" defTabSz="457200">
              <a:spcBef>
                <a:spcPts val="91"/>
              </a:spcBef>
              <a:buFont typeface="Wingdings" pitchFamily="2" charset="2"/>
              <a:buChar char="Ø"/>
              <a:defRPr/>
            </a:pP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6ED0DDC-2BBE-5CDF-9C93-6D451F0732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41619" y="1897615"/>
            <a:ext cx="5350381" cy="4134475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D4CDC2-CF3B-3DB0-1849-2DD7143F6B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pc="-5" dirty="0"/>
              <a:t>Virtual local area network (VLAN)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9068B0-DAFD-6EC1-2B47-F414E7A445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5423" y="2015732"/>
            <a:ext cx="6161648" cy="4037749"/>
          </a:xfrm>
        </p:spPr>
        <p:txBody>
          <a:bodyPr>
            <a:normAutofit fontScale="85000" lnSpcReduction="20000"/>
          </a:bodyPr>
          <a:lstStyle/>
          <a:p>
            <a:pPr marL="354416" marR="4607" indent="-342900" algn="just" defTabSz="457200">
              <a:spcBef>
                <a:spcPts val="91"/>
              </a:spcBef>
              <a:buFont typeface="Wingdings" pitchFamily="2" charset="2"/>
              <a:buChar char="Ø"/>
              <a:defRPr/>
            </a:pPr>
            <a:r>
              <a:rPr lang="en-US" sz="2100" dirty="0"/>
              <a:t>To improve network performance, </a:t>
            </a:r>
            <a:r>
              <a:rPr lang="en-US" sz="2100" b="1" dirty="0"/>
              <a:t>VLANs</a:t>
            </a:r>
            <a:r>
              <a:rPr lang="en-US" sz="2100" dirty="0"/>
              <a:t> are used which create a boundary for broadcast messages. </a:t>
            </a:r>
          </a:p>
          <a:p>
            <a:pPr marL="354416" marR="4607" indent="-342900" algn="just" defTabSz="457200">
              <a:spcBef>
                <a:spcPts val="91"/>
              </a:spcBef>
              <a:buFont typeface="Wingdings" pitchFamily="2" charset="2"/>
              <a:buChar char="Ø"/>
              <a:defRPr/>
            </a:pPr>
            <a:endParaRPr lang="en-US" sz="2100" dirty="0"/>
          </a:p>
          <a:p>
            <a:pPr marL="354416" marR="4607" lvl="0" indent="-342900" algn="just" defTabSz="457200">
              <a:spcBef>
                <a:spcPts val="91"/>
              </a:spcBef>
              <a:buFont typeface="Wingdings" pitchFamily="2" charset="2"/>
              <a:buChar char="Ø"/>
              <a:defRPr/>
            </a:pPr>
            <a:r>
              <a:rPr lang="en-US" sz="2100" dirty="0"/>
              <a:t>A </a:t>
            </a:r>
            <a:r>
              <a:rPr lang="en-US" sz="2100" b="1" dirty="0"/>
              <a:t>VLAN (Virtual Local Area Network) </a:t>
            </a:r>
            <a:r>
              <a:rPr lang="en-US" sz="2100" dirty="0"/>
              <a:t>is a logical network construct that allows the segmentation of a physical network into multiple virtual networks. </a:t>
            </a:r>
          </a:p>
          <a:p>
            <a:pPr marL="354416" marR="4607" lvl="0" indent="-342900" algn="just" defTabSz="457200">
              <a:spcBef>
                <a:spcPts val="91"/>
              </a:spcBef>
              <a:buFont typeface="Wingdings" pitchFamily="2" charset="2"/>
              <a:buChar char="Ø"/>
              <a:defRPr/>
            </a:pPr>
            <a:endParaRPr lang="en-US" sz="2100" dirty="0"/>
          </a:p>
          <a:p>
            <a:pPr marL="354416" marR="4607" lvl="0" indent="-342900" algn="just" defTabSz="457200">
              <a:spcBef>
                <a:spcPts val="91"/>
              </a:spcBef>
              <a:buFont typeface="Wingdings" pitchFamily="2" charset="2"/>
              <a:buChar char="Ø"/>
              <a:defRPr/>
            </a:pPr>
            <a:r>
              <a:rPr lang="en-US" sz="2100" dirty="0"/>
              <a:t>In a VLAN, the computers, servers, and other network devices are logically connected regardless of their physical location.</a:t>
            </a:r>
          </a:p>
          <a:p>
            <a:pPr marL="354416" marR="4607" lvl="0" indent="-342900" algn="just" defTabSz="457200">
              <a:spcBef>
                <a:spcPts val="91"/>
              </a:spcBef>
              <a:buFont typeface="Wingdings" pitchFamily="2" charset="2"/>
              <a:buChar char="Ø"/>
              <a:defRPr/>
            </a:pPr>
            <a:endParaRPr lang="en-US" sz="2100" dirty="0"/>
          </a:p>
          <a:p>
            <a:pPr marL="354416" marR="4607" lvl="0" indent="-342900" algn="just" defTabSz="457200">
              <a:spcBef>
                <a:spcPts val="91"/>
              </a:spcBef>
              <a:buFont typeface="Wingdings" pitchFamily="2" charset="2"/>
              <a:buChar char="Ø"/>
              <a:defRPr/>
            </a:pPr>
            <a:r>
              <a:rPr lang="en-US" sz="2100" dirty="0"/>
              <a:t>It is created by grouping devices together based on factors such as department, function, or security requirements. </a:t>
            </a:r>
            <a:endParaRPr kumimoji="0" lang="en-US" sz="2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cs typeface="Times New Roman"/>
            </a:endParaRPr>
          </a:p>
          <a:p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DBB50FD-C87E-1EAC-505D-8FF54533BD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1300" y="1919867"/>
            <a:ext cx="5600700" cy="4133614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5921965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09DF53-499D-C15B-C42A-59C965672E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 descr="A diagram of a computer network&#10;&#10;Description automatically generated">
            <a:extLst>
              <a:ext uri="{FF2B5EF4-FFF2-40B4-BE49-F238E27FC236}">
                <a16:creationId xmlns:a16="http://schemas.microsoft.com/office/drawing/2014/main" id="{60CCC03B-377B-F5B4-14EF-8A9B66139DB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1578" y="309489"/>
            <a:ext cx="9603275" cy="2695575"/>
          </a:xfrm>
        </p:spPr>
      </p:pic>
      <p:pic>
        <p:nvPicPr>
          <p:cNvPr id="7" name="Picture 6" descr="A diagram of a computer network&#10;&#10;Description automatically generated">
            <a:extLst>
              <a:ext uri="{FF2B5EF4-FFF2-40B4-BE49-F238E27FC236}">
                <a16:creationId xmlns:a16="http://schemas.microsoft.com/office/drawing/2014/main" id="{3DF73B5A-48F9-6091-3300-B8B5EF2FF58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1579" y="3357906"/>
            <a:ext cx="9603275" cy="28601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68543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7696D8-9EBE-41D7-8575-7852B9AE02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example</a:t>
            </a:r>
          </a:p>
        </p:txBody>
      </p:sp>
      <p:pic>
        <p:nvPicPr>
          <p:cNvPr id="6" name="Picture 5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85900" y="2096256"/>
            <a:ext cx="4465320" cy="2243455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Rectangle 6"/>
          <p:cNvSpPr/>
          <p:nvPr/>
        </p:nvSpPr>
        <p:spPr>
          <a:xfrm>
            <a:off x="1485900" y="4568875"/>
            <a:ext cx="446532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u="sng" dirty="0"/>
              <a:t>One switch, one LAN: Before VLANs, there were no separations between hosts</a:t>
            </a:r>
            <a:endParaRPr lang="en-IN" dirty="0"/>
          </a:p>
        </p:txBody>
      </p:sp>
      <p:pic>
        <p:nvPicPr>
          <p:cNvPr id="8" name="Picture 7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43003" y="2191213"/>
            <a:ext cx="4630322" cy="2264410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Rectangle 8"/>
          <p:cNvSpPr/>
          <p:nvPr/>
        </p:nvSpPr>
        <p:spPr>
          <a:xfrm>
            <a:off x="6605073" y="4669526"/>
            <a:ext cx="441198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u="sng" dirty="0"/>
              <a:t>One switch, two virtual LANs (</a:t>
            </a:r>
            <a:r>
              <a:rPr lang="en-US" b="1" i="1" u="sng" dirty="0"/>
              <a:t>logical </a:t>
            </a:r>
            <a:r>
              <a:rPr lang="en-US" b="1" u="sng" dirty="0"/>
              <a:t>separation between hosts): Still physically one switch, but this switch acts as many separate devices.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8571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A47696D8-9EBE-41D7-8575-7852B9AE02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</p:spPr>
        <p:txBody>
          <a:bodyPr>
            <a:normAutofit/>
          </a:bodyPr>
          <a:lstStyle/>
          <a:p>
            <a:pPr algn="ctr"/>
            <a:r>
              <a:rPr lang="en-US" b="1" u="sng" dirty="0"/>
              <a:t>Benefits of VLANs</a:t>
            </a:r>
            <a:br>
              <a:rPr lang="en-IN" dirty="0"/>
            </a:br>
            <a:endParaRPr lang="en-IN" dirty="0"/>
          </a:p>
        </p:txBody>
      </p:sp>
      <p:sp>
        <p:nvSpPr>
          <p:cNvPr id="9" name="Rectangle 8"/>
          <p:cNvSpPr/>
          <p:nvPr/>
        </p:nvSpPr>
        <p:spPr>
          <a:xfrm>
            <a:off x="1105926" y="1929211"/>
            <a:ext cx="9580098" cy="42473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lvl="0" indent="-285750" algn="just">
              <a:buFont typeface="Wingdings" pitchFamily="2" charset="2"/>
              <a:buChar char="Ø"/>
            </a:pPr>
            <a:r>
              <a:rPr lang="en-US" b="1" dirty="0"/>
              <a:t>Enhanced Network Security</a:t>
            </a:r>
            <a:r>
              <a:rPr lang="en-US" dirty="0"/>
              <a:t>: VLANs allow for logical segmentation of a network, enabling administrators to isolate sensitive data or systems from unauthorized access. </a:t>
            </a:r>
          </a:p>
          <a:p>
            <a:pPr marL="285750" lvl="0" indent="-285750" algn="just">
              <a:buFont typeface="Wingdings" pitchFamily="2" charset="2"/>
              <a:buChar char="Ø"/>
            </a:pPr>
            <a:endParaRPr lang="en-US" dirty="0"/>
          </a:p>
          <a:p>
            <a:pPr marL="285750" lvl="0" indent="-285750" algn="just">
              <a:buFont typeface="Wingdings" pitchFamily="2" charset="2"/>
              <a:buChar char="Ø"/>
            </a:pPr>
            <a:r>
              <a:rPr lang="en-US" b="1" dirty="0"/>
              <a:t>Improved Network Performance</a:t>
            </a:r>
            <a:r>
              <a:rPr lang="en-US" dirty="0"/>
              <a:t>: VLANs help reduce network congestion by limiting broadcast traffic. </a:t>
            </a:r>
          </a:p>
          <a:p>
            <a:pPr marL="285750" lvl="0" indent="-285750" algn="just">
              <a:buFont typeface="Wingdings" pitchFamily="2" charset="2"/>
              <a:buChar char="Ø"/>
            </a:pPr>
            <a:endParaRPr lang="en-IN" dirty="0"/>
          </a:p>
          <a:p>
            <a:pPr marL="285750" lvl="0" indent="-285750" algn="just">
              <a:buFont typeface="Wingdings" pitchFamily="2" charset="2"/>
              <a:buChar char="Ø"/>
            </a:pPr>
            <a:r>
              <a:rPr lang="en-US" b="1" dirty="0"/>
              <a:t>Simplified Network Management</a:t>
            </a:r>
            <a:r>
              <a:rPr lang="en-US" dirty="0"/>
              <a:t>: VLANs provide administrative flexibility by allowing network administrators to manage logical groups of devices based on their function or location. </a:t>
            </a:r>
          </a:p>
          <a:p>
            <a:pPr marL="285750" lvl="0" indent="-285750" algn="just">
              <a:buFont typeface="Wingdings" pitchFamily="2" charset="2"/>
              <a:buChar char="Ø"/>
            </a:pPr>
            <a:endParaRPr lang="en-IN" dirty="0"/>
          </a:p>
          <a:p>
            <a:pPr marL="285750" lvl="0" indent="-285750" algn="just">
              <a:buFont typeface="Wingdings" pitchFamily="2" charset="2"/>
              <a:buChar char="Ø"/>
            </a:pPr>
            <a:r>
              <a:rPr lang="en-US" b="1" dirty="0"/>
              <a:t>Scalability and Flexibility</a:t>
            </a:r>
            <a:r>
              <a:rPr lang="en-US" dirty="0"/>
              <a:t>: VLANs enable network scalability by accommodating the addition of new devices or users without the need to reconfigure the entire network infrastructure. </a:t>
            </a:r>
          </a:p>
          <a:p>
            <a:pPr marL="285750" lvl="0" indent="-285750" algn="just">
              <a:buFont typeface="Wingdings" pitchFamily="2" charset="2"/>
              <a:buChar char="Ø"/>
            </a:pPr>
            <a:endParaRPr lang="en-US" dirty="0"/>
          </a:p>
          <a:p>
            <a:pPr marL="285750" indent="-285750" algn="just">
              <a:buFont typeface="Wingdings" pitchFamily="2" charset="2"/>
              <a:buChar char="Ø"/>
            </a:pPr>
            <a:r>
              <a:rPr lang="en-US" b="1" dirty="0"/>
              <a:t>Improved Resource Sharing</a:t>
            </a:r>
            <a:r>
              <a:rPr lang="en-US" dirty="0"/>
              <a:t>: VLANs facilitate effective resource sharing within specific groups or departments without the need for routing.</a:t>
            </a:r>
          </a:p>
          <a:p>
            <a:pPr marL="285750" lvl="0" indent="-285750" algn="just">
              <a:buFont typeface="Wingdings" pitchFamily="2" charset="2"/>
              <a:buChar char="Ø"/>
            </a:pPr>
            <a:endParaRPr lang="en-IN" dirty="0"/>
          </a:p>
        </p:txBody>
      </p:sp>
    </p:spTree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270781" y="2074443"/>
            <a:ext cx="9650437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lvl="0" indent="-285750" algn="just">
              <a:buFont typeface="Wingdings" pitchFamily="2" charset="2"/>
              <a:buChar char="Ø"/>
            </a:pPr>
            <a:endParaRPr lang="en-IN" dirty="0"/>
          </a:p>
          <a:p>
            <a:pPr marL="285750" lvl="0" indent="-285750" algn="just">
              <a:buFont typeface="Wingdings" pitchFamily="2" charset="2"/>
              <a:buChar char="Ø"/>
            </a:pPr>
            <a:r>
              <a:rPr lang="en-US" b="1" dirty="0"/>
              <a:t>Guest Network Isolation</a:t>
            </a:r>
            <a:r>
              <a:rPr lang="en-US" dirty="0"/>
              <a:t>: VLANs allow for the creation of separate guest networks, which are isolated from the main network. </a:t>
            </a:r>
          </a:p>
          <a:p>
            <a:pPr marL="285750" lvl="0" indent="-285750" algn="just">
              <a:buFont typeface="Wingdings" pitchFamily="2" charset="2"/>
              <a:buChar char="Ø"/>
            </a:pPr>
            <a:endParaRPr lang="en-US" dirty="0"/>
          </a:p>
          <a:p>
            <a:pPr marL="285750" lvl="0" indent="-285750" algn="just">
              <a:buFont typeface="Wingdings" pitchFamily="2" charset="2"/>
              <a:buChar char="Ø"/>
            </a:pPr>
            <a:r>
              <a:rPr lang="en-US" b="1" dirty="0"/>
              <a:t>Efficient Troubleshooting:</a:t>
            </a:r>
            <a:r>
              <a:rPr lang="en-US" dirty="0"/>
              <a:t> VLANs simplify troubleshooting by isolating network issues to specific VLANs. </a:t>
            </a:r>
          </a:p>
          <a:p>
            <a:pPr marL="285750" lvl="0" indent="-285750" algn="just">
              <a:buFont typeface="Wingdings" pitchFamily="2" charset="2"/>
              <a:buChar char="Ø"/>
            </a:pPr>
            <a:endParaRPr lang="en-IN" dirty="0"/>
          </a:p>
          <a:p>
            <a:pPr marL="285750" lvl="0" indent="-285750" algn="just">
              <a:buFont typeface="Wingdings" pitchFamily="2" charset="2"/>
              <a:buChar char="Ø"/>
            </a:pPr>
            <a:r>
              <a:rPr lang="en-US" b="1" dirty="0"/>
              <a:t>Quality of Service (QoS) Optimization:</a:t>
            </a:r>
            <a:r>
              <a:rPr lang="en-US" dirty="0"/>
              <a:t> VLANs can be used to prioritize network traffic by assigning different QoS policies to specific VLANs. </a:t>
            </a:r>
          </a:p>
          <a:p>
            <a:pPr marL="285750" lvl="0" indent="-285750" algn="just">
              <a:buFont typeface="Wingdings" pitchFamily="2" charset="2"/>
              <a:buChar char="Ø"/>
            </a:pPr>
            <a:endParaRPr lang="en-US" dirty="0"/>
          </a:p>
          <a:p>
            <a:pPr marL="285750" lvl="0" indent="-285750" algn="just">
              <a:buFont typeface="Wingdings" pitchFamily="2" charset="2"/>
              <a:buChar char="Ø"/>
            </a:pPr>
            <a:r>
              <a:rPr lang="en-US" b="1" dirty="0"/>
              <a:t>Easy Virtualization Support</a:t>
            </a:r>
            <a:r>
              <a:rPr lang="en-US" dirty="0"/>
              <a:t>: VLANs are widely used in virtualized environments, where virtual machines (VMs) can be associated with specific VLANs. </a:t>
            </a:r>
            <a:endParaRPr lang="en-IN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A47696D8-9EBE-41D7-8575-7852B9AE02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/>
              <a:t>Benefits of VLANs</a:t>
            </a:r>
            <a:r>
              <a:rPr lang="en-US" b="1" dirty="0"/>
              <a:t>				</a:t>
            </a:r>
            <a:r>
              <a:rPr lang="en-US" b="1" dirty="0" err="1"/>
              <a:t>contd</a:t>
            </a:r>
            <a:r>
              <a:rPr lang="en-US" b="1" dirty="0"/>
              <a:t>…</a:t>
            </a:r>
            <a:br>
              <a:rPr lang="en-IN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49070969"/>
      </p:ext>
    </p:ext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07888" y="1182854"/>
            <a:ext cx="9450844" cy="454246"/>
          </a:xfrm>
          <a:prstGeom prst="rect">
            <a:avLst/>
          </a:prstGeom>
        </p:spPr>
        <p:txBody>
          <a:bodyPr vert="horz" wrap="square" lIns="0" tIns="10941" rIns="0" bIns="0" rtlCol="0" anchor="ctr">
            <a:spAutoFit/>
          </a:bodyPr>
          <a:lstStyle/>
          <a:p>
            <a:r>
              <a:rPr lang="en-US" b="1" dirty="0"/>
              <a:t>TYPES OF PORTS IN VLAN</a:t>
            </a:r>
            <a:endParaRPr lang="en-IN" b="1" u="sng" dirty="0"/>
          </a:p>
        </p:txBody>
      </p:sp>
      <p:sp>
        <p:nvSpPr>
          <p:cNvPr id="3" name="Rectangle 2"/>
          <p:cNvSpPr/>
          <p:nvPr/>
        </p:nvSpPr>
        <p:spPr>
          <a:xfrm>
            <a:off x="1500553" y="1882783"/>
            <a:ext cx="10231902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There are two different types of ports in a switched environment.</a:t>
            </a:r>
          </a:p>
          <a:p>
            <a:endParaRPr lang="en-IN" b="1" u="sng" dirty="0"/>
          </a:p>
          <a:p>
            <a:pPr marL="342900" lvl="0" indent="-342900">
              <a:buFont typeface="+mj-lt"/>
              <a:buAutoNum type="arabicPeriod"/>
            </a:pPr>
            <a:r>
              <a:rPr lang="en-US" dirty="0"/>
              <a:t>Access Ports</a:t>
            </a:r>
            <a:endParaRPr lang="en-IN" b="1" u="sng" dirty="0"/>
          </a:p>
          <a:p>
            <a:pPr marL="342900" lvl="0" indent="-342900">
              <a:buFont typeface="+mj-lt"/>
              <a:buAutoNum type="arabicPeriod"/>
            </a:pPr>
            <a:r>
              <a:rPr lang="en-US" dirty="0"/>
              <a:t>Trunk Ports.</a:t>
            </a:r>
          </a:p>
          <a:p>
            <a:pPr lvl="0"/>
            <a:endParaRPr lang="en-US" b="1" u="sng" dirty="0"/>
          </a:p>
          <a:p>
            <a:pPr lvl="0"/>
            <a:r>
              <a:rPr lang="en-US" b="1" dirty="0"/>
              <a:t>Access Ports</a:t>
            </a:r>
            <a:endParaRPr lang="en-IN" b="1" u="sng" dirty="0"/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dirty="0"/>
              <a:t>Access port is a connection on a switch that </a:t>
            </a:r>
            <a:r>
              <a:rPr lang="en-US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transmits data to and from a specific VLAN</a:t>
            </a:r>
            <a:r>
              <a:rPr lang="en-US" dirty="0"/>
              <a:t>.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dirty="0"/>
              <a:t>It is used to </a:t>
            </a:r>
            <a:r>
              <a:rPr lang="en-US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connect switches to host devices </a:t>
            </a:r>
            <a:r>
              <a:rPr lang="en-US" dirty="0"/>
              <a:t>such as desktops, laptops, printers etc., only available in access link.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dirty="0"/>
              <a:t>It sends and receives Ethernet frames in </a:t>
            </a:r>
            <a:r>
              <a:rPr lang="en-US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untagged form </a:t>
            </a:r>
            <a:r>
              <a:rPr lang="en-US" dirty="0"/>
              <a:t>from access VLAN.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dirty="0"/>
              <a:t>It can only be member of single VLAN.</a:t>
            </a:r>
          </a:p>
          <a:p>
            <a:pPr marL="285750" lvl="0" indent="-285750" algn="just">
              <a:buFont typeface="Wingdings" pitchFamily="2" charset="2"/>
              <a:buChar char="Ø"/>
            </a:pPr>
            <a:r>
              <a:rPr lang="en-US" dirty="0"/>
              <a:t>Access-link devices can’t communicate with devices outside their VLAN unless the packet is routed</a:t>
            </a:r>
            <a:endParaRPr lang="en-IN" b="1" u="sng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bject 2"/>
          <p:cNvSpPr txBox="1">
            <a:spLocks/>
          </p:cNvSpPr>
          <p:nvPr/>
        </p:nvSpPr>
        <p:spPr>
          <a:xfrm>
            <a:off x="1507888" y="1182854"/>
            <a:ext cx="9450844" cy="454246"/>
          </a:xfrm>
          <a:prstGeom prst="rect">
            <a:avLst/>
          </a:prstGeom>
        </p:spPr>
        <p:txBody>
          <a:bodyPr vert="horz" wrap="square" lIns="0" tIns="10941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0" i="0" kern="1200" cap="all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/>
              <a:t>TYPES OF PORTS IN VLAN			</a:t>
            </a:r>
            <a:r>
              <a:rPr lang="en-US" b="1" dirty="0" err="1"/>
              <a:t>contd</a:t>
            </a:r>
            <a:r>
              <a:rPr lang="en-US" b="1" dirty="0"/>
              <a:t>…</a:t>
            </a:r>
            <a:endParaRPr lang="en-IN" b="1" u="sng" dirty="0"/>
          </a:p>
        </p:txBody>
      </p:sp>
      <p:sp>
        <p:nvSpPr>
          <p:cNvPr id="4" name="Rectangle 3"/>
          <p:cNvSpPr/>
          <p:nvPr/>
        </p:nvSpPr>
        <p:spPr>
          <a:xfrm>
            <a:off x="255862" y="1854985"/>
            <a:ext cx="6454653" cy="43396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b="1" dirty="0"/>
              <a:t>Trunk Ports</a:t>
            </a:r>
          </a:p>
          <a:p>
            <a:pPr lvl="0"/>
            <a:endParaRPr lang="en-IN" b="1" u="sng" dirty="0"/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sz="2000" dirty="0"/>
              <a:t>Trunk port is a connection on a switch that </a:t>
            </a:r>
            <a:r>
              <a:rPr lang="en-US" sz="20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transmits data to and from multiple VLANs.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endParaRPr lang="en-US" sz="2000" dirty="0"/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sz="2000" dirty="0"/>
              <a:t>It is used to </a:t>
            </a:r>
            <a:r>
              <a:rPr lang="en-US" sz="20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connect switches to other switches, routers and servers</a:t>
            </a:r>
            <a:r>
              <a:rPr lang="en-US" sz="2000" dirty="0"/>
              <a:t> available in trunk link.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endParaRPr lang="en-US" sz="2000" dirty="0"/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sz="2000" dirty="0"/>
              <a:t>Frames are marked with unique </a:t>
            </a:r>
            <a:r>
              <a:rPr lang="en-US" sz="20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identifying tags </a:t>
            </a:r>
            <a:r>
              <a:rPr lang="en-US" sz="2000" dirty="0"/>
              <a:t>when they move between switches so that they can be directed to their designated VLANs.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endParaRPr lang="en-US" sz="2000" dirty="0"/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sz="2000" dirty="0"/>
              <a:t>It can manage traffic for numerous VLANs at the same time.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26273B5-AE6F-7724-53A8-0D690080C4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43252" y="1938835"/>
            <a:ext cx="5348748" cy="417195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7696D8-9EBE-41D7-8575-7852B9AE02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1209822"/>
            <a:ext cx="9603275" cy="643932"/>
          </a:xfrm>
        </p:spPr>
        <p:txBody>
          <a:bodyPr/>
          <a:lstStyle/>
          <a:p>
            <a:r>
              <a:rPr lang="en-US" b="1" u="sng" dirty="0"/>
              <a:t>Frame Tagging</a:t>
            </a:r>
            <a:endParaRPr lang="en-IN" dirty="0"/>
          </a:p>
        </p:txBody>
      </p:sp>
      <p:sp>
        <p:nvSpPr>
          <p:cNvPr id="5" name="Rectangle 4"/>
          <p:cNvSpPr/>
          <p:nvPr/>
        </p:nvSpPr>
        <p:spPr>
          <a:xfrm>
            <a:off x="1458350" y="1914436"/>
            <a:ext cx="9626991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800" b="1" dirty="0">
                <a:effectLst/>
              </a:rPr>
              <a:t>Frame tagging</a:t>
            </a:r>
            <a:r>
              <a:rPr lang="en-US" sz="1800" dirty="0">
                <a:effectLst/>
              </a:rPr>
              <a:t> is used to identify the VLAN that the frame belongs to in a network with multiple VLANs.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1800" dirty="0">
              <a:effectLst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800" dirty="0">
                <a:effectLst/>
              </a:rPr>
              <a:t>The VLAN ID is placed on the frame when it reaches a switch from an access port.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1800" dirty="0">
              <a:effectLst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800" dirty="0">
                <a:effectLst/>
              </a:rPr>
              <a:t>That frame can then be forwarded out the trunk link port.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1800" dirty="0">
              <a:effectLst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800" dirty="0">
                <a:effectLst/>
              </a:rPr>
              <a:t>Each switch can see what VLAN the frame belongs to and can forward the frame to corresponding VLAN access ports or to another VLAN trunk port.</a:t>
            </a:r>
          </a:p>
          <a:p>
            <a:endParaRPr lang="en-US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800" dirty="0">
                <a:effectLst/>
              </a:rPr>
              <a:t>Two </a:t>
            </a:r>
            <a:r>
              <a:rPr lang="en-US" dirty="0" err="1"/>
              <a:t>T</a:t>
            </a:r>
            <a:r>
              <a:rPr lang="en-US" sz="1800" dirty="0" err="1">
                <a:effectLst/>
              </a:rPr>
              <a:t>runking</a:t>
            </a:r>
            <a:r>
              <a:rPr lang="en-US" sz="1800" dirty="0">
                <a:effectLst/>
              </a:rPr>
              <a:t> protocols are usually used today for frame tagging:</a:t>
            </a:r>
            <a:endParaRPr lang="en-US" dirty="0"/>
          </a:p>
          <a:p>
            <a:pPr marL="1257300" lvl="2" indent="-342900">
              <a:buFont typeface="+mj-lt"/>
              <a:buAutoNum type="arabicPeriod"/>
            </a:pPr>
            <a:r>
              <a:rPr lang="en-US" b="1" dirty="0"/>
              <a:t>Inter-Switch Link (ISL) </a:t>
            </a:r>
            <a:r>
              <a:rPr lang="en-US" dirty="0"/>
              <a:t>– Cisco’s proprietary VLAN tagging protocol.</a:t>
            </a:r>
          </a:p>
          <a:p>
            <a:pPr marL="1257300" lvl="2" indent="-342900">
              <a:buFont typeface="+mj-lt"/>
              <a:buAutoNum type="arabicPeriod"/>
            </a:pPr>
            <a:r>
              <a:rPr lang="en-US" b="1" dirty="0"/>
              <a:t>IEEE 802.1Q </a:t>
            </a:r>
            <a:r>
              <a:rPr lang="en-US" dirty="0"/>
              <a:t>– IEEE’s VLAN tagging protocol.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53510257"/>
      </p:ext>
    </p:extLst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2A5913-F262-AC95-054D-455E959A0C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3171" y="1489684"/>
            <a:ext cx="6817703" cy="4615694"/>
          </a:xfrm>
        </p:spPr>
        <p:txBody>
          <a:bodyPr>
            <a:normAutofit fontScale="85000" lnSpcReduction="20000"/>
          </a:bodyPr>
          <a:lstStyle/>
          <a:p>
            <a:pPr marL="514350" lvl="0" indent="-514350">
              <a:buAutoNum type="arabicPeriod"/>
            </a:pPr>
            <a:r>
              <a:rPr lang="en-US" sz="2600" b="1" u="sng" dirty="0"/>
              <a:t>IEEE 802.1Q Frame Tagging: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b="1" dirty="0"/>
              <a:t>Dot1Q (IEEE 802.1Q)</a:t>
            </a:r>
            <a:r>
              <a:rPr lang="en-US" dirty="0"/>
              <a:t> is the industry </a:t>
            </a:r>
            <a:r>
              <a:rPr lang="en-US" b="1" dirty="0"/>
              <a:t>standard</a:t>
            </a:r>
            <a:r>
              <a:rPr lang="en-US" dirty="0"/>
              <a:t> VLAN Tagging Protocol. So, with this frame tagging protocol, you can trunk different vendors’ switches each other.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b="1" dirty="0"/>
              <a:t>Dot1Q </a:t>
            </a:r>
            <a:r>
              <a:rPr lang="en-US" dirty="0"/>
              <a:t>modifies the </a:t>
            </a:r>
            <a:r>
              <a:rPr lang="en-US" b="1" dirty="0"/>
              <a:t>layer-2 header</a:t>
            </a:r>
            <a:r>
              <a:rPr lang="en-US" dirty="0"/>
              <a:t> and add </a:t>
            </a:r>
            <a:r>
              <a:rPr lang="en-US" b="1" dirty="0"/>
              <a:t>4-byte VLAN tag</a:t>
            </a:r>
            <a:r>
              <a:rPr lang="en-US" dirty="0"/>
              <a:t> into it. Because of this process, the frame </a:t>
            </a:r>
            <a:r>
              <a:rPr lang="en-US" b="1" dirty="0"/>
              <a:t>CRC</a:t>
            </a:r>
            <a:r>
              <a:rPr lang="en-US" dirty="0"/>
              <a:t> value is calculated again. 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dirty="0"/>
              <a:t>The VLAN tag contains information such as the VLAN ID (VID), priority, and a few control bits.</a:t>
            </a:r>
            <a:endParaRPr lang="en-IN" dirty="0"/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dirty="0"/>
              <a:t>The VID is a 12-bit field that represents the VLAN to which the frame belongs.</a:t>
            </a:r>
            <a:endParaRPr lang="en-IN" dirty="0"/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dirty="0"/>
              <a:t>Dot1.q support </a:t>
            </a:r>
            <a:r>
              <a:rPr lang="en-US" b="1" dirty="0"/>
              <a:t>4096 VLANs</a:t>
            </a:r>
            <a:r>
              <a:rPr lang="en-US" dirty="0"/>
              <a:t> on a trunk.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dirty="0"/>
              <a:t>We can configure </a:t>
            </a:r>
            <a:r>
              <a:rPr lang="en-US" b="1" dirty="0"/>
              <a:t>Dot1.Q </a:t>
            </a:r>
            <a:r>
              <a:rPr lang="en-US" dirty="0"/>
              <a:t>on Cisco switches with the help of “</a:t>
            </a:r>
            <a:r>
              <a:rPr lang="en-US" b="1" dirty="0"/>
              <a:t>switchport trunk encapsulation dot1.q</a:t>
            </a:r>
            <a:r>
              <a:rPr lang="en-US" dirty="0"/>
              <a:t>” command.</a:t>
            </a:r>
          </a:p>
          <a:p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BE09286-14FD-D731-7BD4-07FF0DBE26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53275" y="2809874"/>
            <a:ext cx="4948498" cy="22966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9277907"/>
      </p:ext>
    </p:extLst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A47696D8-9EBE-41D7-8575-7852B9AE0295}"/>
              </a:ext>
            </a:extLst>
          </p:cNvPr>
          <p:cNvSpPr txBox="1">
            <a:spLocks/>
          </p:cNvSpPr>
          <p:nvPr/>
        </p:nvSpPr>
        <p:spPr>
          <a:xfrm>
            <a:off x="1451579" y="1209822"/>
            <a:ext cx="9603275" cy="64393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0" i="0" kern="1200" cap="all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u="sng"/>
              <a:t>Frame Tagging</a:t>
            </a:r>
            <a:endParaRPr lang="en-IN" dirty="0"/>
          </a:p>
        </p:txBody>
      </p:sp>
      <p:sp>
        <p:nvSpPr>
          <p:cNvPr id="6" name="Rectangle 5"/>
          <p:cNvSpPr/>
          <p:nvPr/>
        </p:nvSpPr>
        <p:spPr>
          <a:xfrm>
            <a:off x="478301" y="1869047"/>
            <a:ext cx="6274924" cy="37240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/>
            <a:r>
              <a:rPr lang="en-US" sz="2000" b="1" u="sng" dirty="0"/>
              <a:t>2. ISL (Inter-Switch Link) Frame Tagging:</a:t>
            </a:r>
          </a:p>
          <a:p>
            <a:pPr lvl="0" algn="just"/>
            <a:endParaRPr lang="en-IN" dirty="0"/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b="1" dirty="0"/>
              <a:t>ISL (Inter-Switch Link) </a:t>
            </a:r>
            <a:r>
              <a:rPr lang="en-US" dirty="0"/>
              <a:t>is a </a:t>
            </a:r>
            <a:r>
              <a:rPr lang="en-US" b="1" dirty="0"/>
              <a:t>Cisco proprietary</a:t>
            </a:r>
            <a:r>
              <a:rPr lang="en-US" dirty="0"/>
              <a:t> frame tagging protocol and it is not supported on new Cisco devices. </a:t>
            </a:r>
          </a:p>
          <a:p>
            <a:pPr algn="just"/>
            <a:endParaRPr lang="en-US" dirty="0"/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b="1" dirty="0"/>
              <a:t>ISL </a:t>
            </a:r>
            <a:r>
              <a:rPr lang="en-US" dirty="0"/>
              <a:t>encapsulates the frame with a </a:t>
            </a:r>
            <a:r>
              <a:rPr lang="en-US" b="1" dirty="0"/>
              <a:t>header (26 bytes)</a:t>
            </a:r>
            <a:r>
              <a:rPr lang="en-US" dirty="0"/>
              <a:t> and a trailer </a:t>
            </a:r>
            <a:r>
              <a:rPr lang="en-US" b="1" dirty="0"/>
              <a:t>(4 bytes)</a:t>
            </a:r>
            <a:r>
              <a:rPr lang="en-US" dirty="0"/>
              <a:t>. So, ISL increases the size of a frame </a:t>
            </a:r>
            <a:r>
              <a:rPr lang="en-US" b="1" dirty="0"/>
              <a:t>30 bytes. 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endParaRPr lang="en-US" b="1" dirty="0"/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dirty="0"/>
              <a:t>ISL support </a:t>
            </a:r>
            <a:r>
              <a:rPr lang="en-US" b="1" dirty="0"/>
              <a:t>1000</a:t>
            </a:r>
            <a:r>
              <a:rPr lang="en-US" dirty="0"/>
              <a:t> </a:t>
            </a:r>
            <a:r>
              <a:rPr lang="en-US" b="1" dirty="0"/>
              <a:t>VLANs </a:t>
            </a:r>
            <a:r>
              <a:rPr lang="en-US" dirty="0"/>
              <a:t>on a trunk port.</a:t>
            </a:r>
          </a:p>
          <a:p>
            <a:pPr algn="just"/>
            <a:endParaRPr lang="en-US" dirty="0"/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dirty="0"/>
              <a:t>We can configure </a:t>
            </a:r>
            <a:r>
              <a:rPr lang="en-US" b="1" dirty="0"/>
              <a:t>ISL </a:t>
            </a:r>
            <a:r>
              <a:rPr lang="en-US" dirty="0"/>
              <a:t>on Cisco switches with the help of “</a:t>
            </a:r>
            <a:r>
              <a:rPr lang="en-US" b="1" dirty="0"/>
              <a:t>switchport trunk encapsulation </a:t>
            </a:r>
            <a:r>
              <a:rPr lang="en-US" b="1" dirty="0" err="1"/>
              <a:t>isl</a:t>
            </a:r>
            <a:r>
              <a:rPr lang="en-US" dirty="0"/>
              <a:t>” command.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B31C333-A929-DD3D-11D3-70742308D4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91375" y="3047999"/>
            <a:ext cx="5000625" cy="2099095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82CDF9-DDC8-587B-CD64-B41DE16E89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1203353"/>
            <a:ext cx="9603275" cy="567081"/>
          </a:xfrm>
        </p:spPr>
        <p:txBody>
          <a:bodyPr/>
          <a:lstStyle/>
          <a:p>
            <a:r>
              <a:rPr lang="en-US" sz="3000" b="1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SELF-ASSESSMENT QUESTIONS</a:t>
            </a:r>
            <a:endParaRPr lang="en-IN" sz="3000" b="1" dirty="0">
              <a:solidFill>
                <a:srgbClr val="C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0DF71D-686E-6C69-5FBF-EAAEAC8EFB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pPr/>
              <a:t>15</a:t>
            </a:fld>
            <a:endParaRPr lang="en-IN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FF6EA41-1230-77F6-EAB2-910DFB6BF9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1945392"/>
            <a:ext cx="9603275" cy="3450613"/>
          </a:xfrm>
        </p:spPr>
        <p:txBody>
          <a:bodyPr>
            <a:noAutofit/>
          </a:bodyPr>
          <a:lstStyle/>
          <a:p>
            <a:pPr marL="342900" lvl="0" indent="-342900" algn="just" fontAlgn="base">
              <a:buFont typeface="+mj-lt"/>
              <a:buAutoNum type="arabicPeriod"/>
            </a:pPr>
            <a:r>
              <a:rPr lang="en-IN" sz="1800" dirty="0"/>
              <a:t>What is a VLAN (Virtual Local Area Network), and what is its purpose in network infrastructure?</a:t>
            </a:r>
          </a:p>
          <a:p>
            <a:pPr marL="342900" lvl="0" indent="-342900" algn="just" fontAlgn="base">
              <a:buFont typeface="+mj-lt"/>
              <a:buAutoNum type="arabicPeriod"/>
            </a:pPr>
            <a:r>
              <a:rPr lang="en-IN" sz="1800" dirty="0"/>
              <a:t>Describe the benefits of implementing VLANs in a network environment.</a:t>
            </a:r>
          </a:p>
          <a:p>
            <a:pPr marL="342900" lvl="0" indent="-342900" algn="just" fontAlgn="base">
              <a:buFont typeface="+mj-lt"/>
              <a:buAutoNum type="arabicPeriod"/>
            </a:pPr>
            <a:r>
              <a:rPr lang="en-IN" sz="1800" dirty="0"/>
              <a:t>How does VLAN tagging work, and why is it necessary for inter-switch communication?</a:t>
            </a:r>
          </a:p>
          <a:p>
            <a:pPr marL="342900" lvl="0" indent="-342900" algn="just" fontAlgn="base">
              <a:buFont typeface="+mj-lt"/>
              <a:buAutoNum type="arabicPeriod"/>
            </a:pPr>
            <a:r>
              <a:rPr lang="en-IN" sz="1800" dirty="0"/>
              <a:t>Explain the difference between access ports and trunk ports in relation to VLANs.</a:t>
            </a:r>
          </a:p>
          <a:p>
            <a:pPr marL="342900" lvl="0" indent="-342900" algn="just" fontAlgn="base">
              <a:buFont typeface="+mj-lt"/>
              <a:buAutoNum type="arabicPeriod"/>
            </a:pPr>
            <a:r>
              <a:rPr lang="en-IN" sz="1800" dirty="0"/>
              <a:t>What are the common methods for VLAN membership assignment on a switch port?</a:t>
            </a:r>
          </a:p>
          <a:p>
            <a:pPr marL="342900" lvl="0" indent="-342900" algn="just" fontAlgn="base">
              <a:buFont typeface="+mj-lt"/>
              <a:buAutoNum type="arabicPeriod"/>
            </a:pPr>
            <a:r>
              <a:rPr lang="en-IN" sz="1800" dirty="0"/>
              <a:t>How does VLAN segmentation enhance network security and isolate network traffic?</a:t>
            </a:r>
          </a:p>
        </p:txBody>
      </p:sp>
    </p:spTree>
    <p:extLst>
      <p:ext uri="{BB962C8B-B14F-4D97-AF65-F5344CB8AC3E}">
        <p14:creationId xmlns:p14="http://schemas.microsoft.com/office/powerpoint/2010/main" val="2366300670"/>
      </p:ext>
    </p:extLst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05E08B-AB6F-9949-3996-71048D030D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000" b="1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REFERENCES FOR FURTHER LEARNING OF THE SESSION</a:t>
            </a:r>
            <a:endParaRPr lang="en-IN" sz="3000" b="1" dirty="0">
              <a:solidFill>
                <a:srgbClr val="C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86811D-092E-E989-454F-68E65DF4CC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pPr/>
              <a:t>16</a:t>
            </a:fld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1A0B57B-FD1F-D26E-7DDA-9CB4D0E6FF4D}"/>
              </a:ext>
            </a:extLst>
          </p:cNvPr>
          <p:cNvSpPr txBox="1"/>
          <p:nvPr/>
        </p:nvSpPr>
        <p:spPr>
          <a:xfrm>
            <a:off x="1491176" y="1955558"/>
            <a:ext cx="9453490" cy="32778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en-US" dirty="0"/>
              <a:t> </a:t>
            </a:r>
            <a:r>
              <a:rPr lang="en-IN" b="1" dirty="0"/>
              <a:t>Reference Books:</a:t>
            </a:r>
          </a:p>
          <a:p>
            <a:pPr fontAlgn="base"/>
            <a:endParaRPr lang="en-IN" dirty="0"/>
          </a:p>
          <a:p>
            <a:pPr fontAlgn="base"/>
            <a:r>
              <a:rPr lang="en-IN" dirty="0"/>
              <a:t>1. Data Communications and Networking, </a:t>
            </a:r>
            <a:r>
              <a:rPr lang="en-IN" dirty="0" err="1"/>
              <a:t>Behrouz</a:t>
            </a:r>
            <a:r>
              <a:rPr lang="en-IN" dirty="0"/>
              <a:t> A. </a:t>
            </a:r>
            <a:r>
              <a:rPr lang="en-IN" dirty="0" err="1"/>
              <a:t>Forouzan</a:t>
            </a:r>
            <a:r>
              <a:rPr lang="en-IN" dirty="0"/>
              <a:t>, 4</a:t>
            </a:r>
            <a:r>
              <a:rPr lang="en-IN" baseline="30000" dirty="0"/>
              <a:t>th</a:t>
            </a:r>
            <a:r>
              <a:rPr lang="en-IN" dirty="0"/>
              <a:t> Edition, McGraw Hill.  </a:t>
            </a:r>
          </a:p>
          <a:p>
            <a:pPr fontAlgn="base"/>
            <a:r>
              <a:rPr lang="en-IN" dirty="0"/>
              <a:t>2. Computer Networks, </a:t>
            </a:r>
            <a:r>
              <a:rPr lang="en-IN" dirty="0" err="1"/>
              <a:t>Tanenbaum</a:t>
            </a:r>
            <a:r>
              <a:rPr lang="en-IN" dirty="0"/>
              <a:t>, 6</a:t>
            </a:r>
            <a:r>
              <a:rPr lang="en-IN" baseline="30000" dirty="0"/>
              <a:t>th</a:t>
            </a:r>
            <a:r>
              <a:rPr lang="en-IN" dirty="0"/>
              <a:t> Edition, Pearson.</a:t>
            </a:r>
          </a:p>
          <a:p>
            <a:pPr fontAlgn="base"/>
            <a:endParaRPr lang="en-IN" dirty="0"/>
          </a:p>
          <a:p>
            <a:pPr fontAlgn="base"/>
            <a:r>
              <a:rPr lang="en-IN" b="1" dirty="0"/>
              <a:t>Sites and Web links:</a:t>
            </a:r>
            <a:endParaRPr lang="en-IN" dirty="0"/>
          </a:p>
          <a:p>
            <a:pPr lvl="0" fontAlgn="base"/>
            <a:endParaRPr lang="en-IN" dirty="0"/>
          </a:p>
          <a:p>
            <a:pPr lvl="0" fontAlgn="base"/>
            <a:r>
              <a:rPr lang="en-IN" dirty="0"/>
              <a:t>CISCO Academy</a:t>
            </a:r>
          </a:p>
          <a:p>
            <a:pPr lvl="0" fontAlgn="base"/>
            <a:r>
              <a:rPr lang="en-IN" dirty="0"/>
              <a:t>NPTEL, Computer Networks and Internet Protocols, Prof. </a:t>
            </a:r>
            <a:r>
              <a:rPr lang="en-IN" dirty="0" err="1"/>
              <a:t>Soumya</a:t>
            </a:r>
            <a:r>
              <a:rPr lang="en-IN" dirty="0"/>
              <a:t> </a:t>
            </a:r>
            <a:r>
              <a:rPr lang="en-IN" dirty="0" err="1"/>
              <a:t>Kanti</a:t>
            </a:r>
            <a:r>
              <a:rPr lang="en-IN" dirty="0"/>
              <a:t> </a:t>
            </a:r>
            <a:r>
              <a:rPr lang="en-IN" dirty="0" err="1"/>
              <a:t>Ghosh</a:t>
            </a:r>
            <a:r>
              <a:rPr lang="en-IN" dirty="0"/>
              <a:t>, Prof. </a:t>
            </a:r>
            <a:r>
              <a:rPr lang="en-IN" dirty="0" err="1"/>
              <a:t>Sandip</a:t>
            </a:r>
            <a:r>
              <a:rPr lang="en-IN" dirty="0"/>
              <a:t> </a:t>
            </a:r>
            <a:r>
              <a:rPr lang="en-IN" dirty="0" err="1"/>
              <a:t>Chakraborty</a:t>
            </a:r>
            <a:r>
              <a:rPr lang="en-IN" dirty="0"/>
              <a:t> IIT </a:t>
            </a:r>
            <a:r>
              <a:rPr lang="en-IN" dirty="0" err="1"/>
              <a:t>Kharagpur</a:t>
            </a:r>
            <a:r>
              <a:rPr lang="en-IN" dirty="0"/>
              <a:t>. (https://nptel.ac.in/courses/106105183)</a:t>
            </a:r>
          </a:p>
          <a:p>
            <a:pPr>
              <a:lnSpc>
                <a:spcPct val="150000"/>
              </a:lnSpc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996400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ounded Rectangle 16"/>
          <p:cNvSpPr/>
          <p:nvPr/>
        </p:nvSpPr>
        <p:spPr>
          <a:xfrm>
            <a:off x="2601913" y="1857375"/>
            <a:ext cx="7920037" cy="2882900"/>
          </a:xfrm>
          <a:prstGeom prst="roundRect">
            <a:avLst/>
          </a:prstGeom>
          <a:solidFill>
            <a:schemeClr val="accent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2400" dirty="0">
              <a:latin typeface="Poppins" pitchFamily="2" charset="77"/>
              <a:cs typeface="Poppins" pitchFamily="2" charset="77"/>
            </a:endParaRPr>
          </a:p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2400" b="1" dirty="0">
              <a:latin typeface="Poppins" pitchFamily="2" charset="77"/>
              <a:cs typeface="Poppins" pitchFamily="2" charset="77"/>
            </a:endParaRPr>
          </a:p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400" b="1" dirty="0">
                <a:latin typeface="Poppins" pitchFamily="2" charset="77"/>
                <a:cs typeface="Poppins" pitchFamily="2" charset="77"/>
              </a:rPr>
              <a:t>THANK YOU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2400" dirty="0">
              <a:latin typeface="Poppins" pitchFamily="2" charset="77"/>
              <a:cs typeface="Poppins" pitchFamily="2" charset="77"/>
            </a:endParaRPr>
          </a:p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2400" dirty="0">
              <a:latin typeface="Poppins" pitchFamily="2" charset="77"/>
              <a:cs typeface="Poppins" pitchFamily="2" charset="77"/>
            </a:endParaRPr>
          </a:p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2400" dirty="0">
              <a:latin typeface="Poppins" pitchFamily="2" charset="77"/>
              <a:cs typeface="Poppins" pitchFamily="2" charset="77"/>
            </a:endParaRPr>
          </a:p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2400" dirty="0">
              <a:latin typeface="Poppins" pitchFamily="2" charset="77"/>
              <a:cs typeface="Poppins" pitchFamily="2" charset="77"/>
            </a:endParaRPr>
          </a:p>
          <a:p>
            <a:pPr lvl="0" algn="ctr" defTabSz="457200">
              <a:defRPr/>
            </a:pPr>
            <a:r>
              <a:rPr lang="en-US" sz="2400" b="1" dirty="0">
                <a:latin typeface="Poppins" pitchFamily="2" charset="77"/>
                <a:cs typeface="Poppins" pitchFamily="2" charset="77"/>
              </a:rPr>
              <a:t>Team – </a:t>
            </a:r>
            <a:r>
              <a:rPr lang="en-IN" sz="2400" b="1" dirty="0">
                <a:solidFill>
                  <a:prstClr val="black"/>
                </a:solidFill>
              </a:rPr>
              <a:t>Networks Protocols &amp; Security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2400" dirty="0">
              <a:solidFill>
                <a:schemeClr val="bg1"/>
              </a:solidFill>
              <a:latin typeface="Poppins" pitchFamily="2" charset="77"/>
              <a:cs typeface="Poppins" pitchFamily="2" charset="77"/>
            </a:endParaRPr>
          </a:p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2400" dirty="0">
              <a:solidFill>
                <a:schemeClr val="bg1"/>
              </a:solidFill>
              <a:latin typeface="Poppins" pitchFamily="2" charset="77"/>
              <a:cs typeface="Poppins" pitchFamily="2" charset="77"/>
            </a:endParaRPr>
          </a:p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2400" dirty="0">
              <a:solidFill>
                <a:schemeClr val="bg1"/>
              </a:solidFill>
              <a:latin typeface="Poppins" pitchFamily="2" charset="77"/>
              <a:cs typeface="Poppins" pitchFamily="2" charset="77"/>
            </a:endParaRPr>
          </a:p>
        </p:txBody>
      </p:sp>
      <p:pic>
        <p:nvPicPr>
          <p:cNvPr id="18" name="Picture 2" descr="KL Deemed to be University Logo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14975" y="2560638"/>
            <a:ext cx="3235325" cy="1082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2713787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24598BE9-BD78-4C1A-902E-0BA786164A9D}" vid="{1551CBD6-114D-4A17-981D-82FBB9D54941}"/>
    </a:ext>
  </a:extLst>
</a:theme>
</file>

<file path=ppt/theme/theme3.xml><?xml version="1.0" encoding="utf-8"?>
<a:theme xmlns:a="http://schemas.openxmlformats.org/drawingml/2006/main" name="1_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24598BE9-BD78-4C1A-902E-0BA786164A9D}" vid="{1551CBD6-114D-4A17-981D-82FBB9D54941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4969</TotalTime>
  <Words>1239</Words>
  <Application>Microsoft Office PowerPoint</Application>
  <PresentationFormat>Widescreen</PresentationFormat>
  <Paragraphs>141</Paragraphs>
  <Slides>17</Slides>
  <Notes>1</Notes>
  <HiddenSlides>6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17</vt:i4>
      </vt:variant>
    </vt:vector>
  </HeadingPairs>
  <TitlesOfParts>
    <vt:vector size="29" baseType="lpstr">
      <vt:lpstr>Aptos</vt:lpstr>
      <vt:lpstr>Arial</vt:lpstr>
      <vt:lpstr>BioRhyme ExtraBold</vt:lpstr>
      <vt:lpstr>Calibri</vt:lpstr>
      <vt:lpstr>Calibri Light</vt:lpstr>
      <vt:lpstr>Gill Sans MT</vt:lpstr>
      <vt:lpstr>Poppins</vt:lpstr>
      <vt:lpstr>Times New Roman</vt:lpstr>
      <vt:lpstr>Wingdings</vt:lpstr>
      <vt:lpstr>Office Theme</vt:lpstr>
      <vt:lpstr>Gallery</vt:lpstr>
      <vt:lpstr>1_Gallery</vt:lpstr>
      <vt:lpstr>PowerPoint Presentation</vt:lpstr>
      <vt:lpstr>PowerPoint Presentation</vt:lpstr>
      <vt:lpstr>PowerPoint Presentation</vt:lpstr>
      <vt:lpstr>Virtual local area network (VLAN)</vt:lpstr>
      <vt:lpstr>Virtual local area network (VLAN)</vt:lpstr>
      <vt:lpstr>PowerPoint Presentation</vt:lpstr>
      <vt:lpstr>example</vt:lpstr>
      <vt:lpstr>Benefits of VLANs </vt:lpstr>
      <vt:lpstr>Benefits of VLANs    contd… </vt:lpstr>
      <vt:lpstr>TYPES OF PORTS IN VLAN</vt:lpstr>
      <vt:lpstr>PowerPoint Presentation</vt:lpstr>
      <vt:lpstr>Frame Tagging</vt:lpstr>
      <vt:lpstr>PowerPoint Presentation</vt:lpstr>
      <vt:lpstr>PowerPoint Presentation</vt:lpstr>
      <vt:lpstr>SELF-ASSESSMENT QUESTIONS</vt:lpstr>
      <vt:lpstr>REFERENCES FOR FURTHER LEARNING OF THE SESSION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IPv4 ADDRESSES</dc:title>
  <dc:creator>preetham chiramana</dc:creator>
  <cp:lastModifiedBy>GORLA VENKATA GANESH</cp:lastModifiedBy>
  <cp:revision>84</cp:revision>
  <dcterms:created xsi:type="dcterms:W3CDTF">2020-11-27T11:49:36Z</dcterms:created>
  <dcterms:modified xsi:type="dcterms:W3CDTF">2025-12-17T06:33:01Z</dcterms:modified>
</cp:coreProperties>
</file>