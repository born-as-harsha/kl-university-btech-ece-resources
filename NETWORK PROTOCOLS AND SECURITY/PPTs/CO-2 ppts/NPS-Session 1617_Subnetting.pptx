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37"/>
  </p:notesMasterIdLst>
  <p:sldIdLst>
    <p:sldId id="335" r:id="rId4"/>
    <p:sldId id="336" r:id="rId5"/>
    <p:sldId id="266" r:id="rId6"/>
    <p:sldId id="299" r:id="rId7"/>
    <p:sldId id="301" r:id="rId8"/>
    <p:sldId id="302" r:id="rId9"/>
    <p:sldId id="323" r:id="rId10"/>
    <p:sldId id="304" r:id="rId11"/>
    <p:sldId id="311" r:id="rId12"/>
    <p:sldId id="312" r:id="rId13"/>
    <p:sldId id="313" r:id="rId14"/>
    <p:sldId id="314" r:id="rId15"/>
    <p:sldId id="315" r:id="rId16"/>
    <p:sldId id="305" r:id="rId17"/>
    <p:sldId id="306" r:id="rId18"/>
    <p:sldId id="322" r:id="rId19"/>
    <p:sldId id="324" r:id="rId20"/>
    <p:sldId id="325" r:id="rId21"/>
    <p:sldId id="334" r:id="rId22"/>
    <p:sldId id="307" r:id="rId23"/>
    <p:sldId id="308" r:id="rId24"/>
    <p:sldId id="326" r:id="rId25"/>
    <p:sldId id="327" r:id="rId26"/>
    <p:sldId id="328" r:id="rId27"/>
    <p:sldId id="329" r:id="rId28"/>
    <p:sldId id="330" r:id="rId29"/>
    <p:sldId id="332" r:id="rId30"/>
    <p:sldId id="300" r:id="rId31"/>
    <p:sldId id="333" r:id="rId32"/>
    <p:sldId id="337" r:id="rId33"/>
    <p:sldId id="338" r:id="rId34"/>
    <p:sldId id="339" r:id="rId35"/>
    <p:sldId id="34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B904A-3BB2-69EA-FE91-615C55AA6E72}" v="1" dt="2024-09-30T06:58:32.486"/>
    <p1510:client id="{E8D00F4F-44A8-5187-ED5C-D2519DEAD96C}" v="2" dt="2024-09-30T17:10:07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E70C7-1055-414D-8F32-65BD46DFD2CD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465E5-7E7B-48FE-BED4-622B820146D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C710-8A03-43F7-87FC-9A20B3428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2C650-C3E1-49BA-84B5-13D667EBB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07FB8-FF44-43A4-B6DD-261A41D5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FBD15-C9B5-4D40-89E1-EB2DAA3B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90373-DCC0-4463-AFEC-1A11EC27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23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2C8A-5DFF-4629-B8D3-5EC818179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D8A33-983B-42C1-9549-B27BEADC6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406A-C38C-4F08-B030-A992244E3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5FE4-06CE-49DE-8369-FC12CF5EE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9806B-3B93-4C0A-90B8-E0E070C7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226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CE8A-23AE-4EFB-A239-5938D641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CE955-965E-4330-B4DC-0E5A86B12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FB82E-857F-4DFB-A2AC-78C5D722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76137-86D4-4A53-9C94-07549B09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EF0AA-9F8E-455B-9454-9CE885859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54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530D-4BA5-4245-AF29-EB69491A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950BC-812D-460E-B708-699B726A8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4F6AF-7F40-44C4-8C82-183487EF6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51EFD-A77C-4D31-B7E5-A8F40501E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BF569-15E9-4AFE-B4BE-1CFA96C8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AE028-F8DE-4053-9D10-C94F718A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1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3720-F4CB-4710-A336-7C40782B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F798C-B6F4-457E-B486-C1BA749AD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F5C8F-6E7F-43AC-A26B-D8AD24B0A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BE0780-DE03-4673-B3FA-E1A0605D25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FF04A-3CE4-43A6-A088-70DE06C15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FB65A-737D-40B0-AD7A-6D241EBF1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6517C-E3A5-46EE-909C-AC99AC3F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57135A-4223-4F3A-9682-F3F5F7E3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09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0012-F515-434B-A3CE-92655A37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98FF76-6AC7-4C15-9499-0D488627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069038-5F1F-4A32-BB97-007670DD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F4DB4-F984-4EDB-A1FD-9BCDD085B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93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551E66-A773-4018-B16C-F210E2FA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613640-6F39-4AD6-B71E-71E7F037A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FF8FA-7878-450F-9C4E-DB832153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791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795B6-5A08-49B5-9DDA-6636C706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D4F31-0663-4374-807E-A0CB04B11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34593-E7CD-4A8B-BCD4-E2054D36C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AA6E2-AB46-4A94-B0A9-4C60E482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73466-AE2F-46B9-8EC0-64B6347B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9214C-B00F-4482-87FE-E342279D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532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E53A-3027-40B5-8F24-90985CFC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F1373-FDC6-4C59-B9BC-E5125FF25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2F20D-D771-475A-94AC-8004EBDCD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F1E10-EAB4-4BCE-B2C6-9E88AAD24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CA479-9D3C-44B2-98A0-0518AF3C2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73288-0061-4E3B-80A7-2A980552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645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495C-B9C1-4F9E-93A1-880A965C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F215C-BE9D-493A-833A-DF7B79B88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483C6-CE5D-4850-A4E5-6004B377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B9A58-869D-4A4A-BE7C-068BE1A4A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316F3-3A64-4F73-9120-D3209C28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635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16A5F-3828-4045-AAF2-B23118298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2C32C-AAE9-483D-B572-69BF15D2F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9907F-7C40-4E1B-82C6-678790E01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F09B2-A9B3-4112-A01C-BAD97EF0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5E88-CD61-40A9-BCAC-40D3125E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252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84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390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727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195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00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404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3348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2368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9181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467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5020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46513" y="2032492"/>
            <a:ext cx="8898972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136181" y="3497291"/>
            <a:ext cx="5919636" cy="552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9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14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1516">
              <a:lnSpc>
                <a:spcPts val="2095"/>
              </a:lnSpc>
            </a:pPr>
            <a:r>
              <a:rPr lang="en-IN" spc="-5"/>
              <a:t>19.</a:t>
            </a:r>
            <a:fld id="{81D60167-4931-47E6-BA6A-407CBD079E47}" type="slidenum">
              <a:rPr spc="-5" smtClean="0"/>
              <a:pPr marL="11516">
                <a:lnSpc>
                  <a:spcPts val="2095"/>
                </a:lnSpc>
              </a:pPr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071926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3134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4185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543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6565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1402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1271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885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3982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1510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8730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0169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535A4-12CE-4EDF-98BA-89EE03DE5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4B3F-0F85-4156-94AA-BF51BB901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EBDCD-3726-4EAD-9BA7-34731AAC4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56623-7ECF-418A-B977-471006081233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EC324-7120-4290-8712-FCB1F8154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4A829-8DB7-4402-ABEA-2BA17B50A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E1D36-C63F-4B2E-8779-B3506717367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87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3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0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lvl="1" algn="ctr"/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IPv4 and IPv6 Headers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512870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16&amp;17 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IPv4 and IPv6 header formats</a:t>
            </a:r>
            <a:r>
              <a:rPr lang="en-US" sz="1600" dirty="0">
                <a:latin typeface="Poppins"/>
                <a:cs typeface="Poppins"/>
              </a:rPr>
              <a:t>.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responsibilities of IP protocol.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fields of IPv4 header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</a:p>
          <a:p>
            <a:pPr marL="342900" indent="-342900">
              <a:buFontTx/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the </a:t>
            </a:r>
            <a:r>
              <a:rPr lang="en-US" sz="1600" dirty="0">
                <a:latin typeface="Arial" panose="020B0604020202020204" pitchFamily="34" charset="0"/>
              </a:rPr>
              <a:t>fields of IPv6 header.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Illustrate the header formats of IPv4 </a:t>
            </a:r>
            <a:r>
              <a:rPr lang="en-US" sz="1600" dirty="0">
                <a:latin typeface="Arial" panose="020B0604020202020204" pitchFamily="34" charset="0"/>
              </a:rPr>
              <a:t>and IPv6.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Understand the importance of each field in IPv4 and IPv6 headers.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35960"/>
            <a:ext cx="5448694" cy="346464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78125" algn="l"/>
              </a:tabLst>
            </a:pPr>
            <a:r>
              <a:rPr sz="2176" spc="-5" dirty="0">
                <a:solidFill>
                  <a:srgbClr val="3333CC"/>
                </a:solidFill>
              </a:rPr>
              <a:t>	</a:t>
            </a:r>
            <a:r>
              <a:rPr sz="1814" i="1" spc="-5" dirty="0">
                <a:latin typeface="Times New Roman"/>
                <a:cs typeface="Times New Roman"/>
              </a:rPr>
              <a:t>IPv4 datagram</a:t>
            </a:r>
            <a:r>
              <a:rPr sz="1814" i="1" spc="-45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format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85709" y="1824193"/>
            <a:ext cx="5743445" cy="39510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6496658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78125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Service type or differentiated</a:t>
            </a:r>
            <a:r>
              <a:rPr sz="1814" i="1" spc="-32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services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61559" y="2790186"/>
            <a:ext cx="7020380" cy="1188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3667" y="1575305"/>
            <a:ext cx="3593321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350869" algn="l"/>
              </a:tabLst>
            </a:pPr>
            <a:r>
              <a:rPr sz="1814" i="1" spc="-18" dirty="0">
                <a:latin typeface="Times New Roman"/>
                <a:cs typeface="Times New Roman"/>
              </a:rPr>
              <a:t>Types </a:t>
            </a:r>
            <a:r>
              <a:rPr sz="1814" i="1" spc="-5" dirty="0">
                <a:latin typeface="Times New Roman"/>
                <a:cs typeface="Times New Roman"/>
              </a:rPr>
              <a:t>of</a:t>
            </a:r>
            <a:r>
              <a:rPr sz="1814" i="1" spc="-23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service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84983" y="1949260"/>
            <a:ext cx="4850005" cy="3251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73" y="1161518"/>
            <a:ext cx="4038941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350869" algn="l"/>
              </a:tabLst>
            </a:pPr>
            <a:r>
              <a:rPr sz="1814" i="1" spc="-36" dirty="0">
                <a:latin typeface="Times New Roman"/>
                <a:cs typeface="Times New Roman"/>
              </a:rPr>
              <a:t>Values </a:t>
            </a:r>
            <a:r>
              <a:rPr sz="1814" i="1" spc="-5" dirty="0">
                <a:latin typeface="Times New Roman"/>
                <a:cs typeface="Times New Roman"/>
              </a:rPr>
              <a:t>for</a:t>
            </a:r>
            <a:r>
              <a:rPr sz="1814" i="1" spc="-14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codepoints</a:t>
            </a:r>
            <a:endParaRPr sz="1814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50232" y="1870488"/>
            <a:ext cx="8291788" cy="3431879"/>
            <a:chOff x="774839" y="2062733"/>
            <a:chExt cx="9144000" cy="3784600"/>
          </a:xfrm>
        </p:grpSpPr>
        <p:sp>
          <p:nvSpPr>
            <p:cNvPr id="4" name="object 4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137801" y="2101595"/>
              <a:ext cx="5109971" cy="37452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2700" marR="0" lvl="0" indent="0" algn="l" defTabSz="914400" rtl="0" eaLnBrk="1" fontAlgn="auto" latinLnBrk="0" hangingPunct="1">
                <a:lnSpc>
                  <a:spcPts val="231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C3E44-3E67-4A6C-9924-4F213312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95FBD1-C093-40C1-A50D-B60692884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2157412"/>
            <a:ext cx="739140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0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7946297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78125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Encapsulation of a small datagram in an Ethernet</a:t>
            </a:r>
            <a:r>
              <a:rPr sz="1814" i="1" spc="27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frame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51999" y="2665809"/>
            <a:ext cx="7882726" cy="11131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2700" marR="0" lvl="0" indent="0" algn="l" defTabSz="914400" rtl="0" eaLnBrk="1" fontAlgn="auto" latinLnBrk="0" hangingPunct="1">
                <a:lnSpc>
                  <a:spcPts val="231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756781"/>
            <a:ext cx="4445896" cy="625643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78125" algn="l"/>
              </a:tabLst>
            </a:pPr>
            <a:r>
              <a:rPr sz="2176" spc="-14" dirty="0">
                <a:solidFill>
                  <a:srgbClr val="3333CC"/>
                </a:solidFill>
              </a:rPr>
              <a:t>Figure</a:t>
            </a:r>
            <a:r>
              <a:rPr sz="2176" spc="-5" dirty="0">
                <a:solidFill>
                  <a:srgbClr val="3333CC"/>
                </a:solidFill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Maximum transfer unit</a:t>
            </a:r>
            <a:r>
              <a:rPr sz="1814" i="1" spc="-50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(MTU)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07050" y="2686539"/>
            <a:ext cx="6398496" cy="1568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8963" y="1091617"/>
            <a:ext cx="3760672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350869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MTUs for some</a:t>
            </a:r>
            <a:r>
              <a:rPr sz="1814" i="1" spc="-18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networks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90737" y="1420660"/>
            <a:ext cx="5776613" cy="4285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152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4319216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Flags used in</a:t>
            </a:r>
            <a:r>
              <a:rPr sz="1814" i="1" spc="-23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fragmentation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1316" y="3092146"/>
            <a:ext cx="5009621" cy="666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81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3895989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01350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Fragmentation</a:t>
            </a:r>
            <a:r>
              <a:rPr sz="1814" i="1" spc="-32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example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84169" y="2284388"/>
            <a:ext cx="7028673" cy="27307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751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88428" y="351018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98021" y="677028"/>
            <a:ext cx="4681981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Detailed fragmentation</a:t>
            </a:r>
            <a:r>
              <a:rPr sz="1814" i="1" spc="-32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example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1137357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88428" y="1403386"/>
            <a:ext cx="7946297" cy="4752231"/>
            <a:chOff x="927239" y="1547622"/>
            <a:chExt cx="8763000" cy="5240655"/>
          </a:xfrm>
        </p:grpSpPr>
        <p:sp>
          <p:nvSpPr>
            <p:cNvPr id="6" name="object 6"/>
            <p:cNvSpPr/>
            <p:nvPr/>
          </p:nvSpPr>
          <p:spPr>
            <a:xfrm>
              <a:off x="1514741" y="1547622"/>
              <a:ext cx="6956297" cy="512597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927239" y="67116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7140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4956647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78125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Protocol field and encapsulated</a:t>
            </a:r>
            <a:r>
              <a:rPr sz="1814" i="1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data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16645" y="2621586"/>
            <a:ext cx="6996196" cy="19789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9103" y="1144661"/>
            <a:ext cx="2827270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350869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Protocol</a:t>
            </a:r>
            <a:r>
              <a:rPr sz="1814" i="1" spc="-50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values</a:t>
            </a:r>
            <a:endParaRPr sz="1814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50232" y="1870489"/>
            <a:ext cx="8291788" cy="3697907"/>
            <a:chOff x="774839" y="2062733"/>
            <a:chExt cx="9144000" cy="4077970"/>
          </a:xfrm>
        </p:grpSpPr>
        <p:sp>
          <p:nvSpPr>
            <p:cNvPr id="4" name="object 4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886341" y="2192273"/>
              <a:ext cx="5127497" cy="39479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2" y="1091617"/>
            <a:ext cx="4367584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23" dirty="0">
                <a:latin typeface="Times New Roman"/>
                <a:cs typeface="Times New Roman"/>
              </a:rPr>
              <a:t>Taxonomy </a:t>
            </a:r>
            <a:r>
              <a:rPr sz="1814" i="1" spc="-5" dirty="0">
                <a:latin typeface="Times New Roman"/>
                <a:cs typeface="Times New Roman"/>
              </a:rPr>
              <a:t>of options in</a:t>
            </a:r>
            <a:r>
              <a:rPr sz="1814" i="1" spc="-36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IPv4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03018" y="2043925"/>
            <a:ext cx="6647941" cy="3244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D2BB-BD97-4C82-84AC-AE54F3EA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IPV6</a:t>
            </a:r>
          </a:p>
        </p:txBody>
      </p:sp>
      <p:sp>
        <p:nvSpPr>
          <p:cNvPr id="3" name="object 11">
            <a:extLst>
              <a:ext uri="{FF2B5EF4-FFF2-40B4-BE49-F238E27FC236}">
                <a16:creationId xmlns:a16="http://schemas.microsoft.com/office/drawing/2014/main" id="{1D73A89C-82EE-4FF3-A23B-73D9A6F5E14A}"/>
              </a:ext>
            </a:extLst>
          </p:cNvPr>
          <p:cNvSpPr txBox="1"/>
          <p:nvPr/>
        </p:nvSpPr>
        <p:spPr>
          <a:xfrm>
            <a:off x="1158373" y="1894586"/>
            <a:ext cx="10019910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Despite all short-term solutions, address depletion is  still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long-term problem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 </a:t>
            </a: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Internet.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 </a:t>
            </a: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  other problems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 </a:t>
            </a: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IP protocol itself have been the  motivation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</a:t>
            </a:r>
            <a:r>
              <a:rPr kumimoji="0" sz="2800" b="1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IPv6.</a:t>
            </a:r>
            <a:endParaRPr kumimoji="0" lang="en-IN" sz="2800" b="1" i="1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5080" lvl="0" indent="0" algn="just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 IPv6 address is 128 bits long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5020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4574" y="1292354"/>
            <a:ext cx="6875275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IPv6 address in binary and hexadecimal colon</a:t>
            </a:r>
            <a:r>
              <a:rPr sz="1814" i="1" spc="23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notation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14493" y="2100307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4822" y="2526232"/>
            <a:ext cx="7245640" cy="15906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4572" y="2828836"/>
            <a:ext cx="110712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leading zeros of a section (four digits between two colons) can be omitted. Only the leading zeros can be dropped, not the trailing zeros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929" y="1165551"/>
            <a:ext cx="4237449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Abbreviated IPv6</a:t>
            </a:r>
            <a:r>
              <a:rPr sz="1814" i="1" spc="-27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addresses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31574" y="1893059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72116" y="2092986"/>
            <a:ext cx="6623756" cy="2981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019330" y="1093826"/>
            <a:ext cx="8015395" cy="523419"/>
            <a:chOff x="851039" y="1206246"/>
            <a:chExt cx="8839200" cy="577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57150"/>
            </a:xfrm>
            <a:custGeom>
              <a:avLst/>
              <a:gdLst/>
              <a:ahLst/>
              <a:cxnLst/>
              <a:rect l="l" t="t" r="r" b="b"/>
              <a:pathLst>
                <a:path w="422275" h="57150">
                  <a:moveTo>
                    <a:pt x="0" y="57149"/>
                  </a:moveTo>
                  <a:lnTo>
                    <a:pt x="422147" y="57149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635899" y="1206246"/>
              <a:ext cx="368045" cy="1478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51039" y="1206246"/>
              <a:ext cx="560832" cy="2285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86547" y="1206246"/>
              <a:ext cx="31750" cy="57150"/>
            </a:xfrm>
            <a:custGeom>
              <a:avLst/>
              <a:gdLst/>
              <a:ahLst/>
              <a:cxnLst/>
              <a:rect l="l" t="t" r="r" b="b"/>
              <a:pathLst>
                <a:path w="31750" h="57150">
                  <a:moveTo>
                    <a:pt x="0" y="57149"/>
                  </a:moveTo>
                  <a:lnTo>
                    <a:pt x="31241" y="57149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571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03439" y="1263396"/>
              <a:ext cx="8686800" cy="520065"/>
            </a:xfrm>
            <a:custGeom>
              <a:avLst/>
              <a:gdLst/>
              <a:ahLst/>
              <a:cxnLst/>
              <a:rect l="l" t="t" r="r" b="b"/>
              <a:pathLst>
                <a:path w="8686800" h="520064">
                  <a:moveTo>
                    <a:pt x="8686800" y="519683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519684"/>
                  </a:lnTo>
                  <a:lnTo>
                    <a:pt x="8686800" y="5196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9" name="object 9"/>
          <p:cNvSpPr/>
          <p:nvPr/>
        </p:nvSpPr>
        <p:spPr>
          <a:xfrm>
            <a:off x="1950232" y="2647855"/>
            <a:ext cx="8291788" cy="1555862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9825" y="1164535"/>
            <a:ext cx="7733820" cy="2746864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80615" marR="0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Expand the address 0:15::1:12:1213 to its</a:t>
            </a:r>
            <a:r>
              <a:rPr kumimoji="0" sz="2539" b="1" i="1" u="none" strike="noStrike" kern="1200" cap="none" spc="-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original.</a:t>
            </a:r>
            <a:endParaRPr kumimoji="0" sz="253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53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Solution</a:t>
            </a:r>
            <a:endParaRPr kumimoji="0" sz="253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4607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first need to align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left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side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the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double colon to  the left of the original pattern and the right side of the  double colon to the right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original pattern to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find  how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many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0s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need to replace the double</a:t>
            </a:r>
            <a:r>
              <a:rPr kumimoji="0" sz="2539" b="1" i="1" u="none" strike="noStrike" kern="1200" cap="none" spc="-13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colon.</a:t>
            </a:r>
            <a:endParaRPr kumimoji="0" sz="253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14413" y="4030500"/>
            <a:ext cx="4763172" cy="690982"/>
            <a:chOff x="2720339" y="4444746"/>
            <a:chExt cx="5252720" cy="762000"/>
          </a:xfrm>
        </p:grpSpPr>
        <p:sp>
          <p:nvSpPr>
            <p:cNvPr id="12" name="object 12"/>
            <p:cNvSpPr/>
            <p:nvPr/>
          </p:nvSpPr>
          <p:spPr>
            <a:xfrm>
              <a:off x="2720340" y="4444758"/>
              <a:ext cx="5252720" cy="190500"/>
            </a:xfrm>
            <a:custGeom>
              <a:avLst/>
              <a:gdLst/>
              <a:ahLst/>
              <a:cxnLst/>
              <a:rect l="l" t="t" r="r" b="b"/>
              <a:pathLst>
                <a:path w="5252720" h="190500">
                  <a:moveTo>
                    <a:pt x="57150" y="45720"/>
                  </a:moveTo>
                  <a:lnTo>
                    <a:pt x="45720" y="45720"/>
                  </a:lnTo>
                  <a:lnTo>
                    <a:pt x="45720" y="190500"/>
                  </a:lnTo>
                  <a:lnTo>
                    <a:pt x="57150" y="190500"/>
                  </a:lnTo>
                  <a:lnTo>
                    <a:pt x="57150" y="45720"/>
                  </a:lnTo>
                  <a:close/>
                </a:path>
                <a:path w="5252720" h="190500">
                  <a:moveTo>
                    <a:pt x="5252720" y="0"/>
                  </a:moveTo>
                  <a:lnTo>
                    <a:pt x="521843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90500"/>
                  </a:lnTo>
                  <a:lnTo>
                    <a:pt x="34290" y="190500"/>
                  </a:lnTo>
                  <a:lnTo>
                    <a:pt x="34290" y="34290"/>
                  </a:lnTo>
                  <a:lnTo>
                    <a:pt x="5218430" y="34290"/>
                  </a:lnTo>
                  <a:lnTo>
                    <a:pt x="5218430" y="190500"/>
                  </a:lnTo>
                  <a:lnTo>
                    <a:pt x="5252720" y="190500"/>
                  </a:lnTo>
                  <a:lnTo>
                    <a:pt x="52527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777489" y="4490466"/>
              <a:ext cx="5138420" cy="6591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720340" y="4490478"/>
              <a:ext cx="5252720" cy="716280"/>
            </a:xfrm>
            <a:custGeom>
              <a:avLst/>
              <a:gdLst/>
              <a:ahLst/>
              <a:cxnLst/>
              <a:rect l="l" t="t" r="r" b="b"/>
              <a:pathLst>
                <a:path w="5252720" h="716279">
                  <a:moveTo>
                    <a:pt x="5207000" y="0"/>
                  </a:moveTo>
                  <a:lnTo>
                    <a:pt x="5195570" y="0"/>
                  </a:lnTo>
                  <a:lnTo>
                    <a:pt x="5195570" y="144780"/>
                  </a:lnTo>
                  <a:lnTo>
                    <a:pt x="5195570" y="659130"/>
                  </a:lnTo>
                  <a:lnTo>
                    <a:pt x="57150" y="659130"/>
                  </a:lnTo>
                  <a:lnTo>
                    <a:pt x="57150" y="144780"/>
                  </a:lnTo>
                  <a:lnTo>
                    <a:pt x="45720" y="144780"/>
                  </a:lnTo>
                  <a:lnTo>
                    <a:pt x="45720" y="670560"/>
                  </a:lnTo>
                  <a:lnTo>
                    <a:pt x="57150" y="670560"/>
                  </a:lnTo>
                  <a:lnTo>
                    <a:pt x="5195570" y="670560"/>
                  </a:lnTo>
                  <a:lnTo>
                    <a:pt x="5207000" y="670560"/>
                  </a:lnTo>
                  <a:lnTo>
                    <a:pt x="5207000" y="144780"/>
                  </a:lnTo>
                  <a:lnTo>
                    <a:pt x="5207000" y="0"/>
                  </a:lnTo>
                  <a:close/>
                </a:path>
                <a:path w="5252720" h="716279">
                  <a:moveTo>
                    <a:pt x="5252720" y="144780"/>
                  </a:moveTo>
                  <a:lnTo>
                    <a:pt x="5218430" y="144780"/>
                  </a:lnTo>
                  <a:lnTo>
                    <a:pt x="5218430" y="681990"/>
                  </a:lnTo>
                  <a:lnTo>
                    <a:pt x="34290" y="681990"/>
                  </a:lnTo>
                  <a:lnTo>
                    <a:pt x="34290" y="144780"/>
                  </a:lnTo>
                  <a:lnTo>
                    <a:pt x="0" y="144780"/>
                  </a:lnTo>
                  <a:lnTo>
                    <a:pt x="0" y="716280"/>
                  </a:lnTo>
                  <a:lnTo>
                    <a:pt x="34290" y="716280"/>
                  </a:lnTo>
                  <a:lnTo>
                    <a:pt x="5218430" y="716280"/>
                  </a:lnTo>
                  <a:lnTo>
                    <a:pt x="5252720" y="716280"/>
                  </a:lnTo>
                  <a:lnTo>
                    <a:pt x="5252720" y="14478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59824" y="4895840"/>
            <a:ext cx="5243405" cy="402376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 means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that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original address</a:t>
            </a:r>
            <a:r>
              <a:rPr kumimoji="0" sz="2539" b="1" i="1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is.</a:t>
            </a:r>
            <a:endParaRPr kumimoji="0" sz="253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31688" y="5523713"/>
            <a:ext cx="4729774" cy="372555"/>
            <a:chOff x="2739389" y="6091428"/>
            <a:chExt cx="5215890" cy="410845"/>
          </a:xfrm>
        </p:grpSpPr>
        <p:sp>
          <p:nvSpPr>
            <p:cNvPr id="17" name="object 17"/>
            <p:cNvSpPr/>
            <p:nvPr/>
          </p:nvSpPr>
          <p:spPr>
            <a:xfrm>
              <a:off x="2739389" y="6091428"/>
              <a:ext cx="34290" cy="258445"/>
            </a:xfrm>
            <a:custGeom>
              <a:avLst/>
              <a:gdLst/>
              <a:ahLst/>
              <a:cxnLst/>
              <a:rect l="l" t="t" r="r" b="b"/>
              <a:pathLst>
                <a:path w="34289" h="258445">
                  <a:moveTo>
                    <a:pt x="0" y="0"/>
                  </a:moveTo>
                  <a:lnTo>
                    <a:pt x="0" y="258318"/>
                  </a:lnTo>
                  <a:lnTo>
                    <a:pt x="34289" y="258318"/>
                  </a:lnTo>
                  <a:lnTo>
                    <a:pt x="342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773679" y="6091428"/>
              <a:ext cx="5147310" cy="3535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739390" y="6091440"/>
              <a:ext cx="5215890" cy="410845"/>
            </a:xfrm>
            <a:custGeom>
              <a:avLst/>
              <a:gdLst/>
              <a:ahLst/>
              <a:cxnLst/>
              <a:rect l="l" t="t" r="r" b="b"/>
              <a:pathLst>
                <a:path w="5215890" h="410845">
                  <a:moveTo>
                    <a:pt x="5170170" y="45720"/>
                  </a:moveTo>
                  <a:lnTo>
                    <a:pt x="5158740" y="45720"/>
                  </a:lnTo>
                  <a:lnTo>
                    <a:pt x="5158740" y="57150"/>
                  </a:lnTo>
                  <a:lnTo>
                    <a:pt x="5158740" y="258318"/>
                  </a:lnTo>
                  <a:lnTo>
                    <a:pt x="5158740" y="353568"/>
                  </a:lnTo>
                  <a:lnTo>
                    <a:pt x="57150" y="353568"/>
                  </a:lnTo>
                  <a:lnTo>
                    <a:pt x="57150" y="258318"/>
                  </a:lnTo>
                  <a:lnTo>
                    <a:pt x="57150" y="57150"/>
                  </a:lnTo>
                  <a:lnTo>
                    <a:pt x="5158740" y="57150"/>
                  </a:lnTo>
                  <a:lnTo>
                    <a:pt x="515874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258318"/>
                  </a:lnTo>
                  <a:lnTo>
                    <a:pt x="45720" y="364998"/>
                  </a:lnTo>
                  <a:lnTo>
                    <a:pt x="57150" y="364998"/>
                  </a:lnTo>
                  <a:lnTo>
                    <a:pt x="5158740" y="364998"/>
                  </a:lnTo>
                  <a:lnTo>
                    <a:pt x="5170170" y="364998"/>
                  </a:lnTo>
                  <a:lnTo>
                    <a:pt x="5170170" y="258318"/>
                  </a:lnTo>
                  <a:lnTo>
                    <a:pt x="5170170" y="45720"/>
                  </a:lnTo>
                  <a:close/>
                </a:path>
                <a:path w="5215890" h="410845">
                  <a:moveTo>
                    <a:pt x="5215890" y="0"/>
                  </a:moveTo>
                  <a:lnTo>
                    <a:pt x="5181600" y="0"/>
                  </a:lnTo>
                  <a:lnTo>
                    <a:pt x="5181600" y="258318"/>
                  </a:lnTo>
                  <a:lnTo>
                    <a:pt x="5181600" y="376428"/>
                  </a:lnTo>
                  <a:lnTo>
                    <a:pt x="34290" y="376428"/>
                  </a:lnTo>
                  <a:lnTo>
                    <a:pt x="34290" y="258318"/>
                  </a:lnTo>
                  <a:lnTo>
                    <a:pt x="0" y="258318"/>
                  </a:lnTo>
                  <a:lnTo>
                    <a:pt x="0" y="410718"/>
                  </a:lnTo>
                  <a:lnTo>
                    <a:pt x="34290" y="410718"/>
                  </a:lnTo>
                  <a:lnTo>
                    <a:pt x="5181600" y="410718"/>
                  </a:lnTo>
                  <a:lnTo>
                    <a:pt x="5215890" y="410718"/>
                  </a:lnTo>
                  <a:lnTo>
                    <a:pt x="5215890" y="258318"/>
                  </a:lnTo>
                  <a:lnTo>
                    <a:pt x="521589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603" y="1113756"/>
            <a:ext cx="10001667" cy="441935"/>
          </a:xfrm>
          <a:prstGeom prst="rect">
            <a:avLst/>
          </a:prstGeom>
        </p:spPr>
        <p:txBody>
          <a:bodyPr vert="horz" wrap="square" lIns="0" tIns="10941" rIns="0" bIns="0" rtlCol="0" anchor="b">
            <a:spAutoFit/>
          </a:bodyPr>
          <a:lstStyle/>
          <a:p>
            <a:pPr marL="284454">
              <a:spcBef>
                <a:spcPts val="86"/>
              </a:spcBef>
              <a:tabLst>
                <a:tab pos="1235130" algn="l"/>
              </a:tabLst>
            </a:pPr>
            <a:r>
              <a:rPr spc="-5" dirty="0"/>
              <a:t>IPv6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85627" y="2016795"/>
            <a:ext cx="8842054" cy="374047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4607" lvl="0" indent="0" algn="just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network layer protocol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TCP/IP protocol  suite is currently IPv4. Although IPv4 is well designed,  data communication has evolved since the inception of  IPv4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1970s. IPv4 has some deficiencies that 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make it unsuitable for the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fast-growing</a:t>
            </a:r>
            <a:r>
              <a:rPr kumimoji="0" sz="2539" b="1" i="1" u="none" strike="noStrike" kern="1200" cap="none" spc="-9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-1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Internet..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1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6852" marR="0" lvl="0" indent="0" algn="l" defTabSz="457200" rtl="0" eaLnBrk="1" fontAlgn="auto" latinLnBrk="0" hangingPunct="1">
              <a:lnSpc>
                <a:spcPct val="100000"/>
              </a:lnSpc>
              <a:spcBef>
                <a:spcPts val="1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heavy" strike="noStrike" kern="1200" cap="none" spc="-4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Topics </a:t>
            </a:r>
            <a:r>
              <a:rPr kumimoji="0" sz="2539" b="1" i="1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discussed in this</a:t>
            </a:r>
            <a:r>
              <a:rPr kumimoji="0" sz="2539" b="1" i="1" u="heavy" strike="noStrike" kern="1200" cap="none" spc="-2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section: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5081018" lvl="0" indent="0" algn="l" defTabSz="457200" rtl="0" eaLnBrk="1" fontAlgn="auto" latinLnBrk="0" hangingPunct="1">
              <a:lnSpc>
                <a:spcPct val="100000"/>
              </a:lnSpc>
              <a:spcBef>
                <a:spcPts val="36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76" b="1" i="0" u="none" strike="noStrike" kern="1200" cap="none" spc="-9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Advantages  </a:t>
            </a:r>
            <a:r>
              <a:rPr kumimoji="0" sz="2176" b="1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Packet </a:t>
            </a:r>
            <a:r>
              <a:rPr kumimoji="0" sz="2176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Format  </a:t>
            </a:r>
            <a:r>
              <a:rPr kumimoji="0" sz="2176" b="1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Extension</a:t>
            </a:r>
            <a:r>
              <a:rPr kumimoji="0" sz="2176" b="1" i="0" u="none" strike="noStrike" kern="1200" cap="none" spc="-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176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Headers</a:t>
            </a:r>
            <a:endParaRPr kumimoji="0" sz="217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50232" y="5757265"/>
            <a:ext cx="8291788" cy="778506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021" y="1091617"/>
            <a:ext cx="4966436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IPv6 datagram header and</a:t>
            </a:r>
            <a:r>
              <a:rPr sz="1814" i="1" spc="-14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payload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4821" y="2389416"/>
            <a:ext cx="6747443" cy="23555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6499" y="844179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6092" y="1170189"/>
            <a:ext cx="4367009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Format of an IPv6</a:t>
            </a:r>
            <a:r>
              <a:rPr sz="1814" i="1" spc="-14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datagram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6499" y="1630518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34293" y="2118453"/>
            <a:ext cx="6337787" cy="38893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8428" y="6086172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155" y="1172501"/>
            <a:ext cx="8033103" cy="380960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350869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Next header codes for</a:t>
            </a:r>
            <a:r>
              <a:rPr sz="2400" i="1" spc="-18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IPv6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2831" y="1958260"/>
            <a:ext cx="5376534" cy="48258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585" y="1084667"/>
            <a:ext cx="7831611" cy="380960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350869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Priorities for congestion-controlled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i="1" spc="-9" dirty="0">
                <a:latin typeface="Times New Roman"/>
                <a:cs typeface="Times New Roman"/>
              </a:rPr>
              <a:t>traffic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85631" y="1849349"/>
            <a:ext cx="8817663" cy="29623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6D7221B-8D37-482F-8633-C9E28DB96EB2}"/>
              </a:ext>
            </a:extLst>
          </p:cNvPr>
          <p:cNvSpPr/>
          <p:nvPr/>
        </p:nvSpPr>
        <p:spPr>
          <a:xfrm>
            <a:off x="2585631" y="4811654"/>
            <a:ext cx="5880276" cy="1879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2886" y="971651"/>
            <a:ext cx="8031945" cy="380960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350869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Comparison between IPv4 and IPv6 packet</a:t>
            </a:r>
            <a:r>
              <a:rPr sz="2400" i="1" spc="32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headers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3291" y="2193613"/>
            <a:ext cx="7925418" cy="4279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896" y="953411"/>
            <a:ext cx="4821971" cy="442516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616321" algn="l"/>
              </a:tabLst>
            </a:pPr>
            <a:r>
              <a:rPr i="1" spc="-5" dirty="0">
                <a:latin typeface="Times New Roman"/>
                <a:cs typeface="Times New Roman"/>
              </a:rPr>
              <a:t>Extension header</a:t>
            </a:r>
            <a:r>
              <a:rPr i="1" spc="-32" dirty="0">
                <a:latin typeface="Times New Roman"/>
                <a:cs typeface="Times New Roman"/>
              </a:rPr>
              <a:t> </a:t>
            </a:r>
            <a:r>
              <a:rPr i="1" spc="-5" dirty="0">
                <a:latin typeface="Times New Roman"/>
                <a:cs typeface="Times New Roman"/>
              </a:rPr>
              <a:t>types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03902" y="1974827"/>
            <a:ext cx="6117957" cy="31729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535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2700" marR="0" lvl="0" indent="0" algn="l" defTabSz="914400" rtl="0" eaLnBrk="1" fontAlgn="auto" latinLnBrk="0" hangingPunct="1">
                <a:lnSpc>
                  <a:spcPts val="231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4430" y="962863"/>
            <a:ext cx="10020694" cy="380960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89065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Comparison between IPv4 options and IPv6 extension</a:t>
            </a:r>
            <a:r>
              <a:rPr sz="2400" i="1" spc="59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headers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31303" y="2158077"/>
            <a:ext cx="8048563" cy="3356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844" y="2302412"/>
            <a:ext cx="6654018" cy="4731434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IPv4 Header format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IPv6 Header format</a:t>
            </a:r>
          </a:p>
          <a:p>
            <a:endParaRPr lang="en-US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1A6E623D-BF52-6CE8-7DF9-98E41C00C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BF5AC92A-328E-35D9-8A83-66295DF01654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75283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129" y="2194816"/>
            <a:ext cx="10818056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1. With a neat sketch describe the fields of IPv4 header.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2. With a neat sketch describe the fields of IPv6 header. 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Behrouz A. </a:t>
            </a:r>
            <a:r>
              <a:rPr lang="en-US" dirty="0" err="1"/>
              <a:t>Forouzan</a:t>
            </a:r>
            <a:r>
              <a:rPr lang="en-US" dirty="0"/>
              <a:t> , “Data Communication and Networking”, TMH, 5th Edition, 2012.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135944" y="18950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Network Protocols &amp;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8759" y="272869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3.xml><?xml version="1.0" encoding="utf-8"?>
<a:theme xmlns:a="http://schemas.openxmlformats.org/drawingml/2006/main" name="1_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504</Words>
  <Application>Microsoft Office PowerPoint</Application>
  <PresentationFormat>Widescreen</PresentationFormat>
  <Paragraphs>85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Arial</vt:lpstr>
      <vt:lpstr>BioRhyme ExtraBold</vt:lpstr>
      <vt:lpstr>Calibri</vt:lpstr>
      <vt:lpstr>Calibri Light</vt:lpstr>
      <vt:lpstr>Gill Sans MT</vt:lpstr>
      <vt:lpstr>Poppins</vt:lpstr>
      <vt:lpstr>Times New Roman</vt:lpstr>
      <vt:lpstr>Wingdings</vt:lpstr>
      <vt:lpstr>Wingdings 2</vt:lpstr>
      <vt:lpstr>Office Theme</vt:lpstr>
      <vt:lpstr>Dividend</vt:lpstr>
      <vt:lpstr>1_Dividend</vt:lpstr>
      <vt:lpstr>PowerPoint Presentation</vt:lpstr>
      <vt:lpstr>PowerPoint Presentation</vt:lpstr>
      <vt:lpstr> IPv4 datagram format</vt:lpstr>
      <vt:lpstr>Service type or differentiated services</vt:lpstr>
      <vt:lpstr>Types of service</vt:lpstr>
      <vt:lpstr>Values for codepoints</vt:lpstr>
      <vt:lpstr>PowerPoint Presentation</vt:lpstr>
      <vt:lpstr>Encapsulation of a small datagram in an Ethernet frame</vt:lpstr>
      <vt:lpstr>Figure Maximum transfer unit (MTU)</vt:lpstr>
      <vt:lpstr>MTUs for some networks</vt:lpstr>
      <vt:lpstr>Flags used in fragmentation</vt:lpstr>
      <vt:lpstr>Fragmentation example</vt:lpstr>
      <vt:lpstr>Detailed fragmentation example</vt:lpstr>
      <vt:lpstr>Protocol field and encapsulated data</vt:lpstr>
      <vt:lpstr>Protocol values</vt:lpstr>
      <vt:lpstr>Taxonomy of options in IPv4</vt:lpstr>
      <vt:lpstr>IPV6</vt:lpstr>
      <vt:lpstr>IPv6 address in binary and hexadecimal colon notation</vt:lpstr>
      <vt:lpstr>PowerPoint Presentation</vt:lpstr>
      <vt:lpstr>Abbreviated IPv6 addresses</vt:lpstr>
      <vt:lpstr>PowerPoint Presentation</vt:lpstr>
      <vt:lpstr>IPv6</vt:lpstr>
      <vt:lpstr>IPv6 datagram header and payload</vt:lpstr>
      <vt:lpstr>Format of an IPv6 datagram</vt:lpstr>
      <vt:lpstr>Next header codes for IPv6</vt:lpstr>
      <vt:lpstr>Priorities for congestion-controlled traffic</vt:lpstr>
      <vt:lpstr>Comparison between IPv4 and IPv6 packet headers</vt:lpstr>
      <vt:lpstr>Extension header types</vt:lpstr>
      <vt:lpstr>Comparison between IPv4 options and IPv6 extension headers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hierarchy in an IPv4 address</dc:title>
  <dc:creator>preetham chiramana</dc:creator>
  <cp:lastModifiedBy>GORLA VENKATA GANESH</cp:lastModifiedBy>
  <cp:revision>20</cp:revision>
  <dcterms:created xsi:type="dcterms:W3CDTF">2020-11-27T13:34:06Z</dcterms:created>
  <dcterms:modified xsi:type="dcterms:W3CDTF">2025-12-17T06:33:53Z</dcterms:modified>
</cp:coreProperties>
</file>