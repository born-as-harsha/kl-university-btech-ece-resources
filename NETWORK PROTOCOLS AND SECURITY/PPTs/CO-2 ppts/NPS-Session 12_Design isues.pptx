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7"/>
  </p:notesMasterIdLst>
  <p:handoutMasterIdLst>
    <p:handoutMasterId r:id="rId28"/>
  </p:handoutMasterIdLst>
  <p:sldIdLst>
    <p:sldId id="888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257" r:id="rId17"/>
    <p:sldId id="371" r:id="rId18"/>
    <p:sldId id="260" r:id="rId19"/>
    <p:sldId id="372" r:id="rId20"/>
    <p:sldId id="373" r:id="rId21"/>
    <p:sldId id="374" r:id="rId22"/>
    <p:sldId id="889" r:id="rId23"/>
    <p:sldId id="890" r:id="rId24"/>
    <p:sldId id="892" r:id="rId25"/>
    <p:sldId id="891" r:id="rId26"/>
  </p:sldIdLst>
  <p:sldSz cx="9144000" cy="6858000" type="screen4x3"/>
  <p:notesSz cx="10234613" cy="7099300"/>
  <p:defaultTextStyle>
    <a:defPPr>
      <a:defRPr lang="th-TH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Angsana New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1" autoAdjust="0"/>
    <p:restoredTop sz="92208" autoAdjust="0"/>
  </p:normalViewPr>
  <p:slideViewPr>
    <p:cSldViewPr>
      <p:cViewPr varScale="1">
        <p:scale>
          <a:sx n="64" d="100"/>
          <a:sy n="64" d="100"/>
        </p:scale>
        <p:origin x="1404" y="32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B40F514B-8EF6-4C41-BAD9-8DD0CF01D82D}" type="slidenum">
              <a:rPr lang="en-US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pitchFamily="18" charset="0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pitchFamily="18" charset="0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3400"/>
            <a:ext cx="3548063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2350" y="3371850"/>
            <a:ext cx="8189913" cy="319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noProof="0"/>
              <a:t>Click to edit Master text styles</a:t>
            </a:r>
          </a:p>
          <a:p>
            <a:pPr lvl="1"/>
            <a:r>
              <a:rPr lang="th-TH" noProof="0"/>
              <a:t>Second level</a:t>
            </a:r>
          </a:p>
          <a:p>
            <a:pPr lvl="2"/>
            <a:r>
              <a:rPr lang="th-TH" noProof="0"/>
              <a:t>Third level</a:t>
            </a:r>
          </a:p>
          <a:p>
            <a:pPr lvl="3"/>
            <a:r>
              <a:rPr lang="th-TH" noProof="0"/>
              <a:t>Fourth level</a:t>
            </a:r>
          </a:p>
          <a:p>
            <a:pPr lvl="4"/>
            <a:r>
              <a:rPr lang="th-TH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Times New Roman" pitchFamily="18" charset="0"/>
                <a:ea typeface="+mn-ea"/>
                <a:cs typeface="Angsana New" panose="02020603050405020304" pitchFamily="18" charset="-34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2AE07904-21E3-4921-8CD1-F2CCD13463CF}" type="slidenum">
              <a:rPr lang="en-US" altLang="en-US"/>
              <a:pPr>
                <a:defRPr/>
              </a:pPr>
              <a:t>‹#›</a:t>
            </a:fld>
            <a:endParaRPr lang="th-TH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Angsana New" panose="02020603050405020304" pitchFamily="18" charset="-34"/>
        <a:cs typeface="Angsana New" pitchFamily="18" charset="-34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Angsana New" panose="02020603050405020304" pitchFamily="18" charset="-34"/>
        <a:cs typeface="Angsana New" pitchFamily="18" charset="-34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Angsana New" panose="02020603050405020304" pitchFamily="18" charset="-34"/>
        <a:cs typeface="Angsana New" pitchFamily="18" charset="-34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Angsana New" panose="02020603050405020304" pitchFamily="18" charset="-34"/>
        <a:cs typeface="Angsana New" pitchFamily="18" charset="-34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Angsana New" panose="02020603050405020304" pitchFamily="18" charset="-34"/>
        <a:cs typeface="Angsana New" pitchFamily="18" charset="-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461;p16:notes"/>
          <p:cNvSpPr>
            <a:spLocks noGrp="1"/>
          </p:cNvSpPr>
          <p:nvPr>
            <p:ph type="body" idx="1"/>
          </p:nvPr>
        </p:nvSpPr>
        <p:spPr>
          <a:xfrm>
            <a:off x="1023938" y="3371850"/>
            <a:ext cx="8186737" cy="3195638"/>
          </a:xfrm>
          <a:noFill/>
          <a:ln/>
        </p:spPr>
        <p:txBody>
          <a:bodyPr lIns="91425" tIns="91425" rIns="91425" bIns="91425"/>
          <a:lstStyle/>
          <a:p>
            <a:pPr>
              <a:spcBef>
                <a:spcPct val="0"/>
              </a:spcBef>
            </a:pPr>
            <a:endParaRPr lang="en-US">
              <a:ea typeface="Angsana New" pitchFamily="18" charset="-120"/>
            </a:endParaRPr>
          </a:p>
        </p:txBody>
      </p:sp>
      <p:sp>
        <p:nvSpPr>
          <p:cNvPr id="57347" name="Google Shape;462;p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341688" y="531813"/>
            <a:ext cx="3551237" cy="2662237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9pPr>
              </a:lstStyle>
              <a:p>
                <a:pPr eaLnBrk="1" hangingPunct="1">
                  <a:defRPr/>
                </a:pPr>
                <a:endParaRPr lang="en-I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9pPr>
              </a:lstStyle>
              <a:p>
                <a:pPr eaLnBrk="1" hangingPunct="1">
                  <a:defRPr/>
                </a:pPr>
                <a:endParaRPr lang="en-I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9pPr>
              </a:lstStyle>
              <a:p>
                <a:pPr eaLnBrk="1" hangingPunct="1">
                  <a:defRPr/>
                </a:pPr>
                <a:endParaRPr lang="en-I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Angsana New" panose="02020603050405020304" pitchFamily="18" charset="-34"/>
                  </a:defRPr>
                </a:lvl9pPr>
              </a:lstStyle>
              <a:p>
                <a:pPr eaLnBrk="1" hangingPunct="1">
                  <a:defRPr/>
                </a:pPr>
                <a:endParaRPr lang="en-I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9pPr>
            </a:lstStyle>
            <a:p>
              <a:pPr eaLnBrk="1" hangingPunct="1">
                <a:defRPr/>
              </a:pPr>
              <a:endParaRPr lang="en-I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9pPr>
            </a:lstStyle>
            <a:p>
              <a:pPr eaLnBrk="1" hangingPunct="1">
                <a:defRPr/>
              </a:pPr>
              <a:endParaRPr lang="en-I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ngsana New" panose="02020603050405020304" pitchFamily="18" charset="-34"/>
                </a:defRPr>
              </a:lvl9pPr>
            </a:lstStyle>
            <a:p>
              <a:pPr eaLnBrk="1" hangingPunct="1">
                <a:defRPr/>
              </a:pPr>
              <a:endParaRPr lang="en-IN" altLang="en-US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h-TH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th-TH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93990-27F2-4EE0-9247-7279A4610A7C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8987D-BBE6-4DBF-B792-E92D76C4D494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AA272-EB8D-47CD-AEEE-15AD945DC6CB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01684-A7CF-484F-B2EE-D2367808B907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D562D-74F9-43FC-B710-B495024690E0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1824DA-5EA6-4623-A765-1232ACD52F78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B3779-C749-43DF-8E06-2009F5393EB2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27B57-30CA-4256-87A5-0F989CA1C0AC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59EA1-5DDA-4461-A95D-A6845E79BE0F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D2059D-6690-4DC6-A232-20E1F6D8B200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A48E5-7E63-410B-AA66-59749212B980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1"/>
            <a:ext cx="4100513" cy="598798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endParaRPr noProof="0"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cs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cs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cs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cs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cs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cs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Angsana New" panose="02020603050405020304" pitchFamily="18" charset="-34"/>
              </a:defRPr>
            </a:lvl9pPr>
          </a:lstStyle>
          <a:p>
            <a:pPr algn="ctr" eaLnBrk="1" hangingPunct="1">
              <a:defRPr/>
            </a:pPr>
            <a:endParaRPr kumimoji="1" lang="en-US" altLang="en-US">
              <a:cs typeface="Tahoma" panose="020B0604030504040204" pitchFamily="34" charset="0"/>
            </a:endParaRPr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th-TH" altLang="en-US"/>
              <a:t>Click to edit Master title style</a:t>
            </a:r>
          </a:p>
        </p:txBody>
      </p:sp>
      <p:sp>
        <p:nvSpPr>
          <p:cNvPr id="205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altLang="en-US"/>
              <a:t>Click to edit Master text styles</a:t>
            </a:r>
          </a:p>
          <a:p>
            <a:pPr lvl="1"/>
            <a:r>
              <a:rPr lang="th-TH" altLang="en-US"/>
              <a:t>Second level</a:t>
            </a:r>
          </a:p>
          <a:p>
            <a:pPr lvl="2"/>
            <a:r>
              <a:rPr lang="th-TH" altLang="en-US"/>
              <a:t>Third level</a:t>
            </a:r>
          </a:p>
          <a:p>
            <a:pPr lvl="3"/>
            <a:r>
              <a:rPr lang="th-TH" altLang="en-US"/>
              <a:t>Fourth level</a:t>
            </a:r>
          </a:p>
          <a:p>
            <a:pPr lvl="4"/>
            <a:r>
              <a:rPr lang="th-TH" altLang="en-US"/>
              <a:t>Fifth level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A69EA15-013B-46C2-8D79-0384DCD09A59}" type="slidenum">
              <a:rPr lang="en-US" altLang="en-US"/>
              <a:pPr>
                <a:defRPr/>
              </a:pPr>
              <a:t>‹#›</a:t>
            </a:fld>
            <a:r>
              <a:rPr lang="en-US" altLang="en-US"/>
              <a:t>/ 25</a:t>
            </a:r>
            <a:endParaRPr lang="th-TH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4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Angsana New" panose="02020603050405020304" pitchFamily="18" charset="-34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Angsana New" panose="02020603050405020304" pitchFamily="18" charset="-34"/>
          <a:cs typeface="Angsana New" pitchFamily="18" charset="-34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Angsana New" panose="02020603050405020304" pitchFamily="18" charset="-34"/>
          <a:cs typeface="Angsana New" pitchFamily="18" charset="-34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Angsana New" panose="02020603050405020304" pitchFamily="18" charset="-34"/>
          <a:cs typeface="Angsana New" pitchFamily="18" charset="-34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Angsana New" panose="02020603050405020304" pitchFamily="18" charset="-34"/>
          <a:cs typeface="Angsana New" pitchFamily="18" charset="-34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ngsana New" pitchFamily="18" charset="-34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ngsana New" pitchFamily="18" charset="-34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ngsana New" pitchFamily="18" charset="-34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ngsana New" pitchFamily="18" charset="-3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Angsana New" panose="02020603050405020304" pitchFamily="18" charset="-34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Angsana New" panose="02020603050405020304" pitchFamily="18" charset="-34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Angsana New" panose="02020603050405020304" pitchFamily="18" charset="-34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Angsana New" panose="02020603050405020304" pitchFamily="18" charset="-34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Angsana New" panose="02020603050405020304" pitchFamily="18" charset="-34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038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Inter-networking Devices: Distinguishing of Networking Devices and Inter-networking Devices</a:t>
            </a:r>
          </a:p>
        </p:txBody>
      </p:sp>
      <p:pic>
        <p:nvPicPr>
          <p:cNvPr id="5123" name="Google Shape;464;p16"/>
          <p:cNvPicPr preferRelativeResize="0"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7475"/>
            <a:ext cx="4521200" cy="662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6" name="Google Shape;476;p16"/>
          <p:cNvSpPr txBox="1"/>
          <p:nvPr/>
        </p:nvSpPr>
        <p:spPr>
          <a:xfrm>
            <a:off x="3786188" y="1933575"/>
            <a:ext cx="5437187" cy="3724056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 sz="4000" dirty="0"/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 sz="4000" dirty="0"/>
          </a:p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FF0000"/>
                </a:solidFill>
              </a:rPr>
              <a:t>Design issues of Network layer</a:t>
            </a:r>
          </a:p>
        </p:txBody>
      </p:sp>
      <p:sp>
        <p:nvSpPr>
          <p:cNvPr id="8" name="Google Shape;502;p17"/>
          <p:cNvSpPr/>
          <p:nvPr/>
        </p:nvSpPr>
        <p:spPr>
          <a:xfrm>
            <a:off x="5716588" y="4757738"/>
            <a:ext cx="2006600" cy="4540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13 </a:t>
            </a:r>
            <a:endParaRPr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1963"/>
            <a:ext cx="9144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9144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128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6688" y="82550"/>
            <a:ext cx="1882775" cy="106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1279525" y="41275"/>
            <a:ext cx="3459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b="1">
                <a:latin typeface="Times New Roman" pitchFamily="18" charset="0"/>
              </a:rPr>
              <a:t>Position of network layer</a:t>
            </a:r>
          </a:p>
        </p:txBody>
      </p:sp>
      <p:pic>
        <p:nvPicPr>
          <p:cNvPr id="3175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3" y="1535113"/>
            <a:ext cx="8829675" cy="378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1279525" y="41275"/>
            <a:ext cx="2909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en-US" b="1">
                <a:latin typeface="Times New Roman" pitchFamily="18" charset="0"/>
              </a:rPr>
              <a:t>Network layer duties</a:t>
            </a:r>
          </a:p>
        </p:txBody>
      </p:sp>
      <p:pic>
        <p:nvPicPr>
          <p:cNvPr id="3277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627313"/>
            <a:ext cx="8328025" cy="144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2003425" y="1989138"/>
            <a:ext cx="513715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6600" b="1" i="1">
                <a:solidFill>
                  <a:srgbClr val="FF0066"/>
                </a:solidFill>
                <a:latin typeface="Times New Roman" pitchFamily="18" charset="0"/>
              </a:rPr>
              <a:t>Host-to-Host</a:t>
            </a:r>
            <a:br>
              <a:rPr lang="en-US" altLang="en-US" sz="6600" b="1" i="1">
                <a:solidFill>
                  <a:srgbClr val="FF0066"/>
                </a:solidFill>
                <a:latin typeface="Times New Roman" pitchFamily="18" charset="0"/>
              </a:rPr>
            </a:br>
            <a:r>
              <a:rPr lang="en-US" altLang="en-US" sz="6600" b="1" i="1">
                <a:solidFill>
                  <a:srgbClr val="FF0066"/>
                </a:solidFill>
                <a:latin typeface="Times New Roman" pitchFamily="18" charset="0"/>
              </a:rPr>
              <a:t>Delivery:</a:t>
            </a:r>
          </a:p>
          <a:p>
            <a:pPr algn="ctr" eaLnBrk="1" hangingPunct="1"/>
            <a:r>
              <a:rPr lang="en-US" altLang="en-US" sz="5400" b="1" i="1">
                <a:latin typeface="Times New Roman" pitchFamily="18" charset="0"/>
              </a:rPr>
              <a:t>Internetworking, </a:t>
            </a:r>
            <a:br>
              <a:rPr lang="en-US" altLang="en-US" sz="5400" b="1" i="1">
                <a:latin typeface="Times New Roman" pitchFamily="18" charset="0"/>
              </a:rPr>
            </a:br>
            <a:r>
              <a:rPr lang="en-US" altLang="en-US" sz="5400" b="1" i="1">
                <a:latin typeface="Times New Roman" pitchFamily="18" charset="0"/>
              </a:rPr>
              <a:t>Addressing, </a:t>
            </a:r>
            <a:br>
              <a:rPr lang="en-US" altLang="en-US" sz="5400" b="1" i="1">
                <a:latin typeface="Times New Roman" pitchFamily="18" charset="0"/>
              </a:rPr>
            </a:br>
            <a:r>
              <a:rPr lang="en-US" altLang="en-US" sz="5400" b="1" i="1">
                <a:latin typeface="Times New Roman" pitchFamily="18" charset="0"/>
              </a:rPr>
              <a:t>and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>
            <a:grpSpLocks/>
          </p:cNvGrpSpPr>
          <p:nvPr/>
        </p:nvGrpSpPr>
        <p:grpSpPr bwMode="auto">
          <a:xfrm>
            <a:off x="0" y="0"/>
            <a:ext cx="8686800" cy="6553200"/>
            <a:chOff x="0" y="96"/>
            <a:chExt cx="5472" cy="3840"/>
          </a:xfrm>
        </p:grpSpPr>
        <p:sp>
          <p:nvSpPr>
            <p:cNvPr id="34823" name="AutoShape 3"/>
            <p:cNvSpPr>
              <a:spLocks noChangeArrowheads="1"/>
            </p:cNvSpPr>
            <p:nvPr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altLang="en-US" b="1">
                <a:latin typeface="Times New Roman" pitchFamily="18" charset="0"/>
              </a:endParaRPr>
            </a:p>
          </p:txBody>
        </p:sp>
        <p:sp>
          <p:nvSpPr>
            <p:cNvPr id="34824" name="AutoShape 4"/>
            <p:cNvSpPr>
              <a:spLocks noChangeArrowheads="1"/>
            </p:cNvSpPr>
            <p:nvPr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329 w 7000"/>
                <a:gd name="T3" fmla="*/ 0 h 1000"/>
                <a:gd name="T4" fmla="*/ 357 w 7000"/>
                <a:gd name="T5" fmla="*/ 28 h 1000"/>
                <a:gd name="T6" fmla="*/ 329 w 7000"/>
                <a:gd name="T7" fmla="*/ 55 h 1000"/>
                <a:gd name="T8" fmla="*/ 0 w 7000"/>
                <a:gd name="T9" fmla="*/ 55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007" y="0"/>
                  </a:lnTo>
                  <a:cubicBezTo>
                    <a:pt x="6284" y="0"/>
                    <a:pt x="6508" y="223"/>
                    <a:pt x="6508" y="500"/>
                  </a:cubicBezTo>
                  <a:cubicBezTo>
                    <a:pt x="6508" y="776"/>
                    <a:pt x="6284" y="999"/>
                    <a:pt x="6008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25" name="Line 5"/>
            <p:cNvSpPr>
              <a:spLocks noChangeShapeType="1"/>
            </p:cNvSpPr>
            <p:nvPr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28600" y="304800"/>
            <a:ext cx="43719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Angsana New" panose="02020603050405020304" pitchFamily="18" charset="-34"/>
              </a:rPr>
              <a:t>  Internetworks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1042988" y="1743075"/>
            <a:ext cx="4852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altLang="en-US" sz="3200" b="1" i="1">
                <a:latin typeface="Arial" pitchFamily="34" charset="0"/>
              </a:rPr>
              <a:t>Need For Network Layer</a:t>
            </a: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900113" y="2640013"/>
            <a:ext cx="77612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altLang="en-US" sz="3200" b="1" i="1">
                <a:latin typeface="Arial" pitchFamily="34" charset="0"/>
              </a:rPr>
              <a:t>Internet As A Packet-Switched Network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914400" y="3535363"/>
            <a:ext cx="75565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altLang="en-US" sz="3200" b="1" i="1">
                <a:latin typeface="Arial" pitchFamily="34" charset="0"/>
              </a:rPr>
              <a:t>Internet As A Connectionless Network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/>
      <p:bldP spid="8200" grpId="0"/>
      <p:bldP spid="82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b="1">
                <a:latin typeface="Times New Roman" pitchFamily="18" charset="0"/>
              </a:rPr>
              <a:t>Internetwork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3585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4050" y="2530475"/>
            <a:ext cx="7651750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 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</a:t>
            </a:r>
            <a:r>
              <a:rPr lang="en-US" altLang="en-US" b="1">
                <a:latin typeface="Times New Roman" pitchFamily="18" charset="0"/>
              </a:rPr>
              <a:t>Links in an internetwork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3687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" y="1676400"/>
            <a:ext cx="8547100" cy="398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64611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b="1">
                <a:latin typeface="Times New Roman" pitchFamily="18" charset="0"/>
              </a:rPr>
              <a:t>Network layer in an internetwork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789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789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3789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7813" y="1524000"/>
            <a:ext cx="8637587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b="1">
                <a:latin typeface="Times New Roman" pitchFamily="18" charset="0"/>
              </a:rPr>
              <a:t>Network layer at the source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38922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0763" y="804863"/>
            <a:ext cx="7285037" cy="544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b="1">
                <a:latin typeface="Times New Roman" pitchFamily="18" charset="0"/>
              </a:rPr>
              <a:t>Network layer at a router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994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3994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3994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716088"/>
            <a:ext cx="8070850" cy="399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b="1">
                <a:latin typeface="Times New Roman" pitchFamily="18" charset="0"/>
              </a:rPr>
              <a:t>Network layer at the destination</a:t>
            </a:r>
          </a:p>
        </p:txBody>
      </p:sp>
      <p:sp>
        <p:nvSpPr>
          <p:cNvPr id="40963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4097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8913" y="1227138"/>
            <a:ext cx="8802687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b="1">
                <a:latin typeface="Times New Roman" pitchFamily="18" charset="0"/>
              </a:rPr>
              <a:t>Switching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41994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1013" y="1435100"/>
            <a:ext cx="8180387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itchFamily="18" charset="0"/>
              </a:rPr>
              <a:t>Figure</a:t>
            </a:r>
            <a:r>
              <a:rPr lang="en-US" altLang="en-US" b="1">
                <a:solidFill>
                  <a:schemeClr val="accent2"/>
                </a:solidFill>
                <a:latin typeface="Times New Roman" pitchFamily="18" charset="0"/>
              </a:rPr>
              <a:t>    </a:t>
            </a:r>
            <a:r>
              <a:rPr lang="en-US" altLang="en-US" b="1">
                <a:latin typeface="Times New Roman" pitchFamily="18" charset="0"/>
              </a:rPr>
              <a:t>Datagram approach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altLang="en-US"/>
          </a:p>
        </p:txBody>
      </p:sp>
      <p:pic>
        <p:nvPicPr>
          <p:cNvPr id="4301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063" y="2447925"/>
            <a:ext cx="8593137" cy="247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838200" y="2195513"/>
            <a:ext cx="7543800" cy="179705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b="1" i="1">
                <a:latin typeface="Times New Roman" pitchFamily="18" charset="0"/>
              </a:rPr>
              <a:t>Switching at the network layer in the Internet is done using the datagram approach to packet switching.</a:t>
            </a:r>
          </a:p>
        </p:txBody>
      </p:sp>
      <p:sp>
        <p:nvSpPr>
          <p:cNvPr id="39939" name="PubRRectCallout"/>
          <p:cNvSpPr>
            <a:spLocks noEditPoints="1" noChangeArrowheads="1"/>
          </p:cNvSpPr>
          <p:nvPr/>
        </p:nvSpPr>
        <p:spPr bwMode="auto">
          <a:xfrm>
            <a:off x="838200" y="990600"/>
            <a:ext cx="2743200" cy="11430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990600"/>
            <a:ext cx="78263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133600" y="1143000"/>
            <a:ext cx="1225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Angsana New" panose="02020603050405020304" pitchFamily="18" charset="-34"/>
              </a:rPr>
              <a:t>Note</a:t>
            </a: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Angsana New" panose="02020603050405020304" pitchFamily="18" charset="-34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838200" y="2195513"/>
            <a:ext cx="7543800" cy="124777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b="1" i="1">
                <a:latin typeface="Times New Roman" pitchFamily="18" charset="0"/>
              </a:rPr>
              <a:t>Communication at the network layer in the Internet is connectionless. </a:t>
            </a:r>
          </a:p>
        </p:txBody>
      </p:sp>
      <p:sp>
        <p:nvSpPr>
          <p:cNvPr id="40963" name="PubRRectCallout"/>
          <p:cNvSpPr>
            <a:spLocks noEditPoints="1" noChangeArrowheads="1"/>
          </p:cNvSpPr>
          <p:nvPr/>
        </p:nvSpPr>
        <p:spPr bwMode="auto">
          <a:xfrm>
            <a:off x="838200" y="990600"/>
            <a:ext cx="2743200" cy="11430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17694720 60000 65536"/>
              <a:gd name="T11" fmla="*/ 11796480 60000 65536"/>
              <a:gd name="T12" fmla="*/ 5898240 60000 65536"/>
              <a:gd name="T13" fmla="*/ 5898240 60000 65536"/>
              <a:gd name="T14" fmla="*/ 0 60000 65536"/>
              <a:gd name="T15" fmla="*/ 145 w 21600"/>
              <a:gd name="T16" fmla="*/ 145 h 21600"/>
              <a:gd name="T17" fmla="*/ 21409 w 21600"/>
              <a:gd name="T18" fmla="*/ 17106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990600"/>
            <a:ext cx="78263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133600" y="1143000"/>
            <a:ext cx="1225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Angsana New" panose="02020603050405020304" pitchFamily="18" charset="-34"/>
              </a:rPr>
              <a:t>Note</a:t>
            </a: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Angsana New" panose="02020603050405020304" pitchFamily="18" charset="-34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692150"/>
            <a:ext cx="7885113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Angsana New" pitchFamily="18" charset="-120"/>
              </a:rPr>
              <a:t>Network Layer Design Issues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033588"/>
            <a:ext cx="8763000" cy="4519612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altLang="en-US" sz="3000">
                <a:ea typeface="Angsana New" pitchFamily="18" charset="-120"/>
              </a:rPr>
              <a:t>Store-and-forward packet switching</a:t>
            </a:r>
          </a:p>
          <a:p>
            <a:pPr eaLnBrk="1" hangingPunct="1">
              <a:buFontTx/>
              <a:buChar char="•"/>
            </a:pPr>
            <a:r>
              <a:rPr lang="en-US" altLang="en-US" sz="3000">
                <a:ea typeface="Angsana New" pitchFamily="18" charset="-120"/>
              </a:rPr>
              <a:t>Services provided to transport layer</a:t>
            </a:r>
          </a:p>
          <a:p>
            <a:pPr eaLnBrk="1" hangingPunct="1">
              <a:buFontTx/>
              <a:buChar char="•"/>
            </a:pPr>
            <a:r>
              <a:rPr lang="en-US" altLang="en-US" sz="3000">
                <a:ea typeface="Angsana New" pitchFamily="18" charset="-120"/>
              </a:rPr>
              <a:t>Implementation of connectionless service</a:t>
            </a:r>
          </a:p>
          <a:p>
            <a:pPr eaLnBrk="1" hangingPunct="1">
              <a:buFontTx/>
              <a:buChar char="•"/>
            </a:pPr>
            <a:r>
              <a:rPr lang="en-US" altLang="en-US" sz="3000">
                <a:ea typeface="Angsana New" pitchFamily="18" charset="-120"/>
              </a:rPr>
              <a:t>Implementation of connection-oriented service</a:t>
            </a:r>
          </a:p>
          <a:p>
            <a:pPr eaLnBrk="1" hangingPunct="1">
              <a:buFontTx/>
              <a:buChar char="•"/>
            </a:pPr>
            <a:r>
              <a:rPr lang="en-US" altLang="en-US" sz="3000">
                <a:ea typeface="Angsana New" pitchFamily="18" charset="-120"/>
              </a:rPr>
              <a:t>Comparison of virtual-circuit and datagram networks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Angsana New" pitchFamily="18" charset="-120"/>
              </a:rPr>
              <a:t>Store-and-Forward Packet Switching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287338" y="5715000"/>
            <a:ext cx="8856662" cy="838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>
                <a:ea typeface="Angsana New" pitchFamily="18" charset="-120"/>
              </a:rPr>
              <a:t>The environment of the network layer protocols.</a:t>
            </a:r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1885950"/>
            <a:ext cx="84963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109" name="TextBox 4"/>
          <p:cNvSpPr txBox="1">
            <a:spLocks noChangeArrowheads="1"/>
          </p:cNvSpPr>
          <p:nvPr/>
        </p:nvSpPr>
        <p:spPr bwMode="auto">
          <a:xfrm>
            <a:off x="5181600" y="18288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>
                <a:latin typeface="Arial" pitchFamily="34" charset="0"/>
                <a:cs typeface="Arial" pitchFamily="34" charset="0"/>
              </a:rPr>
              <a:t>ISP’s equipment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404813"/>
            <a:ext cx="7345363" cy="1243012"/>
          </a:xfrm>
        </p:spPr>
        <p:txBody>
          <a:bodyPr/>
          <a:lstStyle/>
          <a:p>
            <a:pPr eaLnBrk="1" hangingPunct="1"/>
            <a:r>
              <a:rPr lang="en-US" altLang="en-US" sz="3600">
                <a:ea typeface="Angsana New" pitchFamily="18" charset="-120"/>
              </a:rPr>
              <a:t>Services Provided to the Transport</a:t>
            </a:r>
            <a:br>
              <a:rPr lang="en-US" altLang="en-US" sz="3600">
                <a:ea typeface="Angsana New" pitchFamily="18" charset="-120"/>
              </a:rPr>
            </a:br>
            <a:r>
              <a:rPr lang="en-US" altLang="en-US" sz="3600">
                <a:ea typeface="Angsana New" pitchFamily="18" charset="-120"/>
              </a:rPr>
              <a:t> Layer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033588"/>
            <a:ext cx="8839200" cy="4519612"/>
          </a:xfrm>
        </p:spPr>
        <p:txBody>
          <a:bodyPr/>
          <a:lstStyle/>
          <a:p>
            <a:pPr>
              <a:buFont typeface="Times New Roman" pitchFamily="18" charset="0"/>
              <a:buAutoNum type="arabicPeriod"/>
            </a:pPr>
            <a:r>
              <a:rPr lang="en-US" altLang="en-US">
                <a:ea typeface="Angsana New" pitchFamily="18" charset="-120"/>
              </a:rPr>
              <a:t>Services independent of router technology.</a:t>
            </a:r>
          </a:p>
          <a:p>
            <a:pPr>
              <a:buFont typeface="Times New Roman" pitchFamily="18" charset="0"/>
              <a:buAutoNum type="arabicPeriod"/>
            </a:pPr>
            <a:r>
              <a:rPr lang="en-US" altLang="en-US">
                <a:ea typeface="Angsana New" pitchFamily="18" charset="-120"/>
              </a:rPr>
              <a:t>Transport layer shielded from number, type, topology of routers.</a:t>
            </a:r>
          </a:p>
          <a:p>
            <a:pPr>
              <a:buFont typeface="Times New Roman" pitchFamily="18" charset="0"/>
              <a:buAutoNum type="arabicPeriod"/>
            </a:pPr>
            <a:r>
              <a:rPr lang="en-US" altLang="en-US">
                <a:ea typeface="Angsana New" pitchFamily="18" charset="-120"/>
              </a:rPr>
              <a:t>Network addresses available to transport layer use uniform numbering plan</a:t>
            </a:r>
          </a:p>
          <a:p>
            <a:pPr lvl="1"/>
            <a:r>
              <a:rPr lang="en-US" altLang="en-US">
                <a:ea typeface="Angsana New" pitchFamily="18" charset="-120"/>
              </a:rPr>
              <a:t>even across LANs and WANs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66688"/>
            <a:ext cx="9144000" cy="571500"/>
          </a:xfrm>
        </p:spPr>
        <p:txBody>
          <a:bodyPr/>
          <a:lstStyle/>
          <a:p>
            <a:pPr eaLnBrk="1" hangingPunct="1"/>
            <a:br>
              <a:rPr lang="en-US" altLang="en-US" sz="3600">
                <a:ea typeface="Angsana New" pitchFamily="18" charset="-120"/>
              </a:rPr>
            </a:br>
            <a:br>
              <a:rPr lang="en-US" altLang="en-US" sz="3600">
                <a:ea typeface="Angsana New" pitchFamily="18" charset="-120"/>
              </a:rPr>
            </a:br>
            <a:br>
              <a:rPr lang="en-US" altLang="en-US" sz="3600">
                <a:ea typeface="Angsana New" pitchFamily="18" charset="-120"/>
              </a:rPr>
            </a:br>
            <a:r>
              <a:rPr lang="en-US" altLang="en-US" sz="3600">
                <a:ea typeface="Angsana New" pitchFamily="18" charset="-120"/>
              </a:rPr>
              <a:t>Implementation of Connectionless Service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287338" y="5981700"/>
            <a:ext cx="8856662" cy="5715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>
                <a:ea typeface="Angsana New" pitchFamily="18" charset="-120"/>
              </a:rPr>
              <a:t>Routing within a datagram network</a:t>
            </a:r>
          </a:p>
        </p:txBody>
      </p:sp>
      <p:pic>
        <p:nvPicPr>
          <p:cNvPr id="491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90600"/>
            <a:ext cx="82772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7" name="TextBox 4"/>
          <p:cNvSpPr txBox="1">
            <a:spLocks noChangeArrowheads="1"/>
          </p:cNvSpPr>
          <p:nvPr/>
        </p:nvSpPr>
        <p:spPr bwMode="auto">
          <a:xfrm>
            <a:off x="5029200" y="8382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>
                <a:latin typeface="Arial" pitchFamily="34" charset="0"/>
                <a:cs typeface="Arial" pitchFamily="34" charset="0"/>
              </a:rPr>
              <a:t>ISP’s equipment</a:t>
            </a:r>
          </a:p>
        </p:txBody>
      </p:sp>
      <p:pic>
        <p:nvPicPr>
          <p:cNvPr id="49158" name="Picture 3"/>
          <p:cNvPicPr>
            <a:picLocks noChangeAspect="1" noChangeArrowheads="1"/>
          </p:cNvPicPr>
          <p:nvPr/>
        </p:nvPicPr>
        <p:blipFill>
          <a:blip r:embed="rId3"/>
          <a:srcRect t="1306"/>
          <a:stretch>
            <a:fillRect/>
          </a:stretch>
        </p:blipFill>
        <p:spPr bwMode="auto">
          <a:xfrm>
            <a:off x="1905000" y="4137025"/>
            <a:ext cx="4905375" cy="172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9" name="TextBox 6"/>
          <p:cNvSpPr txBox="1">
            <a:spLocks noChangeArrowheads="1"/>
          </p:cNvSpPr>
          <p:nvPr/>
        </p:nvSpPr>
        <p:spPr bwMode="auto">
          <a:xfrm>
            <a:off x="1522413" y="3854450"/>
            <a:ext cx="5638800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300">
                <a:latin typeface="Arial" pitchFamily="34" charset="0"/>
                <a:cs typeface="Arial" pitchFamily="34" charset="0"/>
              </a:rPr>
              <a:t>A’s table (initially)      A’s table (later)         C’s Table               E’s Table</a:t>
            </a:r>
          </a:p>
        </p:txBody>
      </p:sp>
      <p:sp>
        <p:nvSpPr>
          <p:cNvPr id="49160" name="Rectangle 7"/>
          <p:cNvSpPr>
            <a:spLocks noChangeArrowheads="1"/>
          </p:cNvSpPr>
          <p:nvPr/>
        </p:nvSpPr>
        <p:spPr bwMode="auto">
          <a:xfrm>
            <a:off x="2514600" y="4191000"/>
            <a:ext cx="228600" cy="152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/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161" name="Rectangle 8"/>
          <p:cNvSpPr>
            <a:spLocks noChangeArrowheads="1"/>
          </p:cNvSpPr>
          <p:nvPr/>
        </p:nvSpPr>
        <p:spPr bwMode="auto">
          <a:xfrm>
            <a:off x="3810000" y="4206875"/>
            <a:ext cx="152400" cy="152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/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162" name="Rectangle 9"/>
          <p:cNvSpPr>
            <a:spLocks noChangeArrowheads="1"/>
          </p:cNvSpPr>
          <p:nvPr/>
        </p:nvSpPr>
        <p:spPr bwMode="auto">
          <a:xfrm>
            <a:off x="5097463" y="4627563"/>
            <a:ext cx="152400" cy="152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/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9163" name="Rectangle 10"/>
          <p:cNvSpPr>
            <a:spLocks noChangeArrowheads="1"/>
          </p:cNvSpPr>
          <p:nvPr/>
        </p:nvSpPr>
        <p:spPr bwMode="auto">
          <a:xfrm>
            <a:off x="6388100" y="5040313"/>
            <a:ext cx="152400" cy="1524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/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 noChangeArrowheads="1"/>
          </p:cNvSpPr>
          <p:nvPr>
            <p:ph type="title"/>
          </p:nvPr>
        </p:nvSpPr>
        <p:spPr>
          <a:xfrm>
            <a:off x="127000" y="9525"/>
            <a:ext cx="8813800" cy="1089025"/>
          </a:xfrm>
        </p:spPr>
        <p:txBody>
          <a:bodyPr/>
          <a:lstStyle/>
          <a:p>
            <a:r>
              <a:rPr lang="en-US" altLang="en-US" sz="3600">
                <a:ea typeface="Angsana New" pitchFamily="18" charset="-120"/>
              </a:rPr>
              <a:t>Implementation of Connection-Oriented Service</a:t>
            </a:r>
          </a:p>
        </p:txBody>
      </p:sp>
      <p:sp>
        <p:nvSpPr>
          <p:cNvPr id="5017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0" y="5921375"/>
            <a:ext cx="9144000" cy="63182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>
                <a:ea typeface="Angsana New" pitchFamily="18" charset="-120"/>
              </a:rPr>
              <a:t>Routing within a virtual-circuit network</a:t>
            </a:r>
          </a:p>
        </p:txBody>
      </p:sp>
      <p:pic>
        <p:nvPicPr>
          <p:cNvPr id="5018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3075" y="1333500"/>
            <a:ext cx="8467725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1" name="TextBox 4"/>
          <p:cNvSpPr txBox="1">
            <a:spLocks noChangeArrowheads="1"/>
          </p:cNvSpPr>
          <p:nvPr/>
        </p:nvSpPr>
        <p:spPr bwMode="auto">
          <a:xfrm>
            <a:off x="5329238" y="1347788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>
                <a:latin typeface="Arial" pitchFamily="34" charset="0"/>
                <a:cs typeface="Arial" pitchFamily="34" charset="0"/>
              </a:rPr>
              <a:t>ISP’s equipment</a:t>
            </a:r>
          </a:p>
        </p:txBody>
      </p:sp>
      <p:pic>
        <p:nvPicPr>
          <p:cNvPr id="5018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9413" y="4740275"/>
            <a:ext cx="56959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3" name="TextBox 7"/>
          <p:cNvSpPr txBox="1">
            <a:spLocks noChangeArrowheads="1"/>
          </p:cNvSpPr>
          <p:nvPr/>
        </p:nvSpPr>
        <p:spPr bwMode="auto">
          <a:xfrm>
            <a:off x="2122488" y="4394200"/>
            <a:ext cx="56388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300">
                <a:latin typeface="Arial" pitchFamily="34" charset="0"/>
                <a:cs typeface="Arial" pitchFamily="34" charset="0"/>
              </a:rPr>
              <a:t>A’s table                             C’s Table                          E’s 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287338" y="5905500"/>
            <a:ext cx="8856662" cy="6477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>
                <a:ea typeface="Angsana New" pitchFamily="18" charset="-120"/>
              </a:rPr>
              <a:t>Comparison of datagram and virtual-circuit networks</a:t>
            </a:r>
          </a:p>
        </p:txBody>
      </p:sp>
      <p:pic>
        <p:nvPicPr>
          <p:cNvPr id="512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476250"/>
            <a:ext cx="7880350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463" y="1379538"/>
            <a:ext cx="3073400" cy="409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1913" y="2301875"/>
            <a:ext cx="4991100" cy="4732338"/>
          </a:xfrm>
        </p:spPr>
        <p:txBody>
          <a:bodyPr/>
          <a:lstStyle/>
          <a:p>
            <a:r>
              <a:rPr lang="en-US" sz="2400">
                <a:ea typeface="Angsana New" pitchFamily="18" charset="-120"/>
              </a:rPr>
              <a:t>Design issues of Network Layer</a:t>
            </a:r>
          </a:p>
          <a:p>
            <a:endParaRPr lang="en-US" sz="2400">
              <a:ea typeface="Angsana New" pitchFamily="18" charset="-120"/>
            </a:endParaRPr>
          </a:p>
          <a:p>
            <a:r>
              <a:rPr lang="en-US" sz="2400">
                <a:ea typeface="Angsana New" pitchFamily="18" charset="-120"/>
              </a:rPr>
              <a:t>Services provided by network layer</a:t>
            </a:r>
          </a:p>
          <a:p>
            <a:endParaRPr lang="en-US" sz="2400">
              <a:ea typeface="Angsana New" pitchFamily="18" charset="-120"/>
            </a:endParaRPr>
          </a:p>
          <a:p>
            <a:r>
              <a:rPr lang="en-US" sz="2400">
                <a:ea typeface="Angsana New" pitchFamily="18" charset="-120"/>
              </a:rPr>
              <a:t>Connection-oriented and connectionless services. </a:t>
            </a:r>
          </a:p>
          <a:p>
            <a:endParaRPr lang="en-US">
              <a:ea typeface="Angsana New" pitchFamily="18" charset="-120"/>
            </a:endParaRPr>
          </a:p>
          <a:p>
            <a:pPr>
              <a:buFont typeface="Wingdings" pitchFamily="2" charset="2"/>
              <a:buChar char="Ø"/>
            </a:pPr>
            <a:endParaRPr lang="en-US">
              <a:ea typeface="Angsana New" pitchFamily="18" charset="-120"/>
            </a:endParaRPr>
          </a:p>
          <a:p>
            <a:endParaRPr lang="en-US">
              <a:ea typeface="Angsana New" pitchFamily="18" charset="-120"/>
            </a:endParaRPr>
          </a:p>
        </p:txBody>
      </p:sp>
      <p:pic>
        <p:nvPicPr>
          <p:cNvPr id="52228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493838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ounded Rectangle 17"/>
          <p:cNvSpPr/>
          <p:nvPr/>
        </p:nvSpPr>
        <p:spPr>
          <a:xfrm>
            <a:off x="2543175" y="95250"/>
            <a:ext cx="4057650" cy="4111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543175" y="95250"/>
            <a:ext cx="4057650" cy="41116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TERMINAL QUESTIONS</a:t>
            </a:r>
          </a:p>
        </p:txBody>
      </p:sp>
      <p:sp>
        <p:nvSpPr>
          <p:cNvPr id="53251" name="TextBox 8"/>
          <p:cNvSpPr txBox="1">
            <a:spLocks noChangeArrowheads="1"/>
          </p:cNvSpPr>
          <p:nvPr/>
        </p:nvSpPr>
        <p:spPr bwMode="auto">
          <a:xfrm>
            <a:off x="642938" y="2195513"/>
            <a:ext cx="8113712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b="1"/>
              <a:t>1. </a:t>
            </a:r>
            <a:r>
              <a:rPr lang="en-US" sz="2000"/>
              <a:t>Describe the design issues of Network layer.</a:t>
            </a:r>
          </a:p>
          <a:p>
            <a:pPr>
              <a:lnSpc>
                <a:spcPct val="200000"/>
              </a:lnSpc>
            </a:pPr>
            <a:r>
              <a:rPr lang="en-US" sz="2000"/>
              <a:t>2. Explain the implementation of connection-oriented and connectionless services by network layer.</a:t>
            </a:r>
          </a:p>
          <a:p>
            <a:pPr>
              <a:lnSpc>
                <a:spcPct val="200000"/>
              </a:lnSpc>
            </a:pPr>
            <a:r>
              <a:rPr lang="en-US" sz="2000"/>
              <a:t>3. Compare virtual circuit and datagram subnet. </a:t>
            </a:r>
          </a:p>
        </p:txBody>
      </p:sp>
      <p:pic>
        <p:nvPicPr>
          <p:cNvPr id="5325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93838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620838" y="93663"/>
            <a:ext cx="5329237" cy="41275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REFERENCES FOR FURTHER LEARNING OF THE SESSION</a:t>
            </a:r>
            <a:endParaRPr lang="en-US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4688" y="1168400"/>
            <a:ext cx="720725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dirty="0"/>
              <a:t>Behrouz A. </a:t>
            </a:r>
            <a:r>
              <a:rPr lang="en-US" dirty="0" err="1"/>
              <a:t>Forouzan</a:t>
            </a:r>
            <a:r>
              <a:rPr lang="en-US" dirty="0"/>
              <a:t> , “Data Communication and Networking”, TMH, 5th Edition, 2012.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  <a:defRPr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>
              <a:lnSpc>
                <a:spcPct val="150000"/>
              </a:lnSpc>
              <a:defRPr/>
            </a:pPr>
            <a:endParaRPr lang="en-US" dirty="0"/>
          </a:p>
        </p:txBody>
      </p:sp>
      <p:pic>
        <p:nvPicPr>
          <p:cNvPr id="5427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93838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530350" y="1914525"/>
            <a:ext cx="5940425" cy="288290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endParaRPr lang="en-US" b="1" dirty="0"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>
              <a:defRPr/>
            </a:pPr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endParaRPr lang="en-US" dirty="0"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r>
              <a:rPr lang="en-US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>
              <a:defRPr/>
            </a:pPr>
            <a:endParaRPr lang="en-US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5299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3950" y="2814638"/>
            <a:ext cx="2427288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Angsana New"/>
      </a:majorFont>
      <a:minorFont>
        <a:latin typeface="Tahoma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Angsana New" pitchFamily="18" charset="-34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422</TotalTime>
  <Words>366</Words>
  <Application>Microsoft Office PowerPoint</Application>
  <PresentationFormat>On-screen Show (4:3)</PresentationFormat>
  <Paragraphs>75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Angsana New</vt:lpstr>
      <vt:lpstr>Arial</vt:lpstr>
      <vt:lpstr>BioRhyme ExtraBold</vt:lpstr>
      <vt:lpstr>Calibri</vt:lpstr>
      <vt:lpstr>Poppins</vt:lpstr>
      <vt:lpstr>Tahoma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Layer Design Issues</vt:lpstr>
      <vt:lpstr>Store-and-Forward Packet Switching</vt:lpstr>
      <vt:lpstr>Services Provided to the Transport  Layer</vt:lpstr>
      <vt:lpstr>   Implementation of Connectionless Service</vt:lpstr>
      <vt:lpstr>Implementation of Connection-Oriented Service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and Internetworking Devices</dc:title>
  <dc:creator>Anan</dc:creator>
  <cp:lastModifiedBy>GORLA VENKATA GANESH</cp:lastModifiedBy>
  <cp:revision>91</cp:revision>
  <dcterms:created xsi:type="dcterms:W3CDTF">2001-02-19T05:57:15Z</dcterms:created>
  <dcterms:modified xsi:type="dcterms:W3CDTF">2025-12-17T06:32:38Z</dcterms:modified>
</cp:coreProperties>
</file>