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71" r:id="rId5"/>
    <p:sldId id="300" r:id="rId6"/>
    <p:sldId id="258" r:id="rId7"/>
    <p:sldId id="435" r:id="rId8"/>
    <p:sldId id="436" r:id="rId9"/>
    <p:sldId id="437" r:id="rId10"/>
    <p:sldId id="438" r:id="rId11"/>
    <p:sldId id="434" r:id="rId12"/>
    <p:sldId id="260" r:id="rId13"/>
    <p:sldId id="310" r:id="rId14"/>
    <p:sldId id="262" r:id="rId15"/>
    <p:sldId id="321" r:id="rId16"/>
    <p:sldId id="431" r:id="rId17"/>
    <p:sldId id="432" r:id="rId18"/>
    <p:sldId id="439" r:id="rId19"/>
    <p:sldId id="274" r:id="rId20"/>
    <p:sldId id="302" r:id="rId21"/>
    <p:sldId id="303" r:id="rId22"/>
    <p:sldId id="30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2532"/>
    <a:srgbClr val="FF9900"/>
    <a:srgbClr val="E84845"/>
    <a:srgbClr val="FAD2D2"/>
    <a:srgbClr val="F89E4C"/>
    <a:srgbClr val="A81E24"/>
    <a:srgbClr val="FFF2CC"/>
    <a:srgbClr val="CF2F33"/>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65" d="100"/>
          <a:sy n="65" d="100"/>
        </p:scale>
        <p:origin x="70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8</a:t>
            </a:fld>
            <a:endParaRPr lang="en-US"/>
          </a:p>
        </p:txBody>
      </p:sp>
    </p:spTree>
    <p:extLst>
      <p:ext uri="{BB962C8B-B14F-4D97-AF65-F5344CB8AC3E}">
        <p14:creationId xmlns:p14="http://schemas.microsoft.com/office/powerpoint/2010/main" val="1673677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13</a:t>
            </a:fld>
            <a:endParaRPr lang="en-US"/>
          </a:p>
        </p:txBody>
      </p:sp>
    </p:spTree>
    <p:extLst>
      <p:ext uri="{BB962C8B-B14F-4D97-AF65-F5344CB8AC3E}">
        <p14:creationId xmlns:p14="http://schemas.microsoft.com/office/powerpoint/2010/main" val="1737198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81945"/>
            <a:ext cx="6027459" cy="6623931"/>
          </a:xfrm>
          <a:prstGeom prst="rect">
            <a:avLst/>
          </a:prstGeom>
          <a:noFill/>
          <a:ln>
            <a:noFill/>
          </a:ln>
        </p:spPr>
      </p:pic>
      <p:sp>
        <p:nvSpPr>
          <p:cNvPr id="476" name="Google Shape;476;p16"/>
          <p:cNvSpPr txBox="1"/>
          <p:nvPr/>
        </p:nvSpPr>
        <p:spPr>
          <a:xfrm>
            <a:off x="5394455" y="1933408"/>
            <a:ext cx="6902548" cy="230828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24EC2210</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Tunneling, NAT and PAT</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623167" y="4758078"/>
            <a:ext cx="2530123"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18&amp;19 </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Tunneling, NAT and PAT protocols</a:t>
            </a:r>
            <a:r>
              <a:rPr lang="en-US" sz="1600" dirty="0">
                <a:latin typeface="Poppins"/>
                <a:cs typeface="Poppins"/>
              </a:rPr>
              <a:t>.</a:t>
            </a:r>
            <a:r>
              <a:rPr lang="en-US" sz="1600" b="0" i="0" dirty="0">
                <a:effectLst/>
                <a:latin typeface="Poppins"/>
                <a:cs typeface="Poppins"/>
              </a:rPr>
              <a:t> </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Describe the functionality of Tunneling.</a:t>
            </a:r>
          </a:p>
          <a:p>
            <a:pPr marL="342900" indent="-342900">
              <a:buAutoNum type="arabicPeriod"/>
            </a:pPr>
            <a:r>
              <a:rPr lang="en-US" sz="1600" b="0" i="0" dirty="0">
                <a:effectLst/>
                <a:latin typeface="Arial" panose="020B0604020202020204" pitchFamily="34" charset="0"/>
              </a:rPr>
              <a:t>Describe the functionality of NAT and PAT Protocols</a:t>
            </a:r>
            <a:r>
              <a:rPr lang="en-US" sz="1600" dirty="0">
                <a:latin typeface="Arial" panose="020B0604020202020204" pitchFamily="34" charset="0"/>
              </a:rPr>
              <a:t>.</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Illustrate the importance of Tunneling. </a:t>
            </a:r>
          </a:p>
          <a:p>
            <a:pPr marL="342900" indent="-342900">
              <a:buAutoNum type="arabicPeriod"/>
            </a:pPr>
            <a:r>
              <a:rPr lang="en-US" sz="1600" dirty="0">
                <a:latin typeface="Arial" panose="020B0604020202020204" pitchFamily="34" charset="0"/>
              </a:rPr>
              <a:t>Demonstrate the </a:t>
            </a:r>
            <a:r>
              <a:rPr lang="en-US" sz="1600" b="0" i="0" dirty="0">
                <a:effectLst/>
                <a:latin typeface="Arial" panose="020B0604020202020204" pitchFamily="34" charset="0"/>
              </a:rPr>
              <a:t>functionality of NAT process. </a:t>
            </a:r>
          </a:p>
          <a:p>
            <a:pPr marL="342900" indent="-342900">
              <a:buAutoNum type="arabicPeriod"/>
            </a:pPr>
            <a:r>
              <a:rPr lang="en-US" sz="1600" b="0" i="0" dirty="0">
                <a:effectLst/>
                <a:latin typeface="Arial" panose="020B0604020202020204" pitchFamily="34" charset="0"/>
              </a:rPr>
              <a:t>Demonstrate the functionality of PAT process.</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a:extLst>
              <a:ext uri="{FF2B5EF4-FFF2-40B4-BE49-F238E27FC236}">
                <a16:creationId xmlns:a16="http://schemas.microsoft.com/office/drawing/2014/main" id="{12AB537D-1F06-ED24-7B76-3E4905C39539}"/>
              </a:ext>
            </a:extLst>
          </p:cNvPr>
          <p:cNvSpPr>
            <a:spLocks noGrp="1"/>
          </p:cNvSpPr>
          <p:nvPr>
            <p:ph idx="1"/>
          </p:nvPr>
        </p:nvSpPr>
        <p:spPr>
          <a:xfrm>
            <a:off x="1083212" y="2886074"/>
            <a:ext cx="10086536" cy="3856581"/>
          </a:xfrm>
        </p:spPr>
        <p:txBody>
          <a:bodyPr>
            <a:normAutofit/>
          </a:bodyPr>
          <a:lstStyle/>
          <a:p>
            <a:pPr marL="0" indent="0" algn="ctr">
              <a:buNone/>
            </a:pPr>
            <a:r>
              <a:rPr lang="en-US" sz="5400" dirty="0"/>
              <a:t>IP Tunneling</a:t>
            </a:r>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BEC6D-6805-1F12-B781-FF977E21AA97}"/>
              </a:ext>
            </a:extLst>
          </p:cNvPr>
          <p:cNvSpPr>
            <a:spLocks noGrp="1"/>
          </p:cNvSpPr>
          <p:nvPr>
            <p:ph type="title"/>
          </p:nvPr>
        </p:nvSpPr>
        <p:spPr>
          <a:xfrm>
            <a:off x="838200" y="180459"/>
            <a:ext cx="10515600" cy="705367"/>
          </a:xfrm>
        </p:spPr>
        <p:txBody>
          <a:bodyPr/>
          <a:lstStyle/>
          <a:p>
            <a:pPr algn="ctr"/>
            <a:r>
              <a:rPr lang="en-US" sz="4400" b="1" i="0" dirty="0">
                <a:solidFill>
                  <a:srgbClr val="FF0000"/>
                </a:solidFill>
                <a:effectLst/>
                <a:latin typeface="Times New Roman" panose="02020603050405020304" pitchFamily="18" charset="0"/>
                <a:cs typeface="Times New Roman" panose="02020603050405020304" pitchFamily="18" charset="0"/>
              </a:rPr>
              <a:t>TUNNELING</a:t>
            </a:r>
            <a:endParaRPr lang="en-IN" dirty="0"/>
          </a:p>
        </p:txBody>
      </p:sp>
      <p:sp>
        <p:nvSpPr>
          <p:cNvPr id="3" name="Content Placeholder 2">
            <a:extLst>
              <a:ext uri="{FF2B5EF4-FFF2-40B4-BE49-F238E27FC236}">
                <a16:creationId xmlns:a16="http://schemas.microsoft.com/office/drawing/2014/main" id="{20C2F771-6118-6429-5C95-5625788EEB22}"/>
              </a:ext>
            </a:extLst>
          </p:cNvPr>
          <p:cNvSpPr>
            <a:spLocks noGrp="1"/>
          </p:cNvSpPr>
          <p:nvPr>
            <p:ph idx="1"/>
          </p:nvPr>
        </p:nvSpPr>
        <p:spPr>
          <a:xfrm>
            <a:off x="685800" y="1543050"/>
            <a:ext cx="10820400" cy="4910138"/>
          </a:xfrm>
        </p:spPr>
        <p:txBody>
          <a:bodyPr/>
          <a:lstStyle/>
          <a:p>
            <a:pPr algn="just"/>
            <a:r>
              <a:rPr lang="en-US" sz="2400" dirty="0">
                <a:effectLst/>
              </a:rPr>
              <a:t>Tunneling is a technique of inter-networking used when source and destination networks of the same type are to be connected through a network of different types. </a:t>
            </a:r>
          </a:p>
          <a:p>
            <a:pPr algn="just"/>
            <a:endParaRPr lang="en-US" sz="2400" dirty="0">
              <a:effectLst/>
            </a:endParaRPr>
          </a:p>
          <a:p>
            <a:pPr algn="just"/>
            <a:r>
              <a:rPr lang="en-US" sz="2400" dirty="0">
                <a:effectLst/>
              </a:rPr>
              <a:t>Tunneling uses a layered protocol model such as those of the OSI or TCP/IP protocol suite. </a:t>
            </a:r>
          </a:p>
          <a:p>
            <a:pPr algn="just"/>
            <a:endParaRPr lang="en-US" sz="2400" dirty="0">
              <a:effectLst/>
            </a:endParaRPr>
          </a:p>
          <a:p>
            <a:pPr algn="just"/>
            <a:r>
              <a:rPr lang="en-US" sz="2400" dirty="0">
                <a:effectLst/>
              </a:rPr>
              <a:t>Tunneling </a:t>
            </a:r>
            <a:r>
              <a:rPr lang="en-US" sz="2400" dirty="0"/>
              <a:t>is dealing with </a:t>
            </a:r>
            <a:r>
              <a:rPr lang="en-US" sz="2400" dirty="0">
                <a:effectLst/>
              </a:rPr>
              <a:t>different levels of the specified protocol while moving between different layers and data conversion (Encapsulation) to suit different interfaces of a particular layer.</a:t>
            </a:r>
          </a:p>
          <a:p>
            <a:endParaRPr lang="en-IN" dirty="0"/>
          </a:p>
        </p:txBody>
      </p:sp>
    </p:spTree>
    <p:extLst>
      <p:ext uri="{BB962C8B-B14F-4D97-AF65-F5344CB8AC3E}">
        <p14:creationId xmlns:p14="http://schemas.microsoft.com/office/powerpoint/2010/main" val="1755477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41477-1CF4-8FA1-2504-BB9B258F9F0B}"/>
              </a:ext>
            </a:extLst>
          </p:cNvPr>
          <p:cNvSpPr>
            <a:spLocks noGrp="1"/>
          </p:cNvSpPr>
          <p:nvPr>
            <p:ph type="title"/>
          </p:nvPr>
        </p:nvSpPr>
        <p:spPr>
          <a:xfrm>
            <a:off x="838200" y="190233"/>
            <a:ext cx="10515600" cy="463550"/>
          </a:xfrm>
        </p:spPr>
        <p:txBody>
          <a:bodyPr/>
          <a:lstStyle/>
          <a:p>
            <a:r>
              <a:rPr lang="en-US" sz="3600" b="1" i="0" dirty="0">
                <a:solidFill>
                  <a:srgbClr val="FF0000"/>
                </a:solidFill>
                <a:effectLst/>
                <a:latin typeface="Times New Roman" panose="02020603050405020304" pitchFamily="18" charset="0"/>
                <a:cs typeface="Times New Roman" panose="02020603050405020304" pitchFamily="18" charset="0"/>
              </a:rPr>
              <a:t>TUNNELING…</a:t>
            </a:r>
            <a:endParaRPr lang="en-IN" sz="3600" dirty="0"/>
          </a:p>
        </p:txBody>
      </p:sp>
      <p:sp>
        <p:nvSpPr>
          <p:cNvPr id="3" name="Content Placeholder 2">
            <a:extLst>
              <a:ext uri="{FF2B5EF4-FFF2-40B4-BE49-F238E27FC236}">
                <a16:creationId xmlns:a16="http://schemas.microsoft.com/office/drawing/2014/main" id="{5275D674-17B8-5FFC-1B8E-4569D6431DAD}"/>
              </a:ext>
            </a:extLst>
          </p:cNvPr>
          <p:cNvSpPr>
            <a:spLocks noGrp="1"/>
          </p:cNvSpPr>
          <p:nvPr>
            <p:ph idx="1"/>
          </p:nvPr>
        </p:nvSpPr>
        <p:spPr>
          <a:xfrm>
            <a:off x="838200" y="1019175"/>
            <a:ext cx="10744200" cy="5024438"/>
          </a:xfrm>
        </p:spPr>
        <p:txBody>
          <a:bodyPr/>
          <a:lstStyle/>
          <a:p>
            <a:pPr marL="0" indent="0">
              <a:buNone/>
            </a:pPr>
            <a:r>
              <a:rPr lang="en-US" sz="2400" b="1" dirty="0"/>
              <a:t>Example: </a:t>
            </a:r>
            <a:r>
              <a:rPr lang="en-US" sz="2400" dirty="0"/>
              <a:t>Co</a:t>
            </a:r>
            <a:r>
              <a:rPr lang="en-US" sz="2400" dirty="0">
                <a:effectLst/>
              </a:rPr>
              <a:t>nsider an Ethernet to be connected to another Ethernet through a WAN. </a:t>
            </a:r>
          </a:p>
          <a:p>
            <a:endParaRPr lang="en-IN" dirty="0"/>
          </a:p>
        </p:txBody>
      </p:sp>
      <p:pic>
        <p:nvPicPr>
          <p:cNvPr id="5" name="Picture 4">
            <a:extLst>
              <a:ext uri="{FF2B5EF4-FFF2-40B4-BE49-F238E27FC236}">
                <a16:creationId xmlns:a16="http://schemas.microsoft.com/office/drawing/2014/main" id="{8CCB31EC-232A-00EF-E4F8-D642C341CDD6}"/>
              </a:ext>
            </a:extLst>
          </p:cNvPr>
          <p:cNvPicPr>
            <a:picLocks noChangeAspect="1"/>
          </p:cNvPicPr>
          <p:nvPr/>
        </p:nvPicPr>
        <p:blipFill>
          <a:blip r:embed="rId2"/>
          <a:stretch>
            <a:fillRect/>
          </a:stretch>
        </p:blipFill>
        <p:spPr>
          <a:xfrm>
            <a:off x="2149343" y="1657350"/>
            <a:ext cx="8141661" cy="4014787"/>
          </a:xfrm>
          <a:prstGeom prst="rect">
            <a:avLst/>
          </a:prstGeom>
        </p:spPr>
      </p:pic>
      <p:sp>
        <p:nvSpPr>
          <p:cNvPr id="7" name="TextBox 6">
            <a:extLst>
              <a:ext uri="{FF2B5EF4-FFF2-40B4-BE49-F238E27FC236}">
                <a16:creationId xmlns:a16="http://schemas.microsoft.com/office/drawing/2014/main" id="{567F4268-3CC1-E85E-F6A2-EE4062C68DDF}"/>
              </a:ext>
            </a:extLst>
          </p:cNvPr>
          <p:cNvSpPr txBox="1"/>
          <p:nvPr/>
        </p:nvSpPr>
        <p:spPr>
          <a:xfrm>
            <a:off x="1162049" y="5836770"/>
            <a:ext cx="10610851" cy="830997"/>
          </a:xfrm>
          <a:prstGeom prst="rect">
            <a:avLst/>
          </a:prstGeom>
          <a:noFill/>
        </p:spPr>
        <p:txBody>
          <a:bodyPr wrap="square">
            <a:spAutoFit/>
          </a:bodyPr>
          <a:lstStyle/>
          <a:p>
            <a:pPr marL="342900" indent="-342900">
              <a:buFont typeface="Wingdings" panose="05000000000000000000" pitchFamily="2" charset="2"/>
              <a:buChar char="Ø"/>
            </a:pPr>
            <a:r>
              <a:rPr lang="en-US" sz="2400" dirty="0"/>
              <a:t>The task is sent on an IP packet from </a:t>
            </a:r>
            <a:r>
              <a:rPr lang="en-US" sz="2400" b="1" dirty="0"/>
              <a:t>host A of Ethernet-1 to host B of Ethernet-2 via a WAN.</a:t>
            </a:r>
            <a:endParaRPr lang="en-IN" sz="2400" b="1" dirty="0"/>
          </a:p>
        </p:txBody>
      </p:sp>
    </p:spTree>
    <p:extLst>
      <p:ext uri="{BB962C8B-B14F-4D97-AF65-F5344CB8AC3E}">
        <p14:creationId xmlns:p14="http://schemas.microsoft.com/office/powerpoint/2010/main" val="2999282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DE31-76B5-24E6-03DB-61030A5CAE76}"/>
              </a:ext>
            </a:extLst>
          </p:cNvPr>
          <p:cNvSpPr>
            <a:spLocks noGrp="1"/>
          </p:cNvSpPr>
          <p:nvPr>
            <p:ph type="title"/>
          </p:nvPr>
        </p:nvSpPr>
        <p:spPr>
          <a:xfrm>
            <a:off x="323850" y="109537"/>
            <a:ext cx="10515600" cy="492125"/>
          </a:xfrm>
        </p:spPr>
        <p:txBody>
          <a:bodyPr/>
          <a:lstStyle/>
          <a:p>
            <a:r>
              <a:rPr lang="en-US" sz="3600" b="1" i="0" dirty="0">
                <a:solidFill>
                  <a:srgbClr val="FF0000"/>
                </a:solidFill>
                <a:effectLst/>
                <a:latin typeface="Times New Roman" panose="02020603050405020304" pitchFamily="18" charset="0"/>
                <a:cs typeface="Times New Roman" panose="02020603050405020304" pitchFamily="18" charset="0"/>
              </a:rPr>
              <a:t>TUNNELING…</a:t>
            </a:r>
            <a:endParaRPr lang="en-IN" sz="3600" dirty="0"/>
          </a:p>
        </p:txBody>
      </p:sp>
      <p:sp>
        <p:nvSpPr>
          <p:cNvPr id="3" name="Content Placeholder 2">
            <a:extLst>
              <a:ext uri="{FF2B5EF4-FFF2-40B4-BE49-F238E27FC236}">
                <a16:creationId xmlns:a16="http://schemas.microsoft.com/office/drawing/2014/main" id="{7A91FBF4-4480-E18E-AD99-92471E2B5D26}"/>
              </a:ext>
            </a:extLst>
          </p:cNvPr>
          <p:cNvSpPr>
            <a:spLocks noGrp="1"/>
          </p:cNvSpPr>
          <p:nvPr>
            <p:ph idx="1"/>
          </p:nvPr>
        </p:nvSpPr>
        <p:spPr>
          <a:xfrm>
            <a:off x="419100" y="758031"/>
            <a:ext cx="11601450" cy="4351338"/>
          </a:xfrm>
        </p:spPr>
        <p:txBody>
          <a:bodyPr/>
          <a:lstStyle/>
          <a:p>
            <a:pPr marL="0" indent="0">
              <a:buNone/>
            </a:pPr>
            <a:r>
              <a:rPr lang="en-IN" b="1" dirty="0"/>
              <a:t>Steps Involved:</a:t>
            </a:r>
          </a:p>
          <a:p>
            <a:pPr marL="895350" indent="-352425" algn="just">
              <a:buFont typeface="+mj-lt"/>
              <a:buAutoNum type="arabicPeriod"/>
            </a:pPr>
            <a:r>
              <a:rPr lang="en-US" sz="2000" dirty="0">
                <a:effectLst/>
              </a:rPr>
              <a:t>Host A constructs a packet that contains the IP address of Host B.</a:t>
            </a:r>
          </a:p>
          <a:p>
            <a:pPr marL="895350" indent="-352425" algn="just">
              <a:buFont typeface="+mj-lt"/>
              <a:buAutoNum type="arabicPeriod"/>
            </a:pPr>
            <a:endParaRPr lang="en-US" sz="2000" dirty="0">
              <a:effectLst/>
            </a:endParaRPr>
          </a:p>
          <a:p>
            <a:pPr marL="895350" indent="-352425" algn="just">
              <a:buFont typeface="+mj-lt"/>
              <a:buAutoNum type="arabicPeriod"/>
            </a:pPr>
            <a:r>
              <a:rPr lang="en-US" sz="2000" dirty="0">
                <a:effectLst/>
              </a:rPr>
              <a:t>It then inserts this IP packet into an Ethernet frame and this frame is addressed to the multiprotocol router M1</a:t>
            </a:r>
          </a:p>
          <a:p>
            <a:pPr marL="895350" indent="-352425" algn="just">
              <a:buFont typeface="+mj-lt"/>
              <a:buAutoNum type="arabicPeriod"/>
            </a:pPr>
            <a:endParaRPr lang="en-US" sz="2000" dirty="0">
              <a:effectLst/>
            </a:endParaRPr>
          </a:p>
          <a:p>
            <a:pPr marL="895350" indent="-352425" algn="just">
              <a:buFont typeface="+mj-lt"/>
              <a:buAutoNum type="arabicPeriod"/>
            </a:pPr>
            <a:r>
              <a:rPr lang="en-US" sz="2000" dirty="0">
                <a:effectLst/>
              </a:rPr>
              <a:t>Host A then puts this frame on Ethernet.</a:t>
            </a:r>
          </a:p>
          <a:p>
            <a:pPr marL="895350" indent="-352425" algn="just">
              <a:buFont typeface="+mj-lt"/>
              <a:buAutoNum type="arabicPeriod"/>
            </a:pPr>
            <a:endParaRPr lang="en-US" sz="2000" dirty="0"/>
          </a:p>
          <a:p>
            <a:pPr marL="895350" indent="-352425" algn="just">
              <a:buFont typeface="+mj-lt"/>
              <a:buAutoNum type="arabicPeriod"/>
            </a:pPr>
            <a:r>
              <a:rPr lang="en-US" sz="2000" dirty="0">
                <a:effectLst/>
              </a:rPr>
              <a:t>When M1 receives this frame, it removes the IP packet, inserts it in the payload packet of the WAN network layer packet, and addresses the WAN packet to M2. This process is called encapsulation.</a:t>
            </a:r>
          </a:p>
          <a:p>
            <a:pPr marL="895350" indent="-352425" algn="just">
              <a:buFont typeface="+mj-lt"/>
              <a:buAutoNum type="arabicPeriod"/>
            </a:pPr>
            <a:endParaRPr lang="en-US" sz="2000" dirty="0"/>
          </a:p>
          <a:p>
            <a:pPr marL="895350" indent="-352425" algn="just">
              <a:buFont typeface="+mj-lt"/>
              <a:buAutoNum type="arabicPeriod"/>
            </a:pPr>
            <a:r>
              <a:rPr lang="en-US" sz="2000" dirty="0">
                <a:effectLst/>
              </a:rPr>
              <a:t>The multiprotocol router M2 removes the IP packet and sends it to host B in an Ethernet frame.</a:t>
            </a:r>
          </a:p>
          <a:p>
            <a:endParaRPr lang="en-IN" dirty="0"/>
          </a:p>
        </p:txBody>
      </p:sp>
      <p:sp>
        <p:nvSpPr>
          <p:cNvPr id="5" name="Rectangle: Rounded Corners 4">
            <a:extLst>
              <a:ext uri="{FF2B5EF4-FFF2-40B4-BE49-F238E27FC236}">
                <a16:creationId xmlns:a16="http://schemas.microsoft.com/office/drawing/2014/main" id="{7FD439EC-AE2D-98E3-C689-8E42B7ABC5EE}"/>
              </a:ext>
            </a:extLst>
          </p:cNvPr>
          <p:cNvSpPr/>
          <p:nvPr/>
        </p:nvSpPr>
        <p:spPr>
          <a:xfrm>
            <a:off x="2390774" y="5695950"/>
            <a:ext cx="7315201" cy="8286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i="1" dirty="0">
                <a:solidFill>
                  <a:srgbClr val="FFFF00"/>
                </a:solidFill>
              </a:rPr>
              <a:t>Encapsulation</a:t>
            </a:r>
            <a:r>
              <a:rPr lang="en-US" sz="2400" i="1" dirty="0"/>
              <a:t> is the process of adding a new packet within the existing packet or a packet inside a packet. </a:t>
            </a:r>
            <a:endParaRPr lang="en-IN" sz="2400" i="1" dirty="0"/>
          </a:p>
        </p:txBody>
      </p:sp>
      <p:cxnSp>
        <p:nvCxnSpPr>
          <p:cNvPr id="7" name="Connector: Curved 6">
            <a:extLst>
              <a:ext uri="{FF2B5EF4-FFF2-40B4-BE49-F238E27FC236}">
                <a16:creationId xmlns:a16="http://schemas.microsoft.com/office/drawing/2014/main" id="{DBA401F8-9640-D8D6-F8CC-5B5460563A4E}"/>
              </a:ext>
            </a:extLst>
          </p:cNvPr>
          <p:cNvCxnSpPr>
            <a:cxnSpLocks/>
          </p:cNvCxnSpPr>
          <p:nvPr/>
        </p:nvCxnSpPr>
        <p:spPr>
          <a:xfrm rot="10800000" flipV="1">
            <a:off x="9791700" y="4571999"/>
            <a:ext cx="1466850" cy="1381123"/>
          </a:xfrm>
          <a:prstGeom prst="curvedConnector3">
            <a:avLst>
              <a:gd name="adj1" fmla="val -20130"/>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5980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00916-32B7-F7B4-5D64-ECD09D323203}"/>
              </a:ext>
            </a:extLst>
          </p:cNvPr>
          <p:cNvSpPr>
            <a:spLocks noGrp="1"/>
          </p:cNvSpPr>
          <p:nvPr>
            <p:ph type="title"/>
          </p:nvPr>
        </p:nvSpPr>
        <p:spPr>
          <a:xfrm>
            <a:off x="838200" y="365125"/>
            <a:ext cx="10515600" cy="568325"/>
          </a:xfrm>
        </p:spPr>
        <p:txBody>
          <a:bodyPr/>
          <a:lstStyle/>
          <a:p>
            <a:r>
              <a:rPr lang="en-US" sz="3600" b="1" i="0" dirty="0">
                <a:solidFill>
                  <a:srgbClr val="FF0000"/>
                </a:solidFill>
                <a:effectLst/>
                <a:latin typeface="Times New Roman" panose="02020603050405020304" pitchFamily="18" charset="0"/>
                <a:cs typeface="Times New Roman" panose="02020603050405020304" pitchFamily="18" charset="0"/>
              </a:rPr>
              <a:t>TUNNELING…</a:t>
            </a:r>
            <a:endParaRPr lang="en-IN" sz="3600" dirty="0"/>
          </a:p>
        </p:txBody>
      </p:sp>
      <p:sp>
        <p:nvSpPr>
          <p:cNvPr id="3" name="Content Placeholder 2">
            <a:extLst>
              <a:ext uri="{FF2B5EF4-FFF2-40B4-BE49-F238E27FC236}">
                <a16:creationId xmlns:a16="http://schemas.microsoft.com/office/drawing/2014/main" id="{322C2746-CE9C-A3E2-A1FB-273CB928E7A8}"/>
              </a:ext>
            </a:extLst>
          </p:cNvPr>
          <p:cNvSpPr>
            <a:spLocks noGrp="1"/>
          </p:cNvSpPr>
          <p:nvPr>
            <p:ph idx="1"/>
          </p:nvPr>
        </p:nvSpPr>
        <p:spPr>
          <a:xfrm>
            <a:off x="838200" y="1447800"/>
            <a:ext cx="10515600" cy="4351338"/>
          </a:xfrm>
        </p:spPr>
        <p:txBody>
          <a:bodyPr/>
          <a:lstStyle/>
          <a:p>
            <a:pPr marL="0" indent="0" algn="just">
              <a:buNone/>
            </a:pPr>
            <a:r>
              <a:rPr lang="en-US" b="1" dirty="0">
                <a:effectLst/>
              </a:rPr>
              <a:t>Why is this Technique Called Tunneling?</a:t>
            </a:r>
          </a:p>
          <a:p>
            <a:pPr marL="0" indent="0" algn="just">
              <a:buNone/>
            </a:pPr>
            <a:endParaRPr lang="en-US" sz="1000" b="1" dirty="0">
              <a:effectLst/>
            </a:endParaRPr>
          </a:p>
          <a:p>
            <a:pPr algn="just"/>
            <a:r>
              <a:rPr lang="en-US" sz="2400" dirty="0"/>
              <a:t>In this particular example, the IP packet does not have to deal with WAN, and the host’s A and B also do not have to deal with the WAN.</a:t>
            </a:r>
          </a:p>
          <a:p>
            <a:pPr algn="just"/>
            <a:endParaRPr lang="en-US" sz="2400" dirty="0"/>
          </a:p>
          <a:p>
            <a:pPr algn="just"/>
            <a:r>
              <a:rPr lang="en-US" sz="2400" dirty="0"/>
              <a:t> The multiprotocol routers M1 and M2 will have to understand IP and WAN packets. </a:t>
            </a:r>
          </a:p>
          <a:p>
            <a:pPr algn="just"/>
            <a:endParaRPr lang="en-US" sz="2400" dirty="0"/>
          </a:p>
          <a:p>
            <a:pPr algn="just"/>
            <a:r>
              <a:rPr lang="en-US" sz="2400" dirty="0"/>
              <a:t>Therefore, the WAN can be imagined to be equivalent to a big tunnel extending between multiprotocol routers M1 and M2 and the technique is called Tunneling.</a:t>
            </a:r>
            <a:endParaRPr lang="en-IN" sz="2400" dirty="0"/>
          </a:p>
        </p:txBody>
      </p:sp>
    </p:spTree>
    <p:extLst>
      <p:ext uri="{BB962C8B-B14F-4D97-AF65-F5344CB8AC3E}">
        <p14:creationId xmlns:p14="http://schemas.microsoft.com/office/powerpoint/2010/main" val="352673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a:extLst>
              <a:ext uri="{FF2B5EF4-FFF2-40B4-BE49-F238E27FC236}">
                <a16:creationId xmlns:a16="http://schemas.microsoft.com/office/drawing/2014/main" id="{12AB537D-1F06-ED24-7B76-3E4905C39539}"/>
              </a:ext>
            </a:extLst>
          </p:cNvPr>
          <p:cNvSpPr>
            <a:spLocks noGrp="1"/>
          </p:cNvSpPr>
          <p:nvPr>
            <p:ph idx="1"/>
          </p:nvPr>
        </p:nvSpPr>
        <p:spPr>
          <a:xfrm>
            <a:off x="1083212" y="2886074"/>
            <a:ext cx="10086536" cy="3856581"/>
          </a:xfrm>
        </p:spPr>
        <p:txBody>
          <a:bodyPr>
            <a:normAutofit/>
          </a:bodyPr>
          <a:lstStyle/>
          <a:p>
            <a:pPr marL="0" indent="0" algn="ctr">
              <a:buNone/>
            </a:pPr>
            <a:r>
              <a:rPr lang="en-US" sz="5400" dirty="0"/>
              <a:t>NAT</a:t>
            </a:r>
          </a:p>
        </p:txBody>
      </p:sp>
    </p:spTree>
    <p:extLst>
      <p:ext uri="{BB962C8B-B14F-4D97-AF65-F5344CB8AC3E}">
        <p14:creationId xmlns:p14="http://schemas.microsoft.com/office/powerpoint/2010/main" val="19466020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D5BD-CB53-F50E-EB06-C3A3873194B3}"/>
              </a:ext>
            </a:extLst>
          </p:cNvPr>
          <p:cNvSpPr>
            <a:spLocks noGrp="1"/>
          </p:cNvSpPr>
          <p:nvPr>
            <p:ph type="title"/>
          </p:nvPr>
        </p:nvSpPr>
        <p:spPr/>
        <p:txBody>
          <a:bodyPr>
            <a:normAutofit/>
          </a:bodyPr>
          <a:lstStyle/>
          <a:p>
            <a:pPr algn="ctr"/>
            <a:r>
              <a:rPr lang="en-US" sz="2800" b="1" i="0" dirty="0">
                <a:solidFill>
                  <a:srgbClr val="FF0000"/>
                </a:solidFill>
                <a:effectLst/>
                <a:latin typeface="Times New Roman" panose="02020603050405020304" pitchFamily="18" charset="0"/>
                <a:cs typeface="Times New Roman" panose="02020603050405020304" pitchFamily="18" charset="0"/>
              </a:rPr>
              <a:t>Network Address Translation (NAT)</a:t>
            </a:r>
            <a:r>
              <a:rPr lang="en-US" sz="2800" b="0" i="0" dirty="0">
                <a:solidFill>
                  <a:srgbClr val="FF0000"/>
                </a:solidFill>
                <a:effectLst/>
                <a:latin typeface="Times New Roman" panose="02020603050405020304" pitchFamily="18" charset="0"/>
                <a:cs typeface="Times New Roman" panose="02020603050405020304" pitchFamily="18" charset="0"/>
              </a:rPr>
              <a:t>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FC770-EE5D-C09D-2119-C62E5FC37F39}"/>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CBABCCC1-BF11-4F37-963E-1BCD5B23FD72}" type="slidenum">
              <a:rPr kumimoji="0" lang="en-IN" sz="2200" b="0" i="0" u="none" strike="noStrike" kern="1200" cap="none" spc="0" normalizeH="0" baseline="0" noProof="0" smtClean="0">
                <a:ln>
                  <a:noFill/>
                </a:ln>
                <a:solidFill>
                  <a:srgbClr val="B71E42"/>
                </a:solidFill>
                <a:effectLst/>
                <a:uLnTx/>
                <a:uFillTx/>
                <a:latin typeface="Gill Sans MT" panose="020B0502020104020203"/>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9</a:t>
            </a:fld>
            <a:endParaRPr kumimoji="0" lang="en-IN" sz="2200" b="0" i="0" u="none" strike="noStrike" kern="1200" cap="none" spc="0" normalizeH="0" baseline="0" noProof="0">
              <a:ln>
                <a:noFill/>
              </a:ln>
              <a:solidFill>
                <a:srgbClr val="B71E42"/>
              </a:solidFill>
              <a:effectLst/>
              <a:uLnTx/>
              <a:uFillTx/>
              <a:latin typeface="Gill Sans MT" panose="020B0502020104020203"/>
              <a:ea typeface="+mn-ea"/>
              <a:cs typeface="+mn-cs"/>
            </a:endParaRPr>
          </a:p>
        </p:txBody>
      </p:sp>
      <p:sp>
        <p:nvSpPr>
          <p:cNvPr id="5" name="TextBox 4">
            <a:extLst>
              <a:ext uri="{FF2B5EF4-FFF2-40B4-BE49-F238E27FC236}">
                <a16:creationId xmlns:a16="http://schemas.microsoft.com/office/drawing/2014/main" id="{64AEEFAD-7B3B-C7E3-219A-1AEBE5E8A09A}"/>
              </a:ext>
            </a:extLst>
          </p:cNvPr>
          <p:cNvSpPr txBox="1"/>
          <p:nvPr/>
        </p:nvSpPr>
        <p:spPr>
          <a:xfrm>
            <a:off x="838200" y="1314578"/>
            <a:ext cx="10810461" cy="4455066"/>
          </a:xfrm>
          <a:prstGeom prst="rect">
            <a:avLst/>
          </a:prstGeom>
          <a:noFill/>
        </p:spPr>
        <p:txBody>
          <a:bodyPr wrap="square">
            <a:spAutoFit/>
          </a:bodyPr>
          <a:lstStyle/>
          <a:p>
            <a:pPr marL="171450" marR="0" lvl="0" indent="-1714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en-US" sz="1050" b="1" i="1" u="sng"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en-US" sz="9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rPr>
              <a:t>32-bit IP address become scarce due to its limitation in the number of addresses.</a:t>
            </a: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rPr>
              <a:t>Scenario can be like having IP address assigned dynamically, that is, when required we get an IP address from ISP, and when the session is terminated it can be allocated to some other.</a:t>
            </a: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rPr>
              <a:t>But people working in business applications needs to access internet continuously.</a:t>
            </a: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rPr>
              <a:t>NAT is used to reduce the no. of IP addresses that an organization needs.</a:t>
            </a:r>
          </a:p>
        </p:txBody>
      </p:sp>
    </p:spTree>
    <p:extLst>
      <p:ext uri="{BB962C8B-B14F-4D97-AF65-F5344CB8AC3E}">
        <p14:creationId xmlns:p14="http://schemas.microsoft.com/office/powerpoint/2010/main" val="3044177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1531-1864-34DA-FAC1-BE5B846817C3}"/>
              </a:ext>
            </a:extLst>
          </p:cNvPr>
          <p:cNvSpPr>
            <a:spLocks noGrp="1"/>
          </p:cNvSpPr>
          <p:nvPr>
            <p:ph type="title"/>
          </p:nvPr>
        </p:nvSpPr>
        <p:spPr>
          <a:xfrm>
            <a:off x="838200" y="365126"/>
            <a:ext cx="10515600" cy="577850"/>
          </a:xfrm>
        </p:spPr>
        <p:txBody>
          <a:bodyPr/>
          <a:lstStyle/>
          <a:p>
            <a:r>
              <a:rPr lang="en-US" sz="3200" b="1" i="0" dirty="0">
                <a:solidFill>
                  <a:srgbClr val="FF0000"/>
                </a:solidFill>
                <a:effectLst/>
                <a:latin typeface="Times New Roman" panose="02020603050405020304" pitchFamily="18" charset="0"/>
                <a:cs typeface="Times New Roman" panose="02020603050405020304" pitchFamily="18" charset="0"/>
              </a:rPr>
              <a:t>Network Address Translation (NAT)</a:t>
            </a:r>
            <a:r>
              <a:rPr lang="en-US" sz="3200" b="0" i="0" dirty="0">
                <a:solidFill>
                  <a:srgbClr val="FF0000"/>
                </a:solidFill>
                <a:effectLst/>
                <a:latin typeface="Times New Roman" panose="02020603050405020304" pitchFamily="18" charset="0"/>
                <a:cs typeface="Times New Roman" panose="02020603050405020304" pitchFamily="18" charset="0"/>
              </a:rPr>
              <a:t> </a:t>
            </a:r>
            <a:endParaRPr lang="en-US" dirty="0"/>
          </a:p>
        </p:txBody>
      </p:sp>
      <p:sp>
        <p:nvSpPr>
          <p:cNvPr id="3" name="Content Placeholder 2">
            <a:extLst>
              <a:ext uri="{FF2B5EF4-FFF2-40B4-BE49-F238E27FC236}">
                <a16:creationId xmlns:a16="http://schemas.microsoft.com/office/drawing/2014/main" id="{91144B05-8583-BAC1-4C9B-92CA8817FF73}"/>
              </a:ext>
            </a:extLst>
          </p:cNvPr>
          <p:cNvSpPr>
            <a:spLocks noGrp="1"/>
          </p:cNvSpPr>
          <p:nvPr>
            <p:ph idx="1"/>
          </p:nvPr>
        </p:nvSpPr>
        <p:spPr>
          <a:xfrm>
            <a:off x="586879" y="1232843"/>
            <a:ext cx="10515600" cy="3450613"/>
          </a:xfrm>
        </p:spPr>
        <p:txBody>
          <a:bodyPr/>
          <a:lstStyle/>
          <a:p>
            <a:pPr algn="just">
              <a:buFont typeface="Wingdings" panose="05000000000000000000" pitchFamily="2" charset="2"/>
              <a:buChar char="Ø"/>
            </a:pPr>
            <a:r>
              <a:rPr lang="en-US" sz="2000" dirty="0"/>
              <a:t>Assign each company a single IP address(Public) for internet traffic.</a:t>
            </a:r>
          </a:p>
          <a:p>
            <a:pPr algn="just">
              <a:buFont typeface="Wingdings" panose="05000000000000000000" pitchFamily="2" charset="2"/>
              <a:buChar char="Ø"/>
            </a:pPr>
            <a:endParaRPr lang="en-US" sz="2000" dirty="0"/>
          </a:p>
          <a:p>
            <a:pPr algn="just">
              <a:buFont typeface="Wingdings" panose="05000000000000000000" pitchFamily="2" charset="2"/>
              <a:buChar char="Ø"/>
            </a:pPr>
            <a:r>
              <a:rPr lang="en-US" sz="2000" dirty="0"/>
              <a:t>Within the company, every computer gets a unique IP address(Private) to manage intramural traffic.</a:t>
            </a:r>
          </a:p>
          <a:p>
            <a:pPr algn="just">
              <a:buFont typeface="Wingdings" panose="05000000000000000000" pitchFamily="2" charset="2"/>
              <a:buChar char="Ø"/>
            </a:pPr>
            <a:endParaRPr lang="en-US" sz="2000" dirty="0"/>
          </a:p>
          <a:p>
            <a:pPr algn="just">
              <a:buFont typeface="Wingdings" panose="05000000000000000000" pitchFamily="2" charset="2"/>
              <a:buChar char="Ø"/>
            </a:pPr>
            <a:r>
              <a:rPr lang="en-US" sz="2000" dirty="0"/>
              <a:t>Whenever a packet exits the company and goes to the ISP, an address translation(Private to Public) takes place.</a:t>
            </a:r>
          </a:p>
          <a:p>
            <a:endParaRPr lang="en-US" dirty="0"/>
          </a:p>
        </p:txBody>
      </p:sp>
      <p:sp>
        <p:nvSpPr>
          <p:cNvPr id="4" name="Slide Number Placeholder 3">
            <a:extLst>
              <a:ext uri="{FF2B5EF4-FFF2-40B4-BE49-F238E27FC236}">
                <a16:creationId xmlns:a16="http://schemas.microsoft.com/office/drawing/2014/main" id="{C6D1B74E-B71C-39E6-D244-25D558BF35E8}"/>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CBABCCC1-BF11-4F37-963E-1BCD5B23FD72}" type="slidenum">
              <a:rPr kumimoji="0" lang="en-IN" sz="2200" b="0" i="0" u="none" strike="noStrike" kern="1200" cap="none" spc="0" normalizeH="0" baseline="0" noProof="0" smtClean="0">
                <a:ln>
                  <a:noFill/>
                </a:ln>
                <a:solidFill>
                  <a:srgbClr val="B71E42"/>
                </a:solidFill>
                <a:effectLst/>
                <a:uLnTx/>
                <a:uFillTx/>
                <a:latin typeface="Gill Sans MT" panose="020B0502020104020203"/>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10</a:t>
            </a:fld>
            <a:endParaRPr kumimoji="0" lang="en-IN" sz="2200" b="0" i="0" u="none" strike="noStrike" kern="1200" cap="none" spc="0" normalizeH="0" baseline="0" noProof="0">
              <a:ln>
                <a:noFill/>
              </a:ln>
              <a:solidFill>
                <a:srgbClr val="B71E42"/>
              </a:solidFill>
              <a:effectLst/>
              <a:uLnTx/>
              <a:uFillTx/>
              <a:latin typeface="Gill Sans MT" panose="020B0502020104020203"/>
              <a:ea typeface="+mn-ea"/>
              <a:cs typeface="+mn-cs"/>
            </a:endParaRPr>
          </a:p>
        </p:txBody>
      </p:sp>
      <p:pic>
        <p:nvPicPr>
          <p:cNvPr id="7" name="Content Placeholder 6">
            <a:extLst>
              <a:ext uri="{FF2B5EF4-FFF2-40B4-BE49-F238E27FC236}">
                <a16:creationId xmlns:a16="http://schemas.microsoft.com/office/drawing/2014/main" id="{858A7E4C-41B1-BF48-8D58-9F195793BB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959" y="4168651"/>
            <a:ext cx="6794041" cy="1992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A546199C-CF4F-A6F0-2C22-2BCE8E6EE7CF}"/>
              </a:ext>
            </a:extLst>
          </p:cNvPr>
          <p:cNvSpPr txBox="1"/>
          <p:nvPr/>
        </p:nvSpPr>
        <p:spPr>
          <a:xfrm>
            <a:off x="195163" y="4197131"/>
            <a:ext cx="5007633" cy="1938992"/>
          </a:xfrm>
          <a:prstGeom prst="rect">
            <a:avLst/>
          </a:prstGeom>
          <a:noFill/>
          <a:ln>
            <a:solidFill>
              <a:schemeClr val="tx1"/>
            </a:solidFill>
          </a:ln>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Gill Sans MT" panose="020B0502020104020203"/>
                <a:ea typeface="+mn-ea"/>
                <a:cs typeface="+mn-cs"/>
              </a:rPr>
              <a:t>A Network Address Translation (NAT) is the process of mapping an internet protocol (IP) address to another by changing the header of IP packets while in transit via a router. This helps to improve security and decrease the number of IP addresses an organization needs.</a:t>
            </a:r>
          </a:p>
        </p:txBody>
      </p:sp>
    </p:spTree>
    <p:extLst>
      <p:ext uri="{BB962C8B-B14F-4D97-AF65-F5344CB8AC3E}">
        <p14:creationId xmlns:p14="http://schemas.microsoft.com/office/powerpoint/2010/main" val="3010643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D5BD-CB53-F50E-EB06-C3A3873194B3}"/>
              </a:ext>
            </a:extLst>
          </p:cNvPr>
          <p:cNvSpPr>
            <a:spLocks noGrp="1"/>
          </p:cNvSpPr>
          <p:nvPr>
            <p:ph type="title"/>
          </p:nvPr>
        </p:nvSpPr>
        <p:spPr/>
        <p:txBody>
          <a:bodyPr>
            <a:normAutofit/>
          </a:bodyPr>
          <a:lstStyle/>
          <a:p>
            <a:r>
              <a:rPr lang="en-US" sz="2800" b="1" i="0" dirty="0">
                <a:solidFill>
                  <a:srgbClr val="FF0000"/>
                </a:solidFill>
                <a:effectLst/>
                <a:latin typeface="Times New Roman" panose="02020603050405020304" pitchFamily="18" charset="0"/>
                <a:cs typeface="Times New Roman" panose="02020603050405020304" pitchFamily="18" charset="0"/>
              </a:rPr>
              <a:t>Network Address Translation (NAT)</a:t>
            </a:r>
            <a:r>
              <a:rPr lang="en-US" sz="2800" b="0" i="0" dirty="0">
                <a:solidFill>
                  <a:srgbClr val="FF0000"/>
                </a:solidFill>
                <a:effectLst/>
                <a:latin typeface="Times New Roman" panose="02020603050405020304" pitchFamily="18" charset="0"/>
                <a:cs typeface="Times New Roman" panose="02020603050405020304" pitchFamily="18" charset="0"/>
              </a:rPr>
              <a:t>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FC770-EE5D-C09D-2119-C62E5FC37F39}"/>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CBABCCC1-BF11-4F37-963E-1BCD5B23FD72}" type="slidenum">
              <a:rPr kumimoji="0" lang="en-IN" sz="2200" b="0" i="0" u="none" strike="noStrike" kern="1200" cap="none" spc="0" normalizeH="0" baseline="0" noProof="0" smtClean="0">
                <a:ln>
                  <a:noFill/>
                </a:ln>
                <a:solidFill>
                  <a:srgbClr val="B71E42"/>
                </a:solidFill>
                <a:effectLst/>
                <a:uLnTx/>
                <a:uFillTx/>
                <a:latin typeface="Gill Sans MT" panose="020B0502020104020203"/>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11</a:t>
            </a:fld>
            <a:endParaRPr kumimoji="0" lang="en-IN" sz="2200" b="0" i="0" u="none" strike="noStrike" kern="1200" cap="none" spc="0" normalizeH="0" baseline="0" noProof="0">
              <a:ln>
                <a:noFill/>
              </a:ln>
              <a:solidFill>
                <a:srgbClr val="B71E42"/>
              </a:solidFill>
              <a:effectLst/>
              <a:uLnTx/>
              <a:uFillTx/>
              <a:latin typeface="Gill Sans MT" panose="020B0502020104020203"/>
              <a:ea typeface="+mn-ea"/>
              <a:cs typeface="+mn-cs"/>
            </a:endParaRPr>
          </a:p>
        </p:txBody>
      </p:sp>
      <p:pic>
        <p:nvPicPr>
          <p:cNvPr id="9" name="Picture 8">
            <a:extLst>
              <a:ext uri="{FF2B5EF4-FFF2-40B4-BE49-F238E27FC236}">
                <a16:creationId xmlns:a16="http://schemas.microsoft.com/office/drawing/2014/main" id="{25EB7759-CA22-92A8-6114-A555313F3C40}"/>
              </a:ext>
            </a:extLst>
          </p:cNvPr>
          <p:cNvPicPr>
            <a:picLocks noChangeAspect="1"/>
          </p:cNvPicPr>
          <p:nvPr/>
        </p:nvPicPr>
        <p:blipFill>
          <a:blip r:embed="rId2"/>
          <a:stretch>
            <a:fillRect/>
          </a:stretch>
        </p:blipFill>
        <p:spPr>
          <a:xfrm>
            <a:off x="5690490" y="2630384"/>
            <a:ext cx="6334539" cy="2334970"/>
          </a:xfrm>
          <a:prstGeom prst="rect">
            <a:avLst/>
          </a:prstGeom>
        </p:spPr>
      </p:pic>
      <p:sp>
        <p:nvSpPr>
          <p:cNvPr id="11" name="Text Box 4">
            <a:extLst>
              <a:ext uri="{FF2B5EF4-FFF2-40B4-BE49-F238E27FC236}">
                <a16:creationId xmlns:a16="http://schemas.microsoft.com/office/drawing/2014/main" id="{BAB51809-F64D-9C41-FD81-4EB9A8BA7B1F}"/>
              </a:ext>
            </a:extLst>
          </p:cNvPr>
          <p:cNvSpPr txBox="1">
            <a:spLocks noChangeArrowheads="1"/>
          </p:cNvSpPr>
          <p:nvPr/>
        </p:nvSpPr>
        <p:spPr bwMode="auto">
          <a:xfrm>
            <a:off x="4777474" y="1969667"/>
            <a:ext cx="22720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Addresses in a NAT</a:t>
            </a:r>
          </a:p>
        </p:txBody>
      </p:sp>
      <p:sp>
        <p:nvSpPr>
          <p:cNvPr id="5" name="TextBox 4">
            <a:extLst>
              <a:ext uri="{FF2B5EF4-FFF2-40B4-BE49-F238E27FC236}">
                <a16:creationId xmlns:a16="http://schemas.microsoft.com/office/drawing/2014/main" id="{66E97374-E2B0-308C-2B21-CFE80745FDC7}"/>
              </a:ext>
            </a:extLst>
          </p:cNvPr>
          <p:cNvSpPr txBox="1"/>
          <p:nvPr/>
        </p:nvSpPr>
        <p:spPr>
          <a:xfrm>
            <a:off x="345874" y="2945968"/>
            <a:ext cx="5344616" cy="123110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black"/>
                </a:solidFill>
                <a:effectLst/>
                <a:uLnTx/>
                <a:uFillTx/>
                <a:latin typeface="Gill Sans MT" panose="020B0502020104020203"/>
                <a:ea typeface="+mn-ea"/>
                <a:cs typeface="+mn-cs"/>
              </a:rPr>
              <a:t>Private addresses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rPr>
              <a:t>		10 . 0 . 0 . 0       -   10 . 255 . 255 . 255 / 8</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rPr>
              <a:t>		172 .16 . 0. 0     -   172. 31 . 255 . 255 /12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rPr>
              <a:t>		192 .168 . 0 . 0  -   192 . 168 . 255 . 255 /16</a:t>
            </a:r>
          </a:p>
        </p:txBody>
      </p:sp>
    </p:spTree>
    <p:extLst>
      <p:ext uri="{BB962C8B-B14F-4D97-AF65-F5344CB8AC3E}">
        <p14:creationId xmlns:p14="http://schemas.microsoft.com/office/powerpoint/2010/main" val="2183618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D5BD-CB53-F50E-EB06-C3A3873194B3}"/>
              </a:ext>
            </a:extLst>
          </p:cNvPr>
          <p:cNvSpPr>
            <a:spLocks noGrp="1"/>
          </p:cNvSpPr>
          <p:nvPr>
            <p:ph type="title"/>
          </p:nvPr>
        </p:nvSpPr>
        <p:spPr/>
        <p:txBody>
          <a:bodyPr>
            <a:normAutofit/>
          </a:bodyPr>
          <a:lstStyle/>
          <a:p>
            <a:r>
              <a:rPr lang="en-US" sz="2800" b="1" i="0" dirty="0">
                <a:solidFill>
                  <a:srgbClr val="FF0000"/>
                </a:solidFill>
                <a:effectLst/>
                <a:latin typeface="Times New Roman" panose="02020603050405020304" pitchFamily="18" charset="0"/>
                <a:cs typeface="Times New Roman" panose="02020603050405020304" pitchFamily="18" charset="0"/>
              </a:rPr>
              <a:t>Network Address Translation (NAT)</a:t>
            </a:r>
            <a:r>
              <a:rPr lang="en-US" sz="2800" b="0" i="0" dirty="0">
                <a:solidFill>
                  <a:srgbClr val="FF0000"/>
                </a:solidFill>
                <a:effectLst/>
                <a:latin typeface="Times New Roman" panose="02020603050405020304" pitchFamily="18" charset="0"/>
                <a:cs typeface="Times New Roman" panose="02020603050405020304" pitchFamily="18" charset="0"/>
              </a:rPr>
              <a:t>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FC770-EE5D-C09D-2119-C62E5FC37F39}"/>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CBABCCC1-BF11-4F37-963E-1BCD5B23FD72}" type="slidenum">
              <a:rPr kumimoji="0" lang="en-IN" sz="2200" b="0" i="0" u="none" strike="noStrike" kern="1200" cap="none" spc="0" normalizeH="0" baseline="0" noProof="0" smtClean="0">
                <a:ln>
                  <a:noFill/>
                </a:ln>
                <a:solidFill>
                  <a:srgbClr val="B71E42"/>
                </a:solidFill>
                <a:effectLst/>
                <a:uLnTx/>
                <a:uFillTx/>
                <a:latin typeface="Gill Sans MT" panose="020B0502020104020203"/>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12</a:t>
            </a:fld>
            <a:endParaRPr kumimoji="0" lang="en-IN" sz="2200" b="0" i="0" u="none" strike="noStrike" kern="1200" cap="none" spc="0" normalizeH="0" baseline="0" noProof="0">
              <a:ln>
                <a:noFill/>
              </a:ln>
              <a:solidFill>
                <a:srgbClr val="B71E42"/>
              </a:solidFill>
              <a:effectLst/>
              <a:uLnTx/>
              <a:uFillTx/>
              <a:latin typeface="Gill Sans MT" panose="020B0502020104020203"/>
              <a:ea typeface="+mn-ea"/>
              <a:cs typeface="+mn-cs"/>
            </a:endParaRPr>
          </a:p>
        </p:txBody>
      </p:sp>
      <p:sp>
        <p:nvSpPr>
          <p:cNvPr id="3" name="Text Box 4">
            <a:extLst>
              <a:ext uri="{FF2B5EF4-FFF2-40B4-BE49-F238E27FC236}">
                <a16:creationId xmlns:a16="http://schemas.microsoft.com/office/drawing/2014/main" id="{AAB0B032-CDB1-5546-026E-084EB0D1EEE5}"/>
              </a:ext>
            </a:extLst>
          </p:cNvPr>
          <p:cNvSpPr txBox="1">
            <a:spLocks noChangeArrowheads="1"/>
          </p:cNvSpPr>
          <p:nvPr/>
        </p:nvSpPr>
        <p:spPr bwMode="auto">
          <a:xfrm>
            <a:off x="62753" y="1379896"/>
            <a:ext cx="44924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000" b="1" i="1" u="sng" strike="noStrike" kern="1200" cap="none" spc="0" normalizeH="0" baseline="0" noProof="0" dirty="0">
                <a:ln>
                  <a:noFill/>
                </a:ln>
                <a:solidFill>
                  <a:srgbClr val="00B0F0"/>
                </a:solidFill>
                <a:effectLst/>
                <a:uLnTx/>
                <a:uFillTx/>
                <a:latin typeface="Times New Roman" panose="02020603050405020304" pitchFamily="18" charset="0"/>
                <a:ea typeface="+mn-ea"/>
                <a:cs typeface="+mn-cs"/>
              </a:rPr>
              <a:t>NAT address translation process</a:t>
            </a:r>
            <a:r>
              <a:rPr kumimoji="0" lang="en-US" altLang="en-US" sz="2000" b="1" i="1" u="none" strike="noStrike" kern="1200" cap="none" spc="0" normalizeH="0" baseline="0" noProof="0" dirty="0">
                <a:ln>
                  <a:noFill/>
                </a:ln>
                <a:solidFill>
                  <a:srgbClr val="00B0F0"/>
                </a:solidFill>
                <a:effectLst/>
                <a:uLnTx/>
                <a:uFillTx/>
                <a:latin typeface="Times New Roman" panose="02020603050405020304" pitchFamily="18" charset="0"/>
                <a:ea typeface="+mn-ea"/>
                <a:cs typeface="+mn-cs"/>
              </a:rPr>
              <a:t>:</a:t>
            </a:r>
          </a:p>
        </p:txBody>
      </p:sp>
      <p:pic>
        <p:nvPicPr>
          <p:cNvPr id="6" name="Picture 5">
            <a:extLst>
              <a:ext uri="{FF2B5EF4-FFF2-40B4-BE49-F238E27FC236}">
                <a16:creationId xmlns:a16="http://schemas.microsoft.com/office/drawing/2014/main" id="{E95C1275-33A5-375A-88F7-971896EE3F5F}"/>
              </a:ext>
            </a:extLst>
          </p:cNvPr>
          <p:cNvPicPr>
            <a:picLocks noChangeAspect="1"/>
          </p:cNvPicPr>
          <p:nvPr/>
        </p:nvPicPr>
        <p:blipFill>
          <a:blip r:embed="rId2"/>
          <a:stretch>
            <a:fillRect/>
          </a:stretch>
        </p:blipFill>
        <p:spPr>
          <a:xfrm>
            <a:off x="6470395" y="1853754"/>
            <a:ext cx="5613564" cy="4318995"/>
          </a:xfrm>
          <a:prstGeom prst="rect">
            <a:avLst/>
          </a:prstGeom>
        </p:spPr>
      </p:pic>
      <p:sp>
        <p:nvSpPr>
          <p:cNvPr id="5" name="TextBox 4">
            <a:extLst>
              <a:ext uri="{FF2B5EF4-FFF2-40B4-BE49-F238E27FC236}">
                <a16:creationId xmlns:a16="http://schemas.microsoft.com/office/drawing/2014/main" id="{A1266E6D-528C-F2EA-EB5D-ADC470539D4F}"/>
              </a:ext>
            </a:extLst>
          </p:cNvPr>
          <p:cNvSpPr txBox="1"/>
          <p:nvPr/>
        </p:nvSpPr>
        <p:spPr>
          <a:xfrm>
            <a:off x="0" y="1997656"/>
            <a:ext cx="6391836" cy="4293483"/>
          </a:xfrm>
          <a:prstGeom prst="rect">
            <a:avLst/>
          </a:prstGeom>
          <a:noFill/>
        </p:spPr>
        <p:txBody>
          <a:bodyPr wrap="square" rtlCol="0">
            <a:spAutoFit/>
          </a:bodyPr>
          <a:lstStyle/>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Source Private IP: 172.18.3.1</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     Destination IP: 25.8.2.10</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     Network public IP: 200.24.5.8</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These two addresses are recorded in NAT table and the packet is transferred to destination.</a:t>
            </a:r>
          </a:p>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285750" indent="-285750" algn="just">
              <a:buFont typeface="Wingdings" panose="05000000000000000000" pitchFamily="2" charset="2"/>
              <a:buChar char="Ø"/>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Packet while moving to destination, its source private address is changed to public address by NAT. </a:t>
            </a:r>
          </a:p>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When an ACK packet is received from destination (Source IP: 25.8.2.10, Destination IP: 200.24.5.8), then NAT will check the table to see if ACK source IP is equal to external address.</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If so, then the ACK destination public IP is changed to private IP.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469367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a:extLst>
              <a:ext uri="{FF2B5EF4-FFF2-40B4-BE49-F238E27FC236}">
                <a16:creationId xmlns:a16="http://schemas.microsoft.com/office/drawing/2014/main" id="{12AB537D-1F06-ED24-7B76-3E4905C39539}"/>
              </a:ext>
            </a:extLst>
          </p:cNvPr>
          <p:cNvSpPr>
            <a:spLocks noGrp="1"/>
          </p:cNvSpPr>
          <p:nvPr>
            <p:ph idx="1"/>
          </p:nvPr>
        </p:nvSpPr>
        <p:spPr>
          <a:xfrm>
            <a:off x="1083212" y="2886074"/>
            <a:ext cx="10086536" cy="3856581"/>
          </a:xfrm>
        </p:spPr>
        <p:txBody>
          <a:bodyPr>
            <a:normAutofit/>
          </a:bodyPr>
          <a:lstStyle/>
          <a:p>
            <a:pPr marL="0" indent="0" algn="ctr">
              <a:buNone/>
            </a:pPr>
            <a:r>
              <a:rPr lang="en-US" sz="5400" dirty="0"/>
              <a:t>PAT</a:t>
            </a:r>
          </a:p>
        </p:txBody>
      </p:sp>
    </p:spTree>
    <p:extLst>
      <p:ext uri="{BB962C8B-B14F-4D97-AF65-F5344CB8AC3E}">
        <p14:creationId xmlns:p14="http://schemas.microsoft.com/office/powerpoint/2010/main" val="16756735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785C7-3DE9-B01C-06FE-B29FDA728511}"/>
              </a:ext>
            </a:extLst>
          </p:cNvPr>
          <p:cNvSpPr>
            <a:spLocks noGrp="1"/>
          </p:cNvSpPr>
          <p:nvPr>
            <p:ph type="title"/>
          </p:nvPr>
        </p:nvSpPr>
        <p:spPr>
          <a:xfrm>
            <a:off x="838200" y="102366"/>
            <a:ext cx="10515600" cy="1325563"/>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Port</a:t>
            </a:r>
            <a:r>
              <a:rPr lang="en-US" sz="4400" b="1" i="0" dirty="0">
                <a:solidFill>
                  <a:srgbClr val="FF0000"/>
                </a:solidFill>
                <a:effectLst/>
                <a:latin typeface="Times New Roman" panose="02020603050405020304" pitchFamily="18" charset="0"/>
                <a:cs typeface="Times New Roman" panose="02020603050405020304" pitchFamily="18" charset="0"/>
              </a:rPr>
              <a:t> Address Translation (PAT)</a:t>
            </a:r>
            <a:r>
              <a:rPr lang="en-US" sz="4400" b="0" i="0" dirty="0">
                <a:solidFill>
                  <a:srgbClr val="FF0000"/>
                </a:solidFill>
                <a:effectLst/>
                <a:latin typeface="Times New Roman" panose="02020603050405020304" pitchFamily="18" charset="0"/>
                <a:cs typeface="Times New Roman" panose="02020603050405020304" pitchFamily="18" charset="0"/>
              </a:rPr>
              <a:t> </a:t>
            </a:r>
            <a:endParaRPr lang="en-IN" dirty="0"/>
          </a:p>
        </p:txBody>
      </p:sp>
      <p:sp>
        <p:nvSpPr>
          <p:cNvPr id="3" name="Content Placeholder 2">
            <a:extLst>
              <a:ext uri="{FF2B5EF4-FFF2-40B4-BE49-F238E27FC236}">
                <a16:creationId xmlns:a16="http://schemas.microsoft.com/office/drawing/2014/main" id="{EA42AB09-6315-6652-1BDF-FD120AD9859E}"/>
              </a:ext>
            </a:extLst>
          </p:cNvPr>
          <p:cNvSpPr>
            <a:spLocks noGrp="1"/>
          </p:cNvSpPr>
          <p:nvPr>
            <p:ph idx="1"/>
          </p:nvPr>
        </p:nvSpPr>
        <p:spPr>
          <a:xfrm>
            <a:off x="685800" y="956441"/>
            <a:ext cx="11064766" cy="4553772"/>
          </a:xfrm>
        </p:spPr>
        <p:txBody>
          <a:bodyPr/>
          <a:lstStyle/>
          <a:p>
            <a:pPr marL="342900" indent="-342900" algn="just" defTabSz="457200">
              <a:lnSpc>
                <a:spcPct val="100000"/>
              </a:lnSpc>
              <a:spcBef>
                <a:spcPts val="0"/>
              </a:spcBef>
              <a:buFont typeface="Wingdings" panose="05000000000000000000" pitchFamily="2" charset="2"/>
              <a:buChar char="Ø"/>
              <a:defRPr/>
            </a:pPr>
            <a:r>
              <a:rPr lang="en-US" sz="2200" dirty="0">
                <a:solidFill>
                  <a:prstClr val="black"/>
                </a:solidFill>
                <a:latin typeface="Gill Sans MT" panose="020B0502020104020203"/>
              </a:rPr>
              <a:t>Port Address Translation (PAT) is a specific type of Network Address Translation (NAT) technique which is used in computer networking.</a:t>
            </a:r>
          </a:p>
          <a:p>
            <a:pPr marL="342900" indent="-342900" algn="just" defTabSz="457200">
              <a:lnSpc>
                <a:spcPct val="100000"/>
              </a:lnSpc>
              <a:spcBef>
                <a:spcPts val="0"/>
              </a:spcBef>
              <a:buFont typeface="Wingdings" panose="05000000000000000000" pitchFamily="2" charset="2"/>
              <a:buChar char="Ø"/>
              <a:defRPr/>
            </a:pPr>
            <a:endParaRPr lang="en-US" sz="2200" dirty="0">
              <a:solidFill>
                <a:prstClr val="black"/>
              </a:solidFill>
              <a:latin typeface="Gill Sans MT" panose="020B0502020104020203"/>
            </a:endParaRPr>
          </a:p>
          <a:p>
            <a:pPr marL="342900" indent="-342900" algn="just" defTabSz="457200">
              <a:lnSpc>
                <a:spcPct val="100000"/>
              </a:lnSpc>
              <a:spcBef>
                <a:spcPts val="0"/>
              </a:spcBef>
              <a:buFont typeface="Wingdings" panose="05000000000000000000" pitchFamily="2" charset="2"/>
              <a:buChar char="Ø"/>
              <a:defRPr/>
            </a:pPr>
            <a:r>
              <a:rPr lang="en-US" sz="2200" dirty="0">
                <a:solidFill>
                  <a:prstClr val="black"/>
                </a:solidFill>
                <a:latin typeface="Gill Sans MT" panose="020B0502020104020203"/>
              </a:rPr>
              <a:t>PAT is commonly implemented in routers to allow multiple devices within a private network to share a single public IP address due to which it is sometime referred as NAT Overload. </a:t>
            </a:r>
          </a:p>
          <a:p>
            <a:pPr marL="0" indent="0" algn="just" defTabSz="457200">
              <a:lnSpc>
                <a:spcPct val="100000"/>
              </a:lnSpc>
              <a:spcBef>
                <a:spcPts val="0"/>
              </a:spcBef>
              <a:buNone/>
              <a:defRPr/>
            </a:pPr>
            <a:endParaRPr lang="en-US" sz="2200" dirty="0">
              <a:solidFill>
                <a:prstClr val="black"/>
              </a:solidFill>
              <a:latin typeface="Gill Sans MT" panose="020B0502020104020203"/>
            </a:endParaRPr>
          </a:p>
          <a:p>
            <a:pPr marL="342900" indent="-342900" algn="just" defTabSz="457200">
              <a:lnSpc>
                <a:spcPct val="100000"/>
              </a:lnSpc>
              <a:spcBef>
                <a:spcPts val="0"/>
              </a:spcBef>
              <a:buFont typeface="Wingdings" panose="05000000000000000000" pitchFamily="2" charset="2"/>
              <a:buChar char="Ø"/>
              <a:defRPr/>
            </a:pPr>
            <a:r>
              <a:rPr lang="en-US" sz="2200" dirty="0">
                <a:solidFill>
                  <a:prstClr val="black"/>
                </a:solidFill>
                <a:latin typeface="Gill Sans MT" panose="020B0502020104020203"/>
              </a:rPr>
              <a:t>The main task of Port Address Translation (PAT) is to map multiple private IP addresses to a single public IP address by using unique port numbers.</a:t>
            </a:r>
          </a:p>
          <a:p>
            <a:pPr marL="342900" indent="-342900" algn="just" defTabSz="457200">
              <a:lnSpc>
                <a:spcPct val="100000"/>
              </a:lnSpc>
              <a:spcBef>
                <a:spcPts val="0"/>
              </a:spcBef>
              <a:buFont typeface="Wingdings" panose="05000000000000000000" pitchFamily="2" charset="2"/>
              <a:buChar char="Ø"/>
              <a:defRPr/>
            </a:pPr>
            <a:endParaRPr lang="en-US" sz="2200" dirty="0">
              <a:solidFill>
                <a:prstClr val="black"/>
              </a:solidFill>
              <a:latin typeface="Gill Sans MT" panose="020B0502020104020203"/>
            </a:endParaRPr>
          </a:p>
          <a:p>
            <a:pPr marL="342900" indent="-342900" algn="just" defTabSz="457200">
              <a:lnSpc>
                <a:spcPct val="100000"/>
              </a:lnSpc>
              <a:spcBef>
                <a:spcPts val="0"/>
              </a:spcBef>
              <a:buFont typeface="Wingdings" panose="05000000000000000000" pitchFamily="2" charset="2"/>
              <a:buChar char="Ø"/>
              <a:defRPr/>
            </a:pPr>
            <a:r>
              <a:rPr lang="en-US" sz="2200" dirty="0">
                <a:solidFill>
                  <a:prstClr val="black"/>
                </a:solidFill>
                <a:latin typeface="Gill Sans MT" panose="020B0502020104020203"/>
              </a:rPr>
              <a:t>In PAT, Private IP addresses are translated into the public IP address via Port numbers. </a:t>
            </a:r>
          </a:p>
          <a:p>
            <a:pPr marL="342900" indent="-342900" algn="just" defTabSz="457200">
              <a:lnSpc>
                <a:spcPct val="100000"/>
              </a:lnSpc>
              <a:spcBef>
                <a:spcPts val="0"/>
              </a:spcBef>
              <a:buFont typeface="Wingdings" panose="05000000000000000000" pitchFamily="2" charset="2"/>
              <a:buChar char="Ø"/>
              <a:defRPr/>
            </a:pPr>
            <a:endParaRPr lang="en-IN" sz="2200" dirty="0">
              <a:solidFill>
                <a:prstClr val="black"/>
              </a:solidFill>
              <a:latin typeface="Gill Sans MT" panose="020B0502020104020203"/>
            </a:endParaRPr>
          </a:p>
        </p:txBody>
      </p:sp>
      <p:pic>
        <p:nvPicPr>
          <p:cNvPr id="4" name="Picture 3">
            <a:extLst>
              <a:ext uri="{FF2B5EF4-FFF2-40B4-BE49-F238E27FC236}">
                <a16:creationId xmlns:a16="http://schemas.microsoft.com/office/drawing/2014/main" id="{58BB7D2E-334A-5EB5-89B5-5E09379A91E1}"/>
              </a:ext>
            </a:extLst>
          </p:cNvPr>
          <p:cNvPicPr>
            <a:picLocks noChangeAspect="1"/>
          </p:cNvPicPr>
          <p:nvPr/>
        </p:nvPicPr>
        <p:blipFill>
          <a:blip r:embed="rId2"/>
          <a:stretch>
            <a:fillRect/>
          </a:stretch>
        </p:blipFill>
        <p:spPr>
          <a:xfrm>
            <a:off x="3146367" y="4517707"/>
            <a:ext cx="6143632" cy="2237927"/>
          </a:xfrm>
          <a:prstGeom prst="rect">
            <a:avLst/>
          </a:prstGeom>
        </p:spPr>
      </p:pic>
    </p:spTree>
    <p:extLst>
      <p:ext uri="{BB962C8B-B14F-4D97-AF65-F5344CB8AC3E}">
        <p14:creationId xmlns:p14="http://schemas.microsoft.com/office/powerpoint/2010/main" val="2400457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AB8C8-C5A9-F987-1FE1-A7B8DCBAD11C}"/>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Port</a:t>
            </a:r>
            <a:r>
              <a:rPr lang="en-US" sz="4400" b="1" i="0" dirty="0">
                <a:solidFill>
                  <a:srgbClr val="FF0000"/>
                </a:solidFill>
                <a:effectLst/>
                <a:latin typeface="Times New Roman" panose="02020603050405020304" pitchFamily="18" charset="0"/>
                <a:cs typeface="Times New Roman" panose="02020603050405020304" pitchFamily="18" charset="0"/>
              </a:rPr>
              <a:t> Address Translation (PAT)</a:t>
            </a:r>
            <a:r>
              <a:rPr lang="en-US" sz="4400" b="0" i="0" dirty="0">
                <a:solidFill>
                  <a:srgbClr val="FF0000"/>
                </a:solidFill>
                <a:effectLst/>
                <a:latin typeface="Times New Roman" panose="02020603050405020304" pitchFamily="18" charset="0"/>
                <a:cs typeface="Times New Roman" panose="02020603050405020304" pitchFamily="18" charset="0"/>
              </a:rPr>
              <a:t> …</a:t>
            </a:r>
            <a:endParaRPr lang="en-IN" dirty="0"/>
          </a:p>
        </p:txBody>
      </p:sp>
      <p:pic>
        <p:nvPicPr>
          <p:cNvPr id="5" name="Content Placeholder 4" descr="A diagram of a network&#10;&#10;Description automatically generated">
            <a:extLst>
              <a:ext uri="{FF2B5EF4-FFF2-40B4-BE49-F238E27FC236}">
                <a16:creationId xmlns:a16="http://schemas.microsoft.com/office/drawing/2014/main" id="{5BCC5F37-77C2-304A-5EBE-77EC5A3109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9366" y="1114424"/>
            <a:ext cx="8717159" cy="5571693"/>
          </a:xfrm>
        </p:spPr>
      </p:pic>
    </p:spTree>
    <p:extLst>
      <p:ext uri="{BB962C8B-B14F-4D97-AF65-F5344CB8AC3E}">
        <p14:creationId xmlns:p14="http://schemas.microsoft.com/office/powerpoint/2010/main" val="1245909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E0631B-1888-44A3-956F-2018E4A03155}"/>
              </a:ext>
            </a:extLst>
          </p:cNvPr>
          <p:cNvSpPr>
            <a:spLocks noGrp="1"/>
          </p:cNvSpPr>
          <p:nvPr>
            <p:ph idx="1"/>
          </p:nvPr>
        </p:nvSpPr>
        <p:spPr>
          <a:xfrm>
            <a:off x="5210469" y="1797587"/>
            <a:ext cx="6654018" cy="4731434"/>
          </a:xfrm>
        </p:spPr>
        <p:txBody>
          <a:bodyPr>
            <a:normAutofit/>
          </a:bodyPr>
          <a:lstStyle/>
          <a:p>
            <a:endParaRPr lang="en-US" dirty="0"/>
          </a:p>
          <a:p>
            <a:pPr>
              <a:buFont typeface="Wingdings" panose="05000000000000000000" pitchFamily="2" charset="2"/>
              <a:buChar char="Ø"/>
            </a:pPr>
            <a:r>
              <a:rPr lang="en-US" dirty="0"/>
              <a:t>Tunneling</a:t>
            </a:r>
          </a:p>
          <a:p>
            <a:pPr>
              <a:buFont typeface="Wingdings" panose="05000000000000000000" pitchFamily="2" charset="2"/>
              <a:buChar char="Ø"/>
            </a:pPr>
            <a:endParaRPr lang="en-US" dirty="0"/>
          </a:p>
          <a:p>
            <a:pPr>
              <a:buFont typeface="Wingdings" panose="05000000000000000000" pitchFamily="2" charset="2"/>
              <a:buChar char="Ø"/>
            </a:pPr>
            <a:r>
              <a:rPr lang="en-US" dirty="0"/>
              <a:t>NAT Protocol</a:t>
            </a:r>
          </a:p>
          <a:p>
            <a:pPr>
              <a:buFont typeface="Wingdings" panose="05000000000000000000" pitchFamily="2" charset="2"/>
              <a:buChar char="Ø"/>
            </a:pPr>
            <a:endParaRPr lang="en-US" dirty="0"/>
          </a:p>
          <a:p>
            <a:pPr>
              <a:buFont typeface="Wingdings" panose="05000000000000000000" pitchFamily="2" charset="2"/>
              <a:buChar char="Ø"/>
            </a:pPr>
            <a:r>
              <a:rPr lang="en-US" dirty="0"/>
              <a:t>PAT Protocol</a:t>
            </a:r>
          </a:p>
          <a:p>
            <a:endParaRPr lang="en-US" dirty="0"/>
          </a:p>
        </p:txBody>
      </p:sp>
      <p:pic>
        <p:nvPicPr>
          <p:cNvPr id="2" name="Picture 2" descr="KL Deemed to be University Logo">
            <a:extLst>
              <a:ext uri="{FF2B5EF4-FFF2-40B4-BE49-F238E27FC236}">
                <a16:creationId xmlns:a16="http://schemas.microsoft.com/office/drawing/2014/main"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58129" y="2194816"/>
            <a:ext cx="10818056" cy="1852815"/>
          </a:xfrm>
          <a:prstGeom prst="rect">
            <a:avLst/>
          </a:prstGeom>
          <a:noFill/>
        </p:spPr>
        <p:txBody>
          <a:bodyPr wrap="square" rtlCol="0">
            <a:spAutoFit/>
          </a:bodyPr>
          <a:lstStyle/>
          <a:p>
            <a:pPr marL="457200" indent="-457200">
              <a:lnSpc>
                <a:spcPct val="200000"/>
              </a:lnSpc>
              <a:buAutoNum type="arabicPeriod"/>
            </a:pPr>
            <a:r>
              <a:rPr lang="en-US" sz="2000" dirty="0"/>
              <a:t>Demonstrate the concept of Tunneling in an internet with an example. </a:t>
            </a:r>
          </a:p>
          <a:p>
            <a:pPr marL="457200" indent="-457200">
              <a:lnSpc>
                <a:spcPct val="200000"/>
              </a:lnSpc>
              <a:buAutoNum type="arabicPeriod"/>
            </a:pPr>
            <a:r>
              <a:rPr lang="en-US" sz="2000" dirty="0"/>
              <a:t>With a neat sketch describe the functionality of NAT. </a:t>
            </a:r>
          </a:p>
          <a:p>
            <a:pPr marL="457200" indent="-457200">
              <a:lnSpc>
                <a:spcPct val="200000"/>
              </a:lnSpc>
              <a:buAutoNum type="arabicPeriod"/>
            </a:pPr>
            <a:r>
              <a:rPr lang="en-US" sz="2000" dirty="0"/>
              <a:t>With a neat sketch describe the functionality of PAT. </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1711366"/>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Behrouz A. </a:t>
            </a:r>
            <a:r>
              <a:rPr lang="en-US" dirty="0" err="1"/>
              <a:t>Forouzan</a:t>
            </a:r>
            <a:r>
              <a:rPr lang="en-US" dirty="0"/>
              <a:t> , “Data Communication and Networking”, TMH, 5th Edition, 2012.</a:t>
            </a:r>
          </a:p>
          <a:p>
            <a:pPr marL="342900" indent="-342900">
              <a:lnSpc>
                <a:spcPct val="150000"/>
              </a:lnSpc>
              <a:buAutoNum type="arabicPeriod"/>
            </a:pPr>
            <a:r>
              <a:rPr lang="en-US" dirty="0"/>
              <a:t>A.S. Tanenbaum, David J. </a:t>
            </a:r>
            <a:r>
              <a:rPr lang="en-US" dirty="0" err="1"/>
              <a:t>Wetheral</a:t>
            </a:r>
            <a:r>
              <a:rPr lang="en-US" dirty="0"/>
              <a:t> “Computer Networks” Pearson, 5th Edition.</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050073" y="1987061"/>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Network Protocols &amp; Security</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4990659" y="2887393"/>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736</TotalTime>
  <Words>1020</Words>
  <Application>Microsoft Office PowerPoint</Application>
  <PresentationFormat>Widescreen</PresentationFormat>
  <Paragraphs>172</Paragraphs>
  <Slides>19</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BioRhyme ExtraBold</vt:lpstr>
      <vt:lpstr>Calibri</vt:lpstr>
      <vt:lpstr>Gill Sans MT</vt:lpstr>
      <vt:lpstr>Poppins</vt:lpstr>
      <vt:lpstr>Times New Roman</vt:lpstr>
      <vt:lpstr>Wingdings</vt:lpstr>
      <vt:lpstr>1_Office Theme</vt:lpstr>
      <vt:lpstr>PowerPoint Presentation</vt:lpstr>
      <vt:lpstr>PowerPoint Presentation</vt:lpstr>
      <vt:lpstr>PowerPoint Presentation</vt:lpstr>
      <vt:lpstr>TUNNELING</vt:lpstr>
      <vt:lpstr>TUNNELING…</vt:lpstr>
      <vt:lpstr>TUNNELING…</vt:lpstr>
      <vt:lpstr>TUNNELING…</vt:lpstr>
      <vt:lpstr>PowerPoint Presentation</vt:lpstr>
      <vt:lpstr>Network Address Translation (NAT) </vt:lpstr>
      <vt:lpstr>Network Address Translation (NAT) </vt:lpstr>
      <vt:lpstr>Network Address Translation (NAT) </vt:lpstr>
      <vt:lpstr>Network Address Translation (NAT) </vt:lpstr>
      <vt:lpstr>PowerPoint Presentation</vt:lpstr>
      <vt:lpstr>Port Address Translation (PAT) </vt:lpstr>
      <vt:lpstr>Port Address Translation (PAT)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GORLA VENKATA GANESH</cp:lastModifiedBy>
  <cp:revision>74</cp:revision>
  <dcterms:created xsi:type="dcterms:W3CDTF">2020-02-08T09:57:44Z</dcterms:created>
  <dcterms:modified xsi:type="dcterms:W3CDTF">2025-12-17T06:34:04Z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