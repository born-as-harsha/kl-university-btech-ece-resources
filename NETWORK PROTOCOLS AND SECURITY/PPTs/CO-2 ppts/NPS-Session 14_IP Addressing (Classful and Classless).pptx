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85" r:id="rId2"/>
    <p:sldMasterId id="2147483697" r:id="rId3"/>
  </p:sldMasterIdLst>
  <p:notesMasterIdLst>
    <p:notesMasterId r:id="rId45"/>
  </p:notesMasterIdLst>
  <p:sldIdLst>
    <p:sldId id="888" r:id="rId4"/>
    <p:sldId id="889" r:id="rId5"/>
    <p:sldId id="313" r:id="rId6"/>
    <p:sldId id="257" r:id="rId7"/>
    <p:sldId id="290" r:id="rId8"/>
    <p:sldId id="288" r:id="rId9"/>
    <p:sldId id="291" r:id="rId10"/>
    <p:sldId id="293" r:id="rId11"/>
    <p:sldId id="261" r:id="rId12"/>
    <p:sldId id="305" r:id="rId13"/>
    <p:sldId id="263" r:id="rId14"/>
    <p:sldId id="887" r:id="rId15"/>
    <p:sldId id="264" r:id="rId16"/>
    <p:sldId id="878" r:id="rId17"/>
    <p:sldId id="265" r:id="rId18"/>
    <p:sldId id="294" r:id="rId19"/>
    <p:sldId id="267" r:id="rId20"/>
    <p:sldId id="269" r:id="rId21"/>
    <p:sldId id="296" r:id="rId22"/>
    <p:sldId id="876" r:id="rId23"/>
    <p:sldId id="287" r:id="rId24"/>
    <p:sldId id="877" r:id="rId25"/>
    <p:sldId id="278" r:id="rId26"/>
    <p:sldId id="879" r:id="rId27"/>
    <p:sldId id="297" r:id="rId28"/>
    <p:sldId id="281" r:id="rId29"/>
    <p:sldId id="282" r:id="rId30"/>
    <p:sldId id="880" r:id="rId31"/>
    <p:sldId id="271" r:id="rId32"/>
    <p:sldId id="298" r:id="rId33"/>
    <p:sldId id="274" r:id="rId34"/>
    <p:sldId id="299" r:id="rId35"/>
    <p:sldId id="884" r:id="rId36"/>
    <p:sldId id="277" r:id="rId37"/>
    <p:sldId id="882" r:id="rId38"/>
    <p:sldId id="279" r:id="rId39"/>
    <p:sldId id="883" r:id="rId40"/>
    <p:sldId id="886" r:id="rId41"/>
    <p:sldId id="314" r:id="rId42"/>
    <p:sldId id="315" r:id="rId43"/>
    <p:sldId id="300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4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viewProps" Target="view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theme" Target="theme/theme1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presProps" Target="presProps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A69294-BE40-4F53-9009-F96CD52AF726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B7285F-CC9D-4373-8D84-5F563E3CB5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0013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244303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7">
            <a:extLst>
              <a:ext uri="{FF2B5EF4-FFF2-40B4-BE49-F238E27FC236}">
                <a16:creationId xmlns:a16="http://schemas.microsoft.com/office/drawing/2014/main" id="{FD862A92-677D-4245-BDCD-0B3BC92B698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ABC5D3E-AD7C-4061-B910-6FC297591A85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83299" name="Rectangle 2">
            <a:extLst>
              <a:ext uri="{FF2B5EF4-FFF2-40B4-BE49-F238E27FC236}">
                <a16:creationId xmlns:a16="http://schemas.microsoft.com/office/drawing/2014/main" id="{C0BDF9FE-E30F-4251-82AB-DFE55C8EF42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3300" name="Rectangle 3">
            <a:extLst>
              <a:ext uri="{FF2B5EF4-FFF2-40B4-BE49-F238E27FC236}">
                <a16:creationId xmlns:a16="http://schemas.microsoft.com/office/drawing/2014/main" id="{982A505F-8AFF-4671-9ED9-14F06BCC0E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89091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14DB6-6761-437F-B95E-3033844DC3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CE015F-7129-4784-AE3E-2C2725E4EC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E66F83-C630-4352-A337-695843505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5E10E-A097-4834-80C5-A2C1D646F8B9}" type="datetimeFigureOut">
              <a:rPr lang="en-IN" smtClean="0"/>
              <a:pPr/>
              <a:t>17-12-2025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147517-E525-4912-A43E-5AF556D78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C69AF5-8030-4A6D-9C9F-660FAF75A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AE7FC-C46B-42A3-8E15-9BB501A8C15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11747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C34DA-CF80-4098-8032-66B9C7678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BBD4A-F574-40DA-A4A9-4C60335805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B5F068-E82C-4BDA-8B27-A057172E6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5E10E-A097-4834-80C5-A2C1D646F8B9}" type="datetimeFigureOut">
              <a:rPr lang="en-IN" smtClean="0"/>
              <a:pPr/>
              <a:t>17-12-2025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36CDD7-36BE-428E-9143-D0E3B638E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08C47E-C57D-48ED-9ACC-F06A887BF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AE7FC-C46B-42A3-8E15-9BB501A8C15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3889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8FB6A-49B8-40BE-AFB5-D1439981A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E8B54F-FFF6-4DB6-B061-27CFA7DBA6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137F1C-7A83-45ED-ADF4-C57454825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5E10E-A097-4834-80C5-A2C1D646F8B9}" type="datetimeFigureOut">
              <a:rPr lang="en-IN" smtClean="0"/>
              <a:pPr/>
              <a:t>17-12-2025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6D6F42-B533-4DC6-820C-854FB9C19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EF1956-F8A0-4378-98DF-EF2707FF5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AE7FC-C46B-42A3-8E15-9BB501A8C15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60042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B6E11-B93D-4F0B-B90A-3C7454043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2AB8E7-62D8-4876-97A1-599F779AD7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953DD0-09E4-47FE-A563-CFA033B506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95A888-7BD8-4CD2-82EC-0DB6D0B31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5E10E-A097-4834-80C5-A2C1D646F8B9}" type="datetimeFigureOut">
              <a:rPr lang="en-IN" smtClean="0"/>
              <a:pPr/>
              <a:t>17-12-2025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7BF1EF-DDE2-4965-9B34-D3AD065E1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EA9EAD-F8CC-4481-9125-E39BA85A5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AE7FC-C46B-42A3-8E15-9BB501A8C15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3338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3A411-E29A-4F55-A591-F0F198B35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FD6120-8B1A-4E13-A339-94B0180B08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2FDDFA-3ED9-4F29-8D98-6AA79E21D2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9AD302-7A28-40C5-A49B-517E72D858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2B195A-E823-4E77-97BD-BDD009B14D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B1E756-45FD-4315-8E4D-7EF8AAD41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5E10E-A097-4834-80C5-A2C1D646F8B9}" type="datetimeFigureOut">
              <a:rPr lang="en-IN" smtClean="0"/>
              <a:pPr/>
              <a:t>17-12-2025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D107C5-FD00-4959-B547-4676B7D96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8B722F-FD80-48CD-BE30-6ECC6D1FF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AE7FC-C46B-42A3-8E15-9BB501A8C15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53895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CEC06-1148-4F5E-B74D-756E565E8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9413FA-5354-4A74-9464-8AE0B4559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5E10E-A097-4834-80C5-A2C1D646F8B9}" type="datetimeFigureOut">
              <a:rPr lang="en-IN" smtClean="0"/>
              <a:pPr/>
              <a:t>17-12-2025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3AD2E3-65B8-4082-AEDD-B39071FCE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A97EE3-7013-4FB2-93B8-385C1388B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AE7FC-C46B-42A3-8E15-9BB501A8C15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5010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29CE45-E766-4B11-8B5E-B31088AF0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5E10E-A097-4834-80C5-A2C1D646F8B9}" type="datetimeFigureOut">
              <a:rPr lang="en-IN" smtClean="0"/>
              <a:pPr/>
              <a:t>17-12-2025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33EE6B-8FF9-447B-AF81-2BB11EF68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9CE41A-4BB0-4205-8B1F-3D944C2F9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AE7FC-C46B-42A3-8E15-9BB501A8C15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07972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0F668-F57B-4683-AD1E-C574F8806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789D4C-C546-434E-9C7E-D4A59EBFE7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5243C9-36B2-4931-ACD1-F079B102ED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B54C5D-2B32-4BF3-B9C4-E94002B45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5E10E-A097-4834-80C5-A2C1D646F8B9}" type="datetimeFigureOut">
              <a:rPr lang="en-IN" smtClean="0"/>
              <a:pPr/>
              <a:t>17-12-2025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BCC8B5-631F-4F76-B6F0-9CC738D95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9FC4EF-5C1C-4E1A-AF20-0519CA9EA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AE7FC-C46B-42A3-8E15-9BB501A8C15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9025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6D122-E7E5-4367-AEA1-19CA8D877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FBB05E-73C0-48EC-A09F-564A1B0A6D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D38C03-3BE1-456E-87F5-ADA7AEBDC2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D78AD5-AC0F-458D-9B68-D92E5BD13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5E10E-A097-4834-80C5-A2C1D646F8B9}" type="datetimeFigureOut">
              <a:rPr lang="en-IN" smtClean="0"/>
              <a:pPr/>
              <a:t>17-12-2025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0D8AB4-5808-4149-A1CE-636EE0E17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748D49-7538-40E6-B050-BD6D4D6D3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AE7FC-C46B-42A3-8E15-9BB501A8C15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6225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ADF8D-2F27-40EE-AD13-38CFC9991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364A6D-A2BD-4882-BC4A-D596170D3E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251286-1C19-4FEF-ABEF-96D7F205A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5E10E-A097-4834-80C5-A2C1D646F8B9}" type="datetimeFigureOut">
              <a:rPr lang="en-IN" smtClean="0"/>
              <a:pPr/>
              <a:t>17-12-2025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89C8-BED1-4C3D-B648-24CD159A2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B65E69-7640-4C45-94A0-50E8D9946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AE7FC-C46B-42A3-8E15-9BB501A8C15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1064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35EFCE-E769-47FE-8ED1-81A3821988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7AEF29-1321-419D-8003-FBEF9EB717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8F4BF0-2B41-4EF2-AAED-539DDCD03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5E10E-A097-4834-80C5-A2C1D646F8B9}" type="datetimeFigureOut">
              <a:rPr lang="en-IN" smtClean="0"/>
              <a:pPr/>
              <a:t>17-12-2025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B5D27F-31DA-4BCB-AD4E-C0D75E809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B9A3BA-5BDE-4AD2-A6D2-B4CA61744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AE7FC-C46B-42A3-8E15-9BB501A8C15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77016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814FC-E926-4084-8429-4372D9FF5F08}" type="datetimeFigureOut">
              <a:rPr lang="en-IN" smtClean="0"/>
              <a:pPr/>
              <a:t>17-12-2025</a:t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411B506F-014D-4AEE-AB19-7CED1B81311E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39828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814FC-E926-4084-8429-4372D9FF5F08}" type="datetimeFigureOut">
              <a:rPr lang="en-IN" smtClean="0"/>
              <a:pPr/>
              <a:t>17-12-2025</a:t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B506F-014D-4AEE-AB19-7CED1B81311E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75211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814FC-E926-4084-8429-4372D9FF5F08}" type="datetimeFigureOut">
              <a:rPr lang="en-IN" smtClean="0"/>
              <a:pPr/>
              <a:t>17-12-2025</a:t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B506F-014D-4AEE-AB19-7CED1B81311E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09489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814FC-E926-4084-8429-4372D9FF5F08}" type="datetimeFigureOut">
              <a:rPr lang="en-IN" smtClean="0"/>
              <a:pPr/>
              <a:t>17-12-2025</a:t>
            </a:fld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B506F-014D-4AEE-AB19-7CED1B81311E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22861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814FC-E926-4084-8429-4372D9FF5F08}" type="datetimeFigureOut">
              <a:rPr lang="en-IN" smtClean="0"/>
              <a:pPr/>
              <a:t>17-12-2025</a:t>
            </a:fld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B506F-014D-4AEE-AB19-7CED1B81311E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8372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814FC-E926-4084-8429-4372D9FF5F08}" type="datetimeFigureOut">
              <a:rPr lang="en-IN" smtClean="0"/>
              <a:pPr/>
              <a:t>17-12-2025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B506F-014D-4AEE-AB19-7CED1B81311E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746669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814FC-E926-4084-8429-4372D9FF5F08}" type="datetimeFigureOut">
              <a:rPr lang="en-IN" smtClean="0"/>
              <a:pPr/>
              <a:t>17-12-2025</a:t>
            </a:fld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B506F-014D-4AEE-AB19-7CED1B81311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458717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814FC-E926-4084-8429-4372D9FF5F08}" type="datetimeFigureOut">
              <a:rPr lang="en-IN" smtClean="0"/>
              <a:pPr/>
              <a:t>17-12-2025</a:t>
            </a:fld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B506F-014D-4AEE-AB19-7CED1B81311E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203743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F4D814FC-E926-4084-8429-4372D9FF5F08}" type="datetimeFigureOut">
              <a:rPr lang="en-IN" smtClean="0"/>
              <a:pPr/>
              <a:t>17-12-2025</a:t>
            </a:fld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B506F-014D-4AEE-AB19-7CED1B81311E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077693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814FC-E926-4084-8429-4372D9FF5F08}" type="datetimeFigureOut">
              <a:rPr lang="en-IN" smtClean="0"/>
              <a:pPr/>
              <a:t>17-12-2025</a:t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B506F-014D-4AEE-AB19-7CED1B81311E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126745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814FC-E926-4084-8429-4372D9FF5F08}" type="datetimeFigureOut">
              <a:rPr lang="en-IN" smtClean="0"/>
              <a:pPr/>
              <a:t>17-12-2025</a:t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B506F-014D-4AEE-AB19-7CED1B81311E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364021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D3F6B-7404-4646-84C0-AC5BDFFC8711}" type="datetimeFigureOut">
              <a:rPr lang="en-IN" smtClean="0"/>
              <a:pPr/>
              <a:t>17-12-2025</a:t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5E6B12C2-C7BD-4B18-8E75-AF701D5C39C4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398286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D3F6B-7404-4646-84C0-AC5BDFFC8711}" type="datetimeFigureOut">
              <a:rPr lang="en-IN" smtClean="0"/>
              <a:pPr/>
              <a:t>17-12-2025</a:t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B12C2-C7BD-4B18-8E75-AF701D5C39C4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752113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D3F6B-7404-4646-84C0-AC5BDFFC8711}" type="datetimeFigureOut">
              <a:rPr lang="en-IN" smtClean="0"/>
              <a:pPr/>
              <a:t>17-12-2025</a:t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B12C2-C7BD-4B18-8E75-AF701D5C39C4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094892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D3F6B-7404-4646-84C0-AC5BDFFC8711}" type="datetimeFigureOut">
              <a:rPr lang="en-IN" smtClean="0"/>
              <a:pPr/>
              <a:t>17-12-2025</a:t>
            </a:fld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B12C2-C7BD-4B18-8E75-AF701D5C39C4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228615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D3F6B-7404-4646-84C0-AC5BDFFC8711}" type="datetimeFigureOut">
              <a:rPr lang="en-IN" smtClean="0"/>
              <a:pPr/>
              <a:t>17-12-2025</a:t>
            </a:fld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B12C2-C7BD-4B18-8E75-AF701D5C39C4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837270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D3F6B-7404-4646-84C0-AC5BDFFC8711}" type="datetimeFigureOut">
              <a:rPr lang="en-IN" smtClean="0"/>
              <a:pPr/>
              <a:t>17-12-2025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B12C2-C7BD-4B18-8E75-AF701D5C39C4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746669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D3F6B-7404-4646-84C0-AC5BDFFC8711}" type="datetimeFigureOut">
              <a:rPr lang="en-IN" smtClean="0"/>
              <a:pPr/>
              <a:t>17-12-2025</a:t>
            </a:fld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B12C2-C7BD-4B18-8E75-AF701D5C39C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458717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D3F6B-7404-4646-84C0-AC5BDFFC8711}" type="datetimeFigureOut">
              <a:rPr lang="en-IN" smtClean="0"/>
              <a:pPr/>
              <a:t>17-12-2025</a:t>
            </a:fld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B12C2-C7BD-4B18-8E75-AF701D5C39C4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203743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22FD3F6B-7404-4646-84C0-AC5BDFFC8711}" type="datetimeFigureOut">
              <a:rPr lang="en-IN" smtClean="0"/>
              <a:pPr/>
              <a:t>17-12-2025</a:t>
            </a:fld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B12C2-C7BD-4B18-8E75-AF701D5C39C4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077693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D3F6B-7404-4646-84C0-AC5BDFFC8711}" type="datetimeFigureOut">
              <a:rPr lang="en-IN" smtClean="0"/>
              <a:pPr/>
              <a:t>17-12-2025</a:t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B12C2-C7BD-4B18-8E75-AF701D5C39C4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126745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D3F6B-7404-4646-84C0-AC5BDFFC8711}" type="datetimeFigureOut">
              <a:rPr lang="en-IN" smtClean="0"/>
              <a:pPr/>
              <a:t>17-12-2025</a:t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B12C2-C7BD-4B18-8E75-AF701D5C39C4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364021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7"/>
          <p:cNvSpPr>
            <a:spLocks noGrp="1"/>
          </p:cNvSpPr>
          <p:nvPr>
            <p:ph type="pic" idx="2"/>
          </p:nvPr>
        </p:nvSpPr>
        <p:spPr>
          <a:xfrm>
            <a:off x="0" y="0"/>
            <a:ext cx="5467350" cy="5987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191927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4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41AEED-4BCF-4979-81D9-0166B9361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2EBA93-F619-46C6-96C8-422CFE077F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A4F536-3BEE-43C0-AF40-426278572C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15E10E-A097-4834-80C5-A2C1D646F8B9}" type="datetimeFigureOut">
              <a:rPr lang="en-IN" smtClean="0"/>
              <a:pPr/>
              <a:t>17-12-2025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5F20A7-5A09-42EC-894A-B8B76E35ED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40339D-DDC1-40BE-8A48-192D4B275E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EAE7FC-C46B-42A3-8E15-9BB501A8C15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483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9" y="379083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15E10E-A097-4834-80C5-A2C1D646F8B9}" type="datetimeFigureOut">
              <a:rPr lang="en-IN" smtClean="0"/>
              <a:pPr/>
              <a:t>17-12-2025</a:t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690490" y="6291139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ctr">
              <a:defRPr sz="2200">
                <a:solidFill>
                  <a:schemeClr val="accent1"/>
                </a:solidFill>
              </a:defRPr>
            </a:lvl1pPr>
          </a:lstStyle>
          <a:p>
            <a:fld id="{F3EAE7FC-C46B-42A3-8E15-9BB501A8C155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Icon&#10;&#10;Description automatically generated with medium confidence">
            <a:extLst>
              <a:ext uri="{FF2B5EF4-FFF2-40B4-BE49-F238E27FC236}">
                <a16:creationId xmlns:a16="http://schemas.microsoft.com/office/drawing/2014/main" id="{D33DD7EC-6054-A5D7-0F93-3916702EC90E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44" y="32699"/>
            <a:ext cx="1218935" cy="50098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B6D7A70-9470-38A5-6785-933F5C089234}"/>
              </a:ext>
            </a:extLst>
          </p:cNvPr>
          <p:cNvPicPr>
            <a:picLocks noChangeAspect="1"/>
          </p:cNvPicPr>
          <p:nvPr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0" t="18054" b="50110"/>
          <a:stretch/>
        </p:blipFill>
        <p:spPr>
          <a:xfrm>
            <a:off x="1451579" y="6373097"/>
            <a:ext cx="2912198" cy="351077"/>
          </a:xfrm>
          <a:prstGeom prst="rect">
            <a:avLst/>
          </a:prstGeom>
        </p:spPr>
      </p:pic>
      <p:pic>
        <p:nvPicPr>
          <p:cNvPr id="14" name="Picture 13" descr="Text&#10;&#10;Description automatically generated with medium confidence">
            <a:extLst>
              <a:ext uri="{FF2B5EF4-FFF2-40B4-BE49-F238E27FC236}">
                <a16:creationId xmlns:a16="http://schemas.microsoft.com/office/drawing/2014/main" id="{A51BE3ED-273E-B0A1-FC3A-EE01E1A92D27}"/>
              </a:ext>
            </a:extLst>
          </p:cNvPr>
          <p:cNvPicPr>
            <a:picLocks noChangeAspect="1"/>
          </p:cNvPicPr>
          <p:nvPr/>
        </p:nvPicPr>
        <p:blipFill rotWithShape="1"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957" r="20929" b="13232"/>
          <a:stretch/>
        </p:blipFill>
        <p:spPr>
          <a:xfrm>
            <a:off x="8825503" y="6373097"/>
            <a:ext cx="2229351" cy="335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380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9" y="379083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15E10E-A097-4834-80C5-A2C1D646F8B9}" type="datetimeFigureOut">
              <a:rPr lang="en-IN" smtClean="0"/>
              <a:pPr/>
              <a:t>17-12-2025</a:t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690490" y="6291139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ctr">
              <a:defRPr sz="2200">
                <a:solidFill>
                  <a:schemeClr val="accent1"/>
                </a:solidFill>
              </a:defRPr>
            </a:lvl1pPr>
          </a:lstStyle>
          <a:p>
            <a:fld id="{F3EAE7FC-C46B-42A3-8E15-9BB501A8C155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Icon&#10;&#10;Description automatically generated with medium confidence">
            <a:extLst>
              <a:ext uri="{FF2B5EF4-FFF2-40B4-BE49-F238E27FC236}">
                <a16:creationId xmlns:a16="http://schemas.microsoft.com/office/drawing/2014/main" id="{D33DD7EC-6054-A5D7-0F93-3916702EC90E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44" y="32699"/>
            <a:ext cx="1218935" cy="50098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B6D7A70-9470-38A5-6785-933F5C089234}"/>
              </a:ext>
            </a:extLst>
          </p:cNvPr>
          <p:cNvPicPr>
            <a:picLocks noChangeAspect="1"/>
          </p:cNvPicPr>
          <p:nvPr/>
        </p:nvPicPr>
        <p:blipFill rotWithShape="1"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0" t="18054" b="50110"/>
          <a:stretch/>
        </p:blipFill>
        <p:spPr>
          <a:xfrm>
            <a:off x="1451579" y="6373097"/>
            <a:ext cx="2912198" cy="351077"/>
          </a:xfrm>
          <a:prstGeom prst="rect">
            <a:avLst/>
          </a:prstGeom>
        </p:spPr>
      </p:pic>
      <p:pic>
        <p:nvPicPr>
          <p:cNvPr id="14" name="Picture 13" descr="Text&#10;&#10;Description automatically generated with medium confidence">
            <a:extLst>
              <a:ext uri="{FF2B5EF4-FFF2-40B4-BE49-F238E27FC236}">
                <a16:creationId xmlns:a16="http://schemas.microsoft.com/office/drawing/2014/main" id="{A51BE3ED-273E-B0A1-FC3A-EE01E1A92D27}"/>
              </a:ext>
            </a:extLst>
          </p:cNvPr>
          <p:cNvPicPr>
            <a:picLocks noChangeAspect="1"/>
          </p:cNvPicPr>
          <p:nvPr/>
        </p:nvPicPr>
        <p:blipFill rotWithShape="1"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957" r="20929" b="13232"/>
          <a:stretch/>
        </p:blipFill>
        <p:spPr>
          <a:xfrm>
            <a:off x="8825503" y="6373097"/>
            <a:ext cx="2229351" cy="335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380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4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1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398423B-5803-30F8-31C4-BF716BD7197E}"/>
              </a:ext>
            </a:extLst>
          </p:cNvPr>
          <p:cNvSpPr/>
          <p:nvPr/>
        </p:nvSpPr>
        <p:spPr>
          <a:xfrm>
            <a:off x="68540" y="-45719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64" name="Google Shape;464;p16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40" y="45719"/>
            <a:ext cx="6027459" cy="6623931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16"/>
          <p:cNvSpPr txBox="1"/>
          <p:nvPr/>
        </p:nvSpPr>
        <p:spPr>
          <a:xfrm>
            <a:off x="5470427" y="1434897"/>
            <a:ext cx="6902548" cy="33547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all" dirty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Network protocols &amp; security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all" dirty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24EC2210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2000" b="1" dirty="0">
              <a:solidFill>
                <a:schemeClr val="bg1">
                  <a:lumMod val="50000"/>
                </a:schemeClr>
              </a:solidFill>
              <a:ea typeface="BioRhyme ExtraBold"/>
              <a:cs typeface="Poppins" panose="00000500000000000000" pitchFamily="2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ea typeface="BioRhyme ExtraBold"/>
                <a:cs typeface="Poppins" panose="00000500000000000000" pitchFamily="2" charset="0"/>
                <a:sym typeface="BioRhyme ExtraBold"/>
              </a:rPr>
              <a:t>Topic: 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2000" b="1" dirty="0">
              <a:solidFill>
                <a:schemeClr val="bg1">
                  <a:lumMod val="50000"/>
                </a:schemeClr>
              </a:solidFill>
              <a:ea typeface="BioRhyme ExtraBold"/>
              <a:cs typeface="Poppins" panose="00000500000000000000" pitchFamily="2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cap="all" dirty="0">
                <a:ln/>
                <a:solidFill>
                  <a:srgbClr val="C00000"/>
                </a:solidFill>
                <a:cs typeface="Poppins" panose="00000500000000000000" pitchFamily="2" charset="0"/>
              </a:rPr>
              <a:t>IP Addressing: CLASSFUL &amp; CLASSLESS Addressing</a:t>
            </a:r>
            <a:endParaRPr lang="en-US" sz="2800" b="1" dirty="0">
              <a:solidFill>
                <a:srgbClr val="C00000"/>
              </a:solidFill>
              <a:effectLst/>
              <a:cs typeface="Poppins" panose="00000500000000000000" pitchFamily="2" charset="0"/>
            </a:endParaRPr>
          </a:p>
        </p:txBody>
      </p:sp>
      <p:sp>
        <p:nvSpPr>
          <p:cNvPr id="8" name="Google Shape;502;p17">
            <a:extLst>
              <a:ext uri="{FF2B5EF4-FFF2-40B4-BE49-F238E27FC236}">
                <a16:creationId xmlns:a16="http://schemas.microsoft.com/office/drawing/2014/main" id="{7153E61F-4441-DBE3-3DFF-6E9EF6C48D23}"/>
              </a:ext>
            </a:extLst>
          </p:cNvPr>
          <p:cNvSpPr/>
          <p:nvPr/>
        </p:nvSpPr>
        <p:spPr>
          <a:xfrm>
            <a:off x="7804143" y="5025565"/>
            <a:ext cx="2235116" cy="453054"/>
          </a:xfrm>
          <a:prstGeom prst="roundRect">
            <a:avLst>
              <a:gd name="adj" fmla="val 35613"/>
            </a:avLst>
          </a:prstGeom>
          <a:solidFill>
            <a:srgbClr val="C000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lt1"/>
                </a:solidFill>
                <a:ea typeface="Calibri"/>
                <a:cs typeface="Poppins" panose="00000500000000000000" pitchFamily="2" charset="0"/>
                <a:sym typeface="Calibri"/>
              </a:rPr>
              <a:t>Session – 14</a:t>
            </a:r>
            <a:endParaRPr sz="2400" dirty="0">
              <a:solidFill>
                <a:schemeClr val="lt1"/>
              </a:solidFill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2BDCC77-0491-FC57-401C-380586D8ED1D}"/>
              </a:ext>
            </a:extLst>
          </p:cNvPr>
          <p:cNvSpPr/>
          <p:nvPr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8D9C68F-2EE2-5410-B640-4F43BF92A6C1}"/>
              </a:ext>
            </a:extLst>
          </p:cNvPr>
          <p:cNvSpPr/>
          <p:nvPr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2703" y="81945"/>
            <a:ext cx="2509863" cy="1061599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D530E72E-233E-E443-1A84-D3CD02ECB889}"/>
              </a:ext>
            </a:extLst>
          </p:cNvPr>
          <p:cNvSpPr/>
          <p:nvPr/>
        </p:nvSpPr>
        <p:spPr>
          <a:xfrm>
            <a:off x="4471372" y="84408"/>
            <a:ext cx="3011576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AIM OF THE SESSION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C61438-200D-827A-D4DD-5B5127AFA187}"/>
              </a:ext>
            </a:extLst>
          </p:cNvPr>
          <p:cNvSpPr txBox="1"/>
          <p:nvPr/>
        </p:nvSpPr>
        <p:spPr>
          <a:xfrm>
            <a:off x="914400" y="684469"/>
            <a:ext cx="10731286" cy="79611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cap="rnd">
            <a:solidFill>
              <a:schemeClr val="accent1">
                <a:lumMod val="20000"/>
                <a:lumOff val="80000"/>
              </a:schemeClr>
            </a:solidFill>
            <a:round/>
          </a:ln>
          <a:effectLst>
            <a:outerShdw blurRad="50800" dist="38100" algn="l" rotWithShape="0">
              <a:schemeClr val="accent1">
                <a:lumMod val="40000"/>
                <a:lumOff val="60000"/>
                <a:alpha val="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0" i="0" dirty="0">
                <a:effectLst/>
                <a:latin typeface="Poppins"/>
                <a:cs typeface="Poppins"/>
              </a:rPr>
              <a:t>To familiarize students with the concept of IP Addressing </a:t>
            </a:r>
          </a:p>
          <a:p>
            <a:pPr>
              <a:lnSpc>
                <a:spcPct val="150000"/>
              </a:lnSpc>
            </a:pPr>
            <a:endParaRPr lang="en-US" sz="1600" b="0" i="0" dirty="0">
              <a:effectLst/>
              <a:latin typeface="Poppins"/>
              <a:cs typeface="Poppins"/>
            </a:endParaRPr>
          </a:p>
        </p:txBody>
      </p:sp>
      <p:sp>
        <p:nvSpPr>
          <p:cNvPr id="7" name="Rounded Rectangle 17">
            <a:extLst>
              <a:ext uri="{FF2B5EF4-FFF2-40B4-BE49-F238E27FC236}">
                <a16:creationId xmlns:a16="http://schemas.microsoft.com/office/drawing/2014/main" id="{7F3AABB0-F8BA-C900-B6BF-45F4B58E9490}"/>
              </a:ext>
            </a:extLst>
          </p:cNvPr>
          <p:cNvSpPr/>
          <p:nvPr/>
        </p:nvSpPr>
        <p:spPr>
          <a:xfrm>
            <a:off x="4160582" y="1807062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INSTRUCTIONAL OBJECTIVES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5EAD4E-C007-9DE7-A40A-12802D3C9611}"/>
              </a:ext>
            </a:extLst>
          </p:cNvPr>
          <p:cNvSpPr txBox="1"/>
          <p:nvPr/>
        </p:nvSpPr>
        <p:spPr>
          <a:xfrm>
            <a:off x="1752600" y="2438605"/>
            <a:ext cx="8791575" cy="107721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dirty="0">
                <a:latin typeface="Poppins"/>
                <a:cs typeface="Poppins"/>
              </a:rPr>
              <a:t>This</a:t>
            </a:r>
            <a:r>
              <a:rPr lang="en-US" sz="1600" b="0" i="0" dirty="0">
                <a:effectLst/>
                <a:latin typeface="Poppins"/>
                <a:cs typeface="Poppins"/>
              </a:rPr>
              <a:t> </a:t>
            </a:r>
            <a:r>
              <a:rPr lang="en-US" sz="1600" dirty="0">
                <a:latin typeface="Poppins"/>
                <a:cs typeface="Poppins"/>
              </a:rPr>
              <a:t>Session</a:t>
            </a:r>
            <a:r>
              <a:rPr lang="en-US" sz="1600" b="0" i="0" dirty="0">
                <a:effectLst/>
                <a:latin typeface="Poppins"/>
                <a:cs typeface="Poppins"/>
              </a:rPr>
              <a:t> is designed to:</a:t>
            </a: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 panose="020B0604020202020204" pitchFamily="34" charset="0"/>
              </a:rPr>
              <a:t>Describe the concepts of Classful addressing.</a:t>
            </a: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 panose="020B0604020202020204" pitchFamily="34" charset="0"/>
              </a:rPr>
              <a:t>Describe the concepts of Classless addressing.</a:t>
            </a:r>
            <a:r>
              <a:rPr lang="en-US" sz="1600" b="0" i="0" dirty="0">
                <a:effectLst/>
                <a:latin typeface="Arial"/>
                <a:cs typeface="Arial"/>
              </a:rPr>
              <a:t> </a:t>
            </a:r>
            <a:endParaRPr lang="en-US" sz="1600" dirty="0">
              <a:latin typeface="Arial"/>
              <a:cs typeface="Arial"/>
            </a:endParaRPr>
          </a:p>
        </p:txBody>
      </p:sp>
      <p:pic>
        <p:nvPicPr>
          <p:cNvPr id="11" name="Graphic 10" descr="Bullseye outline">
            <a:extLst>
              <a:ext uri="{FF2B5EF4-FFF2-40B4-BE49-F238E27FC236}">
                <a16:creationId xmlns:a16="http://schemas.microsoft.com/office/drawing/2014/main" id="{AB75B03E-9C0C-0AF7-2A76-D8618F8F99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25326"/>
            <a:ext cx="914400" cy="914400"/>
          </a:xfrm>
          <a:prstGeom prst="rect">
            <a:avLst/>
          </a:prstGeom>
        </p:spPr>
      </p:pic>
      <p:pic>
        <p:nvPicPr>
          <p:cNvPr id="27" name="Graphic 26" descr="Presentation with checklist outline">
            <a:extLst>
              <a:ext uri="{FF2B5EF4-FFF2-40B4-BE49-F238E27FC236}">
                <a16:creationId xmlns:a16="http://schemas.microsoft.com/office/drawing/2014/main" id="{1E9F25CA-EF99-00B6-5FFA-810D1F1806C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200" y="2438605"/>
            <a:ext cx="914400" cy="914400"/>
          </a:xfrm>
          <a:prstGeom prst="rect">
            <a:avLst/>
          </a:prstGeom>
        </p:spPr>
      </p:pic>
      <p:sp>
        <p:nvSpPr>
          <p:cNvPr id="29" name="Rounded Rectangle 17">
            <a:extLst>
              <a:ext uri="{FF2B5EF4-FFF2-40B4-BE49-F238E27FC236}">
                <a16:creationId xmlns:a16="http://schemas.microsoft.com/office/drawing/2014/main" id="{6652A33D-9A9E-3EAC-0CAE-113901ECA179}"/>
              </a:ext>
            </a:extLst>
          </p:cNvPr>
          <p:cNvSpPr/>
          <p:nvPr/>
        </p:nvSpPr>
        <p:spPr>
          <a:xfrm>
            <a:off x="4212971" y="4249110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LEARNING OUTCOMES</a:t>
            </a:r>
          </a:p>
        </p:txBody>
      </p:sp>
      <p:pic>
        <p:nvPicPr>
          <p:cNvPr id="31" name="Graphic 30" descr="Idea outline">
            <a:extLst>
              <a:ext uri="{FF2B5EF4-FFF2-40B4-BE49-F238E27FC236}">
                <a16:creationId xmlns:a16="http://schemas.microsoft.com/office/drawing/2014/main" id="{5F765FC3-60CF-297F-C1BD-F5A7B8B943A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4400" y="4765771"/>
            <a:ext cx="914400" cy="91440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B0BB8E68-8B73-12DE-615E-1091F19A9A9A}"/>
              </a:ext>
            </a:extLst>
          </p:cNvPr>
          <p:cNvSpPr txBox="1"/>
          <p:nvPr/>
        </p:nvSpPr>
        <p:spPr>
          <a:xfrm>
            <a:off x="1752600" y="4772230"/>
            <a:ext cx="8791575" cy="107721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b="0" i="0" dirty="0">
                <a:effectLst/>
                <a:latin typeface="Arial"/>
                <a:cs typeface="Arial"/>
              </a:rPr>
              <a:t>At the end of this </a:t>
            </a:r>
            <a:r>
              <a:rPr lang="en-US" sz="1600" dirty="0">
                <a:latin typeface="Arial"/>
                <a:cs typeface="Arial"/>
              </a:rPr>
              <a:t>session</a:t>
            </a:r>
            <a:r>
              <a:rPr lang="en-US" sz="1600" b="0" i="0" dirty="0">
                <a:effectLst/>
                <a:latin typeface="Arial"/>
                <a:cs typeface="Arial"/>
              </a:rPr>
              <a:t>, you should be able to:</a:t>
            </a: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 panose="020B0604020202020204" pitchFamily="34" charset="0"/>
              </a:rPr>
              <a:t>Solve the IP addressing problems related to Classful addressing.</a:t>
            </a:r>
          </a:p>
          <a:p>
            <a:pPr marL="342900" indent="-342900">
              <a:buAutoNum type="arabicPeriod"/>
            </a:pPr>
            <a:r>
              <a:rPr lang="en-US" sz="1600" dirty="0">
                <a:latin typeface="Arial" panose="020B0604020202020204" pitchFamily="34" charset="0"/>
              </a:rPr>
              <a:t>Solve the IP addressing problems related to Classless addressing.</a:t>
            </a:r>
          </a:p>
        </p:txBody>
      </p:sp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8860798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9" grpId="0" animBg="1"/>
      <p:bldP spid="29" grpId="0" animBg="1"/>
      <p:bldP spid="3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F138E-C7D1-623B-2842-3F39EC8161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4953" y="2019497"/>
            <a:ext cx="9603275" cy="4029611"/>
          </a:xfrm>
        </p:spPr>
        <p:txBody>
          <a:bodyPr>
            <a:noAutofit/>
          </a:bodyPr>
          <a:lstStyle/>
          <a:p>
            <a:pPr marL="514350" indent="-5143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16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IP Address​</a:t>
            </a:r>
            <a:r>
              <a:rPr lang="en-US" sz="1600" b="1" dirty="0" err="1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es</a:t>
            </a:r>
            <a:endParaRPr lang="en-US" sz="1600" b="1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marL="514350" indent="-5143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16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IPv4 Address Space</a:t>
            </a:r>
          </a:p>
          <a:p>
            <a:pPr marL="514350" indent="-5143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16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Notations</a:t>
            </a:r>
          </a:p>
          <a:p>
            <a:pPr marL="514350" indent="-5143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16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Classful Addressing</a:t>
            </a:r>
          </a:p>
          <a:p>
            <a:pPr marL="514350" indent="-5143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16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Classless Addressing</a:t>
            </a:r>
          </a:p>
          <a:p>
            <a:pPr marL="514350" indent="-5143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16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IPv6 </a:t>
            </a:r>
          </a:p>
          <a:p>
            <a:pPr marL="514350" indent="-5143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16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Addressing Methods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64C45C-D82B-56E6-54E4-3972FAEAA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3</a:t>
            </a:fld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B4EB8B-F374-DF0E-47FD-1702A670AF3F}"/>
              </a:ext>
            </a:extLst>
          </p:cNvPr>
          <p:cNvSpPr txBox="1"/>
          <p:nvPr/>
        </p:nvSpPr>
        <p:spPr>
          <a:xfrm>
            <a:off x="3041072" y="1190938"/>
            <a:ext cx="610985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IN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14333698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439057" y="995703"/>
            <a:ext cx="8802963" cy="503490"/>
          </a:xfrm>
          <a:prstGeom prst="rect">
            <a:avLst/>
          </a:prstGeom>
        </p:spPr>
        <p:txBody>
          <a:bodyPr vert="horz" wrap="square" lIns="0" tIns="10941" rIns="0" bIns="0" rtlCol="0" anchor="ctr">
            <a:spAutoFit/>
          </a:bodyPr>
          <a:lstStyle/>
          <a:p>
            <a:pPr marL="284454">
              <a:lnSpc>
                <a:spcPct val="100000"/>
              </a:lnSpc>
              <a:spcBef>
                <a:spcPts val="86"/>
              </a:spcBef>
              <a:tabLst>
                <a:tab pos="1235130" algn="l"/>
              </a:tabLst>
            </a:pPr>
            <a:r>
              <a:rPr lang="en-IN" spc="-5" dirty="0"/>
              <a:t> </a:t>
            </a:r>
            <a:r>
              <a:rPr spc="-5" dirty="0"/>
              <a:t>IP</a:t>
            </a:r>
            <a:r>
              <a:rPr lang="en-IN" spc="-5" dirty="0"/>
              <a:t> </a:t>
            </a:r>
            <a:r>
              <a:rPr spc="-5" dirty="0"/>
              <a:t>ADDRESSES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439056" y="1939819"/>
            <a:ext cx="10152721" cy="3681479"/>
          </a:xfrm>
          <a:prstGeom prst="rect">
            <a:avLst/>
          </a:prstGeom>
        </p:spPr>
        <p:txBody>
          <a:bodyPr vert="horz" wrap="square" lIns="0" tIns="11516" rIns="0" bIns="0" rtlCol="0">
            <a:spAutoFit/>
          </a:bodyPr>
          <a:lstStyle/>
          <a:p>
            <a:pPr marL="354416" marR="4607" lvl="0" indent="-342900" algn="just" defTabSz="457200">
              <a:lnSpc>
                <a:spcPct val="150000"/>
              </a:lnSpc>
              <a:spcBef>
                <a:spcPts val="91"/>
              </a:spcBef>
              <a:buFont typeface="Wingdings" pitchFamily="2" charset="2"/>
              <a:buChar char="Ø"/>
              <a:defRPr/>
            </a:pPr>
            <a:r>
              <a:rPr lang="en-IN" sz="2000" i="1" dirty="0"/>
              <a:t>An </a:t>
            </a:r>
            <a:r>
              <a:rPr lang="en-IN" sz="2000" i="1" dirty="0">
                <a:solidFill>
                  <a:srgbClr val="0070C0"/>
                </a:solidFill>
              </a:rPr>
              <a:t>IP address </a:t>
            </a:r>
            <a:r>
              <a:rPr lang="en-IN" sz="2000" i="1" dirty="0"/>
              <a:t>is a numeric identifier assigned to each machine on an IP network. </a:t>
            </a:r>
          </a:p>
          <a:p>
            <a:pPr marL="354416" marR="4607" lvl="0" indent="-342900" algn="just" defTabSz="457200">
              <a:lnSpc>
                <a:spcPct val="150000"/>
              </a:lnSpc>
              <a:spcBef>
                <a:spcPts val="91"/>
              </a:spcBef>
              <a:buFont typeface="Wingdings" pitchFamily="2" charset="2"/>
              <a:buChar char="Ø"/>
              <a:defRPr/>
            </a:pPr>
            <a:endParaRPr lang="en-IN" sz="1100" i="1" dirty="0"/>
          </a:p>
          <a:p>
            <a:pPr marL="354416" marR="4607" indent="-342900" algn="just" defTabSz="457200">
              <a:lnSpc>
                <a:spcPct val="150000"/>
              </a:lnSpc>
              <a:spcBef>
                <a:spcPts val="91"/>
              </a:spcBef>
              <a:buFont typeface="Wingdings" pitchFamily="2" charset="2"/>
              <a:buChar char="Ø"/>
              <a:defRPr/>
            </a:pPr>
            <a:r>
              <a:rPr lang="en-IN" sz="2000" i="1" dirty="0"/>
              <a:t>An IP address is a software or logical address, and it designates the specific location of a device on the network. </a:t>
            </a:r>
          </a:p>
          <a:p>
            <a:pPr marL="354416" marR="4607" lvl="0" indent="-342900" algn="just" defTabSz="457200">
              <a:lnSpc>
                <a:spcPct val="150000"/>
              </a:lnSpc>
              <a:spcBef>
                <a:spcPts val="91"/>
              </a:spcBef>
              <a:buFont typeface="Wingdings" pitchFamily="2" charset="2"/>
              <a:buChar char="Ø"/>
              <a:defRPr/>
            </a:pPr>
            <a:endParaRPr lang="en-IN" sz="1100" i="1" dirty="0"/>
          </a:p>
          <a:p>
            <a:pPr marL="354416" marR="4607" lvl="0" indent="-342900" algn="just" defTabSz="457200">
              <a:lnSpc>
                <a:spcPct val="150000"/>
              </a:lnSpc>
              <a:spcBef>
                <a:spcPts val="91"/>
              </a:spcBef>
              <a:buFont typeface="Wingdings" pitchFamily="2" charset="2"/>
              <a:buChar char="Ø"/>
              <a:defRPr/>
            </a:pPr>
            <a:r>
              <a:rPr lang="en-IN" sz="2000" i="1" dirty="0"/>
              <a:t>IP addressing was designed to allow hosts on one network to communicate with a host on a different network regardless of the type of LANs the hosts are participating in.  </a:t>
            </a:r>
          </a:p>
          <a:p>
            <a:pPr marL="354416" marR="4607" lvl="0" indent="-342900" algn="just" defTabSz="457200">
              <a:lnSpc>
                <a:spcPct val="150000"/>
              </a:lnSpc>
              <a:spcBef>
                <a:spcPts val="91"/>
              </a:spcBef>
              <a:buFont typeface="Wingdings" pitchFamily="2" charset="2"/>
              <a:buChar char="Ø"/>
              <a:defRPr/>
            </a:pPr>
            <a:endParaRPr lang="en-IN" sz="1200" i="1" dirty="0"/>
          </a:p>
          <a:p>
            <a:pPr marL="354416" marR="4607" lvl="0" indent="-342900" algn="just" defTabSz="457200">
              <a:lnSpc>
                <a:spcPct val="150000"/>
              </a:lnSpc>
              <a:spcBef>
                <a:spcPts val="91"/>
              </a:spcBef>
              <a:buFont typeface="Wingdings" pitchFamily="2" charset="2"/>
              <a:buChar char="Ø"/>
              <a:defRPr/>
            </a:pPr>
            <a:r>
              <a:rPr lang="en-IN" sz="2000" i="1" dirty="0"/>
              <a:t>Versions: IPv4 and IPv6</a:t>
            </a:r>
            <a:endParaRPr sz="2000" i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378978" y="903370"/>
            <a:ext cx="9535557" cy="688156"/>
          </a:xfrm>
          <a:prstGeom prst="rect">
            <a:avLst/>
          </a:prstGeom>
        </p:spPr>
        <p:txBody>
          <a:bodyPr vert="horz" wrap="square" lIns="0" tIns="10941" rIns="0" bIns="0" rtlCol="0" anchor="ctr">
            <a:spAutoFit/>
          </a:bodyPr>
          <a:lstStyle/>
          <a:p>
            <a:pPr marL="284454">
              <a:lnSpc>
                <a:spcPct val="100000"/>
              </a:lnSpc>
              <a:spcBef>
                <a:spcPts val="86"/>
              </a:spcBef>
              <a:tabLst>
                <a:tab pos="1235130" algn="l"/>
              </a:tabLst>
            </a:pPr>
            <a:r>
              <a:rPr spc="-5" dirty="0"/>
              <a:t>IPv4</a:t>
            </a:r>
            <a:r>
              <a:rPr spc="-163" dirty="0"/>
              <a:t> </a:t>
            </a:r>
            <a:r>
              <a:rPr spc="-5" dirty="0"/>
              <a:t>ADDRESSES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051495" y="1939819"/>
            <a:ext cx="8190525" cy="2665047"/>
          </a:xfrm>
          <a:prstGeom prst="rect">
            <a:avLst/>
          </a:prstGeom>
        </p:spPr>
        <p:txBody>
          <a:bodyPr vert="horz" wrap="square" lIns="0" tIns="11516" rIns="0" bIns="0" rtlCol="0">
            <a:spAutoFit/>
          </a:bodyPr>
          <a:lstStyle/>
          <a:p>
            <a:pPr marL="11516" marR="4607" lvl="0" indent="0" algn="just" defTabSz="457200" rtl="0" eaLnBrk="1" fontAlgn="auto" latinLnBrk="0" hangingPunct="1">
              <a:lnSpc>
                <a:spcPct val="100000"/>
              </a:lnSpc>
              <a:spcBef>
                <a:spcPts val="9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2000" i="1" dirty="0"/>
              <a:t>An IPv4 address is a 32-bit address that uniquely and  universally defines the connection of a device (for  example, a computer or a router) to the Internet..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sz="2000" i="1" dirty="0"/>
          </a:p>
          <a:p>
            <a:pPr marL="36852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539" b="1" i="1" u="heavy" strike="noStrike" kern="1200" cap="none" spc="-41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Times New Roman"/>
                <a:ea typeface="+mn-ea"/>
                <a:cs typeface="Times New Roman"/>
              </a:rPr>
              <a:t>Topics </a:t>
            </a:r>
            <a:r>
              <a:rPr kumimoji="0" sz="2539" b="1" i="1" u="heavy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Times New Roman"/>
                <a:ea typeface="+mn-ea"/>
                <a:cs typeface="Times New Roman"/>
              </a:rPr>
              <a:t>discussed in this</a:t>
            </a:r>
            <a:r>
              <a:rPr kumimoji="0" sz="2539" b="1" i="1" u="heavy" strike="noStrike" kern="1200" cap="none" spc="-27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Times New Roman"/>
                <a:ea typeface="+mn-ea"/>
                <a:cs typeface="Times New Roman"/>
              </a:rPr>
              <a:t> </a:t>
            </a:r>
            <a:r>
              <a:rPr kumimoji="0" sz="2539" b="1" i="1" u="heavy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Times New Roman"/>
                <a:ea typeface="+mn-ea"/>
                <a:cs typeface="Times New Roman"/>
              </a:rPr>
              <a:t>section:</a:t>
            </a:r>
            <a:endParaRPr kumimoji="0" sz="253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11516" marR="5577373" lvl="0" algn="l" defTabSz="4572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kumimoji="0" lang="en-IN" sz="2176" b="1" i="0" u="none" strike="noStrike" kern="1200" cap="none" spc="-9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1. </a:t>
            </a:r>
            <a:r>
              <a:rPr kumimoji="0" sz="2176" b="1" i="0" u="none" strike="noStrike" kern="1200" cap="none" spc="-9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Address</a:t>
            </a:r>
            <a:r>
              <a:rPr kumimoji="0" sz="2176" b="1" i="0" u="none" strike="noStrike" kern="1200" cap="none" spc="-5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176" b="1" i="0" u="none" strike="noStrike" kern="1200" cap="none" spc="-5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Space</a:t>
            </a:r>
            <a:endParaRPr kumimoji="0" lang="en-IN" sz="2176" b="1" i="0" u="none" strike="noStrike" kern="1200" cap="none" spc="-5" normalizeH="0" baseline="0" noProof="0" dirty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11516" marR="5577373" lvl="0" algn="l" defTabSz="4572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kumimoji="0" lang="en-IN" sz="2176" b="1" i="0" u="none" strike="noStrike" kern="1200" cap="none" spc="-9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2. </a:t>
            </a:r>
            <a:r>
              <a:rPr kumimoji="0" sz="2176" b="1" i="0" u="none" strike="noStrike" kern="1200" cap="none" spc="-9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Notations</a:t>
            </a:r>
            <a:endParaRPr kumimoji="0" sz="2176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11516" marR="4871420" lvl="0" indent="0" algn="l" defTabSz="4572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176" b="1" i="0" u="none" strike="noStrike" kern="1200" cap="none" spc="-5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3. </a:t>
            </a:r>
            <a:r>
              <a:rPr kumimoji="0" sz="2176" b="1" i="0" u="none" strike="noStrike" kern="1200" cap="none" spc="-5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Classful </a:t>
            </a:r>
            <a:r>
              <a:rPr kumimoji="0" sz="2176" b="1" i="0" u="none" strike="noStrike" kern="1200" cap="none" spc="-9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Addressing  </a:t>
            </a:r>
            <a:endParaRPr kumimoji="0" lang="en-IN" sz="2176" b="1" i="0" u="none" strike="noStrike" kern="1200" cap="none" spc="-9" normalizeH="0" baseline="0" noProof="0" dirty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11516" marR="4871420" lvl="0" indent="0" algn="l" defTabSz="4572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176" b="1" i="0" u="none" strike="noStrike" kern="1200" cap="none" spc="-9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4. </a:t>
            </a:r>
            <a:r>
              <a:rPr kumimoji="0" sz="2176" b="1" i="0" u="none" strike="noStrike" kern="1200" cap="none" spc="-5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Classless</a:t>
            </a:r>
            <a:r>
              <a:rPr kumimoji="0" sz="2176" b="1" i="0" u="none" strike="noStrike" kern="1200" cap="none" spc="-163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176" b="1" i="0" u="none" strike="noStrike" kern="1200" cap="none" spc="-9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Addressing</a:t>
            </a:r>
            <a:endParaRPr kumimoji="0" sz="2176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885351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696D8-9EBE-41D7-8575-7852B9AE0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1. Address SPACE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0932E5-3102-42B7-B473-8EC44E00D2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1659" y="2015732"/>
            <a:ext cx="9746073" cy="3450613"/>
          </a:xfrm>
        </p:spPr>
        <p:txBody>
          <a:bodyPr>
            <a:normAutofit/>
          </a:bodyPr>
          <a:lstStyle/>
          <a:p>
            <a:pPr algn="just"/>
            <a:r>
              <a:rPr lang="en-IN" dirty="0"/>
              <a:t>The total number of addresses used by the protocol. If a protocol uses N bits to define</a:t>
            </a:r>
            <a:br>
              <a:rPr lang="en-IN" dirty="0"/>
            </a:br>
            <a:r>
              <a:rPr lang="en-IN" dirty="0"/>
              <a:t>an address, the address space is 2</a:t>
            </a:r>
            <a:r>
              <a:rPr lang="en-IN" baseline="30000" dirty="0"/>
              <a:t>N</a:t>
            </a:r>
            <a:r>
              <a:rPr lang="en-IN" dirty="0"/>
              <a:t> because each bit can have two different values (0 or 1) and N bits can have 2</a:t>
            </a:r>
            <a:r>
              <a:rPr lang="en-IN" baseline="30000" dirty="0"/>
              <a:t>N</a:t>
            </a:r>
            <a:r>
              <a:rPr lang="en-IN" dirty="0"/>
              <a:t> values.  </a:t>
            </a:r>
          </a:p>
          <a:p>
            <a:pPr algn="just"/>
            <a:r>
              <a:rPr lang="en-IN" dirty="0"/>
              <a:t>The address space of IPv4 is 2</a:t>
            </a:r>
            <a:r>
              <a:rPr lang="en-IN" baseline="30000" dirty="0"/>
              <a:t>32</a:t>
            </a:r>
            <a:r>
              <a:rPr lang="en-IN" dirty="0"/>
              <a:t> or 4,294,967,296. </a:t>
            </a:r>
          </a:p>
          <a:p>
            <a:r>
              <a:rPr lang="en-IN" dirty="0"/>
              <a:t>The address space of IPv6 is 2</a:t>
            </a:r>
            <a:r>
              <a:rPr lang="en-IN" baseline="30000" dirty="0"/>
              <a:t>128</a:t>
            </a:r>
            <a:r>
              <a:rPr lang="en-IN" dirty="0"/>
              <a:t> or 40,282,366,920,938,463,463,374,607,431,768,211,456. </a:t>
            </a:r>
            <a:endParaRPr lang="en-US" dirty="0"/>
          </a:p>
          <a:p>
            <a:pPr marL="0" indent="0" algn="just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3624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696D8-9EBE-41D7-8575-7852B9AE0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2. NOTATIONS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0932E5-3102-42B7-B473-8EC44E00D2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1659" y="1895812"/>
            <a:ext cx="9746073" cy="4160214"/>
          </a:xfrm>
        </p:spPr>
        <p:txBody>
          <a:bodyPr>
            <a:noAutofit/>
          </a:bodyPr>
          <a:lstStyle/>
          <a:p>
            <a:pPr algn="just"/>
            <a:r>
              <a:rPr lang="en-IN" dirty="0"/>
              <a:t>There are two prevalent notations to show an IPv4 address: </a:t>
            </a:r>
          </a:p>
          <a:p>
            <a:pPr marL="914400" lvl="1" indent="-457200" algn="just">
              <a:buFont typeface="+mj-lt"/>
              <a:buAutoNum type="alphaLcPeriod"/>
            </a:pPr>
            <a:r>
              <a:rPr lang="en-IN" sz="2000" b="1" dirty="0"/>
              <a:t>Dotted-Decimal notation</a:t>
            </a:r>
          </a:p>
          <a:p>
            <a:pPr marL="914400" lvl="1" indent="-457200" algn="just">
              <a:buFont typeface="+mj-lt"/>
              <a:buAutoNum type="alphaLcPeriod"/>
            </a:pPr>
            <a:r>
              <a:rPr lang="en-IN" sz="2000" b="1" dirty="0"/>
              <a:t>Binary notation </a:t>
            </a:r>
          </a:p>
          <a:p>
            <a:pPr marL="914400" lvl="1" indent="-457200" algn="just">
              <a:buFont typeface="+mj-lt"/>
              <a:buAutoNum type="alphaLcPeriod"/>
            </a:pPr>
            <a:r>
              <a:rPr lang="en-IN" sz="2000" b="1" dirty="0"/>
              <a:t>Hexadecimal notation</a:t>
            </a:r>
          </a:p>
          <a:p>
            <a:pPr marL="457200" lvl="1" indent="0" algn="just">
              <a:buNone/>
            </a:pPr>
            <a:r>
              <a:rPr lang="en-IN" sz="2000" i="1" dirty="0"/>
              <a:t>	</a:t>
            </a:r>
            <a:r>
              <a:rPr lang="en-IN" sz="2000" dirty="0"/>
              <a:t>2</a:t>
            </a:r>
            <a:r>
              <a:rPr lang="en-IN" sz="2000" i="1" dirty="0"/>
              <a:t>. </a:t>
            </a:r>
            <a:r>
              <a:rPr lang="en-IN" sz="2000" dirty="0"/>
              <a:t>a</a:t>
            </a:r>
            <a:r>
              <a:rPr lang="en-IN" sz="2000" i="1" dirty="0"/>
              <a:t>. Dotted-Decimal Notation </a:t>
            </a:r>
          </a:p>
          <a:p>
            <a:pPr marL="1692275" lvl="1" indent="-342900" algn="just">
              <a:buFont typeface="Wingdings" pitchFamily="2" charset="2"/>
              <a:buChar char="Ø"/>
            </a:pPr>
            <a:r>
              <a:rPr lang="en-IN" sz="2000" dirty="0"/>
              <a:t>To make the IPv4 address more compact and easier to read, Internet addresses are usually written in decimal form with a decimal point (dot) separating the bytes. </a:t>
            </a:r>
          </a:p>
          <a:p>
            <a:pPr marL="1692275" lvl="1" indent="-342900" algn="just">
              <a:buFont typeface="Wingdings" pitchFamily="2" charset="2"/>
              <a:buChar char="Ø"/>
            </a:pPr>
            <a:r>
              <a:rPr lang="en-IN" sz="2000" dirty="0"/>
              <a:t>The following is the dotted-decimal notation of an address: 132.11.3.31   </a:t>
            </a:r>
          </a:p>
          <a:p>
            <a:pPr marL="0" lvl="1" indent="900113" algn="just">
              <a:spcBef>
                <a:spcPts val="1000"/>
              </a:spcBef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2600446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696D8-9EBE-41D7-8575-7852B9AE0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2. NOTATIONS					(</a:t>
            </a:r>
            <a:r>
              <a:rPr lang="en-IN" dirty="0" err="1"/>
              <a:t>contd</a:t>
            </a:r>
            <a:r>
              <a:rPr lang="en-IN" dirty="0"/>
              <a:t>…)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0932E5-3102-42B7-B473-8EC44E00D2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1659" y="1895812"/>
            <a:ext cx="9746073" cy="4160214"/>
          </a:xfrm>
        </p:spPr>
        <p:txBody>
          <a:bodyPr>
            <a:noAutofit/>
          </a:bodyPr>
          <a:lstStyle/>
          <a:p>
            <a:pPr marL="0" lvl="1" indent="900113" algn="just">
              <a:spcBef>
                <a:spcPts val="1000"/>
              </a:spcBef>
              <a:buNone/>
            </a:pPr>
            <a:r>
              <a:rPr lang="en-IN" sz="2000" dirty="0"/>
              <a:t>2.b. </a:t>
            </a:r>
            <a:r>
              <a:rPr lang="en-IN" sz="2000" i="1" dirty="0"/>
              <a:t>Binary notation </a:t>
            </a:r>
          </a:p>
          <a:p>
            <a:pPr marL="1349375" lvl="1" indent="0" algn="just">
              <a:spcBef>
                <a:spcPts val="1000"/>
              </a:spcBef>
              <a:buFont typeface="Wingdings" pitchFamily="2" charset="2"/>
              <a:buChar char="Ø"/>
            </a:pPr>
            <a:r>
              <a:rPr lang="en-IN" sz="2000" dirty="0"/>
              <a:t>In binary notation, the IPv4 address is displayed as 32 bits. </a:t>
            </a:r>
          </a:p>
          <a:p>
            <a:pPr marL="1349375" lvl="1" indent="0" algn="just">
              <a:spcBef>
                <a:spcPts val="1000"/>
              </a:spcBef>
              <a:buFont typeface="Wingdings" pitchFamily="2" charset="2"/>
              <a:buChar char="Ø"/>
            </a:pPr>
            <a:r>
              <a:rPr lang="en-IN" sz="2000" dirty="0"/>
              <a:t>Each octet is often referred to as a byte. </a:t>
            </a:r>
          </a:p>
          <a:p>
            <a:pPr marL="1528763" lvl="1" indent="-179388" algn="just">
              <a:spcBef>
                <a:spcPts val="1000"/>
              </a:spcBef>
              <a:buFont typeface="Wingdings" pitchFamily="2" charset="2"/>
              <a:buChar char="Ø"/>
            </a:pPr>
            <a:r>
              <a:rPr lang="en-IN" sz="2000" dirty="0"/>
              <a:t>it is common to hear an IPv4 address referred to as a 32-bit address or a</a:t>
            </a:r>
            <a:br>
              <a:rPr lang="en-IN" sz="2000" dirty="0"/>
            </a:br>
            <a:r>
              <a:rPr lang="en-IN" sz="2000" dirty="0"/>
              <a:t>4-byte address. </a:t>
            </a:r>
          </a:p>
          <a:p>
            <a:pPr marL="1349375" lvl="1" indent="0" algn="just">
              <a:spcBef>
                <a:spcPts val="1000"/>
              </a:spcBef>
              <a:buFont typeface="Wingdings" pitchFamily="2" charset="2"/>
              <a:buChar char="Ø"/>
            </a:pPr>
            <a:r>
              <a:rPr lang="en-IN" sz="2000" dirty="0"/>
              <a:t>The following is an example of an IPv4 address in binary notation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78571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21628" y="714177"/>
            <a:ext cx="8149788" cy="290807"/>
          </a:xfrm>
          <a:prstGeom prst="rect">
            <a:avLst/>
          </a:prstGeom>
        </p:spPr>
        <p:txBody>
          <a:bodyPr vert="horz" wrap="square" lIns="0" tIns="11516" rIns="0" bIns="0" rtlCol="0" anchor="ctr">
            <a:spAutoFit/>
          </a:bodyPr>
          <a:lstStyle/>
          <a:p>
            <a:pPr marL="11516">
              <a:lnSpc>
                <a:spcPct val="100000"/>
              </a:lnSpc>
              <a:spcBef>
                <a:spcPts val="91"/>
              </a:spcBef>
              <a:tabLst>
                <a:tab pos="1478125" algn="l"/>
              </a:tabLst>
            </a:pPr>
            <a:r>
              <a:rPr sz="1814" i="1" spc="-5" dirty="0">
                <a:latin typeface="Times New Roman"/>
                <a:cs typeface="Times New Roman"/>
              </a:rPr>
              <a:t>Dotted-decimal notation and binary notation for an IPv4</a:t>
            </a:r>
            <a:r>
              <a:rPr sz="1814" i="1" spc="45" dirty="0">
                <a:latin typeface="Times New Roman"/>
                <a:cs typeface="Times New Roman"/>
              </a:rPr>
              <a:t> </a:t>
            </a:r>
            <a:r>
              <a:rPr sz="1814" i="1" spc="-5" dirty="0">
                <a:latin typeface="Times New Roman"/>
                <a:cs typeface="Times New Roman"/>
              </a:rPr>
              <a:t>address</a:t>
            </a:r>
            <a:endParaRPr sz="1814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088428" y="1206455"/>
            <a:ext cx="7946297" cy="17275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32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627395" y="2613985"/>
            <a:ext cx="6936772" cy="16238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32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088428" y="5947975"/>
            <a:ext cx="7946297" cy="69098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32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696D8-9EBE-41D7-8575-7852B9AE0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2. NOTATIONS					(</a:t>
            </a:r>
            <a:r>
              <a:rPr lang="en-IN" dirty="0" err="1"/>
              <a:t>contd</a:t>
            </a:r>
            <a:r>
              <a:rPr lang="en-IN" dirty="0"/>
              <a:t>…)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0932E5-3102-42B7-B473-8EC44E00D2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1659" y="1895812"/>
            <a:ext cx="9746073" cy="4160214"/>
          </a:xfrm>
        </p:spPr>
        <p:txBody>
          <a:bodyPr>
            <a:noAutofit/>
          </a:bodyPr>
          <a:lstStyle/>
          <a:p>
            <a:pPr marL="0" lvl="1" indent="900113" algn="just">
              <a:spcBef>
                <a:spcPts val="1000"/>
              </a:spcBef>
              <a:buNone/>
            </a:pPr>
            <a:r>
              <a:rPr lang="en-IN" sz="2000" dirty="0"/>
              <a:t>2.c. </a:t>
            </a:r>
            <a:r>
              <a:rPr lang="en-IN" sz="2000" i="1" dirty="0"/>
              <a:t>Hexadecimal notation </a:t>
            </a:r>
          </a:p>
          <a:p>
            <a:pPr marL="1349375" lvl="1" indent="0" algn="just">
              <a:spcBef>
                <a:spcPts val="1000"/>
              </a:spcBef>
              <a:buFont typeface="Wingdings" pitchFamily="2" charset="2"/>
              <a:buChar char="Ø"/>
            </a:pPr>
            <a:r>
              <a:rPr lang="en-IN" sz="2000" dirty="0"/>
              <a:t>The IPv4 address is displayed as 8 hexadecimal digits. </a:t>
            </a:r>
          </a:p>
          <a:p>
            <a:pPr marL="1349375" lvl="1" indent="0" algn="just">
              <a:spcBef>
                <a:spcPts val="1000"/>
              </a:spcBef>
              <a:buNone/>
            </a:pPr>
            <a:endParaRPr lang="en-IN" sz="2000" dirty="0"/>
          </a:p>
          <a:p>
            <a:pPr marL="1349375" lvl="1" indent="0" algn="just">
              <a:spcBef>
                <a:spcPts val="1000"/>
              </a:spcBef>
              <a:buNone/>
            </a:pPr>
            <a:r>
              <a:rPr lang="en-IN" sz="2000" dirty="0"/>
              <a:t>Example:  10000001    00001011    00001011    11101111</a:t>
            </a:r>
          </a:p>
          <a:p>
            <a:pPr marL="1349375" lvl="1" indent="0" algn="just">
              <a:spcBef>
                <a:spcPts val="1000"/>
              </a:spcBef>
              <a:buNone/>
            </a:pPr>
            <a:r>
              <a:rPr lang="en-IN" sz="2000" dirty="0"/>
              <a:t>Hexadecimal notation is:  810B0BEF</a:t>
            </a:r>
            <a:r>
              <a:rPr lang="en-IN" sz="2000" baseline="-25000" dirty="0"/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2490709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07888" y="1158232"/>
            <a:ext cx="2112103" cy="503490"/>
          </a:xfrm>
          <a:prstGeom prst="rect">
            <a:avLst/>
          </a:prstGeom>
        </p:spPr>
        <p:txBody>
          <a:bodyPr vert="horz" wrap="square" lIns="0" tIns="10941" rIns="0" bIns="0" rtlCol="0" anchor="ctr">
            <a:spAutoFit/>
          </a:bodyPr>
          <a:lstStyle/>
          <a:p>
            <a:pPr marL="11516">
              <a:lnSpc>
                <a:spcPct val="100000"/>
              </a:lnSpc>
              <a:spcBef>
                <a:spcPts val="86"/>
              </a:spcBef>
            </a:pPr>
            <a:r>
              <a:rPr b="1" i="1" spc="-5" dirty="0">
                <a:latin typeface="Times New Roman"/>
                <a:cs typeface="Times New Roman"/>
              </a:rPr>
              <a:t>Example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643982" y="1853299"/>
            <a:ext cx="8116002" cy="627182"/>
          </a:xfrm>
          <a:prstGeom prst="rect">
            <a:avLst/>
          </a:prstGeom>
        </p:spPr>
        <p:txBody>
          <a:bodyPr vert="horz" wrap="square" lIns="0" tIns="11516" rIns="0" bIns="0" rtlCol="0">
            <a:spAutoFit/>
          </a:bodyPr>
          <a:lstStyle/>
          <a:p>
            <a:pPr marL="11516" marR="4607" lvl="0" indent="0" algn="l" defTabSz="457200" rtl="0" eaLnBrk="1" fontAlgn="auto" latinLnBrk="0" hangingPunct="1">
              <a:lnSpc>
                <a:spcPct val="100000"/>
              </a:lnSpc>
              <a:spcBef>
                <a:spcPts val="91"/>
              </a:spcBef>
              <a:spcAft>
                <a:spcPts val="0"/>
              </a:spcAft>
              <a:buClrTx/>
              <a:buSzTx/>
              <a:buFontTx/>
              <a:buNone/>
              <a:tabLst>
                <a:tab pos="1316896" algn="l"/>
                <a:tab pos="1996361" algn="l"/>
                <a:tab pos="3518248" algn="l"/>
                <a:tab pos="4412493" algn="l"/>
                <a:tab pos="5951079" algn="l"/>
                <a:tab pos="6862023" algn="l"/>
              </a:tabLst>
              <a:defRPr/>
            </a:pPr>
            <a:r>
              <a:rPr kumimoji="0" sz="2000" b="1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Chang</a:t>
            </a:r>
            <a:r>
              <a:rPr kumimoji="0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	</a:t>
            </a:r>
            <a:r>
              <a:rPr kumimoji="0" sz="2000" b="1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</a:t>
            </a:r>
            <a:r>
              <a:rPr kumimoji="0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	f</a:t>
            </a:r>
            <a:r>
              <a:rPr kumimoji="0" sz="2000" b="1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ollowin</a:t>
            </a:r>
            <a:r>
              <a:rPr kumimoji="0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g	</a:t>
            </a:r>
            <a:r>
              <a:rPr kumimoji="0" sz="2000" b="1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IPv</a:t>
            </a:r>
            <a:r>
              <a:rPr kumimoji="0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4	</a:t>
            </a:r>
            <a:r>
              <a:rPr kumimoji="0" sz="2000" b="1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addresse</a:t>
            </a:r>
            <a:r>
              <a:rPr kumimoji="0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	</a:t>
            </a:r>
            <a:r>
              <a:rPr kumimoji="0" sz="2000" b="1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fro</a:t>
            </a:r>
            <a:r>
              <a:rPr kumimoji="0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m	b</a:t>
            </a:r>
            <a:r>
              <a:rPr kumimoji="0" sz="2000" b="1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inary  </a:t>
            </a:r>
            <a:r>
              <a:rPr kumimoji="0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notation to dotted-decimal</a:t>
            </a:r>
            <a:r>
              <a:rPr kumimoji="0" sz="2000" b="1" i="1" u="none" strike="noStrike" kern="1200" cap="none" spc="-6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nota</a:t>
            </a:r>
            <a:r>
              <a:rPr sz="2000" b="1" i="1" spc="-5" dirty="0">
                <a:solidFill>
                  <a:prstClr val="black"/>
                </a:solidFill>
                <a:latin typeface="Times New Roman"/>
                <a:cs typeface="Times New Roman"/>
              </a:rPr>
              <a:t>tio</a:t>
            </a:r>
            <a:r>
              <a:rPr kumimoji="0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n.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913237" y="2726849"/>
            <a:ext cx="6995505" cy="7021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32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07888" y="1158232"/>
            <a:ext cx="2112103" cy="503490"/>
          </a:xfrm>
          <a:prstGeom prst="rect">
            <a:avLst/>
          </a:prstGeom>
        </p:spPr>
        <p:txBody>
          <a:bodyPr vert="horz" wrap="square" lIns="0" tIns="10941" rIns="0" bIns="0" rtlCol="0" anchor="ctr">
            <a:spAutoFit/>
          </a:bodyPr>
          <a:lstStyle/>
          <a:p>
            <a:pPr marL="11516">
              <a:lnSpc>
                <a:spcPct val="100000"/>
              </a:lnSpc>
              <a:spcBef>
                <a:spcPts val="86"/>
              </a:spcBef>
            </a:pPr>
            <a:r>
              <a:rPr b="1" i="1" spc="-5" dirty="0">
                <a:latin typeface="Times New Roman"/>
                <a:cs typeface="Times New Roman"/>
              </a:rPr>
              <a:t>Example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643982" y="1853299"/>
            <a:ext cx="8116002" cy="627182"/>
          </a:xfrm>
          <a:prstGeom prst="rect">
            <a:avLst/>
          </a:prstGeom>
        </p:spPr>
        <p:txBody>
          <a:bodyPr vert="horz" wrap="square" lIns="0" tIns="11516" rIns="0" bIns="0" rtlCol="0">
            <a:spAutoFit/>
          </a:bodyPr>
          <a:lstStyle/>
          <a:p>
            <a:pPr marL="11516" marR="4607" lvl="0" indent="0" algn="l" defTabSz="457200" rtl="0" eaLnBrk="1" fontAlgn="auto" latinLnBrk="0" hangingPunct="1">
              <a:lnSpc>
                <a:spcPct val="100000"/>
              </a:lnSpc>
              <a:spcBef>
                <a:spcPts val="91"/>
              </a:spcBef>
              <a:spcAft>
                <a:spcPts val="0"/>
              </a:spcAft>
              <a:buClrTx/>
              <a:buSzTx/>
              <a:buFontTx/>
              <a:buNone/>
              <a:tabLst>
                <a:tab pos="1316896" algn="l"/>
                <a:tab pos="1996361" algn="l"/>
                <a:tab pos="3518248" algn="l"/>
                <a:tab pos="4412493" algn="l"/>
                <a:tab pos="5951079" algn="l"/>
                <a:tab pos="6862023" algn="l"/>
              </a:tabLst>
              <a:defRPr/>
            </a:pPr>
            <a:r>
              <a:rPr kumimoji="0" sz="2000" b="1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Chang</a:t>
            </a:r>
            <a:r>
              <a:rPr kumimoji="0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	</a:t>
            </a:r>
            <a:r>
              <a:rPr kumimoji="0" sz="2000" b="1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</a:t>
            </a:r>
            <a:r>
              <a:rPr kumimoji="0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	f</a:t>
            </a:r>
            <a:r>
              <a:rPr kumimoji="0" sz="2000" b="1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ollowin</a:t>
            </a:r>
            <a:r>
              <a:rPr kumimoji="0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g	</a:t>
            </a:r>
            <a:r>
              <a:rPr kumimoji="0" sz="2000" b="1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IPv</a:t>
            </a:r>
            <a:r>
              <a:rPr kumimoji="0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4	</a:t>
            </a:r>
            <a:r>
              <a:rPr kumimoji="0" sz="2000" b="1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addresse</a:t>
            </a:r>
            <a:r>
              <a:rPr kumimoji="0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	</a:t>
            </a:r>
            <a:r>
              <a:rPr kumimoji="0" sz="2000" b="1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fro</a:t>
            </a:r>
            <a:r>
              <a:rPr kumimoji="0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m	b</a:t>
            </a:r>
            <a:r>
              <a:rPr kumimoji="0" sz="2000" b="1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inary  </a:t>
            </a:r>
            <a:r>
              <a:rPr kumimoji="0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notation to dotted-decimal</a:t>
            </a:r>
            <a:r>
              <a:rPr kumimoji="0" sz="2000" b="1" i="1" u="none" strike="noStrike" kern="1200" cap="none" spc="-6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nota</a:t>
            </a:r>
            <a:r>
              <a:rPr sz="2000" b="1" i="1" spc="-5" dirty="0">
                <a:solidFill>
                  <a:prstClr val="black"/>
                </a:solidFill>
                <a:latin typeface="Times New Roman"/>
                <a:cs typeface="Times New Roman"/>
              </a:rPr>
              <a:t>tio</a:t>
            </a:r>
            <a:r>
              <a:rPr kumimoji="0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n.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913237" y="2726849"/>
            <a:ext cx="6995505" cy="7021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32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075162" y="4930186"/>
            <a:ext cx="6995505" cy="778506"/>
          </a:xfrm>
          <a:custGeom>
            <a:avLst/>
            <a:gdLst/>
            <a:ahLst/>
            <a:cxnLst/>
            <a:rect l="l" t="t" r="r" b="b"/>
            <a:pathLst>
              <a:path w="9144000" h="858520">
                <a:moveTo>
                  <a:pt x="9144000" y="858012"/>
                </a:moveTo>
                <a:lnTo>
                  <a:pt x="9144000" y="0"/>
                </a:lnTo>
                <a:lnTo>
                  <a:pt x="0" y="0"/>
                </a:lnTo>
                <a:lnTo>
                  <a:pt x="0" y="858012"/>
                </a:lnTo>
                <a:lnTo>
                  <a:pt x="9144000" y="8580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32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92331" y="3610619"/>
            <a:ext cx="9514439" cy="1017930"/>
          </a:xfrm>
          <a:prstGeom prst="rect">
            <a:avLst/>
          </a:prstGeom>
        </p:spPr>
        <p:txBody>
          <a:bodyPr vert="horz" wrap="square" lIns="0" tIns="11516" rIns="0" bIns="0" rtlCol="0">
            <a:spAutoFit/>
          </a:bodyPr>
          <a:lstStyle/>
          <a:p>
            <a:pPr marL="11516" marR="0" lvl="0" indent="0" algn="l" defTabSz="457200" rtl="0" eaLnBrk="1" fontAlgn="auto" latinLnBrk="0" hangingPunct="1">
              <a:lnSpc>
                <a:spcPct val="100000"/>
              </a:lnSpc>
              <a:spcBef>
                <a:spcPts val="9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539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Solution</a:t>
            </a:r>
            <a:endParaRPr kumimoji="0" sz="253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11516" marR="4607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1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We </a:t>
            </a:r>
            <a:r>
              <a:rPr kumimoji="0" sz="2000" b="1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replace each group </a:t>
            </a:r>
            <a:r>
              <a:rPr kumimoji="0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of 8 </a:t>
            </a:r>
            <a:r>
              <a:rPr kumimoji="0" sz="2000" b="1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bits with its equivalent  decimal number and add dots for  separation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075161" y="4577992"/>
            <a:ext cx="6995505" cy="1141273"/>
            <a:chOff x="774839" y="5491734"/>
            <a:chExt cx="9144000" cy="1258570"/>
          </a:xfrm>
        </p:grpSpPr>
        <p:sp>
          <p:nvSpPr>
            <p:cNvPr id="13" name="object 13"/>
            <p:cNvSpPr/>
            <p:nvPr/>
          </p:nvSpPr>
          <p:spPr>
            <a:xfrm>
              <a:off x="774839" y="5491734"/>
              <a:ext cx="9144000" cy="858519"/>
            </a:xfrm>
            <a:custGeom>
              <a:avLst/>
              <a:gdLst/>
              <a:ahLst/>
              <a:cxnLst/>
              <a:rect l="l" t="t" r="r" b="b"/>
              <a:pathLst>
                <a:path w="9144000" h="858520">
                  <a:moveTo>
                    <a:pt x="9143999" y="858012"/>
                  </a:moveTo>
                  <a:lnTo>
                    <a:pt x="9143999" y="0"/>
                  </a:lnTo>
                  <a:lnTo>
                    <a:pt x="0" y="0"/>
                  </a:lnTo>
                  <a:lnTo>
                    <a:pt x="0" y="858012"/>
                  </a:lnTo>
                  <a:lnTo>
                    <a:pt x="9143999" y="85801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632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1080401" y="5839968"/>
              <a:ext cx="3071622" cy="909827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632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410210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4360" y="1295575"/>
            <a:ext cx="2112103" cy="503490"/>
          </a:xfrm>
          <a:prstGeom prst="rect">
            <a:avLst/>
          </a:prstGeom>
        </p:spPr>
        <p:txBody>
          <a:bodyPr vert="horz" wrap="square" lIns="0" tIns="10941" rIns="0" bIns="0" rtlCol="0" anchor="ctr">
            <a:spAutoFit/>
          </a:bodyPr>
          <a:lstStyle/>
          <a:p>
            <a:pPr marL="11516">
              <a:lnSpc>
                <a:spcPct val="100000"/>
              </a:lnSpc>
              <a:spcBef>
                <a:spcPts val="86"/>
              </a:spcBef>
            </a:pPr>
            <a:r>
              <a:rPr b="1" i="1" spc="-5" dirty="0">
                <a:latin typeface="Times New Roman"/>
                <a:cs typeface="Times New Roman"/>
              </a:rPr>
              <a:t>Example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370136" y="1927989"/>
            <a:ext cx="9673002" cy="319405"/>
          </a:xfrm>
          <a:prstGeom prst="rect">
            <a:avLst/>
          </a:prstGeom>
        </p:spPr>
        <p:txBody>
          <a:bodyPr vert="horz" wrap="square" lIns="0" tIns="11516" rIns="0" bIns="0" rtlCol="0">
            <a:spAutoFit/>
          </a:bodyPr>
          <a:lstStyle/>
          <a:p>
            <a:pPr marL="11516" marR="4607" lvl="0" indent="0" algn="l" defTabSz="457200" rtl="0" eaLnBrk="1" fontAlgn="auto" latinLnBrk="0" hangingPunct="1">
              <a:lnSpc>
                <a:spcPct val="100000"/>
              </a:lnSpc>
              <a:spcBef>
                <a:spcPts val="9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Change the following IPv4 addresses from dotted-decimal  </a:t>
            </a:r>
            <a:r>
              <a:rPr kumimoji="0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notation to binary</a:t>
            </a:r>
            <a:r>
              <a:rPr kumimoji="0" sz="2000" b="1" i="1" u="none" strike="noStrike" kern="1200" cap="none" spc="-5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notation.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468072" y="2396696"/>
            <a:ext cx="2599475" cy="79324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32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228923" y="3306581"/>
            <a:ext cx="1155092" cy="402376"/>
          </a:xfrm>
          <a:prstGeom prst="rect">
            <a:avLst/>
          </a:prstGeom>
        </p:spPr>
        <p:txBody>
          <a:bodyPr vert="horz" wrap="square" lIns="0" tIns="11516" rIns="0" bIns="0" rtlCol="0">
            <a:spAutoFit/>
          </a:bodyPr>
          <a:lstStyle/>
          <a:p>
            <a:pPr marL="11516" marR="0" lvl="0" indent="0" algn="l" defTabSz="457200" rtl="0" eaLnBrk="1" fontAlgn="auto" latinLnBrk="0" hangingPunct="1">
              <a:lnSpc>
                <a:spcPct val="100000"/>
              </a:lnSpc>
              <a:spcBef>
                <a:spcPts val="9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539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Solution</a:t>
            </a:r>
            <a:endParaRPr kumimoji="0" sz="253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46124" y="3714688"/>
            <a:ext cx="9297013" cy="319405"/>
          </a:xfrm>
          <a:prstGeom prst="rect">
            <a:avLst/>
          </a:prstGeom>
        </p:spPr>
        <p:txBody>
          <a:bodyPr vert="horz" wrap="square" lIns="0" tIns="11516" rIns="0" bIns="0" rtlCol="0">
            <a:spAutoFit/>
          </a:bodyPr>
          <a:lstStyle/>
          <a:p>
            <a:pPr marL="11516" defTabSz="457200">
              <a:spcBef>
                <a:spcPts val="91"/>
              </a:spcBef>
              <a:tabLst>
                <a:tab pos="1320351" algn="l"/>
                <a:tab pos="2165651" algn="l"/>
                <a:tab pos="2741469" algn="l"/>
              </a:tabLst>
              <a:defRPr/>
            </a:pPr>
            <a:r>
              <a:rPr lang="en-IN" sz="2000" b="1" i="1" spc="-195" dirty="0">
                <a:solidFill>
                  <a:prstClr val="black"/>
                </a:solidFill>
                <a:latin typeface="Times New Roman"/>
                <a:cs typeface="Times New Roman"/>
              </a:rPr>
              <a:t>W</a:t>
            </a:r>
            <a:r>
              <a:rPr lang="en-IN" sz="2000" b="1" i="1" dirty="0">
                <a:solidFill>
                  <a:prstClr val="black"/>
                </a:solidFill>
                <a:latin typeface="Times New Roman"/>
                <a:cs typeface="Times New Roman"/>
              </a:rPr>
              <a:t>e </a:t>
            </a:r>
            <a:r>
              <a:rPr lang="en-IN" sz="2000" b="1" i="1" spc="-5" dirty="0">
                <a:solidFill>
                  <a:prstClr val="black"/>
                </a:solidFill>
                <a:latin typeface="Times New Roman"/>
                <a:cs typeface="Times New Roman"/>
              </a:rPr>
              <a:t>replac</a:t>
            </a:r>
            <a:r>
              <a:rPr lang="en-IN" sz="2000" b="1" i="1" dirty="0">
                <a:solidFill>
                  <a:prstClr val="black"/>
                </a:solidFill>
                <a:latin typeface="Times New Roman"/>
                <a:cs typeface="Times New Roman"/>
              </a:rPr>
              <a:t>e </a:t>
            </a:r>
            <a:r>
              <a:rPr lang="en-IN" sz="2000" b="1" i="1" spc="-9" dirty="0">
                <a:solidFill>
                  <a:prstClr val="black"/>
                </a:solidFill>
                <a:latin typeface="Times New Roman"/>
                <a:cs typeface="Times New Roman"/>
              </a:rPr>
              <a:t>e</a:t>
            </a:r>
            <a:r>
              <a:rPr lang="en-IN" sz="2000" b="1" i="1" spc="-5" dirty="0">
                <a:solidFill>
                  <a:prstClr val="black"/>
                </a:solidFill>
                <a:latin typeface="Times New Roman"/>
                <a:cs typeface="Times New Roman"/>
              </a:rPr>
              <a:t>ac</a:t>
            </a:r>
            <a:r>
              <a:rPr lang="en-IN" sz="2000" b="1" i="1" dirty="0">
                <a:solidFill>
                  <a:prstClr val="black"/>
                </a:solidFill>
                <a:latin typeface="Times New Roman"/>
                <a:cs typeface="Times New Roman"/>
              </a:rPr>
              <a:t>h </a:t>
            </a:r>
            <a:r>
              <a:rPr lang="en-IN" sz="2000" b="1" i="1" spc="-5" dirty="0">
                <a:solidFill>
                  <a:prstClr val="black"/>
                </a:solidFill>
                <a:latin typeface="Times New Roman"/>
                <a:cs typeface="Times New Roman"/>
              </a:rPr>
              <a:t>decimal </a:t>
            </a:r>
            <a:r>
              <a:rPr kumimoji="0" sz="2000" b="1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cs typeface="Times New Roman"/>
              </a:rPr>
              <a:t>numbe</a:t>
            </a:r>
            <a:r>
              <a:rPr kumimoji="0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cs typeface="Times New Roman"/>
              </a:rPr>
              <a:t>r</a:t>
            </a:r>
            <a:r>
              <a:rPr kumimoji="0" lang="en-I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000" b="1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cs typeface="Times New Roman"/>
              </a:rPr>
              <a:t>wit</a:t>
            </a:r>
            <a:r>
              <a:rPr kumimoji="0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cs typeface="Times New Roman"/>
              </a:rPr>
              <a:t>h</a:t>
            </a:r>
            <a:r>
              <a:rPr lang="en-IN" sz="2000" b="1" i="1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kumimoji="0" sz="2000" b="1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cs typeface="Times New Roman"/>
              </a:rPr>
              <a:t>it</a:t>
            </a:r>
            <a:r>
              <a:rPr kumimoji="0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cs typeface="Times New Roman"/>
              </a:rPr>
              <a:t>s</a:t>
            </a:r>
            <a:r>
              <a:rPr kumimoji="0" lang="en-I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000" b="1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cs typeface="Times New Roman"/>
              </a:rPr>
              <a:t>binary</a:t>
            </a:r>
            <a:r>
              <a:rPr lang="en-IN" sz="2000" b="1" i="1" spc="-5" dirty="0">
                <a:solidFill>
                  <a:prstClr val="black"/>
                </a:solidFill>
                <a:latin typeface="Times New Roman"/>
                <a:cs typeface="Times New Roman"/>
              </a:rPr>
              <a:t> equivalent</a:t>
            </a:r>
            <a:endParaRPr lang="en-IN" sz="2000" dirty="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325066" y="4293797"/>
            <a:ext cx="6594045" cy="94388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32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0629" y="775944"/>
            <a:ext cx="9603275" cy="1049235"/>
          </a:xfrm>
        </p:spPr>
        <p:txBody>
          <a:bodyPr>
            <a:normAutofit/>
          </a:bodyPr>
          <a:lstStyle/>
          <a:p>
            <a:pPr algn="ctr"/>
            <a:r>
              <a:rPr lang="en-IN" dirty="0">
                <a:latin typeface="Bookman Old Style" pitchFamily="18" charset="0"/>
              </a:rPr>
              <a:t>IPv4 Address Rules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266949"/>
            <a:ext cx="10515600" cy="4454525"/>
          </a:xfrm>
        </p:spPr>
        <p:txBody>
          <a:bodyPr/>
          <a:lstStyle/>
          <a:p>
            <a:pPr>
              <a:buNone/>
            </a:pPr>
            <a:r>
              <a:rPr lang="en-US" b="1" dirty="0"/>
              <a:t>	</a:t>
            </a:r>
            <a:r>
              <a:rPr lang="en-US" b="1" dirty="0">
                <a:latin typeface="Bookman Old Style" pitchFamily="18" charset="0"/>
              </a:rPr>
              <a:t>RULES:</a:t>
            </a:r>
          </a:p>
          <a:p>
            <a:pPr algn="just">
              <a:buNone/>
            </a:pPr>
            <a:r>
              <a:rPr lang="en-US" dirty="0">
                <a:latin typeface="Bookman Old Style" pitchFamily="18" charset="0"/>
              </a:rPr>
              <a:t>		</a:t>
            </a:r>
            <a:r>
              <a:rPr lang="en-US" sz="2400" dirty="0">
                <a:latin typeface="Bookman Old Style" pitchFamily="18" charset="0"/>
              </a:rPr>
              <a:t>1. There must be no leading zero </a:t>
            </a:r>
          </a:p>
          <a:p>
            <a:pPr algn="just">
              <a:buNone/>
            </a:pPr>
            <a:r>
              <a:rPr lang="en-US" sz="2400" dirty="0">
                <a:latin typeface="Bookman Old Style" pitchFamily="18" charset="0"/>
              </a:rPr>
              <a:t>		2. There can be no more than four bytes in IPV4 address</a:t>
            </a:r>
          </a:p>
          <a:p>
            <a:pPr algn="just">
              <a:buNone/>
            </a:pPr>
            <a:r>
              <a:rPr lang="en-US" sz="2400" dirty="0">
                <a:latin typeface="Bookman Old Style" pitchFamily="18" charset="0"/>
              </a:rPr>
              <a:t>		3. Each number must be less than or equal to 255</a:t>
            </a:r>
          </a:p>
          <a:p>
            <a:pPr algn="just">
              <a:buNone/>
            </a:pPr>
            <a:r>
              <a:rPr lang="en-US" sz="2400" dirty="0">
                <a:latin typeface="Bookman Old Style" pitchFamily="18" charset="0"/>
              </a:rPr>
              <a:t>		4. A mixture of binary and decimal notation is not allowed.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87FF5-4BF9-4B21-B0D2-9B7FF2B27D7F}" type="slidenum">
              <a:rPr lang="en-AU" smtClean="0"/>
              <a:pPr/>
              <a:t>14</a:t>
            </a:fld>
            <a:endParaRPr lang="en-AU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54225" y="1184795"/>
            <a:ext cx="2112103" cy="503490"/>
          </a:xfrm>
          <a:prstGeom prst="rect">
            <a:avLst/>
          </a:prstGeom>
        </p:spPr>
        <p:txBody>
          <a:bodyPr vert="horz" wrap="square" lIns="0" tIns="10941" rIns="0" bIns="0" rtlCol="0" anchor="ctr">
            <a:spAutoFit/>
          </a:bodyPr>
          <a:lstStyle/>
          <a:p>
            <a:pPr marL="11516">
              <a:lnSpc>
                <a:spcPct val="100000"/>
              </a:lnSpc>
              <a:spcBef>
                <a:spcPts val="86"/>
              </a:spcBef>
            </a:pPr>
            <a:r>
              <a:rPr b="1" i="1" spc="-5" dirty="0">
                <a:latin typeface="Times New Roman"/>
                <a:cs typeface="Times New Roman"/>
              </a:rPr>
              <a:t>Example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445084" y="1873846"/>
            <a:ext cx="9569919" cy="319405"/>
          </a:xfrm>
          <a:prstGeom prst="rect">
            <a:avLst/>
          </a:prstGeom>
        </p:spPr>
        <p:txBody>
          <a:bodyPr vert="horz" wrap="square" lIns="0" tIns="11516" rIns="0" bIns="0" rtlCol="0">
            <a:spAutoFit/>
          </a:bodyPr>
          <a:lstStyle/>
          <a:p>
            <a:pPr marL="11516" marR="0" lvl="0" indent="0" algn="l" defTabSz="457200" rtl="0" eaLnBrk="1" fontAlgn="auto" latinLnBrk="0" hangingPunct="1">
              <a:lnSpc>
                <a:spcPct val="100000"/>
              </a:lnSpc>
              <a:spcBef>
                <a:spcPts val="9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Find the </a:t>
            </a:r>
            <a:r>
              <a:rPr kumimoji="0" sz="2000" b="1" i="1" u="none" strike="noStrike" kern="1200" cap="none" spc="-2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error, </a:t>
            </a:r>
            <a:r>
              <a:rPr kumimoji="0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if </a:t>
            </a:r>
            <a:r>
              <a:rPr kumimoji="0" sz="2000" b="1" i="1" u="none" strike="noStrike" kern="1200" cap="none" spc="-2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any, </a:t>
            </a:r>
            <a:r>
              <a:rPr kumimoji="0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in the following IPv4</a:t>
            </a:r>
            <a:r>
              <a:rPr kumimoji="0" sz="2000" b="1" i="1" u="none" strike="noStrike" kern="1200" cap="none" spc="-7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addresses.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371725" y="2378812"/>
            <a:ext cx="2801986" cy="115120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32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45085" y="3958557"/>
            <a:ext cx="9569918" cy="1633483"/>
          </a:xfrm>
          <a:prstGeom prst="rect">
            <a:avLst/>
          </a:prstGeom>
        </p:spPr>
        <p:txBody>
          <a:bodyPr vert="horz" wrap="square" lIns="0" tIns="11516" rIns="0" bIns="0" rtlCol="0">
            <a:spAutoFit/>
          </a:bodyPr>
          <a:lstStyle/>
          <a:p>
            <a:pPr marL="11516" marR="0" lvl="0" indent="0" algn="l" defTabSz="457200" rtl="0" eaLnBrk="1" fontAlgn="auto" latinLnBrk="0" hangingPunct="1">
              <a:lnSpc>
                <a:spcPct val="100000"/>
              </a:lnSpc>
              <a:spcBef>
                <a:spcPts val="9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539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Solution</a:t>
            </a:r>
            <a:endParaRPr kumimoji="0" sz="253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333399" marR="0" lvl="0" indent="-322458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Tx/>
              <a:buAutoNum type="alphaLcPeriod"/>
              <a:tabLst>
                <a:tab pos="333974" algn="l"/>
              </a:tabLst>
              <a:defRPr/>
            </a:pPr>
            <a:r>
              <a:rPr kumimoji="0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There </a:t>
            </a:r>
            <a:r>
              <a:rPr kumimoji="0" sz="2000" b="1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must </a:t>
            </a:r>
            <a:r>
              <a:rPr kumimoji="0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be </a:t>
            </a:r>
            <a:r>
              <a:rPr kumimoji="0" sz="2000" b="1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no </a:t>
            </a:r>
            <a:r>
              <a:rPr kumimoji="0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leading zero</a:t>
            </a:r>
            <a:r>
              <a:rPr kumimoji="0" sz="2000" b="1" i="1" u="none" strike="noStrike" kern="1200" cap="none" spc="-7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(045).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333399" marR="0" lvl="0" indent="-322458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Tx/>
              <a:buAutoNum type="alphaLcPeriod"/>
              <a:tabLst>
                <a:tab pos="333974" algn="l"/>
              </a:tabLst>
              <a:defRPr/>
            </a:pPr>
            <a:r>
              <a:rPr kumimoji="0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There can be </a:t>
            </a:r>
            <a:r>
              <a:rPr kumimoji="0" sz="2000" b="1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no </a:t>
            </a:r>
            <a:r>
              <a:rPr kumimoji="0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more than four</a:t>
            </a:r>
            <a:r>
              <a:rPr kumimoji="0" sz="2000" b="1" i="1" u="none" strike="noStrike" kern="1200" cap="none" spc="-8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numbers.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314397" marR="0" lvl="0" indent="-303456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Tx/>
              <a:buAutoNum type="alphaLcPeriod"/>
              <a:tabLst>
                <a:tab pos="314972" algn="l"/>
              </a:tabLst>
              <a:defRPr/>
            </a:pPr>
            <a:r>
              <a:rPr kumimoji="0" sz="2000" b="1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Each number needs </a:t>
            </a:r>
            <a:r>
              <a:rPr kumimoji="0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to be less than or equal to</a:t>
            </a:r>
            <a:r>
              <a:rPr kumimoji="0" sz="2000" b="1" i="1" u="none" strike="noStrike" kern="1200" cap="none" spc="-10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255.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321306" marR="362190" lvl="0" indent="-321306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Tx/>
              <a:buAutoNum type="alphaLcPeriod"/>
              <a:tabLst>
                <a:tab pos="321306" algn="l"/>
              </a:tabLst>
              <a:defRPr/>
            </a:pPr>
            <a:r>
              <a:rPr kumimoji="0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 mixture of binary notation and</a:t>
            </a:r>
            <a:r>
              <a:rPr kumimoji="0" sz="2000" b="1" i="1" u="none" strike="noStrike" kern="1200" cap="none" spc="-27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dotted-decimal  notation is not</a:t>
            </a:r>
            <a:r>
              <a:rPr kumimoji="0" sz="2000" b="1" i="1" u="none" strike="noStrike" kern="1200" cap="none" spc="-4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000" b="1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allowed.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696D8-9EBE-41D7-8575-7852B9AE0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3. Classful addressing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0932E5-3102-42B7-B473-8EC44E00D2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1659" y="1895812"/>
            <a:ext cx="9746073" cy="4160214"/>
          </a:xfrm>
        </p:spPr>
        <p:txBody>
          <a:bodyPr>
            <a:noAutofit/>
          </a:bodyPr>
          <a:lstStyle/>
          <a:p>
            <a:pPr marL="342900" lvl="1" indent="-342900" algn="just">
              <a:spcBef>
                <a:spcPts val="1000"/>
              </a:spcBef>
              <a:buFont typeface="Wingdings" pitchFamily="2" charset="2"/>
              <a:buChar char="Ø"/>
            </a:pPr>
            <a:r>
              <a:rPr lang="en-IN" sz="2000" dirty="0"/>
              <a:t>IPv4 addressing, at its inception, used the concept of classes. </a:t>
            </a:r>
          </a:p>
          <a:p>
            <a:pPr marL="342900" lvl="1" indent="-342900" algn="just">
              <a:spcBef>
                <a:spcPts val="1000"/>
              </a:spcBef>
              <a:buFont typeface="Wingdings" pitchFamily="2" charset="2"/>
              <a:buChar char="Ø"/>
            </a:pPr>
            <a:r>
              <a:rPr lang="en-IN" sz="2000" dirty="0"/>
              <a:t>The address space is divided into five classes: A, B, C, D, and E. Each class occupies some part of the address space </a:t>
            </a:r>
          </a:p>
          <a:p>
            <a:pPr marL="342900" lvl="1" indent="-342900" algn="just">
              <a:spcBef>
                <a:spcPts val="1000"/>
              </a:spcBef>
              <a:buFont typeface="Wingdings" pitchFamily="2" charset="2"/>
              <a:buChar char="Ø"/>
            </a:pPr>
            <a:r>
              <a:rPr lang="en-IN" sz="2000" dirty="0"/>
              <a:t>We can find the class of an address when given the address in binary notation or dotted- decimal notation. </a:t>
            </a:r>
          </a:p>
          <a:p>
            <a:pPr marL="900113" lvl="1" indent="-180975" algn="just">
              <a:spcBef>
                <a:spcPts val="1000"/>
              </a:spcBef>
              <a:buFont typeface="+mj-lt"/>
              <a:buAutoNum type="romanLcPeriod"/>
            </a:pPr>
            <a:r>
              <a:rPr lang="en-IN" sz="2000" dirty="0"/>
              <a:t>	If the address is given in </a:t>
            </a:r>
            <a:r>
              <a:rPr lang="en-IN" sz="2000" b="1" dirty="0"/>
              <a:t>binary notation</a:t>
            </a:r>
            <a:r>
              <a:rPr lang="en-IN" sz="2000" dirty="0"/>
              <a:t>, the first few bits can immediately tell us the class of the address. </a:t>
            </a:r>
          </a:p>
          <a:p>
            <a:pPr marL="900113" lvl="1" indent="-180975" algn="just">
              <a:spcBef>
                <a:spcPts val="1000"/>
              </a:spcBef>
              <a:buFont typeface="+mj-lt"/>
              <a:buAutoNum type="romanLcPeriod"/>
            </a:pPr>
            <a:r>
              <a:rPr lang="en-IN" sz="2000" dirty="0"/>
              <a:t>If the address is given in </a:t>
            </a:r>
            <a:r>
              <a:rPr lang="en-IN" sz="2000" b="1" dirty="0"/>
              <a:t>decimal-dotted notation</a:t>
            </a:r>
            <a:r>
              <a:rPr lang="en-IN" sz="2000" dirty="0"/>
              <a:t>, the first byte defines the class.  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0535102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88561" y="5215867"/>
            <a:ext cx="7791858" cy="290807"/>
          </a:xfrm>
          <a:prstGeom prst="rect">
            <a:avLst/>
          </a:prstGeom>
        </p:spPr>
        <p:txBody>
          <a:bodyPr vert="horz" wrap="square" lIns="0" tIns="11516" rIns="0" bIns="0" rtlCol="0" anchor="ctr">
            <a:spAutoFit/>
          </a:bodyPr>
          <a:lstStyle/>
          <a:p>
            <a:pPr marL="11516">
              <a:lnSpc>
                <a:spcPct val="100000"/>
              </a:lnSpc>
              <a:spcBef>
                <a:spcPts val="91"/>
              </a:spcBef>
              <a:tabLst>
                <a:tab pos="1478125" algn="l"/>
              </a:tabLst>
            </a:pPr>
            <a:r>
              <a:rPr sz="1814" b="1" i="1" spc="-5" dirty="0">
                <a:solidFill>
                  <a:schemeClr val="tx1"/>
                </a:solidFill>
                <a:latin typeface="Times New Roman"/>
                <a:cs typeface="Times New Roman"/>
              </a:rPr>
              <a:t>Finding the classes in binary and dotted-decimal</a:t>
            </a:r>
            <a:r>
              <a:rPr sz="1814" b="1" i="1" spc="36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1814" b="1" i="1" spc="-5" dirty="0">
                <a:solidFill>
                  <a:schemeClr val="tx1"/>
                </a:solidFill>
                <a:latin typeface="Times New Roman"/>
                <a:cs typeface="Times New Roman"/>
              </a:rPr>
              <a:t>notation</a:t>
            </a:r>
            <a:endParaRPr sz="1814" b="1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708879" y="2008681"/>
            <a:ext cx="8529403" cy="30430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32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088428" y="5947975"/>
            <a:ext cx="7946297" cy="69098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32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5976DC-E330-495D-A767-6A87D53E1C16}"/>
              </a:ext>
            </a:extLst>
          </p:cNvPr>
          <p:cNvSpPr txBox="1"/>
          <p:nvPr/>
        </p:nvSpPr>
        <p:spPr>
          <a:xfrm>
            <a:off x="708917" y="811658"/>
            <a:ext cx="87433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Classful addressing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47696D8-9EBE-41D7-8575-7852B9AE0295}"/>
              </a:ext>
            </a:extLst>
          </p:cNvPr>
          <p:cNvSpPr txBox="1">
            <a:spLocks/>
          </p:cNvSpPr>
          <p:nvPr/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Classful addressing				</a:t>
            </a:r>
            <a:r>
              <a:rPr lang="en-IN" dirty="0" err="1"/>
              <a:t>contd</a:t>
            </a:r>
            <a:r>
              <a:rPr lang="en-IN" dirty="0"/>
              <a:t>…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12200" y="4954214"/>
            <a:ext cx="7889927" cy="288627"/>
          </a:xfrm>
          <a:prstGeom prst="rect">
            <a:avLst/>
          </a:prstGeom>
        </p:spPr>
        <p:txBody>
          <a:bodyPr vert="horz" wrap="square" lIns="0" tIns="11516" rIns="0" bIns="0" rtlCol="0" anchor="ctr">
            <a:spAutoFit/>
          </a:bodyPr>
          <a:lstStyle/>
          <a:p>
            <a:pPr marL="11516">
              <a:lnSpc>
                <a:spcPct val="100000"/>
              </a:lnSpc>
              <a:spcBef>
                <a:spcPts val="91"/>
              </a:spcBef>
              <a:tabLst>
                <a:tab pos="1350869" algn="l"/>
              </a:tabLst>
            </a:pPr>
            <a:r>
              <a:rPr sz="1800" b="1" i="1" spc="-5" dirty="0">
                <a:latin typeface="Times New Roman"/>
                <a:cs typeface="Times New Roman"/>
              </a:rPr>
              <a:t>Number of blocks and block size in classful IPv4</a:t>
            </a:r>
            <a:r>
              <a:rPr sz="1800" b="1" i="1" spc="41" dirty="0">
                <a:latin typeface="Times New Roman"/>
                <a:cs typeface="Times New Roman"/>
              </a:rPr>
              <a:t> </a:t>
            </a:r>
            <a:r>
              <a:rPr sz="1800" b="1" i="1" spc="-5" dirty="0">
                <a:latin typeface="Times New Roman"/>
                <a:cs typeface="Times New Roman"/>
              </a:rPr>
              <a:t>addressing</a:t>
            </a:r>
            <a:endParaRPr sz="1800" b="1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411809" y="2565365"/>
            <a:ext cx="7277425" cy="213099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32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47696D8-9EBE-41D7-8575-7852B9AE0295}"/>
              </a:ext>
            </a:extLst>
          </p:cNvPr>
          <p:cNvSpPr txBox="1">
            <a:spLocks/>
          </p:cNvSpPr>
          <p:nvPr/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Classful addressing				</a:t>
            </a:r>
            <a:r>
              <a:rPr lang="en-IN" dirty="0" err="1"/>
              <a:t>contd</a:t>
            </a:r>
            <a:r>
              <a:rPr lang="en-IN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8635321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A47696D8-9EBE-41D7-8575-7852B9AE0295}"/>
              </a:ext>
            </a:extLst>
          </p:cNvPr>
          <p:cNvSpPr txBox="1">
            <a:spLocks/>
          </p:cNvSpPr>
          <p:nvPr/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Classful addressing				</a:t>
            </a:r>
            <a:r>
              <a:rPr lang="en-IN" dirty="0" err="1"/>
              <a:t>contd</a:t>
            </a:r>
            <a:r>
              <a:rPr lang="en-IN" dirty="0"/>
              <a:t>…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60932E5-3102-42B7-B473-8EC44E00D212}"/>
              </a:ext>
            </a:extLst>
          </p:cNvPr>
          <p:cNvSpPr txBox="1">
            <a:spLocks/>
          </p:cNvSpPr>
          <p:nvPr/>
        </p:nvSpPr>
        <p:spPr>
          <a:xfrm>
            <a:off x="0" y="1895812"/>
            <a:ext cx="6581774" cy="4160214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lvl="1" indent="0" algn="just">
              <a:spcBef>
                <a:spcPts val="1000"/>
              </a:spcBef>
              <a:buNone/>
            </a:pPr>
            <a:r>
              <a:rPr lang="en-IN" sz="2000" b="1" i="1" dirty="0" err="1"/>
              <a:t>Netid</a:t>
            </a:r>
            <a:r>
              <a:rPr lang="en-IN" sz="2000" b="1" i="1" dirty="0"/>
              <a:t> and </a:t>
            </a:r>
            <a:r>
              <a:rPr lang="en-IN" sz="2000" b="1" i="1" dirty="0" err="1"/>
              <a:t>Hostid</a:t>
            </a:r>
            <a:r>
              <a:rPr lang="en-IN" sz="2000" i="1" dirty="0"/>
              <a:t> </a:t>
            </a:r>
          </a:p>
          <a:p>
            <a:pPr marL="342900" lvl="1" indent="-342900" algn="just">
              <a:spcBef>
                <a:spcPts val="1000"/>
              </a:spcBef>
              <a:buFont typeface="Wingdings" pitchFamily="2" charset="2"/>
              <a:buChar char="Ø"/>
            </a:pPr>
            <a:r>
              <a:rPr lang="en-IN" dirty="0"/>
              <a:t>In </a:t>
            </a:r>
            <a:r>
              <a:rPr lang="en-IN" dirty="0" err="1"/>
              <a:t>classful</a:t>
            </a:r>
            <a:r>
              <a:rPr lang="en-IN" dirty="0"/>
              <a:t> addressing, an IP address in class A, B, or C is divided into </a:t>
            </a:r>
            <a:r>
              <a:rPr lang="en-IN" b="1" u="sng" dirty="0" err="1"/>
              <a:t>netid</a:t>
            </a:r>
            <a:r>
              <a:rPr lang="en-IN" dirty="0"/>
              <a:t> and </a:t>
            </a:r>
            <a:r>
              <a:rPr lang="en-IN" b="1" u="sng" dirty="0" err="1"/>
              <a:t>hostid</a:t>
            </a:r>
            <a:r>
              <a:rPr lang="en-IN" dirty="0"/>
              <a:t>. </a:t>
            </a:r>
          </a:p>
          <a:p>
            <a:pPr marL="342900" lvl="1" indent="-342900" algn="just">
              <a:spcBef>
                <a:spcPts val="1000"/>
              </a:spcBef>
              <a:buFont typeface="Wingdings" pitchFamily="2" charset="2"/>
              <a:buChar char="Ø"/>
            </a:pPr>
            <a:r>
              <a:rPr lang="en-IN" dirty="0"/>
              <a:t>These parts are of varying lengths, depending on the class of the address. </a:t>
            </a:r>
          </a:p>
          <a:p>
            <a:pPr marL="342900" lvl="1" indent="-342900" algn="just">
              <a:spcBef>
                <a:spcPts val="1000"/>
              </a:spcBef>
              <a:buFont typeface="Wingdings" pitchFamily="2" charset="2"/>
              <a:buChar char="Ø"/>
            </a:pPr>
            <a:r>
              <a:rPr lang="en-GB" dirty="0"/>
              <a:t>Classes D and E are not divided into </a:t>
            </a:r>
            <a:r>
              <a:rPr lang="en-GB" dirty="0" err="1"/>
              <a:t>netid</a:t>
            </a:r>
            <a:r>
              <a:rPr lang="en-GB" dirty="0"/>
              <a:t> and hosted.</a:t>
            </a:r>
            <a:endParaRPr lang="en-IN" dirty="0"/>
          </a:p>
          <a:p>
            <a:pPr marL="342900" lvl="1" indent="-342900" algn="just">
              <a:spcBef>
                <a:spcPts val="1000"/>
              </a:spcBef>
              <a:buFont typeface="Wingdings" pitchFamily="2" charset="2"/>
              <a:buChar char="Ø"/>
            </a:pPr>
            <a:r>
              <a:rPr lang="en-IN" dirty="0"/>
              <a:t>In </a:t>
            </a:r>
            <a:r>
              <a:rPr lang="en-IN" i="1" dirty="0">
                <a:solidFill>
                  <a:srgbClr val="0070C0"/>
                </a:solidFill>
              </a:rPr>
              <a:t>class A, one byte defines the </a:t>
            </a:r>
            <a:r>
              <a:rPr lang="en-IN" i="1" dirty="0" err="1">
                <a:solidFill>
                  <a:srgbClr val="0070C0"/>
                </a:solidFill>
              </a:rPr>
              <a:t>netid</a:t>
            </a:r>
            <a:r>
              <a:rPr lang="en-IN" i="1" dirty="0">
                <a:solidFill>
                  <a:srgbClr val="0070C0"/>
                </a:solidFill>
              </a:rPr>
              <a:t> and three bytes define the </a:t>
            </a:r>
            <a:r>
              <a:rPr lang="en-IN" i="1" dirty="0" err="1">
                <a:solidFill>
                  <a:srgbClr val="0070C0"/>
                </a:solidFill>
              </a:rPr>
              <a:t>hostid</a:t>
            </a:r>
            <a:r>
              <a:rPr lang="en-IN" i="1" dirty="0">
                <a:solidFill>
                  <a:srgbClr val="0070C0"/>
                </a:solidFill>
              </a:rPr>
              <a:t>. </a:t>
            </a:r>
          </a:p>
          <a:p>
            <a:pPr marL="342900" lvl="1" indent="-342900" algn="just">
              <a:spcBef>
                <a:spcPts val="1000"/>
              </a:spcBef>
              <a:buFont typeface="Wingdings" pitchFamily="2" charset="2"/>
              <a:buChar char="Ø"/>
            </a:pPr>
            <a:r>
              <a:rPr lang="en-IN" i="1" dirty="0">
                <a:solidFill>
                  <a:srgbClr val="0070C0"/>
                </a:solidFill>
              </a:rPr>
              <a:t>In class B, two bytes define the </a:t>
            </a:r>
            <a:r>
              <a:rPr lang="en-IN" i="1" dirty="0" err="1">
                <a:solidFill>
                  <a:srgbClr val="0070C0"/>
                </a:solidFill>
              </a:rPr>
              <a:t>netid</a:t>
            </a:r>
            <a:r>
              <a:rPr lang="en-IN" i="1" dirty="0">
                <a:solidFill>
                  <a:srgbClr val="0070C0"/>
                </a:solidFill>
              </a:rPr>
              <a:t> and two bytes define the </a:t>
            </a:r>
            <a:r>
              <a:rPr lang="en-IN" i="1" dirty="0" err="1">
                <a:solidFill>
                  <a:srgbClr val="0070C0"/>
                </a:solidFill>
              </a:rPr>
              <a:t>hostid</a:t>
            </a:r>
            <a:r>
              <a:rPr lang="en-IN" i="1" dirty="0">
                <a:solidFill>
                  <a:srgbClr val="0070C0"/>
                </a:solidFill>
              </a:rPr>
              <a:t>. </a:t>
            </a:r>
          </a:p>
          <a:p>
            <a:pPr marL="342900" lvl="1" indent="-342900" algn="just">
              <a:spcBef>
                <a:spcPts val="1000"/>
              </a:spcBef>
              <a:buFont typeface="Wingdings" pitchFamily="2" charset="2"/>
              <a:buChar char="Ø"/>
            </a:pPr>
            <a:r>
              <a:rPr lang="en-IN" i="1" dirty="0">
                <a:solidFill>
                  <a:srgbClr val="0070C0"/>
                </a:solidFill>
              </a:rPr>
              <a:t>In class C, three bytes define the </a:t>
            </a:r>
            <a:r>
              <a:rPr lang="en-IN" i="1" dirty="0" err="1">
                <a:solidFill>
                  <a:srgbClr val="0070C0"/>
                </a:solidFill>
              </a:rPr>
              <a:t>netid</a:t>
            </a:r>
            <a:r>
              <a:rPr lang="en-IN" i="1" dirty="0">
                <a:solidFill>
                  <a:srgbClr val="0070C0"/>
                </a:solidFill>
              </a:rPr>
              <a:t> and one byte defines the </a:t>
            </a:r>
            <a:r>
              <a:rPr lang="en-IN" i="1" dirty="0" err="1">
                <a:solidFill>
                  <a:srgbClr val="0070C0"/>
                </a:solidFill>
              </a:rPr>
              <a:t>hostid</a:t>
            </a:r>
            <a:r>
              <a:rPr lang="en-IN" i="1" dirty="0">
                <a:solidFill>
                  <a:srgbClr val="0070C0"/>
                </a:solidFill>
              </a:rPr>
              <a:t>.  </a:t>
            </a:r>
          </a:p>
        </p:txBody>
      </p:sp>
      <p:pic>
        <p:nvPicPr>
          <p:cNvPr id="2" name="Picture 6">
            <a:extLst>
              <a:ext uri="{FF2B5EF4-FFF2-40B4-BE49-F238E27FC236}">
                <a16:creationId xmlns:a16="http://schemas.microsoft.com/office/drawing/2014/main" id="{1D28C50A-53B2-92A0-464A-7BC77514CC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705600" y="3413571"/>
            <a:ext cx="5486399" cy="261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7">
            <a:extLst>
              <a:ext uri="{FF2B5EF4-FFF2-40B4-BE49-F238E27FC236}">
                <a16:creationId xmlns:a16="http://schemas.microsoft.com/office/drawing/2014/main" id="{92E31743-3709-1029-4DE0-644850505C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705600" y="2010391"/>
            <a:ext cx="5486400" cy="1149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6696417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1" name="Rectangle 2">
            <a:extLst>
              <a:ext uri="{FF2B5EF4-FFF2-40B4-BE49-F238E27FC236}">
                <a16:creationId xmlns:a16="http://schemas.microsoft.com/office/drawing/2014/main" id="{1A68C05E-80A6-4F7B-BB85-13C38FF00A7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890713" y="107951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en-US" sz="2400" b="0" baseline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68612" name="Rectangle 3">
            <a:extLst>
              <a:ext uri="{FF2B5EF4-FFF2-40B4-BE49-F238E27FC236}">
                <a16:creationId xmlns:a16="http://schemas.microsoft.com/office/drawing/2014/main" id="{406476A8-3F29-446D-A139-6E0719E186C8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273301" y="107951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en-US" sz="2400" b="0" baseline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68613" name="Rectangle 4">
            <a:extLst>
              <a:ext uri="{FF2B5EF4-FFF2-40B4-BE49-F238E27FC236}">
                <a16:creationId xmlns:a16="http://schemas.microsoft.com/office/drawing/2014/main" id="{522088D5-1350-4191-8234-C393CFDC4A0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014539" y="530226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en-US" sz="2400" b="0" baseline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68614" name="Rectangle 5">
            <a:extLst>
              <a:ext uri="{FF2B5EF4-FFF2-40B4-BE49-F238E27FC236}">
                <a16:creationId xmlns:a16="http://schemas.microsoft.com/office/drawing/2014/main" id="{5BAE623D-186A-4A5D-A077-4AFEB317D48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384425" y="530226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en-US" sz="2400" b="0" baseline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68615" name="Rectangle 6">
            <a:extLst>
              <a:ext uri="{FF2B5EF4-FFF2-40B4-BE49-F238E27FC236}">
                <a16:creationId xmlns:a16="http://schemas.microsoft.com/office/drawing/2014/main" id="{E72750EF-8B95-49D5-B677-A3C75E4BF3E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600200" y="457201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en-US" sz="2400" b="0" baseline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68616" name="Rectangle 7">
            <a:extLst>
              <a:ext uri="{FF2B5EF4-FFF2-40B4-BE49-F238E27FC236}">
                <a16:creationId xmlns:a16="http://schemas.microsoft.com/office/drawing/2014/main" id="{02AB975A-403D-4EA9-9859-D0AF4237C9B2}"/>
              </a:ext>
            </a:extLst>
          </p:cNvPr>
          <p:cNvSpPr>
            <a:spLocks noChangeArrowheads="1"/>
          </p:cNvSpPr>
          <p:nvPr/>
        </p:nvSpPr>
        <p:spPr bwMode="gray">
          <a:xfrm>
            <a:off x="2235200" y="1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en-US" sz="2400" b="0" baseline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68617" name="Rectangle 8">
            <a:extLst>
              <a:ext uri="{FF2B5EF4-FFF2-40B4-BE49-F238E27FC236}">
                <a16:creationId xmlns:a16="http://schemas.microsoft.com/office/drawing/2014/main" id="{512C00A1-5944-4CC8-88B9-C1A30B926B42}"/>
              </a:ext>
            </a:extLst>
          </p:cNvPr>
          <p:cNvSpPr>
            <a:spLocks noChangeArrowheads="1"/>
          </p:cNvSpPr>
          <p:nvPr/>
        </p:nvSpPr>
        <p:spPr bwMode="gray">
          <a:xfrm>
            <a:off x="1966914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en-US" sz="2400" b="0" baseline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68618" name="Rectangle 9">
            <a:extLst>
              <a:ext uri="{FF2B5EF4-FFF2-40B4-BE49-F238E27FC236}">
                <a16:creationId xmlns:a16="http://schemas.microsoft.com/office/drawing/2014/main" id="{DC12F556-95D9-4B4C-9894-6FC072C07F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1143001"/>
            <a:ext cx="9473418" cy="193899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2400" i="1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Find the class of each address.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2400" i="1" baseline="0" dirty="0">
                <a:solidFill>
                  <a:srgbClr val="FF0000"/>
                </a:solidFill>
                <a:latin typeface="Times New Roman" panose="02020603050405020304" pitchFamily="18" charset="0"/>
              </a:rPr>
              <a:t>a.</a:t>
            </a:r>
            <a:r>
              <a:rPr lang="en-US" altLang="en-US" sz="2400" i="1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  </a:t>
            </a:r>
            <a:r>
              <a:rPr lang="en-US" altLang="en-US" sz="2400" u="sng" baseline="0" dirty="0">
                <a:solidFill>
                  <a:srgbClr val="009900"/>
                </a:solidFill>
                <a:latin typeface="Times New Roman" panose="02020603050405020304" pitchFamily="18" charset="0"/>
              </a:rPr>
              <a:t>0</a:t>
            </a:r>
            <a:r>
              <a:rPr lang="en-US" altLang="en-US" sz="2400" b="0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0000001 00001011 00001011 11101111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2400" i="1" baseline="0" dirty="0">
                <a:solidFill>
                  <a:srgbClr val="FF0000"/>
                </a:solidFill>
                <a:latin typeface="Times New Roman" panose="02020603050405020304" pitchFamily="18" charset="0"/>
              </a:rPr>
              <a:t>b.</a:t>
            </a:r>
            <a:r>
              <a:rPr lang="en-US" altLang="en-US" sz="2400" i="1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  </a:t>
            </a:r>
            <a:r>
              <a:rPr lang="en-US" altLang="en-US" sz="2400" u="sng" baseline="0" dirty="0">
                <a:solidFill>
                  <a:srgbClr val="009900"/>
                </a:solidFill>
                <a:latin typeface="Times New Roman" panose="02020603050405020304" pitchFamily="18" charset="0"/>
              </a:rPr>
              <a:t>110</a:t>
            </a:r>
            <a:r>
              <a:rPr lang="en-US" altLang="en-US" sz="2400" b="0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00001 10000011 00011011 11111111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2400" i="1" baseline="0" dirty="0">
                <a:solidFill>
                  <a:srgbClr val="FF0000"/>
                </a:solidFill>
                <a:latin typeface="Times New Roman" panose="02020603050405020304" pitchFamily="18" charset="0"/>
              </a:rPr>
              <a:t>c.</a:t>
            </a:r>
            <a:r>
              <a:rPr lang="en-US" altLang="en-US" sz="2400" i="1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  </a:t>
            </a:r>
            <a:r>
              <a:rPr lang="en-US" altLang="en-US" sz="2400" u="sng" baseline="0" dirty="0">
                <a:solidFill>
                  <a:srgbClr val="009900"/>
                </a:solidFill>
                <a:latin typeface="Times New Roman" panose="02020603050405020304" pitchFamily="18" charset="0"/>
              </a:rPr>
              <a:t>14</a:t>
            </a:r>
            <a:r>
              <a:rPr lang="en-US" altLang="en-US" sz="2400" b="0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.23.120.8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2400" i="1" baseline="0" dirty="0">
                <a:solidFill>
                  <a:srgbClr val="FF0000"/>
                </a:solidFill>
                <a:latin typeface="Times New Roman" panose="02020603050405020304" pitchFamily="18" charset="0"/>
              </a:rPr>
              <a:t>d.</a:t>
            </a:r>
            <a:r>
              <a:rPr lang="en-US" altLang="en-US" sz="2400" i="1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  </a:t>
            </a:r>
            <a:r>
              <a:rPr lang="en-US" altLang="en-US" sz="2400" u="sng" baseline="0" dirty="0">
                <a:solidFill>
                  <a:srgbClr val="009900"/>
                </a:solidFill>
                <a:latin typeface="Times New Roman" panose="02020603050405020304" pitchFamily="18" charset="0"/>
              </a:rPr>
              <a:t>252</a:t>
            </a:r>
            <a:r>
              <a:rPr lang="en-US" altLang="en-US" sz="2400" b="0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.5.15.111</a:t>
            </a:r>
          </a:p>
        </p:txBody>
      </p:sp>
      <p:sp>
        <p:nvSpPr>
          <p:cNvPr id="68619" name="Text Box 10">
            <a:extLst>
              <a:ext uri="{FF2B5EF4-FFF2-40B4-BE49-F238E27FC236}">
                <a16:creationId xmlns:a16="http://schemas.microsoft.com/office/drawing/2014/main" id="{25D65E4B-03FC-495D-B74A-AB315F015E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1" y="0"/>
            <a:ext cx="24876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i="1" baseline="0">
                <a:solidFill>
                  <a:srgbClr val="FF0000"/>
                </a:solidFill>
                <a:latin typeface="Times New Roman" panose="02020603050405020304" pitchFamily="18" charset="0"/>
              </a:rPr>
              <a:t>Example 19.4</a:t>
            </a:r>
          </a:p>
        </p:txBody>
      </p:sp>
      <p:sp>
        <p:nvSpPr>
          <p:cNvPr id="68620" name="Rectangle 11">
            <a:extLst>
              <a:ext uri="{FF2B5EF4-FFF2-40B4-BE49-F238E27FC236}">
                <a16:creationId xmlns:a16="http://schemas.microsoft.com/office/drawing/2014/main" id="{2F958ED8-6231-443F-AF88-2D515BC83C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3657600"/>
            <a:ext cx="9859108" cy="193899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2400" i="1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Solution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2400" b="0" i="1" baseline="0" dirty="0">
                <a:solidFill>
                  <a:srgbClr val="FF0000"/>
                </a:solidFill>
                <a:latin typeface="Times New Roman" panose="02020603050405020304" pitchFamily="18" charset="0"/>
              </a:rPr>
              <a:t>a.</a:t>
            </a:r>
            <a:r>
              <a:rPr lang="en-US" altLang="en-US" sz="2400" b="0" i="1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The first bit is 0. This is a class A address.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2400" b="0" i="1" baseline="0" dirty="0">
                <a:solidFill>
                  <a:srgbClr val="FF0000"/>
                </a:solidFill>
                <a:latin typeface="Times New Roman" panose="02020603050405020304" pitchFamily="18" charset="0"/>
              </a:rPr>
              <a:t>b.</a:t>
            </a:r>
            <a:r>
              <a:rPr lang="en-US" altLang="en-US" sz="2400" b="0" i="1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The first 2 bits are 1; the third bit is 0. This is a class C address.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2400" b="0" i="1" baseline="0" dirty="0">
                <a:solidFill>
                  <a:srgbClr val="FF0000"/>
                </a:solidFill>
                <a:latin typeface="Times New Roman" panose="02020603050405020304" pitchFamily="18" charset="0"/>
              </a:rPr>
              <a:t>c.</a:t>
            </a:r>
            <a:r>
              <a:rPr lang="en-US" altLang="en-US" sz="2400" b="0" i="1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The first byte is 14; the class is A.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2400" b="0" i="1" baseline="0" dirty="0">
                <a:solidFill>
                  <a:srgbClr val="FF0000"/>
                </a:solidFill>
                <a:latin typeface="Times New Roman" panose="02020603050405020304" pitchFamily="18" charset="0"/>
              </a:rPr>
              <a:t>d.</a:t>
            </a:r>
            <a:r>
              <a:rPr lang="en-US" altLang="en-US" sz="2400" b="0" i="1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The first byte is 252; the class is E.</a:t>
            </a:r>
          </a:p>
        </p:txBody>
      </p:sp>
    </p:spTree>
    <p:extLst>
      <p:ext uri="{BB962C8B-B14F-4D97-AF65-F5344CB8AC3E}">
        <p14:creationId xmlns:p14="http://schemas.microsoft.com/office/powerpoint/2010/main" val="3031745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86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86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2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dirty="0"/>
              <a:t>Classful Addressing</a:t>
            </a:r>
            <a:endParaRPr lang="en-IN" dirty="0"/>
          </a:p>
        </p:txBody>
      </p:sp>
      <p:sp>
        <p:nvSpPr>
          <p:cNvPr id="29701" name="Content Placeholder 2"/>
          <p:cNvSpPr>
            <a:spLocks noGrp="1"/>
          </p:cNvSpPr>
          <p:nvPr>
            <p:ph idx="1"/>
          </p:nvPr>
        </p:nvSpPr>
        <p:spPr>
          <a:xfrm>
            <a:off x="225425" y="1028700"/>
            <a:ext cx="11534775" cy="5259388"/>
          </a:xfrm>
        </p:spPr>
        <p:txBody>
          <a:bodyPr/>
          <a:lstStyle/>
          <a:p>
            <a:pPr algn="just">
              <a:buFont typeface="Arial" charset="0"/>
              <a:buNone/>
            </a:pPr>
            <a:r>
              <a:rPr lang="en-GB" sz="2400" b="1" i="1" u="sng" dirty="0">
                <a:latin typeface="Bookman Old Style" pitchFamily="18" charset="0"/>
              </a:rPr>
              <a:t>Problems</a:t>
            </a:r>
          </a:p>
          <a:p>
            <a:pPr algn="just">
              <a:buFont typeface="Arial" charset="0"/>
              <a:buNone/>
            </a:pPr>
            <a:endParaRPr lang="en-GB" sz="2400" b="1" i="1" u="sng" dirty="0">
              <a:latin typeface="Bookman Old Style" pitchFamily="18" charset="0"/>
            </a:endParaRPr>
          </a:p>
          <a:p>
            <a:pPr algn="just">
              <a:buFont typeface="Arial" charset="0"/>
              <a:buNone/>
            </a:pPr>
            <a:r>
              <a:rPr lang="en-GB" dirty="0"/>
              <a:t>1</a:t>
            </a:r>
            <a:r>
              <a:rPr lang="en-GB" sz="2400" dirty="0">
                <a:latin typeface="Bookman Old Style" pitchFamily="18" charset="0"/>
              </a:rPr>
              <a:t>. Find the class of each address:</a:t>
            </a:r>
          </a:p>
          <a:p>
            <a:pPr algn="just">
              <a:buFont typeface="Arial" charset="0"/>
              <a:buNone/>
            </a:pPr>
            <a:r>
              <a:rPr lang="en-GB" sz="2400" dirty="0">
                <a:latin typeface="Bookman Old Style" pitchFamily="18" charset="0"/>
              </a:rPr>
              <a:t>   a. 00000001 00001011 00001011 11101111</a:t>
            </a:r>
          </a:p>
          <a:p>
            <a:pPr algn="just">
              <a:buFont typeface="Arial" charset="0"/>
              <a:buNone/>
            </a:pPr>
            <a:r>
              <a:rPr lang="en-GB" sz="2400" dirty="0">
                <a:latin typeface="Bookman Old Style" pitchFamily="18" charset="0"/>
              </a:rPr>
              <a:t>   b. 11000001 10000011 00011011 11111111</a:t>
            </a:r>
          </a:p>
          <a:p>
            <a:pPr algn="just">
              <a:buFont typeface="Arial" charset="0"/>
              <a:buNone/>
            </a:pPr>
            <a:r>
              <a:rPr lang="en-GB" sz="2400" dirty="0">
                <a:latin typeface="Bookman Old Style" pitchFamily="18" charset="0"/>
              </a:rPr>
              <a:t>   c. 10100111 11011011 10001011 01101111</a:t>
            </a:r>
          </a:p>
          <a:p>
            <a:pPr algn="just">
              <a:buFont typeface="Arial" charset="0"/>
              <a:buNone/>
            </a:pPr>
            <a:r>
              <a:rPr lang="en-GB" sz="2400" dirty="0">
                <a:latin typeface="Bookman Old Style" pitchFamily="18" charset="0"/>
              </a:rPr>
              <a:t>   d. 11110011 10011011 11111011 00001111</a:t>
            </a:r>
          </a:p>
          <a:p>
            <a:pPr algn="just">
              <a:buFont typeface="Arial" charset="0"/>
              <a:buNone/>
            </a:pPr>
            <a:r>
              <a:rPr lang="en-GB" sz="2400" dirty="0">
                <a:latin typeface="Bookman Old Style" pitchFamily="18" charset="0"/>
              </a:rPr>
              <a:t>	</a:t>
            </a:r>
            <a:endParaRPr lang="en-US" sz="2400" dirty="0">
              <a:latin typeface="Bookman Old Style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7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7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97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97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97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97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970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970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970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970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970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970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970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970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01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dirty="0"/>
              <a:t>Classful Addressing</a:t>
            </a:r>
            <a:endParaRPr lang="en-IN" dirty="0"/>
          </a:p>
        </p:txBody>
      </p:sp>
      <p:sp>
        <p:nvSpPr>
          <p:cNvPr id="30724" name="Slide Number Placeholder 4"/>
          <p:cNvSpPr>
            <a:spLocks noGrp="1"/>
          </p:cNvSpPr>
          <p:nvPr>
            <p:ph type="sldNum" sz="quarter" idx="11"/>
          </p:nvPr>
        </p:nvSpPr>
        <p:spPr bwMode="auto">
          <a:xfrm>
            <a:off x="838200" y="6356350"/>
            <a:ext cx="9669087" cy="3651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/>
              <a:t>© 2016 KL University – The contents of this presentation are an intellectual and copyrighted property of KL University. ALL RIGHTS RESERVED</a:t>
            </a:r>
          </a:p>
        </p:txBody>
      </p:sp>
      <p:sp>
        <p:nvSpPr>
          <p:cNvPr id="30725" name="Content Placeholder 2"/>
          <p:cNvSpPr>
            <a:spLocks noGrp="1"/>
          </p:cNvSpPr>
          <p:nvPr>
            <p:ph idx="1"/>
          </p:nvPr>
        </p:nvSpPr>
        <p:spPr>
          <a:xfrm>
            <a:off x="225425" y="1028700"/>
            <a:ext cx="10944225" cy="5259388"/>
          </a:xfrm>
        </p:spPr>
        <p:txBody>
          <a:bodyPr/>
          <a:lstStyle/>
          <a:p>
            <a:pPr algn="just">
              <a:buFont typeface="Arial" charset="0"/>
              <a:buNone/>
            </a:pPr>
            <a:r>
              <a:rPr lang="en-GB" sz="2400" b="1" i="1" u="sng" dirty="0">
                <a:latin typeface="Bookman Old Style" pitchFamily="18" charset="0"/>
              </a:rPr>
              <a:t>Problems</a:t>
            </a:r>
          </a:p>
          <a:p>
            <a:pPr algn="just">
              <a:buFont typeface="Arial" charset="0"/>
              <a:buNone/>
            </a:pPr>
            <a:endParaRPr lang="en-GB" sz="2400" b="1" i="1" u="sng" dirty="0">
              <a:latin typeface="Bookman Old Style" pitchFamily="18" charset="0"/>
            </a:endParaRPr>
          </a:p>
          <a:p>
            <a:pPr algn="just">
              <a:buFont typeface="Arial" charset="0"/>
              <a:buNone/>
            </a:pPr>
            <a:r>
              <a:rPr lang="en-GB" sz="2400" b="1" dirty="0">
                <a:latin typeface="Bookman Old Style" pitchFamily="18" charset="0"/>
              </a:rPr>
              <a:t>2</a:t>
            </a:r>
            <a:r>
              <a:rPr lang="en-GB" sz="2400" dirty="0">
                <a:latin typeface="Bookman Old Style" pitchFamily="18" charset="0"/>
              </a:rPr>
              <a:t>. Find the class of each address:</a:t>
            </a:r>
          </a:p>
          <a:p>
            <a:pPr algn="just">
              <a:buFont typeface="Arial" charset="0"/>
              <a:buNone/>
            </a:pPr>
            <a:r>
              <a:rPr lang="en-GB" sz="2400" dirty="0">
                <a:latin typeface="Bookman Old Style" pitchFamily="18" charset="0"/>
              </a:rPr>
              <a:t>   a. 227.12.14.87</a:t>
            </a:r>
          </a:p>
          <a:p>
            <a:pPr algn="just">
              <a:buFont typeface="Arial" charset="0"/>
              <a:buNone/>
            </a:pPr>
            <a:r>
              <a:rPr lang="en-GB" sz="2400" dirty="0">
                <a:latin typeface="Bookman Old Style" pitchFamily="18" charset="0"/>
              </a:rPr>
              <a:t>   b. 193.14.56.22</a:t>
            </a:r>
          </a:p>
          <a:p>
            <a:pPr algn="just">
              <a:buFont typeface="Arial" charset="0"/>
              <a:buNone/>
            </a:pPr>
            <a:r>
              <a:rPr lang="en-GB" sz="2400" dirty="0">
                <a:latin typeface="Bookman Old Style" pitchFamily="18" charset="0"/>
              </a:rPr>
              <a:t>   c. 14.23.120.8</a:t>
            </a:r>
          </a:p>
          <a:p>
            <a:pPr algn="just">
              <a:buFont typeface="Arial" charset="0"/>
              <a:buNone/>
            </a:pPr>
            <a:r>
              <a:rPr lang="en-GB" sz="2400" dirty="0">
                <a:latin typeface="Bookman Old Style" pitchFamily="18" charset="0"/>
              </a:rPr>
              <a:t>   d. 252.5.15.111</a:t>
            </a:r>
            <a:r>
              <a:rPr lang="en-GB" sz="2400" b="1" dirty="0">
                <a:latin typeface="Bookman Old Style" pitchFamily="18" charset="0"/>
              </a:rPr>
              <a:t>	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7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7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7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7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7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07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07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07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07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07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5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IN" sz="3600">
                <a:latin typeface="Bookman Old Style" pitchFamily="18" charset="0"/>
              </a:rPr>
              <a:t>IPv4 Address</a:t>
            </a:r>
          </a:p>
        </p:txBody>
      </p:sp>
      <p:sp>
        <p:nvSpPr>
          <p:cNvPr id="20484" name="Slide Number Placeholder 4"/>
          <p:cNvSpPr>
            <a:spLocks noGrp="1"/>
          </p:cNvSpPr>
          <p:nvPr>
            <p:ph type="sldNum" sz="quarter" idx="11"/>
          </p:nvPr>
        </p:nvSpPr>
        <p:spPr bwMode="auto">
          <a:xfrm>
            <a:off x="838200" y="6356350"/>
            <a:ext cx="9669087" cy="3651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/>
              <a:t>© 2016 KL University – The contents of this presentation are an intellectual and copyrighted property of KL University. ALL RIGHTS RESERVED</a:t>
            </a:r>
          </a:p>
        </p:txBody>
      </p:sp>
      <p:sp>
        <p:nvSpPr>
          <p:cNvPr id="20485" name="Content Placeholder 2"/>
          <p:cNvSpPr>
            <a:spLocks noGrp="1"/>
          </p:cNvSpPr>
          <p:nvPr>
            <p:ph idx="1"/>
          </p:nvPr>
        </p:nvSpPr>
        <p:spPr>
          <a:xfrm>
            <a:off x="239713" y="1155700"/>
            <a:ext cx="11647487" cy="5245100"/>
          </a:xfrm>
        </p:spPr>
        <p:txBody>
          <a:bodyPr>
            <a:normAutofit/>
          </a:bodyPr>
          <a:lstStyle/>
          <a:p>
            <a:pPr algn="just" eaLnBrk="1" hangingPunct="1">
              <a:buFont typeface="Arial" charset="0"/>
              <a:buNone/>
            </a:pPr>
            <a:r>
              <a:rPr lang="en-GB" sz="2400" b="1" i="1" u="sng" dirty="0">
                <a:latin typeface="Bookman Old Style" pitchFamily="18" charset="0"/>
              </a:rPr>
              <a:t>Problems on Range of Address</a:t>
            </a:r>
          </a:p>
          <a:p>
            <a:pPr algn="just" eaLnBrk="1" hangingPunct="1">
              <a:buFont typeface="Arial" charset="0"/>
              <a:buNone/>
            </a:pPr>
            <a:endParaRPr lang="en-GB" sz="2400" b="1" i="1" u="sng" dirty="0">
              <a:latin typeface="Bookman Old Style" pitchFamily="18" charset="0"/>
            </a:endParaRPr>
          </a:p>
          <a:p>
            <a:pPr algn="just" eaLnBrk="1" hangingPunct="1">
              <a:buFont typeface="Arial" charset="0"/>
              <a:buNone/>
            </a:pPr>
            <a:r>
              <a:rPr lang="en-GB" b="1" dirty="0">
                <a:latin typeface="Bookman Old Style" pitchFamily="18" charset="0"/>
              </a:rPr>
              <a:t>1. Find the number of addresses in a range if the first address is  146.102.29.0 and the last address is 146.102.32.255.</a:t>
            </a:r>
          </a:p>
          <a:p>
            <a:pPr algn="just" eaLnBrk="1" hangingPunct="1">
              <a:buFont typeface="Arial" charset="0"/>
              <a:buNone/>
            </a:pPr>
            <a:r>
              <a:rPr lang="en-GB" b="1" i="1" dirty="0">
                <a:latin typeface="Bookman Old Style" pitchFamily="18" charset="0"/>
              </a:rPr>
              <a:t>Sol:</a:t>
            </a:r>
            <a:r>
              <a:rPr lang="en-GB" dirty="0">
                <a:latin typeface="Bookman Old Style" pitchFamily="18" charset="0"/>
              </a:rPr>
              <a:t> 	We can subtract the first address from the last address in base 256.</a:t>
            </a:r>
          </a:p>
          <a:p>
            <a:pPr algn="just" eaLnBrk="1" hangingPunct="1">
              <a:buFont typeface="Arial" charset="0"/>
              <a:buNone/>
            </a:pPr>
            <a:r>
              <a:rPr lang="en-GB" dirty="0">
                <a:latin typeface="Bookman Old Style" pitchFamily="18" charset="0"/>
              </a:rPr>
              <a:t>		The result is 0.0.3.255 in this base. </a:t>
            </a:r>
          </a:p>
          <a:p>
            <a:pPr algn="just" eaLnBrk="1" hangingPunct="1">
              <a:buFont typeface="Arial" charset="0"/>
              <a:buNone/>
            </a:pPr>
            <a:r>
              <a:rPr lang="en-GB" dirty="0">
                <a:latin typeface="Bookman Old Style" pitchFamily="18" charset="0"/>
              </a:rPr>
              <a:t>		To find the number of addresses in the range (in decimal), we convert this number 	to base 10 and add 1 to the result.</a:t>
            </a:r>
          </a:p>
          <a:p>
            <a:pPr algn="just" eaLnBrk="1" hangingPunct="1">
              <a:buFont typeface="Arial" charset="0"/>
              <a:buNone/>
            </a:pPr>
            <a:endParaRPr lang="en-GB" sz="2400" dirty="0">
              <a:latin typeface="Bookman Old Style" pitchFamily="18" charset="0"/>
            </a:endParaRPr>
          </a:p>
          <a:p>
            <a:pPr algn="just" eaLnBrk="1" hangingPunct="1">
              <a:buFont typeface="Arial" charset="0"/>
              <a:buNone/>
            </a:pPr>
            <a:endParaRPr lang="en-GB" sz="2400" dirty="0">
              <a:latin typeface="Bookman Old Style" pitchFamily="18" charset="0"/>
            </a:endParaRPr>
          </a:p>
          <a:p>
            <a:pPr algn="just" eaLnBrk="1" hangingPunct="1">
              <a:buFont typeface="Arial" charset="0"/>
              <a:buNone/>
            </a:pPr>
            <a:endParaRPr lang="en-GB" sz="2400" dirty="0">
              <a:latin typeface="Bookman Old Style" pitchFamily="18" charset="0"/>
            </a:endParaRPr>
          </a:p>
          <a:p>
            <a:pPr algn="just" eaLnBrk="1" hangingPunct="1">
              <a:buFont typeface="Arial" charset="0"/>
              <a:buNone/>
            </a:pPr>
            <a:endParaRPr lang="en-US" sz="2400" dirty="0">
              <a:latin typeface="Bookman Old Style" pitchFamily="18" charset="0"/>
            </a:endParaRPr>
          </a:p>
        </p:txBody>
      </p:sp>
      <p:pic>
        <p:nvPicPr>
          <p:cNvPr id="2048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35087" y="5130459"/>
            <a:ext cx="9456738" cy="693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>
          <a:xfrm>
            <a:off x="612775" y="407988"/>
            <a:ext cx="10515600" cy="685800"/>
          </a:xfrm>
        </p:spPr>
        <p:txBody>
          <a:bodyPr/>
          <a:lstStyle/>
          <a:p>
            <a:pPr algn="ctr" eaLnBrk="1" hangingPunct="1"/>
            <a:r>
              <a:rPr lang="en-IN" sz="3600">
                <a:latin typeface="Bookman Old Style" pitchFamily="18" charset="0"/>
              </a:rPr>
              <a:t>IPv4 Address</a:t>
            </a:r>
          </a:p>
        </p:txBody>
      </p:sp>
      <p:sp>
        <p:nvSpPr>
          <p:cNvPr id="21508" name="Slide Number Placeholder 4"/>
          <p:cNvSpPr>
            <a:spLocks noGrp="1"/>
          </p:cNvSpPr>
          <p:nvPr>
            <p:ph type="sldNum" sz="quarter" idx="11"/>
          </p:nvPr>
        </p:nvSpPr>
        <p:spPr bwMode="auto">
          <a:xfrm>
            <a:off x="838200" y="6356350"/>
            <a:ext cx="9669087" cy="3651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/>
              <a:t>© 2016 KL University – The contents of this presentation are an intellectual and copyrighted property of KL University. ALL RIGHTS RESERVED</a:t>
            </a:r>
          </a:p>
        </p:txBody>
      </p:sp>
      <p:sp>
        <p:nvSpPr>
          <p:cNvPr id="21509" name="Content Placeholder 2"/>
          <p:cNvSpPr>
            <a:spLocks noGrp="1"/>
          </p:cNvSpPr>
          <p:nvPr>
            <p:ph idx="1"/>
          </p:nvPr>
        </p:nvSpPr>
        <p:spPr>
          <a:xfrm>
            <a:off x="220663" y="1184275"/>
            <a:ext cx="11647487" cy="5245100"/>
          </a:xfrm>
        </p:spPr>
        <p:txBody>
          <a:bodyPr/>
          <a:lstStyle/>
          <a:p>
            <a:pPr algn="just" eaLnBrk="1" hangingPunct="1">
              <a:buFont typeface="Arial" charset="0"/>
              <a:buNone/>
            </a:pPr>
            <a:r>
              <a:rPr lang="en-GB" sz="2400" b="1" i="1" u="sng" dirty="0">
                <a:latin typeface="Bookman Old Style" pitchFamily="18" charset="0"/>
              </a:rPr>
              <a:t>Problems on Range of Address</a:t>
            </a:r>
          </a:p>
          <a:p>
            <a:pPr algn="just" eaLnBrk="1" hangingPunct="1">
              <a:buFont typeface="Arial" charset="0"/>
              <a:buNone/>
            </a:pPr>
            <a:endParaRPr lang="en-GB" sz="2400" b="1" i="1" u="sng" dirty="0">
              <a:latin typeface="Bookman Old Style" pitchFamily="18" charset="0"/>
            </a:endParaRPr>
          </a:p>
          <a:p>
            <a:pPr algn="just">
              <a:buFont typeface="Arial" charset="0"/>
              <a:buNone/>
            </a:pPr>
            <a:r>
              <a:rPr lang="en-GB" sz="2600" b="1" dirty="0">
                <a:latin typeface="Bookman Old Style" pitchFamily="18" charset="0"/>
              </a:rPr>
              <a:t>2.</a:t>
            </a:r>
            <a:r>
              <a:rPr lang="en-GB" sz="2400" b="1" dirty="0">
                <a:latin typeface="Bookman Old Style" pitchFamily="18" charset="0"/>
              </a:rPr>
              <a:t>The first address in a range of addresses is 14.11.45.96. If the number of addresses in the range is 32, what is the last address?</a:t>
            </a:r>
          </a:p>
          <a:p>
            <a:pPr algn="just">
              <a:buFont typeface="Arial" charset="0"/>
              <a:buNone/>
            </a:pPr>
            <a:endParaRPr lang="en-GB" dirty="0"/>
          </a:p>
          <a:p>
            <a:pPr algn="just">
              <a:buFont typeface="Arial" charset="0"/>
              <a:buNone/>
            </a:pPr>
            <a:r>
              <a:rPr lang="en-GB" b="1" i="1" u="sng" dirty="0">
                <a:latin typeface="Bookman Old Style" pitchFamily="18" charset="0"/>
              </a:rPr>
              <a:t>Sol: </a:t>
            </a:r>
            <a:r>
              <a:rPr lang="en-GB" sz="2400" dirty="0">
                <a:latin typeface="Bookman Old Style" pitchFamily="18" charset="0"/>
              </a:rPr>
              <a:t>We convert the number of addresses minus 1 to base 256, which is 0.0.0.31. We then add it to the first address to get the last address. Addition is in base 256.</a:t>
            </a:r>
          </a:p>
          <a:p>
            <a:pPr>
              <a:buFont typeface="Arial" charset="0"/>
              <a:buNone/>
            </a:pPr>
            <a:endParaRPr lang="en-GB" sz="2600" dirty="0">
              <a:latin typeface="Bookman Old Style" pitchFamily="18" charset="0"/>
            </a:endParaRPr>
          </a:p>
          <a:p>
            <a:pPr>
              <a:buFont typeface="Arial" charset="0"/>
              <a:buNone/>
            </a:pPr>
            <a:endParaRPr lang="en-GB" sz="2400" dirty="0"/>
          </a:p>
          <a:p>
            <a:pPr>
              <a:buFont typeface="Arial" charset="0"/>
              <a:buNone/>
            </a:pPr>
            <a:endParaRPr lang="en-GB" sz="2400" dirty="0"/>
          </a:p>
          <a:p>
            <a:pPr>
              <a:buFont typeface="Arial" charset="0"/>
              <a:buNone/>
            </a:pPr>
            <a:endParaRPr lang="en-GB" sz="2400" dirty="0"/>
          </a:p>
          <a:p>
            <a:pPr>
              <a:buFont typeface="Arial" charset="0"/>
              <a:buNone/>
            </a:pPr>
            <a:endParaRPr lang="en-GB" sz="2400" dirty="0"/>
          </a:p>
          <a:p>
            <a:pPr>
              <a:buFont typeface="Arial" charset="0"/>
              <a:buNone/>
            </a:pPr>
            <a:endParaRPr lang="en-GB" sz="2400" dirty="0"/>
          </a:p>
          <a:p>
            <a:pPr>
              <a:buFont typeface="Arial" charset="0"/>
              <a:buNone/>
            </a:pPr>
            <a:endParaRPr lang="en-GB" sz="2400" dirty="0"/>
          </a:p>
          <a:p>
            <a:pPr>
              <a:buFont typeface="Arial" charset="0"/>
              <a:buNone/>
            </a:pPr>
            <a:endParaRPr lang="en-GB" sz="2400" dirty="0"/>
          </a:p>
          <a:p>
            <a:pPr>
              <a:buFont typeface="Arial" charset="0"/>
              <a:buNone/>
            </a:pPr>
            <a:endParaRPr lang="en-GB" sz="2400" dirty="0"/>
          </a:p>
          <a:p>
            <a:pPr>
              <a:buFont typeface="Arial" charset="0"/>
              <a:buNone/>
            </a:pPr>
            <a:endParaRPr lang="en-GB" sz="2400" dirty="0"/>
          </a:p>
          <a:p>
            <a:pPr>
              <a:buFont typeface="Arial" charset="0"/>
              <a:buNone/>
            </a:pPr>
            <a:endParaRPr lang="en-GB" sz="2400" dirty="0"/>
          </a:p>
          <a:p>
            <a:pPr>
              <a:buFont typeface="Arial" charset="0"/>
              <a:buNone/>
            </a:pPr>
            <a:endParaRPr lang="en-GB" sz="2400" dirty="0"/>
          </a:p>
          <a:p>
            <a:pPr>
              <a:buFont typeface="Arial" charset="0"/>
              <a:buNone/>
            </a:pPr>
            <a:endParaRPr lang="en-GB" sz="2400" b="1" i="1" u="sng" dirty="0">
              <a:latin typeface="Bookman Old Style" pitchFamily="18" charset="0"/>
            </a:endParaRPr>
          </a:p>
          <a:p>
            <a:pPr algn="just" eaLnBrk="1" hangingPunct="1">
              <a:buFont typeface="Arial" charset="0"/>
              <a:buNone/>
            </a:pPr>
            <a:endParaRPr lang="en-GB" sz="2400" b="1" i="1" u="sng" dirty="0">
              <a:latin typeface="Bookman Old Style" pitchFamily="18" charset="0"/>
            </a:endParaRPr>
          </a:p>
          <a:p>
            <a:pPr algn="just" eaLnBrk="1" hangingPunct="1">
              <a:buFont typeface="Arial" charset="0"/>
              <a:buNone/>
            </a:pPr>
            <a:endParaRPr lang="en-GB" sz="2400" dirty="0">
              <a:latin typeface="Bookman Old Style" pitchFamily="18" charset="0"/>
            </a:endParaRPr>
          </a:p>
          <a:p>
            <a:pPr algn="just" eaLnBrk="1" hangingPunct="1">
              <a:buFont typeface="Arial" charset="0"/>
              <a:buNone/>
            </a:pPr>
            <a:endParaRPr lang="en-GB" sz="2400" dirty="0">
              <a:latin typeface="Bookman Old Style" pitchFamily="18" charset="0"/>
            </a:endParaRPr>
          </a:p>
          <a:p>
            <a:pPr algn="just" eaLnBrk="1" hangingPunct="1">
              <a:buFont typeface="Arial" charset="0"/>
              <a:buNone/>
            </a:pPr>
            <a:endParaRPr lang="en-GB" sz="2400" dirty="0">
              <a:latin typeface="Bookman Old Style" pitchFamily="18" charset="0"/>
            </a:endParaRPr>
          </a:p>
          <a:p>
            <a:pPr algn="just" eaLnBrk="1" hangingPunct="1">
              <a:buFont typeface="Arial" charset="0"/>
              <a:buNone/>
            </a:pPr>
            <a:endParaRPr lang="en-US" sz="2400" dirty="0">
              <a:latin typeface="Bookman Old Style" pitchFamily="18" charset="0"/>
            </a:endParaRPr>
          </a:p>
        </p:txBody>
      </p:sp>
      <p:pic>
        <p:nvPicPr>
          <p:cNvPr id="21510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48791" y="5321300"/>
            <a:ext cx="8121223" cy="7048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47696D8-9EBE-41D7-8575-7852B9AE0295}"/>
              </a:ext>
            </a:extLst>
          </p:cNvPr>
          <p:cNvSpPr txBox="1">
            <a:spLocks/>
          </p:cNvSpPr>
          <p:nvPr/>
        </p:nvSpPr>
        <p:spPr>
          <a:xfrm>
            <a:off x="1451579" y="748248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Classful addressing				</a:t>
            </a:r>
            <a:r>
              <a:rPr lang="en-IN" dirty="0" err="1"/>
              <a:t>contd</a:t>
            </a:r>
            <a:r>
              <a:rPr lang="en-IN" dirty="0"/>
              <a:t>…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60932E5-3102-42B7-B473-8EC44E00D212}"/>
              </a:ext>
            </a:extLst>
          </p:cNvPr>
          <p:cNvSpPr txBox="1">
            <a:spLocks/>
          </p:cNvSpPr>
          <p:nvPr/>
        </p:nvSpPr>
        <p:spPr>
          <a:xfrm>
            <a:off x="1331659" y="1434905"/>
            <a:ext cx="9746073" cy="4621121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buFont typeface="Arial" charset="0"/>
              <a:buNone/>
              <a:defRPr/>
            </a:pPr>
            <a:r>
              <a:rPr lang="en-GB" sz="2000" b="1" dirty="0">
                <a:latin typeface="Bookman Old Style" pitchFamily="18" charset="0"/>
              </a:rPr>
              <a:t>Network Mask</a:t>
            </a:r>
          </a:p>
          <a:p>
            <a:pPr algn="just">
              <a:defRPr/>
            </a:pPr>
            <a:r>
              <a:rPr lang="en-GB" dirty="0"/>
              <a:t>The routers in the Internet normally use an algorithm to extract the network address from the destination address of a packet. To do this, we need a network mask. </a:t>
            </a:r>
          </a:p>
          <a:p>
            <a:pPr algn="just">
              <a:defRPr/>
            </a:pPr>
            <a:r>
              <a:rPr lang="en-GB" dirty="0"/>
              <a:t>A </a:t>
            </a:r>
            <a:r>
              <a:rPr lang="en-GB" b="1" dirty="0"/>
              <a:t>network mask or a default mask in classful addressing</a:t>
            </a:r>
            <a:r>
              <a:rPr lang="en-GB" dirty="0"/>
              <a:t> is a 32-bit number with n leftmost bits all set to 1s and (32 − n) rightmost bits all set to 0s.</a:t>
            </a:r>
          </a:p>
          <a:p>
            <a:pPr algn="just">
              <a:defRPr/>
            </a:pPr>
            <a:r>
              <a:rPr lang="en-GB" sz="2000" b="1" dirty="0">
                <a:solidFill>
                  <a:srgbClr val="0070C0"/>
                </a:solidFill>
              </a:rPr>
              <a:t>Network Address = AN</a:t>
            </a:r>
            <a:r>
              <a:rPr lang="en-GB" b="1" dirty="0">
                <a:solidFill>
                  <a:srgbClr val="0070C0"/>
                </a:solidFill>
              </a:rPr>
              <a:t>D(IP, Network Mask)</a:t>
            </a:r>
            <a:r>
              <a:rPr lang="en-IN" sz="2000" b="1" dirty="0">
                <a:solidFill>
                  <a:srgbClr val="0070C0"/>
                </a:solidFill>
              </a:rPr>
              <a:t> </a:t>
            </a:r>
          </a:p>
        </p:txBody>
      </p:sp>
      <p:sp>
        <p:nvSpPr>
          <p:cNvPr id="10" name="object 5"/>
          <p:cNvSpPr/>
          <p:nvPr/>
        </p:nvSpPr>
        <p:spPr>
          <a:xfrm>
            <a:off x="2234316" y="4064302"/>
            <a:ext cx="8453261" cy="199243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32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9813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IN" dirty="0">
                <a:latin typeface="Bookman Old Style" pitchFamily="18" charset="0"/>
              </a:rPr>
              <a:t>IPv4 Address : Bitwise Operations…</a:t>
            </a:r>
            <a:endParaRPr lang="en-IN" dirty="0"/>
          </a:p>
        </p:txBody>
      </p:sp>
      <p:sp>
        <p:nvSpPr>
          <p:cNvPr id="23556" name="Slide Number Placeholder 4"/>
          <p:cNvSpPr>
            <a:spLocks noGrp="1"/>
          </p:cNvSpPr>
          <p:nvPr>
            <p:ph type="sldNum" sz="quarter" idx="11"/>
          </p:nvPr>
        </p:nvSpPr>
        <p:spPr bwMode="auto">
          <a:xfrm>
            <a:off x="838200" y="6356350"/>
            <a:ext cx="9669087" cy="3651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/>
              <a:t>© 2016 KL University – The contents of this presentation are an intellectual and copyrighted property of KL University. ALL RIGHTS RESERVED</a:t>
            </a:r>
            <a:endParaRPr lang="en-AU" dirty="0"/>
          </a:p>
        </p:txBody>
      </p:sp>
      <p:sp>
        <p:nvSpPr>
          <p:cNvPr id="19" name="TextBox 18"/>
          <p:cNvSpPr txBox="1"/>
          <p:nvPr/>
        </p:nvSpPr>
        <p:spPr>
          <a:xfrm>
            <a:off x="283059" y="1494177"/>
            <a:ext cx="11395075" cy="4216539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514350" indent="-514350" algn="just">
              <a:defRPr/>
            </a:pPr>
            <a:r>
              <a:rPr lang="en-GB" sz="2400" b="1" i="1" u="sng" dirty="0"/>
              <a:t>2. Bitwise AND Operation</a:t>
            </a:r>
          </a:p>
          <a:p>
            <a:pPr marL="514350" indent="-514350" algn="just">
              <a:defRPr/>
            </a:pPr>
            <a:endParaRPr lang="en-GB" sz="2400" b="1" i="1" u="sng" dirty="0">
              <a:latin typeface="Bookman Old Style" pitchFamily="18" charset="0"/>
            </a:endParaRPr>
          </a:p>
          <a:p>
            <a:pPr algn="just">
              <a:defRPr/>
            </a:pPr>
            <a:r>
              <a:rPr lang="en-GB" sz="2000" dirty="0">
                <a:latin typeface="Bookman Old Style" pitchFamily="18" charset="0"/>
              </a:rPr>
              <a:t>The AND operation compares the two corresponding bits in two inputs and selects the smaller bit from the two.</a:t>
            </a:r>
          </a:p>
          <a:p>
            <a:pPr algn="just">
              <a:defRPr/>
            </a:pPr>
            <a:endParaRPr lang="en-GB" sz="2000" dirty="0">
              <a:latin typeface="Bookman Old Style" pitchFamily="18" charset="0"/>
            </a:endParaRPr>
          </a:p>
          <a:p>
            <a:pPr algn="just">
              <a:defRPr/>
            </a:pPr>
            <a:r>
              <a:rPr lang="en-GB" sz="2000" dirty="0">
                <a:latin typeface="Bookman Old Style" pitchFamily="18" charset="0"/>
              </a:rPr>
              <a:t>We can use two short cuts.</a:t>
            </a:r>
          </a:p>
          <a:p>
            <a:pPr algn="just">
              <a:defRPr/>
            </a:pPr>
            <a:endParaRPr lang="en-GB" sz="2000" dirty="0">
              <a:latin typeface="Bookman Old Style" pitchFamily="18" charset="0"/>
            </a:endParaRPr>
          </a:p>
          <a:p>
            <a:pPr marL="514350" indent="-514350" algn="just">
              <a:buFontTx/>
              <a:buAutoNum type="arabicPeriod"/>
              <a:defRPr/>
            </a:pPr>
            <a:r>
              <a:rPr lang="en-GB" sz="2000" dirty="0">
                <a:latin typeface="Bookman Old Style" pitchFamily="18" charset="0"/>
              </a:rPr>
              <a:t>When at least one of the numbers is 0 or 255, the AND operation selects the </a:t>
            </a:r>
            <a:r>
              <a:rPr lang="en-GB" sz="2000" dirty="0">
                <a:solidFill>
                  <a:srgbClr val="00B050"/>
                </a:solidFill>
                <a:latin typeface="Bookman Old Style" pitchFamily="18" charset="0"/>
              </a:rPr>
              <a:t>smaller </a:t>
            </a:r>
            <a:r>
              <a:rPr lang="en-GB" sz="2000" dirty="0">
                <a:latin typeface="Bookman Old Style" pitchFamily="18" charset="0"/>
              </a:rPr>
              <a:t>byte (or one of them if equal).</a:t>
            </a:r>
          </a:p>
          <a:p>
            <a:pPr marL="514350" indent="-514350" algn="just">
              <a:buFontTx/>
              <a:buAutoNum type="arabicPeriod"/>
              <a:defRPr/>
            </a:pPr>
            <a:endParaRPr lang="en-GB" sz="2000" dirty="0">
              <a:latin typeface="Bookman Old Style" pitchFamily="18" charset="0"/>
            </a:endParaRPr>
          </a:p>
          <a:p>
            <a:pPr marL="514350" indent="-514350" algn="just">
              <a:buFontTx/>
              <a:buAutoNum type="arabicPeriod"/>
              <a:defRPr/>
            </a:pPr>
            <a:r>
              <a:rPr lang="en-GB" sz="2000" dirty="0">
                <a:latin typeface="Bookman Old Style" pitchFamily="18" charset="0"/>
              </a:rPr>
              <a:t>When none of the two bytes is either 0 or 255, we can write each byte as the sum of eight terms, where each term is a power of 2. We then select the </a:t>
            </a:r>
            <a:r>
              <a:rPr lang="en-GB" sz="2000" dirty="0">
                <a:solidFill>
                  <a:srgbClr val="00B050"/>
                </a:solidFill>
                <a:latin typeface="Bookman Old Style" pitchFamily="18" charset="0"/>
              </a:rPr>
              <a:t>smaller term </a:t>
            </a:r>
            <a:r>
              <a:rPr lang="en-GB" sz="2000" dirty="0">
                <a:latin typeface="Bookman Old Style" pitchFamily="18" charset="0"/>
              </a:rPr>
              <a:t>in each pair (or one of them if equal) and add them to get the result.</a:t>
            </a:r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0154" y="136525"/>
            <a:ext cx="9603275" cy="1049235"/>
          </a:xfrm>
        </p:spPr>
        <p:txBody>
          <a:bodyPr rtlCol="0"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IN" dirty="0">
                <a:latin typeface="Bookman Old Style" pitchFamily="18" charset="0"/>
              </a:rPr>
              <a:t>IPv4 Address : Bitwise Operations…</a:t>
            </a:r>
            <a:endParaRPr lang="en-IN" dirty="0"/>
          </a:p>
        </p:txBody>
      </p:sp>
      <p:sp>
        <p:nvSpPr>
          <p:cNvPr id="24580" name="Slide Number Placeholder 4"/>
          <p:cNvSpPr>
            <a:spLocks noGrp="1"/>
          </p:cNvSpPr>
          <p:nvPr>
            <p:ph type="sldNum" sz="quarter" idx="11"/>
          </p:nvPr>
        </p:nvSpPr>
        <p:spPr bwMode="auto">
          <a:xfrm>
            <a:off x="838200" y="6356350"/>
            <a:ext cx="9669087" cy="3651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/>
              <a:t>© 2016 KL University – The contents of this presentation are an intellectual and copyrighted property of KL University. ALL RIGHTS RESERVED</a:t>
            </a:r>
          </a:p>
        </p:txBody>
      </p:sp>
      <p:pic>
        <p:nvPicPr>
          <p:cNvPr id="24581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66800" y="752475"/>
            <a:ext cx="10058400" cy="535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D1F74-C5DB-0C33-3BCC-6B50F64DD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EFA5ED-44D9-3788-9DCD-CCB6C5C3EC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2075" y="1952625"/>
            <a:ext cx="10086975" cy="3971925"/>
          </a:xfrm>
        </p:spPr>
        <p:txBody>
          <a:bodyPr>
            <a:normAutofit fontScale="92500" lnSpcReduction="10000"/>
          </a:bodyPr>
          <a:lstStyle/>
          <a:p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 address in a block is given as 200.11.8.45. Find the number of addresses in the block, the first address, and the last address.</a:t>
            </a: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Solution:</a:t>
            </a:r>
          </a:p>
          <a:p>
            <a:pPr marL="457200" lvl="1" indent="0">
              <a:buNone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Given IP			: 200.11.8.45</a:t>
            </a:r>
          </a:p>
          <a:p>
            <a:pPr marL="457200" lvl="1" indent="0"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Class			: C</a:t>
            </a:r>
          </a:p>
          <a:p>
            <a:pPr marL="457200" lvl="1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Network Mask		: 255.255.255.0</a:t>
            </a:r>
          </a:p>
          <a:p>
            <a:pPr marL="457200" lvl="1" indent="0"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IP	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		: 200 . 11 . 8 . 45</a:t>
            </a:r>
          </a:p>
          <a:p>
            <a:pPr marL="457200" lvl="1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N/w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addr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(or) First address	: 200 . 11 . 8 . 0              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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 AND(IP, Network Mask) ]</a:t>
            </a:r>
          </a:p>
          <a:p>
            <a:pPr marL="457200" lvl="1" indent="0"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Broadcast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addr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(or) Last address	: 200 . 11 . 8 . 255</a:t>
            </a:r>
          </a:p>
          <a:p>
            <a:pPr marL="457200" lvl="1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no. of addresses in a block	: 2^n = 2^8 = 256</a:t>
            </a:r>
          </a:p>
          <a:p>
            <a:pPr marL="457200" lvl="1" indent="0"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no. of Host addresses	: (2^n)-2 = 256 – 2 = 254</a:t>
            </a:r>
          </a:p>
          <a:p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34CF41F-8A1D-32F2-427F-E5463B163149}"/>
              </a:ext>
            </a:extLst>
          </p:cNvPr>
          <p:cNvCxnSpPr>
            <a:cxnSpLocks/>
          </p:cNvCxnSpPr>
          <p:nvPr/>
        </p:nvCxnSpPr>
        <p:spPr>
          <a:xfrm>
            <a:off x="5000625" y="4495800"/>
            <a:ext cx="1828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287AA10-C818-3DEC-E4DB-8BB366023068}"/>
              </a:ext>
            </a:extLst>
          </p:cNvPr>
          <p:cNvCxnSpPr>
            <a:cxnSpLocks/>
          </p:cNvCxnSpPr>
          <p:nvPr/>
        </p:nvCxnSpPr>
        <p:spPr>
          <a:xfrm>
            <a:off x="5010150" y="4848225"/>
            <a:ext cx="1828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594512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A47696D8-9EBE-41D7-8575-7852B9AE0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/>
          <a:lstStyle/>
          <a:p>
            <a:r>
              <a:rPr lang="en-IN" dirty="0"/>
              <a:t>4. Classless addressing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60932E5-3102-42B7-B473-8EC44E00D212}"/>
              </a:ext>
            </a:extLst>
          </p:cNvPr>
          <p:cNvSpPr txBox="1">
            <a:spLocks/>
          </p:cNvSpPr>
          <p:nvPr/>
        </p:nvSpPr>
        <p:spPr>
          <a:xfrm>
            <a:off x="1331659" y="1895812"/>
            <a:ext cx="9746073" cy="4160214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342900" lvl="1" indent="-342900" algn="just">
              <a:spcBef>
                <a:spcPts val="1000"/>
              </a:spcBef>
              <a:buFont typeface="Wingdings" pitchFamily="2" charset="2"/>
              <a:buChar char="Ø"/>
            </a:pPr>
            <a:r>
              <a:rPr lang="en-IN" sz="2000" dirty="0"/>
              <a:t>To overcome address depletion and give more organizations access to the Internet,</a:t>
            </a:r>
            <a:br>
              <a:rPr lang="en-IN" sz="2000" dirty="0"/>
            </a:br>
            <a:r>
              <a:rPr lang="en-IN" sz="2000" dirty="0"/>
              <a:t>classless addressing was designed and implemented.</a:t>
            </a:r>
          </a:p>
          <a:p>
            <a:pPr marL="342900" lvl="1" indent="-342900" algn="just">
              <a:spcBef>
                <a:spcPts val="1000"/>
              </a:spcBef>
              <a:buFont typeface="Wingdings" pitchFamily="2" charset="2"/>
              <a:buChar char="Ø"/>
            </a:pPr>
            <a:r>
              <a:rPr lang="en-IN" sz="2000" dirty="0"/>
              <a:t>Here are no classes, but the addresses are still granted in blocks. </a:t>
            </a:r>
          </a:p>
          <a:p>
            <a:pPr marL="0" lvl="1" indent="0">
              <a:spcBef>
                <a:spcPts val="1000"/>
              </a:spcBef>
              <a:buNone/>
            </a:pPr>
            <a:r>
              <a:rPr lang="en-IN" sz="2000" b="1" i="1" dirty="0"/>
              <a:t>Address Blocks </a:t>
            </a:r>
          </a:p>
          <a:p>
            <a:pPr marL="342900" lvl="1" indent="-342900" algn="just">
              <a:spcBef>
                <a:spcPts val="1000"/>
              </a:spcBef>
              <a:buFont typeface="Wingdings" pitchFamily="2" charset="2"/>
              <a:buChar char="Ø"/>
            </a:pPr>
            <a:r>
              <a:rPr lang="en-IN" sz="2000" dirty="0"/>
              <a:t>In classless addressing, when an entity, small or large, needs to be connected to the Internet, it is granted a block (range) of addresses. </a:t>
            </a:r>
          </a:p>
          <a:p>
            <a:pPr marL="342900" lvl="1" indent="-342900" algn="just">
              <a:spcBef>
                <a:spcPts val="1000"/>
              </a:spcBef>
              <a:buFont typeface="Wingdings" pitchFamily="2" charset="2"/>
              <a:buChar char="Ø"/>
            </a:pPr>
            <a:r>
              <a:rPr lang="en-IN" sz="2000" dirty="0"/>
              <a:t>The size of the block (the number of addresses) varies based on the nature and size of the entity.  </a:t>
            </a:r>
            <a:endParaRPr lang="en-US" sz="2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A47696D8-9EBE-41D7-8575-7852B9AE0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/>
          <a:lstStyle/>
          <a:p>
            <a:r>
              <a:rPr lang="en-IN" dirty="0"/>
              <a:t>Classless addressing				</a:t>
            </a:r>
            <a:r>
              <a:rPr lang="en-IN" dirty="0" err="1"/>
              <a:t>contd</a:t>
            </a:r>
            <a:r>
              <a:rPr lang="en-IN" dirty="0"/>
              <a:t>…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60932E5-3102-42B7-B473-8EC44E00D212}"/>
              </a:ext>
            </a:extLst>
          </p:cNvPr>
          <p:cNvSpPr txBox="1">
            <a:spLocks/>
          </p:cNvSpPr>
          <p:nvPr/>
        </p:nvSpPr>
        <p:spPr>
          <a:xfrm>
            <a:off x="1331659" y="1895812"/>
            <a:ext cx="9746073" cy="4160214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342900" lvl="1" indent="-342900" algn="just">
              <a:spcBef>
                <a:spcPts val="1000"/>
              </a:spcBef>
              <a:buFont typeface="Wingdings" pitchFamily="2" charset="2"/>
              <a:buChar char="Ø"/>
            </a:pPr>
            <a:r>
              <a:rPr lang="en-IN" sz="2000" dirty="0"/>
              <a:t>Restriction: To simplify the handling of addresses, the Internet authorities impose three restrictions on classless address blocks: </a:t>
            </a:r>
          </a:p>
          <a:p>
            <a:pPr marL="1168400" lvl="1" indent="0" algn="just">
              <a:spcBef>
                <a:spcPts val="1000"/>
              </a:spcBef>
              <a:buAutoNum type="arabicPeriod"/>
            </a:pPr>
            <a:r>
              <a:rPr lang="en-IN" sz="2000" dirty="0"/>
              <a:t>The addresses in a block must be contiguous, one after another. </a:t>
            </a:r>
          </a:p>
          <a:p>
            <a:pPr marL="1168400" lvl="1" indent="0" algn="just">
              <a:spcBef>
                <a:spcPts val="1000"/>
              </a:spcBef>
              <a:buAutoNum type="arabicPeriod"/>
            </a:pPr>
            <a:r>
              <a:rPr lang="en-IN" sz="2000" dirty="0"/>
              <a:t>The number of addresses in a block must be a power of 2 (I, 2, 4, 8, ... ). </a:t>
            </a:r>
          </a:p>
          <a:p>
            <a:pPr marL="1168400" lvl="1" indent="0" algn="just">
              <a:spcBef>
                <a:spcPts val="1000"/>
              </a:spcBef>
              <a:buAutoNum type="arabicPeriod"/>
            </a:pPr>
            <a:r>
              <a:rPr lang="en-IN" sz="2000" dirty="0"/>
              <a:t>The first address must be evenly divisible by the number of addresses.  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6520250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99577" y="5105598"/>
            <a:ext cx="7523998" cy="290807"/>
          </a:xfrm>
          <a:prstGeom prst="rect">
            <a:avLst/>
          </a:prstGeom>
        </p:spPr>
        <p:txBody>
          <a:bodyPr vert="horz" wrap="square" lIns="0" tIns="11516" rIns="0" bIns="0" rtlCol="0" anchor="ctr">
            <a:spAutoFit/>
          </a:bodyPr>
          <a:lstStyle/>
          <a:p>
            <a:pPr marL="11516">
              <a:lnSpc>
                <a:spcPct val="100000"/>
              </a:lnSpc>
              <a:spcBef>
                <a:spcPts val="91"/>
              </a:spcBef>
              <a:tabLst>
                <a:tab pos="1478125" algn="l"/>
              </a:tabLst>
            </a:pPr>
            <a:r>
              <a:rPr sz="1814" b="1" i="1" spc="-5" dirty="0">
                <a:solidFill>
                  <a:schemeClr val="tx1"/>
                </a:solidFill>
                <a:latin typeface="Times New Roman"/>
                <a:cs typeface="Times New Roman"/>
              </a:rPr>
              <a:t>A block of 16 addresses granted to a small</a:t>
            </a:r>
            <a:r>
              <a:rPr sz="1814" b="1" i="1" spc="-59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1814" b="1" i="1" spc="-5" dirty="0">
                <a:solidFill>
                  <a:schemeClr val="tx1"/>
                </a:solidFill>
                <a:latin typeface="Times New Roman"/>
                <a:cs typeface="Times New Roman"/>
              </a:rPr>
              <a:t>organization</a:t>
            </a:r>
            <a:endParaRPr sz="1814" b="1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59294" y="2182121"/>
            <a:ext cx="7468137" cy="21233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32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088428" y="5947975"/>
            <a:ext cx="7946297" cy="69098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32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47696D8-9EBE-41D7-8575-7852B9AE0295}"/>
              </a:ext>
            </a:extLst>
          </p:cNvPr>
          <p:cNvSpPr txBox="1">
            <a:spLocks/>
          </p:cNvSpPr>
          <p:nvPr/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IN"/>
              <a:t>Classless addressing				contd…</a:t>
            </a:r>
            <a:endParaRPr lang="en-IN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A47696D8-9EBE-41D7-8575-7852B9AE0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/>
          <a:lstStyle/>
          <a:p>
            <a:r>
              <a:rPr lang="en-IN" dirty="0"/>
              <a:t>Classless addressing				</a:t>
            </a:r>
            <a:r>
              <a:rPr lang="en-IN" dirty="0" err="1"/>
              <a:t>contd</a:t>
            </a:r>
            <a:r>
              <a:rPr lang="en-IN" dirty="0"/>
              <a:t>…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60932E5-3102-42B7-B473-8EC44E00D212}"/>
              </a:ext>
            </a:extLst>
          </p:cNvPr>
          <p:cNvSpPr txBox="1">
            <a:spLocks/>
          </p:cNvSpPr>
          <p:nvPr/>
        </p:nvSpPr>
        <p:spPr>
          <a:xfrm>
            <a:off x="1331659" y="1895812"/>
            <a:ext cx="9746073" cy="4160214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lvl="1" indent="0" algn="just">
              <a:spcBef>
                <a:spcPts val="1000"/>
              </a:spcBef>
              <a:buNone/>
            </a:pPr>
            <a:r>
              <a:rPr lang="en-IN" sz="2000" b="1" dirty="0"/>
              <a:t>Mask</a:t>
            </a:r>
          </a:p>
          <a:p>
            <a:pPr marL="342900" lvl="1" indent="-342900" algn="just">
              <a:spcBef>
                <a:spcPts val="1000"/>
              </a:spcBef>
              <a:buFont typeface="Wingdings" pitchFamily="2" charset="2"/>
              <a:buChar char="Ø"/>
            </a:pPr>
            <a:r>
              <a:rPr lang="en-IN" sz="2000" dirty="0"/>
              <a:t>In classless addressing the mask for a block can take any value from 0 to 32. It is very convenient to give just the value of </a:t>
            </a:r>
            <a:r>
              <a:rPr lang="en-IN" sz="2000" i="1" dirty="0"/>
              <a:t>n </a:t>
            </a:r>
            <a:r>
              <a:rPr lang="en-IN" sz="2000" dirty="0"/>
              <a:t>preceded by a slash (CIDR notation) </a:t>
            </a:r>
          </a:p>
          <a:p>
            <a:pPr marL="1617663" lvl="1" indent="-266700" algn="just">
              <a:spcBef>
                <a:spcPts val="1000"/>
              </a:spcBef>
              <a:buFont typeface="+mj-lt"/>
              <a:buAutoNum type="romanLcPeriod"/>
            </a:pPr>
            <a:r>
              <a:rPr lang="en-IN" sz="2000" dirty="0"/>
              <a:t>/n [denotes the </a:t>
            </a:r>
            <a:r>
              <a:rPr lang="en-IN" sz="2000" b="1" dirty="0"/>
              <a:t>prefix length</a:t>
            </a:r>
            <a:r>
              <a:rPr lang="en-IN" sz="2000" dirty="0"/>
              <a:t>]</a:t>
            </a:r>
          </a:p>
          <a:p>
            <a:pPr marL="1617663" lvl="1" indent="-266700" algn="just">
              <a:spcBef>
                <a:spcPts val="1000"/>
              </a:spcBef>
              <a:buFont typeface="+mj-lt"/>
              <a:buAutoNum type="romanLcPeriod"/>
            </a:pPr>
            <a:r>
              <a:rPr lang="en-IN" sz="2000" dirty="0"/>
              <a:t>/(n-32) [denotes the </a:t>
            </a:r>
            <a:r>
              <a:rPr lang="en-IN" sz="2000" b="1" dirty="0"/>
              <a:t>suffix length</a:t>
            </a:r>
            <a:r>
              <a:rPr lang="en-IN" sz="2000" dirty="0"/>
              <a:t>]</a:t>
            </a:r>
            <a:endParaRPr lang="en-US" sz="2000" dirty="0"/>
          </a:p>
        </p:txBody>
      </p:sp>
      <p:sp>
        <p:nvSpPr>
          <p:cNvPr id="4" name="object 11">
            <a:extLst>
              <a:ext uri="{FF2B5EF4-FFF2-40B4-BE49-F238E27FC236}">
                <a16:creationId xmlns:a16="http://schemas.microsoft.com/office/drawing/2014/main" id="{67A7A4BE-E724-61FA-AFD3-CAA32443F68B}"/>
              </a:ext>
            </a:extLst>
          </p:cNvPr>
          <p:cNvSpPr txBox="1"/>
          <p:nvPr/>
        </p:nvSpPr>
        <p:spPr>
          <a:xfrm>
            <a:off x="1990725" y="4238625"/>
            <a:ext cx="8210550" cy="1940194"/>
          </a:xfrm>
          <a:prstGeom prst="rect">
            <a:avLst/>
          </a:prstGeom>
          <a:solidFill>
            <a:srgbClr val="92D050"/>
          </a:solidFill>
        </p:spPr>
        <p:txBody>
          <a:bodyPr vert="horz" wrap="square" lIns="0" tIns="31670" rIns="0" bIns="0" rtlCol="0">
            <a:spAutoFit/>
          </a:bodyPr>
          <a:lstStyle/>
          <a:p>
            <a:pPr marL="447675" marR="1071597" lvl="0" algn="l" defTabSz="457200" rtl="0" eaLnBrk="1" fontAlgn="auto" latinLnBrk="0" hangingPunct="1">
              <a:lnSpc>
                <a:spcPct val="100000"/>
              </a:lnSpc>
              <a:spcBef>
                <a:spcPts val="249"/>
              </a:spcBef>
              <a:spcAft>
                <a:spcPts val="0"/>
              </a:spcAft>
              <a:buClrTx/>
              <a:buSzTx/>
              <a:buFontTx/>
              <a:buNone/>
              <a:tabLst>
                <a:tab pos="8429625" algn="l"/>
              </a:tabLst>
              <a:defRPr/>
            </a:pPr>
            <a:r>
              <a:rPr sz="2400" i="1" dirty="0"/>
              <a:t>In IPv4 addressing, a block of  addresses can be defined</a:t>
            </a:r>
            <a:r>
              <a:rPr lang="en-IN" sz="2400" i="1" dirty="0"/>
              <a:t> </a:t>
            </a:r>
            <a:r>
              <a:rPr sz="2400" i="1" dirty="0"/>
              <a:t>as</a:t>
            </a:r>
          </a:p>
          <a:p>
            <a:pPr marL="294934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2800" b="1" i="1" dirty="0"/>
              <a:t>x.y.z.t /n</a:t>
            </a:r>
            <a:endParaRPr lang="en-IN" sz="2800" b="1" i="1" dirty="0"/>
          </a:p>
          <a:p>
            <a:pPr marL="294934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sz="2400" i="1" dirty="0"/>
          </a:p>
          <a:p>
            <a:pPr marL="2947988" marR="0" lvl="0" indent="-2586038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2400" b="1" i="1" dirty="0"/>
              <a:t>x.y.z.t </a:t>
            </a:r>
            <a:r>
              <a:rPr lang="en-IN" sz="2400" i="1" dirty="0">
                <a:sym typeface="Wingdings" panose="05000000000000000000" pitchFamily="2" charset="2"/>
              </a:rPr>
              <a:t> </a:t>
            </a:r>
            <a:r>
              <a:rPr sz="2400" i="1" dirty="0"/>
              <a:t>defines one of the  addresses</a:t>
            </a:r>
            <a:endParaRPr lang="en-IN" sz="2400" i="1" dirty="0"/>
          </a:p>
          <a:p>
            <a:pPr marL="2947988" marR="0" lvl="0" indent="-2586038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2400" b="1" i="1" dirty="0"/>
              <a:t>      </a:t>
            </a:r>
            <a:r>
              <a:rPr sz="2400" b="1" i="1" dirty="0"/>
              <a:t>/n </a:t>
            </a:r>
            <a:r>
              <a:rPr lang="en-IN" sz="2400" i="1" dirty="0">
                <a:sym typeface="Wingdings" panose="05000000000000000000" pitchFamily="2" charset="2"/>
              </a:rPr>
              <a:t> </a:t>
            </a:r>
            <a:r>
              <a:rPr sz="2400" i="1" dirty="0"/>
              <a:t>defines the mask.</a:t>
            </a:r>
            <a:endParaRPr sz="2000" i="1" dirty="0"/>
          </a:p>
        </p:txBody>
      </p:sp>
    </p:spTree>
    <p:extLst>
      <p:ext uri="{BB962C8B-B14F-4D97-AF65-F5344CB8AC3E}">
        <p14:creationId xmlns:p14="http://schemas.microsoft.com/office/powerpoint/2010/main" val="27556278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A47696D8-9EBE-41D7-8575-7852B9AE0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/>
          <a:lstStyle/>
          <a:p>
            <a:r>
              <a:rPr lang="en-IN" dirty="0"/>
              <a:t>Classless addressing				</a:t>
            </a:r>
            <a:r>
              <a:rPr lang="en-IN" dirty="0" err="1"/>
              <a:t>contd</a:t>
            </a:r>
            <a:r>
              <a:rPr lang="en-IN" dirty="0"/>
              <a:t>…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60932E5-3102-42B7-B473-8EC44E00D212}"/>
              </a:ext>
            </a:extLst>
          </p:cNvPr>
          <p:cNvSpPr txBox="1">
            <a:spLocks/>
          </p:cNvSpPr>
          <p:nvPr/>
        </p:nvSpPr>
        <p:spPr>
          <a:xfrm>
            <a:off x="1331659" y="1895812"/>
            <a:ext cx="9746073" cy="4160214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lvl="1" indent="0" algn="just">
              <a:spcBef>
                <a:spcPts val="1000"/>
              </a:spcBef>
              <a:buNone/>
            </a:pPr>
            <a:endParaRPr lang="en-US" sz="2000" dirty="0"/>
          </a:p>
        </p:txBody>
      </p:sp>
      <p:sp>
        <p:nvSpPr>
          <p:cNvPr id="2" name="object 10">
            <a:extLst>
              <a:ext uri="{FF2B5EF4-FFF2-40B4-BE49-F238E27FC236}">
                <a16:creationId xmlns:a16="http://schemas.microsoft.com/office/drawing/2014/main" id="{FA781C40-E6FD-1325-0C93-9D017AAC754C}"/>
              </a:ext>
            </a:extLst>
          </p:cNvPr>
          <p:cNvSpPr txBox="1"/>
          <p:nvPr/>
        </p:nvSpPr>
        <p:spPr>
          <a:xfrm>
            <a:off x="2294595" y="1942554"/>
            <a:ext cx="7324413" cy="1139975"/>
          </a:xfrm>
          <a:prstGeom prst="rect">
            <a:avLst/>
          </a:prstGeom>
          <a:solidFill>
            <a:srgbClr val="92D050"/>
          </a:solidFill>
        </p:spPr>
        <p:txBody>
          <a:bodyPr vert="horz" wrap="square" lIns="0" tIns="31670" rIns="0" bIns="0" rtlCol="0">
            <a:spAutoFit/>
          </a:bodyPr>
          <a:lstStyle/>
          <a:p>
            <a:pPr marL="473898" marR="471019" lvl="0" indent="0" algn="ctr" defTabSz="457200" rtl="0" eaLnBrk="1" fontAlgn="auto" latinLnBrk="0" hangingPunct="1">
              <a:lnSpc>
                <a:spcPct val="100000"/>
              </a:lnSpc>
              <a:spcBef>
                <a:spcPts val="24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The first </a:t>
            </a:r>
            <a:r>
              <a:rPr kumimoji="0" sz="2400" i="0" u="none" strike="noStrike" kern="1200" cap="none" spc="-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address </a:t>
            </a:r>
            <a:r>
              <a:rPr kumimoji="0" sz="240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in the block can</a:t>
            </a:r>
            <a:r>
              <a:rPr kumimoji="0" sz="240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 </a:t>
            </a:r>
            <a:r>
              <a:rPr kumimoji="0" sz="2400" i="0" u="none" strike="noStrike" kern="1200" cap="none" spc="-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be  </a:t>
            </a:r>
            <a:r>
              <a:rPr kumimoji="0" sz="240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found by setting the</a:t>
            </a:r>
            <a:r>
              <a:rPr kumimoji="0" sz="2400" i="0" u="none" strike="noStrike" kern="1200" cap="none" spc="-7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 </a:t>
            </a:r>
            <a:r>
              <a:rPr kumimoji="0" sz="240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rightmost</a:t>
            </a:r>
            <a:endParaRPr kumimoji="0" sz="2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Arial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32 − </a:t>
            </a:r>
            <a:r>
              <a:rPr kumimoji="0" sz="240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n </a:t>
            </a:r>
            <a:r>
              <a:rPr kumimoji="0" sz="240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bits to</a:t>
            </a:r>
            <a:r>
              <a:rPr kumimoji="0" sz="2400" i="0" u="none" strike="noStrike" kern="1200" cap="none" spc="-3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 </a:t>
            </a:r>
            <a:r>
              <a:rPr kumimoji="0" sz="2400" i="0" u="none" strike="noStrike" kern="1200" cap="none" spc="-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0s.</a:t>
            </a:r>
            <a:endParaRPr kumimoji="0" sz="2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Arial"/>
            </a:endParaRPr>
          </a:p>
        </p:txBody>
      </p:sp>
      <p:sp>
        <p:nvSpPr>
          <p:cNvPr id="3" name="object 10">
            <a:extLst>
              <a:ext uri="{FF2B5EF4-FFF2-40B4-BE49-F238E27FC236}">
                <a16:creationId xmlns:a16="http://schemas.microsoft.com/office/drawing/2014/main" id="{EB933A43-40D4-120C-32B1-512310351F8F}"/>
              </a:ext>
            </a:extLst>
          </p:cNvPr>
          <p:cNvSpPr txBox="1"/>
          <p:nvPr/>
        </p:nvSpPr>
        <p:spPr>
          <a:xfrm>
            <a:off x="2294593" y="3393107"/>
            <a:ext cx="7324413" cy="116562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vert="horz" wrap="square" lIns="0" tIns="31670" rIns="0" bIns="0" rtlCol="0">
            <a:spAutoFit/>
          </a:bodyPr>
          <a:lstStyle/>
          <a:p>
            <a:pPr marL="473898" marR="471019" algn="ctr" defTabSz="457200">
              <a:spcBef>
                <a:spcPts val="249"/>
              </a:spcBef>
              <a:defRPr/>
            </a:pPr>
            <a:r>
              <a:rPr sz="2400" spc="-5" dirty="0">
                <a:solidFill>
                  <a:prstClr val="black"/>
                </a:solidFill>
                <a:latin typeface="+mj-lt"/>
                <a:cs typeface="Arial"/>
              </a:rPr>
              <a:t>The last address in the block can be  found by setting the </a:t>
            </a:r>
            <a:r>
              <a:rPr lang="en-IN" sz="2400" spc="-5" dirty="0">
                <a:solidFill>
                  <a:prstClr val="black"/>
                </a:solidFill>
                <a:latin typeface="+mj-lt"/>
                <a:cs typeface="Arial"/>
              </a:rPr>
              <a:t>r</a:t>
            </a:r>
            <a:r>
              <a:rPr sz="2400" spc="-5" dirty="0" err="1">
                <a:solidFill>
                  <a:prstClr val="black"/>
                </a:solidFill>
                <a:latin typeface="+mj-lt"/>
                <a:cs typeface="Arial"/>
              </a:rPr>
              <a:t>ightmost</a:t>
            </a:r>
            <a:endParaRPr lang="en-US" sz="2400" spc="-5" dirty="0">
              <a:solidFill>
                <a:prstClr val="black"/>
              </a:solidFill>
              <a:latin typeface="+mj-lt"/>
              <a:cs typeface="Arial"/>
            </a:endParaRPr>
          </a:p>
          <a:p>
            <a:pPr marL="473898" marR="471019" algn="ctr" defTabSz="457200">
              <a:spcBef>
                <a:spcPts val="249"/>
              </a:spcBef>
              <a:defRPr/>
            </a:pPr>
            <a:r>
              <a:rPr lang="en-US" sz="2400" spc="-5" dirty="0">
                <a:solidFill>
                  <a:prstClr val="black"/>
                </a:solidFill>
                <a:latin typeface="+mj-lt"/>
                <a:cs typeface="Arial"/>
              </a:rPr>
              <a:t>32 − n bits to 1s.</a:t>
            </a:r>
          </a:p>
        </p:txBody>
      </p:sp>
      <p:sp>
        <p:nvSpPr>
          <p:cNvPr id="4" name="object 10">
            <a:extLst>
              <a:ext uri="{FF2B5EF4-FFF2-40B4-BE49-F238E27FC236}">
                <a16:creationId xmlns:a16="http://schemas.microsoft.com/office/drawing/2014/main" id="{835D7CBC-9DD0-DD5E-B214-C10BA9677334}"/>
              </a:ext>
            </a:extLst>
          </p:cNvPr>
          <p:cNvSpPr txBox="1"/>
          <p:nvPr/>
        </p:nvSpPr>
        <p:spPr>
          <a:xfrm>
            <a:off x="2294593" y="4869308"/>
            <a:ext cx="7324413" cy="124506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vert="horz" wrap="square" lIns="0" tIns="31670" rIns="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24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2400" spc="-5" dirty="0">
                <a:solidFill>
                  <a:prstClr val="black"/>
                </a:solidFill>
                <a:latin typeface="+mj-lt"/>
                <a:cs typeface="Arial"/>
              </a:rPr>
              <a:t>The number of addresses in the block</a:t>
            </a:r>
          </a:p>
          <a:p>
            <a:pPr marL="658160" marR="651826" lvl="0" indent="0" algn="ctr" defTabSz="457200" rtl="0" eaLnBrk="1" fontAlgn="auto" latinLnBrk="0" hangingPunct="1">
              <a:lnSpc>
                <a:spcPct val="75000"/>
              </a:lnSpc>
              <a:spcBef>
                <a:spcPts val="87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2400" spc="-5" dirty="0">
                <a:solidFill>
                  <a:prstClr val="black"/>
                </a:solidFill>
                <a:latin typeface="+mj-lt"/>
                <a:cs typeface="Arial"/>
              </a:rPr>
              <a:t>can be found by using the formula  </a:t>
            </a:r>
            <a:endParaRPr lang="en-IN" sz="2400" spc="-5" dirty="0">
              <a:solidFill>
                <a:prstClr val="black"/>
              </a:solidFill>
              <a:latin typeface="+mj-lt"/>
              <a:cs typeface="Arial"/>
            </a:endParaRPr>
          </a:p>
          <a:p>
            <a:pPr marL="658160" marR="651826" lvl="0" indent="0" algn="ctr" defTabSz="457200" rtl="0" eaLnBrk="1" fontAlgn="auto" latinLnBrk="0" hangingPunct="1">
              <a:lnSpc>
                <a:spcPct val="75000"/>
              </a:lnSpc>
              <a:spcBef>
                <a:spcPts val="87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000" b="1" i="0" u="none" strike="noStrike" kern="1200" cap="none" spc="14" normalizeH="0" baseline="-16493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2</a:t>
            </a:r>
            <a:r>
              <a:rPr kumimoji="0" b="1" i="0" u="none" strike="noStrike" kern="1200" cap="none" spc="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32−n</a:t>
            </a:r>
            <a:r>
              <a:rPr kumimoji="0" sz="4000" b="1" i="0" u="none" strike="noStrike" kern="1200" cap="none" spc="14" normalizeH="0" baseline="-16493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.</a:t>
            </a:r>
            <a:endParaRPr kumimoji="0" sz="4000" b="0" i="0" u="none" strike="noStrike" kern="1200" cap="none" spc="0" normalizeH="0" baseline="-16493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8198804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84568" y="1176355"/>
            <a:ext cx="2112103" cy="503490"/>
          </a:xfrm>
          <a:prstGeom prst="rect">
            <a:avLst/>
          </a:prstGeom>
        </p:spPr>
        <p:txBody>
          <a:bodyPr vert="horz" wrap="square" lIns="0" tIns="10941" rIns="0" bIns="0" rtlCol="0" anchor="ctr">
            <a:spAutoFit/>
          </a:bodyPr>
          <a:lstStyle/>
          <a:p>
            <a:pPr marL="11516">
              <a:lnSpc>
                <a:spcPct val="100000"/>
              </a:lnSpc>
              <a:spcBef>
                <a:spcPts val="86"/>
              </a:spcBef>
            </a:pPr>
            <a:r>
              <a:rPr b="1" i="1" spc="-5" dirty="0">
                <a:latin typeface="Times New Roman"/>
                <a:cs typeface="Times New Roman"/>
              </a:rPr>
              <a:t>Example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111348" y="1916360"/>
            <a:ext cx="10339754" cy="1017930"/>
          </a:xfrm>
          <a:prstGeom prst="rect">
            <a:avLst/>
          </a:prstGeom>
        </p:spPr>
        <p:txBody>
          <a:bodyPr vert="horz" wrap="square" lIns="0" tIns="11516" rIns="0" bIns="0" rtlCol="0">
            <a:spAutoFit/>
          </a:bodyPr>
          <a:lstStyle/>
          <a:p>
            <a:pPr marL="11516" marR="4607" lvl="0" indent="0" algn="just" defTabSz="457200" rtl="0" eaLnBrk="1" fontAlgn="auto" latinLnBrk="0" hangingPunct="1">
              <a:lnSpc>
                <a:spcPct val="100000"/>
              </a:lnSpc>
              <a:spcBef>
                <a:spcPts val="9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1. </a:t>
            </a:r>
            <a:r>
              <a:rPr kumimoji="0" sz="20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 </a:t>
            </a:r>
            <a:r>
              <a:rPr kumimoji="0" sz="2000" b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block of addresses is granted to </a:t>
            </a:r>
            <a:r>
              <a:rPr kumimoji="0" sz="20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 </a:t>
            </a:r>
            <a:r>
              <a:rPr kumimoji="0" sz="2000" b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small organization.  </a:t>
            </a:r>
            <a:r>
              <a:rPr kumimoji="0" sz="2000" b="1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We </a:t>
            </a:r>
            <a:r>
              <a:rPr kumimoji="0" sz="2000" b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know that one of the addresses is</a:t>
            </a:r>
            <a:r>
              <a:rPr kumimoji="0" lang="en-IN" sz="2000" b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000" b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205.16.37.39/28.  </a:t>
            </a:r>
            <a:r>
              <a:rPr kumimoji="0" sz="20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What is the first address in the</a:t>
            </a:r>
            <a:r>
              <a:rPr kumimoji="0" sz="2000" b="1" u="none" strike="noStrike" kern="1200" cap="none" spc="-10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0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block?</a:t>
            </a:r>
          </a:p>
          <a:p>
            <a:pPr marL="11516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539" b="1" i="1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84568" y="1176355"/>
            <a:ext cx="2112103" cy="503490"/>
          </a:xfrm>
          <a:prstGeom prst="rect">
            <a:avLst/>
          </a:prstGeom>
        </p:spPr>
        <p:txBody>
          <a:bodyPr vert="horz" wrap="square" lIns="0" tIns="10941" rIns="0" bIns="0" rtlCol="0" anchor="ctr">
            <a:spAutoFit/>
          </a:bodyPr>
          <a:lstStyle/>
          <a:p>
            <a:pPr marL="11516">
              <a:lnSpc>
                <a:spcPct val="100000"/>
              </a:lnSpc>
              <a:spcBef>
                <a:spcPts val="86"/>
              </a:spcBef>
            </a:pPr>
            <a:r>
              <a:rPr lang="en-IN" b="1" i="1" spc="-5" dirty="0">
                <a:latin typeface="Times New Roman"/>
                <a:cs typeface="Times New Roman"/>
              </a:rPr>
              <a:t>Solution</a:t>
            </a:r>
            <a:endParaRPr b="1" i="1" spc="-5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23875" y="2040185"/>
            <a:ext cx="10927227" cy="2708136"/>
          </a:xfrm>
          <a:prstGeom prst="rect">
            <a:avLst/>
          </a:prstGeom>
        </p:spPr>
        <p:txBody>
          <a:bodyPr vert="horz" wrap="square" lIns="0" tIns="11516" rIns="0" bIns="0" rtlCol="0">
            <a:spAutoFit/>
          </a:bodyPr>
          <a:lstStyle/>
          <a:p>
            <a:pPr marL="11516" marR="4607" lvl="0" indent="0" algn="just" defTabSz="457200" rtl="0" eaLnBrk="1" fontAlgn="auto" latinLnBrk="0" hangingPunct="1">
              <a:lnSpc>
                <a:spcPct val="100000"/>
              </a:lnSpc>
              <a:spcBef>
                <a:spcPts val="9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 </a:t>
            </a:r>
            <a:r>
              <a:rPr kumimoji="0" sz="2000" b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block of addresses is granted to </a:t>
            </a:r>
            <a:r>
              <a:rPr kumimoji="0" sz="20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 </a:t>
            </a:r>
            <a:r>
              <a:rPr kumimoji="0" sz="2000" b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small organization.  </a:t>
            </a:r>
            <a:r>
              <a:rPr kumimoji="0" sz="2000" b="1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We </a:t>
            </a:r>
            <a:r>
              <a:rPr kumimoji="0" sz="2000" b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know that one of the addresses is</a:t>
            </a:r>
            <a:r>
              <a:rPr kumimoji="0" lang="en-IN" sz="2000" b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000" b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205.16.37.39/28.  </a:t>
            </a:r>
            <a:r>
              <a:rPr kumimoji="0" sz="20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What is the first address in the</a:t>
            </a:r>
            <a:r>
              <a:rPr kumimoji="0" sz="2000" b="1" u="none" strike="noStrike" kern="1200" cap="none" spc="-10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0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block?</a:t>
            </a:r>
            <a:endParaRPr kumimoji="0" lang="en-IN" sz="2000" b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11516" marR="4607" lvl="0" indent="0" algn="just" defTabSz="457200" rtl="0" eaLnBrk="1" fontAlgn="auto" latinLnBrk="0" hangingPunct="1">
              <a:lnSpc>
                <a:spcPct val="100000"/>
              </a:lnSpc>
              <a:spcBef>
                <a:spcPts val="9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900" b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11516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539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Solution</a:t>
            </a:r>
            <a:endParaRPr kumimoji="0" sz="253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958161" marR="952979" lvl="0" indent="-946645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53560" algn="l"/>
                <a:tab pos="3985236" algn="l"/>
                <a:tab pos="5516336" algn="l"/>
              </a:tabLst>
              <a:defRPr/>
            </a:pPr>
            <a:r>
              <a:rPr kumimoji="0" sz="200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cs typeface="Times New Roman"/>
              </a:rPr>
              <a:t>The </a:t>
            </a:r>
            <a:r>
              <a:rPr kumimoji="0" sz="200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cs typeface="Times New Roman"/>
              </a:rPr>
              <a:t>binary </a:t>
            </a:r>
            <a:r>
              <a:rPr kumimoji="0" sz="200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cs typeface="Times New Roman"/>
              </a:rPr>
              <a:t>representation </a:t>
            </a:r>
            <a:r>
              <a:rPr kumimoji="0" sz="200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cs typeface="Times New Roman"/>
              </a:rPr>
              <a:t>of the </a:t>
            </a:r>
            <a:r>
              <a:rPr kumimoji="0" sz="200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cs typeface="Times New Roman"/>
              </a:rPr>
              <a:t>given address </a:t>
            </a:r>
            <a:r>
              <a:rPr kumimoji="0" sz="200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cs typeface="Times New Roman"/>
              </a:rPr>
              <a:t>is  </a:t>
            </a:r>
            <a:endParaRPr kumimoji="0" lang="en-IN" sz="200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958161" marR="952979" lvl="0" indent="-946645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53560" algn="l"/>
                <a:tab pos="3985236" algn="l"/>
                <a:tab pos="5516336" algn="l"/>
              </a:tabLst>
              <a:defRPr/>
            </a:pPr>
            <a:r>
              <a:rPr kumimoji="0" lang="en-IN" sz="2000" i="1" u="none" strike="noStrike" kern="1200" cap="none" spc="-141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/>
                <a:cs typeface="Times New Roman"/>
              </a:rPr>
              <a:t>                  </a:t>
            </a:r>
            <a:r>
              <a:rPr kumimoji="0" sz="2000" i="1" u="none" strike="noStrike" kern="1200" cap="none" spc="-141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/>
                <a:cs typeface="Times New Roman"/>
              </a:rPr>
              <a:t>1</a:t>
            </a:r>
            <a:r>
              <a:rPr kumimoji="0" sz="2000" i="1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/>
                <a:cs typeface="Times New Roman"/>
              </a:rPr>
              <a:t>100</a:t>
            </a:r>
            <a:r>
              <a:rPr kumimoji="0" sz="2000" i="1" u="none" strike="noStrike" kern="1200" cap="none" spc="-141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/>
                <a:cs typeface="Times New Roman"/>
              </a:rPr>
              <a:t>1</a:t>
            </a:r>
            <a:r>
              <a:rPr kumimoji="0" sz="2000" i="1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/>
                <a:cs typeface="Times New Roman"/>
              </a:rPr>
              <a:t>101</a:t>
            </a:r>
            <a:r>
              <a:rPr lang="en-IN" sz="2000" i="1" dirty="0">
                <a:solidFill>
                  <a:srgbClr val="3333CC"/>
                </a:solidFill>
                <a:latin typeface="Times New Roman"/>
                <a:cs typeface="Times New Roman"/>
              </a:rPr>
              <a:t>    </a:t>
            </a:r>
            <a:r>
              <a:rPr kumimoji="0" sz="2000" i="1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/>
                <a:cs typeface="Times New Roman"/>
              </a:rPr>
              <a:t>00010000</a:t>
            </a:r>
            <a:r>
              <a:rPr kumimoji="0" lang="en-IN" sz="2000" i="1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/>
                <a:cs typeface="Times New Roman"/>
              </a:rPr>
              <a:t>    </a:t>
            </a:r>
            <a:r>
              <a:rPr kumimoji="0" sz="2000" i="1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/>
                <a:cs typeface="Times New Roman"/>
              </a:rPr>
              <a:t>00100101</a:t>
            </a:r>
            <a:r>
              <a:rPr lang="en-IN" sz="2000" i="1" dirty="0">
                <a:solidFill>
                  <a:srgbClr val="3333CC"/>
                </a:solidFill>
                <a:latin typeface="Times New Roman"/>
                <a:cs typeface="Times New Roman"/>
              </a:rPr>
              <a:t>    </a:t>
            </a:r>
            <a:r>
              <a:rPr kumimoji="0" sz="2000" i="1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/>
                <a:cs typeface="Times New Roman"/>
              </a:rPr>
              <a:t>00100</a:t>
            </a:r>
            <a:r>
              <a:rPr kumimoji="0" sz="2000" i="1" u="none" strike="noStrike" kern="1200" cap="none" spc="-141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/>
                <a:cs typeface="Times New Roman"/>
              </a:rPr>
              <a:t>1</a:t>
            </a:r>
            <a:r>
              <a:rPr kumimoji="0" sz="2000" i="1" u="none" strike="noStrike" kern="1200" cap="none" spc="-145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/>
                <a:cs typeface="Times New Roman"/>
              </a:rPr>
              <a:t>1</a:t>
            </a:r>
            <a:r>
              <a:rPr kumimoji="0" sz="2000" i="1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/>
                <a:cs typeface="Times New Roman"/>
              </a:rPr>
              <a:t>1</a:t>
            </a:r>
            <a:endParaRPr kumimoji="0" lang="en-IN" sz="2000" i="1" u="none" strike="noStrike" kern="120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958161" marR="952979" lvl="0" indent="-946645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53560" algn="l"/>
                <a:tab pos="3985236" algn="l"/>
                <a:tab pos="5516336" algn="l"/>
              </a:tabLst>
              <a:defRPr/>
            </a:pP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940887" marR="935128" lvl="0" indent="-929946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516900" algn="l"/>
                <a:tab pos="4128039" algn="l"/>
                <a:tab pos="5659715" algn="l"/>
              </a:tabLst>
              <a:defRPr/>
            </a:pPr>
            <a:r>
              <a:rPr kumimoji="0" lang="en-I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cs typeface="Times New Roman"/>
              </a:rPr>
              <a:t>Method 1: </a:t>
            </a:r>
            <a:r>
              <a:rPr kumimoji="0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cs typeface="Times New Roman"/>
              </a:rPr>
              <a:t>If </a:t>
            </a:r>
            <a:r>
              <a:rPr kumimoji="0" sz="2000" b="1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cs typeface="Times New Roman"/>
              </a:rPr>
              <a:t>we set </a:t>
            </a:r>
            <a:r>
              <a:rPr kumimoji="0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cs typeface="Times New Roman"/>
              </a:rPr>
              <a:t>32−28 rightmost bits to 0, </a:t>
            </a:r>
            <a:r>
              <a:rPr kumimoji="0" sz="2000" b="1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cs typeface="Times New Roman"/>
              </a:rPr>
              <a:t>we get  </a:t>
            </a:r>
            <a:r>
              <a:rPr kumimoji="0" lang="en-IN" sz="2000" b="1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cs typeface="Times New Roman"/>
              </a:rPr>
              <a:t>the first address.</a:t>
            </a:r>
            <a:endParaRPr kumimoji="0" lang="en-IN" sz="2000" b="1" i="1" u="none" strike="noStrike" kern="1200" cap="none" spc="-141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940887" marR="935128" lvl="0" indent="-929946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516900" algn="l"/>
                <a:tab pos="4128039" algn="l"/>
                <a:tab pos="5659715" algn="l"/>
              </a:tabLst>
              <a:defRPr/>
            </a:pPr>
            <a:r>
              <a:rPr kumimoji="0" lang="en-IN" sz="2000" i="1" u="none" strike="noStrike" kern="1200" cap="none" spc="-141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/>
                <a:cs typeface="Times New Roman"/>
              </a:rPr>
              <a:t>                  1</a:t>
            </a:r>
            <a:r>
              <a:rPr kumimoji="0" sz="2000" i="1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/>
                <a:cs typeface="Times New Roman"/>
              </a:rPr>
              <a:t>100</a:t>
            </a:r>
            <a:r>
              <a:rPr kumimoji="0" sz="2000" i="1" u="none" strike="noStrike" kern="1200" cap="none" spc="-141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/>
                <a:cs typeface="Times New Roman"/>
              </a:rPr>
              <a:t>1</a:t>
            </a:r>
            <a:r>
              <a:rPr kumimoji="0" sz="2000" i="1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/>
                <a:cs typeface="Times New Roman"/>
              </a:rPr>
              <a:t>101</a:t>
            </a:r>
            <a:r>
              <a:rPr kumimoji="0" lang="en-IN" sz="2000" i="1" u="none" strike="noStrike" kern="1200" cap="none" spc="0" normalizeH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/>
                <a:cs typeface="Times New Roman"/>
              </a:rPr>
              <a:t>    </a:t>
            </a:r>
            <a:r>
              <a:rPr kumimoji="0" sz="2000" i="1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/>
                <a:cs typeface="Times New Roman"/>
              </a:rPr>
              <a:t>00010000</a:t>
            </a:r>
            <a:r>
              <a:rPr kumimoji="0" lang="en-IN" sz="2000" i="1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/>
                <a:cs typeface="Times New Roman"/>
              </a:rPr>
              <a:t>    </a:t>
            </a:r>
            <a:r>
              <a:rPr kumimoji="0" sz="2000" i="1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/>
                <a:cs typeface="Times New Roman"/>
              </a:rPr>
              <a:t>00100101</a:t>
            </a:r>
            <a:r>
              <a:rPr lang="en-IN" sz="2000" i="1" dirty="0">
                <a:solidFill>
                  <a:srgbClr val="3333CC"/>
                </a:solidFill>
                <a:latin typeface="Times New Roman"/>
                <a:cs typeface="Times New Roman"/>
              </a:rPr>
              <a:t>    </a:t>
            </a:r>
            <a:r>
              <a:rPr kumimoji="0" sz="2000" i="1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/>
                <a:cs typeface="Times New Roman"/>
              </a:rPr>
              <a:t>0010000</a:t>
            </a:r>
            <a:r>
              <a:rPr lang="en-IN" sz="2000" i="1" dirty="0">
                <a:solidFill>
                  <a:srgbClr val="3333CC"/>
                </a:solidFill>
                <a:latin typeface="Times New Roman"/>
                <a:cs typeface="Times New Roman"/>
              </a:rPr>
              <a:t>0       </a:t>
            </a:r>
            <a:r>
              <a:rPr kumimoji="0" sz="200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cs typeface="Times New Roman"/>
              </a:rPr>
              <a:t>or</a:t>
            </a:r>
            <a:r>
              <a:rPr kumimoji="0" lang="en-IN" sz="200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cs typeface="Times New Roman"/>
              </a:rPr>
              <a:t>      </a:t>
            </a:r>
            <a:r>
              <a:rPr kumimoji="0" sz="200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cs typeface="Times New Roman"/>
              </a:rPr>
              <a:t>  </a:t>
            </a:r>
            <a:r>
              <a:rPr kumimoji="0" sz="2000" i="1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/>
                <a:cs typeface="Times New Roman"/>
              </a:rPr>
              <a:t>205.16.37.3</a:t>
            </a:r>
            <a:r>
              <a:rPr kumimoji="0" sz="2000" i="1" u="none" strike="noStrike" kern="1200" cap="none" spc="-5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/>
                <a:cs typeface="Times New Roman"/>
              </a:rPr>
              <a:t>2</a:t>
            </a:r>
            <a:r>
              <a:rPr kumimoji="0" sz="200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cs typeface="Times New Roman"/>
              </a:rPr>
              <a:t>.</a:t>
            </a:r>
            <a:endParaRPr kumimoji="0" sz="20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652953" y="5017159"/>
            <a:ext cx="5284763" cy="18036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32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grpSp>
        <p:nvGrpSpPr>
          <p:cNvPr id="5" name="object 10"/>
          <p:cNvGrpSpPr/>
          <p:nvPr/>
        </p:nvGrpSpPr>
        <p:grpSpPr>
          <a:xfrm>
            <a:off x="523875" y="5629866"/>
            <a:ext cx="5841998" cy="993366"/>
            <a:chOff x="1446530" y="4149864"/>
            <a:chExt cx="8148713" cy="1437894"/>
          </a:xfrm>
        </p:grpSpPr>
        <p:sp>
          <p:nvSpPr>
            <p:cNvPr id="7" name="object 12"/>
            <p:cNvSpPr/>
            <p:nvPr/>
          </p:nvSpPr>
          <p:spPr>
            <a:xfrm>
              <a:off x="1505597" y="4208526"/>
              <a:ext cx="8032242" cy="42671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632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9" name="object 13"/>
            <p:cNvSpPr/>
            <p:nvPr/>
          </p:nvSpPr>
          <p:spPr>
            <a:xfrm>
              <a:off x="1446530" y="4149864"/>
              <a:ext cx="8148320" cy="485775"/>
            </a:xfrm>
            <a:custGeom>
              <a:avLst/>
              <a:gdLst/>
              <a:ahLst/>
              <a:cxnLst/>
              <a:rect l="l" t="t" r="r" b="b"/>
              <a:pathLst>
                <a:path w="8148320" h="485775">
                  <a:moveTo>
                    <a:pt x="8102600" y="45720"/>
                  </a:moveTo>
                  <a:lnTo>
                    <a:pt x="8091170" y="45720"/>
                  </a:lnTo>
                  <a:lnTo>
                    <a:pt x="57150" y="45720"/>
                  </a:lnTo>
                  <a:lnTo>
                    <a:pt x="45720" y="45720"/>
                  </a:lnTo>
                  <a:lnTo>
                    <a:pt x="45720" y="485394"/>
                  </a:lnTo>
                  <a:lnTo>
                    <a:pt x="57150" y="485394"/>
                  </a:lnTo>
                  <a:lnTo>
                    <a:pt x="57150" y="57150"/>
                  </a:lnTo>
                  <a:lnTo>
                    <a:pt x="8091170" y="57150"/>
                  </a:lnTo>
                  <a:lnTo>
                    <a:pt x="8091170" y="485394"/>
                  </a:lnTo>
                  <a:lnTo>
                    <a:pt x="8102600" y="485394"/>
                  </a:lnTo>
                  <a:lnTo>
                    <a:pt x="8102600" y="45720"/>
                  </a:lnTo>
                  <a:close/>
                </a:path>
                <a:path w="8148320" h="485775">
                  <a:moveTo>
                    <a:pt x="8148320" y="0"/>
                  </a:moveTo>
                  <a:lnTo>
                    <a:pt x="8114030" y="0"/>
                  </a:lnTo>
                  <a:lnTo>
                    <a:pt x="34290" y="0"/>
                  </a:lnTo>
                  <a:lnTo>
                    <a:pt x="0" y="0"/>
                  </a:lnTo>
                  <a:lnTo>
                    <a:pt x="0" y="485394"/>
                  </a:lnTo>
                  <a:lnTo>
                    <a:pt x="34290" y="485394"/>
                  </a:lnTo>
                  <a:lnTo>
                    <a:pt x="34290" y="34290"/>
                  </a:lnTo>
                  <a:lnTo>
                    <a:pt x="8114030" y="34290"/>
                  </a:lnTo>
                  <a:lnTo>
                    <a:pt x="8114030" y="485394"/>
                  </a:lnTo>
                  <a:lnTo>
                    <a:pt x="8148320" y="485394"/>
                  </a:lnTo>
                  <a:lnTo>
                    <a:pt x="8148320" y="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632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10" name="object 14"/>
            <p:cNvSpPr/>
            <p:nvPr/>
          </p:nvSpPr>
          <p:spPr>
            <a:xfrm>
              <a:off x="1505597" y="4635246"/>
              <a:ext cx="8032242" cy="85724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632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11" name="object 15"/>
            <p:cNvSpPr/>
            <p:nvPr/>
          </p:nvSpPr>
          <p:spPr>
            <a:xfrm>
              <a:off x="1446923" y="4635258"/>
              <a:ext cx="8148320" cy="906780"/>
            </a:xfrm>
            <a:custGeom>
              <a:avLst/>
              <a:gdLst/>
              <a:ahLst/>
              <a:cxnLst/>
              <a:rect l="l" t="t" r="r" b="b"/>
              <a:pathLst>
                <a:path w="8148320" h="906779">
                  <a:moveTo>
                    <a:pt x="34290" y="0"/>
                  </a:moveTo>
                  <a:lnTo>
                    <a:pt x="0" y="0"/>
                  </a:lnTo>
                  <a:lnTo>
                    <a:pt x="0" y="857250"/>
                  </a:lnTo>
                  <a:lnTo>
                    <a:pt x="34290" y="857250"/>
                  </a:lnTo>
                  <a:lnTo>
                    <a:pt x="34290" y="0"/>
                  </a:lnTo>
                  <a:close/>
                </a:path>
                <a:path w="8148320" h="906779">
                  <a:moveTo>
                    <a:pt x="57150" y="0"/>
                  </a:moveTo>
                  <a:lnTo>
                    <a:pt x="45326" y="0"/>
                  </a:lnTo>
                  <a:lnTo>
                    <a:pt x="45326" y="906780"/>
                  </a:lnTo>
                  <a:lnTo>
                    <a:pt x="57150" y="906780"/>
                  </a:lnTo>
                  <a:lnTo>
                    <a:pt x="57150" y="0"/>
                  </a:lnTo>
                  <a:close/>
                </a:path>
                <a:path w="8148320" h="906779">
                  <a:moveTo>
                    <a:pt x="8102346" y="0"/>
                  </a:moveTo>
                  <a:lnTo>
                    <a:pt x="8090776" y="0"/>
                  </a:lnTo>
                  <a:lnTo>
                    <a:pt x="8090776" y="906780"/>
                  </a:lnTo>
                  <a:lnTo>
                    <a:pt x="8102346" y="906780"/>
                  </a:lnTo>
                  <a:lnTo>
                    <a:pt x="8102346" y="0"/>
                  </a:lnTo>
                  <a:close/>
                </a:path>
                <a:path w="8148320" h="906779">
                  <a:moveTo>
                    <a:pt x="8148066" y="0"/>
                  </a:moveTo>
                  <a:lnTo>
                    <a:pt x="8113763" y="0"/>
                  </a:lnTo>
                  <a:lnTo>
                    <a:pt x="8113763" y="857250"/>
                  </a:lnTo>
                  <a:lnTo>
                    <a:pt x="8148066" y="857250"/>
                  </a:lnTo>
                  <a:lnTo>
                    <a:pt x="8148066" y="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632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12" name="object 16"/>
            <p:cNvSpPr/>
            <p:nvPr/>
          </p:nvSpPr>
          <p:spPr>
            <a:xfrm>
              <a:off x="1505597" y="5492496"/>
              <a:ext cx="8032242" cy="3810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632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13" name="object 17"/>
            <p:cNvSpPr/>
            <p:nvPr/>
          </p:nvSpPr>
          <p:spPr>
            <a:xfrm>
              <a:off x="1446530" y="5492508"/>
              <a:ext cx="8148320" cy="95250"/>
            </a:xfrm>
            <a:custGeom>
              <a:avLst/>
              <a:gdLst/>
              <a:ahLst/>
              <a:cxnLst/>
              <a:rect l="l" t="t" r="r" b="b"/>
              <a:pathLst>
                <a:path w="8148320" h="95250">
                  <a:moveTo>
                    <a:pt x="8091170" y="38100"/>
                  </a:moveTo>
                  <a:lnTo>
                    <a:pt x="57150" y="38100"/>
                  </a:lnTo>
                  <a:lnTo>
                    <a:pt x="57150" y="49530"/>
                  </a:lnTo>
                  <a:lnTo>
                    <a:pt x="8091170" y="49530"/>
                  </a:lnTo>
                  <a:lnTo>
                    <a:pt x="8091170" y="38100"/>
                  </a:lnTo>
                  <a:close/>
                </a:path>
                <a:path w="8148320" h="95250">
                  <a:moveTo>
                    <a:pt x="8148320" y="0"/>
                  </a:moveTo>
                  <a:lnTo>
                    <a:pt x="8114030" y="0"/>
                  </a:lnTo>
                  <a:lnTo>
                    <a:pt x="8114030" y="60960"/>
                  </a:lnTo>
                  <a:lnTo>
                    <a:pt x="34290" y="60960"/>
                  </a:lnTo>
                  <a:lnTo>
                    <a:pt x="34290" y="0"/>
                  </a:lnTo>
                  <a:lnTo>
                    <a:pt x="0" y="0"/>
                  </a:lnTo>
                  <a:lnTo>
                    <a:pt x="0" y="95250"/>
                  </a:lnTo>
                  <a:lnTo>
                    <a:pt x="34290" y="95250"/>
                  </a:lnTo>
                  <a:lnTo>
                    <a:pt x="8114030" y="95250"/>
                  </a:lnTo>
                  <a:lnTo>
                    <a:pt x="8148320" y="95250"/>
                  </a:lnTo>
                  <a:lnTo>
                    <a:pt x="8148320" y="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632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6B17E671-BDDD-2659-F5B5-97E7B2ACB33E}"/>
              </a:ext>
            </a:extLst>
          </p:cNvPr>
          <p:cNvSpPr txBox="1"/>
          <p:nvPr/>
        </p:nvSpPr>
        <p:spPr>
          <a:xfrm>
            <a:off x="441699" y="5235519"/>
            <a:ext cx="43609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 2: AND(IP address, Network Mask)</a:t>
            </a:r>
          </a:p>
        </p:txBody>
      </p:sp>
    </p:spTree>
    <p:extLst>
      <p:ext uri="{BB962C8B-B14F-4D97-AF65-F5344CB8AC3E}">
        <p14:creationId xmlns:p14="http://schemas.microsoft.com/office/powerpoint/2010/main" val="49324714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43314" y="1204917"/>
            <a:ext cx="2112103" cy="503490"/>
          </a:xfrm>
          <a:prstGeom prst="rect">
            <a:avLst/>
          </a:prstGeom>
        </p:spPr>
        <p:txBody>
          <a:bodyPr vert="horz" wrap="square" lIns="0" tIns="10941" rIns="0" bIns="0" rtlCol="0" anchor="ctr">
            <a:spAutoFit/>
          </a:bodyPr>
          <a:lstStyle/>
          <a:p>
            <a:pPr marL="11516">
              <a:lnSpc>
                <a:spcPct val="100000"/>
              </a:lnSpc>
              <a:spcBef>
                <a:spcPts val="86"/>
              </a:spcBef>
            </a:pPr>
            <a:r>
              <a:rPr b="1" i="1" spc="-5" dirty="0">
                <a:latin typeface="Times New Roman"/>
                <a:cs typeface="Times New Roman"/>
              </a:rPr>
              <a:t>Example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443149" y="1927108"/>
            <a:ext cx="8087054" cy="319405"/>
          </a:xfrm>
          <a:prstGeom prst="rect">
            <a:avLst/>
          </a:prstGeom>
        </p:spPr>
        <p:txBody>
          <a:bodyPr vert="horz" wrap="square" lIns="0" tIns="11516" rIns="0" bIns="0" rtlCol="0">
            <a:spAutoFit/>
          </a:bodyPr>
          <a:lstStyle/>
          <a:p>
            <a:pPr marL="11516" marR="0" lvl="0" indent="0" algn="l" defTabSz="4572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tabLst/>
              <a:defRPr/>
            </a:pPr>
            <a:r>
              <a:rPr kumimoji="0" lang="en-I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2. </a:t>
            </a:r>
            <a:r>
              <a:rPr kumimoji="0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Find the last address for the block</a:t>
            </a:r>
            <a:endParaRPr kumimoji="0" sz="263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43314" y="1204917"/>
            <a:ext cx="2112103" cy="503490"/>
          </a:xfrm>
          <a:prstGeom prst="rect">
            <a:avLst/>
          </a:prstGeom>
        </p:spPr>
        <p:txBody>
          <a:bodyPr vert="horz" wrap="square" lIns="0" tIns="10941" rIns="0" bIns="0" rtlCol="0" anchor="ctr">
            <a:spAutoFit/>
          </a:bodyPr>
          <a:lstStyle/>
          <a:p>
            <a:pPr marL="11516">
              <a:lnSpc>
                <a:spcPct val="100000"/>
              </a:lnSpc>
              <a:spcBef>
                <a:spcPts val="86"/>
              </a:spcBef>
            </a:pPr>
            <a:r>
              <a:rPr lang="en-IN" b="1" i="1" spc="-5" dirty="0">
                <a:latin typeface="Times New Roman"/>
                <a:cs typeface="Times New Roman"/>
              </a:rPr>
              <a:t>Solution</a:t>
            </a:r>
            <a:endParaRPr b="1" i="1" spc="-5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1386" y="1930731"/>
            <a:ext cx="11274814" cy="2464479"/>
          </a:xfrm>
          <a:prstGeom prst="rect">
            <a:avLst/>
          </a:prstGeom>
        </p:spPr>
        <p:txBody>
          <a:bodyPr vert="horz" wrap="square" lIns="0" tIns="11516" rIns="0" bIns="0" rtlCol="0">
            <a:spAutoFit/>
          </a:bodyPr>
          <a:lstStyle/>
          <a:p>
            <a:pPr marL="11516" marR="0" lvl="0" indent="0" algn="l" defTabSz="4572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tabLst/>
              <a:defRPr/>
            </a:pPr>
            <a:r>
              <a:rPr kumimoji="0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Find the last address for the block</a:t>
            </a:r>
            <a:r>
              <a:rPr kumimoji="0" lang="en-I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.</a:t>
            </a:r>
          </a:p>
          <a:p>
            <a:pPr marL="11516" marR="0" lvl="0" indent="0" algn="l" defTabSz="4572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tabLst/>
              <a:defRPr/>
            </a:pPr>
            <a:endParaRPr kumimoji="0" lang="en-IN" sz="1400" b="1" i="1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11516" marR="0" lvl="0" indent="0" algn="l" defTabSz="4572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tabLst/>
              <a:defRPr/>
            </a:pPr>
            <a:r>
              <a:rPr kumimoji="0" sz="2539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Solution</a:t>
            </a:r>
            <a:endParaRPr kumimoji="0" sz="253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837239" marR="4607" lvl="0" indent="-826299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13253" algn="l"/>
                <a:tab pos="4024392" algn="l"/>
                <a:tab pos="5636682" algn="l"/>
              </a:tabLst>
              <a:defRPr/>
            </a:pPr>
            <a:r>
              <a:rPr kumimoji="0" sz="200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The binary representation </a:t>
            </a:r>
            <a:r>
              <a:rPr kumimoji="0" sz="200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of the </a:t>
            </a:r>
            <a:r>
              <a:rPr kumimoji="0" sz="200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given address </a:t>
            </a:r>
            <a:r>
              <a:rPr kumimoji="0" sz="200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is  </a:t>
            </a:r>
            <a:endParaRPr kumimoji="0" lang="en-IN" sz="200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837239" marR="4607" lvl="0" indent="-826299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13253" algn="l"/>
                <a:tab pos="4024392" algn="l"/>
                <a:tab pos="5636682" algn="l"/>
              </a:tabLst>
              <a:defRPr/>
            </a:pPr>
            <a:r>
              <a:rPr lang="en-IN" sz="2000" i="1" dirty="0">
                <a:solidFill>
                  <a:prstClr val="black"/>
                </a:solidFill>
                <a:latin typeface="Times New Roman"/>
                <a:cs typeface="Times New Roman"/>
              </a:rPr>
              <a:t>                   </a:t>
            </a:r>
            <a:r>
              <a:rPr kumimoji="0" sz="2000" u="none" strike="noStrike" kern="1200" cap="none" spc="-141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/>
                <a:cs typeface="Times New Roman"/>
              </a:rPr>
              <a:t>1</a:t>
            </a:r>
            <a:r>
              <a:rPr kumimoji="0" sz="200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/>
                <a:cs typeface="Times New Roman"/>
              </a:rPr>
              <a:t>100</a:t>
            </a:r>
            <a:r>
              <a:rPr kumimoji="0" sz="2000" u="none" strike="noStrike" kern="1200" cap="none" spc="-141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/>
                <a:cs typeface="Times New Roman"/>
              </a:rPr>
              <a:t>1</a:t>
            </a:r>
            <a:r>
              <a:rPr kumimoji="0" sz="200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/>
                <a:cs typeface="Times New Roman"/>
              </a:rPr>
              <a:t>101</a:t>
            </a:r>
            <a:r>
              <a:rPr lang="en-IN" sz="2000" dirty="0">
                <a:solidFill>
                  <a:srgbClr val="3333CC"/>
                </a:solidFill>
                <a:latin typeface="Times New Roman"/>
                <a:cs typeface="Times New Roman"/>
              </a:rPr>
              <a:t>    </a:t>
            </a:r>
            <a:r>
              <a:rPr kumimoji="0" sz="200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/>
                <a:cs typeface="Times New Roman"/>
              </a:rPr>
              <a:t>00010000</a:t>
            </a:r>
            <a:r>
              <a:rPr lang="en-IN" sz="2000" dirty="0">
                <a:solidFill>
                  <a:srgbClr val="3333CC"/>
                </a:solidFill>
                <a:latin typeface="Times New Roman"/>
                <a:cs typeface="Times New Roman"/>
              </a:rPr>
              <a:t>    </a:t>
            </a:r>
            <a:r>
              <a:rPr kumimoji="0" sz="200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/>
                <a:cs typeface="Times New Roman"/>
              </a:rPr>
              <a:t>00100101</a:t>
            </a:r>
            <a:r>
              <a:rPr lang="en-IN" sz="2000" dirty="0">
                <a:solidFill>
                  <a:srgbClr val="3333CC"/>
                </a:solidFill>
                <a:latin typeface="Times New Roman"/>
                <a:cs typeface="Times New Roman"/>
              </a:rPr>
              <a:t>    </a:t>
            </a:r>
            <a:r>
              <a:rPr kumimoji="0" sz="200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/>
                <a:cs typeface="Times New Roman"/>
              </a:rPr>
              <a:t>00100</a:t>
            </a:r>
            <a:r>
              <a:rPr kumimoji="0" sz="2000" u="none" strike="noStrike" kern="1200" cap="none" spc="-141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/>
                <a:cs typeface="Times New Roman"/>
              </a:rPr>
              <a:t>1</a:t>
            </a:r>
            <a:r>
              <a:rPr kumimoji="0" sz="2000" u="none" strike="noStrike" kern="1200" cap="none" spc="-145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/>
                <a:cs typeface="Times New Roman"/>
              </a:rPr>
              <a:t>1</a:t>
            </a:r>
            <a:r>
              <a:rPr kumimoji="0" sz="200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/>
                <a:cs typeface="Times New Roman"/>
              </a:rPr>
              <a:t>1</a:t>
            </a:r>
            <a:endParaRPr kumimoji="0" lang="en-IN" sz="2000" u="none" strike="noStrike" kern="120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837239" marR="4607" lvl="0" indent="-826299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13253" algn="l"/>
                <a:tab pos="4024392" algn="l"/>
                <a:tab pos="5636682" algn="l"/>
              </a:tabLst>
              <a:defRPr/>
            </a:pPr>
            <a:endParaRPr kumimoji="0" sz="2000" b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1208642" marR="390980" lvl="0" indent="-1197701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Method 1: </a:t>
            </a:r>
            <a:r>
              <a:rPr kumimoji="0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If </a:t>
            </a:r>
            <a:r>
              <a:rPr kumimoji="0" sz="2000" b="1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we set </a:t>
            </a:r>
            <a:r>
              <a:rPr kumimoji="0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32 − 28 </a:t>
            </a:r>
            <a:r>
              <a:rPr kumimoji="0" sz="2000" b="1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rightmost </a:t>
            </a:r>
            <a:r>
              <a:rPr kumimoji="0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bits to 1, </a:t>
            </a:r>
            <a:r>
              <a:rPr kumimoji="0" sz="2000" b="1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we get </a:t>
            </a:r>
            <a:r>
              <a:rPr kumimoji="0" lang="en-IN" sz="2000" b="1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the last address.</a:t>
            </a:r>
            <a:r>
              <a:rPr kumimoji="0" sz="2000" b="1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endParaRPr kumimoji="0" lang="en-IN" sz="2000" b="1" i="1" u="none" strike="noStrike" kern="1200" cap="none" spc="-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1208642" marR="390980" lvl="0" indent="-1197701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2000" b="1" i="1" spc="-5" dirty="0">
                <a:solidFill>
                  <a:prstClr val="black"/>
                </a:solidFill>
                <a:latin typeface="Times New Roman"/>
                <a:cs typeface="Times New Roman"/>
              </a:rPr>
              <a:t>                   </a:t>
            </a:r>
            <a:r>
              <a:rPr kumimoji="0" sz="2000" u="none" strike="noStrike" kern="1200" cap="none" spc="-36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/>
                <a:cs typeface="Times New Roman"/>
              </a:rPr>
              <a:t>11001101</a:t>
            </a:r>
            <a:r>
              <a:rPr kumimoji="0" lang="en-IN" sz="2000" u="none" strike="noStrike" kern="1200" cap="none" spc="-36" normalizeH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/>
                <a:cs typeface="Times New Roman"/>
              </a:rPr>
              <a:t>    </a:t>
            </a:r>
            <a:r>
              <a:rPr kumimoji="0" sz="200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/>
                <a:cs typeface="Times New Roman"/>
              </a:rPr>
              <a:t>00010000</a:t>
            </a:r>
            <a:r>
              <a:rPr kumimoji="0" lang="en-IN" sz="2000" u="none" strike="noStrike" kern="1200" cap="none" spc="0" normalizeH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/>
                <a:cs typeface="Times New Roman"/>
              </a:rPr>
              <a:t>    </a:t>
            </a:r>
            <a:r>
              <a:rPr kumimoji="0" sz="200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/>
                <a:cs typeface="Times New Roman"/>
              </a:rPr>
              <a:t>00100101</a:t>
            </a:r>
            <a:r>
              <a:rPr lang="en-IN" sz="2000" spc="-68" dirty="0">
                <a:solidFill>
                  <a:srgbClr val="3333CC"/>
                </a:solidFill>
                <a:latin typeface="Times New Roman"/>
                <a:cs typeface="Times New Roman"/>
              </a:rPr>
              <a:t>    </a:t>
            </a:r>
            <a:r>
              <a:rPr kumimoji="0" sz="2000" u="none" strike="noStrike" kern="1200" cap="none" spc="-73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/>
                <a:cs typeface="Times New Roman"/>
              </a:rPr>
              <a:t>00101111</a:t>
            </a:r>
            <a:r>
              <a:rPr kumimoji="0" lang="en-IN" sz="2000" u="none" strike="noStrike" kern="1200" cap="none" spc="-73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/>
                <a:cs typeface="Times New Roman"/>
              </a:rPr>
              <a:t>           </a:t>
            </a:r>
            <a:r>
              <a:rPr kumimoji="0" lang="en-IN" sz="2000" i="1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</a:t>
            </a:r>
            <a:r>
              <a:rPr kumimoji="0" sz="200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</a:t>
            </a:r>
            <a:r>
              <a:rPr kumimoji="0" lang="en-IN" sz="200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       </a:t>
            </a:r>
            <a:r>
              <a:rPr kumimoji="0" lang="en-IN" sz="2000" i="1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000" i="1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205.16.37.47</a:t>
            </a:r>
            <a:endParaRPr kumimoji="0" sz="20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641335" y="5114594"/>
            <a:ext cx="5284763" cy="18036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32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grpSp>
        <p:nvGrpSpPr>
          <p:cNvPr id="5" name="object 9"/>
          <p:cNvGrpSpPr/>
          <p:nvPr/>
        </p:nvGrpSpPr>
        <p:grpSpPr>
          <a:xfrm>
            <a:off x="231386" y="5698462"/>
            <a:ext cx="5242711" cy="1097103"/>
            <a:chOff x="946150" y="4378452"/>
            <a:chExt cx="8817610" cy="1438275"/>
          </a:xfrm>
        </p:grpSpPr>
        <p:sp>
          <p:nvSpPr>
            <p:cNvPr id="6" name="object 10"/>
            <p:cNvSpPr/>
            <p:nvPr/>
          </p:nvSpPr>
          <p:spPr>
            <a:xfrm>
              <a:off x="946150" y="4378464"/>
              <a:ext cx="8817610" cy="257175"/>
            </a:xfrm>
            <a:custGeom>
              <a:avLst/>
              <a:gdLst/>
              <a:ahLst/>
              <a:cxnLst/>
              <a:rect l="l" t="t" r="r" b="b"/>
              <a:pathLst>
                <a:path w="8817610" h="257175">
                  <a:moveTo>
                    <a:pt x="8771890" y="45720"/>
                  </a:moveTo>
                  <a:lnTo>
                    <a:pt x="8760460" y="45720"/>
                  </a:lnTo>
                  <a:lnTo>
                    <a:pt x="57150" y="45720"/>
                  </a:lnTo>
                  <a:lnTo>
                    <a:pt x="45720" y="45720"/>
                  </a:lnTo>
                  <a:lnTo>
                    <a:pt x="45720" y="256794"/>
                  </a:lnTo>
                  <a:lnTo>
                    <a:pt x="57150" y="256794"/>
                  </a:lnTo>
                  <a:lnTo>
                    <a:pt x="57150" y="57150"/>
                  </a:lnTo>
                  <a:lnTo>
                    <a:pt x="8760460" y="57150"/>
                  </a:lnTo>
                  <a:lnTo>
                    <a:pt x="8760460" y="256794"/>
                  </a:lnTo>
                  <a:lnTo>
                    <a:pt x="8771890" y="256794"/>
                  </a:lnTo>
                  <a:lnTo>
                    <a:pt x="8771890" y="45720"/>
                  </a:lnTo>
                  <a:close/>
                </a:path>
                <a:path w="8817610" h="257175">
                  <a:moveTo>
                    <a:pt x="8817610" y="0"/>
                  </a:moveTo>
                  <a:lnTo>
                    <a:pt x="8783320" y="0"/>
                  </a:lnTo>
                  <a:lnTo>
                    <a:pt x="34290" y="0"/>
                  </a:lnTo>
                  <a:lnTo>
                    <a:pt x="0" y="0"/>
                  </a:lnTo>
                  <a:lnTo>
                    <a:pt x="0" y="256794"/>
                  </a:lnTo>
                  <a:lnTo>
                    <a:pt x="34290" y="256794"/>
                  </a:lnTo>
                  <a:lnTo>
                    <a:pt x="34290" y="34290"/>
                  </a:lnTo>
                  <a:lnTo>
                    <a:pt x="8783320" y="34290"/>
                  </a:lnTo>
                  <a:lnTo>
                    <a:pt x="8783320" y="256794"/>
                  </a:lnTo>
                  <a:lnTo>
                    <a:pt x="8817610" y="256794"/>
                  </a:lnTo>
                  <a:lnTo>
                    <a:pt x="8817610" y="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632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7" name="object 11"/>
            <p:cNvSpPr/>
            <p:nvPr/>
          </p:nvSpPr>
          <p:spPr>
            <a:xfrm>
              <a:off x="1004201" y="4437888"/>
              <a:ext cx="8702040" cy="105460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632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9" name="object 12"/>
            <p:cNvSpPr/>
            <p:nvPr/>
          </p:nvSpPr>
          <p:spPr>
            <a:xfrm>
              <a:off x="946289" y="4635258"/>
              <a:ext cx="8817610" cy="857250"/>
            </a:xfrm>
            <a:custGeom>
              <a:avLst/>
              <a:gdLst/>
              <a:ahLst/>
              <a:cxnLst/>
              <a:rect l="l" t="t" r="r" b="b"/>
              <a:pathLst>
                <a:path w="8817610" h="857250">
                  <a:moveTo>
                    <a:pt x="34290" y="0"/>
                  </a:moveTo>
                  <a:lnTo>
                    <a:pt x="0" y="0"/>
                  </a:lnTo>
                  <a:lnTo>
                    <a:pt x="0" y="857250"/>
                  </a:lnTo>
                  <a:lnTo>
                    <a:pt x="34290" y="857250"/>
                  </a:lnTo>
                  <a:lnTo>
                    <a:pt x="34290" y="0"/>
                  </a:lnTo>
                  <a:close/>
                </a:path>
                <a:path w="8817610" h="857250">
                  <a:moveTo>
                    <a:pt x="57150" y="0"/>
                  </a:moveTo>
                  <a:lnTo>
                    <a:pt x="45720" y="0"/>
                  </a:lnTo>
                  <a:lnTo>
                    <a:pt x="45720" y="857250"/>
                  </a:lnTo>
                  <a:lnTo>
                    <a:pt x="57150" y="857250"/>
                  </a:lnTo>
                  <a:lnTo>
                    <a:pt x="57150" y="0"/>
                  </a:lnTo>
                  <a:close/>
                </a:path>
                <a:path w="8817610" h="857250">
                  <a:moveTo>
                    <a:pt x="8771369" y="0"/>
                  </a:moveTo>
                  <a:lnTo>
                    <a:pt x="8759952" y="0"/>
                  </a:lnTo>
                  <a:lnTo>
                    <a:pt x="8759952" y="857250"/>
                  </a:lnTo>
                  <a:lnTo>
                    <a:pt x="8771369" y="857250"/>
                  </a:lnTo>
                  <a:lnTo>
                    <a:pt x="8771369" y="0"/>
                  </a:lnTo>
                  <a:close/>
                </a:path>
                <a:path w="8817610" h="857250">
                  <a:moveTo>
                    <a:pt x="8817102" y="0"/>
                  </a:moveTo>
                  <a:lnTo>
                    <a:pt x="8782799" y="0"/>
                  </a:lnTo>
                  <a:lnTo>
                    <a:pt x="8782799" y="857250"/>
                  </a:lnTo>
                  <a:lnTo>
                    <a:pt x="8817102" y="857250"/>
                  </a:lnTo>
                  <a:lnTo>
                    <a:pt x="8817102" y="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632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10" name="object 13"/>
            <p:cNvSpPr/>
            <p:nvPr/>
          </p:nvSpPr>
          <p:spPr>
            <a:xfrm>
              <a:off x="1004201" y="5492496"/>
              <a:ext cx="8702040" cy="26670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632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11" name="object 14"/>
            <p:cNvSpPr/>
            <p:nvPr/>
          </p:nvSpPr>
          <p:spPr>
            <a:xfrm>
              <a:off x="946150" y="5492508"/>
              <a:ext cx="8817610" cy="323850"/>
            </a:xfrm>
            <a:custGeom>
              <a:avLst/>
              <a:gdLst/>
              <a:ahLst/>
              <a:cxnLst/>
              <a:rect l="l" t="t" r="r" b="b"/>
              <a:pathLst>
                <a:path w="8817610" h="323850">
                  <a:moveTo>
                    <a:pt x="8771890" y="0"/>
                  </a:moveTo>
                  <a:lnTo>
                    <a:pt x="8760460" y="0"/>
                  </a:lnTo>
                  <a:lnTo>
                    <a:pt x="8760460" y="266700"/>
                  </a:lnTo>
                  <a:lnTo>
                    <a:pt x="57150" y="266700"/>
                  </a:lnTo>
                  <a:lnTo>
                    <a:pt x="57150" y="0"/>
                  </a:lnTo>
                  <a:lnTo>
                    <a:pt x="45720" y="0"/>
                  </a:lnTo>
                  <a:lnTo>
                    <a:pt x="45720" y="278130"/>
                  </a:lnTo>
                  <a:lnTo>
                    <a:pt x="57150" y="278130"/>
                  </a:lnTo>
                  <a:lnTo>
                    <a:pt x="8760460" y="278130"/>
                  </a:lnTo>
                  <a:lnTo>
                    <a:pt x="8771890" y="278130"/>
                  </a:lnTo>
                  <a:lnTo>
                    <a:pt x="8771890" y="0"/>
                  </a:lnTo>
                  <a:close/>
                </a:path>
                <a:path w="8817610" h="323850">
                  <a:moveTo>
                    <a:pt x="8817610" y="0"/>
                  </a:moveTo>
                  <a:lnTo>
                    <a:pt x="8783320" y="0"/>
                  </a:lnTo>
                  <a:lnTo>
                    <a:pt x="8783320" y="289560"/>
                  </a:lnTo>
                  <a:lnTo>
                    <a:pt x="34290" y="289560"/>
                  </a:lnTo>
                  <a:lnTo>
                    <a:pt x="34290" y="0"/>
                  </a:lnTo>
                  <a:lnTo>
                    <a:pt x="0" y="0"/>
                  </a:lnTo>
                  <a:lnTo>
                    <a:pt x="0" y="323850"/>
                  </a:lnTo>
                  <a:lnTo>
                    <a:pt x="34290" y="323850"/>
                  </a:lnTo>
                  <a:lnTo>
                    <a:pt x="8783320" y="323850"/>
                  </a:lnTo>
                  <a:lnTo>
                    <a:pt x="8817610" y="323850"/>
                  </a:lnTo>
                  <a:lnTo>
                    <a:pt x="8817610" y="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632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ACBF323A-7FAC-F246-5D53-CC09B070FB26}"/>
              </a:ext>
            </a:extLst>
          </p:cNvPr>
          <p:cNvSpPr txBox="1"/>
          <p:nvPr/>
        </p:nvSpPr>
        <p:spPr>
          <a:xfrm>
            <a:off x="119873" y="5100302"/>
            <a:ext cx="48504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 2: OR(IP address, Complement of Mask)</a:t>
            </a:r>
          </a:p>
        </p:txBody>
      </p:sp>
    </p:spTree>
    <p:extLst>
      <p:ext uri="{BB962C8B-B14F-4D97-AF65-F5344CB8AC3E}">
        <p14:creationId xmlns:p14="http://schemas.microsoft.com/office/powerpoint/2010/main" val="71346684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1451579" y="1834659"/>
            <a:ext cx="8387745" cy="1253572"/>
          </a:xfrm>
          <a:prstGeom prst="rect">
            <a:avLst/>
          </a:prstGeom>
        </p:spPr>
        <p:txBody>
          <a:bodyPr vert="horz" wrap="square" lIns="0" tIns="11516" rIns="0" bIns="0" rtlCol="0">
            <a:spAutoFit/>
          </a:bodyPr>
          <a:lstStyle/>
          <a:p>
            <a:pPr marL="11516" marR="0" lvl="0" indent="0" algn="l" defTabSz="457200" rtl="0" eaLnBrk="1" fontAlgn="auto" latinLnBrk="0" hangingPunct="1">
              <a:lnSpc>
                <a:spcPct val="100000"/>
              </a:lnSpc>
              <a:spcBef>
                <a:spcPts val="9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539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3. </a:t>
            </a:r>
            <a:r>
              <a:rPr kumimoji="0" sz="2539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Find the number of addresses in </a:t>
            </a:r>
            <a:r>
              <a:rPr kumimoji="0" lang="en-IN" sz="2539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the given </a:t>
            </a:r>
            <a:r>
              <a:rPr kumimoji="0" sz="2539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Example.</a:t>
            </a:r>
            <a:endParaRPr kumimoji="0" sz="253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4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92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11516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539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Solution</a:t>
            </a:r>
            <a:endParaRPr kumimoji="0" sz="253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B7E4A7FB-05A7-4037-B5EB-2A1193AB0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p:sp>
        <p:nvSpPr>
          <p:cNvPr id="2" name="object 9">
            <a:extLst>
              <a:ext uri="{FF2B5EF4-FFF2-40B4-BE49-F238E27FC236}">
                <a16:creationId xmlns:a16="http://schemas.microsoft.com/office/drawing/2014/main" id="{76788710-2ADA-1A05-1D73-9FC3344630CB}"/>
              </a:ext>
            </a:extLst>
          </p:cNvPr>
          <p:cNvSpPr txBox="1"/>
          <p:nvPr/>
        </p:nvSpPr>
        <p:spPr>
          <a:xfrm>
            <a:off x="1371673" y="3254709"/>
            <a:ext cx="9372528" cy="793124"/>
          </a:xfrm>
          <a:prstGeom prst="rect">
            <a:avLst/>
          </a:prstGeom>
        </p:spPr>
        <p:txBody>
          <a:bodyPr vert="horz" wrap="square" lIns="0" tIns="11516" rIns="0" bIns="0" rtlCol="0">
            <a:spAutoFit/>
          </a:bodyPr>
          <a:lstStyle/>
          <a:p>
            <a:pPr marL="11516" marR="0" lvl="0" indent="0" algn="l" defTabSz="457200" rtl="0" eaLnBrk="1" fontAlgn="auto" latinLnBrk="0" hangingPunct="1">
              <a:lnSpc>
                <a:spcPct val="100000"/>
              </a:lnSpc>
              <a:spcBef>
                <a:spcPts val="91"/>
              </a:spcBef>
              <a:spcAft>
                <a:spcPts val="0"/>
              </a:spcAft>
              <a:buClrTx/>
              <a:buSzTx/>
              <a:buFontTx/>
              <a:buNone/>
              <a:tabLst>
                <a:tab pos="773324" algn="l"/>
                <a:tab pos="1732061" algn="l"/>
                <a:tab pos="2243963" algn="l"/>
                <a:tab pos="2665462" algn="l"/>
                <a:tab pos="3123237" algn="l"/>
                <a:tab pos="3769305" algn="l"/>
                <a:tab pos="4819021" algn="l"/>
              </a:tabLst>
              <a:defRPr/>
            </a:pPr>
            <a:r>
              <a:rPr kumimoji="0" sz="2539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</a:t>
            </a:r>
            <a:r>
              <a:rPr kumimoji="0" sz="2539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	</a:t>
            </a:r>
            <a:r>
              <a:rPr kumimoji="0" sz="2539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valu</a:t>
            </a:r>
            <a:r>
              <a:rPr kumimoji="0" sz="2539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	</a:t>
            </a:r>
            <a:r>
              <a:rPr kumimoji="0" sz="2539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</a:t>
            </a:r>
            <a:r>
              <a:rPr kumimoji="0" sz="2539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f	n	is	2</a:t>
            </a:r>
            <a:r>
              <a:rPr kumimoji="0" sz="2539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8</a:t>
            </a:r>
            <a:r>
              <a:rPr kumimoji="0" sz="2539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,	</a:t>
            </a:r>
            <a:r>
              <a:rPr kumimoji="0" sz="2539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whic</a:t>
            </a:r>
            <a:r>
              <a:rPr kumimoji="0" sz="2539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h	</a:t>
            </a:r>
            <a:r>
              <a:rPr kumimoji="0" sz="2539" i="1" u="none" strike="noStrike" kern="1200" cap="none" spc="-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m</a:t>
            </a:r>
            <a:r>
              <a:rPr kumimoji="0" sz="2539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eans</a:t>
            </a:r>
            <a:r>
              <a:rPr kumimoji="0" lang="en-IN" sz="2539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that number of addresses is </a:t>
            </a:r>
            <a:r>
              <a:rPr kumimoji="0" lang="en-US" sz="2539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2</a:t>
            </a:r>
            <a:r>
              <a:rPr kumimoji="0" lang="en-US" sz="2516" b="1" i="1" u="none" strike="noStrike" kern="1200" cap="none" spc="6" normalizeH="0" baseline="25525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32−28 </a:t>
            </a:r>
            <a:r>
              <a:rPr kumimoji="0" lang="en-US" sz="2539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or</a:t>
            </a:r>
            <a:r>
              <a:rPr kumimoji="0" lang="en-US" sz="2539" b="1" i="1" u="none" strike="noStrike" kern="1200" cap="none" spc="-33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539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16.</a:t>
            </a:r>
            <a:endParaRPr kumimoji="0" sz="2539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2CDF9-DDC8-587B-CD64-B41DE16E8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203353"/>
            <a:ext cx="9603275" cy="567081"/>
          </a:xfrm>
        </p:spPr>
        <p:txBody>
          <a:bodyPr/>
          <a:lstStyle/>
          <a:p>
            <a:r>
              <a:rPr lang="en-US" sz="3000" b="1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SELF-ASSESSMENT QUESTIONS</a:t>
            </a:r>
            <a:endParaRPr lang="en-IN" sz="3000" b="1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0DF71D-686E-6C69-5FBF-EAAEAC8EF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39</a:t>
            </a:fld>
            <a:endParaRPr lang="en-IN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FF6EA41-1230-77F6-EAB2-910DFB6BF9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457200" lvl="0" indent="-457200" algn="just">
              <a:buFont typeface="+mj-lt"/>
              <a:buAutoNum type="arabicPeriod"/>
            </a:pPr>
            <a:r>
              <a:rPr lang="en-IN" dirty="0"/>
              <a:t>In a block of addresses, we know IP address of one host is 25.34.12.56/16. What is the first address (network address) and the last address (limited broadcast address) in this block?</a:t>
            </a:r>
          </a:p>
          <a:p>
            <a:pPr marL="457200" lvl="0" indent="-457200" algn="just">
              <a:buFont typeface="+mj-lt"/>
              <a:buAutoNum type="arabicPeriod"/>
            </a:pPr>
            <a:r>
              <a:rPr lang="en-IN" dirty="0"/>
              <a:t>Find the block if one of the addresses is 190.87.140.202/29</a:t>
            </a:r>
          </a:p>
          <a:p>
            <a:pPr marL="457200" lvl="0" indent="-457200" algn="just">
              <a:buFont typeface="+mj-lt"/>
              <a:buAutoNum type="arabicPeriod"/>
            </a:pPr>
            <a:r>
              <a:rPr lang="en-IN" dirty="0"/>
              <a:t>In a network the address of one computer is 201.78.24.56 and the address of another computer is 201.78.120. 202. How many addresses are in between?</a:t>
            </a:r>
          </a:p>
          <a:p>
            <a:pPr marL="457200" lvl="0" indent="-457200" algn="just">
              <a:buFont typeface="+mj-lt"/>
              <a:buAutoNum type="arabicPeriod"/>
            </a:pPr>
            <a:r>
              <a:rPr lang="en-IN" dirty="0"/>
              <a:t>What is the main difference between IPv4 and IPv6?</a:t>
            </a:r>
          </a:p>
          <a:p>
            <a:pPr marL="457200" lvl="0" indent="-457200" algn="just">
              <a:buFont typeface="+mj-lt"/>
              <a:buAutoNum type="arabicPeriod"/>
            </a:pPr>
            <a:r>
              <a:rPr lang="en-IN" dirty="0"/>
              <a:t>What are the key advantages of IPv6 over IPv4?</a:t>
            </a:r>
          </a:p>
        </p:txBody>
      </p:sp>
    </p:spTree>
    <p:extLst>
      <p:ext uri="{BB962C8B-B14F-4D97-AF65-F5344CB8AC3E}">
        <p14:creationId xmlns:p14="http://schemas.microsoft.com/office/powerpoint/2010/main" val="194481485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5E08B-AB6F-9949-3996-71048D030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REFERENCES FOR FURTHER LEARNING OF THE SESSION</a:t>
            </a:r>
            <a:endParaRPr lang="en-IN" sz="3000" b="1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86811D-092E-E989-454F-68E65DF4C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40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A0B57B-FD1F-D26E-7DDA-9CB4D0E6FF4D}"/>
              </a:ext>
            </a:extLst>
          </p:cNvPr>
          <p:cNvSpPr txBox="1"/>
          <p:nvPr/>
        </p:nvSpPr>
        <p:spPr>
          <a:xfrm>
            <a:off x="1491176" y="1955558"/>
            <a:ext cx="9453490" cy="3277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dirty="0"/>
              <a:t> </a:t>
            </a:r>
            <a:r>
              <a:rPr lang="en-IN" b="1" dirty="0"/>
              <a:t>Reference Books:</a:t>
            </a:r>
          </a:p>
          <a:p>
            <a:pPr fontAlgn="base"/>
            <a:endParaRPr lang="en-IN" dirty="0"/>
          </a:p>
          <a:p>
            <a:pPr fontAlgn="base"/>
            <a:r>
              <a:rPr lang="en-IN" dirty="0"/>
              <a:t>1. Data Communications and Networking, </a:t>
            </a:r>
            <a:r>
              <a:rPr lang="en-IN" dirty="0" err="1"/>
              <a:t>Behrouz</a:t>
            </a:r>
            <a:r>
              <a:rPr lang="en-IN" dirty="0"/>
              <a:t> A. </a:t>
            </a:r>
            <a:r>
              <a:rPr lang="en-IN" dirty="0" err="1"/>
              <a:t>Forouzan</a:t>
            </a:r>
            <a:r>
              <a:rPr lang="en-IN" dirty="0"/>
              <a:t>, 4</a:t>
            </a:r>
            <a:r>
              <a:rPr lang="en-IN" baseline="30000" dirty="0"/>
              <a:t>th</a:t>
            </a:r>
            <a:r>
              <a:rPr lang="en-IN" dirty="0"/>
              <a:t> Edition, McGraw Hill.  </a:t>
            </a:r>
          </a:p>
          <a:p>
            <a:pPr fontAlgn="base"/>
            <a:r>
              <a:rPr lang="en-IN" dirty="0"/>
              <a:t>2. Computer Networks, </a:t>
            </a:r>
            <a:r>
              <a:rPr lang="en-IN" dirty="0" err="1"/>
              <a:t>Tanenbaum</a:t>
            </a:r>
            <a:r>
              <a:rPr lang="en-IN" dirty="0"/>
              <a:t>, 6</a:t>
            </a:r>
            <a:r>
              <a:rPr lang="en-IN" baseline="30000" dirty="0"/>
              <a:t>th</a:t>
            </a:r>
            <a:r>
              <a:rPr lang="en-IN" dirty="0"/>
              <a:t> Edition, Pearson.</a:t>
            </a:r>
          </a:p>
          <a:p>
            <a:pPr fontAlgn="base"/>
            <a:endParaRPr lang="en-IN" dirty="0"/>
          </a:p>
          <a:p>
            <a:pPr fontAlgn="base"/>
            <a:r>
              <a:rPr lang="en-IN" b="1" dirty="0"/>
              <a:t>Sites and Web links:</a:t>
            </a:r>
            <a:endParaRPr lang="en-IN" dirty="0"/>
          </a:p>
          <a:p>
            <a:pPr lvl="0" fontAlgn="base"/>
            <a:endParaRPr lang="en-IN" dirty="0"/>
          </a:p>
          <a:p>
            <a:pPr lvl="0" fontAlgn="base"/>
            <a:r>
              <a:rPr lang="en-IN" dirty="0"/>
              <a:t>CISCO Academy</a:t>
            </a:r>
          </a:p>
          <a:p>
            <a:pPr lvl="0" fontAlgn="base"/>
            <a:r>
              <a:rPr lang="en-IN" dirty="0"/>
              <a:t>NPTEL, Computer Networks and Internet Protocols, Prof. </a:t>
            </a:r>
            <a:r>
              <a:rPr lang="en-IN" dirty="0" err="1"/>
              <a:t>Soumya</a:t>
            </a:r>
            <a:r>
              <a:rPr lang="en-IN" dirty="0"/>
              <a:t> </a:t>
            </a:r>
            <a:r>
              <a:rPr lang="en-IN" dirty="0" err="1"/>
              <a:t>Kanti</a:t>
            </a:r>
            <a:r>
              <a:rPr lang="en-IN" dirty="0"/>
              <a:t> </a:t>
            </a:r>
            <a:r>
              <a:rPr lang="en-IN" dirty="0" err="1"/>
              <a:t>Ghosh</a:t>
            </a:r>
            <a:r>
              <a:rPr lang="en-IN" dirty="0"/>
              <a:t>, Prof. </a:t>
            </a:r>
            <a:r>
              <a:rPr lang="en-IN" dirty="0" err="1"/>
              <a:t>Sandip</a:t>
            </a:r>
            <a:r>
              <a:rPr lang="en-IN" dirty="0"/>
              <a:t> </a:t>
            </a:r>
            <a:r>
              <a:rPr lang="en-IN" dirty="0" err="1"/>
              <a:t>Chakraborty</a:t>
            </a:r>
            <a:r>
              <a:rPr lang="en-IN" dirty="0"/>
              <a:t> IIT </a:t>
            </a:r>
            <a:r>
              <a:rPr lang="en-IN" dirty="0" err="1"/>
              <a:t>Kharagpur</a:t>
            </a:r>
            <a:r>
              <a:rPr lang="en-IN" dirty="0"/>
              <a:t>. (https://nptel.ac.in/courses/106105183)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040975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ounded Rectangle 16"/>
          <p:cNvSpPr/>
          <p:nvPr/>
        </p:nvSpPr>
        <p:spPr>
          <a:xfrm>
            <a:off x="2601913" y="1857375"/>
            <a:ext cx="7920037" cy="2882900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 b="1" dirty="0">
              <a:latin typeface="Poppins" pitchFamily="2" charset="77"/>
              <a:cs typeface="Poppins" pitchFamily="2" charset="77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>
                <a:latin typeface="Poppins" pitchFamily="2" charset="77"/>
                <a:cs typeface="Poppins" pitchFamily="2" charset="77"/>
              </a:rPr>
              <a:t>THANK YOU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lvl="0" algn="ctr" defTabSz="457200">
              <a:defRPr/>
            </a:pPr>
            <a:r>
              <a:rPr lang="en-US" sz="2400" b="1" dirty="0">
                <a:latin typeface="Poppins" pitchFamily="2" charset="77"/>
                <a:cs typeface="Poppins" pitchFamily="2" charset="77"/>
              </a:rPr>
              <a:t>Team – </a:t>
            </a:r>
            <a:r>
              <a:rPr lang="en-IN" sz="2400" b="1" dirty="0">
                <a:solidFill>
                  <a:prstClr val="black"/>
                </a:solidFill>
              </a:rPr>
              <a:t>Networks Protocols &amp; Security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18" name="Picture 2" descr="KL Deemed to be University Log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4975" y="2560638"/>
            <a:ext cx="3235325" cy="1082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713787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24598BE9-BD78-4C1A-902E-0BA786164A9D}" vid="{1551CBD6-114D-4A17-981D-82FBB9D54941}"/>
    </a:ext>
  </a:extLst>
</a:theme>
</file>

<file path=ppt/theme/theme3.xml><?xml version="1.0" encoding="utf-8"?>
<a:theme xmlns:a="http://schemas.openxmlformats.org/drawingml/2006/main" name="1_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24598BE9-BD78-4C1A-902E-0BA786164A9D}" vid="{1551CBD6-114D-4A17-981D-82FBB9D54941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4712</TotalTime>
  <Words>2530</Words>
  <Application>Microsoft Office PowerPoint</Application>
  <PresentationFormat>Widescreen</PresentationFormat>
  <Paragraphs>289</Paragraphs>
  <Slides>41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41</vt:i4>
      </vt:variant>
    </vt:vector>
  </HeadingPairs>
  <TitlesOfParts>
    <vt:vector size="54" baseType="lpstr">
      <vt:lpstr>Arial</vt:lpstr>
      <vt:lpstr>BioRhyme ExtraBold</vt:lpstr>
      <vt:lpstr>Bookman Old Style</vt:lpstr>
      <vt:lpstr>Calibri</vt:lpstr>
      <vt:lpstr>Calibri Light</vt:lpstr>
      <vt:lpstr>Gill Sans MT</vt:lpstr>
      <vt:lpstr>Poppins</vt:lpstr>
      <vt:lpstr>Tahoma</vt:lpstr>
      <vt:lpstr>Times New Roman</vt:lpstr>
      <vt:lpstr>Wingdings</vt:lpstr>
      <vt:lpstr>Office Theme</vt:lpstr>
      <vt:lpstr>Gallery</vt:lpstr>
      <vt:lpstr>1_Gallery</vt:lpstr>
      <vt:lpstr>PowerPoint Presentation</vt:lpstr>
      <vt:lpstr>PowerPoint Presentation</vt:lpstr>
      <vt:lpstr>PowerPoint Presentation</vt:lpstr>
      <vt:lpstr> IP ADDRESSES</vt:lpstr>
      <vt:lpstr>IPv4 ADDRESSES</vt:lpstr>
      <vt:lpstr>1. Address SPACE</vt:lpstr>
      <vt:lpstr>2. NOTATIONS</vt:lpstr>
      <vt:lpstr>2. NOTATIONS     (contd…)</vt:lpstr>
      <vt:lpstr>Dotted-decimal notation and binary notation for an IPv4 address</vt:lpstr>
      <vt:lpstr>2. NOTATIONS     (contd…)</vt:lpstr>
      <vt:lpstr>Example</vt:lpstr>
      <vt:lpstr>Example</vt:lpstr>
      <vt:lpstr>Example</vt:lpstr>
      <vt:lpstr>IPv4 Address Rules</vt:lpstr>
      <vt:lpstr>Example</vt:lpstr>
      <vt:lpstr>3. Classful addressing</vt:lpstr>
      <vt:lpstr>Finding the classes in binary and dotted-decimal notation</vt:lpstr>
      <vt:lpstr>Number of blocks and block size in classful IPv4 addressing</vt:lpstr>
      <vt:lpstr>PowerPoint Presentation</vt:lpstr>
      <vt:lpstr>PowerPoint Presentation</vt:lpstr>
      <vt:lpstr>Classful Addressing</vt:lpstr>
      <vt:lpstr>Classful Addressing</vt:lpstr>
      <vt:lpstr>IPv4 Address</vt:lpstr>
      <vt:lpstr>IPv4 Address</vt:lpstr>
      <vt:lpstr>PowerPoint Presentation</vt:lpstr>
      <vt:lpstr>IPv4 Address : Bitwise Operations…</vt:lpstr>
      <vt:lpstr>IPv4 Address : Bitwise Operations…</vt:lpstr>
      <vt:lpstr>Example</vt:lpstr>
      <vt:lpstr>4. Classless addressing</vt:lpstr>
      <vt:lpstr>Classless addressing    contd…</vt:lpstr>
      <vt:lpstr>A block of 16 addresses granted to a small organization</vt:lpstr>
      <vt:lpstr>Classless addressing    contd…</vt:lpstr>
      <vt:lpstr>Classless addressing    contd…</vt:lpstr>
      <vt:lpstr>Example</vt:lpstr>
      <vt:lpstr>Solution</vt:lpstr>
      <vt:lpstr>Example</vt:lpstr>
      <vt:lpstr>Solution</vt:lpstr>
      <vt:lpstr>example</vt:lpstr>
      <vt:lpstr>SELF-ASSESSMENT QUESTIONS</vt:lpstr>
      <vt:lpstr>REFERENCES FOR FURTHER LEARNING OF THE SESSION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IPv4 ADDRESSES</dc:title>
  <dc:creator>preetham chiramana</dc:creator>
  <cp:lastModifiedBy>GORLA VENKATA GANESH</cp:lastModifiedBy>
  <cp:revision>86</cp:revision>
  <dcterms:created xsi:type="dcterms:W3CDTF">2020-11-27T11:49:36Z</dcterms:created>
  <dcterms:modified xsi:type="dcterms:W3CDTF">2025-12-17T06:33:15Z</dcterms:modified>
</cp:coreProperties>
</file>