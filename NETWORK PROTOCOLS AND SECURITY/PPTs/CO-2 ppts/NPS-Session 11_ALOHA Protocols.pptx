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71" r:id="rId5"/>
    <p:sldId id="300" r:id="rId6"/>
    <p:sldId id="258" r:id="rId7"/>
    <p:sldId id="900" r:id="rId8"/>
    <p:sldId id="835" r:id="rId9"/>
    <p:sldId id="535" r:id="rId10"/>
    <p:sldId id="888" r:id="rId11"/>
    <p:sldId id="306" r:id="rId12"/>
    <p:sldId id="894" r:id="rId13"/>
    <p:sldId id="903" r:id="rId14"/>
    <p:sldId id="838" r:id="rId15"/>
    <p:sldId id="890" r:id="rId16"/>
    <p:sldId id="839" r:id="rId17"/>
    <p:sldId id="892" r:id="rId18"/>
    <p:sldId id="893" r:id="rId19"/>
    <p:sldId id="895" r:id="rId20"/>
    <p:sldId id="904" r:id="rId21"/>
    <p:sldId id="899" r:id="rId22"/>
    <p:sldId id="841" r:id="rId23"/>
    <p:sldId id="897" r:id="rId24"/>
    <p:sldId id="898" r:id="rId25"/>
    <p:sldId id="274" r:id="rId26"/>
    <p:sldId id="302" r:id="rId27"/>
    <p:sldId id="303" r:id="rId28"/>
    <p:sldId id="30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741330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DC81823F-EF55-3982-FF54-EC98F38F0A9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58C06483-0344-45D0-97B5-E5E812A09E88}" type="slidenum">
              <a:rPr lang="en-US" altLang="en-US" sz="1200" b="0" i="0" baseline="0" smtClean="0"/>
              <a:pPr/>
              <a:t>5</a:t>
            </a:fld>
            <a:endParaRPr lang="en-US" altLang="en-US" sz="1200" b="0" i="0" baseline="0"/>
          </a:p>
        </p:txBody>
      </p:sp>
      <p:sp>
        <p:nvSpPr>
          <p:cNvPr id="9219" name="Rectangle 2">
            <a:extLst>
              <a:ext uri="{FF2B5EF4-FFF2-40B4-BE49-F238E27FC236}">
                <a16:creationId xmlns:a16="http://schemas.microsoft.com/office/drawing/2014/main" id="{D838385B-6007-3B1E-044A-95528FF726C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FDD9647B-2733-94E5-9D9E-649273CF87C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29036A52-76E4-47D1-2CCD-FF4E71A0017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546BDCA3-D29A-489D-B21B-559C02B5ED18}" type="slidenum">
              <a:rPr lang="en-US" altLang="en-US" sz="1200" b="0" i="0" baseline="0" smtClean="0"/>
              <a:pPr/>
              <a:t>6</a:t>
            </a:fld>
            <a:endParaRPr lang="en-US" altLang="en-US" sz="1200" b="0" i="0" baseline="0"/>
          </a:p>
        </p:txBody>
      </p:sp>
      <p:sp>
        <p:nvSpPr>
          <p:cNvPr id="11267" name="Rectangle 2">
            <a:extLst>
              <a:ext uri="{FF2B5EF4-FFF2-40B4-BE49-F238E27FC236}">
                <a16:creationId xmlns:a16="http://schemas.microsoft.com/office/drawing/2014/main" id="{69CCEEFE-DD03-2E66-B9C5-75F1C656996A}"/>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51F72F79-6DAE-8B35-0472-DD83A4A3A0B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1048A955-4BF9-679D-782B-D06D5165967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B431EC6-AA8C-4A94-A439-02F5C1210305}" type="slidenum">
              <a:rPr lang="en-US" altLang="en-US" sz="1200" b="0" i="0" baseline="0" smtClean="0"/>
              <a:pPr/>
              <a:t>7</a:t>
            </a:fld>
            <a:endParaRPr lang="en-US" altLang="en-US" sz="1200" b="0" i="0" baseline="0"/>
          </a:p>
        </p:txBody>
      </p:sp>
      <p:sp>
        <p:nvSpPr>
          <p:cNvPr id="13315" name="Rectangle 2">
            <a:extLst>
              <a:ext uri="{FF2B5EF4-FFF2-40B4-BE49-F238E27FC236}">
                <a16:creationId xmlns:a16="http://schemas.microsoft.com/office/drawing/2014/main" id="{29EA32EA-8582-FA88-50B4-C24D26621F2F}"/>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633482FE-C9BF-1645-A69B-8AB9870E1CF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72FC8CA0-7D06-FD69-92BB-557AF246FC5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FFA53B0-CC85-40DA-A04D-34827AF9E472}" type="slidenum">
              <a:rPr lang="en-US" altLang="en-US" sz="1200" b="0" i="0" baseline="0" smtClean="0"/>
              <a:pPr/>
              <a:t>11</a:t>
            </a:fld>
            <a:endParaRPr lang="en-US" altLang="en-US" sz="1200" b="0" i="0" baseline="0"/>
          </a:p>
        </p:txBody>
      </p:sp>
      <p:sp>
        <p:nvSpPr>
          <p:cNvPr id="18435" name="Rectangle 2">
            <a:extLst>
              <a:ext uri="{FF2B5EF4-FFF2-40B4-BE49-F238E27FC236}">
                <a16:creationId xmlns:a16="http://schemas.microsoft.com/office/drawing/2014/main" id="{63A40616-2409-AE33-467B-291C839BA4EA}"/>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01EA466A-A15B-78ED-A996-B6ADE9358BC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9A0F4C18-7389-3567-0885-B3290278B37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81A917E-DBA4-4CB6-B865-CFDCC5D053D2}" type="slidenum">
              <a:rPr lang="en-US" altLang="en-US" sz="1200" b="0" i="0" baseline="0" smtClean="0"/>
              <a:pPr/>
              <a:t>12</a:t>
            </a:fld>
            <a:endParaRPr lang="en-US" altLang="en-US" sz="1200" b="0" i="0" baseline="0"/>
          </a:p>
        </p:txBody>
      </p:sp>
      <p:sp>
        <p:nvSpPr>
          <p:cNvPr id="20483" name="Rectangle 2">
            <a:extLst>
              <a:ext uri="{FF2B5EF4-FFF2-40B4-BE49-F238E27FC236}">
                <a16:creationId xmlns:a16="http://schemas.microsoft.com/office/drawing/2014/main" id="{9E3DFF29-A0C0-BCCA-E571-F08DAA8FAAD1}"/>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003D53C8-0C91-6F47-6E9F-C4AE0536667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87D3713E-FD6F-A773-7BCC-A5BA220A102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2D295FD-DA88-4076-A27F-DF3A9A2552A7}" type="slidenum">
              <a:rPr lang="en-US" altLang="en-US" sz="1200" b="0" i="0" baseline="0" smtClean="0"/>
              <a:pPr/>
              <a:t>13</a:t>
            </a:fld>
            <a:endParaRPr lang="en-US" altLang="en-US" sz="1200" b="0" i="0" baseline="0"/>
          </a:p>
        </p:txBody>
      </p:sp>
      <p:sp>
        <p:nvSpPr>
          <p:cNvPr id="22531" name="Rectangle 2">
            <a:extLst>
              <a:ext uri="{FF2B5EF4-FFF2-40B4-BE49-F238E27FC236}">
                <a16:creationId xmlns:a16="http://schemas.microsoft.com/office/drawing/2014/main" id="{205A63B9-0D7C-1293-A130-C1BC8D2D9210}"/>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DDE0347D-2869-6C04-5BB7-651FD277243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2501816D-0BBB-C5AB-454C-760E16624D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63BBE6B-D366-4545-AA2B-A3DCE2FCB742}" type="slidenum">
              <a:rPr lang="en-US" altLang="en-US" sz="1200" b="0" i="0" baseline="0" smtClean="0"/>
              <a:pPr/>
              <a:t>14</a:t>
            </a:fld>
            <a:endParaRPr lang="en-US" altLang="en-US" sz="1200" b="0" i="0" baseline="0"/>
          </a:p>
        </p:txBody>
      </p:sp>
      <p:sp>
        <p:nvSpPr>
          <p:cNvPr id="24579" name="Rectangle 2">
            <a:extLst>
              <a:ext uri="{FF2B5EF4-FFF2-40B4-BE49-F238E27FC236}">
                <a16:creationId xmlns:a16="http://schemas.microsoft.com/office/drawing/2014/main" id="{18781584-275D-68B3-C57A-02F0EC9D72D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9122C079-03F3-8278-2950-2169088C761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2165D7D-A4B4-5884-7895-728151E2DA5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953696E-FEEB-4A61-95D7-62B88E1A8308}" type="slidenum">
              <a:rPr lang="en-US" altLang="en-US" sz="1200" b="0" i="0" baseline="0" smtClean="0"/>
              <a:pPr/>
              <a:t>15</a:t>
            </a:fld>
            <a:endParaRPr lang="en-US" altLang="en-US" sz="1200" b="0" i="0" baseline="0"/>
          </a:p>
        </p:txBody>
      </p:sp>
      <p:sp>
        <p:nvSpPr>
          <p:cNvPr id="30723" name="Rectangle 2">
            <a:extLst>
              <a:ext uri="{FF2B5EF4-FFF2-40B4-BE49-F238E27FC236}">
                <a16:creationId xmlns:a16="http://schemas.microsoft.com/office/drawing/2014/main" id="{93A509F7-05B0-224E-19C7-391E2763ED0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9AEAFC1B-ABFB-9B26-13AC-CF893ACD7AE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EF81B29-D5D1-40FA-0952-0969D115265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772E802-2F9E-4D30-86BC-EF746D4BA8D0}" type="slidenum">
              <a:rPr lang="en-US" altLang="en-US" sz="1200" b="0" i="0" baseline="0" smtClean="0"/>
              <a:pPr/>
              <a:t>16</a:t>
            </a:fld>
            <a:endParaRPr lang="en-US" altLang="en-US" sz="1200" b="0" i="0" baseline="0"/>
          </a:p>
        </p:txBody>
      </p:sp>
      <p:sp>
        <p:nvSpPr>
          <p:cNvPr id="36867" name="Rectangle 2">
            <a:extLst>
              <a:ext uri="{FF2B5EF4-FFF2-40B4-BE49-F238E27FC236}">
                <a16:creationId xmlns:a16="http://schemas.microsoft.com/office/drawing/2014/main" id="{28D5632A-B3AC-D563-DFEF-485340C2F3B6}"/>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5A835F25-670D-3AFE-31A7-C738887D8C3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D7B9F2B-88B8-F973-D0F0-09C91F81723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65F68A8-EB94-4463-A994-5C2C451AEC2C}" type="slidenum">
              <a:rPr lang="en-US" altLang="en-US" sz="1200" b="0" i="0" baseline="0" smtClean="0"/>
              <a:pPr/>
              <a:t>19</a:t>
            </a:fld>
            <a:endParaRPr lang="en-US" altLang="en-US" sz="1200" b="0" i="0" baseline="0"/>
          </a:p>
        </p:txBody>
      </p:sp>
      <p:sp>
        <p:nvSpPr>
          <p:cNvPr id="47107" name="Rectangle 2">
            <a:extLst>
              <a:ext uri="{FF2B5EF4-FFF2-40B4-BE49-F238E27FC236}">
                <a16:creationId xmlns:a16="http://schemas.microsoft.com/office/drawing/2014/main" id="{84CB3007-E53A-52D9-E8F5-426A9E323A7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96DFE983-9953-4A10-7A8D-8AE542F45A2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A0FEB023-DA41-202A-AD46-86185C112FF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6F934A7-4083-4B93-B01E-5159C02BD0F8}" type="slidenum">
              <a:rPr lang="en-US" altLang="en-US" sz="1200" b="0" i="0" baseline="0" smtClean="0"/>
              <a:pPr/>
              <a:t>20</a:t>
            </a:fld>
            <a:endParaRPr lang="en-US" altLang="en-US" sz="1200" b="0" i="0" baseline="0"/>
          </a:p>
        </p:txBody>
      </p:sp>
      <p:sp>
        <p:nvSpPr>
          <p:cNvPr id="49155" name="Rectangle 2">
            <a:extLst>
              <a:ext uri="{FF2B5EF4-FFF2-40B4-BE49-F238E27FC236}">
                <a16:creationId xmlns:a16="http://schemas.microsoft.com/office/drawing/2014/main" id="{D57471A6-F6FC-9F0A-6EC0-F770DFA6483D}"/>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8BE2A9EC-C9CE-BFE1-A780-0688FC7F75A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52E8A1B-F71F-00D0-937F-629E3F4A7B3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9938D38-2FAF-488C-9C9B-3C7CE4B536E0}" type="slidenum">
              <a:rPr lang="en-US" altLang="en-US" sz="1200" b="0" i="0" baseline="0" smtClean="0"/>
              <a:pPr/>
              <a:t>21</a:t>
            </a:fld>
            <a:endParaRPr lang="en-US" altLang="en-US" sz="1200" b="0" i="0" baseline="0"/>
          </a:p>
        </p:txBody>
      </p:sp>
      <p:sp>
        <p:nvSpPr>
          <p:cNvPr id="51203" name="Rectangle 2">
            <a:extLst>
              <a:ext uri="{FF2B5EF4-FFF2-40B4-BE49-F238E27FC236}">
                <a16:creationId xmlns:a16="http://schemas.microsoft.com/office/drawing/2014/main" id="{9E6D73C4-FF15-0124-E4AA-A2AFA1BF2112}"/>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22A01937-ECBA-A02F-EE67-61ACB0FED2C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0" y="4571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24EC2210</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MAC PROTOCOLS: ALOHA</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- 11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ALOHA protocols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need for Random Access protocols</a:t>
            </a:r>
          </a:p>
          <a:p>
            <a:pPr marL="342900" indent="-342900">
              <a:buAutoNum type="arabicPeriod"/>
            </a:pPr>
            <a:r>
              <a:rPr lang="en-US" sz="1600" b="0" i="0" dirty="0">
                <a:effectLst/>
                <a:latin typeface="Arial" panose="020B0604020202020204" pitchFamily="34" charset="0"/>
              </a:rPr>
              <a:t>Describe the working of </a:t>
            </a:r>
            <a:r>
              <a:rPr lang="en-US" sz="1600" dirty="0">
                <a:latin typeface="Arial" panose="020B0604020202020204" pitchFamily="34" charset="0"/>
              </a:rPr>
              <a:t>ALOHA protocol</a:t>
            </a:r>
            <a:r>
              <a:rPr lang="en-US" sz="1600" b="0" i="0" dirty="0">
                <a:effectLst/>
                <a:latin typeface="Arial" panose="020B0604020202020204" pitchFamily="34" charset="0"/>
              </a:rPr>
              <a:t>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Illustrate the need for MAC protocols</a:t>
            </a:r>
          </a:p>
          <a:p>
            <a:pPr marL="342900" indent="-342900">
              <a:buAutoNum type="arabicPeriod"/>
            </a:pPr>
            <a:r>
              <a:rPr lang="en-US" sz="1600" b="0" i="0" dirty="0">
                <a:effectLst/>
                <a:latin typeface="Arial" panose="020B0604020202020204" pitchFamily="34" charset="0"/>
              </a:rPr>
              <a:t>Understand the working of Pure ALOHA protocol.</a:t>
            </a:r>
          </a:p>
          <a:p>
            <a:pPr marL="342900" indent="-342900">
              <a:buAutoNum type="arabicPeriod"/>
            </a:pPr>
            <a:r>
              <a:rPr lang="en-US" sz="1600" dirty="0">
                <a:latin typeface="Arial" panose="020B0604020202020204" pitchFamily="34" charset="0"/>
              </a:rPr>
              <a:t>Understand the working of Slotted ALOHA protocol.</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246184" y="1851962"/>
            <a:ext cx="10923564" cy="4890694"/>
          </a:xfrm>
        </p:spPr>
        <p:txBody>
          <a:bodyPr>
            <a:normAutofit/>
          </a:bodyPr>
          <a:lstStyle/>
          <a:p>
            <a:pPr marL="0" indent="0">
              <a:buNone/>
            </a:pPr>
            <a:r>
              <a:rPr lang="en-US" altLang="en-US" sz="2400" dirty="0"/>
              <a:t>Data link layer divided into two functionality-oriented sublayers. </a:t>
            </a:r>
          </a:p>
          <a:p>
            <a:pPr marL="0" indent="0">
              <a:buNone/>
            </a:pPr>
            <a:endParaRPr lang="en-US" dirty="0"/>
          </a:p>
        </p:txBody>
      </p:sp>
      <p:pic>
        <p:nvPicPr>
          <p:cNvPr id="3" name="Picture 7">
            <a:extLst>
              <a:ext uri="{FF2B5EF4-FFF2-40B4-BE49-F238E27FC236}">
                <a16:creationId xmlns:a16="http://schemas.microsoft.com/office/drawing/2014/main" id="{D39B600B-5D7B-DEF7-DA73-04EF4C9CDB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362" y="3072325"/>
            <a:ext cx="5375275"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558854" y="6102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MEDIUM ACCESS CONTROL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417047" y="983653"/>
            <a:ext cx="10923564" cy="4890694"/>
          </a:xfrm>
        </p:spPr>
        <p:txBody>
          <a:bodyPr>
            <a:normAutofit fontScale="92500" lnSpcReduction="10000"/>
          </a:bodyPr>
          <a:lstStyle/>
          <a:p>
            <a:pPr marL="0" indent="0">
              <a:buNone/>
            </a:pPr>
            <a:endParaRPr lang="en-US" sz="2400" dirty="0"/>
          </a:p>
          <a:p>
            <a:pPr marL="361950" indent="-361950" algn="just">
              <a:buFont typeface="Wingdings" panose="05000000000000000000" pitchFamily="2" charset="2"/>
              <a:buChar char="Ø"/>
            </a:pPr>
            <a:r>
              <a:rPr lang="en-US" sz="2400" dirty="0">
                <a:solidFill>
                  <a:srgbClr val="000000"/>
                </a:solidFill>
                <a:latin typeface="Times-Roman"/>
              </a:rPr>
              <a:t>Multiple devices in a network share a single channel for data communication. </a:t>
            </a:r>
          </a:p>
          <a:p>
            <a:pPr marL="361950" indent="-361950" algn="just">
              <a:buFont typeface="Wingdings" panose="05000000000000000000" pitchFamily="2" charset="2"/>
              <a:buChar char="Ø"/>
            </a:pPr>
            <a:endParaRPr lang="en-US" sz="2400" dirty="0">
              <a:solidFill>
                <a:srgbClr val="000000"/>
              </a:solidFill>
              <a:latin typeface="Times-Roman"/>
            </a:endParaRPr>
          </a:p>
          <a:p>
            <a:pPr marL="361950" indent="-361950" algn="just">
              <a:buFont typeface="Wingdings" panose="05000000000000000000" pitchFamily="2" charset="2"/>
              <a:buChar char="Ø"/>
            </a:pPr>
            <a:r>
              <a:rPr lang="en-IN" sz="2400" dirty="0">
                <a:solidFill>
                  <a:srgbClr val="000000"/>
                </a:solidFill>
                <a:latin typeface="Times-Roman"/>
              </a:rPr>
              <a:t>The channel allocation problem refers to the task of </a:t>
            </a:r>
            <a:r>
              <a:rPr lang="en-IN" sz="2400" b="1" dirty="0">
                <a:solidFill>
                  <a:srgbClr val="000000"/>
                </a:solidFill>
                <a:latin typeface="Times-Roman"/>
              </a:rPr>
              <a:t>assigning communication channels to different users or devices</a:t>
            </a:r>
            <a:r>
              <a:rPr lang="en-IN" sz="2400" dirty="0">
                <a:solidFill>
                  <a:srgbClr val="000000"/>
                </a:solidFill>
                <a:latin typeface="Times-Roman"/>
              </a:rPr>
              <a:t> in a network. </a:t>
            </a:r>
          </a:p>
          <a:p>
            <a:pPr marL="361950" indent="-361950" algn="just">
              <a:buFont typeface="Wingdings" panose="05000000000000000000" pitchFamily="2" charset="2"/>
              <a:buChar char="Ø"/>
            </a:pPr>
            <a:endParaRPr lang="en-IN" sz="2400" dirty="0">
              <a:solidFill>
                <a:srgbClr val="000000"/>
              </a:solidFill>
              <a:latin typeface="Times-Roman"/>
            </a:endParaRPr>
          </a:p>
          <a:p>
            <a:pPr marL="361950" indent="-361950" algn="just">
              <a:buFont typeface="Wingdings" panose="05000000000000000000" pitchFamily="2" charset="2"/>
              <a:buChar char="Ø"/>
            </a:pPr>
            <a:r>
              <a:rPr lang="en-IN" sz="2400" dirty="0">
                <a:solidFill>
                  <a:srgbClr val="000000"/>
                </a:solidFill>
                <a:latin typeface="Times-Roman"/>
              </a:rPr>
              <a:t>In a communication system, </a:t>
            </a:r>
            <a:r>
              <a:rPr lang="en-IN" sz="2400" b="1" dirty="0">
                <a:solidFill>
                  <a:srgbClr val="000000"/>
                </a:solidFill>
                <a:latin typeface="Times-Roman"/>
              </a:rPr>
              <a:t>channels are limited.</a:t>
            </a:r>
          </a:p>
          <a:p>
            <a:pPr marL="361950" indent="-361950" algn="just">
              <a:buFont typeface="Wingdings" panose="05000000000000000000" pitchFamily="2" charset="2"/>
              <a:buChar char="Ø"/>
            </a:pPr>
            <a:endParaRPr lang="en-IN" sz="2400" dirty="0">
              <a:solidFill>
                <a:srgbClr val="000000"/>
              </a:solidFill>
              <a:latin typeface="Times-Roman"/>
            </a:endParaRPr>
          </a:p>
          <a:p>
            <a:pPr marL="361950" indent="-361950" algn="just">
              <a:buFont typeface="Wingdings" panose="05000000000000000000" pitchFamily="2" charset="2"/>
              <a:buChar char="Ø"/>
            </a:pPr>
            <a:r>
              <a:rPr lang="en-IN" sz="2400" dirty="0">
                <a:solidFill>
                  <a:srgbClr val="000000"/>
                </a:solidFill>
                <a:latin typeface="Times-Roman"/>
              </a:rPr>
              <a:t>Media Access Control (MAC) sublayer provides </a:t>
            </a:r>
            <a:r>
              <a:rPr lang="en-IN" sz="2400" b="1" dirty="0">
                <a:solidFill>
                  <a:srgbClr val="000000"/>
                </a:solidFill>
                <a:latin typeface="Times-Roman"/>
              </a:rPr>
              <a:t>control for accessing the transmission medium. </a:t>
            </a:r>
          </a:p>
          <a:p>
            <a:pPr marL="0" indent="0" algn="just">
              <a:buNone/>
            </a:pPr>
            <a:endParaRPr lang="en-IN" sz="2400" dirty="0">
              <a:solidFill>
                <a:srgbClr val="000000"/>
              </a:solidFill>
              <a:latin typeface="Times-Roman"/>
            </a:endParaRPr>
          </a:p>
          <a:p>
            <a:pPr marL="361950" indent="-361950" algn="just">
              <a:buFont typeface="Wingdings" panose="05000000000000000000" pitchFamily="2" charset="2"/>
              <a:buChar char="Ø"/>
            </a:pPr>
            <a:r>
              <a:rPr lang="en-IN" sz="2400" dirty="0">
                <a:solidFill>
                  <a:srgbClr val="000000"/>
                </a:solidFill>
                <a:latin typeface="Times-Roman"/>
              </a:rPr>
              <a:t>It is responsible for </a:t>
            </a:r>
            <a:r>
              <a:rPr lang="en-IN" sz="2400" b="1" dirty="0">
                <a:solidFill>
                  <a:srgbClr val="000000"/>
                </a:solidFill>
                <a:latin typeface="Times-Roman"/>
              </a:rPr>
              <a:t>moving data packets from one network interface card (NIC) to another, across a shared transmission medium.</a:t>
            </a:r>
            <a:endParaRPr lang="en-US" sz="2400" b="1" dirty="0">
              <a:solidFill>
                <a:srgbClr val="000000"/>
              </a:solidFill>
              <a:latin typeface="Times-Roman"/>
            </a:endParaRPr>
          </a:p>
        </p:txBody>
      </p:sp>
    </p:spTree>
    <p:extLst>
      <p:ext uri="{BB962C8B-B14F-4D97-AF65-F5344CB8AC3E}">
        <p14:creationId xmlns:p14="http://schemas.microsoft.com/office/powerpoint/2010/main" val="24132656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 calcmode="lin" valueType="num">
                                      <p:cBhvr additive="base">
                                        <p:cTn id="25"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anim calcmode="lin" valueType="num">
                                      <p:cBhvr additive="base">
                                        <p:cTn id="3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9" name="Picture 7">
            <a:extLst>
              <a:ext uri="{FF2B5EF4-FFF2-40B4-BE49-F238E27FC236}">
                <a16:creationId xmlns:a16="http://schemas.microsoft.com/office/drawing/2014/main" id="{F8C9A2CB-22BA-9E0C-2DCC-0CC567140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5711" y="1018381"/>
            <a:ext cx="6554788" cy="328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CF1E79EB-04C0-AC0D-377F-60AC008D0336}"/>
              </a:ext>
            </a:extLst>
          </p:cNvPr>
          <p:cNvSpPr txBox="1"/>
          <p:nvPr/>
        </p:nvSpPr>
        <p:spPr>
          <a:xfrm>
            <a:off x="1828800" y="4683125"/>
            <a:ext cx="8839200" cy="1422400"/>
          </a:xfrm>
          <a:prstGeom prst="rect">
            <a:avLst/>
          </a:prstGeom>
          <a:noFill/>
        </p:spPr>
        <p:txBody>
          <a:bodyPr>
            <a:spAutoFit/>
          </a:bodyPr>
          <a:lstStyle/>
          <a:p>
            <a:pPr marL="285750" indent="-285750">
              <a:buFont typeface="Arial" panose="020B0604020202020204" pitchFamily="34" charset="0"/>
              <a:buChar char="•"/>
              <a:defRPr/>
            </a:pPr>
            <a:r>
              <a:rPr lang="en-US" sz="2200" dirty="0">
                <a:solidFill>
                  <a:srgbClr val="000000"/>
                </a:solidFill>
                <a:latin typeface="Times-Roman"/>
              </a:rPr>
              <a:t>Random access protocols are mostly used in LANs and WANs.</a:t>
            </a:r>
          </a:p>
          <a:p>
            <a:pPr marL="285750" indent="-285750">
              <a:buFont typeface="Arial" panose="020B0604020202020204" pitchFamily="34" charset="0"/>
              <a:buChar char="•"/>
              <a:defRPr/>
            </a:pPr>
            <a:endParaRPr lang="en-US" sz="1050" dirty="0">
              <a:solidFill>
                <a:srgbClr val="000000"/>
              </a:solidFill>
              <a:latin typeface="Times-Roman"/>
            </a:endParaRPr>
          </a:p>
          <a:p>
            <a:pPr marL="285750" indent="-285750">
              <a:buFont typeface="Arial" panose="020B0604020202020204" pitchFamily="34" charset="0"/>
              <a:buChar char="•"/>
              <a:defRPr/>
            </a:pPr>
            <a:r>
              <a:rPr lang="en-US" sz="2200" dirty="0">
                <a:solidFill>
                  <a:srgbClr val="000000"/>
                </a:solidFill>
                <a:latin typeface="Times-Roman"/>
              </a:rPr>
              <a:t>Controlled-access protocols are used in LANs. </a:t>
            </a:r>
          </a:p>
          <a:p>
            <a:pPr marL="285750" indent="-285750">
              <a:buFont typeface="Arial" panose="020B0604020202020204" pitchFamily="34" charset="0"/>
              <a:buChar char="•"/>
              <a:defRPr/>
            </a:pPr>
            <a:endParaRPr lang="en-US" sz="1000" dirty="0">
              <a:solidFill>
                <a:srgbClr val="000000"/>
              </a:solidFill>
              <a:latin typeface="Times-Roman"/>
            </a:endParaRPr>
          </a:p>
          <a:p>
            <a:pPr marL="285750" indent="-285750">
              <a:buFont typeface="Arial" panose="020B0604020202020204" pitchFamily="34" charset="0"/>
              <a:buChar char="•"/>
              <a:defRPr/>
            </a:pPr>
            <a:r>
              <a:rPr lang="en-US" sz="2200" dirty="0">
                <a:solidFill>
                  <a:srgbClr val="000000"/>
                </a:solidFill>
                <a:latin typeface="Times-Roman"/>
              </a:rPr>
              <a:t>Channelization protocols are used in cellular telephony.</a:t>
            </a:r>
            <a:endParaRPr lang="en-US" sz="2200" dirty="0"/>
          </a:p>
        </p:txBody>
      </p:sp>
      <p:sp>
        <p:nvSpPr>
          <p:cNvPr id="3" name="Rounded Rectangle 17">
            <a:extLst>
              <a:ext uri="{FF2B5EF4-FFF2-40B4-BE49-F238E27FC236}">
                <a16:creationId xmlns:a16="http://schemas.microsoft.com/office/drawing/2014/main" id="{49CE8914-88BF-A0B0-1E21-0C74BF576862}"/>
              </a:ext>
            </a:extLst>
          </p:cNvPr>
          <p:cNvSpPr/>
          <p:nvPr/>
        </p:nvSpPr>
        <p:spPr>
          <a:xfrm>
            <a:off x="2530548" y="47625"/>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Medium Access Protocols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5" name="Text Box 4">
            <a:extLst>
              <a:ext uri="{FF2B5EF4-FFF2-40B4-BE49-F238E27FC236}">
                <a16:creationId xmlns:a16="http://schemas.microsoft.com/office/drawing/2014/main" id="{2F8A8FDE-AE85-686D-C65F-E28D7E5982AB}"/>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11D0DA5F-F2D5-BAC6-2DE2-0DD82287CE82}"/>
              </a:ext>
            </a:extLst>
          </p:cNvPr>
          <p:cNvSpPr>
            <a:spLocks noChangeArrowheads="1"/>
          </p:cNvSpPr>
          <p:nvPr/>
        </p:nvSpPr>
        <p:spPr bwMode="auto">
          <a:xfrm>
            <a:off x="516907" y="1186628"/>
            <a:ext cx="11032668" cy="2462213"/>
          </a:xfrm>
          <a:prstGeom prst="rect">
            <a:avLst/>
          </a:prstGeom>
          <a:noFill/>
          <a:ln>
            <a:noFill/>
          </a:ln>
          <a:effectLst/>
        </p:spPr>
        <p:txBody>
          <a:bodyPr wrap="square" anchor="ctr">
            <a:spAutoFit/>
          </a:bodyPr>
          <a:lstStyle/>
          <a:p>
            <a:pPr marL="285750" indent="-285750" algn="just" eaLnBrk="1" hangingPunct="1">
              <a:buFont typeface="Arial" panose="020B0604020202020204" pitchFamily="34" charset="0"/>
              <a:buChar char="•"/>
              <a:defRPr/>
            </a:pPr>
            <a:r>
              <a:rPr lang="en-US" altLang="en-US" sz="2200" dirty="0">
                <a:solidFill>
                  <a:srgbClr val="000000"/>
                </a:solidFill>
                <a:latin typeface="Times-Roman"/>
              </a:rPr>
              <a:t>In </a:t>
            </a:r>
            <a:r>
              <a:rPr lang="en-US" altLang="en-US" sz="2200" b="1" dirty="0">
                <a:solidFill>
                  <a:srgbClr val="000000"/>
                </a:solidFill>
                <a:latin typeface="Times-Roman"/>
              </a:rPr>
              <a:t>random access</a:t>
            </a:r>
            <a:r>
              <a:rPr lang="en-US" altLang="en-US" sz="2200" dirty="0">
                <a:solidFill>
                  <a:srgbClr val="000000"/>
                </a:solidFill>
                <a:latin typeface="Times-Roman"/>
              </a:rPr>
              <a:t> or </a:t>
            </a:r>
            <a:r>
              <a:rPr lang="en-US" altLang="en-US" sz="2200" b="1" dirty="0">
                <a:solidFill>
                  <a:srgbClr val="000000"/>
                </a:solidFill>
                <a:latin typeface="Times-Roman"/>
              </a:rPr>
              <a:t>contention methods</a:t>
            </a:r>
            <a:r>
              <a:rPr lang="en-US" altLang="en-US" sz="2200" dirty="0">
                <a:solidFill>
                  <a:srgbClr val="000000"/>
                </a:solidFill>
                <a:latin typeface="Times-Roman"/>
              </a:rPr>
              <a:t>, no station is superior to another station, and none is assigned the control over another. </a:t>
            </a:r>
          </a:p>
          <a:p>
            <a:pPr marL="285750" indent="-285750" algn="just" eaLnBrk="1" hangingPunct="1">
              <a:buFont typeface="Arial" panose="020B0604020202020204" pitchFamily="34" charset="0"/>
              <a:buChar char="•"/>
              <a:defRPr/>
            </a:pPr>
            <a:endParaRPr lang="en-US" altLang="en-US" sz="2200" dirty="0">
              <a:solidFill>
                <a:srgbClr val="000000"/>
              </a:solidFill>
              <a:latin typeface="Times-Roman"/>
            </a:endParaRPr>
          </a:p>
          <a:p>
            <a:pPr marL="285750" indent="-285750" algn="just" eaLnBrk="1" hangingPunct="1">
              <a:buFont typeface="Arial" panose="020B0604020202020204" pitchFamily="34" charset="0"/>
              <a:buChar char="•"/>
              <a:defRPr/>
            </a:pPr>
            <a:r>
              <a:rPr lang="en-US" altLang="en-US" sz="2200" dirty="0">
                <a:solidFill>
                  <a:srgbClr val="000000"/>
                </a:solidFill>
                <a:latin typeface="Times-Roman"/>
              </a:rPr>
              <a:t>No station permits, or does not permit, another station to send. </a:t>
            </a:r>
          </a:p>
          <a:p>
            <a:pPr marL="285750" indent="-285750" algn="just" eaLnBrk="1" hangingPunct="1">
              <a:buFont typeface="Arial" panose="020B0604020202020204" pitchFamily="34" charset="0"/>
              <a:buChar char="•"/>
              <a:defRPr/>
            </a:pPr>
            <a:endParaRPr lang="en-US" altLang="en-US" sz="2200" dirty="0">
              <a:solidFill>
                <a:srgbClr val="000000"/>
              </a:solidFill>
              <a:latin typeface="Times-Roman"/>
            </a:endParaRPr>
          </a:p>
          <a:p>
            <a:pPr marL="285750" indent="-285750" algn="just" eaLnBrk="1" hangingPunct="1">
              <a:buFont typeface="Arial" panose="020B0604020202020204" pitchFamily="34" charset="0"/>
              <a:buChar char="•"/>
              <a:defRPr/>
            </a:pPr>
            <a:r>
              <a:rPr lang="en-US" altLang="en-US" sz="2200" dirty="0">
                <a:solidFill>
                  <a:srgbClr val="000000"/>
                </a:solidFill>
                <a:latin typeface="Times-Roman"/>
              </a:rPr>
              <a:t>At each instance, a station that has data to send uses a procedure defined by the protocol to make a decision on whether or not to send. </a:t>
            </a:r>
          </a:p>
        </p:txBody>
      </p:sp>
      <p:sp>
        <p:nvSpPr>
          <p:cNvPr id="10247" name="Rectangle 29">
            <a:extLst>
              <a:ext uri="{FF2B5EF4-FFF2-40B4-BE49-F238E27FC236}">
                <a16:creationId xmlns:a16="http://schemas.microsoft.com/office/drawing/2014/main" id="{A7FA7A49-6796-7CEF-E267-47D68BC3B92A}"/>
              </a:ext>
            </a:extLst>
          </p:cNvPr>
          <p:cNvSpPr>
            <a:spLocks noChangeArrowheads="1"/>
          </p:cNvSpPr>
          <p:nvPr/>
        </p:nvSpPr>
        <p:spPr bwMode="auto">
          <a:xfrm>
            <a:off x="1828800" y="4251081"/>
            <a:ext cx="79248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marL="342900" indent="-342900">
              <a:buClr>
                <a:schemeClr val="tx1"/>
              </a:buClr>
              <a:buSzPct val="117000"/>
              <a:buFont typeface="Wingdings" panose="05000000000000000000" pitchFamily="2" charset="2"/>
              <a:buChar char="Ø"/>
            </a:pPr>
            <a:r>
              <a:rPr lang="en-US" altLang="en-US" sz="2200" i="0" baseline="0" dirty="0">
                <a:solidFill>
                  <a:srgbClr val="0033CC"/>
                </a:solidFill>
              </a:rPr>
              <a:t>ALOHA</a:t>
            </a:r>
            <a:endParaRPr lang="fr-FR" altLang="en-US" sz="2200" i="0" baseline="0" dirty="0">
              <a:solidFill>
                <a:srgbClr val="0033CC"/>
              </a:solidFill>
            </a:endParaRPr>
          </a:p>
          <a:p>
            <a:pPr marL="342900" indent="-342900">
              <a:buClr>
                <a:schemeClr val="tx1"/>
              </a:buClr>
              <a:buSzPct val="117000"/>
              <a:buFont typeface="Wingdings" panose="05000000000000000000" pitchFamily="2" charset="2"/>
              <a:buChar char="Ø"/>
            </a:pPr>
            <a:r>
              <a:rPr lang="en-US" altLang="en-US" sz="2200" i="0" baseline="0" dirty="0">
                <a:solidFill>
                  <a:srgbClr val="0033CC"/>
                </a:solidFill>
              </a:rPr>
              <a:t>Carrier Sense Multiple Access</a:t>
            </a:r>
          </a:p>
          <a:p>
            <a:pPr marL="342900" indent="-342900">
              <a:buClr>
                <a:schemeClr val="tx1"/>
              </a:buClr>
              <a:buSzPct val="117000"/>
              <a:buFont typeface="Wingdings" panose="05000000000000000000" pitchFamily="2" charset="2"/>
              <a:buChar char="Ø"/>
            </a:pPr>
            <a:r>
              <a:rPr lang="en-US" altLang="en-US" sz="2200" i="0" baseline="0" dirty="0">
                <a:solidFill>
                  <a:srgbClr val="0033CC"/>
                </a:solidFill>
              </a:rPr>
              <a:t>Carrier Sense Multiple Access with Collision Detection</a:t>
            </a:r>
          </a:p>
          <a:p>
            <a:pPr marL="342900" indent="-342900">
              <a:buClr>
                <a:schemeClr val="tx1"/>
              </a:buClr>
              <a:buSzPct val="117000"/>
              <a:buFont typeface="Wingdings" panose="05000000000000000000" pitchFamily="2" charset="2"/>
              <a:buChar char="Ø"/>
            </a:pPr>
            <a:r>
              <a:rPr lang="en-US" altLang="en-US" sz="2200" i="0" baseline="0" dirty="0">
                <a:solidFill>
                  <a:srgbClr val="0033CC"/>
                </a:solidFill>
              </a:rPr>
              <a:t>Carrier Sense Multiple Access with Collision Avoidance</a:t>
            </a:r>
          </a:p>
        </p:txBody>
      </p:sp>
      <p:sp>
        <p:nvSpPr>
          <p:cNvPr id="2" name="Rounded Rectangle 17">
            <a:extLst>
              <a:ext uri="{FF2B5EF4-FFF2-40B4-BE49-F238E27FC236}">
                <a16:creationId xmlns:a16="http://schemas.microsoft.com/office/drawing/2014/main" id="{FD7DD864-60D9-561A-1A83-2BFCEA02859C}"/>
              </a:ext>
            </a:extLst>
          </p:cNvPr>
          <p:cNvSpPr/>
          <p:nvPr/>
        </p:nvSpPr>
        <p:spPr>
          <a:xfrm>
            <a:off x="2713265" y="542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RANDOM ACCESS PROTOCOLS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3" name="Text Box 4">
            <a:extLst>
              <a:ext uri="{FF2B5EF4-FFF2-40B4-BE49-F238E27FC236}">
                <a16:creationId xmlns:a16="http://schemas.microsoft.com/office/drawing/2014/main" id="{8D8F52F9-0BFF-15EE-618E-8DFEEA3EBD6F}"/>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E56B62AD-5B07-63B6-EA18-A5EA98063B79}"/>
              </a:ext>
            </a:extLst>
          </p:cNvPr>
          <p:cNvSpPr>
            <a:spLocks noChangeArrowheads="1"/>
          </p:cNvSpPr>
          <p:nvPr/>
        </p:nvSpPr>
        <p:spPr bwMode="auto">
          <a:xfrm>
            <a:off x="514643" y="858394"/>
            <a:ext cx="11386625" cy="5275162"/>
          </a:xfrm>
          <a:prstGeom prst="rect">
            <a:avLst/>
          </a:prstGeom>
          <a:noFill/>
          <a:ln>
            <a:noFill/>
          </a:ln>
          <a:effectLst/>
        </p:spPr>
        <p:txBody>
          <a:bodyPr wrap="square" anchor="ctr">
            <a:spAutoFit/>
          </a:bodyPr>
          <a:lstStyle/>
          <a:p>
            <a:pPr marL="342900" indent="-342900" algn="just">
              <a:buFont typeface="Arial" panose="020B0604020202020204" pitchFamily="34" charset="0"/>
              <a:buChar char="•"/>
              <a:defRPr/>
            </a:pPr>
            <a:r>
              <a:rPr lang="en-US" sz="2000" dirty="0">
                <a:solidFill>
                  <a:srgbClr val="000000"/>
                </a:solidFill>
                <a:latin typeface="Times New Roman" panose="02020603050405020304" pitchFamily="18" charset="0"/>
                <a:cs typeface="Times New Roman" panose="02020603050405020304" pitchFamily="18" charset="0"/>
              </a:rPr>
              <a:t>In a random-access method, </a:t>
            </a:r>
            <a:r>
              <a:rPr lang="en-US" sz="2000" b="1" dirty="0">
                <a:solidFill>
                  <a:srgbClr val="000000"/>
                </a:solidFill>
                <a:latin typeface="Times New Roman" panose="02020603050405020304" pitchFamily="18" charset="0"/>
                <a:cs typeface="Times New Roman" panose="02020603050405020304" pitchFamily="18" charset="0"/>
              </a:rPr>
              <a:t>each station has the right to the medium </a:t>
            </a:r>
            <a:r>
              <a:rPr lang="en-US" sz="2000" dirty="0">
                <a:solidFill>
                  <a:srgbClr val="000000"/>
                </a:solidFill>
                <a:latin typeface="Times New Roman" panose="02020603050405020304" pitchFamily="18" charset="0"/>
                <a:cs typeface="Times New Roman" panose="02020603050405020304" pitchFamily="18" charset="0"/>
              </a:rPr>
              <a:t>without being controlled by any other station. </a:t>
            </a:r>
          </a:p>
          <a:p>
            <a:pPr marL="342900" indent="-342900" algn="just">
              <a:buFont typeface="Arial" panose="020B0604020202020204" pitchFamily="34" charset="0"/>
              <a:buChar char="•"/>
              <a:defRPr/>
            </a:pPr>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r>
              <a:rPr lang="en-US" sz="2000" dirty="0">
                <a:solidFill>
                  <a:srgbClr val="000000"/>
                </a:solidFill>
                <a:latin typeface="Times New Roman" panose="02020603050405020304" pitchFamily="18" charset="0"/>
                <a:cs typeface="Times New Roman" panose="02020603050405020304" pitchFamily="18" charset="0"/>
              </a:rPr>
              <a:t>However, if more than one station tries to send, there is an access conflict—</a:t>
            </a:r>
            <a:r>
              <a:rPr lang="en-US" sz="2000" b="1" dirty="0">
                <a:solidFill>
                  <a:srgbClr val="000000"/>
                </a:solidFill>
                <a:latin typeface="Times New Roman" panose="02020603050405020304" pitchFamily="18" charset="0"/>
                <a:cs typeface="Times New Roman" panose="02020603050405020304" pitchFamily="18" charset="0"/>
              </a:rPr>
              <a:t>collision</a:t>
            </a:r>
            <a:r>
              <a:rPr lang="en-US" sz="2000" dirty="0">
                <a:solidFill>
                  <a:srgbClr val="000000"/>
                </a:solidFill>
                <a:latin typeface="Times New Roman" panose="02020603050405020304" pitchFamily="18" charset="0"/>
                <a:cs typeface="Times New Roman" panose="02020603050405020304" pitchFamily="18" charset="0"/>
              </a:rPr>
              <a:t>—and the frames will be either destroyed or modified. </a:t>
            </a:r>
          </a:p>
          <a:p>
            <a:pPr marL="342900" indent="-342900" algn="just">
              <a:buFont typeface="Arial" panose="020B0604020202020204" pitchFamily="34" charset="0"/>
              <a:buChar char="•"/>
              <a:defRPr/>
            </a:pPr>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r>
              <a:rPr lang="en-US" sz="2000" dirty="0">
                <a:solidFill>
                  <a:srgbClr val="000000"/>
                </a:solidFill>
                <a:latin typeface="Times New Roman" panose="02020603050405020304" pitchFamily="18" charset="0"/>
                <a:cs typeface="Times New Roman" panose="02020603050405020304" pitchFamily="18" charset="0"/>
              </a:rPr>
              <a:t>To avoid access conflict or to resolve it when it happens, each station follows a procedure that answers the following questions:</a:t>
            </a:r>
          </a:p>
          <a:p>
            <a:pPr marL="342900" indent="-342900" algn="just">
              <a:buFont typeface="Arial" panose="020B0604020202020204" pitchFamily="34" charset="0"/>
              <a:buChar char="•"/>
              <a:defRPr/>
            </a:pPr>
            <a:endParaRPr lang="en-US" sz="2000" dirty="0">
              <a:solidFill>
                <a:srgbClr val="000000"/>
              </a:solidFill>
              <a:latin typeface="Times New Roman" panose="02020603050405020304" pitchFamily="18" charset="0"/>
              <a:cs typeface="Times New Roman" panose="02020603050405020304" pitchFamily="18" charset="0"/>
            </a:endParaRPr>
          </a:p>
          <a:p>
            <a:pPr marL="1257300" lvl="2" indent="-342900" algn="just">
              <a:lnSpc>
                <a:spcPct val="150000"/>
              </a:lnSpc>
              <a:buFont typeface="Wingdings" panose="05000000000000000000" pitchFamily="2" charset="2"/>
              <a:buChar char="Ø"/>
              <a:defRPr/>
            </a:pPr>
            <a:r>
              <a:rPr lang="en-US" sz="2000" dirty="0">
                <a:solidFill>
                  <a:srgbClr val="0070C0"/>
                </a:solidFill>
                <a:latin typeface="Times-Roman"/>
              </a:rPr>
              <a:t>When can the station access the medium?</a:t>
            </a:r>
          </a:p>
          <a:p>
            <a:pPr marL="1257300" lvl="2" indent="-342900" algn="just">
              <a:lnSpc>
                <a:spcPct val="150000"/>
              </a:lnSpc>
              <a:buFont typeface="Wingdings" panose="05000000000000000000" pitchFamily="2" charset="2"/>
              <a:buChar char="Ø"/>
              <a:defRPr/>
            </a:pPr>
            <a:r>
              <a:rPr lang="en-US" sz="2000" dirty="0">
                <a:solidFill>
                  <a:srgbClr val="0070C0"/>
                </a:solidFill>
                <a:latin typeface="Times-Roman"/>
              </a:rPr>
              <a:t>What can the station do if the medium is busy?</a:t>
            </a:r>
          </a:p>
          <a:p>
            <a:pPr marL="1257300" lvl="2" indent="-342900" algn="just">
              <a:lnSpc>
                <a:spcPct val="150000"/>
              </a:lnSpc>
              <a:buFont typeface="Wingdings" panose="05000000000000000000" pitchFamily="2" charset="2"/>
              <a:buChar char="Ø"/>
              <a:defRPr/>
            </a:pPr>
            <a:r>
              <a:rPr lang="en-US" sz="2000" dirty="0">
                <a:solidFill>
                  <a:srgbClr val="0070C0"/>
                </a:solidFill>
                <a:latin typeface="Times-Roman"/>
              </a:rPr>
              <a:t>How can the station determine the success or failure of the transmission?</a:t>
            </a:r>
          </a:p>
          <a:p>
            <a:pPr marL="1257300" lvl="2" indent="-342900" algn="just">
              <a:lnSpc>
                <a:spcPct val="150000"/>
              </a:lnSpc>
              <a:buFont typeface="Wingdings" panose="05000000000000000000" pitchFamily="2" charset="2"/>
              <a:buChar char="Ø"/>
              <a:defRPr/>
            </a:pPr>
            <a:r>
              <a:rPr lang="en-US" sz="2000" dirty="0">
                <a:solidFill>
                  <a:srgbClr val="0070C0"/>
                </a:solidFill>
                <a:latin typeface="Times-Roman"/>
              </a:rPr>
              <a:t>What can the station do if there is an access conflict?</a:t>
            </a:r>
            <a:endParaRPr lang="en-US" altLang="en-US" sz="3200" dirty="0">
              <a:solidFill>
                <a:srgbClr val="0070C0"/>
              </a:solidFill>
              <a:effectLst>
                <a:outerShdw blurRad="38100" dist="38100" dir="2700000" algn="tl">
                  <a:srgbClr val="C0C0C0"/>
                </a:outerShdw>
              </a:effectLst>
            </a:endParaRPr>
          </a:p>
        </p:txBody>
      </p:sp>
      <p:sp>
        <p:nvSpPr>
          <p:cNvPr id="2" name="Rounded Rectangle 17">
            <a:extLst>
              <a:ext uri="{FF2B5EF4-FFF2-40B4-BE49-F238E27FC236}">
                <a16:creationId xmlns:a16="http://schemas.microsoft.com/office/drawing/2014/main" id="{BB24D74F-2E21-207D-9816-ACAC7A2F3442}"/>
              </a:ext>
            </a:extLst>
          </p:cNvPr>
          <p:cNvSpPr/>
          <p:nvPr/>
        </p:nvSpPr>
        <p:spPr>
          <a:xfrm>
            <a:off x="2713265" y="542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RANDOM ACCESS PROTOCOLS…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5134708" y="1505243"/>
            <a:ext cx="6890824" cy="5352757"/>
          </a:xfrm>
          <a:prstGeom prst="rect">
            <a:avLst/>
          </a:prstGeom>
        </p:spPr>
        <p:txBody>
          <a:bodyPr vert="horz" lIns="91440" tIns="45720" rIns="91440" bIns="45720" rtlCol="0">
            <a:normAutofit/>
          </a:bodyPr>
          <a:lstStyle/>
          <a:p>
            <a:pPr marL="342900" indent="-342900" algn="just">
              <a:buFont typeface="Wingdings" panose="05000000000000000000" pitchFamily="2" charset="2"/>
              <a:buChar char="Ø"/>
              <a:defRPr/>
            </a:pPr>
            <a:r>
              <a:rPr lang="en-US" sz="2400" i="1" dirty="0">
                <a:latin typeface="Times New Roman" pitchFamily="18" charset="0"/>
              </a:rPr>
              <a:t>Pure ALOHA</a:t>
            </a:r>
          </a:p>
          <a:p>
            <a:pPr algn="just">
              <a:defRPr/>
            </a:pPr>
            <a:endParaRPr lang="en-US" sz="2400" i="1" dirty="0">
              <a:latin typeface="Times New Roman" pitchFamily="18" charset="0"/>
            </a:endParaRPr>
          </a:p>
          <a:p>
            <a:pPr marL="342900" indent="-342900" algn="just">
              <a:buFont typeface="Wingdings" panose="05000000000000000000" pitchFamily="2" charset="2"/>
              <a:buChar char="Ø"/>
              <a:defRPr/>
            </a:pPr>
            <a:r>
              <a:rPr lang="en-US" sz="2400" i="1" dirty="0">
                <a:latin typeface="Times New Roman" pitchFamily="18" charset="0"/>
              </a:rPr>
              <a:t>Slotted ALOHA</a:t>
            </a: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ALOHA PROTOCOLS</a:t>
            </a:r>
          </a:p>
        </p:txBody>
      </p:sp>
    </p:spTree>
    <p:extLst>
      <p:ext uri="{BB962C8B-B14F-4D97-AF65-F5344CB8AC3E}">
        <p14:creationId xmlns:p14="http://schemas.microsoft.com/office/powerpoint/2010/main" val="3844303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858130" y="1505243"/>
            <a:ext cx="10943346" cy="5352757"/>
          </a:xfrm>
          <a:prstGeom prst="rect">
            <a:avLst/>
          </a:prstGeom>
        </p:spPr>
        <p:txBody>
          <a:bodyPr vert="horz" lIns="91440" tIns="45720" rIns="91440" bIns="45720" rtlCol="0">
            <a:normAutofit/>
          </a:bodyPr>
          <a:lstStyle/>
          <a:p>
            <a:pPr marL="342900" indent="-342900" algn="just">
              <a:buFont typeface="Arial" panose="020B0604020202020204" pitchFamily="34" charset="0"/>
              <a:buChar char="•"/>
              <a:defRPr/>
            </a:pPr>
            <a:r>
              <a:rPr lang="en-US" sz="2200" dirty="0">
                <a:solidFill>
                  <a:srgbClr val="000000"/>
                </a:solidFill>
                <a:latin typeface="Times New Roman" panose="02020603050405020304" pitchFamily="18" charset="0"/>
                <a:cs typeface="Times New Roman" panose="02020603050405020304" pitchFamily="18" charset="0"/>
              </a:rPr>
              <a:t>The original ALOHA protocol is called pure ALOHA. </a:t>
            </a:r>
          </a:p>
          <a:p>
            <a:pPr marL="342900" indent="-342900" algn="just">
              <a:buFont typeface="Arial" panose="020B0604020202020204" pitchFamily="34" charset="0"/>
              <a:buChar char="•"/>
              <a:defRPr/>
            </a:pPr>
            <a:endParaRPr lang="en-US" sz="22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r>
              <a:rPr lang="en-US" sz="2200" dirty="0">
                <a:solidFill>
                  <a:srgbClr val="000000"/>
                </a:solidFill>
                <a:latin typeface="Times New Roman" panose="02020603050405020304" pitchFamily="18" charset="0"/>
                <a:cs typeface="Times New Roman" panose="02020603050405020304" pitchFamily="18" charset="0"/>
              </a:rPr>
              <a:t>This is a simple but elegant protocol.</a:t>
            </a:r>
          </a:p>
          <a:p>
            <a:pPr marL="342900" indent="-342900" algn="just">
              <a:buFont typeface="Arial" panose="020B0604020202020204" pitchFamily="34" charset="0"/>
              <a:buChar char="•"/>
              <a:defRPr/>
            </a:pPr>
            <a:endParaRPr lang="en-US" sz="22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r>
              <a:rPr lang="en-US" sz="2200" dirty="0">
                <a:solidFill>
                  <a:srgbClr val="000000"/>
                </a:solidFill>
                <a:latin typeface="Times New Roman" panose="02020603050405020304" pitchFamily="18" charset="0"/>
                <a:cs typeface="Times New Roman" panose="02020603050405020304" pitchFamily="18" charset="0"/>
              </a:rPr>
              <a:t>The idea is that each station sends a frame whenever it has a frame to send (multiple access). </a:t>
            </a:r>
          </a:p>
          <a:p>
            <a:pPr marL="342900" indent="-342900" algn="just">
              <a:buFont typeface="Arial" panose="020B0604020202020204" pitchFamily="34" charset="0"/>
              <a:buChar char="•"/>
              <a:defRPr/>
            </a:pPr>
            <a:endParaRPr lang="en-US" sz="22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defRPr/>
            </a:pPr>
            <a:r>
              <a:rPr lang="en-US" sz="2200" dirty="0">
                <a:solidFill>
                  <a:srgbClr val="000000"/>
                </a:solidFill>
                <a:latin typeface="Times New Roman" panose="02020603050405020304" pitchFamily="18" charset="0"/>
                <a:cs typeface="Times New Roman" panose="02020603050405020304" pitchFamily="18" charset="0"/>
              </a:rPr>
              <a:t>However, since there is only one channel to share, there is the possibility of collision between frames from different stations. </a:t>
            </a:r>
            <a:endParaRPr lang="en-US" altLang="en-US" sz="220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PURE ALOHA PROTOCOL</a:t>
            </a:r>
          </a:p>
        </p:txBody>
      </p:sp>
    </p:spTree>
    <p:extLst>
      <p:ext uri="{BB962C8B-B14F-4D97-AF65-F5344CB8AC3E}">
        <p14:creationId xmlns:p14="http://schemas.microsoft.com/office/powerpoint/2010/main" val="2169766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9F5E4-BFCB-D075-A9CA-B7DD3579864B}"/>
              </a:ext>
            </a:extLst>
          </p:cNvPr>
          <p:cNvSpPr>
            <a:spLocks noGrp="1"/>
          </p:cNvSpPr>
          <p:nvPr>
            <p:ph type="title"/>
          </p:nvPr>
        </p:nvSpPr>
        <p:spPr>
          <a:xfrm>
            <a:off x="838200" y="365125"/>
            <a:ext cx="10515600" cy="5797550"/>
          </a:xfrm>
        </p:spPr>
        <p:txBody>
          <a:bodyPr/>
          <a:lstStyle/>
          <a:p>
            <a:pPr algn="ctr"/>
            <a:br>
              <a:rPr lang="en-IN" b="1" dirty="0"/>
            </a:br>
            <a:br>
              <a:rPr lang="en-IN" b="1" dirty="0"/>
            </a:br>
            <a:br>
              <a:rPr lang="en-IN" b="1" dirty="0"/>
            </a:br>
            <a:br>
              <a:rPr lang="en-IN" b="1" dirty="0"/>
            </a:br>
            <a:r>
              <a:rPr lang="en-IN" sz="5400" b="1" dirty="0"/>
              <a:t>PURE ALOHA</a:t>
            </a:r>
            <a:endParaRPr lang="en-IN" b="1" dirty="0"/>
          </a:p>
        </p:txBody>
      </p:sp>
    </p:spTree>
    <p:extLst>
      <p:ext uri="{BB962C8B-B14F-4D97-AF65-F5344CB8AC3E}">
        <p14:creationId xmlns:p14="http://schemas.microsoft.com/office/powerpoint/2010/main" val="1239108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Line 2">
            <a:extLst>
              <a:ext uri="{FF2B5EF4-FFF2-40B4-BE49-F238E27FC236}">
                <a16:creationId xmlns:a16="http://schemas.microsoft.com/office/drawing/2014/main" id="{298AA2B4-B0AA-1540-A5A5-7FA3DCB482E4}"/>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2" name="Line 3">
            <a:extLst>
              <a:ext uri="{FF2B5EF4-FFF2-40B4-BE49-F238E27FC236}">
                <a16:creationId xmlns:a16="http://schemas.microsoft.com/office/drawing/2014/main" id="{B458C0A9-91E0-AA76-D674-971DD96C329E}"/>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3" name="Text Box 4">
            <a:extLst>
              <a:ext uri="{FF2B5EF4-FFF2-40B4-BE49-F238E27FC236}">
                <a16:creationId xmlns:a16="http://schemas.microsoft.com/office/drawing/2014/main" id="{59B07E7E-DB6D-092E-A78D-59970EA9BC67}"/>
              </a:ext>
            </a:extLst>
          </p:cNvPr>
          <p:cNvSpPr txBox="1">
            <a:spLocks noChangeArrowheads="1"/>
          </p:cNvSpPr>
          <p:nvPr/>
        </p:nvSpPr>
        <p:spPr bwMode="auto">
          <a:xfrm>
            <a:off x="1828800" y="381000"/>
            <a:ext cx="527137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baseline="0" dirty="0">
                <a:solidFill>
                  <a:srgbClr val="7030A0"/>
                </a:solidFill>
              </a:rPr>
              <a:t>Frames transmission in a pure ALOHA network</a:t>
            </a:r>
          </a:p>
        </p:txBody>
      </p:sp>
      <p:sp>
        <p:nvSpPr>
          <p:cNvPr id="17414" name="Line 5">
            <a:extLst>
              <a:ext uri="{FF2B5EF4-FFF2-40B4-BE49-F238E27FC236}">
                <a16:creationId xmlns:a16="http://schemas.microsoft.com/office/drawing/2014/main" id="{9ADA72C9-C585-9F07-1884-A568FA17FABD}"/>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415" name="Picture 7">
            <a:extLst>
              <a:ext uri="{FF2B5EF4-FFF2-40B4-BE49-F238E27FC236}">
                <a16:creationId xmlns:a16="http://schemas.microsoft.com/office/drawing/2014/main" id="{A68E2965-4AD0-ED86-535A-7958E9666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3076" y="1600201"/>
            <a:ext cx="8620125"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AA2942DA-3962-5C54-FC29-F039B07B13C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863AB870-B012-4949-A3D9-81CC4FC908BC}" type="slidenum">
              <a:rPr lang="en-US" altLang="en-US" sz="2000" i="0" baseline="0">
                <a:solidFill>
                  <a:schemeClr val="bg2"/>
                </a:solidFill>
                <a:latin typeface="Arial" panose="020B0604020202020204" pitchFamily="34" charset="0"/>
              </a:rPr>
              <a:pPr/>
              <a:t>12</a:t>
            </a:fld>
            <a:endParaRPr lang="en-US" altLang="en-US" sz="2000" i="0" baseline="0">
              <a:solidFill>
                <a:schemeClr val="bg2"/>
              </a:solidFill>
              <a:latin typeface="Arial" panose="020B0604020202020204" pitchFamily="34" charset="0"/>
            </a:endParaRPr>
          </a:p>
        </p:txBody>
      </p:sp>
      <p:sp>
        <p:nvSpPr>
          <p:cNvPr id="19461" name="Text Box 4">
            <a:extLst>
              <a:ext uri="{FF2B5EF4-FFF2-40B4-BE49-F238E27FC236}">
                <a16:creationId xmlns:a16="http://schemas.microsoft.com/office/drawing/2014/main" id="{E33E3638-96B7-E7AF-E555-12189661EDF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A51A4926-E4E5-001F-0F0F-D6E65A3220A7}"/>
              </a:ext>
            </a:extLst>
          </p:cNvPr>
          <p:cNvSpPr>
            <a:spLocks noChangeArrowheads="1"/>
          </p:cNvSpPr>
          <p:nvPr/>
        </p:nvSpPr>
        <p:spPr bwMode="auto">
          <a:xfrm>
            <a:off x="357553" y="674400"/>
            <a:ext cx="11324493" cy="5509200"/>
          </a:xfrm>
          <a:prstGeom prst="rect">
            <a:avLst/>
          </a:prstGeom>
          <a:noFill/>
          <a:ln>
            <a:noFill/>
          </a:ln>
          <a:effectLst/>
        </p:spPr>
        <p:txBody>
          <a:bodyPr wrap="square" anchor="ctr">
            <a:spAutoFit/>
          </a:bodyPr>
          <a:lstStyle/>
          <a:p>
            <a:pPr marL="285750" indent="-285750" algn="just">
              <a:buFont typeface="Arial" panose="020B0604020202020204" pitchFamily="34" charset="0"/>
              <a:buChar char="•"/>
              <a:defRPr/>
            </a:pPr>
            <a:r>
              <a:rPr lang="en-US" sz="1600" dirty="0">
                <a:latin typeface="Times-Roman"/>
              </a:rPr>
              <a:t>There are four stations that contend with one another for access to the shared channel. Each station sends two frames; there are a total of eight frames on the shared medium.</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Some of these frames collide because multiple frames are in contention for the shared channel. </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Figure shows that only two frames survive: one frame from station 1 and one frame from station 3. </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We need to mention that even if one bit of a frame coexists on the channel with one bit from another frame, there is a collision, and both will be destroyed. </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It is obvious that we need to resend the frames that have been destroyed during transmission.</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The pure ALOHA protocol relies on acknowledgments from the receiver. </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When a station sends a frame, it expects the receiver to send an acknowledgment. If the acknowledgment does not arrive after a time-out period, the station assumes that the frame (or the acknowledgment) has been destroyed and resends the frame.</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A collision involves two or more stations. If all these stations try to resend their frames after the time-out, the frames will collide again. </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600" dirty="0">
                <a:latin typeface="Times-Roman"/>
              </a:rPr>
              <a:t>Pure ALOHA dictates that when the time-out period passes, each station waits a random amount of time before resending its frame. The randomness will help avoid more collisions. We call this time the </a:t>
            </a:r>
            <a:r>
              <a:rPr lang="en-US" sz="1600" dirty="0">
                <a:latin typeface="Times-Italic"/>
              </a:rPr>
              <a:t>backoff time T</a:t>
            </a:r>
            <a:r>
              <a:rPr lang="en-US" sz="1600" baseline="-25000" dirty="0">
                <a:latin typeface="Times-Italic"/>
              </a:rPr>
              <a:t>B</a:t>
            </a:r>
            <a:r>
              <a:rPr lang="en-US" sz="1600" dirty="0">
                <a:latin typeface="Times-Roman"/>
              </a:rPr>
              <a:t>.</a:t>
            </a:r>
            <a:endParaRPr lang="en-US" altLang="en-US" sz="3600" dirty="0">
              <a:effectLst>
                <a:outerShdw blurRad="38100" dist="38100" dir="2700000" algn="tl">
                  <a:srgbClr val="C0C0C0"/>
                </a:outerShdw>
              </a:effectLst>
            </a:endParaRPr>
          </a:p>
        </p:txBody>
      </p:sp>
      <p:sp>
        <p:nvSpPr>
          <p:cNvPr id="2" name="Rounded Rectangle 17">
            <a:extLst>
              <a:ext uri="{FF2B5EF4-FFF2-40B4-BE49-F238E27FC236}">
                <a16:creationId xmlns:a16="http://schemas.microsoft.com/office/drawing/2014/main" id="{7C89854E-02C6-6AAA-ED44-08482F0B4E3A}"/>
              </a:ext>
            </a:extLst>
          </p:cNvPr>
          <p:cNvSpPr/>
          <p:nvPr/>
        </p:nvSpPr>
        <p:spPr>
          <a:xfrm>
            <a:off x="2901754" y="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WORKING OF PURE ALOHA PROTOCOL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Line 2">
            <a:extLst>
              <a:ext uri="{FF2B5EF4-FFF2-40B4-BE49-F238E27FC236}">
                <a16:creationId xmlns:a16="http://schemas.microsoft.com/office/drawing/2014/main" id="{847B5961-6AFC-F24C-B640-A18CE410B3C1}"/>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08" name="Line 3">
            <a:extLst>
              <a:ext uri="{FF2B5EF4-FFF2-40B4-BE49-F238E27FC236}">
                <a16:creationId xmlns:a16="http://schemas.microsoft.com/office/drawing/2014/main" id="{E0579FD9-85DC-BB89-D125-D265C7F8BBDB}"/>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09" name="Text Box 4">
            <a:extLst>
              <a:ext uri="{FF2B5EF4-FFF2-40B4-BE49-F238E27FC236}">
                <a16:creationId xmlns:a16="http://schemas.microsoft.com/office/drawing/2014/main" id="{A1D69A78-280D-288A-F48F-856A38995205}"/>
              </a:ext>
            </a:extLst>
          </p:cNvPr>
          <p:cNvSpPr txBox="1">
            <a:spLocks noChangeArrowheads="1"/>
          </p:cNvSpPr>
          <p:nvPr/>
        </p:nvSpPr>
        <p:spPr bwMode="auto">
          <a:xfrm>
            <a:off x="1828800" y="381000"/>
            <a:ext cx="52139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it-IT" altLang="en-US" sz="2400" i="0" baseline="0" dirty="0">
                <a:solidFill>
                  <a:schemeClr val="folHlink"/>
                </a:solidFill>
              </a:rPr>
              <a:t>Procedure for pure ALOHA protocol</a:t>
            </a:r>
            <a:endParaRPr lang="en-US" altLang="en-US" sz="2400" i="0" baseline="0" dirty="0">
              <a:solidFill>
                <a:schemeClr val="folHlink"/>
              </a:solidFill>
            </a:endParaRPr>
          </a:p>
        </p:txBody>
      </p:sp>
      <p:sp>
        <p:nvSpPr>
          <p:cNvPr id="21510" name="Line 5">
            <a:extLst>
              <a:ext uri="{FF2B5EF4-FFF2-40B4-BE49-F238E27FC236}">
                <a16:creationId xmlns:a16="http://schemas.microsoft.com/office/drawing/2014/main" id="{5D555CE6-0314-48C1-C273-D8B92E420F89}"/>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1511" name="Picture 8">
            <a:extLst>
              <a:ext uri="{FF2B5EF4-FFF2-40B4-BE49-F238E27FC236}">
                <a16:creationId xmlns:a16="http://schemas.microsoft.com/office/drawing/2014/main" id="{2DAB1E64-F4F4-FE53-08CE-49AAECE09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4938" y="1206500"/>
            <a:ext cx="6088062" cy="473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7" name="Text Box 4">
            <a:extLst>
              <a:ext uri="{FF2B5EF4-FFF2-40B4-BE49-F238E27FC236}">
                <a16:creationId xmlns:a16="http://schemas.microsoft.com/office/drawing/2014/main" id="{F012CCFF-A2F3-BE86-6C82-1F721FD618B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9B700F66-9C0B-506A-BB4E-88A877D12D80}"/>
              </a:ext>
            </a:extLst>
          </p:cNvPr>
          <p:cNvSpPr>
            <a:spLocks noChangeArrowheads="1"/>
          </p:cNvSpPr>
          <p:nvPr/>
        </p:nvSpPr>
        <p:spPr bwMode="auto">
          <a:xfrm>
            <a:off x="520505" y="1381820"/>
            <a:ext cx="11057206" cy="4616648"/>
          </a:xfrm>
          <a:prstGeom prst="rect">
            <a:avLst/>
          </a:prstGeom>
          <a:noFill/>
          <a:ln>
            <a:noFill/>
          </a:ln>
          <a:effectLst/>
        </p:spPr>
        <p:txBody>
          <a:bodyPr wrap="square" anchor="ctr">
            <a:spAutoFit/>
          </a:bodyPr>
          <a:lstStyle/>
          <a:p>
            <a:pPr algn="just">
              <a:defRPr/>
            </a:pPr>
            <a:r>
              <a:rPr lang="en-US" dirty="0">
                <a:latin typeface="Times-Roman"/>
              </a:rPr>
              <a:t>Pure ALOHA has a second method to prevent congesting the channel with retransmitted frames. After a maximum number of retransmission attempts </a:t>
            </a:r>
            <a:r>
              <a:rPr lang="en-US" dirty="0" err="1">
                <a:latin typeface="Times-Italic"/>
              </a:rPr>
              <a:t>Kmax</a:t>
            </a:r>
            <a:r>
              <a:rPr lang="en-US" dirty="0">
                <a:latin typeface="Times-Italic"/>
              </a:rPr>
              <a:t>, </a:t>
            </a:r>
            <a:r>
              <a:rPr lang="en-US" dirty="0">
                <a:latin typeface="Times-Roman"/>
              </a:rPr>
              <a:t>a station must give up and try later. The procedure is:</a:t>
            </a:r>
          </a:p>
          <a:p>
            <a:pPr algn="just">
              <a:defRPr/>
            </a:pPr>
            <a:endParaRPr lang="en-US" sz="2400" dirty="0">
              <a:solidFill>
                <a:srgbClr val="00FFFF"/>
              </a:solidFill>
              <a:latin typeface="Times-BoldItalic"/>
            </a:endParaRPr>
          </a:p>
          <a:p>
            <a:pPr marL="285750" indent="-285750" algn="just">
              <a:buFont typeface="Arial" panose="020B0604020202020204" pitchFamily="34" charset="0"/>
              <a:buChar char="•"/>
              <a:defRPr/>
            </a:pPr>
            <a:r>
              <a:rPr lang="en-US" dirty="0">
                <a:latin typeface="Times-Roman"/>
              </a:rPr>
              <a:t>The time-out period is equal to the maximum possible round-trip propagation delay, which is twice the amount of time required to send a frame between the two most widely separated stations (2</a:t>
            </a:r>
            <a:r>
              <a:rPr lang="en-US" dirty="0">
                <a:latin typeface="Symbol" panose="05050102010706020507" pitchFamily="18" charset="2"/>
              </a:rPr>
              <a:t>*</a:t>
            </a:r>
            <a:r>
              <a:rPr lang="en-US" dirty="0" err="1">
                <a:latin typeface="Times-Italic"/>
              </a:rPr>
              <a:t>Tp</a:t>
            </a:r>
            <a:r>
              <a:rPr lang="en-US" dirty="0">
                <a:latin typeface="Times-Roman"/>
              </a:rPr>
              <a:t>). </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The backoff time </a:t>
            </a:r>
            <a:r>
              <a:rPr lang="en-US" dirty="0">
                <a:latin typeface="Times-Italic"/>
              </a:rPr>
              <a:t>T</a:t>
            </a:r>
            <a:r>
              <a:rPr lang="en-US" baseline="-25000" dirty="0">
                <a:latin typeface="Times-Italic"/>
              </a:rPr>
              <a:t>B</a:t>
            </a:r>
            <a:r>
              <a:rPr lang="en-US" dirty="0">
                <a:latin typeface="Times-Italic"/>
              </a:rPr>
              <a:t> </a:t>
            </a:r>
            <a:r>
              <a:rPr lang="en-US" dirty="0">
                <a:latin typeface="Times-Roman"/>
              </a:rPr>
              <a:t>is a random value that normally depends on </a:t>
            </a:r>
            <a:r>
              <a:rPr lang="en-US" dirty="0">
                <a:latin typeface="Times-Italic"/>
              </a:rPr>
              <a:t>K </a:t>
            </a:r>
            <a:r>
              <a:rPr lang="en-US" dirty="0">
                <a:latin typeface="Times-Roman"/>
              </a:rPr>
              <a:t>(the number of attempted unsuccessful transmissions). </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The formula for </a:t>
            </a:r>
            <a:r>
              <a:rPr lang="en-US" dirty="0">
                <a:latin typeface="Times-Italic"/>
              </a:rPr>
              <a:t>T</a:t>
            </a:r>
            <a:r>
              <a:rPr lang="en-US" baseline="-25000" dirty="0">
                <a:latin typeface="Times-Italic"/>
              </a:rPr>
              <a:t>B</a:t>
            </a:r>
            <a:r>
              <a:rPr lang="en-US" dirty="0">
                <a:latin typeface="Times-Italic"/>
              </a:rPr>
              <a:t> </a:t>
            </a:r>
            <a:r>
              <a:rPr lang="en-US" dirty="0">
                <a:latin typeface="Times-Roman"/>
              </a:rPr>
              <a:t>depends on the implementation. One common formula is the </a:t>
            </a:r>
            <a:r>
              <a:rPr lang="en-US" dirty="0">
                <a:latin typeface="Times-BoldItalic"/>
              </a:rPr>
              <a:t>binary exponential backoff. </a:t>
            </a:r>
            <a:r>
              <a:rPr lang="en-US" dirty="0">
                <a:latin typeface="Times-Roman"/>
              </a:rPr>
              <a:t>In this method, for each retransmission, a multiplier </a:t>
            </a:r>
            <a:r>
              <a:rPr lang="en-US" dirty="0">
                <a:latin typeface="Times-Italic"/>
              </a:rPr>
              <a:t>R </a:t>
            </a:r>
            <a:r>
              <a:rPr lang="en-US" dirty="0">
                <a:latin typeface="Symbol" panose="05050102010706020507" pitchFamily="18" charset="2"/>
              </a:rPr>
              <a:t>= </a:t>
            </a:r>
            <a:r>
              <a:rPr lang="en-US" dirty="0">
                <a:latin typeface="Times-Roman"/>
              </a:rPr>
              <a:t>0 to 2^</a:t>
            </a:r>
            <a:r>
              <a:rPr lang="en-US" dirty="0">
                <a:latin typeface="Times-Italic"/>
              </a:rPr>
              <a:t>K -</a:t>
            </a:r>
            <a:r>
              <a:rPr lang="en-US" dirty="0">
                <a:latin typeface="Symbol" panose="05050102010706020507" pitchFamily="18" charset="2"/>
              </a:rPr>
              <a:t> </a:t>
            </a:r>
            <a:r>
              <a:rPr lang="en-US" dirty="0">
                <a:latin typeface="Times-Roman"/>
              </a:rPr>
              <a:t>1 is randomly chosen and multiplied by </a:t>
            </a:r>
            <a:r>
              <a:rPr lang="en-US" dirty="0" err="1">
                <a:latin typeface="Times-Italic"/>
              </a:rPr>
              <a:t>Tp</a:t>
            </a:r>
            <a:r>
              <a:rPr lang="en-US" dirty="0">
                <a:latin typeface="Times-Italic"/>
              </a:rPr>
              <a:t> </a:t>
            </a:r>
            <a:r>
              <a:rPr lang="en-US" dirty="0">
                <a:latin typeface="Times-Roman"/>
              </a:rPr>
              <a:t>(maximum propagation time) or </a:t>
            </a:r>
            <a:r>
              <a:rPr lang="en-US" dirty="0" err="1">
                <a:latin typeface="Times-Italic"/>
              </a:rPr>
              <a:t>Tfr</a:t>
            </a:r>
            <a:r>
              <a:rPr lang="en-US" dirty="0">
                <a:latin typeface="Times-Italic"/>
              </a:rPr>
              <a:t> </a:t>
            </a:r>
            <a:r>
              <a:rPr lang="en-US" dirty="0">
                <a:latin typeface="Times-Roman"/>
              </a:rPr>
              <a:t>(the average time required to send out a frame) to find </a:t>
            </a:r>
            <a:r>
              <a:rPr lang="en-US" dirty="0">
                <a:latin typeface="Times-Italic"/>
              </a:rPr>
              <a:t>T</a:t>
            </a:r>
            <a:r>
              <a:rPr lang="en-US" baseline="-25000" dirty="0">
                <a:latin typeface="Times-Italic"/>
              </a:rPr>
              <a:t>B</a:t>
            </a:r>
            <a:r>
              <a:rPr lang="en-US" dirty="0">
                <a:latin typeface="Times-Roman"/>
              </a:rPr>
              <a:t>. </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Note that in this procedure, the range of the random numbers increases after each collision.</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The value of </a:t>
            </a:r>
            <a:r>
              <a:rPr lang="en-US" dirty="0" err="1">
                <a:latin typeface="Times-Italic"/>
              </a:rPr>
              <a:t>Kmax</a:t>
            </a:r>
            <a:r>
              <a:rPr lang="en-US" dirty="0">
                <a:latin typeface="Times-Italic"/>
              </a:rPr>
              <a:t> </a:t>
            </a:r>
            <a:r>
              <a:rPr lang="en-US" dirty="0">
                <a:latin typeface="Times-Roman"/>
              </a:rPr>
              <a:t>is usually chosen as 15.</a:t>
            </a:r>
            <a:endParaRPr lang="en-US" altLang="en-US" sz="3600" dirty="0">
              <a:effectLst>
                <a:outerShdw blurRad="38100" dist="38100" dir="2700000" algn="tl">
                  <a:srgbClr val="C0C0C0"/>
                </a:outerShdw>
              </a:effectLst>
            </a:endParaRPr>
          </a:p>
        </p:txBody>
      </p:sp>
      <p:sp>
        <p:nvSpPr>
          <p:cNvPr id="2" name="Rounded Rectangle 17">
            <a:extLst>
              <a:ext uri="{FF2B5EF4-FFF2-40B4-BE49-F238E27FC236}">
                <a16:creationId xmlns:a16="http://schemas.microsoft.com/office/drawing/2014/main" id="{66232649-E3A9-1C3A-5952-35C610ECDF27}"/>
              </a:ext>
            </a:extLst>
          </p:cNvPr>
          <p:cNvSpPr/>
          <p:nvPr/>
        </p:nvSpPr>
        <p:spPr>
          <a:xfrm>
            <a:off x="2901754" y="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WORKING OF PURE ALOHA PROTOCOL…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791C991D-143E-1AF7-19C7-39888F17EE3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E5BCC268-FA94-4299-96B0-0BDBF23864CC}" type="slidenum">
              <a:rPr lang="en-US" altLang="en-US" sz="2000" i="0" baseline="0">
                <a:solidFill>
                  <a:schemeClr val="bg2"/>
                </a:solidFill>
                <a:latin typeface="Arial" panose="020B0604020202020204" pitchFamily="34" charset="0"/>
              </a:rPr>
              <a:pPr/>
              <a:t>15</a:t>
            </a:fld>
            <a:endParaRPr lang="en-US" altLang="en-US" sz="2000" i="0" baseline="0">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id="{F479C9C3-2656-86F6-28E7-8B19642E9FEC}"/>
              </a:ext>
            </a:extLst>
          </p:cNvPr>
          <p:cNvSpPr>
            <a:spLocks noChangeArrowheads="1"/>
          </p:cNvSpPr>
          <p:nvPr/>
        </p:nvSpPr>
        <p:spPr bwMode="auto">
          <a:xfrm>
            <a:off x="1524000" y="0"/>
            <a:ext cx="9144000" cy="591433"/>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ADD1E61C-FC9C-27DF-27E3-A873F0E8F74C}"/>
              </a:ext>
            </a:extLst>
          </p:cNvPr>
          <p:cNvSpPr txBox="1">
            <a:spLocks noChangeArrowheads="1"/>
          </p:cNvSpPr>
          <p:nvPr/>
        </p:nvSpPr>
        <p:spPr bwMode="auto">
          <a:xfrm>
            <a:off x="1625991" y="7233"/>
            <a:ext cx="7162800" cy="584200"/>
          </a:xfrm>
          <a:prstGeom prst="rect">
            <a:avLst/>
          </a:prstGeom>
          <a:noFill/>
          <a:ln>
            <a:noFill/>
          </a:ln>
          <a:effectLst/>
        </p:spPr>
        <p:txBody>
          <a:bodyPr>
            <a:spAutoFit/>
          </a:bodyPr>
          <a:lstStyle/>
          <a:p>
            <a:pPr>
              <a:defRPr/>
            </a:pPr>
            <a:r>
              <a:rPr lang="en-US" sz="3200" dirty="0">
                <a:effectLst>
                  <a:outerShdw blurRad="38100" dist="38100" dir="2700000" algn="tl">
                    <a:srgbClr val="C0C0C0"/>
                  </a:outerShdw>
                </a:effectLst>
                <a:latin typeface="Times" panose="02020603050405020304" pitchFamily="18" charset="0"/>
              </a:rPr>
              <a:t>Vulnerable time for </a:t>
            </a:r>
            <a:r>
              <a:rPr lang="en-US" sz="3200" dirty="0">
                <a:latin typeface="Times-BoldItalic"/>
              </a:rPr>
              <a:t>Pure ALOHA…</a:t>
            </a:r>
            <a:endParaRPr lang="en-US" altLang="en-US" sz="3200" dirty="0">
              <a:effectLst>
                <a:outerShdw blurRad="38100" dist="38100" dir="2700000" algn="tl">
                  <a:srgbClr val="C0C0C0"/>
                </a:outerShdw>
              </a:effectLst>
              <a:latin typeface="Times" panose="02020603050405020304" pitchFamily="18" charset="0"/>
            </a:endParaRPr>
          </a:p>
        </p:txBody>
      </p:sp>
      <p:sp>
        <p:nvSpPr>
          <p:cNvPr id="29701" name="Text Box 4">
            <a:extLst>
              <a:ext uri="{FF2B5EF4-FFF2-40B4-BE49-F238E27FC236}">
                <a16:creationId xmlns:a16="http://schemas.microsoft.com/office/drawing/2014/main" id="{D7DCA676-5632-A8F6-E520-6698F76FA898}"/>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3F50FC33-1406-7B86-2486-590D683BE278}"/>
              </a:ext>
            </a:extLst>
          </p:cNvPr>
          <p:cNvSpPr>
            <a:spLocks noChangeArrowheads="1"/>
          </p:cNvSpPr>
          <p:nvPr/>
        </p:nvSpPr>
        <p:spPr bwMode="auto">
          <a:xfrm>
            <a:off x="16724" y="1317595"/>
            <a:ext cx="6215264" cy="5355312"/>
          </a:xfrm>
          <a:prstGeom prst="rect">
            <a:avLst/>
          </a:prstGeom>
          <a:noFill/>
          <a:ln>
            <a:noFill/>
          </a:ln>
          <a:effectLst/>
        </p:spPr>
        <p:txBody>
          <a:bodyPr wrap="square" anchor="ctr">
            <a:spAutoFit/>
          </a:bodyPr>
          <a:lstStyle/>
          <a:p>
            <a:pPr marL="285750" indent="-285750" algn="just">
              <a:buFont typeface="Arial" panose="020B0604020202020204" pitchFamily="34" charset="0"/>
              <a:buChar char="•"/>
              <a:defRPr/>
            </a:pPr>
            <a:r>
              <a:rPr lang="en-US" b="1" dirty="0">
                <a:latin typeface="Times-BoldItalic"/>
              </a:rPr>
              <a:t>Vulnerable time:  </a:t>
            </a:r>
            <a:r>
              <a:rPr lang="en-US" dirty="0">
                <a:latin typeface="Times-BoldItalic"/>
              </a:rPr>
              <a:t>T</a:t>
            </a:r>
            <a:r>
              <a:rPr lang="en-US" dirty="0">
                <a:latin typeface="Times-Roman"/>
              </a:rPr>
              <a:t>he length of time in which there is a possibility of collision.</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Stations send fixed-length frames with each frame taking </a:t>
            </a:r>
            <a:r>
              <a:rPr lang="en-US" dirty="0" err="1">
                <a:latin typeface="Times-Italic"/>
              </a:rPr>
              <a:t>Tfr</a:t>
            </a:r>
            <a:r>
              <a:rPr lang="en-US" dirty="0">
                <a:latin typeface="Times-Italic"/>
              </a:rPr>
              <a:t> </a:t>
            </a:r>
            <a:r>
              <a:rPr lang="en-US" dirty="0">
                <a:latin typeface="Times-Roman"/>
              </a:rPr>
              <a:t>seconds to send. Figure shows the vulnerable time for station B.</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Station B starts to send a frame at time </a:t>
            </a:r>
            <a:r>
              <a:rPr lang="en-US" dirty="0">
                <a:latin typeface="Times-Italic"/>
              </a:rPr>
              <a:t>t</a:t>
            </a:r>
            <a:r>
              <a:rPr lang="en-US" dirty="0">
                <a:latin typeface="Times-Roman"/>
              </a:rPr>
              <a:t>. Now imagine station A has started to send its frame after </a:t>
            </a:r>
            <a:r>
              <a:rPr lang="en-US" dirty="0">
                <a:latin typeface="Times-Italic"/>
              </a:rPr>
              <a:t>t -</a:t>
            </a:r>
            <a:r>
              <a:rPr lang="en-US" dirty="0">
                <a:latin typeface="Symbol" panose="05050102010706020507" pitchFamily="18" charset="2"/>
              </a:rPr>
              <a:t> </a:t>
            </a:r>
            <a:r>
              <a:rPr lang="en-US" dirty="0">
                <a:latin typeface="Times-Italic"/>
              </a:rPr>
              <a:t>Tfr. </a:t>
            </a:r>
            <a:r>
              <a:rPr lang="en-US" dirty="0">
                <a:latin typeface="Times-Roman"/>
              </a:rPr>
              <a:t>This leads to a collision between the frames from station B and station A. </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On the other hand, suppose that station C starts to send a frame before time </a:t>
            </a:r>
            <a:r>
              <a:rPr lang="en-US" dirty="0">
                <a:latin typeface="Times-Italic"/>
              </a:rPr>
              <a:t>t </a:t>
            </a:r>
            <a:r>
              <a:rPr lang="en-US" dirty="0">
                <a:latin typeface="Symbol" panose="05050102010706020507" pitchFamily="18" charset="2"/>
              </a:rPr>
              <a:t>+ </a:t>
            </a:r>
            <a:r>
              <a:rPr lang="en-US" dirty="0">
                <a:latin typeface="Times-Italic"/>
              </a:rPr>
              <a:t>Tfr. </a:t>
            </a:r>
            <a:r>
              <a:rPr lang="en-US" dirty="0">
                <a:latin typeface="Times-Roman"/>
              </a:rPr>
              <a:t>Here, there is also a collision between frames from station B and station C.</a:t>
            </a:r>
          </a:p>
          <a:p>
            <a:pPr marL="285750" indent="-285750" algn="just">
              <a:buFont typeface="Arial" panose="020B0604020202020204" pitchFamily="34" charset="0"/>
              <a:buChar char="•"/>
              <a:defRPr/>
            </a:pPr>
            <a:endParaRPr lang="en-US" dirty="0">
              <a:latin typeface="Times-Roman"/>
            </a:endParaRPr>
          </a:p>
          <a:p>
            <a:pPr marL="285750" indent="-285750" algn="just">
              <a:buFont typeface="Arial" panose="020B0604020202020204" pitchFamily="34" charset="0"/>
              <a:buChar char="•"/>
              <a:defRPr/>
            </a:pPr>
            <a:r>
              <a:rPr lang="en-US" dirty="0">
                <a:latin typeface="Times-Roman"/>
              </a:rPr>
              <a:t>The vulnerable time during which a collision may occur in pure ALOHA is 2 times the frame transmission time.</a:t>
            </a:r>
          </a:p>
          <a:p>
            <a:pPr>
              <a:defRPr/>
            </a:pPr>
            <a:endParaRPr lang="en-US" altLang="en-US" sz="3600" dirty="0">
              <a:effectLst>
                <a:outerShdw blurRad="38100" dist="38100" dir="2700000" algn="tl">
                  <a:srgbClr val="C0C0C0"/>
                </a:outerShdw>
              </a:effectLst>
            </a:endParaRPr>
          </a:p>
        </p:txBody>
      </p:sp>
      <p:pic>
        <p:nvPicPr>
          <p:cNvPr id="29703" name="Picture 2">
            <a:extLst>
              <a:ext uri="{FF2B5EF4-FFF2-40B4-BE49-F238E27FC236}">
                <a16:creationId xmlns:a16="http://schemas.microsoft.com/office/drawing/2014/main" id="{B02E38CD-DDE5-7097-8FCB-795C8911D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9480" y="5556569"/>
            <a:ext cx="4517611" cy="577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8">
            <a:extLst>
              <a:ext uri="{FF2B5EF4-FFF2-40B4-BE49-F238E27FC236}">
                <a16:creationId xmlns:a16="http://schemas.microsoft.com/office/drawing/2014/main" id="{58EB8E37-D59D-970A-D1E7-95BF8BB249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6445" y="1012876"/>
            <a:ext cx="5801076" cy="3725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21814274-1EFD-1615-DF3B-216EF177D06D}"/>
              </a:ext>
            </a:extLst>
          </p:cNvPr>
          <p:cNvSpPr>
            <a:spLocks noChangeArrowheads="1"/>
          </p:cNvSpPr>
          <p:nvPr/>
        </p:nvSpPr>
        <p:spPr bwMode="auto">
          <a:xfrm>
            <a:off x="1195754" y="0"/>
            <a:ext cx="9472246" cy="8128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11353ACA-D478-F4E8-2ACB-7528077C407D}"/>
              </a:ext>
            </a:extLst>
          </p:cNvPr>
          <p:cNvSpPr txBox="1">
            <a:spLocks noChangeArrowheads="1"/>
          </p:cNvSpPr>
          <p:nvPr/>
        </p:nvSpPr>
        <p:spPr bwMode="auto">
          <a:xfrm>
            <a:off x="1547447" y="88899"/>
            <a:ext cx="7162800" cy="584200"/>
          </a:xfrm>
          <a:prstGeom prst="rect">
            <a:avLst/>
          </a:prstGeom>
          <a:noFill/>
          <a:ln>
            <a:noFill/>
          </a:ln>
          <a:effectLst/>
        </p:spPr>
        <p:txBody>
          <a:bodyPr>
            <a:spAutoFit/>
          </a:bodyPr>
          <a:lstStyle/>
          <a:p>
            <a:pPr>
              <a:defRPr/>
            </a:pPr>
            <a:r>
              <a:rPr lang="en-US" sz="3200" dirty="0">
                <a:effectLst>
                  <a:outerShdw blurRad="38100" dist="38100" dir="2700000" algn="tl">
                    <a:srgbClr val="C0C0C0"/>
                  </a:outerShdw>
                </a:effectLst>
                <a:latin typeface="Times" panose="02020603050405020304" pitchFamily="18" charset="0"/>
              </a:rPr>
              <a:t>Throughput for </a:t>
            </a:r>
            <a:r>
              <a:rPr lang="en-US" sz="3200" dirty="0">
                <a:latin typeface="Times-BoldItalic"/>
              </a:rPr>
              <a:t>Pure ALOHA…</a:t>
            </a:r>
            <a:endParaRPr lang="en-US" altLang="en-US" sz="3200" dirty="0">
              <a:effectLst>
                <a:outerShdw blurRad="38100" dist="38100" dir="2700000" algn="tl">
                  <a:srgbClr val="C0C0C0"/>
                </a:outerShdw>
              </a:effectLst>
              <a:latin typeface="Times" panose="02020603050405020304" pitchFamily="18" charset="0"/>
            </a:endParaRPr>
          </a:p>
        </p:txBody>
      </p:sp>
      <p:sp>
        <p:nvSpPr>
          <p:cNvPr id="35845" name="Text Box 4">
            <a:extLst>
              <a:ext uri="{FF2B5EF4-FFF2-40B4-BE49-F238E27FC236}">
                <a16:creationId xmlns:a16="http://schemas.microsoft.com/office/drawing/2014/main" id="{6DBB2C9B-BB10-C4A0-DF97-48AC45131DE9}"/>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02471A33-00BD-13E8-1877-694F37D0D46A}"/>
              </a:ext>
            </a:extLst>
          </p:cNvPr>
          <p:cNvSpPr>
            <a:spLocks noChangeArrowheads="1"/>
          </p:cNvSpPr>
          <p:nvPr/>
        </p:nvSpPr>
        <p:spPr bwMode="auto">
          <a:xfrm>
            <a:off x="286043" y="1041530"/>
            <a:ext cx="11619913" cy="3477875"/>
          </a:xfrm>
          <a:prstGeom prst="rect">
            <a:avLst/>
          </a:prstGeom>
          <a:noFill/>
          <a:ln>
            <a:noFill/>
          </a:ln>
          <a:effectLst/>
        </p:spPr>
        <p:txBody>
          <a:bodyPr wrap="square" anchor="ctr">
            <a:spAutoFit/>
          </a:bodyPr>
          <a:lstStyle/>
          <a:p>
            <a:pPr marL="285750" indent="-285750" algn="just">
              <a:buFont typeface="Arial" panose="020B0604020202020204" pitchFamily="34" charset="0"/>
              <a:buChar char="•"/>
              <a:defRPr/>
            </a:pPr>
            <a:r>
              <a:rPr lang="en-US" sz="2000" dirty="0">
                <a:latin typeface="Times-Roman"/>
              </a:rPr>
              <a:t>G is the average number of frames generated by the system during one frame transmission time. Then it can be proven that the average number of successfully transmitted frames for pure ALOHA is S = G * e^-2G.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 maximum throughput Smax is 0.184, for G = 1/2.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In other words, if one-half a frame is generated during one frame transmission time (one frame during two frame transmission times), then 18.4 percent of these frames reach their destination successfully.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We expect G = 1/2 to produce the maximum throughput because the vulnerable time is 2 times the frame transmission time. Therefore, if a station generates only one frame in this vulnerable time (and no other stations generate a frame during this time), the frame will reach its destination successfully.</a:t>
            </a:r>
            <a:endParaRPr lang="en-US" altLang="en-US" sz="2000" dirty="0">
              <a:latin typeface="Times-Roman"/>
            </a:endParaRPr>
          </a:p>
        </p:txBody>
      </p:sp>
      <p:pic>
        <p:nvPicPr>
          <p:cNvPr id="35847" name="Picture 3">
            <a:extLst>
              <a:ext uri="{FF2B5EF4-FFF2-40B4-BE49-F238E27FC236}">
                <a16:creationId xmlns:a16="http://schemas.microsoft.com/office/drawing/2014/main" id="{AC39F91F-E7A0-186F-ADD5-CA2CF866A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8339" y="4796386"/>
            <a:ext cx="63801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9F5E4-BFCB-D075-A9CA-B7DD3579864B}"/>
              </a:ext>
            </a:extLst>
          </p:cNvPr>
          <p:cNvSpPr>
            <a:spLocks noGrp="1"/>
          </p:cNvSpPr>
          <p:nvPr>
            <p:ph type="title"/>
          </p:nvPr>
        </p:nvSpPr>
        <p:spPr>
          <a:xfrm>
            <a:off x="838200" y="365125"/>
            <a:ext cx="10515600" cy="5797550"/>
          </a:xfrm>
        </p:spPr>
        <p:txBody>
          <a:bodyPr/>
          <a:lstStyle/>
          <a:p>
            <a:pPr algn="ctr"/>
            <a:br>
              <a:rPr lang="en-IN" b="1" dirty="0"/>
            </a:br>
            <a:br>
              <a:rPr lang="en-IN" b="1" dirty="0"/>
            </a:br>
            <a:br>
              <a:rPr lang="en-IN" b="1" dirty="0"/>
            </a:br>
            <a:br>
              <a:rPr lang="en-IN" b="1" dirty="0"/>
            </a:br>
            <a:r>
              <a:rPr lang="en-IN" sz="5400" b="1" dirty="0"/>
              <a:t>SLOTTED ALOHA</a:t>
            </a:r>
            <a:endParaRPr lang="en-IN" b="1" dirty="0"/>
          </a:p>
        </p:txBody>
      </p:sp>
    </p:spTree>
    <p:extLst>
      <p:ext uri="{BB962C8B-B14F-4D97-AF65-F5344CB8AC3E}">
        <p14:creationId xmlns:p14="http://schemas.microsoft.com/office/powerpoint/2010/main" val="3457671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36099" y="1505243"/>
            <a:ext cx="11296356" cy="5352757"/>
          </a:xfrm>
          <a:prstGeom prst="rect">
            <a:avLst/>
          </a:prstGeom>
        </p:spPr>
        <p:txBody>
          <a:bodyPr vert="horz" lIns="91440" tIns="45720" rIns="91440" bIns="45720" rtlCol="0">
            <a:normAutofit/>
          </a:bodyPr>
          <a:lstStyle/>
          <a:p>
            <a:pPr marL="285750" indent="-285750" algn="just">
              <a:buFont typeface="Arial" panose="020B0604020202020204" pitchFamily="34" charset="0"/>
              <a:buChar char="•"/>
              <a:defRPr/>
            </a:pPr>
            <a:r>
              <a:rPr lang="en-US" sz="2000" dirty="0">
                <a:latin typeface="Times-Roman"/>
              </a:rPr>
              <a:t>Pure ALOHA has a vulnerable time of 2*</a:t>
            </a:r>
            <a:r>
              <a:rPr lang="en-US" sz="2000" dirty="0">
                <a:latin typeface="Times-Italic"/>
              </a:rPr>
              <a:t>Tfr</a:t>
            </a:r>
            <a:r>
              <a:rPr lang="en-US" sz="2000" dirty="0">
                <a:latin typeface="Times-Roman"/>
              </a:rPr>
              <a:t>. This is so because there is no rule that defines when the station can send. A station may send soon after another station has started or just before another station has finished.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b="1" dirty="0">
                <a:latin typeface="Times-Roman"/>
              </a:rPr>
              <a:t>Slotted ALOHA </a:t>
            </a:r>
            <a:r>
              <a:rPr lang="en-US" sz="2000" dirty="0">
                <a:latin typeface="Times-Roman"/>
              </a:rPr>
              <a:t>was invented to improve the efficiency of pure ALOHA.</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In slotted ALOHA we divide the time into slots of </a:t>
            </a:r>
            <a:r>
              <a:rPr lang="en-US" sz="2000" dirty="0" err="1">
                <a:latin typeface="Times-Roman"/>
              </a:rPr>
              <a:t>Tfr</a:t>
            </a:r>
            <a:r>
              <a:rPr lang="en-US" sz="2000" dirty="0">
                <a:latin typeface="Times-Roman"/>
              </a:rPr>
              <a:t> seconds and force the station to </a:t>
            </a:r>
            <a:r>
              <a:rPr lang="en-US" sz="2000" b="1" dirty="0">
                <a:latin typeface="Times-Roman"/>
              </a:rPr>
              <a:t>send only at the beginning of the time slot.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Because a station is allowed to send only at the beginning of the synchronized time slot, if a station misses this moment, it must wait until the beginning of the next time slot.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This means that the station which started at the beginning of this slot has already finished sending its frame. </a:t>
            </a: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SLOTTED ALOHA PROTOCOL</a:t>
            </a:r>
          </a:p>
        </p:txBody>
      </p:sp>
    </p:spTree>
    <p:extLst>
      <p:ext uri="{BB962C8B-B14F-4D97-AF65-F5344CB8AC3E}">
        <p14:creationId xmlns:p14="http://schemas.microsoft.com/office/powerpoint/2010/main" val="3290344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1">
            <a:extLst>
              <a:ext uri="{FF2B5EF4-FFF2-40B4-BE49-F238E27FC236}">
                <a16:creationId xmlns:a16="http://schemas.microsoft.com/office/drawing/2014/main" id="{F6BBC626-7B26-4680-0B4C-8F6163CE4D0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848D19BE-8678-4EAC-BDD7-AC68A34C1518}" type="slidenum">
              <a:rPr lang="en-US" altLang="en-US" sz="2000" i="0" baseline="0">
                <a:solidFill>
                  <a:schemeClr val="bg2"/>
                </a:solidFill>
                <a:latin typeface="Arial" panose="020B0604020202020204" pitchFamily="34" charset="0"/>
              </a:rPr>
              <a:pPr/>
              <a:t>19</a:t>
            </a:fld>
            <a:endParaRPr lang="en-US" altLang="en-US" sz="2000" i="0" baseline="0">
              <a:solidFill>
                <a:schemeClr val="bg2"/>
              </a:solidFill>
              <a:latin typeface="Arial" panose="020B0604020202020204" pitchFamily="34" charset="0"/>
            </a:endParaRPr>
          </a:p>
        </p:txBody>
      </p:sp>
      <p:sp>
        <p:nvSpPr>
          <p:cNvPr id="46083" name="Line 2">
            <a:extLst>
              <a:ext uri="{FF2B5EF4-FFF2-40B4-BE49-F238E27FC236}">
                <a16:creationId xmlns:a16="http://schemas.microsoft.com/office/drawing/2014/main" id="{202BF136-231A-AB8E-5E01-CEA6F0B6045A}"/>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4" name="Line 3">
            <a:extLst>
              <a:ext uri="{FF2B5EF4-FFF2-40B4-BE49-F238E27FC236}">
                <a16:creationId xmlns:a16="http://schemas.microsoft.com/office/drawing/2014/main" id="{CB86FEC0-2064-55B3-102C-6771DB9A306C}"/>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5" name="Text Box 4">
            <a:extLst>
              <a:ext uri="{FF2B5EF4-FFF2-40B4-BE49-F238E27FC236}">
                <a16:creationId xmlns:a16="http://schemas.microsoft.com/office/drawing/2014/main" id="{93BDA533-9295-A935-9B66-822D0F2BF52D}"/>
              </a:ext>
            </a:extLst>
          </p:cNvPr>
          <p:cNvSpPr txBox="1">
            <a:spLocks noChangeArrowheads="1"/>
          </p:cNvSpPr>
          <p:nvPr/>
        </p:nvSpPr>
        <p:spPr bwMode="auto">
          <a:xfrm>
            <a:off x="1828800" y="381000"/>
            <a:ext cx="51503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i="0" baseline="0" dirty="0">
                <a:solidFill>
                  <a:schemeClr val="folHlink"/>
                </a:solidFill>
              </a:rPr>
              <a:t>Figure </a:t>
            </a:r>
            <a:r>
              <a:rPr lang="en-US" altLang="en-US" sz="2000" baseline="0" dirty="0"/>
              <a:t>Frames in a slotted ALOHA network</a:t>
            </a:r>
          </a:p>
        </p:txBody>
      </p:sp>
      <p:sp>
        <p:nvSpPr>
          <p:cNvPr id="46086" name="Line 5">
            <a:extLst>
              <a:ext uri="{FF2B5EF4-FFF2-40B4-BE49-F238E27FC236}">
                <a16:creationId xmlns:a16="http://schemas.microsoft.com/office/drawing/2014/main" id="{A7FF735B-4ECA-94AA-44D2-4FA11CCFA269}"/>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6087" name="Picture 7">
            <a:extLst>
              <a:ext uri="{FF2B5EF4-FFF2-40B4-BE49-F238E27FC236}">
                <a16:creationId xmlns:a16="http://schemas.microsoft.com/office/drawing/2014/main" id="{2991134C-689D-3CB3-0576-9BC6581E4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1433514"/>
            <a:ext cx="8501062" cy="397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Slide Number Placeholder 1">
            <a:extLst>
              <a:ext uri="{FF2B5EF4-FFF2-40B4-BE49-F238E27FC236}">
                <a16:creationId xmlns:a16="http://schemas.microsoft.com/office/drawing/2014/main" id="{C287A78C-C41F-A47F-A5AF-5B5C7589358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88D70C9C-ED5E-4BD0-A003-1A0D4D5E1C6C}" type="slidenum">
              <a:rPr lang="en-US" altLang="en-US" sz="2000" i="0" baseline="0">
                <a:solidFill>
                  <a:schemeClr val="bg2"/>
                </a:solidFill>
                <a:latin typeface="Arial" panose="020B0604020202020204" pitchFamily="34" charset="0"/>
              </a:rPr>
              <a:pPr/>
              <a:t>20</a:t>
            </a:fld>
            <a:endParaRPr lang="en-US" altLang="en-US" sz="2000" i="0" baseline="0">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id="{FBA62011-D476-A3DF-984F-6DBBEB7205AF}"/>
              </a:ext>
            </a:extLst>
          </p:cNvPr>
          <p:cNvSpPr>
            <a:spLocks noChangeArrowheads="1"/>
          </p:cNvSpPr>
          <p:nvPr/>
        </p:nvSpPr>
        <p:spPr bwMode="auto">
          <a:xfrm>
            <a:off x="1524000" y="0"/>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D07BFA16-2C47-8BC5-F9A7-FA588A18A0B7}"/>
              </a:ext>
            </a:extLst>
          </p:cNvPr>
          <p:cNvSpPr txBox="1">
            <a:spLocks noChangeArrowheads="1"/>
          </p:cNvSpPr>
          <p:nvPr/>
        </p:nvSpPr>
        <p:spPr bwMode="auto">
          <a:xfrm>
            <a:off x="1752601" y="228601"/>
            <a:ext cx="6382709" cy="1077218"/>
          </a:xfrm>
          <a:prstGeom prst="rect">
            <a:avLst/>
          </a:prstGeom>
          <a:noFill/>
          <a:ln>
            <a:noFill/>
          </a:ln>
          <a:effectLst/>
        </p:spPr>
        <p:txBody>
          <a:bodyPr wrap="none">
            <a:spAutoFit/>
          </a:bodyPr>
          <a:lstStyle/>
          <a:p>
            <a:pPr>
              <a:defRPr/>
            </a:pPr>
            <a:r>
              <a:rPr lang="en-US" altLang="en-US" sz="3200" dirty="0">
                <a:effectLst>
                  <a:outerShdw blurRad="38100" dist="38100" dir="2700000" algn="tl">
                    <a:srgbClr val="C0C0C0"/>
                  </a:outerShdw>
                </a:effectLst>
                <a:latin typeface="Times" panose="02020603050405020304" pitchFamily="18" charset="0"/>
              </a:rPr>
              <a:t>Vulnerable time for Slotted</a:t>
            </a:r>
            <a:r>
              <a:rPr lang="en-US" sz="3200" dirty="0">
                <a:latin typeface="Times-BoldItalic"/>
              </a:rPr>
              <a:t> ALOHA</a:t>
            </a:r>
          </a:p>
          <a:p>
            <a:pPr>
              <a:defRPr/>
            </a:pPr>
            <a:endParaRPr lang="en-US" altLang="en-US" sz="3200" dirty="0">
              <a:effectLst>
                <a:outerShdw blurRad="38100" dist="38100" dir="2700000" algn="tl">
                  <a:srgbClr val="C0C0C0"/>
                </a:outerShdw>
              </a:effectLst>
              <a:latin typeface="Times" panose="02020603050405020304" pitchFamily="18" charset="0"/>
            </a:endParaRPr>
          </a:p>
        </p:txBody>
      </p:sp>
      <p:sp>
        <p:nvSpPr>
          <p:cNvPr id="48133" name="Text Box 4">
            <a:extLst>
              <a:ext uri="{FF2B5EF4-FFF2-40B4-BE49-F238E27FC236}">
                <a16:creationId xmlns:a16="http://schemas.microsoft.com/office/drawing/2014/main" id="{05111152-98B7-E953-41E0-3E529539AB81}"/>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997FCB02-CBDA-E4D1-818D-B9DE069C69DC}"/>
              </a:ext>
            </a:extLst>
          </p:cNvPr>
          <p:cNvSpPr>
            <a:spLocks noChangeArrowheads="1"/>
          </p:cNvSpPr>
          <p:nvPr/>
        </p:nvSpPr>
        <p:spPr bwMode="auto">
          <a:xfrm>
            <a:off x="1541463" y="866775"/>
            <a:ext cx="9144000" cy="2370138"/>
          </a:xfrm>
          <a:prstGeom prst="rect">
            <a:avLst/>
          </a:prstGeom>
          <a:noFill/>
          <a:ln>
            <a:noFill/>
          </a:ln>
          <a:effectLst/>
        </p:spPr>
        <p:txBody>
          <a:bodyPr anchor="ctr">
            <a:spAutoFit/>
          </a:bodyPr>
          <a:lstStyle/>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900" dirty="0">
                <a:latin typeface="Times-Roman"/>
              </a:rPr>
              <a:t>Of course, there is still the possibility of collision if two stations try to send at the beginning of the same time slot. </a:t>
            </a:r>
          </a:p>
          <a:p>
            <a:pPr marL="285750" indent="-285750" algn="just">
              <a:buFont typeface="Arial" panose="020B0604020202020204" pitchFamily="34" charset="0"/>
              <a:buChar char="•"/>
              <a:defRPr/>
            </a:pPr>
            <a:endParaRPr lang="en-US" sz="1600" dirty="0">
              <a:latin typeface="Times-Roman"/>
            </a:endParaRPr>
          </a:p>
          <a:p>
            <a:pPr marL="285750" indent="-285750" algn="just">
              <a:buFont typeface="Arial" panose="020B0604020202020204" pitchFamily="34" charset="0"/>
              <a:buChar char="•"/>
              <a:defRPr/>
            </a:pPr>
            <a:r>
              <a:rPr lang="en-US" sz="1900" dirty="0">
                <a:latin typeface="Times-Roman"/>
              </a:rPr>
              <a:t>However, the vulnerable time is now reduced to one-half, equal to Tfr.</a:t>
            </a:r>
          </a:p>
          <a:p>
            <a:pPr>
              <a:defRPr/>
            </a:pPr>
            <a:endParaRPr lang="en-US" sz="1900" dirty="0">
              <a:latin typeface="Times-Roman"/>
            </a:endParaRPr>
          </a:p>
          <a:p>
            <a:pPr>
              <a:defRPr/>
            </a:pPr>
            <a:endParaRPr lang="en-US" altLang="en-US" sz="4000" dirty="0">
              <a:effectLst>
                <a:outerShdw blurRad="38100" dist="38100" dir="2700000" algn="tl">
                  <a:srgbClr val="C0C0C0"/>
                </a:outerShdw>
              </a:effectLst>
            </a:endParaRPr>
          </a:p>
        </p:txBody>
      </p:sp>
      <p:pic>
        <p:nvPicPr>
          <p:cNvPr id="48135" name="Picture 2">
            <a:extLst>
              <a:ext uri="{FF2B5EF4-FFF2-40B4-BE49-F238E27FC236}">
                <a16:creationId xmlns:a16="http://schemas.microsoft.com/office/drawing/2014/main" id="{21AF59C2-C4E8-BD5F-E4C4-4A4E61BCDAF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6096000"/>
            <a:ext cx="6040438" cy="711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48136" name="Picture 3">
            <a:extLst>
              <a:ext uri="{FF2B5EF4-FFF2-40B4-BE49-F238E27FC236}">
                <a16:creationId xmlns:a16="http://schemas.microsoft.com/office/drawing/2014/main" id="{DA925146-4CE9-F94D-A499-9B259003E7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362200"/>
            <a:ext cx="6292850"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B13B060F-6CFB-AD33-6189-5CA63DC81EFE}"/>
              </a:ext>
            </a:extLst>
          </p:cNvPr>
          <p:cNvSpPr>
            <a:spLocks noChangeArrowheads="1"/>
          </p:cNvSpPr>
          <p:nvPr/>
        </p:nvSpPr>
        <p:spPr bwMode="auto">
          <a:xfrm>
            <a:off x="1524000" y="0"/>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5D4F3989-6F7A-C6B1-272D-F102522B639F}"/>
              </a:ext>
            </a:extLst>
          </p:cNvPr>
          <p:cNvSpPr txBox="1">
            <a:spLocks noChangeArrowheads="1"/>
          </p:cNvSpPr>
          <p:nvPr/>
        </p:nvSpPr>
        <p:spPr bwMode="auto">
          <a:xfrm>
            <a:off x="1752600" y="228600"/>
            <a:ext cx="7162800" cy="584200"/>
          </a:xfrm>
          <a:prstGeom prst="rect">
            <a:avLst/>
          </a:prstGeom>
          <a:noFill/>
          <a:ln>
            <a:noFill/>
          </a:ln>
          <a:effectLst/>
        </p:spPr>
        <p:txBody>
          <a:bodyPr>
            <a:spAutoFit/>
          </a:bodyPr>
          <a:lstStyle/>
          <a:p>
            <a:pPr>
              <a:defRPr/>
            </a:pPr>
            <a:r>
              <a:rPr lang="en-US" sz="3200" dirty="0">
                <a:effectLst>
                  <a:outerShdw blurRad="38100" dist="38100" dir="2700000" algn="tl">
                    <a:srgbClr val="C0C0C0"/>
                  </a:outerShdw>
                </a:effectLst>
                <a:latin typeface="Times" panose="02020603050405020304" pitchFamily="18" charset="0"/>
              </a:rPr>
              <a:t>Throughput for Slotted</a:t>
            </a:r>
            <a:r>
              <a:rPr lang="en-US" sz="3200" dirty="0">
                <a:latin typeface="Times-BoldItalic"/>
              </a:rPr>
              <a:t> ALOHA…</a:t>
            </a:r>
            <a:endParaRPr lang="en-US" altLang="en-US" sz="3200" dirty="0">
              <a:effectLst>
                <a:outerShdw blurRad="38100" dist="38100" dir="2700000" algn="tl">
                  <a:srgbClr val="C0C0C0"/>
                </a:outerShdw>
              </a:effectLst>
              <a:latin typeface="Times" panose="02020603050405020304" pitchFamily="18" charset="0"/>
            </a:endParaRPr>
          </a:p>
        </p:txBody>
      </p:sp>
      <p:sp>
        <p:nvSpPr>
          <p:cNvPr id="50181" name="Text Box 4">
            <a:extLst>
              <a:ext uri="{FF2B5EF4-FFF2-40B4-BE49-F238E27FC236}">
                <a16:creationId xmlns:a16="http://schemas.microsoft.com/office/drawing/2014/main" id="{6F4E4394-416D-B04B-B0F0-ACA6B629D300}"/>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CA7CAF11-3C31-2755-D67C-19F9DCE94188}"/>
              </a:ext>
            </a:extLst>
          </p:cNvPr>
          <p:cNvSpPr>
            <a:spLocks noChangeArrowheads="1"/>
          </p:cNvSpPr>
          <p:nvPr/>
        </p:nvSpPr>
        <p:spPr bwMode="auto">
          <a:xfrm>
            <a:off x="365760" y="1528832"/>
            <a:ext cx="11338560" cy="3170099"/>
          </a:xfrm>
          <a:prstGeom prst="rect">
            <a:avLst/>
          </a:prstGeom>
          <a:noFill/>
          <a:ln>
            <a:noFill/>
          </a:ln>
          <a:effectLst/>
        </p:spPr>
        <p:txBody>
          <a:bodyPr wrap="square" anchor="ctr">
            <a:spAutoFit/>
          </a:bodyPr>
          <a:lstStyle/>
          <a:p>
            <a:pPr marL="285750" indent="-285750" algn="just">
              <a:buFont typeface="Arial" panose="020B0604020202020204" pitchFamily="34" charset="0"/>
              <a:buChar char="•"/>
              <a:defRPr/>
            </a:pPr>
            <a:r>
              <a:rPr lang="en-US" sz="2000" dirty="0">
                <a:latin typeface="Times-Roman"/>
              </a:rPr>
              <a:t>It can be proven that the average number of successful transmissions for slotted ALOHA is </a:t>
            </a:r>
            <a:r>
              <a:rPr lang="en-US" sz="2000" dirty="0">
                <a:latin typeface="Times-Italic"/>
              </a:rPr>
              <a:t>S </a:t>
            </a:r>
            <a:r>
              <a:rPr lang="en-US" sz="2000" dirty="0">
                <a:latin typeface="Symbol" panose="05050102010706020507" pitchFamily="18" charset="2"/>
              </a:rPr>
              <a:t>= </a:t>
            </a:r>
            <a:r>
              <a:rPr lang="en-US" sz="2000" dirty="0">
                <a:latin typeface="Times-Italic"/>
              </a:rPr>
              <a:t>G </a:t>
            </a:r>
            <a:r>
              <a:rPr lang="en-US" sz="2000" dirty="0">
                <a:latin typeface="Symbol" panose="05050102010706020507" pitchFamily="18" charset="2"/>
              </a:rPr>
              <a:t>*</a:t>
            </a:r>
            <a:r>
              <a:rPr lang="en-US" sz="2000" dirty="0">
                <a:latin typeface="Times-Italic"/>
              </a:rPr>
              <a:t>e^-G</a:t>
            </a:r>
            <a:r>
              <a:rPr lang="en-US" sz="2000" dirty="0">
                <a:latin typeface="Times-Roman"/>
              </a:rPr>
              <a: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 maximum throughput </a:t>
            </a:r>
            <a:r>
              <a:rPr lang="en-US" sz="2000" dirty="0">
                <a:latin typeface="Times-Italic"/>
              </a:rPr>
              <a:t>Smax </a:t>
            </a:r>
            <a:r>
              <a:rPr lang="en-US" sz="2000" dirty="0">
                <a:latin typeface="Times-Roman"/>
              </a:rPr>
              <a:t>is 0.368, when </a:t>
            </a:r>
            <a:r>
              <a:rPr lang="en-US" sz="2000" dirty="0">
                <a:latin typeface="Times-Italic"/>
              </a:rPr>
              <a:t>G </a:t>
            </a:r>
            <a:r>
              <a:rPr lang="en-US" sz="2000" dirty="0">
                <a:latin typeface="Symbol" panose="05050102010706020507" pitchFamily="18" charset="2"/>
              </a:rPr>
              <a:t>= </a:t>
            </a:r>
            <a:r>
              <a:rPr lang="en-US" sz="2000" dirty="0">
                <a:latin typeface="Times-Roman"/>
              </a:rPr>
              <a:t>1. In other words, if one frame is generated during one frame transmission time, then 36.8 percent of these frames reach their destination successfully.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We expect </a:t>
            </a:r>
            <a:r>
              <a:rPr lang="en-US" sz="2000" dirty="0">
                <a:latin typeface="Times-Italic"/>
              </a:rPr>
              <a:t>G </a:t>
            </a:r>
            <a:r>
              <a:rPr lang="en-US" sz="2000" dirty="0">
                <a:latin typeface="Symbol" panose="05050102010706020507" pitchFamily="18" charset="2"/>
              </a:rPr>
              <a:t>= </a:t>
            </a:r>
            <a:r>
              <a:rPr lang="en-US" sz="2000" dirty="0">
                <a:latin typeface="Times-Roman"/>
              </a:rPr>
              <a:t>1 to produce maximum throughput because the vulnerable time is equal to the frame transmission time.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Therefore, if a station generates only one frame in this vulnerable time (and no other station generates a frame during this time), the frame will reach its destination successfully.</a:t>
            </a:r>
            <a:endParaRPr lang="en-US" altLang="en-US" sz="4000" dirty="0">
              <a:effectLst>
                <a:outerShdw blurRad="38100" dist="38100" dir="2700000" algn="tl">
                  <a:srgbClr val="C0C0C0"/>
                </a:outerShdw>
              </a:effectLst>
              <a:cs typeface="Times New Roman" panose="02020603050405020304" pitchFamily="18" charset="0"/>
            </a:endParaRPr>
          </a:p>
        </p:txBody>
      </p:sp>
      <p:pic>
        <p:nvPicPr>
          <p:cNvPr id="50183" name="Picture 2">
            <a:extLst>
              <a:ext uri="{FF2B5EF4-FFF2-40B4-BE49-F238E27FC236}">
                <a16:creationId xmlns:a16="http://schemas.microsoft.com/office/drawing/2014/main" id="{FDC64B16-1BCF-17C2-EA38-6CE454583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415" y="5237163"/>
            <a:ext cx="7082635" cy="139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6096002" y="1584960"/>
            <a:ext cx="5426844" cy="4731434"/>
          </a:xfrm>
        </p:spPr>
        <p:txBody>
          <a:bodyPr>
            <a:normAutofit/>
          </a:bodyPr>
          <a:lstStyle/>
          <a:p>
            <a:r>
              <a:rPr lang="en-US" dirty="0"/>
              <a:t>Random Access Protocols </a:t>
            </a:r>
          </a:p>
          <a:p>
            <a:pPr>
              <a:buFont typeface="Wingdings" panose="05000000000000000000" pitchFamily="2" charset="2"/>
              <a:buChar char="Ø"/>
            </a:pPr>
            <a:endParaRPr lang="en-US" dirty="0"/>
          </a:p>
          <a:p>
            <a:r>
              <a:rPr lang="en-US" dirty="0"/>
              <a:t>ALOHA Protocols</a:t>
            </a:r>
          </a:p>
          <a:p>
            <a:pPr lvl="1">
              <a:buFont typeface="Wingdings" panose="05000000000000000000" pitchFamily="2" charset="2"/>
              <a:buChar char="Ø"/>
            </a:pPr>
            <a:r>
              <a:rPr lang="en-US" dirty="0"/>
              <a:t> Pure ALOHA</a:t>
            </a:r>
          </a:p>
          <a:p>
            <a:pPr lvl="1">
              <a:buFont typeface="Wingdings" panose="05000000000000000000" pitchFamily="2" charset="2"/>
              <a:buChar char="Ø"/>
            </a:pPr>
            <a:r>
              <a:rPr lang="en-US" dirty="0"/>
              <a:t> Slotted ALOHA</a:t>
            </a:r>
          </a:p>
          <a:p>
            <a:endParaRPr lang="en-US" dirty="0"/>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1237262"/>
          </a:xfrm>
          <a:prstGeom prst="rect">
            <a:avLst/>
          </a:prstGeom>
          <a:noFill/>
        </p:spPr>
        <p:txBody>
          <a:bodyPr wrap="square" rtlCol="0">
            <a:spAutoFit/>
          </a:bodyPr>
          <a:lstStyle/>
          <a:p>
            <a:pPr>
              <a:lnSpc>
                <a:spcPct val="200000"/>
              </a:lnSpc>
            </a:pPr>
            <a:r>
              <a:rPr lang="en-US" b="1" dirty="0"/>
              <a:t>1. </a:t>
            </a:r>
            <a:r>
              <a:rPr lang="en-US" sz="2000" dirty="0"/>
              <a:t>Describe the working of Pure ALOHA protocol.</a:t>
            </a:r>
          </a:p>
          <a:p>
            <a:pPr>
              <a:lnSpc>
                <a:spcPct val="200000"/>
              </a:lnSpc>
            </a:pPr>
            <a:r>
              <a:rPr lang="en-US" sz="2000" dirty="0"/>
              <a:t>2. Describe the working of Slotted ALOHA protocol.</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Network Protocols &amp;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477</TotalTime>
  <Words>1670</Words>
  <Application>Microsoft Office PowerPoint</Application>
  <PresentationFormat>Widescreen</PresentationFormat>
  <Paragraphs>216</Paragraphs>
  <Slides>25</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Arial</vt:lpstr>
      <vt:lpstr>BioRhyme ExtraBold</vt:lpstr>
      <vt:lpstr>Calibri</vt:lpstr>
      <vt:lpstr>Poppins</vt:lpstr>
      <vt:lpstr>Symbol</vt:lpstr>
      <vt:lpstr>Times</vt:lpstr>
      <vt:lpstr>Times New Roman</vt:lpstr>
      <vt:lpstr>Times-BoldItalic</vt:lpstr>
      <vt:lpstr>Times-Italic</vt:lpstr>
      <vt:lpstr>Times-Roman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PURE ALOHA</vt:lpstr>
      <vt:lpstr>PowerPoint Presentation</vt:lpstr>
      <vt:lpstr>PowerPoint Presentation</vt:lpstr>
      <vt:lpstr>PowerPoint Presentation</vt:lpstr>
      <vt:lpstr>PowerPoint Presentation</vt:lpstr>
      <vt:lpstr>PowerPoint Presentation</vt:lpstr>
      <vt:lpstr>PowerPoint Presentation</vt:lpstr>
      <vt:lpstr>    SLOTTED ALOHA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GORLA VENKATA GANESH</cp:lastModifiedBy>
  <cp:revision>36</cp:revision>
  <dcterms:created xsi:type="dcterms:W3CDTF">2020-02-08T09:57:44Z</dcterms:created>
  <dcterms:modified xsi:type="dcterms:W3CDTF">2025-12-17T06:32:07Z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