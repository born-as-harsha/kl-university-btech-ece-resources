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5" r:id="rId2"/>
    <p:sldMasterId id="2147483697" r:id="rId3"/>
  </p:sldMasterIdLst>
  <p:notesMasterIdLst>
    <p:notesMasterId r:id="rId26"/>
  </p:notesMasterIdLst>
  <p:sldIdLst>
    <p:sldId id="271" r:id="rId4"/>
    <p:sldId id="325" r:id="rId5"/>
    <p:sldId id="313" r:id="rId6"/>
    <p:sldId id="316" r:id="rId7"/>
    <p:sldId id="317" r:id="rId8"/>
    <p:sldId id="318" r:id="rId9"/>
    <p:sldId id="298" r:id="rId10"/>
    <p:sldId id="320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19" r:id="rId22"/>
    <p:sldId id="324" r:id="rId23"/>
    <p:sldId id="315" r:id="rId24"/>
    <p:sldId id="30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Abhi" userId="f8e599a9041de5bd" providerId="LiveId" clId="{9D37986F-7FA2-4F02-BE92-E904027728D3}"/>
    <pc:docChg chg="delSld modSld">
      <pc:chgData name="Harsha Abhi" userId="f8e599a9041de5bd" providerId="LiveId" clId="{9D37986F-7FA2-4F02-BE92-E904027728D3}" dt="2026-02-02T18:16:42.655" v="2" actId="2696"/>
      <pc:docMkLst>
        <pc:docMk/>
      </pc:docMkLst>
      <pc:sldChg chg="modSp mod">
        <pc:chgData name="Harsha Abhi" userId="f8e599a9041de5bd" providerId="LiveId" clId="{9D37986F-7FA2-4F02-BE92-E904027728D3}" dt="2026-02-02T18:02:48.880" v="0" actId="1036"/>
        <pc:sldMkLst>
          <pc:docMk/>
          <pc:sldMk cId="0" sldId="271"/>
        </pc:sldMkLst>
        <pc:spChg chg="mod">
          <ac:chgData name="Harsha Abhi" userId="f8e599a9041de5bd" providerId="LiveId" clId="{9D37986F-7FA2-4F02-BE92-E904027728D3}" dt="2026-02-02T18:02:48.880" v="0" actId="1036"/>
          <ac:spMkLst>
            <pc:docMk/>
            <pc:sldMk cId="0" sldId="271"/>
            <ac:spMk id="2" creationId="{6398423B-5803-30F8-31C4-BF716BD7197E}"/>
          </ac:spMkLst>
        </pc:spChg>
      </pc:sldChg>
      <pc:sldChg chg="del">
        <pc:chgData name="Harsha Abhi" userId="f8e599a9041de5bd" providerId="LiveId" clId="{9D37986F-7FA2-4F02-BE92-E904027728D3}" dt="2026-02-02T18:16:42.655" v="2" actId="2696"/>
        <pc:sldMkLst>
          <pc:docMk/>
          <pc:sldMk cId="101550459" sldId="321"/>
        </pc:sldMkLst>
      </pc:sldChg>
      <pc:sldChg chg="del">
        <pc:chgData name="Harsha Abhi" userId="f8e599a9041de5bd" providerId="LiveId" clId="{9D37986F-7FA2-4F02-BE92-E904027728D3}" dt="2026-02-02T18:16:38.672" v="1" actId="2696"/>
        <pc:sldMkLst>
          <pc:docMk/>
          <pc:sldMk cId="1514926825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69294-BE40-4F53-9009-F96CD52AF726}" type="datetimeFigureOut">
              <a:rPr lang="en-US" smtClean="0"/>
              <a:pPr/>
              <a:t>02-Feb-26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7285F-CC9D-4373-8D84-5F563E3CB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0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4DB6-6761-437F-B95E-3033844DC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E015F-7129-4784-AE3E-2C2725E4E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66F83-C630-4352-A337-6958435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47517-E525-4912-A43E-5AF556D7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9AF5-8030-4A6D-9C9F-660FAF75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7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34DA-CF80-4098-8032-66B9C767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BD4A-F574-40DA-A4A9-4C603358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F068-E82C-4BDA-8B27-A057172E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6CDD7-36BE-428E-9143-D0E3B638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C47E-C57D-48ED-9ACC-F06A887B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8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FB6A-49B8-40BE-AFB5-D1439981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8B54F-FFF6-4DB6-B061-27CFA7DB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37F1C-7A83-45ED-ADF4-C5745482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6F42-B533-4DC6-820C-854FB9C1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F1956-F8A0-4378-98DF-EF2707FF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0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6E11-B93D-4F0B-B90A-3C745404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B8E7-62D8-4876-97A1-599F779AD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53DD0-09E4-47FE-A563-CFA033B50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5A888-7BD8-4CD2-82EC-0DB6D0B3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BF1EF-DDE2-4965-9B34-D3AD065E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A9EAD-F8CC-4481-9125-E39BA85A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33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A411-E29A-4F55-A591-F0F198B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D6120-8B1A-4E13-A339-94B0180B0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FDDFA-3ED9-4F29-8D98-6AA79E21D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AD302-7A28-40C5-A49B-517E72D85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B195A-E823-4E77-97BD-BDD009B14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1E756-45FD-4315-8E4D-7EF8AAD4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107C5-FD00-4959-B547-4676B7D9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B722F-FD80-48CD-BE30-6ECC6D1F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8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EC06-1148-4F5E-B74D-756E565E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413FA-5354-4A74-9464-8AE0B455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AD2E3-65B8-4082-AEDD-B39071FC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97EE3-7013-4FB2-93B8-385C1388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1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9CE45-E766-4B11-8B5E-B31088AF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3EE6B-8FF9-447B-AF81-2BB11EF6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CE41A-4BB0-4205-8B1F-3D944C2F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9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F668-F57B-4683-AD1E-C574F880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9D4C-C546-434E-9C7E-D4A59EBF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243C9-36B2-4931-ACD1-F079B102E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54C5D-2B32-4BF3-B9C4-E94002B4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CC8B5-631F-4F76-B6F0-9CC738D9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C4EF-5C1C-4E1A-AF20-0519CA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2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D122-E7E5-4367-AEA1-19CA8D87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BB05E-73C0-48EC-A09F-564A1B0A6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38C03-3BE1-456E-87F5-ADA7AEBDC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8AD5-AC0F-458D-9B68-D92E5BD1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8AB4-5808-4149-A1CE-636EE0E1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48D49-7538-40E6-B050-BD6D4D6D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22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DF8D-2F27-40EE-AD13-38CFC9991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64A6D-A2BD-4882-BC4A-D596170D3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51286-1C19-4FEF-ABEF-96D7F205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89C8-BED1-4C3D-B648-24CD159A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65E69-7640-4C45-94A0-50E8D994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6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5EFCE-E769-47FE-8ED1-81A382198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AEF29-1321-419D-8003-FBEF9EB71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4BF0-2B41-4EF2-AAED-539DDCD0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D27F-31DA-4BCB-AD4E-C0D75E80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9A3BA-5BDE-4AD2-A6D2-B4CA6174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701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54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1AEED-4BCF-4979-81D9-0166B936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EBA93-F619-46C6-96C8-422CFE077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4F536-3BEE-43C0-AF40-426278572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20A7-5A09-42EC-894A-B8B76E35E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0339D-DDC1-40BE-8A48-192D4B275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9832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Subnetting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804143" y="502556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15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concepts of Subnetting.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need for subnetting.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concepts of subnetting.</a:t>
            </a:r>
            <a:r>
              <a:rPr lang="en-US" sz="1600" b="0" i="0" dirty="0">
                <a:effectLst/>
                <a:latin typeface="Arial"/>
                <a:cs typeface="Arial"/>
              </a:rPr>
              <a:t> 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Understand the need for </a:t>
            </a:r>
            <a:r>
              <a:rPr lang="en-US" sz="1600" dirty="0">
                <a:latin typeface="Arial" panose="020B0604020202020204" pitchFamily="34" charset="0"/>
              </a:rPr>
              <a:t>subnetting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Divided the network into different subnets.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138E-C7D1-623B-2842-3F39EC81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953" y="2019497"/>
            <a:ext cx="9603275" cy="4029611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Subnetting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Subnet mask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Subnetting problems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6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4C45C-D82B-56E6-54E4-3972FAEA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4EB8B-F374-DF0E-47FD-1702A670AF3F}"/>
              </a:ext>
            </a:extLst>
          </p:cNvPr>
          <p:cNvSpPr txBox="1"/>
          <p:nvPr/>
        </p:nvSpPr>
        <p:spPr>
          <a:xfrm>
            <a:off x="3041072" y="1190938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3336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2976-424F-F485-23E7-332DA19BF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2AEAB-D3F8-3230-5DF1-3B1A93FFB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Subnetting is </a:t>
            </a:r>
            <a:r>
              <a:rPr lang="en-IN" b="1" dirty="0"/>
              <a:t>the process of creating a subnetwork (also known as a subnet) within a network</a:t>
            </a:r>
            <a:r>
              <a:rPr lang="en-IN" dirty="0"/>
              <a:t>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Network interfaces and devices within a subnet can communicate with each other directly.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Routers facilitate communication between different subnets.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12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network with red boxes&#10;&#10;Description automatically generated with medium confidence">
            <a:extLst>
              <a:ext uri="{FF2B5EF4-FFF2-40B4-BE49-F238E27FC236}">
                <a16:creationId xmlns:a16="http://schemas.microsoft.com/office/drawing/2014/main" id="{DFBA18D6-08F9-5D11-1856-2A6127B736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" t="18761" r="44808" b="20517"/>
          <a:stretch/>
        </p:blipFill>
        <p:spPr>
          <a:xfrm>
            <a:off x="3114675" y="1983777"/>
            <a:ext cx="6296024" cy="407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97F460-E8F5-D62B-741E-F31E42860B7F}"/>
              </a:ext>
            </a:extLst>
          </p:cNvPr>
          <p:cNvSpPr txBox="1"/>
          <p:nvPr/>
        </p:nvSpPr>
        <p:spPr>
          <a:xfrm>
            <a:off x="1371600" y="1109960"/>
            <a:ext cx="9610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dirty="0">
                <a:latin typeface="Bookman Old Style" pitchFamily="18" charset="0"/>
              </a:rPr>
              <a:t>In </a:t>
            </a:r>
            <a:r>
              <a:rPr lang="en-GB" sz="1800" b="1" dirty="0">
                <a:latin typeface="Bookman Old Style" pitchFamily="18" charset="0"/>
              </a:rPr>
              <a:t>subnetting, a network is divided into several smaller subnetworks (subnets) </a:t>
            </a:r>
            <a:r>
              <a:rPr lang="en-GB" sz="1800" dirty="0">
                <a:latin typeface="Bookman Old Style" pitchFamily="18" charset="0"/>
              </a:rPr>
              <a:t>with each subnetwork having its own subnetwork address.</a:t>
            </a:r>
          </a:p>
        </p:txBody>
      </p:sp>
    </p:spTree>
    <p:extLst>
      <p:ext uri="{BB962C8B-B14F-4D97-AF65-F5344CB8AC3E}">
        <p14:creationId xmlns:p14="http://schemas.microsoft.com/office/powerpoint/2010/main" val="1802752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9C78-2638-F98D-5DAB-99596F68D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Subnetting…</a:t>
            </a:r>
          </a:p>
        </p:txBody>
      </p:sp>
      <p:pic>
        <p:nvPicPr>
          <p:cNvPr id="5" name="Content Placeholder 4" descr="A diagram of a network identifier&#10;&#10;Description automatically generated">
            <a:extLst>
              <a:ext uri="{FF2B5EF4-FFF2-40B4-BE49-F238E27FC236}">
                <a16:creationId xmlns:a16="http://schemas.microsoft.com/office/drawing/2014/main" id="{0BCD31A0-8F57-4180-6A70-834D4FB60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168" y="2292350"/>
            <a:ext cx="8624095" cy="3449638"/>
          </a:xfrm>
        </p:spPr>
      </p:pic>
    </p:spTree>
    <p:extLst>
      <p:ext uri="{BB962C8B-B14F-4D97-AF65-F5344CB8AC3E}">
        <p14:creationId xmlns:p14="http://schemas.microsoft.com/office/powerpoint/2010/main" val="413316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Three level addressing: Subnet mask</a:t>
            </a:r>
            <a:endParaRPr lang="en-IN" dirty="0"/>
          </a:p>
        </p:txBody>
      </p:sp>
      <p:sp>
        <p:nvSpPr>
          <p:cNvPr id="40965" name="Content Placeholder 2"/>
          <p:cNvSpPr>
            <a:spLocks noGrp="1"/>
          </p:cNvSpPr>
          <p:nvPr>
            <p:ph idx="1"/>
          </p:nvPr>
        </p:nvSpPr>
        <p:spPr>
          <a:xfrm>
            <a:off x="1451578" y="1954092"/>
            <a:ext cx="9826021" cy="1777554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Bookman Old Style" pitchFamily="18" charset="0"/>
              </a:rPr>
              <a:t>Subnetting increases the length of the </a:t>
            </a:r>
            <a:r>
              <a:rPr lang="en-GB" dirty="0" err="1">
                <a:latin typeface="Bookman Old Style" pitchFamily="18" charset="0"/>
              </a:rPr>
              <a:t>netid</a:t>
            </a:r>
            <a:r>
              <a:rPr lang="en-GB" dirty="0">
                <a:latin typeface="Bookman Old Style" pitchFamily="18" charset="0"/>
              </a:rPr>
              <a:t> and decreases the length of </a:t>
            </a:r>
            <a:r>
              <a:rPr lang="en-GB" dirty="0" err="1">
                <a:latin typeface="Bookman Old Style" pitchFamily="18" charset="0"/>
              </a:rPr>
              <a:t>hostid</a:t>
            </a:r>
            <a:r>
              <a:rPr lang="en-GB" dirty="0">
                <a:latin typeface="Bookman Old Style" pitchFamily="18" charset="0"/>
              </a:rPr>
              <a:t>. </a:t>
            </a:r>
          </a:p>
          <a:p>
            <a:pPr algn="just"/>
            <a:r>
              <a:rPr lang="en-GB" dirty="0">
                <a:latin typeface="Bookman Old Style" pitchFamily="18" charset="0"/>
              </a:rPr>
              <a:t>When we divide a network to </a:t>
            </a:r>
            <a:r>
              <a:rPr lang="en-GB" i="1" dirty="0">
                <a:latin typeface="Bookman Old Style" pitchFamily="18" charset="0"/>
              </a:rPr>
              <a:t>s number of subnetworks, each subnet will have equal numbers of the </a:t>
            </a:r>
            <a:r>
              <a:rPr lang="en-GB" dirty="0">
                <a:latin typeface="Bookman Old Style" pitchFamily="18" charset="0"/>
              </a:rPr>
              <a:t>Hosts.</a:t>
            </a:r>
            <a:endParaRPr lang="en-GB" b="1" u="sng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600" b="1" u="sng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600" b="1" u="sng" dirty="0">
              <a:latin typeface="Bookman Old Style" pitchFamily="18" charset="0"/>
            </a:endParaRPr>
          </a:p>
          <a:p>
            <a:pPr algn="just">
              <a:buFont typeface="Arial" charset="0"/>
              <a:buNone/>
            </a:pPr>
            <a:endParaRPr lang="en-US" sz="2400" dirty="0">
              <a:latin typeface="Bookman Old Style" pitchFamily="18" charset="0"/>
            </a:endParaRPr>
          </a:p>
        </p:txBody>
      </p:sp>
      <p:pic>
        <p:nvPicPr>
          <p:cNvPr id="409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53216" y="3429000"/>
            <a:ext cx="5753100" cy="253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0C4-A4CF-07C9-FFD3-46B306B7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 mask table</a:t>
            </a:r>
          </a:p>
        </p:txBody>
      </p:sp>
      <p:pic>
        <p:nvPicPr>
          <p:cNvPr id="5" name="Content Placeholder 4" descr="A table with numbers and a mask&#10;&#10;Description automatically generated">
            <a:extLst>
              <a:ext uri="{FF2B5EF4-FFF2-40B4-BE49-F238E27FC236}">
                <a16:creationId xmlns:a16="http://schemas.microsoft.com/office/drawing/2014/main" id="{5C16DBDB-CEFE-B1CA-C3CE-7CEFB3C8F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151" y="2001199"/>
            <a:ext cx="3893650" cy="4052281"/>
          </a:xfrm>
        </p:spPr>
      </p:pic>
    </p:spTree>
    <p:extLst>
      <p:ext uri="{BB962C8B-B14F-4D97-AF65-F5344CB8AC3E}">
        <p14:creationId xmlns:p14="http://schemas.microsoft.com/office/powerpoint/2010/main" val="301638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141" y="1166566"/>
            <a:ext cx="6952542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hierarchy in an IPv4</a:t>
            </a:r>
            <a:r>
              <a:rPr sz="2400" i="1" spc="36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address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47504" y="2732419"/>
            <a:ext cx="4896992" cy="2578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156" y="1196401"/>
            <a:ext cx="7709007" cy="380960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lang="en-US" sz="2400" i="1" spc="-27" dirty="0">
                <a:latin typeface="Times New Roman"/>
                <a:cs typeface="Times New Roman"/>
              </a:rPr>
              <a:t>Two </a:t>
            </a:r>
            <a:r>
              <a:rPr lang="en-US" sz="2400" i="1" spc="-5" dirty="0">
                <a:latin typeface="Times New Roman"/>
                <a:cs typeface="Times New Roman"/>
              </a:rPr>
              <a:t>levels of hierarchy in an IPv4</a:t>
            </a:r>
            <a:r>
              <a:rPr lang="en-US" sz="2400" i="1" spc="36" dirty="0">
                <a:latin typeface="Times New Roman"/>
                <a:cs typeface="Times New Roman"/>
              </a:rPr>
              <a:t> </a:t>
            </a:r>
            <a:r>
              <a:rPr lang="en-US" sz="2400" i="1" spc="-5" dirty="0">
                <a:latin typeface="Times New Roman"/>
                <a:cs typeface="Times New Roman"/>
              </a:rPr>
              <a:t>address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8924" y="2807006"/>
            <a:ext cx="6169781" cy="17392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2A08C49-EBFB-4781-A710-A941E21FB0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2364821" y="2216671"/>
            <a:ext cx="7393511" cy="69098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2" name="object 8"/>
          <p:cNvGrpSpPr/>
          <p:nvPr/>
        </p:nvGrpSpPr>
        <p:grpSpPr>
          <a:xfrm>
            <a:off x="1993775" y="2291287"/>
            <a:ext cx="8291788" cy="3423242"/>
            <a:chOff x="774839" y="2574798"/>
            <a:chExt cx="9144000" cy="3775075"/>
          </a:xfrm>
        </p:grpSpPr>
        <p:sp>
          <p:nvSpPr>
            <p:cNvPr id="9" name="object 9"/>
            <p:cNvSpPr/>
            <p:nvPr/>
          </p:nvSpPr>
          <p:spPr>
            <a:xfrm>
              <a:off x="1270139" y="2574798"/>
              <a:ext cx="8077200" cy="346075"/>
            </a:xfrm>
            <a:custGeom>
              <a:avLst/>
              <a:gdLst/>
              <a:ahLst/>
              <a:cxnLst/>
              <a:rect l="l" t="t" r="r" b="b"/>
              <a:pathLst>
                <a:path w="8077200" h="346075">
                  <a:moveTo>
                    <a:pt x="8077200" y="3459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45948"/>
                  </a:lnTo>
                  <a:lnTo>
                    <a:pt x="8077200" y="3459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270139" y="2919996"/>
              <a:ext cx="8077200" cy="2573020"/>
            </a:xfrm>
            <a:custGeom>
              <a:avLst/>
              <a:gdLst/>
              <a:ahLst/>
              <a:cxnLst/>
              <a:rect l="l" t="t" r="r" b="b"/>
              <a:pathLst>
                <a:path w="8077200" h="257302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572512"/>
                  </a:lnTo>
                  <a:lnTo>
                    <a:pt x="8077200" y="2572512"/>
                  </a:lnTo>
                  <a:lnTo>
                    <a:pt x="8077200" y="1715262"/>
                  </a:lnTo>
                  <a:lnTo>
                    <a:pt x="8077200" y="1714500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39" y="5491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5491733"/>
              <a:ext cx="8077200" cy="586740"/>
            </a:xfrm>
            <a:custGeom>
              <a:avLst/>
              <a:gdLst/>
              <a:ahLst/>
              <a:cxnLst/>
              <a:rect l="l" t="t" r="r" b="b"/>
              <a:pathLst>
                <a:path w="8077200" h="586739">
                  <a:moveTo>
                    <a:pt x="8077200" y="586739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586740"/>
                  </a:lnTo>
                  <a:lnTo>
                    <a:pt x="8077200" y="586739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2366894" y="5533387"/>
            <a:ext cx="7393511" cy="69098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91466" y="2311555"/>
            <a:ext cx="5827285" cy="3137225"/>
          </a:xfrm>
          <a:prstGeom prst="rect">
            <a:avLst/>
          </a:prstGeom>
        </p:spPr>
        <p:txBody>
          <a:bodyPr vert="horz" wrap="square" lIns="0" tIns="10941" rIns="0" bIns="0" rtlCol="0">
            <a:spAutoFit/>
          </a:bodyPr>
          <a:lstStyle/>
          <a:p>
            <a:pPr marL="10941" marR="4607" lvl="0" indent="0" algn="ctr" defTabSz="457200" rtl="0" eaLnBrk="1" fontAlgn="auto" latinLnBrk="0" hangingPunct="1">
              <a:lnSpc>
                <a:spcPct val="100000"/>
              </a:lnSpc>
              <a:spcBef>
                <a:spcPts val="8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the block can</a:t>
            </a:r>
            <a:r>
              <a:rPr kumimoji="0" sz="2902" b="1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 considered </a:t>
            </a: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a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two-level  hierarchical</a:t>
            </a:r>
            <a:r>
              <a:rPr kumimoji="0" sz="2902" b="1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structure:</a:t>
            </a:r>
            <a:endParaRPr kumimoji="0" sz="2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62188" marR="55853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leftmost </a:t>
            </a:r>
            <a:r>
              <a:rPr kumimoji="0" sz="2902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 </a:t>
            </a: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(prefix) define  </a:t>
            </a: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2902" b="1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network;</a:t>
            </a:r>
            <a:endParaRPr kumimoji="0" sz="2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88867" marR="180231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rightmost 32 − n bits</a:t>
            </a:r>
            <a:r>
              <a:rPr kumimoji="0" sz="2902" b="1" i="0" u="none" strike="noStrike" kern="1200" cap="none" spc="-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902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define  the</a:t>
            </a:r>
            <a:r>
              <a:rPr kumimoji="0" sz="2902" b="1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902" b="1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host.</a:t>
            </a:r>
            <a:endParaRPr kumimoji="0" sz="2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978" y="1219682"/>
            <a:ext cx="8212442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Configuration and addresses in a subnetted</a:t>
            </a:r>
            <a:r>
              <a:rPr sz="1814" i="1" spc="23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network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41" y="1683233"/>
            <a:ext cx="8426548" cy="4091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491" y="1175763"/>
            <a:ext cx="5370085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Three-level hierarchy in an IPv4</a:t>
            </a:r>
            <a:r>
              <a:rPr sz="1814" i="1" spc="9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address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32844" y="2674793"/>
            <a:ext cx="7525489" cy="1514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846" y="1156561"/>
            <a:ext cx="3198866" cy="441935"/>
          </a:xfrm>
          <a:prstGeom prst="rect">
            <a:avLst/>
          </a:prstGeom>
        </p:spPr>
        <p:txBody>
          <a:bodyPr vert="horz" wrap="square" lIns="0" tIns="10941" rIns="0" bIns="0" rtlCol="0" anchor="b">
            <a:spAutoFit/>
          </a:bodyPr>
          <a:lstStyle/>
          <a:p>
            <a:pPr marL="11516">
              <a:spcBef>
                <a:spcPts val="86"/>
              </a:spcBef>
            </a:pPr>
            <a:r>
              <a:rPr i="1" spc="-5" dirty="0">
                <a:latin typeface="Times New Roman"/>
                <a:cs typeface="Times New Roman"/>
              </a:rPr>
              <a:t>Example</a:t>
            </a:r>
            <a:r>
              <a:rPr i="1" spc="-50" dirty="0">
                <a:latin typeface="Times New Roman"/>
                <a:cs typeface="Times New Roman"/>
              </a:rPr>
              <a:t> </a:t>
            </a:r>
            <a:endParaRPr i="1" spc="-5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5991" y="2306778"/>
            <a:ext cx="9298091" cy="313761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5758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 ISP is granted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 of addresses starting </a:t>
            </a:r>
            <a:r>
              <a:rPr kumimoji="0" sz="2539" b="1" i="1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with 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190.100.0.0/16 (65,536 addresses).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ISP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needs to  distribute these addresses to three groups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customers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as 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follows: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413437" marR="4607" lvl="0" indent="-402497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423226" algn="l"/>
                <a:tab pos="423801" algn="l"/>
                <a:tab pos="1111329" algn="l"/>
                <a:tab pos="1817857" algn="l"/>
                <a:tab pos="2775443" algn="l"/>
                <a:tab pos="3410569" algn="l"/>
                <a:tab pos="3901743" algn="l"/>
                <a:tab pos="5522095" algn="l"/>
                <a:tab pos="6318451" algn="l"/>
                <a:tab pos="7238607" algn="l"/>
              </a:tabLst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f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irs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grou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	h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customers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;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eac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need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2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56  addresses.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64493" marR="5182" lvl="0" indent="-36449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364493" algn="l"/>
              </a:tabLst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second group has 128 customers; each needs 128  addresses.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93860" marR="4607" lvl="0" indent="-39386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393860" algn="l"/>
                <a:tab pos="394435" algn="l"/>
                <a:tab pos="1072173" algn="l"/>
                <a:tab pos="1876015" algn="l"/>
                <a:tab pos="2824387" algn="l"/>
                <a:tab pos="3449726" algn="l"/>
                <a:tab pos="4092914" algn="l"/>
                <a:tab pos="5702326" algn="l"/>
                <a:tab pos="6488893" algn="l"/>
                <a:tab pos="7399836" algn="l"/>
              </a:tabLst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thir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grou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	h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12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8	</a:t>
            </a:r>
            <a:r>
              <a:rPr kumimoji="0" sz="2539" b="1" i="1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ustomers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;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eac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need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 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addresses.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6334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71021" algn="l"/>
                <a:tab pos="1611139" algn="l"/>
                <a:tab pos="3046653" algn="l"/>
                <a:tab pos="3677750" algn="l"/>
                <a:tab pos="4344547" algn="l"/>
                <a:tab pos="4902514" algn="l"/>
                <a:tab pos="5586010" algn="l"/>
                <a:tab pos="6449162" algn="l"/>
              </a:tabLst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Desig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subblock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a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	h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man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	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addresses 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 still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available after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these</a:t>
            </a:r>
            <a:r>
              <a:rPr kumimoji="0" sz="2539" b="1" i="1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allocations.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6449" y="1299759"/>
            <a:ext cx="4147622" cy="441935"/>
          </a:xfrm>
          <a:prstGeom prst="rect">
            <a:avLst/>
          </a:prstGeom>
        </p:spPr>
        <p:txBody>
          <a:bodyPr vert="horz" wrap="square" lIns="0" tIns="10941" rIns="0" bIns="0" rtlCol="0" anchor="b">
            <a:spAutoFit/>
          </a:bodyPr>
          <a:lstStyle/>
          <a:p>
            <a:pPr marL="11516">
              <a:spcBef>
                <a:spcPts val="86"/>
              </a:spcBef>
            </a:pPr>
            <a:r>
              <a:rPr i="1" spc="-5" dirty="0">
                <a:latin typeface="Times New Roman"/>
                <a:cs typeface="Times New Roman"/>
              </a:rPr>
              <a:t>Example</a:t>
            </a:r>
            <a:r>
              <a:rPr i="1" spc="-23" dirty="0">
                <a:latin typeface="Times New Roman"/>
                <a:cs typeface="Times New Roman"/>
              </a:rPr>
              <a:t> </a:t>
            </a:r>
            <a:r>
              <a:rPr i="1" spc="-5" dirty="0">
                <a:latin typeface="Times New Roman"/>
                <a:cs typeface="Times New Roman"/>
              </a:rPr>
              <a:t>(continued)</a:t>
            </a:r>
          </a:p>
        </p:txBody>
      </p:sp>
      <p:sp>
        <p:nvSpPr>
          <p:cNvPr id="8" name="object 8"/>
          <p:cNvSpPr/>
          <p:nvPr/>
        </p:nvSpPr>
        <p:spPr>
          <a:xfrm>
            <a:off x="1950232" y="2647855"/>
            <a:ext cx="8291788" cy="1555862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449" y="2328048"/>
            <a:ext cx="10111801" cy="157462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just" defTabSz="457200" rtl="0" eaLnBrk="1" fontAlgn="auto" latinLnBrk="0" hangingPunct="1">
              <a:lnSpc>
                <a:spcPct val="100000"/>
              </a:lnSpc>
              <a:spcBef>
                <a:spcPts val="152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Group</a:t>
            </a:r>
            <a:r>
              <a:rPr kumimoji="0" sz="2539" b="1" i="1" u="none" strike="noStrike" kern="1200" cap="none" spc="-1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this group, each customer needs 256 addresses. This  means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that 8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(log2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256)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bits are needed to define </a:t>
            </a:r>
            <a:r>
              <a:rPr kumimoji="0" sz="2539" b="1" i="1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each 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host. The prefix length is then 32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− 8 =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24. The addresses 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3" name="object 10"/>
          <p:cNvGrpSpPr/>
          <p:nvPr/>
        </p:nvGrpSpPr>
        <p:grpSpPr>
          <a:xfrm>
            <a:off x="1950232" y="4202555"/>
            <a:ext cx="8291788" cy="1802312"/>
            <a:chOff x="774839" y="4634484"/>
            <a:chExt cx="9144000" cy="1987550"/>
          </a:xfrm>
        </p:grpSpPr>
        <p:sp>
          <p:nvSpPr>
            <p:cNvPr id="11" name="object 11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03361" y="4700016"/>
              <a:ext cx="6895338" cy="7924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838960" y="4635258"/>
              <a:ext cx="7016750" cy="857250"/>
            </a:xfrm>
            <a:custGeom>
              <a:avLst/>
              <a:gdLst/>
              <a:ahLst/>
              <a:cxnLst/>
              <a:rect l="l" t="t" r="r" b="b"/>
              <a:pathLst>
                <a:path w="7016750" h="857250">
                  <a:moveTo>
                    <a:pt x="6971030" y="45720"/>
                  </a:moveTo>
                  <a:lnTo>
                    <a:pt x="695960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857250"/>
                  </a:lnTo>
                  <a:lnTo>
                    <a:pt x="57150" y="857250"/>
                  </a:lnTo>
                  <a:lnTo>
                    <a:pt x="57150" y="57150"/>
                  </a:lnTo>
                  <a:lnTo>
                    <a:pt x="6959600" y="57150"/>
                  </a:lnTo>
                  <a:lnTo>
                    <a:pt x="6959600" y="857250"/>
                  </a:lnTo>
                  <a:lnTo>
                    <a:pt x="6971030" y="857250"/>
                  </a:lnTo>
                  <a:lnTo>
                    <a:pt x="6971030" y="45720"/>
                  </a:lnTo>
                  <a:close/>
                </a:path>
                <a:path w="7016750" h="857250">
                  <a:moveTo>
                    <a:pt x="7016750" y="0"/>
                  </a:moveTo>
                  <a:lnTo>
                    <a:pt x="698246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34290" y="857250"/>
                  </a:lnTo>
                  <a:lnTo>
                    <a:pt x="34290" y="34290"/>
                  </a:lnTo>
                  <a:lnTo>
                    <a:pt x="6982460" y="34290"/>
                  </a:lnTo>
                  <a:lnTo>
                    <a:pt x="6982460" y="857250"/>
                  </a:lnTo>
                  <a:lnTo>
                    <a:pt x="7016750" y="857250"/>
                  </a:lnTo>
                  <a:lnTo>
                    <a:pt x="701675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903361" y="5492496"/>
              <a:ext cx="6895338" cy="8572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838591" y="5492508"/>
              <a:ext cx="7017384" cy="857250"/>
            </a:xfrm>
            <a:custGeom>
              <a:avLst/>
              <a:gdLst/>
              <a:ahLst/>
              <a:cxnLst/>
              <a:rect l="l" t="t" r="r" b="b"/>
              <a:pathLst>
                <a:path w="7017384" h="857250">
                  <a:moveTo>
                    <a:pt x="3429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4290" y="857250"/>
                  </a:lnTo>
                  <a:lnTo>
                    <a:pt x="34290" y="0"/>
                  </a:lnTo>
                  <a:close/>
                </a:path>
                <a:path w="7017384" h="857250">
                  <a:moveTo>
                    <a:pt x="57137" y="0"/>
                  </a:moveTo>
                  <a:lnTo>
                    <a:pt x="45720" y="0"/>
                  </a:lnTo>
                  <a:lnTo>
                    <a:pt x="45720" y="857250"/>
                  </a:lnTo>
                  <a:lnTo>
                    <a:pt x="57137" y="857250"/>
                  </a:lnTo>
                  <a:lnTo>
                    <a:pt x="57137" y="0"/>
                  </a:lnTo>
                  <a:close/>
                </a:path>
                <a:path w="7017384" h="857250">
                  <a:moveTo>
                    <a:pt x="6971538" y="0"/>
                  </a:moveTo>
                  <a:lnTo>
                    <a:pt x="6960095" y="0"/>
                  </a:lnTo>
                  <a:lnTo>
                    <a:pt x="6960095" y="857250"/>
                  </a:lnTo>
                  <a:lnTo>
                    <a:pt x="6971538" y="857250"/>
                  </a:lnTo>
                  <a:lnTo>
                    <a:pt x="6971538" y="0"/>
                  </a:lnTo>
                  <a:close/>
                </a:path>
                <a:path w="7017384" h="857250">
                  <a:moveTo>
                    <a:pt x="7017245" y="0"/>
                  </a:moveTo>
                  <a:lnTo>
                    <a:pt x="6982968" y="0"/>
                  </a:lnTo>
                  <a:lnTo>
                    <a:pt x="6982968" y="857250"/>
                  </a:lnTo>
                  <a:lnTo>
                    <a:pt x="7017245" y="857250"/>
                  </a:lnTo>
                  <a:lnTo>
                    <a:pt x="701724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903361" y="6349746"/>
              <a:ext cx="6895338" cy="2148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838960" y="6349758"/>
              <a:ext cx="7016750" cy="272415"/>
            </a:xfrm>
            <a:custGeom>
              <a:avLst/>
              <a:gdLst/>
              <a:ahLst/>
              <a:cxnLst/>
              <a:rect l="l" t="t" r="r" b="b"/>
              <a:pathLst>
                <a:path w="7016750" h="272415">
                  <a:moveTo>
                    <a:pt x="6971030" y="0"/>
                  </a:moveTo>
                  <a:lnTo>
                    <a:pt x="6959600" y="0"/>
                  </a:lnTo>
                  <a:lnTo>
                    <a:pt x="6959600" y="214884"/>
                  </a:lnTo>
                  <a:lnTo>
                    <a:pt x="57150" y="214884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226314"/>
                  </a:lnTo>
                  <a:lnTo>
                    <a:pt x="57150" y="226314"/>
                  </a:lnTo>
                  <a:lnTo>
                    <a:pt x="6959600" y="226314"/>
                  </a:lnTo>
                  <a:lnTo>
                    <a:pt x="6971030" y="226314"/>
                  </a:lnTo>
                  <a:lnTo>
                    <a:pt x="6971030" y="0"/>
                  </a:lnTo>
                  <a:close/>
                </a:path>
                <a:path w="7016750" h="272415">
                  <a:moveTo>
                    <a:pt x="7016750" y="0"/>
                  </a:moveTo>
                  <a:lnTo>
                    <a:pt x="6982460" y="0"/>
                  </a:lnTo>
                  <a:lnTo>
                    <a:pt x="6982460" y="237744"/>
                  </a:lnTo>
                  <a:lnTo>
                    <a:pt x="34290" y="237744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72034"/>
                  </a:lnTo>
                  <a:lnTo>
                    <a:pt x="34290" y="272034"/>
                  </a:lnTo>
                  <a:lnTo>
                    <a:pt x="6982460" y="272034"/>
                  </a:lnTo>
                  <a:lnTo>
                    <a:pt x="7016750" y="272034"/>
                  </a:lnTo>
                  <a:lnTo>
                    <a:pt x="701675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777373" y="6860954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>
                <a:solidFill>
                  <a:srgbClr val="1B1B1B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16" marR="0" lvl="0" indent="0" algn="l" defTabSz="914400" rtl="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19.</a:t>
            </a:r>
            <a:fld id="{81D60167-4931-47E6-BA6A-407CBD079E47}" type="slidenum">
              <a:rPr kumimoji="0" sz="2000" b="1" i="0" u="none" strike="noStrike" kern="1200" cap="none" spc="-5" normalizeH="0" baseline="0" noProof="0" smtClean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11516" marR="0" lvl="0" indent="0" algn="l" defTabSz="914400" rtl="0" eaLnBrk="1" fontAlgn="auto" latinLnBrk="0" hangingPunct="1">
                <a:lnSpc>
                  <a:spcPts val="20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2000" b="1" i="0" u="none" strike="noStrike" kern="1200" cap="none" spc="-5" normalizeH="0" baseline="0" noProof="0" dirty="0">
              <a:ln>
                <a:noFill/>
              </a:ln>
              <a:solidFill>
                <a:srgbClr val="1B1B1B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877" y="1234815"/>
            <a:ext cx="4147622" cy="441935"/>
          </a:xfrm>
          <a:prstGeom prst="rect">
            <a:avLst/>
          </a:prstGeom>
        </p:spPr>
        <p:txBody>
          <a:bodyPr vert="horz" wrap="square" lIns="0" tIns="10941" rIns="0" bIns="0" rtlCol="0" anchor="b">
            <a:spAutoFit/>
          </a:bodyPr>
          <a:lstStyle/>
          <a:p>
            <a:pPr marL="11516">
              <a:spcBef>
                <a:spcPts val="86"/>
              </a:spcBef>
            </a:pPr>
            <a:r>
              <a:rPr i="1" spc="-5" dirty="0">
                <a:latin typeface="Times New Roman"/>
                <a:cs typeface="Times New Roman"/>
              </a:rPr>
              <a:t>Example (continued)</a:t>
            </a:r>
          </a:p>
        </p:txBody>
      </p:sp>
      <p:sp>
        <p:nvSpPr>
          <p:cNvPr id="8" name="object 8"/>
          <p:cNvSpPr/>
          <p:nvPr/>
        </p:nvSpPr>
        <p:spPr>
          <a:xfrm>
            <a:off x="1950232" y="1870499"/>
            <a:ext cx="8291788" cy="1555862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074" y="1879338"/>
            <a:ext cx="9195002" cy="157462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Group</a:t>
            </a:r>
            <a:r>
              <a:rPr kumimoji="0" sz="2539" b="1" i="1" u="none" strike="noStrike" kern="1200" cap="none" spc="-1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this group, each customer needs 128 addresses. This  means that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7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(log2 128) bits are needed to define </a:t>
            </a:r>
            <a:r>
              <a:rPr kumimoji="0" sz="2539" b="1" i="1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each 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host. The prefix length is then 32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− 7 =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25. The addresses 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3" name="object 10"/>
          <p:cNvGrpSpPr/>
          <p:nvPr/>
        </p:nvGrpSpPr>
        <p:grpSpPr>
          <a:xfrm>
            <a:off x="1950232" y="3425200"/>
            <a:ext cx="8291788" cy="2056824"/>
            <a:chOff x="774839" y="3777234"/>
            <a:chExt cx="9144000" cy="2268220"/>
          </a:xfrm>
        </p:grpSpPr>
        <p:sp>
          <p:nvSpPr>
            <p:cNvPr id="11" name="object 11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27860" y="4022610"/>
              <a:ext cx="6837680" cy="612775"/>
            </a:xfrm>
            <a:custGeom>
              <a:avLst/>
              <a:gdLst/>
              <a:ahLst/>
              <a:cxnLst/>
              <a:rect l="l" t="t" r="r" b="b"/>
              <a:pathLst>
                <a:path w="6837680" h="612775">
                  <a:moveTo>
                    <a:pt x="57150" y="45720"/>
                  </a:moveTo>
                  <a:lnTo>
                    <a:pt x="45720" y="45720"/>
                  </a:lnTo>
                  <a:lnTo>
                    <a:pt x="45720" y="612648"/>
                  </a:lnTo>
                  <a:lnTo>
                    <a:pt x="57150" y="612648"/>
                  </a:lnTo>
                  <a:lnTo>
                    <a:pt x="57150" y="45720"/>
                  </a:lnTo>
                  <a:close/>
                </a:path>
                <a:path w="6837680" h="612775">
                  <a:moveTo>
                    <a:pt x="6837680" y="0"/>
                  </a:moveTo>
                  <a:lnTo>
                    <a:pt x="680339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612648"/>
                  </a:lnTo>
                  <a:lnTo>
                    <a:pt x="34290" y="612648"/>
                  </a:lnTo>
                  <a:lnTo>
                    <a:pt x="34290" y="34290"/>
                  </a:lnTo>
                  <a:lnTo>
                    <a:pt x="6803390" y="34290"/>
                  </a:lnTo>
                  <a:lnTo>
                    <a:pt x="6803390" y="612648"/>
                  </a:lnTo>
                  <a:lnTo>
                    <a:pt x="6837680" y="612648"/>
                  </a:lnTo>
                  <a:lnTo>
                    <a:pt x="683768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985657" y="4087368"/>
              <a:ext cx="6722364" cy="14051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927745" y="4068330"/>
              <a:ext cx="6837680" cy="1424305"/>
            </a:xfrm>
            <a:custGeom>
              <a:avLst/>
              <a:gdLst/>
              <a:ahLst/>
              <a:cxnLst/>
              <a:rect l="l" t="t" r="r" b="b"/>
              <a:pathLst>
                <a:path w="6837680" h="1424304">
                  <a:moveTo>
                    <a:pt x="34290" y="566928"/>
                  </a:moveTo>
                  <a:lnTo>
                    <a:pt x="0" y="566928"/>
                  </a:lnTo>
                  <a:lnTo>
                    <a:pt x="0" y="1424178"/>
                  </a:lnTo>
                  <a:lnTo>
                    <a:pt x="34290" y="1424178"/>
                  </a:lnTo>
                  <a:lnTo>
                    <a:pt x="34290" y="566928"/>
                  </a:lnTo>
                  <a:close/>
                </a:path>
                <a:path w="6837680" h="1424304">
                  <a:moveTo>
                    <a:pt x="57137" y="566928"/>
                  </a:moveTo>
                  <a:lnTo>
                    <a:pt x="45720" y="566928"/>
                  </a:lnTo>
                  <a:lnTo>
                    <a:pt x="45720" y="1424178"/>
                  </a:lnTo>
                  <a:lnTo>
                    <a:pt x="57137" y="1424178"/>
                  </a:lnTo>
                  <a:lnTo>
                    <a:pt x="57137" y="566928"/>
                  </a:lnTo>
                  <a:close/>
                </a:path>
                <a:path w="6837680" h="1424304">
                  <a:moveTo>
                    <a:pt x="6792074" y="0"/>
                  </a:moveTo>
                  <a:lnTo>
                    <a:pt x="6780644" y="0"/>
                  </a:lnTo>
                  <a:lnTo>
                    <a:pt x="57264" y="0"/>
                  </a:lnTo>
                  <a:lnTo>
                    <a:pt x="57264" y="11430"/>
                  </a:lnTo>
                  <a:lnTo>
                    <a:pt x="6780644" y="11430"/>
                  </a:lnTo>
                  <a:lnTo>
                    <a:pt x="6780644" y="566928"/>
                  </a:lnTo>
                  <a:lnTo>
                    <a:pt x="6780276" y="566928"/>
                  </a:lnTo>
                  <a:lnTo>
                    <a:pt x="6780276" y="1424178"/>
                  </a:lnTo>
                  <a:lnTo>
                    <a:pt x="6791693" y="1424178"/>
                  </a:lnTo>
                  <a:lnTo>
                    <a:pt x="6791693" y="566928"/>
                  </a:lnTo>
                  <a:lnTo>
                    <a:pt x="6792074" y="566928"/>
                  </a:lnTo>
                  <a:lnTo>
                    <a:pt x="6792074" y="0"/>
                  </a:lnTo>
                  <a:close/>
                </a:path>
                <a:path w="6837680" h="1424304">
                  <a:moveTo>
                    <a:pt x="6837426" y="566928"/>
                  </a:moveTo>
                  <a:lnTo>
                    <a:pt x="6803136" y="566928"/>
                  </a:lnTo>
                  <a:lnTo>
                    <a:pt x="6803136" y="1424178"/>
                  </a:lnTo>
                  <a:lnTo>
                    <a:pt x="6837426" y="1424178"/>
                  </a:lnTo>
                  <a:lnTo>
                    <a:pt x="6837426" y="56692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985657" y="5492496"/>
              <a:ext cx="6722364" cy="495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927860" y="5492508"/>
              <a:ext cx="6837680" cy="552450"/>
            </a:xfrm>
            <a:custGeom>
              <a:avLst/>
              <a:gdLst/>
              <a:ahLst/>
              <a:cxnLst/>
              <a:rect l="l" t="t" r="r" b="b"/>
              <a:pathLst>
                <a:path w="6837680" h="552450">
                  <a:moveTo>
                    <a:pt x="6791960" y="0"/>
                  </a:moveTo>
                  <a:lnTo>
                    <a:pt x="6780530" y="0"/>
                  </a:lnTo>
                  <a:lnTo>
                    <a:pt x="6780530" y="495300"/>
                  </a:lnTo>
                  <a:lnTo>
                    <a:pt x="57150" y="4953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506730"/>
                  </a:lnTo>
                  <a:lnTo>
                    <a:pt x="57150" y="506730"/>
                  </a:lnTo>
                  <a:lnTo>
                    <a:pt x="6780530" y="506730"/>
                  </a:lnTo>
                  <a:lnTo>
                    <a:pt x="6791960" y="506730"/>
                  </a:lnTo>
                  <a:lnTo>
                    <a:pt x="6791960" y="0"/>
                  </a:lnTo>
                  <a:close/>
                </a:path>
                <a:path w="6837680" h="552450">
                  <a:moveTo>
                    <a:pt x="6837680" y="0"/>
                  </a:moveTo>
                  <a:lnTo>
                    <a:pt x="6803390" y="0"/>
                  </a:lnTo>
                  <a:lnTo>
                    <a:pt x="6803390" y="518160"/>
                  </a:lnTo>
                  <a:lnTo>
                    <a:pt x="34290" y="5181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552450"/>
                  </a:lnTo>
                  <a:lnTo>
                    <a:pt x="34290" y="552450"/>
                  </a:lnTo>
                  <a:lnTo>
                    <a:pt x="6803390" y="552450"/>
                  </a:lnTo>
                  <a:lnTo>
                    <a:pt x="6837680" y="552450"/>
                  </a:lnTo>
                  <a:lnTo>
                    <a:pt x="683768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151" y="949367"/>
            <a:ext cx="4147622" cy="441935"/>
          </a:xfrm>
          <a:prstGeom prst="rect">
            <a:avLst/>
          </a:prstGeom>
        </p:spPr>
        <p:txBody>
          <a:bodyPr vert="horz" wrap="square" lIns="0" tIns="10941" rIns="0" bIns="0" rtlCol="0" anchor="b">
            <a:spAutoFit/>
          </a:bodyPr>
          <a:lstStyle/>
          <a:p>
            <a:pPr marL="11516">
              <a:spcBef>
                <a:spcPts val="86"/>
              </a:spcBef>
            </a:pPr>
            <a:r>
              <a:rPr i="1" spc="-5" dirty="0">
                <a:latin typeface="Times New Roman"/>
                <a:cs typeface="Times New Roman"/>
              </a:rPr>
              <a:t>Example (continued)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3151" y="1780315"/>
            <a:ext cx="9332202" cy="157462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34549" marR="0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Group</a:t>
            </a:r>
            <a:r>
              <a:rPr kumimoji="0" sz="2539" b="1" i="1" u="none" strike="noStrike" kern="1200" cap="none" spc="-1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4549" marR="27639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 this group, each customer needs 64 addresses. This  means that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(log</a:t>
            </a:r>
            <a:r>
              <a:rPr kumimoji="0" sz="2516" b="1" i="1" u="none" strike="noStrike" kern="1200" cap="none" spc="-6" normalizeH="0" baseline="-1351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64) bits are needed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each host. The 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prefix length is then 32 − 6 = 26. The addresses</a:t>
            </a:r>
            <a:r>
              <a:rPr kumimoji="0" sz="2539" b="1" i="1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3" name="object 9"/>
          <p:cNvGrpSpPr/>
          <p:nvPr/>
        </p:nvGrpSpPr>
        <p:grpSpPr>
          <a:xfrm>
            <a:off x="1950106" y="3363700"/>
            <a:ext cx="8291788" cy="2005001"/>
            <a:chOff x="774839" y="2919983"/>
            <a:chExt cx="9144000" cy="2211070"/>
          </a:xfrm>
        </p:grpSpPr>
        <p:sp>
          <p:nvSpPr>
            <p:cNvPr id="10" name="object 10"/>
            <p:cNvSpPr/>
            <p:nvPr/>
          </p:nvSpPr>
          <p:spPr>
            <a:xfrm>
              <a:off x="774839" y="29199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30793" y="3200399"/>
              <a:ext cx="6831330" cy="5775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873250" y="3135642"/>
              <a:ext cx="6945630" cy="642620"/>
            </a:xfrm>
            <a:custGeom>
              <a:avLst/>
              <a:gdLst/>
              <a:ahLst/>
              <a:cxnLst/>
              <a:rect l="l" t="t" r="r" b="b"/>
              <a:pathLst>
                <a:path w="6945630" h="642620">
                  <a:moveTo>
                    <a:pt x="6899910" y="45720"/>
                  </a:moveTo>
                  <a:lnTo>
                    <a:pt x="688848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642366"/>
                  </a:lnTo>
                  <a:lnTo>
                    <a:pt x="57150" y="642366"/>
                  </a:lnTo>
                  <a:lnTo>
                    <a:pt x="57150" y="57150"/>
                  </a:lnTo>
                  <a:lnTo>
                    <a:pt x="6888480" y="57150"/>
                  </a:lnTo>
                  <a:lnTo>
                    <a:pt x="6888480" y="642366"/>
                  </a:lnTo>
                  <a:lnTo>
                    <a:pt x="6899910" y="642366"/>
                  </a:lnTo>
                  <a:lnTo>
                    <a:pt x="6899910" y="45720"/>
                  </a:lnTo>
                  <a:close/>
                </a:path>
                <a:path w="6945630" h="642620">
                  <a:moveTo>
                    <a:pt x="6945630" y="0"/>
                  </a:moveTo>
                  <a:lnTo>
                    <a:pt x="691134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642366"/>
                  </a:lnTo>
                  <a:lnTo>
                    <a:pt x="34290" y="642366"/>
                  </a:lnTo>
                  <a:lnTo>
                    <a:pt x="34290" y="34290"/>
                  </a:lnTo>
                  <a:lnTo>
                    <a:pt x="6911340" y="34290"/>
                  </a:lnTo>
                  <a:lnTo>
                    <a:pt x="6911340" y="642366"/>
                  </a:lnTo>
                  <a:lnTo>
                    <a:pt x="6945630" y="642366"/>
                  </a:lnTo>
                  <a:lnTo>
                    <a:pt x="694563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930793" y="3777995"/>
              <a:ext cx="6831330" cy="8572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873643" y="3778008"/>
              <a:ext cx="6945630" cy="857250"/>
            </a:xfrm>
            <a:custGeom>
              <a:avLst/>
              <a:gdLst/>
              <a:ahLst/>
              <a:cxnLst/>
              <a:rect l="l" t="t" r="r" b="b"/>
              <a:pathLst>
                <a:path w="6945630" h="857250">
                  <a:moveTo>
                    <a:pt x="3429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4290" y="857250"/>
                  </a:lnTo>
                  <a:lnTo>
                    <a:pt x="34290" y="0"/>
                  </a:lnTo>
                  <a:close/>
                </a:path>
                <a:path w="6945630" h="857250">
                  <a:moveTo>
                    <a:pt x="57137" y="0"/>
                  </a:moveTo>
                  <a:lnTo>
                    <a:pt x="45720" y="0"/>
                  </a:lnTo>
                  <a:lnTo>
                    <a:pt x="45720" y="857250"/>
                  </a:lnTo>
                  <a:lnTo>
                    <a:pt x="57137" y="857250"/>
                  </a:lnTo>
                  <a:lnTo>
                    <a:pt x="57137" y="0"/>
                  </a:lnTo>
                  <a:close/>
                </a:path>
                <a:path w="6945630" h="857250">
                  <a:moveTo>
                    <a:pt x="6899897" y="0"/>
                  </a:moveTo>
                  <a:lnTo>
                    <a:pt x="6888480" y="0"/>
                  </a:lnTo>
                  <a:lnTo>
                    <a:pt x="6888480" y="857250"/>
                  </a:lnTo>
                  <a:lnTo>
                    <a:pt x="6899897" y="857250"/>
                  </a:lnTo>
                  <a:lnTo>
                    <a:pt x="6899897" y="0"/>
                  </a:lnTo>
                  <a:close/>
                </a:path>
                <a:path w="6945630" h="857250">
                  <a:moveTo>
                    <a:pt x="6945630" y="0"/>
                  </a:moveTo>
                  <a:lnTo>
                    <a:pt x="6911340" y="0"/>
                  </a:lnTo>
                  <a:lnTo>
                    <a:pt x="6911340" y="857250"/>
                  </a:lnTo>
                  <a:lnTo>
                    <a:pt x="6945630" y="857250"/>
                  </a:lnTo>
                  <a:lnTo>
                    <a:pt x="694563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930793" y="4635245"/>
              <a:ext cx="6831330" cy="4381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873250" y="4635258"/>
              <a:ext cx="6945630" cy="495300"/>
            </a:xfrm>
            <a:custGeom>
              <a:avLst/>
              <a:gdLst/>
              <a:ahLst/>
              <a:cxnLst/>
              <a:rect l="l" t="t" r="r" b="b"/>
              <a:pathLst>
                <a:path w="6945630" h="495300">
                  <a:moveTo>
                    <a:pt x="6899910" y="0"/>
                  </a:moveTo>
                  <a:lnTo>
                    <a:pt x="6888480" y="0"/>
                  </a:lnTo>
                  <a:lnTo>
                    <a:pt x="6888480" y="438150"/>
                  </a:lnTo>
                  <a:lnTo>
                    <a:pt x="57150" y="43815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449580"/>
                  </a:lnTo>
                  <a:lnTo>
                    <a:pt x="57150" y="449580"/>
                  </a:lnTo>
                  <a:lnTo>
                    <a:pt x="6888480" y="449580"/>
                  </a:lnTo>
                  <a:lnTo>
                    <a:pt x="6899910" y="449580"/>
                  </a:lnTo>
                  <a:lnTo>
                    <a:pt x="6899910" y="0"/>
                  </a:lnTo>
                  <a:close/>
                </a:path>
                <a:path w="6945630" h="495300">
                  <a:moveTo>
                    <a:pt x="6945630" y="0"/>
                  </a:moveTo>
                  <a:lnTo>
                    <a:pt x="6911340" y="0"/>
                  </a:lnTo>
                  <a:lnTo>
                    <a:pt x="6911340" y="461010"/>
                  </a:lnTo>
                  <a:lnTo>
                    <a:pt x="34290" y="46101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34290" y="495300"/>
                  </a:lnTo>
                  <a:lnTo>
                    <a:pt x="6911340" y="495300"/>
                  </a:lnTo>
                  <a:lnTo>
                    <a:pt x="6945630" y="495300"/>
                  </a:lnTo>
                  <a:lnTo>
                    <a:pt x="694563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17" name="object 17"/>
          <p:cNvSpPr/>
          <p:nvPr/>
        </p:nvSpPr>
        <p:spPr>
          <a:xfrm>
            <a:off x="1950232" y="5757265"/>
            <a:ext cx="8291788" cy="778506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0099" y="5377467"/>
            <a:ext cx="6630552" cy="118387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Number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granted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addresses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the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ISP: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65,536  Number of allocated addresses by the ISP:</a:t>
            </a:r>
            <a:r>
              <a:rPr kumimoji="0" sz="2539" b="1" i="1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40,960 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Number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available </a:t>
            </a:r>
            <a:r>
              <a:rPr kumimoji="0" sz="2539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addresses:</a:t>
            </a:r>
            <a:r>
              <a:rPr kumimoji="0" sz="2539" b="1" i="1" u="none" strike="noStrike" kern="1200" cap="none" spc="-6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24,576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372" y="1140219"/>
            <a:ext cx="7946297" cy="290807"/>
          </a:xfrm>
          <a:prstGeom prst="rect">
            <a:avLst/>
          </a:prstGeom>
        </p:spPr>
        <p:txBody>
          <a:bodyPr vert="horz" wrap="square" lIns="0" tIns="11516" rIns="0" bIns="0" rtlCol="0" anchor="b">
            <a:spAutoFit/>
          </a:bodyPr>
          <a:lstStyle/>
          <a:p>
            <a:pPr marL="11516"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An example of address allocation and distribution by an</a:t>
            </a:r>
            <a:r>
              <a:rPr sz="1814" i="1" spc="41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ISP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16068" y="1698434"/>
            <a:ext cx="7642264" cy="3728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EBE2F-73EC-1F4B-9910-74275A41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C8F4-7247-CD68-409D-3D9D0FD4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Assume Class-</a:t>
            </a:r>
            <a:r>
              <a:rPr lang="en-IN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Address 198.151.15.10. Say the network is divided into 4 subnets. Calculate the subnet mask. </a:t>
            </a:r>
            <a:r>
              <a:rPr lang="en-IN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 subnet id, broadcast id, 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three and last three host addresses of each subnet.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977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441E-C93D-16C1-354C-E573EF1C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579D6-1705-A127-3663-9942A8FA9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 the network into two subnets using variable length subnetting for the network 192.10.25.130/26 give the first host ID, last host ID, Subnet mask and network address.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93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E08B-AB6F-9949-3996-71048D03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 FOR FURTHER LEARNING OF THE SESSION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811D-092E-E989-454F-68E65DF4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0B57B-FD1F-D26E-7DDA-9CB4D0E6FF4D}"/>
              </a:ext>
            </a:extLst>
          </p:cNvPr>
          <p:cNvSpPr txBox="1"/>
          <p:nvPr/>
        </p:nvSpPr>
        <p:spPr>
          <a:xfrm>
            <a:off x="1491176" y="1955558"/>
            <a:ext cx="945349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 </a:t>
            </a:r>
            <a:r>
              <a:rPr lang="en-IN" b="1" dirty="0"/>
              <a:t>Reference Books:</a:t>
            </a:r>
          </a:p>
          <a:p>
            <a:pPr fontAlgn="base"/>
            <a:endParaRPr lang="en-IN" dirty="0"/>
          </a:p>
          <a:p>
            <a:pPr fontAlgn="base"/>
            <a:r>
              <a:rPr lang="en-IN" dirty="0"/>
              <a:t>1. Data Communications and Networking, </a:t>
            </a:r>
            <a:r>
              <a:rPr lang="en-IN" dirty="0" err="1"/>
              <a:t>Behrouz</a:t>
            </a:r>
            <a:r>
              <a:rPr lang="en-IN" dirty="0"/>
              <a:t> A. </a:t>
            </a:r>
            <a:r>
              <a:rPr lang="en-IN" dirty="0" err="1"/>
              <a:t>Forouzan</a:t>
            </a:r>
            <a:r>
              <a:rPr lang="en-IN" dirty="0"/>
              <a:t>, 4</a:t>
            </a:r>
            <a:r>
              <a:rPr lang="en-IN" baseline="30000" dirty="0"/>
              <a:t>th</a:t>
            </a:r>
            <a:r>
              <a:rPr lang="en-IN" dirty="0"/>
              <a:t> Edition, McGraw Hill.  </a:t>
            </a:r>
          </a:p>
          <a:p>
            <a:pPr fontAlgn="base"/>
            <a:r>
              <a:rPr lang="en-IN" dirty="0"/>
              <a:t>2. Computer Networks, </a:t>
            </a:r>
            <a:r>
              <a:rPr lang="en-IN" dirty="0" err="1"/>
              <a:t>Tanenbaum</a:t>
            </a:r>
            <a:r>
              <a:rPr lang="en-IN" dirty="0"/>
              <a:t>, 6</a:t>
            </a:r>
            <a:r>
              <a:rPr lang="en-IN" baseline="30000" dirty="0"/>
              <a:t>th</a:t>
            </a:r>
            <a:r>
              <a:rPr lang="en-IN" dirty="0"/>
              <a:t> Edition, Pearson.</a:t>
            </a:r>
          </a:p>
          <a:p>
            <a:pPr fontAlgn="base"/>
            <a:endParaRPr lang="en-IN" dirty="0"/>
          </a:p>
          <a:p>
            <a:pPr fontAlgn="base"/>
            <a:r>
              <a:rPr lang="en-IN" b="1" dirty="0"/>
              <a:t>Sites and Web links:</a:t>
            </a:r>
            <a:endParaRPr lang="en-IN" dirty="0"/>
          </a:p>
          <a:p>
            <a:pPr lvl="0" fontAlgn="base"/>
            <a:endParaRPr lang="en-IN" dirty="0"/>
          </a:p>
          <a:p>
            <a:pPr lvl="0" fontAlgn="base"/>
            <a:r>
              <a:rPr lang="en-IN" dirty="0"/>
              <a:t>CISCO Academy</a:t>
            </a:r>
          </a:p>
          <a:p>
            <a:pPr lvl="0" fontAlgn="base"/>
            <a:r>
              <a:rPr lang="en-IN" dirty="0"/>
              <a:t>NPTEL, Computer Networks and Internet Protocols, Prof. </a:t>
            </a:r>
            <a:r>
              <a:rPr lang="en-IN" dirty="0" err="1"/>
              <a:t>Soumya</a:t>
            </a:r>
            <a:r>
              <a:rPr lang="en-IN" dirty="0"/>
              <a:t> </a:t>
            </a:r>
            <a:r>
              <a:rPr lang="en-IN" dirty="0" err="1"/>
              <a:t>Kanti</a:t>
            </a:r>
            <a:r>
              <a:rPr lang="en-IN" dirty="0"/>
              <a:t> </a:t>
            </a:r>
            <a:r>
              <a:rPr lang="en-IN" dirty="0" err="1"/>
              <a:t>Ghosh</a:t>
            </a:r>
            <a:r>
              <a:rPr lang="en-IN" dirty="0"/>
              <a:t>, Prof. </a:t>
            </a:r>
            <a:r>
              <a:rPr lang="en-IN" dirty="0" err="1"/>
              <a:t>Sandip</a:t>
            </a:r>
            <a:r>
              <a:rPr lang="en-IN" dirty="0"/>
              <a:t> </a:t>
            </a:r>
            <a:r>
              <a:rPr lang="en-IN" dirty="0" err="1"/>
              <a:t>Chakraborty</a:t>
            </a:r>
            <a:r>
              <a:rPr lang="en-IN" dirty="0"/>
              <a:t> IIT </a:t>
            </a:r>
            <a:r>
              <a:rPr lang="en-IN" dirty="0" err="1"/>
              <a:t>Kharagpur</a:t>
            </a:r>
            <a:r>
              <a:rPr lang="en-IN" dirty="0"/>
              <a:t>. (https://nptel.ac.in/courses/106105183)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09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2601913" y="1857375"/>
            <a:ext cx="7920037" cy="28829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lvl="0" algn="ctr" defTabSz="457200">
              <a:defRPr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IN" sz="2400" b="1" dirty="0">
                <a:solidFill>
                  <a:prstClr val="black"/>
                </a:solidFill>
              </a:rPr>
              <a:t>Networks Protocols &amp; Security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8" name="Picture 2" descr="KL Deemed to be University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2560638"/>
            <a:ext cx="32353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37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4950</TotalTime>
  <Words>698</Words>
  <Application>Microsoft Office PowerPoint</Application>
  <PresentationFormat>Widescreen</PresentationFormat>
  <Paragraphs>87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BioRhyme ExtraBold</vt:lpstr>
      <vt:lpstr>Bookman Old Style</vt:lpstr>
      <vt:lpstr>Calibri</vt:lpstr>
      <vt:lpstr>Calibri Light</vt:lpstr>
      <vt:lpstr>Gill Sans MT</vt:lpstr>
      <vt:lpstr>Poppins</vt:lpstr>
      <vt:lpstr>Times New Roman</vt:lpstr>
      <vt:lpstr>Wingdings</vt:lpstr>
      <vt:lpstr>Office Theme</vt:lpstr>
      <vt:lpstr>Gallery</vt:lpstr>
      <vt:lpstr>1_Gallery</vt:lpstr>
      <vt:lpstr>PowerPoint Presentation</vt:lpstr>
      <vt:lpstr>PowerPoint Presentation</vt:lpstr>
      <vt:lpstr>PowerPoint Presentation</vt:lpstr>
      <vt:lpstr>Subnetting</vt:lpstr>
      <vt:lpstr>PowerPoint Presentation</vt:lpstr>
      <vt:lpstr>Subnetting…</vt:lpstr>
      <vt:lpstr>Three level addressing: Subnet mask</vt:lpstr>
      <vt:lpstr>Subnet mask table</vt:lpstr>
      <vt:lpstr>hierarchy in an IPv4 address</vt:lpstr>
      <vt:lpstr>Two levels of hierarchy in an IPv4 address</vt:lpstr>
      <vt:lpstr>PowerPoint Presentation</vt:lpstr>
      <vt:lpstr>Configuration and addresses in a subnetted network</vt:lpstr>
      <vt:lpstr>Three-level hierarchy in an IPv4 address</vt:lpstr>
      <vt:lpstr>Example </vt:lpstr>
      <vt:lpstr>Example (continued)</vt:lpstr>
      <vt:lpstr>Example (continued)</vt:lpstr>
      <vt:lpstr>Example (continued)</vt:lpstr>
      <vt:lpstr>An example of address allocation and distribution by an ISP</vt:lpstr>
      <vt:lpstr>Example-1</vt:lpstr>
      <vt:lpstr>Example-2</vt:lpstr>
      <vt:lpstr>REFERENCES FOR FURTHER LEARNING OF THE SESSION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IPv4 ADDRESSES</dc:title>
  <dc:creator>preetham chiramana</dc:creator>
  <cp:lastModifiedBy>Harsha Abhi</cp:lastModifiedBy>
  <cp:revision>99</cp:revision>
  <dcterms:created xsi:type="dcterms:W3CDTF">2020-11-27T11:49:36Z</dcterms:created>
  <dcterms:modified xsi:type="dcterms:W3CDTF">2026-02-02T18:16:47Z</dcterms:modified>
</cp:coreProperties>
</file>